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notesMaster" Target="notesMasters/notesMaster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heme" Target="theme/theme1.xml"/>
  <Relationship Id="rId7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TOOL ADAPTER LAYER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Tool Risk Gate — Every Tool Call's Journey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No tool executes without passing this gate  ·  No irreversible operation runs without Commander-level scope validation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276856" y="804672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0416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76856" y="804672"/>
            <a:ext cx="1188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D4FF"/>
                </a:solidFill>
              </a:rPr>
              <a:t>🤖 Agent requests tool call
</a:t>
            </a:r>
            <a:pPr algn="ctr" indent="0" marL="0">
              <a:buNone/>
            </a:pPr>
            <a:r>
              <a:rPr lang="en-US" sz="550" dirty="0">
                <a:solidFill>
                  <a:srgbClr val="9CA3AF"/>
                </a:solidFill>
              </a:rPr>
              <a:t>Tool: Gobuster · Target: shopvault.io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2871216" y="1207008"/>
            <a:ext cx="914" cy="7315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76856" y="1280160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0C082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76856" y="1280160"/>
            <a:ext cx="1188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E93D8"/>
                </a:solidFill>
              </a:rPr>
              <a:t>🪝 PreToolUse Hook fires
</a:t>
            </a:r>
            <a:pPr algn="ctr" indent="0" marL="0">
              <a:buNone/>
            </a:pPr>
            <a:r>
              <a:rPr lang="en-US" sz="550" dirty="0">
                <a:solidFill>
                  <a:srgbClr val="9C27B0"/>
                </a:solidFill>
              </a:rPr>
              <a:t>CONTINUE / BLOCK / MODIFY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871216" y="1682496"/>
            <a:ext cx="914" cy="7315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76856" y="1755648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0A0C1E"/>
          </a:solidFill>
          <a:ln w="12700">
            <a:solidFill>
              <a:srgbClr val="5555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76856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</a:rPr>
              <a:t>🔍 Scope Check
</a:t>
            </a:r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</a:rPr>
              <a:t>Target in scope? Tool authorized?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871216" y="2157984"/>
            <a:ext cx="914" cy="7315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22576" y="2231136"/>
            <a:ext cx="109728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2231136"/>
            <a:ext cx="109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C107"/>
                </a:solidFill>
              </a:rPr>
              <a:t>🎯 Risk Classification</a:t>
            </a:r>
            <a:endParaRPr lang="en-US" sz="580" dirty="0"/>
          </a:p>
          <a:p>
            <a:pPr algn="ctr" indent="0" marL="0">
              <a:buNone/>
            </a:pPr>
            <a:r>
              <a:rPr lang="en-US" sz="580" b="1" dirty="0">
                <a:solidFill>
                  <a:srgbClr val="FFC107"/>
                </a:solidFill>
              </a:rPr>
              <a:t>LOW · MED · HIGH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941832" y="2596896"/>
            <a:ext cx="1655064" cy="54864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513332" y="250545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7FFF00"/>
                </a:solidFill>
              </a:rPr>
              <a:t>LOW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2871216" y="2596896"/>
            <a:ext cx="914" cy="54864"/>
          </a:xfrm>
          <a:prstGeom prst="line">
            <a:avLst/>
          </a:prstGeom>
          <a:noFill/>
          <a:ln w="9525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615184" y="250545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C107"/>
                </a:solidFill>
              </a:rPr>
              <a:t>MED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3145536" y="2596896"/>
            <a:ext cx="1655064" cy="54864"/>
          </a:xfrm>
          <a:prstGeom prst="line">
            <a:avLst/>
          </a:prstGeom>
          <a:noFill/>
          <a:ln w="9525">
            <a:solidFill>
              <a:srgbClr val="FF525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17036" y="250545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5252"/>
                </a:solidFill>
              </a:rPr>
              <a:t>HIGH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347472" y="2651760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041A08"/>
          </a:solidFill>
          <a:ln w="12700">
            <a:solidFill>
              <a:srgbClr val="7FFF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" y="2651760"/>
            <a:ext cx="1188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✅ Execute immediately
</a:t>
            </a:r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Scope check only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941832" y="3054096"/>
            <a:ext cx="914" cy="694944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276856" y="2651760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0416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76856" y="2651760"/>
            <a:ext cx="1188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D4FF"/>
                </a:solidFill>
              </a:rPr>
              <a:t>🧠 LLM Classifier
</a:t>
            </a:r>
            <a:pPr algn="ctr" indent="0" marL="0">
              <a:buNone/>
            </a:pPr>
            <a:r>
              <a:rPr lang="en-US" sz="550" dirty="0">
                <a:solidFill>
                  <a:srgbClr val="00D4FF"/>
                </a:solidFill>
              </a:rPr>
              <a:t>Fast filter → CoT pass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368296" y="3054096"/>
            <a:ext cx="320040" cy="109728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272284" y="299008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7FFF00"/>
                </a:solidFill>
              </a:rPr>
              <a:t>EXECUTE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3054096" y="3054096"/>
            <a:ext cx="320040" cy="109728"/>
          </a:xfrm>
          <a:prstGeom prst="line">
            <a:avLst/>
          </a:prstGeom>
          <a:noFill/>
          <a:ln w="9525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958084" y="299008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C107"/>
                </a:solidFill>
              </a:rPr>
              <a:t>ESCALATE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911096" y="31638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041A08"/>
          </a:solidFill>
          <a:ln w="12700">
            <a:solidFill>
              <a:srgbClr val="7FFF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911096" y="3163824"/>
            <a:ext cx="914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7FFF00"/>
                </a:solidFill>
              </a:rPr>
              <a:t>✅ Proceed to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7FFF00"/>
                </a:solidFill>
              </a:rPr>
              <a:t>Tool Adapter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2368296" y="3566160"/>
            <a:ext cx="914" cy="182880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16936" y="31638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002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16936" y="3163824"/>
            <a:ext cx="914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FFC107"/>
                </a:solidFill>
              </a:rPr>
              <a:t>⬆️ Route to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FFC107"/>
                </a:solidFill>
              </a:rPr>
              <a:t>Commander Mailbox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3374136" y="3163824"/>
            <a:ext cx="1426464" cy="402336"/>
          </a:xfrm>
          <a:prstGeom prst="line">
            <a:avLst/>
          </a:prstGeom>
          <a:noFill/>
          <a:ln w="9525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206240" y="2651760"/>
            <a:ext cx="1188720" cy="402336"/>
          </a:xfrm>
          <a:prstGeom prst="roundRect">
            <a:avLst>
              <a:gd name="adj" fmla="val 11364"/>
            </a:avLst>
          </a:prstGeom>
          <a:solidFill>
            <a:srgbClr val="1A0606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06240" y="2651760"/>
            <a:ext cx="1188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📬 Commander Mailbox
</a:t>
            </a:r>
            <a:pPr algn="ctr" indent="0" marL="0">
              <a:buNone/>
            </a:pPr>
            <a:r>
              <a:rPr lang="en-US" sz="550" dirty="0">
                <a:solidFill>
                  <a:srgbClr val="FF5252"/>
                </a:solidFill>
              </a:rPr>
              <a:t>Human-in-the-loop slot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325112" y="3054096"/>
            <a:ext cx="292608" cy="109728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215384" y="299008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7FFF00"/>
                </a:solidFill>
              </a:rPr>
              <a:t>✅ APPROVE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4800600" y="3054096"/>
            <a:ext cx="914" cy="155448"/>
          </a:xfrm>
          <a:prstGeom prst="line">
            <a:avLst/>
          </a:prstGeom>
          <a:noFill/>
          <a:ln w="9525">
            <a:solidFill>
              <a:srgbClr val="FF5252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544568" y="301294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5252"/>
                </a:solidFill>
              </a:rPr>
              <a:t>❌ REJECT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4983480" y="3054096"/>
            <a:ext cx="292608" cy="109728"/>
          </a:xfrm>
          <a:prstGeom prst="line">
            <a:avLst/>
          </a:prstGeom>
          <a:noFill/>
          <a:ln w="9525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873752" y="299008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C107"/>
                </a:solidFill>
              </a:rPr>
              <a:t>🔄 MODIFY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3904488" y="3163824"/>
            <a:ext cx="841248" cy="402336"/>
          </a:xfrm>
          <a:prstGeom prst="roundRect">
            <a:avLst>
              <a:gd name="adj" fmla="val 11364"/>
            </a:avLst>
          </a:prstGeom>
          <a:solidFill>
            <a:srgbClr val="041A08"/>
          </a:solidFill>
          <a:ln w="12700">
            <a:solidFill>
              <a:srgbClr val="7FFF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904488" y="3163824"/>
            <a:ext cx="84124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Proceed to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Tool Adapter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4325112" y="3566160"/>
            <a:ext cx="914" cy="182880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379976" y="3163824"/>
            <a:ext cx="841248" cy="402336"/>
          </a:xfrm>
          <a:prstGeom prst="roundRect">
            <a:avLst>
              <a:gd name="adj" fmla="val 11364"/>
            </a:avLst>
          </a:prstGeom>
          <a:solidFill>
            <a:srgbClr val="1A0606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379976" y="3163824"/>
            <a:ext cx="84124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5252"/>
                </a:solidFill>
              </a:rPr>
              <a:t>Cancelled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5252"/>
                </a:solidFill>
              </a:rPr>
              <a:t>Annotated to APG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4855464" y="3163824"/>
            <a:ext cx="841248" cy="402336"/>
          </a:xfrm>
          <a:prstGeom prst="roundRect">
            <a:avLst>
              <a:gd name="adj" fmla="val 11364"/>
            </a:avLst>
          </a:prstGeom>
          <a:solidFill>
            <a:srgbClr val="1A1002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55464" y="3163824"/>
            <a:ext cx="84124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C107"/>
                </a:solidFill>
              </a:rPr>
              <a:t>Params adjusted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C107"/>
                </a:solidFill>
              </a:rPr>
              <a:t>then approved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4325112" y="3566160"/>
            <a:ext cx="950976" cy="182880"/>
          </a:xfrm>
          <a:prstGeom prst="line">
            <a:avLst/>
          </a:prstGeom>
          <a:noFill/>
          <a:ln w="9525">
            <a:solidFill>
              <a:srgbClr val="FFC107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157984" y="3749040"/>
            <a:ext cx="1426464" cy="402336"/>
          </a:xfrm>
          <a:prstGeom prst="roundRect">
            <a:avLst>
              <a:gd name="adj" fmla="val 11364"/>
            </a:avLst>
          </a:prstGeom>
          <a:solidFill>
            <a:srgbClr val="0C082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157984" y="3749040"/>
            <a:ext cx="142646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E93D8"/>
                </a:solidFill>
              </a:rPr>
              <a:t>⚙️ Tool Adapter executes
</a:t>
            </a:r>
            <a:pPr algn="ctr" indent="0" marL="0">
              <a:buNone/>
            </a:pPr>
            <a:r>
              <a:rPr lang="en-US" sz="530" dirty="0">
                <a:solidFill>
                  <a:srgbClr val="9C27B0"/>
                </a:solidFill>
              </a:rPr>
              <a:t>Run tool → parse raw output → structured JSON → discard raw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871216" y="4151376"/>
            <a:ext cx="914" cy="73152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276856" y="4224528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0C082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76856" y="4224528"/>
            <a:ext cx="1188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E93D8"/>
                </a:solidFill>
              </a:rPr>
              <a:t>🪝 PostToolUse Hook fires
</a:t>
            </a:r>
            <a:pPr algn="ctr" indent="0" marL="0">
              <a:buNone/>
            </a:pPr>
            <a:r>
              <a:rPr lang="en-US" sz="550" dirty="0">
                <a:solidFill>
                  <a:srgbClr val="9C27B0"/>
                </a:solidFill>
              </a:rPr>
              <a:t>log · alert · validate · block write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956816" y="4553712"/>
            <a:ext cx="731520" cy="109728"/>
          </a:xfrm>
          <a:prstGeom prst="line">
            <a:avLst/>
          </a:prstGeom>
          <a:noFill/>
          <a:ln w="9525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2066544" y="448970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7FFF00"/>
                </a:solidFill>
              </a:rPr>
              <a:t>→ ASG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054096" y="4553712"/>
            <a:ext cx="640080" cy="10972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3118104" y="448970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0D4FF"/>
                </a:solidFill>
              </a:rPr>
              <a:t>→ Agent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1316736" y="4663440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041A08"/>
          </a:solidFill>
          <a:ln w="12700">
            <a:solidFill>
              <a:srgbClr val="7FFF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316736" y="4663440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🟢 Nodes + edges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7FFF00"/>
                </a:solidFill>
              </a:rPr>
              <a:t>written to ASG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3328416" y="466344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0416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3328416" y="4663440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D4FF"/>
                </a:solidFill>
              </a:rPr>
              <a:t>🤖 Agent receives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00D4FF"/>
                </a:solidFill>
              </a:rPr>
              <a:t>compact summary only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614416" y="777240"/>
            <a:ext cx="3236976" cy="2011680"/>
          </a:xfrm>
          <a:prstGeom prst="roundRect">
            <a:avLst>
              <a:gd name="adj" fmla="val 3636"/>
            </a:avLst>
          </a:prstGeom>
          <a:solidFill>
            <a:srgbClr val="041628"/>
          </a:solidFill>
          <a:ln w="11430">
            <a:solidFill>
              <a:srgbClr val="00D4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24144" y="804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🧠 LLM Permission Classifier — Medium-Risk Calls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24144" y="1033272"/>
            <a:ext cx="3017520" cy="365760"/>
          </a:xfrm>
          <a:prstGeom prst="roundRect">
            <a:avLst>
              <a:gd name="adj" fmla="val 10000"/>
            </a:avLst>
          </a:prstGeom>
          <a:solidFill>
            <a:srgbClr val="04100C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0" y="1033272"/>
            <a:ext cx="296265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Fast Filter (instant)
</a:t>
            </a:r>
            <a:endParaRPr lang="en-US" sz="600" dirty="0"/>
          </a:p>
          <a:p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</a:rPr>
              <a:t>Obviously safe? → EXECUTE immediately</a:t>
            </a:r>
            <a:endParaRPr lang="en-US" sz="600" dirty="0"/>
          </a:p>
          <a:p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</a:rPr>
              <a:t>Obviously risky? → ESCALATE immediately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5724144" y="1435608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060816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0" y="1435608"/>
            <a:ext cx="29626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D4FF"/>
                </a:solidFill>
              </a:rPr>
              <a:t>Axis 1: SCOPE ALIGNMENT  </a:t>
            </a:r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</a:rPr>
              <a:t>Is the target in declared assessment scope?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5724144" y="1764792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060816"/>
          </a:solidFill>
          <a:ln w="8890">
            <a:solidFill>
              <a:srgbClr val="FFC10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1764792"/>
            <a:ext cx="29626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C107"/>
                </a:solidFill>
              </a:rPr>
              <a:t>Axis 2: CHAIN INTENT  </a:t>
            </a:r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</a:rPr>
              <a:t>Is this call consistent with the active APG AttackChain?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5724144" y="2093976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060816"/>
          </a:solidFill>
          <a:ln w="8890">
            <a:solidFill>
              <a:srgbClr val="FF525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0" y="2093976"/>
            <a:ext cx="29626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5252"/>
                </a:solidFill>
              </a:rPr>
              <a:t>Axis 3: PARAMETER SAFETY  </a:t>
            </a:r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</a:rPr>
              <a:t>Do params exhibit prompt injection patterns or scope drift?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5724144" y="2441448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041A08"/>
          </a:solidFill>
          <a:ln w="11430">
            <a:solidFill>
              <a:srgbClr val="7FFF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24144" y="24414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FFF00"/>
                </a:solidFill>
              </a:rPr>
              <a:t>✅ EXECUTE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7260336" y="2441448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1A1002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60336" y="24414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C107"/>
                </a:solidFill>
              </a:rPr>
              <a:t>⬆️ ESCALATE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5614416" y="280720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 Risk Tier Summary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614416" y="3035808"/>
            <a:ext cx="3236976" cy="384048"/>
          </a:xfrm>
          <a:prstGeom prst="roundRect">
            <a:avLst>
              <a:gd name="adj" fmla="val 11905"/>
            </a:avLst>
          </a:prstGeom>
          <a:solidFill>
            <a:srgbClr val="041A08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724144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FFF00"/>
                </a:solidFill>
              </a:rPr>
              <a:t>🟢 LOW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Scope check only
</a:t>
            </a:r>
            <a:pPr indent="0" marL="0">
              <a:buNone/>
            </a:pPr>
            <a:r>
              <a:rPr lang="en-US" sz="550" i="1" dirty="0">
                <a:solidFill>
                  <a:srgbClr val="6B7280"/>
                </a:solidFill>
              </a:rPr>
              <a:t>Amass · httpx · WhatWeb · EyeWitness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614416" y="3474720"/>
            <a:ext cx="3236976" cy="384048"/>
          </a:xfrm>
          <a:prstGeom prst="roundRect">
            <a:avLst>
              <a:gd name="adj" fmla="val 11905"/>
            </a:avLst>
          </a:prstGeom>
          <a:solidFill>
            <a:srgbClr val="1A1002"/>
          </a:solidFill>
          <a:ln w="11430">
            <a:solidFill>
              <a:srgbClr val="FFC10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5724144" y="3474720"/>
            <a:ext cx="3017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C107"/>
                </a:solidFill>
              </a:rPr>
              <a:t>🟡 MED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LLM Classifier → exec/esc
</a:t>
            </a:r>
            <a:pPr indent="0" marL="0">
              <a:buNone/>
            </a:pPr>
            <a:r>
              <a:rPr lang="en-US" sz="550" i="1" dirty="0">
                <a:solidFill>
                  <a:srgbClr val="6B7280"/>
                </a:solidFill>
              </a:rPr>
              <a:t>Nmap · Gobuster · ffuf · Nuclei · ZAP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614416" y="3913632"/>
            <a:ext cx="3236976" cy="384048"/>
          </a:xfrm>
          <a:prstGeom prst="roundRect">
            <a:avLst>
              <a:gd name="adj" fmla="val 11905"/>
            </a:avLst>
          </a:prstGeom>
          <a:solidFill>
            <a:srgbClr val="1A0606"/>
          </a:solidFill>
          <a:ln w="11430">
            <a:solidFill>
              <a:srgbClr val="FF525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724144" y="3913632"/>
            <a:ext cx="3017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52"/>
                </a:solidFill>
              </a:rPr>
              <a:t>🔴 HIGH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Commander Mailbox approval
</a:t>
            </a:r>
            <a:pPr indent="0" marL="0">
              <a:buNone/>
            </a:pPr>
            <a:r>
              <a:rPr lang="en-US" sz="550" i="1" dirty="0">
                <a:solidFill>
                  <a:srgbClr val="6B7280"/>
                </a:solidFill>
              </a:rPr>
              <a:t>SQLMap · Metasploit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614416" y="4389120"/>
            <a:ext cx="3236976" cy="502920"/>
          </a:xfrm>
          <a:prstGeom prst="roundRect">
            <a:avLst>
              <a:gd name="adj" fmla="val 10909"/>
            </a:avLst>
          </a:prstGeom>
          <a:solidFill>
            <a:srgbClr val="06101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24144" y="4389120"/>
            <a:ext cx="30175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🔒 Critical Safety Property
</a:t>
            </a:r>
            <a:endParaRPr lang="en-US" sz="700" dirty="0"/>
          </a:p>
          <a:p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No irreversible offensive operation executes without Commander-level scope validation. No Medium-tier call executes without LLM classifier approval.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8732520" y="49560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07b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2026-06-27T15:51:45Z</dcterms:created>
  <dcterms:modified xsi:type="dcterms:W3CDTF">2026-06-27T15:51:45Z</dcterms:modified>
</cp:coreProperties>
</file>