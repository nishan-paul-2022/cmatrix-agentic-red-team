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5" name="Shape 805"/>
        <p:cNvGrpSpPr/>
        <p:nvPr/>
      </p:nvGrpSpPr>
      <p:grpSpPr>
        <a:xfrm>
          <a:off x="0" y="0"/>
          <a:ext cx="0" cy="0"/>
          <a:chOff x="0" y="0"/>
          <a:chExt cx="0" cy="0"/>
        </a:xfrm>
      </p:grpSpPr>
      <p:sp>
        <p:nvSpPr>
          <p:cNvPr id="806" name="Google Shape;80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1" name="Shape 1011"/>
        <p:cNvGrpSpPr/>
        <p:nvPr/>
      </p:nvGrpSpPr>
      <p:grpSpPr>
        <a:xfrm>
          <a:off x="0" y="0"/>
          <a:ext cx="0" cy="0"/>
          <a:chOff x="0" y="0"/>
          <a:chExt cx="0" cy="0"/>
        </a:xfrm>
      </p:grpSpPr>
      <p:sp>
        <p:nvSpPr>
          <p:cNvPr id="1012" name="Google Shape;1012;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8" name="Shape 1178"/>
        <p:cNvGrpSpPr/>
        <p:nvPr/>
      </p:nvGrpSpPr>
      <p:grpSpPr>
        <a:xfrm>
          <a:off x="0" y="0"/>
          <a:ext cx="0" cy="0"/>
          <a:chOff x="0" y="0"/>
          <a:chExt cx="0" cy="0"/>
        </a:xfrm>
      </p:grpSpPr>
      <p:sp>
        <p:nvSpPr>
          <p:cNvPr id="1179" name="Google Shape;117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7" name="Shape 1447"/>
        <p:cNvGrpSpPr/>
        <p:nvPr/>
      </p:nvGrpSpPr>
      <p:grpSpPr>
        <a:xfrm>
          <a:off x="0" y="0"/>
          <a:ext cx="0" cy="0"/>
          <a:chOff x="0" y="0"/>
          <a:chExt cx="0" cy="0"/>
        </a:xfrm>
      </p:grpSpPr>
      <p:sp>
        <p:nvSpPr>
          <p:cNvPr id="1448" name="Google Shape;144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9" name="Google Shape;144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0" name="Shape 1500"/>
        <p:cNvGrpSpPr/>
        <p:nvPr/>
      </p:nvGrpSpPr>
      <p:grpSpPr>
        <a:xfrm>
          <a:off x="0" y="0"/>
          <a:ext cx="0" cy="0"/>
          <a:chOff x="0" y="0"/>
          <a:chExt cx="0" cy="0"/>
        </a:xfrm>
      </p:grpSpPr>
      <p:sp>
        <p:nvSpPr>
          <p:cNvPr id="1501" name="Google Shape;1501;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3" name="Shape 83"/>
        <p:cNvGrpSpPr/>
        <p:nvPr/>
      </p:nvGrpSpPr>
      <p:grpSpPr>
        <a:xfrm>
          <a:off x="0" y="0"/>
          <a:ext cx="0" cy="0"/>
          <a:chOff x="0" y="0"/>
          <a:chExt cx="0" cy="0"/>
        </a:xfrm>
      </p:grpSpPr>
      <p:sp>
        <p:nvSpPr>
          <p:cNvPr id="84" name="Google Shape;84;p1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85" name="Google Shape;85;p13"/>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86" name="Google Shape;86;p1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87" name="Google Shape;87;p13"/>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00E5FF"/>
                </a:solidFill>
                <a:latin typeface="Calibri"/>
                <a:ea typeface="Calibri"/>
                <a:cs typeface="Calibri"/>
                <a:sym typeface="Calibri"/>
              </a:rPr>
              <a:t>RESEARCH PRESENTATION</a:t>
            </a:r>
            <a:endParaRPr/>
          </a:p>
        </p:txBody>
      </p:sp>
      <p:sp>
        <p:nvSpPr>
          <p:cNvPr id="88" name="Google Shape;88;p13"/>
          <p:cNvSpPr txBox="1"/>
          <p:nvPr/>
        </p:nvSpPr>
        <p:spPr>
          <a:xfrm>
            <a:off x="457200" y="1205412"/>
            <a:ext cx="8075748"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200" u="none" cap="none" strike="noStrike">
                <a:solidFill>
                  <a:srgbClr val="FFFFFF"/>
                </a:solidFill>
                <a:latin typeface="Calibri"/>
                <a:ea typeface="Calibri"/>
                <a:cs typeface="Calibri"/>
                <a:sym typeface="Calibri"/>
              </a:rPr>
              <a:t>CMatrix</a:t>
            </a:r>
            <a:endParaRPr/>
          </a:p>
        </p:txBody>
      </p:sp>
      <p:sp>
        <p:nvSpPr>
          <p:cNvPr id="89" name="Google Shape;89;p13"/>
          <p:cNvSpPr txBox="1"/>
          <p:nvPr/>
        </p:nvSpPr>
        <p:spPr>
          <a:xfrm>
            <a:off x="457200" y="2788920"/>
            <a:ext cx="8686800" cy="76944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200" u="none" cap="none" strike="noStrike">
                <a:solidFill>
                  <a:srgbClr val="00E5FF"/>
                </a:solidFill>
                <a:latin typeface="Calibri"/>
                <a:ea typeface="Calibri"/>
                <a:cs typeface="Calibri"/>
                <a:sym typeface="Calibri"/>
              </a:rPr>
              <a:t>Dual-Graph-Guided LLM-Orchestrated Multi-Agent Framework for Autonomous </a:t>
            </a:r>
            <a:r>
              <a:rPr b="0" i="0" lang="en-US" sz="2200" u="none" cap="none" strike="noStrike">
                <a:solidFill>
                  <a:srgbClr val="00E5FF"/>
                </a:solidFill>
                <a:latin typeface="Calibri"/>
                <a:ea typeface="Calibri"/>
                <a:cs typeface="Calibri"/>
                <a:sym typeface="Calibri"/>
              </a:rPr>
              <a:t>Vulnerability Assessment and Penetration Testing </a:t>
            </a:r>
            <a:r>
              <a:rPr b="0" i="1" lang="en-US" sz="2200" u="none" cap="none" strike="noStrike">
                <a:solidFill>
                  <a:srgbClr val="00E5FF"/>
                </a:solidFill>
                <a:latin typeface="Calibri"/>
                <a:ea typeface="Calibri"/>
                <a:cs typeface="Calibri"/>
                <a:sym typeface="Calibri"/>
              </a:rPr>
              <a:t>(VAPT)</a:t>
            </a:r>
            <a:endParaRPr sz="1800">
              <a:solidFill>
                <a:schemeClr val="dk1"/>
              </a:solidFill>
              <a:latin typeface="Calibri"/>
              <a:ea typeface="Calibri"/>
              <a:cs typeface="Calibri"/>
              <a:sym typeface="Calibri"/>
            </a:endParaRPr>
          </a:p>
        </p:txBody>
      </p:sp>
      <p:sp>
        <p:nvSpPr>
          <p:cNvPr id="90" name="Google Shape;90;p13"/>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 name="Google Shape;91;p13"/>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Autonomous Pentesting</a:t>
            </a:r>
            <a:endParaRPr/>
          </a:p>
        </p:txBody>
      </p:sp>
      <p:sp>
        <p:nvSpPr>
          <p:cNvPr id="92" name="Google Shape;92;p13"/>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 name="Google Shape;93;p13"/>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AI Agent Orchestration</a:t>
            </a:r>
            <a:endParaRPr/>
          </a:p>
        </p:txBody>
      </p:sp>
      <p:sp>
        <p:nvSpPr>
          <p:cNvPr id="94" name="Google Shape;94;p13"/>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 name="Google Shape;95;p13"/>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Attack Graph Reasoning</a:t>
            </a:r>
            <a:endParaRPr/>
          </a:p>
        </p:txBody>
      </p:sp>
      <p:sp>
        <p:nvSpPr>
          <p:cNvPr id="96" name="Google Shape;96;p13"/>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A0AAB8"/>
                </a:solidFill>
                <a:latin typeface="Calibri"/>
                <a:ea typeface="Calibri"/>
                <a:cs typeface="Calibri"/>
                <a:sym typeface="Calibri"/>
              </a:rPr>
              <a:t>Supervisor Meeting  ·  June 2026</a:t>
            </a:r>
            <a:endParaRPr/>
          </a:p>
        </p:txBody>
      </p:sp>
      <p:sp>
        <p:nvSpPr>
          <p:cNvPr id="97" name="Google Shape;97;p13"/>
          <p:cNvSpPr txBox="1"/>
          <p:nvPr/>
        </p:nvSpPr>
        <p:spPr>
          <a:xfrm>
            <a:off x="457200" y="5138928"/>
            <a:ext cx="914400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a:solidFill>
                  <a:srgbClr val="A0AAB8"/>
                </a:solidFill>
                <a:latin typeface="Calibri"/>
                <a:ea typeface="Calibri"/>
                <a:cs typeface="Calibri"/>
                <a:sym typeface="Calibri"/>
              </a:rPr>
              <a:t>Black-Box &amp; Grey-Box Assessment  ·  Network  ·  Web  ·  REST API</a:t>
            </a:r>
            <a:endParaRPr/>
          </a:p>
        </p:txBody>
      </p:sp>
      <p:sp>
        <p:nvSpPr>
          <p:cNvPr id="98" name="Google Shape;98;p13"/>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01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2" name="Shape 102"/>
        <p:cNvGrpSpPr/>
        <p:nvPr/>
      </p:nvGrpSpPr>
      <p:grpSpPr>
        <a:xfrm>
          <a:off x="0" y="0"/>
          <a:ext cx="0" cy="0"/>
          <a:chOff x="0" y="0"/>
          <a:chExt cx="0" cy="0"/>
        </a:xfrm>
      </p:grpSpPr>
      <p:sp>
        <p:nvSpPr>
          <p:cNvPr id="103" name="Google Shape;103;p14"/>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 name="Google Shape;104;p14"/>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5" name="Google Shape;105;p14"/>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6" name="Google Shape;106;p1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THE PROBLEM</a:t>
            </a:r>
            <a:endParaRPr/>
          </a:p>
        </p:txBody>
      </p:sp>
      <p:sp>
        <p:nvSpPr>
          <p:cNvPr id="107" name="Google Shape;107;p1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Existing VAPT Systems Get Wrong</a:t>
            </a:r>
            <a:endParaRPr/>
          </a:p>
        </p:txBody>
      </p:sp>
      <p:sp>
        <p:nvSpPr>
          <p:cNvPr id="108" name="Google Shape;108;p14"/>
          <p:cNvSpPr/>
          <p:nvPr/>
        </p:nvSpPr>
        <p:spPr>
          <a:xfrm>
            <a:off x="274320" y="1207008"/>
            <a:ext cx="5303520" cy="11430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 name="Google Shape;109;p14"/>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10" name="Google Shape;110;p14"/>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Structured World Model</a:t>
            </a:r>
            <a:endParaRPr/>
          </a:p>
        </p:txBody>
      </p:sp>
      <p:sp>
        <p:nvSpPr>
          <p:cNvPr id="111" name="Google Shape;111;p14"/>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Systems reason from flat conversation history or task queues — no graph of what the target actually is.</a:t>
            </a:r>
            <a:endParaRPr/>
          </a:p>
        </p:txBody>
      </p:sp>
      <p:sp>
        <p:nvSpPr>
          <p:cNvPr id="112" name="Google Shape;112;p14"/>
          <p:cNvSpPr/>
          <p:nvPr/>
        </p:nvSpPr>
        <p:spPr>
          <a:xfrm>
            <a:off x="274320" y="2441448"/>
            <a:ext cx="5303520" cy="11430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 name="Google Shape;113;p14"/>
          <p:cNvSpPr txBox="1"/>
          <p:nvPr/>
        </p:nvSpPr>
        <p:spPr>
          <a:xfrm>
            <a:off x="384048" y="253288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14" name="Google Shape;114;p14"/>
          <p:cNvSpPr txBox="1"/>
          <p:nvPr/>
        </p:nvSpPr>
        <p:spPr>
          <a:xfrm>
            <a:off x="713232" y="251460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Attack Path Reasoning</a:t>
            </a:r>
            <a:endParaRPr/>
          </a:p>
        </p:txBody>
      </p:sp>
      <p:sp>
        <p:nvSpPr>
          <p:cNvPr id="115" name="Google Shape;115;p14"/>
          <p:cNvSpPr txBox="1"/>
          <p:nvPr/>
        </p:nvSpPr>
        <p:spPr>
          <a:xfrm>
            <a:off x="713232" y="284378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Finished tasks are logged, not understood. Systems cannot represent which vulnerabilities chain together or why.</a:t>
            </a:r>
            <a:endParaRPr/>
          </a:p>
        </p:txBody>
      </p:sp>
      <p:sp>
        <p:nvSpPr>
          <p:cNvPr id="116" name="Google Shape;116;p14"/>
          <p:cNvSpPr/>
          <p:nvPr/>
        </p:nvSpPr>
        <p:spPr>
          <a:xfrm>
            <a:off x="274320" y="3675888"/>
            <a:ext cx="5303520" cy="11430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7" name="Google Shape;117;p14"/>
          <p:cNvSpPr txBox="1"/>
          <p:nvPr/>
        </p:nvSpPr>
        <p:spPr>
          <a:xfrm>
            <a:off x="384048" y="376732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18" name="Google Shape;118;p14"/>
          <p:cNvSpPr txBox="1"/>
          <p:nvPr/>
        </p:nvSpPr>
        <p:spPr>
          <a:xfrm>
            <a:off x="713232" y="374904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Fragile Re-Planning</a:t>
            </a:r>
            <a:endParaRPr/>
          </a:p>
        </p:txBody>
      </p:sp>
      <p:sp>
        <p:nvSpPr>
          <p:cNvPr id="119" name="Google Shape;119;p14"/>
          <p:cNvSpPr txBox="1"/>
          <p:nvPr/>
        </p:nvSpPr>
        <p:spPr>
          <a:xfrm>
            <a:off x="713232" y="407822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Dynamic re-planning is ad-hoc. There is no formal trigger grounded in discovered evidence.</a:t>
            </a:r>
            <a:endParaRPr/>
          </a:p>
        </p:txBody>
      </p:sp>
      <p:sp>
        <p:nvSpPr>
          <p:cNvPr id="120" name="Google Shape;120;p14"/>
          <p:cNvSpPr/>
          <p:nvPr/>
        </p:nvSpPr>
        <p:spPr>
          <a:xfrm>
            <a:off x="274320" y="4910328"/>
            <a:ext cx="5303520" cy="11430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1" name="Google Shape;121;p14"/>
          <p:cNvSpPr txBox="1"/>
          <p:nvPr/>
        </p:nvSpPr>
        <p:spPr>
          <a:xfrm>
            <a:off x="384048" y="500176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22" name="Google Shape;122;p14"/>
          <p:cNvSpPr txBox="1"/>
          <p:nvPr/>
        </p:nvSpPr>
        <p:spPr>
          <a:xfrm>
            <a:off x="713232" y="498348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Arbitrary Termination</a:t>
            </a:r>
            <a:endParaRPr/>
          </a:p>
        </p:txBody>
      </p:sp>
      <p:sp>
        <p:nvSpPr>
          <p:cNvPr id="123" name="Google Shape;123;p14"/>
          <p:cNvSpPr txBox="1"/>
          <p:nvPr/>
        </p:nvSpPr>
        <p:spPr>
          <a:xfrm>
            <a:off x="713232" y="531266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Missions end on time-limits or empty queues — not because the attack surface and all chains are truly exhausted.</a:t>
            </a:r>
            <a:endParaRPr/>
          </a:p>
        </p:txBody>
      </p:sp>
      <p:sp>
        <p:nvSpPr>
          <p:cNvPr id="124" name="Google Shape;124;p14"/>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5" name="Google Shape;125;p14"/>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a:solidFill>
                  <a:srgbClr val="00E5FF"/>
                </a:solidFill>
                <a:latin typeface="Calibri"/>
                <a:ea typeface="Calibri"/>
                <a:cs typeface="Calibri"/>
                <a:sym typeface="Calibri"/>
              </a:rPr>
              <a:t>“</a:t>
            </a:r>
            <a:endParaRPr/>
          </a:p>
        </p:txBody>
      </p:sp>
      <p:sp>
        <p:nvSpPr>
          <p:cNvPr id="126" name="Google Shape;126;p14"/>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000">
                <a:solidFill>
                  <a:srgbClr val="FFFFFF"/>
                </a:solidFill>
                <a:latin typeface="Calibri"/>
                <a:ea typeface="Calibri"/>
                <a:cs typeface="Calibri"/>
                <a:sym typeface="Calibri"/>
              </a:rPr>
              <a:t>They automate tool execution. CMatrix automates the reasoning of a professional penetration tester.</a:t>
            </a:r>
            <a:endParaRPr/>
          </a:p>
        </p:txBody>
      </p:sp>
      <p:sp>
        <p:nvSpPr>
          <p:cNvPr id="127" name="Google Shape;127;p14"/>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a:solidFill>
                  <a:srgbClr val="A0AAB8"/>
                </a:solidFill>
                <a:latin typeface="Calibri"/>
                <a:ea typeface="Calibri"/>
                <a:cs typeface="Calibri"/>
                <a:sym typeface="Calibri"/>
              </a:rPr>
              <a:t>— CMatrix Design Philosophy</a:t>
            </a:r>
            <a:endParaRPr/>
          </a:p>
        </p:txBody>
      </p:sp>
      <p:sp>
        <p:nvSpPr>
          <p:cNvPr id="128" name="Google Shape;128;p14"/>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9" name="Google Shape;129;p14"/>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a:solidFill>
                  <a:srgbClr val="FFFFFF"/>
                </a:solidFill>
                <a:latin typeface="Calibri"/>
                <a:ea typeface="Calibri"/>
                <a:cs typeface="Calibri"/>
                <a:sym typeface="Calibri"/>
              </a:rPr>
              <a:t>⚠  ROOT CAUSE</a:t>
            </a:r>
            <a:endParaRPr/>
          </a:p>
        </p:txBody>
      </p:sp>
      <p:sp>
        <p:nvSpPr>
          <p:cNvPr id="130" name="Google Shape;130;p14"/>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 name="Google Shape;131;p14"/>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50">
                <a:solidFill>
                  <a:srgbClr val="A0AAB8"/>
                </a:solidFill>
                <a:latin typeface="Calibri"/>
                <a:ea typeface="Calibri"/>
                <a:cs typeface="Calibri"/>
                <a:sym typeface="Calibri"/>
              </a:rPr>
              <a:t>Existing systems have no structured model of the target environment and no structured model of what attack paths are possible.  They know what they did — not what the target is, or what can be done to it.</a:t>
            </a:r>
            <a:endParaRPr/>
          </a:p>
        </p:txBody>
      </p:sp>
      <p:sp>
        <p:nvSpPr>
          <p:cNvPr id="132" name="Google Shape;132;p14"/>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 name="Google Shape;133;p14"/>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00E5FF"/>
                </a:solidFill>
                <a:latin typeface="Calibri"/>
                <a:ea typeface="Calibri"/>
                <a:cs typeface="Calibri"/>
                <a:sym typeface="Calibri"/>
              </a:rPr>
              <a:t>CMatrix Solution →  Dual-graph world model: ASG captures discovered reality  ·  APG captures inferred attack opportunity</a:t>
            </a:r>
            <a:endParaRPr/>
          </a:p>
        </p:txBody>
      </p:sp>
      <p:sp>
        <p:nvSpPr>
          <p:cNvPr id="134" name="Google Shape;134;p14"/>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8" name="Shape 138"/>
        <p:cNvGrpSpPr/>
        <p:nvPr/>
      </p:nvGrpSpPr>
      <p:grpSpPr>
        <a:xfrm>
          <a:off x="0" y="0"/>
          <a:ext cx="0" cy="0"/>
          <a:chOff x="0" y="0"/>
          <a:chExt cx="0" cy="0"/>
        </a:xfrm>
      </p:grpSpPr>
      <p:sp>
        <p:nvSpPr>
          <p:cNvPr id="139" name="Google Shape;139;p15"/>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 name="Google Shape;140;p15"/>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 name="Google Shape;141;p15"/>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 name="Google Shape;142;p15"/>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BD93F9"/>
                </a:solidFill>
                <a:latin typeface="Calibri"/>
                <a:ea typeface="Calibri"/>
                <a:cs typeface="Calibri"/>
                <a:sym typeface="Calibri"/>
              </a:rPr>
              <a:t>RELATED WORK</a:t>
            </a:r>
            <a:endParaRPr/>
          </a:p>
        </p:txBody>
      </p:sp>
      <p:sp>
        <p:nvSpPr>
          <p:cNvPr id="143" name="Google Shape;143;p1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Where Prior Systems Fall Short — and How CMatrix Responds</a:t>
            </a:r>
            <a:endParaRPr/>
          </a:p>
        </p:txBody>
      </p:sp>
      <p:sp>
        <p:nvSpPr>
          <p:cNvPr id="144" name="Google Shape;144;p15"/>
          <p:cNvSpPr/>
          <p:nvPr/>
        </p:nvSpPr>
        <p:spPr>
          <a:xfrm>
            <a:off x="274320" y="822960"/>
            <a:ext cx="9144000" cy="2743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 name="Google Shape;145;p15"/>
          <p:cNvSpPr/>
          <p:nvPr/>
        </p:nvSpPr>
        <p:spPr>
          <a:xfrm>
            <a:off x="201168" y="960120"/>
            <a:ext cx="3474720"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 name="Google Shape;146;p15"/>
          <p:cNvSpPr txBox="1"/>
          <p:nvPr/>
        </p:nvSpPr>
        <p:spPr>
          <a:xfrm>
            <a:off x="274320" y="1005840"/>
            <a:ext cx="33649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PRIOR SYSTEM</a:t>
            </a:r>
            <a:endParaRPr/>
          </a:p>
        </p:txBody>
      </p:sp>
      <p:sp>
        <p:nvSpPr>
          <p:cNvPr id="147" name="Google Shape;147;p15"/>
          <p:cNvSpPr/>
          <p:nvPr/>
        </p:nvSpPr>
        <p:spPr>
          <a:xfrm>
            <a:off x="3822191" y="960120"/>
            <a:ext cx="4389120"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 name="Google Shape;148;p15"/>
          <p:cNvSpPr txBox="1"/>
          <p:nvPr/>
        </p:nvSpPr>
        <p:spPr>
          <a:xfrm>
            <a:off x="3895343" y="1005840"/>
            <a:ext cx="42793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WHAT IT LACKS</a:t>
            </a:r>
            <a:endParaRPr/>
          </a:p>
        </p:txBody>
      </p:sp>
      <p:sp>
        <p:nvSpPr>
          <p:cNvPr id="149" name="Google Shape;149;p15"/>
          <p:cNvSpPr/>
          <p:nvPr/>
        </p:nvSpPr>
        <p:spPr>
          <a:xfrm>
            <a:off x="8357616" y="960120"/>
            <a:ext cx="36576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 name="Google Shape;150;p15"/>
          <p:cNvSpPr txBox="1"/>
          <p:nvPr/>
        </p:nvSpPr>
        <p:spPr>
          <a:xfrm>
            <a:off x="8430768" y="1005840"/>
            <a:ext cx="35478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CMatrix ADDRESSES BY</a:t>
            </a:r>
            <a:endParaRPr/>
          </a:p>
        </p:txBody>
      </p:sp>
      <p:sp>
        <p:nvSpPr>
          <p:cNvPr id="151" name="Google Shape;151;p15"/>
          <p:cNvSpPr/>
          <p:nvPr/>
        </p:nvSpPr>
        <p:spPr>
          <a:xfrm>
            <a:off x="201168" y="1289304"/>
            <a:ext cx="3474720" cy="1007668"/>
          </a:xfrm>
          <a:prstGeom prst="rect">
            <a:avLst/>
          </a:prstGeom>
          <a:solidFill>
            <a:srgbClr val="0E0C1A"/>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 name="Google Shape;152;p15"/>
          <p:cNvSpPr/>
          <p:nvPr/>
        </p:nvSpPr>
        <p:spPr>
          <a:xfrm>
            <a:off x="201168" y="1289304"/>
            <a:ext cx="54864" cy="100766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 name="Google Shape;153;p15"/>
          <p:cNvSpPr txBox="1"/>
          <p:nvPr/>
        </p:nvSpPr>
        <p:spPr>
          <a:xfrm>
            <a:off x="329184" y="1344168"/>
            <a:ext cx="3291840"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PentestGPT</a:t>
            </a:r>
            <a:br>
              <a:rPr b="1" i="0" lang="en-US" sz="1000">
                <a:solidFill>
                  <a:srgbClr val="00E5FF"/>
                </a:solidFill>
                <a:latin typeface="Calibri"/>
                <a:ea typeface="Calibri"/>
                <a:cs typeface="Calibri"/>
                <a:sym typeface="Calibri"/>
              </a:rPr>
            </a:br>
            <a:r>
              <a:rPr b="1" i="0" lang="en-US" sz="1000">
                <a:solidFill>
                  <a:srgbClr val="00E5FF"/>
                </a:solidFill>
                <a:latin typeface="Calibri"/>
                <a:ea typeface="Calibri"/>
                <a:cs typeface="Calibri"/>
                <a:sym typeface="Calibri"/>
              </a:rPr>
              <a:t>(USENIX Sec '24)</a:t>
            </a:r>
            <a:endParaRPr/>
          </a:p>
        </p:txBody>
      </p:sp>
      <p:sp>
        <p:nvSpPr>
          <p:cNvPr id="154" name="Google Shape;154;p15"/>
          <p:cNvSpPr/>
          <p:nvPr/>
        </p:nvSpPr>
        <p:spPr>
          <a:xfrm>
            <a:off x="3822191" y="1289304"/>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 name="Google Shape;155;p15"/>
          <p:cNvSpPr txBox="1"/>
          <p:nvPr/>
        </p:nvSpPr>
        <p:spPr>
          <a:xfrm>
            <a:off x="3913631" y="1344168"/>
            <a:ext cx="424281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Flat conversation history — no structured world model of the target. Task Tree records tasks, not discovered facts.</a:t>
            </a:r>
            <a:endParaRPr/>
          </a:p>
        </p:txBody>
      </p:sp>
      <p:sp>
        <p:nvSpPr>
          <p:cNvPr id="156" name="Google Shape;156;p15"/>
          <p:cNvSpPr/>
          <p:nvPr/>
        </p:nvSpPr>
        <p:spPr>
          <a:xfrm>
            <a:off x="8357616" y="1289304"/>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 name="Google Shape;157;p15"/>
          <p:cNvSpPr txBox="1"/>
          <p:nvPr/>
        </p:nvSpPr>
        <p:spPr>
          <a:xfrm>
            <a:off x="8449056" y="1344168"/>
            <a:ext cx="351129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ASG: a typed property graph of the target. Every discovered node is a first-class fact, not a sentence in history.</a:t>
            </a:r>
            <a:endParaRPr/>
          </a:p>
        </p:txBody>
      </p:sp>
      <p:sp>
        <p:nvSpPr>
          <p:cNvPr id="158" name="Google Shape;158;p15"/>
          <p:cNvSpPr/>
          <p:nvPr/>
        </p:nvSpPr>
        <p:spPr>
          <a:xfrm>
            <a:off x="201168" y="2351836"/>
            <a:ext cx="3474720" cy="1007668"/>
          </a:xfrm>
          <a:prstGeom prst="rect">
            <a:avLst/>
          </a:prstGeom>
          <a:solidFill>
            <a:srgbClr val="080A14"/>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 name="Google Shape;159;p15"/>
          <p:cNvSpPr/>
          <p:nvPr/>
        </p:nvSpPr>
        <p:spPr>
          <a:xfrm>
            <a:off x="201168" y="2351836"/>
            <a:ext cx="54864" cy="100766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 name="Google Shape;160;p15"/>
          <p:cNvSpPr txBox="1"/>
          <p:nvPr/>
        </p:nvSpPr>
        <p:spPr>
          <a:xfrm>
            <a:off x="329184" y="2406700"/>
            <a:ext cx="3291840"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AutoAttacker</a:t>
            </a:r>
            <a:br>
              <a:rPr b="1" i="0" lang="en-US" sz="1000">
                <a:solidFill>
                  <a:srgbClr val="39FF14"/>
                </a:solidFill>
                <a:latin typeface="Calibri"/>
                <a:ea typeface="Calibri"/>
                <a:cs typeface="Calibri"/>
                <a:sym typeface="Calibri"/>
              </a:rPr>
            </a:br>
            <a:r>
              <a:rPr b="1" i="0" lang="en-US" sz="1000">
                <a:solidFill>
                  <a:srgbClr val="39FF14"/>
                </a:solidFill>
                <a:latin typeface="Calibri"/>
                <a:ea typeface="Calibri"/>
                <a:cs typeface="Calibri"/>
                <a:sym typeface="Calibri"/>
              </a:rPr>
              <a:t>(arXiv '24)</a:t>
            </a:r>
            <a:endParaRPr/>
          </a:p>
        </p:txBody>
      </p:sp>
      <p:sp>
        <p:nvSpPr>
          <p:cNvPr id="161" name="Google Shape;161;p15"/>
          <p:cNvSpPr/>
          <p:nvPr/>
        </p:nvSpPr>
        <p:spPr>
          <a:xfrm>
            <a:off x="3822191" y="2351836"/>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 name="Google Shape;162;p15"/>
          <p:cNvSpPr txBox="1"/>
          <p:nvPr/>
        </p:nvSpPr>
        <p:spPr>
          <a:xfrm>
            <a:off x="3913631" y="2406700"/>
            <a:ext cx="424281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Experience reuse within one session only. Resets to zero knowledge on every new mission. No cross-session learning.</a:t>
            </a:r>
            <a:endParaRPr/>
          </a:p>
        </p:txBody>
      </p:sp>
      <p:sp>
        <p:nvSpPr>
          <p:cNvPr id="163" name="Google Shape;163;p15"/>
          <p:cNvSpPr/>
          <p:nvPr/>
        </p:nvSpPr>
        <p:spPr>
          <a:xfrm>
            <a:off x="8357616" y="2351836"/>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 name="Google Shape;164;p15"/>
          <p:cNvSpPr txBox="1"/>
          <p:nvPr/>
        </p:nvSpPr>
        <p:spPr>
          <a:xfrm>
            <a:off x="8449056" y="2406700"/>
            <a:ext cx="351129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Cross-Mission Experience Store (C10) + Attack Strategy Library (C11): validated chains accumulate across all missions.</a:t>
            </a:r>
            <a:endParaRPr/>
          </a:p>
        </p:txBody>
      </p:sp>
      <p:sp>
        <p:nvSpPr>
          <p:cNvPr id="165" name="Google Shape;165;p15"/>
          <p:cNvSpPr/>
          <p:nvPr/>
        </p:nvSpPr>
        <p:spPr>
          <a:xfrm>
            <a:off x="201168" y="3414369"/>
            <a:ext cx="3474720" cy="1007668"/>
          </a:xfrm>
          <a:prstGeom prst="rect">
            <a:avLst/>
          </a:prstGeom>
          <a:solidFill>
            <a:srgbClr val="0E0C1A"/>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6" name="Google Shape;166;p15"/>
          <p:cNvSpPr/>
          <p:nvPr/>
        </p:nvSpPr>
        <p:spPr>
          <a:xfrm>
            <a:off x="201168" y="3414369"/>
            <a:ext cx="54864" cy="100766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7" name="Google Shape;167;p15"/>
          <p:cNvSpPr txBox="1"/>
          <p:nvPr/>
        </p:nvSpPr>
        <p:spPr>
          <a:xfrm>
            <a:off x="329184" y="3469233"/>
            <a:ext cx="3291840"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HPTSA / Teams of LLM Agents</a:t>
            </a:r>
            <a:br>
              <a:rPr b="1" i="0" lang="en-US" sz="1000">
                <a:solidFill>
                  <a:srgbClr val="FFD700"/>
                </a:solidFill>
                <a:latin typeface="Calibri"/>
                <a:ea typeface="Calibri"/>
                <a:cs typeface="Calibri"/>
                <a:sym typeface="Calibri"/>
              </a:rPr>
            </a:br>
            <a:r>
              <a:rPr b="1" i="0" lang="en-US" sz="1000">
                <a:solidFill>
                  <a:srgbClr val="FFD700"/>
                </a:solidFill>
                <a:latin typeface="Calibri"/>
                <a:ea typeface="Calibri"/>
                <a:cs typeface="Calibri"/>
                <a:sym typeface="Calibri"/>
              </a:rPr>
              <a:t>(arXiv '24)</a:t>
            </a:r>
            <a:endParaRPr/>
          </a:p>
        </p:txBody>
      </p:sp>
      <p:sp>
        <p:nvSpPr>
          <p:cNvPr id="168" name="Google Shape;168;p15"/>
          <p:cNvSpPr/>
          <p:nvPr/>
        </p:nvSpPr>
        <p:spPr>
          <a:xfrm>
            <a:off x="3822191" y="3414369"/>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9" name="Google Shape;169;p15"/>
          <p:cNvSpPr txBox="1"/>
          <p:nvPr/>
        </p:nvSpPr>
        <p:spPr>
          <a:xfrm>
            <a:off x="3913631" y="3469233"/>
            <a:ext cx="424281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No structured attack graph. Hierarchical delegation but no formal representation of which vulnerabilities chain together.</a:t>
            </a:r>
            <a:endParaRPr/>
          </a:p>
        </p:txBody>
      </p:sp>
      <p:sp>
        <p:nvSpPr>
          <p:cNvPr id="170" name="Google Shape;170;p15"/>
          <p:cNvSpPr/>
          <p:nvPr/>
        </p:nvSpPr>
        <p:spPr>
          <a:xfrm>
            <a:off x="8357616" y="3414369"/>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1" name="Google Shape;171;p15"/>
          <p:cNvSpPr txBox="1"/>
          <p:nvPr/>
        </p:nvSpPr>
        <p:spPr>
          <a:xfrm>
            <a:off x="8449056" y="3469233"/>
            <a:ext cx="351129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APG AttackChain lifecycle (C3): attack paths are first-class entities with risk scores, priorities, and evidence links.</a:t>
            </a:r>
            <a:endParaRPr/>
          </a:p>
        </p:txBody>
      </p:sp>
      <p:sp>
        <p:nvSpPr>
          <p:cNvPr id="172" name="Google Shape;172;p15"/>
          <p:cNvSpPr/>
          <p:nvPr/>
        </p:nvSpPr>
        <p:spPr>
          <a:xfrm>
            <a:off x="201168" y="4476902"/>
            <a:ext cx="3474720" cy="1007668"/>
          </a:xfrm>
          <a:prstGeom prst="rect">
            <a:avLst/>
          </a:prstGeom>
          <a:solidFill>
            <a:srgbClr val="080A14"/>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3" name="Google Shape;173;p15"/>
          <p:cNvSpPr/>
          <p:nvPr/>
        </p:nvSpPr>
        <p:spPr>
          <a:xfrm>
            <a:off x="201168" y="4476902"/>
            <a:ext cx="54864" cy="100766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4" name="Google Shape;174;p15"/>
          <p:cNvSpPr txBox="1"/>
          <p:nvPr/>
        </p:nvSpPr>
        <p:spPr>
          <a:xfrm>
            <a:off x="329184" y="4531766"/>
            <a:ext cx="3291840"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PentestAgent</a:t>
            </a:r>
            <a:br>
              <a:rPr b="1" i="0" lang="en-US" sz="1000">
                <a:solidFill>
                  <a:srgbClr val="00BFD8"/>
                </a:solidFill>
                <a:latin typeface="Calibri"/>
                <a:ea typeface="Calibri"/>
                <a:cs typeface="Calibri"/>
                <a:sym typeface="Calibri"/>
              </a:rPr>
            </a:br>
            <a:r>
              <a:rPr b="1" i="0" lang="en-US" sz="1000">
                <a:solidFill>
                  <a:srgbClr val="00BFD8"/>
                </a:solidFill>
                <a:latin typeface="Calibri"/>
                <a:ea typeface="Calibri"/>
                <a:cs typeface="Calibri"/>
                <a:sym typeface="Calibri"/>
              </a:rPr>
              <a:t>(AsiaCCS '25)</a:t>
            </a:r>
            <a:endParaRPr/>
          </a:p>
        </p:txBody>
      </p:sp>
      <p:sp>
        <p:nvSpPr>
          <p:cNvPr id="175" name="Google Shape;175;p15"/>
          <p:cNvSpPr/>
          <p:nvPr/>
        </p:nvSpPr>
        <p:spPr>
          <a:xfrm>
            <a:off x="3822191" y="4476902"/>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6" name="Google Shape;176;p15"/>
          <p:cNvSpPr txBox="1"/>
          <p:nvPr/>
        </p:nvSpPr>
        <p:spPr>
          <a:xfrm>
            <a:off x="3913631" y="4531766"/>
            <a:ext cx="424281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RAG shared memory conflates discovery facts with reasoning. Termination is task-queue empty — attack surface may still have unexplored nodes.</a:t>
            </a:r>
            <a:endParaRPr/>
          </a:p>
        </p:txBody>
      </p:sp>
      <p:sp>
        <p:nvSpPr>
          <p:cNvPr id="177" name="Google Shape;177;p15"/>
          <p:cNvSpPr/>
          <p:nvPr/>
        </p:nvSpPr>
        <p:spPr>
          <a:xfrm>
            <a:off x="8357616" y="4476902"/>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8" name="Google Shape;178;p15"/>
          <p:cNvSpPr txBox="1"/>
          <p:nvPr/>
        </p:nvSpPr>
        <p:spPr>
          <a:xfrm>
            <a:off x="8449056" y="4531766"/>
            <a:ext cx="351129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Dual-graph separation (C1) + Dual termination (C8): both ASG exhaustion AND APG resolution required for mission close.</a:t>
            </a:r>
            <a:endParaRPr/>
          </a:p>
        </p:txBody>
      </p:sp>
      <p:sp>
        <p:nvSpPr>
          <p:cNvPr id="179" name="Google Shape;179;p15"/>
          <p:cNvSpPr/>
          <p:nvPr/>
        </p:nvSpPr>
        <p:spPr>
          <a:xfrm>
            <a:off x="201168" y="5539435"/>
            <a:ext cx="3474720" cy="1007668"/>
          </a:xfrm>
          <a:prstGeom prst="rect">
            <a:avLst/>
          </a:prstGeom>
          <a:solidFill>
            <a:srgbClr val="0E0C1A"/>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0" name="Google Shape;180;p15"/>
          <p:cNvSpPr/>
          <p:nvPr/>
        </p:nvSpPr>
        <p:spPr>
          <a:xfrm>
            <a:off x="201168" y="5539435"/>
            <a:ext cx="54864" cy="100766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1" name="Google Shape;181;p15"/>
          <p:cNvSpPr txBox="1"/>
          <p:nvPr/>
        </p:nvSpPr>
        <p:spPr>
          <a:xfrm>
            <a:off x="329184" y="5594299"/>
            <a:ext cx="3291840"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VulnBot</a:t>
            </a:r>
            <a:br>
              <a:rPr b="1" i="0" lang="en-US" sz="1000">
                <a:solidFill>
                  <a:srgbClr val="FF4545"/>
                </a:solidFill>
                <a:latin typeface="Calibri"/>
                <a:ea typeface="Calibri"/>
                <a:cs typeface="Calibri"/>
                <a:sym typeface="Calibri"/>
              </a:rPr>
            </a:br>
            <a:r>
              <a:rPr b="1" i="0" lang="en-US" sz="1000">
                <a:solidFill>
                  <a:srgbClr val="FF4545"/>
                </a:solidFill>
                <a:latin typeface="Calibri"/>
                <a:ea typeface="Calibri"/>
                <a:cs typeface="Calibri"/>
                <a:sym typeface="Calibri"/>
              </a:rPr>
              <a:t>(arXiv '25)</a:t>
            </a:r>
            <a:endParaRPr/>
          </a:p>
        </p:txBody>
      </p:sp>
      <p:sp>
        <p:nvSpPr>
          <p:cNvPr id="182" name="Google Shape;182;p15"/>
          <p:cNvSpPr/>
          <p:nvPr/>
        </p:nvSpPr>
        <p:spPr>
          <a:xfrm>
            <a:off x="3822191" y="5539435"/>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3" name="Google Shape;183;p15"/>
          <p:cNvSpPr txBox="1"/>
          <p:nvPr/>
        </p:nvSpPr>
        <p:spPr>
          <a:xfrm>
            <a:off x="3913631" y="5594299"/>
            <a:ext cx="424281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Five-module pipeline with no formal attack graph. Context compaction is ad-hoc. No lifecycle for attack chains.</a:t>
            </a:r>
            <a:endParaRPr/>
          </a:p>
        </p:txBody>
      </p:sp>
      <p:sp>
        <p:nvSpPr>
          <p:cNvPr id="184" name="Google Shape;184;p15"/>
          <p:cNvSpPr/>
          <p:nvPr/>
        </p:nvSpPr>
        <p:spPr>
          <a:xfrm>
            <a:off x="8357616" y="5539435"/>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5" name="Google Shape;185;p15"/>
          <p:cNvSpPr txBox="1"/>
          <p:nvPr/>
        </p:nvSpPr>
        <p:spPr>
          <a:xfrm>
            <a:off x="8449056" y="5594299"/>
            <a:ext cx="3511296" cy="9162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Lossless Context Compaction (C6): three-layer ASG-backed scheme preserves all discovered findings regardless of mission length.</a:t>
            </a:r>
            <a:endParaRPr/>
          </a:p>
        </p:txBody>
      </p:sp>
      <p:sp>
        <p:nvSpPr>
          <p:cNvPr id="186" name="Google Shape;186;p15"/>
          <p:cNvSpPr txBox="1"/>
          <p:nvPr/>
        </p:nvSpPr>
        <p:spPr>
          <a:xfrm>
            <a:off x="11809244" y="19594"/>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BD93F9"/>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90" name="Shape 190"/>
        <p:cNvGrpSpPr/>
        <p:nvPr/>
      </p:nvGrpSpPr>
      <p:grpSpPr>
        <a:xfrm>
          <a:off x="0" y="0"/>
          <a:ext cx="0" cy="0"/>
          <a:chOff x="0" y="0"/>
          <a:chExt cx="0" cy="0"/>
        </a:xfrm>
      </p:grpSpPr>
      <p:sp>
        <p:nvSpPr>
          <p:cNvPr id="191" name="Google Shape;191;p16"/>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2" name="Google Shape;192;p16"/>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3" name="Google Shape;193;p16"/>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4" name="Google Shape;194;p16"/>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SCOPE</a:t>
            </a:r>
            <a:endParaRPr/>
          </a:p>
        </p:txBody>
      </p:sp>
      <p:sp>
        <p:nvSpPr>
          <p:cNvPr id="195" name="Google Shape;195;p16"/>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CMatrix Assesses — and What It Does Not</a:t>
            </a:r>
            <a:endParaRPr/>
          </a:p>
        </p:txBody>
      </p:sp>
      <p:sp>
        <p:nvSpPr>
          <p:cNvPr id="196" name="Google Shape;196;p16"/>
          <p:cNvSpPr/>
          <p:nvPr/>
        </p:nvSpPr>
        <p:spPr>
          <a:xfrm>
            <a:off x="274320" y="822960"/>
            <a:ext cx="8229600" cy="2743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7" name="Google Shape;197;p16"/>
          <p:cNvSpPr/>
          <p:nvPr/>
        </p:nvSpPr>
        <p:spPr>
          <a:xfrm>
            <a:off x="201168" y="987552"/>
            <a:ext cx="5394960" cy="4937760"/>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8" name="Google Shape;198;p16"/>
          <p:cNvSpPr/>
          <p:nvPr/>
        </p:nvSpPr>
        <p:spPr>
          <a:xfrm>
            <a:off x="201168" y="987552"/>
            <a:ext cx="5394960" cy="31089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9" name="Google Shape;199;p16"/>
          <p:cNvSpPr txBox="1"/>
          <p:nvPr/>
        </p:nvSpPr>
        <p:spPr>
          <a:xfrm>
            <a:off x="310896" y="1033272"/>
            <a:ext cx="52120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0A0D1A"/>
                </a:solidFill>
                <a:latin typeface="Calibri"/>
                <a:ea typeface="Calibri"/>
                <a:cs typeface="Calibri"/>
                <a:sym typeface="Calibri"/>
              </a:rPr>
              <a:t>✓  IN SCOPE</a:t>
            </a:r>
            <a:endParaRPr/>
          </a:p>
        </p:txBody>
      </p:sp>
      <p:sp>
        <p:nvSpPr>
          <p:cNvPr id="200" name="Google Shape;200;p16"/>
          <p:cNvSpPr/>
          <p:nvPr/>
        </p:nvSpPr>
        <p:spPr>
          <a:xfrm>
            <a:off x="310896" y="138988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1" name="Google Shape;201;p16"/>
          <p:cNvSpPr txBox="1"/>
          <p:nvPr/>
        </p:nvSpPr>
        <p:spPr>
          <a:xfrm>
            <a:off x="402336" y="143560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Web Applications</a:t>
            </a:r>
            <a:endParaRPr/>
          </a:p>
        </p:txBody>
      </p:sp>
      <p:sp>
        <p:nvSpPr>
          <p:cNvPr id="202" name="Google Shape;202;p16"/>
          <p:cNvSpPr txBox="1"/>
          <p:nvPr/>
        </p:nvSpPr>
        <p:spPr>
          <a:xfrm>
            <a:off x="402336" y="166420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HTTP/HTTPS services, CMS, REST APIs, GraphQL endpoints.</a:t>
            </a:r>
            <a:endParaRPr/>
          </a:p>
        </p:txBody>
      </p:sp>
      <p:sp>
        <p:nvSpPr>
          <p:cNvPr id="203" name="Google Shape;203;p16"/>
          <p:cNvSpPr/>
          <p:nvPr/>
        </p:nvSpPr>
        <p:spPr>
          <a:xfrm>
            <a:off x="310896" y="2148840"/>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 name="Google Shape;204;p16"/>
          <p:cNvSpPr txBox="1"/>
          <p:nvPr/>
        </p:nvSpPr>
        <p:spPr>
          <a:xfrm>
            <a:off x="402336" y="2194560"/>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Network Services</a:t>
            </a:r>
            <a:endParaRPr/>
          </a:p>
        </p:txBody>
      </p:sp>
      <p:sp>
        <p:nvSpPr>
          <p:cNvPr id="205" name="Google Shape;205;p16"/>
          <p:cNvSpPr txBox="1"/>
          <p:nvPr/>
        </p:nvSpPr>
        <p:spPr>
          <a:xfrm>
            <a:off x="402336" y="2423160"/>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Exposed ports, services, TLS/SSL, open protocols.</a:t>
            </a:r>
            <a:endParaRPr/>
          </a:p>
        </p:txBody>
      </p:sp>
      <p:sp>
        <p:nvSpPr>
          <p:cNvPr id="206" name="Google Shape;206;p16"/>
          <p:cNvSpPr/>
          <p:nvPr/>
        </p:nvSpPr>
        <p:spPr>
          <a:xfrm>
            <a:off x="310896" y="2907792"/>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7" name="Google Shape;207;p16"/>
          <p:cNvSpPr txBox="1"/>
          <p:nvPr/>
        </p:nvSpPr>
        <p:spPr>
          <a:xfrm>
            <a:off x="402336" y="2953512"/>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API Attack Surface</a:t>
            </a:r>
            <a:endParaRPr/>
          </a:p>
        </p:txBody>
      </p:sp>
      <p:sp>
        <p:nvSpPr>
          <p:cNvPr id="208" name="Google Shape;208;p16"/>
          <p:cNvSpPr txBox="1"/>
          <p:nvPr/>
        </p:nvSpPr>
        <p:spPr>
          <a:xfrm>
            <a:off x="402336" y="3182112"/>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REST endpoints, parameter injection, IDOR, auth bypass.</a:t>
            </a:r>
            <a:endParaRPr/>
          </a:p>
        </p:txBody>
      </p:sp>
      <p:sp>
        <p:nvSpPr>
          <p:cNvPr id="209" name="Google Shape;209;p16"/>
          <p:cNvSpPr/>
          <p:nvPr/>
        </p:nvSpPr>
        <p:spPr>
          <a:xfrm>
            <a:off x="310896" y="3666744"/>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0" name="Google Shape;210;p16"/>
          <p:cNvSpPr txBox="1"/>
          <p:nvPr/>
        </p:nvSpPr>
        <p:spPr>
          <a:xfrm>
            <a:off x="402336" y="3712464"/>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Black-Box Mode</a:t>
            </a:r>
            <a:endParaRPr/>
          </a:p>
        </p:txBody>
      </p:sp>
      <p:sp>
        <p:nvSpPr>
          <p:cNvPr id="211" name="Google Shape;211;p16"/>
          <p:cNvSpPr txBox="1"/>
          <p:nvPr/>
        </p:nvSpPr>
        <p:spPr>
          <a:xfrm>
            <a:off x="402336" y="3941064"/>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Zero prior knowledge. Operator provides: root domain + scope declaration only.</a:t>
            </a:r>
            <a:endParaRPr/>
          </a:p>
        </p:txBody>
      </p:sp>
      <p:sp>
        <p:nvSpPr>
          <p:cNvPr id="212" name="Google Shape;212;p16"/>
          <p:cNvSpPr/>
          <p:nvPr/>
        </p:nvSpPr>
        <p:spPr>
          <a:xfrm>
            <a:off x="310896" y="4425696"/>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3" name="Google Shape;213;p16"/>
          <p:cNvSpPr txBox="1"/>
          <p:nvPr/>
        </p:nvSpPr>
        <p:spPr>
          <a:xfrm>
            <a:off x="402336" y="4471416"/>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Grey-Box Mode</a:t>
            </a:r>
            <a:endParaRPr/>
          </a:p>
        </p:txBody>
      </p:sp>
      <p:sp>
        <p:nvSpPr>
          <p:cNvPr id="214" name="Google Shape;214;p16"/>
          <p:cNvSpPr txBox="1"/>
          <p:nvPr/>
        </p:nvSpPr>
        <p:spPr>
          <a:xfrm>
            <a:off x="402336" y="4700016"/>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Partial knowledge. Operator additionally provides: known IP ranges, credentials, network topology fragments. ASG Host nodes are pre-seeded.</a:t>
            </a:r>
            <a:endParaRPr/>
          </a:p>
        </p:txBody>
      </p:sp>
      <p:sp>
        <p:nvSpPr>
          <p:cNvPr id="215" name="Google Shape;215;p16"/>
          <p:cNvSpPr/>
          <p:nvPr/>
        </p:nvSpPr>
        <p:spPr>
          <a:xfrm>
            <a:off x="310896" y="518464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6" name="Google Shape;216;p16"/>
          <p:cNvSpPr txBox="1"/>
          <p:nvPr/>
        </p:nvSpPr>
        <p:spPr>
          <a:xfrm>
            <a:off x="402336" y="523036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Authorised Assessments</a:t>
            </a:r>
            <a:endParaRPr/>
          </a:p>
        </p:txBody>
      </p:sp>
      <p:sp>
        <p:nvSpPr>
          <p:cNvPr id="217" name="Google Shape;217;p16"/>
          <p:cNvSpPr txBox="1"/>
          <p:nvPr/>
        </p:nvSpPr>
        <p:spPr>
          <a:xfrm>
            <a:off x="402336" y="545896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CMatrix operates only within declared scope. Scope check fires before every tool execution at the Risk Gate.</a:t>
            </a:r>
            <a:endParaRPr/>
          </a:p>
        </p:txBody>
      </p:sp>
      <p:sp>
        <p:nvSpPr>
          <p:cNvPr id="218" name="Google Shape;218;p16"/>
          <p:cNvSpPr/>
          <p:nvPr/>
        </p:nvSpPr>
        <p:spPr>
          <a:xfrm>
            <a:off x="5779008" y="987552"/>
            <a:ext cx="4480560" cy="3108960"/>
          </a:xfrm>
          <a:prstGeom prst="rect">
            <a:avLst/>
          </a:prstGeom>
          <a:solidFill>
            <a:srgbClr val="1C0808"/>
          </a:solidFill>
          <a:ln cap="flat" cmpd="sng" w="228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9" name="Google Shape;219;p16"/>
          <p:cNvSpPr/>
          <p:nvPr/>
        </p:nvSpPr>
        <p:spPr>
          <a:xfrm>
            <a:off x="5779008" y="987552"/>
            <a:ext cx="4480560" cy="31089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 name="Google Shape;220;p16"/>
          <p:cNvSpPr txBox="1"/>
          <p:nvPr/>
        </p:nvSpPr>
        <p:spPr>
          <a:xfrm>
            <a:off x="5888736" y="1033272"/>
            <a:ext cx="42976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  OUT OF SCOPE</a:t>
            </a:r>
            <a:endParaRPr/>
          </a:p>
        </p:txBody>
      </p:sp>
      <p:sp>
        <p:nvSpPr>
          <p:cNvPr id="221" name="Google Shape;221;p16"/>
          <p:cNvSpPr/>
          <p:nvPr/>
        </p:nvSpPr>
        <p:spPr>
          <a:xfrm>
            <a:off x="5888736" y="138988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2" name="Google Shape;222;p16"/>
          <p:cNvSpPr txBox="1"/>
          <p:nvPr/>
        </p:nvSpPr>
        <p:spPr>
          <a:xfrm>
            <a:off x="5980176" y="144475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  White-Box  (source code review, SAST)</a:t>
            </a:r>
            <a:endParaRPr/>
          </a:p>
        </p:txBody>
      </p:sp>
      <p:sp>
        <p:nvSpPr>
          <p:cNvPr id="223" name="Google Shape;223;p16"/>
          <p:cNvSpPr/>
          <p:nvPr/>
        </p:nvSpPr>
        <p:spPr>
          <a:xfrm>
            <a:off x="5888736" y="1828800"/>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4" name="Google Shape;224;p16"/>
          <p:cNvSpPr txBox="1"/>
          <p:nvPr/>
        </p:nvSpPr>
        <p:spPr>
          <a:xfrm>
            <a:off x="5980176" y="1883664"/>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  Mobile Applications  (iOS, Android)</a:t>
            </a:r>
            <a:endParaRPr/>
          </a:p>
        </p:txBody>
      </p:sp>
      <p:sp>
        <p:nvSpPr>
          <p:cNvPr id="225" name="Google Shape;225;p16"/>
          <p:cNvSpPr/>
          <p:nvPr/>
        </p:nvSpPr>
        <p:spPr>
          <a:xfrm>
            <a:off x="5888736" y="2267712"/>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6" name="Google Shape;226;p16"/>
          <p:cNvSpPr txBox="1"/>
          <p:nvPr/>
        </p:nvSpPr>
        <p:spPr>
          <a:xfrm>
            <a:off x="5980176" y="2322576"/>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  Cloud / IoT Infrastructure  (AWS, Azure, embedded devices)</a:t>
            </a:r>
            <a:endParaRPr/>
          </a:p>
        </p:txBody>
      </p:sp>
      <p:sp>
        <p:nvSpPr>
          <p:cNvPr id="227" name="Google Shape;227;p16"/>
          <p:cNvSpPr/>
          <p:nvPr/>
        </p:nvSpPr>
        <p:spPr>
          <a:xfrm>
            <a:off x="5888736" y="2706624"/>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8" name="Google Shape;228;p16"/>
          <p:cNvSpPr txBox="1"/>
          <p:nvPr/>
        </p:nvSpPr>
        <p:spPr>
          <a:xfrm>
            <a:off x="5980176" y="2761488"/>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  Wireless Networks  (Wi-Fi, Bluetooth, RF)</a:t>
            </a:r>
            <a:endParaRPr/>
          </a:p>
        </p:txBody>
      </p:sp>
      <p:sp>
        <p:nvSpPr>
          <p:cNvPr id="229" name="Google Shape;229;p16"/>
          <p:cNvSpPr/>
          <p:nvPr/>
        </p:nvSpPr>
        <p:spPr>
          <a:xfrm>
            <a:off x="5888736" y="3145536"/>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0" name="Google Shape;230;p16"/>
          <p:cNvSpPr txBox="1"/>
          <p:nvPr/>
        </p:nvSpPr>
        <p:spPr>
          <a:xfrm>
            <a:off x="5980176" y="3200400"/>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  Active Directory / Domain Services</a:t>
            </a:r>
            <a:endParaRPr/>
          </a:p>
        </p:txBody>
      </p:sp>
      <p:sp>
        <p:nvSpPr>
          <p:cNvPr id="231" name="Google Shape;231;p16"/>
          <p:cNvSpPr/>
          <p:nvPr/>
        </p:nvSpPr>
        <p:spPr>
          <a:xfrm>
            <a:off x="5888736" y="358444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2" name="Google Shape;232;p16"/>
          <p:cNvSpPr txBox="1"/>
          <p:nvPr/>
        </p:nvSpPr>
        <p:spPr>
          <a:xfrm>
            <a:off x="5980176" y="363931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  Physical / Social Engineering Attacks</a:t>
            </a:r>
            <a:endParaRPr/>
          </a:p>
        </p:txBody>
      </p:sp>
      <p:sp>
        <p:nvSpPr>
          <p:cNvPr id="233" name="Google Shape;233;p16"/>
          <p:cNvSpPr/>
          <p:nvPr/>
        </p:nvSpPr>
        <p:spPr>
          <a:xfrm>
            <a:off x="5779008" y="4206240"/>
            <a:ext cx="4480560" cy="1719072"/>
          </a:xfrm>
          <a:prstGeom prst="rect">
            <a:avLst/>
          </a:prstGeom>
          <a:solidFill>
            <a:srgbClr val="06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4" name="Google Shape;234;p16"/>
          <p:cNvSpPr/>
          <p:nvPr/>
        </p:nvSpPr>
        <p:spPr>
          <a:xfrm>
            <a:off x="5779008" y="4206240"/>
            <a:ext cx="448056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5" name="Google Shape;235;p16"/>
          <p:cNvSpPr txBox="1"/>
          <p:nvPr/>
        </p:nvSpPr>
        <p:spPr>
          <a:xfrm>
            <a:off x="5870448" y="4242816"/>
            <a:ext cx="4315968"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0A0D1A"/>
                </a:solidFill>
                <a:latin typeface="Calibri"/>
                <a:ea typeface="Calibri"/>
                <a:cs typeface="Calibri"/>
                <a:sym typeface="Calibri"/>
              </a:rPr>
              <a:t>OPERATOR CONFIGURATION  (one-time, before mission start)</a:t>
            </a:r>
            <a:endParaRPr/>
          </a:p>
        </p:txBody>
      </p:sp>
      <p:sp>
        <p:nvSpPr>
          <p:cNvPr id="236" name="Google Shape;236;p16"/>
          <p:cNvSpPr txBox="1"/>
          <p:nvPr/>
        </p:nvSpPr>
        <p:spPr>
          <a:xfrm>
            <a:off x="5943600" y="4553712"/>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  Root domain (e.g. shopvault.io)</a:t>
            </a:r>
            <a:endParaRPr/>
          </a:p>
        </p:txBody>
      </p:sp>
      <p:sp>
        <p:nvSpPr>
          <p:cNvPr id="237" name="Google Shape;237;p16"/>
          <p:cNvSpPr txBox="1"/>
          <p:nvPr/>
        </p:nvSpPr>
        <p:spPr>
          <a:xfrm>
            <a:off x="5943600" y="4864608"/>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  Scope declaration  (all subdomains · web apps · APIs)</a:t>
            </a:r>
            <a:endParaRPr/>
          </a:p>
        </p:txBody>
      </p:sp>
      <p:sp>
        <p:nvSpPr>
          <p:cNvPr id="238" name="Google Shape;238;p16"/>
          <p:cNvSpPr txBox="1"/>
          <p:nvPr/>
        </p:nvSpPr>
        <p:spPr>
          <a:xfrm>
            <a:off x="5943600" y="5175504"/>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  Assessment mode  (Black-Box or Grey-Box)</a:t>
            </a:r>
            <a:endParaRPr/>
          </a:p>
        </p:txBody>
      </p:sp>
      <p:sp>
        <p:nvSpPr>
          <p:cNvPr id="239" name="Google Shape;239;p16"/>
          <p:cNvSpPr txBox="1"/>
          <p:nvPr/>
        </p:nvSpPr>
        <p:spPr>
          <a:xfrm>
            <a:off x="5943600" y="5486400"/>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  Grey-Box extras if applicable  (IP ranges, credentials)</a:t>
            </a:r>
            <a:endParaRPr/>
          </a:p>
        </p:txBody>
      </p:sp>
      <p:sp>
        <p:nvSpPr>
          <p:cNvPr id="240" name="Google Shape;240;p16"/>
          <p:cNvSpPr txBox="1"/>
          <p:nvPr/>
        </p:nvSpPr>
        <p:spPr>
          <a:xfrm>
            <a:off x="5943600" y="5833872"/>
            <a:ext cx="420624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50">
                <a:solidFill>
                  <a:srgbClr val="A0AAB8"/>
                </a:solidFill>
                <a:latin typeface="Calibri"/>
                <a:ea typeface="Calibri"/>
                <a:cs typeface="Calibri"/>
                <a:sym typeface="Calibri"/>
              </a:rPr>
              <a:t>All subsequent tool calls, reasoning, and reporting are fully autonomous — zero manual commands during the assessment.</a:t>
            </a:r>
            <a:endParaRPr/>
          </a:p>
        </p:txBody>
      </p:sp>
      <p:sp>
        <p:nvSpPr>
          <p:cNvPr id="241" name="Google Shape;241;p16"/>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45" name="Shape 245"/>
        <p:cNvGrpSpPr/>
        <p:nvPr/>
      </p:nvGrpSpPr>
      <p:grpSpPr>
        <a:xfrm>
          <a:off x="0" y="0"/>
          <a:ext cx="0" cy="0"/>
          <a:chOff x="0" y="0"/>
          <a:chExt cx="0" cy="0"/>
        </a:xfrm>
      </p:grpSpPr>
      <p:sp>
        <p:nvSpPr>
          <p:cNvPr id="246" name="Google Shape;246;p17"/>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7" name="Google Shape;247;p17"/>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8" name="Google Shape;248;p17"/>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9" name="Google Shape;249;p17"/>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SYSTEM ARCHITECTURE</a:t>
            </a:r>
            <a:endParaRPr/>
          </a:p>
        </p:txBody>
      </p:sp>
      <p:sp>
        <p:nvSpPr>
          <p:cNvPr id="250" name="Google Shape;250;p17"/>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CMatrix — Three-Tier Architecture Overview</a:t>
            </a:r>
            <a:endParaRPr/>
          </a:p>
        </p:txBody>
      </p:sp>
      <p:sp>
        <p:nvSpPr>
          <p:cNvPr id="251" name="Google Shape;251;p17"/>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2" name="Google Shape;252;p17"/>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00E5FF"/>
                </a:solidFill>
                <a:latin typeface="Calibri"/>
                <a:ea typeface="Calibri"/>
                <a:cs typeface="Calibri"/>
                <a:sym typeface="Calibri"/>
              </a:rPr>
              <a:t>① ORCHESTRATION</a:t>
            </a:r>
            <a:endParaRPr/>
          </a:p>
        </p:txBody>
      </p:sp>
      <p:sp>
        <p:nvSpPr>
          <p:cNvPr id="253" name="Google Shape;253;p17"/>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4" name="Google Shape;254;p17"/>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A0AAB8"/>
                </a:solidFill>
                <a:latin typeface="Calibri"/>
                <a:ea typeface="Calibri"/>
                <a:cs typeface="Calibri"/>
                <a:sym typeface="Calibri"/>
              </a:rPr>
              <a:t>OPERATOR</a:t>
            </a:r>
            <a:endParaRPr/>
          </a:p>
        </p:txBody>
      </p:sp>
      <p:sp>
        <p:nvSpPr>
          <p:cNvPr id="255" name="Google Shape;255;p17"/>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a:solidFill>
                  <a:srgbClr val="A0AAB8"/>
                </a:solidFill>
                <a:latin typeface="Calibri"/>
                <a:ea typeface="Calibri"/>
                <a:cs typeface="Calibri"/>
                <a:sym typeface="Calibri"/>
              </a:rPr>
              <a:t>Target · Scope · Mode</a:t>
            </a:r>
            <a:endParaRPr/>
          </a:p>
        </p:txBody>
      </p:sp>
      <p:cxnSp>
        <p:nvCxnSpPr>
          <p:cNvPr id="256" name="Google Shape;256;p17"/>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257" name="Google Shape;257;p17"/>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303848"/>
                </a:solidFill>
                <a:latin typeface="Calibri"/>
                <a:ea typeface="Calibri"/>
                <a:cs typeface="Calibri"/>
                <a:sym typeface="Calibri"/>
              </a:rPr>
              <a:t>mission config</a:t>
            </a:r>
            <a:endParaRPr/>
          </a:p>
        </p:txBody>
      </p:sp>
      <p:sp>
        <p:nvSpPr>
          <p:cNvPr id="258" name="Google Shape;258;p17"/>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9" name="Google Shape;259;p17"/>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0" name="Google Shape;260;p17"/>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COMMANDER AGENT</a:t>
            </a:r>
            <a:endParaRPr/>
          </a:p>
        </p:txBody>
      </p:sp>
      <p:sp>
        <p:nvSpPr>
          <p:cNvPr id="261" name="Google Shape;261;p17"/>
          <p:cNvSpPr txBox="1"/>
          <p:nvPr/>
        </p:nvSpPr>
        <p:spPr>
          <a:xfrm>
            <a:off x="2176271" y="1261872"/>
            <a:ext cx="269748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 Reads ASG + APG state</a:t>
            </a:r>
            <a:endParaRPr/>
          </a:p>
        </p:txBody>
      </p:sp>
      <p:sp>
        <p:nvSpPr>
          <p:cNvPr id="262" name="Google Shape;262;p17"/>
          <p:cNvSpPr txBox="1"/>
          <p:nvPr/>
        </p:nvSpPr>
        <p:spPr>
          <a:xfrm>
            <a:off x="2176271" y="1426464"/>
            <a:ext cx="269748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 Plans &amp; delegates tasks</a:t>
            </a:r>
            <a:endParaRPr/>
          </a:p>
        </p:txBody>
      </p:sp>
      <p:sp>
        <p:nvSpPr>
          <p:cNvPr id="263" name="Google Shape;263;p17"/>
          <p:cNvSpPr txBox="1"/>
          <p:nvPr/>
        </p:nvSpPr>
        <p:spPr>
          <a:xfrm>
            <a:off x="2176271" y="1591056"/>
            <a:ext cx="269748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 Seeds APG AttackChains from Vulnerability nodes</a:t>
            </a:r>
            <a:endParaRPr/>
          </a:p>
        </p:txBody>
      </p:sp>
      <p:sp>
        <p:nvSpPr>
          <p:cNvPr id="264" name="Google Shape;264;p17"/>
          <p:cNvSpPr txBox="1"/>
          <p:nvPr/>
        </p:nvSpPr>
        <p:spPr>
          <a:xfrm>
            <a:off x="2176271" y="1755648"/>
            <a:ext cx="269748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 Approves High-risk ops</a:t>
            </a:r>
            <a:endParaRPr/>
          </a:p>
        </p:txBody>
      </p:sp>
      <p:sp>
        <p:nvSpPr>
          <p:cNvPr id="265" name="Google Shape;265;p17"/>
          <p:cNvSpPr txBox="1"/>
          <p:nvPr/>
        </p:nvSpPr>
        <p:spPr>
          <a:xfrm>
            <a:off x="2176271" y="1920240"/>
            <a:ext cx="269748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 Writes to APG only</a:t>
            </a:r>
            <a:endParaRPr/>
          </a:p>
        </p:txBody>
      </p:sp>
      <p:sp>
        <p:nvSpPr>
          <p:cNvPr id="266" name="Google Shape;266;p17"/>
          <p:cNvSpPr/>
          <p:nvPr/>
        </p:nvSpPr>
        <p:spPr>
          <a:xfrm>
            <a:off x="5120640" y="1060704"/>
            <a:ext cx="2103120"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7" name="Google Shape;267;p17"/>
          <p:cNvSpPr txBox="1"/>
          <p:nvPr/>
        </p:nvSpPr>
        <p:spPr>
          <a:xfrm>
            <a:off x="5120640" y="1115568"/>
            <a:ext cx="210312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BD93F9"/>
                </a:solidFill>
                <a:latin typeface="Calibri"/>
                <a:ea typeface="Calibri"/>
                <a:cs typeface="Calibri"/>
                <a:sym typeface="Calibri"/>
              </a:rPr>
              <a:t>VAPT PROTOCOL PROMPT</a:t>
            </a:r>
            <a:endParaRPr/>
          </a:p>
        </p:txBody>
      </p:sp>
      <p:sp>
        <p:nvSpPr>
          <p:cNvPr id="268" name="Google Shape;268;p17"/>
          <p:cNvSpPr txBox="1"/>
          <p:nvPr/>
        </p:nvSpPr>
        <p:spPr>
          <a:xfrm>
            <a:off x="5212080" y="1353312"/>
            <a:ext cx="1965960" cy="5303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Phase rules · Re-plan triggers · Termination conditions · Methodology-as-config (C7)</a:t>
            </a:r>
            <a:endParaRPr/>
          </a:p>
        </p:txBody>
      </p:sp>
      <p:cxnSp>
        <p:nvCxnSpPr>
          <p:cNvPr id="269" name="Google Shape;269;p17"/>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270" name="Google Shape;270;p17"/>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1" name="Google Shape;271;p17"/>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39FF14"/>
                </a:solidFill>
                <a:latin typeface="Calibri"/>
                <a:ea typeface="Calibri"/>
                <a:cs typeface="Calibri"/>
                <a:sym typeface="Calibri"/>
              </a:rPr>
              <a:t>② DUAL-GRAPH WORLD MODEL</a:t>
            </a:r>
            <a:endParaRPr/>
          </a:p>
        </p:txBody>
      </p:sp>
      <p:sp>
        <p:nvSpPr>
          <p:cNvPr id="272" name="Google Shape;272;p17"/>
          <p:cNvSpPr/>
          <p:nvPr/>
        </p:nvSpPr>
        <p:spPr>
          <a:xfrm>
            <a:off x="320040" y="2414016"/>
            <a:ext cx="42976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3" name="Google Shape;273;p17"/>
          <p:cNvSpPr/>
          <p:nvPr/>
        </p:nvSpPr>
        <p:spPr>
          <a:xfrm>
            <a:off x="320040" y="2414016"/>
            <a:ext cx="42976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4" name="Google Shape;274;p17"/>
          <p:cNvSpPr txBox="1"/>
          <p:nvPr/>
        </p:nvSpPr>
        <p:spPr>
          <a:xfrm>
            <a:off x="320040" y="2450592"/>
            <a:ext cx="429768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ATTACK SURFACE GRAPH  (ASG)</a:t>
            </a:r>
            <a:endParaRPr/>
          </a:p>
        </p:txBody>
      </p:sp>
      <p:sp>
        <p:nvSpPr>
          <p:cNvPr id="275" name="Google Shape;275;p17"/>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6" name="Google Shape;276;p17"/>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Domain</a:t>
            </a:r>
            <a:endParaRPr/>
          </a:p>
        </p:txBody>
      </p:sp>
      <p:sp>
        <p:nvSpPr>
          <p:cNvPr id="277" name="Google Shape;277;p17"/>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8" name="Google Shape;278;p17"/>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Host</a:t>
            </a:r>
            <a:endParaRPr/>
          </a:p>
        </p:txBody>
      </p:sp>
      <p:sp>
        <p:nvSpPr>
          <p:cNvPr id="279" name="Google Shape;279;p17"/>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0" name="Google Shape;280;p17"/>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Port</a:t>
            </a:r>
            <a:endParaRPr/>
          </a:p>
        </p:txBody>
      </p:sp>
      <p:sp>
        <p:nvSpPr>
          <p:cNvPr id="281" name="Google Shape;281;p17"/>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2" name="Google Shape;282;p17"/>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Service</a:t>
            </a:r>
            <a:endParaRPr/>
          </a:p>
        </p:txBody>
      </p:sp>
      <p:sp>
        <p:nvSpPr>
          <p:cNvPr id="283" name="Google Shape;283;p17"/>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4" name="Google Shape;284;p17"/>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Technology</a:t>
            </a:r>
            <a:endParaRPr/>
          </a:p>
        </p:txBody>
      </p:sp>
      <p:sp>
        <p:nvSpPr>
          <p:cNvPr id="285" name="Google Shape;285;p17"/>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6" name="Google Shape;286;p17"/>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Endpoint</a:t>
            </a:r>
            <a:endParaRPr/>
          </a:p>
        </p:txBody>
      </p:sp>
      <p:sp>
        <p:nvSpPr>
          <p:cNvPr id="287" name="Google Shape;287;p17"/>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8" name="Google Shape;288;p17"/>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Parameter</a:t>
            </a:r>
            <a:endParaRPr/>
          </a:p>
        </p:txBody>
      </p:sp>
      <p:sp>
        <p:nvSpPr>
          <p:cNvPr id="289" name="Google Shape;289;p17"/>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0" name="Google Shape;290;p17"/>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Vulnerability</a:t>
            </a:r>
            <a:endParaRPr/>
          </a:p>
        </p:txBody>
      </p:sp>
      <p:sp>
        <p:nvSpPr>
          <p:cNvPr id="291" name="Google Shape;291;p17"/>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2" name="Google Shape;292;p17"/>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39FF14"/>
                </a:solidFill>
                <a:latin typeface="Calibri"/>
                <a:ea typeface="Calibri"/>
                <a:cs typeface="Calibri"/>
                <a:sym typeface="Calibri"/>
              </a:rPr>
              <a:t>Evidence</a:t>
            </a:r>
            <a:endParaRPr/>
          </a:p>
        </p:txBody>
      </p:sp>
      <p:sp>
        <p:nvSpPr>
          <p:cNvPr id="293" name="Google Shape;293;p17"/>
          <p:cNvSpPr txBox="1"/>
          <p:nvPr/>
        </p:nvSpPr>
        <p:spPr>
          <a:xfrm>
            <a:off x="429768" y="3300984"/>
            <a:ext cx="411480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60C070"/>
                </a:solidFill>
                <a:latin typeface="Calibri"/>
                <a:ea typeface="Calibri"/>
                <a:cs typeface="Calibri"/>
                <a:sym typeface="Calibri"/>
              </a:rPr>
              <a:t>Discovered Reality — confirmed facts only. Never contains hypotheses.</a:t>
            </a:r>
            <a:endParaRPr/>
          </a:p>
        </p:txBody>
      </p:sp>
      <p:sp>
        <p:nvSpPr>
          <p:cNvPr id="294" name="Google Shape;294;p17"/>
          <p:cNvSpPr/>
          <p:nvPr/>
        </p:nvSpPr>
        <p:spPr>
          <a:xfrm>
            <a:off x="7589520" y="2414016"/>
            <a:ext cx="438912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5" name="Google Shape;295;p17"/>
          <p:cNvSpPr/>
          <p:nvPr/>
        </p:nvSpPr>
        <p:spPr>
          <a:xfrm>
            <a:off x="7589520" y="2414016"/>
            <a:ext cx="438912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6" name="Google Shape;296;p17"/>
          <p:cNvSpPr txBox="1"/>
          <p:nvPr/>
        </p:nvSpPr>
        <p:spPr>
          <a:xfrm>
            <a:off x="7589520" y="2450592"/>
            <a:ext cx="438912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ATTACK PATH GRAPH  (APG)</a:t>
            </a:r>
            <a:endParaRPr/>
          </a:p>
        </p:txBody>
      </p:sp>
      <p:sp>
        <p:nvSpPr>
          <p:cNvPr id="297" name="Google Shape;297;p17"/>
          <p:cNvSpPr/>
          <p:nvPr/>
        </p:nvSpPr>
        <p:spPr>
          <a:xfrm>
            <a:off x="77266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8" name="Google Shape;298;p17"/>
          <p:cNvSpPr txBox="1"/>
          <p:nvPr/>
        </p:nvSpPr>
        <p:spPr>
          <a:xfrm>
            <a:off x="77266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FFD700"/>
                </a:solidFill>
                <a:latin typeface="Calibri"/>
                <a:ea typeface="Calibri"/>
                <a:cs typeface="Calibri"/>
                <a:sym typeface="Calibri"/>
              </a:rPr>
              <a:t>AttackChain</a:t>
            </a:r>
            <a:endParaRPr/>
          </a:p>
        </p:txBody>
      </p:sp>
      <p:sp>
        <p:nvSpPr>
          <p:cNvPr id="299" name="Google Shape;299;p17"/>
          <p:cNvSpPr/>
          <p:nvPr/>
        </p:nvSpPr>
        <p:spPr>
          <a:xfrm>
            <a:off x="90982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0" name="Google Shape;300;p17"/>
          <p:cNvSpPr txBox="1"/>
          <p:nvPr/>
        </p:nvSpPr>
        <p:spPr>
          <a:xfrm>
            <a:off x="90982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FFD700"/>
                </a:solidFill>
                <a:latin typeface="Calibri"/>
                <a:ea typeface="Calibri"/>
                <a:cs typeface="Calibri"/>
                <a:sym typeface="Calibri"/>
              </a:rPr>
              <a:t>ChainStep</a:t>
            </a:r>
            <a:endParaRPr/>
          </a:p>
        </p:txBody>
      </p:sp>
      <p:sp>
        <p:nvSpPr>
          <p:cNvPr id="301" name="Google Shape;301;p17"/>
          <p:cNvSpPr/>
          <p:nvPr/>
        </p:nvSpPr>
        <p:spPr>
          <a:xfrm>
            <a:off x="104698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2" name="Google Shape;302;p17"/>
          <p:cNvSpPr txBox="1"/>
          <p:nvPr/>
        </p:nvSpPr>
        <p:spPr>
          <a:xfrm>
            <a:off x="104698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FFD700"/>
                </a:solidFill>
                <a:latin typeface="Calibri"/>
                <a:ea typeface="Calibri"/>
                <a:cs typeface="Calibri"/>
                <a:sym typeface="Calibri"/>
              </a:rPr>
              <a:t>Impact</a:t>
            </a:r>
            <a:endParaRPr/>
          </a:p>
        </p:txBody>
      </p:sp>
      <p:sp>
        <p:nvSpPr>
          <p:cNvPr id="303" name="Google Shape;303;p17"/>
          <p:cNvSpPr txBox="1"/>
          <p:nvPr/>
        </p:nvSpPr>
        <p:spPr>
          <a:xfrm>
            <a:off x="7699248" y="3035808"/>
            <a:ext cx="42062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risk_score  ·  validation_status  ·  priority</a:t>
            </a:r>
            <a:endParaRPr/>
          </a:p>
        </p:txBody>
      </p:sp>
      <p:sp>
        <p:nvSpPr>
          <p:cNvPr id="304" name="Google Shape;304;p17"/>
          <p:cNvSpPr txBox="1"/>
          <p:nvPr/>
        </p:nvSpPr>
        <p:spPr>
          <a:xfrm>
            <a:off x="7699248" y="3282696"/>
            <a:ext cx="420624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C09020"/>
                </a:solidFill>
                <a:latin typeface="Calibri"/>
                <a:ea typeface="Calibri"/>
                <a:cs typeface="Calibri"/>
                <a:sym typeface="Calibri"/>
              </a:rPr>
              <a:t>Inferred Opportunity — attack reasoning only. Never contains raw scan data.</a:t>
            </a:r>
            <a:endParaRPr/>
          </a:p>
        </p:txBody>
      </p:sp>
      <p:sp>
        <p:nvSpPr>
          <p:cNvPr id="305" name="Google Shape;305;p17"/>
          <p:cNvSpPr/>
          <p:nvPr/>
        </p:nvSpPr>
        <p:spPr>
          <a:xfrm>
            <a:off x="4617720" y="2414016"/>
            <a:ext cx="297180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 name="Google Shape;306;p17"/>
          <p:cNvSpPr txBox="1"/>
          <p:nvPr/>
        </p:nvSpPr>
        <p:spPr>
          <a:xfrm>
            <a:off x="4654296" y="2706624"/>
            <a:ext cx="2935224"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A0AAB8"/>
                </a:solidFill>
                <a:latin typeface="Calibri"/>
                <a:ea typeface="Calibri"/>
                <a:cs typeface="Calibri"/>
                <a:sym typeface="Calibri"/>
              </a:rPr>
              <a:t>STRICT SEPARATION</a:t>
            </a:r>
            <a:endParaRPr/>
          </a:p>
        </p:txBody>
      </p:sp>
      <p:sp>
        <p:nvSpPr>
          <p:cNvPr id="307" name="Google Shape;307;p17"/>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308" name="Google Shape;308;p17"/>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9" name="Google Shape;309;p17"/>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10" name="Google Shape;310;p17"/>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11" name="Google Shape;311;p17"/>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2" name="Google Shape;312;p17"/>
          <p:cNvSpPr txBox="1"/>
          <p:nvPr/>
        </p:nvSpPr>
        <p:spPr>
          <a:xfrm>
            <a:off x="201168" y="3913632"/>
            <a:ext cx="4572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BD93F9"/>
                </a:solidFill>
                <a:latin typeface="Calibri"/>
                <a:ea typeface="Calibri"/>
                <a:cs typeface="Calibri"/>
                <a:sym typeface="Calibri"/>
              </a:rPr>
              <a:t>③ SPECIALIZED AGENTS  +  TOOL ADAPTER LAYER</a:t>
            </a:r>
            <a:endParaRPr/>
          </a:p>
        </p:txBody>
      </p:sp>
      <p:sp>
        <p:nvSpPr>
          <p:cNvPr id="313" name="Google Shape;313;p17"/>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4" name="Google Shape;314;p17"/>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5" name="Google Shape;315;p17"/>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Recon</a:t>
            </a:r>
            <a:endParaRPr/>
          </a:p>
        </p:txBody>
      </p:sp>
      <p:sp>
        <p:nvSpPr>
          <p:cNvPr id="316" name="Google Shape;316;p17"/>
          <p:cNvSpPr txBox="1"/>
          <p:nvPr/>
        </p:nvSpPr>
        <p:spPr>
          <a:xfrm>
            <a:off x="37490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a:solidFill>
                  <a:srgbClr val="39FF14"/>
                </a:solidFill>
                <a:latin typeface="Calibri"/>
                <a:ea typeface="Calibri"/>
                <a:cs typeface="Calibri"/>
                <a:sym typeface="Calibri"/>
              </a:rPr>
              <a:t>Amass · httpx · Nmap</a:t>
            </a:r>
            <a:endParaRPr/>
          </a:p>
        </p:txBody>
      </p:sp>
      <p:cxnSp>
        <p:nvCxnSpPr>
          <p:cNvPr id="317" name="Google Shape;317;p17"/>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18" name="Google Shape;318;p17"/>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19" name="Google Shape;319;p17"/>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0" name="Google Shape;320;p17"/>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1" name="Google Shape;321;p17"/>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Analysis</a:t>
            </a:r>
            <a:endParaRPr/>
          </a:p>
        </p:txBody>
      </p:sp>
      <p:sp>
        <p:nvSpPr>
          <p:cNvPr id="322" name="Google Shape;322;p17"/>
          <p:cNvSpPr txBox="1"/>
          <p:nvPr/>
        </p:nvSpPr>
        <p:spPr>
          <a:xfrm>
            <a:off x="1717548"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a:solidFill>
                  <a:srgbClr val="00E5FF"/>
                </a:solidFill>
                <a:latin typeface="Calibri"/>
                <a:ea typeface="Calibri"/>
                <a:cs typeface="Calibri"/>
                <a:sym typeface="Calibri"/>
              </a:rPr>
              <a:t>WhatWeb · Gobuster · ffuf · Nuclei · ZAP</a:t>
            </a:r>
            <a:endParaRPr/>
          </a:p>
        </p:txBody>
      </p:sp>
      <p:cxnSp>
        <p:nvCxnSpPr>
          <p:cNvPr id="323" name="Google Shape;323;p17"/>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24" name="Google Shape;324;p17"/>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25" name="Google Shape;325;p17"/>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6" name="Google Shape;326;p17"/>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7" name="Google Shape;327;p17"/>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Research</a:t>
            </a:r>
            <a:endParaRPr/>
          </a:p>
        </p:txBody>
      </p:sp>
      <p:sp>
        <p:nvSpPr>
          <p:cNvPr id="328" name="Google Shape;328;p17"/>
          <p:cNvSpPr txBox="1"/>
          <p:nvPr/>
        </p:nvSpPr>
        <p:spPr>
          <a:xfrm>
            <a:off x="3060192"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a:solidFill>
                  <a:srgbClr val="FFD700"/>
                </a:solidFill>
                <a:latin typeface="Calibri"/>
                <a:ea typeface="Calibri"/>
                <a:cs typeface="Calibri"/>
                <a:sym typeface="Calibri"/>
              </a:rPr>
              <a:t>NVD · Exploit-DB · GitHub</a:t>
            </a:r>
            <a:endParaRPr/>
          </a:p>
        </p:txBody>
      </p:sp>
      <p:cxnSp>
        <p:nvCxnSpPr>
          <p:cNvPr id="329" name="Google Shape;329;p17"/>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30" name="Google Shape;330;p17"/>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31" name="Google Shape;331;p17"/>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2" name="Google Shape;332;p17"/>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3" name="Google Shape;333;p17"/>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Validation</a:t>
            </a:r>
            <a:endParaRPr/>
          </a:p>
        </p:txBody>
      </p:sp>
      <p:sp>
        <p:nvSpPr>
          <p:cNvPr id="334" name="Google Shape;334;p17"/>
          <p:cNvSpPr txBox="1"/>
          <p:nvPr/>
        </p:nvSpPr>
        <p:spPr>
          <a:xfrm>
            <a:off x="4402836"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a:solidFill>
                  <a:srgbClr val="FF4545"/>
                </a:solidFill>
                <a:latin typeface="Calibri"/>
                <a:ea typeface="Calibri"/>
                <a:cs typeface="Calibri"/>
                <a:sym typeface="Calibri"/>
              </a:rPr>
              <a:t>SQLMap · Metasploit</a:t>
            </a:r>
            <a:endParaRPr/>
          </a:p>
        </p:txBody>
      </p:sp>
      <p:cxnSp>
        <p:nvCxnSpPr>
          <p:cNvPr id="335" name="Google Shape;335;p17"/>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36" name="Google Shape;336;p17"/>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37" name="Google Shape;337;p17"/>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8" name="Google Shape;338;p17"/>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9" name="Google Shape;339;p17"/>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Evidence</a:t>
            </a:r>
            <a:endParaRPr/>
          </a:p>
        </p:txBody>
      </p:sp>
      <p:sp>
        <p:nvSpPr>
          <p:cNvPr id="340" name="Google Shape;340;p17"/>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a:solidFill>
                  <a:srgbClr val="BD93F9"/>
                </a:solidFill>
                <a:latin typeface="Calibri"/>
                <a:ea typeface="Calibri"/>
                <a:cs typeface="Calibri"/>
                <a:sym typeface="Calibri"/>
              </a:rPr>
              <a:t>EyeWitness</a:t>
            </a:r>
            <a:endParaRPr/>
          </a:p>
        </p:txBody>
      </p:sp>
      <p:cxnSp>
        <p:nvCxnSpPr>
          <p:cNvPr id="341" name="Google Shape;341;p17"/>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42" name="Google Shape;342;p17"/>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43" name="Google Shape;343;p17"/>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4" name="Google Shape;344;p17"/>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5" name="Google Shape;345;p17"/>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Report</a:t>
            </a:r>
            <a:endParaRPr/>
          </a:p>
        </p:txBody>
      </p:sp>
      <p:sp>
        <p:nvSpPr>
          <p:cNvPr id="346" name="Google Shape;346;p17"/>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a:solidFill>
                  <a:srgbClr val="A0AAB8"/>
                </a:solidFill>
                <a:latin typeface="Calibri"/>
                <a:ea typeface="Calibri"/>
                <a:cs typeface="Calibri"/>
                <a:sym typeface="Calibri"/>
              </a:rPr>
              <a:t>Reads ASG + APG</a:t>
            </a:r>
            <a:endParaRPr/>
          </a:p>
        </p:txBody>
      </p:sp>
      <p:cxnSp>
        <p:nvCxnSpPr>
          <p:cNvPr id="347" name="Google Shape;347;p17"/>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348" name="Google Shape;348;p17"/>
          <p:cNvSpPr/>
          <p:nvPr/>
        </p:nvSpPr>
        <p:spPr>
          <a:xfrm>
            <a:off x="8641080" y="4133088"/>
            <a:ext cx="3349447" cy="2404872"/>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9" name="Google Shape;349;p17"/>
          <p:cNvSpPr/>
          <p:nvPr/>
        </p:nvSpPr>
        <p:spPr>
          <a:xfrm>
            <a:off x="8641080" y="4133088"/>
            <a:ext cx="3349447" cy="237744"/>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0" name="Google Shape;350;p17"/>
          <p:cNvSpPr txBox="1"/>
          <p:nvPr/>
        </p:nvSpPr>
        <p:spPr>
          <a:xfrm>
            <a:off x="8641080" y="4160520"/>
            <a:ext cx="3349447"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TOOL ADAPTER LAYER</a:t>
            </a:r>
            <a:endParaRPr/>
          </a:p>
        </p:txBody>
      </p:sp>
      <p:sp>
        <p:nvSpPr>
          <p:cNvPr id="351" name="Google Shape;351;p17"/>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2" name="Google Shape;352;p17"/>
          <p:cNvSpPr/>
          <p:nvPr/>
        </p:nvSpPr>
        <p:spPr>
          <a:xfrm>
            <a:off x="8732520" y="4407408"/>
            <a:ext cx="347472" cy="64922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3" name="Google Shape;353;p17"/>
          <p:cNvSpPr txBox="1"/>
          <p:nvPr/>
        </p:nvSpPr>
        <p:spPr>
          <a:xfrm>
            <a:off x="8732520" y="4425696"/>
            <a:ext cx="347472" cy="6126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0A0D1A"/>
                </a:solidFill>
                <a:latin typeface="Calibri"/>
                <a:ea typeface="Calibri"/>
                <a:cs typeface="Calibri"/>
                <a:sym typeface="Calibri"/>
              </a:rPr>
              <a:t>LOW</a:t>
            </a:r>
            <a:endParaRPr/>
          </a:p>
        </p:txBody>
      </p:sp>
      <p:sp>
        <p:nvSpPr>
          <p:cNvPr id="354" name="Google Shape;354;p17"/>
          <p:cNvSpPr txBox="1"/>
          <p:nvPr/>
        </p:nvSpPr>
        <p:spPr>
          <a:xfrm>
            <a:off x="9116568" y="4425696"/>
            <a:ext cx="2755087"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39FF14"/>
                </a:solidFill>
                <a:latin typeface="Calibri"/>
                <a:ea typeface="Calibri"/>
                <a:cs typeface="Calibri"/>
                <a:sym typeface="Calibri"/>
              </a:rPr>
              <a:t>Passive</a:t>
            </a:r>
            <a:endParaRPr/>
          </a:p>
        </p:txBody>
      </p:sp>
      <p:sp>
        <p:nvSpPr>
          <p:cNvPr id="355" name="Google Shape;355;p17"/>
          <p:cNvSpPr txBox="1"/>
          <p:nvPr/>
        </p:nvSpPr>
        <p:spPr>
          <a:xfrm>
            <a:off x="9116568" y="4608576"/>
            <a:ext cx="2755087"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a:solidFill>
                  <a:srgbClr val="A0AAB8"/>
                </a:solidFill>
                <a:latin typeface="Calibri"/>
                <a:ea typeface="Calibri"/>
                <a:cs typeface="Calibri"/>
                <a:sym typeface="Calibri"/>
              </a:rPr>
              <a:t>Execute immediately</a:t>
            </a:r>
            <a:endParaRPr/>
          </a:p>
        </p:txBody>
      </p:sp>
      <p:sp>
        <p:nvSpPr>
          <p:cNvPr id="356" name="Google Shape;356;p17"/>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7" name="Google Shape;357;p17"/>
          <p:cNvSpPr/>
          <p:nvPr/>
        </p:nvSpPr>
        <p:spPr>
          <a:xfrm>
            <a:off x="8732520" y="5111496"/>
            <a:ext cx="347472" cy="64922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58" name="Google Shape;358;p17"/>
          <p:cNvSpPr txBox="1"/>
          <p:nvPr/>
        </p:nvSpPr>
        <p:spPr>
          <a:xfrm>
            <a:off x="8732520" y="5129784"/>
            <a:ext cx="347472" cy="6126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0A0D1A"/>
                </a:solidFill>
                <a:latin typeface="Calibri"/>
                <a:ea typeface="Calibri"/>
                <a:cs typeface="Calibri"/>
                <a:sym typeface="Calibri"/>
              </a:rPr>
              <a:t>MED</a:t>
            </a:r>
            <a:endParaRPr/>
          </a:p>
        </p:txBody>
      </p:sp>
      <p:sp>
        <p:nvSpPr>
          <p:cNvPr id="359" name="Google Shape;359;p17"/>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FFD700"/>
                </a:solidFill>
                <a:latin typeface="Calibri"/>
                <a:ea typeface="Calibri"/>
                <a:cs typeface="Calibri"/>
                <a:sym typeface="Calibri"/>
              </a:rPr>
              <a:t>Active</a:t>
            </a:r>
            <a:endParaRPr/>
          </a:p>
        </p:txBody>
      </p:sp>
      <p:sp>
        <p:nvSpPr>
          <p:cNvPr id="360" name="Google Shape;360;p17"/>
          <p:cNvSpPr txBox="1"/>
          <p:nvPr/>
        </p:nvSpPr>
        <p:spPr>
          <a:xfrm>
            <a:off x="9116568" y="5312664"/>
            <a:ext cx="2755087"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a:solidFill>
                  <a:srgbClr val="A0AAB8"/>
                </a:solidFill>
                <a:latin typeface="Calibri"/>
                <a:ea typeface="Calibri"/>
                <a:cs typeface="Calibri"/>
                <a:sym typeface="Calibri"/>
              </a:rPr>
              <a:t>LLM Classifier → exec/escalate</a:t>
            </a:r>
            <a:endParaRPr/>
          </a:p>
        </p:txBody>
      </p:sp>
      <p:sp>
        <p:nvSpPr>
          <p:cNvPr id="361" name="Google Shape;361;p17"/>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2" name="Google Shape;362;p17"/>
          <p:cNvSpPr/>
          <p:nvPr/>
        </p:nvSpPr>
        <p:spPr>
          <a:xfrm>
            <a:off x="8732520" y="5815584"/>
            <a:ext cx="347472" cy="64922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3" name="Google Shape;363;p17"/>
          <p:cNvSpPr txBox="1"/>
          <p:nvPr/>
        </p:nvSpPr>
        <p:spPr>
          <a:xfrm>
            <a:off x="8732520" y="5833872"/>
            <a:ext cx="347472" cy="6126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0A0D1A"/>
                </a:solidFill>
                <a:latin typeface="Calibri"/>
                <a:ea typeface="Calibri"/>
                <a:cs typeface="Calibri"/>
                <a:sym typeface="Calibri"/>
              </a:rPr>
              <a:t>HIGH</a:t>
            </a:r>
            <a:endParaRPr/>
          </a:p>
        </p:txBody>
      </p:sp>
      <p:sp>
        <p:nvSpPr>
          <p:cNvPr id="364" name="Google Shape;364;p17"/>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FF4545"/>
                </a:solidFill>
                <a:latin typeface="Calibri"/>
                <a:ea typeface="Calibri"/>
                <a:cs typeface="Calibri"/>
                <a:sym typeface="Calibri"/>
              </a:rPr>
              <a:t>Exploit</a:t>
            </a:r>
            <a:endParaRPr/>
          </a:p>
        </p:txBody>
      </p:sp>
      <p:sp>
        <p:nvSpPr>
          <p:cNvPr id="365" name="Google Shape;365;p17"/>
          <p:cNvSpPr txBox="1"/>
          <p:nvPr/>
        </p:nvSpPr>
        <p:spPr>
          <a:xfrm>
            <a:off x="9116568" y="6016752"/>
            <a:ext cx="2755087"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a:solidFill>
                  <a:srgbClr val="A0AAB8"/>
                </a:solidFill>
                <a:latin typeface="Calibri"/>
                <a:ea typeface="Calibri"/>
                <a:cs typeface="Calibri"/>
                <a:sym typeface="Calibri"/>
              </a:rPr>
              <a:t>Commander Mailbox approval</a:t>
            </a:r>
            <a:endParaRPr/>
          </a:p>
        </p:txBody>
      </p:sp>
      <p:sp>
        <p:nvSpPr>
          <p:cNvPr id="366" name="Google Shape;366;p17"/>
          <p:cNvSpPr txBox="1"/>
          <p:nvPr/>
        </p:nvSpPr>
        <p:spPr>
          <a:xfrm>
            <a:off x="11622735" y="61539"/>
            <a:ext cx="508725"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70" name="Shape 370"/>
        <p:cNvGrpSpPr/>
        <p:nvPr/>
      </p:nvGrpSpPr>
      <p:grpSpPr>
        <a:xfrm>
          <a:off x="0" y="0"/>
          <a:ext cx="0" cy="0"/>
          <a:chOff x="0" y="0"/>
          <a:chExt cx="0" cy="0"/>
        </a:xfrm>
      </p:grpSpPr>
      <p:sp>
        <p:nvSpPr>
          <p:cNvPr id="371" name="Google Shape;371;p18"/>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2" name="Google Shape;372;p18"/>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3" name="Google Shape;373;p18"/>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4" name="Google Shape;374;p18"/>
          <p:cNvSpPr txBox="1"/>
          <p:nvPr/>
        </p:nvSpPr>
        <p:spPr>
          <a:xfrm>
            <a:off x="274320" y="54864"/>
            <a:ext cx="54864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DUAL-GRAPH WORLD MODEL</a:t>
            </a:r>
            <a:endParaRPr/>
          </a:p>
        </p:txBody>
      </p:sp>
      <p:sp>
        <p:nvSpPr>
          <p:cNvPr id="375" name="Google Shape;375;p18"/>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Two Strictly Separated Knowledge Layers — Visualised</a:t>
            </a:r>
            <a:endParaRPr/>
          </a:p>
        </p:txBody>
      </p:sp>
      <p:sp>
        <p:nvSpPr>
          <p:cNvPr id="376" name="Google Shape;376;p18"/>
          <p:cNvSpPr/>
          <p:nvPr/>
        </p:nvSpPr>
        <p:spPr>
          <a:xfrm>
            <a:off x="164592" y="804672"/>
            <a:ext cx="5349240" cy="5138928"/>
          </a:xfrm>
          <a:prstGeom prst="rect">
            <a:avLst/>
          </a:prstGeom>
          <a:solidFill>
            <a:srgbClr val="04180A"/>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7" name="Google Shape;377;p18"/>
          <p:cNvSpPr txBox="1"/>
          <p:nvPr/>
        </p:nvSpPr>
        <p:spPr>
          <a:xfrm>
            <a:off x="201168" y="822960"/>
            <a:ext cx="32004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39FF14"/>
                </a:solidFill>
                <a:latin typeface="Calibri"/>
                <a:ea typeface="Calibri"/>
                <a:cs typeface="Calibri"/>
                <a:sym typeface="Calibri"/>
              </a:rPr>
              <a:t>ASG — Attack Surface Graph</a:t>
            </a:r>
            <a:endParaRPr/>
          </a:p>
        </p:txBody>
      </p:sp>
      <p:sp>
        <p:nvSpPr>
          <p:cNvPr id="378" name="Google Shape;378;p18"/>
          <p:cNvSpPr txBox="1"/>
          <p:nvPr/>
        </p:nvSpPr>
        <p:spPr>
          <a:xfrm>
            <a:off x="201168" y="1042415"/>
            <a:ext cx="50292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60C070"/>
                </a:solidFill>
                <a:latin typeface="Calibri"/>
                <a:ea typeface="Calibri"/>
                <a:cs typeface="Calibri"/>
                <a:sym typeface="Calibri"/>
              </a:rPr>
              <a:t>What does the target look like?  (Discovered Reality)</a:t>
            </a:r>
            <a:endParaRPr/>
          </a:p>
        </p:txBody>
      </p:sp>
      <p:sp>
        <p:nvSpPr>
          <p:cNvPr id="379" name="Google Shape;379;p18"/>
          <p:cNvSpPr/>
          <p:nvPr/>
        </p:nvSpPr>
        <p:spPr>
          <a:xfrm>
            <a:off x="6675120" y="804672"/>
            <a:ext cx="5349240" cy="5138928"/>
          </a:xfrm>
          <a:prstGeom prst="rect">
            <a:avLst/>
          </a:prstGeom>
          <a:solidFill>
            <a:srgbClr val="1C10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0" name="Google Shape;380;p18"/>
          <p:cNvSpPr txBox="1"/>
          <p:nvPr/>
        </p:nvSpPr>
        <p:spPr>
          <a:xfrm>
            <a:off x="6711696" y="822960"/>
            <a:ext cx="32004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FFD700"/>
                </a:solidFill>
                <a:latin typeface="Calibri"/>
                <a:ea typeface="Calibri"/>
                <a:cs typeface="Calibri"/>
                <a:sym typeface="Calibri"/>
              </a:rPr>
              <a:t>APG — Attack Path Graph</a:t>
            </a:r>
            <a:endParaRPr/>
          </a:p>
        </p:txBody>
      </p:sp>
      <p:sp>
        <p:nvSpPr>
          <p:cNvPr id="381" name="Google Shape;381;p18"/>
          <p:cNvSpPr txBox="1"/>
          <p:nvPr/>
        </p:nvSpPr>
        <p:spPr>
          <a:xfrm>
            <a:off x="6711696" y="1042415"/>
            <a:ext cx="50292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C09020"/>
                </a:solidFill>
                <a:latin typeface="Calibri"/>
                <a:ea typeface="Calibri"/>
                <a:cs typeface="Calibri"/>
                <a:sym typeface="Calibri"/>
              </a:rPr>
              <a:t>What can be done to it?  (Inferred Opportunity)</a:t>
            </a:r>
            <a:endParaRPr/>
          </a:p>
        </p:txBody>
      </p:sp>
      <p:sp>
        <p:nvSpPr>
          <p:cNvPr id="382" name="Google Shape;382;p18"/>
          <p:cNvSpPr/>
          <p:nvPr/>
        </p:nvSpPr>
        <p:spPr>
          <a:xfrm>
            <a:off x="5593384" y="804672"/>
            <a:ext cx="1005840" cy="5138928"/>
          </a:xfrm>
          <a:prstGeom prst="rect">
            <a:avLst/>
          </a:prstGeom>
          <a:solidFill>
            <a:srgbClr val="081018"/>
          </a:solidFill>
          <a:ln cap="flat" cmpd="sng" w="10150">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3" name="Google Shape;383;p18"/>
          <p:cNvSpPr/>
          <p:nvPr/>
        </p:nvSpPr>
        <p:spPr>
          <a:xfrm>
            <a:off x="6087160" y="804672"/>
            <a:ext cx="18288" cy="513892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4" name="Google Shape;384;p18"/>
          <p:cNvSpPr txBox="1"/>
          <p:nvPr/>
        </p:nvSpPr>
        <p:spPr>
          <a:xfrm>
            <a:off x="5620816" y="2286000"/>
            <a:ext cx="950976"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A0AAB8"/>
                </a:solidFill>
                <a:latin typeface="Calibri"/>
                <a:ea typeface="Calibri"/>
                <a:cs typeface="Calibri"/>
                <a:sym typeface="Calibri"/>
              </a:rPr>
              <a:t>STRICT SEPARATION</a:t>
            </a:r>
            <a:endParaRPr/>
          </a:p>
        </p:txBody>
      </p:sp>
      <p:sp>
        <p:nvSpPr>
          <p:cNvPr id="385" name="Google Shape;385;p18"/>
          <p:cNvSpPr txBox="1"/>
          <p:nvPr/>
        </p:nvSpPr>
        <p:spPr>
          <a:xfrm>
            <a:off x="5639104" y="3017520"/>
            <a:ext cx="914400" cy="6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50">
                <a:solidFill>
                  <a:srgbClr val="A0AAB8"/>
                </a:solidFill>
                <a:latin typeface="Calibri"/>
                <a:ea typeface="Calibri"/>
                <a:cs typeface="Calibri"/>
                <a:sym typeface="Calibri"/>
              </a:rPr>
              <a:t>No agent crosses this boundary</a:t>
            </a:r>
            <a:endParaRPr/>
          </a:p>
        </p:txBody>
      </p:sp>
      <p:cxnSp>
        <p:nvCxnSpPr>
          <p:cNvPr id="386" name="Google Shape;386;p18"/>
          <p:cNvCxnSpPr/>
          <p:nvPr/>
        </p:nvCxnSpPr>
        <p:spPr>
          <a:xfrm rot="10800000">
            <a:off x="4114800" y="3886200"/>
            <a:ext cx="1944928"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7" name="Google Shape;387;p18"/>
          <p:cNvSpPr txBox="1"/>
          <p:nvPr/>
        </p:nvSpPr>
        <p:spPr>
          <a:xfrm>
            <a:off x="4584344" y="3685032"/>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Discovery Agents write</a:t>
            </a:r>
            <a:endParaRPr/>
          </a:p>
        </p:txBody>
      </p:sp>
      <p:cxnSp>
        <p:nvCxnSpPr>
          <p:cNvPr id="388" name="Google Shape;388;p18"/>
          <p:cNvCxnSpPr/>
          <p:nvPr/>
        </p:nvCxnSpPr>
        <p:spPr>
          <a:xfrm>
            <a:off x="6132880" y="4206240"/>
            <a:ext cx="163952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89" name="Google Shape;389;p18"/>
          <p:cNvSpPr txBox="1"/>
          <p:nvPr/>
        </p:nvSpPr>
        <p:spPr>
          <a:xfrm>
            <a:off x="6449720" y="4005072"/>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Commander writes</a:t>
            </a:r>
            <a:endParaRPr/>
          </a:p>
        </p:txBody>
      </p:sp>
      <p:sp>
        <p:nvSpPr>
          <p:cNvPr id="390" name="Google Shape;390;p18"/>
          <p:cNvSpPr/>
          <p:nvPr/>
        </p:nvSpPr>
        <p:spPr>
          <a:xfrm>
            <a:off x="813816" y="1371600"/>
            <a:ext cx="1115568" cy="402336"/>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1" name="Google Shape;391;p18"/>
          <p:cNvSpPr txBox="1"/>
          <p:nvPr/>
        </p:nvSpPr>
        <p:spPr>
          <a:xfrm>
            <a:off x="813816" y="140817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Domain</a:t>
            </a:r>
            <a:endParaRPr/>
          </a:p>
        </p:txBody>
      </p:sp>
      <p:sp>
        <p:nvSpPr>
          <p:cNvPr id="392" name="Google Shape;392;p18"/>
          <p:cNvSpPr txBox="1"/>
          <p:nvPr/>
        </p:nvSpPr>
        <p:spPr>
          <a:xfrm>
            <a:off x="813816" y="157276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shopvault.io</a:t>
            </a:r>
            <a:endParaRPr/>
          </a:p>
        </p:txBody>
      </p:sp>
      <p:sp>
        <p:nvSpPr>
          <p:cNvPr id="393" name="Google Shape;393;p18"/>
          <p:cNvSpPr/>
          <p:nvPr/>
        </p:nvSpPr>
        <p:spPr>
          <a:xfrm>
            <a:off x="813816" y="2011680"/>
            <a:ext cx="1115568" cy="402336"/>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4" name="Google Shape;394;p18"/>
          <p:cNvSpPr txBox="1"/>
          <p:nvPr/>
        </p:nvSpPr>
        <p:spPr>
          <a:xfrm>
            <a:off x="813816" y="204825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Host</a:t>
            </a:r>
            <a:endParaRPr/>
          </a:p>
        </p:txBody>
      </p:sp>
      <p:sp>
        <p:nvSpPr>
          <p:cNvPr id="395" name="Google Shape;395;p18"/>
          <p:cNvSpPr txBox="1"/>
          <p:nvPr/>
        </p:nvSpPr>
        <p:spPr>
          <a:xfrm>
            <a:off x="813816" y="221284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192.168.1.10</a:t>
            </a:r>
            <a:endParaRPr/>
          </a:p>
        </p:txBody>
      </p:sp>
      <p:sp>
        <p:nvSpPr>
          <p:cNvPr id="396" name="Google Shape;396;p18"/>
          <p:cNvSpPr/>
          <p:nvPr/>
        </p:nvSpPr>
        <p:spPr>
          <a:xfrm>
            <a:off x="813816" y="2651760"/>
            <a:ext cx="1115568" cy="402336"/>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7" name="Google Shape;397;p18"/>
          <p:cNvSpPr txBox="1"/>
          <p:nvPr/>
        </p:nvSpPr>
        <p:spPr>
          <a:xfrm>
            <a:off x="813816" y="268833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Port</a:t>
            </a:r>
            <a:endParaRPr/>
          </a:p>
        </p:txBody>
      </p:sp>
      <p:sp>
        <p:nvSpPr>
          <p:cNvPr id="398" name="Google Shape;398;p18"/>
          <p:cNvSpPr txBox="1"/>
          <p:nvPr/>
        </p:nvSpPr>
        <p:spPr>
          <a:xfrm>
            <a:off x="813816" y="285292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:443 / :8080</a:t>
            </a:r>
            <a:endParaRPr/>
          </a:p>
        </p:txBody>
      </p:sp>
      <p:sp>
        <p:nvSpPr>
          <p:cNvPr id="399" name="Google Shape;399;p18"/>
          <p:cNvSpPr/>
          <p:nvPr/>
        </p:nvSpPr>
        <p:spPr>
          <a:xfrm>
            <a:off x="813816" y="3291840"/>
            <a:ext cx="1115568" cy="402336"/>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0" name="Google Shape;400;p18"/>
          <p:cNvSpPr txBox="1"/>
          <p:nvPr/>
        </p:nvSpPr>
        <p:spPr>
          <a:xfrm>
            <a:off x="813816" y="332841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Service</a:t>
            </a:r>
            <a:endParaRPr/>
          </a:p>
        </p:txBody>
      </p:sp>
      <p:sp>
        <p:nvSpPr>
          <p:cNvPr id="401" name="Google Shape;401;p18"/>
          <p:cNvSpPr txBox="1"/>
          <p:nvPr/>
        </p:nvSpPr>
        <p:spPr>
          <a:xfrm>
            <a:off x="813816" y="349300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Nginx 1.18.0</a:t>
            </a:r>
            <a:endParaRPr/>
          </a:p>
        </p:txBody>
      </p:sp>
      <p:sp>
        <p:nvSpPr>
          <p:cNvPr id="402" name="Google Shape;402;p18"/>
          <p:cNvSpPr/>
          <p:nvPr/>
        </p:nvSpPr>
        <p:spPr>
          <a:xfrm>
            <a:off x="2276856" y="2651760"/>
            <a:ext cx="1115568" cy="402336"/>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3" name="Google Shape;403;p18"/>
          <p:cNvSpPr txBox="1"/>
          <p:nvPr/>
        </p:nvSpPr>
        <p:spPr>
          <a:xfrm>
            <a:off x="2276856" y="268833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0E5FF"/>
                </a:solidFill>
                <a:latin typeface="Calibri"/>
                <a:ea typeface="Calibri"/>
                <a:cs typeface="Calibri"/>
                <a:sym typeface="Calibri"/>
              </a:rPr>
              <a:t>Technology</a:t>
            </a:r>
            <a:endParaRPr/>
          </a:p>
        </p:txBody>
      </p:sp>
      <p:sp>
        <p:nvSpPr>
          <p:cNvPr id="404" name="Google Shape;404;p18"/>
          <p:cNvSpPr txBox="1"/>
          <p:nvPr/>
        </p:nvSpPr>
        <p:spPr>
          <a:xfrm>
            <a:off x="2276856" y="285292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WordPress 5.9.3</a:t>
            </a:r>
            <a:endParaRPr/>
          </a:p>
        </p:txBody>
      </p:sp>
      <p:sp>
        <p:nvSpPr>
          <p:cNvPr id="405" name="Google Shape;405;p18"/>
          <p:cNvSpPr/>
          <p:nvPr/>
        </p:nvSpPr>
        <p:spPr>
          <a:xfrm>
            <a:off x="2276856" y="3291840"/>
            <a:ext cx="1115568" cy="402336"/>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6" name="Google Shape;406;p18"/>
          <p:cNvSpPr txBox="1"/>
          <p:nvPr/>
        </p:nvSpPr>
        <p:spPr>
          <a:xfrm>
            <a:off x="2276856" y="332841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0E5FF"/>
                </a:solidFill>
                <a:latin typeface="Calibri"/>
                <a:ea typeface="Calibri"/>
                <a:cs typeface="Calibri"/>
                <a:sym typeface="Calibri"/>
              </a:rPr>
              <a:t>Endpoint</a:t>
            </a:r>
            <a:endParaRPr/>
          </a:p>
        </p:txBody>
      </p:sp>
      <p:sp>
        <p:nvSpPr>
          <p:cNvPr id="407" name="Google Shape;407;p18"/>
          <p:cNvSpPr txBox="1"/>
          <p:nvPr/>
        </p:nvSpPr>
        <p:spPr>
          <a:xfrm>
            <a:off x="2276856" y="349300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/api/v1/orders</a:t>
            </a:r>
            <a:endParaRPr/>
          </a:p>
        </p:txBody>
      </p:sp>
      <p:sp>
        <p:nvSpPr>
          <p:cNvPr id="408" name="Google Shape;408;p18"/>
          <p:cNvSpPr/>
          <p:nvPr/>
        </p:nvSpPr>
        <p:spPr>
          <a:xfrm>
            <a:off x="2276856" y="3931919"/>
            <a:ext cx="1115568" cy="402336"/>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09" name="Google Shape;409;p18"/>
          <p:cNvSpPr txBox="1"/>
          <p:nvPr/>
        </p:nvSpPr>
        <p:spPr>
          <a:xfrm>
            <a:off x="2276856" y="3968495"/>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0E5FF"/>
                </a:solidFill>
                <a:latin typeface="Calibri"/>
                <a:ea typeface="Calibri"/>
                <a:cs typeface="Calibri"/>
                <a:sym typeface="Calibri"/>
              </a:rPr>
              <a:t>Parameter</a:t>
            </a:r>
            <a:endParaRPr/>
          </a:p>
        </p:txBody>
      </p:sp>
      <p:sp>
        <p:nvSpPr>
          <p:cNvPr id="410" name="Google Shape;410;p18"/>
          <p:cNvSpPr txBox="1"/>
          <p:nvPr/>
        </p:nvSpPr>
        <p:spPr>
          <a:xfrm>
            <a:off x="2276856" y="4133087"/>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user_id=?</a:t>
            </a:r>
            <a:endParaRPr/>
          </a:p>
        </p:txBody>
      </p:sp>
      <p:sp>
        <p:nvSpPr>
          <p:cNvPr id="411" name="Google Shape;411;p18"/>
          <p:cNvSpPr/>
          <p:nvPr/>
        </p:nvSpPr>
        <p:spPr>
          <a:xfrm>
            <a:off x="813816" y="3931919"/>
            <a:ext cx="1115568" cy="402336"/>
          </a:xfrm>
          <a:prstGeom prst="rect">
            <a:avLst/>
          </a:prstGeom>
          <a:solidFill>
            <a:srgbClr val="220606"/>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2" name="Google Shape;412;p18"/>
          <p:cNvSpPr txBox="1"/>
          <p:nvPr/>
        </p:nvSpPr>
        <p:spPr>
          <a:xfrm>
            <a:off x="813816" y="3968495"/>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FF4545"/>
                </a:solidFill>
                <a:latin typeface="Calibri"/>
                <a:ea typeface="Calibri"/>
                <a:cs typeface="Calibri"/>
                <a:sym typeface="Calibri"/>
              </a:rPr>
              <a:t>Vulnerability</a:t>
            </a:r>
            <a:endParaRPr/>
          </a:p>
        </p:txBody>
      </p:sp>
      <p:sp>
        <p:nvSpPr>
          <p:cNvPr id="413" name="Google Shape;413;p18"/>
          <p:cNvSpPr txBox="1"/>
          <p:nvPr/>
        </p:nvSpPr>
        <p:spPr>
          <a:xfrm>
            <a:off x="813816" y="4133087"/>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CVE-2022-21661</a:t>
            </a:r>
            <a:endParaRPr/>
          </a:p>
        </p:txBody>
      </p:sp>
      <p:sp>
        <p:nvSpPr>
          <p:cNvPr id="414" name="Google Shape;414;p18"/>
          <p:cNvSpPr/>
          <p:nvPr/>
        </p:nvSpPr>
        <p:spPr>
          <a:xfrm>
            <a:off x="813816" y="4572000"/>
            <a:ext cx="1115568" cy="402336"/>
          </a:xfrm>
          <a:prstGeom prst="rect">
            <a:avLst/>
          </a:prstGeom>
          <a:solidFill>
            <a:srgbClr val="120820"/>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5" name="Google Shape;415;p18"/>
          <p:cNvSpPr txBox="1"/>
          <p:nvPr/>
        </p:nvSpPr>
        <p:spPr>
          <a:xfrm>
            <a:off x="813816" y="4608576"/>
            <a:ext cx="1115568"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BD93F9"/>
                </a:solidFill>
                <a:latin typeface="Calibri"/>
                <a:ea typeface="Calibri"/>
                <a:cs typeface="Calibri"/>
                <a:sym typeface="Calibri"/>
              </a:rPr>
              <a:t>Evidence</a:t>
            </a:r>
            <a:endParaRPr/>
          </a:p>
        </p:txBody>
      </p:sp>
      <p:sp>
        <p:nvSpPr>
          <p:cNvPr id="416" name="Google Shape;416;p18"/>
          <p:cNvSpPr txBox="1"/>
          <p:nvPr/>
        </p:nvSpPr>
        <p:spPr>
          <a:xfrm>
            <a:off x="813816" y="4773168"/>
            <a:ext cx="111556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screenshot.png</a:t>
            </a:r>
            <a:endParaRPr/>
          </a:p>
        </p:txBody>
      </p:sp>
      <p:cxnSp>
        <p:nvCxnSpPr>
          <p:cNvPr id="417" name="Google Shape;417;p18"/>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18" name="Google Shape;418;p18"/>
          <p:cNvSpPr txBox="1"/>
          <p:nvPr/>
        </p:nvSpPr>
        <p:spPr>
          <a:xfrm>
            <a:off x="868680" y="1691640"/>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has_host</a:t>
            </a:r>
            <a:endParaRPr/>
          </a:p>
        </p:txBody>
      </p:sp>
      <p:cxnSp>
        <p:nvCxnSpPr>
          <p:cNvPr id="419" name="Google Shape;419;p18"/>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20" name="Google Shape;420;p18"/>
          <p:cNvSpPr txBox="1"/>
          <p:nvPr/>
        </p:nvSpPr>
        <p:spPr>
          <a:xfrm>
            <a:off x="868680" y="2331720"/>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has_port</a:t>
            </a:r>
            <a:endParaRPr/>
          </a:p>
        </p:txBody>
      </p:sp>
      <p:cxnSp>
        <p:nvCxnSpPr>
          <p:cNvPr id="421" name="Google Shape;421;p18"/>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22" name="Google Shape;422;p18"/>
          <p:cNvSpPr txBox="1"/>
          <p:nvPr/>
        </p:nvSpPr>
        <p:spPr>
          <a:xfrm>
            <a:off x="868680" y="2971800"/>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runs</a:t>
            </a:r>
            <a:endParaRPr/>
          </a:p>
        </p:txBody>
      </p:sp>
      <p:cxnSp>
        <p:nvCxnSpPr>
          <p:cNvPr id="423" name="Google Shape;423;p18"/>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24" name="Google Shape;424;p18"/>
          <p:cNvSpPr txBox="1"/>
          <p:nvPr/>
        </p:nvSpPr>
        <p:spPr>
          <a:xfrm>
            <a:off x="868680" y="3611879"/>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affected_by</a:t>
            </a:r>
            <a:endParaRPr/>
          </a:p>
        </p:txBody>
      </p:sp>
      <p:cxnSp>
        <p:nvCxnSpPr>
          <p:cNvPr id="425" name="Google Shape;425;p18"/>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26" name="Google Shape;426;p18"/>
          <p:cNvSpPr txBox="1"/>
          <p:nvPr/>
        </p:nvSpPr>
        <p:spPr>
          <a:xfrm>
            <a:off x="868680" y="4251959"/>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validated_by</a:t>
            </a:r>
            <a:endParaRPr/>
          </a:p>
        </p:txBody>
      </p:sp>
      <p:cxnSp>
        <p:nvCxnSpPr>
          <p:cNvPr id="427" name="Google Shape;427;p18"/>
          <p:cNvCxnSpPr/>
          <p:nvPr/>
        </p:nvCxnSpPr>
        <p:spPr>
          <a:xfrm>
            <a:off x="0" y="2852928"/>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428" name="Google Shape;428;p18"/>
          <p:cNvSpPr txBox="1"/>
          <p:nvPr/>
        </p:nvSpPr>
        <p:spPr>
          <a:xfrm>
            <a:off x="1600200" y="2651760"/>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uses</a:t>
            </a:r>
            <a:endParaRPr/>
          </a:p>
        </p:txBody>
      </p:sp>
      <p:cxnSp>
        <p:nvCxnSpPr>
          <p:cNvPr id="429" name="Google Shape;429;p18"/>
          <p:cNvCxnSpPr/>
          <p:nvPr/>
        </p:nvCxnSpPr>
        <p:spPr>
          <a:xfrm>
            <a:off x="0" y="3493008"/>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430" name="Google Shape;430;p18"/>
          <p:cNvSpPr txBox="1"/>
          <p:nvPr/>
        </p:nvSpPr>
        <p:spPr>
          <a:xfrm>
            <a:off x="1600200" y="3291840"/>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has_endpoint</a:t>
            </a:r>
            <a:endParaRPr/>
          </a:p>
        </p:txBody>
      </p:sp>
      <p:cxnSp>
        <p:nvCxnSpPr>
          <p:cNvPr id="431" name="Google Shape;431;p18"/>
          <p:cNvCxnSpPr/>
          <p:nvPr/>
        </p:nvCxnSpPr>
        <p:spPr>
          <a:xfrm>
            <a:off x="2834640" y="0"/>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432" name="Google Shape;432;p18"/>
          <p:cNvSpPr txBox="1"/>
          <p:nvPr/>
        </p:nvSpPr>
        <p:spPr>
          <a:xfrm>
            <a:off x="2331720" y="3611879"/>
            <a:ext cx="1005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00">
                <a:solidFill>
                  <a:srgbClr val="A0AAB8"/>
                </a:solidFill>
                <a:latin typeface="Calibri"/>
                <a:ea typeface="Calibri"/>
                <a:cs typeface="Calibri"/>
                <a:sym typeface="Calibri"/>
              </a:rPr>
              <a:t>has_parameter</a:t>
            </a:r>
            <a:endParaRPr/>
          </a:p>
        </p:txBody>
      </p:sp>
      <p:sp>
        <p:nvSpPr>
          <p:cNvPr id="433" name="Google Shape;433;p18"/>
          <p:cNvSpPr/>
          <p:nvPr/>
        </p:nvSpPr>
        <p:spPr>
          <a:xfrm>
            <a:off x="201168" y="5230368"/>
            <a:ext cx="5285232" cy="566928"/>
          </a:xfrm>
          <a:prstGeom prst="rect">
            <a:avLst/>
          </a:prstGeom>
          <a:solidFill>
            <a:srgbClr val="061C0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4" name="Google Shape;434;p18"/>
          <p:cNvSpPr txBox="1"/>
          <p:nvPr/>
        </p:nvSpPr>
        <p:spPr>
          <a:xfrm>
            <a:off x="274320" y="5285232"/>
            <a:ext cx="5120640" cy="42062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50">
                <a:solidFill>
                  <a:srgbClr val="A0AAB8"/>
                </a:solidFill>
                <a:latin typeface="Calibri"/>
                <a:ea typeface="Calibri"/>
                <a:cs typeface="Calibri"/>
                <a:sym typeface="Calibri"/>
              </a:rPr>
              <a:t>EDGES:  has_host  ·  has_port  ·  runs  ·  uses  ·  has_endpoint  ·  has_parameter  ·  affected_by  ·  validated_by</a:t>
            </a:r>
            <a:endParaRPr/>
          </a:p>
        </p:txBody>
      </p:sp>
      <p:sp>
        <p:nvSpPr>
          <p:cNvPr id="435" name="Google Shape;435;p18"/>
          <p:cNvSpPr/>
          <p:nvPr/>
        </p:nvSpPr>
        <p:spPr>
          <a:xfrm>
            <a:off x="6784848" y="1316736"/>
            <a:ext cx="5029200" cy="4297680"/>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6" name="Google Shape;436;p18"/>
          <p:cNvSpPr/>
          <p:nvPr/>
        </p:nvSpPr>
        <p:spPr>
          <a:xfrm>
            <a:off x="6784848" y="1316736"/>
            <a:ext cx="5029200"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7" name="Google Shape;437;p18"/>
          <p:cNvSpPr txBox="1"/>
          <p:nvPr/>
        </p:nvSpPr>
        <p:spPr>
          <a:xfrm>
            <a:off x="6784848" y="1353312"/>
            <a:ext cx="502920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AttackChain  ·  risk_score: 9.1  ·  status: VALIDATED</a:t>
            </a:r>
            <a:endParaRPr/>
          </a:p>
        </p:txBody>
      </p:sp>
      <p:sp>
        <p:nvSpPr>
          <p:cNvPr id="438" name="Google Shape;438;p18"/>
          <p:cNvSpPr txBox="1"/>
          <p:nvPr/>
        </p:nvSpPr>
        <p:spPr>
          <a:xfrm>
            <a:off x="6894576" y="1609344"/>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D700"/>
                </a:solidFill>
                <a:latin typeface="Calibri"/>
                <a:ea typeface="Calibri"/>
                <a:cs typeface="Calibri"/>
                <a:sym typeface="Calibri"/>
              </a:rPr>
              <a:t>Chain-01: CVE-2022-21661 → SQL Injection → RCE → Customer PII</a:t>
            </a:r>
            <a:endParaRPr/>
          </a:p>
        </p:txBody>
      </p:sp>
      <p:sp>
        <p:nvSpPr>
          <p:cNvPr id="439" name="Google Shape;439;p18"/>
          <p:cNvSpPr/>
          <p:nvPr/>
        </p:nvSpPr>
        <p:spPr>
          <a:xfrm>
            <a:off x="8339328" y="1911096"/>
            <a:ext cx="1920240" cy="594360"/>
          </a:xfrm>
          <a:prstGeom prst="rect">
            <a:avLst/>
          </a:prstGeom>
          <a:solidFill>
            <a:srgbClr val="1E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0" name="Google Shape;440;p18"/>
          <p:cNvSpPr txBox="1"/>
          <p:nvPr/>
        </p:nvSpPr>
        <p:spPr>
          <a:xfrm>
            <a:off x="8430768" y="1947672"/>
            <a:ext cx="7315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50">
                <a:solidFill>
                  <a:srgbClr val="FFD700"/>
                </a:solidFill>
                <a:latin typeface="Calibri"/>
                <a:ea typeface="Calibri"/>
                <a:cs typeface="Calibri"/>
                <a:sym typeface="Calibri"/>
              </a:rPr>
              <a:t>STEP 1</a:t>
            </a:r>
            <a:endParaRPr/>
          </a:p>
        </p:txBody>
      </p:sp>
      <p:sp>
        <p:nvSpPr>
          <p:cNvPr id="441" name="Google Shape;441;p18"/>
          <p:cNvSpPr/>
          <p:nvPr/>
        </p:nvSpPr>
        <p:spPr>
          <a:xfrm>
            <a:off x="9244584" y="1965960"/>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2" name="Google Shape;442;p18"/>
          <p:cNvSpPr txBox="1"/>
          <p:nvPr/>
        </p:nvSpPr>
        <p:spPr>
          <a:xfrm>
            <a:off x="9244584" y="1975104"/>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443" name="Google Shape;443;p18"/>
          <p:cNvSpPr txBox="1"/>
          <p:nvPr/>
        </p:nvSpPr>
        <p:spPr>
          <a:xfrm>
            <a:off x="8430768" y="2185416"/>
            <a:ext cx="1773936"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SQLMap → WP_Query SQLi confirmed</a:t>
            </a:r>
            <a:endParaRPr/>
          </a:p>
        </p:txBody>
      </p:sp>
      <p:cxnSp>
        <p:nvCxnSpPr>
          <p:cNvPr id="444" name="Google Shape;444;p18"/>
          <p:cNvCxnSpPr/>
          <p:nvPr/>
        </p:nvCxnSpPr>
        <p:spPr>
          <a:xfrm>
            <a:off x="0" y="2505456"/>
            <a:ext cx="0" cy="201168"/>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445" name="Google Shape;445;p18"/>
          <p:cNvSpPr txBox="1"/>
          <p:nvPr/>
        </p:nvSpPr>
        <p:spPr>
          <a:xfrm>
            <a:off x="9354312" y="2523744"/>
            <a:ext cx="731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446" name="Google Shape;446;p18"/>
          <p:cNvSpPr txBox="1"/>
          <p:nvPr/>
        </p:nvSpPr>
        <p:spPr>
          <a:xfrm>
            <a:off x="10332720" y="2048256"/>
            <a:ext cx="77724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BD93F9"/>
                </a:solidFill>
                <a:latin typeface="Calibri"/>
                <a:ea typeface="Calibri"/>
                <a:cs typeface="Calibri"/>
                <a:sym typeface="Calibri"/>
              </a:rPr>
              <a:t>↗ supported_by ASG Evidence</a:t>
            </a:r>
            <a:endParaRPr/>
          </a:p>
        </p:txBody>
      </p:sp>
      <p:sp>
        <p:nvSpPr>
          <p:cNvPr id="447" name="Google Shape;447;p18"/>
          <p:cNvSpPr/>
          <p:nvPr/>
        </p:nvSpPr>
        <p:spPr>
          <a:xfrm>
            <a:off x="8339328" y="2706624"/>
            <a:ext cx="1920240" cy="594360"/>
          </a:xfrm>
          <a:prstGeom prst="rect">
            <a:avLst/>
          </a:prstGeom>
          <a:solidFill>
            <a:srgbClr val="1E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8" name="Google Shape;448;p18"/>
          <p:cNvSpPr txBox="1"/>
          <p:nvPr/>
        </p:nvSpPr>
        <p:spPr>
          <a:xfrm>
            <a:off x="8430768" y="2743200"/>
            <a:ext cx="7315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50">
                <a:solidFill>
                  <a:srgbClr val="FFD700"/>
                </a:solidFill>
                <a:latin typeface="Calibri"/>
                <a:ea typeface="Calibri"/>
                <a:cs typeface="Calibri"/>
                <a:sym typeface="Calibri"/>
              </a:rPr>
              <a:t>STEP 2</a:t>
            </a:r>
            <a:endParaRPr/>
          </a:p>
        </p:txBody>
      </p:sp>
      <p:sp>
        <p:nvSpPr>
          <p:cNvPr id="449" name="Google Shape;449;p18"/>
          <p:cNvSpPr/>
          <p:nvPr/>
        </p:nvSpPr>
        <p:spPr>
          <a:xfrm>
            <a:off x="9244584" y="2761488"/>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0" name="Google Shape;450;p18"/>
          <p:cNvSpPr txBox="1"/>
          <p:nvPr/>
        </p:nvSpPr>
        <p:spPr>
          <a:xfrm>
            <a:off x="9244584" y="2770632"/>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451" name="Google Shape;451;p18"/>
          <p:cNvSpPr txBox="1"/>
          <p:nvPr/>
        </p:nvSpPr>
        <p:spPr>
          <a:xfrm>
            <a:off x="8430768" y="2980944"/>
            <a:ext cx="1773936"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Admin hash extracted + cracked offline</a:t>
            </a:r>
            <a:endParaRPr/>
          </a:p>
        </p:txBody>
      </p:sp>
      <p:cxnSp>
        <p:nvCxnSpPr>
          <p:cNvPr id="452" name="Google Shape;452;p18"/>
          <p:cNvCxnSpPr/>
          <p:nvPr/>
        </p:nvCxnSpPr>
        <p:spPr>
          <a:xfrm>
            <a:off x="0" y="3300984"/>
            <a:ext cx="0" cy="201168"/>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453" name="Google Shape;453;p18"/>
          <p:cNvSpPr txBox="1"/>
          <p:nvPr/>
        </p:nvSpPr>
        <p:spPr>
          <a:xfrm>
            <a:off x="9354312" y="3319272"/>
            <a:ext cx="731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454" name="Google Shape;454;p18"/>
          <p:cNvSpPr txBox="1"/>
          <p:nvPr/>
        </p:nvSpPr>
        <p:spPr>
          <a:xfrm>
            <a:off x="10332720" y="2843784"/>
            <a:ext cx="77724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BD93F9"/>
                </a:solidFill>
                <a:latin typeface="Calibri"/>
                <a:ea typeface="Calibri"/>
                <a:cs typeface="Calibri"/>
                <a:sym typeface="Calibri"/>
              </a:rPr>
              <a:t>↗ supported_by ASG Evidence</a:t>
            </a:r>
            <a:endParaRPr/>
          </a:p>
        </p:txBody>
      </p:sp>
      <p:sp>
        <p:nvSpPr>
          <p:cNvPr id="455" name="Google Shape;455;p18"/>
          <p:cNvSpPr/>
          <p:nvPr/>
        </p:nvSpPr>
        <p:spPr>
          <a:xfrm>
            <a:off x="8339328" y="3502152"/>
            <a:ext cx="1920240" cy="594360"/>
          </a:xfrm>
          <a:prstGeom prst="rect">
            <a:avLst/>
          </a:prstGeom>
          <a:solidFill>
            <a:srgbClr val="1E1402"/>
          </a:solidFill>
          <a:ln cap="flat" cmpd="sng" w="203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6" name="Google Shape;456;p18"/>
          <p:cNvSpPr txBox="1"/>
          <p:nvPr/>
        </p:nvSpPr>
        <p:spPr>
          <a:xfrm>
            <a:off x="8430768" y="3538728"/>
            <a:ext cx="7315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50">
                <a:solidFill>
                  <a:srgbClr val="FF4545"/>
                </a:solidFill>
                <a:latin typeface="Calibri"/>
                <a:ea typeface="Calibri"/>
                <a:cs typeface="Calibri"/>
                <a:sym typeface="Calibri"/>
              </a:rPr>
              <a:t>STEP 3</a:t>
            </a:r>
            <a:endParaRPr/>
          </a:p>
        </p:txBody>
      </p:sp>
      <p:sp>
        <p:nvSpPr>
          <p:cNvPr id="457" name="Google Shape;457;p18"/>
          <p:cNvSpPr/>
          <p:nvPr/>
        </p:nvSpPr>
        <p:spPr>
          <a:xfrm>
            <a:off x="9244584" y="3557016"/>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8" name="Google Shape;458;p18"/>
          <p:cNvSpPr txBox="1"/>
          <p:nvPr/>
        </p:nvSpPr>
        <p:spPr>
          <a:xfrm>
            <a:off x="9244584" y="3566160"/>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459" name="Google Shape;459;p18"/>
          <p:cNvSpPr txBox="1"/>
          <p:nvPr/>
        </p:nvSpPr>
        <p:spPr>
          <a:xfrm>
            <a:off x="8430768" y="3776472"/>
            <a:ext cx="1773936"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Metasploit → Web shell RCE achieved</a:t>
            </a:r>
            <a:endParaRPr/>
          </a:p>
        </p:txBody>
      </p:sp>
      <p:cxnSp>
        <p:nvCxnSpPr>
          <p:cNvPr id="460" name="Google Shape;460;p18"/>
          <p:cNvCxnSpPr/>
          <p:nvPr/>
        </p:nvCxnSpPr>
        <p:spPr>
          <a:xfrm>
            <a:off x="0" y="4096512"/>
            <a:ext cx="0" cy="201168"/>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461" name="Google Shape;461;p18"/>
          <p:cNvSpPr txBox="1"/>
          <p:nvPr/>
        </p:nvSpPr>
        <p:spPr>
          <a:xfrm>
            <a:off x="9354312" y="4114800"/>
            <a:ext cx="731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462" name="Google Shape;462;p18"/>
          <p:cNvSpPr txBox="1"/>
          <p:nvPr/>
        </p:nvSpPr>
        <p:spPr>
          <a:xfrm>
            <a:off x="10332720" y="3639312"/>
            <a:ext cx="77724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BD93F9"/>
                </a:solidFill>
                <a:latin typeface="Calibri"/>
                <a:ea typeface="Calibri"/>
                <a:cs typeface="Calibri"/>
                <a:sym typeface="Calibri"/>
              </a:rPr>
              <a:t>↗ supported_by ASG Evidence</a:t>
            </a:r>
            <a:endParaRPr/>
          </a:p>
        </p:txBody>
      </p:sp>
      <p:sp>
        <p:nvSpPr>
          <p:cNvPr id="463" name="Google Shape;463;p18"/>
          <p:cNvSpPr/>
          <p:nvPr/>
        </p:nvSpPr>
        <p:spPr>
          <a:xfrm>
            <a:off x="8339328" y="4297680"/>
            <a:ext cx="1920240" cy="594360"/>
          </a:xfrm>
          <a:prstGeom prst="rect">
            <a:avLst/>
          </a:prstGeom>
          <a:solidFill>
            <a:srgbClr val="160820"/>
          </a:solidFill>
          <a:ln cap="flat" cmpd="sng" w="203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64" name="Google Shape;464;p18"/>
          <p:cNvSpPr txBox="1"/>
          <p:nvPr/>
        </p:nvSpPr>
        <p:spPr>
          <a:xfrm>
            <a:off x="8430768" y="4334256"/>
            <a:ext cx="7315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50">
                <a:solidFill>
                  <a:srgbClr val="BD93F9"/>
                </a:solidFill>
                <a:latin typeface="Calibri"/>
                <a:ea typeface="Calibri"/>
                <a:cs typeface="Calibri"/>
                <a:sym typeface="Calibri"/>
              </a:rPr>
              <a:t>IMPACT</a:t>
            </a:r>
            <a:endParaRPr/>
          </a:p>
        </p:txBody>
      </p:sp>
      <p:sp>
        <p:nvSpPr>
          <p:cNvPr id="465" name="Google Shape;465;p18"/>
          <p:cNvSpPr/>
          <p:nvPr/>
        </p:nvSpPr>
        <p:spPr>
          <a:xfrm>
            <a:off x="9244584" y="4352544"/>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66" name="Google Shape;466;p18"/>
          <p:cNvSpPr txBox="1"/>
          <p:nvPr/>
        </p:nvSpPr>
        <p:spPr>
          <a:xfrm>
            <a:off x="9244584" y="4361688"/>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DEMONSTRATED</a:t>
            </a:r>
            <a:endParaRPr/>
          </a:p>
        </p:txBody>
      </p:sp>
      <p:sp>
        <p:nvSpPr>
          <p:cNvPr id="467" name="Google Shape;467;p18"/>
          <p:cNvSpPr txBox="1"/>
          <p:nvPr/>
        </p:nvSpPr>
        <p:spPr>
          <a:xfrm>
            <a:off x="8430768" y="4572000"/>
            <a:ext cx="1773936"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Full server access Customer PII exposed</a:t>
            </a:r>
            <a:endParaRPr/>
          </a:p>
        </p:txBody>
      </p:sp>
      <p:sp>
        <p:nvSpPr>
          <p:cNvPr id="468" name="Google Shape;468;p18"/>
          <p:cNvSpPr txBox="1"/>
          <p:nvPr/>
        </p:nvSpPr>
        <p:spPr>
          <a:xfrm>
            <a:off x="10332720" y="4434840"/>
            <a:ext cx="77724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650">
                <a:solidFill>
                  <a:srgbClr val="BD93F9"/>
                </a:solidFill>
                <a:latin typeface="Calibri"/>
                <a:ea typeface="Calibri"/>
                <a:cs typeface="Calibri"/>
                <a:sym typeface="Calibri"/>
              </a:rPr>
              <a:t>↗ supported_by ASG Evidence</a:t>
            </a:r>
            <a:endParaRPr/>
          </a:p>
        </p:txBody>
      </p:sp>
      <p:sp>
        <p:nvSpPr>
          <p:cNvPr id="469" name="Google Shape;469;p18"/>
          <p:cNvSpPr txBox="1"/>
          <p:nvPr/>
        </p:nvSpPr>
        <p:spPr>
          <a:xfrm>
            <a:off x="6894576" y="1810512"/>
            <a:ext cx="48463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50">
                <a:solidFill>
                  <a:srgbClr val="A0AAB8"/>
                </a:solidFill>
                <a:latin typeface="Calibri"/>
                <a:ea typeface="Calibri"/>
                <a:cs typeface="Calibri"/>
                <a:sym typeface="Calibri"/>
              </a:rPr>
              <a:t>starts_at: ASG Vulnerability node</a:t>
            </a:r>
            <a:endParaRPr/>
          </a:p>
        </p:txBody>
      </p:sp>
      <p:sp>
        <p:nvSpPr>
          <p:cNvPr id="470" name="Google Shape;470;p18"/>
          <p:cNvSpPr/>
          <p:nvPr/>
        </p:nvSpPr>
        <p:spPr>
          <a:xfrm>
            <a:off x="6711696" y="5230368"/>
            <a:ext cx="5285232" cy="566928"/>
          </a:xfrm>
          <a:prstGeom prst="rect">
            <a:avLst/>
          </a:prstGeom>
          <a:solidFill>
            <a:srgbClr val="1C10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71" name="Google Shape;471;p18"/>
          <p:cNvSpPr txBox="1"/>
          <p:nvPr/>
        </p:nvSpPr>
        <p:spPr>
          <a:xfrm>
            <a:off x="6784848" y="5285232"/>
            <a:ext cx="512064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50">
                <a:solidFill>
                  <a:srgbClr val="A0AAB8"/>
                </a:solidFill>
                <a:latin typeface="Calibri"/>
                <a:ea typeface="Calibri"/>
                <a:cs typeface="Calibri"/>
                <a:sym typeface="Calibri"/>
              </a:rPr>
              <a:t>EDGES:  starts_at  ·  next_step  ·  achieves  ·  supported_by</a:t>
            </a:r>
            <a:br>
              <a:rPr b="0" i="1" lang="en-US" sz="750">
                <a:solidFill>
                  <a:srgbClr val="A0AAB8"/>
                </a:solidFill>
                <a:latin typeface="Calibri"/>
                <a:ea typeface="Calibri"/>
                <a:cs typeface="Calibri"/>
                <a:sym typeface="Calibri"/>
              </a:rPr>
            </a:br>
            <a:r>
              <a:rPr b="0" i="1" lang="en-US" sz="750">
                <a:solidFill>
                  <a:srgbClr val="A0AAB8"/>
                </a:solidFill>
                <a:latin typeface="Calibri"/>
                <a:ea typeface="Calibri"/>
                <a:cs typeface="Calibri"/>
                <a:sym typeface="Calibri"/>
              </a:rPr>
              <a:t>VALIDATION STATUS:  HYPOTHESIZED → PARTIALLY_VALIDATED → VALIDATED / RULED_OUT</a:t>
            </a:r>
            <a:endParaRPr/>
          </a:p>
        </p:txBody>
      </p:sp>
      <p:sp>
        <p:nvSpPr>
          <p:cNvPr id="472" name="Google Shape;472;p18"/>
          <p:cNvSpPr/>
          <p:nvPr/>
        </p:nvSpPr>
        <p:spPr>
          <a:xfrm>
            <a:off x="164592" y="5870448"/>
            <a:ext cx="11862511" cy="658368"/>
          </a:xfrm>
          <a:prstGeom prst="rect">
            <a:avLst/>
          </a:prstGeom>
          <a:solidFill>
            <a:srgbClr val="061422"/>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73" name="Google Shape;473;p18"/>
          <p:cNvSpPr txBox="1"/>
          <p:nvPr/>
        </p:nvSpPr>
        <p:spPr>
          <a:xfrm>
            <a:off x="457200" y="5943600"/>
            <a:ext cx="11368735" cy="5303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50">
                <a:solidFill>
                  <a:srgbClr val="00E5FF"/>
                </a:solidFill>
                <a:latin typeface="Calibri"/>
                <a:ea typeface="Calibri"/>
                <a:cs typeface="Calibri"/>
                <a:sym typeface="Calibri"/>
              </a:rPr>
              <a:t>Separation Principle:  Discovery agents write only to the ASG — they never reason about chains.  The Commander writes only to the APG — it never runs tools.  No agent conflates discovered facts with hypothesised attack reasoning.  Graph (not RAG): typed edges express that CVE-X ‘affected_by’ Service-Y — a relationship that vector similarity cannot represent.</a:t>
            </a:r>
            <a:endParaRPr/>
          </a:p>
        </p:txBody>
      </p:sp>
      <p:sp>
        <p:nvSpPr>
          <p:cNvPr id="474" name="Google Shape;474;p18"/>
          <p:cNvSpPr txBox="1"/>
          <p:nvPr/>
        </p:nvSpPr>
        <p:spPr>
          <a:xfrm>
            <a:off x="11809243" y="19594"/>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39FF14"/>
                </a:solidFill>
                <a:latin typeface="Calibri"/>
                <a:ea typeface="Calibri"/>
                <a:cs typeface="Calibri"/>
                <a:sym typeface="Calibri"/>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478" name="Shape 478"/>
        <p:cNvGrpSpPr/>
        <p:nvPr/>
      </p:nvGrpSpPr>
      <p:grpSpPr>
        <a:xfrm>
          <a:off x="0" y="0"/>
          <a:ext cx="0" cy="0"/>
          <a:chOff x="0" y="0"/>
          <a:chExt cx="0" cy="0"/>
        </a:xfrm>
      </p:grpSpPr>
      <p:sp>
        <p:nvSpPr>
          <p:cNvPr id="479" name="Google Shape;479;p19"/>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0" name="Google Shape;480;p19"/>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1" name="Google Shape;481;p19"/>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2" name="Google Shape;482;p19"/>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BD93F9"/>
                </a:solidFill>
                <a:latin typeface="Calibri"/>
                <a:ea typeface="Calibri"/>
                <a:cs typeface="Calibri"/>
                <a:sym typeface="Calibri"/>
              </a:rPr>
              <a:t>AGENT ARCHITECTURE</a:t>
            </a:r>
            <a:endParaRPr/>
          </a:p>
        </p:txBody>
      </p:sp>
      <p:sp>
        <p:nvSpPr>
          <p:cNvPr id="483" name="Google Shape;483;p19"/>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a:solidFill>
                  <a:srgbClr val="FFFFFF"/>
                </a:solidFill>
                <a:latin typeface="Calibri"/>
                <a:ea typeface="Calibri"/>
                <a:cs typeface="Calibri"/>
                <a:sym typeface="Calibri"/>
              </a:rPr>
              <a:t>Context-Isolated Agents — Spawn · Execute · Return · Discard</a:t>
            </a:r>
            <a:endParaRPr/>
          </a:p>
        </p:txBody>
      </p:sp>
      <p:sp>
        <p:nvSpPr>
          <p:cNvPr id="484" name="Google Shape;484;p19"/>
          <p:cNvSpPr/>
          <p:nvPr/>
        </p:nvSpPr>
        <p:spPr>
          <a:xfrm>
            <a:off x="164592" y="804672"/>
            <a:ext cx="4434840" cy="5797296"/>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5" name="Google Shape;485;p19"/>
          <p:cNvSpPr txBox="1"/>
          <p:nvPr/>
        </p:nvSpPr>
        <p:spPr>
          <a:xfrm>
            <a:off x="164592" y="859536"/>
            <a:ext cx="44348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BD93F9"/>
                </a:solidFill>
                <a:latin typeface="Calibri"/>
                <a:ea typeface="Calibri"/>
                <a:cs typeface="Calibri"/>
                <a:sym typeface="Calibri"/>
              </a:rPr>
              <a:t>CONTEXT ISOLATION MODEL</a:t>
            </a:r>
            <a:endParaRPr/>
          </a:p>
        </p:txBody>
      </p:sp>
      <p:sp>
        <p:nvSpPr>
          <p:cNvPr id="486" name="Google Shape;486;p19"/>
          <p:cNvSpPr/>
          <p:nvPr/>
        </p:nvSpPr>
        <p:spPr>
          <a:xfrm>
            <a:off x="987552" y="1152144"/>
            <a:ext cx="2743200" cy="50292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7" name="Google Shape;487;p19"/>
          <p:cNvSpPr/>
          <p:nvPr/>
        </p:nvSpPr>
        <p:spPr>
          <a:xfrm>
            <a:off x="987552" y="1152144"/>
            <a:ext cx="2743200" cy="18288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88" name="Google Shape;488;p19"/>
          <p:cNvSpPr txBox="1"/>
          <p:nvPr/>
        </p:nvSpPr>
        <p:spPr>
          <a:xfrm>
            <a:off x="987552" y="1170432"/>
            <a:ext cx="274320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COMMANDER AGENT</a:t>
            </a:r>
            <a:endParaRPr/>
          </a:p>
        </p:txBody>
      </p:sp>
      <p:sp>
        <p:nvSpPr>
          <p:cNvPr id="489" name="Google Shape;489;p19"/>
          <p:cNvSpPr txBox="1"/>
          <p:nvPr/>
        </p:nvSpPr>
        <p:spPr>
          <a:xfrm>
            <a:off x="987552" y="1353312"/>
            <a:ext cx="27432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a:solidFill>
                  <a:srgbClr val="A0AAB8"/>
                </a:solidFill>
                <a:latin typeface="Calibri"/>
                <a:ea typeface="Calibri"/>
                <a:cs typeface="Calibri"/>
                <a:sym typeface="Calibri"/>
              </a:rPr>
              <a:t>Reads ASG + APG → decides next action</a:t>
            </a:r>
            <a:endParaRPr/>
          </a:p>
        </p:txBody>
      </p:sp>
      <p:cxnSp>
        <p:nvCxnSpPr>
          <p:cNvPr id="490" name="Google Shape;490;p19"/>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491" name="Google Shape;491;p19"/>
          <p:cNvSpPr txBox="1"/>
          <p:nvPr/>
        </p:nvSpPr>
        <p:spPr>
          <a:xfrm>
            <a:off x="2455164" y="1673352"/>
            <a:ext cx="16459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50">
                <a:solidFill>
                  <a:srgbClr val="BD93F9"/>
                </a:solidFill>
                <a:latin typeface="Calibri"/>
                <a:ea typeface="Calibri"/>
                <a:cs typeface="Calibri"/>
                <a:sym typeface="Calibri"/>
              </a:rPr>
              <a:t>spawn with scoped context</a:t>
            </a:r>
            <a:endParaRPr/>
          </a:p>
        </p:txBody>
      </p:sp>
      <p:sp>
        <p:nvSpPr>
          <p:cNvPr id="492" name="Google Shape;492;p19"/>
          <p:cNvSpPr/>
          <p:nvPr/>
        </p:nvSpPr>
        <p:spPr>
          <a:xfrm>
            <a:off x="365760" y="1947672"/>
            <a:ext cx="4032504" cy="32004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93" name="Google Shape;493;p19"/>
          <p:cNvSpPr/>
          <p:nvPr/>
        </p:nvSpPr>
        <p:spPr>
          <a:xfrm>
            <a:off x="365760" y="1947672"/>
            <a:ext cx="4032504" cy="219456"/>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94" name="Google Shape;494;p19"/>
          <p:cNvSpPr txBox="1"/>
          <p:nvPr/>
        </p:nvSpPr>
        <p:spPr>
          <a:xfrm>
            <a:off x="365760" y="1984248"/>
            <a:ext cx="4032504"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BD93F9"/>
                </a:solidFill>
                <a:latin typeface="Calibri"/>
                <a:ea typeface="Calibri"/>
                <a:cs typeface="Calibri"/>
                <a:sym typeface="Calibri"/>
              </a:rPr>
              <a:t>ISOLATED AGENT CONTEXT  (fresh per task)</a:t>
            </a:r>
            <a:endParaRPr/>
          </a:p>
        </p:txBody>
      </p:sp>
      <p:sp>
        <p:nvSpPr>
          <p:cNvPr id="495" name="Google Shape;495;p19"/>
          <p:cNvSpPr/>
          <p:nvPr/>
        </p:nvSpPr>
        <p:spPr>
          <a:xfrm>
            <a:off x="457200" y="2221992"/>
            <a:ext cx="3849624" cy="665226"/>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96" name="Google Shape;496;p19"/>
          <p:cNvSpPr txBox="1"/>
          <p:nvPr/>
        </p:nvSpPr>
        <p:spPr>
          <a:xfrm>
            <a:off x="530352" y="2258568"/>
            <a:ext cx="1005840"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39FF14"/>
                </a:solidFill>
                <a:latin typeface="Calibri"/>
                <a:ea typeface="Calibri"/>
                <a:cs typeface="Calibri"/>
                <a:sym typeface="Calibri"/>
              </a:rPr>
              <a:t>ASG SLICE</a:t>
            </a:r>
            <a:endParaRPr/>
          </a:p>
        </p:txBody>
      </p:sp>
      <p:sp>
        <p:nvSpPr>
          <p:cNvPr id="497" name="Google Shape;497;p19"/>
          <p:cNvSpPr txBox="1"/>
          <p:nvPr/>
        </p:nvSpPr>
        <p:spPr>
          <a:xfrm>
            <a:off x="1572768" y="2258568"/>
            <a:ext cx="2660904"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Only nodes relevant to this task</a:t>
            </a:r>
            <a:endParaRPr/>
          </a:p>
        </p:txBody>
      </p:sp>
      <p:sp>
        <p:nvSpPr>
          <p:cNvPr id="498" name="Google Shape;498;p19"/>
          <p:cNvSpPr/>
          <p:nvPr/>
        </p:nvSpPr>
        <p:spPr>
          <a:xfrm>
            <a:off x="457200" y="2942082"/>
            <a:ext cx="3849624" cy="665226"/>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99" name="Google Shape;499;p19"/>
          <p:cNvSpPr txBox="1"/>
          <p:nvPr/>
        </p:nvSpPr>
        <p:spPr>
          <a:xfrm>
            <a:off x="530352" y="2978658"/>
            <a:ext cx="1005840"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FFD700"/>
                </a:solidFill>
                <a:latin typeface="Calibri"/>
                <a:ea typeface="Calibri"/>
                <a:cs typeface="Calibri"/>
                <a:sym typeface="Calibri"/>
              </a:rPr>
              <a:t>APG SLICE</a:t>
            </a:r>
            <a:endParaRPr/>
          </a:p>
        </p:txBody>
      </p:sp>
      <p:sp>
        <p:nvSpPr>
          <p:cNvPr id="500" name="Google Shape;500;p19"/>
          <p:cNvSpPr txBox="1"/>
          <p:nvPr/>
        </p:nvSpPr>
        <p:spPr>
          <a:xfrm>
            <a:off x="1572768" y="2978658"/>
            <a:ext cx="2660904"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Relevant AttackChains (if any)</a:t>
            </a:r>
            <a:endParaRPr/>
          </a:p>
        </p:txBody>
      </p:sp>
      <p:sp>
        <p:nvSpPr>
          <p:cNvPr id="501" name="Google Shape;501;p19"/>
          <p:cNvSpPr/>
          <p:nvPr/>
        </p:nvSpPr>
        <p:spPr>
          <a:xfrm>
            <a:off x="457200" y="3662172"/>
            <a:ext cx="3849624" cy="665226"/>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02" name="Google Shape;502;p19"/>
          <p:cNvSpPr txBox="1"/>
          <p:nvPr/>
        </p:nvSpPr>
        <p:spPr>
          <a:xfrm>
            <a:off x="530352" y="3698748"/>
            <a:ext cx="1005840"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FF4545"/>
                </a:solidFill>
                <a:latin typeface="Calibri"/>
                <a:ea typeface="Calibri"/>
                <a:cs typeface="Calibri"/>
                <a:sym typeface="Calibri"/>
              </a:rPr>
              <a:t>TOOL SET</a:t>
            </a:r>
            <a:endParaRPr/>
          </a:p>
        </p:txBody>
      </p:sp>
      <p:sp>
        <p:nvSpPr>
          <p:cNvPr id="503" name="Google Shape;503;p19"/>
          <p:cNvSpPr txBox="1"/>
          <p:nvPr/>
        </p:nvSpPr>
        <p:spPr>
          <a:xfrm>
            <a:off x="1572768" y="3698748"/>
            <a:ext cx="2660904"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Authorized tools only — no others</a:t>
            </a:r>
            <a:endParaRPr/>
          </a:p>
        </p:txBody>
      </p:sp>
      <p:sp>
        <p:nvSpPr>
          <p:cNvPr id="504" name="Google Shape;504;p19"/>
          <p:cNvSpPr/>
          <p:nvPr/>
        </p:nvSpPr>
        <p:spPr>
          <a:xfrm>
            <a:off x="457200" y="4382262"/>
            <a:ext cx="3849624" cy="665226"/>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05" name="Google Shape;505;p19"/>
          <p:cNvSpPr txBox="1"/>
          <p:nvPr/>
        </p:nvSpPr>
        <p:spPr>
          <a:xfrm>
            <a:off x="530352" y="4418838"/>
            <a:ext cx="1005840"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0E5FF"/>
                </a:solidFill>
                <a:latin typeface="Calibri"/>
                <a:ea typeface="Calibri"/>
                <a:cs typeface="Calibri"/>
                <a:sym typeface="Calibri"/>
              </a:rPr>
              <a:t>TASK SPEC</a:t>
            </a:r>
            <a:endParaRPr/>
          </a:p>
        </p:txBody>
      </p:sp>
      <p:sp>
        <p:nvSpPr>
          <p:cNvPr id="506" name="Google Shape;506;p19"/>
          <p:cNvSpPr txBox="1"/>
          <p:nvPr/>
        </p:nvSpPr>
        <p:spPr>
          <a:xfrm>
            <a:off x="1572768" y="4418838"/>
            <a:ext cx="2660904" cy="59207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Commander's current plan item</a:t>
            </a:r>
            <a:endParaRPr/>
          </a:p>
        </p:txBody>
      </p:sp>
      <p:cxnSp>
        <p:nvCxnSpPr>
          <p:cNvPr id="507" name="Google Shape;507;p19"/>
          <p:cNvCxnSpPr/>
          <p:nvPr/>
        </p:nvCxnSpPr>
        <p:spPr>
          <a:xfrm>
            <a:off x="0" y="5148072"/>
            <a:ext cx="0" cy="292608"/>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508" name="Google Shape;508;p19"/>
          <p:cNvSpPr/>
          <p:nvPr/>
        </p:nvSpPr>
        <p:spPr>
          <a:xfrm>
            <a:off x="365760" y="5495544"/>
            <a:ext cx="4032504" cy="512064"/>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09" name="Google Shape;509;p19"/>
          <p:cNvSpPr txBox="1"/>
          <p:nvPr/>
        </p:nvSpPr>
        <p:spPr>
          <a:xfrm>
            <a:off x="365760" y="5550408"/>
            <a:ext cx="4032504"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RETURNS: Structured ASG Delta (new nodes + edges only)</a:t>
            </a:r>
            <a:endParaRPr/>
          </a:p>
        </p:txBody>
      </p:sp>
      <p:sp>
        <p:nvSpPr>
          <p:cNvPr id="510" name="Google Shape;510;p19"/>
          <p:cNvSpPr txBox="1"/>
          <p:nvPr/>
        </p:nvSpPr>
        <p:spPr>
          <a:xfrm>
            <a:off x="365760" y="5769864"/>
            <a:ext cx="4032504"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50">
                <a:solidFill>
                  <a:srgbClr val="A0AAB8"/>
                </a:solidFill>
                <a:latin typeface="Calibri"/>
                <a:ea typeface="Calibri"/>
                <a:cs typeface="Calibri"/>
                <a:sym typeface="Calibri"/>
              </a:rPr>
              <a:t>Working context discarded — no raw history passes to Commander</a:t>
            </a:r>
            <a:endParaRPr/>
          </a:p>
        </p:txBody>
      </p:sp>
      <p:sp>
        <p:nvSpPr>
          <p:cNvPr id="511" name="Google Shape;511;p19"/>
          <p:cNvSpPr/>
          <p:nvPr/>
        </p:nvSpPr>
        <p:spPr>
          <a:xfrm>
            <a:off x="365760" y="6099048"/>
            <a:ext cx="4032504" cy="219456"/>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12" name="Google Shape;512;p19"/>
          <p:cNvSpPr txBox="1"/>
          <p:nvPr/>
        </p:nvSpPr>
        <p:spPr>
          <a:xfrm>
            <a:off x="457200" y="6126480"/>
            <a:ext cx="3895344"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00E5FF"/>
                </a:solidFill>
                <a:latin typeface="Calibri"/>
                <a:ea typeface="Calibri"/>
                <a:cs typeface="Calibri"/>
                <a:sym typeface="Calibri"/>
              </a:rPr>
              <a:t>✓  Commander context stays clean</a:t>
            </a:r>
            <a:endParaRPr/>
          </a:p>
        </p:txBody>
      </p:sp>
      <p:sp>
        <p:nvSpPr>
          <p:cNvPr id="513" name="Google Shape;513;p19"/>
          <p:cNvSpPr/>
          <p:nvPr/>
        </p:nvSpPr>
        <p:spPr>
          <a:xfrm>
            <a:off x="365760" y="6345936"/>
            <a:ext cx="4032504" cy="219456"/>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14" name="Google Shape;514;p19"/>
          <p:cNvSpPr txBox="1"/>
          <p:nvPr/>
        </p:nvSpPr>
        <p:spPr>
          <a:xfrm>
            <a:off x="457200" y="6373368"/>
            <a:ext cx="3895344"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  Agents can't contaminate each other</a:t>
            </a:r>
            <a:endParaRPr/>
          </a:p>
        </p:txBody>
      </p:sp>
      <p:sp>
        <p:nvSpPr>
          <p:cNvPr id="515" name="Google Shape;515;p19"/>
          <p:cNvSpPr/>
          <p:nvPr/>
        </p:nvSpPr>
        <p:spPr>
          <a:xfrm>
            <a:off x="365760" y="6592824"/>
            <a:ext cx="4032504" cy="219456"/>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16" name="Google Shape;516;p19"/>
          <p:cNvSpPr txBox="1"/>
          <p:nvPr/>
        </p:nvSpPr>
        <p:spPr>
          <a:xfrm>
            <a:off x="457200" y="6620256"/>
            <a:ext cx="3895344"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FF4545"/>
                </a:solidFill>
                <a:latin typeface="Calibri"/>
                <a:ea typeface="Calibri"/>
                <a:cs typeface="Calibri"/>
                <a:sym typeface="Calibri"/>
              </a:rPr>
              <a:t>✓  High-risk refusals don't bias planning</a:t>
            </a:r>
            <a:endParaRPr/>
          </a:p>
        </p:txBody>
      </p:sp>
      <p:sp>
        <p:nvSpPr>
          <p:cNvPr id="517" name="Google Shape;517;p19"/>
          <p:cNvSpPr/>
          <p:nvPr/>
        </p:nvSpPr>
        <p:spPr>
          <a:xfrm>
            <a:off x="4773168" y="822960"/>
            <a:ext cx="3572103" cy="1895856"/>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18" name="Google Shape;518;p19"/>
          <p:cNvSpPr/>
          <p:nvPr/>
        </p:nvSpPr>
        <p:spPr>
          <a:xfrm>
            <a:off x="7339431" y="822960"/>
            <a:ext cx="100584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19" name="Google Shape;519;p19"/>
          <p:cNvSpPr txBox="1"/>
          <p:nvPr/>
        </p:nvSpPr>
        <p:spPr>
          <a:xfrm>
            <a:off x="7339431"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ORCHESTRATION</a:t>
            </a:r>
            <a:endParaRPr/>
          </a:p>
        </p:txBody>
      </p:sp>
      <p:sp>
        <p:nvSpPr>
          <p:cNvPr id="520" name="Google Shape;520;p19"/>
          <p:cNvSpPr txBox="1"/>
          <p:nvPr/>
        </p:nvSpPr>
        <p:spPr>
          <a:xfrm>
            <a:off x="4864608"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00E5FF"/>
                </a:solidFill>
                <a:latin typeface="Calibri"/>
                <a:ea typeface="Calibri"/>
                <a:cs typeface="Calibri"/>
                <a:sym typeface="Calibri"/>
              </a:rPr>
              <a:t>👑 Commander</a:t>
            </a:r>
            <a:endParaRPr/>
          </a:p>
        </p:txBody>
      </p:sp>
      <p:sp>
        <p:nvSpPr>
          <p:cNvPr id="521" name="Google Shape;521;p19"/>
          <p:cNvSpPr/>
          <p:nvPr/>
        </p:nvSpPr>
        <p:spPr>
          <a:xfrm>
            <a:off x="4864608" y="1133856"/>
            <a:ext cx="3389223" cy="1828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22" name="Google Shape;522;p19"/>
          <p:cNvSpPr txBox="1"/>
          <p:nvPr/>
        </p:nvSpPr>
        <p:spPr>
          <a:xfrm>
            <a:off x="4864608"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FFFF"/>
                </a:solidFill>
                <a:latin typeface="Calibri"/>
                <a:ea typeface="Calibri"/>
                <a:cs typeface="Calibri"/>
                <a:sym typeface="Calibri"/>
              </a:rPr>
              <a:t>Reads the dual graph. Plans. Delegates. Never runs tools.</a:t>
            </a:r>
            <a:endParaRPr/>
          </a:p>
        </p:txBody>
      </p:sp>
      <p:sp>
        <p:nvSpPr>
          <p:cNvPr id="523" name="Google Shape;523;p19"/>
          <p:cNvSpPr/>
          <p:nvPr/>
        </p:nvSpPr>
        <p:spPr>
          <a:xfrm>
            <a:off x="4864608" y="1417320"/>
            <a:ext cx="3389223" cy="219456"/>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24" name="Google Shape;524;p19"/>
          <p:cNvSpPr txBox="1"/>
          <p:nvPr/>
        </p:nvSpPr>
        <p:spPr>
          <a:xfrm>
            <a:off x="4937760"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00E5FF"/>
                </a:solidFill>
                <a:latin typeface="Calibri"/>
                <a:ea typeface="Calibri"/>
                <a:cs typeface="Calibri"/>
                <a:sym typeface="Calibri"/>
              </a:rPr>
              <a:t>No tools — reasons over ASG + APG</a:t>
            </a:r>
            <a:endParaRPr/>
          </a:p>
        </p:txBody>
      </p:sp>
      <p:sp>
        <p:nvSpPr>
          <p:cNvPr id="525" name="Google Shape;525;p19"/>
          <p:cNvSpPr txBox="1"/>
          <p:nvPr/>
        </p:nvSpPr>
        <p:spPr>
          <a:xfrm>
            <a:off x="4864608"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Only agent that writes to APG. Approves High-risk ops via mailbox.</a:t>
            </a:r>
            <a:endParaRPr/>
          </a:p>
        </p:txBody>
      </p:sp>
      <p:sp>
        <p:nvSpPr>
          <p:cNvPr id="526" name="Google Shape;526;p19"/>
          <p:cNvSpPr/>
          <p:nvPr/>
        </p:nvSpPr>
        <p:spPr>
          <a:xfrm>
            <a:off x="8454999" y="822960"/>
            <a:ext cx="3572103" cy="1895856"/>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27" name="Google Shape;527;p19"/>
          <p:cNvSpPr/>
          <p:nvPr/>
        </p:nvSpPr>
        <p:spPr>
          <a:xfrm>
            <a:off x="11021263" y="822960"/>
            <a:ext cx="100584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28" name="Google Shape;528;p19"/>
          <p:cNvSpPr txBox="1"/>
          <p:nvPr/>
        </p:nvSpPr>
        <p:spPr>
          <a:xfrm>
            <a:off x="11021263"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PHASE 1</a:t>
            </a:r>
            <a:endParaRPr/>
          </a:p>
        </p:txBody>
      </p:sp>
      <p:sp>
        <p:nvSpPr>
          <p:cNvPr id="529" name="Google Shape;529;p19"/>
          <p:cNvSpPr txBox="1"/>
          <p:nvPr/>
        </p:nvSpPr>
        <p:spPr>
          <a:xfrm>
            <a:off x="8546439"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39FF14"/>
                </a:solidFill>
                <a:latin typeface="Calibri"/>
                <a:ea typeface="Calibri"/>
                <a:cs typeface="Calibri"/>
                <a:sym typeface="Calibri"/>
              </a:rPr>
              <a:t>🕵️ Recon</a:t>
            </a:r>
            <a:endParaRPr/>
          </a:p>
        </p:txBody>
      </p:sp>
      <p:sp>
        <p:nvSpPr>
          <p:cNvPr id="530" name="Google Shape;530;p19"/>
          <p:cNvSpPr/>
          <p:nvPr/>
        </p:nvSpPr>
        <p:spPr>
          <a:xfrm>
            <a:off x="8546439" y="1133856"/>
            <a:ext cx="3389223" cy="1828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31" name="Google Shape;531;p19"/>
          <p:cNvSpPr txBox="1"/>
          <p:nvPr/>
        </p:nvSpPr>
        <p:spPr>
          <a:xfrm>
            <a:off x="8546439"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FFFF"/>
                </a:solidFill>
                <a:latin typeface="Calibri"/>
                <a:ea typeface="Calibri"/>
                <a:cs typeface="Calibri"/>
                <a:sym typeface="Calibri"/>
              </a:rPr>
              <a:t>External reconnaissance and host discovery.</a:t>
            </a:r>
            <a:endParaRPr/>
          </a:p>
        </p:txBody>
      </p:sp>
      <p:sp>
        <p:nvSpPr>
          <p:cNvPr id="532" name="Google Shape;532;p19"/>
          <p:cNvSpPr/>
          <p:nvPr/>
        </p:nvSpPr>
        <p:spPr>
          <a:xfrm>
            <a:off x="8546439" y="1417320"/>
            <a:ext cx="3389223" cy="219456"/>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33" name="Google Shape;533;p19"/>
          <p:cNvSpPr txBox="1"/>
          <p:nvPr/>
        </p:nvSpPr>
        <p:spPr>
          <a:xfrm>
            <a:off x="8619591"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39FF14"/>
                </a:solidFill>
                <a:latin typeface="Calibri"/>
                <a:ea typeface="Calibri"/>
                <a:cs typeface="Calibri"/>
                <a:sym typeface="Calibri"/>
              </a:rPr>
              <a:t>Amass  ·  httpx  ·  Nmap</a:t>
            </a:r>
            <a:endParaRPr/>
          </a:p>
        </p:txBody>
      </p:sp>
      <p:sp>
        <p:nvSpPr>
          <p:cNvPr id="534" name="Google Shape;534;p19"/>
          <p:cNvSpPr txBox="1"/>
          <p:nvPr/>
        </p:nvSpPr>
        <p:spPr>
          <a:xfrm>
            <a:off x="8546439"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Writes Domain, Host, Port, Service nodes to ASG.</a:t>
            </a:r>
            <a:endParaRPr/>
          </a:p>
        </p:txBody>
      </p:sp>
      <p:sp>
        <p:nvSpPr>
          <p:cNvPr id="535" name="Google Shape;535;p19"/>
          <p:cNvSpPr/>
          <p:nvPr/>
        </p:nvSpPr>
        <p:spPr>
          <a:xfrm>
            <a:off x="4773168" y="2810256"/>
            <a:ext cx="3572103" cy="1895856"/>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36" name="Google Shape;536;p19"/>
          <p:cNvSpPr/>
          <p:nvPr/>
        </p:nvSpPr>
        <p:spPr>
          <a:xfrm>
            <a:off x="7339431" y="2810256"/>
            <a:ext cx="1005840" cy="21945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37" name="Google Shape;537;p19"/>
          <p:cNvSpPr txBox="1"/>
          <p:nvPr/>
        </p:nvSpPr>
        <p:spPr>
          <a:xfrm>
            <a:off x="7339431"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PHASE 2</a:t>
            </a:r>
            <a:endParaRPr/>
          </a:p>
        </p:txBody>
      </p:sp>
      <p:sp>
        <p:nvSpPr>
          <p:cNvPr id="538" name="Google Shape;538;p19"/>
          <p:cNvSpPr txBox="1"/>
          <p:nvPr/>
        </p:nvSpPr>
        <p:spPr>
          <a:xfrm>
            <a:off x="4864608"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00BFD8"/>
                </a:solidFill>
                <a:latin typeface="Calibri"/>
                <a:ea typeface="Calibri"/>
                <a:cs typeface="Calibri"/>
                <a:sym typeface="Calibri"/>
              </a:rPr>
              <a:t>🔬 Analysis</a:t>
            </a:r>
            <a:endParaRPr/>
          </a:p>
        </p:txBody>
      </p:sp>
      <p:sp>
        <p:nvSpPr>
          <p:cNvPr id="539" name="Google Shape;539;p19"/>
          <p:cNvSpPr/>
          <p:nvPr/>
        </p:nvSpPr>
        <p:spPr>
          <a:xfrm>
            <a:off x="4864608" y="3121152"/>
            <a:ext cx="3389223" cy="1828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40" name="Google Shape;540;p19"/>
          <p:cNvSpPr txBox="1"/>
          <p:nvPr/>
        </p:nvSpPr>
        <p:spPr>
          <a:xfrm>
            <a:off x="4864608"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FFFF"/>
                </a:solidFill>
                <a:latin typeface="Calibri"/>
                <a:ea typeface="Calibri"/>
                <a:cs typeface="Calibri"/>
                <a:sym typeface="Calibri"/>
              </a:rPr>
              <a:t>Deep enumeration and vulnerability discovery.</a:t>
            </a:r>
            <a:endParaRPr/>
          </a:p>
        </p:txBody>
      </p:sp>
      <p:sp>
        <p:nvSpPr>
          <p:cNvPr id="541" name="Google Shape;541;p19"/>
          <p:cNvSpPr/>
          <p:nvPr/>
        </p:nvSpPr>
        <p:spPr>
          <a:xfrm>
            <a:off x="4864608" y="3404616"/>
            <a:ext cx="3389223" cy="219456"/>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42" name="Google Shape;542;p19"/>
          <p:cNvSpPr txBox="1"/>
          <p:nvPr/>
        </p:nvSpPr>
        <p:spPr>
          <a:xfrm>
            <a:off x="4937760"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00BFD8"/>
                </a:solidFill>
                <a:latin typeface="Calibri"/>
                <a:ea typeface="Calibri"/>
                <a:cs typeface="Calibri"/>
                <a:sym typeface="Calibri"/>
              </a:rPr>
              <a:t>WhatWeb · Gobuster · ffuf · Nuclei · ZAP</a:t>
            </a:r>
            <a:endParaRPr/>
          </a:p>
        </p:txBody>
      </p:sp>
      <p:sp>
        <p:nvSpPr>
          <p:cNvPr id="543" name="Google Shape;543;p19"/>
          <p:cNvSpPr txBox="1"/>
          <p:nvPr/>
        </p:nvSpPr>
        <p:spPr>
          <a:xfrm>
            <a:off x="4864608"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Writes Technology, Endpoint, Parameter, Vulnerability nodes.</a:t>
            </a:r>
            <a:endParaRPr/>
          </a:p>
        </p:txBody>
      </p:sp>
      <p:sp>
        <p:nvSpPr>
          <p:cNvPr id="544" name="Google Shape;544;p19"/>
          <p:cNvSpPr/>
          <p:nvPr/>
        </p:nvSpPr>
        <p:spPr>
          <a:xfrm>
            <a:off x="8454999" y="2810256"/>
            <a:ext cx="3572103" cy="1895856"/>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45" name="Google Shape;545;p19"/>
          <p:cNvSpPr/>
          <p:nvPr/>
        </p:nvSpPr>
        <p:spPr>
          <a:xfrm>
            <a:off x="11021263" y="2810256"/>
            <a:ext cx="100584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46" name="Google Shape;546;p19"/>
          <p:cNvSpPr txBox="1"/>
          <p:nvPr/>
        </p:nvSpPr>
        <p:spPr>
          <a:xfrm>
            <a:off x="11021263"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INTELLIGENCE</a:t>
            </a:r>
            <a:endParaRPr/>
          </a:p>
        </p:txBody>
      </p:sp>
      <p:sp>
        <p:nvSpPr>
          <p:cNvPr id="547" name="Google Shape;547;p19"/>
          <p:cNvSpPr txBox="1"/>
          <p:nvPr/>
        </p:nvSpPr>
        <p:spPr>
          <a:xfrm>
            <a:off x="8546439"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D700"/>
                </a:solidFill>
                <a:latin typeface="Calibri"/>
                <a:ea typeface="Calibri"/>
                <a:cs typeface="Calibri"/>
                <a:sym typeface="Calibri"/>
              </a:rPr>
              <a:t>🔍 Research</a:t>
            </a:r>
            <a:endParaRPr/>
          </a:p>
        </p:txBody>
      </p:sp>
      <p:sp>
        <p:nvSpPr>
          <p:cNvPr id="548" name="Google Shape;548;p19"/>
          <p:cNvSpPr/>
          <p:nvPr/>
        </p:nvSpPr>
        <p:spPr>
          <a:xfrm>
            <a:off x="8546439" y="3121152"/>
            <a:ext cx="3389223" cy="1828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49" name="Google Shape;549;p19"/>
          <p:cNvSpPr txBox="1"/>
          <p:nvPr/>
        </p:nvSpPr>
        <p:spPr>
          <a:xfrm>
            <a:off x="8546439"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FFFF"/>
                </a:solidFill>
                <a:latin typeface="Calibri"/>
                <a:ea typeface="Calibri"/>
                <a:cs typeface="Calibri"/>
                <a:sym typeface="Calibri"/>
              </a:rPr>
              <a:t>Live CVE grounding — only agent with outbound internet access.</a:t>
            </a:r>
            <a:endParaRPr/>
          </a:p>
        </p:txBody>
      </p:sp>
      <p:sp>
        <p:nvSpPr>
          <p:cNvPr id="550" name="Google Shape;550;p19"/>
          <p:cNvSpPr/>
          <p:nvPr/>
        </p:nvSpPr>
        <p:spPr>
          <a:xfrm>
            <a:off x="8546439" y="3404616"/>
            <a:ext cx="3389223" cy="219456"/>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1" name="Google Shape;551;p19"/>
          <p:cNvSpPr txBox="1"/>
          <p:nvPr/>
        </p:nvSpPr>
        <p:spPr>
          <a:xfrm>
            <a:off x="8619591"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FFD700"/>
                </a:solidFill>
                <a:latin typeface="Calibri"/>
                <a:ea typeface="Calibri"/>
                <a:cs typeface="Calibri"/>
                <a:sym typeface="Calibri"/>
              </a:rPr>
              <a:t>NVD · Exploit-DB · GitHub · Vendor Advisories</a:t>
            </a:r>
            <a:endParaRPr/>
          </a:p>
        </p:txBody>
      </p:sp>
      <p:sp>
        <p:nvSpPr>
          <p:cNvPr id="552" name="Google Shape;552;p19"/>
          <p:cNvSpPr txBox="1"/>
          <p:nvPr/>
        </p:nvSpPr>
        <p:spPr>
          <a:xfrm>
            <a:off x="8546439"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Enriches ASG Vulnerability nodes with real-time CVSS + PoC data.</a:t>
            </a:r>
            <a:endParaRPr/>
          </a:p>
        </p:txBody>
      </p:sp>
      <p:sp>
        <p:nvSpPr>
          <p:cNvPr id="553" name="Google Shape;553;p19"/>
          <p:cNvSpPr/>
          <p:nvPr/>
        </p:nvSpPr>
        <p:spPr>
          <a:xfrm>
            <a:off x="4773168" y="4797552"/>
            <a:ext cx="3572103" cy="1895856"/>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4" name="Google Shape;554;p19"/>
          <p:cNvSpPr/>
          <p:nvPr/>
        </p:nvSpPr>
        <p:spPr>
          <a:xfrm>
            <a:off x="7339431" y="4797552"/>
            <a:ext cx="100584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5" name="Google Shape;555;p19"/>
          <p:cNvSpPr txBox="1"/>
          <p:nvPr/>
        </p:nvSpPr>
        <p:spPr>
          <a:xfrm>
            <a:off x="7339431"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PHASE 3</a:t>
            </a:r>
            <a:endParaRPr/>
          </a:p>
        </p:txBody>
      </p:sp>
      <p:sp>
        <p:nvSpPr>
          <p:cNvPr id="556" name="Google Shape;556;p19"/>
          <p:cNvSpPr txBox="1"/>
          <p:nvPr/>
        </p:nvSpPr>
        <p:spPr>
          <a:xfrm>
            <a:off x="4864608"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4545"/>
                </a:solidFill>
                <a:latin typeface="Calibri"/>
                <a:ea typeface="Calibri"/>
                <a:cs typeface="Calibri"/>
                <a:sym typeface="Calibri"/>
              </a:rPr>
              <a:t>🎯 Validation</a:t>
            </a:r>
            <a:endParaRPr/>
          </a:p>
        </p:txBody>
      </p:sp>
      <p:sp>
        <p:nvSpPr>
          <p:cNvPr id="557" name="Google Shape;557;p19"/>
          <p:cNvSpPr/>
          <p:nvPr/>
        </p:nvSpPr>
        <p:spPr>
          <a:xfrm>
            <a:off x="4864608" y="5108448"/>
            <a:ext cx="3389223" cy="1828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58" name="Google Shape;558;p19"/>
          <p:cNvSpPr txBox="1"/>
          <p:nvPr/>
        </p:nvSpPr>
        <p:spPr>
          <a:xfrm>
            <a:off x="4864608"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FFFF"/>
                </a:solidFill>
                <a:latin typeface="Calibri"/>
                <a:ea typeface="Calibri"/>
                <a:cs typeface="Calibri"/>
                <a:sym typeface="Calibri"/>
              </a:rPr>
              <a:t>Proves vulnerabilities are real and exploitable.</a:t>
            </a:r>
            <a:endParaRPr/>
          </a:p>
        </p:txBody>
      </p:sp>
      <p:sp>
        <p:nvSpPr>
          <p:cNvPr id="559" name="Google Shape;559;p19"/>
          <p:cNvSpPr/>
          <p:nvPr/>
        </p:nvSpPr>
        <p:spPr>
          <a:xfrm>
            <a:off x="4864608" y="5391912"/>
            <a:ext cx="3389223" cy="219456"/>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0" name="Google Shape;560;p19"/>
          <p:cNvSpPr txBox="1"/>
          <p:nvPr/>
        </p:nvSpPr>
        <p:spPr>
          <a:xfrm>
            <a:off x="4937760"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FF4545"/>
                </a:solidFill>
                <a:latin typeface="Calibri"/>
                <a:ea typeface="Calibri"/>
                <a:cs typeface="Calibri"/>
                <a:sym typeface="Calibri"/>
              </a:rPr>
              <a:t>SQLMap  ·  Metasploit</a:t>
            </a:r>
            <a:endParaRPr/>
          </a:p>
        </p:txBody>
      </p:sp>
      <p:sp>
        <p:nvSpPr>
          <p:cNvPr id="561" name="Google Shape;561;p19"/>
          <p:cNvSpPr txBox="1"/>
          <p:nvPr/>
        </p:nvSpPr>
        <p:spPr>
          <a:xfrm>
            <a:off x="4864608"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Self-debugging loop: Diagnose → Contextualize → Adapt → Cap (×3).</a:t>
            </a:r>
            <a:endParaRPr/>
          </a:p>
        </p:txBody>
      </p:sp>
      <p:sp>
        <p:nvSpPr>
          <p:cNvPr id="562" name="Google Shape;562;p19"/>
          <p:cNvSpPr/>
          <p:nvPr/>
        </p:nvSpPr>
        <p:spPr>
          <a:xfrm>
            <a:off x="8454999" y="4797552"/>
            <a:ext cx="3572103" cy="1895856"/>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3" name="Google Shape;563;p19"/>
          <p:cNvSpPr/>
          <p:nvPr/>
        </p:nvSpPr>
        <p:spPr>
          <a:xfrm>
            <a:off x="11021263" y="4797552"/>
            <a:ext cx="100584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4" name="Google Shape;564;p19"/>
          <p:cNvSpPr txBox="1"/>
          <p:nvPr/>
        </p:nvSpPr>
        <p:spPr>
          <a:xfrm>
            <a:off x="11021263"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50">
                <a:solidFill>
                  <a:srgbClr val="0A0D1A"/>
                </a:solidFill>
                <a:latin typeface="Calibri"/>
                <a:ea typeface="Calibri"/>
                <a:cs typeface="Calibri"/>
                <a:sym typeface="Calibri"/>
              </a:rPr>
              <a:t>PHASE 3</a:t>
            </a:r>
            <a:endParaRPr/>
          </a:p>
        </p:txBody>
      </p:sp>
      <p:sp>
        <p:nvSpPr>
          <p:cNvPr id="565" name="Google Shape;565;p19"/>
          <p:cNvSpPr txBox="1"/>
          <p:nvPr/>
        </p:nvSpPr>
        <p:spPr>
          <a:xfrm>
            <a:off x="8546439"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BD93F9"/>
                </a:solidFill>
                <a:latin typeface="Calibri"/>
                <a:ea typeface="Calibri"/>
                <a:cs typeface="Calibri"/>
                <a:sym typeface="Calibri"/>
              </a:rPr>
              <a:t>📸 Evidence</a:t>
            </a:r>
            <a:endParaRPr/>
          </a:p>
        </p:txBody>
      </p:sp>
      <p:sp>
        <p:nvSpPr>
          <p:cNvPr id="566" name="Google Shape;566;p19"/>
          <p:cNvSpPr/>
          <p:nvPr/>
        </p:nvSpPr>
        <p:spPr>
          <a:xfrm>
            <a:off x="8546439" y="5108448"/>
            <a:ext cx="3389223" cy="1828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7" name="Google Shape;567;p19"/>
          <p:cNvSpPr txBox="1"/>
          <p:nvPr/>
        </p:nvSpPr>
        <p:spPr>
          <a:xfrm>
            <a:off x="8546439"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FFFFFF"/>
                </a:solidFill>
                <a:latin typeface="Calibri"/>
                <a:ea typeface="Calibri"/>
                <a:cs typeface="Calibri"/>
                <a:sym typeface="Calibri"/>
              </a:rPr>
              <a:t>Captures proof artifacts for every validated finding.</a:t>
            </a:r>
            <a:endParaRPr/>
          </a:p>
        </p:txBody>
      </p:sp>
      <p:sp>
        <p:nvSpPr>
          <p:cNvPr id="568" name="Google Shape;568;p19"/>
          <p:cNvSpPr/>
          <p:nvPr/>
        </p:nvSpPr>
        <p:spPr>
          <a:xfrm>
            <a:off x="8546439" y="5391912"/>
            <a:ext cx="3389223" cy="219456"/>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69" name="Google Shape;569;p19"/>
          <p:cNvSpPr txBox="1"/>
          <p:nvPr/>
        </p:nvSpPr>
        <p:spPr>
          <a:xfrm>
            <a:off x="8619591"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50">
                <a:solidFill>
                  <a:srgbClr val="BD93F9"/>
                </a:solidFill>
                <a:latin typeface="Calibri"/>
                <a:ea typeface="Calibri"/>
                <a:cs typeface="Calibri"/>
                <a:sym typeface="Calibri"/>
              </a:rPr>
              <a:t>EyeWitness</a:t>
            </a:r>
            <a:endParaRPr/>
          </a:p>
        </p:txBody>
      </p:sp>
      <p:sp>
        <p:nvSpPr>
          <p:cNvPr id="570" name="Google Shape;570;p19"/>
          <p:cNvSpPr txBox="1"/>
          <p:nvPr/>
        </p:nvSpPr>
        <p:spPr>
          <a:xfrm>
            <a:off x="8546439"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Links Evidence nodes to ASG findings via validated_by edges.</a:t>
            </a:r>
            <a:endParaRPr/>
          </a:p>
        </p:txBody>
      </p:sp>
      <p:sp>
        <p:nvSpPr>
          <p:cNvPr id="571" name="Google Shape;571;p19"/>
          <p:cNvSpPr txBox="1"/>
          <p:nvPr/>
        </p:nvSpPr>
        <p:spPr>
          <a:xfrm>
            <a:off x="11724336" y="61541"/>
            <a:ext cx="428896"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BD93F9"/>
                </a:solidFill>
                <a:latin typeface="Calibri"/>
                <a:ea typeface="Calibri"/>
                <a:cs typeface="Calibri"/>
                <a:sym typeface="Calibri"/>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75" name="Shape 575"/>
        <p:cNvGrpSpPr/>
        <p:nvPr/>
      </p:nvGrpSpPr>
      <p:grpSpPr>
        <a:xfrm>
          <a:off x="0" y="0"/>
          <a:ext cx="0" cy="0"/>
          <a:chOff x="0" y="0"/>
          <a:chExt cx="0" cy="0"/>
        </a:xfrm>
      </p:grpSpPr>
      <p:sp>
        <p:nvSpPr>
          <p:cNvPr id="576" name="Google Shape;576;p20"/>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77" name="Google Shape;577;p20"/>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78" name="Google Shape;578;p20"/>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79" name="Google Shape;579;p2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BD93F9"/>
                </a:solidFill>
                <a:latin typeface="Calibri"/>
                <a:ea typeface="Calibri"/>
                <a:cs typeface="Calibri"/>
                <a:sym typeface="Calibri"/>
              </a:rPr>
              <a:t>AGENT SPAWN LIFECYCLE</a:t>
            </a:r>
            <a:endParaRPr/>
          </a:p>
        </p:txBody>
      </p:sp>
      <p:sp>
        <p:nvSpPr>
          <p:cNvPr id="580" name="Google Shape;580;p2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Context-Isolated Spawn · Execute · Return · Discard</a:t>
            </a:r>
            <a:endParaRPr/>
          </a:p>
        </p:txBody>
      </p:sp>
      <p:sp>
        <p:nvSpPr>
          <p:cNvPr id="581" name="Google Shape;581;p20"/>
          <p:cNvSpPr/>
          <p:nvPr/>
        </p:nvSpPr>
        <p:spPr>
          <a:xfrm>
            <a:off x="274320" y="822960"/>
            <a:ext cx="9144000" cy="2743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82" name="Google Shape;582;p20"/>
          <p:cNvSpPr/>
          <p:nvPr/>
        </p:nvSpPr>
        <p:spPr>
          <a:xfrm>
            <a:off x="201168" y="896112"/>
            <a:ext cx="6583680" cy="5705856"/>
          </a:xfrm>
          <a:prstGeom prst="rect">
            <a:avLst/>
          </a:prstGeom>
          <a:solidFill>
            <a:srgbClr val="06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83" name="Google Shape;583;p20"/>
          <p:cNvSpPr txBox="1"/>
          <p:nvPr/>
        </p:nvSpPr>
        <p:spPr>
          <a:xfrm>
            <a:off x="292608" y="950976"/>
            <a:ext cx="6400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SPAWN SEQUENCE (single-agent case)</a:t>
            </a:r>
            <a:endParaRPr/>
          </a:p>
        </p:txBody>
      </p:sp>
      <p:sp>
        <p:nvSpPr>
          <p:cNvPr id="584" name="Google Shape;584;p20"/>
          <p:cNvSpPr/>
          <p:nvPr/>
        </p:nvSpPr>
        <p:spPr>
          <a:xfrm>
            <a:off x="749808" y="1243584"/>
            <a:ext cx="5440680" cy="457200"/>
          </a:xfrm>
          <a:prstGeom prst="rect">
            <a:avLst/>
          </a:prstGeom>
          <a:solidFill>
            <a:srgbClr val="041630"/>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85" name="Google Shape;585;p20"/>
          <p:cNvSpPr/>
          <p:nvPr/>
        </p:nvSpPr>
        <p:spPr>
          <a:xfrm>
            <a:off x="749808" y="1243584"/>
            <a:ext cx="5440680" cy="18288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86" name="Google Shape;586;p20"/>
          <p:cNvSpPr txBox="1"/>
          <p:nvPr/>
        </p:nvSpPr>
        <p:spPr>
          <a:xfrm>
            <a:off x="749808" y="1261872"/>
            <a:ext cx="544068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COMMANDER AGENT</a:t>
            </a:r>
            <a:endParaRPr/>
          </a:p>
        </p:txBody>
      </p:sp>
      <p:sp>
        <p:nvSpPr>
          <p:cNvPr id="587" name="Google Shape;587;p20"/>
          <p:cNvSpPr txBox="1"/>
          <p:nvPr/>
        </p:nvSpPr>
        <p:spPr>
          <a:xfrm>
            <a:off x="795528" y="1444752"/>
            <a:ext cx="5349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a:solidFill>
                  <a:srgbClr val="A0AAB8"/>
                </a:solidFill>
                <a:latin typeface="Calibri"/>
                <a:ea typeface="Calibri"/>
                <a:cs typeface="Calibri"/>
                <a:sym typeface="Calibri"/>
              </a:rPr>
              <a:t>Reads ASG + APG → decides next action</a:t>
            </a:r>
            <a:endParaRPr/>
          </a:p>
        </p:txBody>
      </p:sp>
      <p:cxnSp>
        <p:nvCxnSpPr>
          <p:cNvPr id="588" name="Google Shape;588;p20"/>
          <p:cNvCxnSpPr/>
          <p:nvPr/>
        </p:nvCxnSpPr>
        <p:spPr>
          <a:xfrm>
            <a:off x="0" y="1700784"/>
            <a:ext cx="0" cy="292608"/>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589" name="Google Shape;589;p20"/>
          <p:cNvSpPr txBox="1"/>
          <p:nvPr/>
        </p:nvSpPr>
        <p:spPr>
          <a:xfrm>
            <a:off x="3566160" y="1719072"/>
            <a:ext cx="31089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BD93F9"/>
                </a:solidFill>
                <a:latin typeface="Calibri"/>
                <a:ea typeface="Calibri"/>
                <a:cs typeface="Calibri"/>
                <a:sym typeface="Calibri"/>
              </a:rPr>
              <a:t>spawn(ASG slice + APG slice[optional] + task + toolset)</a:t>
            </a:r>
            <a:endParaRPr/>
          </a:p>
        </p:txBody>
      </p:sp>
      <p:sp>
        <p:nvSpPr>
          <p:cNvPr id="590" name="Google Shape;590;p20"/>
          <p:cNvSpPr/>
          <p:nvPr/>
        </p:nvSpPr>
        <p:spPr>
          <a:xfrm>
            <a:off x="402336" y="2048256"/>
            <a:ext cx="6181344" cy="2651760"/>
          </a:xfrm>
          <a:prstGeom prst="rect">
            <a:avLst/>
          </a:prstGeom>
          <a:solidFill>
            <a:srgbClr val="080C22"/>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91" name="Google Shape;591;p20"/>
          <p:cNvSpPr/>
          <p:nvPr/>
        </p:nvSpPr>
        <p:spPr>
          <a:xfrm>
            <a:off x="402336" y="2048256"/>
            <a:ext cx="6181344" cy="201168"/>
          </a:xfrm>
          <a:prstGeom prst="rect">
            <a:avLst/>
          </a:prstGeom>
          <a:solidFill>
            <a:srgbClr val="180C2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92" name="Google Shape;592;p20"/>
          <p:cNvSpPr txBox="1"/>
          <p:nvPr/>
        </p:nvSpPr>
        <p:spPr>
          <a:xfrm>
            <a:off x="475488" y="2075688"/>
            <a:ext cx="6071616"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BD93F9"/>
                </a:solidFill>
                <a:latin typeface="Calibri"/>
                <a:ea typeface="Calibri"/>
                <a:cs typeface="Calibri"/>
                <a:sym typeface="Calibri"/>
              </a:rPr>
              <a:t>ISOLATED AGENT CONTEXT  (fresh per task — never shared)</a:t>
            </a:r>
            <a:endParaRPr/>
          </a:p>
        </p:txBody>
      </p:sp>
      <p:sp>
        <p:nvSpPr>
          <p:cNvPr id="593" name="Google Shape;593;p20"/>
          <p:cNvSpPr/>
          <p:nvPr/>
        </p:nvSpPr>
        <p:spPr>
          <a:xfrm>
            <a:off x="493776" y="2286000"/>
            <a:ext cx="5998464" cy="442569"/>
          </a:xfrm>
          <a:prstGeom prst="rect">
            <a:avLst/>
          </a:prstGeom>
          <a:solidFill>
            <a:srgbClr val="04180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94" name="Google Shape;594;p20"/>
          <p:cNvSpPr txBox="1"/>
          <p:nvPr/>
        </p:nvSpPr>
        <p:spPr>
          <a:xfrm>
            <a:off x="566928" y="2322576"/>
            <a:ext cx="1005840"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39FF14"/>
                </a:solidFill>
                <a:latin typeface="Calibri"/>
                <a:ea typeface="Calibri"/>
                <a:cs typeface="Calibri"/>
                <a:sym typeface="Calibri"/>
              </a:rPr>
              <a:t>ASG SLICE</a:t>
            </a:r>
            <a:endParaRPr/>
          </a:p>
        </p:txBody>
      </p:sp>
      <p:sp>
        <p:nvSpPr>
          <p:cNvPr id="595" name="Google Shape;595;p20"/>
          <p:cNvSpPr txBox="1"/>
          <p:nvPr/>
        </p:nvSpPr>
        <p:spPr>
          <a:xfrm>
            <a:off x="1609344" y="2322576"/>
            <a:ext cx="4809744"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Subgraph relevant to this task only — no global state</a:t>
            </a:r>
            <a:endParaRPr/>
          </a:p>
        </p:txBody>
      </p:sp>
      <p:sp>
        <p:nvSpPr>
          <p:cNvPr id="596" name="Google Shape;596;p20"/>
          <p:cNvSpPr/>
          <p:nvPr/>
        </p:nvSpPr>
        <p:spPr>
          <a:xfrm>
            <a:off x="493776" y="2765145"/>
            <a:ext cx="5998464" cy="442569"/>
          </a:xfrm>
          <a:prstGeom prst="rect">
            <a:avLst/>
          </a:prstGeom>
          <a:solidFill>
            <a:srgbClr val="1810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97" name="Google Shape;597;p20"/>
          <p:cNvSpPr txBox="1"/>
          <p:nvPr/>
        </p:nvSpPr>
        <p:spPr>
          <a:xfrm>
            <a:off x="566928" y="2801721"/>
            <a:ext cx="1005840"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FFD700"/>
                </a:solidFill>
                <a:latin typeface="Calibri"/>
                <a:ea typeface="Calibri"/>
                <a:cs typeface="Calibri"/>
                <a:sym typeface="Calibri"/>
              </a:rPr>
              <a:t>APG SLICE</a:t>
            </a:r>
            <a:endParaRPr/>
          </a:p>
        </p:txBody>
      </p:sp>
      <p:sp>
        <p:nvSpPr>
          <p:cNvPr id="598" name="Google Shape;598;p20"/>
          <p:cNvSpPr txBox="1"/>
          <p:nvPr/>
        </p:nvSpPr>
        <p:spPr>
          <a:xfrm>
            <a:off x="1609344" y="2801721"/>
            <a:ext cx="4809744"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Relevant AttackChains only — Validation agents only</a:t>
            </a:r>
            <a:endParaRPr/>
          </a:p>
        </p:txBody>
      </p:sp>
      <p:sp>
        <p:nvSpPr>
          <p:cNvPr id="599" name="Google Shape;599;p20"/>
          <p:cNvSpPr/>
          <p:nvPr/>
        </p:nvSpPr>
        <p:spPr>
          <a:xfrm>
            <a:off x="493776" y="3244291"/>
            <a:ext cx="5998464" cy="442569"/>
          </a:xfrm>
          <a:prstGeom prst="rect">
            <a:avLst/>
          </a:prstGeom>
          <a:solidFill>
            <a:srgbClr val="1A0606"/>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00" name="Google Shape;600;p20"/>
          <p:cNvSpPr txBox="1"/>
          <p:nvPr/>
        </p:nvSpPr>
        <p:spPr>
          <a:xfrm>
            <a:off x="566928" y="3280867"/>
            <a:ext cx="1005840"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FF4545"/>
                </a:solidFill>
                <a:latin typeface="Calibri"/>
                <a:ea typeface="Calibri"/>
                <a:cs typeface="Calibri"/>
                <a:sym typeface="Calibri"/>
              </a:rPr>
              <a:t>TOOL SET</a:t>
            </a:r>
            <a:endParaRPr/>
          </a:p>
        </p:txBody>
      </p:sp>
      <p:sp>
        <p:nvSpPr>
          <p:cNvPr id="601" name="Google Shape;601;p20"/>
          <p:cNvSpPr txBox="1"/>
          <p:nvPr/>
        </p:nvSpPr>
        <p:spPr>
          <a:xfrm>
            <a:off x="1609344" y="3280867"/>
            <a:ext cx="4809744"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Authorized tools only — no cross-phase access</a:t>
            </a:r>
            <a:endParaRPr/>
          </a:p>
        </p:txBody>
      </p:sp>
      <p:sp>
        <p:nvSpPr>
          <p:cNvPr id="602" name="Google Shape;602;p20"/>
          <p:cNvSpPr/>
          <p:nvPr/>
        </p:nvSpPr>
        <p:spPr>
          <a:xfrm>
            <a:off x="493776" y="3723436"/>
            <a:ext cx="5998464" cy="442569"/>
          </a:xfrm>
          <a:prstGeom prst="rect">
            <a:avLst/>
          </a:prstGeom>
          <a:solidFill>
            <a:srgbClr val="0412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03" name="Google Shape;603;p20"/>
          <p:cNvSpPr txBox="1"/>
          <p:nvPr/>
        </p:nvSpPr>
        <p:spPr>
          <a:xfrm>
            <a:off x="566928" y="3760012"/>
            <a:ext cx="1005840"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0E5FF"/>
                </a:solidFill>
                <a:latin typeface="Calibri"/>
                <a:ea typeface="Calibri"/>
                <a:cs typeface="Calibri"/>
                <a:sym typeface="Calibri"/>
              </a:rPr>
              <a:t>TASK SPEC</a:t>
            </a:r>
            <a:endParaRPr/>
          </a:p>
        </p:txBody>
      </p:sp>
      <p:sp>
        <p:nvSpPr>
          <p:cNvPr id="604" name="Google Shape;604;p20"/>
          <p:cNvSpPr txBox="1"/>
          <p:nvPr/>
        </p:nvSpPr>
        <p:spPr>
          <a:xfrm>
            <a:off x="1609344" y="3760012"/>
            <a:ext cx="4809744"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Commander's current plan item</a:t>
            </a:r>
            <a:endParaRPr/>
          </a:p>
        </p:txBody>
      </p:sp>
      <p:sp>
        <p:nvSpPr>
          <p:cNvPr id="605" name="Google Shape;605;p20"/>
          <p:cNvSpPr/>
          <p:nvPr/>
        </p:nvSpPr>
        <p:spPr>
          <a:xfrm>
            <a:off x="493776" y="4202582"/>
            <a:ext cx="5998464" cy="442569"/>
          </a:xfrm>
          <a:prstGeom prst="rect">
            <a:avLst/>
          </a:prstGeom>
          <a:solidFill>
            <a:srgbClr val="12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06" name="Google Shape;606;p20"/>
          <p:cNvSpPr txBox="1"/>
          <p:nvPr/>
        </p:nvSpPr>
        <p:spPr>
          <a:xfrm>
            <a:off x="566928" y="4239158"/>
            <a:ext cx="1005840"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BD93F9"/>
                </a:solidFill>
                <a:latin typeface="Calibri"/>
                <a:ea typeface="Calibri"/>
                <a:cs typeface="Calibri"/>
                <a:sym typeface="Calibri"/>
              </a:rPr>
              <a:t>KNOWLEDGE</a:t>
            </a:r>
            <a:endParaRPr/>
          </a:p>
        </p:txBody>
      </p:sp>
      <p:sp>
        <p:nvSpPr>
          <p:cNvPr id="607" name="Google Shape;607;p20"/>
          <p:cNvSpPr txBox="1"/>
          <p:nvPr/>
        </p:nvSpPr>
        <p:spPr>
          <a:xfrm>
            <a:off x="1609344" y="4239158"/>
            <a:ext cx="4809744" cy="38770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Vulnerability-class docs injected at spawn (§7)</a:t>
            </a:r>
            <a:endParaRPr/>
          </a:p>
        </p:txBody>
      </p:sp>
      <p:cxnSp>
        <p:nvCxnSpPr>
          <p:cNvPr id="608" name="Google Shape;608;p20"/>
          <p:cNvCxnSpPr/>
          <p:nvPr/>
        </p:nvCxnSpPr>
        <p:spPr>
          <a:xfrm>
            <a:off x="0" y="4700016"/>
            <a:ext cx="0" cy="27432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609" name="Google Shape;609;p20"/>
          <p:cNvSpPr/>
          <p:nvPr/>
        </p:nvSpPr>
        <p:spPr>
          <a:xfrm>
            <a:off x="402336" y="5020056"/>
            <a:ext cx="6181344" cy="475488"/>
          </a:xfrm>
          <a:prstGeom prst="rect">
            <a:avLst/>
          </a:prstGeom>
          <a:solidFill>
            <a:srgbClr val="041C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0" name="Google Shape;610;p20"/>
          <p:cNvSpPr txBox="1"/>
          <p:nvPr/>
        </p:nvSpPr>
        <p:spPr>
          <a:xfrm>
            <a:off x="493776" y="5056632"/>
            <a:ext cx="60350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RETURNS: Structured ASG Delta only  — working context discarded</a:t>
            </a:r>
            <a:endParaRPr/>
          </a:p>
        </p:txBody>
      </p:sp>
      <p:sp>
        <p:nvSpPr>
          <p:cNvPr id="611" name="Google Shape;611;p20"/>
          <p:cNvSpPr txBox="1"/>
          <p:nvPr/>
        </p:nvSpPr>
        <p:spPr>
          <a:xfrm>
            <a:off x="493776" y="5266944"/>
            <a:ext cx="60350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a:solidFill>
                  <a:srgbClr val="A0AAB8"/>
                </a:solidFill>
                <a:latin typeface="Calibri"/>
                <a:ea typeface="Calibri"/>
                <a:cs typeface="Calibri"/>
                <a:sym typeface="Calibri"/>
              </a:rPr>
              <a:t>No raw history, no conversation, no cross-contamination between agents.</a:t>
            </a:r>
            <a:endParaRPr/>
          </a:p>
        </p:txBody>
      </p:sp>
      <p:sp>
        <p:nvSpPr>
          <p:cNvPr id="612" name="Google Shape;612;p20"/>
          <p:cNvSpPr/>
          <p:nvPr/>
        </p:nvSpPr>
        <p:spPr>
          <a:xfrm>
            <a:off x="402336" y="5586984"/>
            <a:ext cx="6181344" cy="201168"/>
          </a:xfrm>
          <a:prstGeom prst="rect">
            <a:avLst/>
          </a:prstGeom>
          <a:solidFill>
            <a:srgbClr val="0C0E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3" name="Google Shape;613;p20"/>
          <p:cNvSpPr txBox="1"/>
          <p:nvPr/>
        </p:nvSpPr>
        <p:spPr>
          <a:xfrm>
            <a:off x="475488" y="5614416"/>
            <a:ext cx="6071616"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00E5FF"/>
                </a:solidFill>
                <a:latin typeface="Calibri"/>
                <a:ea typeface="Calibri"/>
                <a:cs typeface="Calibri"/>
                <a:sym typeface="Calibri"/>
              </a:rPr>
              <a:t>✓  Commander context stays clean between all delegated tasks</a:t>
            </a:r>
            <a:endParaRPr/>
          </a:p>
        </p:txBody>
      </p:sp>
      <p:sp>
        <p:nvSpPr>
          <p:cNvPr id="614" name="Google Shape;614;p20"/>
          <p:cNvSpPr/>
          <p:nvPr/>
        </p:nvSpPr>
        <p:spPr>
          <a:xfrm>
            <a:off x="402336" y="5824728"/>
            <a:ext cx="6181344" cy="201168"/>
          </a:xfrm>
          <a:prstGeom prst="rect">
            <a:avLst/>
          </a:prstGeom>
          <a:solidFill>
            <a:srgbClr val="0C0E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5" name="Google Shape;615;p20"/>
          <p:cNvSpPr txBox="1"/>
          <p:nvPr/>
        </p:nvSpPr>
        <p:spPr>
          <a:xfrm>
            <a:off x="475488" y="5852160"/>
            <a:ext cx="6071616"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BD93F9"/>
                </a:solidFill>
                <a:latin typeface="Calibri"/>
                <a:ea typeface="Calibri"/>
                <a:cs typeface="Calibri"/>
                <a:sym typeface="Calibri"/>
              </a:rPr>
              <a:t>✓  Agent failures cannot contaminate other agents' reasoning</a:t>
            </a:r>
            <a:endParaRPr/>
          </a:p>
        </p:txBody>
      </p:sp>
      <p:sp>
        <p:nvSpPr>
          <p:cNvPr id="616" name="Google Shape;616;p20"/>
          <p:cNvSpPr/>
          <p:nvPr/>
        </p:nvSpPr>
        <p:spPr>
          <a:xfrm>
            <a:off x="402336" y="6062472"/>
            <a:ext cx="6181344" cy="201168"/>
          </a:xfrm>
          <a:prstGeom prst="rect">
            <a:avLst/>
          </a:prstGeom>
          <a:solidFill>
            <a:srgbClr val="0C0E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7" name="Google Shape;617;p20"/>
          <p:cNvSpPr txBox="1"/>
          <p:nvPr/>
        </p:nvSpPr>
        <p:spPr>
          <a:xfrm>
            <a:off x="475488" y="6089904"/>
            <a:ext cx="6071616"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FF4545"/>
                </a:solidFill>
                <a:latin typeface="Calibri"/>
                <a:ea typeface="Calibri"/>
                <a:cs typeface="Calibri"/>
                <a:sym typeface="Calibri"/>
              </a:rPr>
              <a:t>✓  High-risk refusals do not bias future planning decisions</a:t>
            </a:r>
            <a:endParaRPr/>
          </a:p>
        </p:txBody>
      </p:sp>
      <p:sp>
        <p:nvSpPr>
          <p:cNvPr id="618" name="Google Shape;618;p20"/>
          <p:cNvSpPr/>
          <p:nvPr/>
        </p:nvSpPr>
        <p:spPr>
          <a:xfrm>
            <a:off x="6912864" y="896112"/>
            <a:ext cx="5077663" cy="5705856"/>
          </a:xfrm>
          <a:prstGeom prst="rect">
            <a:avLst/>
          </a:prstGeom>
          <a:solidFill>
            <a:srgbClr val="060C1C"/>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19" name="Google Shape;619;p20"/>
          <p:cNvSpPr/>
          <p:nvPr/>
        </p:nvSpPr>
        <p:spPr>
          <a:xfrm>
            <a:off x="6912864" y="896112"/>
            <a:ext cx="5077663"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20" name="Google Shape;620;p20"/>
          <p:cNvSpPr txBox="1"/>
          <p:nvPr/>
        </p:nvSpPr>
        <p:spPr>
          <a:xfrm>
            <a:off x="6912864" y="932688"/>
            <a:ext cx="5077663"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C4 — ASG-Aware Parallel Dispatch</a:t>
            </a:r>
            <a:endParaRPr/>
          </a:p>
        </p:txBody>
      </p:sp>
      <p:sp>
        <p:nvSpPr>
          <p:cNvPr id="621" name="Google Shape;621;p20"/>
          <p:cNvSpPr txBox="1"/>
          <p:nvPr/>
        </p:nvSpPr>
        <p:spPr>
          <a:xfrm>
            <a:off x="7004304" y="1243584"/>
            <a:ext cx="4931359"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A0AAB8"/>
                </a:solidFill>
                <a:latin typeface="Calibri"/>
                <a:ea typeface="Calibri"/>
                <a:cs typeface="Calibri"/>
                <a:sym typeface="Calibri"/>
              </a:rPr>
              <a:t>When the ASG contains multiple independent sub-graphs — hosts or services with no shared edges — the Commander can spawn multiple agents concurrently.</a:t>
            </a:r>
            <a:endParaRPr/>
          </a:p>
        </p:txBody>
      </p:sp>
      <p:sp>
        <p:nvSpPr>
          <p:cNvPr id="622" name="Google Shape;622;p20"/>
          <p:cNvSpPr/>
          <p:nvPr/>
        </p:nvSpPr>
        <p:spPr>
          <a:xfrm>
            <a:off x="7004304" y="1975104"/>
            <a:ext cx="1546250" cy="548640"/>
          </a:xfrm>
          <a:prstGeom prst="rect">
            <a:avLst/>
          </a:prstGeom>
          <a:solidFill>
            <a:srgbClr val="0814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23" name="Google Shape;623;p20"/>
          <p:cNvSpPr txBox="1"/>
          <p:nvPr/>
        </p:nvSpPr>
        <p:spPr>
          <a:xfrm>
            <a:off x="7004304" y="2029968"/>
            <a:ext cx="154625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Host A</a:t>
            </a:r>
            <a:br>
              <a:rPr b="1" i="0" lang="en-US" sz="850">
                <a:solidFill>
                  <a:srgbClr val="39FF14"/>
                </a:solidFill>
                <a:latin typeface="Calibri"/>
                <a:ea typeface="Calibri"/>
                <a:cs typeface="Calibri"/>
                <a:sym typeface="Calibri"/>
              </a:rPr>
            </a:br>
            <a:r>
              <a:rPr b="1" i="0" lang="en-US" sz="850">
                <a:solidFill>
                  <a:srgbClr val="39FF14"/>
                </a:solidFill>
                <a:latin typeface="Calibri"/>
                <a:ea typeface="Calibri"/>
                <a:cs typeface="Calibri"/>
                <a:sym typeface="Calibri"/>
              </a:rPr>
              <a:t>192.168.1.10</a:t>
            </a:r>
            <a:endParaRPr/>
          </a:p>
        </p:txBody>
      </p:sp>
      <p:cxnSp>
        <p:nvCxnSpPr>
          <p:cNvPr id="624" name="Google Shape;624;p20"/>
          <p:cNvCxnSpPr/>
          <p:nvPr/>
        </p:nvCxnSpPr>
        <p:spPr>
          <a:xfrm>
            <a:off x="0" y="2523744"/>
            <a:ext cx="0" cy="329184"/>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625" name="Google Shape;625;p20"/>
          <p:cNvSpPr/>
          <p:nvPr/>
        </p:nvSpPr>
        <p:spPr>
          <a:xfrm>
            <a:off x="7004304" y="2889504"/>
            <a:ext cx="1546250" cy="402336"/>
          </a:xfrm>
          <a:prstGeom prst="rect">
            <a:avLst/>
          </a:prstGeom>
          <a:solidFill>
            <a:srgbClr val="100C22"/>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26" name="Google Shape;626;p20"/>
          <p:cNvSpPr txBox="1"/>
          <p:nvPr/>
        </p:nvSpPr>
        <p:spPr>
          <a:xfrm>
            <a:off x="7004304" y="2907792"/>
            <a:ext cx="154625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Analysis</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Agent</a:t>
            </a:r>
            <a:endParaRPr/>
          </a:p>
        </p:txBody>
      </p:sp>
      <p:sp>
        <p:nvSpPr>
          <p:cNvPr id="627" name="Google Shape;627;p20"/>
          <p:cNvSpPr/>
          <p:nvPr/>
        </p:nvSpPr>
        <p:spPr>
          <a:xfrm>
            <a:off x="8605418" y="1975104"/>
            <a:ext cx="1546250" cy="548640"/>
          </a:xfrm>
          <a:prstGeom prst="rect">
            <a:avLst/>
          </a:prstGeom>
          <a:solidFill>
            <a:srgbClr val="0814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28" name="Google Shape;628;p20"/>
          <p:cNvSpPr txBox="1"/>
          <p:nvPr/>
        </p:nvSpPr>
        <p:spPr>
          <a:xfrm>
            <a:off x="8605418" y="2029968"/>
            <a:ext cx="154625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0E5FF"/>
                </a:solidFill>
                <a:latin typeface="Calibri"/>
                <a:ea typeface="Calibri"/>
                <a:cs typeface="Calibri"/>
                <a:sym typeface="Calibri"/>
              </a:rPr>
              <a:t>Host B</a:t>
            </a:r>
            <a:br>
              <a:rPr b="1" i="0" lang="en-US" sz="850">
                <a:solidFill>
                  <a:srgbClr val="00E5FF"/>
                </a:solidFill>
                <a:latin typeface="Calibri"/>
                <a:ea typeface="Calibri"/>
                <a:cs typeface="Calibri"/>
                <a:sym typeface="Calibri"/>
              </a:rPr>
            </a:br>
            <a:r>
              <a:rPr b="1" i="0" lang="en-US" sz="850">
                <a:solidFill>
                  <a:srgbClr val="00E5FF"/>
                </a:solidFill>
                <a:latin typeface="Calibri"/>
                <a:ea typeface="Calibri"/>
                <a:cs typeface="Calibri"/>
                <a:sym typeface="Calibri"/>
              </a:rPr>
              <a:t>10.0.1.5</a:t>
            </a:r>
            <a:endParaRPr/>
          </a:p>
        </p:txBody>
      </p:sp>
      <p:cxnSp>
        <p:nvCxnSpPr>
          <p:cNvPr id="629" name="Google Shape;629;p20"/>
          <p:cNvCxnSpPr/>
          <p:nvPr/>
        </p:nvCxnSpPr>
        <p:spPr>
          <a:xfrm>
            <a:off x="0" y="2523744"/>
            <a:ext cx="0" cy="32918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630" name="Google Shape;630;p20"/>
          <p:cNvSpPr/>
          <p:nvPr/>
        </p:nvSpPr>
        <p:spPr>
          <a:xfrm>
            <a:off x="8605418" y="2889504"/>
            <a:ext cx="1546250" cy="402336"/>
          </a:xfrm>
          <a:prstGeom prst="rect">
            <a:avLst/>
          </a:prstGeom>
          <a:solidFill>
            <a:srgbClr val="100C22"/>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31" name="Google Shape;631;p20"/>
          <p:cNvSpPr txBox="1"/>
          <p:nvPr/>
        </p:nvSpPr>
        <p:spPr>
          <a:xfrm>
            <a:off x="8605418" y="2907792"/>
            <a:ext cx="154625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Analysis</a:t>
            </a:r>
            <a:br>
              <a:rPr b="1" i="0" lang="en-US" sz="800">
                <a:solidFill>
                  <a:srgbClr val="00E5FF"/>
                </a:solidFill>
                <a:latin typeface="Calibri"/>
                <a:ea typeface="Calibri"/>
                <a:cs typeface="Calibri"/>
                <a:sym typeface="Calibri"/>
              </a:rPr>
            </a:br>
            <a:r>
              <a:rPr b="1" i="0" lang="en-US" sz="800">
                <a:solidFill>
                  <a:srgbClr val="00E5FF"/>
                </a:solidFill>
                <a:latin typeface="Calibri"/>
                <a:ea typeface="Calibri"/>
                <a:cs typeface="Calibri"/>
                <a:sym typeface="Calibri"/>
              </a:rPr>
              <a:t>Agent</a:t>
            </a:r>
            <a:endParaRPr/>
          </a:p>
        </p:txBody>
      </p:sp>
      <p:sp>
        <p:nvSpPr>
          <p:cNvPr id="632" name="Google Shape;632;p20"/>
          <p:cNvSpPr/>
          <p:nvPr/>
        </p:nvSpPr>
        <p:spPr>
          <a:xfrm>
            <a:off x="10206532" y="1975104"/>
            <a:ext cx="1546250" cy="548640"/>
          </a:xfrm>
          <a:prstGeom prst="rect">
            <a:avLst/>
          </a:prstGeom>
          <a:solidFill>
            <a:srgbClr val="0814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33" name="Google Shape;633;p20"/>
          <p:cNvSpPr txBox="1"/>
          <p:nvPr/>
        </p:nvSpPr>
        <p:spPr>
          <a:xfrm>
            <a:off x="10206532" y="2029968"/>
            <a:ext cx="154625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FFD700"/>
                </a:solidFill>
                <a:latin typeface="Calibri"/>
                <a:ea typeface="Calibri"/>
                <a:cs typeface="Calibri"/>
                <a:sym typeface="Calibri"/>
              </a:rPr>
              <a:t>Host C</a:t>
            </a:r>
            <a:br>
              <a:rPr b="1" i="0" lang="en-US" sz="850">
                <a:solidFill>
                  <a:srgbClr val="FFD700"/>
                </a:solidFill>
                <a:latin typeface="Calibri"/>
                <a:ea typeface="Calibri"/>
                <a:cs typeface="Calibri"/>
                <a:sym typeface="Calibri"/>
              </a:rPr>
            </a:br>
            <a:r>
              <a:rPr b="1" i="0" lang="en-US" sz="850">
                <a:solidFill>
                  <a:srgbClr val="FFD700"/>
                </a:solidFill>
                <a:latin typeface="Calibri"/>
                <a:ea typeface="Calibri"/>
                <a:cs typeface="Calibri"/>
                <a:sym typeface="Calibri"/>
              </a:rPr>
              <a:t>172.16.0.8</a:t>
            </a:r>
            <a:endParaRPr/>
          </a:p>
        </p:txBody>
      </p:sp>
      <p:cxnSp>
        <p:nvCxnSpPr>
          <p:cNvPr id="634" name="Google Shape;634;p20"/>
          <p:cNvCxnSpPr/>
          <p:nvPr/>
        </p:nvCxnSpPr>
        <p:spPr>
          <a:xfrm>
            <a:off x="0" y="2523744"/>
            <a:ext cx="0" cy="329184"/>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635" name="Google Shape;635;p20"/>
          <p:cNvSpPr/>
          <p:nvPr/>
        </p:nvSpPr>
        <p:spPr>
          <a:xfrm>
            <a:off x="10206532" y="2889504"/>
            <a:ext cx="1546250" cy="402336"/>
          </a:xfrm>
          <a:prstGeom prst="rect">
            <a:avLst/>
          </a:prstGeom>
          <a:solidFill>
            <a:srgbClr val="100C22"/>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36" name="Google Shape;636;p20"/>
          <p:cNvSpPr txBox="1"/>
          <p:nvPr/>
        </p:nvSpPr>
        <p:spPr>
          <a:xfrm>
            <a:off x="10206532" y="2907792"/>
            <a:ext cx="154625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D700"/>
                </a:solidFill>
                <a:latin typeface="Calibri"/>
                <a:ea typeface="Calibri"/>
                <a:cs typeface="Calibri"/>
                <a:sym typeface="Calibri"/>
              </a:rPr>
              <a:t>Analysis</a:t>
            </a:r>
            <a:br>
              <a:rPr b="1" i="0" lang="en-US" sz="800">
                <a:solidFill>
                  <a:srgbClr val="FFD700"/>
                </a:solidFill>
                <a:latin typeface="Calibri"/>
                <a:ea typeface="Calibri"/>
                <a:cs typeface="Calibri"/>
                <a:sym typeface="Calibri"/>
              </a:rPr>
            </a:br>
            <a:r>
              <a:rPr b="1" i="0" lang="en-US" sz="800">
                <a:solidFill>
                  <a:srgbClr val="FFD700"/>
                </a:solidFill>
                <a:latin typeface="Calibri"/>
                <a:ea typeface="Calibri"/>
                <a:cs typeface="Calibri"/>
                <a:sym typeface="Calibri"/>
              </a:rPr>
              <a:t>Agent</a:t>
            </a:r>
            <a:endParaRPr/>
          </a:p>
        </p:txBody>
      </p:sp>
      <p:sp>
        <p:nvSpPr>
          <p:cNvPr id="637" name="Google Shape;637;p20"/>
          <p:cNvSpPr txBox="1"/>
          <p:nvPr/>
        </p:nvSpPr>
        <p:spPr>
          <a:xfrm>
            <a:off x="7004304" y="2724912"/>
            <a:ext cx="4931359"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A0AAB8"/>
                </a:solidFill>
                <a:latin typeface="Calibri"/>
                <a:ea typeface="Calibri"/>
                <a:cs typeface="Calibri"/>
                <a:sym typeface="Calibri"/>
              </a:rPr>
              <a:t>ASG edges determine dependency — agents on independent sub-graphs run concurrently.</a:t>
            </a:r>
            <a:br>
              <a:rPr b="0" i="1" lang="en-US" sz="900">
                <a:solidFill>
                  <a:srgbClr val="A0AAB8"/>
                </a:solidFill>
                <a:latin typeface="Calibri"/>
                <a:ea typeface="Calibri"/>
                <a:cs typeface="Calibri"/>
                <a:sym typeface="Calibri"/>
              </a:rPr>
            </a:br>
            <a:r>
              <a:rPr b="0" i="1" lang="en-US" sz="900">
                <a:solidFill>
                  <a:srgbClr val="A0AAB8"/>
                </a:solidFill>
                <a:latin typeface="Calibri"/>
                <a:ea typeface="Calibri"/>
                <a:cs typeface="Calibri"/>
                <a:sym typeface="Calibri"/>
              </a:rPr>
              <a:t>The sequence diagrams in this deck show the single-agent case for clarity.</a:t>
            </a:r>
            <a:endParaRPr/>
          </a:p>
        </p:txBody>
      </p:sp>
      <p:sp>
        <p:nvSpPr>
          <p:cNvPr id="638" name="Google Shape;638;p20"/>
          <p:cNvSpPr/>
          <p:nvPr/>
        </p:nvSpPr>
        <p:spPr>
          <a:xfrm>
            <a:off x="7004304" y="3474720"/>
            <a:ext cx="4894783" cy="237744"/>
          </a:xfrm>
          <a:prstGeom prst="rect">
            <a:avLst/>
          </a:prstGeom>
          <a:solidFill>
            <a:srgbClr val="12100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39" name="Google Shape;639;p20"/>
          <p:cNvSpPr txBox="1"/>
          <p:nvPr/>
        </p:nvSpPr>
        <p:spPr>
          <a:xfrm>
            <a:off x="7077456" y="3502152"/>
            <a:ext cx="4803343"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D700"/>
                </a:solidFill>
                <a:latin typeface="Calibri"/>
                <a:ea typeface="Calibri"/>
                <a:cs typeface="Calibri"/>
                <a:sym typeface="Calibri"/>
              </a:rPr>
              <a:t>RISK TIER  ·  TOOL CLASS</a:t>
            </a:r>
            <a:endParaRPr/>
          </a:p>
        </p:txBody>
      </p:sp>
      <p:sp>
        <p:nvSpPr>
          <p:cNvPr id="640" name="Google Shape;640;p20"/>
          <p:cNvSpPr/>
          <p:nvPr/>
        </p:nvSpPr>
        <p:spPr>
          <a:xfrm>
            <a:off x="7004304" y="3767328"/>
            <a:ext cx="4894783" cy="438912"/>
          </a:xfrm>
          <a:prstGeom prst="rect">
            <a:avLst/>
          </a:prstGeom>
          <a:solidFill>
            <a:srgbClr val="0C0E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41" name="Google Shape;641;p20"/>
          <p:cNvSpPr/>
          <p:nvPr/>
        </p:nvSpPr>
        <p:spPr>
          <a:xfrm>
            <a:off x="7004304" y="3767328"/>
            <a:ext cx="457200" cy="43891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42" name="Google Shape;642;p20"/>
          <p:cNvSpPr txBox="1"/>
          <p:nvPr/>
        </p:nvSpPr>
        <p:spPr>
          <a:xfrm>
            <a:off x="7022592" y="3822192"/>
            <a:ext cx="42062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0A0D1A"/>
                </a:solidFill>
                <a:latin typeface="Calibri"/>
                <a:ea typeface="Calibri"/>
                <a:cs typeface="Calibri"/>
                <a:sym typeface="Calibri"/>
              </a:rPr>
              <a:t>LOW</a:t>
            </a:r>
            <a:endParaRPr/>
          </a:p>
        </p:txBody>
      </p:sp>
      <p:sp>
        <p:nvSpPr>
          <p:cNvPr id="643" name="Google Shape;643;p20"/>
          <p:cNvSpPr txBox="1"/>
          <p:nvPr/>
        </p:nvSpPr>
        <p:spPr>
          <a:xfrm>
            <a:off x="7516368" y="3822192"/>
            <a:ext cx="4346143"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Passive discovery — execute immediately</a:t>
            </a:r>
            <a:endParaRPr/>
          </a:p>
        </p:txBody>
      </p:sp>
      <p:sp>
        <p:nvSpPr>
          <p:cNvPr id="644" name="Google Shape;644;p20"/>
          <p:cNvSpPr/>
          <p:nvPr/>
        </p:nvSpPr>
        <p:spPr>
          <a:xfrm>
            <a:off x="7004304" y="4242816"/>
            <a:ext cx="4894783" cy="438912"/>
          </a:xfrm>
          <a:prstGeom prst="rect">
            <a:avLst/>
          </a:prstGeom>
          <a:solidFill>
            <a:srgbClr val="0C0E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45" name="Google Shape;645;p20"/>
          <p:cNvSpPr/>
          <p:nvPr/>
        </p:nvSpPr>
        <p:spPr>
          <a:xfrm>
            <a:off x="7004304" y="4242816"/>
            <a:ext cx="457200" cy="43891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46" name="Google Shape;646;p20"/>
          <p:cNvSpPr txBox="1"/>
          <p:nvPr/>
        </p:nvSpPr>
        <p:spPr>
          <a:xfrm>
            <a:off x="7022592" y="4297680"/>
            <a:ext cx="42062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0A0D1A"/>
                </a:solidFill>
                <a:latin typeface="Calibri"/>
                <a:ea typeface="Calibri"/>
                <a:cs typeface="Calibri"/>
                <a:sym typeface="Calibri"/>
              </a:rPr>
              <a:t>MED</a:t>
            </a:r>
            <a:endParaRPr/>
          </a:p>
        </p:txBody>
      </p:sp>
      <p:sp>
        <p:nvSpPr>
          <p:cNvPr id="647" name="Google Shape;647;p20"/>
          <p:cNvSpPr txBox="1"/>
          <p:nvPr/>
        </p:nvSpPr>
        <p:spPr>
          <a:xfrm>
            <a:off x="7516368" y="4297680"/>
            <a:ext cx="4346143"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Active enumeration — LLM classifier → exec</a:t>
            </a:r>
            <a:endParaRPr/>
          </a:p>
        </p:txBody>
      </p:sp>
      <p:sp>
        <p:nvSpPr>
          <p:cNvPr id="648" name="Google Shape;648;p20"/>
          <p:cNvSpPr/>
          <p:nvPr/>
        </p:nvSpPr>
        <p:spPr>
          <a:xfrm>
            <a:off x="7004304" y="4718304"/>
            <a:ext cx="4894783" cy="438912"/>
          </a:xfrm>
          <a:prstGeom prst="rect">
            <a:avLst/>
          </a:prstGeom>
          <a:solidFill>
            <a:srgbClr val="0C0E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49" name="Google Shape;649;p20"/>
          <p:cNvSpPr/>
          <p:nvPr/>
        </p:nvSpPr>
        <p:spPr>
          <a:xfrm>
            <a:off x="7004304" y="4718304"/>
            <a:ext cx="457200" cy="43891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50" name="Google Shape;650;p20"/>
          <p:cNvSpPr txBox="1"/>
          <p:nvPr/>
        </p:nvSpPr>
        <p:spPr>
          <a:xfrm>
            <a:off x="7022592" y="4773168"/>
            <a:ext cx="42062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0A0D1A"/>
                </a:solidFill>
                <a:latin typeface="Calibri"/>
                <a:ea typeface="Calibri"/>
                <a:cs typeface="Calibri"/>
                <a:sym typeface="Calibri"/>
              </a:rPr>
              <a:t>HIGH</a:t>
            </a:r>
            <a:endParaRPr/>
          </a:p>
        </p:txBody>
      </p:sp>
      <p:sp>
        <p:nvSpPr>
          <p:cNvPr id="651" name="Google Shape;651;p20"/>
          <p:cNvSpPr txBox="1"/>
          <p:nvPr/>
        </p:nvSpPr>
        <p:spPr>
          <a:xfrm>
            <a:off x="7516368" y="4773168"/>
            <a:ext cx="4346143"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Exploit operations — Commander Mailbox approval</a:t>
            </a:r>
            <a:endParaRPr/>
          </a:p>
        </p:txBody>
      </p:sp>
      <p:sp>
        <p:nvSpPr>
          <p:cNvPr id="652" name="Google Shape;652;p20"/>
          <p:cNvSpPr txBox="1"/>
          <p:nvPr/>
        </p:nvSpPr>
        <p:spPr>
          <a:xfrm>
            <a:off x="11751186"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BD93F9"/>
                </a:solidFill>
                <a:latin typeface="Calibri"/>
                <a:ea typeface="Calibri"/>
                <a:cs typeface="Calibri"/>
                <a:sym typeface="Calibri"/>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656" name="Shape 656"/>
        <p:cNvGrpSpPr/>
        <p:nvPr/>
      </p:nvGrpSpPr>
      <p:grpSpPr>
        <a:xfrm>
          <a:off x="0" y="0"/>
          <a:ext cx="0" cy="0"/>
          <a:chOff x="0" y="0"/>
          <a:chExt cx="0" cy="0"/>
        </a:xfrm>
      </p:grpSpPr>
      <p:sp>
        <p:nvSpPr>
          <p:cNvPr id="657" name="Google Shape;657;p21"/>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58" name="Google Shape;658;p21"/>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59" name="Google Shape;659;p21"/>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60" name="Google Shape;660;p21"/>
          <p:cNvSpPr txBox="1"/>
          <p:nvPr/>
        </p:nvSpPr>
        <p:spPr>
          <a:xfrm>
            <a:off x="274320" y="73152"/>
            <a:ext cx="73152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4545"/>
                </a:solidFill>
                <a:latin typeface="Calibri"/>
                <a:ea typeface="Calibri"/>
                <a:cs typeface="Calibri"/>
                <a:sym typeface="Calibri"/>
              </a:rPr>
              <a:t>OFFENSIVE TOOL CATALOGUE</a:t>
            </a:r>
            <a:endParaRPr/>
          </a:p>
        </p:txBody>
      </p:sp>
      <p:sp>
        <p:nvSpPr>
          <p:cNvPr id="661" name="Google Shape;661;p21"/>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a:solidFill>
                  <a:srgbClr val="FFFFFF"/>
                </a:solidFill>
                <a:latin typeface="Calibri"/>
                <a:ea typeface="Calibri"/>
                <a:cs typeface="Calibri"/>
                <a:sym typeface="Calibri"/>
              </a:rPr>
              <a:t>11 Industry-Standard Security Tools — AI Agent Operated</a:t>
            </a:r>
            <a:endParaRPr/>
          </a:p>
        </p:txBody>
      </p:sp>
      <p:sp>
        <p:nvSpPr>
          <p:cNvPr id="662" name="Google Shape;662;p21"/>
          <p:cNvSpPr/>
          <p:nvPr/>
        </p:nvSpPr>
        <p:spPr>
          <a:xfrm>
            <a:off x="274320" y="914400"/>
            <a:ext cx="5486400" cy="2743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63" name="Google Shape;663;p21"/>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64" name="Google Shape;664;p21"/>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39FF14"/>
                </a:solidFill>
                <a:latin typeface="Calibri"/>
                <a:ea typeface="Calibri"/>
                <a:cs typeface="Calibri"/>
                <a:sym typeface="Calibri"/>
              </a:rPr>
              <a:t>PHASE 1  ·  RECONNAISSANCE</a:t>
            </a:r>
            <a:endParaRPr/>
          </a:p>
        </p:txBody>
      </p:sp>
      <p:sp>
        <p:nvSpPr>
          <p:cNvPr id="665" name="Google Shape;665;p21"/>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66" name="Google Shape;666;p21"/>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0E5FF"/>
                </a:solidFill>
                <a:latin typeface="Calibri"/>
                <a:ea typeface="Calibri"/>
                <a:cs typeface="Calibri"/>
                <a:sym typeface="Calibri"/>
              </a:rPr>
              <a:t>PHASE 2  ·  ANALYSIS</a:t>
            </a:r>
            <a:endParaRPr/>
          </a:p>
        </p:txBody>
      </p:sp>
      <p:sp>
        <p:nvSpPr>
          <p:cNvPr id="667" name="Google Shape;667;p21"/>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68" name="Google Shape;668;p21"/>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4545"/>
                </a:solidFill>
                <a:latin typeface="Calibri"/>
                <a:ea typeface="Calibri"/>
                <a:cs typeface="Calibri"/>
                <a:sym typeface="Calibri"/>
              </a:rPr>
              <a:t>PHASE 3  ·  VALIDATION</a:t>
            </a:r>
            <a:endParaRPr/>
          </a:p>
        </p:txBody>
      </p:sp>
      <p:sp>
        <p:nvSpPr>
          <p:cNvPr id="669" name="Google Shape;669;p21"/>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70" name="Google Shape;670;p21"/>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BD93F9"/>
                </a:solidFill>
                <a:latin typeface="Calibri"/>
                <a:ea typeface="Calibri"/>
                <a:cs typeface="Calibri"/>
                <a:sym typeface="Calibri"/>
              </a:rPr>
              <a:t>PHASE 3  ·  EVIDENCE</a:t>
            </a:r>
            <a:endParaRPr/>
          </a:p>
        </p:txBody>
      </p:sp>
      <p:sp>
        <p:nvSpPr>
          <p:cNvPr id="671" name="Google Shape;671;p21"/>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72" name="Google Shape;672;p21"/>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73" name="Google Shape;673;p21"/>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a:t>
            </a:r>
            <a:endParaRPr/>
          </a:p>
        </p:txBody>
      </p:sp>
      <p:sp>
        <p:nvSpPr>
          <p:cNvPr id="674" name="Google Shape;674;p21"/>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Amass</a:t>
            </a:r>
            <a:endParaRPr/>
          </a:p>
        </p:txBody>
      </p:sp>
      <p:sp>
        <p:nvSpPr>
          <p:cNvPr id="675" name="Google Shape;675;p21"/>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Subdomain Enumeration  ·  Recon Agent</a:t>
            </a:r>
            <a:endParaRPr/>
          </a:p>
        </p:txBody>
      </p:sp>
      <p:sp>
        <p:nvSpPr>
          <p:cNvPr id="676" name="Google Shape;676;p21"/>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a:p>
        </p:txBody>
      </p:sp>
      <p:sp>
        <p:nvSpPr>
          <p:cNvPr id="677" name="Google Shape;677;p21"/>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78" name="Google Shape;678;p21"/>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79" name="Google Shape;679;p21"/>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2</a:t>
            </a:r>
            <a:endParaRPr/>
          </a:p>
        </p:txBody>
      </p:sp>
      <p:sp>
        <p:nvSpPr>
          <p:cNvPr id="680" name="Google Shape;680;p21"/>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httpx</a:t>
            </a:r>
            <a:endParaRPr/>
          </a:p>
        </p:txBody>
      </p:sp>
      <p:sp>
        <p:nvSpPr>
          <p:cNvPr id="681" name="Google Shape;681;p21"/>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Live Host Probing  ·  Recon Agent</a:t>
            </a:r>
            <a:endParaRPr/>
          </a:p>
        </p:txBody>
      </p:sp>
      <p:sp>
        <p:nvSpPr>
          <p:cNvPr id="682" name="Google Shape;682;p21"/>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Validates which discovered hosts respond over HTTP/HTTPS. Identifies web servers, status codes, redirects, TLS details.</a:t>
            </a:r>
            <a:endParaRPr/>
          </a:p>
        </p:txBody>
      </p:sp>
      <p:sp>
        <p:nvSpPr>
          <p:cNvPr id="683" name="Google Shape;683;p21"/>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84" name="Google Shape;684;p21"/>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85" name="Google Shape;685;p21"/>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3</a:t>
            </a:r>
            <a:endParaRPr/>
          </a:p>
        </p:txBody>
      </p:sp>
      <p:sp>
        <p:nvSpPr>
          <p:cNvPr id="686" name="Google Shape;686;p21"/>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Nmap</a:t>
            </a:r>
            <a:endParaRPr/>
          </a:p>
        </p:txBody>
      </p:sp>
      <p:sp>
        <p:nvSpPr>
          <p:cNvPr id="687" name="Google Shape;687;p21"/>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Port + Service Scan  ·  Recon Agent</a:t>
            </a:r>
            <a:endParaRPr/>
          </a:p>
        </p:txBody>
      </p:sp>
      <p:sp>
        <p:nvSpPr>
          <p:cNvPr id="688" name="Google Shape;688;p21"/>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Port scanning, service fingerprinting, OS detection. Optional NSE script execution for vuln detection on open services.</a:t>
            </a:r>
            <a:endParaRPr/>
          </a:p>
        </p:txBody>
      </p:sp>
      <p:sp>
        <p:nvSpPr>
          <p:cNvPr id="689" name="Google Shape;689;p21"/>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90" name="Google Shape;690;p21"/>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91" name="Google Shape;691;p21"/>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4</a:t>
            </a:r>
            <a:endParaRPr/>
          </a:p>
        </p:txBody>
      </p:sp>
      <p:sp>
        <p:nvSpPr>
          <p:cNvPr id="692" name="Google Shape;692;p21"/>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WhatWeb</a:t>
            </a:r>
            <a:endParaRPr/>
          </a:p>
        </p:txBody>
      </p:sp>
      <p:sp>
        <p:nvSpPr>
          <p:cNvPr id="693" name="Google Shape;693;p21"/>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Technology Fingerprinting  ·  Analysis Agent</a:t>
            </a:r>
            <a:endParaRPr/>
          </a:p>
        </p:txBody>
      </p:sp>
      <p:sp>
        <p:nvSpPr>
          <p:cNvPr id="694" name="Google Shape;694;p21"/>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Identifies CMS, frameworks, server software, JS libraries, and versions from HTTP responses. Seeds Technology nodes for the ASG.</a:t>
            </a:r>
            <a:endParaRPr/>
          </a:p>
        </p:txBody>
      </p:sp>
      <p:sp>
        <p:nvSpPr>
          <p:cNvPr id="695" name="Google Shape;695;p21"/>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96" name="Google Shape;696;p21"/>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697" name="Google Shape;697;p21"/>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5</a:t>
            </a:r>
            <a:endParaRPr/>
          </a:p>
        </p:txBody>
      </p:sp>
      <p:sp>
        <p:nvSpPr>
          <p:cNvPr id="698" name="Google Shape;698;p21"/>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Gobuster</a:t>
            </a:r>
            <a:endParaRPr/>
          </a:p>
        </p:txBody>
      </p:sp>
      <p:sp>
        <p:nvSpPr>
          <p:cNvPr id="699" name="Google Shape;699;p21"/>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Directory Brute-Force  ·  Analysis Agent</a:t>
            </a:r>
            <a:endParaRPr/>
          </a:p>
        </p:txBody>
      </p:sp>
      <p:sp>
        <p:nvSpPr>
          <p:cNvPr id="700" name="Google Shape;700;p21"/>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Discovers hidden paths, admin panels, backup files, and exposed resources via wordlist-based HTTP path enumeration.</a:t>
            </a:r>
            <a:endParaRPr/>
          </a:p>
        </p:txBody>
      </p:sp>
      <p:sp>
        <p:nvSpPr>
          <p:cNvPr id="701" name="Google Shape;701;p21"/>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02" name="Google Shape;702;p21"/>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03" name="Google Shape;703;p21"/>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6</a:t>
            </a:r>
            <a:endParaRPr/>
          </a:p>
        </p:txBody>
      </p:sp>
      <p:sp>
        <p:nvSpPr>
          <p:cNvPr id="704" name="Google Shape;704;p21"/>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ffuf</a:t>
            </a:r>
            <a:endParaRPr/>
          </a:p>
        </p:txBody>
      </p:sp>
      <p:sp>
        <p:nvSpPr>
          <p:cNvPr id="705" name="Google Shape;705;p21"/>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API + Parameter Fuzzing  ·  Analysis Agent</a:t>
            </a:r>
            <a:endParaRPr/>
          </a:p>
        </p:txBody>
      </p:sp>
      <p:sp>
        <p:nvSpPr>
          <p:cNvPr id="706" name="Google Shape;706;p21"/>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Fast web fuzzer for API route discovery, parameter fuzzing, virtual host enumeration, and undocumented endpoint identification.</a:t>
            </a:r>
            <a:endParaRPr/>
          </a:p>
        </p:txBody>
      </p:sp>
      <p:sp>
        <p:nvSpPr>
          <p:cNvPr id="707" name="Google Shape;707;p21"/>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08" name="Google Shape;708;p21"/>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09" name="Google Shape;709;p21"/>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7</a:t>
            </a:r>
            <a:endParaRPr/>
          </a:p>
        </p:txBody>
      </p:sp>
      <p:sp>
        <p:nvSpPr>
          <p:cNvPr id="710" name="Google Shape;710;p21"/>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Nuclei</a:t>
            </a:r>
            <a:endParaRPr/>
          </a:p>
        </p:txBody>
      </p:sp>
      <p:sp>
        <p:nvSpPr>
          <p:cNvPr id="711" name="Google Shape;711;p21"/>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Template-Based Vuln Scan  ·  Analysis Agent</a:t>
            </a:r>
            <a:endParaRPr/>
          </a:p>
        </p:txBody>
      </p:sp>
      <p:sp>
        <p:nvSpPr>
          <p:cNvPr id="712" name="Google Shape;712;p21"/>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a:p>
        </p:txBody>
      </p:sp>
      <p:sp>
        <p:nvSpPr>
          <p:cNvPr id="713" name="Google Shape;713;p21"/>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14" name="Google Shape;714;p21"/>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15" name="Google Shape;715;p21"/>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8</a:t>
            </a:r>
            <a:endParaRPr/>
          </a:p>
        </p:txBody>
      </p:sp>
      <p:sp>
        <p:nvSpPr>
          <p:cNvPr id="716" name="Google Shape;716;p21"/>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OWASP ZAP</a:t>
            </a:r>
            <a:endParaRPr/>
          </a:p>
        </p:txBody>
      </p:sp>
      <p:sp>
        <p:nvSpPr>
          <p:cNvPr id="717" name="Google Shape;717;p21"/>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Active Web App Scan  ·  Analysis Agent</a:t>
            </a:r>
            <a:endParaRPr/>
          </a:p>
        </p:txBody>
      </p:sp>
      <p:sp>
        <p:nvSpPr>
          <p:cNvPr id="718" name="Google Shape;718;p21"/>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a:p>
        </p:txBody>
      </p:sp>
      <p:sp>
        <p:nvSpPr>
          <p:cNvPr id="719" name="Google Shape;719;p21"/>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20" name="Google Shape;720;p21"/>
          <p:cNvSpPr/>
          <p:nvPr/>
        </p:nvSpPr>
        <p:spPr>
          <a:xfrm>
            <a:off x="8412480" y="1417320"/>
            <a:ext cx="365760" cy="155752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21" name="Google Shape;721;p21"/>
          <p:cNvSpPr txBox="1"/>
          <p:nvPr/>
        </p:nvSpPr>
        <p:spPr>
          <a:xfrm>
            <a:off x="843076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9</a:t>
            </a:r>
            <a:endParaRPr/>
          </a:p>
        </p:txBody>
      </p:sp>
      <p:sp>
        <p:nvSpPr>
          <p:cNvPr id="722" name="Google Shape;722;p21"/>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SQLMap</a:t>
            </a:r>
            <a:endParaRPr/>
          </a:p>
        </p:txBody>
      </p:sp>
      <p:sp>
        <p:nvSpPr>
          <p:cNvPr id="723" name="Google Shape;723;p21"/>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SQL Injection Validation  ·  Validation Agent</a:t>
            </a:r>
            <a:endParaRPr/>
          </a:p>
        </p:txBody>
      </p:sp>
      <p:sp>
        <p:nvSpPr>
          <p:cNvPr id="724" name="Google Shape;724;p21"/>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Automated SQLi detection and exploitation. Confirms injection points, extracts database data, tests for OS-level access escalation.</a:t>
            </a:r>
            <a:endParaRPr/>
          </a:p>
        </p:txBody>
      </p:sp>
      <p:sp>
        <p:nvSpPr>
          <p:cNvPr id="725" name="Google Shape;725;p21"/>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26" name="Google Shape;726;p21"/>
          <p:cNvSpPr/>
          <p:nvPr/>
        </p:nvSpPr>
        <p:spPr>
          <a:xfrm>
            <a:off x="8412480" y="3048000"/>
            <a:ext cx="365760" cy="155752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27" name="Google Shape;727;p21"/>
          <p:cNvSpPr txBox="1"/>
          <p:nvPr/>
        </p:nvSpPr>
        <p:spPr>
          <a:xfrm>
            <a:off x="843076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10</a:t>
            </a:r>
            <a:endParaRPr/>
          </a:p>
        </p:txBody>
      </p:sp>
      <p:sp>
        <p:nvSpPr>
          <p:cNvPr id="728" name="Google Shape;728;p21"/>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Metasploit</a:t>
            </a:r>
            <a:endParaRPr/>
          </a:p>
        </p:txBody>
      </p:sp>
      <p:sp>
        <p:nvSpPr>
          <p:cNvPr id="729" name="Google Shape;729;p21"/>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Exploit + RCE Demo  ·  Validation Agent</a:t>
            </a:r>
            <a:endParaRPr/>
          </a:p>
        </p:txBody>
      </p:sp>
      <p:sp>
        <p:nvSpPr>
          <p:cNvPr id="730" name="Google Shape;730;p21"/>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a:p>
        </p:txBody>
      </p:sp>
      <p:sp>
        <p:nvSpPr>
          <p:cNvPr id="731" name="Google Shape;731;p21"/>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32" name="Google Shape;732;p21"/>
          <p:cNvSpPr/>
          <p:nvPr/>
        </p:nvSpPr>
        <p:spPr>
          <a:xfrm>
            <a:off x="8412480" y="4678680"/>
            <a:ext cx="365760" cy="155752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33" name="Google Shape;733;p21"/>
          <p:cNvSpPr txBox="1"/>
          <p:nvPr/>
        </p:nvSpPr>
        <p:spPr>
          <a:xfrm>
            <a:off x="843076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11</a:t>
            </a:r>
            <a:endParaRPr/>
          </a:p>
        </p:txBody>
      </p:sp>
      <p:sp>
        <p:nvSpPr>
          <p:cNvPr id="734" name="Google Shape;734;p21"/>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BD93F9"/>
                </a:solidFill>
                <a:latin typeface="Calibri"/>
                <a:ea typeface="Calibri"/>
                <a:cs typeface="Calibri"/>
                <a:sym typeface="Calibri"/>
              </a:rPr>
              <a:t>EyeWitness</a:t>
            </a:r>
            <a:endParaRPr/>
          </a:p>
        </p:txBody>
      </p:sp>
      <p:sp>
        <p:nvSpPr>
          <p:cNvPr id="735" name="Google Shape;735;p21"/>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Screenshot Evidence  ·  Evidence Agent</a:t>
            </a:r>
            <a:endParaRPr/>
          </a:p>
        </p:txBody>
      </p:sp>
      <p:sp>
        <p:nvSpPr>
          <p:cNvPr id="736" name="Google Shape;736;p21"/>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a:p>
        </p:txBody>
      </p:sp>
      <p:sp>
        <p:nvSpPr>
          <p:cNvPr id="737" name="Google Shape;737;p21"/>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38" name="Google Shape;738;p21"/>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50">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a:p>
        </p:txBody>
      </p:sp>
      <p:sp>
        <p:nvSpPr>
          <p:cNvPr id="739" name="Google Shape;739;p21"/>
          <p:cNvSpPr txBox="1"/>
          <p:nvPr/>
        </p:nvSpPr>
        <p:spPr>
          <a:xfrm>
            <a:off x="11804164" y="70395"/>
            <a:ext cx="363583"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43" name="Shape 743"/>
        <p:cNvGrpSpPr/>
        <p:nvPr/>
      </p:nvGrpSpPr>
      <p:grpSpPr>
        <a:xfrm>
          <a:off x="0" y="0"/>
          <a:ext cx="0" cy="0"/>
          <a:chOff x="0" y="0"/>
          <a:chExt cx="0" cy="0"/>
        </a:xfrm>
      </p:grpSpPr>
      <p:sp>
        <p:nvSpPr>
          <p:cNvPr id="744" name="Google Shape;744;p22"/>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5" name="Google Shape;745;p22"/>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6" name="Google Shape;746;p22"/>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7" name="Google Shape;747;p22"/>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TOOL ADAPTER LAYER / RISK GATE</a:t>
            </a:r>
            <a:endParaRPr/>
          </a:p>
        </p:txBody>
      </p:sp>
      <p:sp>
        <p:nvSpPr>
          <p:cNvPr id="748" name="Google Shape;748;p22"/>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a:solidFill>
                  <a:srgbClr val="FFFFFF"/>
                </a:solidFill>
                <a:latin typeface="Calibri"/>
                <a:ea typeface="Calibri"/>
                <a:cs typeface="Calibri"/>
                <a:sym typeface="Calibri"/>
              </a:rPr>
              <a:t>Every Tool Call Passes Through a Risk Classifier Before Execution</a:t>
            </a:r>
            <a:endParaRPr/>
          </a:p>
        </p:txBody>
      </p:sp>
      <p:sp>
        <p:nvSpPr>
          <p:cNvPr id="749" name="Google Shape;749;p22"/>
          <p:cNvSpPr/>
          <p:nvPr/>
        </p:nvSpPr>
        <p:spPr>
          <a:xfrm>
            <a:off x="201168" y="896112"/>
            <a:ext cx="7498079" cy="5705856"/>
          </a:xfrm>
          <a:prstGeom prst="rect">
            <a:avLst/>
          </a:prstGeom>
          <a:solidFill>
            <a:srgbClr val="08061A"/>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0" name="Google Shape;750;p22"/>
          <p:cNvSpPr txBox="1"/>
          <p:nvPr/>
        </p:nvSpPr>
        <p:spPr>
          <a:xfrm>
            <a:off x="292608" y="950976"/>
            <a:ext cx="7315199"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FF4545"/>
                </a:solidFill>
                <a:latin typeface="Calibri"/>
                <a:ea typeface="Calibri"/>
                <a:cs typeface="Calibri"/>
                <a:sym typeface="Calibri"/>
              </a:rPr>
              <a:t>PRE-TOOL-USE DECISION TREE</a:t>
            </a:r>
            <a:endParaRPr/>
          </a:p>
        </p:txBody>
      </p:sp>
      <p:sp>
        <p:nvSpPr>
          <p:cNvPr id="751" name="Google Shape;751;p22"/>
          <p:cNvSpPr/>
          <p:nvPr/>
        </p:nvSpPr>
        <p:spPr>
          <a:xfrm>
            <a:off x="475488" y="1225296"/>
            <a:ext cx="6949439" cy="365760"/>
          </a:xfrm>
          <a:prstGeom prst="rect">
            <a:avLst/>
          </a:prstGeom>
          <a:solidFill>
            <a:srgbClr val="100C24"/>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2" name="Google Shape;752;p22"/>
          <p:cNvSpPr txBox="1"/>
          <p:nvPr/>
        </p:nvSpPr>
        <p:spPr>
          <a:xfrm>
            <a:off x="603504" y="1280160"/>
            <a:ext cx="683971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FFFFFF"/>
                </a:solidFill>
                <a:latin typeface="Calibri"/>
                <a:ea typeface="Calibri"/>
                <a:cs typeface="Calibri"/>
                <a:sym typeface="Calibri"/>
              </a:rPr>
              <a:t>Agent requests tool call  (e.g. gobuster -u target.com -w wordlist.txt)</a:t>
            </a:r>
            <a:endParaRPr/>
          </a:p>
        </p:txBody>
      </p:sp>
      <p:cxnSp>
        <p:nvCxnSpPr>
          <p:cNvPr id="753" name="Google Shape;753;p22"/>
          <p:cNvCxnSpPr/>
          <p:nvPr/>
        </p:nvCxnSpPr>
        <p:spPr>
          <a:xfrm>
            <a:off x="0" y="1591056"/>
            <a:ext cx="0" cy="201168"/>
          </a:xfrm>
          <a:prstGeom prst="straightConnector1">
            <a:avLst/>
          </a:prstGeom>
          <a:noFill/>
          <a:ln cap="flat" cmpd="sng" w="1777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754" name="Google Shape;754;p22"/>
          <p:cNvSpPr/>
          <p:nvPr/>
        </p:nvSpPr>
        <p:spPr>
          <a:xfrm>
            <a:off x="475488" y="1847088"/>
            <a:ext cx="6949439" cy="384048"/>
          </a:xfrm>
          <a:prstGeom prst="rect">
            <a:avLst/>
          </a:prstGeom>
          <a:solidFill>
            <a:srgbClr val="180606"/>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5" name="Google Shape;755;p22"/>
          <p:cNvSpPr/>
          <p:nvPr/>
        </p:nvSpPr>
        <p:spPr>
          <a:xfrm>
            <a:off x="475488" y="1847088"/>
            <a:ext cx="6949439" cy="14630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6" name="Google Shape;756;p22"/>
          <p:cNvSpPr txBox="1"/>
          <p:nvPr/>
        </p:nvSpPr>
        <p:spPr>
          <a:xfrm>
            <a:off x="566928" y="1856232"/>
            <a:ext cx="6812279" cy="14630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SCOPE CHECK</a:t>
            </a:r>
            <a:endParaRPr/>
          </a:p>
        </p:txBody>
      </p:sp>
      <p:sp>
        <p:nvSpPr>
          <p:cNvPr id="757" name="Google Shape;757;p22"/>
          <p:cNvSpPr txBox="1"/>
          <p:nvPr/>
        </p:nvSpPr>
        <p:spPr>
          <a:xfrm>
            <a:off x="566928" y="2011680"/>
            <a:ext cx="6839711"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Target in declared scope?  No → BLOCKED immediately, reason logged.</a:t>
            </a:r>
            <a:endParaRPr/>
          </a:p>
        </p:txBody>
      </p:sp>
      <p:cxnSp>
        <p:nvCxnSpPr>
          <p:cNvPr id="758" name="Google Shape;758;p22"/>
          <p:cNvCxnSpPr/>
          <p:nvPr/>
        </p:nvCxnSpPr>
        <p:spPr>
          <a:xfrm>
            <a:off x="0" y="2231136"/>
            <a:ext cx="0" cy="201168"/>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759" name="Google Shape;759;p22"/>
          <p:cNvSpPr/>
          <p:nvPr/>
        </p:nvSpPr>
        <p:spPr>
          <a:xfrm>
            <a:off x="475488" y="2487168"/>
            <a:ext cx="6949439" cy="384048"/>
          </a:xfrm>
          <a:prstGeom prst="rect">
            <a:avLst/>
          </a:prstGeom>
          <a:solidFill>
            <a:srgbClr val="1814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0" name="Google Shape;760;p22"/>
          <p:cNvSpPr/>
          <p:nvPr/>
        </p:nvSpPr>
        <p:spPr>
          <a:xfrm>
            <a:off x="475488" y="2487168"/>
            <a:ext cx="6949439" cy="14630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1" name="Google Shape;761;p22"/>
          <p:cNvSpPr txBox="1"/>
          <p:nvPr/>
        </p:nvSpPr>
        <p:spPr>
          <a:xfrm>
            <a:off x="566928" y="2496312"/>
            <a:ext cx="6812279" cy="14630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RISK CLASSIFICATION</a:t>
            </a:r>
            <a:endParaRPr/>
          </a:p>
        </p:txBody>
      </p:sp>
      <p:sp>
        <p:nvSpPr>
          <p:cNvPr id="762" name="Google Shape;762;p22"/>
          <p:cNvSpPr txBox="1"/>
          <p:nvPr/>
        </p:nvSpPr>
        <p:spPr>
          <a:xfrm>
            <a:off x="566928" y="2651760"/>
            <a:ext cx="6839711"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Three axes: Scope Alignment  ·  Chain Intent  ·  Parameter Safety  →  LOW / MED / HIGH</a:t>
            </a:r>
            <a:endParaRPr/>
          </a:p>
        </p:txBody>
      </p:sp>
      <p:cxnSp>
        <p:nvCxnSpPr>
          <p:cNvPr id="763" name="Google Shape;763;p22"/>
          <p:cNvCxnSpPr/>
          <p:nvPr/>
        </p:nvCxnSpPr>
        <p:spPr>
          <a:xfrm>
            <a:off x="0" y="2871216"/>
            <a:ext cx="0" cy="201168"/>
          </a:xfrm>
          <a:prstGeom prst="straightConnector1">
            <a:avLst/>
          </a:prstGeom>
          <a:noFill/>
          <a:ln cap="flat" cmpd="sng" w="152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764" name="Google Shape;764;p22"/>
          <p:cNvSpPr/>
          <p:nvPr/>
        </p:nvSpPr>
        <p:spPr>
          <a:xfrm>
            <a:off x="475488" y="3072384"/>
            <a:ext cx="2029968" cy="1371600"/>
          </a:xfrm>
          <a:prstGeom prst="rect">
            <a:avLst/>
          </a:prstGeom>
          <a:solidFill>
            <a:srgbClr val="080C22"/>
          </a:solidFill>
          <a:ln cap="flat" cmpd="sng" w="203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5" name="Google Shape;765;p22"/>
          <p:cNvSpPr/>
          <p:nvPr/>
        </p:nvSpPr>
        <p:spPr>
          <a:xfrm>
            <a:off x="475488" y="3072384"/>
            <a:ext cx="2029968" cy="2560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6" name="Google Shape;766;p22"/>
          <p:cNvSpPr txBox="1"/>
          <p:nvPr/>
        </p:nvSpPr>
        <p:spPr>
          <a:xfrm>
            <a:off x="475488" y="3099816"/>
            <a:ext cx="2029968"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LOW</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Passive Discovery</a:t>
            </a:r>
            <a:endParaRPr/>
          </a:p>
        </p:txBody>
      </p:sp>
      <p:sp>
        <p:nvSpPr>
          <p:cNvPr id="767" name="Google Shape;767;p22"/>
          <p:cNvSpPr txBox="1"/>
          <p:nvPr/>
        </p:nvSpPr>
        <p:spPr>
          <a:xfrm>
            <a:off x="566928" y="3383280"/>
            <a:ext cx="1883664" cy="1024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Execute immediately</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No approval required</a:t>
            </a:r>
            <a:endParaRPr/>
          </a:p>
        </p:txBody>
      </p:sp>
      <p:sp>
        <p:nvSpPr>
          <p:cNvPr id="768" name="Google Shape;768;p22"/>
          <p:cNvSpPr/>
          <p:nvPr/>
        </p:nvSpPr>
        <p:spPr>
          <a:xfrm>
            <a:off x="3017520" y="3072384"/>
            <a:ext cx="2029968" cy="1371600"/>
          </a:xfrm>
          <a:prstGeom prst="rect">
            <a:avLst/>
          </a:prstGeom>
          <a:solidFill>
            <a:srgbClr val="080C2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9" name="Google Shape;769;p22"/>
          <p:cNvSpPr/>
          <p:nvPr/>
        </p:nvSpPr>
        <p:spPr>
          <a:xfrm>
            <a:off x="3017520" y="3072384"/>
            <a:ext cx="2029968"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0" name="Google Shape;770;p22"/>
          <p:cNvSpPr txBox="1"/>
          <p:nvPr/>
        </p:nvSpPr>
        <p:spPr>
          <a:xfrm>
            <a:off x="3017520" y="3099816"/>
            <a:ext cx="2029968"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MED</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Active Enumeration</a:t>
            </a:r>
            <a:endParaRPr/>
          </a:p>
        </p:txBody>
      </p:sp>
      <p:sp>
        <p:nvSpPr>
          <p:cNvPr id="771" name="Google Shape;771;p22"/>
          <p:cNvSpPr txBox="1"/>
          <p:nvPr/>
        </p:nvSpPr>
        <p:spPr>
          <a:xfrm>
            <a:off x="3108960" y="3383280"/>
            <a:ext cx="1883664" cy="1024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LLM Permission Classifier</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  Fast Filter → CoT → APPROVE/MODIFY/REJECT</a:t>
            </a:r>
            <a:endParaRPr/>
          </a:p>
        </p:txBody>
      </p:sp>
      <p:sp>
        <p:nvSpPr>
          <p:cNvPr id="772" name="Google Shape;772;p22"/>
          <p:cNvSpPr/>
          <p:nvPr/>
        </p:nvSpPr>
        <p:spPr>
          <a:xfrm>
            <a:off x="5559552" y="3072384"/>
            <a:ext cx="2029968" cy="1371600"/>
          </a:xfrm>
          <a:prstGeom prst="rect">
            <a:avLst/>
          </a:prstGeom>
          <a:solidFill>
            <a:srgbClr val="080C22"/>
          </a:solidFill>
          <a:ln cap="flat" cmpd="sng" w="203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3" name="Google Shape;773;p22"/>
          <p:cNvSpPr/>
          <p:nvPr/>
        </p:nvSpPr>
        <p:spPr>
          <a:xfrm>
            <a:off x="5559552" y="3072384"/>
            <a:ext cx="2029968" cy="25603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4" name="Google Shape;774;p22"/>
          <p:cNvSpPr txBox="1"/>
          <p:nvPr/>
        </p:nvSpPr>
        <p:spPr>
          <a:xfrm>
            <a:off x="5559552" y="3099816"/>
            <a:ext cx="2029968"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HIGH</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Exploit Operations</a:t>
            </a:r>
            <a:endParaRPr/>
          </a:p>
        </p:txBody>
      </p:sp>
      <p:sp>
        <p:nvSpPr>
          <p:cNvPr id="775" name="Google Shape;775;p22"/>
          <p:cNvSpPr txBox="1"/>
          <p:nvPr/>
        </p:nvSpPr>
        <p:spPr>
          <a:xfrm>
            <a:off x="5650992" y="3383280"/>
            <a:ext cx="1883664" cy="1024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Commander Mailbox</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  Human-in-the-loop APPROVE / REJECT</a:t>
            </a:r>
            <a:endParaRPr/>
          </a:p>
        </p:txBody>
      </p:sp>
      <p:cxnSp>
        <p:nvCxnSpPr>
          <p:cNvPr id="776" name="Google Shape;776;p22"/>
          <p:cNvCxnSpPr/>
          <p:nvPr/>
        </p:nvCxnSpPr>
        <p:spPr>
          <a:xfrm>
            <a:off x="0" y="4443984"/>
            <a:ext cx="0" cy="146304"/>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777" name="Google Shape;777;p22"/>
          <p:cNvSpPr/>
          <p:nvPr/>
        </p:nvSpPr>
        <p:spPr>
          <a:xfrm>
            <a:off x="475488" y="4590288"/>
            <a:ext cx="2029968"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8" name="Google Shape;778;p22"/>
          <p:cNvSpPr txBox="1"/>
          <p:nvPr/>
        </p:nvSpPr>
        <p:spPr>
          <a:xfrm>
            <a:off x="475488" y="4626864"/>
            <a:ext cx="2029968"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EXECUTE</a:t>
            </a:r>
            <a:endParaRPr/>
          </a:p>
        </p:txBody>
      </p:sp>
      <p:cxnSp>
        <p:nvCxnSpPr>
          <p:cNvPr id="779" name="Google Shape;779;p22"/>
          <p:cNvCxnSpPr/>
          <p:nvPr/>
        </p:nvCxnSpPr>
        <p:spPr>
          <a:xfrm>
            <a:off x="0" y="4443984"/>
            <a:ext cx="0" cy="146304"/>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780" name="Google Shape;780;p22"/>
          <p:cNvSpPr/>
          <p:nvPr/>
        </p:nvSpPr>
        <p:spPr>
          <a:xfrm>
            <a:off x="3017520" y="4590288"/>
            <a:ext cx="2029968"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1" name="Google Shape;781;p22"/>
          <p:cNvSpPr txBox="1"/>
          <p:nvPr/>
        </p:nvSpPr>
        <p:spPr>
          <a:xfrm>
            <a:off x="3017520" y="4626864"/>
            <a:ext cx="2029968"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EXECUTE / MODIFY / REJECT</a:t>
            </a:r>
            <a:endParaRPr/>
          </a:p>
        </p:txBody>
      </p:sp>
      <p:cxnSp>
        <p:nvCxnSpPr>
          <p:cNvPr id="782" name="Google Shape;782;p22"/>
          <p:cNvCxnSpPr/>
          <p:nvPr/>
        </p:nvCxnSpPr>
        <p:spPr>
          <a:xfrm>
            <a:off x="0" y="4443984"/>
            <a:ext cx="0" cy="146304"/>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783" name="Google Shape;783;p22"/>
          <p:cNvSpPr/>
          <p:nvPr/>
        </p:nvSpPr>
        <p:spPr>
          <a:xfrm>
            <a:off x="5559552" y="4590288"/>
            <a:ext cx="2029968" cy="27432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4" name="Google Shape;784;p22"/>
          <p:cNvSpPr txBox="1"/>
          <p:nvPr/>
        </p:nvSpPr>
        <p:spPr>
          <a:xfrm>
            <a:off x="5559552" y="4626864"/>
            <a:ext cx="2029968"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APPROVE / REJECT</a:t>
            </a:r>
            <a:endParaRPr/>
          </a:p>
        </p:txBody>
      </p:sp>
      <p:sp>
        <p:nvSpPr>
          <p:cNvPr id="785" name="Google Shape;785;p22"/>
          <p:cNvSpPr/>
          <p:nvPr/>
        </p:nvSpPr>
        <p:spPr>
          <a:xfrm>
            <a:off x="475488" y="4910328"/>
            <a:ext cx="6949439" cy="384048"/>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6" name="Google Shape;786;p22"/>
          <p:cNvSpPr txBox="1"/>
          <p:nvPr/>
        </p:nvSpPr>
        <p:spPr>
          <a:xfrm>
            <a:off x="566928" y="4946904"/>
            <a:ext cx="6839711"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A0AAB8"/>
                </a:solidFill>
                <a:latin typeface="Calibri"/>
                <a:ea typeface="Calibri"/>
                <a:cs typeface="Calibri"/>
                <a:sym typeface="Calibri"/>
              </a:rPr>
              <a:t>REJECT outcome:  Tool call cancelled.  Failure reason annotated to ASG Vulnerability node (not the APG). Commander re-reads ASG on next cycle.</a:t>
            </a:r>
            <a:endParaRPr/>
          </a:p>
        </p:txBody>
      </p:sp>
      <p:sp>
        <p:nvSpPr>
          <p:cNvPr id="787" name="Google Shape;787;p22"/>
          <p:cNvSpPr/>
          <p:nvPr/>
        </p:nvSpPr>
        <p:spPr>
          <a:xfrm>
            <a:off x="475488" y="5367528"/>
            <a:ext cx="6949439" cy="256032"/>
          </a:xfrm>
          <a:prstGeom prst="rect">
            <a:avLst/>
          </a:prstGeom>
          <a:solidFill>
            <a:srgbClr val="100A22"/>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8" name="Google Shape;788;p22"/>
          <p:cNvSpPr txBox="1"/>
          <p:nvPr/>
        </p:nvSpPr>
        <p:spPr>
          <a:xfrm>
            <a:off x="566928" y="5404104"/>
            <a:ext cx="6839711"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BD93F9"/>
                </a:solidFill>
                <a:latin typeface="Calibri"/>
                <a:ea typeface="Calibri"/>
                <a:cs typeface="Calibri"/>
                <a:sym typeface="Calibri"/>
              </a:rPr>
              <a:t>Lifecycle Hooks (all 6):  PreToolUse  ·  PostToolUse  ·  PreAgentSpawn  ·  PostAgentReturn  ·  PreAPGUpdate  ·  PostMissionTerminate</a:t>
            </a:r>
            <a:endParaRPr/>
          </a:p>
        </p:txBody>
      </p:sp>
      <p:sp>
        <p:nvSpPr>
          <p:cNvPr id="789" name="Google Shape;789;p22"/>
          <p:cNvSpPr/>
          <p:nvPr/>
        </p:nvSpPr>
        <p:spPr>
          <a:xfrm>
            <a:off x="7827263" y="896112"/>
            <a:ext cx="4163264" cy="5705856"/>
          </a:xfrm>
          <a:prstGeom prst="rect">
            <a:avLst/>
          </a:prstGeom>
          <a:solidFill>
            <a:srgbClr val="060818"/>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0" name="Google Shape;790;p22"/>
          <p:cNvSpPr/>
          <p:nvPr/>
        </p:nvSpPr>
        <p:spPr>
          <a:xfrm>
            <a:off x="7827263" y="896112"/>
            <a:ext cx="4163264" cy="25603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1" name="Google Shape;791;p22"/>
          <p:cNvSpPr txBox="1"/>
          <p:nvPr/>
        </p:nvSpPr>
        <p:spPr>
          <a:xfrm>
            <a:off x="7827263" y="932688"/>
            <a:ext cx="4163264"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TOOL RISK TIERS</a:t>
            </a:r>
            <a:endParaRPr/>
          </a:p>
        </p:txBody>
      </p:sp>
      <p:sp>
        <p:nvSpPr>
          <p:cNvPr id="792" name="Google Shape;792;p22"/>
          <p:cNvSpPr/>
          <p:nvPr/>
        </p:nvSpPr>
        <p:spPr>
          <a:xfrm>
            <a:off x="7918703" y="1188720"/>
            <a:ext cx="3980384" cy="1749552"/>
          </a:xfrm>
          <a:prstGeom prst="rect">
            <a:avLst/>
          </a:prstGeom>
          <a:solidFill>
            <a:srgbClr val="0C0A1E"/>
          </a:solidFill>
          <a:ln cap="flat" cmpd="sng" w="114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3" name="Google Shape;793;p22"/>
          <p:cNvSpPr/>
          <p:nvPr/>
        </p:nvSpPr>
        <p:spPr>
          <a:xfrm>
            <a:off x="7918703" y="1188720"/>
            <a:ext cx="3980384" cy="23774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4" name="Google Shape;794;p22"/>
          <p:cNvSpPr txBox="1"/>
          <p:nvPr/>
        </p:nvSpPr>
        <p:spPr>
          <a:xfrm>
            <a:off x="7991855" y="1216152"/>
            <a:ext cx="3888944"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0A0D1A"/>
                </a:solidFill>
                <a:latin typeface="Calibri"/>
                <a:ea typeface="Calibri"/>
                <a:cs typeface="Calibri"/>
                <a:sym typeface="Calibri"/>
              </a:rPr>
              <a:t>LOW — Passive</a:t>
            </a:r>
            <a:endParaRPr/>
          </a:p>
        </p:txBody>
      </p:sp>
      <p:sp>
        <p:nvSpPr>
          <p:cNvPr id="795" name="Google Shape;795;p22"/>
          <p:cNvSpPr txBox="1"/>
          <p:nvPr/>
        </p:nvSpPr>
        <p:spPr>
          <a:xfrm>
            <a:off x="7991855" y="1481328"/>
            <a:ext cx="3888944" cy="14569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 Amass</a:t>
            </a:r>
            <a:br>
              <a:rPr b="0" i="0" lang="en-US" sz="900">
                <a:solidFill>
                  <a:srgbClr val="39FF14"/>
                </a:solidFill>
                <a:latin typeface="Calibri"/>
                <a:ea typeface="Calibri"/>
                <a:cs typeface="Calibri"/>
                <a:sym typeface="Calibri"/>
              </a:rPr>
            </a:br>
            <a:r>
              <a:rPr b="0" i="0" lang="en-US" sz="900">
                <a:solidFill>
                  <a:srgbClr val="39FF14"/>
                </a:solidFill>
                <a:latin typeface="Calibri"/>
                <a:ea typeface="Calibri"/>
                <a:cs typeface="Calibri"/>
                <a:sym typeface="Calibri"/>
              </a:rPr>
              <a:t>• httpx</a:t>
            </a:r>
            <a:br>
              <a:rPr b="0" i="0" lang="en-US" sz="900">
                <a:solidFill>
                  <a:srgbClr val="39FF14"/>
                </a:solidFill>
                <a:latin typeface="Calibri"/>
                <a:ea typeface="Calibri"/>
                <a:cs typeface="Calibri"/>
                <a:sym typeface="Calibri"/>
              </a:rPr>
            </a:br>
            <a:r>
              <a:rPr b="0" i="0" lang="en-US" sz="900">
                <a:solidFill>
                  <a:srgbClr val="39FF14"/>
                </a:solidFill>
                <a:latin typeface="Calibri"/>
                <a:ea typeface="Calibri"/>
                <a:cs typeface="Calibri"/>
                <a:sym typeface="Calibri"/>
              </a:rPr>
              <a:t>• WhatWeb</a:t>
            </a:r>
            <a:br>
              <a:rPr b="0" i="0" lang="en-US" sz="900">
                <a:solidFill>
                  <a:srgbClr val="39FF14"/>
                </a:solidFill>
                <a:latin typeface="Calibri"/>
                <a:ea typeface="Calibri"/>
                <a:cs typeface="Calibri"/>
                <a:sym typeface="Calibri"/>
              </a:rPr>
            </a:br>
            <a:r>
              <a:rPr b="0" i="0" lang="en-US" sz="900">
                <a:solidFill>
                  <a:srgbClr val="39FF14"/>
                </a:solidFill>
                <a:latin typeface="Calibri"/>
                <a:ea typeface="Calibri"/>
                <a:cs typeface="Calibri"/>
                <a:sym typeface="Calibri"/>
              </a:rPr>
              <a:t>• EyeWitness</a:t>
            </a:r>
            <a:endParaRPr/>
          </a:p>
        </p:txBody>
      </p:sp>
      <p:sp>
        <p:nvSpPr>
          <p:cNvPr id="796" name="Google Shape;796;p22"/>
          <p:cNvSpPr/>
          <p:nvPr/>
        </p:nvSpPr>
        <p:spPr>
          <a:xfrm>
            <a:off x="7918703" y="2993136"/>
            <a:ext cx="3980384" cy="1749552"/>
          </a:xfrm>
          <a:prstGeom prst="rect">
            <a:avLst/>
          </a:prstGeom>
          <a:solidFill>
            <a:srgbClr val="0C0A1E"/>
          </a:solidFill>
          <a:ln cap="flat" cmpd="sng" w="114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7" name="Google Shape;797;p22"/>
          <p:cNvSpPr/>
          <p:nvPr/>
        </p:nvSpPr>
        <p:spPr>
          <a:xfrm>
            <a:off x="7918703" y="2993136"/>
            <a:ext cx="3980384" cy="23774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8" name="Google Shape;798;p22"/>
          <p:cNvSpPr txBox="1"/>
          <p:nvPr/>
        </p:nvSpPr>
        <p:spPr>
          <a:xfrm>
            <a:off x="7991855" y="3020568"/>
            <a:ext cx="3888944"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0A0D1A"/>
                </a:solidFill>
                <a:latin typeface="Calibri"/>
                <a:ea typeface="Calibri"/>
                <a:cs typeface="Calibri"/>
                <a:sym typeface="Calibri"/>
              </a:rPr>
              <a:t>MED — Active</a:t>
            </a:r>
            <a:endParaRPr/>
          </a:p>
        </p:txBody>
      </p:sp>
      <p:sp>
        <p:nvSpPr>
          <p:cNvPr id="799" name="Google Shape;799;p22"/>
          <p:cNvSpPr txBox="1"/>
          <p:nvPr/>
        </p:nvSpPr>
        <p:spPr>
          <a:xfrm>
            <a:off x="7991855" y="3285744"/>
            <a:ext cx="3888944" cy="14569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FFD700"/>
                </a:solidFill>
                <a:latin typeface="Calibri"/>
                <a:ea typeface="Calibri"/>
                <a:cs typeface="Calibri"/>
                <a:sym typeface="Calibri"/>
              </a:rPr>
              <a:t>• Nmap</a:t>
            </a:r>
            <a:br>
              <a:rPr b="0" i="0" lang="en-US" sz="900">
                <a:solidFill>
                  <a:srgbClr val="FFD700"/>
                </a:solidFill>
                <a:latin typeface="Calibri"/>
                <a:ea typeface="Calibri"/>
                <a:cs typeface="Calibri"/>
                <a:sym typeface="Calibri"/>
              </a:rPr>
            </a:br>
            <a:r>
              <a:rPr b="0" i="0" lang="en-US" sz="900">
                <a:solidFill>
                  <a:srgbClr val="FFD700"/>
                </a:solidFill>
                <a:latin typeface="Calibri"/>
                <a:ea typeface="Calibri"/>
                <a:cs typeface="Calibri"/>
                <a:sym typeface="Calibri"/>
              </a:rPr>
              <a:t>• Gobuster</a:t>
            </a:r>
            <a:br>
              <a:rPr b="0" i="0" lang="en-US" sz="900">
                <a:solidFill>
                  <a:srgbClr val="FFD700"/>
                </a:solidFill>
                <a:latin typeface="Calibri"/>
                <a:ea typeface="Calibri"/>
                <a:cs typeface="Calibri"/>
                <a:sym typeface="Calibri"/>
              </a:rPr>
            </a:br>
            <a:r>
              <a:rPr b="0" i="0" lang="en-US" sz="900">
                <a:solidFill>
                  <a:srgbClr val="FFD700"/>
                </a:solidFill>
                <a:latin typeface="Calibri"/>
                <a:ea typeface="Calibri"/>
                <a:cs typeface="Calibri"/>
                <a:sym typeface="Calibri"/>
              </a:rPr>
              <a:t>• ffuf</a:t>
            </a:r>
            <a:br>
              <a:rPr b="0" i="0" lang="en-US" sz="900">
                <a:solidFill>
                  <a:srgbClr val="FFD700"/>
                </a:solidFill>
                <a:latin typeface="Calibri"/>
                <a:ea typeface="Calibri"/>
                <a:cs typeface="Calibri"/>
                <a:sym typeface="Calibri"/>
              </a:rPr>
            </a:br>
            <a:r>
              <a:rPr b="0" i="0" lang="en-US" sz="900">
                <a:solidFill>
                  <a:srgbClr val="FFD700"/>
                </a:solidFill>
                <a:latin typeface="Calibri"/>
                <a:ea typeface="Calibri"/>
                <a:cs typeface="Calibri"/>
                <a:sym typeface="Calibri"/>
              </a:rPr>
              <a:t>• Nuclei</a:t>
            </a:r>
            <a:br>
              <a:rPr b="0" i="0" lang="en-US" sz="900">
                <a:solidFill>
                  <a:srgbClr val="FFD700"/>
                </a:solidFill>
                <a:latin typeface="Calibri"/>
                <a:ea typeface="Calibri"/>
                <a:cs typeface="Calibri"/>
                <a:sym typeface="Calibri"/>
              </a:rPr>
            </a:br>
            <a:r>
              <a:rPr b="0" i="0" lang="en-US" sz="900">
                <a:solidFill>
                  <a:srgbClr val="FFD700"/>
                </a:solidFill>
                <a:latin typeface="Calibri"/>
                <a:ea typeface="Calibri"/>
                <a:cs typeface="Calibri"/>
                <a:sym typeface="Calibri"/>
              </a:rPr>
              <a:t>• OWASP ZAP</a:t>
            </a:r>
            <a:endParaRPr/>
          </a:p>
        </p:txBody>
      </p:sp>
      <p:sp>
        <p:nvSpPr>
          <p:cNvPr id="800" name="Google Shape;800;p22"/>
          <p:cNvSpPr/>
          <p:nvPr/>
        </p:nvSpPr>
        <p:spPr>
          <a:xfrm>
            <a:off x="7918703" y="4797552"/>
            <a:ext cx="3980384" cy="1749552"/>
          </a:xfrm>
          <a:prstGeom prst="rect">
            <a:avLst/>
          </a:prstGeom>
          <a:solidFill>
            <a:srgbClr val="0C0A1E"/>
          </a:solidFill>
          <a:ln cap="flat" cmpd="sng" w="114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1" name="Google Shape;801;p22"/>
          <p:cNvSpPr/>
          <p:nvPr/>
        </p:nvSpPr>
        <p:spPr>
          <a:xfrm>
            <a:off x="7918703" y="4797552"/>
            <a:ext cx="3980384" cy="23774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2" name="Google Shape;802;p22"/>
          <p:cNvSpPr txBox="1"/>
          <p:nvPr/>
        </p:nvSpPr>
        <p:spPr>
          <a:xfrm>
            <a:off x="7991855" y="4824984"/>
            <a:ext cx="3888944"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0A0D1A"/>
                </a:solidFill>
                <a:latin typeface="Calibri"/>
                <a:ea typeface="Calibri"/>
                <a:cs typeface="Calibri"/>
                <a:sym typeface="Calibri"/>
              </a:rPr>
              <a:t>HIGH — Exploit</a:t>
            </a:r>
            <a:endParaRPr/>
          </a:p>
        </p:txBody>
      </p:sp>
      <p:sp>
        <p:nvSpPr>
          <p:cNvPr id="803" name="Google Shape;803;p22"/>
          <p:cNvSpPr txBox="1"/>
          <p:nvPr/>
        </p:nvSpPr>
        <p:spPr>
          <a:xfrm>
            <a:off x="7991855" y="5090160"/>
            <a:ext cx="3888944" cy="14569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FF4545"/>
                </a:solidFill>
                <a:latin typeface="Calibri"/>
                <a:ea typeface="Calibri"/>
                <a:cs typeface="Calibri"/>
                <a:sym typeface="Calibri"/>
              </a:rPr>
              <a:t>• SQLMap</a:t>
            </a:r>
            <a:br>
              <a:rPr b="0" i="0" lang="en-US" sz="900">
                <a:solidFill>
                  <a:srgbClr val="FF4545"/>
                </a:solidFill>
                <a:latin typeface="Calibri"/>
                <a:ea typeface="Calibri"/>
                <a:cs typeface="Calibri"/>
                <a:sym typeface="Calibri"/>
              </a:rPr>
            </a:br>
            <a:r>
              <a:rPr b="0" i="0" lang="en-US" sz="900">
                <a:solidFill>
                  <a:srgbClr val="FF4545"/>
                </a:solidFill>
                <a:latin typeface="Calibri"/>
                <a:ea typeface="Calibri"/>
                <a:cs typeface="Calibri"/>
                <a:sym typeface="Calibri"/>
              </a:rPr>
              <a:t>• Metasploit</a:t>
            </a:r>
            <a:endParaRPr/>
          </a:p>
        </p:txBody>
      </p:sp>
      <p:sp>
        <p:nvSpPr>
          <p:cNvPr id="804" name="Google Shape;804;p22"/>
          <p:cNvSpPr txBox="1"/>
          <p:nvPr/>
        </p:nvSpPr>
        <p:spPr>
          <a:xfrm>
            <a:off x="11794729" y="-217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08" name="Shape 808"/>
        <p:cNvGrpSpPr/>
        <p:nvPr/>
      </p:nvGrpSpPr>
      <p:grpSpPr>
        <a:xfrm>
          <a:off x="0" y="0"/>
          <a:ext cx="0" cy="0"/>
          <a:chOff x="0" y="0"/>
          <a:chExt cx="0" cy="0"/>
        </a:xfrm>
      </p:grpSpPr>
      <p:sp>
        <p:nvSpPr>
          <p:cNvPr id="809" name="Google Shape;809;p2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0" name="Google Shape;810;p23"/>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1" name="Google Shape;811;p2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2" name="Google Shape;812;p23"/>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AUTONOMOUS PLANNING CYCLE</a:t>
            </a:r>
            <a:endParaRPr/>
          </a:p>
        </p:txBody>
      </p:sp>
      <p:sp>
        <p:nvSpPr>
          <p:cNvPr id="813" name="Google Shape;813;p23"/>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Commander Loop — Graph-Driven Re-Planning on Every Cycle</a:t>
            </a:r>
            <a:endParaRPr/>
          </a:p>
        </p:txBody>
      </p:sp>
      <p:sp>
        <p:nvSpPr>
          <p:cNvPr id="814" name="Google Shape;814;p23"/>
          <p:cNvSpPr/>
          <p:nvPr/>
        </p:nvSpPr>
        <p:spPr>
          <a:xfrm>
            <a:off x="201168" y="896112"/>
            <a:ext cx="7315200" cy="5705856"/>
          </a:xfrm>
          <a:prstGeom prst="rect">
            <a:avLst/>
          </a:prstGeom>
          <a:solidFill>
            <a:srgbClr val="040A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5" name="Google Shape;815;p23"/>
          <p:cNvSpPr txBox="1"/>
          <p:nvPr/>
        </p:nvSpPr>
        <p:spPr>
          <a:xfrm>
            <a:off x="292608" y="941832"/>
            <a:ext cx="71323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00E5FF"/>
                </a:solidFill>
                <a:latin typeface="Calibri"/>
                <a:ea typeface="Calibri"/>
                <a:cs typeface="Calibri"/>
                <a:sym typeface="Calibri"/>
              </a:rPr>
              <a:t>COMMANDER PLANNING LOOP (executed on every cycle)</a:t>
            </a:r>
            <a:endParaRPr/>
          </a:p>
        </p:txBody>
      </p:sp>
      <p:sp>
        <p:nvSpPr>
          <p:cNvPr id="816" name="Google Shape;816;p23"/>
          <p:cNvSpPr/>
          <p:nvPr/>
        </p:nvSpPr>
        <p:spPr>
          <a:xfrm>
            <a:off x="402336" y="1152144"/>
            <a:ext cx="6912864" cy="715844"/>
          </a:xfrm>
          <a:prstGeom prst="rect">
            <a:avLst/>
          </a:prstGeom>
          <a:solidFill>
            <a:srgbClr val="04180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7" name="Google Shape;817;p23"/>
          <p:cNvSpPr/>
          <p:nvPr/>
        </p:nvSpPr>
        <p:spPr>
          <a:xfrm>
            <a:off x="402336" y="1152144"/>
            <a:ext cx="1005840" cy="71584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8" name="Google Shape;818;p23"/>
          <p:cNvSpPr txBox="1"/>
          <p:nvPr/>
        </p:nvSpPr>
        <p:spPr>
          <a:xfrm>
            <a:off x="402336" y="1197864"/>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1  READ</a:t>
            </a:r>
            <a:endParaRPr/>
          </a:p>
        </p:txBody>
      </p:sp>
      <p:sp>
        <p:nvSpPr>
          <p:cNvPr id="819" name="Google Shape;819;p23"/>
          <p:cNvSpPr txBox="1"/>
          <p:nvPr/>
        </p:nvSpPr>
        <p:spPr>
          <a:xfrm>
            <a:off x="1463040" y="1197864"/>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Read full ASG node state + APG chain priorities</a:t>
            </a:r>
            <a:endParaRPr/>
          </a:p>
        </p:txBody>
      </p:sp>
      <p:cxnSp>
        <p:nvCxnSpPr>
          <p:cNvPr id="820" name="Google Shape;820;p23"/>
          <p:cNvCxnSpPr/>
          <p:nvPr/>
        </p:nvCxnSpPr>
        <p:spPr>
          <a:xfrm>
            <a:off x="0" y="0"/>
            <a:ext cx="0" cy="0"/>
          </a:xfrm>
          <a:prstGeom prst="straightConnector1">
            <a:avLst/>
          </a:prstGeom>
          <a:noFill/>
          <a:ln cap="flat" cmpd="sng" w="1777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821" name="Google Shape;821;p23"/>
          <p:cNvSpPr/>
          <p:nvPr/>
        </p:nvSpPr>
        <p:spPr>
          <a:xfrm>
            <a:off x="402336" y="1922852"/>
            <a:ext cx="6912864" cy="715844"/>
          </a:xfrm>
          <a:prstGeom prst="rect">
            <a:avLst/>
          </a:prstGeom>
          <a:solidFill>
            <a:srgbClr val="041220"/>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2" name="Google Shape;822;p23"/>
          <p:cNvSpPr/>
          <p:nvPr/>
        </p:nvSpPr>
        <p:spPr>
          <a:xfrm>
            <a:off x="402336" y="1922852"/>
            <a:ext cx="1005840" cy="71584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3" name="Google Shape;823;p23"/>
          <p:cNvSpPr txBox="1"/>
          <p:nvPr/>
        </p:nvSpPr>
        <p:spPr>
          <a:xfrm>
            <a:off x="402336" y="1968572"/>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2  TERMINATE?</a:t>
            </a:r>
            <a:endParaRPr/>
          </a:p>
        </p:txBody>
      </p:sp>
      <p:sp>
        <p:nvSpPr>
          <p:cNvPr id="824" name="Google Shape;824;p23"/>
          <p:cNvSpPr txBox="1"/>
          <p:nvPr/>
        </p:nvSpPr>
        <p:spPr>
          <a:xfrm>
            <a:off x="1463040" y="1968572"/>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Both conditions met?  ASG exhausted + all APG chains resolved → END</a:t>
            </a:r>
            <a:endParaRPr/>
          </a:p>
        </p:txBody>
      </p:sp>
      <p:cxnSp>
        <p:nvCxnSpPr>
          <p:cNvPr id="825" name="Google Shape;825;p23"/>
          <p:cNvCxnSpPr/>
          <p:nvPr/>
        </p:nvCxnSpPr>
        <p:spPr>
          <a:xfrm>
            <a:off x="0" y="0"/>
            <a:ext cx="0" cy="0"/>
          </a:xfrm>
          <a:prstGeom prst="straightConnector1">
            <a:avLst/>
          </a:prstGeom>
          <a:noFill/>
          <a:ln cap="flat" cmpd="sng" w="1777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826" name="Google Shape;826;p23"/>
          <p:cNvSpPr/>
          <p:nvPr/>
        </p:nvSpPr>
        <p:spPr>
          <a:xfrm>
            <a:off x="402336" y="2693561"/>
            <a:ext cx="6912864" cy="715844"/>
          </a:xfrm>
          <a:prstGeom prst="rect">
            <a:avLst/>
          </a:prstGeom>
          <a:solidFill>
            <a:srgbClr val="18120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7" name="Google Shape;827;p23"/>
          <p:cNvSpPr/>
          <p:nvPr/>
        </p:nvSpPr>
        <p:spPr>
          <a:xfrm>
            <a:off x="402336" y="2693561"/>
            <a:ext cx="1005840" cy="71584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8" name="Google Shape;828;p23"/>
          <p:cNvSpPr txBox="1"/>
          <p:nvPr/>
        </p:nvSpPr>
        <p:spPr>
          <a:xfrm>
            <a:off x="402336" y="2739281"/>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3  CYCLE GUARD</a:t>
            </a:r>
            <a:endParaRPr/>
          </a:p>
        </p:txBody>
      </p:sp>
      <p:sp>
        <p:nvSpPr>
          <p:cNvPr id="829" name="Google Shape;829;p23"/>
          <p:cNvSpPr txBox="1"/>
          <p:nvPr/>
        </p:nvSpPr>
        <p:spPr>
          <a:xfrm>
            <a:off x="1463040" y="2739281"/>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Detect repeated identical tool call sequences → flag as fixation</a:t>
            </a:r>
            <a:endParaRPr/>
          </a:p>
        </p:txBody>
      </p:sp>
      <p:cxnSp>
        <p:nvCxnSpPr>
          <p:cNvPr id="830" name="Google Shape;830;p23"/>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831" name="Google Shape;831;p23"/>
          <p:cNvSpPr/>
          <p:nvPr/>
        </p:nvSpPr>
        <p:spPr>
          <a:xfrm>
            <a:off x="402336" y="3464269"/>
            <a:ext cx="6912864" cy="715844"/>
          </a:xfrm>
          <a:prstGeom prst="rect">
            <a:avLst/>
          </a:prstGeom>
          <a:solidFill>
            <a:srgbClr val="1006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2" name="Google Shape;832;p23"/>
          <p:cNvSpPr/>
          <p:nvPr/>
        </p:nvSpPr>
        <p:spPr>
          <a:xfrm>
            <a:off x="402336" y="3464269"/>
            <a:ext cx="1005840" cy="715844"/>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3" name="Google Shape;833;p23"/>
          <p:cNvSpPr txBox="1"/>
          <p:nvPr/>
        </p:nvSpPr>
        <p:spPr>
          <a:xfrm>
            <a:off x="402336" y="3509989"/>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4  PLAN</a:t>
            </a:r>
            <a:endParaRPr/>
          </a:p>
        </p:txBody>
      </p:sp>
      <p:sp>
        <p:nvSpPr>
          <p:cNvPr id="834" name="Google Shape;834;p23"/>
          <p:cNvSpPr txBox="1"/>
          <p:nvPr/>
        </p:nvSpPr>
        <p:spPr>
          <a:xfrm>
            <a:off x="1463040" y="3509989"/>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Select highest-priority HYPOTHESIZED chain · decide next ChainStep · choose agent</a:t>
            </a:r>
            <a:endParaRPr/>
          </a:p>
        </p:txBody>
      </p:sp>
      <p:cxnSp>
        <p:nvCxnSpPr>
          <p:cNvPr id="835" name="Google Shape;835;p23"/>
          <p:cNvCxnSpPr/>
          <p:nvPr/>
        </p:nvCxnSpPr>
        <p:spPr>
          <a:xfrm>
            <a:off x="0" y="0"/>
            <a:ext cx="0" cy="0"/>
          </a:xfrm>
          <a:prstGeom prst="straightConnector1">
            <a:avLst/>
          </a:prstGeom>
          <a:noFill/>
          <a:ln cap="flat" cmpd="sng" w="1777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836" name="Google Shape;836;p23"/>
          <p:cNvSpPr/>
          <p:nvPr/>
        </p:nvSpPr>
        <p:spPr>
          <a:xfrm>
            <a:off x="402336" y="4234978"/>
            <a:ext cx="6912864" cy="715844"/>
          </a:xfrm>
          <a:prstGeom prst="rect">
            <a:avLst/>
          </a:prstGeom>
          <a:solidFill>
            <a:srgbClr val="04180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7" name="Google Shape;837;p23"/>
          <p:cNvSpPr/>
          <p:nvPr/>
        </p:nvSpPr>
        <p:spPr>
          <a:xfrm>
            <a:off x="402336" y="4234978"/>
            <a:ext cx="1005840" cy="71584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8" name="Google Shape;838;p23"/>
          <p:cNvSpPr txBox="1"/>
          <p:nvPr/>
        </p:nvSpPr>
        <p:spPr>
          <a:xfrm>
            <a:off x="402336" y="4280698"/>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5  DISPATCH</a:t>
            </a:r>
            <a:endParaRPr/>
          </a:p>
        </p:txBody>
      </p:sp>
      <p:sp>
        <p:nvSpPr>
          <p:cNvPr id="839" name="Google Shape;839;p23"/>
          <p:cNvSpPr txBox="1"/>
          <p:nvPr/>
        </p:nvSpPr>
        <p:spPr>
          <a:xfrm>
            <a:off x="1463040" y="4280698"/>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Spawn agent with scoped context (ASG slice + APG slice + task)</a:t>
            </a:r>
            <a:endParaRPr/>
          </a:p>
        </p:txBody>
      </p:sp>
      <p:cxnSp>
        <p:nvCxnSpPr>
          <p:cNvPr id="840" name="Google Shape;840;p23"/>
          <p:cNvCxnSpPr/>
          <p:nvPr/>
        </p:nvCxnSpPr>
        <p:spPr>
          <a:xfrm>
            <a:off x="0" y="0"/>
            <a:ext cx="0" cy="0"/>
          </a:xfrm>
          <a:prstGeom prst="straightConnector1">
            <a:avLst/>
          </a:prstGeom>
          <a:noFill/>
          <a:ln cap="flat" cmpd="sng" w="1777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841" name="Google Shape;841;p23"/>
          <p:cNvSpPr/>
          <p:nvPr/>
        </p:nvSpPr>
        <p:spPr>
          <a:xfrm>
            <a:off x="402336" y="5005686"/>
            <a:ext cx="6912864" cy="715844"/>
          </a:xfrm>
          <a:prstGeom prst="rect">
            <a:avLst/>
          </a:prstGeom>
          <a:solidFill>
            <a:srgbClr val="0414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2" name="Google Shape;842;p23"/>
          <p:cNvSpPr/>
          <p:nvPr/>
        </p:nvSpPr>
        <p:spPr>
          <a:xfrm>
            <a:off x="402336" y="5005686"/>
            <a:ext cx="1005840" cy="71584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3" name="Google Shape;843;p23"/>
          <p:cNvSpPr txBox="1"/>
          <p:nvPr/>
        </p:nvSpPr>
        <p:spPr>
          <a:xfrm>
            <a:off x="402336" y="5051406"/>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6  AWAIT DELTA</a:t>
            </a:r>
            <a:endParaRPr/>
          </a:p>
        </p:txBody>
      </p:sp>
      <p:sp>
        <p:nvSpPr>
          <p:cNvPr id="844" name="Google Shape;844;p23"/>
          <p:cNvSpPr txBox="1"/>
          <p:nvPr/>
        </p:nvSpPr>
        <p:spPr>
          <a:xfrm>
            <a:off x="1463040" y="5051406"/>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Receive ASG delta from returned agent · write new nodes + edges</a:t>
            </a:r>
            <a:endParaRPr/>
          </a:p>
        </p:txBody>
      </p:sp>
      <p:cxnSp>
        <p:nvCxnSpPr>
          <p:cNvPr id="845" name="Google Shape;845;p23"/>
          <p:cNvCxnSpPr/>
          <p:nvPr/>
        </p:nvCxnSpPr>
        <p:spPr>
          <a:xfrm>
            <a:off x="0" y="0"/>
            <a:ext cx="0" cy="0"/>
          </a:xfrm>
          <a:prstGeom prst="straightConnector1">
            <a:avLst/>
          </a:prstGeom>
          <a:noFill/>
          <a:ln cap="flat" cmpd="sng" w="1777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846" name="Google Shape;846;p23"/>
          <p:cNvSpPr/>
          <p:nvPr/>
        </p:nvSpPr>
        <p:spPr>
          <a:xfrm>
            <a:off x="402336" y="5776395"/>
            <a:ext cx="6912864" cy="715844"/>
          </a:xfrm>
          <a:prstGeom prst="rect">
            <a:avLst/>
          </a:prstGeom>
          <a:solidFill>
            <a:srgbClr val="1C120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7" name="Google Shape;847;p23"/>
          <p:cNvSpPr/>
          <p:nvPr/>
        </p:nvSpPr>
        <p:spPr>
          <a:xfrm>
            <a:off x="402336" y="5776395"/>
            <a:ext cx="1005840" cy="71584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8" name="Google Shape;848;p23"/>
          <p:cNvSpPr txBox="1"/>
          <p:nvPr/>
        </p:nvSpPr>
        <p:spPr>
          <a:xfrm>
            <a:off x="402336" y="5822115"/>
            <a:ext cx="1005840" cy="6426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7  APG UPDATE</a:t>
            </a:r>
            <a:endParaRPr/>
          </a:p>
        </p:txBody>
      </p:sp>
      <p:sp>
        <p:nvSpPr>
          <p:cNvPr id="849" name="Google Shape;849;p23"/>
          <p:cNvSpPr txBox="1"/>
          <p:nvPr/>
        </p:nvSpPr>
        <p:spPr>
          <a:xfrm>
            <a:off x="1463040" y="5822115"/>
            <a:ext cx="5779008" cy="6426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Re-evaluate chains: new Vulnerability node? → seed new AttackChain</a:t>
            </a:r>
            <a:endParaRPr/>
          </a:p>
        </p:txBody>
      </p:sp>
      <p:sp>
        <p:nvSpPr>
          <p:cNvPr id="850" name="Google Shape;850;p23"/>
          <p:cNvSpPr/>
          <p:nvPr/>
        </p:nvSpPr>
        <p:spPr>
          <a:xfrm>
            <a:off x="7242048" y="1152144"/>
            <a:ext cx="54864" cy="539496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851" name="Google Shape;851;p23"/>
          <p:cNvCxnSpPr/>
          <p:nvPr/>
        </p:nvCxnSpPr>
        <p:spPr>
          <a:xfrm rot="10800000">
            <a:off x="1408176" y="1152144"/>
            <a:ext cx="5833872" cy="0"/>
          </a:xfrm>
          <a:prstGeom prst="straightConnector1">
            <a:avLst/>
          </a:prstGeom>
          <a:noFill/>
          <a:ln cap="flat" cmpd="sng" w="1777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852" name="Google Shape;852;p23"/>
          <p:cNvSpPr txBox="1"/>
          <p:nvPr/>
        </p:nvSpPr>
        <p:spPr>
          <a:xfrm>
            <a:off x="7315200" y="1188720"/>
            <a:ext cx="731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50">
                <a:solidFill>
                  <a:srgbClr val="00E5FF"/>
                </a:solidFill>
                <a:latin typeface="Calibri"/>
                <a:ea typeface="Calibri"/>
                <a:cs typeface="Calibri"/>
                <a:sym typeface="Calibri"/>
              </a:rPr>
              <a:t>next cycle</a:t>
            </a:r>
            <a:endParaRPr/>
          </a:p>
        </p:txBody>
      </p:sp>
      <p:sp>
        <p:nvSpPr>
          <p:cNvPr id="853" name="Google Shape;853;p23"/>
          <p:cNvSpPr/>
          <p:nvPr/>
        </p:nvSpPr>
        <p:spPr>
          <a:xfrm>
            <a:off x="7644384" y="896112"/>
            <a:ext cx="4346143" cy="2624693"/>
          </a:xfrm>
          <a:prstGeom prst="rect">
            <a:avLst/>
          </a:prstGeom>
          <a:solidFill>
            <a:srgbClr val="18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4" name="Google Shape;854;p23"/>
          <p:cNvSpPr/>
          <p:nvPr/>
        </p:nvSpPr>
        <p:spPr>
          <a:xfrm>
            <a:off x="7644384" y="896112"/>
            <a:ext cx="4346143"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5" name="Google Shape;855;p23"/>
          <p:cNvSpPr txBox="1"/>
          <p:nvPr/>
        </p:nvSpPr>
        <p:spPr>
          <a:xfrm>
            <a:off x="7644384" y="932688"/>
            <a:ext cx="4346143"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CYCLE GUARD  (detection)</a:t>
            </a:r>
            <a:endParaRPr/>
          </a:p>
        </p:txBody>
      </p:sp>
      <p:sp>
        <p:nvSpPr>
          <p:cNvPr id="856" name="Google Shape;856;p23"/>
          <p:cNvSpPr/>
          <p:nvPr/>
        </p:nvSpPr>
        <p:spPr>
          <a:xfrm>
            <a:off x="7735824" y="1243584"/>
            <a:ext cx="4163263" cy="292608"/>
          </a:xfrm>
          <a:prstGeom prst="rect">
            <a:avLst/>
          </a:prstGeom>
          <a:solidFill>
            <a:srgbClr val="1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7" name="Google Shape;857;p23"/>
          <p:cNvSpPr txBox="1"/>
          <p:nvPr/>
        </p:nvSpPr>
        <p:spPr>
          <a:xfrm>
            <a:off x="7808976" y="1280160"/>
            <a:ext cx="4071823"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Monitors Commander's tool call history per cycle</a:t>
            </a:r>
            <a:endParaRPr/>
          </a:p>
        </p:txBody>
      </p:sp>
      <p:sp>
        <p:nvSpPr>
          <p:cNvPr id="858" name="Google Shape;858;p23"/>
          <p:cNvSpPr/>
          <p:nvPr/>
        </p:nvSpPr>
        <p:spPr>
          <a:xfrm>
            <a:off x="7735824" y="1591056"/>
            <a:ext cx="4163263" cy="292608"/>
          </a:xfrm>
          <a:prstGeom prst="rect">
            <a:avLst/>
          </a:prstGeom>
          <a:solidFill>
            <a:srgbClr val="1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9" name="Google Shape;859;p23"/>
          <p:cNvSpPr txBox="1"/>
          <p:nvPr/>
        </p:nvSpPr>
        <p:spPr>
          <a:xfrm>
            <a:off x="7808976" y="1627632"/>
            <a:ext cx="4071823"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If identical sequence repeats ≥ N times → fixation flag</a:t>
            </a:r>
            <a:endParaRPr/>
          </a:p>
        </p:txBody>
      </p:sp>
      <p:sp>
        <p:nvSpPr>
          <p:cNvPr id="860" name="Google Shape;860;p23"/>
          <p:cNvSpPr/>
          <p:nvPr/>
        </p:nvSpPr>
        <p:spPr>
          <a:xfrm>
            <a:off x="7735824" y="1938528"/>
            <a:ext cx="4163263" cy="292608"/>
          </a:xfrm>
          <a:prstGeom prst="rect">
            <a:avLst/>
          </a:prstGeom>
          <a:solidFill>
            <a:srgbClr val="1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1" name="Google Shape;861;p23"/>
          <p:cNvSpPr txBox="1"/>
          <p:nvPr/>
        </p:nvSpPr>
        <p:spPr>
          <a:xfrm>
            <a:off x="7808976" y="1975104"/>
            <a:ext cx="4071823"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Trigger: inject Reflector corrective prompt</a:t>
            </a:r>
            <a:endParaRPr/>
          </a:p>
        </p:txBody>
      </p:sp>
      <p:sp>
        <p:nvSpPr>
          <p:cNvPr id="862" name="Google Shape;862;p23"/>
          <p:cNvSpPr/>
          <p:nvPr/>
        </p:nvSpPr>
        <p:spPr>
          <a:xfrm>
            <a:off x="7735824" y="2286000"/>
            <a:ext cx="4163263" cy="292608"/>
          </a:xfrm>
          <a:prstGeom prst="rect">
            <a:avLst/>
          </a:prstGeom>
          <a:solidFill>
            <a:srgbClr val="1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3" name="Google Shape;863;p23"/>
          <p:cNvSpPr txBox="1"/>
          <p:nvPr/>
        </p:nvSpPr>
        <p:spPr>
          <a:xfrm>
            <a:off x="7808976" y="2322576"/>
            <a:ext cx="4071823"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Prevents infinite loops on stuck states</a:t>
            </a:r>
            <a:endParaRPr/>
          </a:p>
        </p:txBody>
      </p:sp>
      <p:sp>
        <p:nvSpPr>
          <p:cNvPr id="864" name="Google Shape;864;p23"/>
          <p:cNvSpPr/>
          <p:nvPr/>
        </p:nvSpPr>
        <p:spPr>
          <a:xfrm>
            <a:off x="7644384" y="3630533"/>
            <a:ext cx="4346143" cy="2971434"/>
          </a:xfrm>
          <a:prstGeom prst="rect">
            <a:avLst/>
          </a:prstGeom>
          <a:solidFill>
            <a:srgbClr val="0814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5" name="Google Shape;865;p23"/>
          <p:cNvSpPr/>
          <p:nvPr/>
        </p:nvSpPr>
        <p:spPr>
          <a:xfrm>
            <a:off x="7644384" y="3630533"/>
            <a:ext cx="4346143"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6" name="Google Shape;866;p23"/>
          <p:cNvSpPr txBox="1"/>
          <p:nvPr/>
        </p:nvSpPr>
        <p:spPr>
          <a:xfrm>
            <a:off x="7644384" y="3667109"/>
            <a:ext cx="4346143"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0A0D1A"/>
                </a:solidFill>
                <a:latin typeface="Calibri"/>
                <a:ea typeface="Calibri"/>
                <a:cs typeface="Calibri"/>
                <a:sym typeface="Calibri"/>
              </a:rPr>
              <a:t>REFLECTOR  (corrective — separate from Cycle Guard)</a:t>
            </a:r>
            <a:endParaRPr/>
          </a:p>
        </p:txBody>
      </p:sp>
      <p:sp>
        <p:nvSpPr>
          <p:cNvPr id="867" name="Google Shape;867;p23"/>
          <p:cNvSpPr/>
          <p:nvPr/>
        </p:nvSpPr>
        <p:spPr>
          <a:xfrm>
            <a:off x="7735824" y="3978005"/>
            <a:ext cx="4163263" cy="329184"/>
          </a:xfrm>
          <a:prstGeom prst="rect">
            <a:avLst/>
          </a:prstGeom>
          <a:solidFill>
            <a:srgbClr val="061426"/>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8" name="Google Shape;868;p23"/>
          <p:cNvSpPr txBox="1"/>
          <p:nvPr/>
        </p:nvSpPr>
        <p:spPr>
          <a:xfrm>
            <a:off x="7808976" y="4014581"/>
            <a:ext cx="4071823"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  Triggered by: Cycle Guard fixation flag OR Validation Agent cap exhaustion</a:t>
            </a:r>
            <a:endParaRPr/>
          </a:p>
        </p:txBody>
      </p:sp>
      <p:sp>
        <p:nvSpPr>
          <p:cNvPr id="869" name="Google Shape;869;p23"/>
          <p:cNvSpPr/>
          <p:nvPr/>
        </p:nvSpPr>
        <p:spPr>
          <a:xfrm>
            <a:off x="7735824" y="4362053"/>
            <a:ext cx="4163263" cy="329184"/>
          </a:xfrm>
          <a:prstGeom prst="rect">
            <a:avLst/>
          </a:prstGeom>
          <a:solidFill>
            <a:srgbClr val="061426"/>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70" name="Google Shape;870;p23"/>
          <p:cNvSpPr txBox="1"/>
          <p:nvPr/>
        </p:nvSpPr>
        <p:spPr>
          <a:xfrm>
            <a:off x="7808976" y="4398629"/>
            <a:ext cx="4071823"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  Action: injects a corrective context window into Commander's next prompt</a:t>
            </a:r>
            <a:endParaRPr/>
          </a:p>
        </p:txBody>
      </p:sp>
      <p:sp>
        <p:nvSpPr>
          <p:cNvPr id="871" name="Google Shape;871;p23"/>
          <p:cNvSpPr/>
          <p:nvPr/>
        </p:nvSpPr>
        <p:spPr>
          <a:xfrm>
            <a:off x="7735824" y="4746101"/>
            <a:ext cx="4163263" cy="329184"/>
          </a:xfrm>
          <a:prstGeom prst="rect">
            <a:avLst/>
          </a:prstGeom>
          <a:solidFill>
            <a:srgbClr val="061426"/>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72" name="Google Shape;872;p23"/>
          <p:cNvSpPr txBox="1"/>
          <p:nvPr/>
        </p:nvSpPr>
        <p:spPr>
          <a:xfrm>
            <a:off x="7808976" y="4782677"/>
            <a:ext cx="4071823"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  Prompt content: what was tried, why it failed, which alternative approaches remain</a:t>
            </a:r>
            <a:endParaRPr/>
          </a:p>
        </p:txBody>
      </p:sp>
      <p:sp>
        <p:nvSpPr>
          <p:cNvPr id="873" name="Google Shape;873;p23"/>
          <p:cNvSpPr/>
          <p:nvPr/>
        </p:nvSpPr>
        <p:spPr>
          <a:xfrm>
            <a:off x="7735824" y="5130149"/>
            <a:ext cx="4163263" cy="329184"/>
          </a:xfrm>
          <a:prstGeom prst="rect">
            <a:avLst/>
          </a:prstGeom>
          <a:solidFill>
            <a:srgbClr val="061426"/>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74" name="Google Shape;874;p23"/>
          <p:cNvSpPr txBox="1"/>
          <p:nvPr/>
        </p:nvSpPr>
        <p:spPr>
          <a:xfrm>
            <a:off x="7808976" y="5166725"/>
            <a:ext cx="4071823"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  Outcome: Commander re-plans with explicit knowledge of stuck state</a:t>
            </a:r>
            <a:endParaRPr/>
          </a:p>
        </p:txBody>
      </p:sp>
      <p:sp>
        <p:nvSpPr>
          <p:cNvPr id="875" name="Google Shape;875;p23"/>
          <p:cNvSpPr/>
          <p:nvPr/>
        </p:nvSpPr>
        <p:spPr>
          <a:xfrm>
            <a:off x="7735824" y="5514197"/>
            <a:ext cx="4163263" cy="329184"/>
          </a:xfrm>
          <a:prstGeom prst="rect">
            <a:avLst/>
          </a:prstGeom>
          <a:solidFill>
            <a:srgbClr val="061426"/>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76" name="Google Shape;876;p23"/>
          <p:cNvSpPr txBox="1"/>
          <p:nvPr/>
        </p:nvSpPr>
        <p:spPr>
          <a:xfrm>
            <a:off x="7808976" y="5550773"/>
            <a:ext cx="4071823"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  NOT the same as the planning loop — fires only on anomaly</a:t>
            </a:r>
            <a:endParaRPr/>
          </a:p>
        </p:txBody>
      </p:sp>
      <p:sp>
        <p:nvSpPr>
          <p:cNvPr id="877" name="Google Shape;877;p23"/>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81" name="Shape 881"/>
        <p:cNvGrpSpPr/>
        <p:nvPr/>
      </p:nvGrpSpPr>
      <p:grpSpPr>
        <a:xfrm>
          <a:off x="0" y="0"/>
          <a:ext cx="0" cy="0"/>
          <a:chOff x="0" y="0"/>
          <a:chExt cx="0" cy="0"/>
        </a:xfrm>
      </p:grpSpPr>
      <p:sp>
        <p:nvSpPr>
          <p:cNvPr id="882" name="Google Shape;882;p24"/>
          <p:cNvSpPr/>
          <p:nvPr/>
        </p:nvSpPr>
        <p:spPr>
          <a:xfrm>
            <a:off x="0" y="0"/>
            <a:ext cx="54864"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3" name="Google Shape;883;p24"/>
          <p:cNvSpPr/>
          <p:nvPr/>
        </p:nvSpPr>
        <p:spPr>
          <a:xfrm>
            <a:off x="54864" y="0"/>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4" name="Google Shape;884;p24"/>
          <p:cNvSpPr/>
          <p:nvPr/>
        </p:nvSpPr>
        <p:spPr>
          <a:xfrm>
            <a:off x="54864" y="6821424"/>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5" name="Google Shape;885;p2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DUAL TERMINATION + CONTEXT COMPACTION</a:t>
            </a:r>
            <a:endParaRPr/>
          </a:p>
        </p:txBody>
      </p:sp>
      <p:sp>
        <p:nvSpPr>
          <p:cNvPr id="886" name="Google Shape;886;p2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a:solidFill>
                  <a:srgbClr val="FFFFFF"/>
                </a:solidFill>
                <a:latin typeface="Calibri"/>
                <a:ea typeface="Calibri"/>
                <a:cs typeface="Calibri"/>
                <a:sym typeface="Calibri"/>
              </a:rPr>
              <a:t>Mission Ends When — and Only When — Both Conditions Are Simultaneously True</a:t>
            </a:r>
            <a:endParaRPr/>
          </a:p>
        </p:txBody>
      </p:sp>
      <p:sp>
        <p:nvSpPr>
          <p:cNvPr id="887" name="Google Shape;887;p24"/>
          <p:cNvSpPr/>
          <p:nvPr/>
        </p:nvSpPr>
        <p:spPr>
          <a:xfrm>
            <a:off x="201168" y="896112"/>
            <a:ext cx="6583680" cy="5705856"/>
          </a:xfrm>
          <a:prstGeom prst="rect">
            <a:avLst/>
          </a:prstGeom>
          <a:solidFill>
            <a:srgbClr val="041018"/>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8" name="Google Shape;888;p24"/>
          <p:cNvSpPr/>
          <p:nvPr/>
        </p:nvSpPr>
        <p:spPr>
          <a:xfrm>
            <a:off x="201168" y="896112"/>
            <a:ext cx="6583680" cy="27432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89" name="Google Shape;889;p24"/>
          <p:cNvSpPr txBox="1"/>
          <p:nvPr/>
        </p:nvSpPr>
        <p:spPr>
          <a:xfrm>
            <a:off x="201168" y="932688"/>
            <a:ext cx="658368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C8 — DUAL TERMINATION CONDITION</a:t>
            </a:r>
            <a:endParaRPr/>
          </a:p>
        </p:txBody>
      </p:sp>
      <p:sp>
        <p:nvSpPr>
          <p:cNvPr id="890" name="Google Shape;890;p24"/>
          <p:cNvSpPr/>
          <p:nvPr/>
        </p:nvSpPr>
        <p:spPr>
          <a:xfrm>
            <a:off x="384048" y="1243584"/>
            <a:ext cx="6217920" cy="1463040"/>
          </a:xfrm>
          <a:prstGeom prst="rect">
            <a:avLst/>
          </a:prstGeom>
          <a:solidFill>
            <a:srgbClr val="041E0E"/>
          </a:solidFill>
          <a:ln cap="flat" cmpd="sng" w="203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91" name="Google Shape;891;p24"/>
          <p:cNvSpPr/>
          <p:nvPr/>
        </p:nvSpPr>
        <p:spPr>
          <a:xfrm>
            <a:off x="384048" y="1243584"/>
            <a:ext cx="6217920" cy="2560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92" name="Google Shape;892;p24"/>
          <p:cNvSpPr txBox="1"/>
          <p:nvPr/>
        </p:nvSpPr>
        <p:spPr>
          <a:xfrm>
            <a:off x="384048" y="1280160"/>
            <a:ext cx="621792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CONDITION 1  —  ASG Exhaustion</a:t>
            </a:r>
            <a:endParaRPr/>
          </a:p>
        </p:txBody>
      </p:sp>
      <p:sp>
        <p:nvSpPr>
          <p:cNvPr id="893" name="Google Shape;893;p24"/>
          <p:cNvSpPr txBox="1"/>
          <p:nvPr/>
        </p:nvSpPr>
        <p:spPr>
          <a:xfrm>
            <a:off x="493776" y="1554480"/>
            <a:ext cx="6035040" cy="10789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Every node in the ASG has status INVESTIGATED.</a:t>
            </a:r>
            <a:br>
              <a:rPr b="0" i="0" lang="en-US" sz="1000">
                <a:solidFill>
                  <a:srgbClr val="A0AAB8"/>
                </a:solidFill>
                <a:latin typeface="Calibri"/>
                <a:ea typeface="Calibri"/>
                <a:cs typeface="Calibri"/>
                <a:sym typeface="Calibri"/>
              </a:rPr>
            </a:br>
            <a:r>
              <a:rPr b="0" i="0" lang="en-US" sz="1000">
                <a:solidFill>
                  <a:srgbClr val="A0AAB8"/>
                </a:solidFill>
                <a:latin typeface="Calibri"/>
                <a:ea typeface="Calibri"/>
                <a:cs typeface="Calibri"/>
                <a:sym typeface="Calibri"/>
              </a:rPr>
              <a:t>No node remains in DISCOVERED or IN_PROGRESS state.</a:t>
            </a:r>
            <a:br>
              <a:rPr b="0" i="0" lang="en-US" sz="1000">
                <a:solidFill>
                  <a:srgbClr val="A0AAB8"/>
                </a:solidFill>
                <a:latin typeface="Calibri"/>
                <a:ea typeface="Calibri"/>
                <a:cs typeface="Calibri"/>
                <a:sym typeface="Calibri"/>
              </a:rPr>
            </a:br>
            <a:r>
              <a:rPr b="0" i="0" lang="en-US" sz="1000">
                <a:solidFill>
                  <a:srgbClr val="A0AAB8"/>
                </a:solidFill>
                <a:latin typeface="Calibri"/>
                <a:ea typeface="Calibri"/>
                <a:cs typeface="Calibri"/>
                <a:sym typeface="Calibri"/>
              </a:rPr>
              <a:t>Formally: ∀ n ∈ V(ASG) : n.status = INVESTIGATED</a:t>
            </a:r>
            <a:endParaRPr/>
          </a:p>
        </p:txBody>
      </p:sp>
      <p:sp>
        <p:nvSpPr>
          <p:cNvPr id="894" name="Google Shape;894;p24"/>
          <p:cNvSpPr/>
          <p:nvPr/>
        </p:nvSpPr>
        <p:spPr>
          <a:xfrm>
            <a:off x="3035808" y="2779776"/>
            <a:ext cx="914400" cy="347472"/>
          </a:xfrm>
          <a:prstGeom prst="rect">
            <a:avLst/>
          </a:prstGeom>
          <a:solidFill>
            <a:srgbClr val="00BFD8"/>
          </a:solidFill>
          <a:ln cap="flat" cmpd="sng" w="12700">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95" name="Google Shape;895;p24"/>
          <p:cNvSpPr txBox="1"/>
          <p:nvPr/>
        </p:nvSpPr>
        <p:spPr>
          <a:xfrm>
            <a:off x="3035808" y="2816352"/>
            <a:ext cx="9144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A0D1A"/>
                </a:solidFill>
                <a:latin typeface="Calibri"/>
                <a:ea typeface="Calibri"/>
                <a:cs typeface="Calibri"/>
                <a:sym typeface="Calibri"/>
              </a:rPr>
              <a:t>AND</a:t>
            </a:r>
            <a:endParaRPr/>
          </a:p>
        </p:txBody>
      </p:sp>
      <p:sp>
        <p:nvSpPr>
          <p:cNvPr id="896" name="Google Shape;896;p24"/>
          <p:cNvSpPr/>
          <p:nvPr/>
        </p:nvSpPr>
        <p:spPr>
          <a:xfrm>
            <a:off x="384048" y="3182112"/>
            <a:ext cx="6217920" cy="1463040"/>
          </a:xfrm>
          <a:prstGeom prst="rect">
            <a:avLst/>
          </a:prstGeom>
          <a:solidFill>
            <a:srgbClr val="1C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97" name="Google Shape;897;p24"/>
          <p:cNvSpPr/>
          <p:nvPr/>
        </p:nvSpPr>
        <p:spPr>
          <a:xfrm>
            <a:off x="384048" y="3182112"/>
            <a:ext cx="6217920"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98" name="Google Shape;898;p24"/>
          <p:cNvSpPr txBox="1"/>
          <p:nvPr/>
        </p:nvSpPr>
        <p:spPr>
          <a:xfrm>
            <a:off x="384048" y="3218688"/>
            <a:ext cx="621792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CONDITION 2  —  APG Resolution</a:t>
            </a:r>
            <a:endParaRPr/>
          </a:p>
        </p:txBody>
      </p:sp>
      <p:sp>
        <p:nvSpPr>
          <p:cNvPr id="899" name="Google Shape;899;p24"/>
          <p:cNvSpPr txBox="1"/>
          <p:nvPr/>
        </p:nvSpPr>
        <p:spPr>
          <a:xfrm>
            <a:off x="493776" y="3493008"/>
            <a:ext cx="6035040" cy="10789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a:solidFill>
                  <a:srgbClr val="A0AAB8"/>
                </a:solidFill>
                <a:latin typeface="Calibri"/>
                <a:ea typeface="Calibri"/>
                <a:cs typeface="Calibri"/>
                <a:sym typeface="Calibri"/>
              </a:rPr>
              <a:t>Every AttackChain in the APG has terminal status.</a:t>
            </a:r>
            <a:br>
              <a:rPr b="0" i="0" lang="en-US" sz="1000">
                <a:solidFill>
                  <a:srgbClr val="A0AAB8"/>
                </a:solidFill>
                <a:latin typeface="Calibri"/>
                <a:ea typeface="Calibri"/>
                <a:cs typeface="Calibri"/>
                <a:sym typeface="Calibri"/>
              </a:rPr>
            </a:br>
            <a:r>
              <a:rPr b="0" i="0" lang="en-US" sz="1000">
                <a:solidFill>
                  <a:srgbClr val="A0AAB8"/>
                </a:solidFill>
                <a:latin typeface="Calibri"/>
                <a:ea typeface="Calibri"/>
                <a:cs typeface="Calibri"/>
                <a:sym typeface="Calibri"/>
              </a:rPr>
              <a:t>No chain remains HYPOTHESIZED or PARTIALLY_VALIDATED.</a:t>
            </a:r>
            <a:br>
              <a:rPr b="0" i="0" lang="en-US" sz="1000">
                <a:solidFill>
                  <a:srgbClr val="A0AAB8"/>
                </a:solidFill>
                <a:latin typeface="Calibri"/>
                <a:ea typeface="Calibri"/>
                <a:cs typeface="Calibri"/>
                <a:sym typeface="Calibri"/>
              </a:rPr>
            </a:br>
            <a:r>
              <a:rPr b="0" i="0" lang="en-US" sz="1000">
                <a:solidFill>
                  <a:srgbClr val="A0AAB8"/>
                </a:solidFill>
                <a:latin typeface="Calibri"/>
                <a:ea typeface="Calibri"/>
                <a:cs typeface="Calibri"/>
                <a:sym typeface="Calibri"/>
              </a:rPr>
              <a:t>Formally: ∀ c ∈ V(APG) : c.status ∈ {VALIDATED, RULED_OUT}</a:t>
            </a:r>
            <a:endParaRPr/>
          </a:p>
        </p:txBody>
      </p:sp>
      <p:sp>
        <p:nvSpPr>
          <p:cNvPr id="900" name="Google Shape;900;p24"/>
          <p:cNvSpPr/>
          <p:nvPr/>
        </p:nvSpPr>
        <p:spPr>
          <a:xfrm>
            <a:off x="384048" y="4773168"/>
            <a:ext cx="6217920" cy="40233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1" name="Google Shape;901;p24"/>
          <p:cNvSpPr txBox="1"/>
          <p:nvPr/>
        </p:nvSpPr>
        <p:spPr>
          <a:xfrm>
            <a:off x="512064" y="4828032"/>
            <a:ext cx="6035040"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50">
                <a:solidFill>
                  <a:srgbClr val="0A0D1A"/>
                </a:solidFill>
                <a:latin typeface="Calibri"/>
                <a:ea typeface="Calibri"/>
                <a:cs typeface="Calibri"/>
                <a:sym typeface="Calibri"/>
              </a:rPr>
              <a:t>→  MISSION TERMINATES — Report Agent invoked</a:t>
            </a:r>
            <a:endParaRPr/>
          </a:p>
        </p:txBody>
      </p:sp>
      <p:sp>
        <p:nvSpPr>
          <p:cNvPr id="902" name="Google Shape;902;p24"/>
          <p:cNvSpPr/>
          <p:nvPr/>
        </p:nvSpPr>
        <p:spPr>
          <a:xfrm>
            <a:off x="384048" y="5248656"/>
            <a:ext cx="6217920" cy="896112"/>
          </a:xfrm>
          <a:prstGeom prst="rect">
            <a:avLst/>
          </a:prstGeom>
          <a:solidFill>
            <a:srgbClr val="041820"/>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3" name="Google Shape;903;p24"/>
          <p:cNvSpPr txBox="1"/>
          <p:nvPr/>
        </p:nvSpPr>
        <p:spPr>
          <a:xfrm>
            <a:off x="475488" y="5303520"/>
            <a:ext cx="6053328" cy="8046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50">
                <a:solidFill>
                  <a:srgbClr val="00BFD8"/>
                </a:solidFill>
                <a:latin typeface="Calibri"/>
                <a:ea typeface="Calibri"/>
                <a:cs typeface="Calibri"/>
                <a:sym typeface="Calibri"/>
              </a:rPr>
              <a:t>Why this is novel:</a:t>
            </a:r>
            <a:br>
              <a:rPr b="0" i="1" lang="en-US" sz="850">
                <a:solidFill>
                  <a:srgbClr val="00BFD8"/>
                </a:solidFill>
                <a:latin typeface="Calibri"/>
                <a:ea typeface="Calibri"/>
                <a:cs typeface="Calibri"/>
                <a:sym typeface="Calibri"/>
              </a:rPr>
            </a:br>
            <a:r>
              <a:rPr b="0" i="1" lang="en-US" sz="850">
                <a:solidFill>
                  <a:srgbClr val="00BFD8"/>
                </a:solidFill>
                <a:latin typeface="Calibri"/>
                <a:ea typeface="Calibri"/>
                <a:cs typeface="Calibri"/>
                <a:sym typeface="Calibri"/>
              </a:rPr>
              <a:t>Timer-based systems (PentestGPT) terminate by wall-clock — cannot express APG resolution.</a:t>
            </a:r>
            <a:br>
              <a:rPr b="0" i="1" lang="en-US" sz="850">
                <a:solidFill>
                  <a:srgbClr val="00BFD8"/>
                </a:solidFill>
                <a:latin typeface="Calibri"/>
                <a:ea typeface="Calibri"/>
                <a:cs typeface="Calibri"/>
                <a:sym typeface="Calibri"/>
              </a:rPr>
            </a:br>
            <a:r>
              <a:rPr b="0" i="1" lang="en-US" sz="850">
                <a:solidFill>
                  <a:srgbClr val="00BFD8"/>
                </a:solidFill>
                <a:latin typeface="Calibri"/>
                <a:ea typeface="Calibri"/>
                <a:cs typeface="Calibri"/>
                <a:sym typeface="Calibri"/>
              </a:rPr>
              <a:t>Queue-based systems (VulnBot) terminate when queue is empty — cannot express 'all chains resolved'.</a:t>
            </a:r>
            <a:br>
              <a:rPr b="0" i="1" lang="en-US" sz="850">
                <a:solidFill>
                  <a:srgbClr val="00BFD8"/>
                </a:solidFill>
                <a:latin typeface="Calibri"/>
                <a:ea typeface="Calibri"/>
                <a:cs typeface="Calibri"/>
                <a:sym typeface="Calibri"/>
              </a:rPr>
            </a:br>
            <a:r>
              <a:rPr b="0" i="1" lang="en-US" sz="850">
                <a:solidFill>
                  <a:srgbClr val="00BFD8"/>
                </a:solidFill>
                <a:latin typeface="Calibri"/>
                <a:ea typeface="Calibri"/>
                <a:cs typeface="Calibri"/>
                <a:sym typeface="Calibri"/>
              </a:rPr>
              <a:t>CMatrix is the only system where both must be true simultaneously.</a:t>
            </a:r>
            <a:endParaRPr/>
          </a:p>
        </p:txBody>
      </p:sp>
      <p:sp>
        <p:nvSpPr>
          <p:cNvPr id="904" name="Google Shape;904;p24"/>
          <p:cNvSpPr/>
          <p:nvPr/>
        </p:nvSpPr>
        <p:spPr>
          <a:xfrm>
            <a:off x="6912864" y="896112"/>
            <a:ext cx="5077663" cy="5705856"/>
          </a:xfrm>
          <a:prstGeom prst="rect">
            <a:avLst/>
          </a:prstGeom>
          <a:solidFill>
            <a:srgbClr val="040A18"/>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5" name="Google Shape;905;p24"/>
          <p:cNvSpPr/>
          <p:nvPr/>
        </p:nvSpPr>
        <p:spPr>
          <a:xfrm>
            <a:off x="6912864" y="896112"/>
            <a:ext cx="5077663" cy="27432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6" name="Google Shape;906;p24"/>
          <p:cNvSpPr txBox="1"/>
          <p:nvPr/>
        </p:nvSpPr>
        <p:spPr>
          <a:xfrm>
            <a:off x="6912864" y="932688"/>
            <a:ext cx="5077663"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C6 — LOSSLESS CONTEXT COMPACTION</a:t>
            </a:r>
            <a:endParaRPr/>
          </a:p>
        </p:txBody>
      </p:sp>
      <p:sp>
        <p:nvSpPr>
          <p:cNvPr id="907" name="Google Shape;907;p24"/>
          <p:cNvSpPr/>
          <p:nvPr/>
        </p:nvSpPr>
        <p:spPr>
          <a:xfrm>
            <a:off x="7004304" y="1225296"/>
            <a:ext cx="4894783" cy="475488"/>
          </a:xfrm>
          <a:prstGeom prst="rect">
            <a:avLst/>
          </a:prstGeom>
          <a:solidFill>
            <a:srgbClr val="1408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8" name="Google Shape;908;p24"/>
          <p:cNvSpPr txBox="1"/>
          <p:nvPr/>
        </p:nvSpPr>
        <p:spPr>
          <a:xfrm>
            <a:off x="7077456" y="1261872"/>
            <a:ext cx="4785055" cy="40233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A0AAB8"/>
                </a:solidFill>
                <a:latin typeface="Calibri"/>
                <a:ea typeface="Calibri"/>
                <a:cs typeface="Calibri"/>
                <a:sym typeface="Calibri"/>
              </a:rPr>
              <a:t>Motivation:  Without compaction, context window fills in 20–30 tool calls on real-world missions (multiple phases, many subdomains). Raw history cannot be truncated without losing discovered facts.</a:t>
            </a:r>
            <a:endParaRPr/>
          </a:p>
        </p:txBody>
      </p:sp>
      <p:sp>
        <p:nvSpPr>
          <p:cNvPr id="909" name="Google Shape;909;p24"/>
          <p:cNvSpPr/>
          <p:nvPr/>
        </p:nvSpPr>
        <p:spPr>
          <a:xfrm>
            <a:off x="7004304" y="1792224"/>
            <a:ext cx="4894783" cy="1536192"/>
          </a:xfrm>
          <a:prstGeom prst="rect">
            <a:avLst/>
          </a:prstGeom>
          <a:solidFill>
            <a:srgbClr val="04180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0" name="Google Shape;910;p24"/>
          <p:cNvSpPr/>
          <p:nvPr/>
        </p:nvSpPr>
        <p:spPr>
          <a:xfrm>
            <a:off x="7004304" y="1792224"/>
            <a:ext cx="4894783" cy="23774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1" name="Google Shape;911;p24"/>
          <p:cNvSpPr txBox="1"/>
          <p:nvPr/>
        </p:nvSpPr>
        <p:spPr>
          <a:xfrm>
            <a:off x="7077456" y="1819656"/>
            <a:ext cx="4803343"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LAYER 1  —  Permanent State</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(ASG itself)</a:t>
            </a:r>
            <a:endParaRPr/>
          </a:p>
        </p:txBody>
      </p:sp>
      <p:sp>
        <p:nvSpPr>
          <p:cNvPr id="912" name="Google Shape;912;p24"/>
          <p:cNvSpPr txBox="1"/>
          <p:nvPr/>
        </p:nvSpPr>
        <p:spPr>
          <a:xfrm>
            <a:off x="7077456" y="2084832"/>
            <a:ext cx="4803343" cy="12070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The graph IS the memory. All discovered facts are in typed nodes + edges.</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Never discarded. Available to all agents via graph query.</a:t>
            </a:r>
            <a:endParaRPr/>
          </a:p>
        </p:txBody>
      </p:sp>
      <p:sp>
        <p:nvSpPr>
          <p:cNvPr id="913" name="Google Shape;913;p24"/>
          <p:cNvSpPr/>
          <p:nvPr/>
        </p:nvSpPr>
        <p:spPr>
          <a:xfrm>
            <a:off x="7004304" y="3383280"/>
            <a:ext cx="4894783" cy="1536192"/>
          </a:xfrm>
          <a:prstGeom prst="rect">
            <a:avLst/>
          </a:prstGeom>
          <a:solidFill>
            <a:srgbClr val="18100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4" name="Google Shape;914;p24"/>
          <p:cNvSpPr/>
          <p:nvPr/>
        </p:nvSpPr>
        <p:spPr>
          <a:xfrm>
            <a:off x="7004304" y="3383280"/>
            <a:ext cx="4894783" cy="23774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5" name="Google Shape;915;p24"/>
          <p:cNvSpPr txBox="1"/>
          <p:nvPr/>
        </p:nvSpPr>
        <p:spPr>
          <a:xfrm>
            <a:off x="7077456" y="3410712"/>
            <a:ext cx="4803343"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LAYER 2  —  Phase Summary</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(structured digest)</a:t>
            </a:r>
            <a:endParaRPr/>
          </a:p>
        </p:txBody>
      </p:sp>
      <p:sp>
        <p:nvSpPr>
          <p:cNvPr id="916" name="Google Shape;916;p24"/>
          <p:cNvSpPr txBox="1"/>
          <p:nvPr/>
        </p:nvSpPr>
        <p:spPr>
          <a:xfrm>
            <a:off x="7077456" y="3675888"/>
            <a:ext cx="4803343" cy="12070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After each phase, a structured JSON summary of that phase's findings is stored.</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Replaces raw tool output. ASG-queryable for follow-on agents.</a:t>
            </a:r>
            <a:endParaRPr/>
          </a:p>
        </p:txBody>
      </p:sp>
      <p:sp>
        <p:nvSpPr>
          <p:cNvPr id="917" name="Google Shape;917;p24"/>
          <p:cNvSpPr/>
          <p:nvPr/>
        </p:nvSpPr>
        <p:spPr>
          <a:xfrm>
            <a:off x="7004304" y="4974336"/>
            <a:ext cx="4894783" cy="1536192"/>
          </a:xfrm>
          <a:prstGeom prst="rect">
            <a:avLst/>
          </a:prstGeom>
          <a:solidFill>
            <a:srgbClr val="041818"/>
          </a:solidFill>
          <a:ln cap="flat" cmpd="sng" w="152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8" name="Google Shape;918;p24"/>
          <p:cNvSpPr/>
          <p:nvPr/>
        </p:nvSpPr>
        <p:spPr>
          <a:xfrm>
            <a:off x="7004304" y="4974336"/>
            <a:ext cx="4894783" cy="237744"/>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9" name="Google Shape;919;p24"/>
          <p:cNvSpPr txBox="1"/>
          <p:nvPr/>
        </p:nvSpPr>
        <p:spPr>
          <a:xfrm>
            <a:off x="7077456" y="5001768"/>
            <a:ext cx="4803343"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LAYER 3  —  Active Window</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(last N exchanges only)</a:t>
            </a:r>
            <a:endParaRPr/>
          </a:p>
        </p:txBody>
      </p:sp>
      <p:sp>
        <p:nvSpPr>
          <p:cNvPr id="920" name="Google Shape;920;p24"/>
          <p:cNvSpPr txBox="1"/>
          <p:nvPr/>
        </p:nvSpPr>
        <p:spPr>
          <a:xfrm>
            <a:off x="7077456" y="5266944"/>
            <a:ext cx="4803343" cy="12070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Commander's live context contains only the last N tool calls + current task.</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All older history has been compacted into Layers 1 + 2. Zero loss of findings.</a:t>
            </a:r>
            <a:endParaRPr/>
          </a:p>
        </p:txBody>
      </p:sp>
      <p:sp>
        <p:nvSpPr>
          <p:cNvPr id="921" name="Google Shape;921;p24"/>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BFD8"/>
                </a:solidFill>
                <a:latin typeface="Calibri"/>
                <a:ea typeface="Calibri"/>
                <a:cs typeface="Calibri"/>
                <a:sym typeface="Calibri"/>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925" name="Shape 925"/>
        <p:cNvGrpSpPr/>
        <p:nvPr/>
      </p:nvGrpSpPr>
      <p:grpSpPr>
        <a:xfrm>
          <a:off x="0" y="0"/>
          <a:ext cx="0" cy="0"/>
          <a:chOff x="0" y="0"/>
          <a:chExt cx="0" cy="0"/>
        </a:xfrm>
      </p:grpSpPr>
      <p:sp>
        <p:nvSpPr>
          <p:cNvPr id="926" name="Google Shape;926;p2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27" name="Google Shape;927;p2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28" name="Google Shape;928;p2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29" name="Google Shape;929;p25"/>
          <p:cNvSpPr txBox="1"/>
          <p:nvPr/>
        </p:nvSpPr>
        <p:spPr>
          <a:xfrm>
            <a:off x="274320" y="64008"/>
            <a:ext cx="54864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ATTACK CHAIN LIFECYCLE</a:t>
            </a:r>
            <a:endParaRPr/>
          </a:p>
        </p:txBody>
      </p:sp>
      <p:sp>
        <p:nvSpPr>
          <p:cNvPr id="930" name="Google Shape;930;p25"/>
          <p:cNvSpPr txBox="1"/>
          <p:nvPr/>
        </p:nvSpPr>
        <p:spPr>
          <a:xfrm>
            <a:off x="274320" y="283464"/>
            <a:ext cx="10972800" cy="42062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a:solidFill>
                  <a:srgbClr val="FFFFFF"/>
                </a:solidFill>
                <a:latin typeface="Calibri"/>
                <a:ea typeface="Calibri"/>
                <a:cs typeface="Calibri"/>
                <a:sym typeface="Calibri"/>
              </a:rPr>
              <a:t>APG Chain State Machine + Validation Agent Self-Debugging Loop</a:t>
            </a:r>
            <a:endParaRPr/>
          </a:p>
        </p:txBody>
      </p:sp>
      <p:sp>
        <p:nvSpPr>
          <p:cNvPr id="931" name="Google Shape;931;p25"/>
          <p:cNvSpPr/>
          <p:nvPr/>
        </p:nvSpPr>
        <p:spPr>
          <a:xfrm>
            <a:off x="228600" y="804672"/>
            <a:ext cx="2331720" cy="178308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2" name="Google Shape;932;p25"/>
          <p:cNvSpPr/>
          <p:nvPr/>
        </p:nvSpPr>
        <p:spPr>
          <a:xfrm>
            <a:off x="228600" y="804672"/>
            <a:ext cx="233172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3" name="Google Shape;933;p25"/>
          <p:cNvSpPr txBox="1"/>
          <p:nvPr/>
        </p:nvSpPr>
        <p:spPr>
          <a:xfrm>
            <a:off x="228600" y="841248"/>
            <a:ext cx="233172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HYPOTHESIZED</a:t>
            </a:r>
            <a:endParaRPr/>
          </a:p>
        </p:txBody>
      </p:sp>
      <p:sp>
        <p:nvSpPr>
          <p:cNvPr id="934" name="Google Shape;934;p25"/>
          <p:cNvSpPr txBox="1"/>
          <p:nvPr/>
        </p:nvSpPr>
        <p:spPr>
          <a:xfrm>
            <a:off x="320040" y="1152144"/>
            <a:ext cx="2167128" cy="1362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Commander inferred a possible</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chain from ASG Vulnerability nodes.</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Not yet tested.</a:t>
            </a:r>
            <a:endParaRPr/>
          </a:p>
        </p:txBody>
      </p:sp>
      <p:cxnSp>
        <p:nvCxnSpPr>
          <p:cNvPr id="935" name="Google Shape;935;p25"/>
          <p:cNvCxnSpPr/>
          <p:nvPr/>
        </p:nvCxnSpPr>
        <p:spPr>
          <a:xfrm>
            <a:off x="2560320" y="0"/>
            <a:ext cx="237744"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936" name="Google Shape;936;p25"/>
          <p:cNvSpPr/>
          <p:nvPr/>
        </p:nvSpPr>
        <p:spPr>
          <a:xfrm>
            <a:off x="2798064" y="804672"/>
            <a:ext cx="2331720" cy="178308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7" name="Google Shape;937;p25"/>
          <p:cNvSpPr/>
          <p:nvPr/>
        </p:nvSpPr>
        <p:spPr>
          <a:xfrm>
            <a:off x="2798064" y="804672"/>
            <a:ext cx="233172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38" name="Google Shape;938;p25"/>
          <p:cNvSpPr txBox="1"/>
          <p:nvPr/>
        </p:nvSpPr>
        <p:spPr>
          <a:xfrm>
            <a:off x="2798064" y="841248"/>
            <a:ext cx="233172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PARTIALLY</a:t>
            </a:r>
            <a:br>
              <a:rPr b="1" i="0" lang="en-US" sz="950">
                <a:solidFill>
                  <a:srgbClr val="0A0D1A"/>
                </a:solidFill>
                <a:latin typeface="Calibri"/>
                <a:ea typeface="Calibri"/>
                <a:cs typeface="Calibri"/>
                <a:sym typeface="Calibri"/>
              </a:rPr>
            </a:br>
            <a:r>
              <a:rPr b="1" i="0" lang="en-US" sz="950">
                <a:solidFill>
                  <a:srgbClr val="0A0D1A"/>
                </a:solidFill>
                <a:latin typeface="Calibri"/>
                <a:ea typeface="Calibri"/>
                <a:cs typeface="Calibri"/>
                <a:sym typeface="Calibri"/>
              </a:rPr>
              <a:t>VALIDATED</a:t>
            </a:r>
            <a:endParaRPr/>
          </a:p>
        </p:txBody>
      </p:sp>
      <p:sp>
        <p:nvSpPr>
          <p:cNvPr id="939" name="Google Shape;939;p25"/>
          <p:cNvSpPr txBox="1"/>
          <p:nvPr/>
        </p:nvSpPr>
        <p:spPr>
          <a:xfrm>
            <a:off x="2889504" y="1152144"/>
            <a:ext cx="2167128" cy="1362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One or more ChainSteps confirmed.</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Chain not complete end-to-end.</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Validation in progress.</a:t>
            </a:r>
            <a:endParaRPr/>
          </a:p>
        </p:txBody>
      </p:sp>
      <p:sp>
        <p:nvSpPr>
          <p:cNvPr id="940" name="Google Shape;940;p25"/>
          <p:cNvSpPr/>
          <p:nvPr/>
        </p:nvSpPr>
        <p:spPr>
          <a:xfrm>
            <a:off x="5038344" y="1531620"/>
            <a:ext cx="329184" cy="329184"/>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941" name="Google Shape;941;p25"/>
          <p:cNvCxnSpPr/>
          <p:nvPr/>
        </p:nvCxnSpPr>
        <p:spPr>
          <a:xfrm rot="10800000">
            <a:off x="5038344" y="0"/>
            <a:ext cx="9144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942" name="Google Shape;942;p25"/>
          <p:cNvSpPr/>
          <p:nvPr/>
        </p:nvSpPr>
        <p:spPr>
          <a:xfrm>
            <a:off x="5440680" y="804672"/>
            <a:ext cx="2331720" cy="178308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3" name="Google Shape;943;p25"/>
          <p:cNvSpPr/>
          <p:nvPr/>
        </p:nvSpPr>
        <p:spPr>
          <a:xfrm>
            <a:off x="5440680" y="804672"/>
            <a:ext cx="233172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4" name="Google Shape;944;p25"/>
          <p:cNvSpPr txBox="1"/>
          <p:nvPr/>
        </p:nvSpPr>
        <p:spPr>
          <a:xfrm>
            <a:off x="5440680" y="841248"/>
            <a:ext cx="233172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VALIDATED</a:t>
            </a:r>
            <a:endParaRPr/>
          </a:p>
        </p:txBody>
      </p:sp>
      <p:sp>
        <p:nvSpPr>
          <p:cNvPr id="945" name="Google Shape;945;p25"/>
          <p:cNvSpPr txBox="1"/>
          <p:nvPr/>
        </p:nvSpPr>
        <p:spPr>
          <a:xfrm>
            <a:off x="5532120" y="1152144"/>
            <a:ext cx="2167128" cy="1362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All ChainSteps confirmed with</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linked Evidence. Impact demonstrated.</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Mission success for this chain.</a:t>
            </a:r>
            <a:endParaRPr/>
          </a:p>
        </p:txBody>
      </p:sp>
      <p:cxnSp>
        <p:nvCxnSpPr>
          <p:cNvPr id="946" name="Google Shape;946;p25"/>
          <p:cNvCxnSpPr/>
          <p:nvPr/>
        </p:nvCxnSpPr>
        <p:spPr>
          <a:xfrm>
            <a:off x="5367528" y="0"/>
            <a:ext cx="73152" cy="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947" name="Google Shape;947;p25"/>
          <p:cNvSpPr txBox="1"/>
          <p:nvPr/>
        </p:nvSpPr>
        <p:spPr>
          <a:xfrm>
            <a:off x="5404104" y="1367028"/>
            <a:ext cx="10972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39FF14"/>
                </a:solidFill>
                <a:latin typeface="Calibri"/>
                <a:ea typeface="Calibri"/>
                <a:cs typeface="Calibri"/>
                <a:sym typeface="Calibri"/>
              </a:rPr>
              <a:t>chain succeeds</a:t>
            </a:r>
            <a:endParaRPr/>
          </a:p>
        </p:txBody>
      </p:sp>
      <p:sp>
        <p:nvSpPr>
          <p:cNvPr id="948" name="Google Shape;948;p25"/>
          <p:cNvSpPr/>
          <p:nvPr/>
        </p:nvSpPr>
        <p:spPr>
          <a:xfrm>
            <a:off x="5440680" y="2843784"/>
            <a:ext cx="2331720" cy="178308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9" name="Google Shape;949;p25"/>
          <p:cNvSpPr/>
          <p:nvPr/>
        </p:nvSpPr>
        <p:spPr>
          <a:xfrm>
            <a:off x="5440680" y="2843784"/>
            <a:ext cx="2331720" cy="27432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0" name="Google Shape;950;p25"/>
          <p:cNvSpPr txBox="1"/>
          <p:nvPr/>
        </p:nvSpPr>
        <p:spPr>
          <a:xfrm>
            <a:off x="5440680" y="2880360"/>
            <a:ext cx="233172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RULED_OUT</a:t>
            </a:r>
            <a:endParaRPr/>
          </a:p>
        </p:txBody>
      </p:sp>
      <p:sp>
        <p:nvSpPr>
          <p:cNvPr id="951" name="Google Shape;951;p25"/>
          <p:cNvSpPr txBox="1"/>
          <p:nvPr/>
        </p:nvSpPr>
        <p:spPr>
          <a:xfrm>
            <a:off x="5532120" y="3191256"/>
            <a:ext cx="2167128" cy="1362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 required ChainStep failed after</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max retries. Chain not exploitable</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as hypothesized. Commander re-plans.</a:t>
            </a:r>
            <a:endParaRPr/>
          </a:p>
        </p:txBody>
      </p:sp>
      <p:cxnSp>
        <p:nvCxnSpPr>
          <p:cNvPr id="952" name="Google Shape;952;p25"/>
          <p:cNvCxnSpPr/>
          <p:nvPr/>
        </p:nvCxnSpPr>
        <p:spPr>
          <a:xfrm>
            <a:off x="5367528" y="0"/>
            <a:ext cx="73152"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953" name="Google Shape;953;p25"/>
          <p:cNvSpPr txBox="1"/>
          <p:nvPr/>
        </p:nvSpPr>
        <p:spPr>
          <a:xfrm>
            <a:off x="5404104" y="1897380"/>
            <a:ext cx="1234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FF4545"/>
                </a:solidFill>
                <a:latin typeface="Calibri"/>
                <a:ea typeface="Calibri"/>
                <a:cs typeface="Calibri"/>
                <a:sym typeface="Calibri"/>
              </a:rPr>
              <a:t>step fails after cap</a:t>
            </a:r>
            <a:endParaRPr/>
          </a:p>
        </p:txBody>
      </p:sp>
      <p:cxnSp>
        <p:nvCxnSpPr>
          <p:cNvPr id="954" name="Google Shape;954;p25"/>
          <p:cNvCxnSpPr/>
          <p:nvPr/>
        </p:nvCxnSpPr>
        <p:spPr>
          <a:xfrm>
            <a:off x="0" y="2587752"/>
            <a:ext cx="0" cy="256032"/>
          </a:xfrm>
          <a:prstGeom prst="straightConnector1">
            <a:avLst/>
          </a:prstGeom>
          <a:noFill/>
          <a:ln cap="flat" cmpd="sng" w="12700">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955" name="Google Shape;955;p25"/>
          <p:cNvSpPr txBox="1"/>
          <p:nvPr/>
        </p:nvSpPr>
        <p:spPr>
          <a:xfrm>
            <a:off x="3872484" y="2624328"/>
            <a:ext cx="13716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a:solidFill>
                  <a:srgbClr val="FF4545"/>
                </a:solidFill>
                <a:latin typeface="Calibri"/>
                <a:ea typeface="Calibri"/>
                <a:cs typeface="Calibri"/>
                <a:sym typeface="Calibri"/>
              </a:rPr>
              <a:t>later step fails after cap</a:t>
            </a:r>
            <a:endParaRPr/>
          </a:p>
        </p:txBody>
      </p:sp>
      <p:sp>
        <p:nvSpPr>
          <p:cNvPr id="956" name="Google Shape;956;p25"/>
          <p:cNvSpPr/>
          <p:nvPr/>
        </p:nvSpPr>
        <p:spPr>
          <a:xfrm>
            <a:off x="164592" y="4846320"/>
            <a:ext cx="7132320" cy="1755648"/>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7" name="Google Shape;957;p25"/>
          <p:cNvSpPr/>
          <p:nvPr/>
        </p:nvSpPr>
        <p:spPr>
          <a:xfrm>
            <a:off x="164592" y="4846320"/>
            <a:ext cx="7132320" cy="25603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58" name="Google Shape;958;p25"/>
          <p:cNvSpPr txBox="1"/>
          <p:nvPr/>
        </p:nvSpPr>
        <p:spPr>
          <a:xfrm>
            <a:off x="164592" y="4882896"/>
            <a:ext cx="713232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0A0D1A"/>
                </a:solidFill>
                <a:latin typeface="Calibri"/>
                <a:ea typeface="Calibri"/>
                <a:cs typeface="Calibri"/>
                <a:sym typeface="Calibri"/>
              </a:rPr>
              <a:t>🎯  Validation Agent — Self-Debugging Loop  (on ChainStep failure)</a:t>
            </a:r>
            <a:endParaRPr/>
          </a:p>
        </p:txBody>
      </p:sp>
      <p:sp>
        <p:nvSpPr>
          <p:cNvPr id="959" name="Google Shape;959;p25"/>
          <p:cNvSpPr/>
          <p:nvPr/>
        </p:nvSpPr>
        <p:spPr>
          <a:xfrm>
            <a:off x="301752" y="5166360"/>
            <a:ext cx="142875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60" name="Google Shape;960;p25"/>
          <p:cNvSpPr/>
          <p:nvPr/>
        </p:nvSpPr>
        <p:spPr>
          <a:xfrm>
            <a:off x="301752" y="5166360"/>
            <a:ext cx="142875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61" name="Google Shape;961;p25"/>
          <p:cNvSpPr txBox="1"/>
          <p:nvPr/>
        </p:nvSpPr>
        <p:spPr>
          <a:xfrm>
            <a:off x="301752" y="5193792"/>
            <a:ext cx="142875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ATTEMPT</a:t>
            </a:r>
            <a:endParaRPr/>
          </a:p>
        </p:txBody>
      </p:sp>
      <p:sp>
        <p:nvSpPr>
          <p:cNvPr id="962" name="Google Shape;962;p25"/>
          <p:cNvSpPr txBox="1"/>
          <p:nvPr/>
        </p:nvSpPr>
        <p:spPr>
          <a:xfrm>
            <a:off x="356616" y="5422392"/>
            <a:ext cx="1337310" cy="10789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Execute tool</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against target</a:t>
            </a:r>
            <a:endParaRPr/>
          </a:p>
        </p:txBody>
      </p:sp>
      <p:sp>
        <p:nvSpPr>
          <p:cNvPr id="963" name="Google Shape;963;p25"/>
          <p:cNvSpPr/>
          <p:nvPr/>
        </p:nvSpPr>
        <p:spPr>
          <a:xfrm>
            <a:off x="1803654" y="5166360"/>
            <a:ext cx="142875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64" name="Google Shape;964;p25"/>
          <p:cNvSpPr/>
          <p:nvPr/>
        </p:nvSpPr>
        <p:spPr>
          <a:xfrm>
            <a:off x="1803654" y="5166360"/>
            <a:ext cx="142875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65" name="Google Shape;965;p25"/>
          <p:cNvSpPr txBox="1"/>
          <p:nvPr/>
        </p:nvSpPr>
        <p:spPr>
          <a:xfrm>
            <a:off x="1803654" y="5193792"/>
            <a:ext cx="142875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DIAGNOSE</a:t>
            </a:r>
            <a:endParaRPr/>
          </a:p>
        </p:txBody>
      </p:sp>
      <p:sp>
        <p:nvSpPr>
          <p:cNvPr id="966" name="Google Shape;966;p25"/>
          <p:cNvSpPr txBox="1"/>
          <p:nvPr/>
        </p:nvSpPr>
        <p:spPr>
          <a:xfrm>
            <a:off x="1858518" y="5422392"/>
            <a:ext cx="1337310" cy="10789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Analyze failure:</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wrong param · auth</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version mismatch</a:t>
            </a:r>
            <a:endParaRPr/>
          </a:p>
        </p:txBody>
      </p:sp>
      <p:cxnSp>
        <p:nvCxnSpPr>
          <p:cNvPr id="967" name="Google Shape;967;p25"/>
          <p:cNvCxnSpPr/>
          <p:nvPr/>
        </p:nvCxnSpPr>
        <p:spPr>
          <a:xfrm>
            <a:off x="0" y="0"/>
            <a:ext cx="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968" name="Google Shape;968;p25"/>
          <p:cNvSpPr/>
          <p:nvPr/>
        </p:nvSpPr>
        <p:spPr>
          <a:xfrm>
            <a:off x="3305556" y="5166360"/>
            <a:ext cx="142875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69" name="Google Shape;969;p25"/>
          <p:cNvSpPr/>
          <p:nvPr/>
        </p:nvSpPr>
        <p:spPr>
          <a:xfrm>
            <a:off x="3305556" y="5166360"/>
            <a:ext cx="142875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70" name="Google Shape;970;p25"/>
          <p:cNvSpPr txBox="1"/>
          <p:nvPr/>
        </p:nvSpPr>
        <p:spPr>
          <a:xfrm>
            <a:off x="3305556" y="5193792"/>
            <a:ext cx="142875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CONTEXTUALIZE</a:t>
            </a:r>
            <a:endParaRPr/>
          </a:p>
        </p:txBody>
      </p:sp>
      <p:sp>
        <p:nvSpPr>
          <p:cNvPr id="971" name="Google Shape;971;p25"/>
          <p:cNvSpPr txBox="1"/>
          <p:nvPr/>
        </p:nvSpPr>
        <p:spPr>
          <a:xfrm>
            <a:off x="3360420" y="5422392"/>
            <a:ext cx="1337310" cy="10789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Query ASG for</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additional node</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attributes</a:t>
            </a:r>
            <a:endParaRPr/>
          </a:p>
        </p:txBody>
      </p:sp>
      <p:cxnSp>
        <p:nvCxnSpPr>
          <p:cNvPr id="972" name="Google Shape;972;p25"/>
          <p:cNvCxnSpPr/>
          <p:nvPr/>
        </p:nvCxnSpPr>
        <p:spPr>
          <a:xfrm>
            <a:off x="0" y="0"/>
            <a:ext cx="0" cy="0"/>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973" name="Google Shape;973;p25"/>
          <p:cNvSpPr/>
          <p:nvPr/>
        </p:nvSpPr>
        <p:spPr>
          <a:xfrm>
            <a:off x="4807458" y="5166360"/>
            <a:ext cx="142875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74" name="Google Shape;974;p25"/>
          <p:cNvSpPr/>
          <p:nvPr/>
        </p:nvSpPr>
        <p:spPr>
          <a:xfrm>
            <a:off x="4807458" y="5166360"/>
            <a:ext cx="142875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75" name="Google Shape;975;p25"/>
          <p:cNvSpPr txBox="1"/>
          <p:nvPr/>
        </p:nvSpPr>
        <p:spPr>
          <a:xfrm>
            <a:off x="4807458" y="5193792"/>
            <a:ext cx="142875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ADAPT</a:t>
            </a:r>
            <a:endParaRPr/>
          </a:p>
        </p:txBody>
      </p:sp>
      <p:sp>
        <p:nvSpPr>
          <p:cNvPr id="976" name="Google Shape;976;p25"/>
          <p:cNvSpPr txBox="1"/>
          <p:nvPr/>
        </p:nvSpPr>
        <p:spPr>
          <a:xfrm>
            <a:off x="4862322" y="5422392"/>
            <a:ext cx="1337310" cy="10789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Modify tool call</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based on diagnosis</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 context</a:t>
            </a:r>
            <a:endParaRPr/>
          </a:p>
        </p:txBody>
      </p:sp>
      <p:cxnSp>
        <p:nvCxnSpPr>
          <p:cNvPr id="977" name="Google Shape;977;p25"/>
          <p:cNvCxnSpPr/>
          <p:nvPr/>
        </p:nvCxnSpPr>
        <p:spPr>
          <a:xfrm>
            <a:off x="0" y="0"/>
            <a:ext cx="0"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978" name="Google Shape;978;p25"/>
          <p:cNvSpPr/>
          <p:nvPr/>
        </p:nvSpPr>
        <p:spPr>
          <a:xfrm>
            <a:off x="6309360" y="5166360"/>
            <a:ext cx="850392"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79" name="Google Shape;979;p25"/>
          <p:cNvSpPr/>
          <p:nvPr/>
        </p:nvSpPr>
        <p:spPr>
          <a:xfrm>
            <a:off x="6309360" y="5166360"/>
            <a:ext cx="850392"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0" name="Google Shape;980;p25"/>
          <p:cNvSpPr txBox="1"/>
          <p:nvPr/>
        </p:nvSpPr>
        <p:spPr>
          <a:xfrm>
            <a:off x="6309360" y="5193792"/>
            <a:ext cx="850392"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A0D1A"/>
                </a:solidFill>
                <a:latin typeface="Calibri"/>
                <a:ea typeface="Calibri"/>
                <a:cs typeface="Calibri"/>
                <a:sym typeface="Calibri"/>
              </a:rPr>
              <a:t>CAP  (×3 max)</a:t>
            </a:r>
            <a:endParaRPr/>
          </a:p>
        </p:txBody>
      </p:sp>
      <p:cxnSp>
        <p:nvCxnSpPr>
          <p:cNvPr id="981" name="Google Shape;981;p25"/>
          <p:cNvCxnSpPr/>
          <p:nvPr/>
        </p:nvCxnSpPr>
        <p:spPr>
          <a:xfrm>
            <a:off x="0" y="0"/>
            <a:ext cx="0" cy="0"/>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982" name="Google Shape;982;p25"/>
          <p:cNvSpPr txBox="1"/>
          <p:nvPr/>
        </p:nvSpPr>
        <p:spPr>
          <a:xfrm>
            <a:off x="6364224" y="5422392"/>
            <a:ext cx="758952" cy="10972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A0AAB8"/>
                </a:solidFill>
                <a:latin typeface="Calibri"/>
                <a:ea typeface="Calibri"/>
                <a:cs typeface="Calibri"/>
                <a:sym typeface="Calibri"/>
              </a:rPr>
              <a:t>→ Mark ChainStep</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   RULED_OUT</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 Write failure</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   to ASG node</a:t>
            </a:r>
            <a:endParaRPr/>
          </a:p>
        </p:txBody>
      </p:sp>
      <p:cxnSp>
        <p:nvCxnSpPr>
          <p:cNvPr id="983" name="Google Shape;983;p25"/>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984" name="Google Shape;984;p25"/>
          <p:cNvSpPr txBox="1"/>
          <p:nvPr/>
        </p:nvSpPr>
        <p:spPr>
          <a:xfrm>
            <a:off x="1730502" y="6537960"/>
            <a:ext cx="228600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750">
                <a:solidFill>
                  <a:srgbClr val="39FF14"/>
                </a:solidFill>
                <a:latin typeface="Calibri"/>
                <a:ea typeface="Calibri"/>
                <a:cs typeface="Calibri"/>
                <a:sym typeface="Calibri"/>
              </a:rPr>
              <a:t>retry (up to cap)</a:t>
            </a:r>
            <a:endParaRPr/>
          </a:p>
        </p:txBody>
      </p:sp>
      <p:sp>
        <p:nvSpPr>
          <p:cNvPr id="985" name="Google Shape;985;p25"/>
          <p:cNvSpPr/>
          <p:nvPr/>
        </p:nvSpPr>
        <p:spPr>
          <a:xfrm>
            <a:off x="7388352" y="4846320"/>
            <a:ext cx="4620463" cy="1755648"/>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6" name="Google Shape;986;p25"/>
          <p:cNvSpPr/>
          <p:nvPr/>
        </p:nvSpPr>
        <p:spPr>
          <a:xfrm>
            <a:off x="7388352" y="4846320"/>
            <a:ext cx="4620463"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7" name="Google Shape;987;p25"/>
          <p:cNvSpPr txBox="1"/>
          <p:nvPr/>
        </p:nvSpPr>
        <p:spPr>
          <a:xfrm>
            <a:off x="7388352" y="4882896"/>
            <a:ext cx="4620463"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0A0D1A"/>
                </a:solidFill>
                <a:latin typeface="Calibri"/>
                <a:ea typeface="Calibri"/>
                <a:cs typeface="Calibri"/>
                <a:sym typeface="Calibri"/>
              </a:rPr>
              <a:t>Risk Score + Chain Priority</a:t>
            </a:r>
            <a:endParaRPr/>
          </a:p>
        </p:txBody>
      </p:sp>
      <p:sp>
        <p:nvSpPr>
          <p:cNvPr id="988" name="Google Shape;988;p25"/>
          <p:cNvSpPr txBox="1"/>
          <p:nvPr/>
        </p:nvSpPr>
        <p:spPr>
          <a:xfrm>
            <a:off x="7479792" y="5157216"/>
            <a:ext cx="4455871"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FFD700"/>
                </a:solidFill>
                <a:latin typeface="Calibri"/>
                <a:ea typeface="Calibri"/>
                <a:cs typeface="Calibri"/>
                <a:sym typeface="Calibri"/>
              </a:rPr>
              <a:t>risk_score derived from: CVSS severity · exploitability (PoC availability) · impact classification</a:t>
            </a:r>
            <a:endParaRPr/>
          </a:p>
        </p:txBody>
      </p:sp>
      <p:sp>
        <p:nvSpPr>
          <p:cNvPr id="989" name="Google Shape;989;p25"/>
          <p:cNvSpPr txBox="1"/>
          <p:nvPr/>
        </p:nvSpPr>
        <p:spPr>
          <a:xfrm>
            <a:off x="7479792" y="5413248"/>
            <a:ext cx="4455871"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A0AAB8"/>
                </a:solidFill>
                <a:latin typeface="Calibri"/>
                <a:ea typeface="Calibri"/>
                <a:cs typeface="Calibri"/>
                <a:sym typeface="Calibri"/>
              </a:rPr>
              <a:t>(formula finalized during evaluation phase; not a fixed multiplicative product)</a:t>
            </a:r>
            <a:endParaRPr/>
          </a:p>
        </p:txBody>
      </p:sp>
      <p:sp>
        <p:nvSpPr>
          <p:cNvPr id="990" name="Google Shape;990;p25"/>
          <p:cNvSpPr/>
          <p:nvPr/>
        </p:nvSpPr>
        <p:spPr>
          <a:xfrm>
            <a:off x="7479792" y="5961888"/>
            <a:ext cx="4455871" cy="237744"/>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1" name="Google Shape;991;p25"/>
          <p:cNvSpPr txBox="1"/>
          <p:nvPr/>
        </p:nvSpPr>
        <p:spPr>
          <a:xfrm>
            <a:off x="7516368" y="5989320"/>
            <a:ext cx="4391863"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50">
                <a:solidFill>
                  <a:srgbClr val="FFD700"/>
                </a:solidFill>
                <a:latin typeface="Calibri"/>
                <a:ea typeface="Calibri"/>
                <a:cs typeface="Calibri"/>
                <a:sym typeface="Calibri"/>
              </a:rPr>
              <a:t>shopvault.io  —  APG Chain Priority Order</a:t>
            </a:r>
            <a:endParaRPr/>
          </a:p>
        </p:txBody>
      </p:sp>
      <p:sp>
        <p:nvSpPr>
          <p:cNvPr id="992" name="Google Shape;992;p25"/>
          <p:cNvSpPr/>
          <p:nvPr/>
        </p:nvSpPr>
        <p:spPr>
          <a:xfrm>
            <a:off x="7479792" y="6236208"/>
            <a:ext cx="4455871" cy="347472"/>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3" name="Google Shape;993;p25"/>
          <p:cNvSpPr txBox="1"/>
          <p:nvPr/>
        </p:nvSpPr>
        <p:spPr>
          <a:xfrm>
            <a:off x="7516368" y="6291072"/>
            <a:ext cx="20116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FF4545"/>
                </a:solidFill>
                <a:latin typeface="Calibri"/>
                <a:ea typeface="Calibri"/>
                <a:cs typeface="Calibri"/>
                <a:sym typeface="Calibri"/>
              </a:rPr>
              <a:t>1</a:t>
            </a:r>
            <a:endParaRPr/>
          </a:p>
        </p:txBody>
      </p:sp>
      <p:sp>
        <p:nvSpPr>
          <p:cNvPr id="994" name="Google Shape;994;p25"/>
          <p:cNvSpPr txBox="1"/>
          <p:nvPr/>
        </p:nvSpPr>
        <p:spPr>
          <a:xfrm>
            <a:off x="7735824" y="6291072"/>
            <a:ext cx="393466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Chain-01  —  CVE-2022-21661 SQLi → RCE</a:t>
            </a:r>
            <a:endParaRPr/>
          </a:p>
        </p:txBody>
      </p:sp>
      <p:sp>
        <p:nvSpPr>
          <p:cNvPr id="995" name="Google Shape;995;p25"/>
          <p:cNvSpPr txBox="1"/>
          <p:nvPr/>
        </p:nvSpPr>
        <p:spPr>
          <a:xfrm>
            <a:off x="11505895" y="6291072"/>
            <a:ext cx="384048" cy="23774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50">
                <a:solidFill>
                  <a:srgbClr val="FF4545"/>
                </a:solidFill>
                <a:latin typeface="Calibri"/>
                <a:ea typeface="Calibri"/>
                <a:cs typeface="Calibri"/>
                <a:sym typeface="Calibri"/>
              </a:rPr>
              <a:t>9.1</a:t>
            </a:r>
            <a:endParaRPr/>
          </a:p>
        </p:txBody>
      </p:sp>
      <p:sp>
        <p:nvSpPr>
          <p:cNvPr id="996" name="Google Shape;996;p25"/>
          <p:cNvSpPr/>
          <p:nvPr/>
        </p:nvSpPr>
        <p:spPr>
          <a:xfrm>
            <a:off x="7479792" y="6601968"/>
            <a:ext cx="4455871" cy="347472"/>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7" name="Google Shape;997;p25"/>
          <p:cNvSpPr txBox="1"/>
          <p:nvPr/>
        </p:nvSpPr>
        <p:spPr>
          <a:xfrm>
            <a:off x="7516368" y="6656832"/>
            <a:ext cx="20116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FFD700"/>
                </a:solidFill>
                <a:latin typeface="Calibri"/>
                <a:ea typeface="Calibri"/>
                <a:cs typeface="Calibri"/>
                <a:sym typeface="Calibri"/>
              </a:rPr>
              <a:t>2</a:t>
            </a:r>
            <a:endParaRPr/>
          </a:p>
        </p:txBody>
      </p:sp>
      <p:sp>
        <p:nvSpPr>
          <p:cNvPr id="998" name="Google Shape;998;p25"/>
          <p:cNvSpPr txBox="1"/>
          <p:nvPr/>
        </p:nvSpPr>
        <p:spPr>
          <a:xfrm>
            <a:off x="7735824" y="6656832"/>
            <a:ext cx="393466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Chain-03  —  Blind SQLi on staging → DB creds</a:t>
            </a:r>
            <a:endParaRPr/>
          </a:p>
        </p:txBody>
      </p:sp>
      <p:sp>
        <p:nvSpPr>
          <p:cNvPr id="999" name="Google Shape;999;p25"/>
          <p:cNvSpPr txBox="1"/>
          <p:nvPr/>
        </p:nvSpPr>
        <p:spPr>
          <a:xfrm>
            <a:off x="11505895" y="6656832"/>
            <a:ext cx="384048" cy="23774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50">
                <a:solidFill>
                  <a:srgbClr val="FFD700"/>
                </a:solidFill>
                <a:latin typeface="Calibri"/>
                <a:ea typeface="Calibri"/>
                <a:cs typeface="Calibri"/>
                <a:sym typeface="Calibri"/>
              </a:rPr>
              <a:t>8.1</a:t>
            </a:r>
            <a:endParaRPr/>
          </a:p>
        </p:txBody>
      </p:sp>
      <p:sp>
        <p:nvSpPr>
          <p:cNvPr id="1000" name="Google Shape;1000;p25"/>
          <p:cNvSpPr/>
          <p:nvPr/>
        </p:nvSpPr>
        <p:spPr>
          <a:xfrm>
            <a:off x="7479792" y="6967728"/>
            <a:ext cx="4455871" cy="347472"/>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01" name="Google Shape;1001;p25"/>
          <p:cNvSpPr txBox="1"/>
          <p:nvPr/>
        </p:nvSpPr>
        <p:spPr>
          <a:xfrm>
            <a:off x="7516368" y="7022592"/>
            <a:ext cx="20116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FFD700"/>
                </a:solidFill>
                <a:latin typeface="Calibri"/>
                <a:ea typeface="Calibri"/>
                <a:cs typeface="Calibri"/>
                <a:sym typeface="Calibri"/>
              </a:rPr>
              <a:t>3</a:t>
            </a:r>
            <a:endParaRPr/>
          </a:p>
        </p:txBody>
      </p:sp>
      <p:sp>
        <p:nvSpPr>
          <p:cNvPr id="1002" name="Google Shape;1002;p25"/>
          <p:cNvSpPr txBox="1"/>
          <p:nvPr/>
        </p:nvSpPr>
        <p:spPr>
          <a:xfrm>
            <a:off x="7735824" y="7022592"/>
            <a:ext cx="393466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Chain-02  —  IDOR on /api/v1/orders → PII</a:t>
            </a:r>
            <a:endParaRPr/>
          </a:p>
        </p:txBody>
      </p:sp>
      <p:sp>
        <p:nvSpPr>
          <p:cNvPr id="1003" name="Google Shape;1003;p25"/>
          <p:cNvSpPr txBox="1"/>
          <p:nvPr/>
        </p:nvSpPr>
        <p:spPr>
          <a:xfrm>
            <a:off x="11505895" y="7022592"/>
            <a:ext cx="384048" cy="23774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50">
                <a:solidFill>
                  <a:srgbClr val="FFD700"/>
                </a:solidFill>
                <a:latin typeface="Calibri"/>
                <a:ea typeface="Calibri"/>
                <a:cs typeface="Calibri"/>
                <a:sym typeface="Calibri"/>
              </a:rPr>
              <a:t>7.5</a:t>
            </a:r>
            <a:endParaRPr/>
          </a:p>
        </p:txBody>
      </p:sp>
      <p:sp>
        <p:nvSpPr>
          <p:cNvPr id="1004" name="Google Shape;1004;p25"/>
          <p:cNvSpPr/>
          <p:nvPr/>
        </p:nvSpPr>
        <p:spPr>
          <a:xfrm>
            <a:off x="7479792" y="7333488"/>
            <a:ext cx="4455871" cy="347472"/>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05" name="Google Shape;1005;p25"/>
          <p:cNvSpPr txBox="1"/>
          <p:nvPr/>
        </p:nvSpPr>
        <p:spPr>
          <a:xfrm>
            <a:off x="7516368" y="7388352"/>
            <a:ext cx="20116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a:solidFill>
                  <a:srgbClr val="BD93F9"/>
                </a:solidFill>
                <a:latin typeface="Calibri"/>
                <a:ea typeface="Calibri"/>
                <a:cs typeface="Calibri"/>
                <a:sym typeface="Calibri"/>
              </a:rPr>
              <a:t>4</a:t>
            </a:r>
            <a:endParaRPr/>
          </a:p>
        </p:txBody>
      </p:sp>
      <p:sp>
        <p:nvSpPr>
          <p:cNvPr id="1006" name="Google Shape;1006;p25"/>
          <p:cNvSpPr txBox="1"/>
          <p:nvPr/>
        </p:nvSpPr>
        <p:spPr>
          <a:xfrm>
            <a:off x="7735824" y="7388352"/>
            <a:ext cx="393466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Chain-04  —  Direct DB backup download → PII</a:t>
            </a:r>
            <a:endParaRPr/>
          </a:p>
        </p:txBody>
      </p:sp>
      <p:sp>
        <p:nvSpPr>
          <p:cNvPr id="1007" name="Google Shape;1007;p25"/>
          <p:cNvSpPr txBox="1"/>
          <p:nvPr/>
        </p:nvSpPr>
        <p:spPr>
          <a:xfrm>
            <a:off x="11505895" y="7388352"/>
            <a:ext cx="384048" cy="23774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50">
                <a:solidFill>
                  <a:srgbClr val="BD93F9"/>
                </a:solidFill>
                <a:latin typeface="Calibri"/>
                <a:ea typeface="Calibri"/>
                <a:cs typeface="Calibri"/>
                <a:sym typeface="Calibri"/>
              </a:rPr>
              <a:t>7.0</a:t>
            </a:r>
            <a:endParaRPr/>
          </a:p>
        </p:txBody>
      </p:sp>
      <p:sp>
        <p:nvSpPr>
          <p:cNvPr id="1008" name="Google Shape;1008;p25"/>
          <p:cNvSpPr/>
          <p:nvPr/>
        </p:nvSpPr>
        <p:spPr>
          <a:xfrm>
            <a:off x="164592" y="6382512"/>
            <a:ext cx="11862511" cy="347472"/>
          </a:xfrm>
          <a:prstGeom prst="rect">
            <a:avLst/>
          </a:prstGeom>
          <a:solidFill>
            <a:srgbClr val="080A1C"/>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09" name="Google Shape;1009;p25"/>
          <p:cNvSpPr txBox="1"/>
          <p:nvPr/>
        </p:nvSpPr>
        <p:spPr>
          <a:xfrm>
            <a:off x="320040" y="6409944"/>
            <a:ext cx="11597335"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BD93F9"/>
                </a:solidFill>
                <a:latin typeface="Calibri"/>
                <a:ea typeface="Calibri"/>
                <a:cs typeface="Calibri"/>
                <a:sym typeface="Calibri"/>
              </a:rPr>
              <a:t>Exploitation Philosophy:  Success = validated APG AttackChains with evidence — not obtained shells.  A mission is complete when every attack opportunity is proven or disproven.</a:t>
            </a:r>
            <a:endParaRPr/>
          </a:p>
        </p:txBody>
      </p:sp>
      <p:sp>
        <p:nvSpPr>
          <p:cNvPr id="1010" name="Google Shape;1010;p25"/>
          <p:cNvSpPr txBox="1"/>
          <p:nvPr/>
        </p:nvSpPr>
        <p:spPr>
          <a:xfrm>
            <a:off x="11629993" y="61540"/>
            <a:ext cx="523240"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14" name="Shape 1014"/>
        <p:cNvGrpSpPr/>
        <p:nvPr/>
      </p:nvGrpSpPr>
      <p:grpSpPr>
        <a:xfrm>
          <a:off x="0" y="0"/>
          <a:ext cx="0" cy="0"/>
          <a:chOff x="0" y="0"/>
          <a:chExt cx="0" cy="0"/>
        </a:xfrm>
      </p:grpSpPr>
      <p:sp>
        <p:nvSpPr>
          <p:cNvPr id="1015" name="Google Shape;1015;p26"/>
          <p:cNvSpPr/>
          <p:nvPr/>
        </p:nvSpPr>
        <p:spPr>
          <a:xfrm>
            <a:off x="0" y="0"/>
            <a:ext cx="54864"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16" name="Google Shape;1016;p26"/>
          <p:cNvSpPr/>
          <p:nvPr/>
        </p:nvSpPr>
        <p:spPr>
          <a:xfrm>
            <a:off x="54864" y="0"/>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17" name="Google Shape;1017;p26"/>
          <p:cNvSpPr/>
          <p:nvPr/>
        </p:nvSpPr>
        <p:spPr>
          <a:xfrm>
            <a:off x="54864" y="6821424"/>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18" name="Google Shape;1018;p26"/>
          <p:cNvSpPr txBox="1"/>
          <p:nvPr/>
        </p:nvSpPr>
        <p:spPr>
          <a:xfrm>
            <a:off x="274320" y="73152"/>
            <a:ext cx="73152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CROSS-MISSION LEARNING</a:t>
            </a:r>
            <a:endParaRPr/>
          </a:p>
        </p:txBody>
      </p:sp>
      <p:sp>
        <p:nvSpPr>
          <p:cNvPr id="1019" name="Google Shape;1019;p26"/>
          <p:cNvSpPr txBox="1"/>
          <p:nvPr/>
        </p:nvSpPr>
        <p:spPr>
          <a:xfrm>
            <a:off x="274320" y="347472"/>
            <a:ext cx="114300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600">
                <a:solidFill>
                  <a:srgbClr val="FFFFFF"/>
                </a:solidFill>
                <a:latin typeface="Calibri"/>
                <a:ea typeface="Calibri"/>
                <a:cs typeface="Calibri"/>
                <a:sym typeface="Calibri"/>
              </a:rPr>
              <a:t>Experience Store + Attack Strategy Library — CMatrix Gets Smarter Each Mission</a:t>
            </a:r>
            <a:endParaRPr/>
          </a:p>
        </p:txBody>
      </p:sp>
      <p:sp>
        <p:nvSpPr>
          <p:cNvPr id="1020" name="Google Shape;1020;p26"/>
          <p:cNvSpPr/>
          <p:nvPr/>
        </p:nvSpPr>
        <p:spPr>
          <a:xfrm>
            <a:off x="274320" y="914400"/>
            <a:ext cx="6400800" cy="27432"/>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21" name="Google Shape;1021;p26"/>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22" name="Google Shape;1022;p26"/>
          <p:cNvSpPr txBox="1"/>
          <p:nvPr/>
        </p:nvSpPr>
        <p:spPr>
          <a:xfrm>
            <a:off x="411480" y="1143000"/>
            <a:ext cx="201168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Mission N</a:t>
            </a:r>
            <a:br>
              <a:rPr b="1" i="0" lang="en-US" sz="1300">
                <a:solidFill>
                  <a:srgbClr val="00E5FF"/>
                </a:solidFill>
                <a:latin typeface="Calibri"/>
                <a:ea typeface="Calibri"/>
                <a:cs typeface="Calibri"/>
                <a:sym typeface="Calibri"/>
              </a:rPr>
            </a:br>
            <a:r>
              <a:rPr b="1" i="0" lang="en-US" sz="1300">
                <a:solidFill>
                  <a:srgbClr val="00E5FF"/>
                </a:solidFill>
                <a:latin typeface="Calibri"/>
                <a:ea typeface="Calibri"/>
                <a:cs typeface="Calibri"/>
                <a:sym typeface="Calibri"/>
              </a:rPr>
              <a:t>(completed)</a:t>
            </a:r>
            <a:endParaRPr/>
          </a:p>
        </p:txBody>
      </p:sp>
      <p:cxnSp>
        <p:nvCxnSpPr>
          <p:cNvPr id="1023" name="Google Shape;1023;p26"/>
          <p:cNvCxnSpPr/>
          <p:nvPr/>
        </p:nvCxnSpPr>
        <p:spPr>
          <a:xfrm>
            <a:off x="2560320" y="0"/>
            <a:ext cx="109728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1024" name="Google Shape;1024;p26"/>
          <p:cNvSpPr txBox="1"/>
          <p:nvPr/>
        </p:nvSpPr>
        <p:spPr>
          <a:xfrm>
            <a:off x="2578608" y="1097280"/>
            <a:ext cx="1024128" cy="6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Report Agent writes</a:t>
            </a:r>
            <a:br>
              <a:rPr b="0" i="1" lang="en-US" sz="850">
                <a:solidFill>
                  <a:srgbClr val="A0AAB8"/>
                </a:solidFill>
                <a:latin typeface="Calibri"/>
                <a:ea typeface="Calibri"/>
                <a:cs typeface="Calibri"/>
                <a:sym typeface="Calibri"/>
              </a:rPr>
            </a:br>
            <a:r>
              <a:rPr b="0" i="1" lang="en-US" sz="850">
                <a:solidFill>
                  <a:srgbClr val="A0AAB8"/>
                </a:solidFill>
                <a:latin typeface="Calibri"/>
                <a:ea typeface="Calibri"/>
                <a:cs typeface="Calibri"/>
                <a:sym typeface="Calibri"/>
              </a:rPr>
              <a:t>validated chains</a:t>
            </a:r>
            <a:endParaRPr/>
          </a:p>
        </p:txBody>
      </p:sp>
      <p:sp>
        <p:nvSpPr>
          <p:cNvPr id="1025" name="Google Shape;1025;p26"/>
          <p:cNvSpPr/>
          <p:nvPr/>
        </p:nvSpPr>
        <p:spPr>
          <a:xfrm>
            <a:off x="3749039" y="731520"/>
            <a:ext cx="2377440" cy="146304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26" name="Google Shape;1026;p26"/>
          <p:cNvSpPr txBox="1"/>
          <p:nvPr/>
        </p:nvSpPr>
        <p:spPr>
          <a:xfrm>
            <a:off x="3858768" y="841248"/>
            <a:ext cx="21488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00BFD8"/>
                </a:solidFill>
                <a:latin typeface="Calibri"/>
                <a:ea typeface="Calibri"/>
                <a:cs typeface="Calibri"/>
                <a:sym typeface="Calibri"/>
              </a:rPr>
              <a:t>Cross-Mission</a:t>
            </a:r>
            <a:br>
              <a:rPr b="1" i="0" lang="en-US" sz="1200">
                <a:solidFill>
                  <a:srgbClr val="00BFD8"/>
                </a:solidFill>
                <a:latin typeface="Calibri"/>
                <a:ea typeface="Calibri"/>
                <a:cs typeface="Calibri"/>
                <a:sym typeface="Calibri"/>
              </a:rPr>
            </a:br>
            <a:r>
              <a:rPr b="1" i="0" lang="en-US" sz="1200">
                <a:solidFill>
                  <a:srgbClr val="00BFD8"/>
                </a:solidFill>
                <a:latin typeface="Calibri"/>
                <a:ea typeface="Calibri"/>
                <a:cs typeface="Calibri"/>
                <a:sym typeface="Calibri"/>
              </a:rPr>
              <a:t>Experience Store</a:t>
            </a:r>
            <a:endParaRPr/>
          </a:p>
        </p:txBody>
      </p:sp>
      <p:sp>
        <p:nvSpPr>
          <p:cNvPr id="1027" name="Google Shape;1027;p26"/>
          <p:cNvSpPr txBox="1"/>
          <p:nvPr/>
        </p:nvSpPr>
        <p:spPr>
          <a:xfrm>
            <a:off x="3858768" y="1325880"/>
            <a:ext cx="214884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900">
                <a:solidFill>
                  <a:srgbClr val="A0AAB8"/>
                </a:solidFill>
                <a:latin typeface="Calibri"/>
                <a:ea typeface="Calibri"/>
                <a:cs typeface="Calibri"/>
                <a:sym typeface="Calibri"/>
              </a:rPr>
              <a:t>RAG-backed · persistent</a:t>
            </a:r>
            <a:br>
              <a:rPr b="0" i="1" lang="en-US" sz="900">
                <a:solidFill>
                  <a:srgbClr val="A0AAB8"/>
                </a:solidFill>
                <a:latin typeface="Calibri"/>
                <a:ea typeface="Calibri"/>
                <a:cs typeface="Calibri"/>
                <a:sym typeface="Calibri"/>
              </a:rPr>
            </a:br>
            <a:r>
              <a:rPr b="0" i="1" lang="en-US" sz="900">
                <a:solidFill>
                  <a:srgbClr val="A0AAB8"/>
                </a:solidFill>
                <a:latin typeface="Calibri"/>
                <a:ea typeface="Calibri"/>
                <a:cs typeface="Calibri"/>
                <a:sym typeface="Calibri"/>
              </a:rPr>
              <a:t>across all missions</a:t>
            </a:r>
            <a:endParaRPr/>
          </a:p>
        </p:txBody>
      </p:sp>
      <p:cxnSp>
        <p:nvCxnSpPr>
          <p:cNvPr id="1028" name="Google Shape;1028;p26"/>
          <p:cNvCxnSpPr/>
          <p:nvPr/>
        </p:nvCxnSpPr>
        <p:spPr>
          <a:xfrm>
            <a:off x="6126480" y="0"/>
            <a:ext cx="109728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029" name="Google Shape;1029;p26"/>
          <p:cNvSpPr txBox="1"/>
          <p:nvPr/>
        </p:nvSpPr>
        <p:spPr>
          <a:xfrm>
            <a:off x="6144768" y="1051560"/>
            <a:ext cx="1024128" cy="6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FFD700"/>
                </a:solidFill>
                <a:latin typeface="Calibri"/>
                <a:ea typeface="Calibri"/>
                <a:cs typeface="Calibri"/>
                <a:sym typeface="Calibri"/>
              </a:rPr>
              <a:t>Crystallize</a:t>
            </a:r>
            <a:br>
              <a:rPr b="0" i="1" lang="en-US" sz="850">
                <a:solidFill>
                  <a:srgbClr val="FFD700"/>
                </a:solidFill>
                <a:latin typeface="Calibri"/>
                <a:ea typeface="Calibri"/>
                <a:cs typeface="Calibri"/>
                <a:sym typeface="Calibri"/>
              </a:rPr>
            </a:br>
            <a:r>
              <a:rPr b="0" i="1" lang="en-US" sz="850">
                <a:solidFill>
                  <a:srgbClr val="FFD700"/>
                </a:solidFill>
                <a:latin typeface="Calibri"/>
                <a:ea typeface="Calibri"/>
                <a:cs typeface="Calibri"/>
                <a:sym typeface="Calibri"/>
              </a:rPr>
              <a:t>(&gt;=2 missions)</a:t>
            </a:r>
            <a:endParaRPr/>
          </a:p>
        </p:txBody>
      </p:sp>
      <p:sp>
        <p:nvSpPr>
          <p:cNvPr id="1030" name="Google Shape;1030;p26"/>
          <p:cNvSpPr/>
          <p:nvPr/>
        </p:nvSpPr>
        <p:spPr>
          <a:xfrm>
            <a:off x="7315200" y="731520"/>
            <a:ext cx="2377440" cy="146304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31" name="Google Shape;1031;p26"/>
          <p:cNvSpPr txBox="1"/>
          <p:nvPr/>
        </p:nvSpPr>
        <p:spPr>
          <a:xfrm>
            <a:off x="7424927" y="841248"/>
            <a:ext cx="21488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FFD700"/>
                </a:solidFill>
                <a:latin typeface="Calibri"/>
                <a:ea typeface="Calibri"/>
                <a:cs typeface="Calibri"/>
                <a:sym typeface="Calibri"/>
              </a:rPr>
              <a:t>Attack Strategy</a:t>
            </a:r>
            <a:br>
              <a:rPr b="1" i="0" lang="en-US" sz="1200">
                <a:solidFill>
                  <a:srgbClr val="FFD700"/>
                </a:solidFill>
                <a:latin typeface="Calibri"/>
                <a:ea typeface="Calibri"/>
                <a:cs typeface="Calibri"/>
                <a:sym typeface="Calibri"/>
              </a:rPr>
            </a:br>
            <a:r>
              <a:rPr b="1" i="0" lang="en-US" sz="1200">
                <a:solidFill>
                  <a:srgbClr val="FFD700"/>
                </a:solidFill>
                <a:latin typeface="Calibri"/>
                <a:ea typeface="Calibri"/>
                <a:cs typeface="Calibri"/>
                <a:sym typeface="Calibri"/>
              </a:rPr>
              <a:t>Library</a:t>
            </a:r>
            <a:endParaRPr/>
          </a:p>
        </p:txBody>
      </p:sp>
      <p:sp>
        <p:nvSpPr>
          <p:cNvPr id="1032" name="Google Shape;1032;p26"/>
          <p:cNvSpPr txBox="1"/>
          <p:nvPr/>
        </p:nvSpPr>
        <p:spPr>
          <a:xfrm>
            <a:off x="7424927" y="1325880"/>
            <a:ext cx="214884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900">
                <a:solidFill>
                  <a:srgbClr val="A0AAB8"/>
                </a:solidFill>
                <a:latin typeface="Calibri"/>
                <a:ea typeface="Calibri"/>
                <a:cs typeface="Calibri"/>
                <a:sym typeface="Calibri"/>
              </a:rPr>
              <a:t>Named strategies · confidence scores</a:t>
            </a:r>
            <a:br>
              <a:rPr b="0" i="1" lang="en-US" sz="900">
                <a:solidFill>
                  <a:srgbClr val="A0AAB8"/>
                </a:solidFill>
                <a:latin typeface="Calibri"/>
                <a:ea typeface="Calibri"/>
                <a:cs typeface="Calibri"/>
                <a:sym typeface="Calibri"/>
              </a:rPr>
            </a:br>
            <a:r>
              <a:rPr b="0" i="1" lang="en-US" sz="900">
                <a:solidFill>
                  <a:srgbClr val="A0AAB8"/>
                </a:solidFill>
                <a:latin typeface="Calibri"/>
                <a:ea typeface="Calibri"/>
                <a:cs typeface="Calibri"/>
                <a:sym typeface="Calibri"/>
              </a:rPr>
              <a:t>technology-fingerprint indexed</a:t>
            </a:r>
            <a:endParaRPr/>
          </a:p>
        </p:txBody>
      </p:sp>
      <p:cxnSp>
        <p:nvCxnSpPr>
          <p:cNvPr id="1033" name="Google Shape;1033;p26"/>
          <p:cNvCxnSpPr/>
          <p:nvPr/>
        </p:nvCxnSpPr>
        <p:spPr>
          <a:xfrm>
            <a:off x="9692640" y="0"/>
            <a:ext cx="109728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1034" name="Google Shape;1034;p26"/>
          <p:cNvSpPr txBox="1"/>
          <p:nvPr/>
        </p:nvSpPr>
        <p:spPr>
          <a:xfrm>
            <a:off x="9710928" y="1097280"/>
            <a:ext cx="1024128" cy="6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Pre-ranked seeds</a:t>
            </a:r>
            <a:br>
              <a:rPr b="0" i="1" lang="en-US" sz="850">
                <a:solidFill>
                  <a:srgbClr val="A0AAB8"/>
                </a:solidFill>
                <a:latin typeface="Calibri"/>
                <a:ea typeface="Calibri"/>
                <a:cs typeface="Calibri"/>
                <a:sym typeface="Calibri"/>
              </a:rPr>
            </a:br>
            <a:r>
              <a:rPr b="0" i="1" lang="en-US" sz="850">
                <a:solidFill>
                  <a:srgbClr val="A0AAB8"/>
                </a:solidFill>
                <a:latin typeface="Calibri"/>
                <a:ea typeface="Calibri"/>
                <a:cs typeface="Calibri"/>
                <a:sym typeface="Calibri"/>
              </a:rPr>
              <a:t>at mission start</a:t>
            </a:r>
            <a:endParaRPr/>
          </a:p>
        </p:txBody>
      </p:sp>
      <p:sp>
        <p:nvSpPr>
          <p:cNvPr id="1035" name="Google Shape;1035;p26"/>
          <p:cNvSpPr/>
          <p:nvPr/>
        </p:nvSpPr>
        <p:spPr>
          <a:xfrm>
            <a:off x="10881360" y="1005840"/>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36" name="Google Shape;1036;p26"/>
          <p:cNvSpPr txBox="1"/>
          <p:nvPr/>
        </p:nvSpPr>
        <p:spPr>
          <a:xfrm>
            <a:off x="10927080" y="1115568"/>
            <a:ext cx="1051560" cy="6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39FF14"/>
                </a:solidFill>
                <a:latin typeface="Calibri"/>
                <a:ea typeface="Calibri"/>
                <a:cs typeface="Calibri"/>
                <a:sym typeface="Calibri"/>
              </a:rPr>
              <a:t>Mission</a:t>
            </a:r>
            <a:br>
              <a:rPr b="1" i="0" lang="en-US" sz="1200">
                <a:solidFill>
                  <a:srgbClr val="39FF14"/>
                </a:solidFill>
                <a:latin typeface="Calibri"/>
                <a:ea typeface="Calibri"/>
                <a:cs typeface="Calibri"/>
                <a:sym typeface="Calibri"/>
              </a:rPr>
            </a:br>
            <a:r>
              <a:rPr b="1" i="0" lang="en-US" sz="1200">
                <a:solidFill>
                  <a:srgbClr val="39FF14"/>
                </a:solidFill>
                <a:latin typeface="Calibri"/>
                <a:ea typeface="Calibri"/>
                <a:cs typeface="Calibri"/>
                <a:sym typeface="Calibri"/>
              </a:rPr>
              <a:t>N+1</a:t>
            </a:r>
            <a:endParaRPr/>
          </a:p>
        </p:txBody>
      </p:sp>
      <p:cxnSp>
        <p:nvCxnSpPr>
          <p:cNvPr id="1037" name="Google Shape;1037;p26"/>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39"/>
              </a:srgbClr>
            </a:outerShdw>
          </a:effectLst>
        </p:spPr>
      </p:cxnSp>
      <p:sp>
        <p:nvSpPr>
          <p:cNvPr id="1038" name="Google Shape;1038;p26"/>
          <p:cNvSpPr txBox="1"/>
          <p:nvPr/>
        </p:nvSpPr>
        <p:spPr>
          <a:xfrm>
            <a:off x="6035040" y="1865376"/>
            <a:ext cx="36576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Candidate chain hypotheses injected into Commander context</a:t>
            </a:r>
            <a:endParaRPr/>
          </a:p>
        </p:txBody>
      </p:sp>
      <p:sp>
        <p:nvSpPr>
          <p:cNvPr id="1039" name="Google Shape;1039;p26"/>
          <p:cNvSpPr/>
          <p:nvPr/>
        </p:nvSpPr>
        <p:spPr>
          <a:xfrm>
            <a:off x="274320" y="2212848"/>
            <a:ext cx="5669280" cy="416052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0" name="Google Shape;1040;p26"/>
          <p:cNvSpPr/>
          <p:nvPr/>
        </p:nvSpPr>
        <p:spPr>
          <a:xfrm>
            <a:off x="274320" y="2212848"/>
            <a:ext cx="5669280" cy="36576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1" name="Google Shape;1041;p26"/>
          <p:cNvSpPr txBox="1"/>
          <p:nvPr/>
        </p:nvSpPr>
        <p:spPr>
          <a:xfrm>
            <a:off x="384048" y="2267712"/>
            <a:ext cx="5486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0A0D1A"/>
                </a:solidFill>
                <a:latin typeface="Calibri"/>
                <a:ea typeface="Calibri"/>
                <a:cs typeface="Calibri"/>
                <a:sym typeface="Calibri"/>
              </a:rPr>
              <a:t>C10  ·  Cross-Mission Experience Store</a:t>
            </a:r>
            <a:endParaRPr/>
          </a:p>
        </p:txBody>
      </p:sp>
      <p:sp>
        <p:nvSpPr>
          <p:cNvPr id="1042" name="Google Shape;1042;p26"/>
          <p:cNvSpPr/>
          <p:nvPr/>
        </p:nvSpPr>
        <p:spPr>
          <a:xfrm>
            <a:off x="384048" y="2670048"/>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3" name="Google Shape;1043;p26"/>
          <p:cNvSpPr txBox="1"/>
          <p:nvPr/>
        </p:nvSpPr>
        <p:spPr>
          <a:xfrm>
            <a:off x="475488" y="2724912"/>
            <a:ext cx="53218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What it stores</a:t>
            </a:r>
            <a:endParaRPr/>
          </a:p>
        </p:txBody>
      </p:sp>
      <p:sp>
        <p:nvSpPr>
          <p:cNvPr id="1044" name="Google Shape;1044;p26"/>
          <p:cNvSpPr txBox="1"/>
          <p:nvPr/>
        </p:nvSpPr>
        <p:spPr>
          <a:xfrm>
            <a:off x="475488" y="2980944"/>
            <a:ext cx="5321808"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Per-mission · per-chain raw records of validated exploitation outcomes.</a:t>
            </a:r>
            <a:br>
              <a:rPr b="0" i="0" lang="en-US" sz="950">
                <a:solidFill>
                  <a:srgbClr val="A0AAB8"/>
                </a:solidFill>
                <a:latin typeface="Calibri"/>
                <a:ea typeface="Calibri"/>
                <a:cs typeface="Calibri"/>
                <a:sym typeface="Calibri"/>
              </a:rPr>
            </a:br>
            <a:r>
              <a:rPr b="0" i="0" lang="en-US" sz="950">
                <a:solidFill>
                  <a:srgbClr val="A0AAB8"/>
                </a:solidFill>
                <a:latin typeface="Calibri"/>
                <a:ea typeface="Calibri"/>
                <a:cs typeface="Calibri"/>
                <a:sym typeface="Calibri"/>
              </a:rPr>
              <a:t>Target technology fingerprint · CVE · successful tool invocation · ChainStep sequence · mission outcome.</a:t>
            </a:r>
            <a:endParaRPr/>
          </a:p>
        </p:txBody>
      </p:sp>
      <p:sp>
        <p:nvSpPr>
          <p:cNvPr id="1045" name="Google Shape;1045;p26"/>
          <p:cNvSpPr/>
          <p:nvPr/>
        </p:nvSpPr>
        <p:spPr>
          <a:xfrm>
            <a:off x="384048" y="3566160"/>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6" name="Google Shape;1046;p26"/>
          <p:cNvSpPr txBox="1"/>
          <p:nvPr/>
        </p:nvSpPr>
        <p:spPr>
          <a:xfrm>
            <a:off x="475488" y="3621024"/>
            <a:ext cx="53218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When it's written</a:t>
            </a:r>
            <a:endParaRPr/>
          </a:p>
        </p:txBody>
      </p:sp>
      <p:sp>
        <p:nvSpPr>
          <p:cNvPr id="1047" name="Google Shape;1047;p26"/>
          <p:cNvSpPr txBox="1"/>
          <p:nvPr/>
        </p:nvSpPr>
        <p:spPr>
          <a:xfrm>
            <a:off x="475488" y="3877056"/>
            <a:ext cx="5321808"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Report Agent writes one entry for every chain with terminal status VALIDATED at mission close.</a:t>
            </a:r>
            <a:endParaRPr/>
          </a:p>
        </p:txBody>
      </p:sp>
      <p:sp>
        <p:nvSpPr>
          <p:cNvPr id="1048" name="Google Shape;1048;p26"/>
          <p:cNvSpPr/>
          <p:nvPr/>
        </p:nvSpPr>
        <p:spPr>
          <a:xfrm>
            <a:off x="384048" y="4462272"/>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49" name="Google Shape;1049;p26"/>
          <p:cNvSpPr txBox="1"/>
          <p:nvPr/>
        </p:nvSpPr>
        <p:spPr>
          <a:xfrm>
            <a:off x="475488" y="4517136"/>
            <a:ext cx="53218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When it's read</a:t>
            </a:r>
            <a:endParaRPr/>
          </a:p>
        </p:txBody>
      </p:sp>
      <p:sp>
        <p:nvSpPr>
          <p:cNvPr id="1050" name="Google Shape;1050;p26"/>
          <p:cNvSpPr txBox="1"/>
          <p:nvPr/>
        </p:nvSpPr>
        <p:spPr>
          <a:xfrm>
            <a:off x="475488" y="4773168"/>
            <a:ext cx="5321808"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a:p>
        </p:txBody>
      </p:sp>
      <p:sp>
        <p:nvSpPr>
          <p:cNvPr id="1051" name="Google Shape;1051;p26"/>
          <p:cNvSpPr/>
          <p:nvPr/>
        </p:nvSpPr>
        <p:spPr>
          <a:xfrm>
            <a:off x="384048" y="5358384"/>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52" name="Google Shape;1052;p26"/>
          <p:cNvSpPr txBox="1"/>
          <p:nvPr/>
        </p:nvSpPr>
        <p:spPr>
          <a:xfrm>
            <a:off x="475488" y="5413248"/>
            <a:ext cx="53218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Research origin</a:t>
            </a:r>
            <a:endParaRPr/>
          </a:p>
        </p:txBody>
      </p:sp>
      <p:sp>
        <p:nvSpPr>
          <p:cNvPr id="1053" name="Google Shape;1053;p26"/>
          <p:cNvSpPr txBox="1"/>
          <p:nvPr/>
        </p:nvSpPr>
        <p:spPr>
          <a:xfrm>
            <a:off x="475488" y="5669280"/>
            <a:ext cx="5321808"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a:p>
        </p:txBody>
      </p:sp>
      <p:sp>
        <p:nvSpPr>
          <p:cNvPr id="1054" name="Google Shape;1054;p26"/>
          <p:cNvSpPr/>
          <p:nvPr/>
        </p:nvSpPr>
        <p:spPr>
          <a:xfrm>
            <a:off x="6172200" y="2212848"/>
            <a:ext cx="5833872" cy="416052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55" name="Google Shape;1055;p26"/>
          <p:cNvSpPr/>
          <p:nvPr/>
        </p:nvSpPr>
        <p:spPr>
          <a:xfrm>
            <a:off x="6172200" y="2212848"/>
            <a:ext cx="5833872" cy="36576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56" name="Google Shape;1056;p26"/>
          <p:cNvSpPr txBox="1"/>
          <p:nvPr/>
        </p:nvSpPr>
        <p:spPr>
          <a:xfrm>
            <a:off x="6281928" y="2267712"/>
            <a:ext cx="5650992"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a:solidFill>
                  <a:srgbClr val="0A0D1A"/>
                </a:solidFill>
                <a:latin typeface="Calibri"/>
                <a:ea typeface="Calibri"/>
                <a:cs typeface="Calibri"/>
                <a:sym typeface="Calibri"/>
              </a:rPr>
              <a:t>C11  ·  Attack Strategy Library</a:t>
            </a:r>
            <a:endParaRPr/>
          </a:p>
        </p:txBody>
      </p:sp>
      <p:sp>
        <p:nvSpPr>
          <p:cNvPr id="1057" name="Google Shape;1057;p26"/>
          <p:cNvSpPr/>
          <p:nvPr/>
        </p:nvSpPr>
        <p:spPr>
          <a:xfrm>
            <a:off x="6281928" y="2670048"/>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58" name="Google Shape;1058;p26"/>
          <p:cNvSpPr txBox="1"/>
          <p:nvPr/>
        </p:nvSpPr>
        <p:spPr>
          <a:xfrm>
            <a:off x="6373368" y="2724912"/>
            <a:ext cx="5486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What it stores</a:t>
            </a:r>
            <a:endParaRPr/>
          </a:p>
        </p:txBody>
      </p:sp>
      <p:sp>
        <p:nvSpPr>
          <p:cNvPr id="1059" name="Google Shape;1059;p26"/>
          <p:cNvSpPr txBox="1"/>
          <p:nvPr/>
        </p:nvSpPr>
        <p:spPr>
          <a:xfrm>
            <a:off x="6373368" y="2980944"/>
            <a:ext cx="5486400"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a:p>
        </p:txBody>
      </p:sp>
      <p:sp>
        <p:nvSpPr>
          <p:cNvPr id="1060" name="Google Shape;1060;p26"/>
          <p:cNvSpPr/>
          <p:nvPr/>
        </p:nvSpPr>
        <p:spPr>
          <a:xfrm>
            <a:off x="6281928" y="3566160"/>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61" name="Google Shape;1061;p26"/>
          <p:cNvSpPr txBox="1"/>
          <p:nvPr/>
        </p:nvSpPr>
        <p:spPr>
          <a:xfrm>
            <a:off x="6373368" y="3621024"/>
            <a:ext cx="5486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Crystallization threshold</a:t>
            </a:r>
            <a:endParaRPr/>
          </a:p>
        </p:txBody>
      </p:sp>
      <p:sp>
        <p:nvSpPr>
          <p:cNvPr id="1062" name="Google Shape;1062;p26"/>
          <p:cNvSpPr txBox="1"/>
          <p:nvPr/>
        </p:nvSpPr>
        <p:spPr>
          <a:xfrm>
            <a:off x="6373368" y="3877056"/>
            <a:ext cx="5486400"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a:p>
        </p:txBody>
      </p:sp>
      <p:sp>
        <p:nvSpPr>
          <p:cNvPr id="1063" name="Google Shape;1063;p26"/>
          <p:cNvSpPr/>
          <p:nvPr/>
        </p:nvSpPr>
        <p:spPr>
          <a:xfrm>
            <a:off x="6281928" y="4462272"/>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64" name="Google Shape;1064;p26"/>
          <p:cNvSpPr txBox="1"/>
          <p:nvPr/>
        </p:nvSpPr>
        <p:spPr>
          <a:xfrm>
            <a:off x="6373368" y="4517136"/>
            <a:ext cx="5486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When it's used</a:t>
            </a:r>
            <a:endParaRPr/>
          </a:p>
        </p:txBody>
      </p:sp>
      <p:sp>
        <p:nvSpPr>
          <p:cNvPr id="1065" name="Google Shape;1065;p26"/>
          <p:cNvSpPr txBox="1"/>
          <p:nvPr/>
        </p:nvSpPr>
        <p:spPr>
          <a:xfrm>
            <a:off x="6373368" y="4773168"/>
            <a:ext cx="5486400"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a:p>
        </p:txBody>
      </p:sp>
      <p:sp>
        <p:nvSpPr>
          <p:cNvPr id="1066" name="Google Shape;1066;p26"/>
          <p:cNvSpPr/>
          <p:nvPr/>
        </p:nvSpPr>
        <p:spPr>
          <a:xfrm>
            <a:off x="6281928" y="5358384"/>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67" name="Google Shape;1067;p26"/>
          <p:cNvSpPr txBox="1"/>
          <p:nvPr/>
        </p:nvSpPr>
        <p:spPr>
          <a:xfrm>
            <a:off x="6373368" y="5413248"/>
            <a:ext cx="5486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Why it matters</a:t>
            </a:r>
            <a:endParaRPr/>
          </a:p>
        </p:txBody>
      </p:sp>
      <p:sp>
        <p:nvSpPr>
          <p:cNvPr id="1068" name="Google Shape;1068;p26"/>
          <p:cNvSpPr txBox="1"/>
          <p:nvPr/>
        </p:nvSpPr>
        <p:spPr>
          <a:xfrm>
            <a:off x="6373368" y="5669280"/>
            <a:ext cx="5486400" cy="5120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50">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a:p>
        </p:txBody>
      </p:sp>
      <p:sp>
        <p:nvSpPr>
          <p:cNvPr id="1069" name="Google Shape;1069;p26"/>
          <p:cNvSpPr/>
          <p:nvPr/>
        </p:nvSpPr>
        <p:spPr>
          <a:xfrm>
            <a:off x="274320" y="6291072"/>
            <a:ext cx="11643055" cy="420624"/>
          </a:xfrm>
          <a:prstGeom prst="rect">
            <a:avLst/>
          </a:prstGeom>
          <a:solidFill>
            <a:srgbClr val="081422"/>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70" name="Google Shape;1070;p26"/>
          <p:cNvSpPr txBox="1"/>
          <p:nvPr/>
        </p:nvSpPr>
        <p:spPr>
          <a:xfrm>
            <a:off x="457200" y="6318504"/>
            <a:ext cx="11368735"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BD93F9"/>
                </a:solidFill>
                <a:latin typeface="Calibri"/>
                <a:ea typeface="Calibri"/>
                <a:cs typeface="Calibri"/>
                <a:sym typeface="Calibri"/>
              </a:rPr>
              <a:t>C12 · Trajectory Export:  Every mission produces a machine-readable decision log capturing ASG/APG triggers, Commander rationale, and actions taken — directly usable as SFT/RL training data for security LLMs.</a:t>
            </a:r>
            <a:endParaRPr/>
          </a:p>
        </p:txBody>
      </p:sp>
      <p:sp>
        <p:nvSpPr>
          <p:cNvPr id="1071" name="Google Shape;1071;p26"/>
          <p:cNvSpPr txBox="1"/>
          <p:nvPr/>
        </p:nvSpPr>
        <p:spPr>
          <a:xfrm>
            <a:off x="11811420" y="63137"/>
            <a:ext cx="378097"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BFD8"/>
                </a:solidFill>
                <a:latin typeface="Calibri"/>
                <a:ea typeface="Calibri"/>
                <a:cs typeface="Calibri"/>
                <a:sym typeface="Calibri"/>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75" name="Shape 1075"/>
        <p:cNvGrpSpPr/>
        <p:nvPr/>
      </p:nvGrpSpPr>
      <p:grpSpPr>
        <a:xfrm>
          <a:off x="0" y="0"/>
          <a:ext cx="0" cy="0"/>
          <a:chOff x="0" y="0"/>
          <a:chExt cx="0" cy="0"/>
        </a:xfrm>
      </p:grpSpPr>
      <p:sp>
        <p:nvSpPr>
          <p:cNvPr id="1076" name="Google Shape;1076;p27"/>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77" name="Google Shape;1077;p27"/>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78" name="Google Shape;1078;p27"/>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79" name="Google Shape;1079;p27"/>
          <p:cNvSpPr txBox="1"/>
          <p:nvPr/>
        </p:nvSpPr>
        <p:spPr>
          <a:xfrm>
            <a:off x="274320" y="64008"/>
            <a:ext cx="457200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D700"/>
                </a:solidFill>
                <a:latin typeface="Calibri"/>
                <a:ea typeface="Calibri"/>
                <a:cs typeface="Calibri"/>
                <a:sym typeface="Calibri"/>
              </a:rPr>
              <a:t>REAL-WORLD SCENARIO</a:t>
            </a:r>
            <a:endParaRPr/>
          </a:p>
        </p:txBody>
      </p:sp>
      <p:sp>
        <p:nvSpPr>
          <p:cNvPr id="1080" name="Google Shape;1080;p27"/>
          <p:cNvSpPr txBox="1"/>
          <p:nvPr/>
        </p:nvSpPr>
        <p:spPr>
          <a:xfrm>
            <a:off x="274320" y="283464"/>
            <a:ext cx="11430000" cy="43891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400">
                <a:solidFill>
                  <a:srgbClr val="FFFFFF"/>
                </a:solidFill>
                <a:latin typeface="Calibri"/>
                <a:ea typeface="Calibri"/>
                <a:cs typeface="Calibri"/>
                <a:sym typeface="Calibri"/>
              </a:rPr>
              <a:t>Mission: shopvault.io — Black-Box Assessment — Zero Manual Commands</a:t>
            </a:r>
            <a:endParaRPr/>
          </a:p>
        </p:txBody>
      </p:sp>
      <p:sp>
        <p:nvSpPr>
          <p:cNvPr id="1081" name="Google Shape;1081;p27"/>
          <p:cNvSpPr/>
          <p:nvPr/>
        </p:nvSpPr>
        <p:spPr>
          <a:xfrm>
            <a:off x="164592" y="768096"/>
            <a:ext cx="11862511" cy="347472"/>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82" name="Google Shape;1082;p27"/>
          <p:cNvSpPr txBox="1"/>
          <p:nvPr/>
        </p:nvSpPr>
        <p:spPr>
          <a:xfrm>
            <a:off x="320040" y="822960"/>
            <a:ext cx="11597335"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900">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a:p>
        </p:txBody>
      </p:sp>
      <p:sp>
        <p:nvSpPr>
          <p:cNvPr id="1083" name="Google Shape;1083;p27"/>
          <p:cNvSpPr/>
          <p:nvPr/>
        </p:nvSpPr>
        <p:spPr>
          <a:xfrm>
            <a:off x="164592" y="1188720"/>
            <a:ext cx="2395728" cy="5010912"/>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84" name="Google Shape;1084;p27"/>
          <p:cNvSpPr/>
          <p:nvPr/>
        </p:nvSpPr>
        <p:spPr>
          <a:xfrm>
            <a:off x="164592" y="1188720"/>
            <a:ext cx="2395728"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85" name="Google Shape;1085;p27"/>
          <p:cNvSpPr txBox="1"/>
          <p:nvPr/>
        </p:nvSpPr>
        <p:spPr>
          <a:xfrm>
            <a:off x="237744" y="1243584"/>
            <a:ext cx="2286000" cy="3840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39FF14"/>
                </a:solidFill>
                <a:latin typeface="Calibri"/>
                <a:ea typeface="Calibri"/>
                <a:cs typeface="Calibri"/>
                <a:sym typeface="Calibri"/>
              </a:rPr>
              <a:t>PHASE 1</a:t>
            </a:r>
            <a:br>
              <a:rPr b="1" i="0" lang="en-US" sz="1000">
                <a:solidFill>
                  <a:srgbClr val="39FF14"/>
                </a:solidFill>
                <a:latin typeface="Calibri"/>
                <a:ea typeface="Calibri"/>
                <a:cs typeface="Calibri"/>
                <a:sym typeface="Calibri"/>
              </a:rPr>
            </a:br>
            <a:r>
              <a:rPr b="1" i="0" lang="en-US" sz="1000">
                <a:solidFill>
                  <a:srgbClr val="39FF14"/>
                </a:solidFill>
                <a:latin typeface="Calibri"/>
                <a:ea typeface="Calibri"/>
                <a:cs typeface="Calibri"/>
                <a:sym typeface="Calibri"/>
              </a:rPr>
              <a:t>Reconnaissance</a:t>
            </a:r>
            <a:endParaRPr/>
          </a:p>
        </p:txBody>
      </p:sp>
      <p:sp>
        <p:nvSpPr>
          <p:cNvPr id="1086" name="Google Shape;1086;p27"/>
          <p:cNvSpPr txBox="1"/>
          <p:nvPr/>
        </p:nvSpPr>
        <p:spPr>
          <a:xfrm>
            <a:off x="237744" y="1700784"/>
            <a:ext cx="228600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 Recon Agent</a:t>
            </a:r>
            <a:endParaRPr/>
          </a:p>
        </p:txBody>
      </p:sp>
      <p:sp>
        <p:nvSpPr>
          <p:cNvPr id="1087" name="Google Shape;1087;p27"/>
          <p:cNvSpPr/>
          <p:nvPr/>
        </p:nvSpPr>
        <p:spPr>
          <a:xfrm>
            <a:off x="237744" y="1920240"/>
            <a:ext cx="2249424" cy="18288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88" name="Google Shape;1088;p27"/>
          <p:cNvSpPr txBox="1"/>
          <p:nvPr/>
        </p:nvSpPr>
        <p:spPr>
          <a:xfrm>
            <a:off x="274320" y="1929384"/>
            <a:ext cx="221284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39FF14"/>
                </a:solidFill>
                <a:latin typeface="Calibri"/>
                <a:ea typeface="Calibri"/>
                <a:cs typeface="Calibri"/>
                <a:sym typeface="Calibri"/>
              </a:rPr>
              <a:t>Amass  ·  httpx  ·  Nmap</a:t>
            </a:r>
            <a:endParaRPr/>
          </a:p>
        </p:txBody>
      </p:sp>
      <p:sp>
        <p:nvSpPr>
          <p:cNvPr id="1089" name="Google Shape;1089;p27"/>
          <p:cNvSpPr/>
          <p:nvPr/>
        </p:nvSpPr>
        <p:spPr>
          <a:xfrm>
            <a:off x="237744" y="2157984"/>
            <a:ext cx="2249424" cy="112776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0" name="Google Shape;1090;p27"/>
          <p:cNvSpPr/>
          <p:nvPr/>
        </p:nvSpPr>
        <p:spPr>
          <a:xfrm>
            <a:off x="237744" y="2157984"/>
            <a:ext cx="45720" cy="112776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1" name="Google Shape;1091;p27"/>
          <p:cNvSpPr txBox="1"/>
          <p:nvPr/>
        </p:nvSpPr>
        <p:spPr>
          <a:xfrm>
            <a:off x="310896" y="2194560"/>
            <a:ext cx="21214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Amass</a:t>
            </a:r>
            <a:endParaRPr/>
          </a:p>
        </p:txBody>
      </p:sp>
      <p:sp>
        <p:nvSpPr>
          <p:cNvPr id="1092" name="Google Shape;1092;p27"/>
          <p:cNvSpPr txBox="1"/>
          <p:nvPr/>
        </p:nvSpPr>
        <p:spPr>
          <a:xfrm>
            <a:off x="310896" y="2432304"/>
            <a:ext cx="2121408" cy="8168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14 subdomains discovered</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api · admin · staging · pay · ...</a:t>
            </a:r>
            <a:endParaRPr/>
          </a:p>
        </p:txBody>
      </p:sp>
      <p:sp>
        <p:nvSpPr>
          <p:cNvPr id="1093" name="Google Shape;1093;p27"/>
          <p:cNvSpPr/>
          <p:nvPr/>
        </p:nvSpPr>
        <p:spPr>
          <a:xfrm>
            <a:off x="237744" y="3340608"/>
            <a:ext cx="2249424" cy="112776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4" name="Google Shape;1094;p27"/>
          <p:cNvSpPr/>
          <p:nvPr/>
        </p:nvSpPr>
        <p:spPr>
          <a:xfrm>
            <a:off x="237744" y="3340608"/>
            <a:ext cx="45720" cy="112776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5" name="Google Shape;1095;p27"/>
          <p:cNvSpPr txBox="1"/>
          <p:nvPr/>
        </p:nvSpPr>
        <p:spPr>
          <a:xfrm>
            <a:off x="310896" y="3377184"/>
            <a:ext cx="21214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httpx</a:t>
            </a:r>
            <a:endParaRPr/>
          </a:p>
        </p:txBody>
      </p:sp>
      <p:sp>
        <p:nvSpPr>
          <p:cNvPr id="1096" name="Google Shape;1096;p27"/>
          <p:cNvSpPr txBox="1"/>
          <p:nvPr/>
        </p:nvSpPr>
        <p:spPr>
          <a:xfrm>
            <a:off x="310896" y="3614928"/>
            <a:ext cx="2121408" cy="8168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11 live hosts confirmed</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staging returns unexpected 200</a:t>
            </a:r>
            <a:endParaRPr/>
          </a:p>
        </p:txBody>
      </p:sp>
      <p:sp>
        <p:nvSpPr>
          <p:cNvPr id="1097" name="Google Shape;1097;p27"/>
          <p:cNvSpPr/>
          <p:nvPr/>
        </p:nvSpPr>
        <p:spPr>
          <a:xfrm>
            <a:off x="237744" y="4523232"/>
            <a:ext cx="2249424" cy="112776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8" name="Google Shape;1098;p27"/>
          <p:cNvSpPr/>
          <p:nvPr/>
        </p:nvSpPr>
        <p:spPr>
          <a:xfrm>
            <a:off x="237744" y="4523232"/>
            <a:ext cx="45720" cy="112776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99" name="Google Shape;1099;p27"/>
          <p:cNvSpPr txBox="1"/>
          <p:nvPr/>
        </p:nvSpPr>
        <p:spPr>
          <a:xfrm>
            <a:off x="310896" y="4559808"/>
            <a:ext cx="21214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Nmap</a:t>
            </a:r>
            <a:endParaRPr/>
          </a:p>
        </p:txBody>
      </p:sp>
      <p:sp>
        <p:nvSpPr>
          <p:cNvPr id="1100" name="Google Shape;1100;p27"/>
          <p:cNvSpPr txBox="1"/>
          <p:nvPr/>
        </p:nvSpPr>
        <p:spPr>
          <a:xfrm>
            <a:off x="310896" y="4797552"/>
            <a:ext cx="2121408" cy="8168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Ports 80, 443, 8080, 8443 open</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pay.shopvault.io: expired TLS</a:t>
            </a:r>
            <a:endParaRPr/>
          </a:p>
        </p:txBody>
      </p:sp>
      <p:sp>
        <p:nvSpPr>
          <p:cNvPr id="1101" name="Google Shape;1101;p27"/>
          <p:cNvSpPr/>
          <p:nvPr/>
        </p:nvSpPr>
        <p:spPr>
          <a:xfrm>
            <a:off x="164592" y="5797296"/>
            <a:ext cx="2395728" cy="402336"/>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02" name="Google Shape;1102;p27"/>
          <p:cNvSpPr txBox="1"/>
          <p:nvPr/>
        </p:nvSpPr>
        <p:spPr>
          <a:xfrm>
            <a:off x="256032" y="5852160"/>
            <a:ext cx="2258568"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ASG ← 37 new nodes</a:t>
            </a:r>
            <a:endParaRPr/>
          </a:p>
        </p:txBody>
      </p:sp>
      <p:cxnSp>
        <p:nvCxnSpPr>
          <p:cNvPr id="1103" name="Google Shape;1103;p27"/>
          <p:cNvCxnSpPr/>
          <p:nvPr/>
        </p:nvCxnSpPr>
        <p:spPr>
          <a:xfrm>
            <a:off x="2560320" y="1417320"/>
            <a:ext cx="54864"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1104" name="Google Shape;1104;p27"/>
          <p:cNvSpPr/>
          <p:nvPr/>
        </p:nvSpPr>
        <p:spPr>
          <a:xfrm>
            <a:off x="2615184" y="1188720"/>
            <a:ext cx="3474720" cy="5010912"/>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05" name="Google Shape;1105;p27"/>
          <p:cNvSpPr/>
          <p:nvPr/>
        </p:nvSpPr>
        <p:spPr>
          <a:xfrm>
            <a:off x="2615184" y="1188720"/>
            <a:ext cx="347472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06" name="Google Shape;1106;p27"/>
          <p:cNvSpPr txBox="1"/>
          <p:nvPr/>
        </p:nvSpPr>
        <p:spPr>
          <a:xfrm>
            <a:off x="2688336" y="1243584"/>
            <a:ext cx="3364992" cy="3840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0E5FF"/>
                </a:solidFill>
                <a:latin typeface="Calibri"/>
                <a:ea typeface="Calibri"/>
                <a:cs typeface="Calibri"/>
                <a:sym typeface="Calibri"/>
              </a:rPr>
              <a:t>PHASE 2</a:t>
            </a:r>
            <a:br>
              <a:rPr b="1" i="0" lang="en-US" sz="1000">
                <a:solidFill>
                  <a:srgbClr val="00E5FF"/>
                </a:solidFill>
                <a:latin typeface="Calibri"/>
                <a:ea typeface="Calibri"/>
                <a:cs typeface="Calibri"/>
                <a:sym typeface="Calibri"/>
              </a:rPr>
            </a:br>
            <a:r>
              <a:rPr b="1" i="0" lang="en-US" sz="1000">
                <a:solidFill>
                  <a:srgbClr val="00E5FF"/>
                </a:solidFill>
                <a:latin typeface="Calibri"/>
                <a:ea typeface="Calibri"/>
                <a:cs typeface="Calibri"/>
                <a:sym typeface="Calibri"/>
              </a:rPr>
              <a:t>Analysis + Intel</a:t>
            </a:r>
            <a:endParaRPr/>
          </a:p>
        </p:txBody>
      </p:sp>
      <p:sp>
        <p:nvSpPr>
          <p:cNvPr id="1107" name="Google Shape;1107;p27"/>
          <p:cNvSpPr txBox="1"/>
          <p:nvPr/>
        </p:nvSpPr>
        <p:spPr>
          <a:xfrm>
            <a:off x="2688336" y="1700784"/>
            <a:ext cx="3364992"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0E5FF"/>
                </a:solidFill>
                <a:latin typeface="Calibri"/>
                <a:ea typeface="Calibri"/>
                <a:cs typeface="Calibri"/>
                <a:sym typeface="Calibri"/>
              </a:rPr>
              <a:t>🔬 Analysis + 🔍 Research</a:t>
            </a:r>
            <a:endParaRPr/>
          </a:p>
        </p:txBody>
      </p:sp>
      <p:sp>
        <p:nvSpPr>
          <p:cNvPr id="1108" name="Google Shape;1108;p27"/>
          <p:cNvSpPr/>
          <p:nvPr/>
        </p:nvSpPr>
        <p:spPr>
          <a:xfrm>
            <a:off x="2688336" y="1920240"/>
            <a:ext cx="3328416" cy="18288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09" name="Google Shape;1109;p27"/>
          <p:cNvSpPr txBox="1"/>
          <p:nvPr/>
        </p:nvSpPr>
        <p:spPr>
          <a:xfrm>
            <a:off x="2724912" y="1929384"/>
            <a:ext cx="329184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00E5FF"/>
                </a:solidFill>
                <a:latin typeface="Calibri"/>
                <a:ea typeface="Calibri"/>
                <a:cs typeface="Calibri"/>
                <a:sym typeface="Calibri"/>
              </a:rPr>
              <a:t>WhatWeb  ·  Gobuster  ·  ffuf  ·  Nuclei  ·  ZAP</a:t>
            </a:r>
            <a:endParaRPr/>
          </a:p>
        </p:txBody>
      </p:sp>
      <p:sp>
        <p:nvSpPr>
          <p:cNvPr id="1110" name="Google Shape;1110;p27"/>
          <p:cNvSpPr/>
          <p:nvPr/>
        </p:nvSpPr>
        <p:spPr>
          <a:xfrm>
            <a:off x="2688336" y="2157984"/>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11" name="Google Shape;1111;p27"/>
          <p:cNvSpPr/>
          <p:nvPr/>
        </p:nvSpPr>
        <p:spPr>
          <a:xfrm>
            <a:off x="2688336" y="2157984"/>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12" name="Google Shape;1112;p27"/>
          <p:cNvSpPr txBox="1"/>
          <p:nvPr/>
        </p:nvSpPr>
        <p:spPr>
          <a:xfrm>
            <a:off x="2761488" y="2194560"/>
            <a:ext cx="3200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WhatWeb</a:t>
            </a:r>
            <a:endParaRPr/>
          </a:p>
        </p:txBody>
      </p:sp>
      <p:sp>
        <p:nvSpPr>
          <p:cNvPr id="1113" name="Google Shape;1113;p27"/>
          <p:cNvSpPr txBox="1"/>
          <p:nvPr/>
        </p:nvSpPr>
        <p:spPr>
          <a:xfrm>
            <a:off x="2761488" y="2432304"/>
            <a:ext cx="3200400" cy="5212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WordPress 5.9.3 · Django API</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 Research: CVE-2022-21661 (CVSS 8.8)</a:t>
            </a:r>
            <a:endParaRPr/>
          </a:p>
        </p:txBody>
      </p:sp>
      <p:sp>
        <p:nvSpPr>
          <p:cNvPr id="1114" name="Google Shape;1114;p27"/>
          <p:cNvSpPr/>
          <p:nvPr/>
        </p:nvSpPr>
        <p:spPr>
          <a:xfrm>
            <a:off x="2688336" y="3044952"/>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15" name="Google Shape;1115;p27"/>
          <p:cNvSpPr/>
          <p:nvPr/>
        </p:nvSpPr>
        <p:spPr>
          <a:xfrm>
            <a:off x="2688336" y="3044952"/>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16" name="Google Shape;1116;p27"/>
          <p:cNvSpPr txBox="1"/>
          <p:nvPr/>
        </p:nvSpPr>
        <p:spPr>
          <a:xfrm>
            <a:off x="2761488" y="3081528"/>
            <a:ext cx="3200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Gobuster</a:t>
            </a:r>
            <a:endParaRPr/>
          </a:p>
        </p:txBody>
      </p:sp>
      <p:sp>
        <p:nvSpPr>
          <p:cNvPr id="1117" name="Google Shape;1117;p27"/>
          <p:cNvSpPr txBox="1"/>
          <p:nvPr/>
        </p:nvSpPr>
        <p:spPr>
          <a:xfrm>
            <a:off x="2761488" y="3319272"/>
            <a:ext cx="3200400" cy="5212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/backup/db_export_2023.sql EXPOSED</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/admin/users · /admin/login</a:t>
            </a:r>
            <a:endParaRPr/>
          </a:p>
        </p:txBody>
      </p:sp>
      <p:sp>
        <p:nvSpPr>
          <p:cNvPr id="1118" name="Google Shape;1118;p27"/>
          <p:cNvSpPr/>
          <p:nvPr/>
        </p:nvSpPr>
        <p:spPr>
          <a:xfrm>
            <a:off x="2688336" y="3931920"/>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19" name="Google Shape;1119;p27"/>
          <p:cNvSpPr/>
          <p:nvPr/>
        </p:nvSpPr>
        <p:spPr>
          <a:xfrm>
            <a:off x="2688336" y="3931920"/>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20" name="Google Shape;1120;p27"/>
          <p:cNvSpPr txBox="1"/>
          <p:nvPr/>
        </p:nvSpPr>
        <p:spPr>
          <a:xfrm>
            <a:off x="2761488" y="3968496"/>
            <a:ext cx="3200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ffuf</a:t>
            </a:r>
            <a:endParaRPr/>
          </a:p>
        </p:txBody>
      </p:sp>
      <p:sp>
        <p:nvSpPr>
          <p:cNvPr id="1121" name="Google Shape;1121;p27"/>
          <p:cNvSpPr txBox="1"/>
          <p:nvPr/>
        </p:nvSpPr>
        <p:spPr>
          <a:xfrm>
            <a:off x="2761488" y="4206240"/>
            <a:ext cx="3200400" cy="5212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IDOR: user_id param unsanitized</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/api/v1/internal/users found</a:t>
            </a:r>
            <a:endParaRPr/>
          </a:p>
        </p:txBody>
      </p:sp>
      <p:sp>
        <p:nvSpPr>
          <p:cNvPr id="1122" name="Google Shape;1122;p27"/>
          <p:cNvSpPr/>
          <p:nvPr/>
        </p:nvSpPr>
        <p:spPr>
          <a:xfrm>
            <a:off x="2688336" y="4818888"/>
            <a:ext cx="3328416" cy="832104"/>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23" name="Google Shape;1123;p27"/>
          <p:cNvSpPr/>
          <p:nvPr/>
        </p:nvSpPr>
        <p:spPr>
          <a:xfrm>
            <a:off x="2688336" y="4818888"/>
            <a:ext cx="45720" cy="832104"/>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24" name="Google Shape;1124;p27"/>
          <p:cNvSpPr txBox="1"/>
          <p:nvPr/>
        </p:nvSpPr>
        <p:spPr>
          <a:xfrm>
            <a:off x="2761488" y="4855464"/>
            <a:ext cx="3200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ZAP</a:t>
            </a:r>
            <a:endParaRPr/>
          </a:p>
        </p:txBody>
      </p:sp>
      <p:sp>
        <p:nvSpPr>
          <p:cNvPr id="1125" name="Google Shape;1125;p27"/>
          <p:cNvSpPr txBox="1"/>
          <p:nvPr/>
        </p:nvSpPr>
        <p:spPr>
          <a:xfrm>
            <a:off x="2761488" y="5093208"/>
            <a:ext cx="3200400" cy="5212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XSS on /search?q=</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SQL error on staging login</a:t>
            </a:r>
            <a:endParaRPr/>
          </a:p>
        </p:txBody>
      </p:sp>
      <p:sp>
        <p:nvSpPr>
          <p:cNvPr id="1126" name="Google Shape;1126;p27"/>
          <p:cNvSpPr/>
          <p:nvPr/>
        </p:nvSpPr>
        <p:spPr>
          <a:xfrm>
            <a:off x="2615184" y="5797296"/>
            <a:ext cx="3474720" cy="402336"/>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27" name="Google Shape;1127;p27"/>
          <p:cNvSpPr txBox="1"/>
          <p:nvPr/>
        </p:nvSpPr>
        <p:spPr>
          <a:xfrm>
            <a:off x="2706624" y="5852160"/>
            <a:ext cx="333756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0E5FF"/>
                </a:solidFill>
                <a:latin typeface="Calibri"/>
                <a:ea typeface="Calibri"/>
                <a:cs typeface="Calibri"/>
                <a:sym typeface="Calibri"/>
              </a:rPr>
              <a:t>ASG ← 61 nodes</a:t>
            </a:r>
            <a:br>
              <a:rPr b="1" i="0" lang="en-US" sz="850">
                <a:solidFill>
                  <a:srgbClr val="00E5FF"/>
                </a:solidFill>
                <a:latin typeface="Calibri"/>
                <a:ea typeface="Calibri"/>
                <a:cs typeface="Calibri"/>
                <a:sym typeface="Calibri"/>
              </a:rPr>
            </a:br>
            <a:r>
              <a:rPr b="1" i="0" lang="en-US" sz="850">
                <a:solidFill>
                  <a:srgbClr val="00E5FF"/>
                </a:solidFill>
                <a:latin typeface="Calibri"/>
                <a:ea typeface="Calibri"/>
                <a:cs typeface="Calibri"/>
                <a:sym typeface="Calibri"/>
              </a:rPr>
              <a:t>APG ← 3 chains seeded</a:t>
            </a:r>
            <a:endParaRPr/>
          </a:p>
        </p:txBody>
      </p:sp>
      <p:cxnSp>
        <p:nvCxnSpPr>
          <p:cNvPr id="1128" name="Google Shape;1128;p27"/>
          <p:cNvCxnSpPr/>
          <p:nvPr/>
        </p:nvCxnSpPr>
        <p:spPr>
          <a:xfrm>
            <a:off x="6089904" y="1417320"/>
            <a:ext cx="54864"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1129" name="Google Shape;1129;p27"/>
          <p:cNvSpPr/>
          <p:nvPr/>
        </p:nvSpPr>
        <p:spPr>
          <a:xfrm>
            <a:off x="6144768" y="1188720"/>
            <a:ext cx="3639312" cy="5010912"/>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0" name="Google Shape;1130;p27"/>
          <p:cNvSpPr/>
          <p:nvPr/>
        </p:nvSpPr>
        <p:spPr>
          <a:xfrm>
            <a:off x="6144768" y="1188720"/>
            <a:ext cx="3639312"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1" name="Google Shape;1131;p27"/>
          <p:cNvSpPr txBox="1"/>
          <p:nvPr/>
        </p:nvSpPr>
        <p:spPr>
          <a:xfrm>
            <a:off x="6217920" y="1243584"/>
            <a:ext cx="3529584" cy="3840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4545"/>
                </a:solidFill>
                <a:latin typeface="Calibri"/>
                <a:ea typeface="Calibri"/>
                <a:cs typeface="Calibri"/>
                <a:sym typeface="Calibri"/>
              </a:rPr>
              <a:t>PHASE 3</a:t>
            </a:r>
            <a:br>
              <a:rPr b="1" i="0" lang="en-US" sz="1000">
                <a:solidFill>
                  <a:srgbClr val="FF4545"/>
                </a:solidFill>
                <a:latin typeface="Calibri"/>
                <a:ea typeface="Calibri"/>
                <a:cs typeface="Calibri"/>
                <a:sym typeface="Calibri"/>
              </a:rPr>
            </a:br>
            <a:r>
              <a:rPr b="1" i="0" lang="en-US" sz="1000">
                <a:solidFill>
                  <a:srgbClr val="FF4545"/>
                </a:solidFill>
                <a:latin typeface="Calibri"/>
                <a:ea typeface="Calibri"/>
                <a:cs typeface="Calibri"/>
                <a:sym typeface="Calibri"/>
              </a:rPr>
              <a:t>Validation</a:t>
            </a:r>
            <a:endParaRPr/>
          </a:p>
        </p:txBody>
      </p:sp>
      <p:sp>
        <p:nvSpPr>
          <p:cNvPr id="1132" name="Google Shape;1132;p27"/>
          <p:cNvSpPr txBox="1"/>
          <p:nvPr/>
        </p:nvSpPr>
        <p:spPr>
          <a:xfrm>
            <a:off x="6217920" y="1700784"/>
            <a:ext cx="3529584"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FF4545"/>
                </a:solidFill>
                <a:latin typeface="Calibri"/>
                <a:ea typeface="Calibri"/>
                <a:cs typeface="Calibri"/>
                <a:sym typeface="Calibri"/>
              </a:rPr>
              <a:t>🎯 Validation + 📸 Evidence</a:t>
            </a:r>
            <a:endParaRPr/>
          </a:p>
        </p:txBody>
      </p:sp>
      <p:sp>
        <p:nvSpPr>
          <p:cNvPr id="1133" name="Google Shape;1133;p27"/>
          <p:cNvSpPr/>
          <p:nvPr/>
        </p:nvSpPr>
        <p:spPr>
          <a:xfrm>
            <a:off x="6217920" y="1920240"/>
            <a:ext cx="3493008" cy="18288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4" name="Google Shape;1134;p27"/>
          <p:cNvSpPr txBox="1"/>
          <p:nvPr/>
        </p:nvSpPr>
        <p:spPr>
          <a:xfrm>
            <a:off x="6254496" y="1929384"/>
            <a:ext cx="3456432"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FF4545"/>
                </a:solidFill>
                <a:latin typeface="Calibri"/>
                <a:ea typeface="Calibri"/>
                <a:cs typeface="Calibri"/>
                <a:sym typeface="Calibri"/>
              </a:rPr>
              <a:t>SQLMap  ·  Metasploit  ·  EyeWitness</a:t>
            </a:r>
            <a:endParaRPr/>
          </a:p>
        </p:txBody>
      </p:sp>
      <p:sp>
        <p:nvSpPr>
          <p:cNvPr id="1135" name="Google Shape;1135;p27"/>
          <p:cNvSpPr/>
          <p:nvPr/>
        </p:nvSpPr>
        <p:spPr>
          <a:xfrm>
            <a:off x="6217920" y="2157984"/>
            <a:ext cx="3493008" cy="112776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6" name="Google Shape;1136;p27"/>
          <p:cNvSpPr/>
          <p:nvPr/>
        </p:nvSpPr>
        <p:spPr>
          <a:xfrm>
            <a:off x="6217920" y="2157984"/>
            <a:ext cx="45720" cy="112776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7" name="Google Shape;1137;p27"/>
          <p:cNvSpPr txBox="1"/>
          <p:nvPr/>
        </p:nvSpPr>
        <p:spPr>
          <a:xfrm>
            <a:off x="6291072" y="2194560"/>
            <a:ext cx="3364992"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Chain-01</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(risk 8.8)</a:t>
            </a:r>
            <a:endParaRPr/>
          </a:p>
        </p:txBody>
      </p:sp>
      <p:sp>
        <p:nvSpPr>
          <p:cNvPr id="1138" name="Google Shape;1138;p27"/>
          <p:cNvSpPr txBox="1"/>
          <p:nvPr/>
        </p:nvSpPr>
        <p:spPr>
          <a:xfrm>
            <a:off x="6291072" y="2432304"/>
            <a:ext cx="3364992" cy="8168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SQLMap → SQLi confirmed</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Admin hash cracked → Metasploit → RCE</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Status: VALIDATED (escalated 9.1)</a:t>
            </a:r>
            <a:endParaRPr/>
          </a:p>
        </p:txBody>
      </p:sp>
      <p:sp>
        <p:nvSpPr>
          <p:cNvPr id="1139" name="Google Shape;1139;p27"/>
          <p:cNvSpPr/>
          <p:nvPr/>
        </p:nvSpPr>
        <p:spPr>
          <a:xfrm>
            <a:off x="6217920" y="3340608"/>
            <a:ext cx="3493008" cy="112776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40" name="Google Shape;1140;p27"/>
          <p:cNvSpPr/>
          <p:nvPr/>
        </p:nvSpPr>
        <p:spPr>
          <a:xfrm>
            <a:off x="6217920" y="3340608"/>
            <a:ext cx="45720" cy="112776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41" name="Google Shape;1141;p27"/>
          <p:cNvSpPr txBox="1"/>
          <p:nvPr/>
        </p:nvSpPr>
        <p:spPr>
          <a:xfrm>
            <a:off x="6291072" y="3377184"/>
            <a:ext cx="3364992"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Chain-02</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(risk 7.5)</a:t>
            </a:r>
            <a:endParaRPr/>
          </a:p>
        </p:txBody>
      </p:sp>
      <p:sp>
        <p:nvSpPr>
          <p:cNvPr id="1142" name="Google Shape;1142;p27"/>
          <p:cNvSpPr txBox="1"/>
          <p:nvPr/>
        </p:nvSpPr>
        <p:spPr>
          <a:xfrm>
            <a:off x="6291072" y="3614928"/>
            <a:ext cx="3364992" cy="8168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SQLMap on user_id → IDOR confirmed</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Any customer orders accessible</a:t>
            </a:r>
            <a:endParaRPr/>
          </a:p>
        </p:txBody>
      </p:sp>
      <p:sp>
        <p:nvSpPr>
          <p:cNvPr id="1143" name="Google Shape;1143;p27"/>
          <p:cNvSpPr/>
          <p:nvPr/>
        </p:nvSpPr>
        <p:spPr>
          <a:xfrm>
            <a:off x="6217920" y="4523232"/>
            <a:ext cx="3493008" cy="112776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44" name="Google Shape;1144;p27"/>
          <p:cNvSpPr/>
          <p:nvPr/>
        </p:nvSpPr>
        <p:spPr>
          <a:xfrm>
            <a:off x="6217920" y="4523232"/>
            <a:ext cx="45720" cy="112776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45" name="Google Shape;1145;p27"/>
          <p:cNvSpPr txBox="1"/>
          <p:nvPr/>
        </p:nvSpPr>
        <p:spPr>
          <a:xfrm>
            <a:off x="6291072" y="4559808"/>
            <a:ext cx="3364992"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Chain-03</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(risk 8.1)</a:t>
            </a:r>
            <a:endParaRPr/>
          </a:p>
        </p:txBody>
      </p:sp>
      <p:sp>
        <p:nvSpPr>
          <p:cNvPr id="1146" name="Google Shape;1146;p27"/>
          <p:cNvSpPr txBox="1"/>
          <p:nvPr/>
        </p:nvSpPr>
        <p:spPr>
          <a:xfrm>
            <a:off x="6291072" y="4797552"/>
            <a:ext cx="3364992" cy="81686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Blind SQLi on staging → DB creds</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Credential reuse risk flagged</a:t>
            </a:r>
            <a:endParaRPr/>
          </a:p>
        </p:txBody>
      </p:sp>
      <p:sp>
        <p:nvSpPr>
          <p:cNvPr id="1147" name="Google Shape;1147;p27"/>
          <p:cNvSpPr/>
          <p:nvPr/>
        </p:nvSpPr>
        <p:spPr>
          <a:xfrm>
            <a:off x="6144768" y="5797296"/>
            <a:ext cx="3639312" cy="402336"/>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48" name="Google Shape;1148;p27"/>
          <p:cNvSpPr txBox="1"/>
          <p:nvPr/>
        </p:nvSpPr>
        <p:spPr>
          <a:xfrm>
            <a:off x="6236208" y="5852160"/>
            <a:ext cx="3502152"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FF4545"/>
                </a:solidFill>
                <a:latin typeface="Calibri"/>
                <a:ea typeface="Calibri"/>
                <a:cs typeface="Calibri"/>
                <a:sym typeface="Calibri"/>
              </a:rPr>
              <a:t>APG ← 3 chains VALIDATED</a:t>
            </a:r>
            <a:br>
              <a:rPr b="1" i="0" lang="en-US" sz="850">
                <a:solidFill>
                  <a:srgbClr val="FF4545"/>
                </a:solidFill>
                <a:latin typeface="Calibri"/>
                <a:ea typeface="Calibri"/>
                <a:cs typeface="Calibri"/>
                <a:sym typeface="Calibri"/>
              </a:rPr>
            </a:br>
            <a:r>
              <a:rPr b="1" i="0" lang="en-US" sz="850">
                <a:solidFill>
                  <a:srgbClr val="FF4545"/>
                </a:solidFill>
                <a:latin typeface="Calibri"/>
                <a:ea typeface="Calibri"/>
                <a:cs typeface="Calibri"/>
                <a:sym typeface="Calibri"/>
              </a:rPr>
              <a:t>ASG ← Evidence nodes linked</a:t>
            </a:r>
            <a:endParaRPr/>
          </a:p>
        </p:txBody>
      </p:sp>
      <p:cxnSp>
        <p:nvCxnSpPr>
          <p:cNvPr id="1149" name="Google Shape;1149;p27"/>
          <p:cNvCxnSpPr/>
          <p:nvPr/>
        </p:nvCxnSpPr>
        <p:spPr>
          <a:xfrm>
            <a:off x="9784080" y="1417320"/>
            <a:ext cx="54864"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1150" name="Google Shape;1150;p27"/>
          <p:cNvSpPr/>
          <p:nvPr/>
        </p:nvSpPr>
        <p:spPr>
          <a:xfrm>
            <a:off x="9838944" y="1188720"/>
            <a:ext cx="2395728" cy="5010912"/>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51" name="Google Shape;1151;p27"/>
          <p:cNvSpPr/>
          <p:nvPr/>
        </p:nvSpPr>
        <p:spPr>
          <a:xfrm>
            <a:off x="9838944" y="1188720"/>
            <a:ext cx="2395728"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52" name="Google Shape;1152;p27"/>
          <p:cNvSpPr txBox="1"/>
          <p:nvPr/>
        </p:nvSpPr>
        <p:spPr>
          <a:xfrm>
            <a:off x="9912096" y="1243584"/>
            <a:ext cx="2286000" cy="3840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BD93F9"/>
                </a:solidFill>
                <a:latin typeface="Calibri"/>
                <a:ea typeface="Calibri"/>
                <a:cs typeface="Calibri"/>
                <a:sym typeface="Calibri"/>
              </a:rPr>
              <a:t>PHASE 4</a:t>
            </a:r>
            <a:br>
              <a:rPr b="1" i="0" lang="en-US" sz="1000">
                <a:solidFill>
                  <a:srgbClr val="BD93F9"/>
                </a:solidFill>
                <a:latin typeface="Calibri"/>
                <a:ea typeface="Calibri"/>
                <a:cs typeface="Calibri"/>
                <a:sym typeface="Calibri"/>
              </a:rPr>
            </a:br>
            <a:r>
              <a:rPr b="1" i="0" lang="en-US" sz="1000">
                <a:solidFill>
                  <a:srgbClr val="BD93F9"/>
                </a:solidFill>
                <a:latin typeface="Calibri"/>
                <a:ea typeface="Calibri"/>
                <a:cs typeface="Calibri"/>
                <a:sym typeface="Calibri"/>
              </a:rPr>
              <a:t>Report</a:t>
            </a:r>
            <a:endParaRPr/>
          </a:p>
        </p:txBody>
      </p:sp>
      <p:sp>
        <p:nvSpPr>
          <p:cNvPr id="1153" name="Google Shape;1153;p27"/>
          <p:cNvSpPr txBox="1"/>
          <p:nvPr/>
        </p:nvSpPr>
        <p:spPr>
          <a:xfrm>
            <a:off x="9912096" y="1700784"/>
            <a:ext cx="228600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BD93F9"/>
                </a:solidFill>
                <a:latin typeface="Calibri"/>
                <a:ea typeface="Calibri"/>
                <a:cs typeface="Calibri"/>
                <a:sym typeface="Calibri"/>
              </a:rPr>
              <a:t>📝 Report Agent</a:t>
            </a:r>
            <a:endParaRPr/>
          </a:p>
        </p:txBody>
      </p:sp>
      <p:sp>
        <p:nvSpPr>
          <p:cNvPr id="1154" name="Google Shape;1154;p27"/>
          <p:cNvSpPr/>
          <p:nvPr/>
        </p:nvSpPr>
        <p:spPr>
          <a:xfrm>
            <a:off x="9912096" y="1920240"/>
            <a:ext cx="2249424" cy="18288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55" name="Google Shape;1155;p27"/>
          <p:cNvSpPr txBox="1"/>
          <p:nvPr/>
        </p:nvSpPr>
        <p:spPr>
          <a:xfrm>
            <a:off x="9948672" y="1929384"/>
            <a:ext cx="221284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a:solidFill>
                  <a:srgbClr val="BD93F9"/>
                </a:solidFill>
                <a:latin typeface="Calibri"/>
                <a:ea typeface="Calibri"/>
                <a:cs typeface="Calibri"/>
                <a:sym typeface="Calibri"/>
              </a:rPr>
              <a:t>Reads ASG + APG</a:t>
            </a:r>
            <a:endParaRPr/>
          </a:p>
        </p:txBody>
      </p:sp>
      <p:sp>
        <p:nvSpPr>
          <p:cNvPr id="1156" name="Google Shape;1156;p27"/>
          <p:cNvSpPr/>
          <p:nvPr/>
        </p:nvSpPr>
        <p:spPr>
          <a:xfrm>
            <a:off x="9912096" y="2157984"/>
            <a:ext cx="2249424" cy="3493008"/>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57" name="Google Shape;1157;p27"/>
          <p:cNvSpPr/>
          <p:nvPr/>
        </p:nvSpPr>
        <p:spPr>
          <a:xfrm>
            <a:off x="9912096" y="2157984"/>
            <a:ext cx="45720" cy="34930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58" name="Google Shape;1158;p27"/>
          <p:cNvSpPr txBox="1"/>
          <p:nvPr/>
        </p:nvSpPr>
        <p:spPr>
          <a:xfrm>
            <a:off x="9985248" y="2194560"/>
            <a:ext cx="212140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BD93F9"/>
                </a:solidFill>
                <a:latin typeface="Calibri"/>
                <a:ea typeface="Calibri"/>
                <a:cs typeface="Calibri"/>
                <a:sym typeface="Calibri"/>
              </a:rPr>
              <a:t>Output</a:t>
            </a:r>
            <a:endParaRPr/>
          </a:p>
        </p:txBody>
      </p:sp>
      <p:sp>
        <p:nvSpPr>
          <p:cNvPr id="1159" name="Google Shape;1159;p27"/>
          <p:cNvSpPr txBox="1"/>
          <p:nvPr/>
        </p:nvSpPr>
        <p:spPr>
          <a:xfrm>
            <a:off x="9985248" y="2432304"/>
            <a:ext cx="2121408" cy="318211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00">
                <a:solidFill>
                  <a:srgbClr val="A0AAB8"/>
                </a:solidFill>
                <a:latin typeface="Calibri"/>
                <a:ea typeface="Calibri"/>
                <a:cs typeface="Calibri"/>
                <a:sym typeface="Calibri"/>
              </a:rPr>
              <a:t>Executive summary · 4 validated chains</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RCE + IDOR + SQLi + exposed DB backup</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11 vuln entries · full attack surface map</a:t>
            </a:r>
            <a:br>
              <a:rPr b="0" i="0" lang="en-US" sz="800">
                <a:solidFill>
                  <a:srgbClr val="A0AAB8"/>
                </a:solidFill>
                <a:latin typeface="Calibri"/>
                <a:ea typeface="Calibri"/>
                <a:cs typeface="Calibri"/>
                <a:sym typeface="Calibri"/>
              </a:rPr>
            </a:br>
            <a:r>
              <a:rPr b="0" i="0" lang="en-US" sz="800">
                <a:solidFill>
                  <a:srgbClr val="A0AAB8"/>
                </a:solidFill>
                <a:latin typeface="Calibri"/>
                <a:ea typeface="Calibri"/>
                <a:cs typeface="Calibri"/>
                <a:sym typeface="Calibri"/>
              </a:rPr>
              <a:t>Evidence at every ChainStep</a:t>
            </a:r>
            <a:endParaRPr/>
          </a:p>
        </p:txBody>
      </p:sp>
      <p:sp>
        <p:nvSpPr>
          <p:cNvPr id="1160" name="Google Shape;1160;p27"/>
          <p:cNvSpPr/>
          <p:nvPr/>
        </p:nvSpPr>
        <p:spPr>
          <a:xfrm>
            <a:off x="9838944" y="5797296"/>
            <a:ext cx="2395728" cy="402336"/>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61" name="Google Shape;1161;p27"/>
          <p:cNvSpPr txBox="1"/>
          <p:nvPr/>
        </p:nvSpPr>
        <p:spPr>
          <a:xfrm>
            <a:off x="9930384" y="5852160"/>
            <a:ext cx="2258568"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BD93F9"/>
                </a:solidFill>
                <a:latin typeface="Calibri"/>
                <a:ea typeface="Calibri"/>
                <a:cs typeface="Calibri"/>
                <a:sym typeface="Calibri"/>
              </a:rPr>
              <a:t>ZERO manual commands</a:t>
            </a:r>
            <a:endParaRPr/>
          </a:p>
        </p:txBody>
      </p:sp>
      <p:sp>
        <p:nvSpPr>
          <p:cNvPr id="1162" name="Google Shape;1162;p27"/>
          <p:cNvSpPr/>
          <p:nvPr/>
        </p:nvSpPr>
        <p:spPr>
          <a:xfrm>
            <a:off x="164592" y="6236208"/>
            <a:ext cx="11862511" cy="493776"/>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63" name="Google Shape;1163;p27"/>
          <p:cNvSpPr txBox="1"/>
          <p:nvPr/>
        </p:nvSpPr>
        <p:spPr>
          <a:xfrm>
            <a:off x="201168"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39FF14"/>
                </a:solidFill>
                <a:latin typeface="Calibri"/>
                <a:ea typeface="Calibri"/>
                <a:cs typeface="Calibri"/>
                <a:sym typeface="Calibri"/>
              </a:rPr>
              <a:t>14</a:t>
            </a:r>
            <a:endParaRPr/>
          </a:p>
        </p:txBody>
      </p:sp>
      <p:sp>
        <p:nvSpPr>
          <p:cNvPr id="1164" name="Google Shape;1164;p27"/>
          <p:cNvSpPr txBox="1"/>
          <p:nvPr/>
        </p:nvSpPr>
        <p:spPr>
          <a:xfrm>
            <a:off x="201168"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subdomains</a:t>
            </a:r>
            <a:endParaRPr/>
          </a:p>
        </p:txBody>
      </p:sp>
      <p:sp>
        <p:nvSpPr>
          <p:cNvPr id="1165" name="Google Shape;1165;p27"/>
          <p:cNvSpPr txBox="1"/>
          <p:nvPr/>
        </p:nvSpPr>
        <p:spPr>
          <a:xfrm>
            <a:off x="1864461"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39FF14"/>
                </a:solidFill>
                <a:latin typeface="Calibri"/>
                <a:ea typeface="Calibri"/>
                <a:cs typeface="Calibri"/>
                <a:sym typeface="Calibri"/>
              </a:rPr>
              <a:t>11</a:t>
            </a:r>
            <a:endParaRPr/>
          </a:p>
        </p:txBody>
      </p:sp>
      <p:sp>
        <p:nvSpPr>
          <p:cNvPr id="1166" name="Google Shape;1166;p27"/>
          <p:cNvSpPr txBox="1"/>
          <p:nvPr/>
        </p:nvSpPr>
        <p:spPr>
          <a:xfrm>
            <a:off x="1864461"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live hosts</a:t>
            </a:r>
            <a:endParaRPr/>
          </a:p>
        </p:txBody>
      </p:sp>
      <p:sp>
        <p:nvSpPr>
          <p:cNvPr id="1167" name="Google Shape;1167;p27"/>
          <p:cNvSpPr txBox="1"/>
          <p:nvPr/>
        </p:nvSpPr>
        <p:spPr>
          <a:xfrm>
            <a:off x="3527755"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00E5FF"/>
                </a:solidFill>
                <a:latin typeface="Calibri"/>
                <a:ea typeface="Calibri"/>
                <a:cs typeface="Calibri"/>
                <a:sym typeface="Calibri"/>
              </a:rPr>
              <a:t>28</a:t>
            </a:r>
            <a:endParaRPr/>
          </a:p>
        </p:txBody>
      </p:sp>
      <p:sp>
        <p:nvSpPr>
          <p:cNvPr id="1168" name="Google Shape;1168;p27"/>
          <p:cNvSpPr txBox="1"/>
          <p:nvPr/>
        </p:nvSpPr>
        <p:spPr>
          <a:xfrm>
            <a:off x="3527755"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open ports</a:t>
            </a:r>
            <a:endParaRPr/>
          </a:p>
        </p:txBody>
      </p:sp>
      <p:sp>
        <p:nvSpPr>
          <p:cNvPr id="1169" name="Google Shape;1169;p27"/>
          <p:cNvSpPr txBox="1"/>
          <p:nvPr/>
        </p:nvSpPr>
        <p:spPr>
          <a:xfrm>
            <a:off x="5191048"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00E5FF"/>
                </a:solidFill>
                <a:latin typeface="Calibri"/>
                <a:ea typeface="Calibri"/>
                <a:cs typeface="Calibri"/>
                <a:sym typeface="Calibri"/>
              </a:rPr>
              <a:t>19</a:t>
            </a:r>
            <a:endParaRPr/>
          </a:p>
        </p:txBody>
      </p:sp>
      <p:sp>
        <p:nvSpPr>
          <p:cNvPr id="1170" name="Google Shape;1170;p27"/>
          <p:cNvSpPr txBox="1"/>
          <p:nvPr/>
        </p:nvSpPr>
        <p:spPr>
          <a:xfrm>
            <a:off x="5191048"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endpoints</a:t>
            </a:r>
            <a:endParaRPr/>
          </a:p>
        </p:txBody>
      </p:sp>
      <p:sp>
        <p:nvSpPr>
          <p:cNvPr id="1171" name="Google Shape;1171;p27"/>
          <p:cNvSpPr txBox="1"/>
          <p:nvPr/>
        </p:nvSpPr>
        <p:spPr>
          <a:xfrm>
            <a:off x="6854342"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FFD700"/>
                </a:solidFill>
                <a:latin typeface="Calibri"/>
                <a:ea typeface="Calibri"/>
                <a:cs typeface="Calibri"/>
                <a:sym typeface="Calibri"/>
              </a:rPr>
              <a:t>11</a:t>
            </a:r>
            <a:endParaRPr/>
          </a:p>
        </p:txBody>
      </p:sp>
      <p:sp>
        <p:nvSpPr>
          <p:cNvPr id="1172" name="Google Shape;1172;p27"/>
          <p:cNvSpPr txBox="1"/>
          <p:nvPr/>
        </p:nvSpPr>
        <p:spPr>
          <a:xfrm>
            <a:off x="6854342"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vulnerabilities</a:t>
            </a:r>
            <a:endParaRPr/>
          </a:p>
        </p:txBody>
      </p:sp>
      <p:sp>
        <p:nvSpPr>
          <p:cNvPr id="1173" name="Google Shape;1173;p27"/>
          <p:cNvSpPr txBox="1"/>
          <p:nvPr/>
        </p:nvSpPr>
        <p:spPr>
          <a:xfrm>
            <a:off x="8517635"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FF4545"/>
                </a:solidFill>
                <a:latin typeface="Calibri"/>
                <a:ea typeface="Calibri"/>
                <a:cs typeface="Calibri"/>
                <a:sym typeface="Calibri"/>
              </a:rPr>
              <a:t>4</a:t>
            </a:r>
            <a:endParaRPr/>
          </a:p>
        </p:txBody>
      </p:sp>
      <p:sp>
        <p:nvSpPr>
          <p:cNvPr id="1174" name="Google Shape;1174;p27"/>
          <p:cNvSpPr txBox="1"/>
          <p:nvPr/>
        </p:nvSpPr>
        <p:spPr>
          <a:xfrm>
            <a:off x="8517635"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validated chains</a:t>
            </a:r>
            <a:endParaRPr/>
          </a:p>
        </p:txBody>
      </p:sp>
      <p:sp>
        <p:nvSpPr>
          <p:cNvPr id="1175" name="Google Shape;1175;p27"/>
          <p:cNvSpPr txBox="1"/>
          <p:nvPr/>
        </p:nvSpPr>
        <p:spPr>
          <a:xfrm>
            <a:off x="10180929" y="6263640"/>
            <a:ext cx="1663293"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800">
                <a:solidFill>
                  <a:srgbClr val="BD93F9"/>
                </a:solidFill>
                <a:latin typeface="Calibri"/>
                <a:ea typeface="Calibri"/>
                <a:cs typeface="Calibri"/>
                <a:sym typeface="Calibri"/>
              </a:rPr>
              <a:t>0</a:t>
            </a:r>
            <a:endParaRPr/>
          </a:p>
        </p:txBody>
      </p:sp>
      <p:sp>
        <p:nvSpPr>
          <p:cNvPr id="1176" name="Google Shape;1176;p27"/>
          <p:cNvSpPr txBox="1"/>
          <p:nvPr/>
        </p:nvSpPr>
        <p:spPr>
          <a:xfrm>
            <a:off x="10180929" y="6483096"/>
            <a:ext cx="1663293"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750">
                <a:solidFill>
                  <a:srgbClr val="A0AAB8"/>
                </a:solidFill>
                <a:latin typeface="Calibri"/>
                <a:ea typeface="Calibri"/>
                <a:cs typeface="Calibri"/>
                <a:sym typeface="Calibri"/>
              </a:rPr>
              <a:t>manual commands</a:t>
            </a:r>
            <a:endParaRPr/>
          </a:p>
        </p:txBody>
      </p:sp>
      <p:sp>
        <p:nvSpPr>
          <p:cNvPr id="1177" name="Google Shape;1177;p27"/>
          <p:cNvSpPr txBox="1"/>
          <p:nvPr/>
        </p:nvSpPr>
        <p:spPr>
          <a:xfrm>
            <a:off x="11702563" y="61541"/>
            <a:ext cx="457925"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81" name="Shape 1181"/>
        <p:cNvGrpSpPr/>
        <p:nvPr/>
      </p:nvGrpSpPr>
      <p:grpSpPr>
        <a:xfrm>
          <a:off x="0" y="0"/>
          <a:ext cx="0" cy="0"/>
          <a:chOff x="0" y="0"/>
          <a:chExt cx="0" cy="0"/>
        </a:xfrm>
      </p:grpSpPr>
      <p:sp>
        <p:nvSpPr>
          <p:cNvPr id="1182" name="Google Shape;1182;p28"/>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3" name="Google Shape;1183;p28"/>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4" name="Google Shape;1184;p28"/>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5" name="Google Shape;1185;p28"/>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CHAIN-01 TRACEABILITY</a:t>
            </a:r>
            <a:endParaRPr/>
          </a:p>
        </p:txBody>
      </p:sp>
      <p:sp>
        <p:nvSpPr>
          <p:cNvPr id="1186" name="Google Shape;1186;p28"/>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300">
                <a:solidFill>
                  <a:srgbClr val="FFFFFF"/>
                </a:solidFill>
                <a:latin typeface="Calibri"/>
                <a:ea typeface="Calibri"/>
                <a:cs typeface="Calibri"/>
                <a:sym typeface="Calibri"/>
              </a:rPr>
              <a:t>CVE-2022-21661 → SQL Injection → RCE → Customer PII — Full Evidence Chain</a:t>
            </a:r>
            <a:endParaRPr/>
          </a:p>
        </p:txBody>
      </p:sp>
      <p:sp>
        <p:nvSpPr>
          <p:cNvPr id="1187" name="Google Shape;1187;p28"/>
          <p:cNvSpPr/>
          <p:nvPr/>
        </p:nvSpPr>
        <p:spPr>
          <a:xfrm>
            <a:off x="274320" y="822960"/>
            <a:ext cx="10058400" cy="2743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8" name="Google Shape;1188;p28"/>
          <p:cNvSpPr/>
          <p:nvPr/>
        </p:nvSpPr>
        <p:spPr>
          <a:xfrm>
            <a:off x="201168" y="896112"/>
            <a:ext cx="11789359" cy="713232"/>
          </a:xfrm>
          <a:prstGeom prst="rect">
            <a:avLst/>
          </a:prstGeom>
          <a:solidFill>
            <a:srgbClr val="0418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9" name="Google Shape;1189;p28"/>
          <p:cNvSpPr/>
          <p:nvPr/>
        </p:nvSpPr>
        <p:spPr>
          <a:xfrm>
            <a:off x="201168" y="896112"/>
            <a:ext cx="1645920" cy="7132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90" name="Google Shape;1190;p28"/>
          <p:cNvSpPr txBox="1"/>
          <p:nvPr/>
        </p:nvSpPr>
        <p:spPr>
          <a:xfrm>
            <a:off x="237744" y="950976"/>
            <a:ext cx="1572768" cy="6217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ASG</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DISCOVERY</a:t>
            </a:r>
            <a:endParaRPr/>
          </a:p>
        </p:txBody>
      </p:sp>
      <p:sp>
        <p:nvSpPr>
          <p:cNvPr id="1191" name="Google Shape;1191;p28"/>
          <p:cNvSpPr/>
          <p:nvPr/>
        </p:nvSpPr>
        <p:spPr>
          <a:xfrm>
            <a:off x="1938528"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92" name="Google Shape;1192;p28"/>
          <p:cNvSpPr txBox="1"/>
          <p:nvPr/>
        </p:nvSpPr>
        <p:spPr>
          <a:xfrm>
            <a:off x="1938528"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Domain</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shopvault.io</a:t>
            </a:r>
            <a:endParaRPr/>
          </a:p>
        </p:txBody>
      </p:sp>
      <p:sp>
        <p:nvSpPr>
          <p:cNvPr id="1193" name="Google Shape;1193;p28"/>
          <p:cNvSpPr/>
          <p:nvPr/>
        </p:nvSpPr>
        <p:spPr>
          <a:xfrm>
            <a:off x="3598621"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94" name="Google Shape;1194;p28"/>
          <p:cNvSpPr txBox="1"/>
          <p:nvPr/>
        </p:nvSpPr>
        <p:spPr>
          <a:xfrm>
            <a:off x="3598621"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Host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192.168.1.10</a:t>
            </a:r>
            <a:endParaRPr/>
          </a:p>
        </p:txBody>
      </p:sp>
      <p:sp>
        <p:nvSpPr>
          <p:cNvPr id="1195" name="Google Shape;1195;p28"/>
          <p:cNvSpPr/>
          <p:nvPr/>
        </p:nvSpPr>
        <p:spPr>
          <a:xfrm>
            <a:off x="5258714"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96" name="Google Shape;1196;p28"/>
          <p:cNvSpPr txBox="1"/>
          <p:nvPr/>
        </p:nvSpPr>
        <p:spPr>
          <a:xfrm>
            <a:off x="5258714"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Port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:443</a:t>
            </a:r>
            <a:endParaRPr/>
          </a:p>
        </p:txBody>
      </p:sp>
      <p:sp>
        <p:nvSpPr>
          <p:cNvPr id="1197" name="Google Shape;1197;p28"/>
          <p:cNvSpPr/>
          <p:nvPr/>
        </p:nvSpPr>
        <p:spPr>
          <a:xfrm>
            <a:off x="6918807"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98" name="Google Shape;1198;p28"/>
          <p:cNvSpPr txBox="1"/>
          <p:nvPr/>
        </p:nvSpPr>
        <p:spPr>
          <a:xfrm>
            <a:off x="6918807"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Service</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Nginx 1.18.0</a:t>
            </a:r>
            <a:endParaRPr/>
          </a:p>
        </p:txBody>
      </p:sp>
      <p:sp>
        <p:nvSpPr>
          <p:cNvPr id="1199" name="Google Shape;1199;p28"/>
          <p:cNvSpPr/>
          <p:nvPr/>
        </p:nvSpPr>
        <p:spPr>
          <a:xfrm>
            <a:off x="8578900" y="950976"/>
            <a:ext cx="1586941" cy="603504"/>
          </a:xfrm>
          <a:prstGeom prst="rect">
            <a:avLst/>
          </a:prstGeom>
          <a:solidFill>
            <a:srgbClr val="06241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00" name="Google Shape;1200;p28"/>
          <p:cNvSpPr txBox="1"/>
          <p:nvPr/>
        </p:nvSpPr>
        <p:spPr>
          <a:xfrm>
            <a:off x="8578900"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 Technology</a:t>
            </a:r>
            <a:br>
              <a:rPr b="1" i="0" lang="en-US" sz="800">
                <a:solidFill>
                  <a:srgbClr val="00E5FF"/>
                </a:solidFill>
                <a:latin typeface="Calibri"/>
                <a:ea typeface="Calibri"/>
                <a:cs typeface="Calibri"/>
                <a:sym typeface="Calibri"/>
              </a:rPr>
            </a:br>
            <a:r>
              <a:rPr b="1" i="0" lang="en-US" sz="800">
                <a:solidFill>
                  <a:srgbClr val="00E5FF"/>
                </a:solidFill>
                <a:latin typeface="Calibri"/>
                <a:ea typeface="Calibri"/>
                <a:cs typeface="Calibri"/>
                <a:sym typeface="Calibri"/>
              </a:rPr>
              <a:t>WordPress 5.9.3</a:t>
            </a:r>
            <a:endParaRPr/>
          </a:p>
        </p:txBody>
      </p:sp>
      <p:sp>
        <p:nvSpPr>
          <p:cNvPr id="1201" name="Google Shape;1201;p28"/>
          <p:cNvSpPr/>
          <p:nvPr/>
        </p:nvSpPr>
        <p:spPr>
          <a:xfrm>
            <a:off x="10238993" y="950976"/>
            <a:ext cx="1586941" cy="603504"/>
          </a:xfrm>
          <a:prstGeom prst="rect">
            <a:avLst/>
          </a:prstGeom>
          <a:solidFill>
            <a:srgbClr val="062410"/>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02" name="Google Shape;1202;p28"/>
          <p:cNvSpPr txBox="1"/>
          <p:nvPr/>
        </p:nvSpPr>
        <p:spPr>
          <a:xfrm>
            <a:off x="10238993"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 Vulnerability</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CVE-2022-21661</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CVSS 8.8</a:t>
            </a:r>
            <a:endParaRPr/>
          </a:p>
        </p:txBody>
      </p:sp>
      <p:cxnSp>
        <p:nvCxnSpPr>
          <p:cNvPr id="1203" name="Google Shape;1203;p28"/>
          <p:cNvCxnSpPr/>
          <p:nvPr/>
        </p:nvCxnSpPr>
        <p:spPr>
          <a:xfrm>
            <a:off x="0" y="1609344"/>
            <a:ext cx="0" cy="182880"/>
          </a:xfrm>
          <a:prstGeom prst="straightConnector1">
            <a:avLst/>
          </a:prstGeom>
          <a:noFill/>
          <a:ln cap="flat" cmpd="sng" w="203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204" name="Google Shape;1204;p28"/>
          <p:cNvSpPr txBox="1"/>
          <p:nvPr/>
        </p:nvSpPr>
        <p:spPr>
          <a:xfrm>
            <a:off x="6168999" y="1627632"/>
            <a:ext cx="50292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FFD700"/>
                </a:solidFill>
                <a:latin typeface="Calibri"/>
                <a:ea typeface="Calibri"/>
                <a:cs typeface="Calibri"/>
                <a:sym typeface="Calibri"/>
              </a:rPr>
              <a:t>starts_at: Vulnerability node → Commander seeds APG AttackChain</a:t>
            </a:r>
            <a:endParaRPr/>
          </a:p>
        </p:txBody>
      </p:sp>
      <p:sp>
        <p:nvSpPr>
          <p:cNvPr id="1205" name="Google Shape;1205;p28"/>
          <p:cNvSpPr/>
          <p:nvPr/>
        </p:nvSpPr>
        <p:spPr>
          <a:xfrm>
            <a:off x="201168" y="1865376"/>
            <a:ext cx="11789359" cy="4059936"/>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06" name="Google Shape;1206;p28"/>
          <p:cNvSpPr/>
          <p:nvPr/>
        </p:nvSpPr>
        <p:spPr>
          <a:xfrm>
            <a:off x="201168" y="1865376"/>
            <a:ext cx="11789359"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07" name="Google Shape;1207;p28"/>
          <p:cNvSpPr txBox="1"/>
          <p:nvPr/>
        </p:nvSpPr>
        <p:spPr>
          <a:xfrm>
            <a:off x="310896" y="1901952"/>
            <a:ext cx="11643055"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0A0D1A"/>
                </a:solidFill>
                <a:latin typeface="Calibri"/>
                <a:ea typeface="Calibri"/>
                <a:cs typeface="Calibri"/>
                <a:sym typeface="Calibri"/>
              </a:rPr>
              <a:t>APG  ·  AttackChain: Chain-01  ·  status: VALIDATED  ·  risk_score: 9.1</a:t>
            </a:r>
            <a:endParaRPr/>
          </a:p>
        </p:txBody>
      </p:sp>
      <p:sp>
        <p:nvSpPr>
          <p:cNvPr id="1208" name="Google Shape;1208;p28"/>
          <p:cNvSpPr/>
          <p:nvPr/>
        </p:nvSpPr>
        <p:spPr>
          <a:xfrm>
            <a:off x="201168"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09" name="Google Shape;1209;p28"/>
          <p:cNvSpPr/>
          <p:nvPr/>
        </p:nvSpPr>
        <p:spPr>
          <a:xfrm>
            <a:off x="201168"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10" name="Google Shape;1210;p28"/>
          <p:cNvSpPr txBox="1"/>
          <p:nvPr/>
        </p:nvSpPr>
        <p:spPr>
          <a:xfrm>
            <a:off x="256032"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1</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Recognise</a:t>
            </a:r>
            <a:endParaRPr/>
          </a:p>
        </p:txBody>
      </p:sp>
      <p:sp>
        <p:nvSpPr>
          <p:cNvPr id="1211" name="Google Shape;1211;p28"/>
          <p:cNvSpPr/>
          <p:nvPr/>
        </p:nvSpPr>
        <p:spPr>
          <a:xfrm>
            <a:off x="209694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12" name="Google Shape;1212;p28"/>
          <p:cNvSpPr txBox="1"/>
          <p:nvPr/>
        </p:nvSpPr>
        <p:spPr>
          <a:xfrm>
            <a:off x="209694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213" name="Google Shape;1213;p28"/>
          <p:cNvSpPr txBox="1"/>
          <p:nvPr/>
        </p:nvSpPr>
        <p:spPr>
          <a:xfrm>
            <a:off x="292608"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SQLMap → WP_Query SQLi confirmed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Parameter: /?s= | Backend: MySQL 8.0</a:t>
            </a:r>
            <a:endParaRPr/>
          </a:p>
        </p:txBody>
      </p:sp>
      <p:sp>
        <p:nvSpPr>
          <p:cNvPr id="1214" name="Google Shape;1214;p28"/>
          <p:cNvSpPr/>
          <p:nvPr/>
        </p:nvSpPr>
        <p:spPr>
          <a:xfrm>
            <a:off x="274320"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15" name="Google Shape;1215;p28"/>
          <p:cNvSpPr txBox="1"/>
          <p:nvPr/>
        </p:nvSpPr>
        <p:spPr>
          <a:xfrm>
            <a:off x="329184"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screenshot_sqli_01.png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216" name="Google Shape;1216;p28"/>
          <p:cNvSpPr txBox="1"/>
          <p:nvPr/>
        </p:nvSpPr>
        <p:spPr>
          <a:xfrm>
            <a:off x="303877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217" name="Google Shape;1217;p28"/>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218" name="Google Shape;1218;p28"/>
          <p:cNvSpPr txBox="1"/>
          <p:nvPr/>
        </p:nvSpPr>
        <p:spPr>
          <a:xfrm>
            <a:off x="311193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219" name="Google Shape;1219;p28"/>
          <p:cNvSpPr/>
          <p:nvPr/>
        </p:nvSpPr>
        <p:spPr>
          <a:xfrm>
            <a:off x="3148507"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20" name="Google Shape;1220;p28"/>
          <p:cNvSpPr/>
          <p:nvPr/>
        </p:nvSpPr>
        <p:spPr>
          <a:xfrm>
            <a:off x="3148507"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21" name="Google Shape;1221;p28"/>
          <p:cNvSpPr txBox="1"/>
          <p:nvPr/>
        </p:nvSpPr>
        <p:spPr>
          <a:xfrm>
            <a:off x="320337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2</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Escalate</a:t>
            </a:r>
            <a:endParaRPr/>
          </a:p>
        </p:txBody>
      </p:sp>
      <p:sp>
        <p:nvSpPr>
          <p:cNvPr id="1222" name="Google Shape;1222;p28"/>
          <p:cNvSpPr/>
          <p:nvPr/>
        </p:nvSpPr>
        <p:spPr>
          <a:xfrm>
            <a:off x="504428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23" name="Google Shape;1223;p28"/>
          <p:cNvSpPr txBox="1"/>
          <p:nvPr/>
        </p:nvSpPr>
        <p:spPr>
          <a:xfrm>
            <a:off x="504428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224" name="Google Shape;1224;p28"/>
          <p:cNvSpPr txBox="1"/>
          <p:nvPr/>
        </p:nvSpPr>
        <p:spPr>
          <a:xfrm>
            <a:off x="323994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Admin password hash extracted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Cracked offline (MD5) → admin:Welcome1!</a:t>
            </a:r>
            <a:endParaRPr/>
          </a:p>
        </p:txBody>
      </p:sp>
      <p:sp>
        <p:nvSpPr>
          <p:cNvPr id="1225" name="Google Shape;1225;p28"/>
          <p:cNvSpPr/>
          <p:nvPr/>
        </p:nvSpPr>
        <p:spPr>
          <a:xfrm>
            <a:off x="322165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26" name="Google Shape;1226;p28"/>
          <p:cNvSpPr txBox="1"/>
          <p:nvPr/>
        </p:nvSpPr>
        <p:spPr>
          <a:xfrm>
            <a:off x="327652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hash_dump.txt</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227" name="Google Shape;1227;p28"/>
          <p:cNvSpPr txBox="1"/>
          <p:nvPr/>
        </p:nvSpPr>
        <p:spPr>
          <a:xfrm>
            <a:off x="598611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228" name="Google Shape;1228;p28"/>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229" name="Google Shape;1229;p28"/>
          <p:cNvSpPr txBox="1"/>
          <p:nvPr/>
        </p:nvSpPr>
        <p:spPr>
          <a:xfrm>
            <a:off x="605927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230" name="Google Shape;1230;p28"/>
          <p:cNvSpPr/>
          <p:nvPr/>
        </p:nvSpPr>
        <p:spPr>
          <a:xfrm>
            <a:off x="6095847" y="2157984"/>
            <a:ext cx="2892475" cy="3730752"/>
          </a:xfrm>
          <a:prstGeom prst="rect">
            <a:avLst/>
          </a:prstGeom>
          <a:solidFill>
            <a:srgbClr val="1E1402"/>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31" name="Google Shape;1231;p28"/>
          <p:cNvSpPr/>
          <p:nvPr/>
        </p:nvSpPr>
        <p:spPr>
          <a:xfrm>
            <a:off x="6095847" y="2157984"/>
            <a:ext cx="2892475"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32" name="Google Shape;1232;p28"/>
          <p:cNvSpPr txBox="1"/>
          <p:nvPr/>
        </p:nvSpPr>
        <p:spPr>
          <a:xfrm>
            <a:off x="615071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3</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Exploit</a:t>
            </a:r>
            <a:endParaRPr/>
          </a:p>
        </p:txBody>
      </p:sp>
      <p:sp>
        <p:nvSpPr>
          <p:cNvPr id="1233" name="Google Shape;1233;p28"/>
          <p:cNvSpPr/>
          <p:nvPr/>
        </p:nvSpPr>
        <p:spPr>
          <a:xfrm>
            <a:off x="799162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34" name="Google Shape;1234;p28"/>
          <p:cNvSpPr txBox="1"/>
          <p:nvPr/>
        </p:nvSpPr>
        <p:spPr>
          <a:xfrm>
            <a:off x="799162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235" name="Google Shape;1235;p28"/>
          <p:cNvSpPr txBox="1"/>
          <p:nvPr/>
        </p:nvSpPr>
        <p:spPr>
          <a:xfrm>
            <a:off x="618728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Metasploit WP-Admin upload → shell</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RCE confirmed on production host</a:t>
            </a:r>
            <a:endParaRPr/>
          </a:p>
        </p:txBody>
      </p:sp>
      <p:sp>
        <p:nvSpPr>
          <p:cNvPr id="1236" name="Google Shape;1236;p28"/>
          <p:cNvSpPr/>
          <p:nvPr/>
        </p:nvSpPr>
        <p:spPr>
          <a:xfrm>
            <a:off x="616899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37" name="Google Shape;1237;p28"/>
          <p:cNvSpPr txBox="1"/>
          <p:nvPr/>
        </p:nvSpPr>
        <p:spPr>
          <a:xfrm>
            <a:off x="622386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shell_access.png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238" name="Google Shape;1238;p28"/>
          <p:cNvSpPr txBox="1"/>
          <p:nvPr/>
        </p:nvSpPr>
        <p:spPr>
          <a:xfrm>
            <a:off x="893345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239" name="Google Shape;1239;p28"/>
          <p:cNvCxnSpPr/>
          <p:nvPr/>
        </p:nvCxnSpPr>
        <p:spPr>
          <a:xfrm>
            <a:off x="0" y="0"/>
            <a:ext cx="0" cy="0"/>
          </a:xfrm>
          <a:prstGeom prst="straightConnector1">
            <a:avLst/>
          </a:prstGeom>
          <a:noFill/>
          <a:ln cap="flat" cmpd="sng" w="1777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1240" name="Google Shape;1240;p28"/>
          <p:cNvSpPr txBox="1"/>
          <p:nvPr/>
        </p:nvSpPr>
        <p:spPr>
          <a:xfrm>
            <a:off x="900661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241" name="Google Shape;1241;p28"/>
          <p:cNvSpPr/>
          <p:nvPr/>
        </p:nvSpPr>
        <p:spPr>
          <a:xfrm>
            <a:off x="9043187" y="2157984"/>
            <a:ext cx="2892475" cy="3730752"/>
          </a:xfrm>
          <a:prstGeom prst="rect">
            <a:avLst/>
          </a:prstGeom>
          <a:solidFill>
            <a:srgbClr val="1E140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2" name="Google Shape;1242;p28"/>
          <p:cNvSpPr/>
          <p:nvPr/>
        </p:nvSpPr>
        <p:spPr>
          <a:xfrm>
            <a:off x="9043187" y="2157984"/>
            <a:ext cx="2892475"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3" name="Google Shape;1243;p28"/>
          <p:cNvSpPr txBox="1"/>
          <p:nvPr/>
        </p:nvSpPr>
        <p:spPr>
          <a:xfrm>
            <a:off x="909805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Impact</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Demonstrated</a:t>
            </a:r>
            <a:endParaRPr/>
          </a:p>
        </p:txBody>
      </p:sp>
      <p:sp>
        <p:nvSpPr>
          <p:cNvPr id="1244" name="Google Shape;1244;p28"/>
          <p:cNvSpPr/>
          <p:nvPr/>
        </p:nvSpPr>
        <p:spPr>
          <a:xfrm>
            <a:off x="10938967" y="2176272"/>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5" name="Google Shape;1245;p28"/>
          <p:cNvSpPr txBox="1"/>
          <p:nvPr/>
        </p:nvSpPr>
        <p:spPr>
          <a:xfrm>
            <a:off x="1093896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DEMONSTRATED</a:t>
            </a:r>
            <a:endParaRPr/>
          </a:p>
        </p:txBody>
      </p:sp>
      <p:sp>
        <p:nvSpPr>
          <p:cNvPr id="1246" name="Google Shape;1246;p28"/>
          <p:cNvSpPr txBox="1"/>
          <p:nvPr/>
        </p:nvSpPr>
        <p:spPr>
          <a:xfrm>
            <a:off x="913462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Full server access</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Customer PII: 14,000 records accessible</a:t>
            </a:r>
            <a:endParaRPr/>
          </a:p>
        </p:txBody>
      </p:sp>
      <p:sp>
        <p:nvSpPr>
          <p:cNvPr id="1247" name="Google Shape;1247;p28"/>
          <p:cNvSpPr/>
          <p:nvPr/>
        </p:nvSpPr>
        <p:spPr>
          <a:xfrm>
            <a:off x="911633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8" name="Google Shape;1248;p28"/>
          <p:cNvSpPr txBox="1"/>
          <p:nvPr/>
        </p:nvSpPr>
        <p:spPr>
          <a:xfrm>
            <a:off x="917120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pii_sample.json</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249" name="Google Shape;1249;p28"/>
          <p:cNvSpPr txBox="1"/>
          <p:nvPr/>
        </p:nvSpPr>
        <p:spPr>
          <a:xfrm>
            <a:off x="1188079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sp>
        <p:nvSpPr>
          <p:cNvPr id="1250" name="Google Shape;1250;p28"/>
          <p:cNvSpPr/>
          <p:nvPr/>
        </p:nvSpPr>
        <p:spPr>
          <a:xfrm>
            <a:off x="201168" y="6345936"/>
            <a:ext cx="11789359" cy="347472"/>
          </a:xfrm>
          <a:prstGeom prst="rect">
            <a:avLst/>
          </a:prstGeom>
          <a:solidFill>
            <a:srgbClr val="060E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51" name="Google Shape;1251;p28"/>
          <p:cNvSpPr txBox="1"/>
          <p:nvPr/>
        </p:nvSpPr>
        <p:spPr>
          <a:xfrm>
            <a:off x="365760" y="6382512"/>
            <a:ext cx="11551615"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00E5FF"/>
                </a:solidFill>
                <a:latin typeface="Calibri"/>
                <a:ea typeface="Calibri"/>
                <a:cs typeface="Calibri"/>
                <a:sym typeface="Calibri"/>
              </a:rPr>
              <a:t>Every step fully traceable: ASG Vulnerability → APG AttackChain → ChainSteps → ASG Evidence nodes.  Report Agent reads both graphs and outputs an evidence-backed narrative without human intervention.</a:t>
            </a:r>
            <a:endParaRPr/>
          </a:p>
        </p:txBody>
      </p:sp>
      <p:sp>
        <p:nvSpPr>
          <p:cNvPr id="1252" name="Google Shape;1252;p28"/>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56" name="Shape 1256"/>
        <p:cNvGrpSpPr/>
        <p:nvPr/>
      </p:nvGrpSpPr>
      <p:grpSpPr>
        <a:xfrm>
          <a:off x="0" y="0"/>
          <a:ext cx="0" cy="0"/>
          <a:chOff x="0" y="0"/>
          <a:chExt cx="0" cy="0"/>
        </a:xfrm>
      </p:grpSpPr>
      <p:sp>
        <p:nvSpPr>
          <p:cNvPr id="1257" name="Google Shape;1257;p29"/>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58" name="Google Shape;1258;p29"/>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59" name="Google Shape;1259;p29"/>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60" name="Google Shape;1260;p29"/>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NOVEL CONTRIBUTION</a:t>
            </a:r>
            <a:endParaRPr/>
          </a:p>
        </p:txBody>
      </p:sp>
      <p:sp>
        <p:nvSpPr>
          <p:cNvPr id="1261" name="Google Shape;1261;p29"/>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What Makes CMatrix a Research Contribution</a:t>
            </a:r>
            <a:endParaRPr/>
          </a:p>
        </p:txBody>
      </p:sp>
      <p:sp>
        <p:nvSpPr>
          <p:cNvPr id="1262" name="Google Shape;1262;p29"/>
          <p:cNvSpPr/>
          <p:nvPr/>
        </p:nvSpPr>
        <p:spPr>
          <a:xfrm>
            <a:off x="274320" y="1097280"/>
            <a:ext cx="11643055" cy="512064"/>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63" name="Google Shape;1263;p29"/>
          <p:cNvSpPr txBox="1"/>
          <p:nvPr/>
        </p:nvSpPr>
        <p:spPr>
          <a:xfrm>
            <a:off x="502920" y="1170432"/>
            <a:ext cx="11277295" cy="40233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300">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264" name="Google Shape;1264;p29"/>
          <p:cNvSpPr/>
          <p:nvPr/>
        </p:nvSpPr>
        <p:spPr>
          <a:xfrm>
            <a:off x="274320"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65" name="Google Shape;1265;p29"/>
          <p:cNvSpPr/>
          <p:nvPr/>
        </p:nvSpPr>
        <p:spPr>
          <a:xfrm>
            <a:off x="274320"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66" name="Google Shape;1266;p29"/>
          <p:cNvSpPr txBox="1"/>
          <p:nvPr/>
        </p:nvSpPr>
        <p:spPr>
          <a:xfrm>
            <a:off x="292608"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a:t>
            </a:r>
            <a:endParaRPr/>
          </a:p>
        </p:txBody>
      </p:sp>
      <p:sp>
        <p:nvSpPr>
          <p:cNvPr id="1267" name="Google Shape;1267;p29"/>
          <p:cNvSpPr txBox="1"/>
          <p:nvPr/>
        </p:nvSpPr>
        <p:spPr>
          <a:xfrm>
            <a:off x="841248"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World Model</a:t>
            </a:r>
            <a:endParaRPr/>
          </a:p>
        </p:txBody>
      </p:sp>
      <p:sp>
        <p:nvSpPr>
          <p:cNvPr id="1268" name="Google Shape;1268;p29"/>
          <p:cNvSpPr txBox="1"/>
          <p:nvPr/>
        </p:nvSpPr>
        <p:spPr>
          <a:xfrm>
            <a:off x="384048"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269" name="Google Shape;1269;p29"/>
          <p:cNvSpPr/>
          <p:nvPr/>
        </p:nvSpPr>
        <p:spPr>
          <a:xfrm>
            <a:off x="4187952"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70" name="Google Shape;1270;p29"/>
          <p:cNvSpPr/>
          <p:nvPr/>
        </p:nvSpPr>
        <p:spPr>
          <a:xfrm>
            <a:off x="4187952"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71" name="Google Shape;1271;p29"/>
          <p:cNvSpPr txBox="1"/>
          <p:nvPr/>
        </p:nvSpPr>
        <p:spPr>
          <a:xfrm>
            <a:off x="4206240"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C2</a:t>
            </a:r>
            <a:endParaRPr/>
          </a:p>
        </p:txBody>
      </p:sp>
      <p:sp>
        <p:nvSpPr>
          <p:cNvPr id="1272" name="Google Shape;1272;p29"/>
          <p:cNvSpPr txBox="1"/>
          <p:nvPr/>
        </p:nvSpPr>
        <p:spPr>
          <a:xfrm>
            <a:off x="4754880"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Graph-Driven Re-Planning</a:t>
            </a:r>
            <a:endParaRPr/>
          </a:p>
        </p:txBody>
      </p:sp>
      <p:sp>
        <p:nvSpPr>
          <p:cNvPr id="1273" name="Google Shape;1273;p29"/>
          <p:cNvSpPr txBox="1"/>
          <p:nvPr/>
        </p:nvSpPr>
        <p:spPr>
          <a:xfrm>
            <a:off x="4297680"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274" name="Google Shape;1274;p29"/>
          <p:cNvSpPr/>
          <p:nvPr/>
        </p:nvSpPr>
        <p:spPr>
          <a:xfrm>
            <a:off x="8101584"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75" name="Google Shape;1275;p29"/>
          <p:cNvSpPr/>
          <p:nvPr/>
        </p:nvSpPr>
        <p:spPr>
          <a:xfrm>
            <a:off x="8101584"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76" name="Google Shape;1276;p29"/>
          <p:cNvSpPr txBox="1"/>
          <p:nvPr/>
        </p:nvSpPr>
        <p:spPr>
          <a:xfrm>
            <a:off x="8119872"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C3</a:t>
            </a:r>
            <a:endParaRPr/>
          </a:p>
        </p:txBody>
      </p:sp>
      <p:sp>
        <p:nvSpPr>
          <p:cNvPr id="1277" name="Google Shape;1277;p29"/>
          <p:cNvSpPr txBox="1"/>
          <p:nvPr/>
        </p:nvSpPr>
        <p:spPr>
          <a:xfrm>
            <a:off x="8668512"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APG Attack Chain Lifecycle with Evidence Traceability</a:t>
            </a:r>
            <a:endParaRPr/>
          </a:p>
        </p:txBody>
      </p:sp>
      <p:sp>
        <p:nvSpPr>
          <p:cNvPr id="1278" name="Google Shape;1278;p29"/>
          <p:cNvSpPr txBox="1"/>
          <p:nvPr/>
        </p:nvSpPr>
        <p:spPr>
          <a:xfrm>
            <a:off x="8211312"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Attack chains are first-class entities: risk-scored, prioritized, lifecycle-tracked. Every ChainStep links to ASG Evidence via supported_by.</a:t>
            </a:r>
            <a:endParaRPr/>
          </a:p>
        </p:txBody>
      </p:sp>
      <p:sp>
        <p:nvSpPr>
          <p:cNvPr id="1279" name="Google Shape;1279;p29"/>
          <p:cNvSpPr/>
          <p:nvPr/>
        </p:nvSpPr>
        <p:spPr>
          <a:xfrm>
            <a:off x="274320"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80" name="Google Shape;1280;p29"/>
          <p:cNvSpPr/>
          <p:nvPr/>
        </p:nvSpPr>
        <p:spPr>
          <a:xfrm>
            <a:off x="274320"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81" name="Google Shape;1281;p29"/>
          <p:cNvSpPr txBox="1"/>
          <p:nvPr/>
        </p:nvSpPr>
        <p:spPr>
          <a:xfrm>
            <a:off x="292608"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C4</a:t>
            </a:r>
            <a:endParaRPr/>
          </a:p>
        </p:txBody>
      </p:sp>
      <p:sp>
        <p:nvSpPr>
          <p:cNvPr id="1282" name="Google Shape;1282;p29"/>
          <p:cNvSpPr txBox="1"/>
          <p:nvPr/>
        </p:nvSpPr>
        <p:spPr>
          <a:xfrm>
            <a:off x="841248"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ASG-Aware Parallel Dispatch</a:t>
            </a:r>
            <a:endParaRPr/>
          </a:p>
        </p:txBody>
      </p:sp>
      <p:sp>
        <p:nvSpPr>
          <p:cNvPr id="1283" name="Google Shape;1283;p29"/>
          <p:cNvSpPr txBox="1"/>
          <p:nvPr/>
        </p:nvSpPr>
        <p:spPr>
          <a:xfrm>
            <a:off x="384048"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284" name="Google Shape;1284;p29"/>
          <p:cNvSpPr/>
          <p:nvPr/>
        </p:nvSpPr>
        <p:spPr>
          <a:xfrm>
            <a:off x="4187952"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85" name="Google Shape;1285;p29"/>
          <p:cNvSpPr/>
          <p:nvPr/>
        </p:nvSpPr>
        <p:spPr>
          <a:xfrm>
            <a:off x="4187952"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86" name="Google Shape;1286;p29"/>
          <p:cNvSpPr txBox="1"/>
          <p:nvPr/>
        </p:nvSpPr>
        <p:spPr>
          <a:xfrm>
            <a:off x="4206240"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C5</a:t>
            </a:r>
            <a:endParaRPr/>
          </a:p>
        </p:txBody>
      </p:sp>
      <p:sp>
        <p:nvSpPr>
          <p:cNvPr id="1287" name="Google Shape;1287;p29"/>
          <p:cNvSpPr txBox="1"/>
          <p:nvPr/>
        </p:nvSpPr>
        <p:spPr>
          <a:xfrm>
            <a:off x="4754880"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Tool Risk Gate + Mailbox</a:t>
            </a:r>
            <a:endParaRPr/>
          </a:p>
        </p:txBody>
      </p:sp>
      <p:sp>
        <p:nvSpPr>
          <p:cNvPr id="1288" name="Google Shape;1288;p29"/>
          <p:cNvSpPr txBox="1"/>
          <p:nvPr/>
        </p:nvSpPr>
        <p:spPr>
          <a:xfrm>
            <a:off x="4297680"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289" name="Google Shape;1289;p29"/>
          <p:cNvSpPr/>
          <p:nvPr/>
        </p:nvSpPr>
        <p:spPr>
          <a:xfrm>
            <a:off x="8101584"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90" name="Google Shape;1290;p29"/>
          <p:cNvSpPr/>
          <p:nvPr/>
        </p:nvSpPr>
        <p:spPr>
          <a:xfrm>
            <a:off x="8101584"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91" name="Google Shape;1291;p29"/>
          <p:cNvSpPr txBox="1"/>
          <p:nvPr/>
        </p:nvSpPr>
        <p:spPr>
          <a:xfrm>
            <a:off x="8119872"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C6</a:t>
            </a:r>
            <a:endParaRPr/>
          </a:p>
        </p:txBody>
      </p:sp>
      <p:sp>
        <p:nvSpPr>
          <p:cNvPr id="1292" name="Google Shape;1292;p29"/>
          <p:cNvSpPr txBox="1"/>
          <p:nvPr/>
        </p:nvSpPr>
        <p:spPr>
          <a:xfrm>
            <a:off x="8668512"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Lossless Context Compaction</a:t>
            </a:r>
            <a:endParaRPr/>
          </a:p>
        </p:txBody>
      </p:sp>
      <p:sp>
        <p:nvSpPr>
          <p:cNvPr id="1293" name="Google Shape;1293;p29"/>
          <p:cNvSpPr txBox="1"/>
          <p:nvPr/>
        </p:nvSpPr>
        <p:spPr>
          <a:xfrm>
            <a:off x="8211312"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294" name="Google Shape;1294;p29"/>
          <p:cNvSpPr/>
          <p:nvPr/>
        </p:nvSpPr>
        <p:spPr>
          <a:xfrm>
            <a:off x="274320"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95" name="Google Shape;1295;p29"/>
          <p:cNvSpPr/>
          <p:nvPr/>
        </p:nvSpPr>
        <p:spPr>
          <a:xfrm>
            <a:off x="274320"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96" name="Google Shape;1296;p29"/>
          <p:cNvSpPr txBox="1"/>
          <p:nvPr/>
        </p:nvSpPr>
        <p:spPr>
          <a:xfrm>
            <a:off x="292608"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C7</a:t>
            </a:r>
            <a:endParaRPr/>
          </a:p>
        </p:txBody>
      </p:sp>
      <p:sp>
        <p:nvSpPr>
          <p:cNvPr id="1297" name="Google Shape;1297;p29"/>
          <p:cNvSpPr txBox="1"/>
          <p:nvPr/>
        </p:nvSpPr>
        <p:spPr>
          <a:xfrm>
            <a:off x="841248"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Methodology-as-Config</a:t>
            </a:r>
            <a:endParaRPr/>
          </a:p>
        </p:txBody>
      </p:sp>
      <p:sp>
        <p:nvSpPr>
          <p:cNvPr id="1298" name="Google Shape;1298;p29"/>
          <p:cNvSpPr txBox="1"/>
          <p:nvPr/>
        </p:nvSpPr>
        <p:spPr>
          <a:xfrm>
            <a:off x="384048"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299" name="Google Shape;1299;p29"/>
          <p:cNvSpPr/>
          <p:nvPr/>
        </p:nvSpPr>
        <p:spPr>
          <a:xfrm>
            <a:off x="4187952"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00" name="Google Shape;1300;p29"/>
          <p:cNvSpPr/>
          <p:nvPr/>
        </p:nvSpPr>
        <p:spPr>
          <a:xfrm>
            <a:off x="4187952"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01" name="Google Shape;1301;p29"/>
          <p:cNvSpPr txBox="1"/>
          <p:nvPr/>
        </p:nvSpPr>
        <p:spPr>
          <a:xfrm>
            <a:off x="4206240"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C8</a:t>
            </a:r>
            <a:endParaRPr/>
          </a:p>
        </p:txBody>
      </p:sp>
      <p:sp>
        <p:nvSpPr>
          <p:cNvPr id="1302" name="Google Shape;1302;p29"/>
          <p:cNvSpPr txBox="1"/>
          <p:nvPr/>
        </p:nvSpPr>
        <p:spPr>
          <a:xfrm>
            <a:off x="4754880"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Termination</a:t>
            </a:r>
            <a:endParaRPr/>
          </a:p>
        </p:txBody>
      </p:sp>
      <p:sp>
        <p:nvSpPr>
          <p:cNvPr id="1303" name="Google Shape;1303;p29"/>
          <p:cNvSpPr txBox="1"/>
          <p:nvPr/>
        </p:nvSpPr>
        <p:spPr>
          <a:xfrm>
            <a:off x="4297680"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304" name="Google Shape;1304;p29"/>
          <p:cNvSpPr/>
          <p:nvPr/>
        </p:nvSpPr>
        <p:spPr>
          <a:xfrm>
            <a:off x="8101584"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05" name="Google Shape;1305;p29"/>
          <p:cNvSpPr/>
          <p:nvPr/>
        </p:nvSpPr>
        <p:spPr>
          <a:xfrm>
            <a:off x="8101584"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06" name="Google Shape;1306;p29"/>
          <p:cNvSpPr txBox="1"/>
          <p:nvPr/>
        </p:nvSpPr>
        <p:spPr>
          <a:xfrm>
            <a:off x="8119872"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C9</a:t>
            </a:r>
            <a:endParaRPr/>
          </a:p>
        </p:txBody>
      </p:sp>
      <p:sp>
        <p:nvSpPr>
          <p:cNvPr id="1307" name="Google Shape;1307;p29"/>
          <p:cNvSpPr txBox="1"/>
          <p:nvPr/>
        </p:nvSpPr>
        <p:spPr>
          <a:xfrm>
            <a:off x="8668512"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Live CVE Grounding</a:t>
            </a:r>
            <a:endParaRPr/>
          </a:p>
        </p:txBody>
      </p:sp>
      <p:sp>
        <p:nvSpPr>
          <p:cNvPr id="1308" name="Google Shape;1308;p29"/>
          <p:cNvSpPr txBox="1"/>
          <p:nvPr/>
        </p:nvSpPr>
        <p:spPr>
          <a:xfrm>
            <a:off x="8211312"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309" name="Google Shape;1309;p29"/>
          <p:cNvSpPr/>
          <p:nvPr/>
        </p:nvSpPr>
        <p:spPr>
          <a:xfrm>
            <a:off x="274320"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0" name="Google Shape;1310;p29"/>
          <p:cNvSpPr/>
          <p:nvPr/>
        </p:nvSpPr>
        <p:spPr>
          <a:xfrm>
            <a:off x="274320"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1" name="Google Shape;1311;p29"/>
          <p:cNvSpPr txBox="1"/>
          <p:nvPr/>
        </p:nvSpPr>
        <p:spPr>
          <a:xfrm>
            <a:off x="292608"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C10</a:t>
            </a:r>
            <a:endParaRPr/>
          </a:p>
        </p:txBody>
      </p:sp>
      <p:sp>
        <p:nvSpPr>
          <p:cNvPr id="1312" name="Google Shape;1312;p29"/>
          <p:cNvSpPr txBox="1"/>
          <p:nvPr/>
        </p:nvSpPr>
        <p:spPr>
          <a:xfrm>
            <a:off x="841248"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Cross-Mission Experience</a:t>
            </a:r>
            <a:endParaRPr/>
          </a:p>
        </p:txBody>
      </p:sp>
      <p:sp>
        <p:nvSpPr>
          <p:cNvPr id="1313" name="Google Shape;1313;p29"/>
          <p:cNvSpPr txBox="1"/>
          <p:nvPr/>
        </p:nvSpPr>
        <p:spPr>
          <a:xfrm>
            <a:off x="384048"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314" name="Google Shape;1314;p29"/>
          <p:cNvSpPr/>
          <p:nvPr/>
        </p:nvSpPr>
        <p:spPr>
          <a:xfrm>
            <a:off x="4187952"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5" name="Google Shape;1315;p29"/>
          <p:cNvSpPr/>
          <p:nvPr/>
        </p:nvSpPr>
        <p:spPr>
          <a:xfrm>
            <a:off x="4187952"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6" name="Google Shape;1316;p29"/>
          <p:cNvSpPr txBox="1"/>
          <p:nvPr/>
        </p:nvSpPr>
        <p:spPr>
          <a:xfrm>
            <a:off x="4206240"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C11</a:t>
            </a:r>
            <a:endParaRPr/>
          </a:p>
        </p:txBody>
      </p:sp>
      <p:sp>
        <p:nvSpPr>
          <p:cNvPr id="1317" name="Google Shape;1317;p29"/>
          <p:cNvSpPr txBox="1"/>
          <p:nvPr/>
        </p:nvSpPr>
        <p:spPr>
          <a:xfrm>
            <a:off x="4754880"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Attack Strategy Library</a:t>
            </a:r>
            <a:endParaRPr/>
          </a:p>
        </p:txBody>
      </p:sp>
      <p:sp>
        <p:nvSpPr>
          <p:cNvPr id="1318" name="Google Shape;1318;p29"/>
          <p:cNvSpPr txBox="1"/>
          <p:nvPr/>
        </p:nvSpPr>
        <p:spPr>
          <a:xfrm>
            <a:off x="4297680"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1319" name="Google Shape;1319;p29"/>
          <p:cNvSpPr/>
          <p:nvPr/>
        </p:nvSpPr>
        <p:spPr>
          <a:xfrm>
            <a:off x="8101584"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0" name="Google Shape;1320;p29"/>
          <p:cNvSpPr/>
          <p:nvPr/>
        </p:nvSpPr>
        <p:spPr>
          <a:xfrm>
            <a:off x="8101584"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1" name="Google Shape;1321;p29"/>
          <p:cNvSpPr txBox="1"/>
          <p:nvPr/>
        </p:nvSpPr>
        <p:spPr>
          <a:xfrm>
            <a:off x="8119872"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C12</a:t>
            </a:r>
            <a:endParaRPr/>
          </a:p>
        </p:txBody>
      </p:sp>
      <p:sp>
        <p:nvSpPr>
          <p:cNvPr id="1322" name="Google Shape;1322;p29"/>
          <p:cNvSpPr txBox="1"/>
          <p:nvPr/>
        </p:nvSpPr>
        <p:spPr>
          <a:xfrm>
            <a:off x="8668512"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Trajectory Export Dataset</a:t>
            </a:r>
            <a:endParaRPr/>
          </a:p>
        </p:txBody>
      </p:sp>
      <p:sp>
        <p:nvSpPr>
          <p:cNvPr id="1323" name="Google Shape;1323;p29"/>
          <p:cNvSpPr txBox="1"/>
          <p:nvPr/>
        </p:nvSpPr>
        <p:spPr>
          <a:xfrm>
            <a:off x="8211312"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1324" name="Google Shape;1324;p29"/>
          <p:cNvSpPr txBox="1"/>
          <p:nvPr/>
        </p:nvSpPr>
        <p:spPr>
          <a:xfrm>
            <a:off x="11780215"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28" name="Shape 1328"/>
        <p:cNvGrpSpPr/>
        <p:nvPr/>
      </p:nvGrpSpPr>
      <p:grpSpPr>
        <a:xfrm>
          <a:off x="0" y="0"/>
          <a:ext cx="0" cy="0"/>
          <a:chOff x="0" y="0"/>
          <a:chExt cx="0" cy="0"/>
        </a:xfrm>
      </p:grpSpPr>
      <p:sp>
        <p:nvSpPr>
          <p:cNvPr id="1329" name="Google Shape;1329;p30"/>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0" name="Google Shape;1330;p30"/>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1" name="Google Shape;1331;p30"/>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2" name="Google Shape;1332;p3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WHAT CMATRIX UNIQUELY INTRODUCES</a:t>
            </a:r>
            <a:endParaRPr/>
          </a:p>
        </p:txBody>
      </p:sp>
      <p:sp>
        <p:nvSpPr>
          <p:cNvPr id="1333" name="Google Shape;1333;p3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The Architecture No Prior Autonomous VAPT System Has Built</a:t>
            </a:r>
            <a:endParaRPr/>
          </a:p>
        </p:txBody>
      </p:sp>
      <p:sp>
        <p:nvSpPr>
          <p:cNvPr id="1334" name="Google Shape;1334;p30"/>
          <p:cNvSpPr/>
          <p:nvPr/>
        </p:nvSpPr>
        <p:spPr>
          <a:xfrm>
            <a:off x="274320" y="822960"/>
            <a:ext cx="10058400" cy="274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5" name="Google Shape;1335;p30"/>
          <p:cNvSpPr/>
          <p:nvPr/>
        </p:nvSpPr>
        <p:spPr>
          <a:xfrm>
            <a:off x="201168" y="960120"/>
            <a:ext cx="22860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6" name="Google Shape;1336;p30"/>
          <p:cNvSpPr txBox="1"/>
          <p:nvPr/>
        </p:nvSpPr>
        <p:spPr>
          <a:xfrm>
            <a:off x="274320" y="1005840"/>
            <a:ext cx="21762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AREA</a:t>
            </a:r>
            <a:endParaRPr/>
          </a:p>
        </p:txBody>
      </p:sp>
      <p:sp>
        <p:nvSpPr>
          <p:cNvPr id="1337" name="Google Shape;1337;p30"/>
          <p:cNvSpPr/>
          <p:nvPr/>
        </p:nvSpPr>
        <p:spPr>
          <a:xfrm>
            <a:off x="2578608" y="960120"/>
            <a:ext cx="4480560" cy="29260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8" name="Google Shape;1338;p30"/>
          <p:cNvSpPr txBox="1"/>
          <p:nvPr/>
        </p:nvSpPr>
        <p:spPr>
          <a:xfrm>
            <a:off x="2651760" y="1005840"/>
            <a:ext cx="437083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FFFF"/>
                </a:solidFill>
                <a:latin typeface="Calibri"/>
                <a:ea typeface="Calibri"/>
                <a:cs typeface="Calibri"/>
                <a:sym typeface="Calibri"/>
              </a:rPr>
              <a:t>WHAT EXISTS</a:t>
            </a:r>
            <a:endParaRPr/>
          </a:p>
        </p:txBody>
      </p:sp>
      <p:sp>
        <p:nvSpPr>
          <p:cNvPr id="1339" name="Google Shape;1339;p30"/>
          <p:cNvSpPr/>
          <p:nvPr/>
        </p:nvSpPr>
        <p:spPr>
          <a:xfrm>
            <a:off x="7242048" y="960120"/>
            <a:ext cx="475488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0" name="Google Shape;1340;p30"/>
          <p:cNvSpPr txBox="1"/>
          <p:nvPr/>
        </p:nvSpPr>
        <p:spPr>
          <a:xfrm>
            <a:off x="7315200" y="1005840"/>
            <a:ext cx="464515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CMATRIX INTRODUCES</a:t>
            </a:r>
            <a:endParaRPr/>
          </a:p>
        </p:txBody>
      </p:sp>
      <p:sp>
        <p:nvSpPr>
          <p:cNvPr id="1341" name="Google Shape;1341;p30"/>
          <p:cNvSpPr/>
          <p:nvPr/>
        </p:nvSpPr>
        <p:spPr>
          <a:xfrm>
            <a:off x="201168" y="1289304"/>
            <a:ext cx="2286000" cy="1273302"/>
          </a:xfrm>
          <a:prstGeom prst="rect">
            <a:avLst/>
          </a:prstGeom>
          <a:solidFill>
            <a:srgbClr val="0C0C1A"/>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2" name="Google Shape;1342;p30"/>
          <p:cNvSpPr/>
          <p:nvPr/>
        </p:nvSpPr>
        <p:spPr>
          <a:xfrm>
            <a:off x="201168" y="1289304"/>
            <a:ext cx="54864" cy="127330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3" name="Google Shape;1343;p30"/>
          <p:cNvSpPr txBox="1"/>
          <p:nvPr/>
        </p:nvSpPr>
        <p:spPr>
          <a:xfrm>
            <a:off x="310896" y="1380744"/>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E5FF"/>
                </a:solidFill>
                <a:latin typeface="Calibri"/>
                <a:ea typeface="Calibri"/>
                <a:cs typeface="Calibri"/>
                <a:sym typeface="Calibri"/>
              </a:rPr>
              <a:t>World</a:t>
            </a:r>
            <a:br>
              <a:rPr b="1" i="0" lang="en-US" sz="1100">
                <a:solidFill>
                  <a:srgbClr val="00E5FF"/>
                </a:solidFill>
                <a:latin typeface="Calibri"/>
                <a:ea typeface="Calibri"/>
                <a:cs typeface="Calibri"/>
                <a:sym typeface="Calibri"/>
              </a:rPr>
            </a:br>
            <a:r>
              <a:rPr b="1" i="0" lang="en-US" sz="1100">
                <a:solidFill>
                  <a:srgbClr val="00E5FF"/>
                </a:solidFill>
                <a:latin typeface="Calibri"/>
                <a:ea typeface="Calibri"/>
                <a:cs typeface="Calibri"/>
                <a:sym typeface="Calibri"/>
              </a:rPr>
              <a:t>Model</a:t>
            </a:r>
            <a:endParaRPr/>
          </a:p>
        </p:txBody>
      </p:sp>
      <p:sp>
        <p:nvSpPr>
          <p:cNvPr id="1344" name="Google Shape;1344;p30"/>
          <p:cNvSpPr/>
          <p:nvPr/>
        </p:nvSpPr>
        <p:spPr>
          <a:xfrm>
            <a:off x="2578608" y="1289304"/>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5" name="Google Shape;1345;p30"/>
          <p:cNvSpPr txBox="1"/>
          <p:nvPr/>
        </p:nvSpPr>
        <p:spPr>
          <a:xfrm>
            <a:off x="2670048" y="1344168"/>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Flat conversation history (PentestGPT)  ·  Task queues (VulnBot)  ·  RAG-backed untyped memory (PentestAgent)</a:t>
            </a:r>
            <a:endParaRPr/>
          </a:p>
        </p:txBody>
      </p:sp>
      <p:sp>
        <p:nvSpPr>
          <p:cNvPr id="1346" name="Google Shape;1346;p30"/>
          <p:cNvSpPr/>
          <p:nvPr/>
        </p:nvSpPr>
        <p:spPr>
          <a:xfrm>
            <a:off x="7242048" y="1289304"/>
            <a:ext cx="4754880" cy="1273302"/>
          </a:xfrm>
          <a:prstGeom prst="rect">
            <a:avLst/>
          </a:prstGeom>
          <a:solidFill>
            <a:srgbClr val="041406"/>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7" name="Google Shape;1347;p30"/>
          <p:cNvSpPr txBox="1"/>
          <p:nvPr/>
        </p:nvSpPr>
        <p:spPr>
          <a:xfrm>
            <a:off x="7333488" y="1344168"/>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Dual typed property graphs: ASG (confirmed facts) + APG (attack reasoning).  Strict write separation enforced per agent role.  Graph edges express relationships (affected_by, starts_at) that vector similarity cannot represent.</a:t>
            </a:r>
            <a:endParaRPr/>
          </a:p>
        </p:txBody>
      </p:sp>
      <p:sp>
        <p:nvSpPr>
          <p:cNvPr id="1348" name="Google Shape;1348;p30"/>
          <p:cNvSpPr/>
          <p:nvPr/>
        </p:nvSpPr>
        <p:spPr>
          <a:xfrm>
            <a:off x="201168" y="2617470"/>
            <a:ext cx="2286000" cy="1273302"/>
          </a:xfrm>
          <a:prstGeom prst="rect">
            <a:avLst/>
          </a:prstGeom>
          <a:solidFill>
            <a:srgbClr val="080814"/>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9" name="Google Shape;1349;p30"/>
          <p:cNvSpPr/>
          <p:nvPr/>
        </p:nvSpPr>
        <p:spPr>
          <a:xfrm>
            <a:off x="201168" y="2617470"/>
            <a:ext cx="54864" cy="1273302"/>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0" name="Google Shape;1350;p30"/>
          <p:cNvSpPr txBox="1"/>
          <p:nvPr/>
        </p:nvSpPr>
        <p:spPr>
          <a:xfrm>
            <a:off x="310896" y="2708910"/>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Termination</a:t>
            </a:r>
            <a:br>
              <a:rPr b="1" i="0" lang="en-US" sz="1100">
                <a:solidFill>
                  <a:srgbClr val="00BFD8"/>
                </a:solidFill>
                <a:latin typeface="Calibri"/>
                <a:ea typeface="Calibri"/>
                <a:cs typeface="Calibri"/>
                <a:sym typeface="Calibri"/>
              </a:rPr>
            </a:br>
            <a:r>
              <a:rPr b="1" i="0" lang="en-US" sz="1100">
                <a:solidFill>
                  <a:srgbClr val="00BFD8"/>
                </a:solidFill>
                <a:latin typeface="Calibri"/>
                <a:ea typeface="Calibri"/>
                <a:cs typeface="Calibri"/>
                <a:sym typeface="Calibri"/>
              </a:rPr>
              <a:t>Logic</a:t>
            </a:r>
            <a:endParaRPr/>
          </a:p>
        </p:txBody>
      </p:sp>
      <p:sp>
        <p:nvSpPr>
          <p:cNvPr id="1351" name="Google Shape;1351;p30"/>
          <p:cNvSpPr/>
          <p:nvPr/>
        </p:nvSpPr>
        <p:spPr>
          <a:xfrm>
            <a:off x="2578608" y="2617470"/>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2" name="Google Shape;1352;p30"/>
          <p:cNvSpPr txBox="1"/>
          <p:nvPr/>
        </p:nvSpPr>
        <p:spPr>
          <a:xfrm>
            <a:off x="2670048" y="2672334"/>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timeout (PentestGPT)  ·  Empty task queue (VulnBot)  ·  Ad-hoc human decision (most systems)</a:t>
            </a:r>
            <a:endParaRPr/>
          </a:p>
        </p:txBody>
      </p:sp>
      <p:sp>
        <p:nvSpPr>
          <p:cNvPr id="1353" name="Google Shape;1353;p30"/>
          <p:cNvSpPr/>
          <p:nvPr/>
        </p:nvSpPr>
        <p:spPr>
          <a:xfrm>
            <a:off x="7242048" y="2617470"/>
            <a:ext cx="4754880" cy="1273302"/>
          </a:xfrm>
          <a:prstGeom prst="rect">
            <a:avLst/>
          </a:prstGeom>
          <a:solidFill>
            <a:srgbClr val="041406"/>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4" name="Google Shape;1354;p30"/>
          <p:cNvSpPr txBox="1"/>
          <p:nvPr/>
        </p:nvSpPr>
        <p:spPr>
          <a:xfrm>
            <a:off x="7333488" y="2672334"/>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Formal dual condition: ASG exhaustion (∀ node.status = INVESTIGATED)  AND  APG resolution (∀ chain.status ∈ {VALIDATED, RULED_OUT}).  Both required simultaneously.</a:t>
            </a:r>
            <a:endParaRPr/>
          </a:p>
        </p:txBody>
      </p:sp>
      <p:sp>
        <p:nvSpPr>
          <p:cNvPr id="1355" name="Google Shape;1355;p30"/>
          <p:cNvSpPr/>
          <p:nvPr/>
        </p:nvSpPr>
        <p:spPr>
          <a:xfrm>
            <a:off x="201168" y="3945636"/>
            <a:ext cx="2286000" cy="1273302"/>
          </a:xfrm>
          <a:prstGeom prst="rect">
            <a:avLst/>
          </a:prstGeom>
          <a:solidFill>
            <a:srgbClr val="0C0C1A"/>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6" name="Google Shape;1356;p30"/>
          <p:cNvSpPr/>
          <p:nvPr/>
        </p:nvSpPr>
        <p:spPr>
          <a:xfrm>
            <a:off x="201168" y="3945636"/>
            <a:ext cx="54864" cy="127330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7" name="Google Shape;1357;p30"/>
          <p:cNvSpPr txBox="1"/>
          <p:nvPr/>
        </p:nvSpPr>
        <p:spPr>
          <a:xfrm>
            <a:off x="310896" y="4037076"/>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Cross-Mission</a:t>
            </a:r>
            <a:br>
              <a:rPr b="1" i="0" lang="en-US" sz="1100">
                <a:solidFill>
                  <a:srgbClr val="FFD700"/>
                </a:solidFill>
                <a:latin typeface="Calibri"/>
                <a:ea typeface="Calibri"/>
                <a:cs typeface="Calibri"/>
                <a:sym typeface="Calibri"/>
              </a:rPr>
            </a:br>
            <a:r>
              <a:rPr b="1" i="0" lang="en-US" sz="1100">
                <a:solidFill>
                  <a:srgbClr val="FFD700"/>
                </a:solidFill>
                <a:latin typeface="Calibri"/>
                <a:ea typeface="Calibri"/>
                <a:cs typeface="Calibri"/>
                <a:sym typeface="Calibri"/>
              </a:rPr>
              <a:t>Learning</a:t>
            </a:r>
            <a:endParaRPr/>
          </a:p>
        </p:txBody>
      </p:sp>
      <p:sp>
        <p:nvSpPr>
          <p:cNvPr id="1358" name="Google Shape;1358;p30"/>
          <p:cNvSpPr/>
          <p:nvPr/>
        </p:nvSpPr>
        <p:spPr>
          <a:xfrm>
            <a:off x="2578608" y="3945636"/>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9" name="Google Shape;1359;p30"/>
          <p:cNvSpPr txBox="1"/>
          <p:nvPr/>
        </p:nvSpPr>
        <p:spPr>
          <a:xfrm>
            <a:off x="2670048" y="4000500"/>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AutoAttacker reuses subtasks within one session.  All other prior systems reset to zero knowledge on each mission.</a:t>
            </a:r>
            <a:endParaRPr/>
          </a:p>
        </p:txBody>
      </p:sp>
      <p:sp>
        <p:nvSpPr>
          <p:cNvPr id="1360" name="Google Shape;1360;p30"/>
          <p:cNvSpPr/>
          <p:nvPr/>
        </p:nvSpPr>
        <p:spPr>
          <a:xfrm>
            <a:off x="7242048" y="3945636"/>
            <a:ext cx="4754880" cy="1273302"/>
          </a:xfrm>
          <a:prstGeom prst="rect">
            <a:avLst/>
          </a:prstGeom>
          <a:solidFill>
            <a:srgbClr val="041406"/>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1" name="Google Shape;1361;p30"/>
          <p:cNvSpPr txBox="1"/>
          <p:nvPr/>
        </p:nvSpPr>
        <p:spPr>
          <a:xfrm>
            <a:off x="7333488" y="4000500"/>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Cross-Mission Experience Store (C10) + Attack Strategy Library (C11):  validated exploitation outcomes accumulate across every mission ever run.  Pre-ranked APG seeds at mission start for known target-type fingerprints.</a:t>
            </a:r>
            <a:endParaRPr/>
          </a:p>
        </p:txBody>
      </p:sp>
      <p:sp>
        <p:nvSpPr>
          <p:cNvPr id="1362" name="Google Shape;1362;p30"/>
          <p:cNvSpPr/>
          <p:nvPr/>
        </p:nvSpPr>
        <p:spPr>
          <a:xfrm>
            <a:off x="201168" y="5273802"/>
            <a:ext cx="2286000" cy="1273302"/>
          </a:xfrm>
          <a:prstGeom prst="rect">
            <a:avLst/>
          </a:prstGeom>
          <a:solidFill>
            <a:srgbClr val="080814"/>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3" name="Google Shape;1363;p30"/>
          <p:cNvSpPr/>
          <p:nvPr/>
        </p:nvSpPr>
        <p:spPr>
          <a:xfrm>
            <a:off x="201168" y="5273802"/>
            <a:ext cx="54864" cy="127330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4" name="Google Shape;1364;p30"/>
          <p:cNvSpPr txBox="1"/>
          <p:nvPr/>
        </p:nvSpPr>
        <p:spPr>
          <a:xfrm>
            <a:off x="310896" y="5365242"/>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BD93F9"/>
                </a:solidFill>
                <a:latin typeface="Calibri"/>
                <a:ea typeface="Calibri"/>
                <a:cs typeface="Calibri"/>
                <a:sym typeface="Calibri"/>
              </a:rPr>
              <a:t>Trajectory</a:t>
            </a:r>
            <a:br>
              <a:rPr b="1" i="0" lang="en-US" sz="1100">
                <a:solidFill>
                  <a:srgbClr val="BD93F9"/>
                </a:solidFill>
                <a:latin typeface="Calibri"/>
                <a:ea typeface="Calibri"/>
                <a:cs typeface="Calibri"/>
                <a:sym typeface="Calibri"/>
              </a:rPr>
            </a:br>
            <a:r>
              <a:rPr b="1" i="0" lang="en-US" sz="1100">
                <a:solidFill>
                  <a:srgbClr val="BD93F9"/>
                </a:solidFill>
                <a:latin typeface="Calibri"/>
                <a:ea typeface="Calibri"/>
                <a:cs typeface="Calibri"/>
                <a:sym typeface="Calibri"/>
              </a:rPr>
              <a:t>Export</a:t>
            </a:r>
            <a:endParaRPr/>
          </a:p>
        </p:txBody>
      </p:sp>
      <p:sp>
        <p:nvSpPr>
          <p:cNvPr id="1365" name="Google Shape;1365;p30"/>
          <p:cNvSpPr/>
          <p:nvPr/>
        </p:nvSpPr>
        <p:spPr>
          <a:xfrm>
            <a:off x="2578608" y="5273802"/>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6" name="Google Shape;1366;p30"/>
          <p:cNvSpPr txBox="1"/>
          <p:nvPr/>
        </p:nvSpPr>
        <p:spPr>
          <a:xfrm>
            <a:off x="2670048" y="5328666"/>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No prior autonomous VAPT system produces machine-readable decision logs usable for ML training.</a:t>
            </a:r>
            <a:endParaRPr/>
          </a:p>
        </p:txBody>
      </p:sp>
      <p:sp>
        <p:nvSpPr>
          <p:cNvPr id="1367" name="Google Shape;1367;p30"/>
          <p:cNvSpPr/>
          <p:nvPr/>
        </p:nvSpPr>
        <p:spPr>
          <a:xfrm>
            <a:off x="7242048" y="5273802"/>
            <a:ext cx="4754880" cy="1273302"/>
          </a:xfrm>
          <a:prstGeom prst="rect">
            <a:avLst/>
          </a:prstGeom>
          <a:solidFill>
            <a:srgbClr val="041406"/>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8" name="Google Shape;1368;p30"/>
          <p:cNvSpPr txBox="1"/>
          <p:nvPr/>
        </p:nvSpPr>
        <p:spPr>
          <a:xfrm>
            <a:off x="7333488" y="5328666"/>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C12: every mission generates a structured decision log capturing ASG/APG triggers, Commander rationale, and actions taken.  Directly usable as SFT/RL training data for security-specialized LLMs.</a:t>
            </a:r>
            <a:endParaRPr/>
          </a:p>
        </p:txBody>
      </p:sp>
      <p:sp>
        <p:nvSpPr>
          <p:cNvPr id="1369" name="Google Shape;1369;p30"/>
          <p:cNvSpPr txBox="1"/>
          <p:nvPr/>
        </p:nvSpPr>
        <p:spPr>
          <a:xfrm>
            <a:off x="11765701"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39FF14"/>
                </a:solidFill>
                <a:latin typeface="Calibri"/>
                <a:ea typeface="Calibri"/>
                <a:cs typeface="Calibri"/>
                <a:sym typeface="Calibri"/>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73" name="Shape 1373"/>
        <p:cNvGrpSpPr/>
        <p:nvPr/>
      </p:nvGrpSpPr>
      <p:grpSpPr>
        <a:xfrm>
          <a:off x="0" y="0"/>
          <a:ext cx="0" cy="0"/>
          <a:chOff x="0" y="0"/>
          <a:chExt cx="0" cy="0"/>
        </a:xfrm>
      </p:grpSpPr>
      <p:sp>
        <p:nvSpPr>
          <p:cNvPr id="1374" name="Google Shape;1374;p31"/>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5" name="Google Shape;1375;p31"/>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6" name="Google Shape;1376;p31"/>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7" name="Google Shape;1377;p31"/>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EVALUATION PLAN</a:t>
            </a:r>
            <a:endParaRPr/>
          </a:p>
        </p:txBody>
      </p:sp>
      <p:sp>
        <p:nvSpPr>
          <p:cNvPr id="1378" name="Google Shape;1378;p31"/>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How We Will Validate CMatrix Claims Empirically</a:t>
            </a:r>
            <a:endParaRPr/>
          </a:p>
        </p:txBody>
      </p:sp>
      <p:sp>
        <p:nvSpPr>
          <p:cNvPr id="1379" name="Google Shape;1379;p31"/>
          <p:cNvSpPr/>
          <p:nvPr/>
        </p:nvSpPr>
        <p:spPr>
          <a:xfrm>
            <a:off x="274320" y="822960"/>
            <a:ext cx="8229600" cy="274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0" name="Google Shape;1380;p31"/>
          <p:cNvSpPr/>
          <p:nvPr/>
        </p:nvSpPr>
        <p:spPr>
          <a:xfrm>
            <a:off x="201168" y="987552"/>
            <a:ext cx="5852160" cy="2286000"/>
          </a:xfrm>
          <a:prstGeom prst="rect">
            <a:avLst/>
          </a:prstGeom>
          <a:solidFill>
            <a:srgbClr val="0C10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1" name="Google Shape;1381;p31"/>
          <p:cNvSpPr/>
          <p:nvPr/>
        </p:nvSpPr>
        <p:spPr>
          <a:xfrm>
            <a:off x="201168" y="987552"/>
            <a:ext cx="5852160" cy="29260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2" name="Google Shape;1382;p31"/>
          <p:cNvSpPr txBox="1"/>
          <p:nvPr/>
        </p:nvSpPr>
        <p:spPr>
          <a:xfrm>
            <a:off x="201168" y="102412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PLATFORMS</a:t>
            </a:r>
            <a:endParaRPr/>
          </a:p>
        </p:txBody>
      </p:sp>
      <p:sp>
        <p:nvSpPr>
          <p:cNvPr id="1383" name="Google Shape;1383;p31"/>
          <p:cNvSpPr/>
          <p:nvPr/>
        </p:nvSpPr>
        <p:spPr>
          <a:xfrm>
            <a:off x="292608" y="1335024"/>
            <a:ext cx="5669280" cy="566928"/>
          </a:xfrm>
          <a:prstGeom prst="rect">
            <a:avLst/>
          </a:prstGeom>
          <a:solidFill>
            <a:srgbClr val="081424"/>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4" name="Google Shape;1384;p31"/>
          <p:cNvSpPr txBox="1"/>
          <p:nvPr/>
        </p:nvSpPr>
        <p:spPr>
          <a:xfrm>
            <a:off x="384048" y="1371600"/>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HackTheBox (HTB)</a:t>
            </a:r>
            <a:endParaRPr/>
          </a:p>
        </p:txBody>
      </p:sp>
      <p:sp>
        <p:nvSpPr>
          <p:cNvPr id="1385" name="Google Shape;1385;p31"/>
          <p:cNvSpPr txBox="1"/>
          <p:nvPr/>
        </p:nvSpPr>
        <p:spPr>
          <a:xfrm>
            <a:off x="384048" y="1591056"/>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Retired machines — Linux + Windows — known ground-truth vulnerabilities for coverage scoring.</a:t>
            </a:r>
            <a:endParaRPr/>
          </a:p>
        </p:txBody>
      </p:sp>
      <p:sp>
        <p:nvSpPr>
          <p:cNvPr id="1386" name="Google Shape;1386;p31"/>
          <p:cNvSpPr/>
          <p:nvPr/>
        </p:nvSpPr>
        <p:spPr>
          <a:xfrm>
            <a:off x="292608" y="1956816"/>
            <a:ext cx="5669280" cy="566928"/>
          </a:xfrm>
          <a:prstGeom prst="rect">
            <a:avLst/>
          </a:prstGeom>
          <a:solidFill>
            <a:srgbClr val="0814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7" name="Google Shape;1387;p31"/>
          <p:cNvSpPr txBox="1"/>
          <p:nvPr/>
        </p:nvSpPr>
        <p:spPr>
          <a:xfrm>
            <a:off x="384048" y="1993392"/>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TryHackMe (THM)</a:t>
            </a:r>
            <a:endParaRPr/>
          </a:p>
        </p:txBody>
      </p:sp>
      <p:sp>
        <p:nvSpPr>
          <p:cNvPr id="1388" name="Google Shape;1388;p31"/>
          <p:cNvSpPr txBox="1"/>
          <p:nvPr/>
        </p:nvSpPr>
        <p:spPr>
          <a:xfrm>
            <a:off x="384048" y="2212848"/>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Guided CTF environments with intentionally vulnerable web applications and APIs.</a:t>
            </a:r>
            <a:endParaRPr/>
          </a:p>
        </p:txBody>
      </p:sp>
      <p:sp>
        <p:nvSpPr>
          <p:cNvPr id="1389" name="Google Shape;1389;p31"/>
          <p:cNvSpPr/>
          <p:nvPr/>
        </p:nvSpPr>
        <p:spPr>
          <a:xfrm>
            <a:off x="292608" y="2578608"/>
            <a:ext cx="5669280" cy="566928"/>
          </a:xfrm>
          <a:prstGeom prst="rect">
            <a:avLst/>
          </a:prstGeom>
          <a:solidFill>
            <a:srgbClr val="0814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0" name="Google Shape;1390;p31"/>
          <p:cNvSpPr txBox="1"/>
          <p:nvPr/>
        </p:nvSpPr>
        <p:spPr>
          <a:xfrm>
            <a:off x="384048" y="2615184"/>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Custom Lab VMs</a:t>
            </a:r>
            <a:endParaRPr/>
          </a:p>
        </p:txBody>
      </p:sp>
      <p:sp>
        <p:nvSpPr>
          <p:cNvPr id="1391" name="Google Shape;1391;p31"/>
          <p:cNvSpPr txBox="1"/>
          <p:nvPr/>
        </p:nvSpPr>
        <p:spPr>
          <a:xfrm>
            <a:off x="384048" y="2834640"/>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Controlled WordPress + Django stack mirroring shopvault.io for repeatable A/B testing.</a:t>
            </a:r>
            <a:endParaRPr/>
          </a:p>
        </p:txBody>
      </p:sp>
      <p:sp>
        <p:nvSpPr>
          <p:cNvPr id="1392" name="Google Shape;1392;p31"/>
          <p:cNvSpPr/>
          <p:nvPr/>
        </p:nvSpPr>
        <p:spPr>
          <a:xfrm>
            <a:off x="201168" y="3364992"/>
            <a:ext cx="5852160" cy="3438144"/>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3" name="Google Shape;1393;p31"/>
          <p:cNvSpPr/>
          <p:nvPr/>
        </p:nvSpPr>
        <p:spPr>
          <a:xfrm>
            <a:off x="201168" y="3364992"/>
            <a:ext cx="5852160" cy="29260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4" name="Google Shape;1394;p31"/>
          <p:cNvSpPr txBox="1"/>
          <p:nvPr/>
        </p:nvSpPr>
        <p:spPr>
          <a:xfrm>
            <a:off x="201168" y="340156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RESEARCH QUESTIONS</a:t>
            </a:r>
            <a:endParaRPr/>
          </a:p>
        </p:txBody>
      </p:sp>
      <p:sp>
        <p:nvSpPr>
          <p:cNvPr id="1395" name="Google Shape;1395;p31"/>
          <p:cNvSpPr/>
          <p:nvPr/>
        </p:nvSpPr>
        <p:spPr>
          <a:xfrm>
            <a:off x="292608" y="3712464"/>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6" name="Google Shape;1396;p31"/>
          <p:cNvSpPr txBox="1"/>
          <p:nvPr/>
        </p:nvSpPr>
        <p:spPr>
          <a:xfrm>
            <a:off x="310896" y="3877056"/>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RQ1</a:t>
            </a:r>
            <a:endParaRPr/>
          </a:p>
        </p:txBody>
      </p:sp>
      <p:sp>
        <p:nvSpPr>
          <p:cNvPr id="1397" name="Google Shape;1397;p31"/>
          <p:cNvSpPr txBox="1"/>
          <p:nvPr/>
        </p:nvSpPr>
        <p:spPr>
          <a:xfrm>
            <a:off x="768096" y="3749040"/>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dual-graph architecture improve vulnerability coverage compared to a flat-memory baseline?</a:t>
            </a:r>
            <a:endParaRPr/>
          </a:p>
        </p:txBody>
      </p:sp>
      <p:sp>
        <p:nvSpPr>
          <p:cNvPr id="1398" name="Google Shape;1398;p31"/>
          <p:cNvSpPr/>
          <p:nvPr/>
        </p:nvSpPr>
        <p:spPr>
          <a:xfrm>
            <a:off x="292608" y="4462272"/>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9" name="Google Shape;1399;p31"/>
          <p:cNvSpPr txBox="1"/>
          <p:nvPr/>
        </p:nvSpPr>
        <p:spPr>
          <a:xfrm>
            <a:off x="310896" y="4626864"/>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RQ2</a:t>
            </a:r>
            <a:endParaRPr/>
          </a:p>
        </p:txBody>
      </p:sp>
      <p:sp>
        <p:nvSpPr>
          <p:cNvPr id="1400" name="Google Shape;1400;p31"/>
          <p:cNvSpPr txBox="1"/>
          <p:nvPr/>
        </p:nvSpPr>
        <p:spPr>
          <a:xfrm>
            <a:off x="768096" y="4498848"/>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formal dual termination reduce false-early-stops vs timer-based termination?</a:t>
            </a:r>
            <a:endParaRPr/>
          </a:p>
        </p:txBody>
      </p:sp>
      <p:sp>
        <p:nvSpPr>
          <p:cNvPr id="1401" name="Google Shape;1401;p31"/>
          <p:cNvSpPr/>
          <p:nvPr/>
        </p:nvSpPr>
        <p:spPr>
          <a:xfrm>
            <a:off x="292608" y="5212080"/>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2" name="Google Shape;1402;p31"/>
          <p:cNvSpPr txBox="1"/>
          <p:nvPr/>
        </p:nvSpPr>
        <p:spPr>
          <a:xfrm>
            <a:off x="310896" y="5376672"/>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RQ3</a:t>
            </a:r>
            <a:endParaRPr/>
          </a:p>
        </p:txBody>
      </p:sp>
      <p:sp>
        <p:nvSpPr>
          <p:cNvPr id="1403" name="Google Shape;1403;p31"/>
          <p:cNvSpPr txBox="1"/>
          <p:nvPr/>
        </p:nvSpPr>
        <p:spPr>
          <a:xfrm>
            <a:off x="768096" y="5248656"/>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cross-mission learning measurably reduce time-to-finding on repeat target-type engagements?</a:t>
            </a:r>
            <a:endParaRPr/>
          </a:p>
        </p:txBody>
      </p:sp>
      <p:sp>
        <p:nvSpPr>
          <p:cNvPr id="1404" name="Google Shape;1404;p31"/>
          <p:cNvSpPr/>
          <p:nvPr/>
        </p:nvSpPr>
        <p:spPr>
          <a:xfrm>
            <a:off x="292608" y="5961888"/>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5" name="Google Shape;1405;p31"/>
          <p:cNvSpPr txBox="1"/>
          <p:nvPr/>
        </p:nvSpPr>
        <p:spPr>
          <a:xfrm>
            <a:off x="310896" y="6126480"/>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RQ4</a:t>
            </a:r>
            <a:endParaRPr/>
          </a:p>
        </p:txBody>
      </p:sp>
      <p:sp>
        <p:nvSpPr>
          <p:cNvPr id="1406" name="Google Shape;1406;p31"/>
          <p:cNvSpPr txBox="1"/>
          <p:nvPr/>
        </p:nvSpPr>
        <p:spPr>
          <a:xfrm>
            <a:off x="768096" y="5998464"/>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risk gate reduce unintended offensive actions without significantly reducing coverage?</a:t>
            </a:r>
            <a:endParaRPr/>
          </a:p>
        </p:txBody>
      </p:sp>
      <p:sp>
        <p:nvSpPr>
          <p:cNvPr id="1407" name="Google Shape;1407;p31"/>
          <p:cNvSpPr/>
          <p:nvPr/>
        </p:nvSpPr>
        <p:spPr>
          <a:xfrm>
            <a:off x="6181344" y="987552"/>
            <a:ext cx="5809183" cy="2103120"/>
          </a:xfrm>
          <a:prstGeom prst="rect">
            <a:avLst/>
          </a:prstGeom>
          <a:solidFill>
            <a:srgbClr val="061408"/>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8" name="Google Shape;1408;p31"/>
          <p:cNvSpPr/>
          <p:nvPr/>
        </p:nvSpPr>
        <p:spPr>
          <a:xfrm>
            <a:off x="6181344" y="987552"/>
            <a:ext cx="5809183"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9" name="Google Shape;1409;p31"/>
          <p:cNvSpPr txBox="1"/>
          <p:nvPr/>
        </p:nvSpPr>
        <p:spPr>
          <a:xfrm>
            <a:off x="6181344" y="102412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METRICS</a:t>
            </a:r>
            <a:endParaRPr/>
          </a:p>
        </p:txBody>
      </p:sp>
      <p:sp>
        <p:nvSpPr>
          <p:cNvPr id="1410" name="Google Shape;1410;p31"/>
          <p:cNvSpPr/>
          <p:nvPr/>
        </p:nvSpPr>
        <p:spPr>
          <a:xfrm>
            <a:off x="6272784" y="1335024"/>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1" name="Google Shape;1411;p31"/>
          <p:cNvSpPr txBox="1"/>
          <p:nvPr/>
        </p:nvSpPr>
        <p:spPr>
          <a:xfrm>
            <a:off x="6345936" y="1371600"/>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Vulnerability Coverage</a:t>
            </a:r>
            <a:endParaRPr/>
          </a:p>
        </p:txBody>
      </p:sp>
      <p:sp>
        <p:nvSpPr>
          <p:cNvPr id="1412" name="Google Shape;1412;p31"/>
          <p:cNvSpPr txBox="1"/>
          <p:nvPr/>
        </p:nvSpPr>
        <p:spPr>
          <a:xfrm>
            <a:off x="8083296" y="1371600"/>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known vulns discovered vs ground truth per machine</a:t>
            </a:r>
            <a:endParaRPr/>
          </a:p>
        </p:txBody>
      </p:sp>
      <p:sp>
        <p:nvSpPr>
          <p:cNvPr id="1413" name="Google Shape;1413;p31"/>
          <p:cNvSpPr/>
          <p:nvPr/>
        </p:nvSpPr>
        <p:spPr>
          <a:xfrm>
            <a:off x="6272784" y="1682496"/>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4" name="Google Shape;1414;p31"/>
          <p:cNvSpPr txBox="1"/>
          <p:nvPr/>
        </p:nvSpPr>
        <p:spPr>
          <a:xfrm>
            <a:off x="6345936" y="1719072"/>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Chain Precision</a:t>
            </a:r>
            <a:endParaRPr/>
          </a:p>
        </p:txBody>
      </p:sp>
      <p:sp>
        <p:nvSpPr>
          <p:cNvPr id="1415" name="Google Shape;1415;p31"/>
          <p:cNvSpPr txBox="1"/>
          <p:nvPr/>
        </p:nvSpPr>
        <p:spPr>
          <a:xfrm>
            <a:off x="8083296" y="1719072"/>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APG AttackChains that result in VALIDATED status</a:t>
            </a:r>
            <a:endParaRPr/>
          </a:p>
        </p:txBody>
      </p:sp>
      <p:sp>
        <p:nvSpPr>
          <p:cNvPr id="1416" name="Google Shape;1416;p31"/>
          <p:cNvSpPr/>
          <p:nvPr/>
        </p:nvSpPr>
        <p:spPr>
          <a:xfrm>
            <a:off x="6272784" y="2029968"/>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7" name="Google Shape;1417;p31"/>
          <p:cNvSpPr txBox="1"/>
          <p:nvPr/>
        </p:nvSpPr>
        <p:spPr>
          <a:xfrm>
            <a:off x="6345936" y="2066544"/>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Time-to-Finding</a:t>
            </a:r>
            <a:endParaRPr/>
          </a:p>
        </p:txBody>
      </p:sp>
      <p:sp>
        <p:nvSpPr>
          <p:cNvPr id="1418" name="Google Shape;1418;p31"/>
          <p:cNvSpPr txBox="1"/>
          <p:nvPr/>
        </p:nvSpPr>
        <p:spPr>
          <a:xfrm>
            <a:off x="8083296" y="2066544"/>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 from mission start to first VALIDATED chain</a:t>
            </a:r>
            <a:endParaRPr/>
          </a:p>
        </p:txBody>
      </p:sp>
      <p:sp>
        <p:nvSpPr>
          <p:cNvPr id="1419" name="Google Shape;1419;p31"/>
          <p:cNvSpPr/>
          <p:nvPr/>
        </p:nvSpPr>
        <p:spPr>
          <a:xfrm>
            <a:off x="6272784" y="2377440"/>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0" name="Google Shape;1420;p31"/>
          <p:cNvSpPr txBox="1"/>
          <p:nvPr/>
        </p:nvSpPr>
        <p:spPr>
          <a:xfrm>
            <a:off x="6345936" y="2414016"/>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False Early-Stop Rate</a:t>
            </a:r>
            <a:endParaRPr/>
          </a:p>
        </p:txBody>
      </p:sp>
      <p:sp>
        <p:nvSpPr>
          <p:cNvPr id="1421" name="Google Shape;1421;p31"/>
          <p:cNvSpPr txBox="1"/>
          <p:nvPr/>
        </p:nvSpPr>
        <p:spPr>
          <a:xfrm>
            <a:off x="8083296" y="2414016"/>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missions terminated before surface exhaustion</a:t>
            </a:r>
            <a:endParaRPr/>
          </a:p>
        </p:txBody>
      </p:sp>
      <p:sp>
        <p:nvSpPr>
          <p:cNvPr id="1422" name="Google Shape;1422;p31"/>
          <p:cNvSpPr/>
          <p:nvPr/>
        </p:nvSpPr>
        <p:spPr>
          <a:xfrm>
            <a:off x="6272784" y="2724912"/>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3" name="Google Shape;1423;p31"/>
          <p:cNvSpPr txBox="1"/>
          <p:nvPr/>
        </p:nvSpPr>
        <p:spPr>
          <a:xfrm>
            <a:off x="6345936" y="2761488"/>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Tool Call Efficiency</a:t>
            </a:r>
            <a:endParaRPr/>
          </a:p>
        </p:txBody>
      </p:sp>
      <p:sp>
        <p:nvSpPr>
          <p:cNvPr id="1424" name="Google Shape;1424;p31"/>
          <p:cNvSpPr txBox="1"/>
          <p:nvPr/>
        </p:nvSpPr>
        <p:spPr>
          <a:xfrm>
            <a:off x="8083296" y="2761488"/>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Mean tool calls to first VALIDATED chain per target</a:t>
            </a:r>
            <a:endParaRPr/>
          </a:p>
        </p:txBody>
      </p:sp>
      <p:sp>
        <p:nvSpPr>
          <p:cNvPr id="1425" name="Google Shape;1425;p31"/>
          <p:cNvSpPr/>
          <p:nvPr/>
        </p:nvSpPr>
        <p:spPr>
          <a:xfrm>
            <a:off x="6181344" y="3182112"/>
            <a:ext cx="5809183" cy="1463040"/>
          </a:xfrm>
          <a:prstGeom prst="rect">
            <a:avLst/>
          </a:prstGeom>
          <a:solidFill>
            <a:srgbClr val="18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6" name="Google Shape;1426;p31"/>
          <p:cNvSpPr/>
          <p:nvPr/>
        </p:nvSpPr>
        <p:spPr>
          <a:xfrm>
            <a:off x="6181344" y="3182112"/>
            <a:ext cx="5809183"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7" name="Google Shape;1427;p31"/>
          <p:cNvSpPr txBox="1"/>
          <p:nvPr/>
        </p:nvSpPr>
        <p:spPr>
          <a:xfrm>
            <a:off x="6181344" y="321868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FFFF"/>
                </a:solidFill>
                <a:latin typeface="Calibri"/>
                <a:ea typeface="Calibri"/>
                <a:cs typeface="Calibri"/>
                <a:sym typeface="Calibri"/>
              </a:rPr>
              <a:t>BASELINES</a:t>
            </a:r>
            <a:endParaRPr/>
          </a:p>
        </p:txBody>
      </p:sp>
      <p:sp>
        <p:nvSpPr>
          <p:cNvPr id="1428" name="Google Shape;1428;p31"/>
          <p:cNvSpPr txBox="1"/>
          <p:nvPr/>
        </p:nvSpPr>
        <p:spPr>
          <a:xfrm>
            <a:off x="6327648" y="352958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PentestGPT:  Flat conversation history — no structured world model</a:t>
            </a:r>
            <a:endParaRPr/>
          </a:p>
        </p:txBody>
      </p:sp>
      <p:sp>
        <p:nvSpPr>
          <p:cNvPr id="1429" name="Google Shape;1429;p31"/>
          <p:cNvSpPr txBox="1"/>
          <p:nvPr/>
        </p:nvSpPr>
        <p:spPr>
          <a:xfrm>
            <a:off x="6327648" y="389534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Random Tool Agent:  Same tool set, random action selection — no planning</a:t>
            </a:r>
            <a:endParaRPr/>
          </a:p>
        </p:txBody>
      </p:sp>
      <p:sp>
        <p:nvSpPr>
          <p:cNvPr id="1430" name="Google Shape;1430;p31"/>
          <p:cNvSpPr txBox="1"/>
          <p:nvPr/>
        </p:nvSpPr>
        <p:spPr>
          <a:xfrm>
            <a:off x="6327648" y="426110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Manual Expert:  Timed human VAPT expert on same targets for ground truth</a:t>
            </a:r>
            <a:endParaRPr/>
          </a:p>
        </p:txBody>
      </p:sp>
      <p:sp>
        <p:nvSpPr>
          <p:cNvPr id="1431" name="Google Shape;1431;p31"/>
          <p:cNvSpPr/>
          <p:nvPr/>
        </p:nvSpPr>
        <p:spPr>
          <a:xfrm>
            <a:off x="6181344" y="4736592"/>
            <a:ext cx="5809183" cy="2103120"/>
          </a:xfrm>
          <a:prstGeom prst="rect">
            <a:avLst/>
          </a:prstGeom>
          <a:solidFill>
            <a:srgbClr val="08102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2" name="Google Shape;1432;p31"/>
          <p:cNvSpPr/>
          <p:nvPr/>
        </p:nvSpPr>
        <p:spPr>
          <a:xfrm>
            <a:off x="6181344" y="4736592"/>
            <a:ext cx="5809183"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3" name="Google Shape;1433;p31"/>
          <p:cNvSpPr txBox="1"/>
          <p:nvPr/>
        </p:nvSpPr>
        <p:spPr>
          <a:xfrm>
            <a:off x="6181344" y="477316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ABLATION STUDY</a:t>
            </a:r>
            <a:endParaRPr/>
          </a:p>
        </p:txBody>
      </p:sp>
      <p:sp>
        <p:nvSpPr>
          <p:cNvPr id="1434" name="Google Shape;1434;p31"/>
          <p:cNvSpPr/>
          <p:nvPr/>
        </p:nvSpPr>
        <p:spPr>
          <a:xfrm>
            <a:off x="6272784" y="5084064"/>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5" name="Google Shape;1435;p31"/>
          <p:cNvSpPr txBox="1"/>
          <p:nvPr/>
        </p:nvSpPr>
        <p:spPr>
          <a:xfrm>
            <a:off x="6345936" y="5120640"/>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A1 — No dual-graph</a:t>
            </a:r>
            <a:endParaRPr/>
          </a:p>
        </p:txBody>
      </p:sp>
      <p:sp>
        <p:nvSpPr>
          <p:cNvPr id="1436" name="Google Shape;1436;p31"/>
          <p:cNvSpPr txBox="1"/>
          <p:nvPr/>
        </p:nvSpPr>
        <p:spPr>
          <a:xfrm>
            <a:off x="7845552" y="5120640"/>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flat history only (remove ASG + APG)</a:t>
            </a:r>
            <a:endParaRPr/>
          </a:p>
        </p:txBody>
      </p:sp>
      <p:sp>
        <p:nvSpPr>
          <p:cNvPr id="1437" name="Google Shape;1437;p31"/>
          <p:cNvSpPr/>
          <p:nvPr/>
        </p:nvSpPr>
        <p:spPr>
          <a:xfrm>
            <a:off x="6272784" y="5504688"/>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8" name="Google Shape;1438;p31"/>
          <p:cNvSpPr txBox="1"/>
          <p:nvPr/>
        </p:nvSpPr>
        <p:spPr>
          <a:xfrm>
            <a:off x="6345936" y="5541264"/>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A2 — ASG only</a:t>
            </a:r>
            <a:endParaRPr/>
          </a:p>
        </p:txBody>
      </p:sp>
      <p:sp>
        <p:nvSpPr>
          <p:cNvPr id="1439" name="Google Shape;1439;p31"/>
          <p:cNvSpPr txBox="1"/>
          <p:nvPr/>
        </p:nvSpPr>
        <p:spPr>
          <a:xfrm>
            <a:off x="7845552" y="5541264"/>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ASG discovery but no APG reasoning</a:t>
            </a:r>
            <a:endParaRPr/>
          </a:p>
        </p:txBody>
      </p:sp>
      <p:sp>
        <p:nvSpPr>
          <p:cNvPr id="1440" name="Google Shape;1440;p31"/>
          <p:cNvSpPr/>
          <p:nvPr/>
        </p:nvSpPr>
        <p:spPr>
          <a:xfrm>
            <a:off x="6272784" y="5925312"/>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1" name="Google Shape;1441;p31"/>
          <p:cNvSpPr txBox="1"/>
          <p:nvPr/>
        </p:nvSpPr>
        <p:spPr>
          <a:xfrm>
            <a:off x="6345936" y="5961888"/>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A3 — No compaction</a:t>
            </a:r>
            <a:endParaRPr/>
          </a:p>
        </p:txBody>
      </p:sp>
      <p:sp>
        <p:nvSpPr>
          <p:cNvPr id="1442" name="Google Shape;1442;p31"/>
          <p:cNvSpPr txBox="1"/>
          <p:nvPr/>
        </p:nvSpPr>
        <p:spPr>
          <a:xfrm>
            <a:off x="7845552" y="5961888"/>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unlimited raw history (no C6)</a:t>
            </a:r>
            <a:endParaRPr/>
          </a:p>
        </p:txBody>
      </p:sp>
      <p:sp>
        <p:nvSpPr>
          <p:cNvPr id="1443" name="Google Shape;1443;p31"/>
          <p:cNvSpPr/>
          <p:nvPr/>
        </p:nvSpPr>
        <p:spPr>
          <a:xfrm>
            <a:off x="6272784" y="6345936"/>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4" name="Google Shape;1444;p31"/>
          <p:cNvSpPr txBox="1"/>
          <p:nvPr/>
        </p:nvSpPr>
        <p:spPr>
          <a:xfrm>
            <a:off x="6345936" y="6382512"/>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A4 — No learning</a:t>
            </a:r>
            <a:endParaRPr/>
          </a:p>
        </p:txBody>
      </p:sp>
      <p:sp>
        <p:nvSpPr>
          <p:cNvPr id="1445" name="Google Shape;1445;p31"/>
          <p:cNvSpPr txBox="1"/>
          <p:nvPr/>
        </p:nvSpPr>
        <p:spPr>
          <a:xfrm>
            <a:off x="7845552" y="6382512"/>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without C10/C11 cross-mission store</a:t>
            </a:r>
            <a:endParaRPr/>
          </a:p>
        </p:txBody>
      </p:sp>
      <p:sp>
        <p:nvSpPr>
          <p:cNvPr id="1446" name="Google Shape;1446;p31"/>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50" name="Shape 1450"/>
        <p:cNvGrpSpPr/>
        <p:nvPr/>
      </p:nvGrpSpPr>
      <p:grpSpPr>
        <a:xfrm>
          <a:off x="0" y="0"/>
          <a:ext cx="0" cy="0"/>
          <a:chOff x="0" y="0"/>
          <a:chExt cx="0" cy="0"/>
        </a:xfrm>
      </p:grpSpPr>
      <p:sp>
        <p:nvSpPr>
          <p:cNvPr id="1451" name="Google Shape;1451;p32"/>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2" name="Google Shape;1452;p32"/>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3" name="Google Shape;1453;p32"/>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4" name="Google Shape;1454;p32"/>
          <p:cNvSpPr txBox="1"/>
          <p:nvPr/>
        </p:nvSpPr>
        <p:spPr>
          <a:xfrm>
            <a:off x="274320" y="73152"/>
            <a:ext cx="45720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SUMMARY</a:t>
            </a:r>
            <a:endParaRPr/>
          </a:p>
        </p:txBody>
      </p:sp>
      <p:sp>
        <p:nvSpPr>
          <p:cNvPr id="1455" name="Google Shape;1455;p32"/>
          <p:cNvSpPr txBox="1"/>
          <p:nvPr/>
        </p:nvSpPr>
        <p:spPr>
          <a:xfrm>
            <a:off x="274320" y="310896"/>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CMatrix — What We Built, What We Claim, What We Need</a:t>
            </a:r>
            <a:endParaRPr/>
          </a:p>
        </p:txBody>
      </p:sp>
      <p:sp>
        <p:nvSpPr>
          <p:cNvPr id="1456" name="Google Shape;1456;p32"/>
          <p:cNvSpPr/>
          <p:nvPr/>
        </p:nvSpPr>
        <p:spPr>
          <a:xfrm>
            <a:off x="274320" y="841248"/>
            <a:ext cx="10058400" cy="27432"/>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7" name="Google Shape;1457;p32"/>
          <p:cNvSpPr/>
          <p:nvPr/>
        </p:nvSpPr>
        <p:spPr>
          <a:xfrm>
            <a:off x="274320" y="987552"/>
            <a:ext cx="5029200" cy="1508760"/>
          </a:xfrm>
          <a:prstGeom prst="rect">
            <a:avLst/>
          </a:prstGeom>
          <a:solidFill>
            <a:srgbClr val="041222"/>
          </a:solidFill>
          <a:ln cap="flat" cmpd="sng" w="203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8" name="Google Shape;1458;p32"/>
          <p:cNvSpPr txBox="1"/>
          <p:nvPr/>
        </p:nvSpPr>
        <p:spPr>
          <a:xfrm>
            <a:off x="384048" y="1042416"/>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WHAT CMATRIX IS</a:t>
            </a:r>
            <a:endParaRPr/>
          </a:p>
        </p:txBody>
      </p:sp>
      <p:sp>
        <p:nvSpPr>
          <p:cNvPr id="1459" name="Google Shape;1459;p32"/>
          <p:cNvSpPr txBox="1"/>
          <p:nvPr/>
        </p:nvSpPr>
        <p:spPr>
          <a:xfrm>
            <a:off x="402336" y="1298448"/>
            <a:ext cx="4809744"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endParaRPr/>
          </a:p>
        </p:txBody>
      </p:sp>
      <p:sp>
        <p:nvSpPr>
          <p:cNvPr id="1460" name="Google Shape;1460;p32"/>
          <p:cNvSpPr/>
          <p:nvPr/>
        </p:nvSpPr>
        <p:spPr>
          <a:xfrm>
            <a:off x="274320" y="2615184"/>
            <a:ext cx="5029200" cy="4096512"/>
          </a:xfrm>
          <a:prstGeom prst="rect">
            <a:avLst/>
          </a:prstGeom>
          <a:solidFill>
            <a:srgbClr val="081004"/>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1" name="Google Shape;1461;p32"/>
          <p:cNvSpPr txBox="1"/>
          <p:nvPr/>
        </p:nvSpPr>
        <p:spPr>
          <a:xfrm>
            <a:off x="384048" y="2670048"/>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12 ORIGINAL RESEARCH CONTRIBUTIONS</a:t>
            </a:r>
            <a:endParaRPr/>
          </a:p>
        </p:txBody>
      </p:sp>
      <p:sp>
        <p:nvSpPr>
          <p:cNvPr id="1462" name="Google Shape;1462;p32"/>
          <p:cNvSpPr txBox="1"/>
          <p:nvPr/>
        </p:nvSpPr>
        <p:spPr>
          <a:xfrm>
            <a:off x="457200" y="292608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  Dual-Graph World Model (ASG + APG, strictly separated)</a:t>
            </a:r>
            <a:endParaRPr/>
          </a:p>
        </p:txBody>
      </p:sp>
      <p:sp>
        <p:nvSpPr>
          <p:cNvPr id="1463" name="Google Shape;1463;p32"/>
          <p:cNvSpPr txBox="1"/>
          <p:nvPr/>
        </p:nvSpPr>
        <p:spPr>
          <a:xfrm>
            <a:off x="457200" y="323697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C2  Graph-Driven Re-Planning (trigger: new Vulnerability node)</a:t>
            </a:r>
            <a:endParaRPr/>
          </a:p>
        </p:txBody>
      </p:sp>
      <p:sp>
        <p:nvSpPr>
          <p:cNvPr id="1464" name="Google Shape;1464;p32"/>
          <p:cNvSpPr txBox="1"/>
          <p:nvPr/>
        </p:nvSpPr>
        <p:spPr>
          <a:xfrm>
            <a:off x="457200" y="354787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C3  APG Chain Lifecycle with Evidence Traceability</a:t>
            </a:r>
            <a:endParaRPr/>
          </a:p>
        </p:txBody>
      </p:sp>
      <p:sp>
        <p:nvSpPr>
          <p:cNvPr id="1465" name="Google Shape;1465;p32"/>
          <p:cNvSpPr txBox="1"/>
          <p:nvPr/>
        </p:nvSpPr>
        <p:spPr>
          <a:xfrm>
            <a:off x="457200" y="385876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C4  ASG-Aware Parallel Dispatch</a:t>
            </a:r>
            <a:endParaRPr/>
          </a:p>
        </p:txBody>
      </p:sp>
      <p:sp>
        <p:nvSpPr>
          <p:cNvPr id="1466" name="Google Shape;1466;p32"/>
          <p:cNvSpPr txBox="1"/>
          <p:nvPr/>
        </p:nvSpPr>
        <p:spPr>
          <a:xfrm>
            <a:off x="457200" y="416966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C5  Tool Risk Gate + Commander Mailbox</a:t>
            </a:r>
            <a:endParaRPr/>
          </a:p>
        </p:txBody>
      </p:sp>
      <p:sp>
        <p:nvSpPr>
          <p:cNvPr id="1467" name="Google Shape;1467;p32"/>
          <p:cNvSpPr txBox="1"/>
          <p:nvPr/>
        </p:nvSpPr>
        <p:spPr>
          <a:xfrm>
            <a:off x="457200" y="448056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C6  Lossless Context Compaction (3-layer)</a:t>
            </a:r>
            <a:endParaRPr/>
          </a:p>
        </p:txBody>
      </p:sp>
      <p:sp>
        <p:nvSpPr>
          <p:cNvPr id="1468" name="Google Shape;1468;p32"/>
          <p:cNvSpPr txBox="1"/>
          <p:nvPr/>
        </p:nvSpPr>
        <p:spPr>
          <a:xfrm>
            <a:off x="457200" y="479145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C7  Methodology-as-Config (VAPT Protocol Prompt)</a:t>
            </a:r>
            <a:endParaRPr/>
          </a:p>
        </p:txBody>
      </p:sp>
      <p:sp>
        <p:nvSpPr>
          <p:cNvPr id="1469" name="Google Shape;1469;p32"/>
          <p:cNvSpPr txBox="1"/>
          <p:nvPr/>
        </p:nvSpPr>
        <p:spPr>
          <a:xfrm>
            <a:off x="457200" y="510235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C8  Dual Termination (ASG exhausted ∧ APG resolved)</a:t>
            </a:r>
            <a:endParaRPr/>
          </a:p>
        </p:txBody>
      </p:sp>
      <p:sp>
        <p:nvSpPr>
          <p:cNvPr id="1470" name="Google Shape;1470;p32"/>
          <p:cNvSpPr txBox="1"/>
          <p:nvPr/>
        </p:nvSpPr>
        <p:spPr>
          <a:xfrm>
            <a:off x="457200" y="541324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C9  Live CVE Grounding (Research Agent)</a:t>
            </a:r>
            <a:endParaRPr/>
          </a:p>
        </p:txBody>
      </p:sp>
      <p:sp>
        <p:nvSpPr>
          <p:cNvPr id="1471" name="Google Shape;1471;p32"/>
          <p:cNvSpPr txBox="1"/>
          <p:nvPr/>
        </p:nvSpPr>
        <p:spPr>
          <a:xfrm>
            <a:off x="457200" y="572414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C10 Cross-Mission Experience Store</a:t>
            </a:r>
            <a:endParaRPr/>
          </a:p>
        </p:txBody>
      </p:sp>
      <p:sp>
        <p:nvSpPr>
          <p:cNvPr id="1472" name="Google Shape;1472;p32"/>
          <p:cNvSpPr txBox="1"/>
          <p:nvPr/>
        </p:nvSpPr>
        <p:spPr>
          <a:xfrm>
            <a:off x="457200" y="603504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C11 Attack Strategy Library (crystallization)</a:t>
            </a:r>
            <a:endParaRPr/>
          </a:p>
        </p:txBody>
      </p:sp>
      <p:sp>
        <p:nvSpPr>
          <p:cNvPr id="1473" name="Google Shape;1473;p32"/>
          <p:cNvSpPr txBox="1"/>
          <p:nvPr/>
        </p:nvSpPr>
        <p:spPr>
          <a:xfrm>
            <a:off x="457200" y="634593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C12 Trajectory Export Dataset (SFT/RL ready)</a:t>
            </a:r>
            <a:endParaRPr/>
          </a:p>
        </p:txBody>
      </p:sp>
      <p:sp>
        <p:nvSpPr>
          <p:cNvPr id="1474" name="Google Shape;1474;p32"/>
          <p:cNvSpPr/>
          <p:nvPr/>
        </p:nvSpPr>
        <p:spPr>
          <a:xfrm>
            <a:off x="5504688" y="987552"/>
            <a:ext cx="6485839" cy="2779776"/>
          </a:xfrm>
          <a:prstGeom prst="rect">
            <a:avLst/>
          </a:prstGeom>
          <a:solidFill>
            <a:srgbClr val="1612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5" name="Google Shape;1475;p32"/>
          <p:cNvSpPr txBox="1"/>
          <p:nvPr/>
        </p:nvSpPr>
        <p:spPr>
          <a:xfrm>
            <a:off x="5614416" y="1042416"/>
            <a:ext cx="6302959"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WHAT WE CLAIM</a:t>
            </a:r>
            <a:endParaRPr/>
          </a:p>
        </p:txBody>
      </p:sp>
      <p:sp>
        <p:nvSpPr>
          <p:cNvPr id="1476" name="Google Shape;1476;p32"/>
          <p:cNvSpPr/>
          <p:nvPr/>
        </p:nvSpPr>
        <p:spPr>
          <a:xfrm>
            <a:off x="5596128" y="1298448"/>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7" name="Google Shape;1477;p32"/>
          <p:cNvSpPr txBox="1"/>
          <p:nvPr/>
        </p:nvSpPr>
        <p:spPr>
          <a:xfrm>
            <a:off x="5669280" y="1335024"/>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CMatrix is the first autonomous VAPT system to maintain two strictly separated, continuously evolving graph structures for simultaneous discovery and attack reasoning.</a:t>
            </a:r>
            <a:endParaRPr/>
          </a:p>
        </p:txBody>
      </p:sp>
      <p:sp>
        <p:nvSpPr>
          <p:cNvPr id="1478" name="Google Shape;1478;p32"/>
          <p:cNvSpPr/>
          <p:nvPr/>
        </p:nvSpPr>
        <p:spPr>
          <a:xfrm>
            <a:off x="5596128" y="1883664"/>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9" name="Google Shape;1479;p32"/>
          <p:cNvSpPr txBox="1"/>
          <p:nvPr/>
        </p:nvSpPr>
        <p:spPr>
          <a:xfrm>
            <a:off x="5669280" y="1920240"/>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Formal dual termination provides a theoretically sound, verifiable completion criterion that prior systems cannot express.</a:t>
            </a:r>
            <a:endParaRPr/>
          </a:p>
        </p:txBody>
      </p:sp>
      <p:sp>
        <p:nvSpPr>
          <p:cNvPr id="1480" name="Google Shape;1480;p32"/>
          <p:cNvSpPr/>
          <p:nvPr/>
        </p:nvSpPr>
        <p:spPr>
          <a:xfrm>
            <a:off x="5596128" y="2468880"/>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1" name="Google Shape;1481;p32"/>
          <p:cNvSpPr txBox="1"/>
          <p:nvPr/>
        </p:nvSpPr>
        <p:spPr>
          <a:xfrm>
            <a:off x="5669280" y="2505456"/>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Cross-mission learning accumulates validated exploitation outcomes across all missions — a capability no prior published VAPT system demonstrates.</a:t>
            </a:r>
            <a:endParaRPr/>
          </a:p>
        </p:txBody>
      </p:sp>
      <p:sp>
        <p:nvSpPr>
          <p:cNvPr id="1482" name="Google Shape;1482;p32"/>
          <p:cNvSpPr/>
          <p:nvPr/>
        </p:nvSpPr>
        <p:spPr>
          <a:xfrm>
            <a:off x="5596128" y="3054096"/>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3" name="Google Shape;1483;p32"/>
          <p:cNvSpPr txBox="1"/>
          <p:nvPr/>
        </p:nvSpPr>
        <p:spPr>
          <a:xfrm>
            <a:off x="5669280" y="3090672"/>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The architecture produces a machine-readable decision trace usable for training security-specialized LLMs (C12 — novel in the VAPT domain).</a:t>
            </a:r>
            <a:endParaRPr/>
          </a:p>
        </p:txBody>
      </p:sp>
      <p:sp>
        <p:nvSpPr>
          <p:cNvPr id="1484" name="Google Shape;1484;p32"/>
          <p:cNvSpPr/>
          <p:nvPr/>
        </p:nvSpPr>
        <p:spPr>
          <a:xfrm>
            <a:off x="5504688" y="3877056"/>
            <a:ext cx="6485839" cy="2834640"/>
          </a:xfrm>
          <a:prstGeom prst="rect">
            <a:avLst/>
          </a:prstGeom>
          <a:solidFill>
            <a:srgbClr val="041410"/>
          </a:solidFill>
          <a:ln cap="flat" cmpd="sng" w="203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5" name="Google Shape;1485;p32"/>
          <p:cNvSpPr/>
          <p:nvPr/>
        </p:nvSpPr>
        <p:spPr>
          <a:xfrm>
            <a:off x="5504688" y="3877056"/>
            <a:ext cx="6485839" cy="29260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6" name="Google Shape;1486;p32"/>
          <p:cNvSpPr txBox="1"/>
          <p:nvPr/>
        </p:nvSpPr>
        <p:spPr>
          <a:xfrm>
            <a:off x="5614416" y="3913632"/>
            <a:ext cx="6302959"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WHAT WE ARE ASKING FOR</a:t>
            </a:r>
            <a:endParaRPr/>
          </a:p>
        </p:txBody>
      </p:sp>
      <p:sp>
        <p:nvSpPr>
          <p:cNvPr id="1487" name="Google Shape;1487;p32"/>
          <p:cNvSpPr/>
          <p:nvPr/>
        </p:nvSpPr>
        <p:spPr>
          <a:xfrm>
            <a:off x="5596128" y="4224528"/>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8" name="Google Shape;1488;p32"/>
          <p:cNvSpPr txBox="1"/>
          <p:nvPr/>
        </p:nvSpPr>
        <p:spPr>
          <a:xfrm>
            <a:off x="5687568" y="4261104"/>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Feedback on Scope</a:t>
            </a:r>
            <a:endParaRPr/>
          </a:p>
        </p:txBody>
      </p:sp>
      <p:sp>
        <p:nvSpPr>
          <p:cNvPr id="1489" name="Google Shape;1489;p32"/>
          <p:cNvSpPr txBox="1"/>
          <p:nvPr/>
        </p:nvSpPr>
        <p:spPr>
          <a:xfrm>
            <a:off x="5687568" y="4480560"/>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Are the 12 contributions appropriately scoped for a PhD thesis?</a:t>
            </a:r>
            <a:endParaRPr/>
          </a:p>
        </p:txBody>
      </p:sp>
      <p:sp>
        <p:nvSpPr>
          <p:cNvPr id="1490" name="Google Shape;1490;p32"/>
          <p:cNvSpPr/>
          <p:nvPr/>
        </p:nvSpPr>
        <p:spPr>
          <a:xfrm>
            <a:off x="5596128" y="4846320"/>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1" name="Google Shape;1491;p32"/>
          <p:cNvSpPr txBox="1"/>
          <p:nvPr/>
        </p:nvSpPr>
        <p:spPr>
          <a:xfrm>
            <a:off x="5687568" y="4882896"/>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Evaluation Guidance</a:t>
            </a:r>
            <a:endParaRPr/>
          </a:p>
        </p:txBody>
      </p:sp>
      <p:sp>
        <p:nvSpPr>
          <p:cNvPr id="1492" name="Google Shape;1492;p32"/>
          <p:cNvSpPr txBox="1"/>
          <p:nvPr/>
        </p:nvSpPr>
        <p:spPr>
          <a:xfrm>
            <a:off x="5687568" y="5102352"/>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Is the HTB/THM ablation plan sufficient to prove the core claims?</a:t>
            </a:r>
            <a:endParaRPr/>
          </a:p>
        </p:txBody>
      </p:sp>
      <p:sp>
        <p:nvSpPr>
          <p:cNvPr id="1493" name="Google Shape;1493;p32"/>
          <p:cNvSpPr/>
          <p:nvPr/>
        </p:nvSpPr>
        <p:spPr>
          <a:xfrm>
            <a:off x="5596128" y="5468112"/>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4" name="Google Shape;1494;p32"/>
          <p:cNvSpPr txBox="1"/>
          <p:nvPr/>
        </p:nvSpPr>
        <p:spPr>
          <a:xfrm>
            <a:off x="5687568" y="5504688"/>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Implementation Priority</a:t>
            </a:r>
            <a:endParaRPr/>
          </a:p>
        </p:txBody>
      </p:sp>
      <p:sp>
        <p:nvSpPr>
          <p:cNvPr id="1495" name="Google Shape;1495;p32"/>
          <p:cNvSpPr txBox="1"/>
          <p:nvPr/>
        </p:nvSpPr>
        <p:spPr>
          <a:xfrm>
            <a:off x="5687568" y="5724144"/>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Which of C1–C12 should be fully implemented vs theoretically validated?</a:t>
            </a:r>
            <a:endParaRPr/>
          </a:p>
        </p:txBody>
      </p:sp>
      <p:sp>
        <p:nvSpPr>
          <p:cNvPr id="1496" name="Google Shape;1496;p32"/>
          <p:cNvSpPr/>
          <p:nvPr/>
        </p:nvSpPr>
        <p:spPr>
          <a:xfrm>
            <a:off x="5596128" y="6089904"/>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7" name="Google Shape;1497;p32"/>
          <p:cNvSpPr txBox="1"/>
          <p:nvPr/>
        </p:nvSpPr>
        <p:spPr>
          <a:xfrm>
            <a:off x="5687568" y="6126480"/>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Publication Venue</a:t>
            </a:r>
            <a:endParaRPr/>
          </a:p>
        </p:txBody>
      </p:sp>
      <p:sp>
        <p:nvSpPr>
          <p:cNvPr id="1498" name="Google Shape;1498;p32"/>
          <p:cNvSpPr txBox="1"/>
          <p:nvPr/>
        </p:nvSpPr>
        <p:spPr>
          <a:xfrm>
            <a:off x="5687568" y="6345936"/>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USENIX Security / IEEE S&amp;P / ACSAC — which tier matches the contribution level?</a:t>
            </a:r>
            <a:endParaRPr/>
          </a:p>
        </p:txBody>
      </p:sp>
      <p:sp>
        <p:nvSpPr>
          <p:cNvPr id="1499" name="Google Shape;1499;p32"/>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03" name="Shape 1503"/>
        <p:cNvGrpSpPr/>
        <p:nvPr/>
      </p:nvGrpSpPr>
      <p:grpSpPr>
        <a:xfrm>
          <a:off x="0" y="0"/>
          <a:ext cx="0" cy="0"/>
          <a:chOff x="0" y="0"/>
          <a:chExt cx="0" cy="0"/>
        </a:xfrm>
      </p:grpSpPr>
      <p:sp>
        <p:nvSpPr>
          <p:cNvPr id="1504" name="Google Shape;1504;p33"/>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5" name="Google Shape;1505;p33"/>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6" name="Google Shape;1506;p33"/>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7" name="Google Shape;1507;p33"/>
          <p:cNvSpPr txBox="1"/>
          <p:nvPr/>
        </p:nvSpPr>
        <p:spPr>
          <a:xfrm>
            <a:off x="274320" y="54864"/>
            <a:ext cx="73152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BD93F9"/>
                </a:solidFill>
                <a:latin typeface="Calibri"/>
                <a:ea typeface="Calibri"/>
                <a:cs typeface="Calibri"/>
                <a:sym typeface="Calibri"/>
              </a:rPr>
              <a:t>INSPIRATIONS &amp; REFERENCES</a:t>
            </a:r>
            <a:endParaRPr/>
          </a:p>
        </p:txBody>
      </p:sp>
      <p:sp>
        <p:nvSpPr>
          <p:cNvPr id="1508" name="Google Shape;1508;p33"/>
          <p:cNvSpPr txBox="1"/>
          <p:nvPr/>
        </p:nvSpPr>
        <p:spPr>
          <a:xfrm>
            <a:off x="274320" y="329184"/>
            <a:ext cx="11430000" cy="5486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600">
                <a:solidFill>
                  <a:srgbClr val="FFFFFF"/>
                </a:solidFill>
                <a:latin typeface="Calibri"/>
                <a:ea typeface="Calibri"/>
                <a:cs typeface="Calibri"/>
                <a:sym typeface="Calibri"/>
              </a:rPr>
              <a:t>Academic Papers + Open-Source Repositories That Shaped CMatrix</a:t>
            </a:r>
            <a:endParaRPr/>
          </a:p>
        </p:txBody>
      </p:sp>
      <p:sp>
        <p:nvSpPr>
          <p:cNvPr id="1509" name="Google Shape;1509;p33"/>
          <p:cNvSpPr/>
          <p:nvPr/>
        </p:nvSpPr>
        <p:spPr>
          <a:xfrm>
            <a:off x="274320" y="896112"/>
            <a:ext cx="6400800" cy="2743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0" name="Google Shape;1510;p33"/>
          <p:cNvSpPr/>
          <p:nvPr/>
        </p:nvSpPr>
        <p:spPr>
          <a:xfrm>
            <a:off x="274320" y="987552"/>
            <a:ext cx="5897880" cy="102412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1" name="Google Shape;1511;p33"/>
          <p:cNvSpPr/>
          <p:nvPr/>
        </p:nvSpPr>
        <p:spPr>
          <a:xfrm>
            <a:off x="274320" y="987552"/>
            <a:ext cx="347472" cy="102412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2" name="Google Shape;1512;p33"/>
          <p:cNvSpPr txBox="1"/>
          <p:nvPr/>
        </p:nvSpPr>
        <p:spPr>
          <a:xfrm>
            <a:off x="292608" y="1362456"/>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1</a:t>
            </a:r>
            <a:endParaRPr/>
          </a:p>
        </p:txBody>
      </p:sp>
      <p:sp>
        <p:nvSpPr>
          <p:cNvPr id="1513" name="Google Shape;1513;p33"/>
          <p:cNvSpPr txBox="1"/>
          <p:nvPr/>
        </p:nvSpPr>
        <p:spPr>
          <a:xfrm>
            <a:off x="713232" y="1042416"/>
            <a:ext cx="5413248"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
                <a:solidFill>
                  <a:srgbClr val="00E5FF"/>
                </a:solidFill>
                <a:latin typeface="Calibri"/>
                <a:ea typeface="Calibri"/>
                <a:cs typeface="Calibri"/>
                <a:sym typeface="Calibri"/>
              </a:rPr>
              <a:t>PentestGPT</a:t>
            </a:r>
            <a:endParaRPr/>
          </a:p>
        </p:txBody>
      </p:sp>
      <p:sp>
        <p:nvSpPr>
          <p:cNvPr id="1514" name="Google Shape;1514;p33"/>
          <p:cNvSpPr txBox="1"/>
          <p:nvPr/>
        </p:nvSpPr>
        <p:spPr>
          <a:xfrm>
            <a:off x="713232" y="1261872"/>
            <a:ext cx="54132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USENIX Security '24</a:t>
            </a:r>
            <a:endParaRPr/>
          </a:p>
        </p:txBody>
      </p:sp>
      <p:sp>
        <p:nvSpPr>
          <p:cNvPr id="1515" name="Google Shape;1515;p33"/>
          <p:cNvSpPr txBox="1"/>
          <p:nvPr/>
        </p:nvSpPr>
        <p:spPr>
          <a:xfrm>
            <a:off x="713232" y="1444752"/>
            <a:ext cx="54132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50">
                <a:solidFill>
                  <a:srgbClr val="A0AAB8"/>
                </a:solidFill>
                <a:latin typeface="Calibri"/>
                <a:ea typeface="Calibri"/>
                <a:cs typeface="Calibri"/>
                <a:sym typeface="Calibri"/>
              </a:rPr>
              <a:t>Tripartite Reasoning / Generation / Parsing architecture.</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Pentesting Task Tree memory for long-session context.</a:t>
            </a:r>
            <a:endParaRPr/>
          </a:p>
        </p:txBody>
      </p:sp>
      <p:sp>
        <p:nvSpPr>
          <p:cNvPr id="1516" name="Google Shape;1516;p33"/>
          <p:cNvSpPr/>
          <p:nvPr/>
        </p:nvSpPr>
        <p:spPr>
          <a:xfrm>
            <a:off x="694944" y="1810512"/>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7" name="Google Shape;1517;p33"/>
          <p:cNvSpPr txBox="1"/>
          <p:nvPr/>
        </p:nvSpPr>
        <p:spPr>
          <a:xfrm>
            <a:off x="731520" y="1819656"/>
            <a:ext cx="536752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CMatrix:  Tool Adapter Layer (parse before you reason) + MicroCompact permanent graph state.</a:t>
            </a:r>
            <a:endParaRPr/>
          </a:p>
        </p:txBody>
      </p:sp>
      <p:sp>
        <p:nvSpPr>
          <p:cNvPr id="1518" name="Google Shape;1518;p33"/>
          <p:cNvSpPr/>
          <p:nvPr/>
        </p:nvSpPr>
        <p:spPr>
          <a:xfrm>
            <a:off x="274320" y="2066544"/>
            <a:ext cx="5897880" cy="10241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9" name="Google Shape;1519;p33"/>
          <p:cNvSpPr/>
          <p:nvPr/>
        </p:nvSpPr>
        <p:spPr>
          <a:xfrm>
            <a:off x="274320" y="2066544"/>
            <a:ext cx="347472" cy="10241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0" name="Google Shape;1520;p33"/>
          <p:cNvSpPr txBox="1"/>
          <p:nvPr/>
        </p:nvSpPr>
        <p:spPr>
          <a:xfrm>
            <a:off x="292608" y="2441448"/>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2</a:t>
            </a:r>
            <a:endParaRPr/>
          </a:p>
        </p:txBody>
      </p:sp>
      <p:sp>
        <p:nvSpPr>
          <p:cNvPr id="1521" name="Google Shape;1521;p33"/>
          <p:cNvSpPr txBox="1"/>
          <p:nvPr/>
        </p:nvSpPr>
        <p:spPr>
          <a:xfrm>
            <a:off x="713232" y="2121408"/>
            <a:ext cx="5413248"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
                <a:solidFill>
                  <a:srgbClr val="39FF14"/>
                </a:solidFill>
                <a:latin typeface="Calibri"/>
                <a:ea typeface="Calibri"/>
                <a:cs typeface="Calibri"/>
                <a:sym typeface="Calibri"/>
              </a:rPr>
              <a:t>AutoAttacker</a:t>
            </a:r>
            <a:endParaRPr/>
          </a:p>
        </p:txBody>
      </p:sp>
      <p:sp>
        <p:nvSpPr>
          <p:cNvPr id="1522" name="Google Shape;1522;p33"/>
          <p:cNvSpPr txBox="1"/>
          <p:nvPr/>
        </p:nvSpPr>
        <p:spPr>
          <a:xfrm>
            <a:off x="713232" y="2340864"/>
            <a:ext cx="54132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arXiv '24  — Xu et al.</a:t>
            </a:r>
            <a:endParaRPr/>
          </a:p>
        </p:txBody>
      </p:sp>
      <p:sp>
        <p:nvSpPr>
          <p:cNvPr id="1523" name="Google Shape;1523;p33"/>
          <p:cNvSpPr txBox="1"/>
          <p:nvPr/>
        </p:nvSpPr>
        <p:spPr>
          <a:xfrm>
            <a:off x="713232" y="2523744"/>
            <a:ext cx="54132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50">
                <a:solidFill>
                  <a:srgbClr val="A0AAB8"/>
                </a:solidFill>
                <a:latin typeface="Calibri"/>
                <a:ea typeface="Calibri"/>
                <a:cs typeface="Calibri"/>
                <a:sym typeface="Calibri"/>
              </a:rPr>
              <a:t>Modular planner / summarizer / code-generator for post-breach automation.</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Experience manager stores + reuses attack subtasks within one mission.</a:t>
            </a:r>
            <a:endParaRPr/>
          </a:p>
        </p:txBody>
      </p:sp>
      <p:sp>
        <p:nvSpPr>
          <p:cNvPr id="1524" name="Google Shape;1524;p33"/>
          <p:cNvSpPr/>
          <p:nvPr/>
        </p:nvSpPr>
        <p:spPr>
          <a:xfrm>
            <a:off x="694944" y="2889504"/>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5" name="Google Shape;1525;p33"/>
          <p:cNvSpPr txBox="1"/>
          <p:nvPr/>
        </p:nvSpPr>
        <p:spPr>
          <a:xfrm>
            <a:off x="731520" y="2898648"/>
            <a:ext cx="536752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CMatrix:  Cross-Mission Experience Store (C10) — generalizes reuse to cross-mission scope.</a:t>
            </a:r>
            <a:endParaRPr/>
          </a:p>
        </p:txBody>
      </p:sp>
      <p:sp>
        <p:nvSpPr>
          <p:cNvPr id="1526" name="Google Shape;1526;p33"/>
          <p:cNvSpPr/>
          <p:nvPr/>
        </p:nvSpPr>
        <p:spPr>
          <a:xfrm>
            <a:off x="274320" y="3145536"/>
            <a:ext cx="5897880" cy="1024128"/>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7" name="Google Shape;1527;p33"/>
          <p:cNvSpPr/>
          <p:nvPr/>
        </p:nvSpPr>
        <p:spPr>
          <a:xfrm>
            <a:off x="274320" y="3145536"/>
            <a:ext cx="347472" cy="102412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8" name="Google Shape;1528;p33"/>
          <p:cNvSpPr txBox="1"/>
          <p:nvPr/>
        </p:nvSpPr>
        <p:spPr>
          <a:xfrm>
            <a:off x="292608" y="3520440"/>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3</a:t>
            </a:r>
            <a:endParaRPr/>
          </a:p>
        </p:txBody>
      </p:sp>
      <p:sp>
        <p:nvSpPr>
          <p:cNvPr id="1529" name="Google Shape;1529;p33"/>
          <p:cNvSpPr txBox="1"/>
          <p:nvPr/>
        </p:nvSpPr>
        <p:spPr>
          <a:xfrm>
            <a:off x="713232" y="3200400"/>
            <a:ext cx="5413248"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
                <a:solidFill>
                  <a:srgbClr val="FFD700"/>
                </a:solidFill>
                <a:latin typeface="Calibri"/>
                <a:ea typeface="Calibri"/>
                <a:cs typeface="Calibri"/>
                <a:sym typeface="Calibri"/>
              </a:rPr>
              <a:t>Teams of LLM Agents (HPTSA)</a:t>
            </a:r>
            <a:endParaRPr/>
          </a:p>
        </p:txBody>
      </p:sp>
      <p:sp>
        <p:nvSpPr>
          <p:cNvPr id="1530" name="Google Shape;1530;p33"/>
          <p:cNvSpPr txBox="1"/>
          <p:nvPr/>
        </p:nvSpPr>
        <p:spPr>
          <a:xfrm>
            <a:off x="713232" y="3419856"/>
            <a:ext cx="54132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arXiv '24  — Zhu et al.</a:t>
            </a:r>
            <a:endParaRPr/>
          </a:p>
        </p:txBody>
      </p:sp>
      <p:sp>
        <p:nvSpPr>
          <p:cNvPr id="1531" name="Google Shape;1531;p33"/>
          <p:cNvSpPr txBox="1"/>
          <p:nvPr/>
        </p:nvSpPr>
        <p:spPr>
          <a:xfrm>
            <a:off x="713232" y="3602736"/>
            <a:ext cx="54132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50">
                <a:solidFill>
                  <a:srgbClr val="A0AAB8"/>
                </a:solidFill>
                <a:latin typeface="Calibri"/>
                <a:ea typeface="Calibri"/>
                <a:cs typeface="Calibri"/>
                <a:sym typeface="Calibri"/>
              </a:rPr>
              <a:t>Hierarchical planner delegates to task-specific sub-agents.</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Task-specific document injection improves zero-day exploitation by 2.1x.</a:t>
            </a:r>
            <a:endParaRPr/>
          </a:p>
        </p:txBody>
      </p:sp>
      <p:sp>
        <p:nvSpPr>
          <p:cNvPr id="1532" name="Google Shape;1532;p33"/>
          <p:cNvSpPr/>
          <p:nvPr/>
        </p:nvSpPr>
        <p:spPr>
          <a:xfrm>
            <a:off x="694944" y="3968496"/>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3" name="Google Shape;1533;p33"/>
          <p:cNvSpPr txBox="1"/>
          <p:nvPr/>
        </p:nvSpPr>
        <p:spPr>
          <a:xfrm>
            <a:off x="731520" y="3977640"/>
            <a:ext cx="536752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CMatrix:  Vulnerability-Class Knowledge Injection at agent spawn time (§7).</a:t>
            </a:r>
            <a:endParaRPr/>
          </a:p>
        </p:txBody>
      </p:sp>
      <p:sp>
        <p:nvSpPr>
          <p:cNvPr id="1534" name="Google Shape;1534;p33"/>
          <p:cNvSpPr/>
          <p:nvPr/>
        </p:nvSpPr>
        <p:spPr>
          <a:xfrm>
            <a:off x="274320" y="4224528"/>
            <a:ext cx="5897880" cy="1024128"/>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5" name="Google Shape;1535;p33"/>
          <p:cNvSpPr/>
          <p:nvPr/>
        </p:nvSpPr>
        <p:spPr>
          <a:xfrm>
            <a:off x="274320" y="4224528"/>
            <a:ext cx="347472" cy="102412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6" name="Google Shape;1536;p33"/>
          <p:cNvSpPr txBox="1"/>
          <p:nvPr/>
        </p:nvSpPr>
        <p:spPr>
          <a:xfrm>
            <a:off x="292608" y="4599432"/>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4</a:t>
            </a:r>
            <a:endParaRPr/>
          </a:p>
        </p:txBody>
      </p:sp>
      <p:sp>
        <p:nvSpPr>
          <p:cNvPr id="1537" name="Google Shape;1537;p33"/>
          <p:cNvSpPr txBox="1"/>
          <p:nvPr/>
        </p:nvSpPr>
        <p:spPr>
          <a:xfrm>
            <a:off x="713232" y="4279392"/>
            <a:ext cx="5413248"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
                <a:solidFill>
                  <a:srgbClr val="00BFD8"/>
                </a:solidFill>
                <a:latin typeface="Calibri"/>
                <a:ea typeface="Calibri"/>
                <a:cs typeface="Calibri"/>
                <a:sym typeface="Calibri"/>
              </a:rPr>
              <a:t>PentestAgent</a:t>
            </a:r>
            <a:endParaRPr/>
          </a:p>
        </p:txBody>
      </p:sp>
      <p:sp>
        <p:nvSpPr>
          <p:cNvPr id="1538" name="Google Shape;1538;p33"/>
          <p:cNvSpPr txBox="1"/>
          <p:nvPr/>
        </p:nvSpPr>
        <p:spPr>
          <a:xfrm>
            <a:off x="713232" y="4498848"/>
            <a:ext cx="54132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AsiaCCS '25  — Shen et al.</a:t>
            </a:r>
            <a:endParaRPr/>
          </a:p>
        </p:txBody>
      </p:sp>
      <p:sp>
        <p:nvSpPr>
          <p:cNvPr id="1539" name="Google Shape;1539;p33"/>
          <p:cNvSpPr txBox="1"/>
          <p:nvPr/>
        </p:nvSpPr>
        <p:spPr>
          <a:xfrm>
            <a:off x="713232" y="4681728"/>
            <a:ext cx="54132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50">
                <a:solidFill>
                  <a:srgbClr val="A0AAB8"/>
                </a:solidFill>
                <a:latin typeface="Calibri"/>
                <a:ea typeface="Calibri"/>
                <a:cs typeface="Calibri"/>
                <a:sym typeface="Calibri"/>
              </a:rPr>
              <a:t>Planning agent + RAG-backed shared memory.</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Execution agent self-diagnoses failed exploit attempts before abandoning.</a:t>
            </a:r>
            <a:endParaRPr/>
          </a:p>
        </p:txBody>
      </p:sp>
      <p:sp>
        <p:nvSpPr>
          <p:cNvPr id="1540" name="Google Shape;1540;p33"/>
          <p:cNvSpPr/>
          <p:nvPr/>
        </p:nvSpPr>
        <p:spPr>
          <a:xfrm>
            <a:off x="694944" y="5047488"/>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1" name="Google Shape;1541;p33"/>
          <p:cNvSpPr txBox="1"/>
          <p:nvPr/>
        </p:nvSpPr>
        <p:spPr>
          <a:xfrm>
            <a:off x="731520" y="5056632"/>
            <a:ext cx="536752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CMatrix:  Validation Agent self-debugging loop: Diagnose → Contextualize → Adapt → Cap.</a:t>
            </a:r>
            <a:endParaRPr/>
          </a:p>
        </p:txBody>
      </p:sp>
      <p:sp>
        <p:nvSpPr>
          <p:cNvPr id="1542" name="Google Shape;1542;p33"/>
          <p:cNvSpPr/>
          <p:nvPr/>
        </p:nvSpPr>
        <p:spPr>
          <a:xfrm>
            <a:off x="274320" y="5303520"/>
            <a:ext cx="5897880" cy="10241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3" name="Google Shape;1543;p33"/>
          <p:cNvSpPr/>
          <p:nvPr/>
        </p:nvSpPr>
        <p:spPr>
          <a:xfrm>
            <a:off x="274320" y="5303520"/>
            <a:ext cx="347472" cy="102412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4" name="Google Shape;1544;p33"/>
          <p:cNvSpPr txBox="1"/>
          <p:nvPr/>
        </p:nvSpPr>
        <p:spPr>
          <a:xfrm>
            <a:off x="292608" y="5678424"/>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5</a:t>
            </a:r>
            <a:endParaRPr/>
          </a:p>
        </p:txBody>
      </p:sp>
      <p:sp>
        <p:nvSpPr>
          <p:cNvPr id="1545" name="Google Shape;1545;p33"/>
          <p:cNvSpPr txBox="1"/>
          <p:nvPr/>
        </p:nvSpPr>
        <p:spPr>
          <a:xfrm>
            <a:off x="713232" y="5358384"/>
            <a:ext cx="5413248"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
                <a:solidFill>
                  <a:srgbClr val="FF4545"/>
                </a:solidFill>
                <a:latin typeface="Calibri"/>
                <a:ea typeface="Calibri"/>
                <a:cs typeface="Calibri"/>
                <a:sym typeface="Calibri"/>
              </a:rPr>
              <a:t>VulnBot</a:t>
            </a:r>
            <a:endParaRPr/>
          </a:p>
        </p:txBody>
      </p:sp>
      <p:sp>
        <p:nvSpPr>
          <p:cNvPr id="1546" name="Google Shape;1546;p33"/>
          <p:cNvSpPr txBox="1"/>
          <p:nvPr/>
        </p:nvSpPr>
        <p:spPr>
          <a:xfrm>
            <a:off x="713232" y="5577840"/>
            <a:ext cx="54132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arXiv '25  — Kong et al.</a:t>
            </a:r>
            <a:endParaRPr/>
          </a:p>
        </p:txBody>
      </p:sp>
      <p:sp>
        <p:nvSpPr>
          <p:cNvPr id="1547" name="Google Shape;1547;p33"/>
          <p:cNvSpPr txBox="1"/>
          <p:nvPr/>
        </p:nvSpPr>
        <p:spPr>
          <a:xfrm>
            <a:off x="713232" y="5760720"/>
            <a:ext cx="54132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850">
                <a:solidFill>
                  <a:srgbClr val="A0AAB8"/>
                </a:solidFill>
                <a:latin typeface="Calibri"/>
                <a:ea typeface="Calibri"/>
                <a:cs typeface="Calibri"/>
                <a:sym typeface="Calibri"/>
              </a:rPr>
              <a:t>Five-module pipeline around a Penetration Task Graph.</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Summarizer condenses phase output — prevents raw history leaking between agents.</a:t>
            </a:r>
            <a:endParaRPr/>
          </a:p>
        </p:txBody>
      </p:sp>
      <p:sp>
        <p:nvSpPr>
          <p:cNvPr id="1548" name="Google Shape;1548;p33"/>
          <p:cNvSpPr/>
          <p:nvPr/>
        </p:nvSpPr>
        <p:spPr>
          <a:xfrm>
            <a:off x="694944" y="6126480"/>
            <a:ext cx="5404104" cy="164592"/>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9" name="Google Shape;1549;p33"/>
          <p:cNvSpPr txBox="1"/>
          <p:nvPr/>
        </p:nvSpPr>
        <p:spPr>
          <a:xfrm>
            <a:off x="731520" y="6135624"/>
            <a:ext cx="5367528"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CMatrix:  Context-Isolated Agent Spawning — agents return structured ASG delta, not raw history.</a:t>
            </a:r>
            <a:endParaRPr/>
          </a:p>
        </p:txBody>
      </p:sp>
      <p:sp>
        <p:nvSpPr>
          <p:cNvPr id="1550" name="Google Shape;1550;p33"/>
          <p:cNvSpPr/>
          <p:nvPr/>
        </p:nvSpPr>
        <p:spPr>
          <a:xfrm>
            <a:off x="6355080" y="987552"/>
            <a:ext cx="5669280" cy="27432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1" name="Google Shape;1551;p33"/>
          <p:cNvSpPr txBox="1"/>
          <p:nvPr/>
        </p:nvSpPr>
        <p:spPr>
          <a:xfrm>
            <a:off x="6464808" y="1005840"/>
            <a:ext cx="54864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BD93F9"/>
                </a:solidFill>
                <a:latin typeface="Calibri"/>
                <a:ea typeface="Calibri"/>
                <a:cs typeface="Calibri"/>
                <a:sym typeface="Calibri"/>
              </a:rPr>
              <a:t>💻  OPEN-SOURCE REPOSITORIES</a:t>
            </a:r>
            <a:endParaRPr/>
          </a:p>
        </p:txBody>
      </p:sp>
      <p:sp>
        <p:nvSpPr>
          <p:cNvPr id="1552" name="Google Shape;1552;p33"/>
          <p:cNvSpPr/>
          <p:nvPr/>
        </p:nvSpPr>
        <p:spPr>
          <a:xfrm>
            <a:off x="6355080" y="1307592"/>
            <a:ext cx="5669280" cy="1627632"/>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3" name="Google Shape;1553;p33"/>
          <p:cNvSpPr/>
          <p:nvPr/>
        </p:nvSpPr>
        <p:spPr>
          <a:xfrm>
            <a:off x="6355080" y="1307592"/>
            <a:ext cx="347472" cy="16276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4" name="Google Shape;1554;p33"/>
          <p:cNvSpPr txBox="1"/>
          <p:nvPr/>
        </p:nvSpPr>
        <p:spPr>
          <a:xfrm>
            <a:off x="6373368" y="1984248"/>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6</a:t>
            </a:r>
            <a:endParaRPr/>
          </a:p>
        </p:txBody>
      </p:sp>
      <p:sp>
        <p:nvSpPr>
          <p:cNvPr id="1555" name="Google Shape;1555;p33"/>
          <p:cNvSpPr txBox="1"/>
          <p:nvPr/>
        </p:nvSpPr>
        <p:spPr>
          <a:xfrm>
            <a:off x="6793992" y="1380744"/>
            <a:ext cx="5184648"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PentAGI</a:t>
            </a:r>
            <a:endParaRPr/>
          </a:p>
        </p:txBody>
      </p:sp>
      <p:sp>
        <p:nvSpPr>
          <p:cNvPr id="1556" name="Google Shape;1556;p33"/>
          <p:cNvSpPr txBox="1"/>
          <p:nvPr/>
        </p:nvSpPr>
        <p:spPr>
          <a:xfrm>
            <a:off x="6793992" y="1645920"/>
            <a:ext cx="51846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vxcontrol/pentagi</a:t>
            </a:r>
            <a:endParaRPr/>
          </a:p>
        </p:txBody>
      </p:sp>
      <p:sp>
        <p:nvSpPr>
          <p:cNvPr id="1557" name="Google Shape;1557;p33"/>
          <p:cNvSpPr txBox="1"/>
          <p:nvPr/>
        </p:nvSpPr>
        <p:spPr>
          <a:xfrm>
            <a:off x="6793992" y="1837944"/>
            <a:ext cx="5184648"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Production multi-agent pentesting platform.</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Adviser detects fixation; Reflector nudges stuck agents.</a:t>
            </a:r>
            <a:endParaRPr/>
          </a:p>
        </p:txBody>
      </p:sp>
      <p:sp>
        <p:nvSpPr>
          <p:cNvPr id="1558" name="Google Shape;1558;p33"/>
          <p:cNvSpPr/>
          <p:nvPr/>
        </p:nvSpPr>
        <p:spPr>
          <a:xfrm>
            <a:off x="6775704" y="2642616"/>
            <a:ext cx="5175504" cy="237744"/>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9" name="Google Shape;1559;p33"/>
          <p:cNvSpPr txBox="1"/>
          <p:nvPr/>
        </p:nvSpPr>
        <p:spPr>
          <a:xfrm>
            <a:off x="6812280" y="2651760"/>
            <a:ext cx="513892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CMatrix:  Cycle Guard (detects repeated identical tool calls) + Reflector (corrective guidance on repeated failures).</a:t>
            </a:r>
            <a:endParaRPr/>
          </a:p>
        </p:txBody>
      </p:sp>
      <p:sp>
        <p:nvSpPr>
          <p:cNvPr id="1560" name="Google Shape;1560;p33"/>
          <p:cNvSpPr/>
          <p:nvPr/>
        </p:nvSpPr>
        <p:spPr>
          <a:xfrm>
            <a:off x="6355080" y="3026664"/>
            <a:ext cx="5669280" cy="1627632"/>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1" name="Google Shape;1561;p33"/>
          <p:cNvSpPr/>
          <p:nvPr/>
        </p:nvSpPr>
        <p:spPr>
          <a:xfrm>
            <a:off x="6355080" y="3026664"/>
            <a:ext cx="347472" cy="162763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2" name="Google Shape;1562;p33"/>
          <p:cNvSpPr txBox="1"/>
          <p:nvPr/>
        </p:nvSpPr>
        <p:spPr>
          <a:xfrm>
            <a:off x="6373368" y="3703320"/>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7</a:t>
            </a:r>
            <a:endParaRPr/>
          </a:p>
        </p:txBody>
      </p:sp>
      <p:sp>
        <p:nvSpPr>
          <p:cNvPr id="1563" name="Google Shape;1563;p33"/>
          <p:cNvSpPr txBox="1"/>
          <p:nvPr/>
        </p:nvSpPr>
        <p:spPr>
          <a:xfrm>
            <a:off x="6793992" y="3099816"/>
            <a:ext cx="5184648"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Claude Code</a:t>
            </a:r>
            <a:endParaRPr/>
          </a:p>
        </p:txBody>
      </p:sp>
      <p:sp>
        <p:nvSpPr>
          <p:cNvPr id="1564" name="Google Shape;1564;p33"/>
          <p:cNvSpPr txBox="1"/>
          <p:nvPr/>
        </p:nvSpPr>
        <p:spPr>
          <a:xfrm>
            <a:off x="6793992" y="3364992"/>
            <a:ext cx="51846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Anthropic pattern — yasasbanukaofficial/claude-code</a:t>
            </a:r>
            <a:endParaRPr/>
          </a:p>
        </p:txBody>
      </p:sp>
      <p:sp>
        <p:nvSpPr>
          <p:cNvPr id="1565" name="Google Shape;1565;p33"/>
          <p:cNvSpPr txBox="1"/>
          <p:nvPr/>
        </p:nvSpPr>
        <p:spPr>
          <a:xfrm>
            <a:off x="6793992" y="3557016"/>
            <a:ext cx="5184648"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yoloClassifier.ts: two-stage fast-filter + chain-of-thought tool-call auto-approval.</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27-event named hook architecture for operator intervention.</a:t>
            </a:r>
            <a:endParaRPr/>
          </a:p>
        </p:txBody>
      </p:sp>
      <p:sp>
        <p:nvSpPr>
          <p:cNvPr id="1566" name="Google Shape;1566;p33"/>
          <p:cNvSpPr/>
          <p:nvPr/>
        </p:nvSpPr>
        <p:spPr>
          <a:xfrm>
            <a:off x="6775704" y="4361688"/>
            <a:ext cx="5175504" cy="237744"/>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7" name="Google Shape;1567;p33"/>
          <p:cNvSpPr txBox="1"/>
          <p:nvPr/>
        </p:nvSpPr>
        <p:spPr>
          <a:xfrm>
            <a:off x="6812280" y="4370832"/>
            <a:ext cx="513892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CMatrix:  LLM Permission Classifier (Medium-tier Risk Gate) + 6-event Agent Lifecycle Hook System.</a:t>
            </a:r>
            <a:endParaRPr/>
          </a:p>
        </p:txBody>
      </p:sp>
      <p:sp>
        <p:nvSpPr>
          <p:cNvPr id="1568" name="Google Shape;1568;p33"/>
          <p:cNvSpPr/>
          <p:nvPr/>
        </p:nvSpPr>
        <p:spPr>
          <a:xfrm>
            <a:off x="6355080" y="4745736"/>
            <a:ext cx="5669280" cy="1627632"/>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9" name="Google Shape;1569;p33"/>
          <p:cNvSpPr/>
          <p:nvPr/>
        </p:nvSpPr>
        <p:spPr>
          <a:xfrm>
            <a:off x="6355080" y="4745736"/>
            <a:ext cx="347472" cy="16276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0" name="Google Shape;1570;p33"/>
          <p:cNvSpPr txBox="1"/>
          <p:nvPr/>
        </p:nvSpPr>
        <p:spPr>
          <a:xfrm>
            <a:off x="6373368" y="5422392"/>
            <a:ext cx="310896"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8</a:t>
            </a:r>
            <a:endParaRPr/>
          </a:p>
        </p:txBody>
      </p:sp>
      <p:sp>
        <p:nvSpPr>
          <p:cNvPr id="1571" name="Google Shape;1571;p33"/>
          <p:cNvSpPr txBox="1"/>
          <p:nvPr/>
        </p:nvSpPr>
        <p:spPr>
          <a:xfrm>
            <a:off x="6793992" y="4818888"/>
            <a:ext cx="5184648"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D700"/>
                </a:solidFill>
                <a:latin typeface="Calibri"/>
                <a:ea typeface="Calibri"/>
                <a:cs typeface="Calibri"/>
                <a:sym typeface="Calibri"/>
              </a:rPr>
              <a:t>Hermes Agent</a:t>
            </a:r>
            <a:endParaRPr/>
          </a:p>
        </p:txBody>
      </p:sp>
      <p:sp>
        <p:nvSpPr>
          <p:cNvPr id="1572" name="Google Shape;1572;p33"/>
          <p:cNvSpPr txBox="1"/>
          <p:nvPr/>
        </p:nvSpPr>
        <p:spPr>
          <a:xfrm>
            <a:off x="6793992" y="5084064"/>
            <a:ext cx="5184648"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NousResearch/hermes-agent</a:t>
            </a:r>
            <a:endParaRPr/>
          </a:p>
        </p:txBody>
      </p:sp>
      <p:sp>
        <p:nvSpPr>
          <p:cNvPr id="1573" name="Google Shape;1573;p33"/>
          <p:cNvSpPr txBox="1"/>
          <p:nvPr/>
        </p:nvSpPr>
        <p:spPr>
          <a:xfrm>
            <a:off x="6793992" y="5276088"/>
            <a:ext cx="5184648"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Closed learning loop: skill crystallization from completed tasks.</a:t>
            </a:r>
            <a:br>
              <a:rPr b="0" i="0" lang="en-US" sz="900">
                <a:solidFill>
                  <a:srgbClr val="A0AAB8"/>
                </a:solidFill>
                <a:latin typeface="Calibri"/>
                <a:ea typeface="Calibri"/>
                <a:cs typeface="Calibri"/>
                <a:sym typeface="Calibri"/>
              </a:rPr>
            </a:br>
            <a:r>
              <a:rPr b="0" i="0" lang="en-US" sz="900">
                <a:solidFill>
                  <a:srgbClr val="A0AAB8"/>
                </a:solidFill>
                <a:latin typeface="Calibri"/>
                <a:ea typeface="Calibri"/>
                <a:cs typeface="Calibri"/>
                <a:sym typeface="Calibri"/>
              </a:rPr>
              <a:t>Structured trajectory export for SFT/RL training via DSPy + Atropos.</a:t>
            </a:r>
            <a:endParaRPr/>
          </a:p>
        </p:txBody>
      </p:sp>
      <p:sp>
        <p:nvSpPr>
          <p:cNvPr id="1574" name="Google Shape;1574;p33"/>
          <p:cNvSpPr/>
          <p:nvPr/>
        </p:nvSpPr>
        <p:spPr>
          <a:xfrm>
            <a:off x="6775704" y="6080760"/>
            <a:ext cx="5175504" cy="237744"/>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5" name="Google Shape;1575;p33"/>
          <p:cNvSpPr txBox="1"/>
          <p:nvPr/>
        </p:nvSpPr>
        <p:spPr>
          <a:xfrm>
            <a:off x="6812280" y="6089904"/>
            <a:ext cx="5138928"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39FF14"/>
                </a:solidFill>
                <a:latin typeface="Calibri"/>
                <a:ea typeface="Calibri"/>
                <a:cs typeface="Calibri"/>
                <a:sym typeface="Calibri"/>
              </a:rPr>
              <a:t>CMatrix:  Attack Strategy Library crystallization (C11) + Engagement Trajectory Export dataset (C12).</a:t>
            </a:r>
            <a:endParaRPr/>
          </a:p>
        </p:txBody>
      </p:sp>
      <p:sp>
        <p:nvSpPr>
          <p:cNvPr id="1576" name="Google Shape;1576;p33"/>
          <p:cNvSpPr/>
          <p:nvPr/>
        </p:nvSpPr>
        <p:spPr>
          <a:xfrm>
            <a:off x="274320" y="987552"/>
            <a:ext cx="5897880" cy="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7" name="Google Shape;1577;p33"/>
          <p:cNvSpPr/>
          <p:nvPr/>
        </p:nvSpPr>
        <p:spPr>
          <a:xfrm>
            <a:off x="274320" y="987552"/>
            <a:ext cx="5897880" cy="27432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8" name="Google Shape;1578;p33"/>
          <p:cNvSpPr txBox="1"/>
          <p:nvPr/>
        </p:nvSpPr>
        <p:spPr>
          <a:xfrm>
            <a:off x="384048" y="1005840"/>
            <a:ext cx="571500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0E5FF"/>
                </a:solidFill>
                <a:latin typeface="Calibri"/>
                <a:ea typeface="Calibri"/>
                <a:cs typeface="Calibri"/>
                <a:sym typeface="Calibri"/>
              </a:rPr>
              <a:t>📄  ACADEMIC PAPERS</a:t>
            </a:r>
            <a:endParaRPr/>
          </a:p>
        </p:txBody>
      </p:sp>
      <p:sp>
        <p:nvSpPr>
          <p:cNvPr id="1579" name="Google Shape;1579;p33"/>
          <p:cNvSpPr/>
          <p:nvPr/>
        </p:nvSpPr>
        <p:spPr>
          <a:xfrm>
            <a:off x="6236208" y="960120"/>
            <a:ext cx="27432" cy="534924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0" name="Google Shape;1580;p33"/>
          <p:cNvSpPr txBox="1"/>
          <p:nvPr/>
        </p:nvSpPr>
        <p:spPr>
          <a:xfrm>
            <a:off x="11782393" y="41366"/>
            <a:ext cx="407125"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BD93F9"/>
                </a:solidFill>
                <a:latin typeface="Calibri"/>
                <a:ea typeface="Calibri"/>
                <a:cs typeface="Calibri"/>
                <a:sym typeface="Calibri"/>
              </a:rPr>
              <a:t>21</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