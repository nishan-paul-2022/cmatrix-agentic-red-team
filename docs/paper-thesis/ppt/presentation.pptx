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0" y="731520"/>
            <a:ext cx="8046720" cy="5303520"/>
          </a:xfrm>
          <a:prstGeom prst="rect">
            <a:avLst/>
          </a:prstGeom>
          <a:noFill/>
        </p:spPr>
        <p:txBody>
          <a:bodyPr wrap="none">
            <a:spAutoFit/>
          </a:bodyPr>
          <a:lstStyle/>
          <a:p>
            <a:pPr algn="r"/>
            <a:r>
              <a:rPr sz="13000" b="1">
                <a:latin typeface="Calibri"/>
              </a:rPr>
              <a:t>CMATRIX</a:t>
            </a:r>
          </a:p>
        </p:txBody>
      </p:sp>
      <p:sp>
        <p:nvSpPr>
          <p:cNvPr id="6" name="TextBox 5"/>
          <p:cNvSpPr txBox="1"/>
          <p:nvPr/>
        </p:nvSpPr>
        <p:spPr>
          <a:xfrm>
            <a:off x="457200" y="777240"/>
            <a:ext cx="7315200" cy="411480"/>
          </a:xfrm>
          <a:prstGeom prst="rect">
            <a:avLst/>
          </a:prstGeom>
          <a:noFill/>
        </p:spPr>
        <p:txBody>
          <a:bodyPr wrap="square">
            <a:spAutoFit/>
          </a:bodyPr>
          <a:lstStyle/>
          <a:p>
            <a:pPr algn="l"/>
            <a:r>
              <a:rPr sz="1300" b="0" i="0">
                <a:solidFill>
                  <a:srgbClr val="00E5FF"/>
                </a:solidFill>
                <a:latin typeface="Calibri"/>
              </a:rPr>
              <a:t>RESEARCH PRESENTATION</a:t>
            </a:r>
          </a:p>
        </p:txBody>
      </p:sp>
      <p:sp>
        <p:nvSpPr>
          <p:cNvPr id="7" name="TextBox 6"/>
          <p:cNvSpPr txBox="1"/>
          <p:nvPr/>
        </p:nvSpPr>
        <p:spPr>
          <a:xfrm>
            <a:off x="457200" y="1234440"/>
            <a:ext cx="8046720" cy="1737360"/>
          </a:xfrm>
          <a:prstGeom prst="rect">
            <a:avLst/>
          </a:prstGeom>
          <a:noFill/>
        </p:spPr>
        <p:txBody>
          <a:bodyPr wrap="square">
            <a:spAutoFit/>
          </a:bodyPr>
          <a:lstStyle/>
          <a:p>
            <a:pPr algn="l"/>
            <a:r>
              <a:rPr sz="7200" b="1">
                <a:solidFill>
                  <a:srgbClr val="FFFFFF"/>
                </a:solidFill>
                <a:latin typeface="Calibri"/>
              </a:rPr>
              <a:t>CMatrix</a:t>
            </a:r>
          </a:p>
        </p:txBody>
      </p:sp>
      <p:sp>
        <p:nvSpPr>
          <p:cNvPr id="8" name="TextBox 7"/>
          <p:cNvSpPr txBox="1"/>
          <p:nvPr/>
        </p:nvSpPr>
        <p:spPr>
          <a:xfrm>
            <a:off x="457200" y="2788920"/>
            <a:ext cx="8686800" cy="1097280"/>
          </a:xfrm>
          <a:prstGeom prst="rect">
            <a:avLst/>
          </a:prstGeom>
          <a:noFill/>
        </p:spPr>
        <p:txBody>
          <a:bodyPr wrap="square">
            <a:spAutoFit/>
          </a:bodyPr>
          <a:lstStyle/>
          <a:p>
            <a:pPr algn="l"/>
            <a:r>
              <a:rPr sz="2200" b="0" i="1">
                <a:solidFill>
                  <a:srgbClr val="00E5FF"/>
                </a:solidFill>
                <a:latin typeface="Calibri"/>
              </a:rPr>
              <a:t>Dual-Graph-Guided LLM-Orchestrated
Multi-Agent Framework for Autonomous VAPT</a:t>
            </a:r>
          </a:p>
        </p:txBody>
      </p:sp>
      <p:sp>
        <p:nvSpPr>
          <p:cNvPr id="9" name="Rectangle 8"/>
          <p:cNvSpPr/>
          <p:nvPr/>
        </p:nvSpPr>
        <p:spPr>
          <a:xfrm>
            <a:off x="457200" y="3913632"/>
            <a:ext cx="5943600" cy="27432"/>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4069080"/>
            <a:ext cx="2514600" cy="38404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4096512"/>
            <a:ext cx="2377440" cy="329184"/>
          </a:xfrm>
          <a:prstGeom prst="rect">
            <a:avLst/>
          </a:prstGeom>
          <a:noFill/>
        </p:spPr>
        <p:txBody>
          <a:bodyPr wrap="square">
            <a:spAutoFit/>
          </a:bodyPr>
          <a:lstStyle/>
          <a:p>
            <a:pPr algn="ctr"/>
            <a:r>
              <a:rPr sz="1200" b="1" i="0">
                <a:solidFill>
                  <a:srgbClr val="39FF14"/>
                </a:solidFill>
                <a:latin typeface="Calibri"/>
              </a:rPr>
              <a:t>Autonomous Pentesting</a:t>
            </a:r>
          </a:p>
        </p:txBody>
      </p:sp>
      <p:sp>
        <p:nvSpPr>
          <p:cNvPr id="12" name="Rectangle 11"/>
          <p:cNvSpPr/>
          <p:nvPr/>
        </p:nvSpPr>
        <p:spPr>
          <a:xfrm>
            <a:off x="3246120" y="4069080"/>
            <a:ext cx="2514600" cy="38404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4096512"/>
            <a:ext cx="2377440" cy="329184"/>
          </a:xfrm>
          <a:prstGeom prst="rect">
            <a:avLst/>
          </a:prstGeom>
          <a:noFill/>
        </p:spPr>
        <p:txBody>
          <a:bodyPr wrap="square">
            <a:spAutoFit/>
          </a:bodyPr>
          <a:lstStyle/>
          <a:p>
            <a:pPr algn="ctr"/>
            <a:r>
              <a:rPr sz="1200" b="1" i="0">
                <a:solidFill>
                  <a:srgbClr val="39FF14"/>
                </a:solidFill>
                <a:latin typeface="Calibri"/>
              </a:rPr>
              <a:t>AI Agent Orchestration</a:t>
            </a:r>
          </a:p>
        </p:txBody>
      </p:sp>
      <p:sp>
        <p:nvSpPr>
          <p:cNvPr id="14" name="Rectangle 13"/>
          <p:cNvSpPr/>
          <p:nvPr/>
        </p:nvSpPr>
        <p:spPr>
          <a:xfrm>
            <a:off x="6035040" y="4069080"/>
            <a:ext cx="2514600" cy="38404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0" y="4096512"/>
            <a:ext cx="2377440" cy="329184"/>
          </a:xfrm>
          <a:prstGeom prst="rect">
            <a:avLst/>
          </a:prstGeom>
          <a:noFill/>
        </p:spPr>
        <p:txBody>
          <a:bodyPr wrap="square">
            <a:spAutoFit/>
          </a:bodyPr>
          <a:lstStyle/>
          <a:p>
            <a:pPr algn="ctr"/>
            <a:r>
              <a:rPr sz="1200" b="1" i="0">
                <a:solidFill>
                  <a:srgbClr val="39FF14"/>
                </a:solidFill>
                <a:latin typeface="Calibri"/>
              </a:rPr>
              <a:t>Attack Graph Reasoning</a:t>
            </a:r>
          </a:p>
        </p:txBody>
      </p:sp>
      <p:sp>
        <p:nvSpPr>
          <p:cNvPr id="16" name="TextBox 15"/>
          <p:cNvSpPr txBox="1"/>
          <p:nvPr/>
        </p:nvSpPr>
        <p:spPr>
          <a:xfrm>
            <a:off x="457200" y="4754880"/>
            <a:ext cx="7315200" cy="347472"/>
          </a:xfrm>
          <a:prstGeom prst="rect">
            <a:avLst/>
          </a:prstGeom>
          <a:noFill/>
        </p:spPr>
        <p:txBody>
          <a:bodyPr wrap="square">
            <a:spAutoFit/>
          </a:bodyPr>
          <a:lstStyle/>
          <a:p>
            <a:pPr algn="l"/>
            <a:r>
              <a:rPr sz="1400" b="0" i="0">
                <a:solidFill>
                  <a:srgbClr val="A0AAB8"/>
                </a:solidFill>
                <a:latin typeface="Calibri"/>
              </a:rPr>
              <a:t>Supervisor Meeting  ·  June 2026</a:t>
            </a:r>
          </a:p>
        </p:txBody>
      </p:sp>
      <p:sp>
        <p:nvSpPr>
          <p:cNvPr id="17" name="TextBox 16"/>
          <p:cNvSpPr txBox="1"/>
          <p:nvPr/>
        </p:nvSpPr>
        <p:spPr>
          <a:xfrm>
            <a:off x="457200" y="5138928"/>
            <a:ext cx="9144000" cy="347472"/>
          </a:xfrm>
          <a:prstGeom prst="rect">
            <a:avLst/>
          </a:prstGeom>
          <a:noFill/>
        </p:spPr>
        <p:txBody>
          <a:bodyPr wrap="square">
            <a:spAutoFit/>
          </a:bodyPr>
          <a:lstStyle/>
          <a:p>
            <a:pPr algn="l"/>
            <a:r>
              <a:rPr sz="1300" b="0" i="0">
                <a:solidFill>
                  <a:srgbClr val="A0AAB8"/>
                </a:solidFill>
                <a:latin typeface="Calibri"/>
              </a:rPr>
              <a:t>Black-Box &amp; Grey-Box Assessment  ·  Network  ·  Web  ·  REST API</a:t>
            </a:r>
          </a:p>
        </p:txBody>
      </p:sp>
      <p:sp>
        <p:nvSpPr>
          <p:cNvPr id="18" name="TextBox 17"/>
          <p:cNvSpPr txBox="1"/>
          <p:nvPr/>
        </p:nvSpPr>
        <p:spPr>
          <a:xfrm>
            <a:off x="11780215" y="6355080"/>
            <a:ext cx="384048" cy="411480"/>
          </a:xfrm>
          <a:prstGeom prst="rect">
            <a:avLst/>
          </a:prstGeom>
          <a:noFill/>
        </p:spPr>
        <p:txBody>
          <a:bodyPr wrap="square">
            <a:spAutoFit/>
          </a:bodyPr>
          <a:lstStyle/>
          <a:p>
            <a:pPr algn="r"/>
            <a:r>
              <a:rPr sz="1300" b="1" i="0">
                <a:solidFill>
                  <a:srgbClr val="00E5FF"/>
                </a:solidFill>
                <a:latin typeface="Calibri"/>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4545"/>
                </a:solidFill>
                <a:latin typeface="Calibri"/>
              </a:rPr>
              <a:t>THE PROBLEM</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400" b="1" i="0">
                <a:solidFill>
                  <a:srgbClr val="FFFFFF"/>
                </a:solidFill>
                <a:latin typeface="Calibri"/>
              </a:rPr>
              <a:t>What Existing VAPT Systems Get Wrong</a:t>
            </a:r>
          </a:p>
        </p:txBody>
      </p:sp>
      <p:sp>
        <p:nvSpPr>
          <p:cNvPr id="7" name="Rectangle 6"/>
          <p:cNvSpPr/>
          <p:nvPr/>
        </p:nvSpPr>
        <p:spPr>
          <a:xfrm>
            <a:off x="274320" y="1207008"/>
            <a:ext cx="5303520" cy="1143000"/>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4048" y="1298448"/>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9" name="TextBox 8"/>
          <p:cNvSpPr txBox="1"/>
          <p:nvPr/>
        </p:nvSpPr>
        <p:spPr>
          <a:xfrm>
            <a:off x="713232" y="1280160"/>
            <a:ext cx="4754880" cy="329184"/>
          </a:xfrm>
          <a:prstGeom prst="rect">
            <a:avLst/>
          </a:prstGeom>
          <a:noFill/>
        </p:spPr>
        <p:txBody>
          <a:bodyPr wrap="square">
            <a:spAutoFit/>
          </a:bodyPr>
          <a:lstStyle/>
          <a:p>
            <a:pPr algn="l"/>
            <a:r>
              <a:rPr sz="1400" b="1" i="0">
                <a:solidFill>
                  <a:srgbClr val="FFFFFF"/>
                </a:solidFill>
                <a:latin typeface="Calibri"/>
              </a:rPr>
              <a:t>No Structured World Model</a:t>
            </a:r>
          </a:p>
        </p:txBody>
      </p:sp>
      <p:sp>
        <p:nvSpPr>
          <p:cNvPr id="10" name="TextBox 9"/>
          <p:cNvSpPr txBox="1"/>
          <p:nvPr/>
        </p:nvSpPr>
        <p:spPr>
          <a:xfrm>
            <a:off x="713232" y="1609344"/>
            <a:ext cx="4754880" cy="658368"/>
          </a:xfrm>
          <a:prstGeom prst="rect">
            <a:avLst/>
          </a:prstGeom>
          <a:noFill/>
        </p:spPr>
        <p:txBody>
          <a:bodyPr wrap="square">
            <a:spAutoFit/>
          </a:bodyPr>
          <a:lstStyle/>
          <a:p>
            <a:pPr algn="l"/>
            <a:r>
              <a:rPr sz="1150" b="0" i="0">
                <a:solidFill>
                  <a:srgbClr val="A0AAB8"/>
                </a:solidFill>
                <a:latin typeface="Calibri"/>
              </a:rPr>
              <a:t>Systems reason from flat conversation history or task queues — no graph of what the target actually is.</a:t>
            </a:r>
          </a:p>
        </p:txBody>
      </p:sp>
      <p:sp>
        <p:nvSpPr>
          <p:cNvPr id="11" name="Rectangle 10"/>
          <p:cNvSpPr/>
          <p:nvPr/>
        </p:nvSpPr>
        <p:spPr>
          <a:xfrm>
            <a:off x="274320" y="2441448"/>
            <a:ext cx="5303520" cy="1143000"/>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048" y="2532888"/>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13" name="TextBox 12"/>
          <p:cNvSpPr txBox="1"/>
          <p:nvPr/>
        </p:nvSpPr>
        <p:spPr>
          <a:xfrm>
            <a:off x="713232" y="2514600"/>
            <a:ext cx="4754880" cy="329184"/>
          </a:xfrm>
          <a:prstGeom prst="rect">
            <a:avLst/>
          </a:prstGeom>
          <a:noFill/>
        </p:spPr>
        <p:txBody>
          <a:bodyPr wrap="square">
            <a:spAutoFit/>
          </a:bodyPr>
          <a:lstStyle/>
          <a:p>
            <a:pPr algn="l"/>
            <a:r>
              <a:rPr sz="1400" b="1" i="0">
                <a:solidFill>
                  <a:srgbClr val="FFFFFF"/>
                </a:solidFill>
                <a:latin typeface="Calibri"/>
              </a:rPr>
              <a:t>No Attack Path Reasoning</a:t>
            </a:r>
          </a:p>
        </p:txBody>
      </p:sp>
      <p:sp>
        <p:nvSpPr>
          <p:cNvPr id="14" name="TextBox 13"/>
          <p:cNvSpPr txBox="1"/>
          <p:nvPr/>
        </p:nvSpPr>
        <p:spPr>
          <a:xfrm>
            <a:off x="713232" y="2843784"/>
            <a:ext cx="4754880" cy="658368"/>
          </a:xfrm>
          <a:prstGeom prst="rect">
            <a:avLst/>
          </a:prstGeom>
          <a:noFill/>
        </p:spPr>
        <p:txBody>
          <a:bodyPr wrap="square">
            <a:spAutoFit/>
          </a:bodyPr>
          <a:lstStyle/>
          <a:p>
            <a:pPr algn="l"/>
            <a:r>
              <a:rPr sz="1150" b="0" i="0">
                <a:solidFill>
                  <a:srgbClr val="A0AAB8"/>
                </a:solidFill>
                <a:latin typeface="Calibri"/>
              </a:rPr>
              <a:t>Finished tasks are logged, not understood. Systems cannot represent which vulnerabilities chain together or why.</a:t>
            </a:r>
          </a:p>
        </p:txBody>
      </p:sp>
      <p:sp>
        <p:nvSpPr>
          <p:cNvPr id="15" name="Rectangle 14"/>
          <p:cNvSpPr/>
          <p:nvPr/>
        </p:nvSpPr>
        <p:spPr>
          <a:xfrm>
            <a:off x="274320" y="3675888"/>
            <a:ext cx="5303520" cy="1143000"/>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4048" y="3767328"/>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17" name="TextBox 16"/>
          <p:cNvSpPr txBox="1"/>
          <p:nvPr/>
        </p:nvSpPr>
        <p:spPr>
          <a:xfrm>
            <a:off x="713232" y="3749040"/>
            <a:ext cx="4754880" cy="329184"/>
          </a:xfrm>
          <a:prstGeom prst="rect">
            <a:avLst/>
          </a:prstGeom>
          <a:noFill/>
        </p:spPr>
        <p:txBody>
          <a:bodyPr wrap="square">
            <a:spAutoFit/>
          </a:bodyPr>
          <a:lstStyle/>
          <a:p>
            <a:pPr algn="l"/>
            <a:r>
              <a:rPr sz="1400" b="1" i="0">
                <a:solidFill>
                  <a:srgbClr val="FFFFFF"/>
                </a:solidFill>
                <a:latin typeface="Calibri"/>
              </a:rPr>
              <a:t>Fragile Re-Planning</a:t>
            </a:r>
          </a:p>
        </p:txBody>
      </p:sp>
      <p:sp>
        <p:nvSpPr>
          <p:cNvPr id="18" name="TextBox 17"/>
          <p:cNvSpPr txBox="1"/>
          <p:nvPr/>
        </p:nvSpPr>
        <p:spPr>
          <a:xfrm>
            <a:off x="713232" y="4078224"/>
            <a:ext cx="4754880" cy="658368"/>
          </a:xfrm>
          <a:prstGeom prst="rect">
            <a:avLst/>
          </a:prstGeom>
          <a:noFill/>
        </p:spPr>
        <p:txBody>
          <a:bodyPr wrap="square">
            <a:spAutoFit/>
          </a:bodyPr>
          <a:lstStyle/>
          <a:p>
            <a:pPr algn="l"/>
            <a:r>
              <a:rPr sz="1150" b="0" i="0">
                <a:solidFill>
                  <a:srgbClr val="A0AAB8"/>
                </a:solidFill>
                <a:latin typeface="Calibri"/>
              </a:rPr>
              <a:t>Dynamic re-planning is ad-hoc. There is no formal trigger grounded in discovered evidence.</a:t>
            </a:r>
          </a:p>
        </p:txBody>
      </p:sp>
      <p:sp>
        <p:nvSpPr>
          <p:cNvPr id="19" name="Rectangle 18"/>
          <p:cNvSpPr/>
          <p:nvPr/>
        </p:nvSpPr>
        <p:spPr>
          <a:xfrm>
            <a:off x="274320" y="4910328"/>
            <a:ext cx="5303520" cy="1143000"/>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4048" y="5001768"/>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21" name="TextBox 20"/>
          <p:cNvSpPr txBox="1"/>
          <p:nvPr/>
        </p:nvSpPr>
        <p:spPr>
          <a:xfrm>
            <a:off x="713232" y="4983480"/>
            <a:ext cx="4754880" cy="329184"/>
          </a:xfrm>
          <a:prstGeom prst="rect">
            <a:avLst/>
          </a:prstGeom>
          <a:noFill/>
        </p:spPr>
        <p:txBody>
          <a:bodyPr wrap="square">
            <a:spAutoFit/>
          </a:bodyPr>
          <a:lstStyle/>
          <a:p>
            <a:pPr algn="l"/>
            <a:r>
              <a:rPr sz="1400" b="1" i="0">
                <a:solidFill>
                  <a:srgbClr val="FFFFFF"/>
                </a:solidFill>
                <a:latin typeface="Calibri"/>
              </a:rPr>
              <a:t>Arbitrary Termination</a:t>
            </a:r>
          </a:p>
        </p:txBody>
      </p:sp>
      <p:sp>
        <p:nvSpPr>
          <p:cNvPr id="22" name="TextBox 21"/>
          <p:cNvSpPr txBox="1"/>
          <p:nvPr/>
        </p:nvSpPr>
        <p:spPr>
          <a:xfrm>
            <a:off x="713232" y="5312664"/>
            <a:ext cx="4754880" cy="658368"/>
          </a:xfrm>
          <a:prstGeom prst="rect">
            <a:avLst/>
          </a:prstGeom>
          <a:noFill/>
        </p:spPr>
        <p:txBody>
          <a:bodyPr wrap="square">
            <a:spAutoFit/>
          </a:bodyPr>
          <a:lstStyle/>
          <a:p>
            <a:pPr algn="l"/>
            <a:r>
              <a:rPr sz="1150" b="0" i="0">
                <a:solidFill>
                  <a:srgbClr val="A0AAB8"/>
                </a:solidFill>
                <a:latin typeface="Calibri"/>
              </a:rPr>
              <a:t>Missions end on time-limits or empty queues — not because the attack surface and all chains are truly exhausted.</a:t>
            </a:r>
          </a:p>
        </p:txBody>
      </p:sp>
      <p:sp>
        <p:nvSpPr>
          <p:cNvPr id="23" name="Rectangle 22"/>
          <p:cNvSpPr/>
          <p:nvPr/>
        </p:nvSpPr>
        <p:spPr>
          <a:xfrm>
            <a:off x="5943600" y="1207008"/>
            <a:ext cx="5943600" cy="2331720"/>
          </a:xfrm>
          <a:prstGeom prst="rect">
            <a:avLst/>
          </a:prstGeom>
          <a:solidFill>
            <a:srgbClr val="10162B"/>
          </a:solidFill>
          <a:ln w="190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80760" y="1252728"/>
            <a:ext cx="548640" cy="640080"/>
          </a:xfrm>
          <a:prstGeom prst="rect">
            <a:avLst/>
          </a:prstGeom>
          <a:noFill/>
        </p:spPr>
        <p:txBody>
          <a:bodyPr wrap="square">
            <a:spAutoFit/>
          </a:bodyPr>
          <a:lstStyle/>
          <a:p>
            <a:pPr algn="ctr"/>
            <a:r>
              <a:rPr sz="6000" b="1" i="0">
                <a:solidFill>
                  <a:srgbClr val="00E5FF"/>
                </a:solidFill>
                <a:latin typeface="Calibri"/>
              </a:rPr>
              <a:t>“</a:t>
            </a:r>
          </a:p>
        </p:txBody>
      </p:sp>
      <p:sp>
        <p:nvSpPr>
          <p:cNvPr id="25" name="TextBox 24"/>
          <p:cNvSpPr txBox="1"/>
          <p:nvPr/>
        </p:nvSpPr>
        <p:spPr>
          <a:xfrm>
            <a:off x="6126480" y="1709928"/>
            <a:ext cx="5577840" cy="1463040"/>
          </a:xfrm>
          <a:prstGeom prst="rect">
            <a:avLst/>
          </a:prstGeom>
          <a:noFill/>
        </p:spPr>
        <p:txBody>
          <a:bodyPr wrap="square">
            <a:spAutoFit/>
          </a:bodyPr>
          <a:lstStyle/>
          <a:p>
            <a:pPr algn="l"/>
            <a:r>
              <a:rPr sz="2000" b="0" i="1">
                <a:solidFill>
                  <a:srgbClr val="FFFFFF"/>
                </a:solidFill>
                <a:latin typeface="Calibri"/>
              </a:rPr>
              <a:t>They automate tool execution.
CMatrix automates the reasoning
of a professional penetration tester.</a:t>
            </a:r>
          </a:p>
        </p:txBody>
      </p:sp>
      <p:sp>
        <p:nvSpPr>
          <p:cNvPr id="26" name="TextBox 25"/>
          <p:cNvSpPr txBox="1"/>
          <p:nvPr/>
        </p:nvSpPr>
        <p:spPr>
          <a:xfrm>
            <a:off x="6126480" y="3218688"/>
            <a:ext cx="5577840" cy="320040"/>
          </a:xfrm>
          <a:prstGeom prst="rect">
            <a:avLst/>
          </a:prstGeom>
          <a:noFill/>
        </p:spPr>
        <p:txBody>
          <a:bodyPr wrap="square">
            <a:spAutoFit/>
          </a:bodyPr>
          <a:lstStyle/>
          <a:p>
            <a:pPr algn="l"/>
            <a:r>
              <a:rPr sz="1200" b="0" i="0">
                <a:solidFill>
                  <a:srgbClr val="A0AAB8"/>
                </a:solidFill>
                <a:latin typeface="Calibri"/>
              </a:rPr>
              <a:t>— CMatrix Design Philosophy</a:t>
            </a:r>
          </a:p>
        </p:txBody>
      </p:sp>
      <p:sp>
        <p:nvSpPr>
          <p:cNvPr id="27" name="Rectangle 26"/>
          <p:cNvSpPr/>
          <p:nvPr/>
        </p:nvSpPr>
        <p:spPr>
          <a:xfrm>
            <a:off x="5943600" y="3675887"/>
            <a:ext cx="5943600" cy="34747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0" y="3703320"/>
            <a:ext cx="5669280" cy="301752"/>
          </a:xfrm>
          <a:prstGeom prst="rect">
            <a:avLst/>
          </a:prstGeom>
          <a:noFill/>
        </p:spPr>
        <p:txBody>
          <a:bodyPr wrap="square">
            <a:spAutoFit/>
          </a:bodyPr>
          <a:lstStyle/>
          <a:p>
            <a:pPr algn="l"/>
            <a:r>
              <a:rPr sz="1300" b="1" i="0">
                <a:solidFill>
                  <a:srgbClr val="FFFFFF"/>
                </a:solidFill>
                <a:latin typeface="Calibri"/>
              </a:rPr>
              <a:t>⚠  ROOT CAUSE</a:t>
            </a:r>
          </a:p>
        </p:txBody>
      </p:sp>
      <p:sp>
        <p:nvSpPr>
          <p:cNvPr id="29" name="Rectangle 28"/>
          <p:cNvSpPr/>
          <p:nvPr/>
        </p:nvSpPr>
        <p:spPr>
          <a:xfrm>
            <a:off x="5943600" y="4041648"/>
            <a:ext cx="5943600" cy="1298448"/>
          </a:xfrm>
          <a:prstGeom prst="rect">
            <a:avLst/>
          </a:prstGeom>
          <a:solidFill>
            <a:srgbClr val="10162B"/>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0" y="4114800"/>
            <a:ext cx="5623560" cy="1152144"/>
          </a:xfrm>
          <a:prstGeom prst="rect">
            <a:avLst/>
          </a:prstGeom>
          <a:noFill/>
        </p:spPr>
        <p:txBody>
          <a:bodyPr wrap="square">
            <a:spAutoFit/>
          </a:bodyPr>
          <a:lstStyle/>
          <a:p>
            <a:pPr algn="l"/>
            <a:r>
              <a:rPr sz="1250" b="0" i="0">
                <a:solidFill>
                  <a:srgbClr val="A0AAB8"/>
                </a:solidFill>
                <a:latin typeface="Calibri"/>
              </a:rPr>
              <a:t>Existing systems have no structured model of the target environment and no structured model of what attack paths are possible.
They know what they did — not what the target is, or what can be done to it.</a:t>
            </a:r>
          </a:p>
        </p:txBody>
      </p:sp>
      <p:sp>
        <p:nvSpPr>
          <p:cNvPr id="31" name="Rectangle 30"/>
          <p:cNvSpPr/>
          <p:nvPr/>
        </p:nvSpPr>
        <p:spPr>
          <a:xfrm>
            <a:off x="274320" y="5559552"/>
            <a:ext cx="11643055" cy="777240"/>
          </a:xfrm>
          <a:prstGeom prst="rect">
            <a:avLst/>
          </a:prstGeom>
          <a:solidFill>
            <a:srgbClr val="051420"/>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5650992"/>
            <a:ext cx="11277295" cy="566928"/>
          </a:xfrm>
          <a:prstGeom prst="rect">
            <a:avLst/>
          </a:prstGeom>
          <a:noFill/>
        </p:spPr>
        <p:txBody>
          <a:bodyPr wrap="square">
            <a:spAutoFit/>
          </a:bodyPr>
          <a:lstStyle/>
          <a:p>
            <a:pPr algn="l"/>
            <a:r>
              <a:rPr sz="1400" b="1" i="0">
                <a:solidFill>
                  <a:srgbClr val="00E5FF"/>
                </a:solidFill>
                <a:latin typeface="Calibri"/>
              </a:rPr>
              <a:t>CMatrix Solution →  Dual-graph world model: ASG captures discovered reality  ·  APG captures inferred attack opportunity</a:t>
            </a:r>
          </a:p>
        </p:txBody>
      </p:sp>
      <p:sp>
        <p:nvSpPr>
          <p:cNvPr id="33" name="TextBox 32"/>
          <p:cNvSpPr txBox="1"/>
          <p:nvPr/>
        </p:nvSpPr>
        <p:spPr>
          <a:xfrm>
            <a:off x="11780215" y="6355080"/>
            <a:ext cx="384048" cy="411480"/>
          </a:xfrm>
          <a:prstGeom prst="rect">
            <a:avLst/>
          </a:prstGeom>
          <a:noFill/>
        </p:spPr>
        <p:txBody>
          <a:bodyPr wrap="square">
            <a:spAutoFit/>
          </a:bodyPr>
          <a:lstStyle/>
          <a:p>
            <a:pPr algn="r"/>
            <a:r>
              <a:rPr sz="1300" b="1" i="0">
                <a:solidFill>
                  <a:srgbClr val="FF4545"/>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D700"/>
                </a:solidFill>
                <a:latin typeface="Calibri"/>
              </a:rPr>
              <a:t>NOVEL CONTRIBUTION</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200" b="1" i="0">
                <a:solidFill>
                  <a:srgbClr val="FFFFFF"/>
                </a:solidFill>
                <a:latin typeface="Calibri"/>
              </a:rPr>
              <a:t>What Makes CMatrix a Research Contribution</a:t>
            </a:r>
          </a:p>
        </p:txBody>
      </p:sp>
      <p:sp>
        <p:nvSpPr>
          <p:cNvPr id="7" name="Rectangle 6"/>
          <p:cNvSpPr/>
          <p:nvPr/>
        </p:nvSpPr>
        <p:spPr>
          <a:xfrm>
            <a:off x="274320" y="1097280"/>
            <a:ext cx="11643055" cy="512064"/>
          </a:xfrm>
          <a:prstGeom prst="rect">
            <a:avLst/>
          </a:prstGeom>
          <a:solidFill>
            <a:srgbClr val="121002"/>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170432"/>
            <a:ext cx="11277295" cy="402336"/>
          </a:xfrm>
          <a:prstGeom prst="rect">
            <a:avLst/>
          </a:prstGeom>
          <a:noFill/>
        </p:spPr>
        <p:txBody>
          <a:bodyPr wrap="square">
            <a:spAutoFit/>
          </a:bodyPr>
          <a:lstStyle/>
          <a:p>
            <a:pPr algn="l"/>
            <a:r>
              <a:rPr sz="1300" b="0" i="1">
                <a:solidFill>
                  <a:srgbClr val="FFD700"/>
                </a:solidFill>
                <a:latin typeface="Calibri"/>
              </a:rPr>
              <a:t>CMatrix is the first autonomous VAPT system to maintain two strictly separated, continuously evolving graph structures — one for discovered reality, one for inferred attack opportunity.</a:t>
            </a:r>
          </a:p>
        </p:txBody>
      </p:sp>
      <p:sp>
        <p:nvSpPr>
          <p:cNvPr id="9" name="Rectangle 8"/>
          <p:cNvSpPr/>
          <p:nvPr/>
        </p:nvSpPr>
        <p:spPr>
          <a:xfrm>
            <a:off x="274320" y="1783080"/>
            <a:ext cx="3794760" cy="16002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1783080"/>
            <a:ext cx="502920" cy="38404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 y="1810512"/>
            <a:ext cx="475488" cy="329184"/>
          </a:xfrm>
          <a:prstGeom prst="rect">
            <a:avLst/>
          </a:prstGeom>
          <a:noFill/>
        </p:spPr>
        <p:txBody>
          <a:bodyPr wrap="square">
            <a:spAutoFit/>
          </a:bodyPr>
          <a:lstStyle/>
          <a:p>
            <a:pPr algn="ctr"/>
            <a:r>
              <a:rPr sz="1100" b="1" i="0">
                <a:solidFill>
                  <a:srgbClr val="0A0D1A"/>
                </a:solidFill>
                <a:latin typeface="Calibri"/>
              </a:rPr>
              <a:t>C1</a:t>
            </a:r>
          </a:p>
        </p:txBody>
      </p:sp>
      <p:sp>
        <p:nvSpPr>
          <p:cNvPr id="12" name="TextBox 11"/>
          <p:cNvSpPr txBox="1"/>
          <p:nvPr/>
        </p:nvSpPr>
        <p:spPr>
          <a:xfrm>
            <a:off x="841248" y="1847088"/>
            <a:ext cx="3154680" cy="347472"/>
          </a:xfrm>
          <a:prstGeom prst="rect">
            <a:avLst/>
          </a:prstGeom>
          <a:noFill/>
        </p:spPr>
        <p:txBody>
          <a:bodyPr wrap="square">
            <a:spAutoFit/>
          </a:bodyPr>
          <a:lstStyle/>
          <a:p>
            <a:pPr algn="l"/>
            <a:r>
              <a:rPr sz="1300" b="1" i="0">
                <a:solidFill>
                  <a:srgbClr val="FFFFFF"/>
                </a:solidFill>
                <a:latin typeface="Calibri"/>
              </a:rPr>
              <a:t>Dual-Graph World Model</a:t>
            </a:r>
          </a:p>
        </p:txBody>
      </p:sp>
      <p:sp>
        <p:nvSpPr>
          <p:cNvPr id="13" name="TextBox 12"/>
          <p:cNvSpPr txBox="1"/>
          <p:nvPr/>
        </p:nvSpPr>
        <p:spPr>
          <a:xfrm>
            <a:off x="384048" y="2258568"/>
            <a:ext cx="3611880" cy="1051560"/>
          </a:xfrm>
          <a:prstGeom prst="rect">
            <a:avLst/>
          </a:prstGeom>
          <a:noFill/>
        </p:spPr>
        <p:txBody>
          <a:bodyPr wrap="square">
            <a:spAutoFit/>
          </a:bodyPr>
          <a:lstStyle/>
          <a:p>
            <a:pPr algn="l"/>
            <a:r>
              <a:rPr sz="1100" b="0" i="0">
                <a:solidFill>
                  <a:srgbClr val="A0AAB8"/>
                </a:solidFill>
                <a:latin typeface="Calibri"/>
              </a:rPr>
              <a:t>ASG (discovered reality) + APG (inferred opportunity) — strictly separated with enforced write ownership. No prior system maintains these as distinct structures.</a:t>
            </a:r>
          </a:p>
        </p:txBody>
      </p:sp>
      <p:sp>
        <p:nvSpPr>
          <p:cNvPr id="14" name="Rectangle 13"/>
          <p:cNvSpPr/>
          <p:nvPr/>
        </p:nvSpPr>
        <p:spPr>
          <a:xfrm>
            <a:off x="4187952" y="1783080"/>
            <a:ext cx="3794760" cy="16002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87952" y="1783080"/>
            <a:ext cx="502920" cy="38404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6240" y="1810512"/>
            <a:ext cx="475488" cy="329184"/>
          </a:xfrm>
          <a:prstGeom prst="rect">
            <a:avLst/>
          </a:prstGeom>
          <a:noFill/>
        </p:spPr>
        <p:txBody>
          <a:bodyPr wrap="square">
            <a:spAutoFit/>
          </a:bodyPr>
          <a:lstStyle/>
          <a:p>
            <a:pPr algn="ctr"/>
            <a:r>
              <a:rPr sz="1100" b="1" i="0">
                <a:solidFill>
                  <a:srgbClr val="0A0D1A"/>
                </a:solidFill>
                <a:latin typeface="Calibri"/>
              </a:rPr>
              <a:t>C2</a:t>
            </a:r>
          </a:p>
        </p:txBody>
      </p:sp>
      <p:sp>
        <p:nvSpPr>
          <p:cNvPr id="17" name="TextBox 16"/>
          <p:cNvSpPr txBox="1"/>
          <p:nvPr/>
        </p:nvSpPr>
        <p:spPr>
          <a:xfrm>
            <a:off x="4754880" y="1847088"/>
            <a:ext cx="3154680" cy="347472"/>
          </a:xfrm>
          <a:prstGeom prst="rect">
            <a:avLst/>
          </a:prstGeom>
          <a:noFill/>
        </p:spPr>
        <p:txBody>
          <a:bodyPr wrap="square">
            <a:spAutoFit/>
          </a:bodyPr>
          <a:lstStyle/>
          <a:p>
            <a:pPr algn="l"/>
            <a:r>
              <a:rPr sz="1300" b="1" i="0">
                <a:solidFill>
                  <a:srgbClr val="FFFFFF"/>
                </a:solidFill>
                <a:latin typeface="Calibri"/>
              </a:rPr>
              <a:t>Graph-State-Driven Re-Planning</a:t>
            </a:r>
          </a:p>
        </p:txBody>
      </p:sp>
      <p:sp>
        <p:nvSpPr>
          <p:cNvPr id="18" name="TextBox 17"/>
          <p:cNvSpPr txBox="1"/>
          <p:nvPr/>
        </p:nvSpPr>
        <p:spPr>
          <a:xfrm>
            <a:off x="4297680" y="2258568"/>
            <a:ext cx="3611880" cy="1051560"/>
          </a:xfrm>
          <a:prstGeom prst="rect">
            <a:avLst/>
          </a:prstGeom>
          <a:noFill/>
        </p:spPr>
        <p:txBody>
          <a:bodyPr wrap="square">
            <a:spAutoFit/>
          </a:bodyPr>
          <a:lstStyle/>
          <a:p>
            <a:pPr algn="l"/>
            <a:r>
              <a:rPr sz="1100" b="0" i="0">
                <a:solidFill>
                  <a:srgbClr val="A0AAB8"/>
                </a:solidFill>
                <a:latin typeface="Calibri"/>
              </a:rPr>
              <a:t>Re-planning fires on explicit graph triggers (new vuln node seeds a chain, chain status changes) — not fixed task completion or arbitrary schedules.</a:t>
            </a:r>
          </a:p>
        </p:txBody>
      </p:sp>
      <p:sp>
        <p:nvSpPr>
          <p:cNvPr id="19" name="Rectangle 18"/>
          <p:cNvSpPr/>
          <p:nvPr/>
        </p:nvSpPr>
        <p:spPr>
          <a:xfrm>
            <a:off x="8101584" y="1783080"/>
            <a:ext cx="3794760" cy="16002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01584" y="1783080"/>
            <a:ext cx="502920" cy="38404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9872" y="1810512"/>
            <a:ext cx="475488" cy="329184"/>
          </a:xfrm>
          <a:prstGeom prst="rect">
            <a:avLst/>
          </a:prstGeom>
          <a:noFill/>
        </p:spPr>
        <p:txBody>
          <a:bodyPr wrap="square">
            <a:spAutoFit/>
          </a:bodyPr>
          <a:lstStyle/>
          <a:p>
            <a:pPr algn="ctr"/>
            <a:r>
              <a:rPr sz="1100" b="1" i="0">
                <a:solidFill>
                  <a:srgbClr val="0A0D1A"/>
                </a:solidFill>
                <a:latin typeface="Calibri"/>
              </a:rPr>
              <a:t>C3</a:t>
            </a:r>
          </a:p>
        </p:txBody>
      </p:sp>
      <p:sp>
        <p:nvSpPr>
          <p:cNvPr id="22" name="TextBox 21"/>
          <p:cNvSpPr txBox="1"/>
          <p:nvPr/>
        </p:nvSpPr>
        <p:spPr>
          <a:xfrm>
            <a:off x="8668512" y="1847088"/>
            <a:ext cx="3154680" cy="347472"/>
          </a:xfrm>
          <a:prstGeom prst="rect">
            <a:avLst/>
          </a:prstGeom>
          <a:noFill/>
        </p:spPr>
        <p:txBody>
          <a:bodyPr wrap="square">
            <a:spAutoFit/>
          </a:bodyPr>
          <a:lstStyle/>
          <a:p>
            <a:pPr algn="l"/>
            <a:r>
              <a:rPr sz="1300" b="1" i="0">
                <a:solidFill>
                  <a:srgbClr val="FFFFFF"/>
                </a:solidFill>
                <a:latin typeface="Calibri"/>
              </a:rPr>
              <a:t>APG Attack Chain Lifecycle</a:t>
            </a:r>
          </a:p>
        </p:txBody>
      </p:sp>
      <p:sp>
        <p:nvSpPr>
          <p:cNvPr id="23" name="TextBox 22"/>
          <p:cNvSpPr txBox="1"/>
          <p:nvPr/>
        </p:nvSpPr>
        <p:spPr>
          <a:xfrm>
            <a:off x="8211312" y="2258568"/>
            <a:ext cx="3611880" cy="1051560"/>
          </a:xfrm>
          <a:prstGeom prst="rect">
            <a:avLst/>
          </a:prstGeom>
          <a:noFill/>
        </p:spPr>
        <p:txBody>
          <a:bodyPr wrap="square">
            <a:spAutoFit/>
          </a:bodyPr>
          <a:lstStyle/>
          <a:p>
            <a:pPr algn="l"/>
            <a:r>
              <a:rPr sz="1100" b="0" i="0">
                <a:solidFill>
                  <a:srgbClr val="A0AAB8"/>
                </a:solidFill>
                <a:latin typeface="Calibri"/>
              </a:rPr>
              <a:t>Attack chains are first-class entities: risk-scored, prioritized, lifecycle-tracked (HYPOTHESIZED → VALIDATED / RULED_OUT) with evidence-linked ChainSteps.</a:t>
            </a:r>
          </a:p>
        </p:txBody>
      </p:sp>
      <p:sp>
        <p:nvSpPr>
          <p:cNvPr id="24" name="Rectangle 23"/>
          <p:cNvSpPr/>
          <p:nvPr/>
        </p:nvSpPr>
        <p:spPr>
          <a:xfrm>
            <a:off x="274320" y="3493008"/>
            <a:ext cx="3794760" cy="16002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74320" y="3493008"/>
            <a:ext cx="502920" cy="38404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2608" y="3520440"/>
            <a:ext cx="475488" cy="329184"/>
          </a:xfrm>
          <a:prstGeom prst="rect">
            <a:avLst/>
          </a:prstGeom>
          <a:noFill/>
        </p:spPr>
        <p:txBody>
          <a:bodyPr wrap="square">
            <a:spAutoFit/>
          </a:bodyPr>
          <a:lstStyle/>
          <a:p>
            <a:pPr algn="ctr"/>
            <a:r>
              <a:rPr sz="1100" b="1" i="0">
                <a:solidFill>
                  <a:srgbClr val="0A0D1A"/>
                </a:solidFill>
                <a:latin typeface="Calibri"/>
              </a:rPr>
              <a:t>C5</a:t>
            </a:r>
          </a:p>
        </p:txBody>
      </p:sp>
      <p:sp>
        <p:nvSpPr>
          <p:cNvPr id="27" name="TextBox 26"/>
          <p:cNvSpPr txBox="1"/>
          <p:nvPr/>
        </p:nvSpPr>
        <p:spPr>
          <a:xfrm>
            <a:off x="841248" y="3557016"/>
            <a:ext cx="3154680" cy="347472"/>
          </a:xfrm>
          <a:prstGeom prst="rect">
            <a:avLst/>
          </a:prstGeom>
          <a:noFill/>
        </p:spPr>
        <p:txBody>
          <a:bodyPr wrap="square">
            <a:spAutoFit/>
          </a:bodyPr>
          <a:lstStyle/>
          <a:p>
            <a:pPr algn="l"/>
            <a:r>
              <a:rPr sz="1300" b="1" i="0">
                <a:solidFill>
                  <a:srgbClr val="FFFFFF"/>
                </a:solidFill>
                <a:latin typeface="Calibri"/>
              </a:rPr>
              <a:t>Tool Risk Gate + Commander Mailbox</a:t>
            </a:r>
          </a:p>
        </p:txBody>
      </p:sp>
      <p:sp>
        <p:nvSpPr>
          <p:cNvPr id="28" name="TextBox 27"/>
          <p:cNvSpPr txBox="1"/>
          <p:nvPr/>
        </p:nvSpPr>
        <p:spPr>
          <a:xfrm>
            <a:off x="384048" y="3968496"/>
            <a:ext cx="3611880" cy="1051560"/>
          </a:xfrm>
          <a:prstGeom prst="rect">
            <a:avLst/>
          </a:prstGeom>
          <a:noFill/>
        </p:spPr>
        <p:txBody>
          <a:bodyPr wrap="square">
            <a:spAutoFit/>
          </a:bodyPr>
          <a:lstStyle/>
          <a:p>
            <a:pPr algn="l"/>
            <a:r>
              <a:rPr sz="1100" b="0" i="0">
                <a:solidFill>
                  <a:srgbClr val="A0AAB8"/>
                </a:solidFill>
                <a:latin typeface="Calibri"/>
              </a:rPr>
              <a:t>Every tool call is risk-classified before execution. High-risk ops route to Commander for approval — a zero-code insertion point for human-in-the-loop.</a:t>
            </a:r>
          </a:p>
        </p:txBody>
      </p:sp>
      <p:sp>
        <p:nvSpPr>
          <p:cNvPr id="29" name="Rectangle 28"/>
          <p:cNvSpPr/>
          <p:nvPr/>
        </p:nvSpPr>
        <p:spPr>
          <a:xfrm>
            <a:off x="4187952" y="3493008"/>
            <a:ext cx="3794760" cy="16002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87952" y="3493008"/>
            <a:ext cx="502920" cy="38404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3520440"/>
            <a:ext cx="475488" cy="329184"/>
          </a:xfrm>
          <a:prstGeom prst="rect">
            <a:avLst/>
          </a:prstGeom>
          <a:noFill/>
        </p:spPr>
        <p:txBody>
          <a:bodyPr wrap="square">
            <a:spAutoFit/>
          </a:bodyPr>
          <a:lstStyle/>
          <a:p>
            <a:pPr algn="ctr"/>
            <a:r>
              <a:rPr sz="1100" b="1" i="0">
                <a:solidFill>
                  <a:srgbClr val="0A0D1A"/>
                </a:solidFill>
                <a:latin typeface="Calibri"/>
              </a:rPr>
              <a:t>C10</a:t>
            </a:r>
          </a:p>
        </p:txBody>
      </p:sp>
      <p:sp>
        <p:nvSpPr>
          <p:cNvPr id="32" name="TextBox 31"/>
          <p:cNvSpPr txBox="1"/>
          <p:nvPr/>
        </p:nvSpPr>
        <p:spPr>
          <a:xfrm>
            <a:off x="4754880" y="3557016"/>
            <a:ext cx="3154680" cy="347472"/>
          </a:xfrm>
          <a:prstGeom prst="rect">
            <a:avLst/>
          </a:prstGeom>
          <a:noFill/>
        </p:spPr>
        <p:txBody>
          <a:bodyPr wrap="square">
            <a:spAutoFit/>
          </a:bodyPr>
          <a:lstStyle/>
          <a:p>
            <a:pPr algn="l"/>
            <a:r>
              <a:rPr sz="1300" b="1" i="0">
                <a:solidFill>
                  <a:srgbClr val="FFFFFF"/>
                </a:solidFill>
                <a:latin typeface="Calibri"/>
              </a:rPr>
              <a:t>Cross-Mission Experience Store</a:t>
            </a:r>
          </a:p>
        </p:txBody>
      </p:sp>
      <p:sp>
        <p:nvSpPr>
          <p:cNvPr id="33" name="TextBox 32"/>
          <p:cNvSpPr txBox="1"/>
          <p:nvPr/>
        </p:nvSpPr>
        <p:spPr>
          <a:xfrm>
            <a:off x="4297680" y="3968496"/>
            <a:ext cx="3611880" cy="1051560"/>
          </a:xfrm>
          <a:prstGeom prst="rect">
            <a:avLst/>
          </a:prstGeom>
          <a:noFill/>
        </p:spPr>
        <p:txBody>
          <a:bodyPr wrap="square">
            <a:spAutoFit/>
          </a:bodyPr>
          <a:lstStyle/>
          <a:p>
            <a:pPr algn="l"/>
            <a:r>
              <a:rPr sz="1100" b="0" i="0">
                <a:solidFill>
                  <a:srgbClr val="A0AAB8"/>
                </a:solidFill>
                <a:latin typeface="Calibri"/>
              </a:rPr>
              <a:t>Persistent RAG-backed store of validated exploitation outcomes across missions. Commander seeds APG hypotheses from prior analogous engagements at mission start.</a:t>
            </a:r>
          </a:p>
        </p:txBody>
      </p:sp>
      <p:sp>
        <p:nvSpPr>
          <p:cNvPr id="34" name="Rectangle 33"/>
          <p:cNvSpPr/>
          <p:nvPr/>
        </p:nvSpPr>
        <p:spPr>
          <a:xfrm>
            <a:off x="8101584" y="3493008"/>
            <a:ext cx="3794760" cy="16002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01584" y="3493008"/>
            <a:ext cx="502920" cy="38404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19872" y="3520440"/>
            <a:ext cx="475488" cy="329184"/>
          </a:xfrm>
          <a:prstGeom prst="rect">
            <a:avLst/>
          </a:prstGeom>
          <a:noFill/>
        </p:spPr>
        <p:txBody>
          <a:bodyPr wrap="square">
            <a:spAutoFit/>
          </a:bodyPr>
          <a:lstStyle/>
          <a:p>
            <a:pPr algn="ctr"/>
            <a:r>
              <a:rPr sz="1100" b="1" i="0">
                <a:solidFill>
                  <a:srgbClr val="0A0D1A"/>
                </a:solidFill>
                <a:latin typeface="Calibri"/>
              </a:rPr>
              <a:t>C11</a:t>
            </a:r>
          </a:p>
        </p:txBody>
      </p:sp>
      <p:sp>
        <p:nvSpPr>
          <p:cNvPr id="37" name="TextBox 36"/>
          <p:cNvSpPr txBox="1"/>
          <p:nvPr/>
        </p:nvSpPr>
        <p:spPr>
          <a:xfrm>
            <a:off x="8668512" y="3557016"/>
            <a:ext cx="3154680" cy="347472"/>
          </a:xfrm>
          <a:prstGeom prst="rect">
            <a:avLst/>
          </a:prstGeom>
          <a:noFill/>
        </p:spPr>
        <p:txBody>
          <a:bodyPr wrap="square">
            <a:spAutoFit/>
          </a:bodyPr>
          <a:lstStyle/>
          <a:p>
            <a:pPr algn="l"/>
            <a:r>
              <a:rPr sz="1300" b="1" i="0">
                <a:solidFill>
                  <a:srgbClr val="FFFFFF"/>
                </a:solidFill>
                <a:latin typeface="Calibri"/>
              </a:rPr>
              <a:t>Attack Strategy Library</a:t>
            </a:r>
          </a:p>
        </p:txBody>
      </p:sp>
      <p:sp>
        <p:nvSpPr>
          <p:cNvPr id="38" name="TextBox 37"/>
          <p:cNvSpPr txBox="1"/>
          <p:nvPr/>
        </p:nvSpPr>
        <p:spPr>
          <a:xfrm>
            <a:off x="8211312" y="3968496"/>
            <a:ext cx="3611880" cy="1051560"/>
          </a:xfrm>
          <a:prstGeom prst="rect">
            <a:avLst/>
          </a:prstGeom>
          <a:noFill/>
        </p:spPr>
        <p:txBody>
          <a:bodyPr wrap="square">
            <a:spAutoFit/>
          </a:bodyPr>
          <a:lstStyle/>
          <a:p>
            <a:pPr algn="l"/>
            <a:r>
              <a:rPr sz="1100" b="0" i="0">
                <a:solidFill>
                  <a:srgbClr val="A0AAB8"/>
                </a:solidFill>
                <a:latin typeface="Calibri"/>
              </a:rPr>
              <a:t>Crystallizes validated chains into named, parameterized strategies when the same target fingerprint succeeds across 2+ missions. No prior system accumulates strategies across sessions.</a:t>
            </a:r>
          </a:p>
        </p:txBody>
      </p:sp>
      <p:sp>
        <p:nvSpPr>
          <p:cNvPr id="39" name="Rectangle 38"/>
          <p:cNvSpPr/>
          <p:nvPr/>
        </p:nvSpPr>
        <p:spPr>
          <a:xfrm>
            <a:off x="274320" y="5212080"/>
            <a:ext cx="11643055" cy="457200"/>
          </a:xfrm>
          <a:prstGeom prst="rect">
            <a:avLst/>
          </a:prstGeom>
          <a:solidFill>
            <a:srgbClr val="0D1220"/>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2920" y="5276088"/>
            <a:ext cx="11368735" cy="347472"/>
          </a:xfrm>
          <a:prstGeom prst="rect">
            <a:avLst/>
          </a:prstGeom>
          <a:noFill/>
        </p:spPr>
        <p:txBody>
          <a:bodyPr wrap="none">
            <a:spAutoFit/>
          </a:bodyPr>
          <a:lstStyle/>
          <a:p>
            <a:pPr algn="l"/>
            <a:r>
              <a:rPr sz="1050" b="0" i="0">
                <a:solidFill>
                  <a:srgbClr val="A0AAB8"/>
                </a:solidFill>
                <a:latin typeface="Calibri"/>
              </a:rPr>
              <a:t>12 novel research contributions in total  ·  C4: ASG-aware parallel dispatch  ·  C6: Lossless context compaction  ·  C7: Methodology-as-config  ·  C8: Dual-graph termination  ·  C9: Live CVE grounding  ·  C12: Trajectory export dataset</a:t>
            </a:r>
          </a:p>
        </p:txBody>
      </p:sp>
      <p:sp>
        <p:nvSpPr>
          <p:cNvPr id="41" name="TextBox 40"/>
          <p:cNvSpPr txBox="1"/>
          <p:nvPr/>
        </p:nvSpPr>
        <p:spPr>
          <a:xfrm>
            <a:off x="11780215" y="6355080"/>
            <a:ext cx="384048" cy="411480"/>
          </a:xfrm>
          <a:prstGeom prst="rect">
            <a:avLst/>
          </a:prstGeom>
          <a:noFill/>
        </p:spPr>
        <p:txBody>
          <a:bodyPr wrap="square">
            <a:spAutoFit/>
          </a:bodyPr>
          <a:lstStyle/>
          <a:p>
            <a:pPr algn="r"/>
            <a:r>
              <a:rPr sz="1300" b="1" i="0">
                <a:solidFill>
                  <a:srgbClr val="FFD700"/>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5486400" cy="237744"/>
          </a:xfrm>
          <a:prstGeom prst="rect">
            <a:avLst/>
          </a:prstGeom>
          <a:noFill/>
        </p:spPr>
        <p:txBody>
          <a:bodyPr wrap="square">
            <a:spAutoFit/>
          </a:bodyPr>
          <a:lstStyle/>
          <a:p>
            <a:pPr algn="l"/>
            <a:r>
              <a:rPr sz="1000" b="1" i="0">
                <a:solidFill>
                  <a:srgbClr val="00E5FF"/>
                </a:solidFill>
                <a:latin typeface="Calibri"/>
              </a:rPr>
              <a:t>SYSTEM ARCHITECTURE</a:t>
            </a:r>
          </a:p>
        </p:txBody>
      </p:sp>
      <p:sp>
        <p:nvSpPr>
          <p:cNvPr id="6" name="TextBox 5"/>
          <p:cNvSpPr txBox="1"/>
          <p:nvPr/>
        </p:nvSpPr>
        <p:spPr>
          <a:xfrm>
            <a:off x="274320" y="301752"/>
            <a:ext cx="10058400" cy="457200"/>
          </a:xfrm>
          <a:prstGeom prst="rect">
            <a:avLst/>
          </a:prstGeom>
          <a:noFill/>
        </p:spPr>
        <p:txBody>
          <a:bodyPr wrap="square">
            <a:spAutoFit/>
          </a:bodyPr>
          <a:lstStyle/>
          <a:p>
            <a:pPr algn="l"/>
            <a:r>
              <a:rPr sz="2600" b="1" i="0">
                <a:solidFill>
                  <a:srgbClr val="FFFFFF"/>
                </a:solidFill>
                <a:latin typeface="Calibri"/>
              </a:rPr>
              <a:t>CMatrix — Three-Tier Architecture Overview</a:t>
            </a:r>
          </a:p>
        </p:txBody>
      </p:sp>
      <p:sp>
        <p:nvSpPr>
          <p:cNvPr id="7" name="Rectangle 6"/>
          <p:cNvSpPr/>
          <p:nvPr/>
        </p:nvSpPr>
        <p:spPr>
          <a:xfrm>
            <a:off x="164592" y="804672"/>
            <a:ext cx="11862511" cy="1280160"/>
          </a:xfrm>
          <a:prstGeom prst="rect">
            <a:avLst/>
          </a:prstGeom>
          <a:solidFill>
            <a:srgbClr val="061020"/>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 y="850392"/>
            <a:ext cx="1463040" cy="201168"/>
          </a:xfrm>
          <a:prstGeom prst="rect">
            <a:avLst/>
          </a:prstGeom>
          <a:noFill/>
        </p:spPr>
        <p:txBody>
          <a:bodyPr wrap="square">
            <a:spAutoFit/>
          </a:bodyPr>
          <a:lstStyle/>
          <a:p>
            <a:pPr algn="l"/>
            <a:r>
              <a:rPr sz="750" b="1" i="0">
                <a:solidFill>
                  <a:srgbClr val="00E5FF"/>
                </a:solidFill>
                <a:latin typeface="Calibri"/>
              </a:rPr>
              <a:t>① ORCHESTRATION</a:t>
            </a:r>
          </a:p>
        </p:txBody>
      </p:sp>
      <p:sp>
        <p:nvSpPr>
          <p:cNvPr id="9" name="Rectangle 8"/>
          <p:cNvSpPr/>
          <p:nvPr/>
        </p:nvSpPr>
        <p:spPr>
          <a:xfrm>
            <a:off x="320040" y="1060704"/>
            <a:ext cx="1554480" cy="877824"/>
          </a:xfrm>
          <a:prstGeom prst="rect">
            <a:avLst/>
          </a:prstGeom>
          <a:solidFill>
            <a:srgbClr val="0C182E"/>
          </a:solidFill>
          <a:ln w="1016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115568"/>
            <a:ext cx="1554480" cy="219456"/>
          </a:xfrm>
          <a:prstGeom prst="rect">
            <a:avLst/>
          </a:prstGeom>
          <a:noFill/>
        </p:spPr>
        <p:txBody>
          <a:bodyPr wrap="square">
            <a:spAutoFit/>
          </a:bodyPr>
          <a:lstStyle/>
          <a:p>
            <a:pPr algn="ctr"/>
            <a:r>
              <a:rPr sz="900" b="1" i="0">
                <a:solidFill>
                  <a:srgbClr val="A0AAB8"/>
                </a:solidFill>
                <a:latin typeface="Calibri"/>
              </a:rPr>
              <a:t>OPERATOR</a:t>
            </a:r>
          </a:p>
        </p:txBody>
      </p:sp>
      <p:sp>
        <p:nvSpPr>
          <p:cNvPr id="11" name="TextBox 10"/>
          <p:cNvSpPr txBox="1"/>
          <p:nvPr/>
        </p:nvSpPr>
        <p:spPr>
          <a:xfrm>
            <a:off x="320040" y="1371600"/>
            <a:ext cx="1554480" cy="502920"/>
          </a:xfrm>
          <a:prstGeom prst="rect">
            <a:avLst/>
          </a:prstGeom>
          <a:noFill/>
        </p:spPr>
        <p:txBody>
          <a:bodyPr wrap="square">
            <a:spAutoFit/>
          </a:bodyPr>
          <a:lstStyle/>
          <a:p>
            <a:pPr algn="ctr"/>
            <a:r>
              <a:rPr sz="800" b="0" i="1">
                <a:solidFill>
                  <a:srgbClr val="A0AAB8"/>
                </a:solidFill>
                <a:latin typeface="Calibri"/>
              </a:rPr>
              <a:t>Target · Scope · Mode</a:t>
            </a:r>
          </a:p>
        </p:txBody>
      </p:sp>
      <p:cxnSp>
        <p:nvCxnSpPr>
          <p:cNvPr id="12" name="Connector 11"/>
          <p:cNvCxnSpPr/>
          <p:nvPr/>
        </p:nvCxnSpPr>
        <p:spPr>
          <a:xfrm>
            <a:off x="1874520" y="1499616.0"/>
            <a:ext cx="210311" cy="0.0"/>
          </a:xfrm>
          <a:prstGeom prst="line">
            <a:avLst/>
          </a:prstGeom>
          <a:ln w="1905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901952" y="1225296"/>
            <a:ext cx="822960" cy="237744"/>
          </a:xfrm>
          <a:prstGeom prst="rect">
            <a:avLst/>
          </a:prstGeom>
          <a:noFill/>
        </p:spPr>
        <p:txBody>
          <a:bodyPr wrap="square">
            <a:spAutoFit/>
          </a:bodyPr>
          <a:lstStyle/>
          <a:p>
            <a:pPr algn="ctr"/>
            <a:r>
              <a:rPr sz="700" b="0" i="1">
                <a:solidFill>
                  <a:srgbClr val="303848"/>
                </a:solidFill>
                <a:latin typeface="Calibri"/>
              </a:rPr>
              <a:t>mission config</a:t>
            </a:r>
          </a:p>
        </p:txBody>
      </p:sp>
      <p:sp>
        <p:nvSpPr>
          <p:cNvPr id="14" name="Rectangle 13"/>
          <p:cNvSpPr/>
          <p:nvPr/>
        </p:nvSpPr>
        <p:spPr>
          <a:xfrm>
            <a:off x="2084831" y="941832"/>
            <a:ext cx="2834640" cy="1005840"/>
          </a:xfrm>
          <a:prstGeom prst="rect">
            <a:avLst/>
          </a:prstGeom>
          <a:solidFill>
            <a:srgbClr val="04162E"/>
          </a:solidFill>
          <a:ln w="254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084831" y="941832"/>
            <a:ext cx="2834640" cy="27432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84831" y="969264"/>
            <a:ext cx="2834640" cy="219456"/>
          </a:xfrm>
          <a:prstGeom prst="rect">
            <a:avLst/>
          </a:prstGeom>
          <a:noFill/>
        </p:spPr>
        <p:txBody>
          <a:bodyPr wrap="square">
            <a:spAutoFit/>
          </a:bodyPr>
          <a:lstStyle/>
          <a:p>
            <a:pPr algn="ctr"/>
            <a:r>
              <a:rPr sz="950" b="1" i="0">
                <a:solidFill>
                  <a:srgbClr val="0A0D1A"/>
                </a:solidFill>
                <a:latin typeface="Calibri"/>
              </a:rPr>
              <a:t>COMMANDER AGENT</a:t>
            </a:r>
          </a:p>
        </p:txBody>
      </p:sp>
      <p:sp>
        <p:nvSpPr>
          <p:cNvPr id="17" name="TextBox 16"/>
          <p:cNvSpPr txBox="1"/>
          <p:nvPr/>
        </p:nvSpPr>
        <p:spPr>
          <a:xfrm>
            <a:off x="2176271" y="1261872"/>
            <a:ext cx="2697480" cy="164592"/>
          </a:xfrm>
          <a:prstGeom prst="rect">
            <a:avLst/>
          </a:prstGeom>
          <a:noFill/>
        </p:spPr>
        <p:txBody>
          <a:bodyPr wrap="square">
            <a:spAutoFit/>
          </a:bodyPr>
          <a:lstStyle/>
          <a:p>
            <a:pPr algn="l"/>
            <a:r>
              <a:rPr sz="800" b="0" i="0">
                <a:solidFill>
                  <a:srgbClr val="A0AAB8"/>
                </a:solidFill>
                <a:latin typeface="Calibri"/>
              </a:rPr>
              <a:t>• Reads ASG + APG state</a:t>
            </a:r>
          </a:p>
        </p:txBody>
      </p:sp>
      <p:sp>
        <p:nvSpPr>
          <p:cNvPr id="18" name="TextBox 17"/>
          <p:cNvSpPr txBox="1"/>
          <p:nvPr/>
        </p:nvSpPr>
        <p:spPr>
          <a:xfrm>
            <a:off x="2176271" y="1426464"/>
            <a:ext cx="2697480" cy="164592"/>
          </a:xfrm>
          <a:prstGeom prst="rect">
            <a:avLst/>
          </a:prstGeom>
          <a:noFill/>
        </p:spPr>
        <p:txBody>
          <a:bodyPr wrap="square">
            <a:spAutoFit/>
          </a:bodyPr>
          <a:lstStyle/>
          <a:p>
            <a:pPr algn="l"/>
            <a:r>
              <a:rPr sz="800" b="0" i="0">
                <a:solidFill>
                  <a:srgbClr val="A0AAB8"/>
                </a:solidFill>
                <a:latin typeface="Calibri"/>
              </a:rPr>
              <a:t>• Plans &amp; delegates tasks</a:t>
            </a:r>
          </a:p>
        </p:txBody>
      </p:sp>
      <p:sp>
        <p:nvSpPr>
          <p:cNvPr id="19" name="TextBox 18"/>
          <p:cNvSpPr txBox="1"/>
          <p:nvPr/>
        </p:nvSpPr>
        <p:spPr>
          <a:xfrm>
            <a:off x="2176271" y="1591056"/>
            <a:ext cx="2697480" cy="164592"/>
          </a:xfrm>
          <a:prstGeom prst="rect">
            <a:avLst/>
          </a:prstGeom>
          <a:noFill/>
        </p:spPr>
        <p:txBody>
          <a:bodyPr wrap="square">
            <a:spAutoFit/>
          </a:bodyPr>
          <a:lstStyle/>
          <a:p>
            <a:pPr algn="l"/>
            <a:r>
              <a:rPr sz="800" b="0" i="0">
                <a:solidFill>
                  <a:srgbClr val="A0AAB8"/>
                </a:solidFill>
                <a:latin typeface="Calibri"/>
              </a:rPr>
              <a:t>• Approves High-risk ops</a:t>
            </a:r>
          </a:p>
        </p:txBody>
      </p:sp>
      <p:sp>
        <p:nvSpPr>
          <p:cNvPr id="20" name="TextBox 19"/>
          <p:cNvSpPr txBox="1"/>
          <p:nvPr/>
        </p:nvSpPr>
        <p:spPr>
          <a:xfrm>
            <a:off x="2176271" y="1755648"/>
            <a:ext cx="2697480" cy="164592"/>
          </a:xfrm>
          <a:prstGeom prst="rect">
            <a:avLst/>
          </a:prstGeom>
          <a:noFill/>
        </p:spPr>
        <p:txBody>
          <a:bodyPr wrap="square">
            <a:spAutoFit/>
          </a:bodyPr>
          <a:lstStyle/>
          <a:p>
            <a:pPr algn="l"/>
            <a:r>
              <a:rPr sz="800" b="0" i="0">
                <a:solidFill>
                  <a:srgbClr val="A0AAB8"/>
                </a:solidFill>
                <a:latin typeface="Calibri"/>
              </a:rPr>
              <a:t>• Writes to APG only</a:t>
            </a:r>
          </a:p>
        </p:txBody>
      </p:sp>
      <p:sp>
        <p:nvSpPr>
          <p:cNvPr id="21" name="Rectangle 20"/>
          <p:cNvSpPr/>
          <p:nvPr/>
        </p:nvSpPr>
        <p:spPr>
          <a:xfrm>
            <a:off x="5120640" y="1060704"/>
            <a:ext cx="2103120" cy="877824"/>
          </a:xfrm>
          <a:prstGeom prst="rect">
            <a:avLst/>
          </a:prstGeom>
          <a:solidFill>
            <a:srgbClr val="100C22"/>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20640" y="1115568"/>
            <a:ext cx="2103120" cy="201168"/>
          </a:xfrm>
          <a:prstGeom prst="rect">
            <a:avLst/>
          </a:prstGeom>
          <a:noFill/>
        </p:spPr>
        <p:txBody>
          <a:bodyPr wrap="square">
            <a:spAutoFit/>
          </a:bodyPr>
          <a:lstStyle/>
          <a:p>
            <a:pPr algn="ctr"/>
            <a:r>
              <a:rPr sz="800" b="1" i="0">
                <a:solidFill>
                  <a:srgbClr val="BD93F9"/>
                </a:solidFill>
                <a:latin typeface="Calibri"/>
              </a:rPr>
              <a:t>VAPT PROTOCOL PROMPT</a:t>
            </a:r>
          </a:p>
        </p:txBody>
      </p:sp>
      <p:sp>
        <p:nvSpPr>
          <p:cNvPr id="23" name="TextBox 22"/>
          <p:cNvSpPr txBox="1"/>
          <p:nvPr/>
        </p:nvSpPr>
        <p:spPr>
          <a:xfrm>
            <a:off x="5212080" y="1353312"/>
            <a:ext cx="1965960" cy="530352"/>
          </a:xfrm>
          <a:prstGeom prst="rect">
            <a:avLst/>
          </a:prstGeom>
          <a:noFill/>
        </p:spPr>
        <p:txBody>
          <a:bodyPr wrap="square">
            <a:spAutoFit/>
          </a:bodyPr>
          <a:lstStyle/>
          <a:p>
            <a:pPr algn="l"/>
            <a:r>
              <a:rPr sz="800" b="0" i="0">
                <a:solidFill>
                  <a:srgbClr val="A0AAB8"/>
                </a:solidFill>
                <a:latin typeface="Calibri"/>
              </a:rPr>
              <a:t>Phase rules · Re-plan triggers
Termination conditions
Methodology-as-config</a:t>
            </a:r>
          </a:p>
        </p:txBody>
      </p:sp>
      <p:cxnSp>
        <p:nvCxnSpPr>
          <p:cNvPr id="24" name="Connector 23"/>
          <p:cNvCxnSpPr/>
          <p:nvPr/>
        </p:nvCxnSpPr>
        <p:spPr>
          <a:xfrm>
            <a:off x="4919471" y="1444752.0"/>
            <a:ext cx="201169" cy="54864.0"/>
          </a:xfrm>
          <a:prstGeom prst="line">
            <a:avLst/>
          </a:prstGeom>
          <a:ln w="12700">
            <a:solidFill>
              <a:srgbClr val="BD93F9"/>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164592" y="2139696"/>
            <a:ext cx="11862511" cy="1682496"/>
          </a:xfrm>
          <a:prstGeom prst="rect">
            <a:avLst/>
          </a:prstGeom>
          <a:solidFill>
            <a:srgbClr val="05140A"/>
          </a:solidFill>
          <a:ln w="762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01168" y="2185416"/>
            <a:ext cx="2377440" cy="201168"/>
          </a:xfrm>
          <a:prstGeom prst="rect">
            <a:avLst/>
          </a:prstGeom>
          <a:noFill/>
        </p:spPr>
        <p:txBody>
          <a:bodyPr wrap="square">
            <a:spAutoFit/>
          </a:bodyPr>
          <a:lstStyle/>
          <a:p>
            <a:pPr algn="l"/>
            <a:r>
              <a:rPr sz="750" b="1" i="0">
                <a:solidFill>
                  <a:srgbClr val="39FF14"/>
                </a:solidFill>
                <a:latin typeface="Calibri"/>
              </a:rPr>
              <a:t>② DUAL-GRAPH WORLD MODEL</a:t>
            </a:r>
          </a:p>
        </p:txBody>
      </p:sp>
      <p:sp>
        <p:nvSpPr>
          <p:cNvPr id="27" name="Rectangle 26"/>
          <p:cNvSpPr/>
          <p:nvPr/>
        </p:nvSpPr>
        <p:spPr>
          <a:xfrm>
            <a:off x="320040" y="2414016"/>
            <a:ext cx="4297680" cy="1298448"/>
          </a:xfrm>
          <a:prstGeom prst="rect">
            <a:avLst/>
          </a:prstGeom>
          <a:solidFill>
            <a:srgbClr val="04180C"/>
          </a:solidFill>
          <a:ln w="228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0040" y="2414016"/>
            <a:ext cx="4297680" cy="27432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2450592"/>
            <a:ext cx="4297680" cy="219456"/>
          </a:xfrm>
          <a:prstGeom prst="rect">
            <a:avLst/>
          </a:prstGeom>
          <a:noFill/>
        </p:spPr>
        <p:txBody>
          <a:bodyPr wrap="square">
            <a:spAutoFit/>
          </a:bodyPr>
          <a:lstStyle/>
          <a:p>
            <a:pPr algn="ctr"/>
            <a:r>
              <a:rPr sz="950" b="1" i="0">
                <a:solidFill>
                  <a:srgbClr val="0A0D1A"/>
                </a:solidFill>
                <a:latin typeface="Calibri"/>
              </a:rPr>
              <a:t>ATTACK SURFACE GRAPH  (ASG)</a:t>
            </a:r>
          </a:p>
        </p:txBody>
      </p:sp>
      <p:sp>
        <p:nvSpPr>
          <p:cNvPr id="30" name="Rectangle 29"/>
          <p:cNvSpPr/>
          <p:nvPr/>
        </p:nvSpPr>
        <p:spPr>
          <a:xfrm>
            <a:off x="457200"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761488"/>
            <a:ext cx="749808" cy="201168"/>
          </a:xfrm>
          <a:prstGeom prst="rect">
            <a:avLst/>
          </a:prstGeom>
          <a:noFill/>
        </p:spPr>
        <p:txBody>
          <a:bodyPr wrap="square">
            <a:spAutoFit/>
          </a:bodyPr>
          <a:lstStyle/>
          <a:p>
            <a:pPr algn="ctr"/>
            <a:r>
              <a:rPr sz="750" b="1" i="0">
                <a:solidFill>
                  <a:srgbClr val="39FF14"/>
                </a:solidFill>
                <a:latin typeface="Calibri"/>
              </a:rPr>
              <a:t>Domain</a:t>
            </a:r>
          </a:p>
        </p:txBody>
      </p:sp>
      <p:sp>
        <p:nvSpPr>
          <p:cNvPr id="32" name="Rectangle 31"/>
          <p:cNvSpPr/>
          <p:nvPr/>
        </p:nvSpPr>
        <p:spPr>
          <a:xfrm>
            <a:off x="1261872"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61872" y="2761488"/>
            <a:ext cx="749808" cy="201168"/>
          </a:xfrm>
          <a:prstGeom prst="rect">
            <a:avLst/>
          </a:prstGeom>
          <a:noFill/>
        </p:spPr>
        <p:txBody>
          <a:bodyPr wrap="square">
            <a:spAutoFit/>
          </a:bodyPr>
          <a:lstStyle/>
          <a:p>
            <a:pPr algn="ctr"/>
            <a:r>
              <a:rPr sz="750" b="1" i="0">
                <a:solidFill>
                  <a:srgbClr val="39FF14"/>
                </a:solidFill>
                <a:latin typeface="Calibri"/>
              </a:rPr>
              <a:t>Host</a:t>
            </a:r>
          </a:p>
        </p:txBody>
      </p:sp>
      <p:sp>
        <p:nvSpPr>
          <p:cNvPr id="34" name="Rectangle 33"/>
          <p:cNvSpPr/>
          <p:nvPr/>
        </p:nvSpPr>
        <p:spPr>
          <a:xfrm>
            <a:off x="2066544"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66544" y="2761488"/>
            <a:ext cx="749808" cy="201168"/>
          </a:xfrm>
          <a:prstGeom prst="rect">
            <a:avLst/>
          </a:prstGeom>
          <a:noFill/>
        </p:spPr>
        <p:txBody>
          <a:bodyPr wrap="square">
            <a:spAutoFit/>
          </a:bodyPr>
          <a:lstStyle/>
          <a:p>
            <a:pPr algn="ctr"/>
            <a:r>
              <a:rPr sz="750" b="1" i="0">
                <a:solidFill>
                  <a:srgbClr val="39FF14"/>
                </a:solidFill>
                <a:latin typeface="Calibri"/>
              </a:rPr>
              <a:t>Port</a:t>
            </a:r>
          </a:p>
        </p:txBody>
      </p:sp>
      <p:sp>
        <p:nvSpPr>
          <p:cNvPr id="36" name="Rectangle 35"/>
          <p:cNvSpPr/>
          <p:nvPr/>
        </p:nvSpPr>
        <p:spPr>
          <a:xfrm>
            <a:off x="2871216"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71216" y="2761488"/>
            <a:ext cx="749808" cy="201168"/>
          </a:xfrm>
          <a:prstGeom prst="rect">
            <a:avLst/>
          </a:prstGeom>
          <a:noFill/>
        </p:spPr>
        <p:txBody>
          <a:bodyPr wrap="square">
            <a:spAutoFit/>
          </a:bodyPr>
          <a:lstStyle/>
          <a:p>
            <a:pPr algn="ctr"/>
            <a:r>
              <a:rPr sz="750" b="1" i="0">
                <a:solidFill>
                  <a:srgbClr val="39FF14"/>
                </a:solidFill>
                <a:latin typeface="Calibri"/>
              </a:rPr>
              <a:t>Service</a:t>
            </a:r>
          </a:p>
        </p:txBody>
      </p:sp>
      <p:sp>
        <p:nvSpPr>
          <p:cNvPr id="38" name="Rectangle 37"/>
          <p:cNvSpPr/>
          <p:nvPr/>
        </p:nvSpPr>
        <p:spPr>
          <a:xfrm>
            <a:off x="3675888"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75888" y="2761488"/>
            <a:ext cx="749808" cy="201168"/>
          </a:xfrm>
          <a:prstGeom prst="rect">
            <a:avLst/>
          </a:prstGeom>
          <a:noFill/>
        </p:spPr>
        <p:txBody>
          <a:bodyPr wrap="square">
            <a:spAutoFit/>
          </a:bodyPr>
          <a:lstStyle/>
          <a:p>
            <a:pPr algn="ctr"/>
            <a:r>
              <a:rPr sz="750" b="1" i="0">
                <a:solidFill>
                  <a:srgbClr val="39FF14"/>
                </a:solidFill>
                <a:latin typeface="Calibri"/>
              </a:rPr>
              <a:t>Technology</a:t>
            </a:r>
          </a:p>
        </p:txBody>
      </p:sp>
      <p:sp>
        <p:nvSpPr>
          <p:cNvPr id="40" name="Rectangle 39"/>
          <p:cNvSpPr/>
          <p:nvPr/>
        </p:nvSpPr>
        <p:spPr>
          <a:xfrm>
            <a:off x="457200" y="3017520"/>
            <a:ext cx="950976"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57200" y="3035808"/>
            <a:ext cx="950976" cy="201168"/>
          </a:xfrm>
          <a:prstGeom prst="rect">
            <a:avLst/>
          </a:prstGeom>
          <a:noFill/>
        </p:spPr>
        <p:txBody>
          <a:bodyPr wrap="square">
            <a:spAutoFit/>
          </a:bodyPr>
          <a:lstStyle/>
          <a:p>
            <a:pPr algn="ctr"/>
            <a:r>
              <a:rPr sz="750" b="1" i="0">
                <a:solidFill>
                  <a:srgbClr val="39FF14"/>
                </a:solidFill>
                <a:latin typeface="Calibri"/>
              </a:rPr>
              <a:t>Endpoint</a:t>
            </a:r>
          </a:p>
        </p:txBody>
      </p:sp>
      <p:sp>
        <p:nvSpPr>
          <p:cNvPr id="42" name="Rectangle 41"/>
          <p:cNvSpPr/>
          <p:nvPr/>
        </p:nvSpPr>
        <p:spPr>
          <a:xfrm>
            <a:off x="1463040" y="3017520"/>
            <a:ext cx="950976"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63040" y="3035808"/>
            <a:ext cx="950976" cy="201168"/>
          </a:xfrm>
          <a:prstGeom prst="rect">
            <a:avLst/>
          </a:prstGeom>
          <a:noFill/>
        </p:spPr>
        <p:txBody>
          <a:bodyPr wrap="square">
            <a:spAutoFit/>
          </a:bodyPr>
          <a:lstStyle/>
          <a:p>
            <a:pPr algn="ctr"/>
            <a:r>
              <a:rPr sz="750" b="1" i="0">
                <a:solidFill>
                  <a:srgbClr val="39FF14"/>
                </a:solidFill>
                <a:latin typeface="Calibri"/>
              </a:rPr>
              <a:t>Parameter</a:t>
            </a:r>
          </a:p>
        </p:txBody>
      </p:sp>
      <p:sp>
        <p:nvSpPr>
          <p:cNvPr id="44" name="Rectangle 43"/>
          <p:cNvSpPr/>
          <p:nvPr/>
        </p:nvSpPr>
        <p:spPr>
          <a:xfrm>
            <a:off x="2468880" y="3017520"/>
            <a:ext cx="950976"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468880" y="3035808"/>
            <a:ext cx="950976" cy="201168"/>
          </a:xfrm>
          <a:prstGeom prst="rect">
            <a:avLst/>
          </a:prstGeom>
          <a:noFill/>
        </p:spPr>
        <p:txBody>
          <a:bodyPr wrap="square">
            <a:spAutoFit/>
          </a:bodyPr>
          <a:lstStyle/>
          <a:p>
            <a:pPr algn="ctr"/>
            <a:r>
              <a:rPr sz="750" b="1" i="0">
                <a:solidFill>
                  <a:srgbClr val="39FF14"/>
                </a:solidFill>
                <a:latin typeface="Calibri"/>
              </a:rPr>
              <a:t>Vulnerability</a:t>
            </a:r>
          </a:p>
        </p:txBody>
      </p:sp>
      <p:sp>
        <p:nvSpPr>
          <p:cNvPr id="46" name="Rectangle 45"/>
          <p:cNvSpPr/>
          <p:nvPr/>
        </p:nvSpPr>
        <p:spPr>
          <a:xfrm>
            <a:off x="3474720" y="3017520"/>
            <a:ext cx="950976"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474720" y="3035808"/>
            <a:ext cx="950976" cy="201168"/>
          </a:xfrm>
          <a:prstGeom prst="rect">
            <a:avLst/>
          </a:prstGeom>
          <a:noFill/>
        </p:spPr>
        <p:txBody>
          <a:bodyPr wrap="square">
            <a:spAutoFit/>
          </a:bodyPr>
          <a:lstStyle/>
          <a:p>
            <a:pPr algn="ctr"/>
            <a:r>
              <a:rPr sz="750" b="1" i="0">
                <a:solidFill>
                  <a:srgbClr val="39FF14"/>
                </a:solidFill>
                <a:latin typeface="Calibri"/>
              </a:rPr>
              <a:t>Evidence</a:t>
            </a:r>
          </a:p>
        </p:txBody>
      </p:sp>
      <p:sp>
        <p:nvSpPr>
          <p:cNvPr id="48" name="TextBox 47"/>
          <p:cNvSpPr txBox="1"/>
          <p:nvPr/>
        </p:nvSpPr>
        <p:spPr>
          <a:xfrm>
            <a:off x="429768" y="3300984"/>
            <a:ext cx="4114800" cy="347472"/>
          </a:xfrm>
          <a:prstGeom prst="rect">
            <a:avLst/>
          </a:prstGeom>
          <a:noFill/>
        </p:spPr>
        <p:txBody>
          <a:bodyPr wrap="square">
            <a:spAutoFit/>
          </a:bodyPr>
          <a:lstStyle/>
          <a:p>
            <a:pPr algn="l"/>
            <a:r>
              <a:rPr sz="800" b="0" i="1">
                <a:solidFill>
                  <a:srgbClr val="60C070"/>
                </a:solidFill>
                <a:latin typeface="Calibri"/>
              </a:rPr>
              <a:t>Discovered Reality — confirmed facts only. Never contains hypotheses.</a:t>
            </a:r>
          </a:p>
        </p:txBody>
      </p:sp>
      <p:sp>
        <p:nvSpPr>
          <p:cNvPr id="49" name="Rectangle 48"/>
          <p:cNvSpPr/>
          <p:nvPr/>
        </p:nvSpPr>
        <p:spPr>
          <a:xfrm>
            <a:off x="7589520" y="2414016"/>
            <a:ext cx="4389120" cy="1298448"/>
          </a:xfrm>
          <a:prstGeom prst="rect">
            <a:avLst/>
          </a:prstGeom>
          <a:solidFill>
            <a:srgbClr val="1E1004"/>
          </a:solidFill>
          <a:ln w="228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589520" y="2414016"/>
            <a:ext cx="4389120"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589520" y="2450592"/>
            <a:ext cx="4389120" cy="219456"/>
          </a:xfrm>
          <a:prstGeom prst="rect">
            <a:avLst/>
          </a:prstGeom>
          <a:noFill/>
        </p:spPr>
        <p:txBody>
          <a:bodyPr wrap="square">
            <a:spAutoFit/>
          </a:bodyPr>
          <a:lstStyle/>
          <a:p>
            <a:pPr algn="ctr"/>
            <a:r>
              <a:rPr sz="950" b="1" i="0">
                <a:solidFill>
                  <a:srgbClr val="0A0D1A"/>
                </a:solidFill>
                <a:latin typeface="Calibri"/>
              </a:rPr>
              <a:t>ATTACK PATH GRAPH  (APG)</a:t>
            </a:r>
          </a:p>
        </p:txBody>
      </p:sp>
      <p:sp>
        <p:nvSpPr>
          <p:cNvPr id="52" name="Rectangle 51"/>
          <p:cNvSpPr/>
          <p:nvPr/>
        </p:nvSpPr>
        <p:spPr>
          <a:xfrm>
            <a:off x="7726680" y="2743200"/>
            <a:ext cx="1280160" cy="228600"/>
          </a:xfrm>
          <a:prstGeom prst="rect">
            <a:avLst/>
          </a:prstGeom>
          <a:solidFill>
            <a:srgbClr val="2E1804"/>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26680" y="2761488"/>
            <a:ext cx="1280160" cy="201168"/>
          </a:xfrm>
          <a:prstGeom prst="rect">
            <a:avLst/>
          </a:prstGeom>
          <a:noFill/>
        </p:spPr>
        <p:txBody>
          <a:bodyPr wrap="square">
            <a:spAutoFit/>
          </a:bodyPr>
          <a:lstStyle/>
          <a:p>
            <a:pPr algn="ctr"/>
            <a:r>
              <a:rPr sz="750" b="1" i="0">
                <a:solidFill>
                  <a:srgbClr val="FFD700"/>
                </a:solidFill>
                <a:latin typeface="Calibri"/>
              </a:rPr>
              <a:t>AttackChain</a:t>
            </a:r>
          </a:p>
        </p:txBody>
      </p:sp>
      <p:sp>
        <p:nvSpPr>
          <p:cNvPr id="54" name="Rectangle 53"/>
          <p:cNvSpPr/>
          <p:nvPr/>
        </p:nvSpPr>
        <p:spPr>
          <a:xfrm>
            <a:off x="9098280" y="2743200"/>
            <a:ext cx="1280160" cy="228600"/>
          </a:xfrm>
          <a:prstGeom prst="rect">
            <a:avLst/>
          </a:prstGeom>
          <a:solidFill>
            <a:srgbClr val="2E1804"/>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098280" y="2761488"/>
            <a:ext cx="1280160" cy="201168"/>
          </a:xfrm>
          <a:prstGeom prst="rect">
            <a:avLst/>
          </a:prstGeom>
          <a:noFill/>
        </p:spPr>
        <p:txBody>
          <a:bodyPr wrap="square">
            <a:spAutoFit/>
          </a:bodyPr>
          <a:lstStyle/>
          <a:p>
            <a:pPr algn="ctr"/>
            <a:r>
              <a:rPr sz="750" b="1" i="0">
                <a:solidFill>
                  <a:srgbClr val="FFD700"/>
                </a:solidFill>
                <a:latin typeface="Calibri"/>
              </a:rPr>
              <a:t>ChainStep</a:t>
            </a:r>
          </a:p>
        </p:txBody>
      </p:sp>
      <p:sp>
        <p:nvSpPr>
          <p:cNvPr id="56" name="Rectangle 55"/>
          <p:cNvSpPr/>
          <p:nvPr/>
        </p:nvSpPr>
        <p:spPr>
          <a:xfrm>
            <a:off x="10469880" y="2743200"/>
            <a:ext cx="1280160" cy="228600"/>
          </a:xfrm>
          <a:prstGeom prst="rect">
            <a:avLst/>
          </a:prstGeom>
          <a:solidFill>
            <a:srgbClr val="2E1804"/>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469880" y="2761488"/>
            <a:ext cx="1280160" cy="201168"/>
          </a:xfrm>
          <a:prstGeom prst="rect">
            <a:avLst/>
          </a:prstGeom>
          <a:noFill/>
        </p:spPr>
        <p:txBody>
          <a:bodyPr wrap="square">
            <a:spAutoFit/>
          </a:bodyPr>
          <a:lstStyle/>
          <a:p>
            <a:pPr algn="ctr"/>
            <a:r>
              <a:rPr sz="750" b="1" i="0">
                <a:solidFill>
                  <a:srgbClr val="FFD700"/>
                </a:solidFill>
                <a:latin typeface="Calibri"/>
              </a:rPr>
              <a:t>Impact</a:t>
            </a:r>
          </a:p>
        </p:txBody>
      </p:sp>
      <p:sp>
        <p:nvSpPr>
          <p:cNvPr id="58" name="TextBox 57"/>
          <p:cNvSpPr txBox="1"/>
          <p:nvPr/>
        </p:nvSpPr>
        <p:spPr>
          <a:xfrm>
            <a:off x="7699248" y="3035808"/>
            <a:ext cx="4206240" cy="201168"/>
          </a:xfrm>
          <a:prstGeom prst="rect">
            <a:avLst/>
          </a:prstGeom>
          <a:noFill/>
        </p:spPr>
        <p:txBody>
          <a:bodyPr wrap="square">
            <a:spAutoFit/>
          </a:bodyPr>
          <a:lstStyle/>
          <a:p>
            <a:pPr algn="l"/>
            <a:r>
              <a:rPr sz="800" b="0" i="0">
                <a:solidFill>
                  <a:srgbClr val="A0AAB8"/>
                </a:solidFill>
                <a:latin typeface="Calibri"/>
              </a:rPr>
              <a:t>risk_score  ·  validation_status  ·  priority</a:t>
            </a:r>
          </a:p>
        </p:txBody>
      </p:sp>
      <p:sp>
        <p:nvSpPr>
          <p:cNvPr id="59" name="TextBox 58"/>
          <p:cNvSpPr txBox="1"/>
          <p:nvPr/>
        </p:nvSpPr>
        <p:spPr>
          <a:xfrm>
            <a:off x="7699248" y="3282696"/>
            <a:ext cx="4206240" cy="347472"/>
          </a:xfrm>
          <a:prstGeom prst="rect">
            <a:avLst/>
          </a:prstGeom>
          <a:noFill/>
        </p:spPr>
        <p:txBody>
          <a:bodyPr wrap="square">
            <a:spAutoFit/>
          </a:bodyPr>
          <a:lstStyle/>
          <a:p>
            <a:pPr algn="l"/>
            <a:r>
              <a:rPr sz="800" b="0" i="1">
                <a:solidFill>
                  <a:srgbClr val="C09020"/>
                </a:solidFill>
                <a:latin typeface="Calibri"/>
              </a:rPr>
              <a:t>Inferred Opportunity — attack reasoning only. Never contains raw scan data.</a:t>
            </a:r>
          </a:p>
        </p:txBody>
      </p:sp>
      <p:sp>
        <p:nvSpPr>
          <p:cNvPr id="60" name="Rectangle 59"/>
          <p:cNvSpPr/>
          <p:nvPr/>
        </p:nvSpPr>
        <p:spPr>
          <a:xfrm>
            <a:off x="4617720" y="2414016"/>
            <a:ext cx="2971800" cy="1298448"/>
          </a:xfrm>
          <a:prstGeom prst="rect">
            <a:avLst/>
          </a:prstGeom>
          <a:solidFill>
            <a:srgbClr val="0610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654296" y="2706624"/>
            <a:ext cx="2935224" cy="502920"/>
          </a:xfrm>
          <a:prstGeom prst="rect">
            <a:avLst/>
          </a:prstGeom>
          <a:noFill/>
        </p:spPr>
        <p:txBody>
          <a:bodyPr wrap="square">
            <a:spAutoFit/>
          </a:bodyPr>
          <a:lstStyle/>
          <a:p>
            <a:pPr algn="ctr"/>
            <a:r>
              <a:rPr sz="700" b="1" i="0">
                <a:solidFill>
                  <a:srgbClr val="A0AAB8"/>
                </a:solidFill>
                <a:latin typeface="Calibri"/>
              </a:rPr>
              <a:t>STRICT
SEPARATION</a:t>
            </a:r>
          </a:p>
        </p:txBody>
      </p:sp>
      <p:sp>
        <p:nvSpPr>
          <p:cNvPr id="62" name="Rectangle 61"/>
          <p:cNvSpPr/>
          <p:nvPr/>
        </p:nvSpPr>
        <p:spPr>
          <a:xfrm>
            <a:off x="6094476" y="2414016"/>
            <a:ext cx="18288" cy="1298448"/>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3" name="Connector 62"/>
          <p:cNvCxnSpPr/>
          <p:nvPr/>
        </p:nvCxnSpPr>
        <p:spPr>
          <a:xfrm>
            <a:off x="2468880.0" y="3712464"/>
            <a:ext cx="0.0" cy="201168"/>
          </a:xfrm>
          <a:prstGeom prst="line">
            <a:avLst/>
          </a:prstGeom>
          <a:ln w="1016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1609344.0" y="2084832"/>
            <a:ext cx="1892807.0" cy="54864"/>
          </a:xfrm>
          <a:prstGeom prst="line">
            <a:avLst/>
          </a:prstGeom>
          <a:ln w="1524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4069079.0" y="2084832"/>
            <a:ext cx="5715001.0" cy="54864"/>
          </a:xfrm>
          <a:prstGeom prst="line">
            <a:avLst/>
          </a:prstGeom>
          <a:ln w="1270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6" name="Rectangle 65"/>
          <p:cNvSpPr/>
          <p:nvPr/>
        </p:nvSpPr>
        <p:spPr>
          <a:xfrm>
            <a:off x="164592" y="3877056"/>
            <a:ext cx="11862511" cy="2724912"/>
          </a:xfrm>
          <a:prstGeom prst="rect">
            <a:avLst/>
          </a:prstGeom>
          <a:solidFill>
            <a:srgbClr val="0A081C"/>
          </a:solidFill>
          <a:ln w="76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01168" y="3913632"/>
            <a:ext cx="4572000" cy="201168"/>
          </a:xfrm>
          <a:prstGeom prst="rect">
            <a:avLst/>
          </a:prstGeom>
          <a:noFill/>
        </p:spPr>
        <p:txBody>
          <a:bodyPr wrap="square">
            <a:spAutoFit/>
          </a:bodyPr>
          <a:lstStyle/>
          <a:p>
            <a:pPr algn="l"/>
            <a:r>
              <a:rPr sz="750" b="1" i="0">
                <a:solidFill>
                  <a:srgbClr val="BD93F9"/>
                </a:solidFill>
                <a:latin typeface="Calibri"/>
              </a:rPr>
              <a:t>③ SPECIALIZED AGENTS  +  TOOL ADAPTER LAYER</a:t>
            </a:r>
          </a:p>
        </p:txBody>
      </p:sp>
      <p:sp>
        <p:nvSpPr>
          <p:cNvPr id="68" name="Rectangle 67"/>
          <p:cNvSpPr/>
          <p:nvPr/>
        </p:nvSpPr>
        <p:spPr>
          <a:xfrm>
            <a:off x="320040" y="4133088"/>
            <a:ext cx="1287780" cy="2404872"/>
          </a:xfrm>
          <a:prstGeom prst="rect">
            <a:avLst/>
          </a:prstGeom>
          <a:solidFill>
            <a:srgbClr val="0C0E22"/>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320040" y="4133088"/>
            <a:ext cx="1287780" cy="2194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0040" y="4151376"/>
            <a:ext cx="1287780" cy="201168"/>
          </a:xfrm>
          <a:prstGeom prst="rect">
            <a:avLst/>
          </a:prstGeom>
          <a:noFill/>
        </p:spPr>
        <p:txBody>
          <a:bodyPr wrap="square">
            <a:spAutoFit/>
          </a:bodyPr>
          <a:lstStyle/>
          <a:p>
            <a:pPr algn="ctr"/>
            <a:r>
              <a:rPr sz="750" b="1" i="0">
                <a:solidFill>
                  <a:srgbClr val="0A0D1A"/>
                </a:solidFill>
                <a:latin typeface="Calibri"/>
              </a:rPr>
              <a:t>Recon</a:t>
            </a:r>
          </a:p>
        </p:txBody>
      </p:sp>
      <p:sp>
        <p:nvSpPr>
          <p:cNvPr id="71" name="TextBox 70"/>
          <p:cNvSpPr txBox="1"/>
          <p:nvPr/>
        </p:nvSpPr>
        <p:spPr>
          <a:xfrm>
            <a:off x="374904" y="4407408"/>
            <a:ext cx="1196340" cy="2130552"/>
          </a:xfrm>
          <a:prstGeom prst="rect">
            <a:avLst/>
          </a:prstGeom>
          <a:noFill/>
        </p:spPr>
        <p:txBody>
          <a:bodyPr wrap="square">
            <a:spAutoFit/>
          </a:bodyPr>
          <a:lstStyle/>
          <a:p>
            <a:pPr algn="l"/>
            <a:r>
              <a:rPr sz="700" b="0" i="0">
                <a:solidFill>
                  <a:srgbClr val="39FF14"/>
                </a:solidFill>
                <a:latin typeface="Calibri"/>
              </a:rPr>
              <a:t>Amass · httpx · Nmap</a:t>
            </a:r>
          </a:p>
        </p:txBody>
      </p:sp>
      <p:cxnSp>
        <p:nvCxnSpPr>
          <p:cNvPr id="72" name="Connector 71"/>
          <p:cNvCxnSpPr/>
          <p:nvPr/>
        </p:nvCxnSpPr>
        <p:spPr>
          <a:xfrm flipH="1">
            <a:off x="963930.0" y="2130552"/>
            <a:ext cx="2254757.0" cy="2002536"/>
          </a:xfrm>
          <a:prstGeom prst="line">
            <a:avLst/>
          </a:prstGeom>
          <a:ln w="635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963930.0" y="3822192"/>
            <a:ext cx="215646.0"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74" name="Rectangle 73"/>
          <p:cNvSpPr/>
          <p:nvPr/>
        </p:nvSpPr>
        <p:spPr>
          <a:xfrm>
            <a:off x="1662684" y="4133088"/>
            <a:ext cx="1287780" cy="2404872"/>
          </a:xfrm>
          <a:prstGeom prst="rect">
            <a:avLst/>
          </a:prstGeom>
          <a:solidFill>
            <a:srgbClr val="0C0E22"/>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662684" y="4133088"/>
            <a:ext cx="1287780" cy="2194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662684" y="4151376"/>
            <a:ext cx="1287780" cy="201168"/>
          </a:xfrm>
          <a:prstGeom prst="rect">
            <a:avLst/>
          </a:prstGeom>
          <a:noFill/>
        </p:spPr>
        <p:txBody>
          <a:bodyPr wrap="square">
            <a:spAutoFit/>
          </a:bodyPr>
          <a:lstStyle/>
          <a:p>
            <a:pPr algn="ctr"/>
            <a:r>
              <a:rPr sz="750" b="1" i="0">
                <a:solidFill>
                  <a:srgbClr val="0A0D1A"/>
                </a:solidFill>
                <a:latin typeface="Calibri"/>
              </a:rPr>
              <a:t>Analysis</a:t>
            </a:r>
          </a:p>
        </p:txBody>
      </p:sp>
      <p:sp>
        <p:nvSpPr>
          <p:cNvPr id="77" name="TextBox 76"/>
          <p:cNvSpPr txBox="1"/>
          <p:nvPr/>
        </p:nvSpPr>
        <p:spPr>
          <a:xfrm>
            <a:off x="1717548" y="4407408"/>
            <a:ext cx="1196340" cy="2130552"/>
          </a:xfrm>
          <a:prstGeom prst="rect">
            <a:avLst/>
          </a:prstGeom>
          <a:noFill/>
        </p:spPr>
        <p:txBody>
          <a:bodyPr wrap="square">
            <a:spAutoFit/>
          </a:bodyPr>
          <a:lstStyle/>
          <a:p>
            <a:pPr algn="l"/>
            <a:r>
              <a:rPr sz="700" b="0" i="0">
                <a:solidFill>
                  <a:srgbClr val="00E5FF"/>
                </a:solidFill>
                <a:latin typeface="Calibri"/>
              </a:rPr>
              <a:t>WhatWeb · Gobuster · ffuf · Nuclei · ZAP</a:t>
            </a:r>
          </a:p>
        </p:txBody>
      </p:sp>
      <p:cxnSp>
        <p:nvCxnSpPr>
          <p:cNvPr id="78" name="Connector 77"/>
          <p:cNvCxnSpPr/>
          <p:nvPr/>
        </p:nvCxnSpPr>
        <p:spPr>
          <a:xfrm flipH="1">
            <a:off x="2306574.0" y="2130552"/>
            <a:ext cx="1195577.0" cy="2002536"/>
          </a:xfrm>
          <a:prstGeom prst="line">
            <a:avLst/>
          </a:prstGeom>
          <a:ln w="635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1523390.4" y="3822192"/>
            <a:ext cx="783183.6000000001"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0" name="Rectangle 79"/>
          <p:cNvSpPr/>
          <p:nvPr/>
        </p:nvSpPr>
        <p:spPr>
          <a:xfrm>
            <a:off x="3005328" y="4133088"/>
            <a:ext cx="1287780" cy="2404872"/>
          </a:xfrm>
          <a:prstGeom prst="rect">
            <a:avLst/>
          </a:prstGeom>
          <a:solidFill>
            <a:srgbClr val="0C0E22"/>
          </a:solidFill>
          <a:ln w="1524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3005328" y="4133088"/>
            <a:ext cx="1287780"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005328" y="4151376"/>
            <a:ext cx="1287780" cy="201168"/>
          </a:xfrm>
          <a:prstGeom prst="rect">
            <a:avLst/>
          </a:prstGeom>
          <a:noFill/>
        </p:spPr>
        <p:txBody>
          <a:bodyPr wrap="square">
            <a:spAutoFit/>
          </a:bodyPr>
          <a:lstStyle/>
          <a:p>
            <a:pPr algn="ctr"/>
            <a:r>
              <a:rPr sz="750" b="1" i="0">
                <a:solidFill>
                  <a:srgbClr val="0A0D1A"/>
                </a:solidFill>
                <a:latin typeface="Calibri"/>
              </a:rPr>
              <a:t>Research</a:t>
            </a:r>
          </a:p>
        </p:txBody>
      </p:sp>
      <p:sp>
        <p:nvSpPr>
          <p:cNvPr id="83" name="TextBox 82"/>
          <p:cNvSpPr txBox="1"/>
          <p:nvPr/>
        </p:nvSpPr>
        <p:spPr>
          <a:xfrm>
            <a:off x="3060192" y="4407408"/>
            <a:ext cx="1196340" cy="2130552"/>
          </a:xfrm>
          <a:prstGeom prst="rect">
            <a:avLst/>
          </a:prstGeom>
          <a:noFill/>
        </p:spPr>
        <p:txBody>
          <a:bodyPr wrap="square">
            <a:spAutoFit/>
          </a:bodyPr>
          <a:lstStyle/>
          <a:p>
            <a:pPr algn="l"/>
            <a:r>
              <a:rPr sz="700" b="0" i="0">
                <a:solidFill>
                  <a:srgbClr val="FFD700"/>
                </a:solidFill>
                <a:latin typeface="Calibri"/>
              </a:rPr>
              <a:t>NVD · Exploit-DB · GitHub</a:t>
            </a:r>
          </a:p>
        </p:txBody>
      </p:sp>
      <p:cxnSp>
        <p:nvCxnSpPr>
          <p:cNvPr id="84" name="Connector 83"/>
          <p:cNvCxnSpPr/>
          <p:nvPr/>
        </p:nvCxnSpPr>
        <p:spPr>
          <a:xfrm flipH="1">
            <a:off x="3649218.0" y="2130552"/>
            <a:ext cx="136397.0" cy="2002536"/>
          </a:xfrm>
          <a:prstGeom prst="line">
            <a:avLst/>
          </a:prstGeom>
          <a:ln w="635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H="1" flipV="1">
            <a:off x="1867204.8" y="3822192"/>
            <a:ext cx="1782013.2"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6" name="Rectangle 85"/>
          <p:cNvSpPr/>
          <p:nvPr/>
        </p:nvSpPr>
        <p:spPr>
          <a:xfrm>
            <a:off x="4347972" y="4133088"/>
            <a:ext cx="1287780" cy="2404872"/>
          </a:xfrm>
          <a:prstGeom prst="rect">
            <a:avLst/>
          </a:prstGeom>
          <a:solidFill>
            <a:srgbClr val="0C0E22"/>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4347972" y="4133088"/>
            <a:ext cx="1287780" cy="2194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4347972" y="4151376"/>
            <a:ext cx="1287780" cy="201168"/>
          </a:xfrm>
          <a:prstGeom prst="rect">
            <a:avLst/>
          </a:prstGeom>
          <a:noFill/>
        </p:spPr>
        <p:txBody>
          <a:bodyPr wrap="square">
            <a:spAutoFit/>
          </a:bodyPr>
          <a:lstStyle/>
          <a:p>
            <a:pPr algn="ctr"/>
            <a:r>
              <a:rPr sz="750" b="1" i="0">
                <a:solidFill>
                  <a:srgbClr val="0A0D1A"/>
                </a:solidFill>
                <a:latin typeface="Calibri"/>
              </a:rPr>
              <a:t>Validation</a:t>
            </a:r>
          </a:p>
        </p:txBody>
      </p:sp>
      <p:sp>
        <p:nvSpPr>
          <p:cNvPr id="89" name="TextBox 88"/>
          <p:cNvSpPr txBox="1"/>
          <p:nvPr/>
        </p:nvSpPr>
        <p:spPr>
          <a:xfrm>
            <a:off x="4402836" y="4407408"/>
            <a:ext cx="1196340" cy="2130552"/>
          </a:xfrm>
          <a:prstGeom prst="rect">
            <a:avLst/>
          </a:prstGeom>
          <a:noFill/>
        </p:spPr>
        <p:txBody>
          <a:bodyPr wrap="square">
            <a:spAutoFit/>
          </a:bodyPr>
          <a:lstStyle/>
          <a:p>
            <a:pPr algn="l"/>
            <a:r>
              <a:rPr sz="700" b="0" i="0">
                <a:solidFill>
                  <a:srgbClr val="FF4545"/>
                </a:solidFill>
                <a:latin typeface="Calibri"/>
              </a:rPr>
              <a:t>SQLMap · Metasploit</a:t>
            </a:r>
          </a:p>
        </p:txBody>
      </p:sp>
      <p:cxnSp>
        <p:nvCxnSpPr>
          <p:cNvPr id="90" name="Connector 89"/>
          <p:cNvCxnSpPr/>
          <p:nvPr/>
        </p:nvCxnSpPr>
        <p:spPr>
          <a:xfrm>
            <a:off x="4069079.0" y="2130552"/>
            <a:ext cx="922783.0" cy="2002536"/>
          </a:xfrm>
          <a:prstGeom prst="line">
            <a:avLst/>
          </a:prstGeom>
          <a:ln w="635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H="1" flipV="1">
            <a:off x="2211019.2" y="3822192"/>
            <a:ext cx="2780842.8"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5690616" y="4133088"/>
            <a:ext cx="1287780" cy="2404872"/>
          </a:xfrm>
          <a:prstGeom prst="rect">
            <a:avLst/>
          </a:prstGeom>
          <a:solidFill>
            <a:srgbClr val="0C0E22"/>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5690616" y="4133088"/>
            <a:ext cx="1287780" cy="21945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5690616" y="4151376"/>
            <a:ext cx="1287780" cy="201168"/>
          </a:xfrm>
          <a:prstGeom prst="rect">
            <a:avLst/>
          </a:prstGeom>
          <a:noFill/>
        </p:spPr>
        <p:txBody>
          <a:bodyPr wrap="square">
            <a:spAutoFit/>
          </a:bodyPr>
          <a:lstStyle/>
          <a:p>
            <a:pPr algn="ctr"/>
            <a:r>
              <a:rPr sz="750" b="1" i="0">
                <a:solidFill>
                  <a:srgbClr val="0A0D1A"/>
                </a:solidFill>
                <a:latin typeface="Calibri"/>
              </a:rPr>
              <a:t>Evidence</a:t>
            </a:r>
          </a:p>
        </p:txBody>
      </p:sp>
      <p:sp>
        <p:nvSpPr>
          <p:cNvPr id="95" name="TextBox 94"/>
          <p:cNvSpPr txBox="1"/>
          <p:nvPr/>
        </p:nvSpPr>
        <p:spPr>
          <a:xfrm>
            <a:off x="5745480" y="4407408"/>
            <a:ext cx="1196340" cy="2130552"/>
          </a:xfrm>
          <a:prstGeom prst="rect">
            <a:avLst/>
          </a:prstGeom>
          <a:noFill/>
        </p:spPr>
        <p:txBody>
          <a:bodyPr wrap="square">
            <a:spAutoFit/>
          </a:bodyPr>
          <a:lstStyle/>
          <a:p>
            <a:pPr algn="l"/>
            <a:r>
              <a:rPr sz="700" b="0" i="0">
                <a:solidFill>
                  <a:srgbClr val="BD93F9"/>
                </a:solidFill>
                <a:latin typeface="Calibri"/>
              </a:rPr>
              <a:t>EyeWitness</a:t>
            </a:r>
          </a:p>
        </p:txBody>
      </p:sp>
      <p:cxnSp>
        <p:nvCxnSpPr>
          <p:cNvPr id="96" name="Connector 95"/>
          <p:cNvCxnSpPr/>
          <p:nvPr/>
        </p:nvCxnSpPr>
        <p:spPr>
          <a:xfrm>
            <a:off x="4352543.0" y="2130552"/>
            <a:ext cx="1981963.0" cy="2002536"/>
          </a:xfrm>
          <a:prstGeom prst="line">
            <a:avLst/>
          </a:prstGeom>
          <a:ln w="6350">
            <a:solidFill>
              <a:srgbClr val="BD93F9"/>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H="1" flipV="1">
            <a:off x="2554833.6" y="3822192"/>
            <a:ext cx="3779672.4"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98" name="Rectangle 97"/>
          <p:cNvSpPr/>
          <p:nvPr/>
        </p:nvSpPr>
        <p:spPr>
          <a:xfrm>
            <a:off x="7033260" y="4133088"/>
            <a:ext cx="1287780" cy="2404872"/>
          </a:xfrm>
          <a:prstGeom prst="rect">
            <a:avLst/>
          </a:prstGeom>
          <a:solidFill>
            <a:srgbClr val="0C0E22"/>
          </a:solidFill>
          <a:ln w="1524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033260" y="4133088"/>
            <a:ext cx="1287780" cy="219456"/>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033260" y="4151376"/>
            <a:ext cx="1287780" cy="201168"/>
          </a:xfrm>
          <a:prstGeom prst="rect">
            <a:avLst/>
          </a:prstGeom>
          <a:noFill/>
        </p:spPr>
        <p:txBody>
          <a:bodyPr wrap="square">
            <a:spAutoFit/>
          </a:bodyPr>
          <a:lstStyle/>
          <a:p>
            <a:pPr algn="ctr"/>
            <a:r>
              <a:rPr sz="750" b="1" i="0">
                <a:solidFill>
                  <a:srgbClr val="0A0D1A"/>
                </a:solidFill>
                <a:latin typeface="Calibri"/>
              </a:rPr>
              <a:t>Report</a:t>
            </a:r>
          </a:p>
        </p:txBody>
      </p:sp>
      <p:sp>
        <p:nvSpPr>
          <p:cNvPr id="101" name="TextBox 100"/>
          <p:cNvSpPr txBox="1"/>
          <p:nvPr/>
        </p:nvSpPr>
        <p:spPr>
          <a:xfrm>
            <a:off x="7088124" y="4407408"/>
            <a:ext cx="1196340" cy="2130552"/>
          </a:xfrm>
          <a:prstGeom prst="rect">
            <a:avLst/>
          </a:prstGeom>
          <a:noFill/>
        </p:spPr>
        <p:txBody>
          <a:bodyPr wrap="square">
            <a:spAutoFit/>
          </a:bodyPr>
          <a:lstStyle/>
          <a:p>
            <a:pPr algn="l"/>
            <a:r>
              <a:rPr sz="700" b="0" i="0">
                <a:solidFill>
                  <a:srgbClr val="A0AAB8"/>
                </a:solidFill>
                <a:latin typeface="Calibri"/>
              </a:rPr>
              <a:t>Reads ASG + APG</a:t>
            </a:r>
          </a:p>
        </p:txBody>
      </p:sp>
      <p:cxnSp>
        <p:nvCxnSpPr>
          <p:cNvPr id="102" name="Connector 101"/>
          <p:cNvCxnSpPr/>
          <p:nvPr/>
        </p:nvCxnSpPr>
        <p:spPr>
          <a:xfrm>
            <a:off x="4636007.0" y="2130552"/>
            <a:ext cx="3041143.0" cy="2002536"/>
          </a:xfrm>
          <a:prstGeom prst="line">
            <a:avLst/>
          </a:prstGeom>
          <a:ln w="635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8641080" y="4133088"/>
            <a:ext cx="3349447" cy="2404872"/>
          </a:xfrm>
          <a:prstGeom prst="rect">
            <a:avLst/>
          </a:prstGeom>
          <a:solidFill>
            <a:srgbClr val="0A081E"/>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8641080" y="4133088"/>
            <a:ext cx="3349447" cy="237744"/>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641080" y="4160520"/>
            <a:ext cx="3349447" cy="201168"/>
          </a:xfrm>
          <a:prstGeom prst="rect">
            <a:avLst/>
          </a:prstGeom>
          <a:noFill/>
        </p:spPr>
        <p:txBody>
          <a:bodyPr wrap="square">
            <a:spAutoFit/>
          </a:bodyPr>
          <a:lstStyle/>
          <a:p>
            <a:pPr algn="ctr"/>
            <a:r>
              <a:rPr sz="800" b="1" i="0">
                <a:solidFill>
                  <a:srgbClr val="0A0D1A"/>
                </a:solidFill>
                <a:latin typeface="Calibri"/>
              </a:rPr>
              <a:t>TOOL ADAPTER LAYER</a:t>
            </a:r>
          </a:p>
        </p:txBody>
      </p:sp>
      <p:sp>
        <p:nvSpPr>
          <p:cNvPr id="106" name="Rectangle 105"/>
          <p:cNvSpPr/>
          <p:nvPr/>
        </p:nvSpPr>
        <p:spPr>
          <a:xfrm>
            <a:off x="8732520" y="4407408"/>
            <a:ext cx="3166567" cy="649224"/>
          </a:xfrm>
          <a:prstGeom prst="rect">
            <a:avLst/>
          </a:prstGeom>
          <a:solidFill>
            <a:srgbClr val="100C24"/>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8732520" y="4407408"/>
            <a:ext cx="347472" cy="649224"/>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8732520" y="4425696"/>
            <a:ext cx="347472" cy="612648"/>
          </a:xfrm>
          <a:prstGeom prst="rect">
            <a:avLst/>
          </a:prstGeom>
          <a:noFill/>
        </p:spPr>
        <p:txBody>
          <a:bodyPr wrap="square">
            <a:spAutoFit/>
          </a:bodyPr>
          <a:lstStyle/>
          <a:p>
            <a:pPr algn="ctr"/>
            <a:r>
              <a:rPr sz="700" b="1" i="0">
                <a:solidFill>
                  <a:srgbClr val="0A0D1A"/>
                </a:solidFill>
                <a:latin typeface="Calibri"/>
              </a:rPr>
              <a:t>LOW</a:t>
            </a:r>
          </a:p>
        </p:txBody>
      </p:sp>
      <p:sp>
        <p:nvSpPr>
          <p:cNvPr id="109" name="TextBox 108"/>
          <p:cNvSpPr txBox="1"/>
          <p:nvPr/>
        </p:nvSpPr>
        <p:spPr>
          <a:xfrm>
            <a:off x="9116568" y="4425696"/>
            <a:ext cx="2755087" cy="182880"/>
          </a:xfrm>
          <a:prstGeom prst="rect">
            <a:avLst/>
          </a:prstGeom>
          <a:noFill/>
        </p:spPr>
        <p:txBody>
          <a:bodyPr wrap="square">
            <a:spAutoFit/>
          </a:bodyPr>
          <a:lstStyle/>
          <a:p>
            <a:pPr algn="l"/>
            <a:r>
              <a:rPr sz="750" b="1" i="0">
                <a:solidFill>
                  <a:srgbClr val="39FF14"/>
                </a:solidFill>
                <a:latin typeface="Calibri"/>
              </a:rPr>
              <a:t>Passive</a:t>
            </a:r>
          </a:p>
        </p:txBody>
      </p:sp>
      <p:sp>
        <p:nvSpPr>
          <p:cNvPr id="110" name="TextBox 109"/>
          <p:cNvSpPr txBox="1"/>
          <p:nvPr/>
        </p:nvSpPr>
        <p:spPr>
          <a:xfrm>
            <a:off x="9116568" y="4608576"/>
            <a:ext cx="2755087" cy="274320"/>
          </a:xfrm>
          <a:prstGeom prst="rect">
            <a:avLst/>
          </a:prstGeom>
          <a:noFill/>
        </p:spPr>
        <p:txBody>
          <a:bodyPr wrap="square">
            <a:spAutoFit/>
          </a:bodyPr>
          <a:lstStyle/>
          <a:p>
            <a:pPr algn="l"/>
            <a:r>
              <a:rPr sz="700" b="0" i="1">
                <a:solidFill>
                  <a:srgbClr val="A0AAB8"/>
                </a:solidFill>
                <a:latin typeface="Calibri"/>
              </a:rPr>
              <a:t>Execute immediately</a:t>
            </a:r>
          </a:p>
        </p:txBody>
      </p:sp>
      <p:sp>
        <p:nvSpPr>
          <p:cNvPr id="111" name="Rectangle 110"/>
          <p:cNvSpPr/>
          <p:nvPr/>
        </p:nvSpPr>
        <p:spPr>
          <a:xfrm>
            <a:off x="8732520" y="5111496"/>
            <a:ext cx="3166567" cy="649224"/>
          </a:xfrm>
          <a:prstGeom prst="rect">
            <a:avLst/>
          </a:prstGeom>
          <a:solidFill>
            <a:srgbClr val="100C24"/>
          </a:solidFill>
          <a:ln w="889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8732520" y="5111496"/>
            <a:ext cx="347472" cy="64922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732520" y="5129784"/>
            <a:ext cx="347472" cy="612648"/>
          </a:xfrm>
          <a:prstGeom prst="rect">
            <a:avLst/>
          </a:prstGeom>
          <a:noFill/>
        </p:spPr>
        <p:txBody>
          <a:bodyPr wrap="square">
            <a:spAutoFit/>
          </a:bodyPr>
          <a:lstStyle/>
          <a:p>
            <a:pPr algn="ctr"/>
            <a:r>
              <a:rPr sz="700" b="1" i="0">
                <a:solidFill>
                  <a:srgbClr val="0A0D1A"/>
                </a:solidFill>
                <a:latin typeface="Calibri"/>
              </a:rPr>
              <a:t>MED</a:t>
            </a:r>
          </a:p>
        </p:txBody>
      </p:sp>
      <p:sp>
        <p:nvSpPr>
          <p:cNvPr id="114" name="TextBox 113"/>
          <p:cNvSpPr txBox="1"/>
          <p:nvPr/>
        </p:nvSpPr>
        <p:spPr>
          <a:xfrm>
            <a:off x="9116568" y="5129784"/>
            <a:ext cx="2755087" cy="182880"/>
          </a:xfrm>
          <a:prstGeom prst="rect">
            <a:avLst/>
          </a:prstGeom>
          <a:noFill/>
        </p:spPr>
        <p:txBody>
          <a:bodyPr wrap="square">
            <a:spAutoFit/>
          </a:bodyPr>
          <a:lstStyle/>
          <a:p>
            <a:pPr algn="l"/>
            <a:r>
              <a:rPr sz="750" b="1" i="0">
                <a:solidFill>
                  <a:srgbClr val="FFD700"/>
                </a:solidFill>
                <a:latin typeface="Calibri"/>
              </a:rPr>
              <a:t>Active</a:t>
            </a:r>
          </a:p>
        </p:txBody>
      </p:sp>
      <p:sp>
        <p:nvSpPr>
          <p:cNvPr id="115" name="TextBox 114"/>
          <p:cNvSpPr txBox="1"/>
          <p:nvPr/>
        </p:nvSpPr>
        <p:spPr>
          <a:xfrm>
            <a:off x="9116568" y="5312664"/>
            <a:ext cx="2755087" cy="274320"/>
          </a:xfrm>
          <a:prstGeom prst="rect">
            <a:avLst/>
          </a:prstGeom>
          <a:noFill/>
        </p:spPr>
        <p:txBody>
          <a:bodyPr wrap="square">
            <a:spAutoFit/>
          </a:bodyPr>
          <a:lstStyle/>
          <a:p>
            <a:pPr algn="l"/>
            <a:r>
              <a:rPr sz="700" b="0" i="1">
                <a:solidFill>
                  <a:srgbClr val="A0AAB8"/>
                </a:solidFill>
                <a:latin typeface="Calibri"/>
              </a:rPr>
              <a:t>LLM Classifier → exec/escalate</a:t>
            </a:r>
          </a:p>
        </p:txBody>
      </p:sp>
      <p:sp>
        <p:nvSpPr>
          <p:cNvPr id="116" name="Rectangle 115"/>
          <p:cNvSpPr/>
          <p:nvPr/>
        </p:nvSpPr>
        <p:spPr>
          <a:xfrm>
            <a:off x="8732520" y="5815584"/>
            <a:ext cx="3166567" cy="649224"/>
          </a:xfrm>
          <a:prstGeom prst="rect">
            <a:avLst/>
          </a:prstGeom>
          <a:solidFill>
            <a:srgbClr val="100C24"/>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8732520" y="5815584"/>
            <a:ext cx="347472" cy="64922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8732520" y="5833872"/>
            <a:ext cx="347472" cy="612648"/>
          </a:xfrm>
          <a:prstGeom prst="rect">
            <a:avLst/>
          </a:prstGeom>
          <a:noFill/>
        </p:spPr>
        <p:txBody>
          <a:bodyPr wrap="square">
            <a:spAutoFit/>
          </a:bodyPr>
          <a:lstStyle/>
          <a:p>
            <a:pPr algn="ctr"/>
            <a:r>
              <a:rPr sz="700" b="1" i="0">
                <a:solidFill>
                  <a:srgbClr val="0A0D1A"/>
                </a:solidFill>
                <a:latin typeface="Calibri"/>
              </a:rPr>
              <a:t>HIGH</a:t>
            </a:r>
          </a:p>
        </p:txBody>
      </p:sp>
      <p:sp>
        <p:nvSpPr>
          <p:cNvPr id="119" name="TextBox 118"/>
          <p:cNvSpPr txBox="1"/>
          <p:nvPr/>
        </p:nvSpPr>
        <p:spPr>
          <a:xfrm>
            <a:off x="9116568" y="5833872"/>
            <a:ext cx="2755087" cy="182880"/>
          </a:xfrm>
          <a:prstGeom prst="rect">
            <a:avLst/>
          </a:prstGeom>
          <a:noFill/>
        </p:spPr>
        <p:txBody>
          <a:bodyPr wrap="square">
            <a:spAutoFit/>
          </a:bodyPr>
          <a:lstStyle/>
          <a:p>
            <a:pPr algn="l"/>
            <a:r>
              <a:rPr sz="750" b="1" i="0">
                <a:solidFill>
                  <a:srgbClr val="FF4545"/>
                </a:solidFill>
                <a:latin typeface="Calibri"/>
              </a:rPr>
              <a:t>Exploit</a:t>
            </a:r>
          </a:p>
        </p:txBody>
      </p:sp>
      <p:sp>
        <p:nvSpPr>
          <p:cNvPr id="120" name="TextBox 119"/>
          <p:cNvSpPr txBox="1"/>
          <p:nvPr/>
        </p:nvSpPr>
        <p:spPr>
          <a:xfrm>
            <a:off x="9116568" y="6016752"/>
            <a:ext cx="2755087" cy="274320"/>
          </a:xfrm>
          <a:prstGeom prst="rect">
            <a:avLst/>
          </a:prstGeom>
          <a:noFill/>
        </p:spPr>
        <p:txBody>
          <a:bodyPr wrap="square">
            <a:spAutoFit/>
          </a:bodyPr>
          <a:lstStyle/>
          <a:p>
            <a:pPr algn="l"/>
            <a:r>
              <a:rPr sz="700" b="0" i="1">
                <a:solidFill>
                  <a:srgbClr val="A0AAB8"/>
                </a:solidFill>
                <a:latin typeface="Calibri"/>
              </a:rPr>
              <a:t>Commander Mailbox approval</a:t>
            </a:r>
          </a:p>
        </p:txBody>
      </p:sp>
      <p:sp>
        <p:nvSpPr>
          <p:cNvPr id="121" name="TextBox 120"/>
          <p:cNvSpPr txBox="1"/>
          <p:nvPr/>
        </p:nvSpPr>
        <p:spPr>
          <a:xfrm>
            <a:off x="11825935" y="6382512"/>
            <a:ext cx="320040" cy="384048"/>
          </a:xfrm>
          <a:prstGeom prst="rect">
            <a:avLst/>
          </a:prstGeom>
          <a:noFill/>
        </p:spPr>
        <p:txBody>
          <a:bodyPr wrap="square">
            <a:spAutoFit/>
          </a:bodyPr>
          <a:lstStyle/>
          <a:p>
            <a:pPr algn="r"/>
            <a:r>
              <a:rPr sz="1300" b="1" i="0">
                <a:solidFill>
                  <a:srgbClr val="00E5FF"/>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54864"/>
            <a:ext cx="5486400" cy="237744"/>
          </a:xfrm>
          <a:prstGeom prst="rect">
            <a:avLst/>
          </a:prstGeom>
          <a:noFill/>
        </p:spPr>
        <p:txBody>
          <a:bodyPr wrap="square">
            <a:spAutoFit/>
          </a:bodyPr>
          <a:lstStyle/>
          <a:p>
            <a:pPr algn="l"/>
            <a:r>
              <a:rPr sz="1000" b="1" i="0">
                <a:solidFill>
                  <a:srgbClr val="39FF14"/>
                </a:solidFill>
                <a:latin typeface="Calibri"/>
              </a:rPr>
              <a:t>DUAL-GRAPH WORLD MODEL</a:t>
            </a:r>
          </a:p>
        </p:txBody>
      </p:sp>
      <p:sp>
        <p:nvSpPr>
          <p:cNvPr id="6" name="TextBox 5"/>
          <p:cNvSpPr txBox="1"/>
          <p:nvPr/>
        </p:nvSpPr>
        <p:spPr>
          <a:xfrm>
            <a:off x="274320" y="292608"/>
            <a:ext cx="10058400" cy="438912"/>
          </a:xfrm>
          <a:prstGeom prst="rect">
            <a:avLst/>
          </a:prstGeom>
          <a:noFill/>
        </p:spPr>
        <p:txBody>
          <a:bodyPr wrap="square">
            <a:spAutoFit/>
          </a:bodyPr>
          <a:lstStyle/>
          <a:p>
            <a:pPr algn="l"/>
            <a:r>
              <a:rPr sz="2600" b="1" i="0">
                <a:solidFill>
                  <a:srgbClr val="FFFFFF"/>
                </a:solidFill>
                <a:latin typeface="Calibri"/>
              </a:rPr>
              <a:t>Two Strictly Separated Knowledge Layers — Visualised</a:t>
            </a:r>
          </a:p>
        </p:txBody>
      </p:sp>
      <p:sp>
        <p:nvSpPr>
          <p:cNvPr id="7" name="Rectangle 6"/>
          <p:cNvSpPr/>
          <p:nvPr/>
        </p:nvSpPr>
        <p:spPr>
          <a:xfrm>
            <a:off x="164592" y="804672"/>
            <a:ext cx="5349240" cy="5138928"/>
          </a:xfrm>
          <a:prstGeom prst="rect">
            <a:avLst/>
          </a:prstGeom>
          <a:solidFill>
            <a:srgbClr val="04180A"/>
          </a:solidFill>
          <a:ln w="190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 y="822960"/>
            <a:ext cx="3200400" cy="237744"/>
          </a:xfrm>
          <a:prstGeom prst="rect">
            <a:avLst/>
          </a:prstGeom>
          <a:noFill/>
        </p:spPr>
        <p:txBody>
          <a:bodyPr wrap="square">
            <a:spAutoFit/>
          </a:bodyPr>
          <a:lstStyle/>
          <a:p>
            <a:pPr algn="l"/>
            <a:r>
              <a:rPr sz="1100" b="1" i="0">
                <a:solidFill>
                  <a:srgbClr val="39FF14"/>
                </a:solidFill>
                <a:latin typeface="Calibri"/>
              </a:rPr>
              <a:t>ASG — Attack Surface Graph</a:t>
            </a:r>
          </a:p>
        </p:txBody>
      </p:sp>
      <p:sp>
        <p:nvSpPr>
          <p:cNvPr id="9" name="TextBox 8"/>
          <p:cNvSpPr txBox="1"/>
          <p:nvPr/>
        </p:nvSpPr>
        <p:spPr>
          <a:xfrm>
            <a:off x="201168" y="1042415"/>
            <a:ext cx="5029200" cy="219456"/>
          </a:xfrm>
          <a:prstGeom prst="rect">
            <a:avLst/>
          </a:prstGeom>
          <a:noFill/>
        </p:spPr>
        <p:txBody>
          <a:bodyPr wrap="square">
            <a:spAutoFit/>
          </a:bodyPr>
          <a:lstStyle/>
          <a:p>
            <a:pPr algn="l"/>
            <a:r>
              <a:rPr sz="900" b="0" i="1">
                <a:solidFill>
                  <a:srgbClr val="60C070"/>
                </a:solidFill>
                <a:latin typeface="Calibri"/>
              </a:rPr>
              <a:t>What does the target look like?  (Discovered Reality)</a:t>
            </a:r>
          </a:p>
        </p:txBody>
      </p:sp>
      <p:sp>
        <p:nvSpPr>
          <p:cNvPr id="10" name="Rectangle 9"/>
          <p:cNvSpPr/>
          <p:nvPr/>
        </p:nvSpPr>
        <p:spPr>
          <a:xfrm>
            <a:off x="6675120" y="804672"/>
            <a:ext cx="5349240" cy="5138928"/>
          </a:xfrm>
          <a:prstGeom prst="rect">
            <a:avLst/>
          </a:prstGeom>
          <a:solidFill>
            <a:srgbClr val="1C1004"/>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11696" y="822960"/>
            <a:ext cx="3200400" cy="237744"/>
          </a:xfrm>
          <a:prstGeom prst="rect">
            <a:avLst/>
          </a:prstGeom>
          <a:noFill/>
        </p:spPr>
        <p:txBody>
          <a:bodyPr wrap="square">
            <a:spAutoFit/>
          </a:bodyPr>
          <a:lstStyle/>
          <a:p>
            <a:pPr algn="l"/>
            <a:r>
              <a:rPr sz="1100" b="1" i="0">
                <a:solidFill>
                  <a:srgbClr val="FFD700"/>
                </a:solidFill>
                <a:latin typeface="Calibri"/>
              </a:rPr>
              <a:t>APG — Attack Path Graph</a:t>
            </a:r>
          </a:p>
        </p:txBody>
      </p:sp>
      <p:sp>
        <p:nvSpPr>
          <p:cNvPr id="12" name="TextBox 11"/>
          <p:cNvSpPr txBox="1"/>
          <p:nvPr/>
        </p:nvSpPr>
        <p:spPr>
          <a:xfrm>
            <a:off x="6711696" y="1042415"/>
            <a:ext cx="5029200" cy="219456"/>
          </a:xfrm>
          <a:prstGeom prst="rect">
            <a:avLst/>
          </a:prstGeom>
          <a:noFill/>
        </p:spPr>
        <p:txBody>
          <a:bodyPr wrap="square">
            <a:spAutoFit/>
          </a:bodyPr>
          <a:lstStyle/>
          <a:p>
            <a:pPr algn="l"/>
            <a:r>
              <a:rPr sz="900" b="0" i="1">
                <a:solidFill>
                  <a:srgbClr val="C09020"/>
                </a:solidFill>
                <a:latin typeface="Calibri"/>
              </a:rPr>
              <a:t>What can be done to it?  (Inferred Opportunity)</a:t>
            </a:r>
          </a:p>
        </p:txBody>
      </p:sp>
      <p:sp>
        <p:nvSpPr>
          <p:cNvPr id="13" name="Rectangle 12"/>
          <p:cNvSpPr/>
          <p:nvPr/>
        </p:nvSpPr>
        <p:spPr>
          <a:xfrm>
            <a:off x="5593384" y="804672"/>
            <a:ext cx="1005840" cy="5138928"/>
          </a:xfrm>
          <a:prstGeom prst="rect">
            <a:avLst/>
          </a:prstGeom>
          <a:solidFill>
            <a:srgbClr val="081018"/>
          </a:solidFill>
          <a:ln w="1016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087160" y="804672"/>
            <a:ext cx="18288" cy="5138928"/>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0816" y="2286000"/>
            <a:ext cx="950976" cy="640080"/>
          </a:xfrm>
          <a:prstGeom prst="rect">
            <a:avLst/>
          </a:prstGeom>
          <a:noFill/>
        </p:spPr>
        <p:txBody>
          <a:bodyPr wrap="square">
            <a:spAutoFit/>
          </a:bodyPr>
          <a:lstStyle/>
          <a:p>
            <a:pPr algn="ctr"/>
            <a:r>
              <a:rPr sz="800" b="1" i="0">
                <a:solidFill>
                  <a:srgbClr val="A0AAB8"/>
                </a:solidFill>
                <a:latin typeface="Calibri"/>
              </a:rPr>
              <a:t>STRICT
SEPARATION</a:t>
            </a:r>
          </a:p>
        </p:txBody>
      </p:sp>
      <p:sp>
        <p:nvSpPr>
          <p:cNvPr id="16" name="TextBox 15"/>
          <p:cNvSpPr txBox="1"/>
          <p:nvPr/>
        </p:nvSpPr>
        <p:spPr>
          <a:xfrm>
            <a:off x="5639104" y="3017520"/>
            <a:ext cx="914400" cy="685800"/>
          </a:xfrm>
          <a:prstGeom prst="rect">
            <a:avLst/>
          </a:prstGeom>
          <a:noFill/>
        </p:spPr>
        <p:txBody>
          <a:bodyPr wrap="square">
            <a:spAutoFit/>
          </a:bodyPr>
          <a:lstStyle/>
          <a:p>
            <a:pPr algn="ctr"/>
            <a:r>
              <a:rPr sz="750" b="0" i="1">
                <a:solidFill>
                  <a:srgbClr val="A0AAB8"/>
                </a:solidFill>
                <a:latin typeface="Calibri"/>
              </a:rPr>
              <a:t>No agent
crosses this
boundary</a:t>
            </a:r>
          </a:p>
        </p:txBody>
      </p:sp>
      <p:cxnSp>
        <p:nvCxnSpPr>
          <p:cNvPr id="17" name="Connector 16"/>
          <p:cNvCxnSpPr/>
          <p:nvPr/>
        </p:nvCxnSpPr>
        <p:spPr>
          <a:xfrm flipH="1">
            <a:off x="4114800" y="3886200"/>
            <a:ext cx="1944928" cy="0"/>
          </a:xfrm>
          <a:prstGeom prst="line">
            <a:avLst/>
          </a:prstGeom>
          <a:ln w="1524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584344" y="3685032"/>
            <a:ext cx="1005840" cy="201168"/>
          </a:xfrm>
          <a:prstGeom prst="rect">
            <a:avLst/>
          </a:prstGeom>
          <a:noFill/>
        </p:spPr>
        <p:txBody>
          <a:bodyPr wrap="square">
            <a:spAutoFit/>
          </a:bodyPr>
          <a:lstStyle/>
          <a:p>
            <a:pPr algn="ctr"/>
            <a:r>
              <a:rPr sz="700" b="0" i="1">
                <a:solidFill>
                  <a:srgbClr val="A0AAB8"/>
                </a:solidFill>
                <a:latin typeface="Calibri"/>
              </a:rPr>
              <a:t>Discovery
Agents write</a:t>
            </a:r>
          </a:p>
        </p:txBody>
      </p:sp>
      <p:cxnSp>
        <p:nvCxnSpPr>
          <p:cNvPr id="19" name="Connector 18"/>
          <p:cNvCxnSpPr/>
          <p:nvPr/>
        </p:nvCxnSpPr>
        <p:spPr>
          <a:xfrm>
            <a:off x="6132880" y="4206240"/>
            <a:ext cx="1639520" cy="0"/>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49720" y="4005072"/>
            <a:ext cx="1005840" cy="201168"/>
          </a:xfrm>
          <a:prstGeom prst="rect">
            <a:avLst/>
          </a:prstGeom>
          <a:noFill/>
        </p:spPr>
        <p:txBody>
          <a:bodyPr wrap="square">
            <a:spAutoFit/>
          </a:bodyPr>
          <a:lstStyle/>
          <a:p>
            <a:pPr algn="ctr"/>
            <a:r>
              <a:rPr sz="700" b="0" i="1">
                <a:solidFill>
                  <a:srgbClr val="A0AAB8"/>
                </a:solidFill>
                <a:latin typeface="Calibri"/>
              </a:rPr>
              <a:t>Commander
writes</a:t>
            </a:r>
          </a:p>
        </p:txBody>
      </p:sp>
      <p:sp>
        <p:nvSpPr>
          <p:cNvPr id="21" name="Rectangle 20"/>
          <p:cNvSpPr/>
          <p:nvPr/>
        </p:nvSpPr>
        <p:spPr>
          <a:xfrm>
            <a:off x="813816" y="1371600"/>
            <a:ext cx="1115568" cy="402336"/>
          </a:xfrm>
          <a:prstGeom prst="rect">
            <a:avLst/>
          </a:prstGeom>
          <a:solidFill>
            <a:srgbClr val="062212"/>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6" y="1408176"/>
            <a:ext cx="1115568" cy="201168"/>
          </a:xfrm>
          <a:prstGeom prst="rect">
            <a:avLst/>
          </a:prstGeom>
          <a:noFill/>
        </p:spPr>
        <p:txBody>
          <a:bodyPr wrap="square">
            <a:spAutoFit/>
          </a:bodyPr>
          <a:lstStyle/>
          <a:p>
            <a:pPr algn="ctr"/>
            <a:r>
              <a:rPr sz="850" b="1" i="0">
                <a:solidFill>
                  <a:srgbClr val="39FF14"/>
                </a:solidFill>
                <a:latin typeface="Calibri"/>
              </a:rPr>
              <a:t>Domain</a:t>
            </a:r>
          </a:p>
        </p:txBody>
      </p:sp>
      <p:sp>
        <p:nvSpPr>
          <p:cNvPr id="23" name="TextBox 22"/>
          <p:cNvSpPr txBox="1"/>
          <p:nvPr/>
        </p:nvSpPr>
        <p:spPr>
          <a:xfrm>
            <a:off x="813816" y="1572768"/>
            <a:ext cx="1115568" cy="164592"/>
          </a:xfrm>
          <a:prstGeom prst="rect">
            <a:avLst/>
          </a:prstGeom>
          <a:noFill/>
        </p:spPr>
        <p:txBody>
          <a:bodyPr wrap="square">
            <a:spAutoFit/>
          </a:bodyPr>
          <a:lstStyle/>
          <a:p>
            <a:pPr algn="ctr"/>
            <a:r>
              <a:rPr sz="700" b="0" i="1">
                <a:solidFill>
                  <a:srgbClr val="A0AAB8"/>
                </a:solidFill>
                <a:latin typeface="Calibri"/>
              </a:rPr>
              <a:t>shopvault.io</a:t>
            </a:r>
          </a:p>
        </p:txBody>
      </p:sp>
      <p:sp>
        <p:nvSpPr>
          <p:cNvPr id="24" name="Rectangle 23"/>
          <p:cNvSpPr/>
          <p:nvPr/>
        </p:nvSpPr>
        <p:spPr>
          <a:xfrm>
            <a:off x="813816" y="2011680"/>
            <a:ext cx="1115568" cy="402336"/>
          </a:xfrm>
          <a:prstGeom prst="rect">
            <a:avLst/>
          </a:prstGeom>
          <a:solidFill>
            <a:srgbClr val="062212"/>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3816" y="2048256"/>
            <a:ext cx="1115568" cy="201168"/>
          </a:xfrm>
          <a:prstGeom prst="rect">
            <a:avLst/>
          </a:prstGeom>
          <a:noFill/>
        </p:spPr>
        <p:txBody>
          <a:bodyPr wrap="square">
            <a:spAutoFit/>
          </a:bodyPr>
          <a:lstStyle/>
          <a:p>
            <a:pPr algn="ctr"/>
            <a:r>
              <a:rPr sz="850" b="1" i="0">
                <a:solidFill>
                  <a:srgbClr val="39FF14"/>
                </a:solidFill>
                <a:latin typeface="Calibri"/>
              </a:rPr>
              <a:t>Host</a:t>
            </a:r>
          </a:p>
        </p:txBody>
      </p:sp>
      <p:sp>
        <p:nvSpPr>
          <p:cNvPr id="26" name="TextBox 25"/>
          <p:cNvSpPr txBox="1"/>
          <p:nvPr/>
        </p:nvSpPr>
        <p:spPr>
          <a:xfrm>
            <a:off x="813816" y="2212848"/>
            <a:ext cx="1115568" cy="164592"/>
          </a:xfrm>
          <a:prstGeom prst="rect">
            <a:avLst/>
          </a:prstGeom>
          <a:noFill/>
        </p:spPr>
        <p:txBody>
          <a:bodyPr wrap="square">
            <a:spAutoFit/>
          </a:bodyPr>
          <a:lstStyle/>
          <a:p>
            <a:pPr algn="ctr"/>
            <a:r>
              <a:rPr sz="700" b="0" i="1">
                <a:solidFill>
                  <a:srgbClr val="A0AAB8"/>
                </a:solidFill>
                <a:latin typeface="Calibri"/>
              </a:rPr>
              <a:t>192.168.1.10</a:t>
            </a:r>
          </a:p>
        </p:txBody>
      </p:sp>
      <p:sp>
        <p:nvSpPr>
          <p:cNvPr id="27" name="Rectangle 26"/>
          <p:cNvSpPr/>
          <p:nvPr/>
        </p:nvSpPr>
        <p:spPr>
          <a:xfrm>
            <a:off x="813816" y="2651760"/>
            <a:ext cx="1115568" cy="402336"/>
          </a:xfrm>
          <a:prstGeom prst="rect">
            <a:avLst/>
          </a:prstGeom>
          <a:solidFill>
            <a:srgbClr val="062212"/>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3816" y="2688336"/>
            <a:ext cx="1115568" cy="201168"/>
          </a:xfrm>
          <a:prstGeom prst="rect">
            <a:avLst/>
          </a:prstGeom>
          <a:noFill/>
        </p:spPr>
        <p:txBody>
          <a:bodyPr wrap="square">
            <a:spAutoFit/>
          </a:bodyPr>
          <a:lstStyle/>
          <a:p>
            <a:pPr algn="ctr"/>
            <a:r>
              <a:rPr sz="850" b="1" i="0">
                <a:solidFill>
                  <a:srgbClr val="39FF14"/>
                </a:solidFill>
                <a:latin typeface="Calibri"/>
              </a:rPr>
              <a:t>Port</a:t>
            </a:r>
          </a:p>
        </p:txBody>
      </p:sp>
      <p:sp>
        <p:nvSpPr>
          <p:cNvPr id="29" name="TextBox 28"/>
          <p:cNvSpPr txBox="1"/>
          <p:nvPr/>
        </p:nvSpPr>
        <p:spPr>
          <a:xfrm>
            <a:off x="813816" y="2852928"/>
            <a:ext cx="1115568" cy="164592"/>
          </a:xfrm>
          <a:prstGeom prst="rect">
            <a:avLst/>
          </a:prstGeom>
          <a:noFill/>
        </p:spPr>
        <p:txBody>
          <a:bodyPr wrap="square">
            <a:spAutoFit/>
          </a:bodyPr>
          <a:lstStyle/>
          <a:p>
            <a:pPr algn="ctr"/>
            <a:r>
              <a:rPr sz="700" b="0" i="1">
                <a:solidFill>
                  <a:srgbClr val="A0AAB8"/>
                </a:solidFill>
                <a:latin typeface="Calibri"/>
              </a:rPr>
              <a:t>:443 / :8080</a:t>
            </a:r>
          </a:p>
        </p:txBody>
      </p:sp>
      <p:sp>
        <p:nvSpPr>
          <p:cNvPr id="30" name="Rectangle 29"/>
          <p:cNvSpPr/>
          <p:nvPr/>
        </p:nvSpPr>
        <p:spPr>
          <a:xfrm>
            <a:off x="813816" y="3291840"/>
            <a:ext cx="1115568" cy="402336"/>
          </a:xfrm>
          <a:prstGeom prst="rect">
            <a:avLst/>
          </a:prstGeom>
          <a:solidFill>
            <a:srgbClr val="062212"/>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3816" y="3328416"/>
            <a:ext cx="1115568" cy="201168"/>
          </a:xfrm>
          <a:prstGeom prst="rect">
            <a:avLst/>
          </a:prstGeom>
          <a:noFill/>
        </p:spPr>
        <p:txBody>
          <a:bodyPr wrap="square">
            <a:spAutoFit/>
          </a:bodyPr>
          <a:lstStyle/>
          <a:p>
            <a:pPr algn="ctr"/>
            <a:r>
              <a:rPr sz="850" b="1" i="0">
                <a:solidFill>
                  <a:srgbClr val="39FF14"/>
                </a:solidFill>
                <a:latin typeface="Calibri"/>
              </a:rPr>
              <a:t>Service</a:t>
            </a:r>
          </a:p>
        </p:txBody>
      </p:sp>
      <p:sp>
        <p:nvSpPr>
          <p:cNvPr id="32" name="TextBox 31"/>
          <p:cNvSpPr txBox="1"/>
          <p:nvPr/>
        </p:nvSpPr>
        <p:spPr>
          <a:xfrm>
            <a:off x="813816" y="3493008"/>
            <a:ext cx="1115568" cy="164592"/>
          </a:xfrm>
          <a:prstGeom prst="rect">
            <a:avLst/>
          </a:prstGeom>
          <a:noFill/>
        </p:spPr>
        <p:txBody>
          <a:bodyPr wrap="square">
            <a:spAutoFit/>
          </a:bodyPr>
          <a:lstStyle/>
          <a:p>
            <a:pPr algn="ctr"/>
            <a:r>
              <a:rPr sz="700" b="0" i="1">
                <a:solidFill>
                  <a:srgbClr val="A0AAB8"/>
                </a:solidFill>
                <a:latin typeface="Calibri"/>
              </a:rPr>
              <a:t>Nginx 1.18.0</a:t>
            </a:r>
          </a:p>
        </p:txBody>
      </p:sp>
      <p:sp>
        <p:nvSpPr>
          <p:cNvPr id="33" name="Rectangle 32"/>
          <p:cNvSpPr/>
          <p:nvPr/>
        </p:nvSpPr>
        <p:spPr>
          <a:xfrm>
            <a:off x="2276856" y="2651760"/>
            <a:ext cx="1115568" cy="402336"/>
          </a:xfrm>
          <a:prstGeom prst="rect">
            <a:avLst/>
          </a:prstGeom>
          <a:solidFill>
            <a:srgbClr val="082018"/>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76856" y="2688336"/>
            <a:ext cx="1115568" cy="201168"/>
          </a:xfrm>
          <a:prstGeom prst="rect">
            <a:avLst/>
          </a:prstGeom>
          <a:noFill/>
        </p:spPr>
        <p:txBody>
          <a:bodyPr wrap="square">
            <a:spAutoFit/>
          </a:bodyPr>
          <a:lstStyle/>
          <a:p>
            <a:pPr algn="ctr"/>
            <a:r>
              <a:rPr sz="850" b="1" i="0">
                <a:solidFill>
                  <a:srgbClr val="00E5FF"/>
                </a:solidFill>
                <a:latin typeface="Calibri"/>
              </a:rPr>
              <a:t>Technology</a:t>
            </a:r>
          </a:p>
        </p:txBody>
      </p:sp>
      <p:sp>
        <p:nvSpPr>
          <p:cNvPr id="35" name="TextBox 34"/>
          <p:cNvSpPr txBox="1"/>
          <p:nvPr/>
        </p:nvSpPr>
        <p:spPr>
          <a:xfrm>
            <a:off x="2276856" y="2852928"/>
            <a:ext cx="1115568" cy="164592"/>
          </a:xfrm>
          <a:prstGeom prst="rect">
            <a:avLst/>
          </a:prstGeom>
          <a:noFill/>
        </p:spPr>
        <p:txBody>
          <a:bodyPr wrap="square">
            <a:spAutoFit/>
          </a:bodyPr>
          <a:lstStyle/>
          <a:p>
            <a:pPr algn="ctr"/>
            <a:r>
              <a:rPr sz="700" b="0" i="1">
                <a:solidFill>
                  <a:srgbClr val="A0AAB8"/>
                </a:solidFill>
                <a:latin typeface="Calibri"/>
              </a:rPr>
              <a:t>WordPress 5.9.3</a:t>
            </a:r>
          </a:p>
        </p:txBody>
      </p:sp>
      <p:sp>
        <p:nvSpPr>
          <p:cNvPr id="36" name="Rectangle 35"/>
          <p:cNvSpPr/>
          <p:nvPr/>
        </p:nvSpPr>
        <p:spPr>
          <a:xfrm>
            <a:off x="2276856" y="3291840"/>
            <a:ext cx="1115568" cy="402336"/>
          </a:xfrm>
          <a:prstGeom prst="rect">
            <a:avLst/>
          </a:prstGeom>
          <a:solidFill>
            <a:srgbClr val="082018"/>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76856" y="3328416"/>
            <a:ext cx="1115568" cy="201168"/>
          </a:xfrm>
          <a:prstGeom prst="rect">
            <a:avLst/>
          </a:prstGeom>
          <a:noFill/>
        </p:spPr>
        <p:txBody>
          <a:bodyPr wrap="square">
            <a:spAutoFit/>
          </a:bodyPr>
          <a:lstStyle/>
          <a:p>
            <a:pPr algn="ctr"/>
            <a:r>
              <a:rPr sz="850" b="1" i="0">
                <a:solidFill>
                  <a:srgbClr val="00E5FF"/>
                </a:solidFill>
                <a:latin typeface="Calibri"/>
              </a:rPr>
              <a:t>Endpoint</a:t>
            </a:r>
          </a:p>
        </p:txBody>
      </p:sp>
      <p:sp>
        <p:nvSpPr>
          <p:cNvPr id="38" name="TextBox 37"/>
          <p:cNvSpPr txBox="1"/>
          <p:nvPr/>
        </p:nvSpPr>
        <p:spPr>
          <a:xfrm>
            <a:off x="2276856" y="3493008"/>
            <a:ext cx="1115568" cy="164592"/>
          </a:xfrm>
          <a:prstGeom prst="rect">
            <a:avLst/>
          </a:prstGeom>
          <a:noFill/>
        </p:spPr>
        <p:txBody>
          <a:bodyPr wrap="square">
            <a:spAutoFit/>
          </a:bodyPr>
          <a:lstStyle/>
          <a:p>
            <a:pPr algn="ctr"/>
            <a:r>
              <a:rPr sz="700" b="0" i="1">
                <a:solidFill>
                  <a:srgbClr val="A0AAB8"/>
                </a:solidFill>
                <a:latin typeface="Calibri"/>
              </a:rPr>
              <a:t>/api/v1/orders</a:t>
            </a:r>
          </a:p>
        </p:txBody>
      </p:sp>
      <p:sp>
        <p:nvSpPr>
          <p:cNvPr id="39" name="Rectangle 38"/>
          <p:cNvSpPr/>
          <p:nvPr/>
        </p:nvSpPr>
        <p:spPr>
          <a:xfrm>
            <a:off x="2276856" y="3931919"/>
            <a:ext cx="1115568" cy="402336"/>
          </a:xfrm>
          <a:prstGeom prst="rect">
            <a:avLst/>
          </a:prstGeom>
          <a:solidFill>
            <a:srgbClr val="082018"/>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276856" y="3968495"/>
            <a:ext cx="1115568" cy="201168"/>
          </a:xfrm>
          <a:prstGeom prst="rect">
            <a:avLst/>
          </a:prstGeom>
          <a:noFill/>
        </p:spPr>
        <p:txBody>
          <a:bodyPr wrap="square">
            <a:spAutoFit/>
          </a:bodyPr>
          <a:lstStyle/>
          <a:p>
            <a:pPr algn="ctr"/>
            <a:r>
              <a:rPr sz="850" b="1" i="0">
                <a:solidFill>
                  <a:srgbClr val="00E5FF"/>
                </a:solidFill>
                <a:latin typeface="Calibri"/>
              </a:rPr>
              <a:t>Parameter</a:t>
            </a:r>
          </a:p>
        </p:txBody>
      </p:sp>
      <p:sp>
        <p:nvSpPr>
          <p:cNvPr id="41" name="TextBox 40"/>
          <p:cNvSpPr txBox="1"/>
          <p:nvPr/>
        </p:nvSpPr>
        <p:spPr>
          <a:xfrm>
            <a:off x="2276856" y="4133087"/>
            <a:ext cx="1115568" cy="164592"/>
          </a:xfrm>
          <a:prstGeom prst="rect">
            <a:avLst/>
          </a:prstGeom>
          <a:noFill/>
        </p:spPr>
        <p:txBody>
          <a:bodyPr wrap="square">
            <a:spAutoFit/>
          </a:bodyPr>
          <a:lstStyle/>
          <a:p>
            <a:pPr algn="ctr"/>
            <a:r>
              <a:rPr sz="700" b="0" i="1">
                <a:solidFill>
                  <a:srgbClr val="A0AAB8"/>
                </a:solidFill>
                <a:latin typeface="Calibri"/>
              </a:rPr>
              <a:t>user_id=?</a:t>
            </a:r>
          </a:p>
        </p:txBody>
      </p:sp>
      <p:sp>
        <p:nvSpPr>
          <p:cNvPr id="42" name="Rectangle 41"/>
          <p:cNvSpPr/>
          <p:nvPr/>
        </p:nvSpPr>
        <p:spPr>
          <a:xfrm>
            <a:off x="813816" y="3931919"/>
            <a:ext cx="1115568" cy="402336"/>
          </a:xfrm>
          <a:prstGeom prst="rect">
            <a:avLst/>
          </a:prstGeom>
          <a:solidFill>
            <a:srgbClr val="220606"/>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3816" y="3968495"/>
            <a:ext cx="1115568" cy="201168"/>
          </a:xfrm>
          <a:prstGeom prst="rect">
            <a:avLst/>
          </a:prstGeom>
          <a:noFill/>
        </p:spPr>
        <p:txBody>
          <a:bodyPr wrap="square">
            <a:spAutoFit/>
          </a:bodyPr>
          <a:lstStyle/>
          <a:p>
            <a:pPr algn="ctr"/>
            <a:r>
              <a:rPr sz="850" b="1" i="0">
                <a:solidFill>
                  <a:srgbClr val="FF4545"/>
                </a:solidFill>
                <a:latin typeface="Calibri"/>
              </a:rPr>
              <a:t>Vulnerability</a:t>
            </a:r>
          </a:p>
        </p:txBody>
      </p:sp>
      <p:sp>
        <p:nvSpPr>
          <p:cNvPr id="44" name="TextBox 43"/>
          <p:cNvSpPr txBox="1"/>
          <p:nvPr/>
        </p:nvSpPr>
        <p:spPr>
          <a:xfrm>
            <a:off x="813816" y="4133087"/>
            <a:ext cx="1115568" cy="164592"/>
          </a:xfrm>
          <a:prstGeom prst="rect">
            <a:avLst/>
          </a:prstGeom>
          <a:noFill/>
        </p:spPr>
        <p:txBody>
          <a:bodyPr wrap="square">
            <a:spAutoFit/>
          </a:bodyPr>
          <a:lstStyle/>
          <a:p>
            <a:pPr algn="ctr"/>
            <a:r>
              <a:rPr sz="700" b="0" i="1">
                <a:solidFill>
                  <a:srgbClr val="A0AAB8"/>
                </a:solidFill>
                <a:latin typeface="Calibri"/>
              </a:rPr>
              <a:t>CVE-2022-21661</a:t>
            </a:r>
          </a:p>
        </p:txBody>
      </p:sp>
      <p:sp>
        <p:nvSpPr>
          <p:cNvPr id="45" name="Rectangle 44"/>
          <p:cNvSpPr/>
          <p:nvPr/>
        </p:nvSpPr>
        <p:spPr>
          <a:xfrm>
            <a:off x="813816" y="4572000"/>
            <a:ext cx="1115568" cy="402336"/>
          </a:xfrm>
          <a:prstGeom prst="rect">
            <a:avLst/>
          </a:prstGeom>
          <a:solidFill>
            <a:srgbClr val="120820"/>
          </a:solidFill>
          <a:ln w="177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3816" y="4608576"/>
            <a:ext cx="1115568" cy="201168"/>
          </a:xfrm>
          <a:prstGeom prst="rect">
            <a:avLst/>
          </a:prstGeom>
          <a:noFill/>
        </p:spPr>
        <p:txBody>
          <a:bodyPr wrap="square">
            <a:spAutoFit/>
          </a:bodyPr>
          <a:lstStyle/>
          <a:p>
            <a:pPr algn="ctr"/>
            <a:r>
              <a:rPr sz="850" b="1" i="0">
                <a:solidFill>
                  <a:srgbClr val="BD93F9"/>
                </a:solidFill>
                <a:latin typeface="Calibri"/>
              </a:rPr>
              <a:t>Evidence</a:t>
            </a:r>
          </a:p>
        </p:txBody>
      </p:sp>
      <p:sp>
        <p:nvSpPr>
          <p:cNvPr id="47" name="TextBox 46"/>
          <p:cNvSpPr txBox="1"/>
          <p:nvPr/>
        </p:nvSpPr>
        <p:spPr>
          <a:xfrm>
            <a:off x="813816" y="4773168"/>
            <a:ext cx="1115568" cy="164592"/>
          </a:xfrm>
          <a:prstGeom prst="rect">
            <a:avLst/>
          </a:prstGeom>
          <a:noFill/>
        </p:spPr>
        <p:txBody>
          <a:bodyPr wrap="square">
            <a:spAutoFit/>
          </a:bodyPr>
          <a:lstStyle/>
          <a:p>
            <a:pPr algn="ctr"/>
            <a:r>
              <a:rPr sz="700" b="0" i="1">
                <a:solidFill>
                  <a:srgbClr val="A0AAB8"/>
                </a:solidFill>
                <a:latin typeface="Calibri"/>
              </a:rPr>
              <a:t>screenshot.png</a:t>
            </a:r>
          </a:p>
        </p:txBody>
      </p:sp>
      <p:cxnSp>
        <p:nvCxnSpPr>
          <p:cNvPr id="48" name="Connector 47"/>
          <p:cNvCxnSpPr/>
          <p:nvPr/>
        </p:nvCxnSpPr>
        <p:spPr>
          <a:xfrm>
            <a:off x="1371600" y="1773936.0"/>
            <a:ext cx="0" cy="237744.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68680" y="1691640"/>
            <a:ext cx="1005840" cy="201168"/>
          </a:xfrm>
          <a:prstGeom prst="rect">
            <a:avLst/>
          </a:prstGeom>
          <a:noFill/>
        </p:spPr>
        <p:txBody>
          <a:bodyPr wrap="square">
            <a:spAutoFit/>
          </a:bodyPr>
          <a:lstStyle/>
          <a:p>
            <a:pPr algn="ctr"/>
            <a:r>
              <a:rPr sz="700" b="0" i="1">
                <a:solidFill>
                  <a:srgbClr val="A0AAB8"/>
                </a:solidFill>
                <a:latin typeface="Calibri"/>
              </a:rPr>
              <a:t>has_host</a:t>
            </a:r>
          </a:p>
        </p:txBody>
      </p:sp>
      <p:cxnSp>
        <p:nvCxnSpPr>
          <p:cNvPr id="50" name="Connector 49"/>
          <p:cNvCxnSpPr/>
          <p:nvPr/>
        </p:nvCxnSpPr>
        <p:spPr>
          <a:xfrm>
            <a:off x="1371600" y="2414016.0"/>
            <a:ext cx="0" cy="237744.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68680" y="2331720"/>
            <a:ext cx="1005840" cy="201168"/>
          </a:xfrm>
          <a:prstGeom prst="rect">
            <a:avLst/>
          </a:prstGeom>
          <a:noFill/>
        </p:spPr>
        <p:txBody>
          <a:bodyPr wrap="square">
            <a:spAutoFit/>
          </a:bodyPr>
          <a:lstStyle/>
          <a:p>
            <a:pPr algn="ctr"/>
            <a:r>
              <a:rPr sz="700" b="0" i="1">
                <a:solidFill>
                  <a:srgbClr val="A0AAB8"/>
                </a:solidFill>
                <a:latin typeface="Calibri"/>
              </a:rPr>
              <a:t>has_port</a:t>
            </a:r>
          </a:p>
        </p:txBody>
      </p:sp>
      <p:cxnSp>
        <p:nvCxnSpPr>
          <p:cNvPr id="52" name="Connector 51"/>
          <p:cNvCxnSpPr/>
          <p:nvPr/>
        </p:nvCxnSpPr>
        <p:spPr>
          <a:xfrm>
            <a:off x="1371600" y="3054096.0"/>
            <a:ext cx="0" cy="237744.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68680" y="2971800"/>
            <a:ext cx="1005840" cy="201168"/>
          </a:xfrm>
          <a:prstGeom prst="rect">
            <a:avLst/>
          </a:prstGeom>
          <a:noFill/>
        </p:spPr>
        <p:txBody>
          <a:bodyPr wrap="square">
            <a:spAutoFit/>
          </a:bodyPr>
          <a:lstStyle/>
          <a:p>
            <a:pPr algn="ctr"/>
            <a:r>
              <a:rPr sz="700" b="0" i="1">
                <a:solidFill>
                  <a:srgbClr val="A0AAB8"/>
                </a:solidFill>
                <a:latin typeface="Calibri"/>
              </a:rPr>
              <a:t>runs</a:t>
            </a:r>
          </a:p>
        </p:txBody>
      </p:sp>
      <p:cxnSp>
        <p:nvCxnSpPr>
          <p:cNvPr id="54" name="Connector 53"/>
          <p:cNvCxnSpPr/>
          <p:nvPr/>
        </p:nvCxnSpPr>
        <p:spPr>
          <a:xfrm>
            <a:off x="1371600" y="3694176.0"/>
            <a:ext cx="0" cy="237743.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868680" y="3611879"/>
            <a:ext cx="1005840" cy="201168"/>
          </a:xfrm>
          <a:prstGeom prst="rect">
            <a:avLst/>
          </a:prstGeom>
          <a:noFill/>
        </p:spPr>
        <p:txBody>
          <a:bodyPr wrap="square">
            <a:spAutoFit/>
          </a:bodyPr>
          <a:lstStyle/>
          <a:p>
            <a:pPr algn="ctr"/>
            <a:r>
              <a:rPr sz="700" b="0" i="1">
                <a:solidFill>
                  <a:srgbClr val="A0AAB8"/>
                </a:solidFill>
                <a:latin typeface="Calibri"/>
              </a:rPr>
              <a:t>affected_by</a:t>
            </a:r>
          </a:p>
        </p:txBody>
      </p:sp>
      <p:cxnSp>
        <p:nvCxnSpPr>
          <p:cNvPr id="56" name="Connector 55"/>
          <p:cNvCxnSpPr/>
          <p:nvPr/>
        </p:nvCxnSpPr>
        <p:spPr>
          <a:xfrm>
            <a:off x="1371600" y="4334255.0"/>
            <a:ext cx="0" cy="237745.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868680" y="4251959"/>
            <a:ext cx="1005840" cy="201168"/>
          </a:xfrm>
          <a:prstGeom prst="rect">
            <a:avLst/>
          </a:prstGeom>
          <a:noFill/>
        </p:spPr>
        <p:txBody>
          <a:bodyPr wrap="square">
            <a:spAutoFit/>
          </a:bodyPr>
          <a:lstStyle/>
          <a:p>
            <a:pPr algn="ctr"/>
            <a:r>
              <a:rPr sz="700" b="0" i="1">
                <a:solidFill>
                  <a:srgbClr val="A0AAB8"/>
                </a:solidFill>
                <a:latin typeface="Calibri"/>
              </a:rPr>
              <a:t>validated_by</a:t>
            </a:r>
          </a:p>
        </p:txBody>
      </p:sp>
      <p:cxnSp>
        <p:nvCxnSpPr>
          <p:cNvPr id="58" name="Connector 57"/>
          <p:cNvCxnSpPr/>
          <p:nvPr/>
        </p:nvCxnSpPr>
        <p:spPr>
          <a:xfrm>
            <a:off x="1929384.0" y="2852928"/>
            <a:ext cx="347472.0" cy="0"/>
          </a:xfrm>
          <a:prstGeom prst="line">
            <a:avLst/>
          </a:prstGeom>
          <a:ln w="1016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1600200" y="2651760"/>
            <a:ext cx="1005840" cy="201168"/>
          </a:xfrm>
          <a:prstGeom prst="rect">
            <a:avLst/>
          </a:prstGeom>
          <a:noFill/>
        </p:spPr>
        <p:txBody>
          <a:bodyPr wrap="square">
            <a:spAutoFit/>
          </a:bodyPr>
          <a:lstStyle/>
          <a:p>
            <a:pPr algn="ctr"/>
            <a:r>
              <a:rPr sz="700" b="0" i="1">
                <a:solidFill>
                  <a:srgbClr val="A0AAB8"/>
                </a:solidFill>
                <a:latin typeface="Calibri"/>
              </a:rPr>
              <a:t>uses</a:t>
            </a:r>
          </a:p>
        </p:txBody>
      </p:sp>
      <p:cxnSp>
        <p:nvCxnSpPr>
          <p:cNvPr id="60" name="Connector 59"/>
          <p:cNvCxnSpPr/>
          <p:nvPr/>
        </p:nvCxnSpPr>
        <p:spPr>
          <a:xfrm>
            <a:off x="1929384.0" y="3493008"/>
            <a:ext cx="347472.0" cy="0"/>
          </a:xfrm>
          <a:prstGeom prst="line">
            <a:avLst/>
          </a:prstGeom>
          <a:ln w="1016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600200" y="3291840"/>
            <a:ext cx="1005840" cy="201168"/>
          </a:xfrm>
          <a:prstGeom prst="rect">
            <a:avLst/>
          </a:prstGeom>
          <a:noFill/>
        </p:spPr>
        <p:txBody>
          <a:bodyPr wrap="square">
            <a:spAutoFit/>
          </a:bodyPr>
          <a:lstStyle/>
          <a:p>
            <a:pPr algn="ctr"/>
            <a:r>
              <a:rPr sz="700" b="0" i="1">
                <a:solidFill>
                  <a:srgbClr val="A0AAB8"/>
                </a:solidFill>
                <a:latin typeface="Calibri"/>
              </a:rPr>
              <a:t>has_endpoint</a:t>
            </a:r>
          </a:p>
        </p:txBody>
      </p:sp>
      <p:cxnSp>
        <p:nvCxnSpPr>
          <p:cNvPr id="62" name="Connector 61"/>
          <p:cNvCxnSpPr/>
          <p:nvPr/>
        </p:nvCxnSpPr>
        <p:spPr>
          <a:xfrm>
            <a:off x="2834640" y="3694176.0"/>
            <a:ext cx="0" cy="237743.0"/>
          </a:xfrm>
          <a:prstGeom prst="line">
            <a:avLst/>
          </a:prstGeom>
          <a:ln w="1016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2331720" y="3611879"/>
            <a:ext cx="1005840" cy="201168"/>
          </a:xfrm>
          <a:prstGeom prst="rect">
            <a:avLst/>
          </a:prstGeom>
          <a:noFill/>
        </p:spPr>
        <p:txBody>
          <a:bodyPr wrap="square">
            <a:spAutoFit/>
          </a:bodyPr>
          <a:lstStyle/>
          <a:p>
            <a:pPr algn="ctr"/>
            <a:r>
              <a:rPr sz="700" b="0" i="1">
                <a:solidFill>
                  <a:srgbClr val="A0AAB8"/>
                </a:solidFill>
                <a:latin typeface="Calibri"/>
              </a:rPr>
              <a:t>has_parameter</a:t>
            </a:r>
          </a:p>
        </p:txBody>
      </p:sp>
      <p:sp>
        <p:nvSpPr>
          <p:cNvPr id="64" name="Rectangle 63"/>
          <p:cNvSpPr/>
          <p:nvPr/>
        </p:nvSpPr>
        <p:spPr>
          <a:xfrm>
            <a:off x="201168" y="5230368"/>
            <a:ext cx="5285232" cy="566928"/>
          </a:xfrm>
          <a:prstGeom prst="rect">
            <a:avLst/>
          </a:prstGeom>
          <a:solidFill>
            <a:srgbClr val="061C0C"/>
          </a:solidFill>
          <a:ln w="762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74320" y="5285232"/>
            <a:ext cx="5120640" cy="420624"/>
          </a:xfrm>
          <a:prstGeom prst="rect">
            <a:avLst/>
          </a:prstGeom>
          <a:noFill/>
        </p:spPr>
        <p:txBody>
          <a:bodyPr wrap="square">
            <a:spAutoFit/>
          </a:bodyPr>
          <a:lstStyle/>
          <a:p>
            <a:pPr algn="l"/>
            <a:r>
              <a:rPr sz="750" b="0" i="1">
                <a:solidFill>
                  <a:srgbClr val="A0AAB8"/>
                </a:solidFill>
                <a:latin typeface="Calibri"/>
              </a:rPr>
              <a:t>EDGES:  has_host  ·  has_port  ·  runs  ·  uses  ·  has_endpoint  ·  has_parameter  ·  affected_by  ·  validated_by</a:t>
            </a:r>
          </a:p>
        </p:txBody>
      </p:sp>
      <p:sp>
        <p:nvSpPr>
          <p:cNvPr id="66" name="Rectangle 65"/>
          <p:cNvSpPr/>
          <p:nvPr/>
        </p:nvSpPr>
        <p:spPr>
          <a:xfrm>
            <a:off x="6784848" y="1316736"/>
            <a:ext cx="5029200" cy="4297680"/>
          </a:xfrm>
          <a:prstGeom prst="rect">
            <a:avLst/>
          </a:prstGeom>
          <a:solidFill>
            <a:srgbClr val="140C02"/>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784848" y="1316736"/>
            <a:ext cx="502920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784848" y="1353312"/>
            <a:ext cx="5029200" cy="201168"/>
          </a:xfrm>
          <a:prstGeom prst="rect">
            <a:avLst/>
          </a:prstGeom>
          <a:noFill/>
        </p:spPr>
        <p:txBody>
          <a:bodyPr wrap="square">
            <a:spAutoFit/>
          </a:bodyPr>
          <a:lstStyle/>
          <a:p>
            <a:pPr algn="ctr"/>
            <a:r>
              <a:rPr sz="800" b="1" i="0">
                <a:solidFill>
                  <a:srgbClr val="0A0D1A"/>
                </a:solidFill>
                <a:latin typeface="Calibri"/>
              </a:rPr>
              <a:t>AttackChain  ·  risk_score: 9.1  ·  status: VALIDATED</a:t>
            </a:r>
          </a:p>
        </p:txBody>
      </p:sp>
      <p:sp>
        <p:nvSpPr>
          <p:cNvPr id="69" name="TextBox 68"/>
          <p:cNvSpPr txBox="1"/>
          <p:nvPr/>
        </p:nvSpPr>
        <p:spPr>
          <a:xfrm>
            <a:off x="6894576" y="1609344"/>
            <a:ext cx="4846320" cy="201168"/>
          </a:xfrm>
          <a:prstGeom prst="rect">
            <a:avLst/>
          </a:prstGeom>
          <a:noFill/>
        </p:spPr>
        <p:txBody>
          <a:bodyPr wrap="square">
            <a:spAutoFit/>
          </a:bodyPr>
          <a:lstStyle/>
          <a:p>
            <a:pPr algn="l"/>
            <a:r>
              <a:rPr sz="850" b="0" i="1">
                <a:solidFill>
                  <a:srgbClr val="FFD700"/>
                </a:solidFill>
                <a:latin typeface="Calibri"/>
              </a:rPr>
              <a:t>Chain-01: CVE-2022-21661 → SQL Injection → RCE → Customer PII</a:t>
            </a:r>
          </a:p>
        </p:txBody>
      </p:sp>
      <p:sp>
        <p:nvSpPr>
          <p:cNvPr id="70" name="Rectangle 69"/>
          <p:cNvSpPr/>
          <p:nvPr/>
        </p:nvSpPr>
        <p:spPr>
          <a:xfrm>
            <a:off x="8339328" y="1911096"/>
            <a:ext cx="1920240" cy="594360"/>
          </a:xfrm>
          <a:prstGeom prst="rect">
            <a:avLst/>
          </a:prstGeom>
          <a:solidFill>
            <a:srgbClr val="1E1402"/>
          </a:solidFill>
          <a:ln w="203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430768" y="1947672"/>
            <a:ext cx="731520" cy="256032"/>
          </a:xfrm>
          <a:prstGeom prst="rect">
            <a:avLst/>
          </a:prstGeom>
          <a:noFill/>
        </p:spPr>
        <p:txBody>
          <a:bodyPr wrap="square">
            <a:spAutoFit/>
          </a:bodyPr>
          <a:lstStyle/>
          <a:p>
            <a:pPr algn="l"/>
            <a:r>
              <a:rPr sz="850" b="1" i="0">
                <a:solidFill>
                  <a:srgbClr val="FFD700"/>
                </a:solidFill>
                <a:latin typeface="Calibri"/>
              </a:rPr>
              <a:t>STEP 1</a:t>
            </a:r>
          </a:p>
        </p:txBody>
      </p:sp>
      <p:sp>
        <p:nvSpPr>
          <p:cNvPr id="72" name="Rectangle 71"/>
          <p:cNvSpPr/>
          <p:nvPr/>
        </p:nvSpPr>
        <p:spPr>
          <a:xfrm>
            <a:off x="9244584" y="1965960"/>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244584" y="1975104"/>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74" name="TextBox 73"/>
          <p:cNvSpPr txBox="1"/>
          <p:nvPr/>
        </p:nvSpPr>
        <p:spPr>
          <a:xfrm>
            <a:off x="8430768" y="2185416"/>
            <a:ext cx="1773936" cy="310896"/>
          </a:xfrm>
          <a:prstGeom prst="rect">
            <a:avLst/>
          </a:prstGeom>
          <a:noFill/>
        </p:spPr>
        <p:txBody>
          <a:bodyPr wrap="square">
            <a:spAutoFit/>
          </a:bodyPr>
          <a:lstStyle/>
          <a:p>
            <a:pPr algn="l"/>
            <a:r>
              <a:rPr sz="800" b="0" i="0">
                <a:solidFill>
                  <a:srgbClr val="A0AAB8"/>
                </a:solidFill>
                <a:latin typeface="Calibri"/>
              </a:rPr>
              <a:t>SQLMap → WP_Query
SQLi confirmed</a:t>
            </a:r>
          </a:p>
        </p:txBody>
      </p:sp>
      <p:cxnSp>
        <p:nvCxnSpPr>
          <p:cNvPr id="75" name="Connector 74"/>
          <p:cNvCxnSpPr/>
          <p:nvPr/>
        </p:nvCxnSpPr>
        <p:spPr>
          <a:xfrm>
            <a:off x="9299448.0" y="2505456"/>
            <a:ext cx="0.0" cy="201168"/>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9354312" y="2523744"/>
            <a:ext cx="731520" cy="182880"/>
          </a:xfrm>
          <a:prstGeom prst="rect">
            <a:avLst/>
          </a:prstGeom>
          <a:noFill/>
        </p:spPr>
        <p:txBody>
          <a:bodyPr wrap="square">
            <a:spAutoFit/>
          </a:bodyPr>
          <a:lstStyle/>
          <a:p>
            <a:pPr algn="l"/>
            <a:r>
              <a:rPr sz="650" b="0" i="1">
                <a:solidFill>
                  <a:srgbClr val="A0AAB8"/>
                </a:solidFill>
                <a:latin typeface="Calibri"/>
              </a:rPr>
              <a:t>next_step</a:t>
            </a:r>
          </a:p>
        </p:txBody>
      </p:sp>
      <p:sp>
        <p:nvSpPr>
          <p:cNvPr id="77" name="TextBox 76"/>
          <p:cNvSpPr txBox="1"/>
          <p:nvPr/>
        </p:nvSpPr>
        <p:spPr>
          <a:xfrm>
            <a:off x="10332720" y="2048256"/>
            <a:ext cx="777240" cy="329184"/>
          </a:xfrm>
          <a:prstGeom prst="rect">
            <a:avLst/>
          </a:prstGeom>
          <a:noFill/>
        </p:spPr>
        <p:txBody>
          <a:bodyPr wrap="square">
            <a:spAutoFit/>
          </a:bodyPr>
          <a:lstStyle/>
          <a:p>
            <a:pPr algn="l"/>
            <a:r>
              <a:rPr sz="650" b="0" i="1">
                <a:solidFill>
                  <a:srgbClr val="BD93F9"/>
                </a:solidFill>
                <a:latin typeface="Calibri"/>
              </a:rPr>
              <a:t>↗ supported_by
ASG Evidence</a:t>
            </a:r>
          </a:p>
        </p:txBody>
      </p:sp>
      <p:sp>
        <p:nvSpPr>
          <p:cNvPr id="78" name="Rectangle 77"/>
          <p:cNvSpPr/>
          <p:nvPr/>
        </p:nvSpPr>
        <p:spPr>
          <a:xfrm>
            <a:off x="8339328" y="2706624"/>
            <a:ext cx="1920240" cy="594360"/>
          </a:xfrm>
          <a:prstGeom prst="rect">
            <a:avLst/>
          </a:prstGeom>
          <a:solidFill>
            <a:srgbClr val="1E1402"/>
          </a:solidFill>
          <a:ln w="203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430768" y="2743200"/>
            <a:ext cx="731520" cy="256032"/>
          </a:xfrm>
          <a:prstGeom prst="rect">
            <a:avLst/>
          </a:prstGeom>
          <a:noFill/>
        </p:spPr>
        <p:txBody>
          <a:bodyPr wrap="square">
            <a:spAutoFit/>
          </a:bodyPr>
          <a:lstStyle/>
          <a:p>
            <a:pPr algn="l"/>
            <a:r>
              <a:rPr sz="850" b="1" i="0">
                <a:solidFill>
                  <a:srgbClr val="FFD700"/>
                </a:solidFill>
                <a:latin typeface="Calibri"/>
              </a:rPr>
              <a:t>STEP 2</a:t>
            </a:r>
          </a:p>
        </p:txBody>
      </p:sp>
      <p:sp>
        <p:nvSpPr>
          <p:cNvPr id="80" name="Rectangle 79"/>
          <p:cNvSpPr/>
          <p:nvPr/>
        </p:nvSpPr>
        <p:spPr>
          <a:xfrm>
            <a:off x="9244584" y="2761488"/>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9244584" y="2770632"/>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82" name="TextBox 81"/>
          <p:cNvSpPr txBox="1"/>
          <p:nvPr/>
        </p:nvSpPr>
        <p:spPr>
          <a:xfrm>
            <a:off x="8430768" y="2980944"/>
            <a:ext cx="1773936" cy="310896"/>
          </a:xfrm>
          <a:prstGeom prst="rect">
            <a:avLst/>
          </a:prstGeom>
          <a:noFill/>
        </p:spPr>
        <p:txBody>
          <a:bodyPr wrap="square">
            <a:spAutoFit/>
          </a:bodyPr>
          <a:lstStyle/>
          <a:p>
            <a:pPr algn="l"/>
            <a:r>
              <a:rPr sz="800" b="0" i="0">
                <a:solidFill>
                  <a:srgbClr val="A0AAB8"/>
                </a:solidFill>
                <a:latin typeface="Calibri"/>
              </a:rPr>
              <a:t>Admin hash extracted
+ cracked offline</a:t>
            </a:r>
          </a:p>
        </p:txBody>
      </p:sp>
      <p:cxnSp>
        <p:nvCxnSpPr>
          <p:cNvPr id="83" name="Connector 82"/>
          <p:cNvCxnSpPr/>
          <p:nvPr/>
        </p:nvCxnSpPr>
        <p:spPr>
          <a:xfrm>
            <a:off x="9299448.0" y="3300984"/>
            <a:ext cx="0.0" cy="201168"/>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9354312" y="3319272"/>
            <a:ext cx="731520" cy="182880"/>
          </a:xfrm>
          <a:prstGeom prst="rect">
            <a:avLst/>
          </a:prstGeom>
          <a:noFill/>
        </p:spPr>
        <p:txBody>
          <a:bodyPr wrap="square">
            <a:spAutoFit/>
          </a:bodyPr>
          <a:lstStyle/>
          <a:p>
            <a:pPr algn="l"/>
            <a:r>
              <a:rPr sz="650" b="0" i="1">
                <a:solidFill>
                  <a:srgbClr val="A0AAB8"/>
                </a:solidFill>
                <a:latin typeface="Calibri"/>
              </a:rPr>
              <a:t>next_step</a:t>
            </a:r>
          </a:p>
        </p:txBody>
      </p:sp>
      <p:sp>
        <p:nvSpPr>
          <p:cNvPr id="85" name="TextBox 84"/>
          <p:cNvSpPr txBox="1"/>
          <p:nvPr/>
        </p:nvSpPr>
        <p:spPr>
          <a:xfrm>
            <a:off x="10332720" y="2843784"/>
            <a:ext cx="777240" cy="329184"/>
          </a:xfrm>
          <a:prstGeom prst="rect">
            <a:avLst/>
          </a:prstGeom>
          <a:noFill/>
        </p:spPr>
        <p:txBody>
          <a:bodyPr wrap="square">
            <a:spAutoFit/>
          </a:bodyPr>
          <a:lstStyle/>
          <a:p>
            <a:pPr algn="l"/>
            <a:r>
              <a:rPr sz="650" b="0" i="1">
                <a:solidFill>
                  <a:srgbClr val="BD93F9"/>
                </a:solidFill>
                <a:latin typeface="Calibri"/>
              </a:rPr>
              <a:t>↗ supported_by
ASG Evidence</a:t>
            </a:r>
          </a:p>
        </p:txBody>
      </p:sp>
      <p:sp>
        <p:nvSpPr>
          <p:cNvPr id="86" name="Rectangle 85"/>
          <p:cNvSpPr/>
          <p:nvPr/>
        </p:nvSpPr>
        <p:spPr>
          <a:xfrm>
            <a:off x="8339328" y="3502152"/>
            <a:ext cx="1920240" cy="594360"/>
          </a:xfrm>
          <a:prstGeom prst="rect">
            <a:avLst/>
          </a:prstGeom>
          <a:solidFill>
            <a:srgbClr val="1E1402"/>
          </a:solidFill>
          <a:ln w="2032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430768" y="3538728"/>
            <a:ext cx="731520" cy="256032"/>
          </a:xfrm>
          <a:prstGeom prst="rect">
            <a:avLst/>
          </a:prstGeom>
          <a:noFill/>
        </p:spPr>
        <p:txBody>
          <a:bodyPr wrap="square">
            <a:spAutoFit/>
          </a:bodyPr>
          <a:lstStyle/>
          <a:p>
            <a:pPr algn="l"/>
            <a:r>
              <a:rPr sz="850" b="1" i="0">
                <a:solidFill>
                  <a:srgbClr val="FF4545"/>
                </a:solidFill>
                <a:latin typeface="Calibri"/>
              </a:rPr>
              <a:t>STEP 3</a:t>
            </a:r>
          </a:p>
        </p:txBody>
      </p:sp>
      <p:sp>
        <p:nvSpPr>
          <p:cNvPr id="88" name="Rectangle 87"/>
          <p:cNvSpPr/>
          <p:nvPr/>
        </p:nvSpPr>
        <p:spPr>
          <a:xfrm>
            <a:off x="9244584" y="3557016"/>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244584" y="3566160"/>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90" name="TextBox 89"/>
          <p:cNvSpPr txBox="1"/>
          <p:nvPr/>
        </p:nvSpPr>
        <p:spPr>
          <a:xfrm>
            <a:off x="8430768" y="3776472"/>
            <a:ext cx="1773936" cy="310896"/>
          </a:xfrm>
          <a:prstGeom prst="rect">
            <a:avLst/>
          </a:prstGeom>
          <a:noFill/>
        </p:spPr>
        <p:txBody>
          <a:bodyPr wrap="square">
            <a:spAutoFit/>
          </a:bodyPr>
          <a:lstStyle/>
          <a:p>
            <a:pPr algn="l"/>
            <a:r>
              <a:rPr sz="800" b="0" i="0">
                <a:solidFill>
                  <a:srgbClr val="A0AAB8"/>
                </a:solidFill>
                <a:latin typeface="Calibri"/>
              </a:rPr>
              <a:t>Metasploit → Web shell
RCE achieved</a:t>
            </a:r>
          </a:p>
        </p:txBody>
      </p:sp>
      <p:cxnSp>
        <p:nvCxnSpPr>
          <p:cNvPr id="91" name="Connector 90"/>
          <p:cNvCxnSpPr/>
          <p:nvPr/>
        </p:nvCxnSpPr>
        <p:spPr>
          <a:xfrm>
            <a:off x="9299448.0" y="4096512"/>
            <a:ext cx="0.0" cy="201168"/>
          </a:xfrm>
          <a:prstGeom prst="line">
            <a:avLst/>
          </a:prstGeom>
          <a:ln w="1524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9354312" y="4114800"/>
            <a:ext cx="731520" cy="182880"/>
          </a:xfrm>
          <a:prstGeom prst="rect">
            <a:avLst/>
          </a:prstGeom>
          <a:noFill/>
        </p:spPr>
        <p:txBody>
          <a:bodyPr wrap="square">
            <a:spAutoFit/>
          </a:bodyPr>
          <a:lstStyle/>
          <a:p>
            <a:pPr algn="l"/>
            <a:r>
              <a:rPr sz="650" b="0" i="1">
                <a:solidFill>
                  <a:srgbClr val="A0AAB8"/>
                </a:solidFill>
                <a:latin typeface="Calibri"/>
              </a:rPr>
              <a:t>next_step</a:t>
            </a:r>
          </a:p>
        </p:txBody>
      </p:sp>
      <p:sp>
        <p:nvSpPr>
          <p:cNvPr id="93" name="TextBox 92"/>
          <p:cNvSpPr txBox="1"/>
          <p:nvPr/>
        </p:nvSpPr>
        <p:spPr>
          <a:xfrm>
            <a:off x="10332720" y="3639312"/>
            <a:ext cx="777240" cy="329184"/>
          </a:xfrm>
          <a:prstGeom prst="rect">
            <a:avLst/>
          </a:prstGeom>
          <a:noFill/>
        </p:spPr>
        <p:txBody>
          <a:bodyPr wrap="square">
            <a:spAutoFit/>
          </a:bodyPr>
          <a:lstStyle/>
          <a:p>
            <a:pPr algn="l"/>
            <a:r>
              <a:rPr sz="650" b="0" i="1">
                <a:solidFill>
                  <a:srgbClr val="BD93F9"/>
                </a:solidFill>
                <a:latin typeface="Calibri"/>
              </a:rPr>
              <a:t>↗ supported_by
ASG Evidence</a:t>
            </a:r>
          </a:p>
        </p:txBody>
      </p:sp>
      <p:sp>
        <p:nvSpPr>
          <p:cNvPr id="94" name="Rectangle 93"/>
          <p:cNvSpPr/>
          <p:nvPr/>
        </p:nvSpPr>
        <p:spPr>
          <a:xfrm>
            <a:off x="8339328" y="4297680"/>
            <a:ext cx="1920240" cy="594360"/>
          </a:xfrm>
          <a:prstGeom prst="rect">
            <a:avLst/>
          </a:prstGeom>
          <a:solidFill>
            <a:srgbClr val="160820"/>
          </a:solidFill>
          <a:ln w="203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430768" y="4334256"/>
            <a:ext cx="731520" cy="256032"/>
          </a:xfrm>
          <a:prstGeom prst="rect">
            <a:avLst/>
          </a:prstGeom>
          <a:noFill/>
        </p:spPr>
        <p:txBody>
          <a:bodyPr wrap="square">
            <a:spAutoFit/>
          </a:bodyPr>
          <a:lstStyle/>
          <a:p>
            <a:pPr algn="l"/>
            <a:r>
              <a:rPr sz="850" b="1" i="0">
                <a:solidFill>
                  <a:srgbClr val="BD93F9"/>
                </a:solidFill>
                <a:latin typeface="Calibri"/>
              </a:rPr>
              <a:t>IMPACT</a:t>
            </a:r>
          </a:p>
        </p:txBody>
      </p:sp>
      <p:sp>
        <p:nvSpPr>
          <p:cNvPr id="96" name="Rectangle 95"/>
          <p:cNvSpPr/>
          <p:nvPr/>
        </p:nvSpPr>
        <p:spPr>
          <a:xfrm>
            <a:off x="9244584" y="4352544"/>
            <a:ext cx="960120" cy="18288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9244584" y="4361688"/>
            <a:ext cx="960120" cy="164592"/>
          </a:xfrm>
          <a:prstGeom prst="rect">
            <a:avLst/>
          </a:prstGeom>
          <a:noFill/>
        </p:spPr>
        <p:txBody>
          <a:bodyPr wrap="square">
            <a:spAutoFit/>
          </a:bodyPr>
          <a:lstStyle/>
          <a:p>
            <a:pPr algn="ctr"/>
            <a:r>
              <a:rPr sz="650" b="1" i="0">
                <a:solidFill>
                  <a:srgbClr val="0A0D1A"/>
                </a:solidFill>
                <a:latin typeface="Calibri"/>
              </a:rPr>
              <a:t>DEMONSTRATED</a:t>
            </a:r>
          </a:p>
        </p:txBody>
      </p:sp>
      <p:sp>
        <p:nvSpPr>
          <p:cNvPr id="98" name="TextBox 97"/>
          <p:cNvSpPr txBox="1"/>
          <p:nvPr/>
        </p:nvSpPr>
        <p:spPr>
          <a:xfrm>
            <a:off x="8430768" y="4572000"/>
            <a:ext cx="1773936" cy="310896"/>
          </a:xfrm>
          <a:prstGeom prst="rect">
            <a:avLst/>
          </a:prstGeom>
          <a:noFill/>
        </p:spPr>
        <p:txBody>
          <a:bodyPr wrap="square">
            <a:spAutoFit/>
          </a:bodyPr>
          <a:lstStyle/>
          <a:p>
            <a:pPr algn="l"/>
            <a:r>
              <a:rPr sz="800" b="0" i="0">
                <a:solidFill>
                  <a:srgbClr val="A0AAB8"/>
                </a:solidFill>
                <a:latin typeface="Calibri"/>
              </a:rPr>
              <a:t>Full server access
Customer PII exposed</a:t>
            </a:r>
          </a:p>
        </p:txBody>
      </p:sp>
      <p:sp>
        <p:nvSpPr>
          <p:cNvPr id="99" name="TextBox 98"/>
          <p:cNvSpPr txBox="1"/>
          <p:nvPr/>
        </p:nvSpPr>
        <p:spPr>
          <a:xfrm>
            <a:off x="10332720" y="4434840"/>
            <a:ext cx="777240" cy="329184"/>
          </a:xfrm>
          <a:prstGeom prst="rect">
            <a:avLst/>
          </a:prstGeom>
          <a:noFill/>
        </p:spPr>
        <p:txBody>
          <a:bodyPr wrap="square">
            <a:spAutoFit/>
          </a:bodyPr>
          <a:lstStyle/>
          <a:p>
            <a:pPr algn="l"/>
            <a:r>
              <a:rPr sz="650" b="0" i="1">
                <a:solidFill>
                  <a:srgbClr val="BD93F9"/>
                </a:solidFill>
                <a:latin typeface="Calibri"/>
              </a:rPr>
              <a:t>↗ supported_by
ASG Evidence</a:t>
            </a:r>
          </a:p>
        </p:txBody>
      </p:sp>
      <p:sp>
        <p:nvSpPr>
          <p:cNvPr id="100" name="TextBox 99"/>
          <p:cNvSpPr txBox="1"/>
          <p:nvPr/>
        </p:nvSpPr>
        <p:spPr>
          <a:xfrm>
            <a:off x="6894576" y="1810512"/>
            <a:ext cx="4846320" cy="182880"/>
          </a:xfrm>
          <a:prstGeom prst="rect">
            <a:avLst/>
          </a:prstGeom>
          <a:noFill/>
        </p:spPr>
        <p:txBody>
          <a:bodyPr wrap="square">
            <a:spAutoFit/>
          </a:bodyPr>
          <a:lstStyle/>
          <a:p>
            <a:pPr algn="l"/>
            <a:r>
              <a:rPr sz="750" b="0" i="1">
                <a:solidFill>
                  <a:srgbClr val="A0AAB8"/>
                </a:solidFill>
                <a:latin typeface="Calibri"/>
              </a:rPr>
              <a:t>starts_at: ASG Vulnerability node</a:t>
            </a:r>
          </a:p>
        </p:txBody>
      </p:sp>
      <p:sp>
        <p:nvSpPr>
          <p:cNvPr id="101" name="Rectangle 100"/>
          <p:cNvSpPr/>
          <p:nvPr/>
        </p:nvSpPr>
        <p:spPr>
          <a:xfrm>
            <a:off x="6711696" y="5230368"/>
            <a:ext cx="5285232" cy="566928"/>
          </a:xfrm>
          <a:prstGeom prst="rect">
            <a:avLst/>
          </a:prstGeom>
          <a:solidFill>
            <a:srgbClr val="1C1002"/>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784848" y="5285232"/>
            <a:ext cx="5120640" cy="457200"/>
          </a:xfrm>
          <a:prstGeom prst="rect">
            <a:avLst/>
          </a:prstGeom>
          <a:noFill/>
        </p:spPr>
        <p:txBody>
          <a:bodyPr wrap="square">
            <a:spAutoFit/>
          </a:bodyPr>
          <a:lstStyle/>
          <a:p>
            <a:pPr algn="l"/>
            <a:r>
              <a:rPr sz="750" b="0" i="1">
                <a:solidFill>
                  <a:srgbClr val="A0AAB8"/>
                </a:solidFill>
                <a:latin typeface="Calibri"/>
              </a:rPr>
              <a:t>EDGES:  starts_at  ·  next_step  ·  achieves  ·  supported_by
VALIDATION STATUS:  HYPOTHESIZED → PARTIALLY_VALIDATED → VALIDATED / RULED_OUT</a:t>
            </a:r>
          </a:p>
        </p:txBody>
      </p:sp>
      <p:sp>
        <p:nvSpPr>
          <p:cNvPr id="103" name="Rectangle 102"/>
          <p:cNvSpPr/>
          <p:nvPr/>
        </p:nvSpPr>
        <p:spPr>
          <a:xfrm>
            <a:off x="164592" y="5870448"/>
            <a:ext cx="11862511" cy="658368"/>
          </a:xfrm>
          <a:prstGeom prst="rect">
            <a:avLst/>
          </a:prstGeom>
          <a:solidFill>
            <a:srgbClr val="061422"/>
          </a:solidFill>
          <a:ln w="190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457200" y="5943600"/>
            <a:ext cx="11368735" cy="530352"/>
          </a:xfrm>
          <a:prstGeom prst="rect">
            <a:avLst/>
          </a:prstGeom>
          <a:noFill/>
        </p:spPr>
        <p:txBody>
          <a:bodyPr wrap="square">
            <a:spAutoFit/>
          </a:bodyPr>
          <a:lstStyle/>
          <a:p>
            <a:pPr algn="l"/>
            <a:r>
              <a:rPr sz="1100" b="0" i="1">
                <a:solidFill>
                  <a:srgbClr val="00E5FF"/>
                </a:solidFill>
                <a:latin typeface="Calibri"/>
              </a:rPr>
              <a:t>Separation Principle:  Discovery agents write only to the ASG — they never reason about chains.  The Commander writes only to the APG — it never runs tools.  No agent conflates discovered facts with hypothesised attack reasoning.</a:t>
            </a:r>
          </a:p>
        </p:txBody>
      </p:sp>
      <p:sp>
        <p:nvSpPr>
          <p:cNvPr id="105" name="TextBox 104"/>
          <p:cNvSpPr txBox="1"/>
          <p:nvPr/>
        </p:nvSpPr>
        <p:spPr>
          <a:xfrm>
            <a:off x="11780215" y="6355080"/>
            <a:ext cx="384048" cy="411480"/>
          </a:xfrm>
          <a:prstGeom prst="rect">
            <a:avLst/>
          </a:prstGeom>
          <a:noFill/>
        </p:spPr>
        <p:txBody>
          <a:bodyPr wrap="square">
            <a:spAutoFit/>
          </a:bodyPr>
          <a:lstStyle/>
          <a:p>
            <a:pPr algn="r"/>
            <a:r>
              <a:rPr sz="1300" b="1" i="0">
                <a:solidFill>
                  <a:srgbClr val="39FF14"/>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5486400" cy="237744"/>
          </a:xfrm>
          <a:prstGeom prst="rect">
            <a:avLst/>
          </a:prstGeom>
          <a:noFill/>
        </p:spPr>
        <p:txBody>
          <a:bodyPr wrap="square">
            <a:spAutoFit/>
          </a:bodyPr>
          <a:lstStyle/>
          <a:p>
            <a:pPr algn="l"/>
            <a:r>
              <a:rPr sz="1000" b="1" i="0">
                <a:solidFill>
                  <a:srgbClr val="BD93F9"/>
                </a:solidFill>
                <a:latin typeface="Calibri"/>
              </a:rPr>
              <a:t>AGENT ARCHITECTURE</a:t>
            </a:r>
          </a:p>
        </p:txBody>
      </p:sp>
      <p:sp>
        <p:nvSpPr>
          <p:cNvPr id="6" name="TextBox 5"/>
          <p:cNvSpPr txBox="1"/>
          <p:nvPr/>
        </p:nvSpPr>
        <p:spPr>
          <a:xfrm>
            <a:off x="274320" y="292608"/>
            <a:ext cx="10058400" cy="438912"/>
          </a:xfrm>
          <a:prstGeom prst="rect">
            <a:avLst/>
          </a:prstGeom>
          <a:noFill/>
        </p:spPr>
        <p:txBody>
          <a:bodyPr wrap="square">
            <a:spAutoFit/>
          </a:bodyPr>
          <a:lstStyle/>
          <a:p>
            <a:pPr algn="l"/>
            <a:r>
              <a:rPr sz="2400" b="1" i="0">
                <a:solidFill>
                  <a:srgbClr val="FFFFFF"/>
                </a:solidFill>
                <a:latin typeface="Calibri"/>
              </a:rPr>
              <a:t>Context-Isolated Agents — Spawn · Execute · Return · Discard</a:t>
            </a:r>
          </a:p>
        </p:txBody>
      </p:sp>
      <p:sp>
        <p:nvSpPr>
          <p:cNvPr id="7" name="Rectangle 6"/>
          <p:cNvSpPr/>
          <p:nvPr/>
        </p:nvSpPr>
        <p:spPr>
          <a:xfrm>
            <a:off x="164592" y="804672"/>
            <a:ext cx="4434840" cy="5797296"/>
          </a:xfrm>
          <a:prstGeom prst="rect">
            <a:avLst/>
          </a:prstGeom>
          <a:solidFill>
            <a:srgbClr val="080C20"/>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 y="859536"/>
            <a:ext cx="4434840" cy="201168"/>
          </a:xfrm>
          <a:prstGeom prst="rect">
            <a:avLst/>
          </a:prstGeom>
          <a:noFill/>
        </p:spPr>
        <p:txBody>
          <a:bodyPr wrap="square">
            <a:spAutoFit/>
          </a:bodyPr>
          <a:lstStyle/>
          <a:p>
            <a:pPr algn="ctr"/>
            <a:r>
              <a:rPr sz="900" b="1" i="0">
                <a:solidFill>
                  <a:srgbClr val="BD93F9"/>
                </a:solidFill>
                <a:latin typeface="Calibri"/>
              </a:rPr>
              <a:t>CONTEXT ISOLATION MODEL</a:t>
            </a:r>
          </a:p>
        </p:txBody>
      </p:sp>
      <p:sp>
        <p:nvSpPr>
          <p:cNvPr id="9" name="Rectangle 8"/>
          <p:cNvSpPr/>
          <p:nvPr/>
        </p:nvSpPr>
        <p:spPr>
          <a:xfrm>
            <a:off x="987552" y="1152144"/>
            <a:ext cx="2743200" cy="502920"/>
          </a:xfrm>
          <a:prstGeom prst="rect">
            <a:avLst/>
          </a:prstGeom>
          <a:solidFill>
            <a:srgbClr val="041832"/>
          </a:solidFill>
          <a:ln w="228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87552" y="1152144"/>
            <a:ext cx="2743200" cy="18288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1170432"/>
            <a:ext cx="2743200" cy="164592"/>
          </a:xfrm>
          <a:prstGeom prst="rect">
            <a:avLst/>
          </a:prstGeom>
          <a:noFill/>
        </p:spPr>
        <p:txBody>
          <a:bodyPr wrap="square">
            <a:spAutoFit/>
          </a:bodyPr>
          <a:lstStyle/>
          <a:p>
            <a:pPr algn="ctr"/>
            <a:r>
              <a:rPr sz="800" b="1" i="0">
                <a:solidFill>
                  <a:srgbClr val="0A0D1A"/>
                </a:solidFill>
                <a:latin typeface="Calibri"/>
              </a:rPr>
              <a:t>COMMANDER AGENT</a:t>
            </a:r>
          </a:p>
        </p:txBody>
      </p:sp>
      <p:sp>
        <p:nvSpPr>
          <p:cNvPr id="12" name="TextBox 11"/>
          <p:cNvSpPr txBox="1"/>
          <p:nvPr/>
        </p:nvSpPr>
        <p:spPr>
          <a:xfrm>
            <a:off x="987552" y="1353312"/>
            <a:ext cx="2743200" cy="237744"/>
          </a:xfrm>
          <a:prstGeom prst="rect">
            <a:avLst/>
          </a:prstGeom>
          <a:noFill/>
        </p:spPr>
        <p:txBody>
          <a:bodyPr wrap="square">
            <a:spAutoFit/>
          </a:bodyPr>
          <a:lstStyle/>
          <a:p>
            <a:pPr algn="ctr"/>
            <a:r>
              <a:rPr sz="800" b="0" i="1">
                <a:solidFill>
                  <a:srgbClr val="A0AAB8"/>
                </a:solidFill>
                <a:latin typeface="Calibri"/>
              </a:rPr>
              <a:t>Reads ASG + APG → decides next action</a:t>
            </a:r>
          </a:p>
        </p:txBody>
      </p:sp>
      <p:cxnSp>
        <p:nvCxnSpPr>
          <p:cNvPr id="13" name="Connector 12"/>
          <p:cNvCxnSpPr/>
          <p:nvPr/>
        </p:nvCxnSpPr>
        <p:spPr>
          <a:xfrm>
            <a:off x="2382012.0" y="1655064"/>
            <a:ext cx="0.0" cy="228600"/>
          </a:xfrm>
          <a:prstGeom prst="line">
            <a:avLst/>
          </a:prstGeom>
          <a:ln w="19050">
            <a:solidFill>
              <a:srgbClr val="BD93F9"/>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455164" y="1673352"/>
            <a:ext cx="1645920" cy="201168"/>
          </a:xfrm>
          <a:prstGeom prst="rect">
            <a:avLst/>
          </a:prstGeom>
          <a:noFill/>
        </p:spPr>
        <p:txBody>
          <a:bodyPr wrap="square">
            <a:spAutoFit/>
          </a:bodyPr>
          <a:lstStyle/>
          <a:p>
            <a:pPr algn="l"/>
            <a:r>
              <a:rPr sz="750" b="0" i="1">
                <a:solidFill>
                  <a:srgbClr val="BD93F9"/>
                </a:solidFill>
                <a:latin typeface="Calibri"/>
              </a:rPr>
              <a:t>spawn with scoped context</a:t>
            </a:r>
          </a:p>
        </p:txBody>
      </p:sp>
      <p:sp>
        <p:nvSpPr>
          <p:cNvPr id="15" name="Rectangle 14"/>
          <p:cNvSpPr/>
          <p:nvPr/>
        </p:nvSpPr>
        <p:spPr>
          <a:xfrm>
            <a:off x="365760" y="1947672"/>
            <a:ext cx="4032504" cy="3200400"/>
          </a:xfrm>
          <a:prstGeom prst="rect">
            <a:avLst/>
          </a:prstGeom>
          <a:solidFill>
            <a:srgbClr val="0A1028"/>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1947672"/>
            <a:ext cx="4032504" cy="219456"/>
          </a:xfrm>
          <a:prstGeom prst="rect">
            <a:avLst/>
          </a:prstGeom>
          <a:solidFill>
            <a:srgbClr val="201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1984248"/>
            <a:ext cx="4032504" cy="164592"/>
          </a:xfrm>
          <a:prstGeom prst="rect">
            <a:avLst/>
          </a:prstGeom>
          <a:noFill/>
        </p:spPr>
        <p:txBody>
          <a:bodyPr wrap="square">
            <a:spAutoFit/>
          </a:bodyPr>
          <a:lstStyle/>
          <a:p>
            <a:pPr algn="ctr"/>
            <a:r>
              <a:rPr sz="750" b="1" i="0">
                <a:solidFill>
                  <a:srgbClr val="BD93F9"/>
                </a:solidFill>
                <a:latin typeface="Calibri"/>
              </a:rPr>
              <a:t>ISOLATED AGENT CONTEXT  (fresh per task)</a:t>
            </a:r>
          </a:p>
        </p:txBody>
      </p:sp>
      <p:sp>
        <p:nvSpPr>
          <p:cNvPr id="18" name="Rectangle 17"/>
          <p:cNvSpPr/>
          <p:nvPr/>
        </p:nvSpPr>
        <p:spPr>
          <a:xfrm>
            <a:off x="457200" y="2221992"/>
            <a:ext cx="3849624" cy="665226"/>
          </a:xfrm>
          <a:prstGeom prst="rect">
            <a:avLst/>
          </a:prstGeom>
          <a:solidFill>
            <a:srgbClr val="0416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0352" y="2258568"/>
            <a:ext cx="1005840" cy="592074"/>
          </a:xfrm>
          <a:prstGeom prst="rect">
            <a:avLst/>
          </a:prstGeom>
          <a:noFill/>
        </p:spPr>
        <p:txBody>
          <a:bodyPr wrap="square">
            <a:spAutoFit/>
          </a:bodyPr>
          <a:lstStyle/>
          <a:p>
            <a:pPr algn="l"/>
            <a:r>
              <a:rPr sz="800" b="1" i="0">
                <a:solidFill>
                  <a:srgbClr val="39FF14"/>
                </a:solidFill>
                <a:latin typeface="Calibri"/>
              </a:rPr>
              <a:t>ASG SLICE</a:t>
            </a:r>
          </a:p>
        </p:txBody>
      </p:sp>
      <p:sp>
        <p:nvSpPr>
          <p:cNvPr id="20" name="TextBox 19"/>
          <p:cNvSpPr txBox="1"/>
          <p:nvPr/>
        </p:nvSpPr>
        <p:spPr>
          <a:xfrm>
            <a:off x="1572768" y="2258568"/>
            <a:ext cx="2660904" cy="592074"/>
          </a:xfrm>
          <a:prstGeom prst="rect">
            <a:avLst/>
          </a:prstGeom>
          <a:noFill/>
        </p:spPr>
        <p:txBody>
          <a:bodyPr wrap="square">
            <a:spAutoFit/>
          </a:bodyPr>
          <a:lstStyle/>
          <a:p>
            <a:pPr algn="l"/>
            <a:r>
              <a:rPr sz="800" b="0" i="1">
                <a:solidFill>
                  <a:srgbClr val="A0AAB8"/>
                </a:solidFill>
                <a:latin typeface="Calibri"/>
              </a:rPr>
              <a:t>Only nodes relevant to this task</a:t>
            </a:r>
          </a:p>
        </p:txBody>
      </p:sp>
      <p:sp>
        <p:nvSpPr>
          <p:cNvPr id="21" name="Rectangle 20"/>
          <p:cNvSpPr/>
          <p:nvPr/>
        </p:nvSpPr>
        <p:spPr>
          <a:xfrm>
            <a:off x="457200" y="2942082"/>
            <a:ext cx="3849624" cy="665226"/>
          </a:xfrm>
          <a:prstGeom prst="rect">
            <a:avLst/>
          </a:prstGeom>
          <a:solidFill>
            <a:srgbClr val="1A1002"/>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 y="2978658"/>
            <a:ext cx="1005840" cy="592074"/>
          </a:xfrm>
          <a:prstGeom prst="rect">
            <a:avLst/>
          </a:prstGeom>
          <a:noFill/>
        </p:spPr>
        <p:txBody>
          <a:bodyPr wrap="square">
            <a:spAutoFit/>
          </a:bodyPr>
          <a:lstStyle/>
          <a:p>
            <a:pPr algn="l"/>
            <a:r>
              <a:rPr sz="800" b="1" i="0">
                <a:solidFill>
                  <a:srgbClr val="FFD700"/>
                </a:solidFill>
                <a:latin typeface="Calibri"/>
              </a:rPr>
              <a:t>APG SLICE</a:t>
            </a:r>
          </a:p>
        </p:txBody>
      </p:sp>
      <p:sp>
        <p:nvSpPr>
          <p:cNvPr id="23" name="TextBox 22"/>
          <p:cNvSpPr txBox="1"/>
          <p:nvPr/>
        </p:nvSpPr>
        <p:spPr>
          <a:xfrm>
            <a:off x="1572768" y="2978658"/>
            <a:ext cx="2660904" cy="592074"/>
          </a:xfrm>
          <a:prstGeom prst="rect">
            <a:avLst/>
          </a:prstGeom>
          <a:noFill/>
        </p:spPr>
        <p:txBody>
          <a:bodyPr wrap="square">
            <a:spAutoFit/>
          </a:bodyPr>
          <a:lstStyle/>
          <a:p>
            <a:pPr algn="l"/>
            <a:r>
              <a:rPr sz="800" b="0" i="1">
                <a:solidFill>
                  <a:srgbClr val="A0AAB8"/>
                </a:solidFill>
                <a:latin typeface="Calibri"/>
              </a:rPr>
              <a:t>Relevant AttackChains (if any)</a:t>
            </a:r>
          </a:p>
        </p:txBody>
      </p:sp>
      <p:sp>
        <p:nvSpPr>
          <p:cNvPr id="24" name="Rectangle 23"/>
          <p:cNvSpPr/>
          <p:nvPr/>
        </p:nvSpPr>
        <p:spPr>
          <a:xfrm>
            <a:off x="457200" y="3662172"/>
            <a:ext cx="3849624" cy="665226"/>
          </a:xfrm>
          <a:prstGeom prst="rect">
            <a:avLst/>
          </a:prstGeom>
          <a:solidFill>
            <a:srgbClr val="180606"/>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 y="3698748"/>
            <a:ext cx="1005840" cy="592074"/>
          </a:xfrm>
          <a:prstGeom prst="rect">
            <a:avLst/>
          </a:prstGeom>
          <a:noFill/>
        </p:spPr>
        <p:txBody>
          <a:bodyPr wrap="square">
            <a:spAutoFit/>
          </a:bodyPr>
          <a:lstStyle/>
          <a:p>
            <a:pPr algn="l"/>
            <a:r>
              <a:rPr sz="800" b="1" i="0">
                <a:solidFill>
                  <a:srgbClr val="FF4545"/>
                </a:solidFill>
                <a:latin typeface="Calibri"/>
              </a:rPr>
              <a:t>TOOL SET</a:t>
            </a:r>
          </a:p>
        </p:txBody>
      </p:sp>
      <p:sp>
        <p:nvSpPr>
          <p:cNvPr id="26" name="TextBox 25"/>
          <p:cNvSpPr txBox="1"/>
          <p:nvPr/>
        </p:nvSpPr>
        <p:spPr>
          <a:xfrm>
            <a:off x="1572768" y="3698748"/>
            <a:ext cx="2660904" cy="592074"/>
          </a:xfrm>
          <a:prstGeom prst="rect">
            <a:avLst/>
          </a:prstGeom>
          <a:noFill/>
        </p:spPr>
        <p:txBody>
          <a:bodyPr wrap="square">
            <a:spAutoFit/>
          </a:bodyPr>
          <a:lstStyle/>
          <a:p>
            <a:pPr algn="l"/>
            <a:r>
              <a:rPr sz="800" b="0" i="1">
                <a:solidFill>
                  <a:srgbClr val="A0AAB8"/>
                </a:solidFill>
                <a:latin typeface="Calibri"/>
              </a:rPr>
              <a:t>Authorized tools only — no others</a:t>
            </a:r>
          </a:p>
        </p:txBody>
      </p:sp>
      <p:sp>
        <p:nvSpPr>
          <p:cNvPr id="27" name="Rectangle 26"/>
          <p:cNvSpPr/>
          <p:nvPr/>
        </p:nvSpPr>
        <p:spPr>
          <a:xfrm>
            <a:off x="457200" y="4382262"/>
            <a:ext cx="3849624" cy="665226"/>
          </a:xfrm>
          <a:prstGeom prst="rect">
            <a:avLst/>
          </a:prstGeom>
          <a:solidFill>
            <a:srgbClr val="041420"/>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 y="4418838"/>
            <a:ext cx="1005840" cy="592074"/>
          </a:xfrm>
          <a:prstGeom prst="rect">
            <a:avLst/>
          </a:prstGeom>
          <a:noFill/>
        </p:spPr>
        <p:txBody>
          <a:bodyPr wrap="square">
            <a:spAutoFit/>
          </a:bodyPr>
          <a:lstStyle/>
          <a:p>
            <a:pPr algn="l"/>
            <a:r>
              <a:rPr sz="800" b="1" i="0">
                <a:solidFill>
                  <a:srgbClr val="00E5FF"/>
                </a:solidFill>
                <a:latin typeface="Calibri"/>
              </a:rPr>
              <a:t>TASK SPEC</a:t>
            </a:r>
          </a:p>
        </p:txBody>
      </p:sp>
      <p:sp>
        <p:nvSpPr>
          <p:cNvPr id="29" name="TextBox 28"/>
          <p:cNvSpPr txBox="1"/>
          <p:nvPr/>
        </p:nvSpPr>
        <p:spPr>
          <a:xfrm>
            <a:off x="1572768" y="4418838"/>
            <a:ext cx="2660904" cy="592074"/>
          </a:xfrm>
          <a:prstGeom prst="rect">
            <a:avLst/>
          </a:prstGeom>
          <a:noFill/>
        </p:spPr>
        <p:txBody>
          <a:bodyPr wrap="square">
            <a:spAutoFit/>
          </a:bodyPr>
          <a:lstStyle/>
          <a:p>
            <a:pPr algn="l"/>
            <a:r>
              <a:rPr sz="800" b="0" i="1">
                <a:solidFill>
                  <a:srgbClr val="A0AAB8"/>
                </a:solidFill>
                <a:latin typeface="Calibri"/>
              </a:rPr>
              <a:t>Commander's current plan item</a:t>
            </a:r>
          </a:p>
        </p:txBody>
      </p:sp>
      <p:cxnSp>
        <p:nvCxnSpPr>
          <p:cNvPr id="30" name="Connector 29"/>
          <p:cNvCxnSpPr/>
          <p:nvPr/>
        </p:nvCxnSpPr>
        <p:spPr>
          <a:xfrm>
            <a:off x="2382012.0" y="5148072"/>
            <a:ext cx="0.0" cy="292608"/>
          </a:xfrm>
          <a:prstGeom prst="line">
            <a:avLst/>
          </a:prstGeom>
          <a:ln w="1905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65760" y="5495544"/>
            <a:ext cx="4032504" cy="512064"/>
          </a:xfrm>
          <a:prstGeom prst="rect">
            <a:avLst/>
          </a:prstGeom>
          <a:solidFill>
            <a:srgbClr val="041E0C"/>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60" y="5550408"/>
            <a:ext cx="4032504" cy="201168"/>
          </a:xfrm>
          <a:prstGeom prst="rect">
            <a:avLst/>
          </a:prstGeom>
          <a:noFill/>
        </p:spPr>
        <p:txBody>
          <a:bodyPr wrap="square">
            <a:spAutoFit/>
          </a:bodyPr>
          <a:lstStyle/>
          <a:p>
            <a:pPr algn="ctr"/>
            <a:r>
              <a:rPr sz="800" b="1" i="0">
                <a:solidFill>
                  <a:srgbClr val="39FF14"/>
                </a:solidFill>
                <a:latin typeface="Calibri"/>
              </a:rPr>
              <a:t>RETURNS: Structured ASG Delta (new nodes + edges only)</a:t>
            </a:r>
          </a:p>
        </p:txBody>
      </p:sp>
      <p:sp>
        <p:nvSpPr>
          <p:cNvPr id="33" name="TextBox 32"/>
          <p:cNvSpPr txBox="1"/>
          <p:nvPr/>
        </p:nvSpPr>
        <p:spPr>
          <a:xfrm>
            <a:off x="365760" y="5769864"/>
            <a:ext cx="4032504" cy="201168"/>
          </a:xfrm>
          <a:prstGeom prst="rect">
            <a:avLst/>
          </a:prstGeom>
          <a:noFill/>
        </p:spPr>
        <p:txBody>
          <a:bodyPr wrap="square">
            <a:spAutoFit/>
          </a:bodyPr>
          <a:lstStyle/>
          <a:p>
            <a:pPr algn="ctr"/>
            <a:r>
              <a:rPr sz="750" b="0" i="1">
                <a:solidFill>
                  <a:srgbClr val="A0AAB8"/>
                </a:solidFill>
                <a:latin typeface="Calibri"/>
              </a:rPr>
              <a:t>Working context discarded — no raw history passes to Commander</a:t>
            </a:r>
          </a:p>
        </p:txBody>
      </p:sp>
      <p:sp>
        <p:nvSpPr>
          <p:cNvPr id="34" name="Rectangle 33"/>
          <p:cNvSpPr/>
          <p:nvPr/>
        </p:nvSpPr>
        <p:spPr>
          <a:xfrm>
            <a:off x="365760" y="6099048"/>
            <a:ext cx="4032504" cy="219456"/>
          </a:xfrm>
          <a:prstGeom prst="rect">
            <a:avLst/>
          </a:prstGeom>
          <a:solidFill>
            <a:srgbClr val="0C1022"/>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6126480"/>
            <a:ext cx="3895344" cy="182880"/>
          </a:xfrm>
          <a:prstGeom prst="rect">
            <a:avLst/>
          </a:prstGeom>
          <a:noFill/>
        </p:spPr>
        <p:txBody>
          <a:bodyPr wrap="square">
            <a:spAutoFit/>
          </a:bodyPr>
          <a:lstStyle/>
          <a:p>
            <a:pPr algn="l"/>
            <a:r>
              <a:rPr sz="800" b="0" i="0">
                <a:solidFill>
                  <a:srgbClr val="00E5FF"/>
                </a:solidFill>
                <a:latin typeface="Calibri"/>
              </a:rPr>
              <a:t>✓  Commander context stays clean</a:t>
            </a:r>
          </a:p>
        </p:txBody>
      </p:sp>
      <p:sp>
        <p:nvSpPr>
          <p:cNvPr id="36" name="Rectangle 35"/>
          <p:cNvSpPr/>
          <p:nvPr/>
        </p:nvSpPr>
        <p:spPr>
          <a:xfrm>
            <a:off x="365760" y="6345936"/>
            <a:ext cx="4032504" cy="219456"/>
          </a:xfrm>
          <a:prstGeom prst="rect">
            <a:avLst/>
          </a:prstGeom>
          <a:solidFill>
            <a:srgbClr val="0C1022"/>
          </a:solidFill>
          <a:ln w="76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6373368"/>
            <a:ext cx="3895344" cy="182880"/>
          </a:xfrm>
          <a:prstGeom prst="rect">
            <a:avLst/>
          </a:prstGeom>
          <a:noFill/>
        </p:spPr>
        <p:txBody>
          <a:bodyPr wrap="square">
            <a:spAutoFit/>
          </a:bodyPr>
          <a:lstStyle/>
          <a:p>
            <a:pPr algn="l"/>
            <a:r>
              <a:rPr sz="800" b="0" i="0">
                <a:solidFill>
                  <a:srgbClr val="BD93F9"/>
                </a:solidFill>
                <a:latin typeface="Calibri"/>
              </a:rPr>
              <a:t>✓  Agents can't contaminate each other</a:t>
            </a:r>
          </a:p>
        </p:txBody>
      </p:sp>
      <p:sp>
        <p:nvSpPr>
          <p:cNvPr id="38" name="Rectangle 37"/>
          <p:cNvSpPr/>
          <p:nvPr/>
        </p:nvSpPr>
        <p:spPr>
          <a:xfrm>
            <a:off x="365760" y="6592824"/>
            <a:ext cx="4032504" cy="219456"/>
          </a:xfrm>
          <a:prstGeom prst="rect">
            <a:avLst/>
          </a:prstGeom>
          <a:solidFill>
            <a:srgbClr val="0C1022"/>
          </a:solidFill>
          <a:ln w="762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6620256"/>
            <a:ext cx="3895344" cy="182880"/>
          </a:xfrm>
          <a:prstGeom prst="rect">
            <a:avLst/>
          </a:prstGeom>
          <a:noFill/>
        </p:spPr>
        <p:txBody>
          <a:bodyPr wrap="square">
            <a:spAutoFit/>
          </a:bodyPr>
          <a:lstStyle/>
          <a:p>
            <a:pPr algn="l"/>
            <a:r>
              <a:rPr sz="800" b="0" i="0">
                <a:solidFill>
                  <a:srgbClr val="FF4545"/>
                </a:solidFill>
                <a:latin typeface="Calibri"/>
              </a:rPr>
              <a:t>✓  High-risk refusals don't bias planning</a:t>
            </a:r>
          </a:p>
        </p:txBody>
      </p:sp>
      <p:sp>
        <p:nvSpPr>
          <p:cNvPr id="40" name="Rectangle 39"/>
          <p:cNvSpPr/>
          <p:nvPr/>
        </p:nvSpPr>
        <p:spPr>
          <a:xfrm>
            <a:off x="4773168" y="822960"/>
            <a:ext cx="3572103" cy="1895856"/>
          </a:xfrm>
          <a:prstGeom prst="rect">
            <a:avLst/>
          </a:prstGeom>
          <a:solidFill>
            <a:srgbClr val="10162B"/>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39431" y="822960"/>
            <a:ext cx="1005840" cy="2194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39431" y="850392"/>
            <a:ext cx="1005840" cy="182880"/>
          </a:xfrm>
          <a:prstGeom prst="rect">
            <a:avLst/>
          </a:prstGeom>
          <a:noFill/>
        </p:spPr>
        <p:txBody>
          <a:bodyPr wrap="square">
            <a:spAutoFit/>
          </a:bodyPr>
          <a:lstStyle/>
          <a:p>
            <a:pPr algn="ctr"/>
            <a:r>
              <a:rPr sz="750" b="1" i="0">
                <a:solidFill>
                  <a:srgbClr val="0A0D1A"/>
                </a:solidFill>
                <a:latin typeface="Calibri"/>
              </a:rPr>
              <a:t>ORCHESTRATION</a:t>
            </a:r>
          </a:p>
        </p:txBody>
      </p:sp>
      <p:sp>
        <p:nvSpPr>
          <p:cNvPr id="43" name="TextBox 42"/>
          <p:cNvSpPr txBox="1"/>
          <p:nvPr/>
        </p:nvSpPr>
        <p:spPr>
          <a:xfrm>
            <a:off x="4864608" y="859536"/>
            <a:ext cx="2429103" cy="237744"/>
          </a:xfrm>
          <a:prstGeom prst="rect">
            <a:avLst/>
          </a:prstGeom>
          <a:noFill/>
        </p:spPr>
        <p:txBody>
          <a:bodyPr wrap="square">
            <a:spAutoFit/>
          </a:bodyPr>
          <a:lstStyle/>
          <a:p>
            <a:pPr algn="l"/>
            <a:r>
              <a:rPr sz="1200" b="1" i="0">
                <a:solidFill>
                  <a:srgbClr val="00E5FF"/>
                </a:solidFill>
                <a:latin typeface="Calibri"/>
              </a:rPr>
              <a:t>👑 Commander</a:t>
            </a:r>
          </a:p>
        </p:txBody>
      </p:sp>
      <p:sp>
        <p:nvSpPr>
          <p:cNvPr id="44" name="Rectangle 43"/>
          <p:cNvSpPr/>
          <p:nvPr/>
        </p:nvSpPr>
        <p:spPr>
          <a:xfrm>
            <a:off x="4864608" y="1133856"/>
            <a:ext cx="3389223" cy="18288"/>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4608" y="1170432"/>
            <a:ext cx="3407511" cy="219456"/>
          </a:xfrm>
          <a:prstGeom prst="rect">
            <a:avLst/>
          </a:prstGeom>
          <a:noFill/>
        </p:spPr>
        <p:txBody>
          <a:bodyPr wrap="square">
            <a:spAutoFit/>
          </a:bodyPr>
          <a:lstStyle/>
          <a:p>
            <a:pPr algn="l"/>
            <a:r>
              <a:rPr sz="850" b="0" i="1">
                <a:solidFill>
                  <a:srgbClr val="FFFFFF"/>
                </a:solidFill>
                <a:latin typeface="Calibri"/>
              </a:rPr>
              <a:t>Reads the dual graph. Plans. Delegates. Never runs tools.</a:t>
            </a:r>
          </a:p>
        </p:txBody>
      </p:sp>
      <p:sp>
        <p:nvSpPr>
          <p:cNvPr id="46" name="Rectangle 45"/>
          <p:cNvSpPr/>
          <p:nvPr/>
        </p:nvSpPr>
        <p:spPr>
          <a:xfrm>
            <a:off x="4864608" y="1417320"/>
            <a:ext cx="3389223" cy="219456"/>
          </a:xfrm>
          <a:prstGeom prst="rect">
            <a:avLst/>
          </a:prstGeom>
          <a:solidFill>
            <a:srgbClr val="081022"/>
          </a:solidFill>
          <a:ln w="63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0" y="1435608"/>
            <a:ext cx="3297783" cy="182880"/>
          </a:xfrm>
          <a:prstGeom prst="rect">
            <a:avLst/>
          </a:prstGeom>
          <a:noFill/>
        </p:spPr>
        <p:txBody>
          <a:bodyPr wrap="square">
            <a:spAutoFit/>
          </a:bodyPr>
          <a:lstStyle/>
          <a:p>
            <a:pPr algn="l"/>
            <a:r>
              <a:rPr sz="750" b="1" i="0">
                <a:solidFill>
                  <a:srgbClr val="00E5FF"/>
                </a:solidFill>
                <a:latin typeface="Calibri"/>
              </a:rPr>
              <a:t>No tools — reasons over ASG + APG</a:t>
            </a:r>
          </a:p>
        </p:txBody>
      </p:sp>
      <p:sp>
        <p:nvSpPr>
          <p:cNvPr id="48" name="TextBox 47"/>
          <p:cNvSpPr txBox="1"/>
          <p:nvPr/>
        </p:nvSpPr>
        <p:spPr>
          <a:xfrm>
            <a:off x="4864608" y="1673352"/>
            <a:ext cx="3407511" cy="981456"/>
          </a:xfrm>
          <a:prstGeom prst="rect">
            <a:avLst/>
          </a:prstGeom>
          <a:noFill/>
        </p:spPr>
        <p:txBody>
          <a:bodyPr wrap="square">
            <a:spAutoFit/>
          </a:bodyPr>
          <a:lstStyle/>
          <a:p>
            <a:pPr algn="l"/>
            <a:r>
              <a:rPr sz="850" b="0" i="0">
                <a:solidFill>
                  <a:srgbClr val="A0AAB8"/>
                </a:solidFill>
                <a:latin typeface="Calibri"/>
              </a:rPr>
              <a:t>Only agent that writes to APG. Approves High-risk ops via mailbox.</a:t>
            </a:r>
          </a:p>
        </p:txBody>
      </p:sp>
      <p:sp>
        <p:nvSpPr>
          <p:cNvPr id="49" name="Rectangle 48"/>
          <p:cNvSpPr/>
          <p:nvPr/>
        </p:nvSpPr>
        <p:spPr>
          <a:xfrm>
            <a:off x="8454999" y="822960"/>
            <a:ext cx="3572103" cy="1895856"/>
          </a:xfrm>
          <a:prstGeom prst="rect">
            <a:avLst/>
          </a:prstGeom>
          <a:solidFill>
            <a:srgbClr val="10162B"/>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1021263" y="822960"/>
            <a:ext cx="1005840" cy="2194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1021263" y="850392"/>
            <a:ext cx="1005840" cy="182880"/>
          </a:xfrm>
          <a:prstGeom prst="rect">
            <a:avLst/>
          </a:prstGeom>
          <a:noFill/>
        </p:spPr>
        <p:txBody>
          <a:bodyPr wrap="square">
            <a:spAutoFit/>
          </a:bodyPr>
          <a:lstStyle/>
          <a:p>
            <a:pPr algn="ctr"/>
            <a:r>
              <a:rPr sz="750" b="1" i="0">
                <a:solidFill>
                  <a:srgbClr val="0A0D1A"/>
                </a:solidFill>
                <a:latin typeface="Calibri"/>
              </a:rPr>
              <a:t>PHASE 1</a:t>
            </a:r>
          </a:p>
        </p:txBody>
      </p:sp>
      <p:sp>
        <p:nvSpPr>
          <p:cNvPr id="52" name="TextBox 51"/>
          <p:cNvSpPr txBox="1"/>
          <p:nvPr/>
        </p:nvSpPr>
        <p:spPr>
          <a:xfrm>
            <a:off x="8546439" y="859536"/>
            <a:ext cx="2429103" cy="237744"/>
          </a:xfrm>
          <a:prstGeom prst="rect">
            <a:avLst/>
          </a:prstGeom>
          <a:noFill/>
        </p:spPr>
        <p:txBody>
          <a:bodyPr wrap="square">
            <a:spAutoFit/>
          </a:bodyPr>
          <a:lstStyle/>
          <a:p>
            <a:pPr algn="l"/>
            <a:r>
              <a:rPr sz="1200" b="1" i="0">
                <a:solidFill>
                  <a:srgbClr val="39FF14"/>
                </a:solidFill>
                <a:latin typeface="Calibri"/>
              </a:rPr>
              <a:t>🕵️ Recon</a:t>
            </a:r>
          </a:p>
        </p:txBody>
      </p:sp>
      <p:sp>
        <p:nvSpPr>
          <p:cNvPr id="53" name="Rectangle 52"/>
          <p:cNvSpPr/>
          <p:nvPr/>
        </p:nvSpPr>
        <p:spPr>
          <a:xfrm>
            <a:off x="8546439" y="1133856"/>
            <a:ext cx="3389223" cy="1828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546439" y="1170432"/>
            <a:ext cx="3407511" cy="219456"/>
          </a:xfrm>
          <a:prstGeom prst="rect">
            <a:avLst/>
          </a:prstGeom>
          <a:noFill/>
        </p:spPr>
        <p:txBody>
          <a:bodyPr wrap="square">
            <a:spAutoFit/>
          </a:bodyPr>
          <a:lstStyle/>
          <a:p>
            <a:pPr algn="l"/>
            <a:r>
              <a:rPr sz="850" b="0" i="1">
                <a:solidFill>
                  <a:srgbClr val="FFFFFF"/>
                </a:solidFill>
                <a:latin typeface="Calibri"/>
              </a:rPr>
              <a:t>External reconnaissance and host discovery.</a:t>
            </a:r>
          </a:p>
        </p:txBody>
      </p:sp>
      <p:sp>
        <p:nvSpPr>
          <p:cNvPr id="55" name="Rectangle 54"/>
          <p:cNvSpPr/>
          <p:nvPr/>
        </p:nvSpPr>
        <p:spPr>
          <a:xfrm>
            <a:off x="8546439" y="1417320"/>
            <a:ext cx="3389223" cy="219456"/>
          </a:xfrm>
          <a:prstGeom prst="rect">
            <a:avLst/>
          </a:prstGeom>
          <a:solidFill>
            <a:srgbClr val="08102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619591" y="1435608"/>
            <a:ext cx="3297783" cy="182880"/>
          </a:xfrm>
          <a:prstGeom prst="rect">
            <a:avLst/>
          </a:prstGeom>
          <a:noFill/>
        </p:spPr>
        <p:txBody>
          <a:bodyPr wrap="square">
            <a:spAutoFit/>
          </a:bodyPr>
          <a:lstStyle/>
          <a:p>
            <a:pPr algn="l"/>
            <a:r>
              <a:rPr sz="750" b="1" i="0">
                <a:solidFill>
                  <a:srgbClr val="39FF14"/>
                </a:solidFill>
                <a:latin typeface="Calibri"/>
              </a:rPr>
              <a:t>Amass  ·  httpx  ·  Nmap</a:t>
            </a:r>
          </a:p>
        </p:txBody>
      </p:sp>
      <p:sp>
        <p:nvSpPr>
          <p:cNvPr id="57" name="TextBox 56"/>
          <p:cNvSpPr txBox="1"/>
          <p:nvPr/>
        </p:nvSpPr>
        <p:spPr>
          <a:xfrm>
            <a:off x="8546439" y="1673352"/>
            <a:ext cx="3407511" cy="981456"/>
          </a:xfrm>
          <a:prstGeom prst="rect">
            <a:avLst/>
          </a:prstGeom>
          <a:noFill/>
        </p:spPr>
        <p:txBody>
          <a:bodyPr wrap="square">
            <a:spAutoFit/>
          </a:bodyPr>
          <a:lstStyle/>
          <a:p>
            <a:pPr algn="l"/>
            <a:r>
              <a:rPr sz="850" b="0" i="0">
                <a:solidFill>
                  <a:srgbClr val="A0AAB8"/>
                </a:solidFill>
                <a:latin typeface="Calibri"/>
              </a:rPr>
              <a:t>Writes Domain, Host, Port, Service nodes to ASG.</a:t>
            </a:r>
          </a:p>
        </p:txBody>
      </p:sp>
      <p:sp>
        <p:nvSpPr>
          <p:cNvPr id="58" name="Rectangle 57"/>
          <p:cNvSpPr/>
          <p:nvPr/>
        </p:nvSpPr>
        <p:spPr>
          <a:xfrm>
            <a:off x="4773168" y="2810256"/>
            <a:ext cx="3572103" cy="1895856"/>
          </a:xfrm>
          <a:prstGeom prst="rect">
            <a:avLst/>
          </a:prstGeom>
          <a:solidFill>
            <a:srgbClr val="10162B"/>
          </a:solidFill>
          <a:ln w="1778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339431" y="2810256"/>
            <a:ext cx="1005840" cy="21945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339431" y="2837688"/>
            <a:ext cx="1005840" cy="182880"/>
          </a:xfrm>
          <a:prstGeom prst="rect">
            <a:avLst/>
          </a:prstGeom>
          <a:noFill/>
        </p:spPr>
        <p:txBody>
          <a:bodyPr wrap="square">
            <a:spAutoFit/>
          </a:bodyPr>
          <a:lstStyle/>
          <a:p>
            <a:pPr algn="ctr"/>
            <a:r>
              <a:rPr sz="750" b="1" i="0">
                <a:solidFill>
                  <a:srgbClr val="0A0D1A"/>
                </a:solidFill>
                <a:latin typeface="Calibri"/>
              </a:rPr>
              <a:t>PHASE 2</a:t>
            </a:r>
          </a:p>
        </p:txBody>
      </p:sp>
      <p:sp>
        <p:nvSpPr>
          <p:cNvPr id="61" name="TextBox 60"/>
          <p:cNvSpPr txBox="1"/>
          <p:nvPr/>
        </p:nvSpPr>
        <p:spPr>
          <a:xfrm>
            <a:off x="4864608" y="2846832"/>
            <a:ext cx="2429103" cy="237744"/>
          </a:xfrm>
          <a:prstGeom prst="rect">
            <a:avLst/>
          </a:prstGeom>
          <a:noFill/>
        </p:spPr>
        <p:txBody>
          <a:bodyPr wrap="square">
            <a:spAutoFit/>
          </a:bodyPr>
          <a:lstStyle/>
          <a:p>
            <a:pPr algn="l"/>
            <a:r>
              <a:rPr sz="1200" b="1" i="0">
                <a:solidFill>
                  <a:srgbClr val="00BFD8"/>
                </a:solidFill>
                <a:latin typeface="Calibri"/>
              </a:rPr>
              <a:t>🔬 Analysis</a:t>
            </a:r>
          </a:p>
        </p:txBody>
      </p:sp>
      <p:sp>
        <p:nvSpPr>
          <p:cNvPr id="62" name="Rectangle 61"/>
          <p:cNvSpPr/>
          <p:nvPr/>
        </p:nvSpPr>
        <p:spPr>
          <a:xfrm>
            <a:off x="4864608" y="3121152"/>
            <a:ext cx="3389223" cy="18288"/>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864608" y="3157728"/>
            <a:ext cx="3407511" cy="219456"/>
          </a:xfrm>
          <a:prstGeom prst="rect">
            <a:avLst/>
          </a:prstGeom>
          <a:noFill/>
        </p:spPr>
        <p:txBody>
          <a:bodyPr wrap="square">
            <a:spAutoFit/>
          </a:bodyPr>
          <a:lstStyle/>
          <a:p>
            <a:pPr algn="l"/>
            <a:r>
              <a:rPr sz="850" b="0" i="1">
                <a:solidFill>
                  <a:srgbClr val="FFFFFF"/>
                </a:solidFill>
                <a:latin typeface="Calibri"/>
              </a:rPr>
              <a:t>Deep enumeration and vulnerability discovery.</a:t>
            </a:r>
          </a:p>
        </p:txBody>
      </p:sp>
      <p:sp>
        <p:nvSpPr>
          <p:cNvPr id="64" name="Rectangle 63"/>
          <p:cNvSpPr/>
          <p:nvPr/>
        </p:nvSpPr>
        <p:spPr>
          <a:xfrm>
            <a:off x="4864608" y="3404616"/>
            <a:ext cx="3389223" cy="219456"/>
          </a:xfrm>
          <a:prstGeom prst="rect">
            <a:avLst/>
          </a:prstGeom>
          <a:solidFill>
            <a:srgbClr val="0810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37760" y="3422904"/>
            <a:ext cx="3297783" cy="182880"/>
          </a:xfrm>
          <a:prstGeom prst="rect">
            <a:avLst/>
          </a:prstGeom>
          <a:noFill/>
        </p:spPr>
        <p:txBody>
          <a:bodyPr wrap="square">
            <a:spAutoFit/>
          </a:bodyPr>
          <a:lstStyle/>
          <a:p>
            <a:pPr algn="l"/>
            <a:r>
              <a:rPr sz="750" b="1" i="0">
                <a:solidFill>
                  <a:srgbClr val="00BFD8"/>
                </a:solidFill>
                <a:latin typeface="Calibri"/>
              </a:rPr>
              <a:t>WhatWeb · Gobuster · ffuf · Nuclei · ZAP</a:t>
            </a:r>
          </a:p>
        </p:txBody>
      </p:sp>
      <p:sp>
        <p:nvSpPr>
          <p:cNvPr id="66" name="TextBox 65"/>
          <p:cNvSpPr txBox="1"/>
          <p:nvPr/>
        </p:nvSpPr>
        <p:spPr>
          <a:xfrm>
            <a:off x="4864608" y="3660648"/>
            <a:ext cx="3407511" cy="981456"/>
          </a:xfrm>
          <a:prstGeom prst="rect">
            <a:avLst/>
          </a:prstGeom>
          <a:noFill/>
        </p:spPr>
        <p:txBody>
          <a:bodyPr wrap="square">
            <a:spAutoFit/>
          </a:bodyPr>
          <a:lstStyle/>
          <a:p>
            <a:pPr algn="l"/>
            <a:r>
              <a:rPr sz="850" b="0" i="0">
                <a:solidFill>
                  <a:srgbClr val="A0AAB8"/>
                </a:solidFill>
                <a:latin typeface="Calibri"/>
              </a:rPr>
              <a:t>Writes Technology, Endpoint, Parameter, Vulnerability nodes.</a:t>
            </a:r>
          </a:p>
        </p:txBody>
      </p:sp>
      <p:sp>
        <p:nvSpPr>
          <p:cNvPr id="67" name="Rectangle 66"/>
          <p:cNvSpPr/>
          <p:nvPr/>
        </p:nvSpPr>
        <p:spPr>
          <a:xfrm>
            <a:off x="8454999" y="2810256"/>
            <a:ext cx="3572103" cy="1895856"/>
          </a:xfrm>
          <a:prstGeom prst="rect">
            <a:avLst/>
          </a:prstGeom>
          <a:solidFill>
            <a:srgbClr val="10162B"/>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1021263" y="2810256"/>
            <a:ext cx="1005840"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021263" y="2837688"/>
            <a:ext cx="1005840" cy="182880"/>
          </a:xfrm>
          <a:prstGeom prst="rect">
            <a:avLst/>
          </a:prstGeom>
          <a:noFill/>
        </p:spPr>
        <p:txBody>
          <a:bodyPr wrap="square">
            <a:spAutoFit/>
          </a:bodyPr>
          <a:lstStyle/>
          <a:p>
            <a:pPr algn="ctr"/>
            <a:r>
              <a:rPr sz="750" b="1" i="0">
                <a:solidFill>
                  <a:srgbClr val="0A0D1A"/>
                </a:solidFill>
                <a:latin typeface="Calibri"/>
              </a:rPr>
              <a:t>INTELLIGENCE</a:t>
            </a:r>
          </a:p>
        </p:txBody>
      </p:sp>
      <p:sp>
        <p:nvSpPr>
          <p:cNvPr id="70" name="TextBox 69"/>
          <p:cNvSpPr txBox="1"/>
          <p:nvPr/>
        </p:nvSpPr>
        <p:spPr>
          <a:xfrm>
            <a:off x="8546439" y="2846832"/>
            <a:ext cx="2429103" cy="237744"/>
          </a:xfrm>
          <a:prstGeom prst="rect">
            <a:avLst/>
          </a:prstGeom>
          <a:noFill/>
        </p:spPr>
        <p:txBody>
          <a:bodyPr wrap="square">
            <a:spAutoFit/>
          </a:bodyPr>
          <a:lstStyle/>
          <a:p>
            <a:pPr algn="l"/>
            <a:r>
              <a:rPr sz="1200" b="1" i="0">
                <a:solidFill>
                  <a:srgbClr val="FFD700"/>
                </a:solidFill>
                <a:latin typeface="Calibri"/>
              </a:rPr>
              <a:t>🔍 Research</a:t>
            </a:r>
          </a:p>
        </p:txBody>
      </p:sp>
      <p:sp>
        <p:nvSpPr>
          <p:cNvPr id="71" name="Rectangle 70"/>
          <p:cNvSpPr/>
          <p:nvPr/>
        </p:nvSpPr>
        <p:spPr>
          <a:xfrm>
            <a:off x="8546439" y="3121152"/>
            <a:ext cx="3389223"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546439" y="3157728"/>
            <a:ext cx="3407511" cy="219456"/>
          </a:xfrm>
          <a:prstGeom prst="rect">
            <a:avLst/>
          </a:prstGeom>
          <a:noFill/>
        </p:spPr>
        <p:txBody>
          <a:bodyPr wrap="square">
            <a:spAutoFit/>
          </a:bodyPr>
          <a:lstStyle/>
          <a:p>
            <a:pPr algn="l"/>
            <a:r>
              <a:rPr sz="850" b="0" i="1">
                <a:solidFill>
                  <a:srgbClr val="FFFFFF"/>
                </a:solidFill>
                <a:latin typeface="Calibri"/>
              </a:rPr>
              <a:t>Live CVE grounding — only agent with outbound internet access.</a:t>
            </a:r>
          </a:p>
        </p:txBody>
      </p:sp>
      <p:sp>
        <p:nvSpPr>
          <p:cNvPr id="73" name="Rectangle 72"/>
          <p:cNvSpPr/>
          <p:nvPr/>
        </p:nvSpPr>
        <p:spPr>
          <a:xfrm>
            <a:off x="8546439" y="3404616"/>
            <a:ext cx="3389223" cy="219456"/>
          </a:xfrm>
          <a:prstGeom prst="rect">
            <a:avLst/>
          </a:prstGeom>
          <a:solidFill>
            <a:srgbClr val="08102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619591" y="3422904"/>
            <a:ext cx="3297783" cy="182880"/>
          </a:xfrm>
          <a:prstGeom prst="rect">
            <a:avLst/>
          </a:prstGeom>
          <a:noFill/>
        </p:spPr>
        <p:txBody>
          <a:bodyPr wrap="square">
            <a:spAutoFit/>
          </a:bodyPr>
          <a:lstStyle/>
          <a:p>
            <a:pPr algn="l"/>
            <a:r>
              <a:rPr sz="750" b="1" i="0">
                <a:solidFill>
                  <a:srgbClr val="FFD700"/>
                </a:solidFill>
                <a:latin typeface="Calibri"/>
              </a:rPr>
              <a:t>NVD · Exploit-DB · GitHub · Vendor Advisories</a:t>
            </a:r>
          </a:p>
        </p:txBody>
      </p:sp>
      <p:sp>
        <p:nvSpPr>
          <p:cNvPr id="75" name="TextBox 74"/>
          <p:cNvSpPr txBox="1"/>
          <p:nvPr/>
        </p:nvSpPr>
        <p:spPr>
          <a:xfrm>
            <a:off x="8546439" y="3660648"/>
            <a:ext cx="3407511" cy="981456"/>
          </a:xfrm>
          <a:prstGeom prst="rect">
            <a:avLst/>
          </a:prstGeom>
          <a:noFill/>
        </p:spPr>
        <p:txBody>
          <a:bodyPr wrap="square">
            <a:spAutoFit/>
          </a:bodyPr>
          <a:lstStyle/>
          <a:p>
            <a:pPr algn="l"/>
            <a:r>
              <a:rPr sz="850" b="0" i="0">
                <a:solidFill>
                  <a:srgbClr val="A0AAB8"/>
                </a:solidFill>
                <a:latin typeface="Calibri"/>
              </a:rPr>
              <a:t>Enriches ASG Vulnerability nodes with real-time CVSS + PoC data.</a:t>
            </a:r>
          </a:p>
        </p:txBody>
      </p:sp>
      <p:sp>
        <p:nvSpPr>
          <p:cNvPr id="76" name="Rectangle 75"/>
          <p:cNvSpPr/>
          <p:nvPr/>
        </p:nvSpPr>
        <p:spPr>
          <a:xfrm>
            <a:off x="4773168" y="4797552"/>
            <a:ext cx="3572103" cy="1895856"/>
          </a:xfrm>
          <a:prstGeom prst="rect">
            <a:avLst/>
          </a:prstGeom>
          <a:solidFill>
            <a:srgbClr val="10162B"/>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339431" y="4797552"/>
            <a:ext cx="1005840" cy="2194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339431" y="4824984"/>
            <a:ext cx="1005840" cy="182880"/>
          </a:xfrm>
          <a:prstGeom prst="rect">
            <a:avLst/>
          </a:prstGeom>
          <a:noFill/>
        </p:spPr>
        <p:txBody>
          <a:bodyPr wrap="square">
            <a:spAutoFit/>
          </a:bodyPr>
          <a:lstStyle/>
          <a:p>
            <a:pPr algn="ctr"/>
            <a:r>
              <a:rPr sz="750" b="1" i="0">
                <a:solidFill>
                  <a:srgbClr val="0A0D1A"/>
                </a:solidFill>
                <a:latin typeface="Calibri"/>
              </a:rPr>
              <a:t>PHASE 3</a:t>
            </a:r>
          </a:p>
        </p:txBody>
      </p:sp>
      <p:sp>
        <p:nvSpPr>
          <p:cNvPr id="79" name="TextBox 78"/>
          <p:cNvSpPr txBox="1"/>
          <p:nvPr/>
        </p:nvSpPr>
        <p:spPr>
          <a:xfrm>
            <a:off x="4864608" y="4834128"/>
            <a:ext cx="2429103" cy="237744"/>
          </a:xfrm>
          <a:prstGeom prst="rect">
            <a:avLst/>
          </a:prstGeom>
          <a:noFill/>
        </p:spPr>
        <p:txBody>
          <a:bodyPr wrap="square">
            <a:spAutoFit/>
          </a:bodyPr>
          <a:lstStyle/>
          <a:p>
            <a:pPr algn="l"/>
            <a:r>
              <a:rPr sz="1200" b="1" i="0">
                <a:solidFill>
                  <a:srgbClr val="FF4545"/>
                </a:solidFill>
                <a:latin typeface="Calibri"/>
              </a:rPr>
              <a:t>🎯 Validation</a:t>
            </a:r>
          </a:p>
        </p:txBody>
      </p:sp>
      <p:sp>
        <p:nvSpPr>
          <p:cNvPr id="80" name="Rectangle 79"/>
          <p:cNvSpPr/>
          <p:nvPr/>
        </p:nvSpPr>
        <p:spPr>
          <a:xfrm>
            <a:off x="4864608" y="5108448"/>
            <a:ext cx="3389223" cy="1828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864608" y="5145024"/>
            <a:ext cx="3407511" cy="219456"/>
          </a:xfrm>
          <a:prstGeom prst="rect">
            <a:avLst/>
          </a:prstGeom>
          <a:noFill/>
        </p:spPr>
        <p:txBody>
          <a:bodyPr wrap="square">
            <a:spAutoFit/>
          </a:bodyPr>
          <a:lstStyle/>
          <a:p>
            <a:pPr algn="l"/>
            <a:r>
              <a:rPr sz="850" b="0" i="1">
                <a:solidFill>
                  <a:srgbClr val="FFFFFF"/>
                </a:solidFill>
                <a:latin typeface="Calibri"/>
              </a:rPr>
              <a:t>Proves vulnerabilities are real and exploitable.</a:t>
            </a:r>
          </a:p>
        </p:txBody>
      </p:sp>
      <p:sp>
        <p:nvSpPr>
          <p:cNvPr id="82" name="Rectangle 81"/>
          <p:cNvSpPr/>
          <p:nvPr/>
        </p:nvSpPr>
        <p:spPr>
          <a:xfrm>
            <a:off x="4864608" y="5391912"/>
            <a:ext cx="3389223" cy="219456"/>
          </a:xfrm>
          <a:prstGeom prst="rect">
            <a:avLst/>
          </a:prstGeom>
          <a:solidFill>
            <a:srgbClr val="081022"/>
          </a:solidFill>
          <a:ln w="635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937760" y="5410200"/>
            <a:ext cx="3297783" cy="182880"/>
          </a:xfrm>
          <a:prstGeom prst="rect">
            <a:avLst/>
          </a:prstGeom>
          <a:noFill/>
        </p:spPr>
        <p:txBody>
          <a:bodyPr wrap="square">
            <a:spAutoFit/>
          </a:bodyPr>
          <a:lstStyle/>
          <a:p>
            <a:pPr algn="l"/>
            <a:r>
              <a:rPr sz="750" b="1" i="0">
                <a:solidFill>
                  <a:srgbClr val="FF4545"/>
                </a:solidFill>
                <a:latin typeface="Calibri"/>
              </a:rPr>
              <a:t>SQLMap  ·  Metasploit</a:t>
            </a:r>
          </a:p>
        </p:txBody>
      </p:sp>
      <p:sp>
        <p:nvSpPr>
          <p:cNvPr id="84" name="TextBox 83"/>
          <p:cNvSpPr txBox="1"/>
          <p:nvPr/>
        </p:nvSpPr>
        <p:spPr>
          <a:xfrm>
            <a:off x="4864608" y="5647944"/>
            <a:ext cx="3407511" cy="981456"/>
          </a:xfrm>
          <a:prstGeom prst="rect">
            <a:avLst/>
          </a:prstGeom>
          <a:noFill/>
        </p:spPr>
        <p:txBody>
          <a:bodyPr wrap="square">
            <a:spAutoFit/>
          </a:bodyPr>
          <a:lstStyle/>
          <a:p>
            <a:pPr algn="l"/>
            <a:r>
              <a:rPr sz="850" b="0" i="0">
                <a:solidFill>
                  <a:srgbClr val="A0AAB8"/>
                </a:solidFill>
                <a:latin typeface="Calibri"/>
              </a:rPr>
              <a:t>Self-debugging loop: Diagnose → Contextualize → Adapt → Cap (×3).</a:t>
            </a:r>
          </a:p>
        </p:txBody>
      </p:sp>
      <p:sp>
        <p:nvSpPr>
          <p:cNvPr id="85" name="Rectangle 84"/>
          <p:cNvSpPr/>
          <p:nvPr/>
        </p:nvSpPr>
        <p:spPr>
          <a:xfrm>
            <a:off x="8454999" y="4797552"/>
            <a:ext cx="3572103" cy="1895856"/>
          </a:xfrm>
          <a:prstGeom prst="rect">
            <a:avLst/>
          </a:prstGeom>
          <a:solidFill>
            <a:srgbClr val="10162B"/>
          </a:solidFill>
          <a:ln w="177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1021263" y="4797552"/>
            <a:ext cx="1005840" cy="21945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1021263" y="4824984"/>
            <a:ext cx="1005840" cy="182880"/>
          </a:xfrm>
          <a:prstGeom prst="rect">
            <a:avLst/>
          </a:prstGeom>
          <a:noFill/>
        </p:spPr>
        <p:txBody>
          <a:bodyPr wrap="square">
            <a:spAutoFit/>
          </a:bodyPr>
          <a:lstStyle/>
          <a:p>
            <a:pPr algn="ctr"/>
            <a:r>
              <a:rPr sz="750" b="1" i="0">
                <a:solidFill>
                  <a:srgbClr val="0A0D1A"/>
                </a:solidFill>
                <a:latin typeface="Calibri"/>
              </a:rPr>
              <a:t>PHASE 3</a:t>
            </a:r>
          </a:p>
        </p:txBody>
      </p:sp>
      <p:sp>
        <p:nvSpPr>
          <p:cNvPr id="88" name="TextBox 87"/>
          <p:cNvSpPr txBox="1"/>
          <p:nvPr/>
        </p:nvSpPr>
        <p:spPr>
          <a:xfrm>
            <a:off x="8546439" y="4834128"/>
            <a:ext cx="2429103" cy="237744"/>
          </a:xfrm>
          <a:prstGeom prst="rect">
            <a:avLst/>
          </a:prstGeom>
          <a:noFill/>
        </p:spPr>
        <p:txBody>
          <a:bodyPr wrap="square">
            <a:spAutoFit/>
          </a:bodyPr>
          <a:lstStyle/>
          <a:p>
            <a:pPr algn="l"/>
            <a:r>
              <a:rPr sz="1200" b="1" i="0">
                <a:solidFill>
                  <a:srgbClr val="BD93F9"/>
                </a:solidFill>
                <a:latin typeface="Calibri"/>
              </a:rPr>
              <a:t>📸 Evidence</a:t>
            </a:r>
          </a:p>
        </p:txBody>
      </p:sp>
      <p:sp>
        <p:nvSpPr>
          <p:cNvPr id="89" name="Rectangle 88"/>
          <p:cNvSpPr/>
          <p:nvPr/>
        </p:nvSpPr>
        <p:spPr>
          <a:xfrm>
            <a:off x="8546439" y="5108448"/>
            <a:ext cx="3389223" cy="1828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546439" y="5145024"/>
            <a:ext cx="3407511" cy="219456"/>
          </a:xfrm>
          <a:prstGeom prst="rect">
            <a:avLst/>
          </a:prstGeom>
          <a:noFill/>
        </p:spPr>
        <p:txBody>
          <a:bodyPr wrap="square">
            <a:spAutoFit/>
          </a:bodyPr>
          <a:lstStyle/>
          <a:p>
            <a:pPr algn="l"/>
            <a:r>
              <a:rPr sz="850" b="0" i="1">
                <a:solidFill>
                  <a:srgbClr val="FFFFFF"/>
                </a:solidFill>
                <a:latin typeface="Calibri"/>
              </a:rPr>
              <a:t>Captures proof artifacts for every validated finding.</a:t>
            </a:r>
          </a:p>
        </p:txBody>
      </p:sp>
      <p:sp>
        <p:nvSpPr>
          <p:cNvPr id="91" name="Rectangle 90"/>
          <p:cNvSpPr/>
          <p:nvPr/>
        </p:nvSpPr>
        <p:spPr>
          <a:xfrm>
            <a:off x="8546439" y="5391912"/>
            <a:ext cx="3389223" cy="219456"/>
          </a:xfrm>
          <a:prstGeom prst="rect">
            <a:avLst/>
          </a:prstGeom>
          <a:solidFill>
            <a:srgbClr val="081022"/>
          </a:solidFill>
          <a:ln w="635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619591" y="5410200"/>
            <a:ext cx="3297783" cy="182880"/>
          </a:xfrm>
          <a:prstGeom prst="rect">
            <a:avLst/>
          </a:prstGeom>
          <a:noFill/>
        </p:spPr>
        <p:txBody>
          <a:bodyPr wrap="square">
            <a:spAutoFit/>
          </a:bodyPr>
          <a:lstStyle/>
          <a:p>
            <a:pPr algn="l"/>
            <a:r>
              <a:rPr sz="750" b="1" i="0">
                <a:solidFill>
                  <a:srgbClr val="BD93F9"/>
                </a:solidFill>
                <a:latin typeface="Calibri"/>
              </a:rPr>
              <a:t>EyeWitness</a:t>
            </a:r>
          </a:p>
        </p:txBody>
      </p:sp>
      <p:sp>
        <p:nvSpPr>
          <p:cNvPr id="93" name="TextBox 92"/>
          <p:cNvSpPr txBox="1"/>
          <p:nvPr/>
        </p:nvSpPr>
        <p:spPr>
          <a:xfrm>
            <a:off x="8546439" y="5647944"/>
            <a:ext cx="3407511" cy="981456"/>
          </a:xfrm>
          <a:prstGeom prst="rect">
            <a:avLst/>
          </a:prstGeom>
          <a:noFill/>
        </p:spPr>
        <p:txBody>
          <a:bodyPr wrap="square">
            <a:spAutoFit/>
          </a:bodyPr>
          <a:lstStyle/>
          <a:p>
            <a:pPr algn="l"/>
            <a:r>
              <a:rPr sz="850" b="0" i="0">
                <a:solidFill>
                  <a:srgbClr val="A0AAB8"/>
                </a:solidFill>
                <a:latin typeface="Calibri"/>
              </a:rPr>
              <a:t>Links Evidence nodes to ASG findings via validated_by edges.</a:t>
            </a:r>
          </a:p>
        </p:txBody>
      </p:sp>
      <p:sp>
        <p:nvSpPr>
          <p:cNvPr id="94" name="TextBox 93"/>
          <p:cNvSpPr txBox="1"/>
          <p:nvPr/>
        </p:nvSpPr>
        <p:spPr>
          <a:xfrm>
            <a:off x="11825935" y="6382512"/>
            <a:ext cx="320040" cy="384048"/>
          </a:xfrm>
          <a:prstGeom prst="rect">
            <a:avLst/>
          </a:prstGeom>
          <a:noFill/>
        </p:spPr>
        <p:txBody>
          <a:bodyPr wrap="square">
            <a:spAutoFit/>
          </a:bodyPr>
          <a:lstStyle/>
          <a:p>
            <a:pPr algn="r"/>
            <a:r>
              <a:rPr sz="1300" b="1" i="0">
                <a:solidFill>
                  <a:srgbClr val="BD93F9"/>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73152"/>
            <a:ext cx="7315200" cy="274320"/>
          </a:xfrm>
          <a:prstGeom prst="rect">
            <a:avLst/>
          </a:prstGeom>
          <a:noFill/>
        </p:spPr>
        <p:txBody>
          <a:bodyPr wrap="square">
            <a:spAutoFit/>
          </a:bodyPr>
          <a:lstStyle/>
          <a:p>
            <a:pPr algn="ctr"/>
            <a:r>
              <a:rPr sz="1100" b="1" i="0">
                <a:solidFill>
                  <a:srgbClr val="FF4545"/>
                </a:solidFill>
                <a:latin typeface="Calibri"/>
              </a:rPr>
              <a:t>OFFENSIVE TOOL CATALOGUE</a:t>
            </a:r>
          </a:p>
        </p:txBody>
      </p:sp>
      <p:sp>
        <p:nvSpPr>
          <p:cNvPr id="6" name="TextBox 5"/>
          <p:cNvSpPr txBox="1"/>
          <p:nvPr/>
        </p:nvSpPr>
        <p:spPr>
          <a:xfrm>
            <a:off x="274320" y="347472"/>
            <a:ext cx="10972800" cy="566928"/>
          </a:xfrm>
          <a:prstGeom prst="rect">
            <a:avLst/>
          </a:prstGeom>
          <a:noFill/>
        </p:spPr>
        <p:txBody>
          <a:bodyPr wrap="square">
            <a:spAutoFit/>
          </a:bodyPr>
          <a:lstStyle/>
          <a:p>
            <a:pPr algn="ctr"/>
            <a:r>
              <a:rPr sz="3000" b="1" i="0">
                <a:solidFill>
                  <a:srgbClr val="FFFFFF"/>
                </a:solidFill>
                <a:latin typeface="Calibri"/>
              </a:rPr>
              <a:t>11 Industry-Standard Security Tools — AI Agent Operated</a:t>
            </a:r>
          </a:p>
        </p:txBody>
      </p:sp>
      <p:sp>
        <p:nvSpPr>
          <p:cNvPr id="7" name="Rectangle 6"/>
          <p:cNvSpPr/>
          <p:nvPr/>
        </p:nvSpPr>
        <p:spPr>
          <a:xfrm>
            <a:off x="274320" y="914400"/>
            <a:ext cx="5486400" cy="2743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987552"/>
            <a:ext cx="3657600" cy="347472"/>
          </a:xfrm>
          <a:prstGeom prst="rect">
            <a:avLst/>
          </a:prstGeom>
          <a:solidFill>
            <a:srgbClr val="08101C"/>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42416"/>
            <a:ext cx="3520440" cy="256032"/>
          </a:xfrm>
          <a:prstGeom prst="rect">
            <a:avLst/>
          </a:prstGeom>
          <a:noFill/>
        </p:spPr>
        <p:txBody>
          <a:bodyPr wrap="square">
            <a:spAutoFit/>
          </a:bodyPr>
          <a:lstStyle/>
          <a:p>
            <a:pPr algn="ctr"/>
            <a:r>
              <a:rPr sz="950" b="1" i="0">
                <a:solidFill>
                  <a:srgbClr val="39FF14"/>
                </a:solidFill>
                <a:latin typeface="Calibri"/>
              </a:rPr>
              <a:t>PHASE 1  ·  RECONNAISSANCE</a:t>
            </a:r>
          </a:p>
        </p:txBody>
      </p:sp>
      <p:sp>
        <p:nvSpPr>
          <p:cNvPr id="10" name="Rectangle 9"/>
          <p:cNvSpPr/>
          <p:nvPr/>
        </p:nvSpPr>
        <p:spPr>
          <a:xfrm>
            <a:off x="4160520" y="987552"/>
            <a:ext cx="3657600" cy="347472"/>
          </a:xfrm>
          <a:prstGeom prst="rect">
            <a:avLst/>
          </a:prstGeom>
          <a:solidFill>
            <a:srgbClr val="08101C"/>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51960" y="1042416"/>
            <a:ext cx="3520440" cy="256032"/>
          </a:xfrm>
          <a:prstGeom prst="rect">
            <a:avLst/>
          </a:prstGeom>
          <a:noFill/>
        </p:spPr>
        <p:txBody>
          <a:bodyPr wrap="square">
            <a:spAutoFit/>
          </a:bodyPr>
          <a:lstStyle/>
          <a:p>
            <a:pPr algn="ctr"/>
            <a:r>
              <a:rPr sz="950" b="1" i="0">
                <a:solidFill>
                  <a:srgbClr val="00E5FF"/>
                </a:solidFill>
                <a:latin typeface="Calibri"/>
              </a:rPr>
              <a:t>PHASE 2  ·  ANALYSIS</a:t>
            </a:r>
          </a:p>
        </p:txBody>
      </p:sp>
      <p:sp>
        <p:nvSpPr>
          <p:cNvPr id="12" name="Rectangle 11"/>
          <p:cNvSpPr/>
          <p:nvPr/>
        </p:nvSpPr>
        <p:spPr>
          <a:xfrm>
            <a:off x="8412480" y="987552"/>
            <a:ext cx="1828800" cy="347472"/>
          </a:xfrm>
          <a:prstGeom prst="rect">
            <a:avLst/>
          </a:prstGeom>
          <a:solidFill>
            <a:srgbClr val="08101C"/>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0" y="1042416"/>
            <a:ext cx="1691640" cy="256032"/>
          </a:xfrm>
          <a:prstGeom prst="rect">
            <a:avLst/>
          </a:prstGeom>
          <a:noFill/>
        </p:spPr>
        <p:txBody>
          <a:bodyPr wrap="square">
            <a:spAutoFit/>
          </a:bodyPr>
          <a:lstStyle/>
          <a:p>
            <a:pPr algn="ctr"/>
            <a:r>
              <a:rPr sz="950" b="1" i="0">
                <a:solidFill>
                  <a:srgbClr val="FF4545"/>
                </a:solidFill>
                <a:latin typeface="Calibri"/>
              </a:rPr>
              <a:t>PHASE 3  ·  VALIDATION</a:t>
            </a:r>
          </a:p>
        </p:txBody>
      </p:sp>
      <p:sp>
        <p:nvSpPr>
          <p:cNvPr id="14" name="Rectangle 13"/>
          <p:cNvSpPr/>
          <p:nvPr/>
        </p:nvSpPr>
        <p:spPr>
          <a:xfrm>
            <a:off x="10469880" y="987552"/>
            <a:ext cx="1554480" cy="347472"/>
          </a:xfrm>
          <a:prstGeom prst="rect">
            <a:avLst/>
          </a:prstGeom>
          <a:solidFill>
            <a:srgbClr val="0810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61320" y="1042416"/>
            <a:ext cx="1417320" cy="256032"/>
          </a:xfrm>
          <a:prstGeom prst="rect">
            <a:avLst/>
          </a:prstGeom>
          <a:noFill/>
        </p:spPr>
        <p:txBody>
          <a:bodyPr wrap="square">
            <a:spAutoFit/>
          </a:bodyPr>
          <a:lstStyle/>
          <a:p>
            <a:pPr algn="ctr"/>
            <a:r>
              <a:rPr sz="950" b="1" i="0">
                <a:solidFill>
                  <a:srgbClr val="BD93F9"/>
                </a:solidFill>
                <a:latin typeface="Calibri"/>
              </a:rPr>
              <a:t>PHASE 3  ·  EVIDENCE</a:t>
            </a:r>
          </a:p>
        </p:txBody>
      </p:sp>
      <p:sp>
        <p:nvSpPr>
          <p:cNvPr id="16" name="Rectangle 15"/>
          <p:cNvSpPr/>
          <p:nvPr/>
        </p:nvSpPr>
        <p:spPr>
          <a:xfrm>
            <a:off x="274320" y="1417320"/>
            <a:ext cx="3657600" cy="1557528"/>
          </a:xfrm>
          <a:prstGeom prst="rect">
            <a:avLst/>
          </a:prstGeom>
          <a:solidFill>
            <a:srgbClr val="10162B"/>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4320" y="1417320"/>
            <a:ext cx="365760" cy="155752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2608" y="2031492"/>
            <a:ext cx="329184" cy="329184"/>
          </a:xfrm>
          <a:prstGeom prst="rect">
            <a:avLst/>
          </a:prstGeom>
          <a:noFill/>
        </p:spPr>
        <p:txBody>
          <a:bodyPr wrap="square">
            <a:spAutoFit/>
          </a:bodyPr>
          <a:lstStyle/>
          <a:p>
            <a:pPr algn="ctr"/>
            <a:r>
              <a:rPr sz="1400" b="1" i="0">
                <a:solidFill>
                  <a:srgbClr val="0A0D1A"/>
                </a:solidFill>
                <a:latin typeface="Calibri"/>
              </a:rPr>
              <a:t>1</a:t>
            </a:r>
          </a:p>
        </p:txBody>
      </p:sp>
      <p:sp>
        <p:nvSpPr>
          <p:cNvPr id="19" name="TextBox 18"/>
          <p:cNvSpPr txBox="1"/>
          <p:nvPr/>
        </p:nvSpPr>
        <p:spPr>
          <a:xfrm>
            <a:off x="731520" y="1472184"/>
            <a:ext cx="3154680" cy="274320"/>
          </a:xfrm>
          <a:prstGeom prst="rect">
            <a:avLst/>
          </a:prstGeom>
          <a:noFill/>
        </p:spPr>
        <p:txBody>
          <a:bodyPr wrap="square">
            <a:spAutoFit/>
          </a:bodyPr>
          <a:lstStyle/>
          <a:p>
            <a:pPr algn="ctr"/>
            <a:r>
              <a:rPr sz="1300" b="1" i="0">
                <a:solidFill>
                  <a:srgbClr val="39FF14"/>
                </a:solidFill>
                <a:latin typeface="Calibri"/>
              </a:rPr>
              <a:t>Amass</a:t>
            </a:r>
          </a:p>
        </p:txBody>
      </p:sp>
      <p:sp>
        <p:nvSpPr>
          <p:cNvPr id="20" name="TextBox 19"/>
          <p:cNvSpPr txBox="1"/>
          <p:nvPr/>
        </p:nvSpPr>
        <p:spPr>
          <a:xfrm>
            <a:off x="731520" y="1737360"/>
            <a:ext cx="3154680" cy="201168"/>
          </a:xfrm>
          <a:prstGeom prst="rect">
            <a:avLst/>
          </a:prstGeom>
          <a:noFill/>
        </p:spPr>
        <p:txBody>
          <a:bodyPr wrap="square">
            <a:spAutoFit/>
          </a:bodyPr>
          <a:lstStyle/>
          <a:p>
            <a:pPr algn="ctr"/>
            <a:r>
              <a:rPr sz="850" b="0" i="1">
                <a:solidFill>
                  <a:srgbClr val="A0AAB8"/>
                </a:solidFill>
                <a:latin typeface="Calibri"/>
              </a:rPr>
              <a:t>Subdomain Enumeration  ·  Recon Agent</a:t>
            </a:r>
          </a:p>
        </p:txBody>
      </p:sp>
      <p:sp>
        <p:nvSpPr>
          <p:cNvPr id="21" name="TextBox 20"/>
          <p:cNvSpPr txBox="1"/>
          <p:nvPr/>
        </p:nvSpPr>
        <p:spPr>
          <a:xfrm>
            <a:off x="731520" y="1947672"/>
            <a:ext cx="3154680" cy="963168"/>
          </a:xfrm>
          <a:prstGeom prst="rect">
            <a:avLst/>
          </a:prstGeom>
          <a:noFill/>
        </p:spPr>
        <p:txBody>
          <a:bodyPr wrap="square">
            <a:spAutoFit/>
          </a:bodyPr>
          <a:lstStyle/>
          <a:p>
            <a:pPr algn="ctr"/>
            <a:r>
              <a:rPr sz="900" b="0" i="0">
                <a:solidFill>
                  <a:srgbClr val="A0AAB8"/>
                </a:solidFill>
                <a:latin typeface="Calibri"/>
              </a:rPr>
              <a:t>DNS brute-force · certificate transparency logs · passive OSINT. Discovers all external subdomains and maps attack surface entry points.</a:t>
            </a:r>
          </a:p>
        </p:txBody>
      </p:sp>
      <p:sp>
        <p:nvSpPr>
          <p:cNvPr id="22" name="Rectangle 21"/>
          <p:cNvSpPr/>
          <p:nvPr/>
        </p:nvSpPr>
        <p:spPr>
          <a:xfrm>
            <a:off x="274320" y="3048000"/>
            <a:ext cx="3657600" cy="1557528"/>
          </a:xfrm>
          <a:prstGeom prst="rect">
            <a:avLst/>
          </a:prstGeom>
          <a:solidFill>
            <a:srgbClr val="10162B"/>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74320" y="3048000"/>
            <a:ext cx="365760" cy="155752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608" y="3662172"/>
            <a:ext cx="329184" cy="329184"/>
          </a:xfrm>
          <a:prstGeom prst="rect">
            <a:avLst/>
          </a:prstGeom>
          <a:noFill/>
        </p:spPr>
        <p:txBody>
          <a:bodyPr wrap="square">
            <a:spAutoFit/>
          </a:bodyPr>
          <a:lstStyle/>
          <a:p>
            <a:pPr algn="ctr"/>
            <a:r>
              <a:rPr sz="1400" b="1" i="0">
                <a:solidFill>
                  <a:srgbClr val="0A0D1A"/>
                </a:solidFill>
                <a:latin typeface="Calibri"/>
              </a:rPr>
              <a:t>2</a:t>
            </a:r>
          </a:p>
        </p:txBody>
      </p:sp>
      <p:sp>
        <p:nvSpPr>
          <p:cNvPr id="25" name="TextBox 24"/>
          <p:cNvSpPr txBox="1"/>
          <p:nvPr/>
        </p:nvSpPr>
        <p:spPr>
          <a:xfrm>
            <a:off x="731520" y="3102864"/>
            <a:ext cx="3154680" cy="274320"/>
          </a:xfrm>
          <a:prstGeom prst="rect">
            <a:avLst/>
          </a:prstGeom>
          <a:noFill/>
        </p:spPr>
        <p:txBody>
          <a:bodyPr wrap="square">
            <a:spAutoFit/>
          </a:bodyPr>
          <a:lstStyle/>
          <a:p>
            <a:pPr algn="ctr"/>
            <a:r>
              <a:rPr sz="1300" b="1" i="0">
                <a:solidFill>
                  <a:srgbClr val="39FF14"/>
                </a:solidFill>
                <a:latin typeface="Calibri"/>
              </a:rPr>
              <a:t>httpx</a:t>
            </a:r>
          </a:p>
        </p:txBody>
      </p:sp>
      <p:sp>
        <p:nvSpPr>
          <p:cNvPr id="26" name="TextBox 25"/>
          <p:cNvSpPr txBox="1"/>
          <p:nvPr/>
        </p:nvSpPr>
        <p:spPr>
          <a:xfrm>
            <a:off x="731520" y="3368040"/>
            <a:ext cx="3154680" cy="201168"/>
          </a:xfrm>
          <a:prstGeom prst="rect">
            <a:avLst/>
          </a:prstGeom>
          <a:noFill/>
        </p:spPr>
        <p:txBody>
          <a:bodyPr wrap="square">
            <a:spAutoFit/>
          </a:bodyPr>
          <a:lstStyle/>
          <a:p>
            <a:pPr algn="ctr"/>
            <a:r>
              <a:rPr sz="850" b="0" i="1">
                <a:solidFill>
                  <a:srgbClr val="A0AAB8"/>
                </a:solidFill>
                <a:latin typeface="Calibri"/>
              </a:rPr>
              <a:t>Live Host Probing  ·  Recon Agent</a:t>
            </a:r>
          </a:p>
        </p:txBody>
      </p:sp>
      <p:sp>
        <p:nvSpPr>
          <p:cNvPr id="27" name="TextBox 26"/>
          <p:cNvSpPr txBox="1"/>
          <p:nvPr/>
        </p:nvSpPr>
        <p:spPr>
          <a:xfrm>
            <a:off x="731520" y="3578352"/>
            <a:ext cx="3154680" cy="963168"/>
          </a:xfrm>
          <a:prstGeom prst="rect">
            <a:avLst/>
          </a:prstGeom>
          <a:noFill/>
        </p:spPr>
        <p:txBody>
          <a:bodyPr wrap="square">
            <a:spAutoFit/>
          </a:bodyPr>
          <a:lstStyle/>
          <a:p>
            <a:pPr algn="ctr"/>
            <a:r>
              <a:rPr sz="900" b="0" i="0">
                <a:solidFill>
                  <a:srgbClr val="A0AAB8"/>
                </a:solidFill>
                <a:latin typeface="Calibri"/>
              </a:rPr>
              <a:t>Validates which discovered hosts respond over HTTP/HTTPS. Identifies web servers, status codes, redirects, TLS details.</a:t>
            </a:r>
          </a:p>
        </p:txBody>
      </p:sp>
      <p:sp>
        <p:nvSpPr>
          <p:cNvPr id="28" name="Rectangle 27"/>
          <p:cNvSpPr/>
          <p:nvPr/>
        </p:nvSpPr>
        <p:spPr>
          <a:xfrm>
            <a:off x="274320" y="4678680"/>
            <a:ext cx="3657600" cy="1557528"/>
          </a:xfrm>
          <a:prstGeom prst="rect">
            <a:avLst/>
          </a:prstGeom>
          <a:solidFill>
            <a:srgbClr val="10162B"/>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74320" y="4678680"/>
            <a:ext cx="365760" cy="155752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92608" y="5292852"/>
            <a:ext cx="329184" cy="329184"/>
          </a:xfrm>
          <a:prstGeom prst="rect">
            <a:avLst/>
          </a:prstGeom>
          <a:noFill/>
        </p:spPr>
        <p:txBody>
          <a:bodyPr wrap="square">
            <a:spAutoFit/>
          </a:bodyPr>
          <a:lstStyle/>
          <a:p>
            <a:pPr algn="ctr"/>
            <a:r>
              <a:rPr sz="1400" b="1" i="0">
                <a:solidFill>
                  <a:srgbClr val="0A0D1A"/>
                </a:solidFill>
                <a:latin typeface="Calibri"/>
              </a:rPr>
              <a:t>3</a:t>
            </a:r>
          </a:p>
        </p:txBody>
      </p:sp>
      <p:sp>
        <p:nvSpPr>
          <p:cNvPr id="31" name="TextBox 30"/>
          <p:cNvSpPr txBox="1"/>
          <p:nvPr/>
        </p:nvSpPr>
        <p:spPr>
          <a:xfrm>
            <a:off x="731520" y="4733544"/>
            <a:ext cx="3154680" cy="274320"/>
          </a:xfrm>
          <a:prstGeom prst="rect">
            <a:avLst/>
          </a:prstGeom>
          <a:noFill/>
        </p:spPr>
        <p:txBody>
          <a:bodyPr wrap="square">
            <a:spAutoFit/>
          </a:bodyPr>
          <a:lstStyle/>
          <a:p>
            <a:pPr algn="ctr"/>
            <a:r>
              <a:rPr sz="1300" b="1" i="0">
                <a:solidFill>
                  <a:srgbClr val="39FF14"/>
                </a:solidFill>
                <a:latin typeface="Calibri"/>
              </a:rPr>
              <a:t>Nmap</a:t>
            </a:r>
          </a:p>
        </p:txBody>
      </p:sp>
      <p:sp>
        <p:nvSpPr>
          <p:cNvPr id="32" name="TextBox 31"/>
          <p:cNvSpPr txBox="1"/>
          <p:nvPr/>
        </p:nvSpPr>
        <p:spPr>
          <a:xfrm>
            <a:off x="731520" y="4998720"/>
            <a:ext cx="3154680" cy="201168"/>
          </a:xfrm>
          <a:prstGeom prst="rect">
            <a:avLst/>
          </a:prstGeom>
          <a:noFill/>
        </p:spPr>
        <p:txBody>
          <a:bodyPr wrap="square">
            <a:spAutoFit/>
          </a:bodyPr>
          <a:lstStyle/>
          <a:p>
            <a:pPr algn="ctr"/>
            <a:r>
              <a:rPr sz="850" b="0" i="1">
                <a:solidFill>
                  <a:srgbClr val="A0AAB8"/>
                </a:solidFill>
                <a:latin typeface="Calibri"/>
              </a:rPr>
              <a:t>Port + Service Scan  ·  Recon Agent</a:t>
            </a:r>
          </a:p>
        </p:txBody>
      </p:sp>
      <p:sp>
        <p:nvSpPr>
          <p:cNvPr id="33" name="TextBox 32"/>
          <p:cNvSpPr txBox="1"/>
          <p:nvPr/>
        </p:nvSpPr>
        <p:spPr>
          <a:xfrm>
            <a:off x="731520" y="5209032"/>
            <a:ext cx="3154680" cy="963168"/>
          </a:xfrm>
          <a:prstGeom prst="rect">
            <a:avLst/>
          </a:prstGeom>
          <a:noFill/>
        </p:spPr>
        <p:txBody>
          <a:bodyPr wrap="square">
            <a:spAutoFit/>
          </a:bodyPr>
          <a:lstStyle/>
          <a:p>
            <a:pPr algn="ctr"/>
            <a:r>
              <a:rPr sz="900" b="0" i="0">
                <a:solidFill>
                  <a:srgbClr val="A0AAB8"/>
                </a:solidFill>
                <a:latin typeface="Calibri"/>
              </a:rPr>
              <a:t>Port scanning, service fingerprinting, OS detection. Optional NSE script execution for vuln detection on open services.</a:t>
            </a:r>
          </a:p>
        </p:txBody>
      </p:sp>
      <p:sp>
        <p:nvSpPr>
          <p:cNvPr id="34" name="Rectangle 33"/>
          <p:cNvSpPr/>
          <p:nvPr/>
        </p:nvSpPr>
        <p:spPr>
          <a:xfrm>
            <a:off x="4160520" y="1417320"/>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60520" y="1417320"/>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78808" y="1705356"/>
            <a:ext cx="329184" cy="329184"/>
          </a:xfrm>
          <a:prstGeom prst="rect">
            <a:avLst/>
          </a:prstGeom>
          <a:noFill/>
        </p:spPr>
        <p:txBody>
          <a:bodyPr wrap="square">
            <a:spAutoFit/>
          </a:bodyPr>
          <a:lstStyle/>
          <a:p>
            <a:pPr algn="ctr"/>
            <a:r>
              <a:rPr sz="1400" b="1" i="0">
                <a:solidFill>
                  <a:srgbClr val="0A0D1A"/>
                </a:solidFill>
                <a:latin typeface="Calibri"/>
              </a:rPr>
              <a:t>4</a:t>
            </a:r>
          </a:p>
        </p:txBody>
      </p:sp>
      <p:sp>
        <p:nvSpPr>
          <p:cNvPr id="37" name="TextBox 36"/>
          <p:cNvSpPr txBox="1"/>
          <p:nvPr/>
        </p:nvSpPr>
        <p:spPr>
          <a:xfrm>
            <a:off x="4617720" y="1472184"/>
            <a:ext cx="3611880" cy="274320"/>
          </a:xfrm>
          <a:prstGeom prst="rect">
            <a:avLst/>
          </a:prstGeom>
          <a:noFill/>
        </p:spPr>
        <p:txBody>
          <a:bodyPr wrap="square">
            <a:spAutoFit/>
          </a:bodyPr>
          <a:lstStyle/>
          <a:p>
            <a:pPr algn="ctr"/>
            <a:r>
              <a:rPr sz="1300" b="1" i="0">
                <a:solidFill>
                  <a:srgbClr val="00E5FF"/>
                </a:solidFill>
                <a:latin typeface="Calibri"/>
              </a:rPr>
              <a:t>WhatWeb</a:t>
            </a:r>
          </a:p>
        </p:txBody>
      </p:sp>
      <p:sp>
        <p:nvSpPr>
          <p:cNvPr id="38" name="TextBox 37"/>
          <p:cNvSpPr txBox="1"/>
          <p:nvPr/>
        </p:nvSpPr>
        <p:spPr>
          <a:xfrm>
            <a:off x="4617720" y="1737360"/>
            <a:ext cx="3611880" cy="201168"/>
          </a:xfrm>
          <a:prstGeom prst="rect">
            <a:avLst/>
          </a:prstGeom>
          <a:noFill/>
        </p:spPr>
        <p:txBody>
          <a:bodyPr wrap="square">
            <a:spAutoFit/>
          </a:bodyPr>
          <a:lstStyle/>
          <a:p>
            <a:pPr algn="ctr"/>
            <a:r>
              <a:rPr sz="850" b="0" i="1">
                <a:solidFill>
                  <a:srgbClr val="A0AAB8"/>
                </a:solidFill>
                <a:latin typeface="Calibri"/>
              </a:rPr>
              <a:t>Technology Fingerprinting  ·  Analysis Agent</a:t>
            </a:r>
          </a:p>
        </p:txBody>
      </p:sp>
      <p:sp>
        <p:nvSpPr>
          <p:cNvPr id="39" name="TextBox 38"/>
          <p:cNvSpPr txBox="1"/>
          <p:nvPr/>
        </p:nvSpPr>
        <p:spPr>
          <a:xfrm>
            <a:off x="4617720" y="1947672"/>
            <a:ext cx="3611880" cy="310896"/>
          </a:xfrm>
          <a:prstGeom prst="rect">
            <a:avLst/>
          </a:prstGeom>
          <a:noFill/>
        </p:spPr>
        <p:txBody>
          <a:bodyPr wrap="square">
            <a:spAutoFit/>
          </a:bodyPr>
          <a:lstStyle/>
          <a:p>
            <a:pPr algn="ctr"/>
            <a:r>
              <a:rPr sz="900" b="0" i="0">
                <a:solidFill>
                  <a:srgbClr val="A0AAB8"/>
                </a:solidFill>
                <a:latin typeface="Calibri"/>
              </a:rPr>
              <a:t>Identifies CMS, frameworks, server software, JS libraries, and versions from HTTP responses. Seeds Technology nodes for the ASG.</a:t>
            </a:r>
          </a:p>
        </p:txBody>
      </p:sp>
      <p:sp>
        <p:nvSpPr>
          <p:cNvPr id="40" name="Rectangle 39"/>
          <p:cNvSpPr/>
          <p:nvPr/>
        </p:nvSpPr>
        <p:spPr>
          <a:xfrm>
            <a:off x="4160520" y="2395728"/>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160520" y="2395728"/>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78808" y="2683764"/>
            <a:ext cx="329184" cy="329184"/>
          </a:xfrm>
          <a:prstGeom prst="rect">
            <a:avLst/>
          </a:prstGeom>
          <a:noFill/>
        </p:spPr>
        <p:txBody>
          <a:bodyPr wrap="square">
            <a:spAutoFit/>
          </a:bodyPr>
          <a:lstStyle/>
          <a:p>
            <a:pPr algn="ctr"/>
            <a:r>
              <a:rPr sz="1400" b="1" i="0">
                <a:solidFill>
                  <a:srgbClr val="0A0D1A"/>
                </a:solidFill>
                <a:latin typeface="Calibri"/>
              </a:rPr>
              <a:t>5</a:t>
            </a:r>
          </a:p>
        </p:txBody>
      </p:sp>
      <p:sp>
        <p:nvSpPr>
          <p:cNvPr id="43" name="TextBox 42"/>
          <p:cNvSpPr txBox="1"/>
          <p:nvPr/>
        </p:nvSpPr>
        <p:spPr>
          <a:xfrm>
            <a:off x="4617720" y="2450592"/>
            <a:ext cx="3611880" cy="274320"/>
          </a:xfrm>
          <a:prstGeom prst="rect">
            <a:avLst/>
          </a:prstGeom>
          <a:noFill/>
        </p:spPr>
        <p:txBody>
          <a:bodyPr wrap="square">
            <a:spAutoFit/>
          </a:bodyPr>
          <a:lstStyle/>
          <a:p>
            <a:pPr algn="ctr"/>
            <a:r>
              <a:rPr sz="1300" b="1" i="0">
                <a:solidFill>
                  <a:srgbClr val="00E5FF"/>
                </a:solidFill>
                <a:latin typeface="Calibri"/>
              </a:rPr>
              <a:t>Gobuster</a:t>
            </a:r>
          </a:p>
        </p:txBody>
      </p:sp>
      <p:sp>
        <p:nvSpPr>
          <p:cNvPr id="44" name="TextBox 43"/>
          <p:cNvSpPr txBox="1"/>
          <p:nvPr/>
        </p:nvSpPr>
        <p:spPr>
          <a:xfrm>
            <a:off x="4617720" y="2715768"/>
            <a:ext cx="3611880" cy="201168"/>
          </a:xfrm>
          <a:prstGeom prst="rect">
            <a:avLst/>
          </a:prstGeom>
          <a:noFill/>
        </p:spPr>
        <p:txBody>
          <a:bodyPr wrap="square">
            <a:spAutoFit/>
          </a:bodyPr>
          <a:lstStyle/>
          <a:p>
            <a:pPr algn="ctr"/>
            <a:r>
              <a:rPr sz="850" b="0" i="1">
                <a:solidFill>
                  <a:srgbClr val="A0AAB8"/>
                </a:solidFill>
                <a:latin typeface="Calibri"/>
              </a:rPr>
              <a:t>Directory Brute-Force  ·  Analysis Agent</a:t>
            </a:r>
          </a:p>
        </p:txBody>
      </p:sp>
      <p:sp>
        <p:nvSpPr>
          <p:cNvPr id="45" name="TextBox 44"/>
          <p:cNvSpPr txBox="1"/>
          <p:nvPr/>
        </p:nvSpPr>
        <p:spPr>
          <a:xfrm>
            <a:off x="4617720" y="2926080"/>
            <a:ext cx="3611880" cy="310896"/>
          </a:xfrm>
          <a:prstGeom prst="rect">
            <a:avLst/>
          </a:prstGeom>
          <a:noFill/>
        </p:spPr>
        <p:txBody>
          <a:bodyPr wrap="square">
            <a:spAutoFit/>
          </a:bodyPr>
          <a:lstStyle/>
          <a:p>
            <a:pPr algn="ctr"/>
            <a:r>
              <a:rPr sz="900" b="0" i="0">
                <a:solidFill>
                  <a:srgbClr val="A0AAB8"/>
                </a:solidFill>
                <a:latin typeface="Calibri"/>
              </a:rPr>
              <a:t>Discovers hidden paths, admin panels, backup files, and exposed resources via wordlist-based HTTP path enumeration.</a:t>
            </a:r>
          </a:p>
        </p:txBody>
      </p:sp>
      <p:sp>
        <p:nvSpPr>
          <p:cNvPr id="46" name="Rectangle 45"/>
          <p:cNvSpPr/>
          <p:nvPr/>
        </p:nvSpPr>
        <p:spPr>
          <a:xfrm>
            <a:off x="4160520" y="3374136"/>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160520" y="3374136"/>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78808" y="3662172"/>
            <a:ext cx="329184" cy="329184"/>
          </a:xfrm>
          <a:prstGeom prst="rect">
            <a:avLst/>
          </a:prstGeom>
          <a:noFill/>
        </p:spPr>
        <p:txBody>
          <a:bodyPr wrap="square">
            <a:spAutoFit/>
          </a:bodyPr>
          <a:lstStyle/>
          <a:p>
            <a:pPr algn="ctr"/>
            <a:r>
              <a:rPr sz="1400" b="1" i="0">
                <a:solidFill>
                  <a:srgbClr val="0A0D1A"/>
                </a:solidFill>
                <a:latin typeface="Calibri"/>
              </a:rPr>
              <a:t>6</a:t>
            </a:r>
          </a:p>
        </p:txBody>
      </p:sp>
      <p:sp>
        <p:nvSpPr>
          <p:cNvPr id="49" name="TextBox 48"/>
          <p:cNvSpPr txBox="1"/>
          <p:nvPr/>
        </p:nvSpPr>
        <p:spPr>
          <a:xfrm>
            <a:off x="4617720" y="3429000"/>
            <a:ext cx="3611880" cy="274320"/>
          </a:xfrm>
          <a:prstGeom prst="rect">
            <a:avLst/>
          </a:prstGeom>
          <a:noFill/>
        </p:spPr>
        <p:txBody>
          <a:bodyPr wrap="square">
            <a:spAutoFit/>
          </a:bodyPr>
          <a:lstStyle/>
          <a:p>
            <a:pPr algn="ctr"/>
            <a:r>
              <a:rPr sz="1300" b="1" i="0">
                <a:solidFill>
                  <a:srgbClr val="00E5FF"/>
                </a:solidFill>
                <a:latin typeface="Calibri"/>
              </a:rPr>
              <a:t>ffuf</a:t>
            </a:r>
          </a:p>
        </p:txBody>
      </p:sp>
      <p:sp>
        <p:nvSpPr>
          <p:cNvPr id="50" name="TextBox 49"/>
          <p:cNvSpPr txBox="1"/>
          <p:nvPr/>
        </p:nvSpPr>
        <p:spPr>
          <a:xfrm>
            <a:off x="4617720" y="3694176"/>
            <a:ext cx="3611880" cy="201168"/>
          </a:xfrm>
          <a:prstGeom prst="rect">
            <a:avLst/>
          </a:prstGeom>
          <a:noFill/>
        </p:spPr>
        <p:txBody>
          <a:bodyPr wrap="square">
            <a:spAutoFit/>
          </a:bodyPr>
          <a:lstStyle/>
          <a:p>
            <a:pPr algn="ctr"/>
            <a:r>
              <a:rPr sz="850" b="0" i="1">
                <a:solidFill>
                  <a:srgbClr val="A0AAB8"/>
                </a:solidFill>
                <a:latin typeface="Calibri"/>
              </a:rPr>
              <a:t>API + Parameter Fuzzing  ·  Analysis Agent</a:t>
            </a:r>
          </a:p>
        </p:txBody>
      </p:sp>
      <p:sp>
        <p:nvSpPr>
          <p:cNvPr id="51" name="TextBox 50"/>
          <p:cNvSpPr txBox="1"/>
          <p:nvPr/>
        </p:nvSpPr>
        <p:spPr>
          <a:xfrm>
            <a:off x="4617720" y="3904488"/>
            <a:ext cx="3611880" cy="310896"/>
          </a:xfrm>
          <a:prstGeom prst="rect">
            <a:avLst/>
          </a:prstGeom>
          <a:noFill/>
        </p:spPr>
        <p:txBody>
          <a:bodyPr wrap="square">
            <a:spAutoFit/>
          </a:bodyPr>
          <a:lstStyle/>
          <a:p>
            <a:pPr algn="ctr"/>
            <a:r>
              <a:rPr sz="900" b="0" i="0">
                <a:solidFill>
                  <a:srgbClr val="A0AAB8"/>
                </a:solidFill>
                <a:latin typeface="Calibri"/>
              </a:rPr>
              <a:t>Fast web fuzzer for API route discovery, parameter fuzzing, virtual host enumeration, and undocumented endpoint identification.</a:t>
            </a:r>
          </a:p>
        </p:txBody>
      </p:sp>
      <p:sp>
        <p:nvSpPr>
          <p:cNvPr id="52" name="Rectangle 51"/>
          <p:cNvSpPr/>
          <p:nvPr/>
        </p:nvSpPr>
        <p:spPr>
          <a:xfrm>
            <a:off x="4160520" y="4352544"/>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160520" y="4352544"/>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78808" y="4640580"/>
            <a:ext cx="329184" cy="329184"/>
          </a:xfrm>
          <a:prstGeom prst="rect">
            <a:avLst/>
          </a:prstGeom>
          <a:noFill/>
        </p:spPr>
        <p:txBody>
          <a:bodyPr wrap="square">
            <a:spAutoFit/>
          </a:bodyPr>
          <a:lstStyle/>
          <a:p>
            <a:pPr algn="ctr"/>
            <a:r>
              <a:rPr sz="1400" b="1" i="0">
                <a:solidFill>
                  <a:srgbClr val="0A0D1A"/>
                </a:solidFill>
                <a:latin typeface="Calibri"/>
              </a:rPr>
              <a:t>7</a:t>
            </a:r>
          </a:p>
        </p:txBody>
      </p:sp>
      <p:sp>
        <p:nvSpPr>
          <p:cNvPr id="55" name="TextBox 54"/>
          <p:cNvSpPr txBox="1"/>
          <p:nvPr/>
        </p:nvSpPr>
        <p:spPr>
          <a:xfrm>
            <a:off x="4617720" y="4407408"/>
            <a:ext cx="3611880" cy="274320"/>
          </a:xfrm>
          <a:prstGeom prst="rect">
            <a:avLst/>
          </a:prstGeom>
          <a:noFill/>
        </p:spPr>
        <p:txBody>
          <a:bodyPr wrap="square">
            <a:spAutoFit/>
          </a:bodyPr>
          <a:lstStyle/>
          <a:p>
            <a:pPr algn="ctr"/>
            <a:r>
              <a:rPr sz="1300" b="1" i="0">
                <a:solidFill>
                  <a:srgbClr val="00E5FF"/>
                </a:solidFill>
                <a:latin typeface="Calibri"/>
              </a:rPr>
              <a:t>Nuclei</a:t>
            </a:r>
          </a:p>
        </p:txBody>
      </p:sp>
      <p:sp>
        <p:nvSpPr>
          <p:cNvPr id="56" name="TextBox 55"/>
          <p:cNvSpPr txBox="1"/>
          <p:nvPr/>
        </p:nvSpPr>
        <p:spPr>
          <a:xfrm>
            <a:off x="4617720" y="4672584"/>
            <a:ext cx="3611880" cy="201168"/>
          </a:xfrm>
          <a:prstGeom prst="rect">
            <a:avLst/>
          </a:prstGeom>
          <a:noFill/>
        </p:spPr>
        <p:txBody>
          <a:bodyPr wrap="square">
            <a:spAutoFit/>
          </a:bodyPr>
          <a:lstStyle/>
          <a:p>
            <a:pPr algn="ctr"/>
            <a:r>
              <a:rPr sz="850" b="0" i="1">
                <a:solidFill>
                  <a:srgbClr val="A0AAB8"/>
                </a:solidFill>
                <a:latin typeface="Calibri"/>
              </a:rPr>
              <a:t>Template-Based Vuln Scan  ·  Analysis Agent</a:t>
            </a:r>
          </a:p>
        </p:txBody>
      </p:sp>
      <p:sp>
        <p:nvSpPr>
          <p:cNvPr id="57" name="TextBox 56"/>
          <p:cNvSpPr txBox="1"/>
          <p:nvPr/>
        </p:nvSpPr>
        <p:spPr>
          <a:xfrm>
            <a:off x="4617720" y="4882896"/>
            <a:ext cx="3611880" cy="310896"/>
          </a:xfrm>
          <a:prstGeom prst="rect">
            <a:avLst/>
          </a:prstGeom>
          <a:noFill/>
        </p:spPr>
        <p:txBody>
          <a:bodyPr wrap="square">
            <a:spAutoFit/>
          </a:bodyPr>
          <a:lstStyle/>
          <a:p>
            <a:pPr algn="ctr"/>
            <a:r>
              <a:rPr sz="900" b="0" i="0">
                <a:solidFill>
                  <a:srgbClr val="A0AAB8"/>
                </a:solidFill>
                <a:latin typeface="Calibri"/>
              </a:rPr>
              <a:t>Matches discovered services and technologies against a library of CVE and misconfiguration templates for automated vulnerability detection.</a:t>
            </a:r>
          </a:p>
        </p:txBody>
      </p:sp>
      <p:sp>
        <p:nvSpPr>
          <p:cNvPr id="58" name="Rectangle 57"/>
          <p:cNvSpPr/>
          <p:nvPr/>
        </p:nvSpPr>
        <p:spPr>
          <a:xfrm>
            <a:off x="4160520" y="5330952"/>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60520" y="5330952"/>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178808" y="5618988"/>
            <a:ext cx="329184" cy="329184"/>
          </a:xfrm>
          <a:prstGeom prst="rect">
            <a:avLst/>
          </a:prstGeom>
          <a:noFill/>
        </p:spPr>
        <p:txBody>
          <a:bodyPr wrap="square">
            <a:spAutoFit/>
          </a:bodyPr>
          <a:lstStyle/>
          <a:p>
            <a:pPr algn="ctr"/>
            <a:r>
              <a:rPr sz="1400" b="1" i="0">
                <a:solidFill>
                  <a:srgbClr val="0A0D1A"/>
                </a:solidFill>
                <a:latin typeface="Calibri"/>
              </a:rPr>
              <a:t>8</a:t>
            </a:r>
          </a:p>
        </p:txBody>
      </p:sp>
      <p:sp>
        <p:nvSpPr>
          <p:cNvPr id="61" name="TextBox 60"/>
          <p:cNvSpPr txBox="1"/>
          <p:nvPr/>
        </p:nvSpPr>
        <p:spPr>
          <a:xfrm>
            <a:off x="4617720" y="5385816"/>
            <a:ext cx="3611880" cy="274320"/>
          </a:xfrm>
          <a:prstGeom prst="rect">
            <a:avLst/>
          </a:prstGeom>
          <a:noFill/>
        </p:spPr>
        <p:txBody>
          <a:bodyPr wrap="square">
            <a:spAutoFit/>
          </a:bodyPr>
          <a:lstStyle/>
          <a:p>
            <a:pPr algn="ctr"/>
            <a:r>
              <a:rPr sz="1300" b="1" i="0">
                <a:solidFill>
                  <a:srgbClr val="00E5FF"/>
                </a:solidFill>
                <a:latin typeface="Calibri"/>
              </a:rPr>
              <a:t>OWASP ZAP</a:t>
            </a:r>
          </a:p>
        </p:txBody>
      </p:sp>
      <p:sp>
        <p:nvSpPr>
          <p:cNvPr id="62" name="TextBox 61"/>
          <p:cNvSpPr txBox="1"/>
          <p:nvPr/>
        </p:nvSpPr>
        <p:spPr>
          <a:xfrm>
            <a:off x="4617720" y="5650992"/>
            <a:ext cx="3611880" cy="201168"/>
          </a:xfrm>
          <a:prstGeom prst="rect">
            <a:avLst/>
          </a:prstGeom>
          <a:noFill/>
        </p:spPr>
        <p:txBody>
          <a:bodyPr wrap="square">
            <a:spAutoFit/>
          </a:bodyPr>
          <a:lstStyle/>
          <a:p>
            <a:pPr algn="ctr"/>
            <a:r>
              <a:rPr sz="850" b="0" i="1">
                <a:solidFill>
                  <a:srgbClr val="A0AAB8"/>
                </a:solidFill>
                <a:latin typeface="Calibri"/>
              </a:rPr>
              <a:t>Active Web App Scan  ·  Analysis Agent</a:t>
            </a:r>
          </a:p>
        </p:txBody>
      </p:sp>
      <p:sp>
        <p:nvSpPr>
          <p:cNvPr id="63" name="TextBox 62"/>
          <p:cNvSpPr txBox="1"/>
          <p:nvPr/>
        </p:nvSpPr>
        <p:spPr>
          <a:xfrm>
            <a:off x="4617720" y="5861304"/>
            <a:ext cx="3611880" cy="310896"/>
          </a:xfrm>
          <a:prstGeom prst="rect">
            <a:avLst/>
          </a:prstGeom>
          <a:noFill/>
        </p:spPr>
        <p:txBody>
          <a:bodyPr wrap="square">
            <a:spAutoFit/>
          </a:bodyPr>
          <a:lstStyle/>
          <a:p>
            <a:pPr algn="ctr"/>
            <a:r>
              <a:rPr sz="900" b="0" i="0">
                <a:solidFill>
                  <a:srgbClr val="A0AAB8"/>
                </a:solidFill>
                <a:latin typeface="Calibri"/>
              </a:rPr>
              <a:t>Crawls and actively tests for OWASP Top 10: XSS, CSRF, injection flaws, authentication weaknesses, and insecure direct object references.</a:t>
            </a:r>
          </a:p>
        </p:txBody>
      </p:sp>
      <p:sp>
        <p:nvSpPr>
          <p:cNvPr id="64" name="Rectangle 63"/>
          <p:cNvSpPr/>
          <p:nvPr/>
        </p:nvSpPr>
        <p:spPr>
          <a:xfrm>
            <a:off x="8412480" y="1417320"/>
            <a:ext cx="3566160" cy="1557528"/>
          </a:xfrm>
          <a:prstGeom prst="rect">
            <a:avLst/>
          </a:prstGeom>
          <a:solidFill>
            <a:srgbClr val="10162B"/>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412480" y="1417320"/>
            <a:ext cx="365760" cy="155752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430768" y="2031492"/>
            <a:ext cx="329184" cy="329184"/>
          </a:xfrm>
          <a:prstGeom prst="rect">
            <a:avLst/>
          </a:prstGeom>
          <a:noFill/>
        </p:spPr>
        <p:txBody>
          <a:bodyPr wrap="square">
            <a:spAutoFit/>
          </a:bodyPr>
          <a:lstStyle/>
          <a:p>
            <a:pPr algn="ctr"/>
            <a:r>
              <a:rPr sz="1400" b="1" i="0">
                <a:solidFill>
                  <a:srgbClr val="0A0D1A"/>
                </a:solidFill>
                <a:latin typeface="Calibri"/>
              </a:rPr>
              <a:t>9</a:t>
            </a:r>
          </a:p>
        </p:txBody>
      </p:sp>
      <p:sp>
        <p:nvSpPr>
          <p:cNvPr id="67" name="TextBox 66"/>
          <p:cNvSpPr txBox="1"/>
          <p:nvPr/>
        </p:nvSpPr>
        <p:spPr>
          <a:xfrm>
            <a:off x="8869680" y="1472184"/>
            <a:ext cx="3063240" cy="274320"/>
          </a:xfrm>
          <a:prstGeom prst="rect">
            <a:avLst/>
          </a:prstGeom>
          <a:noFill/>
        </p:spPr>
        <p:txBody>
          <a:bodyPr wrap="square">
            <a:spAutoFit/>
          </a:bodyPr>
          <a:lstStyle/>
          <a:p>
            <a:pPr algn="ctr"/>
            <a:r>
              <a:rPr sz="1300" b="1" i="0">
                <a:solidFill>
                  <a:srgbClr val="FF4545"/>
                </a:solidFill>
                <a:latin typeface="Calibri"/>
              </a:rPr>
              <a:t>SQLMap</a:t>
            </a:r>
          </a:p>
        </p:txBody>
      </p:sp>
      <p:sp>
        <p:nvSpPr>
          <p:cNvPr id="68" name="TextBox 67"/>
          <p:cNvSpPr txBox="1"/>
          <p:nvPr/>
        </p:nvSpPr>
        <p:spPr>
          <a:xfrm>
            <a:off x="8869680" y="1737360"/>
            <a:ext cx="3063240" cy="201168"/>
          </a:xfrm>
          <a:prstGeom prst="rect">
            <a:avLst/>
          </a:prstGeom>
          <a:noFill/>
        </p:spPr>
        <p:txBody>
          <a:bodyPr wrap="square">
            <a:spAutoFit/>
          </a:bodyPr>
          <a:lstStyle/>
          <a:p>
            <a:pPr algn="ctr"/>
            <a:r>
              <a:rPr sz="850" b="0" i="1">
                <a:solidFill>
                  <a:srgbClr val="A0AAB8"/>
                </a:solidFill>
                <a:latin typeface="Calibri"/>
              </a:rPr>
              <a:t>SQL Injection Validation  ·  Validation Agent</a:t>
            </a:r>
          </a:p>
        </p:txBody>
      </p:sp>
      <p:sp>
        <p:nvSpPr>
          <p:cNvPr id="69" name="TextBox 68"/>
          <p:cNvSpPr txBox="1"/>
          <p:nvPr/>
        </p:nvSpPr>
        <p:spPr>
          <a:xfrm>
            <a:off x="8869680" y="1947672"/>
            <a:ext cx="3063240" cy="963168"/>
          </a:xfrm>
          <a:prstGeom prst="rect">
            <a:avLst/>
          </a:prstGeom>
          <a:noFill/>
        </p:spPr>
        <p:txBody>
          <a:bodyPr wrap="square">
            <a:spAutoFit/>
          </a:bodyPr>
          <a:lstStyle/>
          <a:p>
            <a:pPr algn="ctr"/>
            <a:r>
              <a:rPr sz="900" b="0" i="0">
                <a:solidFill>
                  <a:srgbClr val="A0AAB8"/>
                </a:solidFill>
                <a:latin typeface="Calibri"/>
              </a:rPr>
              <a:t>Automated SQLi detection and exploitation. Confirms injection points, extracts database data, tests for OS-level access escalation.</a:t>
            </a:r>
          </a:p>
        </p:txBody>
      </p:sp>
      <p:sp>
        <p:nvSpPr>
          <p:cNvPr id="70" name="Rectangle 69"/>
          <p:cNvSpPr/>
          <p:nvPr/>
        </p:nvSpPr>
        <p:spPr>
          <a:xfrm>
            <a:off x="8412480" y="3048000"/>
            <a:ext cx="3566160" cy="1557528"/>
          </a:xfrm>
          <a:prstGeom prst="rect">
            <a:avLst/>
          </a:prstGeom>
          <a:solidFill>
            <a:srgbClr val="10162B"/>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8412480" y="3048000"/>
            <a:ext cx="365760" cy="155752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430768" y="3662172"/>
            <a:ext cx="329184" cy="329184"/>
          </a:xfrm>
          <a:prstGeom prst="rect">
            <a:avLst/>
          </a:prstGeom>
          <a:noFill/>
        </p:spPr>
        <p:txBody>
          <a:bodyPr wrap="square">
            <a:spAutoFit/>
          </a:bodyPr>
          <a:lstStyle/>
          <a:p>
            <a:pPr algn="ctr"/>
            <a:r>
              <a:rPr sz="1400" b="1" i="0">
                <a:solidFill>
                  <a:srgbClr val="0A0D1A"/>
                </a:solidFill>
                <a:latin typeface="Calibri"/>
              </a:rPr>
              <a:t>10</a:t>
            </a:r>
          </a:p>
        </p:txBody>
      </p:sp>
      <p:sp>
        <p:nvSpPr>
          <p:cNvPr id="73" name="TextBox 72"/>
          <p:cNvSpPr txBox="1"/>
          <p:nvPr/>
        </p:nvSpPr>
        <p:spPr>
          <a:xfrm>
            <a:off x="8869680" y="3102864"/>
            <a:ext cx="3063240" cy="274320"/>
          </a:xfrm>
          <a:prstGeom prst="rect">
            <a:avLst/>
          </a:prstGeom>
          <a:noFill/>
        </p:spPr>
        <p:txBody>
          <a:bodyPr wrap="square">
            <a:spAutoFit/>
          </a:bodyPr>
          <a:lstStyle/>
          <a:p>
            <a:pPr algn="ctr"/>
            <a:r>
              <a:rPr sz="1300" b="1" i="0">
                <a:solidFill>
                  <a:srgbClr val="FF4545"/>
                </a:solidFill>
                <a:latin typeface="Calibri"/>
              </a:rPr>
              <a:t>Metasploit</a:t>
            </a:r>
          </a:p>
        </p:txBody>
      </p:sp>
      <p:sp>
        <p:nvSpPr>
          <p:cNvPr id="74" name="TextBox 73"/>
          <p:cNvSpPr txBox="1"/>
          <p:nvPr/>
        </p:nvSpPr>
        <p:spPr>
          <a:xfrm>
            <a:off x="8869680" y="3368040"/>
            <a:ext cx="3063240" cy="201168"/>
          </a:xfrm>
          <a:prstGeom prst="rect">
            <a:avLst/>
          </a:prstGeom>
          <a:noFill/>
        </p:spPr>
        <p:txBody>
          <a:bodyPr wrap="square">
            <a:spAutoFit/>
          </a:bodyPr>
          <a:lstStyle/>
          <a:p>
            <a:pPr algn="ctr"/>
            <a:r>
              <a:rPr sz="850" b="0" i="1">
                <a:solidFill>
                  <a:srgbClr val="A0AAB8"/>
                </a:solidFill>
                <a:latin typeface="Calibri"/>
              </a:rPr>
              <a:t>Exploit + RCE Demo  ·  Validation Agent</a:t>
            </a:r>
          </a:p>
        </p:txBody>
      </p:sp>
      <p:sp>
        <p:nvSpPr>
          <p:cNvPr id="75" name="TextBox 74"/>
          <p:cNvSpPr txBox="1"/>
          <p:nvPr/>
        </p:nvSpPr>
        <p:spPr>
          <a:xfrm>
            <a:off x="8869680" y="3578352"/>
            <a:ext cx="3063240" cy="963168"/>
          </a:xfrm>
          <a:prstGeom prst="rect">
            <a:avLst/>
          </a:prstGeom>
          <a:noFill/>
        </p:spPr>
        <p:txBody>
          <a:bodyPr wrap="square">
            <a:spAutoFit/>
          </a:bodyPr>
          <a:lstStyle/>
          <a:p>
            <a:pPr algn="ctr"/>
            <a:r>
              <a:rPr sz="900" b="0" i="0">
                <a:solidFill>
                  <a:srgbClr val="A0AAB8"/>
                </a:solidFill>
                <a:latin typeface="Calibri"/>
              </a:rPr>
              <a:t>Executes known exploits against identified vulnerabilities. Validates APG ChainSteps, demonstrates impact, achieves proof of exploitation.</a:t>
            </a:r>
          </a:p>
        </p:txBody>
      </p:sp>
      <p:sp>
        <p:nvSpPr>
          <p:cNvPr id="76" name="Rectangle 75"/>
          <p:cNvSpPr/>
          <p:nvPr/>
        </p:nvSpPr>
        <p:spPr>
          <a:xfrm>
            <a:off x="8412480" y="4678680"/>
            <a:ext cx="3566160" cy="1557528"/>
          </a:xfrm>
          <a:prstGeom prst="rect">
            <a:avLst/>
          </a:prstGeom>
          <a:solidFill>
            <a:srgbClr val="10162B"/>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412480" y="4678680"/>
            <a:ext cx="365760" cy="155752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430768" y="5292852"/>
            <a:ext cx="329184" cy="329184"/>
          </a:xfrm>
          <a:prstGeom prst="rect">
            <a:avLst/>
          </a:prstGeom>
          <a:noFill/>
        </p:spPr>
        <p:txBody>
          <a:bodyPr wrap="square">
            <a:spAutoFit/>
          </a:bodyPr>
          <a:lstStyle/>
          <a:p>
            <a:pPr algn="ctr"/>
            <a:r>
              <a:rPr sz="1400" b="1" i="0">
                <a:solidFill>
                  <a:srgbClr val="0A0D1A"/>
                </a:solidFill>
                <a:latin typeface="Calibri"/>
              </a:rPr>
              <a:t>11</a:t>
            </a:r>
          </a:p>
        </p:txBody>
      </p:sp>
      <p:sp>
        <p:nvSpPr>
          <p:cNvPr id="79" name="TextBox 78"/>
          <p:cNvSpPr txBox="1"/>
          <p:nvPr/>
        </p:nvSpPr>
        <p:spPr>
          <a:xfrm>
            <a:off x="8869680" y="4733544"/>
            <a:ext cx="3063240" cy="274320"/>
          </a:xfrm>
          <a:prstGeom prst="rect">
            <a:avLst/>
          </a:prstGeom>
          <a:noFill/>
        </p:spPr>
        <p:txBody>
          <a:bodyPr wrap="square">
            <a:spAutoFit/>
          </a:bodyPr>
          <a:lstStyle/>
          <a:p>
            <a:pPr algn="ctr"/>
            <a:r>
              <a:rPr sz="1300" b="1" i="0">
                <a:solidFill>
                  <a:srgbClr val="BD93F9"/>
                </a:solidFill>
                <a:latin typeface="Calibri"/>
              </a:rPr>
              <a:t>EyeWitness</a:t>
            </a:r>
          </a:p>
        </p:txBody>
      </p:sp>
      <p:sp>
        <p:nvSpPr>
          <p:cNvPr id="80" name="TextBox 79"/>
          <p:cNvSpPr txBox="1"/>
          <p:nvPr/>
        </p:nvSpPr>
        <p:spPr>
          <a:xfrm>
            <a:off x="8869680" y="4998720"/>
            <a:ext cx="3063240" cy="201168"/>
          </a:xfrm>
          <a:prstGeom prst="rect">
            <a:avLst/>
          </a:prstGeom>
          <a:noFill/>
        </p:spPr>
        <p:txBody>
          <a:bodyPr wrap="square">
            <a:spAutoFit/>
          </a:bodyPr>
          <a:lstStyle/>
          <a:p>
            <a:pPr algn="ctr"/>
            <a:r>
              <a:rPr sz="850" b="0" i="1">
                <a:solidFill>
                  <a:srgbClr val="A0AAB8"/>
                </a:solidFill>
                <a:latin typeface="Calibri"/>
              </a:rPr>
              <a:t>Screenshot Evidence  ·  Evidence Agent</a:t>
            </a:r>
          </a:p>
        </p:txBody>
      </p:sp>
      <p:sp>
        <p:nvSpPr>
          <p:cNvPr id="81" name="TextBox 80"/>
          <p:cNvSpPr txBox="1"/>
          <p:nvPr/>
        </p:nvSpPr>
        <p:spPr>
          <a:xfrm>
            <a:off x="8869680" y="5209032"/>
            <a:ext cx="3063240" cy="963168"/>
          </a:xfrm>
          <a:prstGeom prst="rect">
            <a:avLst/>
          </a:prstGeom>
          <a:noFill/>
        </p:spPr>
        <p:txBody>
          <a:bodyPr wrap="square">
            <a:spAutoFit/>
          </a:bodyPr>
          <a:lstStyle/>
          <a:p>
            <a:pPr algn="ctr"/>
            <a:r>
              <a:rPr sz="900" b="0" i="0">
                <a:solidFill>
                  <a:srgbClr val="A0AAB8"/>
                </a:solidFill>
                <a:latin typeface="Calibri"/>
              </a:rPr>
              <a:t>Headless screenshot capture of web pages, exposed panels, and API responses. Produces visual proof artifacts linked to ASG Evidence nodes.</a:t>
            </a:r>
          </a:p>
        </p:txBody>
      </p:sp>
      <p:sp>
        <p:nvSpPr>
          <p:cNvPr id="82" name="Rectangle 81"/>
          <p:cNvSpPr/>
          <p:nvPr/>
        </p:nvSpPr>
        <p:spPr>
          <a:xfrm>
            <a:off x="274320" y="6291072"/>
            <a:ext cx="11643055" cy="438912"/>
          </a:xfrm>
          <a:prstGeom prst="rect">
            <a:avLst/>
          </a:prstGeom>
          <a:solidFill>
            <a:srgbClr val="0E0818"/>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57200" y="6327648"/>
            <a:ext cx="11368735" cy="365760"/>
          </a:xfrm>
          <a:prstGeom prst="rect">
            <a:avLst/>
          </a:prstGeom>
          <a:noFill/>
        </p:spPr>
        <p:txBody>
          <a:bodyPr wrap="none">
            <a:spAutoFit/>
          </a:bodyPr>
          <a:lstStyle/>
          <a:p>
            <a:pPr algn="ctr"/>
            <a:r>
              <a:rPr sz="1050" b="0" i="0">
                <a:solidFill>
                  <a:srgbClr val="BD93F9"/>
                </a:solidFill>
                <a:latin typeface="Calibri"/>
              </a:rPr>
              <a:t>🔒  Every tool is wrapped in a Tool Adapter — agents reason about targets, not command syntax.  No irreversible offensive operation executes without Commander-level scope validation.</a:t>
            </a:r>
          </a:p>
        </p:txBody>
      </p:sp>
      <p:sp>
        <p:nvSpPr>
          <p:cNvPr id="84" name="TextBox 83"/>
          <p:cNvSpPr txBox="1"/>
          <p:nvPr/>
        </p:nvSpPr>
        <p:spPr>
          <a:xfrm>
            <a:off x="11825935" y="6355080"/>
            <a:ext cx="320040" cy="411480"/>
          </a:xfrm>
          <a:prstGeom prst="rect">
            <a:avLst/>
          </a:prstGeom>
          <a:noFill/>
        </p:spPr>
        <p:txBody>
          <a:bodyPr wrap="square">
            <a:spAutoFit/>
          </a:bodyPr>
          <a:lstStyle/>
          <a:p>
            <a:pPr algn="r"/>
            <a:r>
              <a:rPr sz="1300" b="1" i="0">
                <a:solidFill>
                  <a:srgbClr val="FF4545"/>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4572000" cy="219456"/>
          </a:xfrm>
          <a:prstGeom prst="rect">
            <a:avLst/>
          </a:prstGeom>
          <a:noFill/>
        </p:spPr>
        <p:txBody>
          <a:bodyPr wrap="square">
            <a:spAutoFit/>
          </a:bodyPr>
          <a:lstStyle/>
          <a:p>
            <a:pPr algn="ctr"/>
            <a:r>
              <a:rPr sz="1000" b="1" i="0">
                <a:solidFill>
                  <a:srgbClr val="FFD700"/>
                </a:solidFill>
                <a:latin typeface="Calibri"/>
              </a:rPr>
              <a:t>REAL-WORLD SCENARIO</a:t>
            </a:r>
          </a:p>
        </p:txBody>
      </p:sp>
      <p:sp>
        <p:nvSpPr>
          <p:cNvPr id="6" name="TextBox 5"/>
          <p:cNvSpPr txBox="1"/>
          <p:nvPr/>
        </p:nvSpPr>
        <p:spPr>
          <a:xfrm>
            <a:off x="274320" y="283464"/>
            <a:ext cx="11430000" cy="438912"/>
          </a:xfrm>
          <a:prstGeom prst="rect">
            <a:avLst/>
          </a:prstGeom>
          <a:noFill/>
        </p:spPr>
        <p:txBody>
          <a:bodyPr wrap="square">
            <a:spAutoFit/>
          </a:bodyPr>
          <a:lstStyle/>
          <a:p>
            <a:pPr algn="ctr"/>
            <a:r>
              <a:rPr sz="2400" b="1" i="0">
                <a:solidFill>
                  <a:srgbClr val="FFFFFF"/>
                </a:solidFill>
                <a:latin typeface="Calibri"/>
              </a:rPr>
              <a:t>Mission: shopvault.io — Black-Box Assessment — Zero Manual Commands</a:t>
            </a:r>
          </a:p>
        </p:txBody>
      </p:sp>
      <p:sp>
        <p:nvSpPr>
          <p:cNvPr id="7" name="Rectangle 6"/>
          <p:cNvSpPr/>
          <p:nvPr/>
        </p:nvSpPr>
        <p:spPr>
          <a:xfrm>
            <a:off x="164592" y="768096"/>
            <a:ext cx="11862511" cy="347472"/>
          </a:xfrm>
          <a:prstGeom prst="rect">
            <a:avLst/>
          </a:prstGeom>
          <a:solidFill>
            <a:srgbClr val="101004"/>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822960"/>
            <a:ext cx="11597335" cy="274320"/>
          </a:xfrm>
          <a:prstGeom prst="rect">
            <a:avLst/>
          </a:prstGeom>
          <a:noFill/>
        </p:spPr>
        <p:txBody>
          <a:bodyPr wrap="square">
            <a:spAutoFit/>
          </a:bodyPr>
          <a:lstStyle/>
          <a:p>
            <a:pPr algn="ctr"/>
            <a:r>
              <a:rPr sz="900" b="0" i="1">
                <a:solidFill>
                  <a:srgbClr val="FFD700"/>
                </a:solidFill>
                <a:latin typeface="Calibri"/>
              </a:rPr>
              <a:t>Scope: all subdomains · web applications · REST APIs of shopvault.io  ·  Mode: Black-Box (zero prior knowledge)  ·  Operator configures root domain + scope → presses start.</a:t>
            </a:r>
          </a:p>
        </p:txBody>
      </p:sp>
      <p:sp>
        <p:nvSpPr>
          <p:cNvPr id="9" name="Rectangle 8"/>
          <p:cNvSpPr/>
          <p:nvPr/>
        </p:nvSpPr>
        <p:spPr>
          <a:xfrm>
            <a:off x="164592" y="1188720"/>
            <a:ext cx="2395728" cy="5010912"/>
          </a:xfrm>
          <a:prstGeom prst="rect">
            <a:avLst/>
          </a:prstGeom>
          <a:solidFill>
            <a:srgbClr val="041408"/>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4592" y="1188720"/>
            <a:ext cx="2395728" cy="457200"/>
          </a:xfrm>
          <a:prstGeom prst="rect">
            <a:avLst/>
          </a:prstGeom>
          <a:solidFill>
            <a:srgbClr val="08101C"/>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7744" y="1243584"/>
            <a:ext cx="2286000" cy="384048"/>
          </a:xfrm>
          <a:prstGeom prst="rect">
            <a:avLst/>
          </a:prstGeom>
          <a:noFill/>
        </p:spPr>
        <p:txBody>
          <a:bodyPr wrap="square">
            <a:spAutoFit/>
          </a:bodyPr>
          <a:lstStyle/>
          <a:p>
            <a:pPr algn="ctr"/>
            <a:r>
              <a:rPr sz="1000" b="1" i="0">
                <a:solidFill>
                  <a:srgbClr val="39FF14"/>
                </a:solidFill>
                <a:latin typeface="Calibri"/>
              </a:rPr>
              <a:t>PHASE 1
Reconnaissance</a:t>
            </a:r>
          </a:p>
        </p:txBody>
      </p:sp>
      <p:sp>
        <p:nvSpPr>
          <p:cNvPr id="12" name="TextBox 11"/>
          <p:cNvSpPr txBox="1"/>
          <p:nvPr/>
        </p:nvSpPr>
        <p:spPr>
          <a:xfrm>
            <a:off x="237744" y="1700784"/>
            <a:ext cx="2286000" cy="201168"/>
          </a:xfrm>
          <a:prstGeom prst="rect">
            <a:avLst/>
          </a:prstGeom>
          <a:noFill/>
        </p:spPr>
        <p:txBody>
          <a:bodyPr wrap="square">
            <a:spAutoFit/>
          </a:bodyPr>
          <a:lstStyle/>
          <a:p>
            <a:pPr algn="ctr"/>
            <a:r>
              <a:rPr sz="850" b="1" i="0">
                <a:solidFill>
                  <a:srgbClr val="39FF14"/>
                </a:solidFill>
                <a:latin typeface="Calibri"/>
              </a:rPr>
              <a:t>🕵️ Recon Agent</a:t>
            </a:r>
          </a:p>
        </p:txBody>
      </p:sp>
      <p:sp>
        <p:nvSpPr>
          <p:cNvPr id="13" name="Rectangle 12"/>
          <p:cNvSpPr/>
          <p:nvPr/>
        </p:nvSpPr>
        <p:spPr>
          <a:xfrm>
            <a:off x="237744" y="1920240"/>
            <a:ext cx="2249424" cy="182880"/>
          </a:xfrm>
          <a:prstGeom prst="rect">
            <a:avLst/>
          </a:prstGeom>
          <a:solidFill>
            <a:srgbClr val="081022"/>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1929384"/>
            <a:ext cx="2212848" cy="164592"/>
          </a:xfrm>
          <a:prstGeom prst="rect">
            <a:avLst/>
          </a:prstGeom>
          <a:noFill/>
        </p:spPr>
        <p:txBody>
          <a:bodyPr wrap="square">
            <a:spAutoFit/>
          </a:bodyPr>
          <a:lstStyle/>
          <a:p>
            <a:pPr algn="ctr"/>
            <a:r>
              <a:rPr sz="700" b="1" i="0">
                <a:solidFill>
                  <a:srgbClr val="39FF14"/>
                </a:solidFill>
                <a:latin typeface="Calibri"/>
              </a:rPr>
              <a:t>Amass  ·  httpx  ·  Nmap</a:t>
            </a:r>
          </a:p>
        </p:txBody>
      </p:sp>
      <p:sp>
        <p:nvSpPr>
          <p:cNvPr id="15" name="Rectangle 14"/>
          <p:cNvSpPr/>
          <p:nvPr/>
        </p:nvSpPr>
        <p:spPr>
          <a:xfrm>
            <a:off x="237744" y="2157984"/>
            <a:ext cx="2249424" cy="1127760"/>
          </a:xfrm>
          <a:prstGeom prst="rect">
            <a:avLst/>
          </a:prstGeom>
          <a:solidFill>
            <a:srgbClr val="080E1C"/>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7744" y="2157984"/>
            <a:ext cx="45720" cy="112776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0896" y="2194560"/>
            <a:ext cx="2121408" cy="237744"/>
          </a:xfrm>
          <a:prstGeom prst="rect">
            <a:avLst/>
          </a:prstGeom>
          <a:noFill/>
        </p:spPr>
        <p:txBody>
          <a:bodyPr wrap="square">
            <a:spAutoFit/>
          </a:bodyPr>
          <a:lstStyle/>
          <a:p>
            <a:pPr algn="ctr"/>
            <a:r>
              <a:rPr sz="800" b="1" i="0">
                <a:solidFill>
                  <a:srgbClr val="39FF14"/>
                </a:solidFill>
                <a:latin typeface="Calibri"/>
              </a:rPr>
              <a:t>Amass</a:t>
            </a:r>
          </a:p>
        </p:txBody>
      </p:sp>
      <p:sp>
        <p:nvSpPr>
          <p:cNvPr id="18" name="TextBox 17"/>
          <p:cNvSpPr txBox="1"/>
          <p:nvPr/>
        </p:nvSpPr>
        <p:spPr>
          <a:xfrm>
            <a:off x="310896" y="2432304"/>
            <a:ext cx="2121408" cy="816864"/>
          </a:xfrm>
          <a:prstGeom prst="rect">
            <a:avLst/>
          </a:prstGeom>
          <a:noFill/>
        </p:spPr>
        <p:txBody>
          <a:bodyPr wrap="square">
            <a:spAutoFit/>
          </a:bodyPr>
          <a:lstStyle/>
          <a:p>
            <a:pPr algn="ctr"/>
            <a:r>
              <a:rPr sz="800" b="0" i="0">
                <a:solidFill>
                  <a:srgbClr val="A0AAB8"/>
                </a:solidFill>
                <a:latin typeface="Calibri"/>
              </a:rPr>
              <a:t>14 subdomains discovered
api · admin · staging · pay · ...</a:t>
            </a:r>
          </a:p>
        </p:txBody>
      </p:sp>
      <p:sp>
        <p:nvSpPr>
          <p:cNvPr id="19" name="Rectangle 18"/>
          <p:cNvSpPr/>
          <p:nvPr/>
        </p:nvSpPr>
        <p:spPr>
          <a:xfrm>
            <a:off x="237744" y="3340608"/>
            <a:ext cx="2249424" cy="1127760"/>
          </a:xfrm>
          <a:prstGeom prst="rect">
            <a:avLst/>
          </a:prstGeom>
          <a:solidFill>
            <a:srgbClr val="080E1C"/>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37744" y="3340608"/>
            <a:ext cx="45720" cy="112776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 y="3377184"/>
            <a:ext cx="2121408" cy="237744"/>
          </a:xfrm>
          <a:prstGeom prst="rect">
            <a:avLst/>
          </a:prstGeom>
          <a:noFill/>
        </p:spPr>
        <p:txBody>
          <a:bodyPr wrap="square">
            <a:spAutoFit/>
          </a:bodyPr>
          <a:lstStyle/>
          <a:p>
            <a:pPr algn="ctr"/>
            <a:r>
              <a:rPr sz="800" b="1" i="0">
                <a:solidFill>
                  <a:srgbClr val="39FF14"/>
                </a:solidFill>
                <a:latin typeface="Calibri"/>
              </a:rPr>
              <a:t>httpx</a:t>
            </a:r>
          </a:p>
        </p:txBody>
      </p:sp>
      <p:sp>
        <p:nvSpPr>
          <p:cNvPr id="22" name="TextBox 21"/>
          <p:cNvSpPr txBox="1"/>
          <p:nvPr/>
        </p:nvSpPr>
        <p:spPr>
          <a:xfrm>
            <a:off x="310896" y="3614928"/>
            <a:ext cx="2121408" cy="816864"/>
          </a:xfrm>
          <a:prstGeom prst="rect">
            <a:avLst/>
          </a:prstGeom>
          <a:noFill/>
        </p:spPr>
        <p:txBody>
          <a:bodyPr wrap="square">
            <a:spAutoFit/>
          </a:bodyPr>
          <a:lstStyle/>
          <a:p>
            <a:pPr algn="ctr"/>
            <a:r>
              <a:rPr sz="800" b="0" i="0">
                <a:solidFill>
                  <a:srgbClr val="A0AAB8"/>
                </a:solidFill>
                <a:latin typeface="Calibri"/>
              </a:rPr>
              <a:t>11 live hosts confirmed
staging returns unexpected 200</a:t>
            </a:r>
          </a:p>
        </p:txBody>
      </p:sp>
      <p:sp>
        <p:nvSpPr>
          <p:cNvPr id="23" name="Rectangle 22"/>
          <p:cNvSpPr/>
          <p:nvPr/>
        </p:nvSpPr>
        <p:spPr>
          <a:xfrm>
            <a:off x="237744" y="4523232"/>
            <a:ext cx="2249424" cy="1127760"/>
          </a:xfrm>
          <a:prstGeom prst="rect">
            <a:avLst/>
          </a:prstGeom>
          <a:solidFill>
            <a:srgbClr val="080E1C"/>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37744" y="4523232"/>
            <a:ext cx="45720" cy="112776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0896" y="4559808"/>
            <a:ext cx="2121408" cy="237744"/>
          </a:xfrm>
          <a:prstGeom prst="rect">
            <a:avLst/>
          </a:prstGeom>
          <a:noFill/>
        </p:spPr>
        <p:txBody>
          <a:bodyPr wrap="square">
            <a:spAutoFit/>
          </a:bodyPr>
          <a:lstStyle/>
          <a:p>
            <a:pPr algn="ctr"/>
            <a:r>
              <a:rPr sz="800" b="1" i="0">
                <a:solidFill>
                  <a:srgbClr val="39FF14"/>
                </a:solidFill>
                <a:latin typeface="Calibri"/>
              </a:rPr>
              <a:t>Nmap</a:t>
            </a:r>
          </a:p>
        </p:txBody>
      </p:sp>
      <p:sp>
        <p:nvSpPr>
          <p:cNvPr id="26" name="TextBox 25"/>
          <p:cNvSpPr txBox="1"/>
          <p:nvPr/>
        </p:nvSpPr>
        <p:spPr>
          <a:xfrm>
            <a:off x="310896" y="4797552"/>
            <a:ext cx="2121408" cy="816864"/>
          </a:xfrm>
          <a:prstGeom prst="rect">
            <a:avLst/>
          </a:prstGeom>
          <a:noFill/>
        </p:spPr>
        <p:txBody>
          <a:bodyPr wrap="square">
            <a:spAutoFit/>
          </a:bodyPr>
          <a:lstStyle/>
          <a:p>
            <a:pPr algn="ctr"/>
            <a:r>
              <a:rPr sz="800" b="0" i="0">
                <a:solidFill>
                  <a:srgbClr val="A0AAB8"/>
                </a:solidFill>
                <a:latin typeface="Calibri"/>
              </a:rPr>
              <a:t>Ports 80, 443, 8080, 8443 open
pay.shopvault.io: expired TLS</a:t>
            </a:r>
          </a:p>
        </p:txBody>
      </p:sp>
      <p:sp>
        <p:nvSpPr>
          <p:cNvPr id="27" name="Rectangle 26"/>
          <p:cNvSpPr/>
          <p:nvPr/>
        </p:nvSpPr>
        <p:spPr>
          <a:xfrm>
            <a:off x="164592" y="5797296"/>
            <a:ext cx="2395728" cy="402336"/>
          </a:xfrm>
          <a:prstGeom prst="rect">
            <a:avLst/>
          </a:prstGeom>
          <a:solidFill>
            <a:srgbClr val="060C18"/>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56032" y="5852160"/>
            <a:ext cx="2258568" cy="310896"/>
          </a:xfrm>
          <a:prstGeom prst="rect">
            <a:avLst/>
          </a:prstGeom>
          <a:noFill/>
        </p:spPr>
        <p:txBody>
          <a:bodyPr wrap="square">
            <a:spAutoFit/>
          </a:bodyPr>
          <a:lstStyle/>
          <a:p>
            <a:pPr algn="ctr"/>
            <a:r>
              <a:rPr sz="850" b="1" i="0">
                <a:solidFill>
                  <a:srgbClr val="39FF14"/>
                </a:solidFill>
                <a:latin typeface="Calibri"/>
              </a:rPr>
              <a:t>ASG ← 37 new nodes</a:t>
            </a:r>
          </a:p>
        </p:txBody>
      </p:sp>
      <p:cxnSp>
        <p:nvCxnSpPr>
          <p:cNvPr id="29" name="Connector 28"/>
          <p:cNvCxnSpPr/>
          <p:nvPr/>
        </p:nvCxnSpPr>
        <p:spPr>
          <a:xfrm>
            <a:off x="2560320" y="1417320"/>
            <a:ext cx="54864" cy="0"/>
          </a:xfrm>
          <a:prstGeom prst="line">
            <a:avLst/>
          </a:prstGeom>
          <a:ln w="2286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2615184" y="1188720"/>
            <a:ext cx="3474720" cy="5010912"/>
          </a:xfrm>
          <a:prstGeom prst="rect">
            <a:avLst/>
          </a:prstGeom>
          <a:solidFill>
            <a:srgbClr val="041018"/>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615184" y="1188720"/>
            <a:ext cx="3474720" cy="457200"/>
          </a:xfrm>
          <a:prstGeom prst="rect">
            <a:avLst/>
          </a:prstGeom>
          <a:solidFill>
            <a:srgbClr val="08101C"/>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688336" y="1243584"/>
            <a:ext cx="3364992" cy="384048"/>
          </a:xfrm>
          <a:prstGeom prst="rect">
            <a:avLst/>
          </a:prstGeom>
          <a:noFill/>
        </p:spPr>
        <p:txBody>
          <a:bodyPr wrap="square">
            <a:spAutoFit/>
          </a:bodyPr>
          <a:lstStyle/>
          <a:p>
            <a:pPr algn="ctr"/>
            <a:r>
              <a:rPr sz="1000" b="1" i="0">
                <a:solidFill>
                  <a:srgbClr val="00E5FF"/>
                </a:solidFill>
                <a:latin typeface="Calibri"/>
              </a:rPr>
              <a:t>PHASE 2
Analysis + Intel</a:t>
            </a:r>
          </a:p>
        </p:txBody>
      </p:sp>
      <p:sp>
        <p:nvSpPr>
          <p:cNvPr id="33" name="TextBox 32"/>
          <p:cNvSpPr txBox="1"/>
          <p:nvPr/>
        </p:nvSpPr>
        <p:spPr>
          <a:xfrm>
            <a:off x="2688336" y="1700784"/>
            <a:ext cx="3364992" cy="201168"/>
          </a:xfrm>
          <a:prstGeom prst="rect">
            <a:avLst/>
          </a:prstGeom>
          <a:noFill/>
        </p:spPr>
        <p:txBody>
          <a:bodyPr wrap="square">
            <a:spAutoFit/>
          </a:bodyPr>
          <a:lstStyle/>
          <a:p>
            <a:pPr algn="ctr"/>
            <a:r>
              <a:rPr sz="850" b="1" i="0">
                <a:solidFill>
                  <a:srgbClr val="00E5FF"/>
                </a:solidFill>
                <a:latin typeface="Calibri"/>
              </a:rPr>
              <a:t>🔬 Analysis + 🔍 Research</a:t>
            </a:r>
          </a:p>
        </p:txBody>
      </p:sp>
      <p:sp>
        <p:nvSpPr>
          <p:cNvPr id="34" name="Rectangle 33"/>
          <p:cNvSpPr/>
          <p:nvPr/>
        </p:nvSpPr>
        <p:spPr>
          <a:xfrm>
            <a:off x="2688336" y="1920240"/>
            <a:ext cx="3328416" cy="182880"/>
          </a:xfrm>
          <a:prstGeom prst="rect">
            <a:avLst/>
          </a:prstGeom>
          <a:solidFill>
            <a:srgbClr val="081022"/>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24912" y="1929384"/>
            <a:ext cx="3291840" cy="164592"/>
          </a:xfrm>
          <a:prstGeom prst="rect">
            <a:avLst/>
          </a:prstGeom>
          <a:noFill/>
        </p:spPr>
        <p:txBody>
          <a:bodyPr wrap="square">
            <a:spAutoFit/>
          </a:bodyPr>
          <a:lstStyle/>
          <a:p>
            <a:pPr algn="ctr"/>
            <a:r>
              <a:rPr sz="700" b="1" i="0">
                <a:solidFill>
                  <a:srgbClr val="00E5FF"/>
                </a:solidFill>
                <a:latin typeface="Calibri"/>
              </a:rPr>
              <a:t>WhatWeb  ·  Gobuster  ·  ffuf  ·  Nuclei  ·  ZAP</a:t>
            </a:r>
          </a:p>
        </p:txBody>
      </p:sp>
      <p:sp>
        <p:nvSpPr>
          <p:cNvPr id="36" name="Rectangle 35"/>
          <p:cNvSpPr/>
          <p:nvPr/>
        </p:nvSpPr>
        <p:spPr>
          <a:xfrm>
            <a:off x="2688336" y="2157984"/>
            <a:ext cx="3328416" cy="832104"/>
          </a:xfrm>
          <a:prstGeom prst="rect">
            <a:avLst/>
          </a:prstGeom>
          <a:solidFill>
            <a:srgbClr val="080E1C"/>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688336" y="2157984"/>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761488" y="2194560"/>
            <a:ext cx="3200400" cy="237744"/>
          </a:xfrm>
          <a:prstGeom prst="rect">
            <a:avLst/>
          </a:prstGeom>
          <a:noFill/>
        </p:spPr>
        <p:txBody>
          <a:bodyPr wrap="square">
            <a:spAutoFit/>
          </a:bodyPr>
          <a:lstStyle/>
          <a:p>
            <a:pPr algn="ctr"/>
            <a:r>
              <a:rPr sz="800" b="1" i="0">
                <a:solidFill>
                  <a:srgbClr val="00E5FF"/>
                </a:solidFill>
                <a:latin typeface="Calibri"/>
              </a:rPr>
              <a:t>WhatWeb</a:t>
            </a:r>
          </a:p>
        </p:txBody>
      </p:sp>
      <p:sp>
        <p:nvSpPr>
          <p:cNvPr id="39" name="TextBox 38"/>
          <p:cNvSpPr txBox="1"/>
          <p:nvPr/>
        </p:nvSpPr>
        <p:spPr>
          <a:xfrm>
            <a:off x="2761488" y="2432304"/>
            <a:ext cx="3200400" cy="521208"/>
          </a:xfrm>
          <a:prstGeom prst="rect">
            <a:avLst/>
          </a:prstGeom>
          <a:noFill/>
        </p:spPr>
        <p:txBody>
          <a:bodyPr wrap="square">
            <a:spAutoFit/>
          </a:bodyPr>
          <a:lstStyle/>
          <a:p>
            <a:pPr algn="ctr"/>
            <a:r>
              <a:rPr sz="800" b="0" i="0">
                <a:solidFill>
                  <a:srgbClr val="A0AAB8"/>
                </a:solidFill>
                <a:latin typeface="Calibri"/>
              </a:rPr>
              <a:t>WordPress 5.9.3 · Django API
→ Research: CVE-2022-21661 (CVSS 8.8)</a:t>
            </a:r>
          </a:p>
        </p:txBody>
      </p:sp>
      <p:sp>
        <p:nvSpPr>
          <p:cNvPr id="40" name="Rectangle 39"/>
          <p:cNvSpPr/>
          <p:nvPr/>
        </p:nvSpPr>
        <p:spPr>
          <a:xfrm>
            <a:off x="2688336" y="3044952"/>
            <a:ext cx="3328416" cy="832104"/>
          </a:xfrm>
          <a:prstGeom prst="rect">
            <a:avLst/>
          </a:prstGeom>
          <a:solidFill>
            <a:srgbClr val="080E1C"/>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688336" y="3044952"/>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761488" y="3081528"/>
            <a:ext cx="3200400" cy="237744"/>
          </a:xfrm>
          <a:prstGeom prst="rect">
            <a:avLst/>
          </a:prstGeom>
          <a:noFill/>
        </p:spPr>
        <p:txBody>
          <a:bodyPr wrap="square">
            <a:spAutoFit/>
          </a:bodyPr>
          <a:lstStyle/>
          <a:p>
            <a:pPr algn="ctr"/>
            <a:r>
              <a:rPr sz="800" b="1" i="0">
                <a:solidFill>
                  <a:srgbClr val="00E5FF"/>
                </a:solidFill>
                <a:latin typeface="Calibri"/>
              </a:rPr>
              <a:t>Gobuster</a:t>
            </a:r>
          </a:p>
        </p:txBody>
      </p:sp>
      <p:sp>
        <p:nvSpPr>
          <p:cNvPr id="43" name="TextBox 42"/>
          <p:cNvSpPr txBox="1"/>
          <p:nvPr/>
        </p:nvSpPr>
        <p:spPr>
          <a:xfrm>
            <a:off x="2761488" y="3319272"/>
            <a:ext cx="3200400" cy="521208"/>
          </a:xfrm>
          <a:prstGeom prst="rect">
            <a:avLst/>
          </a:prstGeom>
          <a:noFill/>
        </p:spPr>
        <p:txBody>
          <a:bodyPr wrap="square">
            <a:spAutoFit/>
          </a:bodyPr>
          <a:lstStyle/>
          <a:p>
            <a:pPr algn="ctr"/>
            <a:r>
              <a:rPr sz="800" b="0" i="0">
                <a:solidFill>
                  <a:srgbClr val="A0AAB8"/>
                </a:solidFill>
                <a:latin typeface="Calibri"/>
              </a:rPr>
              <a:t>/backup/db_export_2023.sql EXPOSED
/admin/users · /admin/login</a:t>
            </a:r>
          </a:p>
        </p:txBody>
      </p:sp>
      <p:sp>
        <p:nvSpPr>
          <p:cNvPr id="44" name="Rectangle 43"/>
          <p:cNvSpPr/>
          <p:nvPr/>
        </p:nvSpPr>
        <p:spPr>
          <a:xfrm>
            <a:off x="2688336" y="3931920"/>
            <a:ext cx="3328416" cy="832104"/>
          </a:xfrm>
          <a:prstGeom prst="rect">
            <a:avLst/>
          </a:prstGeom>
          <a:solidFill>
            <a:srgbClr val="080E1C"/>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688336" y="3931920"/>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761488" y="3968496"/>
            <a:ext cx="3200400" cy="237744"/>
          </a:xfrm>
          <a:prstGeom prst="rect">
            <a:avLst/>
          </a:prstGeom>
          <a:noFill/>
        </p:spPr>
        <p:txBody>
          <a:bodyPr wrap="square">
            <a:spAutoFit/>
          </a:bodyPr>
          <a:lstStyle/>
          <a:p>
            <a:pPr algn="ctr"/>
            <a:r>
              <a:rPr sz="800" b="1" i="0">
                <a:solidFill>
                  <a:srgbClr val="00E5FF"/>
                </a:solidFill>
                <a:latin typeface="Calibri"/>
              </a:rPr>
              <a:t>ffuf</a:t>
            </a:r>
          </a:p>
        </p:txBody>
      </p:sp>
      <p:sp>
        <p:nvSpPr>
          <p:cNvPr id="47" name="TextBox 46"/>
          <p:cNvSpPr txBox="1"/>
          <p:nvPr/>
        </p:nvSpPr>
        <p:spPr>
          <a:xfrm>
            <a:off x="2761488" y="4206240"/>
            <a:ext cx="3200400" cy="521208"/>
          </a:xfrm>
          <a:prstGeom prst="rect">
            <a:avLst/>
          </a:prstGeom>
          <a:noFill/>
        </p:spPr>
        <p:txBody>
          <a:bodyPr wrap="square">
            <a:spAutoFit/>
          </a:bodyPr>
          <a:lstStyle/>
          <a:p>
            <a:pPr algn="ctr"/>
            <a:r>
              <a:rPr sz="800" b="0" i="0">
                <a:solidFill>
                  <a:srgbClr val="A0AAB8"/>
                </a:solidFill>
                <a:latin typeface="Calibri"/>
              </a:rPr>
              <a:t>IDOR: user_id param unsanitized
/api/v1/internal/users found</a:t>
            </a:r>
          </a:p>
        </p:txBody>
      </p:sp>
      <p:sp>
        <p:nvSpPr>
          <p:cNvPr id="48" name="Rectangle 47"/>
          <p:cNvSpPr/>
          <p:nvPr/>
        </p:nvSpPr>
        <p:spPr>
          <a:xfrm>
            <a:off x="2688336" y="4818888"/>
            <a:ext cx="3328416" cy="832104"/>
          </a:xfrm>
          <a:prstGeom prst="rect">
            <a:avLst/>
          </a:prstGeom>
          <a:solidFill>
            <a:srgbClr val="080E1C"/>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688336" y="4818888"/>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761488" y="4855464"/>
            <a:ext cx="3200400" cy="237744"/>
          </a:xfrm>
          <a:prstGeom prst="rect">
            <a:avLst/>
          </a:prstGeom>
          <a:noFill/>
        </p:spPr>
        <p:txBody>
          <a:bodyPr wrap="square">
            <a:spAutoFit/>
          </a:bodyPr>
          <a:lstStyle/>
          <a:p>
            <a:pPr algn="ctr"/>
            <a:r>
              <a:rPr sz="800" b="1" i="0">
                <a:solidFill>
                  <a:srgbClr val="00E5FF"/>
                </a:solidFill>
                <a:latin typeface="Calibri"/>
              </a:rPr>
              <a:t>ZAP</a:t>
            </a:r>
          </a:p>
        </p:txBody>
      </p:sp>
      <p:sp>
        <p:nvSpPr>
          <p:cNvPr id="51" name="TextBox 50"/>
          <p:cNvSpPr txBox="1"/>
          <p:nvPr/>
        </p:nvSpPr>
        <p:spPr>
          <a:xfrm>
            <a:off x="2761488" y="5093208"/>
            <a:ext cx="3200400" cy="521208"/>
          </a:xfrm>
          <a:prstGeom prst="rect">
            <a:avLst/>
          </a:prstGeom>
          <a:noFill/>
        </p:spPr>
        <p:txBody>
          <a:bodyPr wrap="square">
            <a:spAutoFit/>
          </a:bodyPr>
          <a:lstStyle/>
          <a:p>
            <a:pPr algn="ctr"/>
            <a:r>
              <a:rPr sz="800" b="0" i="0">
                <a:solidFill>
                  <a:srgbClr val="A0AAB8"/>
                </a:solidFill>
                <a:latin typeface="Calibri"/>
              </a:rPr>
              <a:t>XSS on /search?q=
SQL error on staging login</a:t>
            </a:r>
          </a:p>
        </p:txBody>
      </p:sp>
      <p:sp>
        <p:nvSpPr>
          <p:cNvPr id="52" name="Rectangle 51"/>
          <p:cNvSpPr/>
          <p:nvPr/>
        </p:nvSpPr>
        <p:spPr>
          <a:xfrm>
            <a:off x="2615184" y="5797296"/>
            <a:ext cx="3474720" cy="402336"/>
          </a:xfrm>
          <a:prstGeom prst="rect">
            <a:avLst/>
          </a:prstGeom>
          <a:solidFill>
            <a:srgbClr val="060C18"/>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706624" y="5852160"/>
            <a:ext cx="3337560" cy="310896"/>
          </a:xfrm>
          <a:prstGeom prst="rect">
            <a:avLst/>
          </a:prstGeom>
          <a:noFill/>
        </p:spPr>
        <p:txBody>
          <a:bodyPr wrap="square">
            <a:spAutoFit/>
          </a:bodyPr>
          <a:lstStyle/>
          <a:p>
            <a:pPr algn="ctr"/>
            <a:r>
              <a:rPr sz="850" b="1" i="0">
                <a:solidFill>
                  <a:srgbClr val="00E5FF"/>
                </a:solidFill>
                <a:latin typeface="Calibri"/>
              </a:rPr>
              <a:t>ASG ← 61 nodes
APG ← 3 chains seeded</a:t>
            </a:r>
          </a:p>
        </p:txBody>
      </p:sp>
      <p:cxnSp>
        <p:nvCxnSpPr>
          <p:cNvPr id="54" name="Connector 53"/>
          <p:cNvCxnSpPr/>
          <p:nvPr/>
        </p:nvCxnSpPr>
        <p:spPr>
          <a:xfrm>
            <a:off x="6089904" y="1417320"/>
            <a:ext cx="54864" cy="0"/>
          </a:xfrm>
          <a:prstGeom prst="line">
            <a:avLst/>
          </a:prstGeom>
          <a:ln w="2286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6144768" y="1188720"/>
            <a:ext cx="3639312" cy="5010912"/>
          </a:xfrm>
          <a:prstGeom prst="rect">
            <a:avLst/>
          </a:prstGeom>
          <a:solidFill>
            <a:srgbClr val="180606"/>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44768" y="1188720"/>
            <a:ext cx="3639312" cy="457200"/>
          </a:xfrm>
          <a:prstGeom prst="rect">
            <a:avLst/>
          </a:prstGeom>
          <a:solidFill>
            <a:srgbClr val="08101C"/>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17920" y="1243584"/>
            <a:ext cx="3529584" cy="384048"/>
          </a:xfrm>
          <a:prstGeom prst="rect">
            <a:avLst/>
          </a:prstGeom>
          <a:noFill/>
        </p:spPr>
        <p:txBody>
          <a:bodyPr wrap="square">
            <a:spAutoFit/>
          </a:bodyPr>
          <a:lstStyle/>
          <a:p>
            <a:pPr algn="ctr"/>
            <a:r>
              <a:rPr sz="1000" b="1" i="0">
                <a:solidFill>
                  <a:srgbClr val="FF4545"/>
                </a:solidFill>
                <a:latin typeface="Calibri"/>
              </a:rPr>
              <a:t>PHASE 3
Validation</a:t>
            </a:r>
          </a:p>
        </p:txBody>
      </p:sp>
      <p:sp>
        <p:nvSpPr>
          <p:cNvPr id="58" name="TextBox 57"/>
          <p:cNvSpPr txBox="1"/>
          <p:nvPr/>
        </p:nvSpPr>
        <p:spPr>
          <a:xfrm>
            <a:off x="6217920" y="1700784"/>
            <a:ext cx="3529584" cy="201168"/>
          </a:xfrm>
          <a:prstGeom prst="rect">
            <a:avLst/>
          </a:prstGeom>
          <a:noFill/>
        </p:spPr>
        <p:txBody>
          <a:bodyPr wrap="square">
            <a:spAutoFit/>
          </a:bodyPr>
          <a:lstStyle/>
          <a:p>
            <a:pPr algn="ctr"/>
            <a:r>
              <a:rPr sz="850" b="1" i="0">
                <a:solidFill>
                  <a:srgbClr val="FF4545"/>
                </a:solidFill>
                <a:latin typeface="Calibri"/>
              </a:rPr>
              <a:t>🎯 Validation + 📸 Evidence</a:t>
            </a:r>
          </a:p>
        </p:txBody>
      </p:sp>
      <p:sp>
        <p:nvSpPr>
          <p:cNvPr id="59" name="Rectangle 58"/>
          <p:cNvSpPr/>
          <p:nvPr/>
        </p:nvSpPr>
        <p:spPr>
          <a:xfrm>
            <a:off x="6217920" y="1920240"/>
            <a:ext cx="3493008" cy="182880"/>
          </a:xfrm>
          <a:prstGeom prst="rect">
            <a:avLst/>
          </a:prstGeom>
          <a:solidFill>
            <a:srgbClr val="081022"/>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54496" y="1929384"/>
            <a:ext cx="3456432" cy="164592"/>
          </a:xfrm>
          <a:prstGeom prst="rect">
            <a:avLst/>
          </a:prstGeom>
          <a:noFill/>
        </p:spPr>
        <p:txBody>
          <a:bodyPr wrap="square">
            <a:spAutoFit/>
          </a:bodyPr>
          <a:lstStyle/>
          <a:p>
            <a:pPr algn="ctr"/>
            <a:r>
              <a:rPr sz="700" b="1" i="0">
                <a:solidFill>
                  <a:srgbClr val="FF4545"/>
                </a:solidFill>
                <a:latin typeface="Calibri"/>
              </a:rPr>
              <a:t>SQLMap  ·  Metasploit  ·  EyeWitness</a:t>
            </a:r>
          </a:p>
        </p:txBody>
      </p:sp>
      <p:sp>
        <p:nvSpPr>
          <p:cNvPr id="61" name="Rectangle 60"/>
          <p:cNvSpPr/>
          <p:nvPr/>
        </p:nvSpPr>
        <p:spPr>
          <a:xfrm>
            <a:off x="6217920" y="2157984"/>
            <a:ext cx="3493008" cy="1127760"/>
          </a:xfrm>
          <a:prstGeom prst="rect">
            <a:avLst/>
          </a:prstGeom>
          <a:solidFill>
            <a:srgbClr val="080E1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217920" y="2157984"/>
            <a:ext cx="45720" cy="112776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91072" y="2194560"/>
            <a:ext cx="3364992" cy="237744"/>
          </a:xfrm>
          <a:prstGeom prst="rect">
            <a:avLst/>
          </a:prstGeom>
          <a:noFill/>
        </p:spPr>
        <p:txBody>
          <a:bodyPr wrap="square">
            <a:spAutoFit/>
          </a:bodyPr>
          <a:lstStyle/>
          <a:p>
            <a:pPr algn="ctr"/>
            <a:r>
              <a:rPr sz="800" b="1" i="0">
                <a:solidFill>
                  <a:srgbClr val="FF4545"/>
                </a:solidFill>
                <a:latin typeface="Calibri"/>
              </a:rPr>
              <a:t>Chain-01
(risk 8.8)</a:t>
            </a:r>
          </a:p>
        </p:txBody>
      </p:sp>
      <p:sp>
        <p:nvSpPr>
          <p:cNvPr id="64" name="TextBox 63"/>
          <p:cNvSpPr txBox="1"/>
          <p:nvPr/>
        </p:nvSpPr>
        <p:spPr>
          <a:xfrm>
            <a:off x="6291072" y="2432304"/>
            <a:ext cx="3364992" cy="816864"/>
          </a:xfrm>
          <a:prstGeom prst="rect">
            <a:avLst/>
          </a:prstGeom>
          <a:noFill/>
        </p:spPr>
        <p:txBody>
          <a:bodyPr wrap="square">
            <a:spAutoFit/>
          </a:bodyPr>
          <a:lstStyle/>
          <a:p>
            <a:pPr algn="ctr"/>
            <a:r>
              <a:rPr sz="800" b="0" i="0">
                <a:solidFill>
                  <a:srgbClr val="A0AAB8"/>
                </a:solidFill>
                <a:latin typeface="Calibri"/>
              </a:rPr>
              <a:t>SQLMap → SQLi confirmed
Admin hash cracked → Metasploit → RCE
Status: VALIDATED (escalated 9.1)</a:t>
            </a:r>
          </a:p>
        </p:txBody>
      </p:sp>
      <p:sp>
        <p:nvSpPr>
          <p:cNvPr id="65" name="Rectangle 64"/>
          <p:cNvSpPr/>
          <p:nvPr/>
        </p:nvSpPr>
        <p:spPr>
          <a:xfrm>
            <a:off x="6217920" y="3340608"/>
            <a:ext cx="3493008" cy="1127760"/>
          </a:xfrm>
          <a:prstGeom prst="rect">
            <a:avLst/>
          </a:prstGeom>
          <a:solidFill>
            <a:srgbClr val="080E1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217920" y="3340608"/>
            <a:ext cx="45720" cy="112776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91072" y="3377184"/>
            <a:ext cx="3364992" cy="237744"/>
          </a:xfrm>
          <a:prstGeom prst="rect">
            <a:avLst/>
          </a:prstGeom>
          <a:noFill/>
        </p:spPr>
        <p:txBody>
          <a:bodyPr wrap="square">
            <a:spAutoFit/>
          </a:bodyPr>
          <a:lstStyle/>
          <a:p>
            <a:pPr algn="ctr"/>
            <a:r>
              <a:rPr sz="800" b="1" i="0">
                <a:solidFill>
                  <a:srgbClr val="FF4545"/>
                </a:solidFill>
                <a:latin typeface="Calibri"/>
              </a:rPr>
              <a:t>Chain-02
(risk 7.5)</a:t>
            </a:r>
          </a:p>
        </p:txBody>
      </p:sp>
      <p:sp>
        <p:nvSpPr>
          <p:cNvPr id="68" name="TextBox 67"/>
          <p:cNvSpPr txBox="1"/>
          <p:nvPr/>
        </p:nvSpPr>
        <p:spPr>
          <a:xfrm>
            <a:off x="6291072" y="3614928"/>
            <a:ext cx="3364992" cy="816864"/>
          </a:xfrm>
          <a:prstGeom prst="rect">
            <a:avLst/>
          </a:prstGeom>
          <a:noFill/>
        </p:spPr>
        <p:txBody>
          <a:bodyPr wrap="square">
            <a:spAutoFit/>
          </a:bodyPr>
          <a:lstStyle/>
          <a:p>
            <a:pPr algn="ctr"/>
            <a:r>
              <a:rPr sz="800" b="0" i="0">
                <a:solidFill>
                  <a:srgbClr val="A0AAB8"/>
                </a:solidFill>
                <a:latin typeface="Calibri"/>
              </a:rPr>
              <a:t>SQLMap on user_id → IDOR confirmed
Any customer orders accessible</a:t>
            </a:r>
          </a:p>
        </p:txBody>
      </p:sp>
      <p:sp>
        <p:nvSpPr>
          <p:cNvPr id="69" name="Rectangle 68"/>
          <p:cNvSpPr/>
          <p:nvPr/>
        </p:nvSpPr>
        <p:spPr>
          <a:xfrm>
            <a:off x="6217920" y="4523232"/>
            <a:ext cx="3493008" cy="1127760"/>
          </a:xfrm>
          <a:prstGeom prst="rect">
            <a:avLst/>
          </a:prstGeom>
          <a:solidFill>
            <a:srgbClr val="080E1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217920" y="4523232"/>
            <a:ext cx="45720" cy="112776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91072" y="4559808"/>
            <a:ext cx="3364992" cy="237744"/>
          </a:xfrm>
          <a:prstGeom prst="rect">
            <a:avLst/>
          </a:prstGeom>
          <a:noFill/>
        </p:spPr>
        <p:txBody>
          <a:bodyPr wrap="square">
            <a:spAutoFit/>
          </a:bodyPr>
          <a:lstStyle/>
          <a:p>
            <a:pPr algn="ctr"/>
            <a:r>
              <a:rPr sz="800" b="1" i="0">
                <a:solidFill>
                  <a:srgbClr val="FF4545"/>
                </a:solidFill>
                <a:latin typeface="Calibri"/>
              </a:rPr>
              <a:t>Chain-03
(risk 8.1)</a:t>
            </a:r>
          </a:p>
        </p:txBody>
      </p:sp>
      <p:sp>
        <p:nvSpPr>
          <p:cNvPr id="72" name="TextBox 71"/>
          <p:cNvSpPr txBox="1"/>
          <p:nvPr/>
        </p:nvSpPr>
        <p:spPr>
          <a:xfrm>
            <a:off x="6291072" y="4797552"/>
            <a:ext cx="3364992" cy="816864"/>
          </a:xfrm>
          <a:prstGeom prst="rect">
            <a:avLst/>
          </a:prstGeom>
          <a:noFill/>
        </p:spPr>
        <p:txBody>
          <a:bodyPr wrap="square">
            <a:spAutoFit/>
          </a:bodyPr>
          <a:lstStyle/>
          <a:p>
            <a:pPr algn="ctr"/>
            <a:r>
              <a:rPr sz="800" b="0" i="0">
                <a:solidFill>
                  <a:srgbClr val="A0AAB8"/>
                </a:solidFill>
                <a:latin typeface="Calibri"/>
              </a:rPr>
              <a:t>Blind SQLi on staging → DB creds
Credential reuse risk flagged</a:t>
            </a:r>
          </a:p>
        </p:txBody>
      </p:sp>
      <p:sp>
        <p:nvSpPr>
          <p:cNvPr id="73" name="Rectangle 72"/>
          <p:cNvSpPr/>
          <p:nvPr/>
        </p:nvSpPr>
        <p:spPr>
          <a:xfrm>
            <a:off x="6144768" y="5797296"/>
            <a:ext cx="3639312" cy="402336"/>
          </a:xfrm>
          <a:prstGeom prst="rect">
            <a:avLst/>
          </a:prstGeom>
          <a:solidFill>
            <a:srgbClr val="060C18"/>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236208" y="5852160"/>
            <a:ext cx="3502152" cy="310896"/>
          </a:xfrm>
          <a:prstGeom prst="rect">
            <a:avLst/>
          </a:prstGeom>
          <a:noFill/>
        </p:spPr>
        <p:txBody>
          <a:bodyPr wrap="square">
            <a:spAutoFit/>
          </a:bodyPr>
          <a:lstStyle/>
          <a:p>
            <a:pPr algn="ctr"/>
            <a:r>
              <a:rPr sz="850" b="1" i="0">
                <a:solidFill>
                  <a:srgbClr val="FF4545"/>
                </a:solidFill>
                <a:latin typeface="Calibri"/>
              </a:rPr>
              <a:t>APG ← 3 chains VALIDATED
ASG ← Evidence nodes linked</a:t>
            </a:r>
          </a:p>
        </p:txBody>
      </p:sp>
      <p:cxnSp>
        <p:nvCxnSpPr>
          <p:cNvPr id="75" name="Connector 74"/>
          <p:cNvCxnSpPr/>
          <p:nvPr/>
        </p:nvCxnSpPr>
        <p:spPr>
          <a:xfrm>
            <a:off x="9784080" y="1417320"/>
            <a:ext cx="54864" cy="0"/>
          </a:xfrm>
          <a:prstGeom prst="line">
            <a:avLst/>
          </a:prstGeom>
          <a:ln w="22860">
            <a:solidFill>
              <a:srgbClr val="BD93F9"/>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76" name="Rectangle 75"/>
          <p:cNvSpPr/>
          <p:nvPr/>
        </p:nvSpPr>
        <p:spPr>
          <a:xfrm>
            <a:off x="9838944" y="1188720"/>
            <a:ext cx="2395728" cy="5010912"/>
          </a:xfrm>
          <a:prstGeom prst="rect">
            <a:avLst/>
          </a:prstGeom>
          <a:solidFill>
            <a:srgbClr val="1008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9838944" y="1188720"/>
            <a:ext cx="2395728" cy="457200"/>
          </a:xfrm>
          <a:prstGeom prst="rect">
            <a:avLst/>
          </a:prstGeom>
          <a:solidFill>
            <a:srgbClr val="0810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912096" y="1243584"/>
            <a:ext cx="2286000" cy="384048"/>
          </a:xfrm>
          <a:prstGeom prst="rect">
            <a:avLst/>
          </a:prstGeom>
          <a:noFill/>
        </p:spPr>
        <p:txBody>
          <a:bodyPr wrap="square">
            <a:spAutoFit/>
          </a:bodyPr>
          <a:lstStyle/>
          <a:p>
            <a:pPr algn="ctr"/>
            <a:r>
              <a:rPr sz="1000" b="1" i="0">
                <a:solidFill>
                  <a:srgbClr val="BD93F9"/>
                </a:solidFill>
                <a:latin typeface="Calibri"/>
              </a:rPr>
              <a:t>PHASE 4
Report</a:t>
            </a:r>
          </a:p>
        </p:txBody>
      </p:sp>
      <p:sp>
        <p:nvSpPr>
          <p:cNvPr id="79" name="TextBox 78"/>
          <p:cNvSpPr txBox="1"/>
          <p:nvPr/>
        </p:nvSpPr>
        <p:spPr>
          <a:xfrm>
            <a:off x="9912096" y="1700784"/>
            <a:ext cx="2286000" cy="201168"/>
          </a:xfrm>
          <a:prstGeom prst="rect">
            <a:avLst/>
          </a:prstGeom>
          <a:noFill/>
        </p:spPr>
        <p:txBody>
          <a:bodyPr wrap="square">
            <a:spAutoFit/>
          </a:bodyPr>
          <a:lstStyle/>
          <a:p>
            <a:pPr algn="ctr"/>
            <a:r>
              <a:rPr sz="850" b="1" i="0">
                <a:solidFill>
                  <a:srgbClr val="BD93F9"/>
                </a:solidFill>
                <a:latin typeface="Calibri"/>
              </a:rPr>
              <a:t>📝 Report Agent</a:t>
            </a:r>
          </a:p>
        </p:txBody>
      </p:sp>
      <p:sp>
        <p:nvSpPr>
          <p:cNvPr id="80" name="Rectangle 79"/>
          <p:cNvSpPr/>
          <p:nvPr/>
        </p:nvSpPr>
        <p:spPr>
          <a:xfrm>
            <a:off x="9912096" y="1920240"/>
            <a:ext cx="2249424" cy="182880"/>
          </a:xfrm>
          <a:prstGeom prst="rect">
            <a:avLst/>
          </a:prstGeom>
          <a:solidFill>
            <a:srgbClr val="081022"/>
          </a:solidFill>
          <a:ln w="50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9948672" y="1929384"/>
            <a:ext cx="2212848" cy="164592"/>
          </a:xfrm>
          <a:prstGeom prst="rect">
            <a:avLst/>
          </a:prstGeom>
          <a:noFill/>
        </p:spPr>
        <p:txBody>
          <a:bodyPr wrap="square">
            <a:spAutoFit/>
          </a:bodyPr>
          <a:lstStyle/>
          <a:p>
            <a:pPr algn="ctr"/>
            <a:r>
              <a:rPr sz="700" b="1" i="0">
                <a:solidFill>
                  <a:srgbClr val="BD93F9"/>
                </a:solidFill>
                <a:latin typeface="Calibri"/>
              </a:rPr>
              <a:t>Reads ASG + APG</a:t>
            </a:r>
          </a:p>
        </p:txBody>
      </p:sp>
      <p:sp>
        <p:nvSpPr>
          <p:cNvPr id="82" name="Rectangle 81"/>
          <p:cNvSpPr/>
          <p:nvPr/>
        </p:nvSpPr>
        <p:spPr>
          <a:xfrm>
            <a:off x="9912096" y="2157984"/>
            <a:ext cx="2249424" cy="3493008"/>
          </a:xfrm>
          <a:prstGeom prst="rect">
            <a:avLst/>
          </a:prstGeom>
          <a:solidFill>
            <a:srgbClr val="080E1C"/>
          </a:solidFill>
          <a:ln w="50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912096" y="2157984"/>
            <a:ext cx="45720" cy="349300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985248" y="2194560"/>
            <a:ext cx="2121408" cy="237744"/>
          </a:xfrm>
          <a:prstGeom prst="rect">
            <a:avLst/>
          </a:prstGeom>
          <a:noFill/>
        </p:spPr>
        <p:txBody>
          <a:bodyPr wrap="square">
            <a:spAutoFit/>
          </a:bodyPr>
          <a:lstStyle/>
          <a:p>
            <a:pPr algn="ctr"/>
            <a:r>
              <a:rPr sz="800" b="1" i="0">
                <a:solidFill>
                  <a:srgbClr val="BD93F9"/>
                </a:solidFill>
                <a:latin typeface="Calibri"/>
              </a:rPr>
              <a:t>Output</a:t>
            </a:r>
          </a:p>
        </p:txBody>
      </p:sp>
      <p:sp>
        <p:nvSpPr>
          <p:cNvPr id="85" name="TextBox 84"/>
          <p:cNvSpPr txBox="1"/>
          <p:nvPr/>
        </p:nvSpPr>
        <p:spPr>
          <a:xfrm>
            <a:off x="9985248" y="2432304"/>
            <a:ext cx="2121408" cy="3182112"/>
          </a:xfrm>
          <a:prstGeom prst="rect">
            <a:avLst/>
          </a:prstGeom>
          <a:noFill/>
        </p:spPr>
        <p:txBody>
          <a:bodyPr wrap="square">
            <a:spAutoFit/>
          </a:bodyPr>
          <a:lstStyle/>
          <a:p>
            <a:pPr algn="ctr"/>
            <a:r>
              <a:rPr sz="800" b="0" i="0">
                <a:solidFill>
                  <a:srgbClr val="A0AAB8"/>
                </a:solidFill>
                <a:latin typeface="Calibri"/>
              </a:rPr>
              <a:t>Executive summary · 4 validated chains
RCE + IDOR + SQLi + exposed DB backup
11 vuln entries · full attack surface map
Evidence at every ChainStep</a:t>
            </a:r>
          </a:p>
        </p:txBody>
      </p:sp>
      <p:sp>
        <p:nvSpPr>
          <p:cNvPr id="86" name="Rectangle 85"/>
          <p:cNvSpPr/>
          <p:nvPr/>
        </p:nvSpPr>
        <p:spPr>
          <a:xfrm>
            <a:off x="9838944" y="5797296"/>
            <a:ext cx="2395728" cy="402336"/>
          </a:xfrm>
          <a:prstGeom prst="rect">
            <a:avLst/>
          </a:prstGeom>
          <a:solidFill>
            <a:srgbClr val="060C18"/>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9930384" y="5852160"/>
            <a:ext cx="2258568" cy="310896"/>
          </a:xfrm>
          <a:prstGeom prst="rect">
            <a:avLst/>
          </a:prstGeom>
          <a:noFill/>
        </p:spPr>
        <p:txBody>
          <a:bodyPr wrap="square">
            <a:spAutoFit/>
          </a:bodyPr>
          <a:lstStyle/>
          <a:p>
            <a:pPr algn="ctr"/>
            <a:r>
              <a:rPr sz="850" b="1" i="0">
                <a:solidFill>
                  <a:srgbClr val="BD93F9"/>
                </a:solidFill>
                <a:latin typeface="Calibri"/>
              </a:rPr>
              <a:t>ZERO manual commands</a:t>
            </a:r>
          </a:p>
        </p:txBody>
      </p:sp>
      <p:sp>
        <p:nvSpPr>
          <p:cNvPr id="88" name="Rectangle 87"/>
          <p:cNvSpPr/>
          <p:nvPr/>
        </p:nvSpPr>
        <p:spPr>
          <a:xfrm>
            <a:off x="164592" y="6236208"/>
            <a:ext cx="11862511" cy="493776"/>
          </a:xfrm>
          <a:prstGeom prst="rect">
            <a:avLst/>
          </a:prstGeom>
          <a:solidFill>
            <a:srgbClr val="081022"/>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01168" y="6263640"/>
            <a:ext cx="1663293" cy="256032"/>
          </a:xfrm>
          <a:prstGeom prst="rect">
            <a:avLst/>
          </a:prstGeom>
          <a:noFill/>
        </p:spPr>
        <p:txBody>
          <a:bodyPr wrap="square">
            <a:spAutoFit/>
          </a:bodyPr>
          <a:lstStyle/>
          <a:p>
            <a:pPr algn="ctr"/>
            <a:r>
              <a:rPr sz="1800" b="1" i="0">
                <a:solidFill>
                  <a:srgbClr val="39FF14"/>
                </a:solidFill>
                <a:latin typeface="Calibri"/>
              </a:rPr>
              <a:t>14</a:t>
            </a:r>
          </a:p>
        </p:txBody>
      </p:sp>
      <p:sp>
        <p:nvSpPr>
          <p:cNvPr id="90" name="TextBox 89"/>
          <p:cNvSpPr txBox="1"/>
          <p:nvPr/>
        </p:nvSpPr>
        <p:spPr>
          <a:xfrm>
            <a:off x="201168" y="6483096"/>
            <a:ext cx="1663293" cy="182880"/>
          </a:xfrm>
          <a:prstGeom prst="rect">
            <a:avLst/>
          </a:prstGeom>
          <a:noFill/>
        </p:spPr>
        <p:txBody>
          <a:bodyPr wrap="square">
            <a:spAutoFit/>
          </a:bodyPr>
          <a:lstStyle/>
          <a:p>
            <a:pPr algn="ctr"/>
            <a:r>
              <a:rPr sz="750" b="0" i="0">
                <a:solidFill>
                  <a:srgbClr val="A0AAB8"/>
                </a:solidFill>
                <a:latin typeface="Calibri"/>
              </a:rPr>
              <a:t>subdomains</a:t>
            </a:r>
          </a:p>
        </p:txBody>
      </p:sp>
      <p:sp>
        <p:nvSpPr>
          <p:cNvPr id="91" name="TextBox 90"/>
          <p:cNvSpPr txBox="1"/>
          <p:nvPr/>
        </p:nvSpPr>
        <p:spPr>
          <a:xfrm>
            <a:off x="1864461" y="6263640"/>
            <a:ext cx="1663293" cy="256032"/>
          </a:xfrm>
          <a:prstGeom prst="rect">
            <a:avLst/>
          </a:prstGeom>
          <a:noFill/>
        </p:spPr>
        <p:txBody>
          <a:bodyPr wrap="square">
            <a:spAutoFit/>
          </a:bodyPr>
          <a:lstStyle/>
          <a:p>
            <a:pPr algn="ctr"/>
            <a:r>
              <a:rPr sz="1800" b="1" i="0">
                <a:solidFill>
                  <a:srgbClr val="39FF14"/>
                </a:solidFill>
                <a:latin typeface="Calibri"/>
              </a:rPr>
              <a:t>11</a:t>
            </a:r>
          </a:p>
        </p:txBody>
      </p:sp>
      <p:sp>
        <p:nvSpPr>
          <p:cNvPr id="92" name="TextBox 91"/>
          <p:cNvSpPr txBox="1"/>
          <p:nvPr/>
        </p:nvSpPr>
        <p:spPr>
          <a:xfrm>
            <a:off x="1864461" y="6483096"/>
            <a:ext cx="1663293" cy="182880"/>
          </a:xfrm>
          <a:prstGeom prst="rect">
            <a:avLst/>
          </a:prstGeom>
          <a:noFill/>
        </p:spPr>
        <p:txBody>
          <a:bodyPr wrap="square">
            <a:spAutoFit/>
          </a:bodyPr>
          <a:lstStyle/>
          <a:p>
            <a:pPr algn="ctr"/>
            <a:r>
              <a:rPr sz="750" b="0" i="0">
                <a:solidFill>
                  <a:srgbClr val="A0AAB8"/>
                </a:solidFill>
                <a:latin typeface="Calibri"/>
              </a:rPr>
              <a:t>live hosts</a:t>
            </a:r>
          </a:p>
        </p:txBody>
      </p:sp>
      <p:sp>
        <p:nvSpPr>
          <p:cNvPr id="93" name="TextBox 92"/>
          <p:cNvSpPr txBox="1"/>
          <p:nvPr/>
        </p:nvSpPr>
        <p:spPr>
          <a:xfrm>
            <a:off x="3527755" y="6263640"/>
            <a:ext cx="1663293" cy="256032"/>
          </a:xfrm>
          <a:prstGeom prst="rect">
            <a:avLst/>
          </a:prstGeom>
          <a:noFill/>
        </p:spPr>
        <p:txBody>
          <a:bodyPr wrap="square">
            <a:spAutoFit/>
          </a:bodyPr>
          <a:lstStyle/>
          <a:p>
            <a:pPr algn="ctr"/>
            <a:r>
              <a:rPr sz="1800" b="1" i="0">
                <a:solidFill>
                  <a:srgbClr val="00E5FF"/>
                </a:solidFill>
                <a:latin typeface="Calibri"/>
              </a:rPr>
              <a:t>28</a:t>
            </a:r>
          </a:p>
        </p:txBody>
      </p:sp>
      <p:sp>
        <p:nvSpPr>
          <p:cNvPr id="94" name="TextBox 93"/>
          <p:cNvSpPr txBox="1"/>
          <p:nvPr/>
        </p:nvSpPr>
        <p:spPr>
          <a:xfrm>
            <a:off x="3527755" y="6483096"/>
            <a:ext cx="1663293" cy="182880"/>
          </a:xfrm>
          <a:prstGeom prst="rect">
            <a:avLst/>
          </a:prstGeom>
          <a:noFill/>
        </p:spPr>
        <p:txBody>
          <a:bodyPr wrap="square">
            <a:spAutoFit/>
          </a:bodyPr>
          <a:lstStyle/>
          <a:p>
            <a:pPr algn="ctr"/>
            <a:r>
              <a:rPr sz="750" b="0" i="0">
                <a:solidFill>
                  <a:srgbClr val="A0AAB8"/>
                </a:solidFill>
                <a:latin typeface="Calibri"/>
              </a:rPr>
              <a:t>open ports</a:t>
            </a:r>
          </a:p>
        </p:txBody>
      </p:sp>
      <p:sp>
        <p:nvSpPr>
          <p:cNvPr id="95" name="TextBox 94"/>
          <p:cNvSpPr txBox="1"/>
          <p:nvPr/>
        </p:nvSpPr>
        <p:spPr>
          <a:xfrm>
            <a:off x="5191048" y="6263640"/>
            <a:ext cx="1663293" cy="256032"/>
          </a:xfrm>
          <a:prstGeom prst="rect">
            <a:avLst/>
          </a:prstGeom>
          <a:noFill/>
        </p:spPr>
        <p:txBody>
          <a:bodyPr wrap="square">
            <a:spAutoFit/>
          </a:bodyPr>
          <a:lstStyle/>
          <a:p>
            <a:pPr algn="ctr"/>
            <a:r>
              <a:rPr sz="1800" b="1" i="0">
                <a:solidFill>
                  <a:srgbClr val="00E5FF"/>
                </a:solidFill>
                <a:latin typeface="Calibri"/>
              </a:rPr>
              <a:t>19</a:t>
            </a:r>
          </a:p>
        </p:txBody>
      </p:sp>
      <p:sp>
        <p:nvSpPr>
          <p:cNvPr id="96" name="TextBox 95"/>
          <p:cNvSpPr txBox="1"/>
          <p:nvPr/>
        </p:nvSpPr>
        <p:spPr>
          <a:xfrm>
            <a:off x="5191048" y="6483096"/>
            <a:ext cx="1663293" cy="182880"/>
          </a:xfrm>
          <a:prstGeom prst="rect">
            <a:avLst/>
          </a:prstGeom>
          <a:noFill/>
        </p:spPr>
        <p:txBody>
          <a:bodyPr wrap="square">
            <a:spAutoFit/>
          </a:bodyPr>
          <a:lstStyle/>
          <a:p>
            <a:pPr algn="ctr"/>
            <a:r>
              <a:rPr sz="750" b="0" i="0">
                <a:solidFill>
                  <a:srgbClr val="A0AAB8"/>
                </a:solidFill>
                <a:latin typeface="Calibri"/>
              </a:rPr>
              <a:t>endpoints</a:t>
            </a:r>
          </a:p>
        </p:txBody>
      </p:sp>
      <p:sp>
        <p:nvSpPr>
          <p:cNvPr id="97" name="TextBox 96"/>
          <p:cNvSpPr txBox="1"/>
          <p:nvPr/>
        </p:nvSpPr>
        <p:spPr>
          <a:xfrm>
            <a:off x="6854342" y="6263640"/>
            <a:ext cx="1663293" cy="256032"/>
          </a:xfrm>
          <a:prstGeom prst="rect">
            <a:avLst/>
          </a:prstGeom>
          <a:noFill/>
        </p:spPr>
        <p:txBody>
          <a:bodyPr wrap="square">
            <a:spAutoFit/>
          </a:bodyPr>
          <a:lstStyle/>
          <a:p>
            <a:pPr algn="ctr"/>
            <a:r>
              <a:rPr sz="1800" b="1" i="0">
                <a:solidFill>
                  <a:srgbClr val="FFD700"/>
                </a:solidFill>
                <a:latin typeface="Calibri"/>
              </a:rPr>
              <a:t>11</a:t>
            </a:r>
          </a:p>
        </p:txBody>
      </p:sp>
      <p:sp>
        <p:nvSpPr>
          <p:cNvPr id="98" name="TextBox 97"/>
          <p:cNvSpPr txBox="1"/>
          <p:nvPr/>
        </p:nvSpPr>
        <p:spPr>
          <a:xfrm>
            <a:off x="6854342" y="6483096"/>
            <a:ext cx="1663293" cy="182880"/>
          </a:xfrm>
          <a:prstGeom prst="rect">
            <a:avLst/>
          </a:prstGeom>
          <a:noFill/>
        </p:spPr>
        <p:txBody>
          <a:bodyPr wrap="square">
            <a:spAutoFit/>
          </a:bodyPr>
          <a:lstStyle/>
          <a:p>
            <a:pPr algn="ctr"/>
            <a:r>
              <a:rPr sz="750" b="0" i="0">
                <a:solidFill>
                  <a:srgbClr val="A0AAB8"/>
                </a:solidFill>
                <a:latin typeface="Calibri"/>
              </a:rPr>
              <a:t>vulnerabilities</a:t>
            </a:r>
          </a:p>
        </p:txBody>
      </p:sp>
      <p:sp>
        <p:nvSpPr>
          <p:cNvPr id="99" name="TextBox 98"/>
          <p:cNvSpPr txBox="1"/>
          <p:nvPr/>
        </p:nvSpPr>
        <p:spPr>
          <a:xfrm>
            <a:off x="8517635" y="6263640"/>
            <a:ext cx="1663293" cy="256032"/>
          </a:xfrm>
          <a:prstGeom prst="rect">
            <a:avLst/>
          </a:prstGeom>
          <a:noFill/>
        </p:spPr>
        <p:txBody>
          <a:bodyPr wrap="square">
            <a:spAutoFit/>
          </a:bodyPr>
          <a:lstStyle/>
          <a:p>
            <a:pPr algn="ctr"/>
            <a:r>
              <a:rPr sz="1800" b="1" i="0">
                <a:solidFill>
                  <a:srgbClr val="FF4545"/>
                </a:solidFill>
                <a:latin typeface="Calibri"/>
              </a:rPr>
              <a:t>4</a:t>
            </a:r>
          </a:p>
        </p:txBody>
      </p:sp>
      <p:sp>
        <p:nvSpPr>
          <p:cNvPr id="100" name="TextBox 99"/>
          <p:cNvSpPr txBox="1"/>
          <p:nvPr/>
        </p:nvSpPr>
        <p:spPr>
          <a:xfrm>
            <a:off x="8517635" y="6483096"/>
            <a:ext cx="1663293" cy="182880"/>
          </a:xfrm>
          <a:prstGeom prst="rect">
            <a:avLst/>
          </a:prstGeom>
          <a:noFill/>
        </p:spPr>
        <p:txBody>
          <a:bodyPr wrap="square">
            <a:spAutoFit/>
          </a:bodyPr>
          <a:lstStyle/>
          <a:p>
            <a:pPr algn="ctr"/>
            <a:r>
              <a:rPr sz="750" b="0" i="0">
                <a:solidFill>
                  <a:srgbClr val="A0AAB8"/>
                </a:solidFill>
                <a:latin typeface="Calibri"/>
              </a:rPr>
              <a:t>validated chains</a:t>
            </a:r>
          </a:p>
        </p:txBody>
      </p:sp>
      <p:sp>
        <p:nvSpPr>
          <p:cNvPr id="101" name="TextBox 100"/>
          <p:cNvSpPr txBox="1"/>
          <p:nvPr/>
        </p:nvSpPr>
        <p:spPr>
          <a:xfrm>
            <a:off x="10180929" y="6263640"/>
            <a:ext cx="1663293" cy="256032"/>
          </a:xfrm>
          <a:prstGeom prst="rect">
            <a:avLst/>
          </a:prstGeom>
          <a:noFill/>
        </p:spPr>
        <p:txBody>
          <a:bodyPr wrap="square">
            <a:spAutoFit/>
          </a:bodyPr>
          <a:lstStyle/>
          <a:p>
            <a:pPr algn="ctr"/>
            <a:r>
              <a:rPr sz="1800" b="1" i="0">
                <a:solidFill>
                  <a:srgbClr val="BD93F9"/>
                </a:solidFill>
                <a:latin typeface="Calibri"/>
              </a:rPr>
              <a:t>0</a:t>
            </a:r>
          </a:p>
        </p:txBody>
      </p:sp>
      <p:sp>
        <p:nvSpPr>
          <p:cNvPr id="102" name="TextBox 101"/>
          <p:cNvSpPr txBox="1"/>
          <p:nvPr/>
        </p:nvSpPr>
        <p:spPr>
          <a:xfrm>
            <a:off x="10180929" y="6483096"/>
            <a:ext cx="1663293" cy="182880"/>
          </a:xfrm>
          <a:prstGeom prst="rect">
            <a:avLst/>
          </a:prstGeom>
          <a:noFill/>
        </p:spPr>
        <p:txBody>
          <a:bodyPr wrap="square">
            <a:spAutoFit/>
          </a:bodyPr>
          <a:lstStyle/>
          <a:p>
            <a:pPr algn="ctr"/>
            <a:r>
              <a:rPr sz="750" b="0" i="0">
                <a:solidFill>
                  <a:srgbClr val="A0AAB8"/>
                </a:solidFill>
                <a:latin typeface="Calibri"/>
              </a:rPr>
              <a:t>manual commands</a:t>
            </a:r>
          </a:p>
        </p:txBody>
      </p:sp>
      <p:sp>
        <p:nvSpPr>
          <p:cNvPr id="103" name="TextBox 102"/>
          <p:cNvSpPr txBox="1"/>
          <p:nvPr/>
        </p:nvSpPr>
        <p:spPr>
          <a:xfrm>
            <a:off x="11825935" y="6382512"/>
            <a:ext cx="320040" cy="384048"/>
          </a:xfrm>
          <a:prstGeom prst="rect">
            <a:avLst/>
          </a:prstGeom>
          <a:noFill/>
        </p:spPr>
        <p:txBody>
          <a:bodyPr wrap="square">
            <a:spAutoFit/>
          </a:bodyPr>
          <a:lstStyle/>
          <a:p>
            <a:pPr algn="r"/>
            <a:r>
              <a:rPr sz="1300" b="1" i="0">
                <a:solidFill>
                  <a:srgbClr val="FFD700"/>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5486400" cy="219456"/>
          </a:xfrm>
          <a:prstGeom prst="rect">
            <a:avLst/>
          </a:prstGeom>
          <a:noFill/>
        </p:spPr>
        <p:txBody>
          <a:bodyPr wrap="square">
            <a:spAutoFit/>
          </a:bodyPr>
          <a:lstStyle/>
          <a:p>
            <a:pPr algn="l"/>
            <a:r>
              <a:rPr sz="1000" b="1" i="0">
                <a:solidFill>
                  <a:srgbClr val="FFD700"/>
                </a:solidFill>
                <a:latin typeface="Calibri"/>
              </a:rPr>
              <a:t>ATTACK CHAIN LIFECYCLE</a:t>
            </a:r>
          </a:p>
        </p:txBody>
      </p:sp>
      <p:sp>
        <p:nvSpPr>
          <p:cNvPr id="6" name="TextBox 5"/>
          <p:cNvSpPr txBox="1"/>
          <p:nvPr/>
        </p:nvSpPr>
        <p:spPr>
          <a:xfrm>
            <a:off x="274320" y="283464"/>
            <a:ext cx="10972800" cy="420624"/>
          </a:xfrm>
          <a:prstGeom prst="rect">
            <a:avLst/>
          </a:prstGeom>
          <a:noFill/>
        </p:spPr>
        <p:txBody>
          <a:bodyPr wrap="square">
            <a:spAutoFit/>
          </a:bodyPr>
          <a:lstStyle/>
          <a:p>
            <a:pPr algn="l"/>
            <a:r>
              <a:rPr sz="2400" b="1" i="0">
                <a:solidFill>
                  <a:srgbClr val="FFFFFF"/>
                </a:solidFill>
                <a:latin typeface="Calibri"/>
              </a:rPr>
              <a:t>APG Chain State Machine + Validation Agent Self-Debugging Loop</a:t>
            </a:r>
          </a:p>
        </p:txBody>
      </p:sp>
      <p:sp>
        <p:nvSpPr>
          <p:cNvPr id="7" name="Rectangle 6"/>
          <p:cNvSpPr/>
          <p:nvPr/>
        </p:nvSpPr>
        <p:spPr>
          <a:xfrm>
            <a:off x="228600" y="804672"/>
            <a:ext cx="2331720" cy="1783080"/>
          </a:xfrm>
          <a:prstGeom prst="rect">
            <a:avLst/>
          </a:prstGeom>
          <a:solidFill>
            <a:srgbClr val="504000"/>
          </a:solidFill>
          <a:ln w="254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28600" y="804672"/>
            <a:ext cx="2331720"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28600" y="841248"/>
            <a:ext cx="2331720" cy="228600"/>
          </a:xfrm>
          <a:prstGeom prst="rect">
            <a:avLst/>
          </a:prstGeom>
          <a:noFill/>
        </p:spPr>
        <p:txBody>
          <a:bodyPr wrap="square">
            <a:spAutoFit/>
          </a:bodyPr>
          <a:lstStyle/>
          <a:p>
            <a:pPr algn="ctr"/>
            <a:r>
              <a:rPr sz="950" b="1" i="0">
                <a:solidFill>
                  <a:srgbClr val="0A0D1A"/>
                </a:solidFill>
                <a:latin typeface="Calibri"/>
              </a:rPr>
              <a:t>HYPOTHESIZED</a:t>
            </a:r>
          </a:p>
        </p:txBody>
      </p:sp>
      <p:sp>
        <p:nvSpPr>
          <p:cNvPr id="10" name="TextBox 9"/>
          <p:cNvSpPr txBox="1"/>
          <p:nvPr/>
        </p:nvSpPr>
        <p:spPr>
          <a:xfrm>
            <a:off x="320040" y="1152144"/>
            <a:ext cx="2167128" cy="1362456"/>
          </a:xfrm>
          <a:prstGeom prst="rect">
            <a:avLst/>
          </a:prstGeom>
          <a:noFill/>
        </p:spPr>
        <p:txBody>
          <a:bodyPr wrap="square">
            <a:spAutoFit/>
          </a:bodyPr>
          <a:lstStyle/>
          <a:p>
            <a:pPr algn="ctr"/>
            <a:r>
              <a:rPr sz="900" b="0" i="0">
                <a:solidFill>
                  <a:srgbClr val="A0AAB8"/>
                </a:solidFill>
                <a:latin typeface="Calibri"/>
              </a:rPr>
              <a:t>Commander inferred a possible
chain from ASG Vulnerability nodes.
Not yet tested.</a:t>
            </a:r>
          </a:p>
        </p:txBody>
      </p:sp>
      <p:cxnSp>
        <p:nvCxnSpPr>
          <p:cNvPr id="11" name="Connector 10"/>
          <p:cNvCxnSpPr/>
          <p:nvPr/>
        </p:nvCxnSpPr>
        <p:spPr>
          <a:xfrm>
            <a:off x="2560320" y="1696212.0"/>
            <a:ext cx="237744" cy="0.0"/>
          </a:xfrm>
          <a:prstGeom prst="line">
            <a:avLst/>
          </a:prstGeom>
          <a:ln w="2286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2798064" y="804672"/>
            <a:ext cx="2331720" cy="1783080"/>
          </a:xfrm>
          <a:prstGeom prst="rect">
            <a:avLst/>
          </a:prstGeom>
          <a:solidFill>
            <a:srgbClr val="284008"/>
          </a:solidFill>
          <a:ln w="254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98064" y="804672"/>
            <a:ext cx="2331720" cy="27432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98064" y="841248"/>
            <a:ext cx="2331720" cy="228600"/>
          </a:xfrm>
          <a:prstGeom prst="rect">
            <a:avLst/>
          </a:prstGeom>
          <a:noFill/>
        </p:spPr>
        <p:txBody>
          <a:bodyPr wrap="square">
            <a:spAutoFit/>
          </a:bodyPr>
          <a:lstStyle/>
          <a:p>
            <a:pPr algn="ctr"/>
            <a:r>
              <a:rPr sz="950" b="1" i="0">
                <a:solidFill>
                  <a:srgbClr val="0A0D1A"/>
                </a:solidFill>
                <a:latin typeface="Calibri"/>
              </a:rPr>
              <a:t>PARTIALLY
VALIDATED</a:t>
            </a:r>
          </a:p>
        </p:txBody>
      </p:sp>
      <p:sp>
        <p:nvSpPr>
          <p:cNvPr id="15" name="TextBox 14"/>
          <p:cNvSpPr txBox="1"/>
          <p:nvPr/>
        </p:nvSpPr>
        <p:spPr>
          <a:xfrm>
            <a:off x="2889504" y="1152144"/>
            <a:ext cx="2167128" cy="1362456"/>
          </a:xfrm>
          <a:prstGeom prst="rect">
            <a:avLst/>
          </a:prstGeom>
          <a:noFill/>
        </p:spPr>
        <p:txBody>
          <a:bodyPr wrap="square">
            <a:spAutoFit/>
          </a:bodyPr>
          <a:lstStyle/>
          <a:p>
            <a:pPr algn="ctr"/>
            <a:r>
              <a:rPr sz="900" b="0" i="0">
                <a:solidFill>
                  <a:srgbClr val="A0AAB8"/>
                </a:solidFill>
                <a:latin typeface="Calibri"/>
              </a:rPr>
              <a:t>One or more ChainSteps confirmed.
Chain not complete end-to-end.
Validation in progress.</a:t>
            </a:r>
          </a:p>
        </p:txBody>
      </p:sp>
      <p:sp>
        <p:nvSpPr>
          <p:cNvPr id="16" name="Rectangle 15"/>
          <p:cNvSpPr/>
          <p:nvPr/>
        </p:nvSpPr>
        <p:spPr>
          <a:xfrm>
            <a:off x="5038344" y="1531620"/>
            <a:ext cx="329184" cy="329184"/>
          </a:xfrm>
          <a:prstGeom prst="rect">
            <a:avLst/>
          </a:prstGeom>
          <a:solidFill>
            <a:srgbClr val="FFD700"/>
          </a:solidFill>
          <a:ln w="635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flipH="1">
            <a:off x="5038344" y="1696212.0"/>
            <a:ext cx="91440" cy="0.0"/>
          </a:xfrm>
          <a:prstGeom prst="line">
            <a:avLst/>
          </a:prstGeom>
          <a:ln w="2286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5440680" y="804672"/>
            <a:ext cx="2331720" cy="1783080"/>
          </a:xfrm>
          <a:prstGeom prst="rect">
            <a:avLst/>
          </a:prstGeom>
          <a:solidFill>
            <a:srgbClr val="06280E"/>
          </a:solidFill>
          <a:ln w="254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80" y="804672"/>
            <a:ext cx="2331720" cy="27432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40680" y="841248"/>
            <a:ext cx="2331720" cy="228600"/>
          </a:xfrm>
          <a:prstGeom prst="rect">
            <a:avLst/>
          </a:prstGeom>
          <a:noFill/>
        </p:spPr>
        <p:txBody>
          <a:bodyPr wrap="square">
            <a:spAutoFit/>
          </a:bodyPr>
          <a:lstStyle/>
          <a:p>
            <a:pPr algn="ctr"/>
            <a:r>
              <a:rPr sz="950" b="1" i="0">
                <a:solidFill>
                  <a:srgbClr val="0A0D1A"/>
                </a:solidFill>
                <a:latin typeface="Calibri"/>
              </a:rPr>
              <a:t>VALIDATED</a:t>
            </a:r>
          </a:p>
        </p:txBody>
      </p:sp>
      <p:sp>
        <p:nvSpPr>
          <p:cNvPr id="21" name="TextBox 20"/>
          <p:cNvSpPr txBox="1"/>
          <p:nvPr/>
        </p:nvSpPr>
        <p:spPr>
          <a:xfrm>
            <a:off x="5532120" y="1152144"/>
            <a:ext cx="2167128" cy="1362456"/>
          </a:xfrm>
          <a:prstGeom prst="rect">
            <a:avLst/>
          </a:prstGeom>
          <a:noFill/>
        </p:spPr>
        <p:txBody>
          <a:bodyPr wrap="square">
            <a:spAutoFit/>
          </a:bodyPr>
          <a:lstStyle/>
          <a:p>
            <a:pPr algn="ctr"/>
            <a:r>
              <a:rPr sz="900" b="0" i="0">
                <a:solidFill>
                  <a:srgbClr val="A0AAB8"/>
                </a:solidFill>
                <a:latin typeface="Calibri"/>
              </a:rPr>
              <a:t>All ChainSteps confirmed with
linked Evidence. Impact demonstrated.
Mission success for this chain.</a:t>
            </a:r>
          </a:p>
        </p:txBody>
      </p:sp>
      <p:cxnSp>
        <p:nvCxnSpPr>
          <p:cNvPr id="22" name="Connector 21"/>
          <p:cNvCxnSpPr/>
          <p:nvPr/>
        </p:nvCxnSpPr>
        <p:spPr>
          <a:xfrm>
            <a:off x="5367528" y="1604772.0"/>
            <a:ext cx="73152" cy="0.0"/>
          </a:xfrm>
          <a:prstGeom prst="line">
            <a:avLst/>
          </a:prstGeom>
          <a:ln w="2286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404104" y="1367028"/>
            <a:ext cx="1097280" cy="201168"/>
          </a:xfrm>
          <a:prstGeom prst="rect">
            <a:avLst/>
          </a:prstGeom>
          <a:noFill/>
        </p:spPr>
        <p:txBody>
          <a:bodyPr wrap="square">
            <a:spAutoFit/>
          </a:bodyPr>
          <a:lstStyle/>
          <a:p>
            <a:pPr algn="l"/>
            <a:r>
              <a:rPr sz="800" b="0" i="1">
                <a:solidFill>
                  <a:srgbClr val="39FF14"/>
                </a:solidFill>
                <a:latin typeface="Calibri"/>
              </a:rPr>
              <a:t>chain succeeds</a:t>
            </a:r>
          </a:p>
        </p:txBody>
      </p:sp>
      <p:sp>
        <p:nvSpPr>
          <p:cNvPr id="24" name="Rectangle 23"/>
          <p:cNvSpPr/>
          <p:nvPr/>
        </p:nvSpPr>
        <p:spPr>
          <a:xfrm>
            <a:off x="5440680" y="2843784"/>
            <a:ext cx="2331720" cy="1783080"/>
          </a:xfrm>
          <a:prstGeom prst="rect">
            <a:avLst/>
          </a:prstGeom>
          <a:solidFill>
            <a:srgbClr val="280808"/>
          </a:solidFill>
          <a:ln w="254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40680" y="2843784"/>
            <a:ext cx="2331720" cy="27432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40680" y="2880360"/>
            <a:ext cx="2331720" cy="228600"/>
          </a:xfrm>
          <a:prstGeom prst="rect">
            <a:avLst/>
          </a:prstGeom>
          <a:noFill/>
        </p:spPr>
        <p:txBody>
          <a:bodyPr wrap="square">
            <a:spAutoFit/>
          </a:bodyPr>
          <a:lstStyle/>
          <a:p>
            <a:pPr algn="ctr"/>
            <a:r>
              <a:rPr sz="950" b="1" i="0">
                <a:solidFill>
                  <a:srgbClr val="0A0D1A"/>
                </a:solidFill>
                <a:latin typeface="Calibri"/>
              </a:rPr>
              <a:t>RULED_OUT</a:t>
            </a:r>
          </a:p>
        </p:txBody>
      </p:sp>
      <p:sp>
        <p:nvSpPr>
          <p:cNvPr id="27" name="TextBox 26"/>
          <p:cNvSpPr txBox="1"/>
          <p:nvPr/>
        </p:nvSpPr>
        <p:spPr>
          <a:xfrm>
            <a:off x="5532120" y="3191256"/>
            <a:ext cx="2167128" cy="1362456"/>
          </a:xfrm>
          <a:prstGeom prst="rect">
            <a:avLst/>
          </a:prstGeom>
          <a:noFill/>
        </p:spPr>
        <p:txBody>
          <a:bodyPr wrap="square">
            <a:spAutoFit/>
          </a:bodyPr>
          <a:lstStyle/>
          <a:p>
            <a:pPr algn="ctr"/>
            <a:r>
              <a:rPr sz="900" b="0" i="0">
                <a:solidFill>
                  <a:srgbClr val="A0AAB8"/>
                </a:solidFill>
                <a:latin typeface="Calibri"/>
              </a:rPr>
              <a:t>A required ChainStep failed after
max retries. Chain not exploitable
as hypothesized. Commander re-plans.</a:t>
            </a:r>
          </a:p>
        </p:txBody>
      </p:sp>
      <p:cxnSp>
        <p:nvCxnSpPr>
          <p:cNvPr id="28" name="Connector 27"/>
          <p:cNvCxnSpPr/>
          <p:nvPr/>
        </p:nvCxnSpPr>
        <p:spPr>
          <a:xfrm>
            <a:off x="5367528" y="1787652.0"/>
            <a:ext cx="73152" cy="1856232.0"/>
          </a:xfrm>
          <a:prstGeom prst="line">
            <a:avLst/>
          </a:prstGeom>
          <a:ln w="2286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04104" y="1897380"/>
            <a:ext cx="1234440" cy="201168"/>
          </a:xfrm>
          <a:prstGeom prst="rect">
            <a:avLst/>
          </a:prstGeom>
          <a:noFill/>
        </p:spPr>
        <p:txBody>
          <a:bodyPr wrap="square">
            <a:spAutoFit/>
          </a:bodyPr>
          <a:lstStyle/>
          <a:p>
            <a:pPr algn="l"/>
            <a:r>
              <a:rPr sz="800" b="0" i="1">
                <a:solidFill>
                  <a:srgbClr val="FF4545"/>
                </a:solidFill>
                <a:latin typeface="Calibri"/>
              </a:rPr>
              <a:t>step fails after cap</a:t>
            </a:r>
          </a:p>
        </p:txBody>
      </p:sp>
      <p:sp>
        <p:nvSpPr>
          <p:cNvPr id="30" name="Rectangle 29"/>
          <p:cNvSpPr/>
          <p:nvPr/>
        </p:nvSpPr>
        <p:spPr>
          <a:xfrm>
            <a:off x="164592" y="4846320"/>
            <a:ext cx="7132320" cy="1755648"/>
          </a:xfrm>
          <a:prstGeom prst="rect">
            <a:avLst/>
          </a:prstGeom>
          <a:solidFill>
            <a:srgbClr val="080C1E"/>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4846320"/>
            <a:ext cx="7132320" cy="25603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4592" y="4882896"/>
            <a:ext cx="7132320" cy="201168"/>
          </a:xfrm>
          <a:prstGeom prst="rect">
            <a:avLst/>
          </a:prstGeom>
          <a:noFill/>
        </p:spPr>
        <p:txBody>
          <a:bodyPr wrap="square">
            <a:spAutoFit/>
          </a:bodyPr>
          <a:lstStyle/>
          <a:p>
            <a:pPr algn="ctr"/>
            <a:r>
              <a:rPr sz="900" b="1" i="0">
                <a:solidFill>
                  <a:srgbClr val="0A0D1A"/>
                </a:solidFill>
                <a:latin typeface="Calibri"/>
              </a:rPr>
              <a:t>🎯  Validation Agent — Self-Debugging Loop  (on ChainStep failure)</a:t>
            </a:r>
          </a:p>
        </p:txBody>
      </p:sp>
      <p:sp>
        <p:nvSpPr>
          <p:cNvPr id="33" name="Rectangle 32"/>
          <p:cNvSpPr/>
          <p:nvPr/>
        </p:nvSpPr>
        <p:spPr>
          <a:xfrm>
            <a:off x="301752" y="5166360"/>
            <a:ext cx="1428750" cy="1371600"/>
          </a:xfrm>
          <a:prstGeom prst="rect">
            <a:avLst/>
          </a:prstGeom>
          <a:solidFill>
            <a:srgbClr val="10142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01752" y="5166360"/>
            <a:ext cx="1428750"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01752" y="5193792"/>
            <a:ext cx="1428750" cy="182880"/>
          </a:xfrm>
          <a:prstGeom prst="rect">
            <a:avLst/>
          </a:prstGeom>
          <a:noFill/>
        </p:spPr>
        <p:txBody>
          <a:bodyPr wrap="square">
            <a:spAutoFit/>
          </a:bodyPr>
          <a:lstStyle/>
          <a:p>
            <a:pPr algn="ctr"/>
            <a:r>
              <a:rPr sz="800" b="1" i="0">
                <a:solidFill>
                  <a:srgbClr val="0A0D1A"/>
                </a:solidFill>
                <a:latin typeface="Calibri"/>
              </a:rPr>
              <a:t>ATTEMPT</a:t>
            </a:r>
          </a:p>
        </p:txBody>
      </p:sp>
      <p:sp>
        <p:nvSpPr>
          <p:cNvPr id="36" name="TextBox 35"/>
          <p:cNvSpPr txBox="1"/>
          <p:nvPr/>
        </p:nvSpPr>
        <p:spPr>
          <a:xfrm>
            <a:off x="356616" y="5422392"/>
            <a:ext cx="1337310" cy="1078992"/>
          </a:xfrm>
          <a:prstGeom prst="rect">
            <a:avLst/>
          </a:prstGeom>
          <a:noFill/>
        </p:spPr>
        <p:txBody>
          <a:bodyPr wrap="square">
            <a:spAutoFit/>
          </a:bodyPr>
          <a:lstStyle/>
          <a:p>
            <a:pPr algn="ctr"/>
            <a:r>
              <a:rPr sz="800" b="0" i="0">
                <a:solidFill>
                  <a:srgbClr val="A0AAB8"/>
                </a:solidFill>
                <a:latin typeface="Calibri"/>
              </a:rPr>
              <a:t>Execute tool
against target</a:t>
            </a:r>
          </a:p>
        </p:txBody>
      </p:sp>
      <p:sp>
        <p:nvSpPr>
          <p:cNvPr id="37" name="Rectangle 36"/>
          <p:cNvSpPr/>
          <p:nvPr/>
        </p:nvSpPr>
        <p:spPr>
          <a:xfrm>
            <a:off x="1803654" y="5166360"/>
            <a:ext cx="1428750" cy="1371600"/>
          </a:xfrm>
          <a:prstGeom prst="rect">
            <a:avLst/>
          </a:prstGeom>
          <a:solidFill>
            <a:srgbClr val="10142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803654" y="5166360"/>
            <a:ext cx="1428750"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803654" y="5193792"/>
            <a:ext cx="1428750" cy="182880"/>
          </a:xfrm>
          <a:prstGeom prst="rect">
            <a:avLst/>
          </a:prstGeom>
          <a:noFill/>
        </p:spPr>
        <p:txBody>
          <a:bodyPr wrap="square">
            <a:spAutoFit/>
          </a:bodyPr>
          <a:lstStyle/>
          <a:p>
            <a:pPr algn="ctr"/>
            <a:r>
              <a:rPr sz="800" b="1" i="0">
                <a:solidFill>
                  <a:srgbClr val="0A0D1A"/>
                </a:solidFill>
                <a:latin typeface="Calibri"/>
              </a:rPr>
              <a:t>DIAGNOSE</a:t>
            </a:r>
          </a:p>
        </p:txBody>
      </p:sp>
      <p:sp>
        <p:nvSpPr>
          <p:cNvPr id="40" name="TextBox 39"/>
          <p:cNvSpPr txBox="1"/>
          <p:nvPr/>
        </p:nvSpPr>
        <p:spPr>
          <a:xfrm>
            <a:off x="1858518" y="5422392"/>
            <a:ext cx="1337310" cy="1078992"/>
          </a:xfrm>
          <a:prstGeom prst="rect">
            <a:avLst/>
          </a:prstGeom>
          <a:noFill/>
        </p:spPr>
        <p:txBody>
          <a:bodyPr wrap="square">
            <a:spAutoFit/>
          </a:bodyPr>
          <a:lstStyle/>
          <a:p>
            <a:pPr algn="ctr"/>
            <a:r>
              <a:rPr sz="800" b="0" i="0">
                <a:solidFill>
                  <a:srgbClr val="A0AAB8"/>
                </a:solidFill>
                <a:latin typeface="Calibri"/>
              </a:rPr>
              <a:t>Analyze failure:
wrong param · auth
version mismatch</a:t>
            </a:r>
          </a:p>
        </p:txBody>
      </p:sp>
      <p:cxnSp>
        <p:nvCxnSpPr>
          <p:cNvPr id="41" name="Connector 40"/>
          <p:cNvCxnSpPr/>
          <p:nvPr/>
        </p:nvCxnSpPr>
        <p:spPr>
          <a:xfrm>
            <a:off x="1730502.0" y="5852160.0"/>
            <a:ext cx="73152.0" cy="0.0"/>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3305556" y="5166360"/>
            <a:ext cx="1428750" cy="1371600"/>
          </a:xfrm>
          <a:prstGeom prst="rect">
            <a:avLst/>
          </a:prstGeom>
          <a:solidFill>
            <a:srgbClr val="101428"/>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305556" y="5166360"/>
            <a:ext cx="1428750" cy="2194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05556" y="5193792"/>
            <a:ext cx="1428750" cy="182880"/>
          </a:xfrm>
          <a:prstGeom prst="rect">
            <a:avLst/>
          </a:prstGeom>
          <a:noFill/>
        </p:spPr>
        <p:txBody>
          <a:bodyPr wrap="square">
            <a:spAutoFit/>
          </a:bodyPr>
          <a:lstStyle/>
          <a:p>
            <a:pPr algn="ctr"/>
            <a:r>
              <a:rPr sz="800" b="1" i="0">
                <a:solidFill>
                  <a:srgbClr val="0A0D1A"/>
                </a:solidFill>
                <a:latin typeface="Calibri"/>
              </a:rPr>
              <a:t>CONTEXTUALIZE</a:t>
            </a:r>
          </a:p>
        </p:txBody>
      </p:sp>
      <p:sp>
        <p:nvSpPr>
          <p:cNvPr id="45" name="TextBox 44"/>
          <p:cNvSpPr txBox="1"/>
          <p:nvPr/>
        </p:nvSpPr>
        <p:spPr>
          <a:xfrm>
            <a:off x="3360420" y="5422392"/>
            <a:ext cx="1337310" cy="1078992"/>
          </a:xfrm>
          <a:prstGeom prst="rect">
            <a:avLst/>
          </a:prstGeom>
          <a:noFill/>
        </p:spPr>
        <p:txBody>
          <a:bodyPr wrap="square">
            <a:spAutoFit/>
          </a:bodyPr>
          <a:lstStyle/>
          <a:p>
            <a:pPr algn="ctr"/>
            <a:r>
              <a:rPr sz="800" b="0" i="0">
                <a:solidFill>
                  <a:srgbClr val="A0AAB8"/>
                </a:solidFill>
                <a:latin typeface="Calibri"/>
              </a:rPr>
              <a:t>Query ASG for
additional node
attributes</a:t>
            </a:r>
          </a:p>
        </p:txBody>
      </p:sp>
      <p:cxnSp>
        <p:nvCxnSpPr>
          <p:cNvPr id="46" name="Connector 45"/>
          <p:cNvCxnSpPr/>
          <p:nvPr/>
        </p:nvCxnSpPr>
        <p:spPr>
          <a:xfrm>
            <a:off x="3232404.0" y="5852160.0"/>
            <a:ext cx="73152.0" cy="0.0"/>
          </a:xfrm>
          <a:prstGeom prst="line">
            <a:avLst/>
          </a:prstGeom>
          <a:ln w="1524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4807458" y="5166360"/>
            <a:ext cx="1428750" cy="1371600"/>
          </a:xfrm>
          <a:prstGeom prst="rect">
            <a:avLst/>
          </a:prstGeom>
          <a:solidFill>
            <a:srgbClr val="101428"/>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807458" y="5166360"/>
            <a:ext cx="1428750" cy="2194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807458" y="5193792"/>
            <a:ext cx="1428750" cy="182880"/>
          </a:xfrm>
          <a:prstGeom prst="rect">
            <a:avLst/>
          </a:prstGeom>
          <a:noFill/>
        </p:spPr>
        <p:txBody>
          <a:bodyPr wrap="square">
            <a:spAutoFit/>
          </a:bodyPr>
          <a:lstStyle/>
          <a:p>
            <a:pPr algn="ctr"/>
            <a:r>
              <a:rPr sz="800" b="1" i="0">
                <a:solidFill>
                  <a:srgbClr val="0A0D1A"/>
                </a:solidFill>
                <a:latin typeface="Calibri"/>
              </a:rPr>
              <a:t>ADAPT</a:t>
            </a:r>
          </a:p>
        </p:txBody>
      </p:sp>
      <p:sp>
        <p:nvSpPr>
          <p:cNvPr id="50" name="TextBox 49"/>
          <p:cNvSpPr txBox="1"/>
          <p:nvPr/>
        </p:nvSpPr>
        <p:spPr>
          <a:xfrm>
            <a:off x="4862322" y="5422392"/>
            <a:ext cx="1337310" cy="1078992"/>
          </a:xfrm>
          <a:prstGeom prst="rect">
            <a:avLst/>
          </a:prstGeom>
          <a:noFill/>
        </p:spPr>
        <p:txBody>
          <a:bodyPr wrap="square">
            <a:spAutoFit/>
          </a:bodyPr>
          <a:lstStyle/>
          <a:p>
            <a:pPr algn="ctr"/>
            <a:r>
              <a:rPr sz="800" b="0" i="0">
                <a:solidFill>
                  <a:srgbClr val="A0AAB8"/>
                </a:solidFill>
                <a:latin typeface="Calibri"/>
              </a:rPr>
              <a:t>Modify tool call
based on diagnosis
+ context</a:t>
            </a:r>
          </a:p>
        </p:txBody>
      </p:sp>
      <p:cxnSp>
        <p:nvCxnSpPr>
          <p:cNvPr id="51" name="Connector 50"/>
          <p:cNvCxnSpPr/>
          <p:nvPr/>
        </p:nvCxnSpPr>
        <p:spPr>
          <a:xfrm>
            <a:off x="4734306.0" y="5852160.0"/>
            <a:ext cx="73152.0" cy="0.0"/>
          </a:xfrm>
          <a:prstGeom prst="line">
            <a:avLst/>
          </a:prstGeom>
          <a:ln w="1524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6309360" y="5166360"/>
            <a:ext cx="850392" cy="1371600"/>
          </a:xfrm>
          <a:prstGeom prst="rect">
            <a:avLst/>
          </a:prstGeom>
          <a:solidFill>
            <a:srgbClr val="220808"/>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309360" y="5166360"/>
            <a:ext cx="850392" cy="2194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09360" y="5193792"/>
            <a:ext cx="850392" cy="182880"/>
          </a:xfrm>
          <a:prstGeom prst="rect">
            <a:avLst/>
          </a:prstGeom>
          <a:noFill/>
        </p:spPr>
        <p:txBody>
          <a:bodyPr wrap="square">
            <a:spAutoFit/>
          </a:bodyPr>
          <a:lstStyle/>
          <a:p>
            <a:pPr algn="ctr"/>
            <a:r>
              <a:rPr sz="800" b="1" i="0">
                <a:solidFill>
                  <a:srgbClr val="0A0D1A"/>
                </a:solidFill>
                <a:latin typeface="Calibri"/>
              </a:rPr>
              <a:t>CAP  (×3 max)</a:t>
            </a:r>
          </a:p>
        </p:txBody>
      </p:sp>
      <p:cxnSp>
        <p:nvCxnSpPr>
          <p:cNvPr id="55" name="Connector 54"/>
          <p:cNvCxnSpPr/>
          <p:nvPr/>
        </p:nvCxnSpPr>
        <p:spPr>
          <a:xfrm>
            <a:off x="6236208.0" y="5852160.0"/>
            <a:ext cx="73152.0" cy="0.0"/>
          </a:xfrm>
          <a:prstGeom prst="line">
            <a:avLst/>
          </a:prstGeom>
          <a:ln w="1524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6364224" y="5422392"/>
            <a:ext cx="758952" cy="1097280"/>
          </a:xfrm>
          <a:prstGeom prst="rect">
            <a:avLst/>
          </a:prstGeom>
          <a:noFill/>
        </p:spPr>
        <p:txBody>
          <a:bodyPr wrap="square">
            <a:spAutoFit/>
          </a:bodyPr>
          <a:lstStyle/>
          <a:p>
            <a:pPr algn="l"/>
            <a:r>
              <a:rPr sz="800" b="0" i="0">
                <a:solidFill>
                  <a:srgbClr val="A0AAB8"/>
                </a:solidFill>
                <a:latin typeface="Calibri"/>
              </a:rPr>
              <a:t>→ Mark ChainStep
   RULED_OUT
→ Write failure
   to ASG node</a:t>
            </a:r>
          </a:p>
        </p:txBody>
      </p:sp>
      <p:cxnSp>
        <p:nvCxnSpPr>
          <p:cNvPr id="57" name="Connector 56"/>
          <p:cNvCxnSpPr/>
          <p:nvPr/>
        </p:nvCxnSpPr>
        <p:spPr>
          <a:xfrm flipH="1">
            <a:off x="1016127.0" y="6537960"/>
            <a:ext cx="4505706.0" cy="0"/>
          </a:xfrm>
          <a:prstGeom prst="line">
            <a:avLst/>
          </a:prstGeom>
          <a:ln w="1270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1730502" y="6537960"/>
            <a:ext cx="2286000" cy="182880"/>
          </a:xfrm>
          <a:prstGeom prst="rect">
            <a:avLst/>
          </a:prstGeom>
          <a:noFill/>
        </p:spPr>
        <p:txBody>
          <a:bodyPr wrap="square">
            <a:spAutoFit/>
          </a:bodyPr>
          <a:lstStyle/>
          <a:p>
            <a:pPr algn="ctr"/>
            <a:r>
              <a:rPr sz="750" b="0" i="1">
                <a:solidFill>
                  <a:srgbClr val="39FF14"/>
                </a:solidFill>
                <a:latin typeface="Calibri"/>
              </a:rPr>
              <a:t>retry (up to cap)</a:t>
            </a:r>
          </a:p>
        </p:txBody>
      </p:sp>
      <p:sp>
        <p:nvSpPr>
          <p:cNvPr id="59" name="Rectangle 58"/>
          <p:cNvSpPr/>
          <p:nvPr/>
        </p:nvSpPr>
        <p:spPr>
          <a:xfrm>
            <a:off x="7388352" y="4846320"/>
            <a:ext cx="4620463" cy="1755648"/>
          </a:xfrm>
          <a:prstGeom prst="rect">
            <a:avLst/>
          </a:prstGeom>
          <a:solidFill>
            <a:srgbClr val="0E0C04"/>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388352" y="4846320"/>
            <a:ext cx="4620463"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88352" y="4882896"/>
            <a:ext cx="4620463" cy="201168"/>
          </a:xfrm>
          <a:prstGeom prst="rect">
            <a:avLst/>
          </a:prstGeom>
          <a:noFill/>
        </p:spPr>
        <p:txBody>
          <a:bodyPr wrap="square">
            <a:spAutoFit/>
          </a:bodyPr>
          <a:lstStyle/>
          <a:p>
            <a:pPr algn="ctr"/>
            <a:r>
              <a:rPr sz="900" b="1" i="0">
                <a:solidFill>
                  <a:srgbClr val="0A0D1A"/>
                </a:solidFill>
                <a:latin typeface="Calibri"/>
              </a:rPr>
              <a:t>Risk Score + Chain Priority</a:t>
            </a:r>
          </a:p>
        </p:txBody>
      </p:sp>
      <p:sp>
        <p:nvSpPr>
          <p:cNvPr id="62" name="TextBox 61"/>
          <p:cNvSpPr txBox="1"/>
          <p:nvPr/>
        </p:nvSpPr>
        <p:spPr>
          <a:xfrm>
            <a:off x="7479792" y="5157216"/>
            <a:ext cx="4455871" cy="256032"/>
          </a:xfrm>
          <a:prstGeom prst="rect">
            <a:avLst/>
          </a:prstGeom>
          <a:noFill/>
        </p:spPr>
        <p:txBody>
          <a:bodyPr wrap="square">
            <a:spAutoFit/>
          </a:bodyPr>
          <a:lstStyle/>
          <a:p>
            <a:pPr algn="l"/>
            <a:r>
              <a:rPr sz="1000" b="1" i="0">
                <a:solidFill>
                  <a:srgbClr val="FFD700"/>
                </a:solidFill>
                <a:latin typeface="Calibri"/>
              </a:rPr>
              <a:t>risk_score = CVSS × Exploitability × Impact</a:t>
            </a:r>
          </a:p>
        </p:txBody>
      </p:sp>
      <p:sp>
        <p:nvSpPr>
          <p:cNvPr id="63" name="TextBox 62"/>
          <p:cNvSpPr txBox="1"/>
          <p:nvPr/>
        </p:nvSpPr>
        <p:spPr>
          <a:xfrm>
            <a:off x="7479792" y="5431536"/>
            <a:ext cx="4455871" cy="502920"/>
          </a:xfrm>
          <a:prstGeom prst="rect">
            <a:avLst/>
          </a:prstGeom>
          <a:noFill/>
        </p:spPr>
        <p:txBody>
          <a:bodyPr wrap="square">
            <a:spAutoFit/>
          </a:bodyPr>
          <a:lstStyle/>
          <a:p>
            <a:pPr algn="l"/>
            <a:r>
              <a:rPr sz="850" b="0" i="0">
                <a:solidFill>
                  <a:srgbClr val="A0AAB8"/>
                </a:solidFill>
                <a:latin typeface="Calibri"/>
              </a:rPr>
              <a:t>Priority = rank across all HYPOTHESIZED + PARTIALLY_VALIDATED chains.
Commander pursues highest-priority chain first — re-ranks on every status change.</a:t>
            </a:r>
          </a:p>
        </p:txBody>
      </p:sp>
      <p:sp>
        <p:nvSpPr>
          <p:cNvPr id="64" name="Rectangle 63"/>
          <p:cNvSpPr/>
          <p:nvPr/>
        </p:nvSpPr>
        <p:spPr>
          <a:xfrm>
            <a:off x="7479792" y="5961888"/>
            <a:ext cx="4455871" cy="237744"/>
          </a:xfrm>
          <a:prstGeom prst="rect">
            <a:avLst/>
          </a:prstGeom>
          <a:solidFill>
            <a:srgbClr val="2218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516368" y="5989320"/>
            <a:ext cx="4391863" cy="201168"/>
          </a:xfrm>
          <a:prstGeom prst="rect">
            <a:avLst/>
          </a:prstGeom>
          <a:noFill/>
        </p:spPr>
        <p:txBody>
          <a:bodyPr wrap="square">
            <a:spAutoFit/>
          </a:bodyPr>
          <a:lstStyle/>
          <a:p>
            <a:pPr algn="l"/>
            <a:r>
              <a:rPr sz="850" b="1" i="0">
                <a:solidFill>
                  <a:srgbClr val="FFD700"/>
                </a:solidFill>
                <a:latin typeface="Calibri"/>
              </a:rPr>
              <a:t>shopvault.io  —  APG Chain Priority Order</a:t>
            </a:r>
          </a:p>
        </p:txBody>
      </p:sp>
      <p:sp>
        <p:nvSpPr>
          <p:cNvPr id="66" name="Rectangle 65"/>
          <p:cNvSpPr/>
          <p:nvPr/>
        </p:nvSpPr>
        <p:spPr>
          <a:xfrm>
            <a:off x="7479792" y="6236208"/>
            <a:ext cx="4455871" cy="347472"/>
          </a:xfrm>
          <a:prstGeom prst="rect">
            <a:avLst/>
          </a:prstGeom>
          <a:solidFill>
            <a:srgbClr val="181202"/>
          </a:solidFill>
          <a:ln w="635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516368" y="6291072"/>
            <a:ext cx="201168" cy="237744"/>
          </a:xfrm>
          <a:prstGeom prst="rect">
            <a:avLst/>
          </a:prstGeom>
          <a:noFill/>
        </p:spPr>
        <p:txBody>
          <a:bodyPr wrap="square">
            <a:spAutoFit/>
          </a:bodyPr>
          <a:lstStyle/>
          <a:p>
            <a:pPr algn="ctr"/>
            <a:r>
              <a:rPr sz="900" b="1" i="0">
                <a:solidFill>
                  <a:srgbClr val="FF4545"/>
                </a:solidFill>
                <a:latin typeface="Calibri"/>
              </a:rPr>
              <a:t>1</a:t>
            </a:r>
          </a:p>
        </p:txBody>
      </p:sp>
      <p:sp>
        <p:nvSpPr>
          <p:cNvPr id="68" name="TextBox 67"/>
          <p:cNvSpPr txBox="1"/>
          <p:nvPr/>
        </p:nvSpPr>
        <p:spPr>
          <a:xfrm>
            <a:off x="7735824" y="6291072"/>
            <a:ext cx="3934663" cy="237744"/>
          </a:xfrm>
          <a:prstGeom prst="rect">
            <a:avLst/>
          </a:prstGeom>
          <a:noFill/>
        </p:spPr>
        <p:txBody>
          <a:bodyPr wrap="square">
            <a:spAutoFit/>
          </a:bodyPr>
          <a:lstStyle/>
          <a:p>
            <a:pPr algn="l"/>
            <a:r>
              <a:rPr sz="850" b="0" i="0">
                <a:solidFill>
                  <a:srgbClr val="A0AAB8"/>
                </a:solidFill>
                <a:latin typeface="Calibri"/>
              </a:rPr>
              <a:t>Chain-01  —  CVE-2022-21661 SQLi → RCE</a:t>
            </a:r>
          </a:p>
        </p:txBody>
      </p:sp>
      <p:sp>
        <p:nvSpPr>
          <p:cNvPr id="69" name="TextBox 68"/>
          <p:cNvSpPr txBox="1"/>
          <p:nvPr/>
        </p:nvSpPr>
        <p:spPr>
          <a:xfrm>
            <a:off x="11505895" y="6291072"/>
            <a:ext cx="384048" cy="237744"/>
          </a:xfrm>
          <a:prstGeom prst="rect">
            <a:avLst/>
          </a:prstGeom>
          <a:noFill/>
        </p:spPr>
        <p:txBody>
          <a:bodyPr wrap="square">
            <a:spAutoFit/>
          </a:bodyPr>
          <a:lstStyle/>
          <a:p>
            <a:pPr algn="r"/>
            <a:r>
              <a:rPr sz="950" b="1" i="0">
                <a:solidFill>
                  <a:srgbClr val="FF4545"/>
                </a:solidFill>
                <a:latin typeface="Calibri"/>
              </a:rPr>
              <a:t>9.1</a:t>
            </a:r>
          </a:p>
        </p:txBody>
      </p:sp>
      <p:sp>
        <p:nvSpPr>
          <p:cNvPr id="70" name="Rectangle 69"/>
          <p:cNvSpPr/>
          <p:nvPr/>
        </p:nvSpPr>
        <p:spPr>
          <a:xfrm>
            <a:off x="7479792" y="6601968"/>
            <a:ext cx="4455871" cy="347472"/>
          </a:xfrm>
          <a:prstGeom prst="rect">
            <a:avLst/>
          </a:prstGeom>
          <a:solidFill>
            <a:srgbClr val="120C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516368" y="6656832"/>
            <a:ext cx="201168" cy="237744"/>
          </a:xfrm>
          <a:prstGeom prst="rect">
            <a:avLst/>
          </a:prstGeom>
          <a:noFill/>
        </p:spPr>
        <p:txBody>
          <a:bodyPr wrap="square">
            <a:spAutoFit/>
          </a:bodyPr>
          <a:lstStyle/>
          <a:p>
            <a:pPr algn="ctr"/>
            <a:r>
              <a:rPr sz="900" b="1" i="0">
                <a:solidFill>
                  <a:srgbClr val="FFD700"/>
                </a:solidFill>
                <a:latin typeface="Calibri"/>
              </a:rPr>
              <a:t>2</a:t>
            </a:r>
          </a:p>
        </p:txBody>
      </p:sp>
      <p:sp>
        <p:nvSpPr>
          <p:cNvPr id="72" name="TextBox 71"/>
          <p:cNvSpPr txBox="1"/>
          <p:nvPr/>
        </p:nvSpPr>
        <p:spPr>
          <a:xfrm>
            <a:off x="7735824" y="6656832"/>
            <a:ext cx="3934663" cy="237744"/>
          </a:xfrm>
          <a:prstGeom prst="rect">
            <a:avLst/>
          </a:prstGeom>
          <a:noFill/>
        </p:spPr>
        <p:txBody>
          <a:bodyPr wrap="square">
            <a:spAutoFit/>
          </a:bodyPr>
          <a:lstStyle/>
          <a:p>
            <a:pPr algn="l"/>
            <a:r>
              <a:rPr sz="850" b="0" i="0">
                <a:solidFill>
                  <a:srgbClr val="A0AAB8"/>
                </a:solidFill>
                <a:latin typeface="Calibri"/>
              </a:rPr>
              <a:t>Chain-03  —  Blind SQLi on staging → DB creds</a:t>
            </a:r>
          </a:p>
        </p:txBody>
      </p:sp>
      <p:sp>
        <p:nvSpPr>
          <p:cNvPr id="73" name="TextBox 72"/>
          <p:cNvSpPr txBox="1"/>
          <p:nvPr/>
        </p:nvSpPr>
        <p:spPr>
          <a:xfrm>
            <a:off x="11505895" y="6656832"/>
            <a:ext cx="384048" cy="237744"/>
          </a:xfrm>
          <a:prstGeom prst="rect">
            <a:avLst/>
          </a:prstGeom>
          <a:noFill/>
        </p:spPr>
        <p:txBody>
          <a:bodyPr wrap="square">
            <a:spAutoFit/>
          </a:bodyPr>
          <a:lstStyle/>
          <a:p>
            <a:pPr algn="r"/>
            <a:r>
              <a:rPr sz="950" b="1" i="0">
                <a:solidFill>
                  <a:srgbClr val="FFD700"/>
                </a:solidFill>
                <a:latin typeface="Calibri"/>
              </a:rPr>
              <a:t>8.1</a:t>
            </a:r>
          </a:p>
        </p:txBody>
      </p:sp>
      <p:sp>
        <p:nvSpPr>
          <p:cNvPr id="74" name="Rectangle 73"/>
          <p:cNvSpPr/>
          <p:nvPr/>
        </p:nvSpPr>
        <p:spPr>
          <a:xfrm>
            <a:off x="7479792" y="6967728"/>
            <a:ext cx="4455871" cy="347472"/>
          </a:xfrm>
          <a:prstGeom prst="rect">
            <a:avLst/>
          </a:prstGeom>
          <a:solidFill>
            <a:srgbClr val="1812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16368" y="7022592"/>
            <a:ext cx="201168" cy="237744"/>
          </a:xfrm>
          <a:prstGeom prst="rect">
            <a:avLst/>
          </a:prstGeom>
          <a:noFill/>
        </p:spPr>
        <p:txBody>
          <a:bodyPr wrap="square">
            <a:spAutoFit/>
          </a:bodyPr>
          <a:lstStyle/>
          <a:p>
            <a:pPr algn="ctr"/>
            <a:r>
              <a:rPr sz="900" b="1" i="0">
                <a:solidFill>
                  <a:srgbClr val="FFD700"/>
                </a:solidFill>
                <a:latin typeface="Calibri"/>
              </a:rPr>
              <a:t>3</a:t>
            </a:r>
          </a:p>
        </p:txBody>
      </p:sp>
      <p:sp>
        <p:nvSpPr>
          <p:cNvPr id="76" name="TextBox 75"/>
          <p:cNvSpPr txBox="1"/>
          <p:nvPr/>
        </p:nvSpPr>
        <p:spPr>
          <a:xfrm>
            <a:off x="7735824" y="7022592"/>
            <a:ext cx="3934663" cy="237744"/>
          </a:xfrm>
          <a:prstGeom prst="rect">
            <a:avLst/>
          </a:prstGeom>
          <a:noFill/>
        </p:spPr>
        <p:txBody>
          <a:bodyPr wrap="square">
            <a:spAutoFit/>
          </a:bodyPr>
          <a:lstStyle/>
          <a:p>
            <a:pPr algn="l"/>
            <a:r>
              <a:rPr sz="850" b="0" i="0">
                <a:solidFill>
                  <a:srgbClr val="A0AAB8"/>
                </a:solidFill>
                <a:latin typeface="Calibri"/>
              </a:rPr>
              <a:t>Chain-02  —  IDOR on /api/v1/orders → PII</a:t>
            </a:r>
          </a:p>
        </p:txBody>
      </p:sp>
      <p:sp>
        <p:nvSpPr>
          <p:cNvPr id="77" name="TextBox 76"/>
          <p:cNvSpPr txBox="1"/>
          <p:nvPr/>
        </p:nvSpPr>
        <p:spPr>
          <a:xfrm>
            <a:off x="11505895" y="7022592"/>
            <a:ext cx="384048" cy="237744"/>
          </a:xfrm>
          <a:prstGeom prst="rect">
            <a:avLst/>
          </a:prstGeom>
          <a:noFill/>
        </p:spPr>
        <p:txBody>
          <a:bodyPr wrap="square">
            <a:spAutoFit/>
          </a:bodyPr>
          <a:lstStyle/>
          <a:p>
            <a:pPr algn="r"/>
            <a:r>
              <a:rPr sz="950" b="1" i="0">
                <a:solidFill>
                  <a:srgbClr val="FFD700"/>
                </a:solidFill>
                <a:latin typeface="Calibri"/>
              </a:rPr>
              <a:t>7.5</a:t>
            </a:r>
          </a:p>
        </p:txBody>
      </p:sp>
      <p:sp>
        <p:nvSpPr>
          <p:cNvPr id="78" name="Rectangle 77"/>
          <p:cNvSpPr/>
          <p:nvPr/>
        </p:nvSpPr>
        <p:spPr>
          <a:xfrm>
            <a:off x="7479792" y="7333488"/>
            <a:ext cx="4455871" cy="347472"/>
          </a:xfrm>
          <a:prstGeom prst="rect">
            <a:avLst/>
          </a:prstGeom>
          <a:solidFill>
            <a:srgbClr val="120C02"/>
          </a:solidFill>
          <a:ln w="635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516368" y="7388352"/>
            <a:ext cx="201168" cy="237744"/>
          </a:xfrm>
          <a:prstGeom prst="rect">
            <a:avLst/>
          </a:prstGeom>
          <a:noFill/>
        </p:spPr>
        <p:txBody>
          <a:bodyPr wrap="square">
            <a:spAutoFit/>
          </a:bodyPr>
          <a:lstStyle/>
          <a:p>
            <a:pPr algn="ctr"/>
            <a:r>
              <a:rPr sz="900" b="1" i="0">
                <a:solidFill>
                  <a:srgbClr val="BD93F9"/>
                </a:solidFill>
                <a:latin typeface="Calibri"/>
              </a:rPr>
              <a:t>4</a:t>
            </a:r>
          </a:p>
        </p:txBody>
      </p:sp>
      <p:sp>
        <p:nvSpPr>
          <p:cNvPr id="80" name="TextBox 79"/>
          <p:cNvSpPr txBox="1"/>
          <p:nvPr/>
        </p:nvSpPr>
        <p:spPr>
          <a:xfrm>
            <a:off x="7735824" y="7388352"/>
            <a:ext cx="3934663" cy="237744"/>
          </a:xfrm>
          <a:prstGeom prst="rect">
            <a:avLst/>
          </a:prstGeom>
          <a:noFill/>
        </p:spPr>
        <p:txBody>
          <a:bodyPr wrap="square">
            <a:spAutoFit/>
          </a:bodyPr>
          <a:lstStyle/>
          <a:p>
            <a:pPr algn="l"/>
            <a:r>
              <a:rPr sz="850" b="0" i="0">
                <a:solidFill>
                  <a:srgbClr val="A0AAB8"/>
                </a:solidFill>
                <a:latin typeface="Calibri"/>
              </a:rPr>
              <a:t>Chain-04  —  Direct DB backup download → PII</a:t>
            </a:r>
          </a:p>
        </p:txBody>
      </p:sp>
      <p:sp>
        <p:nvSpPr>
          <p:cNvPr id="81" name="TextBox 80"/>
          <p:cNvSpPr txBox="1"/>
          <p:nvPr/>
        </p:nvSpPr>
        <p:spPr>
          <a:xfrm>
            <a:off x="11505895" y="7388352"/>
            <a:ext cx="384048" cy="237744"/>
          </a:xfrm>
          <a:prstGeom prst="rect">
            <a:avLst/>
          </a:prstGeom>
          <a:noFill/>
        </p:spPr>
        <p:txBody>
          <a:bodyPr wrap="square">
            <a:spAutoFit/>
          </a:bodyPr>
          <a:lstStyle/>
          <a:p>
            <a:pPr algn="r"/>
            <a:r>
              <a:rPr sz="950" b="1" i="0">
                <a:solidFill>
                  <a:srgbClr val="BD93F9"/>
                </a:solidFill>
                <a:latin typeface="Calibri"/>
              </a:rPr>
              <a:t>triv</a:t>
            </a:r>
          </a:p>
        </p:txBody>
      </p:sp>
      <p:sp>
        <p:nvSpPr>
          <p:cNvPr id="82" name="TextBox 81"/>
          <p:cNvSpPr txBox="1"/>
          <p:nvPr/>
        </p:nvSpPr>
        <p:spPr>
          <a:xfrm>
            <a:off x="11825935" y="6382512"/>
            <a:ext cx="320040" cy="384048"/>
          </a:xfrm>
          <a:prstGeom prst="rect">
            <a:avLst/>
          </a:prstGeom>
          <a:noFill/>
        </p:spPr>
        <p:txBody>
          <a:bodyPr wrap="square">
            <a:spAutoFit/>
          </a:bodyPr>
          <a:lstStyle/>
          <a:p>
            <a:pPr algn="r"/>
            <a:r>
              <a:rPr sz="1300" b="1" i="0">
                <a:solidFill>
                  <a:srgbClr val="FFD700"/>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73152"/>
            <a:ext cx="7315200" cy="274320"/>
          </a:xfrm>
          <a:prstGeom prst="rect">
            <a:avLst/>
          </a:prstGeom>
          <a:noFill/>
        </p:spPr>
        <p:txBody>
          <a:bodyPr wrap="square">
            <a:spAutoFit/>
          </a:bodyPr>
          <a:lstStyle/>
          <a:p>
            <a:pPr algn="ctr"/>
            <a:r>
              <a:rPr sz="1100" b="1" i="0">
                <a:solidFill>
                  <a:srgbClr val="00BFD8"/>
                </a:solidFill>
                <a:latin typeface="Calibri"/>
              </a:rPr>
              <a:t>CROSS-MISSION LEARNING</a:t>
            </a:r>
          </a:p>
        </p:txBody>
      </p:sp>
      <p:sp>
        <p:nvSpPr>
          <p:cNvPr id="6" name="TextBox 5"/>
          <p:cNvSpPr txBox="1"/>
          <p:nvPr/>
        </p:nvSpPr>
        <p:spPr>
          <a:xfrm>
            <a:off x="274320" y="347472"/>
            <a:ext cx="11430000" cy="566928"/>
          </a:xfrm>
          <a:prstGeom prst="rect">
            <a:avLst/>
          </a:prstGeom>
          <a:noFill/>
        </p:spPr>
        <p:txBody>
          <a:bodyPr wrap="square">
            <a:spAutoFit/>
          </a:bodyPr>
          <a:lstStyle/>
          <a:p>
            <a:pPr algn="ctr"/>
            <a:r>
              <a:rPr sz="2600" b="1" i="0">
                <a:solidFill>
                  <a:srgbClr val="FFFFFF"/>
                </a:solidFill>
                <a:latin typeface="Calibri"/>
              </a:rPr>
              <a:t>Experience Store + Attack Strategy Library — CMatrix Gets Smarter Each Mission</a:t>
            </a:r>
          </a:p>
        </p:txBody>
      </p:sp>
      <p:sp>
        <p:nvSpPr>
          <p:cNvPr id="7" name="Rectangle 6"/>
          <p:cNvSpPr/>
          <p:nvPr/>
        </p:nvSpPr>
        <p:spPr>
          <a:xfrm>
            <a:off x="274320" y="914400"/>
            <a:ext cx="6400800" cy="27432"/>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005840"/>
            <a:ext cx="2286000" cy="914400"/>
          </a:xfrm>
          <a:prstGeom prst="rect">
            <a:avLst/>
          </a:prstGeom>
          <a:solidFill>
            <a:srgbClr val="061420"/>
          </a:solidFill>
          <a:ln w="190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143000"/>
            <a:ext cx="2011680" cy="640080"/>
          </a:xfrm>
          <a:prstGeom prst="rect">
            <a:avLst/>
          </a:prstGeom>
          <a:noFill/>
        </p:spPr>
        <p:txBody>
          <a:bodyPr wrap="square">
            <a:spAutoFit/>
          </a:bodyPr>
          <a:lstStyle/>
          <a:p>
            <a:pPr algn="ctr"/>
            <a:r>
              <a:rPr sz="1300" b="1" i="0">
                <a:solidFill>
                  <a:srgbClr val="00E5FF"/>
                </a:solidFill>
                <a:latin typeface="Calibri"/>
              </a:rPr>
              <a:t>Mission N
(completed)</a:t>
            </a:r>
          </a:p>
        </p:txBody>
      </p:sp>
      <p:cxnSp>
        <p:nvCxnSpPr>
          <p:cNvPr id="10" name="Connector 9"/>
          <p:cNvCxnSpPr/>
          <p:nvPr/>
        </p:nvCxnSpPr>
        <p:spPr>
          <a:xfrm>
            <a:off x="2560320" y="1463040.0"/>
            <a:ext cx="1097280" cy="0.0"/>
          </a:xfrm>
          <a:prstGeom prst="line">
            <a:avLst/>
          </a:prstGeom>
          <a:ln w="1905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78608" y="1097280"/>
            <a:ext cx="1024128" cy="685800"/>
          </a:xfrm>
          <a:prstGeom prst="rect">
            <a:avLst/>
          </a:prstGeom>
          <a:noFill/>
        </p:spPr>
        <p:txBody>
          <a:bodyPr wrap="square">
            <a:spAutoFit/>
          </a:bodyPr>
          <a:lstStyle/>
          <a:p>
            <a:pPr algn="ctr"/>
            <a:r>
              <a:rPr sz="850" b="0" i="1">
                <a:solidFill>
                  <a:srgbClr val="A0AAB8"/>
                </a:solidFill>
                <a:latin typeface="Calibri"/>
              </a:rPr>
              <a:t>Report Agent writes
validated chains</a:t>
            </a:r>
          </a:p>
        </p:txBody>
      </p:sp>
      <p:sp>
        <p:nvSpPr>
          <p:cNvPr id="12" name="Rectangle 11"/>
          <p:cNvSpPr/>
          <p:nvPr/>
        </p:nvSpPr>
        <p:spPr>
          <a:xfrm>
            <a:off x="3749039" y="731520"/>
            <a:ext cx="2377440" cy="1463040"/>
          </a:xfrm>
          <a:prstGeom prst="rect">
            <a:avLst/>
          </a:prstGeom>
          <a:solidFill>
            <a:srgbClr val="04201E"/>
          </a:solidFill>
          <a:ln w="2540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58768" y="841248"/>
            <a:ext cx="2148840" cy="457200"/>
          </a:xfrm>
          <a:prstGeom prst="rect">
            <a:avLst/>
          </a:prstGeom>
          <a:noFill/>
        </p:spPr>
        <p:txBody>
          <a:bodyPr wrap="square">
            <a:spAutoFit/>
          </a:bodyPr>
          <a:lstStyle/>
          <a:p>
            <a:pPr algn="ctr"/>
            <a:r>
              <a:rPr sz="1200" b="1" i="0">
                <a:solidFill>
                  <a:srgbClr val="00BFD8"/>
                </a:solidFill>
                <a:latin typeface="Calibri"/>
              </a:rPr>
              <a:t>Cross-Mission
Experience Store</a:t>
            </a:r>
          </a:p>
        </p:txBody>
      </p:sp>
      <p:sp>
        <p:nvSpPr>
          <p:cNvPr id="14" name="TextBox 13"/>
          <p:cNvSpPr txBox="1"/>
          <p:nvPr/>
        </p:nvSpPr>
        <p:spPr>
          <a:xfrm>
            <a:off x="3858768" y="1325880"/>
            <a:ext cx="2148840" cy="365760"/>
          </a:xfrm>
          <a:prstGeom prst="rect">
            <a:avLst/>
          </a:prstGeom>
          <a:noFill/>
        </p:spPr>
        <p:txBody>
          <a:bodyPr wrap="square">
            <a:spAutoFit/>
          </a:bodyPr>
          <a:lstStyle/>
          <a:p>
            <a:pPr algn="ctr"/>
            <a:r>
              <a:rPr sz="900" b="0" i="1">
                <a:solidFill>
                  <a:srgbClr val="A0AAB8"/>
                </a:solidFill>
                <a:latin typeface="Calibri"/>
              </a:rPr>
              <a:t>RAG-backed · persistent
across all missions</a:t>
            </a:r>
          </a:p>
        </p:txBody>
      </p:sp>
      <p:cxnSp>
        <p:nvCxnSpPr>
          <p:cNvPr id="15" name="Connector 14"/>
          <p:cNvCxnSpPr/>
          <p:nvPr/>
        </p:nvCxnSpPr>
        <p:spPr>
          <a:xfrm>
            <a:off x="6126480" y="1463040.0"/>
            <a:ext cx="1097280" cy="0.0"/>
          </a:xfrm>
          <a:prstGeom prst="line">
            <a:avLst/>
          </a:prstGeom>
          <a:ln w="1905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44768" y="1051560"/>
            <a:ext cx="1024128" cy="685800"/>
          </a:xfrm>
          <a:prstGeom prst="rect">
            <a:avLst/>
          </a:prstGeom>
          <a:noFill/>
        </p:spPr>
        <p:txBody>
          <a:bodyPr wrap="square">
            <a:spAutoFit/>
          </a:bodyPr>
          <a:lstStyle/>
          <a:p>
            <a:pPr algn="ctr"/>
            <a:r>
              <a:rPr sz="850" b="0" i="1">
                <a:solidFill>
                  <a:srgbClr val="FFD700"/>
                </a:solidFill>
                <a:latin typeface="Calibri"/>
              </a:rPr>
              <a:t>Crystallize
(&gt;=2 missions)</a:t>
            </a:r>
          </a:p>
        </p:txBody>
      </p:sp>
      <p:sp>
        <p:nvSpPr>
          <p:cNvPr id="17" name="Rectangle 16"/>
          <p:cNvSpPr/>
          <p:nvPr/>
        </p:nvSpPr>
        <p:spPr>
          <a:xfrm>
            <a:off x="7315200" y="731520"/>
            <a:ext cx="2377440" cy="1463040"/>
          </a:xfrm>
          <a:prstGeom prst="rect">
            <a:avLst/>
          </a:prstGeom>
          <a:solidFill>
            <a:srgbClr val="201804"/>
          </a:solidFill>
          <a:ln w="254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24927" y="841248"/>
            <a:ext cx="2148840" cy="457200"/>
          </a:xfrm>
          <a:prstGeom prst="rect">
            <a:avLst/>
          </a:prstGeom>
          <a:noFill/>
        </p:spPr>
        <p:txBody>
          <a:bodyPr wrap="square">
            <a:spAutoFit/>
          </a:bodyPr>
          <a:lstStyle/>
          <a:p>
            <a:pPr algn="ctr"/>
            <a:r>
              <a:rPr sz="1200" b="1" i="0">
                <a:solidFill>
                  <a:srgbClr val="FFD700"/>
                </a:solidFill>
                <a:latin typeface="Calibri"/>
              </a:rPr>
              <a:t>Attack Strategy
Library</a:t>
            </a:r>
          </a:p>
        </p:txBody>
      </p:sp>
      <p:sp>
        <p:nvSpPr>
          <p:cNvPr id="19" name="TextBox 18"/>
          <p:cNvSpPr txBox="1"/>
          <p:nvPr/>
        </p:nvSpPr>
        <p:spPr>
          <a:xfrm>
            <a:off x="7424927" y="1325880"/>
            <a:ext cx="2148840" cy="365760"/>
          </a:xfrm>
          <a:prstGeom prst="rect">
            <a:avLst/>
          </a:prstGeom>
          <a:noFill/>
        </p:spPr>
        <p:txBody>
          <a:bodyPr wrap="square">
            <a:spAutoFit/>
          </a:bodyPr>
          <a:lstStyle/>
          <a:p>
            <a:pPr algn="ctr"/>
            <a:r>
              <a:rPr sz="900" b="0" i="1">
                <a:solidFill>
                  <a:srgbClr val="A0AAB8"/>
                </a:solidFill>
                <a:latin typeface="Calibri"/>
              </a:rPr>
              <a:t>Named strategies · confidence scores
technology-fingerprint indexed</a:t>
            </a:r>
          </a:p>
        </p:txBody>
      </p:sp>
      <p:cxnSp>
        <p:nvCxnSpPr>
          <p:cNvPr id="20" name="Connector 19"/>
          <p:cNvCxnSpPr/>
          <p:nvPr/>
        </p:nvCxnSpPr>
        <p:spPr>
          <a:xfrm>
            <a:off x="9692640" y="1463040.0"/>
            <a:ext cx="1097280" cy="0.0"/>
          </a:xfrm>
          <a:prstGeom prst="line">
            <a:avLst/>
          </a:prstGeom>
          <a:ln w="1905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710928" y="1097280"/>
            <a:ext cx="1024128" cy="685800"/>
          </a:xfrm>
          <a:prstGeom prst="rect">
            <a:avLst/>
          </a:prstGeom>
          <a:noFill/>
        </p:spPr>
        <p:txBody>
          <a:bodyPr wrap="square">
            <a:spAutoFit/>
          </a:bodyPr>
          <a:lstStyle/>
          <a:p>
            <a:pPr algn="ctr"/>
            <a:r>
              <a:rPr sz="850" b="0" i="1">
                <a:solidFill>
                  <a:srgbClr val="A0AAB8"/>
                </a:solidFill>
                <a:latin typeface="Calibri"/>
              </a:rPr>
              <a:t>Pre-ranked seeds
at mission start</a:t>
            </a:r>
          </a:p>
        </p:txBody>
      </p:sp>
      <p:sp>
        <p:nvSpPr>
          <p:cNvPr id="22" name="Rectangle 21"/>
          <p:cNvSpPr/>
          <p:nvPr/>
        </p:nvSpPr>
        <p:spPr>
          <a:xfrm>
            <a:off x="10881360" y="1005840"/>
            <a:ext cx="1143000" cy="914400"/>
          </a:xfrm>
          <a:prstGeom prst="rect">
            <a:avLst/>
          </a:prstGeom>
          <a:solidFill>
            <a:srgbClr val="062010"/>
          </a:solidFill>
          <a:ln w="190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7080" y="1115568"/>
            <a:ext cx="1051560" cy="685800"/>
          </a:xfrm>
          <a:prstGeom prst="rect">
            <a:avLst/>
          </a:prstGeom>
          <a:noFill/>
        </p:spPr>
        <p:txBody>
          <a:bodyPr wrap="square">
            <a:spAutoFit/>
          </a:bodyPr>
          <a:lstStyle/>
          <a:p>
            <a:pPr algn="ctr"/>
            <a:r>
              <a:rPr sz="1200" b="1" i="0">
                <a:solidFill>
                  <a:srgbClr val="39FF14"/>
                </a:solidFill>
                <a:latin typeface="Calibri"/>
              </a:rPr>
              <a:t>Mission
N+1</a:t>
            </a:r>
          </a:p>
        </p:txBody>
      </p:sp>
      <p:cxnSp>
        <p:nvCxnSpPr>
          <p:cNvPr id="24" name="Connector 23"/>
          <p:cNvCxnSpPr/>
          <p:nvPr/>
        </p:nvCxnSpPr>
        <p:spPr>
          <a:xfrm>
            <a:off x="4937760" y="1828800.0"/>
            <a:ext cx="5943600" cy="0.0"/>
          </a:xfrm>
          <a:prstGeom prst="line">
            <a:avLst/>
          </a:prstGeom>
          <a:ln w="19050">
            <a:solidFill>
              <a:srgbClr val="00BFD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35040" y="1865376"/>
            <a:ext cx="3657600" cy="256032"/>
          </a:xfrm>
          <a:prstGeom prst="rect">
            <a:avLst/>
          </a:prstGeom>
          <a:noFill/>
        </p:spPr>
        <p:txBody>
          <a:bodyPr wrap="square">
            <a:spAutoFit/>
          </a:bodyPr>
          <a:lstStyle/>
          <a:p>
            <a:pPr algn="ctr"/>
            <a:r>
              <a:rPr sz="850" b="0" i="1">
                <a:solidFill>
                  <a:srgbClr val="A0AAB8"/>
                </a:solidFill>
                <a:latin typeface="Calibri"/>
              </a:rPr>
              <a:t>Candidate chain hypotheses injected into Commander context</a:t>
            </a:r>
          </a:p>
        </p:txBody>
      </p:sp>
      <p:sp>
        <p:nvSpPr>
          <p:cNvPr id="26" name="Rectangle 25"/>
          <p:cNvSpPr/>
          <p:nvPr/>
        </p:nvSpPr>
        <p:spPr>
          <a:xfrm>
            <a:off x="274320" y="2212848"/>
            <a:ext cx="5669280" cy="4160520"/>
          </a:xfrm>
          <a:prstGeom prst="rect">
            <a:avLst/>
          </a:prstGeom>
          <a:solidFill>
            <a:srgbClr val="041818"/>
          </a:solidFill>
          <a:ln w="190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4320" y="2212848"/>
            <a:ext cx="5669280" cy="365760"/>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4048" y="2267712"/>
            <a:ext cx="5486400" cy="256032"/>
          </a:xfrm>
          <a:prstGeom prst="rect">
            <a:avLst/>
          </a:prstGeom>
          <a:noFill/>
        </p:spPr>
        <p:txBody>
          <a:bodyPr wrap="square">
            <a:spAutoFit/>
          </a:bodyPr>
          <a:lstStyle/>
          <a:p>
            <a:pPr algn="l"/>
            <a:r>
              <a:rPr sz="1200" b="1" i="0">
                <a:solidFill>
                  <a:srgbClr val="0A0D1A"/>
                </a:solidFill>
                <a:latin typeface="Calibri"/>
              </a:rPr>
              <a:t>C10  ·  Cross-Mission Experience Store</a:t>
            </a:r>
          </a:p>
        </p:txBody>
      </p:sp>
      <p:sp>
        <p:nvSpPr>
          <p:cNvPr id="29" name="Rectangle 28"/>
          <p:cNvSpPr/>
          <p:nvPr/>
        </p:nvSpPr>
        <p:spPr>
          <a:xfrm>
            <a:off x="384048" y="2670048"/>
            <a:ext cx="5449824" cy="859536"/>
          </a:xfrm>
          <a:prstGeom prst="rect">
            <a:avLst/>
          </a:prstGeom>
          <a:solidFill>
            <a:srgbClr val="0622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5488" y="2724912"/>
            <a:ext cx="5321808" cy="237744"/>
          </a:xfrm>
          <a:prstGeom prst="rect">
            <a:avLst/>
          </a:prstGeom>
          <a:noFill/>
        </p:spPr>
        <p:txBody>
          <a:bodyPr wrap="square">
            <a:spAutoFit/>
          </a:bodyPr>
          <a:lstStyle/>
          <a:p>
            <a:pPr algn="ctr"/>
            <a:r>
              <a:rPr sz="1100" b="1" i="0">
                <a:solidFill>
                  <a:srgbClr val="00BFD8"/>
                </a:solidFill>
                <a:latin typeface="Calibri"/>
              </a:rPr>
              <a:t>What it stores</a:t>
            </a:r>
          </a:p>
        </p:txBody>
      </p:sp>
      <p:sp>
        <p:nvSpPr>
          <p:cNvPr id="31" name="TextBox 30"/>
          <p:cNvSpPr txBox="1"/>
          <p:nvPr/>
        </p:nvSpPr>
        <p:spPr>
          <a:xfrm>
            <a:off x="475488" y="2980944"/>
            <a:ext cx="5321808" cy="512064"/>
          </a:xfrm>
          <a:prstGeom prst="rect">
            <a:avLst/>
          </a:prstGeom>
          <a:noFill/>
        </p:spPr>
        <p:txBody>
          <a:bodyPr wrap="square">
            <a:spAutoFit/>
          </a:bodyPr>
          <a:lstStyle/>
          <a:p>
            <a:pPr algn="ctr"/>
            <a:r>
              <a:rPr sz="950" b="0" i="0">
                <a:solidFill>
                  <a:srgbClr val="A0AAB8"/>
                </a:solidFill>
                <a:latin typeface="Calibri"/>
              </a:rPr>
              <a:t>Per-mission · per-chain raw records of validated exploitation outcomes.
Target technology fingerprint · CVE · successful tool invocation · ChainStep sequence · mission outcome.</a:t>
            </a:r>
          </a:p>
        </p:txBody>
      </p:sp>
      <p:sp>
        <p:nvSpPr>
          <p:cNvPr id="32" name="Rectangle 31"/>
          <p:cNvSpPr/>
          <p:nvPr/>
        </p:nvSpPr>
        <p:spPr>
          <a:xfrm>
            <a:off x="384048" y="3566160"/>
            <a:ext cx="5449824" cy="859536"/>
          </a:xfrm>
          <a:prstGeom prst="rect">
            <a:avLst/>
          </a:prstGeom>
          <a:solidFill>
            <a:srgbClr val="0622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488" y="3621024"/>
            <a:ext cx="5321808" cy="237744"/>
          </a:xfrm>
          <a:prstGeom prst="rect">
            <a:avLst/>
          </a:prstGeom>
          <a:noFill/>
        </p:spPr>
        <p:txBody>
          <a:bodyPr wrap="square">
            <a:spAutoFit/>
          </a:bodyPr>
          <a:lstStyle/>
          <a:p>
            <a:pPr algn="ctr"/>
            <a:r>
              <a:rPr sz="1100" b="1" i="0">
                <a:solidFill>
                  <a:srgbClr val="00BFD8"/>
                </a:solidFill>
                <a:latin typeface="Calibri"/>
              </a:rPr>
              <a:t>When it's written</a:t>
            </a:r>
          </a:p>
        </p:txBody>
      </p:sp>
      <p:sp>
        <p:nvSpPr>
          <p:cNvPr id="34" name="TextBox 33"/>
          <p:cNvSpPr txBox="1"/>
          <p:nvPr/>
        </p:nvSpPr>
        <p:spPr>
          <a:xfrm>
            <a:off x="475488" y="3877056"/>
            <a:ext cx="5321808" cy="512064"/>
          </a:xfrm>
          <a:prstGeom prst="rect">
            <a:avLst/>
          </a:prstGeom>
          <a:noFill/>
        </p:spPr>
        <p:txBody>
          <a:bodyPr wrap="square">
            <a:spAutoFit/>
          </a:bodyPr>
          <a:lstStyle/>
          <a:p>
            <a:pPr algn="ctr"/>
            <a:r>
              <a:rPr sz="950" b="0" i="0">
                <a:solidFill>
                  <a:srgbClr val="A0AAB8"/>
                </a:solidFill>
                <a:latin typeface="Calibri"/>
              </a:rPr>
              <a:t>Report Agent writes one entry for every chain with terminal status VALIDATED at mission close.</a:t>
            </a:r>
          </a:p>
        </p:txBody>
      </p:sp>
      <p:sp>
        <p:nvSpPr>
          <p:cNvPr id="35" name="Rectangle 34"/>
          <p:cNvSpPr/>
          <p:nvPr/>
        </p:nvSpPr>
        <p:spPr>
          <a:xfrm>
            <a:off x="384048" y="4462272"/>
            <a:ext cx="5449824" cy="859536"/>
          </a:xfrm>
          <a:prstGeom prst="rect">
            <a:avLst/>
          </a:prstGeom>
          <a:solidFill>
            <a:srgbClr val="0622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5488" y="4517136"/>
            <a:ext cx="5321808" cy="237744"/>
          </a:xfrm>
          <a:prstGeom prst="rect">
            <a:avLst/>
          </a:prstGeom>
          <a:noFill/>
        </p:spPr>
        <p:txBody>
          <a:bodyPr wrap="square">
            <a:spAutoFit/>
          </a:bodyPr>
          <a:lstStyle/>
          <a:p>
            <a:pPr algn="ctr"/>
            <a:r>
              <a:rPr sz="1100" b="1" i="0">
                <a:solidFill>
                  <a:srgbClr val="00BFD8"/>
                </a:solidFill>
                <a:latin typeface="Calibri"/>
              </a:rPr>
              <a:t>When it's read</a:t>
            </a:r>
          </a:p>
        </p:txBody>
      </p:sp>
      <p:sp>
        <p:nvSpPr>
          <p:cNvPr id="37" name="TextBox 36"/>
          <p:cNvSpPr txBox="1"/>
          <p:nvPr/>
        </p:nvSpPr>
        <p:spPr>
          <a:xfrm>
            <a:off x="475488" y="4773168"/>
            <a:ext cx="5321808" cy="512064"/>
          </a:xfrm>
          <a:prstGeom prst="rect">
            <a:avLst/>
          </a:prstGeom>
          <a:noFill/>
        </p:spPr>
        <p:txBody>
          <a:bodyPr wrap="square">
            <a:spAutoFit/>
          </a:bodyPr>
          <a:lstStyle/>
          <a:p>
            <a:pPr algn="ctr"/>
            <a:r>
              <a:rPr sz="950" b="0" i="0">
                <a:solidFill>
                  <a:srgbClr val="A0AAB8"/>
                </a:solidFill>
                <a:latin typeface="Calibri"/>
              </a:rPr>
              <a:t>Commander queries immediately after Recon Agent writes first Technology nodes to ASG — before Analysis begins. Retrieved records become candidate chain hypotheses.</a:t>
            </a:r>
          </a:p>
        </p:txBody>
      </p:sp>
      <p:sp>
        <p:nvSpPr>
          <p:cNvPr id="38" name="Rectangle 37"/>
          <p:cNvSpPr/>
          <p:nvPr/>
        </p:nvSpPr>
        <p:spPr>
          <a:xfrm>
            <a:off x="384048" y="5358384"/>
            <a:ext cx="5449824" cy="859536"/>
          </a:xfrm>
          <a:prstGeom prst="rect">
            <a:avLst/>
          </a:prstGeom>
          <a:solidFill>
            <a:srgbClr val="0622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5488" y="5413248"/>
            <a:ext cx="5321808" cy="237744"/>
          </a:xfrm>
          <a:prstGeom prst="rect">
            <a:avLst/>
          </a:prstGeom>
          <a:noFill/>
        </p:spPr>
        <p:txBody>
          <a:bodyPr wrap="square">
            <a:spAutoFit/>
          </a:bodyPr>
          <a:lstStyle/>
          <a:p>
            <a:pPr algn="ctr"/>
            <a:r>
              <a:rPr sz="1100" b="1" i="0">
                <a:solidFill>
                  <a:srgbClr val="00BFD8"/>
                </a:solidFill>
                <a:latin typeface="Calibri"/>
              </a:rPr>
              <a:t>Research origin</a:t>
            </a:r>
          </a:p>
        </p:txBody>
      </p:sp>
      <p:sp>
        <p:nvSpPr>
          <p:cNvPr id="40" name="TextBox 39"/>
          <p:cNvSpPr txBox="1"/>
          <p:nvPr/>
        </p:nvSpPr>
        <p:spPr>
          <a:xfrm>
            <a:off x="475488" y="5669280"/>
            <a:ext cx="5321808" cy="512064"/>
          </a:xfrm>
          <a:prstGeom prst="rect">
            <a:avLst/>
          </a:prstGeom>
          <a:noFill/>
        </p:spPr>
        <p:txBody>
          <a:bodyPr wrap="square">
            <a:spAutoFit/>
          </a:bodyPr>
          <a:lstStyle/>
          <a:p>
            <a:pPr algn="ctr"/>
            <a:r>
              <a:rPr sz="950" b="0" i="0">
                <a:solidFill>
                  <a:srgbClr val="A0AAB8"/>
                </a:solidFill>
                <a:latin typeface="Calibri"/>
              </a:rPr>
              <a:t>Generalizes AutoAttacker's within-mission experience-reuse mechanism to cross-mission scope. AutoAttacker reuses subtasks within one session; CMatrix accumulates across every mission ever run.</a:t>
            </a:r>
          </a:p>
        </p:txBody>
      </p:sp>
      <p:sp>
        <p:nvSpPr>
          <p:cNvPr id="41" name="Rectangle 40"/>
          <p:cNvSpPr/>
          <p:nvPr/>
        </p:nvSpPr>
        <p:spPr>
          <a:xfrm>
            <a:off x="6172200" y="2212848"/>
            <a:ext cx="5833872" cy="4160520"/>
          </a:xfrm>
          <a:prstGeom prst="rect">
            <a:avLst/>
          </a:prstGeom>
          <a:solidFill>
            <a:srgbClr val="1C1404"/>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72200" y="2212848"/>
            <a:ext cx="5833872" cy="36576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81928" y="2267712"/>
            <a:ext cx="5650992" cy="256032"/>
          </a:xfrm>
          <a:prstGeom prst="rect">
            <a:avLst/>
          </a:prstGeom>
          <a:noFill/>
        </p:spPr>
        <p:txBody>
          <a:bodyPr wrap="square">
            <a:spAutoFit/>
          </a:bodyPr>
          <a:lstStyle/>
          <a:p>
            <a:pPr algn="ctr"/>
            <a:r>
              <a:rPr sz="1200" b="1" i="0">
                <a:solidFill>
                  <a:srgbClr val="0A0D1A"/>
                </a:solidFill>
                <a:latin typeface="Calibri"/>
              </a:rPr>
              <a:t>C11  ·  Attack Strategy Library</a:t>
            </a:r>
          </a:p>
        </p:txBody>
      </p:sp>
      <p:sp>
        <p:nvSpPr>
          <p:cNvPr id="44" name="Rectangle 43"/>
          <p:cNvSpPr/>
          <p:nvPr/>
        </p:nvSpPr>
        <p:spPr>
          <a:xfrm>
            <a:off x="6281928" y="2670048"/>
            <a:ext cx="5614416" cy="859536"/>
          </a:xfrm>
          <a:prstGeom prst="rect">
            <a:avLst/>
          </a:prstGeom>
          <a:solidFill>
            <a:srgbClr val="22180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73368" y="2724912"/>
            <a:ext cx="5486400" cy="237744"/>
          </a:xfrm>
          <a:prstGeom prst="rect">
            <a:avLst/>
          </a:prstGeom>
          <a:noFill/>
        </p:spPr>
        <p:txBody>
          <a:bodyPr wrap="square">
            <a:spAutoFit/>
          </a:bodyPr>
          <a:lstStyle/>
          <a:p>
            <a:pPr algn="ctr"/>
            <a:r>
              <a:rPr sz="1100" b="1" i="0">
                <a:solidFill>
                  <a:srgbClr val="FFD700"/>
                </a:solidFill>
                <a:latin typeface="Calibri"/>
              </a:rPr>
              <a:t>What it stores</a:t>
            </a:r>
          </a:p>
        </p:txBody>
      </p:sp>
      <p:sp>
        <p:nvSpPr>
          <p:cNvPr id="46" name="TextBox 45"/>
          <p:cNvSpPr txBox="1"/>
          <p:nvPr/>
        </p:nvSpPr>
        <p:spPr>
          <a:xfrm>
            <a:off x="6373368" y="2980944"/>
            <a:ext cx="5486400" cy="512064"/>
          </a:xfrm>
          <a:prstGeom prst="rect">
            <a:avLst/>
          </a:prstGeom>
          <a:noFill/>
        </p:spPr>
        <p:txBody>
          <a:bodyPr wrap="square">
            <a:spAutoFit/>
          </a:bodyPr>
          <a:lstStyle/>
          <a:p>
            <a:pPr algn="ctr"/>
            <a:r>
              <a:rPr sz="950" b="0" i="0">
                <a:solidFill>
                  <a:srgbClr val="A0AAB8"/>
                </a:solidFill>
                <a:latin typeface="Calibri"/>
              </a:rPr>
              <a:t>Generalized attack procedures distilled from multiple validated outcomes against the same target technology class. Named strategies (e.g. STRAT-WP-SQLI-001) with confidence scores.</a:t>
            </a:r>
          </a:p>
        </p:txBody>
      </p:sp>
      <p:sp>
        <p:nvSpPr>
          <p:cNvPr id="47" name="Rectangle 46"/>
          <p:cNvSpPr/>
          <p:nvPr/>
        </p:nvSpPr>
        <p:spPr>
          <a:xfrm>
            <a:off x="6281928" y="3566160"/>
            <a:ext cx="5614416" cy="859536"/>
          </a:xfrm>
          <a:prstGeom prst="rect">
            <a:avLst/>
          </a:prstGeom>
          <a:solidFill>
            <a:srgbClr val="22180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73368" y="3621024"/>
            <a:ext cx="5486400" cy="237744"/>
          </a:xfrm>
          <a:prstGeom prst="rect">
            <a:avLst/>
          </a:prstGeom>
          <a:noFill/>
        </p:spPr>
        <p:txBody>
          <a:bodyPr wrap="square">
            <a:spAutoFit/>
          </a:bodyPr>
          <a:lstStyle/>
          <a:p>
            <a:pPr algn="ctr"/>
            <a:r>
              <a:rPr sz="1100" b="1" i="0">
                <a:solidFill>
                  <a:srgbClr val="FFD700"/>
                </a:solidFill>
                <a:latin typeface="Calibri"/>
              </a:rPr>
              <a:t>Crystallization threshold</a:t>
            </a:r>
          </a:p>
        </p:txBody>
      </p:sp>
      <p:sp>
        <p:nvSpPr>
          <p:cNvPr id="49" name="TextBox 48"/>
          <p:cNvSpPr txBox="1"/>
          <p:nvPr/>
        </p:nvSpPr>
        <p:spPr>
          <a:xfrm>
            <a:off x="6373368" y="3877056"/>
            <a:ext cx="5486400" cy="512064"/>
          </a:xfrm>
          <a:prstGeom prst="rect">
            <a:avLst/>
          </a:prstGeom>
          <a:noFill/>
        </p:spPr>
        <p:txBody>
          <a:bodyPr wrap="square">
            <a:spAutoFit/>
          </a:bodyPr>
          <a:lstStyle/>
          <a:p>
            <a:pPr algn="ctr"/>
            <a:r>
              <a:rPr sz="950" b="0" i="0">
                <a:solidFill>
                  <a:srgbClr val="A0AAB8"/>
                </a:solidFill>
                <a:latin typeface="Calibri"/>
              </a:rPr>
              <a:t>Same technology fingerprint (e.g. WordPress 5.x + WooCommerce + Nginx) produces validated AttackChain in 2 or more independent missions → Commander triggers crystallization.</a:t>
            </a:r>
          </a:p>
        </p:txBody>
      </p:sp>
      <p:sp>
        <p:nvSpPr>
          <p:cNvPr id="50" name="Rectangle 49"/>
          <p:cNvSpPr/>
          <p:nvPr/>
        </p:nvSpPr>
        <p:spPr>
          <a:xfrm>
            <a:off x="6281928" y="4462272"/>
            <a:ext cx="5614416" cy="859536"/>
          </a:xfrm>
          <a:prstGeom prst="rect">
            <a:avLst/>
          </a:prstGeom>
          <a:solidFill>
            <a:srgbClr val="22180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73368" y="4517136"/>
            <a:ext cx="5486400" cy="237744"/>
          </a:xfrm>
          <a:prstGeom prst="rect">
            <a:avLst/>
          </a:prstGeom>
          <a:noFill/>
        </p:spPr>
        <p:txBody>
          <a:bodyPr wrap="square">
            <a:spAutoFit/>
          </a:bodyPr>
          <a:lstStyle/>
          <a:p>
            <a:pPr algn="ctr"/>
            <a:r>
              <a:rPr sz="1100" b="1" i="0">
                <a:solidFill>
                  <a:srgbClr val="FFD700"/>
                </a:solidFill>
                <a:latin typeface="Calibri"/>
              </a:rPr>
              <a:t>When it's used</a:t>
            </a:r>
          </a:p>
        </p:txBody>
      </p:sp>
      <p:sp>
        <p:nvSpPr>
          <p:cNvPr id="52" name="TextBox 51"/>
          <p:cNvSpPr txBox="1"/>
          <p:nvPr/>
        </p:nvSpPr>
        <p:spPr>
          <a:xfrm>
            <a:off x="6373368" y="4773168"/>
            <a:ext cx="5486400" cy="512064"/>
          </a:xfrm>
          <a:prstGeom prst="rect">
            <a:avLst/>
          </a:prstGeom>
          <a:noFill/>
        </p:spPr>
        <p:txBody>
          <a:bodyPr wrap="square">
            <a:spAutoFit/>
          </a:bodyPr>
          <a:lstStyle/>
          <a:p>
            <a:pPr algn="ctr"/>
            <a:r>
              <a:rPr sz="950" b="0" i="0">
                <a:solidFill>
                  <a:srgbClr val="A0AAB8"/>
                </a:solidFill>
                <a:latin typeface="Calibri"/>
              </a:rPr>
              <a:t>Retrieved at mission start. Strategies are injected as pre-ranked APG AttackChain seeds — prioritized above zero-prior chains because they carry validated track record.</a:t>
            </a:r>
          </a:p>
        </p:txBody>
      </p:sp>
      <p:sp>
        <p:nvSpPr>
          <p:cNvPr id="53" name="Rectangle 52"/>
          <p:cNvSpPr/>
          <p:nvPr/>
        </p:nvSpPr>
        <p:spPr>
          <a:xfrm>
            <a:off x="6281928" y="5358384"/>
            <a:ext cx="5614416" cy="859536"/>
          </a:xfrm>
          <a:prstGeom prst="rect">
            <a:avLst/>
          </a:prstGeom>
          <a:solidFill>
            <a:srgbClr val="22180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3368" y="5413248"/>
            <a:ext cx="5486400" cy="237744"/>
          </a:xfrm>
          <a:prstGeom prst="rect">
            <a:avLst/>
          </a:prstGeom>
          <a:noFill/>
        </p:spPr>
        <p:txBody>
          <a:bodyPr wrap="square">
            <a:spAutoFit/>
          </a:bodyPr>
          <a:lstStyle/>
          <a:p>
            <a:pPr algn="ctr"/>
            <a:r>
              <a:rPr sz="1100" b="1" i="0">
                <a:solidFill>
                  <a:srgbClr val="FFD700"/>
                </a:solidFill>
                <a:latin typeface="Calibri"/>
              </a:rPr>
              <a:t>Why it matters</a:t>
            </a:r>
          </a:p>
        </p:txBody>
      </p:sp>
      <p:sp>
        <p:nvSpPr>
          <p:cNvPr id="55" name="TextBox 54"/>
          <p:cNvSpPr txBox="1"/>
          <p:nvPr/>
        </p:nvSpPr>
        <p:spPr>
          <a:xfrm>
            <a:off x="6373368" y="5669280"/>
            <a:ext cx="5486400" cy="512064"/>
          </a:xfrm>
          <a:prstGeom prst="rect">
            <a:avLst/>
          </a:prstGeom>
          <a:noFill/>
        </p:spPr>
        <p:txBody>
          <a:bodyPr wrap="square">
            <a:spAutoFit/>
          </a:bodyPr>
          <a:lstStyle/>
          <a:p>
            <a:pPr algn="ctr"/>
            <a:r>
              <a:rPr sz="950" b="0" i="0">
                <a:solidFill>
                  <a:srgbClr val="A0AAB8"/>
                </a:solidFill>
                <a:latin typeface="Calibri"/>
              </a:rPr>
              <a:t>No existing autonomous VAPT system accumulates and generalizes validated exploitation procedures across sessions. Every prior system resets to zero knowledge on each mission. CMatrix's library makes it measurably more efficient on repeat target-type engagements.</a:t>
            </a:r>
          </a:p>
        </p:txBody>
      </p:sp>
      <p:sp>
        <p:nvSpPr>
          <p:cNvPr id="56" name="TextBox 55"/>
          <p:cNvSpPr txBox="1"/>
          <p:nvPr/>
        </p:nvSpPr>
        <p:spPr>
          <a:xfrm>
            <a:off x="11825935" y="6355080"/>
            <a:ext cx="320040" cy="411480"/>
          </a:xfrm>
          <a:prstGeom prst="rect">
            <a:avLst/>
          </a:prstGeom>
          <a:noFill/>
        </p:spPr>
        <p:txBody>
          <a:bodyPr wrap="square">
            <a:spAutoFit/>
          </a:bodyPr>
          <a:lstStyle/>
          <a:p>
            <a:pPr algn="r"/>
            <a:r>
              <a:rPr sz="1300" b="1" i="0">
                <a:solidFill>
                  <a:srgbClr val="00BFD8"/>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54864"/>
            <a:ext cx="7315200" cy="274320"/>
          </a:xfrm>
          <a:prstGeom prst="rect">
            <a:avLst/>
          </a:prstGeom>
          <a:noFill/>
        </p:spPr>
        <p:txBody>
          <a:bodyPr wrap="square">
            <a:spAutoFit/>
          </a:bodyPr>
          <a:lstStyle/>
          <a:p>
            <a:pPr algn="ctr"/>
            <a:r>
              <a:rPr sz="1100" b="1" i="0">
                <a:solidFill>
                  <a:srgbClr val="00E5FF"/>
                </a:solidFill>
                <a:latin typeface="Calibri"/>
              </a:rPr>
              <a:t>RESEARCH CONTRIBUTIONS</a:t>
            </a:r>
          </a:p>
        </p:txBody>
      </p:sp>
      <p:sp>
        <p:nvSpPr>
          <p:cNvPr id="6" name="TextBox 5"/>
          <p:cNvSpPr txBox="1"/>
          <p:nvPr/>
        </p:nvSpPr>
        <p:spPr>
          <a:xfrm>
            <a:off x="274320" y="329184"/>
            <a:ext cx="11430000" cy="548640"/>
          </a:xfrm>
          <a:prstGeom prst="rect">
            <a:avLst/>
          </a:prstGeom>
          <a:noFill/>
        </p:spPr>
        <p:txBody>
          <a:bodyPr wrap="square">
            <a:spAutoFit/>
          </a:bodyPr>
          <a:lstStyle/>
          <a:p>
            <a:pPr algn="ctr"/>
            <a:r>
              <a:rPr sz="2800" b="1" i="0">
                <a:solidFill>
                  <a:srgbClr val="FFFFFF"/>
                </a:solidFill>
                <a:latin typeface="Calibri"/>
              </a:rPr>
              <a:t>12 Novel Contributions — What CMatrix Adds to the Literature</a:t>
            </a:r>
          </a:p>
        </p:txBody>
      </p:sp>
      <p:sp>
        <p:nvSpPr>
          <p:cNvPr id="7" name="Rectangle 6"/>
          <p:cNvSpPr/>
          <p:nvPr/>
        </p:nvSpPr>
        <p:spPr>
          <a:xfrm>
            <a:off x="274320" y="896112"/>
            <a:ext cx="6400800" cy="27432"/>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987552"/>
            <a:ext cx="5897880" cy="448056"/>
          </a:xfrm>
          <a:prstGeom prst="rect">
            <a:avLst/>
          </a:prstGeom>
          <a:solidFill>
            <a:srgbClr val="0C1426"/>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987552"/>
            <a:ext cx="438912" cy="4480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2608" y="1074420"/>
            <a:ext cx="402336" cy="274320"/>
          </a:xfrm>
          <a:prstGeom prst="rect">
            <a:avLst/>
          </a:prstGeom>
          <a:noFill/>
        </p:spPr>
        <p:txBody>
          <a:bodyPr wrap="square">
            <a:spAutoFit/>
          </a:bodyPr>
          <a:lstStyle/>
          <a:p>
            <a:pPr algn="ctr"/>
            <a:r>
              <a:rPr sz="1000" b="1" i="0">
                <a:solidFill>
                  <a:srgbClr val="0A0D1A"/>
                </a:solidFill>
                <a:latin typeface="Calibri"/>
              </a:rPr>
              <a:t>C1</a:t>
            </a:r>
          </a:p>
        </p:txBody>
      </p:sp>
      <p:sp>
        <p:nvSpPr>
          <p:cNvPr id="11" name="TextBox 10"/>
          <p:cNvSpPr txBox="1"/>
          <p:nvPr/>
        </p:nvSpPr>
        <p:spPr>
          <a:xfrm>
            <a:off x="804672" y="1024128"/>
            <a:ext cx="5321808" cy="201168"/>
          </a:xfrm>
          <a:prstGeom prst="rect">
            <a:avLst/>
          </a:prstGeom>
          <a:noFill/>
        </p:spPr>
        <p:txBody>
          <a:bodyPr wrap="square">
            <a:spAutoFit/>
          </a:bodyPr>
          <a:lstStyle/>
          <a:p>
            <a:pPr algn="ctr"/>
            <a:r>
              <a:rPr sz="1050" b="1" i="0">
                <a:solidFill>
                  <a:srgbClr val="FFFFFF"/>
                </a:solidFill>
                <a:latin typeface="Calibri"/>
              </a:rPr>
              <a:t>Dual-Graph World Model</a:t>
            </a:r>
          </a:p>
        </p:txBody>
      </p:sp>
      <p:sp>
        <p:nvSpPr>
          <p:cNvPr id="12" name="TextBox 11"/>
          <p:cNvSpPr txBox="1"/>
          <p:nvPr/>
        </p:nvSpPr>
        <p:spPr>
          <a:xfrm>
            <a:off x="804672" y="1234440"/>
            <a:ext cx="5321808" cy="182880"/>
          </a:xfrm>
          <a:prstGeom prst="rect">
            <a:avLst/>
          </a:prstGeom>
          <a:noFill/>
        </p:spPr>
        <p:txBody>
          <a:bodyPr wrap="square">
            <a:spAutoFit/>
          </a:bodyPr>
          <a:lstStyle/>
          <a:p>
            <a:pPr algn="ctr"/>
            <a:r>
              <a:rPr sz="880" b="0" i="0">
                <a:solidFill>
                  <a:srgbClr val="A0AAB8"/>
                </a:solidFill>
                <a:latin typeface="Calibri"/>
              </a:rPr>
              <a:t>ASG (discovered reality) + APG (inferred opportunity) — strict write ownership. No prior system separates these.</a:t>
            </a:r>
          </a:p>
        </p:txBody>
      </p:sp>
      <p:sp>
        <p:nvSpPr>
          <p:cNvPr id="13" name="Rectangle 12"/>
          <p:cNvSpPr/>
          <p:nvPr/>
        </p:nvSpPr>
        <p:spPr>
          <a:xfrm>
            <a:off x="274320" y="1485900"/>
            <a:ext cx="5897880" cy="448056"/>
          </a:xfrm>
          <a:prstGeom prst="rect">
            <a:avLst/>
          </a:prstGeom>
          <a:solidFill>
            <a:srgbClr val="10162B"/>
          </a:solidFill>
          <a:ln w="889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4320" y="1485900"/>
            <a:ext cx="438912" cy="4480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2608" y="1572768"/>
            <a:ext cx="402336" cy="274320"/>
          </a:xfrm>
          <a:prstGeom prst="rect">
            <a:avLst/>
          </a:prstGeom>
          <a:noFill/>
        </p:spPr>
        <p:txBody>
          <a:bodyPr wrap="square">
            <a:spAutoFit/>
          </a:bodyPr>
          <a:lstStyle/>
          <a:p>
            <a:pPr algn="ctr"/>
            <a:r>
              <a:rPr sz="1000" b="1" i="0">
                <a:solidFill>
                  <a:srgbClr val="0A0D1A"/>
                </a:solidFill>
                <a:latin typeface="Calibri"/>
              </a:rPr>
              <a:t>C2</a:t>
            </a:r>
          </a:p>
        </p:txBody>
      </p:sp>
      <p:sp>
        <p:nvSpPr>
          <p:cNvPr id="16" name="TextBox 15"/>
          <p:cNvSpPr txBox="1"/>
          <p:nvPr/>
        </p:nvSpPr>
        <p:spPr>
          <a:xfrm>
            <a:off x="804672" y="1522476"/>
            <a:ext cx="5321808" cy="201168"/>
          </a:xfrm>
          <a:prstGeom prst="rect">
            <a:avLst/>
          </a:prstGeom>
          <a:noFill/>
        </p:spPr>
        <p:txBody>
          <a:bodyPr wrap="square">
            <a:spAutoFit/>
          </a:bodyPr>
          <a:lstStyle/>
          <a:p>
            <a:pPr algn="ctr"/>
            <a:r>
              <a:rPr sz="1050" b="1" i="0">
                <a:solidFill>
                  <a:srgbClr val="FFFFFF"/>
                </a:solidFill>
                <a:latin typeface="Calibri"/>
              </a:rPr>
              <a:t>Graph-State-Driven Re-Planning</a:t>
            </a:r>
          </a:p>
        </p:txBody>
      </p:sp>
      <p:sp>
        <p:nvSpPr>
          <p:cNvPr id="17" name="TextBox 16"/>
          <p:cNvSpPr txBox="1"/>
          <p:nvPr/>
        </p:nvSpPr>
        <p:spPr>
          <a:xfrm>
            <a:off x="804672" y="1732788"/>
            <a:ext cx="5321808" cy="182880"/>
          </a:xfrm>
          <a:prstGeom prst="rect">
            <a:avLst/>
          </a:prstGeom>
          <a:noFill/>
        </p:spPr>
        <p:txBody>
          <a:bodyPr wrap="square">
            <a:spAutoFit/>
          </a:bodyPr>
          <a:lstStyle/>
          <a:p>
            <a:pPr algn="ctr"/>
            <a:r>
              <a:rPr sz="880" b="0" i="0">
                <a:solidFill>
                  <a:srgbClr val="A0AAB8"/>
                </a:solidFill>
                <a:latin typeface="Calibri"/>
              </a:rPr>
              <a:t>Re-planning triggered by explicit ASG/APG state changes, not fixed task-queue depletion.</a:t>
            </a:r>
          </a:p>
        </p:txBody>
      </p:sp>
      <p:sp>
        <p:nvSpPr>
          <p:cNvPr id="18" name="Rectangle 17"/>
          <p:cNvSpPr/>
          <p:nvPr/>
        </p:nvSpPr>
        <p:spPr>
          <a:xfrm>
            <a:off x="274320" y="1984248"/>
            <a:ext cx="5897880" cy="448056"/>
          </a:xfrm>
          <a:prstGeom prst="rect">
            <a:avLst/>
          </a:prstGeom>
          <a:solidFill>
            <a:srgbClr val="0C1426"/>
          </a:solidFill>
          <a:ln w="889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 y="1984248"/>
            <a:ext cx="438912" cy="4480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2608" y="2071116"/>
            <a:ext cx="402336" cy="274320"/>
          </a:xfrm>
          <a:prstGeom prst="rect">
            <a:avLst/>
          </a:prstGeom>
          <a:noFill/>
        </p:spPr>
        <p:txBody>
          <a:bodyPr wrap="square">
            <a:spAutoFit/>
          </a:bodyPr>
          <a:lstStyle/>
          <a:p>
            <a:pPr algn="ctr"/>
            <a:r>
              <a:rPr sz="1000" b="1" i="0">
                <a:solidFill>
                  <a:srgbClr val="0A0D1A"/>
                </a:solidFill>
                <a:latin typeface="Calibri"/>
              </a:rPr>
              <a:t>C3</a:t>
            </a:r>
          </a:p>
        </p:txBody>
      </p:sp>
      <p:sp>
        <p:nvSpPr>
          <p:cNvPr id="21" name="TextBox 20"/>
          <p:cNvSpPr txBox="1"/>
          <p:nvPr/>
        </p:nvSpPr>
        <p:spPr>
          <a:xfrm>
            <a:off x="804672" y="2020824"/>
            <a:ext cx="5321808" cy="201168"/>
          </a:xfrm>
          <a:prstGeom prst="rect">
            <a:avLst/>
          </a:prstGeom>
          <a:noFill/>
        </p:spPr>
        <p:txBody>
          <a:bodyPr wrap="square">
            <a:spAutoFit/>
          </a:bodyPr>
          <a:lstStyle/>
          <a:p>
            <a:pPr algn="ctr"/>
            <a:r>
              <a:rPr sz="1050" b="1" i="0">
                <a:solidFill>
                  <a:srgbClr val="FFFFFF"/>
                </a:solidFill>
                <a:latin typeface="Calibri"/>
              </a:rPr>
              <a:t>APG Attack Chain Lifecycle + Evidence Traceability</a:t>
            </a:r>
          </a:p>
        </p:txBody>
      </p:sp>
      <p:sp>
        <p:nvSpPr>
          <p:cNvPr id="22" name="TextBox 21"/>
          <p:cNvSpPr txBox="1"/>
          <p:nvPr/>
        </p:nvSpPr>
        <p:spPr>
          <a:xfrm>
            <a:off x="804672" y="2231136"/>
            <a:ext cx="5321808" cy="182880"/>
          </a:xfrm>
          <a:prstGeom prst="rect">
            <a:avLst/>
          </a:prstGeom>
          <a:noFill/>
        </p:spPr>
        <p:txBody>
          <a:bodyPr wrap="square">
            <a:spAutoFit/>
          </a:bodyPr>
          <a:lstStyle/>
          <a:p>
            <a:pPr algn="ctr"/>
            <a:r>
              <a:rPr sz="880" b="0" i="0">
                <a:solidFill>
                  <a:srgbClr val="A0AAB8"/>
                </a:solidFill>
                <a:latin typeface="Calibri"/>
              </a:rPr>
              <a:t>Chains as first-class entities: risk-scored, lifecycle-tracked, every ChainStep linked to ASG Evidence.</a:t>
            </a:r>
          </a:p>
        </p:txBody>
      </p:sp>
      <p:sp>
        <p:nvSpPr>
          <p:cNvPr id="23" name="Rectangle 22"/>
          <p:cNvSpPr/>
          <p:nvPr/>
        </p:nvSpPr>
        <p:spPr>
          <a:xfrm>
            <a:off x="274320" y="2482596"/>
            <a:ext cx="5897880" cy="448056"/>
          </a:xfrm>
          <a:prstGeom prst="rect">
            <a:avLst/>
          </a:prstGeom>
          <a:solidFill>
            <a:srgbClr val="10162B"/>
          </a:solidFill>
          <a:ln w="889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4320" y="2482596"/>
            <a:ext cx="438912" cy="44805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2569464"/>
            <a:ext cx="402336" cy="274320"/>
          </a:xfrm>
          <a:prstGeom prst="rect">
            <a:avLst/>
          </a:prstGeom>
          <a:noFill/>
        </p:spPr>
        <p:txBody>
          <a:bodyPr wrap="square">
            <a:spAutoFit/>
          </a:bodyPr>
          <a:lstStyle/>
          <a:p>
            <a:pPr algn="ctr"/>
            <a:r>
              <a:rPr sz="1000" b="1" i="0">
                <a:solidFill>
                  <a:srgbClr val="0A0D1A"/>
                </a:solidFill>
                <a:latin typeface="Calibri"/>
              </a:rPr>
              <a:t>C4</a:t>
            </a:r>
          </a:p>
        </p:txBody>
      </p:sp>
      <p:sp>
        <p:nvSpPr>
          <p:cNvPr id="26" name="TextBox 25"/>
          <p:cNvSpPr txBox="1"/>
          <p:nvPr/>
        </p:nvSpPr>
        <p:spPr>
          <a:xfrm>
            <a:off x="804672" y="2519172"/>
            <a:ext cx="5321808" cy="201168"/>
          </a:xfrm>
          <a:prstGeom prst="rect">
            <a:avLst/>
          </a:prstGeom>
          <a:noFill/>
        </p:spPr>
        <p:txBody>
          <a:bodyPr wrap="square">
            <a:spAutoFit/>
          </a:bodyPr>
          <a:lstStyle/>
          <a:p>
            <a:pPr algn="ctr"/>
            <a:r>
              <a:rPr sz="1050" b="1" i="0">
                <a:solidFill>
                  <a:srgbClr val="FFFFFF"/>
                </a:solidFill>
                <a:latin typeface="Calibri"/>
              </a:rPr>
              <a:t>ASG-Aware Parallel Tool Dispatch</a:t>
            </a:r>
          </a:p>
        </p:txBody>
      </p:sp>
      <p:sp>
        <p:nvSpPr>
          <p:cNvPr id="27" name="TextBox 26"/>
          <p:cNvSpPr txBox="1"/>
          <p:nvPr/>
        </p:nvSpPr>
        <p:spPr>
          <a:xfrm>
            <a:off x="804672" y="2729484"/>
            <a:ext cx="5321808" cy="182880"/>
          </a:xfrm>
          <a:prstGeom prst="rect">
            <a:avLst/>
          </a:prstGeom>
          <a:noFill/>
        </p:spPr>
        <p:txBody>
          <a:bodyPr wrap="square">
            <a:spAutoFit/>
          </a:bodyPr>
          <a:lstStyle/>
          <a:p>
            <a:pPr algn="ctr"/>
            <a:r>
              <a:rPr sz="880" b="0" i="0">
                <a:solidFill>
                  <a:srgbClr val="A0AAB8"/>
                </a:solidFill>
                <a:latin typeface="Calibri"/>
              </a:rPr>
              <a:t>Dependency-safe concurrent tool execution using the ASG as the dependency graph.</a:t>
            </a:r>
          </a:p>
        </p:txBody>
      </p:sp>
      <p:sp>
        <p:nvSpPr>
          <p:cNvPr id="28" name="Rectangle 27"/>
          <p:cNvSpPr/>
          <p:nvPr/>
        </p:nvSpPr>
        <p:spPr>
          <a:xfrm>
            <a:off x="274320" y="2980944"/>
            <a:ext cx="5897880" cy="448056"/>
          </a:xfrm>
          <a:prstGeom prst="rect">
            <a:avLst/>
          </a:prstGeom>
          <a:solidFill>
            <a:srgbClr val="0C1426"/>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74320" y="2980944"/>
            <a:ext cx="438912" cy="4480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92608" y="3067812"/>
            <a:ext cx="402336" cy="274320"/>
          </a:xfrm>
          <a:prstGeom prst="rect">
            <a:avLst/>
          </a:prstGeom>
          <a:noFill/>
        </p:spPr>
        <p:txBody>
          <a:bodyPr wrap="square">
            <a:spAutoFit/>
          </a:bodyPr>
          <a:lstStyle/>
          <a:p>
            <a:pPr algn="ctr"/>
            <a:r>
              <a:rPr sz="1000" b="1" i="0">
                <a:solidFill>
                  <a:srgbClr val="0A0D1A"/>
                </a:solidFill>
                <a:latin typeface="Calibri"/>
              </a:rPr>
              <a:t>C5</a:t>
            </a:r>
          </a:p>
        </p:txBody>
      </p:sp>
      <p:sp>
        <p:nvSpPr>
          <p:cNvPr id="31" name="TextBox 30"/>
          <p:cNvSpPr txBox="1"/>
          <p:nvPr/>
        </p:nvSpPr>
        <p:spPr>
          <a:xfrm>
            <a:off x="804672" y="3017520"/>
            <a:ext cx="5321808" cy="201168"/>
          </a:xfrm>
          <a:prstGeom prst="rect">
            <a:avLst/>
          </a:prstGeom>
          <a:noFill/>
        </p:spPr>
        <p:txBody>
          <a:bodyPr wrap="square">
            <a:spAutoFit/>
          </a:bodyPr>
          <a:lstStyle/>
          <a:p>
            <a:pPr algn="ctr"/>
            <a:r>
              <a:rPr sz="1050" b="1" i="0">
                <a:solidFill>
                  <a:srgbClr val="FFFFFF"/>
                </a:solidFill>
                <a:latin typeface="Calibri"/>
              </a:rPr>
              <a:t>Tool Risk Gate + Commander Mailbox</a:t>
            </a:r>
          </a:p>
        </p:txBody>
      </p:sp>
      <p:sp>
        <p:nvSpPr>
          <p:cNvPr id="32" name="TextBox 31"/>
          <p:cNvSpPr txBox="1"/>
          <p:nvPr/>
        </p:nvSpPr>
        <p:spPr>
          <a:xfrm>
            <a:off x="804672" y="3227832"/>
            <a:ext cx="5321808" cy="182880"/>
          </a:xfrm>
          <a:prstGeom prst="rect">
            <a:avLst/>
          </a:prstGeom>
          <a:noFill/>
        </p:spPr>
        <p:txBody>
          <a:bodyPr wrap="square">
            <a:spAutoFit/>
          </a:bodyPr>
          <a:lstStyle/>
          <a:p>
            <a:pPr algn="ctr"/>
            <a:r>
              <a:rPr sz="880" b="0" i="0">
                <a:solidFill>
                  <a:srgbClr val="A0AAB8"/>
                </a:solidFill>
                <a:latin typeface="Calibri"/>
              </a:rPr>
              <a:t>Every tool call risk-classified before execution. High-risk ops require Commander approval.</a:t>
            </a:r>
          </a:p>
        </p:txBody>
      </p:sp>
      <p:sp>
        <p:nvSpPr>
          <p:cNvPr id="33" name="Rectangle 32"/>
          <p:cNvSpPr/>
          <p:nvPr/>
        </p:nvSpPr>
        <p:spPr>
          <a:xfrm>
            <a:off x="274320" y="3479292"/>
            <a:ext cx="5897880" cy="448056"/>
          </a:xfrm>
          <a:prstGeom prst="rect">
            <a:avLst/>
          </a:prstGeom>
          <a:solidFill>
            <a:srgbClr val="10162B"/>
          </a:solidFill>
          <a:ln w="889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74320" y="3479292"/>
            <a:ext cx="438912" cy="44805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92608" y="3566160"/>
            <a:ext cx="402336" cy="274320"/>
          </a:xfrm>
          <a:prstGeom prst="rect">
            <a:avLst/>
          </a:prstGeom>
          <a:noFill/>
        </p:spPr>
        <p:txBody>
          <a:bodyPr wrap="square">
            <a:spAutoFit/>
          </a:bodyPr>
          <a:lstStyle/>
          <a:p>
            <a:pPr algn="ctr"/>
            <a:r>
              <a:rPr sz="1000" b="1" i="0">
                <a:solidFill>
                  <a:srgbClr val="0A0D1A"/>
                </a:solidFill>
                <a:latin typeface="Calibri"/>
              </a:rPr>
              <a:t>C6</a:t>
            </a:r>
          </a:p>
        </p:txBody>
      </p:sp>
      <p:sp>
        <p:nvSpPr>
          <p:cNvPr id="36" name="TextBox 35"/>
          <p:cNvSpPr txBox="1"/>
          <p:nvPr/>
        </p:nvSpPr>
        <p:spPr>
          <a:xfrm>
            <a:off x="804672" y="3515868"/>
            <a:ext cx="5321808" cy="201168"/>
          </a:xfrm>
          <a:prstGeom prst="rect">
            <a:avLst/>
          </a:prstGeom>
          <a:noFill/>
        </p:spPr>
        <p:txBody>
          <a:bodyPr wrap="square">
            <a:spAutoFit/>
          </a:bodyPr>
          <a:lstStyle/>
          <a:p>
            <a:pPr algn="ctr"/>
            <a:r>
              <a:rPr sz="1050" b="1" i="0">
                <a:solidFill>
                  <a:srgbClr val="FFFFFF"/>
                </a:solidFill>
                <a:latin typeface="Calibri"/>
              </a:rPr>
              <a:t>ASG-Backed Lossless Context Compaction</a:t>
            </a:r>
          </a:p>
        </p:txBody>
      </p:sp>
      <p:sp>
        <p:nvSpPr>
          <p:cNvPr id="37" name="TextBox 36"/>
          <p:cNvSpPr txBox="1"/>
          <p:nvPr/>
        </p:nvSpPr>
        <p:spPr>
          <a:xfrm>
            <a:off x="804672" y="3726180"/>
            <a:ext cx="5321808" cy="182880"/>
          </a:xfrm>
          <a:prstGeom prst="rect">
            <a:avLst/>
          </a:prstGeom>
          <a:noFill/>
        </p:spPr>
        <p:txBody>
          <a:bodyPr wrap="square">
            <a:spAutoFit/>
          </a:bodyPr>
          <a:lstStyle/>
          <a:p>
            <a:pPr algn="ctr"/>
            <a:r>
              <a:rPr sz="880" b="0" i="0">
                <a:solidFill>
                  <a:srgbClr val="A0AAB8"/>
                </a:solidFill>
                <a:latin typeface="Calibri"/>
              </a:rPr>
              <a:t>FullCompact compresses conversation history to near-zero without losing any findings — all live in the graph.</a:t>
            </a:r>
          </a:p>
        </p:txBody>
      </p:sp>
      <p:sp>
        <p:nvSpPr>
          <p:cNvPr id="38" name="Rectangle 37"/>
          <p:cNvSpPr/>
          <p:nvPr/>
        </p:nvSpPr>
        <p:spPr>
          <a:xfrm>
            <a:off x="6355080" y="987552"/>
            <a:ext cx="5669280" cy="448056"/>
          </a:xfrm>
          <a:prstGeom prst="rect">
            <a:avLst/>
          </a:prstGeom>
          <a:solidFill>
            <a:srgbClr val="0C1426"/>
          </a:solidFill>
          <a:ln w="889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355080" y="987552"/>
            <a:ext cx="438912" cy="4480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73368" y="1074420"/>
            <a:ext cx="402336" cy="274320"/>
          </a:xfrm>
          <a:prstGeom prst="rect">
            <a:avLst/>
          </a:prstGeom>
          <a:noFill/>
        </p:spPr>
        <p:txBody>
          <a:bodyPr wrap="square">
            <a:spAutoFit/>
          </a:bodyPr>
          <a:lstStyle/>
          <a:p>
            <a:pPr algn="ctr"/>
            <a:r>
              <a:rPr sz="1000" b="1" i="0">
                <a:solidFill>
                  <a:srgbClr val="0A0D1A"/>
                </a:solidFill>
                <a:latin typeface="Calibri"/>
              </a:rPr>
              <a:t>C7</a:t>
            </a:r>
          </a:p>
        </p:txBody>
      </p:sp>
      <p:sp>
        <p:nvSpPr>
          <p:cNvPr id="41" name="TextBox 40"/>
          <p:cNvSpPr txBox="1"/>
          <p:nvPr/>
        </p:nvSpPr>
        <p:spPr>
          <a:xfrm>
            <a:off x="6885432" y="1024128"/>
            <a:ext cx="5093208" cy="201168"/>
          </a:xfrm>
          <a:prstGeom prst="rect">
            <a:avLst/>
          </a:prstGeom>
          <a:noFill/>
        </p:spPr>
        <p:txBody>
          <a:bodyPr wrap="square">
            <a:spAutoFit/>
          </a:bodyPr>
          <a:lstStyle/>
          <a:p>
            <a:pPr algn="ctr"/>
            <a:r>
              <a:rPr sz="1050" b="1" i="0">
                <a:solidFill>
                  <a:srgbClr val="FFFFFF"/>
                </a:solidFill>
                <a:latin typeface="Calibri"/>
              </a:rPr>
              <a:t>Methodology-as-Configuration</a:t>
            </a:r>
          </a:p>
        </p:txBody>
      </p:sp>
      <p:sp>
        <p:nvSpPr>
          <p:cNvPr id="42" name="TextBox 41"/>
          <p:cNvSpPr txBox="1"/>
          <p:nvPr/>
        </p:nvSpPr>
        <p:spPr>
          <a:xfrm>
            <a:off x="6885432" y="1234440"/>
            <a:ext cx="5093208" cy="182880"/>
          </a:xfrm>
          <a:prstGeom prst="rect">
            <a:avLst/>
          </a:prstGeom>
          <a:noFill/>
        </p:spPr>
        <p:txBody>
          <a:bodyPr wrap="square">
            <a:spAutoFit/>
          </a:bodyPr>
          <a:lstStyle/>
          <a:p>
            <a:pPr algn="ctr"/>
            <a:r>
              <a:rPr sz="880" b="0" i="0">
                <a:solidFill>
                  <a:srgbClr val="A0AAB8"/>
                </a:solidFill>
                <a:latin typeface="Calibri"/>
              </a:rPr>
              <a:t>Commander's planning policy encoded as a versioned VAPT Protocol Prompt — swap methodologies without code changes.</a:t>
            </a:r>
          </a:p>
        </p:txBody>
      </p:sp>
      <p:sp>
        <p:nvSpPr>
          <p:cNvPr id="43" name="Rectangle 42"/>
          <p:cNvSpPr/>
          <p:nvPr/>
        </p:nvSpPr>
        <p:spPr>
          <a:xfrm>
            <a:off x="6355080" y="1485900"/>
            <a:ext cx="5669280" cy="448056"/>
          </a:xfrm>
          <a:prstGeom prst="rect">
            <a:avLst/>
          </a:prstGeom>
          <a:solidFill>
            <a:srgbClr val="10162B"/>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355080" y="1485900"/>
            <a:ext cx="438912" cy="4480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73368" y="1572768"/>
            <a:ext cx="402336" cy="274320"/>
          </a:xfrm>
          <a:prstGeom prst="rect">
            <a:avLst/>
          </a:prstGeom>
          <a:noFill/>
        </p:spPr>
        <p:txBody>
          <a:bodyPr wrap="square">
            <a:spAutoFit/>
          </a:bodyPr>
          <a:lstStyle/>
          <a:p>
            <a:pPr algn="ctr"/>
            <a:r>
              <a:rPr sz="1000" b="1" i="0">
                <a:solidFill>
                  <a:srgbClr val="0A0D1A"/>
                </a:solidFill>
                <a:latin typeface="Calibri"/>
              </a:rPr>
              <a:t>C8</a:t>
            </a:r>
          </a:p>
        </p:txBody>
      </p:sp>
      <p:sp>
        <p:nvSpPr>
          <p:cNvPr id="46" name="TextBox 45"/>
          <p:cNvSpPr txBox="1"/>
          <p:nvPr/>
        </p:nvSpPr>
        <p:spPr>
          <a:xfrm>
            <a:off x="6885432" y="1522476"/>
            <a:ext cx="5093208" cy="201168"/>
          </a:xfrm>
          <a:prstGeom prst="rect">
            <a:avLst/>
          </a:prstGeom>
          <a:noFill/>
        </p:spPr>
        <p:txBody>
          <a:bodyPr wrap="square">
            <a:spAutoFit/>
          </a:bodyPr>
          <a:lstStyle/>
          <a:p>
            <a:pPr algn="ctr"/>
            <a:r>
              <a:rPr sz="1050" b="1" i="0">
                <a:solidFill>
                  <a:srgbClr val="FFFFFF"/>
                </a:solidFill>
                <a:latin typeface="Calibri"/>
              </a:rPr>
              <a:t>Dual-Graph Termination Semantics</a:t>
            </a:r>
          </a:p>
        </p:txBody>
      </p:sp>
      <p:sp>
        <p:nvSpPr>
          <p:cNvPr id="47" name="TextBox 46"/>
          <p:cNvSpPr txBox="1"/>
          <p:nvPr/>
        </p:nvSpPr>
        <p:spPr>
          <a:xfrm>
            <a:off x="6885432" y="1732788"/>
            <a:ext cx="5093208" cy="182880"/>
          </a:xfrm>
          <a:prstGeom prst="rect">
            <a:avLst/>
          </a:prstGeom>
          <a:noFill/>
        </p:spPr>
        <p:txBody>
          <a:bodyPr wrap="square">
            <a:spAutoFit/>
          </a:bodyPr>
          <a:lstStyle/>
          <a:p>
            <a:pPr algn="ctr"/>
            <a:r>
              <a:rPr sz="880" b="0" i="0">
                <a:solidFill>
                  <a:srgbClr val="A0AAB8"/>
                </a:solidFill>
                <a:latin typeface="Calibri"/>
              </a:rPr>
              <a:t>Mission terminates when ASG is exhausted AND all APG chains reach terminal status — simultaneously.</a:t>
            </a:r>
          </a:p>
        </p:txBody>
      </p:sp>
      <p:sp>
        <p:nvSpPr>
          <p:cNvPr id="48" name="Rectangle 47"/>
          <p:cNvSpPr/>
          <p:nvPr/>
        </p:nvSpPr>
        <p:spPr>
          <a:xfrm>
            <a:off x="6355080" y="1984248"/>
            <a:ext cx="5669280" cy="448056"/>
          </a:xfrm>
          <a:prstGeom prst="rect">
            <a:avLst/>
          </a:prstGeom>
          <a:solidFill>
            <a:srgbClr val="0C1426"/>
          </a:solidFill>
          <a:ln w="889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355080" y="1984248"/>
            <a:ext cx="438912" cy="4480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3368" y="2071116"/>
            <a:ext cx="402336" cy="274320"/>
          </a:xfrm>
          <a:prstGeom prst="rect">
            <a:avLst/>
          </a:prstGeom>
          <a:noFill/>
        </p:spPr>
        <p:txBody>
          <a:bodyPr wrap="square">
            <a:spAutoFit/>
          </a:bodyPr>
          <a:lstStyle/>
          <a:p>
            <a:pPr algn="ctr"/>
            <a:r>
              <a:rPr sz="1000" b="1" i="0">
                <a:solidFill>
                  <a:srgbClr val="0A0D1A"/>
                </a:solidFill>
                <a:latin typeface="Calibri"/>
              </a:rPr>
              <a:t>C9</a:t>
            </a:r>
          </a:p>
        </p:txBody>
      </p:sp>
      <p:sp>
        <p:nvSpPr>
          <p:cNvPr id="51" name="TextBox 50"/>
          <p:cNvSpPr txBox="1"/>
          <p:nvPr/>
        </p:nvSpPr>
        <p:spPr>
          <a:xfrm>
            <a:off x="6885432" y="2020824"/>
            <a:ext cx="5093208" cy="201168"/>
          </a:xfrm>
          <a:prstGeom prst="rect">
            <a:avLst/>
          </a:prstGeom>
          <a:noFill/>
        </p:spPr>
        <p:txBody>
          <a:bodyPr wrap="square">
            <a:spAutoFit/>
          </a:bodyPr>
          <a:lstStyle/>
          <a:p>
            <a:pPr algn="ctr"/>
            <a:r>
              <a:rPr sz="1050" b="1" i="0">
                <a:solidFill>
                  <a:srgbClr val="FFFFFF"/>
                </a:solidFill>
                <a:latin typeface="Calibri"/>
              </a:rPr>
              <a:t>Live Vulnerability Intelligence Grounding</a:t>
            </a:r>
          </a:p>
        </p:txBody>
      </p:sp>
      <p:sp>
        <p:nvSpPr>
          <p:cNvPr id="52" name="TextBox 51"/>
          <p:cNvSpPr txBox="1"/>
          <p:nvPr/>
        </p:nvSpPr>
        <p:spPr>
          <a:xfrm>
            <a:off x="6885432" y="2231136"/>
            <a:ext cx="5093208" cy="182880"/>
          </a:xfrm>
          <a:prstGeom prst="rect">
            <a:avLst/>
          </a:prstGeom>
          <a:noFill/>
        </p:spPr>
        <p:txBody>
          <a:bodyPr wrap="square">
            <a:spAutoFit/>
          </a:bodyPr>
          <a:lstStyle/>
          <a:p>
            <a:pPr algn="ctr"/>
            <a:r>
              <a:rPr sz="880" b="0" i="0">
                <a:solidFill>
                  <a:srgbClr val="A0AAB8"/>
                </a:solidFill>
                <a:latin typeface="Calibri"/>
              </a:rPr>
              <a:t>Research Agent provides real-time CVE enrichment, PoC availability, exploit feasibility during active assessment.</a:t>
            </a:r>
          </a:p>
        </p:txBody>
      </p:sp>
      <p:sp>
        <p:nvSpPr>
          <p:cNvPr id="53" name="Rectangle 52"/>
          <p:cNvSpPr/>
          <p:nvPr/>
        </p:nvSpPr>
        <p:spPr>
          <a:xfrm>
            <a:off x="6355080" y="2482596"/>
            <a:ext cx="5669280" cy="448056"/>
          </a:xfrm>
          <a:prstGeom prst="rect">
            <a:avLst/>
          </a:prstGeom>
          <a:solidFill>
            <a:srgbClr val="10162B"/>
          </a:solidFill>
          <a:ln w="889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355080" y="2482596"/>
            <a:ext cx="438912" cy="44805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73368" y="2569464"/>
            <a:ext cx="402336" cy="274320"/>
          </a:xfrm>
          <a:prstGeom prst="rect">
            <a:avLst/>
          </a:prstGeom>
          <a:noFill/>
        </p:spPr>
        <p:txBody>
          <a:bodyPr wrap="square">
            <a:spAutoFit/>
          </a:bodyPr>
          <a:lstStyle/>
          <a:p>
            <a:pPr algn="ctr"/>
            <a:r>
              <a:rPr sz="1000" b="1" i="0">
                <a:solidFill>
                  <a:srgbClr val="0A0D1A"/>
                </a:solidFill>
                <a:latin typeface="Calibri"/>
              </a:rPr>
              <a:t>C10</a:t>
            </a:r>
          </a:p>
        </p:txBody>
      </p:sp>
      <p:sp>
        <p:nvSpPr>
          <p:cNvPr id="56" name="TextBox 55"/>
          <p:cNvSpPr txBox="1"/>
          <p:nvPr/>
        </p:nvSpPr>
        <p:spPr>
          <a:xfrm>
            <a:off x="6885432" y="2519172"/>
            <a:ext cx="5093208" cy="201168"/>
          </a:xfrm>
          <a:prstGeom prst="rect">
            <a:avLst/>
          </a:prstGeom>
          <a:noFill/>
        </p:spPr>
        <p:txBody>
          <a:bodyPr wrap="square">
            <a:spAutoFit/>
          </a:bodyPr>
          <a:lstStyle/>
          <a:p>
            <a:pPr algn="ctr"/>
            <a:r>
              <a:rPr sz="1050" b="1" i="0">
                <a:solidFill>
                  <a:srgbClr val="FFFFFF"/>
                </a:solidFill>
                <a:latin typeface="Calibri"/>
              </a:rPr>
              <a:t>Cross-Mission Experience Store</a:t>
            </a:r>
          </a:p>
        </p:txBody>
      </p:sp>
      <p:sp>
        <p:nvSpPr>
          <p:cNvPr id="57" name="TextBox 56"/>
          <p:cNvSpPr txBox="1"/>
          <p:nvPr/>
        </p:nvSpPr>
        <p:spPr>
          <a:xfrm>
            <a:off x="6885432" y="2729484"/>
            <a:ext cx="5093208" cy="182880"/>
          </a:xfrm>
          <a:prstGeom prst="rect">
            <a:avLst/>
          </a:prstGeom>
          <a:noFill/>
        </p:spPr>
        <p:txBody>
          <a:bodyPr wrap="square">
            <a:spAutoFit/>
          </a:bodyPr>
          <a:lstStyle/>
          <a:p>
            <a:pPr algn="ctr"/>
            <a:r>
              <a:rPr sz="880" b="0" i="0">
                <a:solidFill>
                  <a:srgbClr val="A0AAB8"/>
                </a:solidFill>
                <a:latin typeface="Calibri"/>
              </a:rPr>
              <a:t>Persistent RAG-backed store of validated exploitation outcomes queried at mission start to seed chain hypotheses.</a:t>
            </a:r>
          </a:p>
        </p:txBody>
      </p:sp>
      <p:sp>
        <p:nvSpPr>
          <p:cNvPr id="58" name="Rectangle 57"/>
          <p:cNvSpPr/>
          <p:nvPr/>
        </p:nvSpPr>
        <p:spPr>
          <a:xfrm>
            <a:off x="6355080" y="2980944"/>
            <a:ext cx="5669280" cy="448056"/>
          </a:xfrm>
          <a:prstGeom prst="rect">
            <a:avLst/>
          </a:prstGeom>
          <a:solidFill>
            <a:srgbClr val="0C1426"/>
          </a:solidFill>
          <a:ln w="889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355080" y="2980944"/>
            <a:ext cx="438912" cy="4480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73368" y="3067812"/>
            <a:ext cx="402336" cy="274320"/>
          </a:xfrm>
          <a:prstGeom prst="rect">
            <a:avLst/>
          </a:prstGeom>
          <a:noFill/>
        </p:spPr>
        <p:txBody>
          <a:bodyPr wrap="square">
            <a:spAutoFit/>
          </a:bodyPr>
          <a:lstStyle/>
          <a:p>
            <a:pPr algn="ctr"/>
            <a:r>
              <a:rPr sz="1000" b="1" i="0">
                <a:solidFill>
                  <a:srgbClr val="0A0D1A"/>
                </a:solidFill>
                <a:latin typeface="Calibri"/>
              </a:rPr>
              <a:t>C11</a:t>
            </a:r>
          </a:p>
        </p:txBody>
      </p:sp>
      <p:sp>
        <p:nvSpPr>
          <p:cNvPr id="61" name="TextBox 60"/>
          <p:cNvSpPr txBox="1"/>
          <p:nvPr/>
        </p:nvSpPr>
        <p:spPr>
          <a:xfrm>
            <a:off x="6885432" y="3017520"/>
            <a:ext cx="5093208" cy="201168"/>
          </a:xfrm>
          <a:prstGeom prst="rect">
            <a:avLst/>
          </a:prstGeom>
          <a:noFill/>
        </p:spPr>
        <p:txBody>
          <a:bodyPr wrap="square">
            <a:spAutoFit/>
          </a:bodyPr>
          <a:lstStyle/>
          <a:p>
            <a:pPr algn="ctr"/>
            <a:r>
              <a:rPr sz="1050" b="1" i="0">
                <a:solidFill>
                  <a:srgbClr val="FFFFFF"/>
                </a:solidFill>
                <a:latin typeface="Calibri"/>
              </a:rPr>
              <a:t>Attack Strategy Library with Crystallization</a:t>
            </a:r>
          </a:p>
        </p:txBody>
      </p:sp>
      <p:sp>
        <p:nvSpPr>
          <p:cNvPr id="62" name="TextBox 61"/>
          <p:cNvSpPr txBox="1"/>
          <p:nvPr/>
        </p:nvSpPr>
        <p:spPr>
          <a:xfrm>
            <a:off x="6885432" y="3227832"/>
            <a:ext cx="5093208" cy="182880"/>
          </a:xfrm>
          <a:prstGeom prst="rect">
            <a:avLst/>
          </a:prstGeom>
          <a:noFill/>
        </p:spPr>
        <p:txBody>
          <a:bodyPr wrap="square">
            <a:spAutoFit/>
          </a:bodyPr>
          <a:lstStyle/>
          <a:p>
            <a:pPr algn="ctr"/>
            <a:r>
              <a:rPr sz="880" b="0" i="0">
                <a:solidFill>
                  <a:srgbClr val="A0AAB8"/>
                </a:solidFill>
                <a:latin typeface="Calibri"/>
              </a:rPr>
              <a:t>Generalizes validated chains into named, parameterized strategies indexed by technology fingerprint + confidence score.</a:t>
            </a:r>
          </a:p>
        </p:txBody>
      </p:sp>
      <p:sp>
        <p:nvSpPr>
          <p:cNvPr id="63" name="Rectangle 62"/>
          <p:cNvSpPr/>
          <p:nvPr/>
        </p:nvSpPr>
        <p:spPr>
          <a:xfrm>
            <a:off x="6355080" y="3479292"/>
            <a:ext cx="5669280" cy="448056"/>
          </a:xfrm>
          <a:prstGeom prst="rect">
            <a:avLst/>
          </a:prstGeom>
          <a:solidFill>
            <a:srgbClr val="10162B"/>
          </a:solidFill>
          <a:ln w="889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355080" y="3479292"/>
            <a:ext cx="438912" cy="44805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73368" y="3566160"/>
            <a:ext cx="402336" cy="274320"/>
          </a:xfrm>
          <a:prstGeom prst="rect">
            <a:avLst/>
          </a:prstGeom>
          <a:noFill/>
        </p:spPr>
        <p:txBody>
          <a:bodyPr wrap="square">
            <a:spAutoFit/>
          </a:bodyPr>
          <a:lstStyle/>
          <a:p>
            <a:pPr algn="ctr"/>
            <a:r>
              <a:rPr sz="1000" b="1" i="0">
                <a:solidFill>
                  <a:srgbClr val="0A0D1A"/>
                </a:solidFill>
                <a:latin typeface="Calibri"/>
              </a:rPr>
              <a:t>C12</a:t>
            </a:r>
          </a:p>
        </p:txBody>
      </p:sp>
      <p:sp>
        <p:nvSpPr>
          <p:cNvPr id="66" name="TextBox 65"/>
          <p:cNvSpPr txBox="1"/>
          <p:nvPr/>
        </p:nvSpPr>
        <p:spPr>
          <a:xfrm>
            <a:off x="6885432" y="3515868"/>
            <a:ext cx="5093208" cy="201168"/>
          </a:xfrm>
          <a:prstGeom prst="rect">
            <a:avLst/>
          </a:prstGeom>
          <a:noFill/>
        </p:spPr>
        <p:txBody>
          <a:bodyPr wrap="square">
            <a:spAutoFit/>
          </a:bodyPr>
          <a:lstStyle/>
          <a:p>
            <a:pPr algn="ctr"/>
            <a:r>
              <a:rPr sz="1050" b="1" i="0">
                <a:solidFill>
                  <a:srgbClr val="FFFFFF"/>
                </a:solidFill>
                <a:latin typeface="Calibri"/>
              </a:rPr>
              <a:t>Structured Engagement Trajectory Export</a:t>
            </a:r>
          </a:p>
        </p:txBody>
      </p:sp>
      <p:sp>
        <p:nvSpPr>
          <p:cNvPr id="67" name="TextBox 66"/>
          <p:cNvSpPr txBox="1"/>
          <p:nvPr/>
        </p:nvSpPr>
        <p:spPr>
          <a:xfrm>
            <a:off x="6885432" y="3726180"/>
            <a:ext cx="5093208" cy="182880"/>
          </a:xfrm>
          <a:prstGeom prst="rect">
            <a:avLst/>
          </a:prstGeom>
          <a:noFill/>
        </p:spPr>
        <p:txBody>
          <a:bodyPr wrap="square">
            <a:spAutoFit/>
          </a:bodyPr>
          <a:lstStyle/>
          <a:p>
            <a:pPr algn="ctr"/>
            <a:r>
              <a:rPr sz="880" b="0" i="0">
                <a:solidFill>
                  <a:srgbClr val="A0AAB8"/>
                </a:solidFill>
                <a:latin typeface="Calibri"/>
              </a:rPr>
              <a:t>Complete machine-readable decision log per mission — enables reproducibility, ablation studies, and dataset generation.</a:t>
            </a:r>
          </a:p>
        </p:txBody>
      </p:sp>
      <p:sp>
        <p:nvSpPr>
          <p:cNvPr id="68" name="Rectangle 67"/>
          <p:cNvSpPr/>
          <p:nvPr/>
        </p:nvSpPr>
        <p:spPr>
          <a:xfrm>
            <a:off x="6236208" y="987552"/>
            <a:ext cx="27432" cy="2939796"/>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274320" y="4069080"/>
            <a:ext cx="11643055" cy="530352"/>
          </a:xfrm>
          <a:prstGeom prst="rect">
            <a:avLst/>
          </a:prstGeom>
          <a:solidFill>
            <a:srgbClr val="061224"/>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02920" y="4160520"/>
            <a:ext cx="11277295" cy="347472"/>
          </a:xfrm>
          <a:prstGeom prst="rect">
            <a:avLst/>
          </a:prstGeom>
          <a:noFill/>
        </p:spPr>
        <p:txBody>
          <a:bodyPr wrap="square">
            <a:spAutoFit/>
          </a:bodyPr>
          <a:lstStyle/>
          <a:p>
            <a:pPr algn="ctr"/>
            <a:r>
              <a:rPr sz="1300" b="0" i="1">
                <a:solidFill>
                  <a:srgbClr val="00E5FF"/>
                </a:solidFill>
                <a:latin typeface="Calibri"/>
              </a:rPr>
              <a:t>Each contribution is independently evaluable and independently publishable.  Together they form a unified architecture that no existing VAPT system implements.</a:t>
            </a:r>
          </a:p>
        </p:txBody>
      </p:sp>
      <p:sp>
        <p:nvSpPr>
          <p:cNvPr id="71" name="TextBox 70"/>
          <p:cNvSpPr txBox="1"/>
          <p:nvPr/>
        </p:nvSpPr>
        <p:spPr>
          <a:xfrm>
            <a:off x="11825935" y="6355080"/>
            <a:ext cx="320040" cy="411480"/>
          </a:xfrm>
          <a:prstGeom prst="rect">
            <a:avLst/>
          </a:prstGeom>
          <a:noFill/>
        </p:spPr>
        <p:txBody>
          <a:bodyPr wrap="square">
            <a:spAutoFit/>
          </a:bodyPr>
          <a:lstStyle/>
          <a:p>
            <a:pPr algn="r"/>
            <a:r>
              <a:rPr sz="1300" b="1" i="0">
                <a:solidFill>
                  <a:srgbClr val="00E5F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54864"/>
            <a:ext cx="7315200" cy="274320"/>
          </a:xfrm>
          <a:prstGeom prst="rect">
            <a:avLst/>
          </a:prstGeom>
          <a:noFill/>
        </p:spPr>
        <p:txBody>
          <a:bodyPr wrap="square">
            <a:spAutoFit/>
          </a:bodyPr>
          <a:lstStyle/>
          <a:p>
            <a:pPr algn="ctr"/>
            <a:r>
              <a:rPr sz="1100" b="1" i="0">
                <a:solidFill>
                  <a:srgbClr val="BD93F9"/>
                </a:solidFill>
                <a:latin typeface="Calibri"/>
              </a:rPr>
              <a:t>INSPIRATIONS &amp; REFERENCES</a:t>
            </a:r>
          </a:p>
        </p:txBody>
      </p:sp>
      <p:sp>
        <p:nvSpPr>
          <p:cNvPr id="6" name="TextBox 5"/>
          <p:cNvSpPr txBox="1"/>
          <p:nvPr/>
        </p:nvSpPr>
        <p:spPr>
          <a:xfrm>
            <a:off x="274320" y="329184"/>
            <a:ext cx="11430000" cy="548640"/>
          </a:xfrm>
          <a:prstGeom prst="rect">
            <a:avLst/>
          </a:prstGeom>
          <a:noFill/>
        </p:spPr>
        <p:txBody>
          <a:bodyPr wrap="square">
            <a:spAutoFit/>
          </a:bodyPr>
          <a:lstStyle/>
          <a:p>
            <a:pPr algn="ctr"/>
            <a:r>
              <a:rPr sz="2600" b="1" i="0">
                <a:solidFill>
                  <a:srgbClr val="FFFFFF"/>
                </a:solidFill>
                <a:latin typeface="Calibri"/>
              </a:rPr>
              <a:t>Academic Papers + Open-Source Repositories That Shaped CMatrix</a:t>
            </a:r>
          </a:p>
        </p:txBody>
      </p:sp>
      <p:sp>
        <p:nvSpPr>
          <p:cNvPr id="7" name="Rectangle 6"/>
          <p:cNvSpPr/>
          <p:nvPr/>
        </p:nvSpPr>
        <p:spPr>
          <a:xfrm>
            <a:off x="274320" y="896112"/>
            <a:ext cx="6400800" cy="27432"/>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987552"/>
            <a:ext cx="5897880" cy="102412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987552"/>
            <a:ext cx="347472" cy="1024128"/>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2608" y="1362456"/>
            <a:ext cx="310896" cy="274320"/>
          </a:xfrm>
          <a:prstGeom prst="rect">
            <a:avLst/>
          </a:prstGeom>
          <a:noFill/>
        </p:spPr>
        <p:txBody>
          <a:bodyPr wrap="square">
            <a:spAutoFit/>
          </a:bodyPr>
          <a:lstStyle/>
          <a:p>
            <a:pPr algn="ctr"/>
            <a:r>
              <a:rPr sz="1100" b="1" i="0">
                <a:solidFill>
                  <a:srgbClr val="0A0D1A"/>
                </a:solidFill>
                <a:latin typeface="Calibri"/>
              </a:rPr>
              <a:t>1</a:t>
            </a:r>
          </a:p>
        </p:txBody>
      </p:sp>
      <p:sp>
        <p:nvSpPr>
          <p:cNvPr id="11" name="TextBox 10"/>
          <p:cNvSpPr txBox="1"/>
          <p:nvPr/>
        </p:nvSpPr>
        <p:spPr>
          <a:xfrm>
            <a:off x="713232" y="1042416"/>
            <a:ext cx="5413248" cy="228600"/>
          </a:xfrm>
          <a:prstGeom prst="rect">
            <a:avLst/>
          </a:prstGeom>
          <a:noFill/>
        </p:spPr>
        <p:txBody>
          <a:bodyPr wrap="square">
            <a:spAutoFit/>
          </a:bodyPr>
          <a:lstStyle/>
          <a:p>
            <a:pPr algn="ctr"/>
            <a:r>
              <a:rPr sz="1150" b="1" i="0">
                <a:solidFill>
                  <a:srgbClr val="00E5FF"/>
                </a:solidFill>
                <a:latin typeface="Calibri"/>
              </a:rPr>
              <a:t>PentestGPT</a:t>
            </a:r>
          </a:p>
        </p:txBody>
      </p:sp>
      <p:sp>
        <p:nvSpPr>
          <p:cNvPr id="12" name="TextBox 11"/>
          <p:cNvSpPr txBox="1"/>
          <p:nvPr/>
        </p:nvSpPr>
        <p:spPr>
          <a:xfrm>
            <a:off x="713232" y="1261872"/>
            <a:ext cx="5413248" cy="182880"/>
          </a:xfrm>
          <a:prstGeom prst="rect">
            <a:avLst/>
          </a:prstGeom>
          <a:noFill/>
        </p:spPr>
        <p:txBody>
          <a:bodyPr wrap="square">
            <a:spAutoFit/>
          </a:bodyPr>
          <a:lstStyle/>
          <a:p>
            <a:pPr algn="ctr"/>
            <a:r>
              <a:rPr sz="850" b="0" i="1">
                <a:solidFill>
                  <a:srgbClr val="A0AAB8"/>
                </a:solidFill>
                <a:latin typeface="Calibri"/>
              </a:rPr>
              <a:t>USENIX Security '24</a:t>
            </a:r>
          </a:p>
        </p:txBody>
      </p:sp>
      <p:sp>
        <p:nvSpPr>
          <p:cNvPr id="13" name="TextBox 12"/>
          <p:cNvSpPr txBox="1"/>
          <p:nvPr/>
        </p:nvSpPr>
        <p:spPr>
          <a:xfrm>
            <a:off x="713232" y="1444752"/>
            <a:ext cx="5413248" cy="292608"/>
          </a:xfrm>
          <a:prstGeom prst="rect">
            <a:avLst/>
          </a:prstGeom>
          <a:noFill/>
        </p:spPr>
        <p:txBody>
          <a:bodyPr wrap="square">
            <a:spAutoFit/>
          </a:bodyPr>
          <a:lstStyle/>
          <a:p>
            <a:pPr algn="ctr"/>
            <a:r>
              <a:rPr sz="850" b="0" i="0">
                <a:solidFill>
                  <a:srgbClr val="A0AAB8"/>
                </a:solidFill>
                <a:latin typeface="Calibri"/>
              </a:rPr>
              <a:t>Tripartite Reasoning / Generation / Parsing architecture.
Pentesting Task Tree memory for long-session context.</a:t>
            </a:r>
          </a:p>
        </p:txBody>
      </p:sp>
      <p:sp>
        <p:nvSpPr>
          <p:cNvPr id="14" name="Rectangle 13"/>
          <p:cNvSpPr/>
          <p:nvPr/>
        </p:nvSpPr>
        <p:spPr>
          <a:xfrm>
            <a:off x="694944" y="1810512"/>
            <a:ext cx="5404104" cy="164592"/>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819656"/>
            <a:ext cx="5367528" cy="164592"/>
          </a:xfrm>
          <a:prstGeom prst="rect">
            <a:avLst/>
          </a:prstGeom>
          <a:noFill/>
        </p:spPr>
        <p:txBody>
          <a:bodyPr wrap="none">
            <a:spAutoFit/>
          </a:bodyPr>
          <a:lstStyle/>
          <a:p>
            <a:pPr algn="ctr"/>
            <a:r>
              <a:rPr sz="800" b="1" i="0">
                <a:solidFill>
                  <a:srgbClr val="39FF14"/>
                </a:solidFill>
                <a:latin typeface="Calibri"/>
              </a:rPr>
              <a:t>CMatrix:  Tool Adapter Layer (parse before you reason) + MicroCompact permanent graph state.</a:t>
            </a:r>
          </a:p>
        </p:txBody>
      </p:sp>
      <p:sp>
        <p:nvSpPr>
          <p:cNvPr id="16" name="Rectangle 15"/>
          <p:cNvSpPr/>
          <p:nvPr/>
        </p:nvSpPr>
        <p:spPr>
          <a:xfrm>
            <a:off x="274320" y="2066544"/>
            <a:ext cx="5897880" cy="1024128"/>
          </a:xfrm>
          <a:prstGeom prst="rect">
            <a:avLst/>
          </a:prstGeom>
          <a:solidFill>
            <a:srgbClr val="10162B"/>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4320" y="2066544"/>
            <a:ext cx="347472" cy="102412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2608" y="2441448"/>
            <a:ext cx="310896" cy="274320"/>
          </a:xfrm>
          <a:prstGeom prst="rect">
            <a:avLst/>
          </a:prstGeom>
          <a:noFill/>
        </p:spPr>
        <p:txBody>
          <a:bodyPr wrap="square">
            <a:spAutoFit/>
          </a:bodyPr>
          <a:lstStyle/>
          <a:p>
            <a:pPr algn="ctr"/>
            <a:r>
              <a:rPr sz="1100" b="1" i="0">
                <a:solidFill>
                  <a:srgbClr val="0A0D1A"/>
                </a:solidFill>
                <a:latin typeface="Calibri"/>
              </a:rPr>
              <a:t>2</a:t>
            </a:r>
          </a:p>
        </p:txBody>
      </p:sp>
      <p:sp>
        <p:nvSpPr>
          <p:cNvPr id="19" name="TextBox 18"/>
          <p:cNvSpPr txBox="1"/>
          <p:nvPr/>
        </p:nvSpPr>
        <p:spPr>
          <a:xfrm>
            <a:off x="713232" y="2121408"/>
            <a:ext cx="5413248" cy="228600"/>
          </a:xfrm>
          <a:prstGeom prst="rect">
            <a:avLst/>
          </a:prstGeom>
          <a:noFill/>
        </p:spPr>
        <p:txBody>
          <a:bodyPr wrap="square">
            <a:spAutoFit/>
          </a:bodyPr>
          <a:lstStyle/>
          <a:p>
            <a:pPr algn="ctr"/>
            <a:r>
              <a:rPr sz="1150" b="1" i="0">
                <a:solidFill>
                  <a:srgbClr val="39FF14"/>
                </a:solidFill>
                <a:latin typeface="Calibri"/>
              </a:rPr>
              <a:t>AutoAttacker</a:t>
            </a:r>
          </a:p>
        </p:txBody>
      </p:sp>
      <p:sp>
        <p:nvSpPr>
          <p:cNvPr id="20" name="TextBox 19"/>
          <p:cNvSpPr txBox="1"/>
          <p:nvPr/>
        </p:nvSpPr>
        <p:spPr>
          <a:xfrm>
            <a:off x="713232" y="2340864"/>
            <a:ext cx="5413248" cy="182880"/>
          </a:xfrm>
          <a:prstGeom prst="rect">
            <a:avLst/>
          </a:prstGeom>
          <a:noFill/>
        </p:spPr>
        <p:txBody>
          <a:bodyPr wrap="square">
            <a:spAutoFit/>
          </a:bodyPr>
          <a:lstStyle/>
          <a:p>
            <a:pPr algn="ctr"/>
            <a:r>
              <a:rPr sz="850" b="0" i="1">
                <a:solidFill>
                  <a:srgbClr val="A0AAB8"/>
                </a:solidFill>
                <a:latin typeface="Calibri"/>
              </a:rPr>
              <a:t>arXiv '24  — Xu et al.</a:t>
            </a:r>
          </a:p>
        </p:txBody>
      </p:sp>
      <p:sp>
        <p:nvSpPr>
          <p:cNvPr id="21" name="TextBox 20"/>
          <p:cNvSpPr txBox="1"/>
          <p:nvPr/>
        </p:nvSpPr>
        <p:spPr>
          <a:xfrm>
            <a:off x="713232" y="2523744"/>
            <a:ext cx="5413248" cy="292608"/>
          </a:xfrm>
          <a:prstGeom prst="rect">
            <a:avLst/>
          </a:prstGeom>
          <a:noFill/>
        </p:spPr>
        <p:txBody>
          <a:bodyPr wrap="square">
            <a:spAutoFit/>
          </a:bodyPr>
          <a:lstStyle/>
          <a:p>
            <a:pPr algn="ctr"/>
            <a:r>
              <a:rPr sz="850" b="0" i="0">
                <a:solidFill>
                  <a:srgbClr val="A0AAB8"/>
                </a:solidFill>
                <a:latin typeface="Calibri"/>
              </a:rPr>
              <a:t>Modular planner / summarizer / code-generator for post-breach automation.
Experience manager stores + reuses attack subtasks within one mission.</a:t>
            </a:r>
          </a:p>
        </p:txBody>
      </p:sp>
      <p:sp>
        <p:nvSpPr>
          <p:cNvPr id="22" name="Rectangle 21"/>
          <p:cNvSpPr/>
          <p:nvPr/>
        </p:nvSpPr>
        <p:spPr>
          <a:xfrm>
            <a:off x="694944" y="2889504"/>
            <a:ext cx="5404104" cy="164592"/>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2898648"/>
            <a:ext cx="5367528" cy="164592"/>
          </a:xfrm>
          <a:prstGeom prst="rect">
            <a:avLst/>
          </a:prstGeom>
          <a:noFill/>
        </p:spPr>
        <p:txBody>
          <a:bodyPr wrap="none">
            <a:spAutoFit/>
          </a:bodyPr>
          <a:lstStyle/>
          <a:p>
            <a:pPr algn="ctr"/>
            <a:r>
              <a:rPr sz="800" b="1" i="0">
                <a:solidFill>
                  <a:srgbClr val="39FF14"/>
                </a:solidFill>
                <a:latin typeface="Calibri"/>
              </a:rPr>
              <a:t>CMatrix:  Cross-Mission Experience Store (C10) — generalizes reuse to cross-mission scope.</a:t>
            </a:r>
          </a:p>
        </p:txBody>
      </p:sp>
      <p:sp>
        <p:nvSpPr>
          <p:cNvPr id="24" name="Rectangle 23"/>
          <p:cNvSpPr/>
          <p:nvPr/>
        </p:nvSpPr>
        <p:spPr>
          <a:xfrm>
            <a:off x="274320" y="3145536"/>
            <a:ext cx="5897880" cy="1024128"/>
          </a:xfrm>
          <a:prstGeom prst="rect">
            <a:avLst/>
          </a:prstGeom>
          <a:solidFill>
            <a:srgbClr val="10162B"/>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74320" y="3145536"/>
            <a:ext cx="347472" cy="102412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2608" y="3520440"/>
            <a:ext cx="310896" cy="274320"/>
          </a:xfrm>
          <a:prstGeom prst="rect">
            <a:avLst/>
          </a:prstGeom>
          <a:noFill/>
        </p:spPr>
        <p:txBody>
          <a:bodyPr wrap="square">
            <a:spAutoFit/>
          </a:bodyPr>
          <a:lstStyle/>
          <a:p>
            <a:pPr algn="ctr"/>
            <a:r>
              <a:rPr sz="1100" b="1" i="0">
                <a:solidFill>
                  <a:srgbClr val="0A0D1A"/>
                </a:solidFill>
                <a:latin typeface="Calibri"/>
              </a:rPr>
              <a:t>3</a:t>
            </a:r>
          </a:p>
        </p:txBody>
      </p:sp>
      <p:sp>
        <p:nvSpPr>
          <p:cNvPr id="27" name="TextBox 26"/>
          <p:cNvSpPr txBox="1"/>
          <p:nvPr/>
        </p:nvSpPr>
        <p:spPr>
          <a:xfrm>
            <a:off x="713232" y="3200400"/>
            <a:ext cx="5413248" cy="228600"/>
          </a:xfrm>
          <a:prstGeom prst="rect">
            <a:avLst/>
          </a:prstGeom>
          <a:noFill/>
        </p:spPr>
        <p:txBody>
          <a:bodyPr wrap="square">
            <a:spAutoFit/>
          </a:bodyPr>
          <a:lstStyle/>
          <a:p>
            <a:pPr algn="ctr"/>
            <a:r>
              <a:rPr sz="1150" b="1" i="0">
                <a:solidFill>
                  <a:srgbClr val="FFD700"/>
                </a:solidFill>
                <a:latin typeface="Calibri"/>
              </a:rPr>
              <a:t>Teams of LLM Agents (HPTSA)</a:t>
            </a:r>
          </a:p>
        </p:txBody>
      </p:sp>
      <p:sp>
        <p:nvSpPr>
          <p:cNvPr id="28" name="TextBox 27"/>
          <p:cNvSpPr txBox="1"/>
          <p:nvPr/>
        </p:nvSpPr>
        <p:spPr>
          <a:xfrm>
            <a:off x="713232" y="3419856"/>
            <a:ext cx="5413248" cy="182880"/>
          </a:xfrm>
          <a:prstGeom prst="rect">
            <a:avLst/>
          </a:prstGeom>
          <a:noFill/>
        </p:spPr>
        <p:txBody>
          <a:bodyPr wrap="square">
            <a:spAutoFit/>
          </a:bodyPr>
          <a:lstStyle/>
          <a:p>
            <a:pPr algn="ctr"/>
            <a:r>
              <a:rPr sz="850" b="0" i="1">
                <a:solidFill>
                  <a:srgbClr val="A0AAB8"/>
                </a:solidFill>
                <a:latin typeface="Calibri"/>
              </a:rPr>
              <a:t>arXiv '24  — Zhu et al.</a:t>
            </a:r>
          </a:p>
        </p:txBody>
      </p:sp>
      <p:sp>
        <p:nvSpPr>
          <p:cNvPr id="29" name="TextBox 28"/>
          <p:cNvSpPr txBox="1"/>
          <p:nvPr/>
        </p:nvSpPr>
        <p:spPr>
          <a:xfrm>
            <a:off x="713232" y="3602736"/>
            <a:ext cx="5413248" cy="292608"/>
          </a:xfrm>
          <a:prstGeom prst="rect">
            <a:avLst/>
          </a:prstGeom>
          <a:noFill/>
        </p:spPr>
        <p:txBody>
          <a:bodyPr wrap="square">
            <a:spAutoFit/>
          </a:bodyPr>
          <a:lstStyle/>
          <a:p>
            <a:pPr algn="ctr"/>
            <a:r>
              <a:rPr sz="850" b="0" i="0">
                <a:solidFill>
                  <a:srgbClr val="A0AAB8"/>
                </a:solidFill>
                <a:latin typeface="Calibri"/>
              </a:rPr>
              <a:t>Hierarchical planner delegates to task-specific sub-agents.
Task-specific document injection improves zero-day exploitation by 2.1x.</a:t>
            </a:r>
          </a:p>
        </p:txBody>
      </p:sp>
      <p:sp>
        <p:nvSpPr>
          <p:cNvPr id="30" name="Rectangle 29"/>
          <p:cNvSpPr/>
          <p:nvPr/>
        </p:nvSpPr>
        <p:spPr>
          <a:xfrm>
            <a:off x="694944" y="3968496"/>
            <a:ext cx="5404104" cy="164592"/>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3977640"/>
            <a:ext cx="5367528" cy="164592"/>
          </a:xfrm>
          <a:prstGeom prst="rect">
            <a:avLst/>
          </a:prstGeom>
          <a:noFill/>
        </p:spPr>
        <p:txBody>
          <a:bodyPr wrap="none">
            <a:spAutoFit/>
          </a:bodyPr>
          <a:lstStyle/>
          <a:p>
            <a:pPr algn="ctr"/>
            <a:r>
              <a:rPr sz="800" b="1" i="0">
                <a:solidFill>
                  <a:srgbClr val="39FF14"/>
                </a:solidFill>
                <a:latin typeface="Calibri"/>
              </a:rPr>
              <a:t>CMatrix:  Vulnerability-Class Knowledge Injection at agent spawn time (C3 / §7).</a:t>
            </a:r>
          </a:p>
        </p:txBody>
      </p:sp>
      <p:sp>
        <p:nvSpPr>
          <p:cNvPr id="32" name="Rectangle 31"/>
          <p:cNvSpPr/>
          <p:nvPr/>
        </p:nvSpPr>
        <p:spPr>
          <a:xfrm>
            <a:off x="274320" y="4224528"/>
            <a:ext cx="5897880" cy="1024128"/>
          </a:xfrm>
          <a:prstGeom prst="rect">
            <a:avLst/>
          </a:prstGeom>
          <a:solidFill>
            <a:srgbClr val="10162B"/>
          </a:solidFill>
          <a:ln w="1270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74320" y="4224528"/>
            <a:ext cx="347472" cy="1024128"/>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 y="4599432"/>
            <a:ext cx="310896" cy="274320"/>
          </a:xfrm>
          <a:prstGeom prst="rect">
            <a:avLst/>
          </a:prstGeom>
          <a:noFill/>
        </p:spPr>
        <p:txBody>
          <a:bodyPr wrap="square">
            <a:spAutoFit/>
          </a:bodyPr>
          <a:lstStyle/>
          <a:p>
            <a:pPr algn="ctr"/>
            <a:r>
              <a:rPr sz="1100" b="1" i="0">
                <a:solidFill>
                  <a:srgbClr val="0A0D1A"/>
                </a:solidFill>
                <a:latin typeface="Calibri"/>
              </a:rPr>
              <a:t>4</a:t>
            </a:r>
          </a:p>
        </p:txBody>
      </p:sp>
      <p:sp>
        <p:nvSpPr>
          <p:cNvPr id="35" name="TextBox 34"/>
          <p:cNvSpPr txBox="1"/>
          <p:nvPr/>
        </p:nvSpPr>
        <p:spPr>
          <a:xfrm>
            <a:off x="713232" y="4279392"/>
            <a:ext cx="5413248" cy="228600"/>
          </a:xfrm>
          <a:prstGeom prst="rect">
            <a:avLst/>
          </a:prstGeom>
          <a:noFill/>
        </p:spPr>
        <p:txBody>
          <a:bodyPr wrap="square">
            <a:spAutoFit/>
          </a:bodyPr>
          <a:lstStyle/>
          <a:p>
            <a:pPr algn="ctr"/>
            <a:r>
              <a:rPr sz="1150" b="1" i="0">
                <a:solidFill>
                  <a:srgbClr val="00BFD8"/>
                </a:solidFill>
                <a:latin typeface="Calibri"/>
              </a:rPr>
              <a:t>PentestAgent</a:t>
            </a:r>
          </a:p>
        </p:txBody>
      </p:sp>
      <p:sp>
        <p:nvSpPr>
          <p:cNvPr id="36" name="TextBox 35"/>
          <p:cNvSpPr txBox="1"/>
          <p:nvPr/>
        </p:nvSpPr>
        <p:spPr>
          <a:xfrm>
            <a:off x="713232" y="4498848"/>
            <a:ext cx="5413248" cy="182880"/>
          </a:xfrm>
          <a:prstGeom prst="rect">
            <a:avLst/>
          </a:prstGeom>
          <a:noFill/>
        </p:spPr>
        <p:txBody>
          <a:bodyPr wrap="square">
            <a:spAutoFit/>
          </a:bodyPr>
          <a:lstStyle/>
          <a:p>
            <a:pPr algn="ctr"/>
            <a:r>
              <a:rPr sz="850" b="0" i="1">
                <a:solidFill>
                  <a:srgbClr val="A0AAB8"/>
                </a:solidFill>
                <a:latin typeface="Calibri"/>
              </a:rPr>
              <a:t>AsiaCCS '25  — Shen et al.</a:t>
            </a:r>
          </a:p>
        </p:txBody>
      </p:sp>
      <p:sp>
        <p:nvSpPr>
          <p:cNvPr id="37" name="TextBox 36"/>
          <p:cNvSpPr txBox="1"/>
          <p:nvPr/>
        </p:nvSpPr>
        <p:spPr>
          <a:xfrm>
            <a:off x="713232" y="4681728"/>
            <a:ext cx="5413248" cy="292608"/>
          </a:xfrm>
          <a:prstGeom prst="rect">
            <a:avLst/>
          </a:prstGeom>
          <a:noFill/>
        </p:spPr>
        <p:txBody>
          <a:bodyPr wrap="square">
            <a:spAutoFit/>
          </a:bodyPr>
          <a:lstStyle/>
          <a:p>
            <a:pPr algn="ctr"/>
            <a:r>
              <a:rPr sz="850" b="0" i="0">
                <a:solidFill>
                  <a:srgbClr val="A0AAB8"/>
                </a:solidFill>
                <a:latin typeface="Calibri"/>
              </a:rPr>
              <a:t>Planning agent + RAG-backed shared memory.
Execution agent self-diagnoses failed exploit attempts before abandoning.</a:t>
            </a:r>
          </a:p>
        </p:txBody>
      </p:sp>
      <p:sp>
        <p:nvSpPr>
          <p:cNvPr id="38" name="Rectangle 37"/>
          <p:cNvSpPr/>
          <p:nvPr/>
        </p:nvSpPr>
        <p:spPr>
          <a:xfrm>
            <a:off x="694944" y="5047488"/>
            <a:ext cx="5404104" cy="164592"/>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056632"/>
            <a:ext cx="5367528" cy="164592"/>
          </a:xfrm>
          <a:prstGeom prst="rect">
            <a:avLst/>
          </a:prstGeom>
          <a:noFill/>
        </p:spPr>
        <p:txBody>
          <a:bodyPr wrap="none">
            <a:spAutoFit/>
          </a:bodyPr>
          <a:lstStyle/>
          <a:p>
            <a:pPr algn="ctr"/>
            <a:r>
              <a:rPr sz="800" b="1" i="0">
                <a:solidFill>
                  <a:srgbClr val="39FF14"/>
                </a:solidFill>
                <a:latin typeface="Calibri"/>
              </a:rPr>
              <a:t>CMatrix:  Validation Agent self-debugging loop: Diagnose → Contextualize → Adapt → Cap.</a:t>
            </a:r>
          </a:p>
        </p:txBody>
      </p:sp>
      <p:sp>
        <p:nvSpPr>
          <p:cNvPr id="40" name="Rectangle 39"/>
          <p:cNvSpPr/>
          <p:nvPr/>
        </p:nvSpPr>
        <p:spPr>
          <a:xfrm>
            <a:off x="274320" y="5303520"/>
            <a:ext cx="5897880" cy="1024128"/>
          </a:xfrm>
          <a:prstGeom prst="rect">
            <a:avLst/>
          </a:prstGeom>
          <a:solidFill>
            <a:srgbClr val="10162B"/>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74320" y="5303520"/>
            <a:ext cx="347472" cy="102412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92608" y="5678424"/>
            <a:ext cx="310896" cy="274320"/>
          </a:xfrm>
          <a:prstGeom prst="rect">
            <a:avLst/>
          </a:prstGeom>
          <a:noFill/>
        </p:spPr>
        <p:txBody>
          <a:bodyPr wrap="square">
            <a:spAutoFit/>
          </a:bodyPr>
          <a:lstStyle/>
          <a:p>
            <a:pPr algn="ctr"/>
            <a:r>
              <a:rPr sz="1100" b="1" i="0">
                <a:solidFill>
                  <a:srgbClr val="0A0D1A"/>
                </a:solidFill>
                <a:latin typeface="Calibri"/>
              </a:rPr>
              <a:t>5</a:t>
            </a:r>
          </a:p>
        </p:txBody>
      </p:sp>
      <p:sp>
        <p:nvSpPr>
          <p:cNvPr id="43" name="TextBox 42"/>
          <p:cNvSpPr txBox="1"/>
          <p:nvPr/>
        </p:nvSpPr>
        <p:spPr>
          <a:xfrm>
            <a:off x="713232" y="5358384"/>
            <a:ext cx="5413248" cy="228600"/>
          </a:xfrm>
          <a:prstGeom prst="rect">
            <a:avLst/>
          </a:prstGeom>
          <a:noFill/>
        </p:spPr>
        <p:txBody>
          <a:bodyPr wrap="square">
            <a:spAutoFit/>
          </a:bodyPr>
          <a:lstStyle/>
          <a:p>
            <a:pPr algn="ctr"/>
            <a:r>
              <a:rPr sz="1150" b="1" i="0">
                <a:solidFill>
                  <a:srgbClr val="FF4545"/>
                </a:solidFill>
                <a:latin typeface="Calibri"/>
              </a:rPr>
              <a:t>VulnBot</a:t>
            </a:r>
          </a:p>
        </p:txBody>
      </p:sp>
      <p:sp>
        <p:nvSpPr>
          <p:cNvPr id="44" name="TextBox 43"/>
          <p:cNvSpPr txBox="1"/>
          <p:nvPr/>
        </p:nvSpPr>
        <p:spPr>
          <a:xfrm>
            <a:off x="713232" y="5577840"/>
            <a:ext cx="5413248" cy="182880"/>
          </a:xfrm>
          <a:prstGeom prst="rect">
            <a:avLst/>
          </a:prstGeom>
          <a:noFill/>
        </p:spPr>
        <p:txBody>
          <a:bodyPr wrap="square">
            <a:spAutoFit/>
          </a:bodyPr>
          <a:lstStyle/>
          <a:p>
            <a:pPr algn="ctr"/>
            <a:r>
              <a:rPr sz="850" b="0" i="1">
                <a:solidFill>
                  <a:srgbClr val="A0AAB8"/>
                </a:solidFill>
                <a:latin typeface="Calibri"/>
              </a:rPr>
              <a:t>arXiv '25  — Kong et al.</a:t>
            </a:r>
          </a:p>
        </p:txBody>
      </p:sp>
      <p:sp>
        <p:nvSpPr>
          <p:cNvPr id="45" name="TextBox 44"/>
          <p:cNvSpPr txBox="1"/>
          <p:nvPr/>
        </p:nvSpPr>
        <p:spPr>
          <a:xfrm>
            <a:off x="713232" y="5760720"/>
            <a:ext cx="5413248" cy="292608"/>
          </a:xfrm>
          <a:prstGeom prst="rect">
            <a:avLst/>
          </a:prstGeom>
          <a:noFill/>
        </p:spPr>
        <p:txBody>
          <a:bodyPr wrap="square">
            <a:spAutoFit/>
          </a:bodyPr>
          <a:lstStyle/>
          <a:p>
            <a:pPr algn="ctr"/>
            <a:r>
              <a:rPr sz="850" b="0" i="0">
                <a:solidFill>
                  <a:srgbClr val="A0AAB8"/>
                </a:solidFill>
                <a:latin typeface="Calibri"/>
              </a:rPr>
              <a:t>Five-module pipeline around a Penetration Task Graph.
Summarizer condenses phase output — prevents raw history leaking between agents.</a:t>
            </a:r>
          </a:p>
        </p:txBody>
      </p:sp>
      <p:sp>
        <p:nvSpPr>
          <p:cNvPr id="46" name="Rectangle 45"/>
          <p:cNvSpPr/>
          <p:nvPr/>
        </p:nvSpPr>
        <p:spPr>
          <a:xfrm>
            <a:off x="694944" y="6126480"/>
            <a:ext cx="5404104" cy="164592"/>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1520" y="6135624"/>
            <a:ext cx="5367528" cy="164592"/>
          </a:xfrm>
          <a:prstGeom prst="rect">
            <a:avLst/>
          </a:prstGeom>
          <a:noFill/>
        </p:spPr>
        <p:txBody>
          <a:bodyPr wrap="none">
            <a:spAutoFit/>
          </a:bodyPr>
          <a:lstStyle/>
          <a:p>
            <a:pPr algn="ctr"/>
            <a:r>
              <a:rPr sz="800" b="1" i="0">
                <a:solidFill>
                  <a:srgbClr val="39FF14"/>
                </a:solidFill>
                <a:latin typeface="Calibri"/>
              </a:rPr>
              <a:t>CMatrix:  Context-Isolated Agent Spawning — agents return structured ASG delta, not raw history.</a:t>
            </a:r>
          </a:p>
        </p:txBody>
      </p:sp>
      <p:sp>
        <p:nvSpPr>
          <p:cNvPr id="48" name="Rectangle 47"/>
          <p:cNvSpPr/>
          <p:nvPr/>
        </p:nvSpPr>
        <p:spPr>
          <a:xfrm>
            <a:off x="6355080" y="987552"/>
            <a:ext cx="5669280" cy="274320"/>
          </a:xfrm>
          <a:prstGeom prst="rect">
            <a:avLst/>
          </a:prstGeom>
          <a:solidFill>
            <a:srgbClr val="120820"/>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64808" y="1005840"/>
            <a:ext cx="5486400" cy="237744"/>
          </a:xfrm>
          <a:prstGeom prst="rect">
            <a:avLst/>
          </a:prstGeom>
          <a:noFill/>
        </p:spPr>
        <p:txBody>
          <a:bodyPr wrap="square">
            <a:spAutoFit/>
          </a:bodyPr>
          <a:lstStyle/>
          <a:p>
            <a:pPr algn="ctr"/>
            <a:r>
              <a:rPr sz="1000" b="1" i="0">
                <a:solidFill>
                  <a:srgbClr val="BD93F9"/>
                </a:solidFill>
                <a:latin typeface="Calibri"/>
              </a:rPr>
              <a:t>💻  OPEN-SOURCE REPOSITORIES</a:t>
            </a:r>
          </a:p>
        </p:txBody>
      </p:sp>
      <p:sp>
        <p:nvSpPr>
          <p:cNvPr id="50" name="Rectangle 49"/>
          <p:cNvSpPr/>
          <p:nvPr/>
        </p:nvSpPr>
        <p:spPr>
          <a:xfrm>
            <a:off x="6355080" y="1307592"/>
            <a:ext cx="5669280" cy="1627632"/>
          </a:xfrm>
          <a:prstGeom prst="rect">
            <a:avLst/>
          </a:prstGeom>
          <a:solidFill>
            <a:srgbClr val="10162B"/>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355080" y="1307592"/>
            <a:ext cx="347472" cy="16276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3368" y="1984248"/>
            <a:ext cx="310896" cy="274320"/>
          </a:xfrm>
          <a:prstGeom prst="rect">
            <a:avLst/>
          </a:prstGeom>
          <a:noFill/>
        </p:spPr>
        <p:txBody>
          <a:bodyPr wrap="square">
            <a:spAutoFit/>
          </a:bodyPr>
          <a:lstStyle/>
          <a:p>
            <a:pPr algn="ctr"/>
            <a:r>
              <a:rPr sz="1100" b="1" i="0">
                <a:solidFill>
                  <a:srgbClr val="0A0D1A"/>
                </a:solidFill>
                <a:latin typeface="Calibri"/>
              </a:rPr>
              <a:t>6</a:t>
            </a:r>
          </a:p>
        </p:txBody>
      </p:sp>
      <p:sp>
        <p:nvSpPr>
          <p:cNvPr id="53" name="TextBox 52"/>
          <p:cNvSpPr txBox="1"/>
          <p:nvPr/>
        </p:nvSpPr>
        <p:spPr>
          <a:xfrm>
            <a:off x="6793992" y="1380744"/>
            <a:ext cx="5184648" cy="256032"/>
          </a:xfrm>
          <a:prstGeom prst="rect">
            <a:avLst/>
          </a:prstGeom>
          <a:noFill/>
        </p:spPr>
        <p:txBody>
          <a:bodyPr wrap="square">
            <a:spAutoFit/>
          </a:bodyPr>
          <a:lstStyle/>
          <a:p>
            <a:pPr algn="ctr"/>
            <a:r>
              <a:rPr sz="1300" b="1" i="0">
                <a:solidFill>
                  <a:srgbClr val="39FF14"/>
                </a:solidFill>
                <a:latin typeface="Calibri"/>
              </a:rPr>
              <a:t>PentAGI</a:t>
            </a:r>
          </a:p>
        </p:txBody>
      </p:sp>
      <p:sp>
        <p:nvSpPr>
          <p:cNvPr id="54" name="TextBox 53"/>
          <p:cNvSpPr txBox="1"/>
          <p:nvPr/>
        </p:nvSpPr>
        <p:spPr>
          <a:xfrm>
            <a:off x="6793992" y="1645920"/>
            <a:ext cx="5184648" cy="182880"/>
          </a:xfrm>
          <a:prstGeom prst="rect">
            <a:avLst/>
          </a:prstGeom>
          <a:noFill/>
        </p:spPr>
        <p:txBody>
          <a:bodyPr wrap="square">
            <a:spAutoFit/>
          </a:bodyPr>
          <a:lstStyle/>
          <a:p>
            <a:pPr algn="ctr"/>
            <a:r>
              <a:rPr sz="850" b="0" i="1">
                <a:solidFill>
                  <a:srgbClr val="A0AAB8"/>
                </a:solidFill>
                <a:latin typeface="Calibri"/>
              </a:rPr>
              <a:t>vxcontrol/pentagi</a:t>
            </a:r>
          </a:p>
        </p:txBody>
      </p:sp>
      <p:sp>
        <p:nvSpPr>
          <p:cNvPr id="55" name="TextBox 54"/>
          <p:cNvSpPr txBox="1"/>
          <p:nvPr/>
        </p:nvSpPr>
        <p:spPr>
          <a:xfrm>
            <a:off x="6793992" y="1837944"/>
            <a:ext cx="5184648" cy="457200"/>
          </a:xfrm>
          <a:prstGeom prst="rect">
            <a:avLst/>
          </a:prstGeom>
          <a:noFill/>
        </p:spPr>
        <p:txBody>
          <a:bodyPr wrap="square">
            <a:spAutoFit/>
          </a:bodyPr>
          <a:lstStyle/>
          <a:p>
            <a:pPr algn="ctr"/>
            <a:r>
              <a:rPr sz="900" b="0" i="0">
                <a:solidFill>
                  <a:srgbClr val="A0AAB8"/>
                </a:solidFill>
                <a:latin typeface="Calibri"/>
              </a:rPr>
              <a:t>Production multi-agent pentesting platform.
Adviser detects fixation; Reflector nudges stuck agents.</a:t>
            </a:r>
          </a:p>
        </p:txBody>
      </p:sp>
      <p:sp>
        <p:nvSpPr>
          <p:cNvPr id="56" name="Rectangle 55"/>
          <p:cNvSpPr/>
          <p:nvPr/>
        </p:nvSpPr>
        <p:spPr>
          <a:xfrm>
            <a:off x="6775704" y="2642616"/>
            <a:ext cx="5175504" cy="237744"/>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812280" y="2651760"/>
            <a:ext cx="5138928" cy="237744"/>
          </a:xfrm>
          <a:prstGeom prst="rect">
            <a:avLst/>
          </a:prstGeom>
          <a:noFill/>
        </p:spPr>
        <p:txBody>
          <a:bodyPr wrap="square">
            <a:spAutoFit/>
          </a:bodyPr>
          <a:lstStyle/>
          <a:p>
            <a:pPr algn="ctr"/>
            <a:r>
              <a:rPr sz="850" b="1" i="0">
                <a:solidFill>
                  <a:srgbClr val="39FF14"/>
                </a:solidFill>
                <a:latin typeface="Calibri"/>
              </a:rPr>
              <a:t>CMatrix:  Cycle Guard (detects repeated identical tool calls) + Reflector (corrective guidance on repeated failures).</a:t>
            </a:r>
          </a:p>
        </p:txBody>
      </p:sp>
      <p:sp>
        <p:nvSpPr>
          <p:cNvPr id="58" name="Rectangle 57"/>
          <p:cNvSpPr/>
          <p:nvPr/>
        </p:nvSpPr>
        <p:spPr>
          <a:xfrm>
            <a:off x="6355080" y="3026664"/>
            <a:ext cx="5669280" cy="1627632"/>
          </a:xfrm>
          <a:prstGeom prst="rect">
            <a:avLst/>
          </a:prstGeom>
          <a:solidFill>
            <a:srgbClr val="10162B"/>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355080" y="3026664"/>
            <a:ext cx="347472" cy="1627632"/>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73368" y="3703320"/>
            <a:ext cx="310896" cy="274320"/>
          </a:xfrm>
          <a:prstGeom prst="rect">
            <a:avLst/>
          </a:prstGeom>
          <a:noFill/>
        </p:spPr>
        <p:txBody>
          <a:bodyPr wrap="square">
            <a:spAutoFit/>
          </a:bodyPr>
          <a:lstStyle/>
          <a:p>
            <a:pPr algn="ctr"/>
            <a:r>
              <a:rPr sz="1100" b="1" i="0">
                <a:solidFill>
                  <a:srgbClr val="0A0D1A"/>
                </a:solidFill>
                <a:latin typeface="Calibri"/>
              </a:rPr>
              <a:t>7</a:t>
            </a:r>
          </a:p>
        </p:txBody>
      </p:sp>
      <p:sp>
        <p:nvSpPr>
          <p:cNvPr id="61" name="TextBox 60"/>
          <p:cNvSpPr txBox="1"/>
          <p:nvPr/>
        </p:nvSpPr>
        <p:spPr>
          <a:xfrm>
            <a:off x="6793992" y="3099816"/>
            <a:ext cx="5184648" cy="256032"/>
          </a:xfrm>
          <a:prstGeom prst="rect">
            <a:avLst/>
          </a:prstGeom>
          <a:noFill/>
        </p:spPr>
        <p:txBody>
          <a:bodyPr wrap="square">
            <a:spAutoFit/>
          </a:bodyPr>
          <a:lstStyle/>
          <a:p>
            <a:pPr algn="ctr"/>
            <a:r>
              <a:rPr sz="1300" b="1" i="0">
                <a:solidFill>
                  <a:srgbClr val="00E5FF"/>
                </a:solidFill>
                <a:latin typeface="Calibri"/>
              </a:rPr>
              <a:t>Claude Code</a:t>
            </a:r>
          </a:p>
        </p:txBody>
      </p:sp>
      <p:sp>
        <p:nvSpPr>
          <p:cNvPr id="62" name="TextBox 61"/>
          <p:cNvSpPr txBox="1"/>
          <p:nvPr/>
        </p:nvSpPr>
        <p:spPr>
          <a:xfrm>
            <a:off x="6793992" y="3364992"/>
            <a:ext cx="5184648" cy="182880"/>
          </a:xfrm>
          <a:prstGeom prst="rect">
            <a:avLst/>
          </a:prstGeom>
          <a:noFill/>
        </p:spPr>
        <p:txBody>
          <a:bodyPr wrap="square">
            <a:spAutoFit/>
          </a:bodyPr>
          <a:lstStyle/>
          <a:p>
            <a:pPr algn="ctr"/>
            <a:r>
              <a:rPr sz="850" b="0" i="1">
                <a:solidFill>
                  <a:srgbClr val="A0AAB8"/>
                </a:solidFill>
                <a:latin typeface="Calibri"/>
              </a:rPr>
              <a:t>Anthropic pattern — yasasbanukaofficial/claude-code</a:t>
            </a:r>
          </a:p>
        </p:txBody>
      </p:sp>
      <p:sp>
        <p:nvSpPr>
          <p:cNvPr id="63" name="TextBox 62"/>
          <p:cNvSpPr txBox="1"/>
          <p:nvPr/>
        </p:nvSpPr>
        <p:spPr>
          <a:xfrm>
            <a:off x="6793992" y="3557016"/>
            <a:ext cx="5184648" cy="457200"/>
          </a:xfrm>
          <a:prstGeom prst="rect">
            <a:avLst/>
          </a:prstGeom>
          <a:noFill/>
        </p:spPr>
        <p:txBody>
          <a:bodyPr wrap="square">
            <a:spAutoFit/>
          </a:bodyPr>
          <a:lstStyle/>
          <a:p>
            <a:pPr algn="ctr"/>
            <a:r>
              <a:rPr sz="900" b="0" i="0">
                <a:solidFill>
                  <a:srgbClr val="A0AAB8"/>
                </a:solidFill>
                <a:latin typeface="Calibri"/>
              </a:rPr>
              <a:t>yoloClassifier.ts: two-stage fast-filter + chain-of-thought tool-call auto-approval.
27-event named hook architecture for operator intervention.</a:t>
            </a:r>
          </a:p>
        </p:txBody>
      </p:sp>
      <p:sp>
        <p:nvSpPr>
          <p:cNvPr id="64" name="Rectangle 63"/>
          <p:cNvSpPr/>
          <p:nvPr/>
        </p:nvSpPr>
        <p:spPr>
          <a:xfrm>
            <a:off x="6775704" y="4361688"/>
            <a:ext cx="5175504" cy="237744"/>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12280" y="4370832"/>
            <a:ext cx="5138928" cy="237744"/>
          </a:xfrm>
          <a:prstGeom prst="rect">
            <a:avLst/>
          </a:prstGeom>
          <a:noFill/>
        </p:spPr>
        <p:txBody>
          <a:bodyPr wrap="square">
            <a:spAutoFit/>
          </a:bodyPr>
          <a:lstStyle/>
          <a:p>
            <a:pPr algn="ctr"/>
            <a:r>
              <a:rPr sz="850" b="1" i="0">
                <a:solidFill>
                  <a:srgbClr val="39FF14"/>
                </a:solidFill>
                <a:latin typeface="Calibri"/>
              </a:rPr>
              <a:t>CMatrix:  LLM Permission Classifier (Medium-tier Risk Gate) + 6-event Agent Lifecycle Hook System.</a:t>
            </a:r>
          </a:p>
        </p:txBody>
      </p:sp>
      <p:sp>
        <p:nvSpPr>
          <p:cNvPr id="66" name="Rectangle 65"/>
          <p:cNvSpPr/>
          <p:nvPr/>
        </p:nvSpPr>
        <p:spPr>
          <a:xfrm>
            <a:off x="6355080" y="4745736"/>
            <a:ext cx="5669280" cy="1627632"/>
          </a:xfrm>
          <a:prstGeom prst="rect">
            <a:avLst/>
          </a:prstGeom>
          <a:solidFill>
            <a:srgbClr val="10162B"/>
          </a:solidFill>
          <a:ln w="1524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355080" y="4745736"/>
            <a:ext cx="347472" cy="16276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73368" y="5422392"/>
            <a:ext cx="310896" cy="274320"/>
          </a:xfrm>
          <a:prstGeom prst="rect">
            <a:avLst/>
          </a:prstGeom>
          <a:noFill/>
        </p:spPr>
        <p:txBody>
          <a:bodyPr wrap="square">
            <a:spAutoFit/>
          </a:bodyPr>
          <a:lstStyle/>
          <a:p>
            <a:pPr algn="ctr"/>
            <a:r>
              <a:rPr sz="1100" b="1" i="0">
                <a:solidFill>
                  <a:srgbClr val="0A0D1A"/>
                </a:solidFill>
                <a:latin typeface="Calibri"/>
              </a:rPr>
              <a:t>8</a:t>
            </a:r>
          </a:p>
        </p:txBody>
      </p:sp>
      <p:sp>
        <p:nvSpPr>
          <p:cNvPr id="69" name="TextBox 68"/>
          <p:cNvSpPr txBox="1"/>
          <p:nvPr/>
        </p:nvSpPr>
        <p:spPr>
          <a:xfrm>
            <a:off x="6793992" y="4818888"/>
            <a:ext cx="5184648" cy="256032"/>
          </a:xfrm>
          <a:prstGeom prst="rect">
            <a:avLst/>
          </a:prstGeom>
          <a:noFill/>
        </p:spPr>
        <p:txBody>
          <a:bodyPr wrap="square">
            <a:spAutoFit/>
          </a:bodyPr>
          <a:lstStyle/>
          <a:p>
            <a:pPr algn="ctr"/>
            <a:r>
              <a:rPr sz="1300" b="1" i="0">
                <a:solidFill>
                  <a:srgbClr val="FFD700"/>
                </a:solidFill>
                <a:latin typeface="Calibri"/>
              </a:rPr>
              <a:t>Hermes Agent</a:t>
            </a:r>
          </a:p>
        </p:txBody>
      </p:sp>
      <p:sp>
        <p:nvSpPr>
          <p:cNvPr id="70" name="TextBox 69"/>
          <p:cNvSpPr txBox="1"/>
          <p:nvPr/>
        </p:nvSpPr>
        <p:spPr>
          <a:xfrm>
            <a:off x="6793992" y="5084064"/>
            <a:ext cx="5184648" cy="182880"/>
          </a:xfrm>
          <a:prstGeom prst="rect">
            <a:avLst/>
          </a:prstGeom>
          <a:noFill/>
        </p:spPr>
        <p:txBody>
          <a:bodyPr wrap="square">
            <a:spAutoFit/>
          </a:bodyPr>
          <a:lstStyle/>
          <a:p>
            <a:pPr algn="ctr"/>
            <a:r>
              <a:rPr sz="850" b="0" i="1">
                <a:solidFill>
                  <a:srgbClr val="A0AAB8"/>
                </a:solidFill>
                <a:latin typeface="Calibri"/>
              </a:rPr>
              <a:t>NousResearch/hermes-agent</a:t>
            </a:r>
          </a:p>
        </p:txBody>
      </p:sp>
      <p:sp>
        <p:nvSpPr>
          <p:cNvPr id="71" name="TextBox 70"/>
          <p:cNvSpPr txBox="1"/>
          <p:nvPr/>
        </p:nvSpPr>
        <p:spPr>
          <a:xfrm>
            <a:off x="6793992" y="5276088"/>
            <a:ext cx="5184648" cy="457200"/>
          </a:xfrm>
          <a:prstGeom prst="rect">
            <a:avLst/>
          </a:prstGeom>
          <a:noFill/>
        </p:spPr>
        <p:txBody>
          <a:bodyPr wrap="square">
            <a:spAutoFit/>
          </a:bodyPr>
          <a:lstStyle/>
          <a:p>
            <a:pPr algn="ctr"/>
            <a:r>
              <a:rPr sz="900" b="0" i="0">
                <a:solidFill>
                  <a:srgbClr val="A0AAB8"/>
                </a:solidFill>
                <a:latin typeface="Calibri"/>
              </a:rPr>
              <a:t>Closed learning loop: skill crystallization from completed tasks.
Structured trajectory export for SFT/RL training via DSPy + Atropos.</a:t>
            </a:r>
          </a:p>
        </p:txBody>
      </p:sp>
      <p:sp>
        <p:nvSpPr>
          <p:cNvPr id="72" name="Rectangle 71"/>
          <p:cNvSpPr/>
          <p:nvPr/>
        </p:nvSpPr>
        <p:spPr>
          <a:xfrm>
            <a:off x="6775704" y="6080760"/>
            <a:ext cx="5175504" cy="237744"/>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812280" y="6089904"/>
            <a:ext cx="5138928" cy="237744"/>
          </a:xfrm>
          <a:prstGeom prst="rect">
            <a:avLst/>
          </a:prstGeom>
          <a:noFill/>
        </p:spPr>
        <p:txBody>
          <a:bodyPr wrap="square">
            <a:spAutoFit/>
          </a:bodyPr>
          <a:lstStyle/>
          <a:p>
            <a:pPr algn="ctr"/>
            <a:r>
              <a:rPr sz="850" b="1" i="0">
                <a:solidFill>
                  <a:srgbClr val="39FF14"/>
                </a:solidFill>
                <a:latin typeface="Calibri"/>
              </a:rPr>
              <a:t>CMatrix:  Attack Strategy Library crystallization (C11) + Engagement Trajectory Export dataset (C12).</a:t>
            </a:r>
          </a:p>
        </p:txBody>
      </p:sp>
      <p:sp>
        <p:nvSpPr>
          <p:cNvPr id="74" name="Rectangle 73"/>
          <p:cNvSpPr/>
          <p:nvPr/>
        </p:nvSpPr>
        <p:spPr>
          <a:xfrm>
            <a:off x="274320" y="987552"/>
            <a:ext cx="5897880"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274320" y="987552"/>
            <a:ext cx="5897880" cy="274320"/>
          </a:xfrm>
          <a:prstGeom prst="rect">
            <a:avLst/>
          </a:prstGeom>
          <a:solidFill>
            <a:srgbClr val="081420"/>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84048" y="1005840"/>
            <a:ext cx="5715000" cy="237744"/>
          </a:xfrm>
          <a:prstGeom prst="rect">
            <a:avLst/>
          </a:prstGeom>
          <a:noFill/>
        </p:spPr>
        <p:txBody>
          <a:bodyPr wrap="square">
            <a:spAutoFit/>
          </a:bodyPr>
          <a:lstStyle/>
          <a:p>
            <a:pPr algn="ctr"/>
            <a:r>
              <a:rPr sz="1000" b="1" i="0">
                <a:solidFill>
                  <a:srgbClr val="00E5FF"/>
                </a:solidFill>
                <a:latin typeface="Calibri"/>
              </a:rPr>
              <a:t>📄  ACADEMIC PAPERS</a:t>
            </a:r>
          </a:p>
        </p:txBody>
      </p:sp>
      <p:sp>
        <p:nvSpPr>
          <p:cNvPr id="77" name="Rectangle 76"/>
          <p:cNvSpPr/>
          <p:nvPr/>
        </p:nvSpPr>
        <p:spPr>
          <a:xfrm>
            <a:off x="6236208" y="960120"/>
            <a:ext cx="27432" cy="5349240"/>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1825935" y="6355080"/>
            <a:ext cx="320040" cy="411480"/>
          </a:xfrm>
          <a:prstGeom prst="rect">
            <a:avLst/>
          </a:prstGeom>
          <a:noFill/>
        </p:spPr>
        <p:txBody>
          <a:bodyPr wrap="square">
            <a:spAutoFit/>
          </a:bodyPr>
          <a:lstStyle/>
          <a:p>
            <a:pPr algn="r"/>
            <a:r>
              <a:rPr sz="1300" b="1" i="0">
                <a:solidFill>
                  <a:srgbClr val="BD93F9"/>
                </a:solidFill>
                <a:latin typeface="Calibr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