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notesMaster" Target="notesMasters/notesMaster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heme" Target="theme/theme1.xml"/>
  <Relationship Id="rId7" Type="http://schemas.openxmlformats.org/officeDocument/2006/relationships/tableStyles" Target="tableStyles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88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</a:rPr>
              <a:t>DUAL-GRAPH WORLD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APG — Attack Path Graph: Inferred Opportunity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Commander reads ASG Vulnerability nodes → reasons → infers chains  ·  No raw scan data — attack reasoning only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1E1004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92354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Chain-01: CVE-2022-21661 → SQLi → Admin Auth → RCE  </a:t>
            </a:r>
            <a:pPr indent="0" marL="0">
              <a:buNone/>
            </a:pPr>
            <a:r>
              <a:rPr lang="en-US" sz="750" dirty="0">
                <a:solidFill>
                  <a:srgbClr val="FFC107"/>
                </a:solidFill>
              </a:rPr>
              <a:t>risk: 9.1 ↑  </a:t>
            </a:r>
            <a:pPr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✅ VALIDATED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179576"/>
            <a:ext cx="3986784" cy="0"/>
          </a:xfrm>
          <a:prstGeom prst="line">
            <a:avLst/>
          </a:prstGeom>
          <a:noFill/>
          <a:ln w="6350">
            <a:solidFill>
              <a:srgbClr val="2D2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89304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220606"/>
          </a:solidFill>
          <a:ln w="1143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289304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starts_at →
</a:t>
            </a:r>
            <a:pPr algn="ctr" indent="0" marL="0">
              <a:buNone/>
            </a:pPr>
            <a:r>
              <a:rPr lang="en-US" sz="600" b="1" dirty="0">
                <a:solidFill>
                  <a:srgbClr val="FF5252"/>
                </a:solidFill>
              </a:rPr>
              <a:t>CVE-2022-21661</a:t>
            </a:r>
            <a:endParaRPr lang="en-US" sz="55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5252"/>
                </a:solidFill>
              </a:rPr>
              <a:t>CVSS 8.8 · WP SQLi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1499616" y="1289304"/>
            <a:ext cx="841248" cy="502920"/>
          </a:xfrm>
          <a:prstGeom prst="roundRect">
            <a:avLst>
              <a:gd name="adj" fmla="val 9091"/>
            </a:avLst>
          </a:prstGeom>
          <a:solidFill>
            <a:srgbClr val="0E0C02"/>
          </a:solidFill>
          <a:ln w="1143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99616" y="1289304"/>
            <a:ext cx="8412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Step 1
</a:t>
            </a:r>
            <a:pPr algn="ctr" indent="0" marL="0">
              <a:buNone/>
            </a:pPr>
            <a:r>
              <a:rPr lang="en-US" sz="600" b="1" dirty="0">
                <a:solidFill>
                  <a:srgbClr val="7FFF00"/>
                </a:solidFill>
              </a:rPr>
              <a:t>SQLMap
</a:t>
            </a:r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WP_Query SQLi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confirmed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1499616" y="1801368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9C27B0"/>
                </a:solidFill>
              </a:rPr>
              <a:t>↗ sqli-extraction.txt</a:t>
            </a:r>
            <a:endParaRPr lang="en-US" sz="480" dirty="0"/>
          </a:p>
        </p:txBody>
      </p:sp>
      <p:sp>
        <p:nvSpPr>
          <p:cNvPr id="13" name="Shape 11"/>
          <p:cNvSpPr/>
          <p:nvPr/>
        </p:nvSpPr>
        <p:spPr>
          <a:xfrm>
            <a:off x="1399032" y="1540764"/>
            <a:ext cx="91440" cy="0"/>
          </a:xfrm>
          <a:prstGeom prst="line">
            <a:avLst/>
          </a:prstGeom>
          <a:noFill/>
          <a:ln w="7620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17420" y="1289304"/>
            <a:ext cx="841248" cy="502920"/>
          </a:xfrm>
          <a:prstGeom prst="roundRect">
            <a:avLst>
              <a:gd name="adj" fmla="val 9091"/>
            </a:avLst>
          </a:prstGeom>
          <a:solidFill>
            <a:srgbClr val="0E0C02"/>
          </a:solidFill>
          <a:ln w="1143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17420" y="1289304"/>
            <a:ext cx="8412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Step 2
</a:t>
            </a:r>
            <a:pPr algn="ctr" indent="0" marL="0">
              <a:buNone/>
            </a:pPr>
            <a:r>
              <a:rPr lang="en-US" sz="600" b="1" dirty="0">
                <a:solidFill>
                  <a:srgbClr val="7FFF00"/>
                </a:solidFill>
              </a:rPr>
              <a:t>SQLMap --dump
</a:t>
            </a:r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Admin hash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cracked offline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2217420" y="1801368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9C27B0"/>
                </a:solidFill>
              </a:rPr>
              <a:t>↗ users-table-dump.png</a:t>
            </a:r>
            <a:endParaRPr lang="en-US" sz="480" dirty="0"/>
          </a:p>
        </p:txBody>
      </p:sp>
      <p:sp>
        <p:nvSpPr>
          <p:cNvPr id="17" name="Shape 15"/>
          <p:cNvSpPr/>
          <p:nvPr/>
        </p:nvSpPr>
        <p:spPr>
          <a:xfrm>
            <a:off x="2125980" y="1540764"/>
            <a:ext cx="82296" cy="0"/>
          </a:xfrm>
          <a:prstGeom prst="line">
            <a:avLst/>
          </a:prstGeom>
          <a:noFill/>
          <a:ln w="7620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071116" y="141274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dirty="0">
                <a:solidFill>
                  <a:srgbClr val="5A4A00"/>
                </a:solidFill>
              </a:rPr>
              <a:t>next_step</a:t>
            </a:r>
            <a:endParaRPr lang="en-US" sz="400" dirty="0"/>
          </a:p>
        </p:txBody>
      </p:sp>
      <p:sp>
        <p:nvSpPr>
          <p:cNvPr id="19" name="Shape 17"/>
          <p:cNvSpPr/>
          <p:nvPr/>
        </p:nvSpPr>
        <p:spPr>
          <a:xfrm>
            <a:off x="2935224" y="1289304"/>
            <a:ext cx="841248" cy="502920"/>
          </a:xfrm>
          <a:prstGeom prst="roundRect">
            <a:avLst>
              <a:gd name="adj" fmla="val 9091"/>
            </a:avLst>
          </a:prstGeom>
          <a:solidFill>
            <a:srgbClr val="0E0C02"/>
          </a:solidFill>
          <a:ln w="1143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35224" y="1289304"/>
            <a:ext cx="8412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Step 3
</a:t>
            </a:r>
            <a:pPr algn="ctr" indent="0" marL="0">
              <a:buNone/>
            </a:pPr>
            <a:r>
              <a:rPr lang="en-US" sz="600" b="1" dirty="0">
                <a:solidFill>
                  <a:srgbClr val="7FFF00"/>
                </a:solidFill>
              </a:rPr>
              <a:t>Metasploit
</a:t>
            </a:r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Web shell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RCE achieved ⚡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2935224" y="1801368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9C27B0"/>
                </a:solidFill>
              </a:rPr>
              <a:t>↗ webshell-rce.png</a:t>
            </a:r>
            <a:endParaRPr lang="en-US" sz="480" dirty="0"/>
          </a:p>
        </p:txBody>
      </p:sp>
      <p:sp>
        <p:nvSpPr>
          <p:cNvPr id="22" name="Shape 20"/>
          <p:cNvSpPr/>
          <p:nvPr/>
        </p:nvSpPr>
        <p:spPr>
          <a:xfrm>
            <a:off x="2843784" y="1540764"/>
            <a:ext cx="82296" cy="0"/>
          </a:xfrm>
          <a:prstGeom prst="line">
            <a:avLst/>
          </a:prstGeom>
          <a:noFill/>
          <a:ln w="7620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788920" y="141274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dirty="0">
                <a:solidFill>
                  <a:srgbClr val="5A4A00"/>
                </a:solidFill>
              </a:rPr>
              <a:t>next_step</a:t>
            </a:r>
            <a:endParaRPr lang="en-US" sz="400" dirty="0"/>
          </a:p>
        </p:txBody>
      </p:sp>
      <p:sp>
        <p:nvSpPr>
          <p:cNvPr id="24" name="Shape 22"/>
          <p:cNvSpPr/>
          <p:nvPr/>
        </p:nvSpPr>
        <p:spPr>
          <a:xfrm>
            <a:off x="3653028" y="1289304"/>
            <a:ext cx="841248" cy="502920"/>
          </a:xfrm>
          <a:prstGeom prst="roundRect">
            <a:avLst>
              <a:gd name="adj" fmla="val 9091"/>
            </a:avLst>
          </a:prstGeom>
          <a:solidFill>
            <a:srgbClr val="200818"/>
          </a:solidFill>
          <a:ln w="1143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3028" y="1289304"/>
            <a:ext cx="8412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💀 IMPACT
</a:t>
            </a:r>
            <a:pPr algn="ctr" indent="0" marL="0">
              <a:buNone/>
            </a:pPr>
            <a:r>
              <a:rPr lang="en-US" sz="600" b="1" dirty="0">
                <a:solidFill>
                  <a:srgbClr val="9C27B0"/>
                </a:solidFill>
              </a:rPr>
              <a:t>CRITICAL
</a:t>
            </a:r>
            <a:pPr algn="ctr" indent="0" marL="0">
              <a:buNone/>
            </a:pPr>
            <a:r>
              <a:rPr lang="en-US" sz="550" dirty="0">
                <a:solidFill>
                  <a:srgbClr val="CE93D8"/>
                </a:solidFill>
              </a:rPr>
              <a:t>Full RCE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CE93D8"/>
                </a:solidFill>
              </a:rPr>
              <a:t>Customer PII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3561588" y="1540764"/>
            <a:ext cx="82296" cy="0"/>
          </a:xfrm>
          <a:prstGeom prst="line">
            <a:avLst/>
          </a:prstGeom>
          <a:noFill/>
          <a:ln w="7620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506724" y="141274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dirty="0">
                <a:solidFill>
                  <a:srgbClr val="5A4A00"/>
                </a:solidFill>
              </a:rPr>
              <a:t>next_step</a:t>
            </a:r>
            <a:endParaRPr lang="en-US" sz="400" dirty="0"/>
          </a:p>
        </p:txBody>
      </p:sp>
      <p:sp>
        <p:nvSpPr>
          <p:cNvPr id="28" name="Shape 26"/>
          <p:cNvSpPr/>
          <p:nvPr/>
        </p:nvSpPr>
        <p:spPr>
          <a:xfrm>
            <a:off x="4663440" y="86868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1E1004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92354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Chain-02: IDOR on /api/v1/orders → Customer Data  </a:t>
            </a:r>
            <a:pPr indent="0" marL="0">
              <a:buNone/>
            </a:pPr>
            <a:r>
              <a:rPr lang="en-US" sz="750" dirty="0">
                <a:solidFill>
                  <a:srgbClr val="FFC107"/>
                </a:solidFill>
              </a:rPr>
              <a:t>risk: 7.5  </a:t>
            </a:r>
            <a:pPr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✅ VALIDATED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73168" y="1179576"/>
            <a:ext cx="3986784" cy="0"/>
          </a:xfrm>
          <a:prstGeom prst="line">
            <a:avLst/>
          </a:prstGeom>
          <a:noFill/>
          <a:ln w="6350">
            <a:solidFill>
              <a:srgbClr val="2D2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1289304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220606"/>
          </a:solidFill>
          <a:ln w="1143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73168" y="1289304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starts_at →
</a:t>
            </a:r>
            <a:pPr algn="ctr" indent="0" marL="0">
              <a:buNone/>
            </a:pPr>
            <a:r>
              <a:rPr lang="en-US" sz="600" b="1" dirty="0">
                <a:solidFill>
                  <a:srgbClr val="FF5252"/>
                </a:solidFill>
              </a:rPr>
              <a:t>IDOR: user_id</a:t>
            </a:r>
            <a:endParaRPr lang="en-US" sz="55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5252"/>
                </a:solidFill>
              </a:rPr>
              <a:t>param injectable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5888736" y="1289304"/>
            <a:ext cx="841248" cy="502920"/>
          </a:xfrm>
          <a:prstGeom prst="roundRect">
            <a:avLst>
              <a:gd name="adj" fmla="val 9091"/>
            </a:avLst>
          </a:prstGeom>
          <a:solidFill>
            <a:srgbClr val="0E0C02"/>
          </a:solidFill>
          <a:ln w="1143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88736" y="1289304"/>
            <a:ext cx="8412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Step 1
</a:t>
            </a:r>
            <a:pPr algn="ctr" indent="0" marL="0">
              <a:buNone/>
            </a:pPr>
            <a:r>
              <a:rPr lang="en-US" sz="600" b="1" dirty="0">
                <a:solidFill>
                  <a:srgbClr val="7FFF00"/>
                </a:solidFill>
              </a:rPr>
              <a:t>SQLMap
</a:t>
            </a:r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IDOR confirmed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no auth check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5888736" y="1801368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9C27B0"/>
                </a:solidFill>
              </a:rPr>
              <a:t>↗ idor-orders-dump.png</a:t>
            </a:r>
            <a:endParaRPr lang="en-US" sz="480" dirty="0"/>
          </a:p>
        </p:txBody>
      </p:sp>
      <p:sp>
        <p:nvSpPr>
          <p:cNvPr id="36" name="Shape 34"/>
          <p:cNvSpPr/>
          <p:nvPr/>
        </p:nvSpPr>
        <p:spPr>
          <a:xfrm>
            <a:off x="5788152" y="1540764"/>
            <a:ext cx="91440" cy="0"/>
          </a:xfrm>
          <a:prstGeom prst="line">
            <a:avLst/>
          </a:prstGeom>
          <a:noFill/>
          <a:ln w="7620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324344" y="1289304"/>
            <a:ext cx="841248" cy="502920"/>
          </a:xfrm>
          <a:prstGeom prst="roundRect">
            <a:avLst>
              <a:gd name="adj" fmla="val 9091"/>
            </a:avLst>
          </a:prstGeom>
          <a:solidFill>
            <a:srgbClr val="200818"/>
          </a:solidFill>
          <a:ln w="1143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24344" y="1289304"/>
            <a:ext cx="8412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💀 IMPACT
</a:t>
            </a:r>
            <a:pPr algn="ctr" indent="0" marL="0">
              <a:buNone/>
            </a:pPr>
            <a:r>
              <a:rPr lang="en-US" sz="600" b="1" dirty="0">
                <a:solidFill>
                  <a:srgbClr val="9C27B0"/>
                </a:solidFill>
              </a:rPr>
              <a:t>HIGH
</a:t>
            </a:r>
            <a:pPr algn="ctr" indent="0" marL="0">
              <a:buNone/>
            </a:pPr>
            <a:r>
              <a:rPr lang="en-US" sz="550" dirty="0">
                <a:solidFill>
                  <a:srgbClr val="CE93D8"/>
                </a:solidFill>
              </a:rPr>
              <a:t>All orders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CE93D8"/>
                </a:solidFill>
              </a:rPr>
              <a:t>exposed · PII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7232904" y="1540764"/>
            <a:ext cx="82296" cy="0"/>
          </a:xfrm>
          <a:prstGeom prst="line">
            <a:avLst/>
          </a:prstGeom>
          <a:noFill/>
          <a:ln w="7620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178040" y="141274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dirty="0">
                <a:solidFill>
                  <a:srgbClr val="5A4A00"/>
                </a:solidFill>
              </a:rPr>
              <a:t>next_step</a:t>
            </a:r>
            <a:endParaRPr lang="en-US" sz="400" dirty="0"/>
          </a:p>
        </p:txBody>
      </p:sp>
      <p:sp>
        <p:nvSpPr>
          <p:cNvPr id="41" name="Shape 39"/>
          <p:cNvSpPr/>
          <p:nvPr/>
        </p:nvSpPr>
        <p:spPr>
          <a:xfrm>
            <a:off x="274320" y="2770632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1E1004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84048" y="282549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Chain-03: Staging Blind SQLi → Credential Extraction  </a:t>
            </a:r>
            <a:pPr indent="0" marL="0">
              <a:buNone/>
            </a:pPr>
            <a:r>
              <a:rPr lang="en-US" sz="750" dirty="0">
                <a:solidFill>
                  <a:srgbClr val="FFC107"/>
                </a:solidFill>
              </a:rPr>
              <a:t>risk: 8.1  </a:t>
            </a:r>
            <a:pPr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✅ VALIDATED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4048" y="3081528"/>
            <a:ext cx="3986784" cy="0"/>
          </a:xfrm>
          <a:prstGeom prst="line">
            <a:avLst/>
          </a:prstGeom>
          <a:noFill/>
          <a:ln w="6350">
            <a:solidFill>
              <a:srgbClr val="2D2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3191256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220606"/>
          </a:solidFill>
          <a:ln w="1143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84048" y="3191256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starts_at →
</a:t>
            </a:r>
            <a:pPr algn="ctr" indent="0" marL="0">
              <a:buNone/>
            </a:pPr>
            <a:r>
              <a:rPr lang="en-US" sz="600" b="1" dirty="0">
                <a:solidFill>
                  <a:srgbClr val="FF5252"/>
                </a:solidFill>
              </a:rPr>
              <a:t>SQL error:</a:t>
            </a:r>
            <a:endParaRPr lang="en-US" sz="55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5252"/>
                </a:solidFill>
              </a:rPr>
              <a:t>staging login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1499616" y="3191256"/>
            <a:ext cx="841248" cy="502920"/>
          </a:xfrm>
          <a:prstGeom prst="roundRect">
            <a:avLst>
              <a:gd name="adj" fmla="val 9091"/>
            </a:avLst>
          </a:prstGeom>
          <a:solidFill>
            <a:srgbClr val="0E0C02"/>
          </a:solidFill>
          <a:ln w="1143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499616" y="3191256"/>
            <a:ext cx="8412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Step 1
</a:t>
            </a:r>
            <a:pPr algn="ctr" indent="0" marL="0">
              <a:buNone/>
            </a:pPr>
            <a:r>
              <a:rPr lang="en-US" sz="600" b="1" dirty="0">
                <a:solidFill>
                  <a:srgbClr val="7FFF00"/>
                </a:solidFill>
              </a:rPr>
              <a:t>SQLMap
</a:t>
            </a:r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Blind SQLi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DB creds extracted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1499616" y="3703320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9C27B0"/>
                </a:solidFill>
              </a:rPr>
              <a:t>↗ staging-db-dump.png</a:t>
            </a:r>
            <a:endParaRPr lang="en-US" sz="480" dirty="0"/>
          </a:p>
        </p:txBody>
      </p:sp>
      <p:sp>
        <p:nvSpPr>
          <p:cNvPr id="49" name="Shape 47"/>
          <p:cNvSpPr/>
          <p:nvPr/>
        </p:nvSpPr>
        <p:spPr>
          <a:xfrm>
            <a:off x="1399032" y="3442716"/>
            <a:ext cx="91440" cy="0"/>
          </a:xfrm>
          <a:prstGeom prst="line">
            <a:avLst/>
          </a:prstGeom>
          <a:noFill/>
          <a:ln w="7620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935224" y="3191256"/>
            <a:ext cx="841248" cy="502920"/>
          </a:xfrm>
          <a:prstGeom prst="roundRect">
            <a:avLst>
              <a:gd name="adj" fmla="val 9091"/>
            </a:avLst>
          </a:prstGeom>
          <a:solidFill>
            <a:srgbClr val="200818"/>
          </a:solidFill>
          <a:ln w="1143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935224" y="3191256"/>
            <a:ext cx="8412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💀 IMPACT
</a:t>
            </a:r>
            <a:pPr algn="ctr" indent="0" marL="0">
              <a:buNone/>
            </a:pPr>
            <a:r>
              <a:rPr lang="en-US" sz="600" b="1" dirty="0">
                <a:solidFill>
                  <a:srgbClr val="9C27B0"/>
                </a:solidFill>
              </a:rPr>
              <a:t>HIGH
</a:t>
            </a:r>
            <a:pPr algn="ctr" indent="0" marL="0">
              <a:buNone/>
            </a:pPr>
            <a:r>
              <a:rPr lang="en-US" sz="550" dirty="0">
                <a:solidFill>
                  <a:srgbClr val="CE93D8"/>
                </a:solidFill>
              </a:rPr>
              <a:t>Creds extracted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CE93D8"/>
                </a:solidFill>
              </a:rPr>
              <a:t>reuse risk ⚠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2843784" y="3442716"/>
            <a:ext cx="82296" cy="0"/>
          </a:xfrm>
          <a:prstGeom prst="line">
            <a:avLst/>
          </a:prstGeom>
          <a:noFill/>
          <a:ln w="7620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2788920" y="331470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dirty="0">
                <a:solidFill>
                  <a:srgbClr val="5A4A00"/>
                </a:solidFill>
              </a:rPr>
              <a:t>next_step</a:t>
            </a:r>
            <a:endParaRPr lang="en-US" sz="400" dirty="0"/>
          </a:p>
        </p:txBody>
      </p:sp>
      <p:sp>
        <p:nvSpPr>
          <p:cNvPr id="54" name="Shape 52"/>
          <p:cNvSpPr/>
          <p:nvPr/>
        </p:nvSpPr>
        <p:spPr>
          <a:xfrm>
            <a:off x="4663440" y="2770632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1E1004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73168" y="282549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Chain-04: Exposed DB Backup → Full PII Download  </a:t>
            </a:r>
            <a:pPr indent="0" marL="0">
              <a:buNone/>
            </a:pPr>
            <a:r>
              <a:rPr lang="en-US" sz="750" dirty="0">
                <a:solidFill>
                  <a:srgbClr val="FFC107"/>
                </a:solidFill>
              </a:rPr>
              <a:t>risk: 7.0  </a:t>
            </a:r>
            <a:pPr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✅ VALIDATED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73168" y="3081528"/>
            <a:ext cx="3986784" cy="0"/>
          </a:xfrm>
          <a:prstGeom prst="line">
            <a:avLst/>
          </a:prstGeom>
          <a:noFill/>
          <a:ln w="6350">
            <a:solidFill>
              <a:srgbClr val="2D2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73168" y="3191256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220606"/>
          </a:solidFill>
          <a:ln w="1143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73168" y="3191256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starts_at →
</a:t>
            </a:r>
            <a:pPr algn="ctr" indent="0" marL="0">
              <a:buNone/>
            </a:pPr>
            <a:r>
              <a:rPr lang="en-US" sz="600" b="1" dirty="0">
                <a:solidFill>
                  <a:srgbClr val="FF5252"/>
                </a:solidFill>
              </a:rPr>
              <a:t>Endpoint:</a:t>
            </a:r>
            <a:endParaRPr lang="en-US" sz="55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5252"/>
                </a:solidFill>
              </a:rPr>
              <a:t>/backup/*.sql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5888736" y="3191256"/>
            <a:ext cx="841248" cy="502920"/>
          </a:xfrm>
          <a:prstGeom prst="roundRect">
            <a:avLst>
              <a:gd name="adj" fmla="val 9091"/>
            </a:avLst>
          </a:prstGeom>
          <a:solidFill>
            <a:srgbClr val="0E0C02"/>
          </a:solidFill>
          <a:ln w="1143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888736" y="3191256"/>
            <a:ext cx="8412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Step 1
</a:t>
            </a:r>
            <a:pPr algn="ctr" indent="0" marL="0">
              <a:buNone/>
            </a:pPr>
            <a:r>
              <a:rPr lang="en-US" sz="600" b="1" dirty="0">
                <a:solidFill>
                  <a:srgbClr val="7FFF00"/>
                </a:solidFill>
              </a:rPr>
              <a:t>HTTP GET
</a:t>
            </a:r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Publicly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accessible file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5888736" y="3703320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9C27B0"/>
                </a:solidFill>
              </a:rPr>
              <a:t>↗ db-backup-dl.png</a:t>
            </a:r>
            <a:endParaRPr lang="en-US" sz="480" dirty="0"/>
          </a:p>
        </p:txBody>
      </p:sp>
      <p:sp>
        <p:nvSpPr>
          <p:cNvPr id="62" name="Shape 60"/>
          <p:cNvSpPr/>
          <p:nvPr/>
        </p:nvSpPr>
        <p:spPr>
          <a:xfrm>
            <a:off x="5788152" y="3442716"/>
            <a:ext cx="91440" cy="0"/>
          </a:xfrm>
          <a:prstGeom prst="line">
            <a:avLst/>
          </a:prstGeom>
          <a:noFill/>
          <a:ln w="7620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324344" y="3191256"/>
            <a:ext cx="841248" cy="502920"/>
          </a:xfrm>
          <a:prstGeom prst="roundRect">
            <a:avLst>
              <a:gd name="adj" fmla="val 9091"/>
            </a:avLst>
          </a:prstGeom>
          <a:solidFill>
            <a:srgbClr val="200818"/>
          </a:solidFill>
          <a:ln w="1143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324344" y="3191256"/>
            <a:ext cx="8412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💀 IMPACT
</a:t>
            </a:r>
            <a:pPr algn="ctr" indent="0" marL="0">
              <a:buNone/>
            </a:pPr>
            <a:r>
              <a:rPr lang="en-US" sz="600" b="1" dirty="0">
                <a:solidFill>
                  <a:srgbClr val="9C27B0"/>
                </a:solidFill>
              </a:rPr>
              <a:t>CRITICAL
</a:t>
            </a:r>
            <a:pPr algn="ctr" indent="0" marL="0">
              <a:buNone/>
            </a:pPr>
            <a:r>
              <a:rPr lang="en-US" sz="550" dirty="0">
                <a:solidFill>
                  <a:srgbClr val="CE93D8"/>
                </a:solidFill>
              </a:rPr>
              <a:t>Full PII DB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CE93D8"/>
                </a:solidFill>
              </a:rPr>
              <a:t>no exploit needed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7232904" y="3442716"/>
            <a:ext cx="82296" cy="0"/>
          </a:xfrm>
          <a:prstGeom prst="line">
            <a:avLst/>
          </a:prstGeom>
          <a:noFill/>
          <a:ln w="7620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7178040" y="331470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dirty="0">
                <a:solidFill>
                  <a:srgbClr val="5A4A00"/>
                </a:solidFill>
              </a:rPr>
              <a:t>next_step</a:t>
            </a:r>
            <a:endParaRPr lang="en-US" sz="400" dirty="0"/>
          </a:p>
        </p:txBody>
      </p:sp>
      <p:sp>
        <p:nvSpPr>
          <p:cNvPr id="67" name="Shape 65"/>
          <p:cNvSpPr/>
          <p:nvPr/>
        </p:nvSpPr>
        <p:spPr>
          <a:xfrm>
            <a:off x="274320" y="4553712"/>
            <a:ext cx="8595360" cy="365760"/>
          </a:xfrm>
          <a:prstGeom prst="roundRect">
            <a:avLst>
              <a:gd name="adj" fmla="val 15000"/>
            </a:avLst>
          </a:prstGeom>
          <a:solidFill>
            <a:srgbClr val="06101E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5537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</a:rPr>
              <a:t>📊 APG Priority Queue  </a:t>
            </a:r>
            <a:pPr indent="0" marL="0">
              <a:buNone/>
            </a:pPr>
            <a:r>
              <a:rPr lang="en-US" sz="700" dirty="0">
                <a:solidFill>
                  <a:srgbClr val="FF5252"/>
                </a:solidFill>
              </a:rPr>
              <a:t>#1 Chain-01 · 9.1 (escalated after RCE)  ·  </a:t>
            </a:r>
            <a:pPr indent="0" marL="0">
              <a:buNone/>
            </a:pPr>
            <a:r>
              <a:rPr lang="en-US" sz="700" dirty="0">
                <a:solidFill>
                  <a:srgbClr val="FFC107"/>
                </a:solidFill>
              </a:rPr>
              <a:t>#2 Chain-03 · 8.1  ·  </a:t>
            </a:r>
            <a:pPr indent="0" marL="0">
              <a:buNone/>
            </a:pPr>
            <a:r>
              <a:rPr lang="en-US" sz="700" dirty="0">
                <a:solidFill>
                  <a:srgbClr val="FFC107"/>
                </a:solidFill>
              </a:rPr>
              <a:t>#3 Chain-02 · 7.5  ·  </a:t>
            </a:r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#4 Chain-04 · 7.0  ·  </a:t>
            </a:r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Commander re-ranks on every status change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274320" y="4965192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4B5563"/>
                </a:solidFill>
              </a:rPr>
              <a:t>Separation Principle:  APG contains only inferred attack reasoning — never raw scan data.  Only the Commander writes to the APG.  Discovery agents write only to the ASG.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8732520" y="49560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74151"/>
                </a:solidFill>
              </a:rPr>
              <a:t>05b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2026-06-27T15:42:37Z</dcterms:created>
  <dcterms:modified xsi:type="dcterms:W3CDTF">2026-06-27T15:42:37Z</dcterms:modified>
</cp:coreProperties>
</file>