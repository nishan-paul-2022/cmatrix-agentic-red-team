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DUAL-GRAPH WORLD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21945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Strictly Separated Knowledge Layers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78240" y="5486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7160" y="603504"/>
            <a:ext cx="4160520" cy="4224528"/>
          </a:xfrm>
          <a:prstGeom prst="rect">
            <a:avLst/>
          </a:prstGeom>
          <a:solidFill>
            <a:srgbClr val="0D1A0D"/>
          </a:solidFill>
          <a:ln w="19050">
            <a:solidFill>
              <a:srgbClr val="7F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400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ASG — Attack Surface Graph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" y="822960"/>
            <a:ext cx="3931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Reality  ·  Every node = confirmed by tool  ·  Every edge = confirmed relationship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100584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shopvault.io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201168" y="1502359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502359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10.0.0.1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22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01168" y="1998878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" y="199887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10.0.0.2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Debian 11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01168" y="2495398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" y="249539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api.shopvault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960120" y="1254100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125410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:443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open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960120" y="1750619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1750619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:22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open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960120" y="2247138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224713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:8080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unenc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960120" y="2743657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2743657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:80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open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719072" y="1254100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125410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1.18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1719072" y="1750619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1750619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OpenSSH 8.9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719072" y="2247138"/>
            <a:ext cx="658368" cy="310896"/>
          </a:xfrm>
          <a:prstGeom prst="rect">
            <a:avLst/>
          </a:prstGeom>
          <a:solidFill>
            <a:srgbClr val="062210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224713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plain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1719072" y="2743657"/>
            <a:ext cx="658368" cy="310896"/>
          </a:xfrm>
          <a:prstGeom prst="rect">
            <a:avLst/>
          </a:prstGeom>
          <a:solidFill>
            <a:srgbClr val="051818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743657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5.9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719072" y="3240176"/>
            <a:ext cx="658368" cy="310896"/>
          </a:xfrm>
          <a:prstGeom prst="rect">
            <a:avLst/>
          </a:prstGeom>
          <a:solidFill>
            <a:srgbClr val="051818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324017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WooCommerce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719072" y="3736696"/>
            <a:ext cx="658368" cy="310896"/>
          </a:xfrm>
          <a:prstGeom prst="rect">
            <a:avLst/>
          </a:prstGeom>
          <a:solidFill>
            <a:srgbClr val="051818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373669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4.1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478024" y="1005840"/>
            <a:ext cx="658368" cy="310896"/>
          </a:xfrm>
          <a:prstGeom prst="rect">
            <a:avLst/>
          </a:prstGeom>
          <a:solidFill>
            <a:srgbClr val="051818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100584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/wp-admin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478024" y="1502359"/>
            <a:ext cx="658368" cy="310896"/>
          </a:xfrm>
          <a:prstGeom prst="rect">
            <a:avLst/>
          </a:prstGeom>
          <a:solidFill>
            <a:srgbClr val="1A0404"/>
          </a:solidFill>
          <a:ln w="11430">
            <a:solidFill>
              <a:srgbClr val="FF52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1502359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/backup/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db_export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478024" y="1998878"/>
            <a:ext cx="658368" cy="310896"/>
          </a:xfrm>
          <a:prstGeom prst="rect">
            <a:avLst/>
          </a:prstGeom>
          <a:solidFill>
            <a:srgbClr val="051818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96312" y="199887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/api/orders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2478024" y="2495398"/>
            <a:ext cx="658368" cy="310896"/>
          </a:xfrm>
          <a:prstGeom prst="rect">
            <a:avLst/>
          </a:prstGeom>
          <a:solidFill>
            <a:srgbClr val="051818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249539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/api/users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undocumented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2478024" y="2991917"/>
            <a:ext cx="658368" cy="310896"/>
          </a:xfrm>
          <a:prstGeom prst="rect">
            <a:avLst/>
          </a:prstGeom>
          <a:solidFill>
            <a:srgbClr val="051818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6312" y="2991917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user_id=?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injectable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478024" y="3488436"/>
            <a:ext cx="658368" cy="310896"/>
          </a:xfrm>
          <a:prstGeom prst="rect">
            <a:avLst/>
          </a:prstGeom>
          <a:solidFill>
            <a:srgbClr val="1A0404"/>
          </a:solidFill>
          <a:ln w="11430">
            <a:solidFill>
              <a:srgbClr val="FF52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96312" y="348843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CVE-2022-21661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CVSS 8.8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478024" y="3984955"/>
            <a:ext cx="658368" cy="310896"/>
          </a:xfrm>
          <a:prstGeom prst="rect">
            <a:avLst/>
          </a:prstGeom>
          <a:solidFill>
            <a:srgbClr val="1A0404"/>
          </a:solidFill>
          <a:ln w="11430">
            <a:solidFill>
              <a:srgbClr val="FF52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3984955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 /orders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Severity:HIGH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236976" y="3488436"/>
            <a:ext cx="658368" cy="310896"/>
          </a:xfrm>
          <a:prstGeom prst="rect">
            <a:avLst/>
          </a:prstGeom>
          <a:solidFill>
            <a:srgbClr val="100818"/>
          </a:solidFill>
          <a:ln w="11430">
            <a:solidFill>
              <a:srgbClr val="9C27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55264" y="348843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sqli-extract.txt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236976" y="3984955"/>
            <a:ext cx="658368" cy="310896"/>
          </a:xfrm>
          <a:prstGeom prst="rect">
            <a:avLst/>
          </a:prstGeom>
          <a:solidFill>
            <a:srgbClr val="100818"/>
          </a:solidFill>
          <a:ln w="11430">
            <a:solidFill>
              <a:srgbClr val="9C27B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55264" y="3984955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admin-panel.png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236976" y="4315968"/>
            <a:ext cx="658368" cy="310896"/>
          </a:xfrm>
          <a:prstGeom prst="rect">
            <a:avLst/>
          </a:prstGeom>
          <a:solidFill>
            <a:srgbClr val="100818"/>
          </a:solidFill>
          <a:ln w="11430">
            <a:solidFill>
              <a:srgbClr val="9C27B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55264" y="431596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webshell-rce.png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859536" y="1161288"/>
            <a:ext cx="100584" cy="248260"/>
          </a:xfrm>
          <a:prstGeom prst="line">
            <a:avLst/>
          </a:prstGeom>
          <a:noFill/>
          <a:ln w="8890">
            <a:solidFill>
              <a:srgbClr val="7FFF00"/>
            </a:solidFill>
            <a:prstDash val="solid"/>
            <a:tailEnd type="arrow"/>
          </a:ln>
        </p:spPr>
      </p:sp>
      <p:sp>
        <p:nvSpPr>
          <p:cNvPr id="57" name="Text 55"/>
          <p:cNvSpPr/>
          <p:nvPr/>
        </p:nvSpPr>
        <p:spPr>
          <a:xfrm>
            <a:off x="726948" y="1203122"/>
            <a:ext cx="365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has_host</a:t>
            </a:r>
            <a:endParaRPr lang="en-US" sz="450" dirty="0"/>
          </a:p>
        </p:txBody>
      </p:sp>
      <p:sp>
        <p:nvSpPr>
          <p:cNvPr id="58" name="Shape 56"/>
          <p:cNvSpPr/>
          <p:nvPr/>
        </p:nvSpPr>
        <p:spPr>
          <a:xfrm>
            <a:off x="859536" y="1657807"/>
            <a:ext cx="100584" cy="248260"/>
          </a:xfrm>
          <a:prstGeom prst="line">
            <a:avLst/>
          </a:prstGeom>
          <a:noFill/>
          <a:ln w="8890">
            <a:solidFill>
              <a:srgbClr val="7FFF00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859536" y="2154326"/>
            <a:ext cx="100584" cy="248260"/>
          </a:xfrm>
          <a:prstGeom prst="line">
            <a:avLst/>
          </a:prstGeom>
          <a:noFill/>
          <a:ln w="8890">
            <a:solidFill>
              <a:srgbClr val="7FFF0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859536" y="2650846"/>
            <a:ext cx="100584" cy="248260"/>
          </a:xfrm>
          <a:prstGeom prst="line">
            <a:avLst/>
          </a:prstGeom>
          <a:noFill/>
          <a:ln w="8890">
            <a:solidFill>
              <a:srgbClr val="7FFF00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1618488" y="1409548"/>
            <a:ext cx="100584" cy="9144"/>
          </a:xfrm>
          <a:prstGeom prst="line">
            <a:avLst/>
          </a:prstGeom>
          <a:noFill/>
          <a:ln w="8890">
            <a:solidFill>
              <a:srgbClr val="7FFF00"/>
            </a:solidFill>
            <a:prstDash val="solid"/>
            <a:tailEnd type="arrow"/>
          </a:ln>
        </p:spPr>
      </p:sp>
      <p:sp>
        <p:nvSpPr>
          <p:cNvPr id="62" name="Text 60"/>
          <p:cNvSpPr/>
          <p:nvPr/>
        </p:nvSpPr>
        <p:spPr>
          <a:xfrm>
            <a:off x="1485900" y="1327252"/>
            <a:ext cx="365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450" dirty="0"/>
          </a:p>
        </p:txBody>
      </p:sp>
      <p:sp>
        <p:nvSpPr>
          <p:cNvPr id="63" name="Shape 61"/>
          <p:cNvSpPr/>
          <p:nvPr/>
        </p:nvSpPr>
        <p:spPr>
          <a:xfrm>
            <a:off x="1618488" y="1906067"/>
            <a:ext cx="100584" cy="9144"/>
          </a:xfrm>
          <a:prstGeom prst="line">
            <a:avLst/>
          </a:prstGeom>
          <a:noFill/>
          <a:ln w="8890">
            <a:solidFill>
              <a:srgbClr val="7FFF00"/>
            </a:solidFill>
            <a:prstDash val="solid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1618488" y="2402586"/>
            <a:ext cx="100584" cy="9144"/>
          </a:xfrm>
          <a:prstGeom prst="line">
            <a:avLst/>
          </a:prstGeom>
          <a:noFill/>
          <a:ln w="8890">
            <a:solidFill>
              <a:srgbClr val="7FFF00"/>
            </a:solidFill>
            <a:prstDash val="solid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1618488" y="2899105"/>
            <a:ext cx="100584" cy="9144"/>
          </a:xfrm>
          <a:prstGeom prst="line">
            <a:avLst/>
          </a:prstGeom>
          <a:noFill/>
          <a:ln w="8890">
            <a:solidFill>
              <a:srgbClr val="00D4FF"/>
            </a:solidFill>
            <a:prstDash val="solid"/>
            <a:tailEnd type="arrow"/>
          </a:ln>
        </p:spPr>
      </p:sp>
      <p:sp>
        <p:nvSpPr>
          <p:cNvPr id="66" name="Text 64"/>
          <p:cNvSpPr/>
          <p:nvPr/>
        </p:nvSpPr>
        <p:spPr>
          <a:xfrm>
            <a:off x="1485900" y="2816809"/>
            <a:ext cx="365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</a:t>
            </a:r>
            <a:endParaRPr lang="en-US" sz="450" dirty="0"/>
          </a:p>
        </p:txBody>
      </p:sp>
      <p:sp>
        <p:nvSpPr>
          <p:cNvPr id="67" name="Shape 65"/>
          <p:cNvSpPr/>
          <p:nvPr/>
        </p:nvSpPr>
        <p:spPr>
          <a:xfrm>
            <a:off x="2377440" y="1161288"/>
            <a:ext cx="100584" cy="248260"/>
          </a:xfrm>
          <a:prstGeom prst="line">
            <a:avLst/>
          </a:prstGeom>
          <a:noFill/>
          <a:ln w="8890">
            <a:solidFill>
              <a:srgbClr val="00D4FF"/>
            </a:solidFill>
            <a:prstDash val="solid"/>
            <a:tailEnd type="arrow"/>
          </a:ln>
        </p:spPr>
      </p:sp>
      <p:sp>
        <p:nvSpPr>
          <p:cNvPr id="68" name="Text 66"/>
          <p:cNvSpPr/>
          <p:nvPr/>
        </p:nvSpPr>
        <p:spPr>
          <a:xfrm>
            <a:off x="2244852" y="1203122"/>
            <a:ext cx="365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has_ep</a:t>
            </a:r>
            <a:endParaRPr lang="en-US" sz="450" dirty="0"/>
          </a:p>
        </p:txBody>
      </p:sp>
      <p:sp>
        <p:nvSpPr>
          <p:cNvPr id="69" name="Shape 67"/>
          <p:cNvSpPr/>
          <p:nvPr/>
        </p:nvSpPr>
        <p:spPr>
          <a:xfrm>
            <a:off x="2377440" y="1409548"/>
            <a:ext cx="100584" cy="248260"/>
          </a:xfrm>
          <a:prstGeom prst="line">
            <a:avLst/>
          </a:prstGeom>
          <a:noFill/>
          <a:ln w="8890">
            <a:solidFill>
              <a:srgbClr val="FF5252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2377440" y="2899105"/>
            <a:ext cx="100584" cy="744779"/>
          </a:xfrm>
          <a:prstGeom prst="line">
            <a:avLst/>
          </a:prstGeom>
          <a:noFill/>
          <a:ln w="8890">
            <a:solidFill>
              <a:srgbClr val="FF5252"/>
            </a:solidFill>
            <a:prstDash val="solid"/>
            <a:tailEnd type="arrow"/>
          </a:ln>
        </p:spPr>
      </p:sp>
      <p:sp>
        <p:nvSpPr>
          <p:cNvPr id="71" name="Text 69"/>
          <p:cNvSpPr/>
          <p:nvPr/>
        </p:nvSpPr>
        <p:spPr>
          <a:xfrm>
            <a:off x="2244852" y="3189199"/>
            <a:ext cx="365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affected_by</a:t>
            </a:r>
            <a:endParaRPr lang="en-US" sz="450" dirty="0"/>
          </a:p>
        </p:txBody>
      </p:sp>
      <p:sp>
        <p:nvSpPr>
          <p:cNvPr id="72" name="Shape 70"/>
          <p:cNvSpPr/>
          <p:nvPr/>
        </p:nvSpPr>
        <p:spPr>
          <a:xfrm>
            <a:off x="3136392" y="2154326"/>
            <a:ext cx="18288" cy="993038"/>
          </a:xfrm>
          <a:prstGeom prst="line">
            <a:avLst/>
          </a:prstGeom>
          <a:noFill/>
          <a:ln w="8890">
            <a:solidFill>
              <a:srgbClr val="00D4FF"/>
            </a:solidFill>
            <a:prstDash val="solid"/>
            <a:tailEnd type="arrow"/>
          </a:ln>
        </p:spPr>
      </p:sp>
      <p:sp>
        <p:nvSpPr>
          <p:cNvPr id="73" name="Text 71"/>
          <p:cNvSpPr/>
          <p:nvPr/>
        </p:nvSpPr>
        <p:spPr>
          <a:xfrm>
            <a:off x="2962656" y="2568550"/>
            <a:ext cx="365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has_param</a:t>
            </a:r>
            <a:endParaRPr lang="en-US" sz="450" dirty="0"/>
          </a:p>
        </p:txBody>
      </p:sp>
      <p:sp>
        <p:nvSpPr>
          <p:cNvPr id="74" name="Shape 72"/>
          <p:cNvSpPr/>
          <p:nvPr/>
        </p:nvSpPr>
        <p:spPr>
          <a:xfrm>
            <a:off x="3136392" y="3147365"/>
            <a:ext cx="18288" cy="993038"/>
          </a:xfrm>
          <a:prstGeom prst="line">
            <a:avLst/>
          </a:prstGeom>
          <a:noFill/>
          <a:ln w="8890">
            <a:solidFill>
              <a:srgbClr val="FF5252"/>
            </a:solidFill>
            <a:prstDash val="solid"/>
            <a:tailEnd type="arrow"/>
          </a:ln>
        </p:spPr>
      </p:sp>
      <p:sp>
        <p:nvSpPr>
          <p:cNvPr id="75" name="Text 73"/>
          <p:cNvSpPr/>
          <p:nvPr/>
        </p:nvSpPr>
        <p:spPr>
          <a:xfrm>
            <a:off x="2962656" y="3561588"/>
            <a:ext cx="365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affected_by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3136392" y="3643884"/>
            <a:ext cx="100584" cy="9144"/>
          </a:xfrm>
          <a:prstGeom prst="line">
            <a:avLst/>
          </a:prstGeom>
          <a:noFill/>
          <a:ln w="8890">
            <a:solidFill>
              <a:srgbClr val="9C27B0"/>
            </a:solidFill>
            <a:prstDash val="solid"/>
            <a:tailEnd type="arrow"/>
          </a:ln>
        </p:spPr>
      </p:sp>
      <p:sp>
        <p:nvSpPr>
          <p:cNvPr id="77" name="Text 75"/>
          <p:cNvSpPr/>
          <p:nvPr/>
        </p:nvSpPr>
        <p:spPr>
          <a:xfrm>
            <a:off x="3003804" y="3561588"/>
            <a:ext cx="365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validated_by</a:t>
            </a:r>
            <a:endParaRPr lang="en-US" sz="450" dirty="0"/>
          </a:p>
        </p:txBody>
      </p:sp>
      <p:sp>
        <p:nvSpPr>
          <p:cNvPr id="78" name="Shape 76"/>
          <p:cNvSpPr/>
          <p:nvPr/>
        </p:nvSpPr>
        <p:spPr>
          <a:xfrm>
            <a:off x="3136392" y="3643884"/>
            <a:ext cx="100584" cy="496519"/>
          </a:xfrm>
          <a:prstGeom prst="line">
            <a:avLst/>
          </a:prstGeom>
          <a:noFill/>
          <a:ln w="8890">
            <a:solidFill>
              <a:srgbClr val="9C27B0"/>
            </a:solidFill>
            <a:prstDash val="solid"/>
            <a:tailEnd type="arrow"/>
          </a:ln>
        </p:spPr>
      </p:sp>
      <p:sp>
        <p:nvSpPr>
          <p:cNvPr id="79" name="Shape 77"/>
          <p:cNvSpPr/>
          <p:nvPr/>
        </p:nvSpPr>
        <p:spPr>
          <a:xfrm>
            <a:off x="3136392" y="3643884"/>
            <a:ext cx="100584" cy="827532"/>
          </a:xfrm>
          <a:prstGeom prst="line">
            <a:avLst/>
          </a:prstGeom>
          <a:noFill/>
          <a:ln w="8890">
            <a:solidFill>
              <a:srgbClr val="9C27B0"/>
            </a:solidFill>
            <a:prstDash val="solid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137160" y="4645152"/>
            <a:ext cx="4160520" cy="182880"/>
          </a:xfrm>
          <a:prstGeom prst="rect">
            <a:avLst/>
          </a:prstGeom>
          <a:solidFill>
            <a:srgbClr val="0D1A0D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8600" y="4654296"/>
            <a:ext cx="3931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6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 </a:t>
            </a:r>
            <a:pPr indent="0" marL="0">
              <a:buNone/>
            </a:pPr>
            <a:r>
              <a:rPr lang="en-US" sz="62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6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 </a:t>
            </a:r>
            <a:pPr indent="0" marL="0">
              <a:buNone/>
            </a:pPr>
            <a:r>
              <a:rPr lang="en-US" sz="62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6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 </a:t>
            </a:r>
            <a:pPr indent="0" marL="0">
              <a:buNone/>
            </a:pPr>
            <a:r>
              <a:rPr lang="en-US" sz="620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6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4379976" y="603504"/>
            <a:ext cx="9144" cy="4224528"/>
          </a:xfrm>
          <a:prstGeom prst="line">
            <a:avLst/>
          </a:prstGeom>
          <a:noFill/>
          <a:ln w="12700">
            <a:solidFill>
              <a:srgbClr val="00FFFF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4160520" y="2606040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520" dirty="0"/>
          </a:p>
          <a:p>
            <a:pPr algn="ctr" indent="0" marL="0">
              <a:buNone/>
            </a:pPr>
            <a:r>
              <a:rPr lang="en-US" sz="52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520" dirty="0"/>
          </a:p>
        </p:txBody>
      </p:sp>
      <p:sp>
        <p:nvSpPr>
          <p:cNvPr id="84" name="Shape 82"/>
          <p:cNvSpPr/>
          <p:nvPr/>
        </p:nvSpPr>
        <p:spPr>
          <a:xfrm>
            <a:off x="4617720" y="603504"/>
            <a:ext cx="4389120" cy="4224528"/>
          </a:xfrm>
          <a:prstGeom prst="rect">
            <a:avLst/>
          </a:prstGeom>
          <a:solidFill>
            <a:srgbClr val="1A0E00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09160" y="6400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APG — Attack Path Graph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709160" y="822960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Inferred Opportunity  ·  Commander reasons from ASG vulnerabilities — no raw scan data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4690872" y="1005840"/>
            <a:ext cx="2048256" cy="1760220"/>
          </a:xfrm>
          <a:prstGeom prst="rect">
            <a:avLst/>
          </a:prstGeom>
          <a:solidFill>
            <a:srgbClr val="1A0E00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54880" y="10515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Chain-01: SQLi → RCE</a:t>
            </a:r>
            <a:pPr indent="0" marL="0">
              <a:buNone/>
            </a:pPr>
            <a:r>
              <a:rPr lang="en-US" sz="68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risk: 9.1↑</a:t>
            </a:r>
            <a:pPr indent="0" marL="0">
              <a:buNone/>
            </a:pPr>
            <a:r>
              <a:rPr lang="en-US" sz="68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VALIDATED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4754880" y="1252728"/>
            <a:ext cx="1920240" cy="9144"/>
          </a:xfrm>
          <a:prstGeom prst="line">
            <a:avLst/>
          </a:prstGeom>
          <a:noFill/>
          <a:ln w="6350">
            <a:solidFill>
              <a:srgbClr val="FFC10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54880" y="1280160"/>
            <a:ext cx="560832" cy="95554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73168" y="1280160"/>
            <a:ext cx="524256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SQLMap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WP_Query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confirmed</a:t>
            </a:r>
            <a:endParaRPr lang="en-US" sz="600" dirty="0"/>
          </a:p>
        </p:txBody>
      </p:sp>
      <p:sp>
        <p:nvSpPr>
          <p:cNvPr id="92" name="Text 90"/>
          <p:cNvSpPr/>
          <p:nvPr/>
        </p:nvSpPr>
        <p:spPr>
          <a:xfrm>
            <a:off x="5315712" y="1666494"/>
            <a:ext cx="118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107"/>
                </a:solidFill>
              </a:rPr>
              <a:t>→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434584" y="1280160"/>
            <a:ext cx="560832" cy="95554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452872" y="1280160"/>
            <a:ext cx="524256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SQLMap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users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cracked</a:t>
            </a:r>
            <a:endParaRPr lang="en-US" sz="600" dirty="0"/>
          </a:p>
        </p:txBody>
      </p:sp>
      <p:sp>
        <p:nvSpPr>
          <p:cNvPr id="95" name="Text 93"/>
          <p:cNvSpPr/>
          <p:nvPr/>
        </p:nvSpPr>
        <p:spPr>
          <a:xfrm>
            <a:off x="5995416" y="1666494"/>
            <a:ext cx="118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107"/>
                </a:solidFill>
              </a:rPr>
              <a:t>→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114288" y="1280160"/>
            <a:ext cx="560832" cy="95554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32576" y="1280160"/>
            <a:ext cx="524256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webshell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RCE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4754880" y="2290572"/>
            <a:ext cx="1920240" cy="457200"/>
          </a:xfrm>
          <a:prstGeom prst="rect">
            <a:avLst/>
          </a:prstGeom>
          <a:solidFill>
            <a:srgbClr val="1A0404"/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82312" y="2290572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 </a:t>
            </a:r>
            <a:pPr indent="0" marL="0">
              <a:buNone/>
            </a:pPr>
            <a:r>
              <a:rPr lang="en-US" sz="62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 ·  </a:t>
            </a:r>
            <a:pPr indent="0" marL="0">
              <a:buNone/>
            </a:pPr>
            <a:r>
              <a:rPr lang="en-US" sz="62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RCE · Customer PII exposed</a:t>
            </a:r>
            <a:endParaRPr lang="en-US" sz="620" dirty="0"/>
          </a:p>
        </p:txBody>
      </p:sp>
      <p:sp>
        <p:nvSpPr>
          <p:cNvPr id="100" name="Shape 98"/>
          <p:cNvSpPr/>
          <p:nvPr/>
        </p:nvSpPr>
        <p:spPr>
          <a:xfrm>
            <a:off x="6885432" y="1005840"/>
            <a:ext cx="2048256" cy="1760220"/>
          </a:xfrm>
          <a:prstGeom prst="rect">
            <a:avLst/>
          </a:prstGeom>
          <a:solidFill>
            <a:srgbClr val="1A0E00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949440" y="10515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Chain-02: IDOR → Orders</a:t>
            </a:r>
            <a:pPr indent="0" marL="0">
              <a:buNone/>
            </a:pPr>
            <a:r>
              <a:rPr lang="en-US" sz="68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risk: 7.5</a:t>
            </a:r>
            <a:pPr indent="0" marL="0">
              <a:buNone/>
            </a:pPr>
            <a:r>
              <a:rPr lang="en-US" sz="68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VALIDATED</a:t>
            </a:r>
            <a:endParaRPr lang="en-US" sz="680" dirty="0"/>
          </a:p>
        </p:txBody>
      </p:sp>
      <p:sp>
        <p:nvSpPr>
          <p:cNvPr id="102" name="Shape 100"/>
          <p:cNvSpPr/>
          <p:nvPr/>
        </p:nvSpPr>
        <p:spPr>
          <a:xfrm>
            <a:off x="6949440" y="1252728"/>
            <a:ext cx="1920240" cy="9144"/>
          </a:xfrm>
          <a:prstGeom prst="line">
            <a:avLst/>
          </a:prstGeom>
          <a:noFill/>
          <a:ln w="6350">
            <a:solidFill>
              <a:srgbClr val="FFC10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49440" y="1280160"/>
            <a:ext cx="900684" cy="95554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67728" y="1280160"/>
            <a:ext cx="864108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SQLMap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 param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7850124" y="1666494"/>
            <a:ext cx="118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107"/>
                </a:solidFill>
              </a:rPr>
              <a:t>→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968996" y="1280160"/>
            <a:ext cx="900684" cy="95554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987284" y="1280160"/>
            <a:ext cx="864108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orders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exposed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6949440" y="2290572"/>
            <a:ext cx="1920240" cy="457200"/>
          </a:xfrm>
          <a:prstGeom prst="rect">
            <a:avLst/>
          </a:prstGeom>
          <a:solidFill>
            <a:srgbClr val="1A0404"/>
          </a:solidFill>
          <a:ln w="10160">
            <a:solidFill>
              <a:srgbClr val="FFC10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76872" y="2290572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 </a:t>
            </a:r>
            <a:pPr indent="0" marL="0">
              <a:buNone/>
            </a:pPr>
            <a:r>
              <a:rPr lang="en-US" sz="62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·  </a:t>
            </a:r>
            <a:pPr indent="0" marL="0">
              <a:buNone/>
            </a:pPr>
            <a:r>
              <a:rPr lang="en-US" sz="62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orders + PII exposed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690872" y="2839212"/>
            <a:ext cx="2048256" cy="1760220"/>
          </a:xfrm>
          <a:prstGeom prst="rect">
            <a:avLst/>
          </a:prstGeom>
          <a:solidFill>
            <a:srgbClr val="1A0E00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754880" y="28849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Chain-03: Blind SQLi → Creds</a:t>
            </a:r>
            <a:pPr indent="0" marL="0">
              <a:buNone/>
            </a:pPr>
            <a:r>
              <a:rPr lang="en-US" sz="68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risk: 8.1</a:t>
            </a:r>
            <a:pPr indent="0" marL="0">
              <a:buNone/>
            </a:pPr>
            <a:r>
              <a:rPr lang="en-US" sz="68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VALIDATED</a:t>
            </a:r>
            <a:endParaRPr lang="en-US" sz="680" dirty="0"/>
          </a:p>
        </p:txBody>
      </p:sp>
      <p:sp>
        <p:nvSpPr>
          <p:cNvPr id="112" name="Shape 110"/>
          <p:cNvSpPr/>
          <p:nvPr/>
        </p:nvSpPr>
        <p:spPr>
          <a:xfrm>
            <a:off x="4754880" y="3086100"/>
            <a:ext cx="1920240" cy="9144"/>
          </a:xfrm>
          <a:prstGeom prst="line">
            <a:avLst/>
          </a:prstGeom>
          <a:noFill/>
          <a:ln w="6350">
            <a:solidFill>
              <a:srgbClr val="FFC10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754880" y="3113532"/>
            <a:ext cx="900684" cy="95554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73168" y="3113532"/>
            <a:ext cx="864108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SQLMap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SQLi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login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5655564" y="3499866"/>
            <a:ext cx="118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107"/>
                </a:solidFill>
              </a:rPr>
              <a:t>→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774436" y="3113532"/>
            <a:ext cx="900684" cy="95554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792724" y="3113532"/>
            <a:ext cx="864108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creds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risk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4754880" y="4123944"/>
            <a:ext cx="1920240" cy="457200"/>
          </a:xfrm>
          <a:prstGeom prst="rect">
            <a:avLst/>
          </a:prstGeom>
          <a:solidFill>
            <a:srgbClr val="1A0404"/>
          </a:solidFill>
          <a:ln w="10160">
            <a:solidFill>
              <a:srgbClr val="FFC10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782312" y="4123944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 </a:t>
            </a:r>
            <a:pPr indent="0" marL="0">
              <a:buNone/>
            </a:pPr>
            <a:r>
              <a:rPr lang="en-US" sz="62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·  </a:t>
            </a:r>
            <a:pPr indent="0" marL="0">
              <a:buNone/>
            </a:pPr>
            <a:r>
              <a:rPr lang="en-US" sz="62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credentials extracted · reuse risk</a:t>
            </a:r>
            <a:endParaRPr lang="en-US" sz="620" dirty="0"/>
          </a:p>
        </p:txBody>
      </p:sp>
      <p:sp>
        <p:nvSpPr>
          <p:cNvPr id="120" name="Shape 118"/>
          <p:cNvSpPr/>
          <p:nvPr/>
        </p:nvSpPr>
        <p:spPr>
          <a:xfrm>
            <a:off x="6885432" y="2839212"/>
            <a:ext cx="2048256" cy="1760220"/>
          </a:xfrm>
          <a:prstGeom prst="rect">
            <a:avLst/>
          </a:prstGeom>
          <a:solidFill>
            <a:srgbClr val="1A0E00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49440" y="28849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Chain-04: Exposed Backup</a:t>
            </a:r>
            <a:pPr indent="0" marL="0">
              <a:buNone/>
            </a:pPr>
            <a:r>
              <a:rPr lang="en-US" sz="68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risk: 7.0</a:t>
            </a:r>
            <a:pPr indent="0" marL="0">
              <a:buNone/>
            </a:pPr>
            <a:r>
              <a:rPr lang="en-US" sz="68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VALIDATED</a:t>
            </a:r>
            <a:endParaRPr lang="en-US" sz="680" dirty="0"/>
          </a:p>
        </p:txBody>
      </p:sp>
      <p:sp>
        <p:nvSpPr>
          <p:cNvPr id="122" name="Shape 120"/>
          <p:cNvSpPr/>
          <p:nvPr/>
        </p:nvSpPr>
        <p:spPr>
          <a:xfrm>
            <a:off x="6949440" y="3086100"/>
            <a:ext cx="1920240" cy="9144"/>
          </a:xfrm>
          <a:prstGeom prst="line">
            <a:avLst/>
          </a:prstGeom>
          <a:noFill/>
          <a:ln w="6350">
            <a:solidFill>
              <a:srgbClr val="FFC10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949440" y="3113532"/>
            <a:ext cx="1920240" cy="955548"/>
          </a:xfrm>
          <a:prstGeom prst="rect">
            <a:avLst/>
          </a:prstGeom>
          <a:solidFill>
            <a:srgbClr val="062210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967728" y="3113532"/>
            <a:ext cx="1883664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/backup/*.sql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file · no auth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6949440" y="4123944"/>
            <a:ext cx="1920240" cy="457200"/>
          </a:xfrm>
          <a:prstGeom prst="rect">
            <a:avLst/>
          </a:prstGeom>
          <a:solidFill>
            <a:srgbClr val="1A0404"/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976872" y="4123944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 </a:t>
            </a:r>
            <a:pPr indent="0" marL="0">
              <a:buNone/>
            </a:pPr>
            <a:r>
              <a:rPr lang="en-US" sz="62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 ·  </a:t>
            </a:r>
            <a:pPr indent="0" marL="0">
              <a:buNone/>
            </a:pPr>
            <a:r>
              <a:rPr lang="en-US" sz="62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PII DB download · no exploit needed</a:t>
            </a:r>
            <a:endParaRPr lang="en-US" sz="620" dirty="0"/>
          </a:p>
        </p:txBody>
      </p:sp>
      <p:sp>
        <p:nvSpPr>
          <p:cNvPr id="127" name="Shape 125"/>
          <p:cNvSpPr/>
          <p:nvPr/>
        </p:nvSpPr>
        <p:spPr>
          <a:xfrm>
            <a:off x="4617720" y="4645152"/>
            <a:ext cx="4389120" cy="182880"/>
          </a:xfrm>
          <a:prstGeom prst="rect">
            <a:avLst/>
          </a:prstGeom>
          <a:solidFill>
            <a:srgbClr val="1A1000"/>
          </a:solidFill>
          <a:ln w="6350">
            <a:solidFill>
              <a:srgbClr val="FFC10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709160" y="4654296"/>
            <a:ext cx="4251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APG Priority Queue:  </a:t>
            </a:r>
            <a:pPr indent="0" marL="0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Chain-01 · 9.1  ·  #2 Chain-03 · 8.1  ·  #3 Chain-02 · 7.5  ·  #4 Chain-04 · 7.0  ·  Commander re-ranks on every status change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137160" y="4855464"/>
            <a:ext cx="8869680" cy="228600"/>
          </a:xfrm>
          <a:prstGeom prst="rect">
            <a:avLst/>
          </a:prstGeom>
          <a:solidFill>
            <a:srgbClr val="04101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28600" y="486460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Principle:  Discovery agents write only to the ASG — they never reason about chains.  The Commander writes only to the APG — it never runs tools.  No agent conflates discovered facts with hypothesised attack reasoning.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2026-06-27T16:45:41Z</dcterms:created>
  <dcterms:modified xsi:type="dcterms:W3CDTF">2026-06-27T16:45:41Z</dcterms:modified>
</cp:coreProperties>
</file>