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3" r:id="rId4"/>
    <p:sldMasterId id="2147483674" r:id="rId5"/>
    <p:sldMasterId id="214748367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f2a6c61ddc_2_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g3f2a6c61ddc_2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f2a466b452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g3f2a466b452_2_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f2a466b452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g3f2a466b452_4_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f2a466b452_6_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4" name="Google Shape;324;g3f2a466b452_6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f2a466b452_8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g3f2a466b452_8_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46" name="Google Shape;446;g3f2a466b452_8_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f2a466b452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5" name="Google Shape;575;g3f2a466b452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3f2a466b452_0_17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2" name="Google Shape;672;g3f2a466b452_0_17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3" name="Google Shape;673;g3f2a466b452_0_17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3f2a8d4718c_1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0" name="Google Shape;840;g3f2a8d4718c_1_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841" name="Google Shape;841;g3f2a8d4718c_1_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g3f2a6c61ddc_0_1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3" name="Google Shape;933;g3f2a6c61ddc_0_1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934" name="Google Shape;934;g3f2a6c61ddc_0_1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g3f2a466b452_0_79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8" name="Google Shape;1028;g3f2a466b452_0_790: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9" name="Google Shape;1029;g3f2a466b452_0_79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g3f2a466b452_0_5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9" name="Google Shape;1079;g3f2a466b452_0_5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3f2a466b452_0_8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66" name="Google Shape;1166;g3f2a466b452_0_8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g3f2a466b452_0_3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4" name="Google Shape;1224;g3f2a466b452_0_3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2" name="Shape 1332"/>
        <p:cNvGrpSpPr/>
        <p:nvPr/>
      </p:nvGrpSpPr>
      <p:grpSpPr>
        <a:xfrm>
          <a:off x="0" y="0"/>
          <a:ext cx="0" cy="0"/>
          <a:chOff x="0" y="0"/>
          <a:chExt cx="0" cy="0"/>
        </a:xfrm>
      </p:grpSpPr>
      <p:sp>
        <p:nvSpPr>
          <p:cNvPr id="1333" name="Google Shape;133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7" name="Shape 1407"/>
        <p:cNvGrpSpPr/>
        <p:nvPr/>
      </p:nvGrpSpPr>
      <p:grpSpPr>
        <a:xfrm>
          <a:off x="0" y="0"/>
          <a:ext cx="0" cy="0"/>
          <a:chOff x="0" y="0"/>
          <a:chExt cx="0" cy="0"/>
        </a:xfrm>
      </p:grpSpPr>
      <p:sp>
        <p:nvSpPr>
          <p:cNvPr id="1408" name="Google Shape;140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9" name="Shape 1479"/>
        <p:cNvGrpSpPr/>
        <p:nvPr/>
      </p:nvGrpSpPr>
      <p:grpSpPr>
        <a:xfrm>
          <a:off x="0" y="0"/>
          <a:ext cx="0" cy="0"/>
          <a:chOff x="0" y="0"/>
          <a:chExt cx="0" cy="0"/>
        </a:xfrm>
      </p:grpSpPr>
      <p:sp>
        <p:nvSpPr>
          <p:cNvPr id="1480" name="Google Shape;1480;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4" name="Shape 1524"/>
        <p:cNvGrpSpPr/>
        <p:nvPr/>
      </p:nvGrpSpPr>
      <p:grpSpPr>
        <a:xfrm>
          <a:off x="0" y="0"/>
          <a:ext cx="0" cy="0"/>
          <a:chOff x="0" y="0"/>
          <a:chExt cx="0" cy="0"/>
        </a:xfrm>
      </p:grpSpPr>
      <p:sp>
        <p:nvSpPr>
          <p:cNvPr id="1525" name="Google Shape;1525;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1" name="Shape 1601"/>
        <p:cNvGrpSpPr/>
        <p:nvPr/>
      </p:nvGrpSpPr>
      <p:grpSpPr>
        <a:xfrm>
          <a:off x="0" y="0"/>
          <a:ext cx="0" cy="0"/>
          <a:chOff x="0" y="0"/>
          <a:chExt cx="0" cy="0"/>
        </a:xfrm>
      </p:grpSpPr>
      <p:sp>
        <p:nvSpPr>
          <p:cNvPr id="1602" name="Google Shape;1602;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3" name="Shape 1653"/>
        <p:cNvGrpSpPr/>
        <p:nvPr/>
      </p:nvGrpSpPr>
      <p:grpSpPr>
        <a:xfrm>
          <a:off x="0" y="0"/>
          <a:ext cx="0" cy="0"/>
          <a:chOff x="0" y="0"/>
          <a:chExt cx="0" cy="0"/>
        </a:xfrm>
      </p:grpSpPr>
      <p:sp>
        <p:nvSpPr>
          <p:cNvPr id="1654" name="Google Shape;1654;g3f2a466b452_0_9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55" name="Google Shape;1655;g3f2a466b452_0_9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80" name="Shape 80"/>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7" name="Shape 87"/>
        <p:cNvGrpSpPr/>
        <p:nvPr/>
      </p:nvGrpSpPr>
      <p:grpSpPr>
        <a:xfrm>
          <a:off x="0" y="0"/>
          <a:ext cx="0" cy="0"/>
          <a:chOff x="0" y="0"/>
          <a:chExt cx="0" cy="0"/>
        </a:xfrm>
      </p:grpSpPr>
      <p:sp>
        <p:nvSpPr>
          <p:cNvPr id="88" name="Google Shape;88;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1" name="Shape 91"/>
        <p:cNvGrpSpPr/>
        <p:nvPr/>
      </p:nvGrpSpPr>
      <p:grpSpPr>
        <a:xfrm>
          <a:off x="0" y="0"/>
          <a:ext cx="0" cy="0"/>
          <a:chOff x="0" y="0"/>
          <a:chExt cx="0" cy="0"/>
        </a:xfrm>
      </p:grpSpPr>
      <p:sp>
        <p:nvSpPr>
          <p:cNvPr id="92" name="Google Shape;92;p1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94" name="Google Shape;94;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7" name="Shape 97"/>
        <p:cNvGrpSpPr/>
        <p:nvPr/>
      </p:nvGrpSpPr>
      <p:grpSpPr>
        <a:xfrm>
          <a:off x="0" y="0"/>
          <a:ext cx="0" cy="0"/>
          <a:chOff x="0" y="0"/>
          <a:chExt cx="0" cy="0"/>
        </a:xfrm>
      </p:grpSpPr>
      <p:sp>
        <p:nvSpPr>
          <p:cNvPr id="98" name="Google Shape;98;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0" name="Google Shape;100;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3" name="Shape 103"/>
        <p:cNvGrpSpPr/>
        <p:nvPr/>
      </p:nvGrpSpPr>
      <p:grpSpPr>
        <a:xfrm>
          <a:off x="0" y="0"/>
          <a:ext cx="0" cy="0"/>
          <a:chOff x="0" y="0"/>
          <a:chExt cx="0" cy="0"/>
        </a:xfrm>
      </p:grpSpPr>
      <p:sp>
        <p:nvSpPr>
          <p:cNvPr id="104" name="Google Shape;104;p1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1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106" name="Google Shape;106;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9" name="Shape 109"/>
        <p:cNvGrpSpPr/>
        <p:nvPr/>
      </p:nvGrpSpPr>
      <p:grpSpPr>
        <a:xfrm>
          <a:off x="0" y="0"/>
          <a:ext cx="0" cy="0"/>
          <a:chOff x="0" y="0"/>
          <a:chExt cx="0" cy="0"/>
        </a:xfrm>
      </p:grpSpPr>
      <p:sp>
        <p:nvSpPr>
          <p:cNvPr id="110" name="Google Shape;110;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1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2" name="Google Shape;112;p1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3" name="Google Shape;113;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6" name="Shape 116"/>
        <p:cNvGrpSpPr/>
        <p:nvPr/>
      </p:nvGrpSpPr>
      <p:grpSpPr>
        <a:xfrm>
          <a:off x="0" y="0"/>
          <a:ext cx="0" cy="0"/>
          <a:chOff x="0" y="0"/>
          <a:chExt cx="0" cy="0"/>
        </a:xfrm>
      </p:grpSpPr>
      <p:sp>
        <p:nvSpPr>
          <p:cNvPr id="117" name="Google Shape;117;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2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19" name="Google Shape;119;p2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20" name="Google Shape;120;p2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21" name="Google Shape;121;p2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22" name="Google Shape;122;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5" name="Shape 125"/>
        <p:cNvGrpSpPr/>
        <p:nvPr/>
      </p:nvGrpSpPr>
      <p:grpSpPr>
        <a:xfrm>
          <a:off x="0" y="0"/>
          <a:ext cx="0" cy="0"/>
          <a:chOff x="0" y="0"/>
          <a:chExt cx="0" cy="0"/>
        </a:xfrm>
      </p:grpSpPr>
      <p:sp>
        <p:nvSpPr>
          <p:cNvPr id="126" name="Google Shape;126;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0" name="Shape 130"/>
        <p:cNvGrpSpPr/>
        <p:nvPr/>
      </p:nvGrpSpPr>
      <p:grpSpPr>
        <a:xfrm>
          <a:off x="0" y="0"/>
          <a:ext cx="0" cy="0"/>
          <a:chOff x="0" y="0"/>
          <a:chExt cx="0" cy="0"/>
        </a:xfrm>
      </p:grpSpPr>
      <p:sp>
        <p:nvSpPr>
          <p:cNvPr id="131" name="Google Shape;131;p2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2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33" name="Google Shape;133;p2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34" name="Google Shape;134;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7" name="Shape 137"/>
        <p:cNvGrpSpPr/>
        <p:nvPr/>
      </p:nvGrpSpPr>
      <p:grpSpPr>
        <a:xfrm>
          <a:off x="0" y="0"/>
          <a:ext cx="0" cy="0"/>
          <a:chOff x="0" y="0"/>
          <a:chExt cx="0" cy="0"/>
        </a:xfrm>
      </p:grpSpPr>
      <p:sp>
        <p:nvSpPr>
          <p:cNvPr id="138" name="Google Shape;138;p2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23"/>
          <p:cNvSpPr/>
          <p:nvPr>
            <p:ph idx="2" type="pic"/>
          </p:nvPr>
        </p:nvSpPr>
        <p:spPr>
          <a:xfrm>
            <a:off x="1792288" y="612775"/>
            <a:ext cx="5486400" cy="4114800"/>
          </a:xfrm>
          <a:prstGeom prst="rect">
            <a:avLst/>
          </a:prstGeom>
          <a:noFill/>
          <a:ln>
            <a:noFill/>
          </a:ln>
        </p:spPr>
      </p:sp>
      <p:sp>
        <p:nvSpPr>
          <p:cNvPr id="140" name="Google Shape;140;p2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41" name="Google Shape;14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4" name="Shape 144"/>
        <p:cNvGrpSpPr/>
        <p:nvPr/>
      </p:nvGrpSpPr>
      <p:grpSpPr>
        <a:xfrm>
          <a:off x="0" y="0"/>
          <a:ext cx="0" cy="0"/>
          <a:chOff x="0" y="0"/>
          <a:chExt cx="0" cy="0"/>
        </a:xfrm>
      </p:grpSpPr>
      <p:sp>
        <p:nvSpPr>
          <p:cNvPr id="145" name="Google Shape;145;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2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7" name="Google Shape;147;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0" name="Shape 150"/>
        <p:cNvGrpSpPr/>
        <p:nvPr/>
      </p:nvGrpSpPr>
      <p:grpSpPr>
        <a:xfrm>
          <a:off x="0" y="0"/>
          <a:ext cx="0" cy="0"/>
          <a:chOff x="0" y="0"/>
          <a:chExt cx="0" cy="0"/>
        </a:xfrm>
      </p:grpSpPr>
      <p:sp>
        <p:nvSpPr>
          <p:cNvPr id="151" name="Google Shape;151;p2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2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3" name="Google Shape;153;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6" name="Shape 156"/>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8" name="Shape 15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4.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 name="Shape 81"/>
        <p:cNvGrpSpPr/>
        <p:nvPr/>
      </p:nvGrpSpPr>
      <p:grpSpPr>
        <a:xfrm>
          <a:off x="0" y="0"/>
          <a:ext cx="0" cy="0"/>
          <a:chOff x="0" y="0"/>
          <a:chExt cx="0" cy="0"/>
        </a:xfrm>
      </p:grpSpPr>
      <p:sp>
        <p:nvSpPr>
          <p:cNvPr id="82" name="Google Shape;82;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3" name="Google Shape;83;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4" name="Google Shape;84;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5" name="Google Shape;85;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6" name="Google Shape;86;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2"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162" name="Shape 162"/>
        <p:cNvGrpSpPr/>
        <p:nvPr/>
      </p:nvGrpSpPr>
      <p:grpSpPr>
        <a:xfrm>
          <a:off x="0" y="0"/>
          <a:ext cx="0" cy="0"/>
          <a:chOff x="0" y="0"/>
          <a:chExt cx="0" cy="0"/>
        </a:xfrm>
      </p:grpSpPr>
      <p:sp>
        <p:nvSpPr>
          <p:cNvPr id="163" name="Google Shape;163;p29"/>
          <p:cNvSpPr/>
          <p:nvPr/>
        </p:nvSpPr>
        <p:spPr>
          <a:xfrm>
            <a:off x="0" y="0"/>
            <a:ext cx="54864" cy="68580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4" name="Google Shape;164;p29"/>
          <p:cNvSpPr/>
          <p:nvPr/>
        </p:nvSpPr>
        <p:spPr>
          <a:xfrm>
            <a:off x="54864" y="0"/>
            <a:ext cx="12136831" cy="36576"/>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5" name="Google Shape;165;p29"/>
          <p:cNvSpPr/>
          <p:nvPr/>
        </p:nvSpPr>
        <p:spPr>
          <a:xfrm>
            <a:off x="54864" y="6821424"/>
            <a:ext cx="12136831" cy="3657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6" name="Google Shape;166;p29"/>
          <p:cNvSpPr txBox="1"/>
          <p:nvPr/>
        </p:nvSpPr>
        <p:spPr>
          <a:xfrm>
            <a:off x="457200" y="777240"/>
            <a:ext cx="7315200" cy="4114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00E5FF"/>
                </a:solidFill>
                <a:latin typeface="Calibri"/>
                <a:ea typeface="Calibri"/>
                <a:cs typeface="Calibri"/>
                <a:sym typeface="Calibri"/>
              </a:rPr>
              <a:t>RESEARCH PRESENTATION</a:t>
            </a:r>
            <a:endParaRPr b="0" i="0" sz="1400" u="none" cap="none" strike="noStrike">
              <a:solidFill>
                <a:srgbClr val="000000"/>
              </a:solidFill>
              <a:latin typeface="Arial"/>
              <a:ea typeface="Arial"/>
              <a:cs typeface="Arial"/>
              <a:sym typeface="Arial"/>
            </a:endParaRPr>
          </a:p>
        </p:txBody>
      </p:sp>
      <p:sp>
        <p:nvSpPr>
          <p:cNvPr id="167" name="Google Shape;167;p29"/>
          <p:cNvSpPr txBox="1"/>
          <p:nvPr/>
        </p:nvSpPr>
        <p:spPr>
          <a:xfrm>
            <a:off x="457200" y="1205412"/>
            <a:ext cx="8075748"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1" i="0" lang="en-US" sz="7200" u="none" cap="none" strike="noStrike">
                <a:solidFill>
                  <a:srgbClr val="FFFFFF"/>
                </a:solidFill>
                <a:latin typeface="Calibri"/>
                <a:ea typeface="Calibri"/>
                <a:cs typeface="Calibri"/>
                <a:sym typeface="Calibri"/>
              </a:rPr>
              <a:t>CMatrix</a:t>
            </a:r>
            <a:endParaRPr b="0" i="0" sz="1400" u="none" cap="none" strike="noStrike">
              <a:solidFill>
                <a:srgbClr val="000000"/>
              </a:solidFill>
              <a:latin typeface="Arial"/>
              <a:ea typeface="Arial"/>
              <a:cs typeface="Arial"/>
              <a:sym typeface="Arial"/>
            </a:endParaRPr>
          </a:p>
        </p:txBody>
      </p:sp>
      <p:sp>
        <p:nvSpPr>
          <p:cNvPr id="168" name="Google Shape;168;p29"/>
          <p:cNvSpPr txBox="1"/>
          <p:nvPr/>
        </p:nvSpPr>
        <p:spPr>
          <a:xfrm>
            <a:off x="457200" y="2609725"/>
            <a:ext cx="8075700" cy="110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0" i="1" lang="en-US" sz="2200" u="none" cap="none" strike="noStrike">
                <a:solidFill>
                  <a:srgbClr val="00E5FF"/>
                </a:solidFill>
                <a:latin typeface="Calibri"/>
                <a:ea typeface="Calibri"/>
                <a:cs typeface="Calibri"/>
                <a:sym typeface="Calibri"/>
              </a:rPr>
              <a:t>Dual-Graph-Guided LLM-Orchestrated </a:t>
            </a:r>
            <a:endParaRPr b="0" i="1" sz="2200" u="none" cap="none" strike="noStrike">
              <a:solidFill>
                <a:srgbClr val="00E5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0" i="1" lang="en-US" sz="2200" u="none" cap="none" strike="noStrike">
                <a:solidFill>
                  <a:srgbClr val="00E5FF"/>
                </a:solidFill>
                <a:latin typeface="Calibri"/>
                <a:ea typeface="Calibri"/>
                <a:cs typeface="Calibri"/>
                <a:sym typeface="Calibri"/>
              </a:rPr>
              <a:t>Multi-Agent Framework for Autonomous </a:t>
            </a:r>
            <a:endParaRPr b="0" i="1" sz="2200" u="none" cap="none" strike="noStrike">
              <a:solidFill>
                <a:srgbClr val="00E5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E5FF"/>
                </a:solidFill>
                <a:latin typeface="Calibri"/>
                <a:ea typeface="Calibri"/>
                <a:cs typeface="Calibri"/>
                <a:sym typeface="Calibri"/>
              </a:rPr>
              <a:t>Vulnerability Assessment and Penetration Testing </a:t>
            </a:r>
            <a:r>
              <a:rPr b="0" i="1" lang="en-US" sz="2200" u="none" cap="none" strike="noStrike">
                <a:solidFill>
                  <a:srgbClr val="00E5FF"/>
                </a:solidFill>
                <a:latin typeface="Calibri"/>
                <a:ea typeface="Calibri"/>
                <a:cs typeface="Calibri"/>
                <a:sym typeface="Calibri"/>
              </a:rPr>
              <a:t>(VAPT)</a:t>
            </a:r>
            <a:endParaRPr b="0" i="0" sz="1800" u="none" cap="none" strike="noStrike">
              <a:solidFill>
                <a:schemeClr val="dk1"/>
              </a:solidFill>
              <a:latin typeface="Calibri"/>
              <a:ea typeface="Calibri"/>
              <a:cs typeface="Calibri"/>
              <a:sym typeface="Calibri"/>
            </a:endParaRPr>
          </a:p>
        </p:txBody>
      </p:sp>
      <p:sp>
        <p:nvSpPr>
          <p:cNvPr id="169" name="Google Shape;169;p29"/>
          <p:cNvSpPr/>
          <p:nvPr/>
        </p:nvSpPr>
        <p:spPr>
          <a:xfrm>
            <a:off x="457200" y="4069080"/>
            <a:ext cx="2514600" cy="384048"/>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0" name="Google Shape;170;p29"/>
          <p:cNvSpPr txBox="1"/>
          <p:nvPr/>
        </p:nvSpPr>
        <p:spPr>
          <a:xfrm>
            <a:off x="548640" y="4096512"/>
            <a:ext cx="2377440"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39FF14"/>
                </a:solidFill>
                <a:latin typeface="Calibri"/>
                <a:ea typeface="Calibri"/>
                <a:cs typeface="Calibri"/>
                <a:sym typeface="Calibri"/>
              </a:rPr>
              <a:t>Autonomous Pentesting</a:t>
            </a:r>
            <a:endParaRPr b="0" i="0" sz="1400" u="none" cap="none" strike="noStrike">
              <a:solidFill>
                <a:srgbClr val="000000"/>
              </a:solidFill>
              <a:latin typeface="Arial"/>
              <a:ea typeface="Arial"/>
              <a:cs typeface="Arial"/>
              <a:sym typeface="Arial"/>
            </a:endParaRPr>
          </a:p>
        </p:txBody>
      </p:sp>
      <p:sp>
        <p:nvSpPr>
          <p:cNvPr id="171" name="Google Shape;171;p29"/>
          <p:cNvSpPr/>
          <p:nvPr/>
        </p:nvSpPr>
        <p:spPr>
          <a:xfrm>
            <a:off x="3246120" y="4069080"/>
            <a:ext cx="2514600" cy="384048"/>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2" name="Google Shape;172;p29"/>
          <p:cNvSpPr txBox="1"/>
          <p:nvPr/>
        </p:nvSpPr>
        <p:spPr>
          <a:xfrm>
            <a:off x="3337560" y="4096512"/>
            <a:ext cx="2377440"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39FF14"/>
                </a:solidFill>
                <a:latin typeface="Calibri"/>
                <a:ea typeface="Calibri"/>
                <a:cs typeface="Calibri"/>
                <a:sym typeface="Calibri"/>
              </a:rPr>
              <a:t>AI Agent Orchestration</a:t>
            </a:r>
            <a:endParaRPr b="0" i="0" sz="1400" u="none" cap="none" strike="noStrike">
              <a:solidFill>
                <a:srgbClr val="000000"/>
              </a:solidFill>
              <a:latin typeface="Arial"/>
              <a:ea typeface="Arial"/>
              <a:cs typeface="Arial"/>
              <a:sym typeface="Arial"/>
            </a:endParaRPr>
          </a:p>
        </p:txBody>
      </p:sp>
      <p:sp>
        <p:nvSpPr>
          <p:cNvPr id="173" name="Google Shape;173;p29"/>
          <p:cNvSpPr/>
          <p:nvPr/>
        </p:nvSpPr>
        <p:spPr>
          <a:xfrm>
            <a:off x="6035040" y="4069080"/>
            <a:ext cx="2514600" cy="384048"/>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4" name="Google Shape;174;p29"/>
          <p:cNvSpPr txBox="1"/>
          <p:nvPr/>
        </p:nvSpPr>
        <p:spPr>
          <a:xfrm>
            <a:off x="6126480" y="4096512"/>
            <a:ext cx="2377440" cy="3291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39FF14"/>
                </a:solidFill>
                <a:latin typeface="Calibri"/>
                <a:ea typeface="Calibri"/>
                <a:cs typeface="Calibri"/>
                <a:sym typeface="Calibri"/>
              </a:rPr>
              <a:t>Attack Graph Reasoning</a:t>
            </a:r>
            <a:endParaRPr b="0" i="0" sz="1400" u="none" cap="none" strike="noStrike">
              <a:solidFill>
                <a:srgbClr val="000000"/>
              </a:solidFill>
              <a:latin typeface="Arial"/>
              <a:ea typeface="Arial"/>
              <a:cs typeface="Arial"/>
              <a:sym typeface="Arial"/>
            </a:endParaRPr>
          </a:p>
        </p:txBody>
      </p:sp>
      <p:sp>
        <p:nvSpPr>
          <p:cNvPr id="175" name="Google Shape;175;p29"/>
          <p:cNvSpPr txBox="1"/>
          <p:nvPr/>
        </p:nvSpPr>
        <p:spPr>
          <a:xfrm>
            <a:off x="457200" y="4754880"/>
            <a:ext cx="7315200" cy="3474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A0AAB8"/>
                </a:solidFill>
                <a:latin typeface="Calibri"/>
                <a:ea typeface="Calibri"/>
                <a:cs typeface="Calibri"/>
                <a:sym typeface="Calibri"/>
              </a:rPr>
              <a:t>Supervisor Meeting  ·  June 2026</a:t>
            </a:r>
            <a:endParaRPr b="0" i="0" sz="1400" u="none" cap="none" strike="noStrike">
              <a:solidFill>
                <a:srgbClr val="000000"/>
              </a:solidFill>
              <a:latin typeface="Arial"/>
              <a:ea typeface="Arial"/>
              <a:cs typeface="Arial"/>
              <a:sym typeface="Arial"/>
            </a:endParaRPr>
          </a:p>
        </p:txBody>
      </p:sp>
      <p:sp>
        <p:nvSpPr>
          <p:cNvPr id="176" name="Google Shape;176;p29"/>
          <p:cNvSpPr txBox="1"/>
          <p:nvPr/>
        </p:nvSpPr>
        <p:spPr>
          <a:xfrm>
            <a:off x="457200" y="5138925"/>
            <a:ext cx="80757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A0AAB8"/>
                </a:solidFill>
                <a:latin typeface="Calibri"/>
                <a:ea typeface="Calibri"/>
                <a:cs typeface="Calibri"/>
                <a:sym typeface="Calibri"/>
              </a:rPr>
              <a:t>Black-Box · Grey-Box  ·  Network  ·  Web  ·  REST API</a:t>
            </a:r>
            <a:endParaRPr b="0" i="0" sz="1400" u="none" cap="none" strike="noStrike">
              <a:solidFill>
                <a:srgbClr val="000000"/>
              </a:solidFill>
              <a:latin typeface="Arial"/>
              <a:ea typeface="Arial"/>
              <a:cs typeface="Arial"/>
              <a:sym typeface="Arial"/>
            </a:endParaRPr>
          </a:p>
        </p:txBody>
      </p:sp>
      <p:sp>
        <p:nvSpPr>
          <p:cNvPr id="177" name="Google Shape;177;p29"/>
          <p:cNvSpPr/>
          <p:nvPr/>
        </p:nvSpPr>
        <p:spPr>
          <a:xfrm>
            <a:off x="8823975" y="777250"/>
            <a:ext cx="3223800" cy="2133600"/>
          </a:xfrm>
          <a:prstGeom prst="rect">
            <a:avLst/>
          </a:prstGeom>
          <a:solidFill>
            <a:srgbClr val="10162B"/>
          </a:solidFill>
          <a:ln cap="flat" cmpd="sng" w="19050">
            <a:solidFill>
              <a:srgbClr val="00E5FF"/>
            </a:solidFill>
            <a:prstDash val="solid"/>
            <a:round/>
            <a:headEnd len="sm" w="sm" type="none"/>
            <a:tailEnd len="sm" w="sm" type="none"/>
          </a:ln>
        </p:spPr>
        <p:txBody>
          <a:bodyPr anchorCtr="0" anchor="ctr"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39FF14"/>
                </a:solidFill>
                <a:latin typeface="Calibri"/>
                <a:ea typeface="Calibri"/>
                <a:cs typeface="Calibri"/>
                <a:sym typeface="Calibri"/>
              </a:rPr>
              <a:t>THESIS SUPERVISOR</a:t>
            </a:r>
            <a:endParaRPr b="1">
              <a:solidFill>
                <a:srgbClr val="FFFFFF"/>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Dr. Md. Abdur Razzaque</a:t>
            </a: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E5FF"/>
                </a:solidFill>
                <a:latin typeface="Calibri"/>
                <a:ea typeface="Calibri"/>
                <a:cs typeface="Calibri"/>
                <a:sym typeface="Calibri"/>
              </a:rPr>
              <a:t>Professor &amp; Chairman</a:t>
            </a:r>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A0AAB8"/>
                </a:solidFill>
                <a:latin typeface="Calibri"/>
                <a:ea typeface="Calibri"/>
                <a:cs typeface="Calibri"/>
                <a:sym typeface="Calibri"/>
              </a:rPr>
              <a:t>Dept. of Computer Science &amp; Engineering</a:t>
            </a:r>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A0AAB8"/>
                </a:solidFill>
                <a:latin typeface="Calibri"/>
                <a:ea typeface="Calibri"/>
                <a:cs typeface="Calibri"/>
                <a:sym typeface="Calibri"/>
              </a:rPr>
              <a:t>University of Dhaka</a:t>
            </a:r>
            <a:endParaRPr/>
          </a:p>
        </p:txBody>
      </p:sp>
      <p:sp>
        <p:nvSpPr>
          <p:cNvPr id="178" name="Google Shape;178;p29"/>
          <p:cNvSpPr/>
          <p:nvPr/>
        </p:nvSpPr>
        <p:spPr>
          <a:xfrm>
            <a:off x="8823975" y="3048003"/>
            <a:ext cx="3223800" cy="2743200"/>
          </a:xfrm>
          <a:prstGeom prst="rect">
            <a:avLst/>
          </a:prstGeom>
          <a:solidFill>
            <a:srgbClr val="10162B"/>
          </a:solidFill>
          <a:ln cap="flat" cmpd="sng" w="19050">
            <a:solidFill>
              <a:srgbClr val="39FF14"/>
            </a:solidFill>
            <a:prstDash val="solid"/>
            <a:round/>
            <a:headEnd len="sm" w="sm" type="none"/>
            <a:tailEnd len="sm" w="sm" type="none"/>
          </a:ln>
        </p:spPr>
        <p:txBody>
          <a:bodyPr anchorCtr="0" anchor="ctr"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39FF14"/>
                </a:solidFill>
                <a:latin typeface="Calibri"/>
                <a:ea typeface="Calibri"/>
                <a:cs typeface="Calibri"/>
                <a:sym typeface="Calibri"/>
              </a:rPr>
              <a:t>PRESENTED BY</a:t>
            </a:r>
            <a:endParaRPr b="1" sz="1300">
              <a:solidFill>
                <a:srgbClr val="FFFFFF"/>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300"/>
              <a:buFont typeface="Arial"/>
              <a:buNone/>
            </a:pPr>
            <a:r>
              <a:rPr b="1" i="0" lang="en-US" sz="1300" u="none" cap="none" strike="noStrike">
                <a:solidFill>
                  <a:srgbClr val="FFFFFF"/>
                </a:solidFill>
                <a:latin typeface="Calibri"/>
                <a:ea typeface="Calibri"/>
                <a:cs typeface="Calibri"/>
                <a:sym typeface="Calibri"/>
              </a:rPr>
              <a:t>Nishan Paul</a:t>
            </a:r>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E5FF"/>
                </a:solidFill>
                <a:latin typeface="Calibri"/>
                <a:ea typeface="Calibri"/>
                <a:cs typeface="Calibri"/>
                <a:sym typeface="Calibri"/>
              </a:rPr>
              <a:t>Reg. 55</a:t>
            </a:r>
            <a:endParaRPr b="1" sz="1300">
              <a:solidFill>
                <a:srgbClr val="FFFFFF"/>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300"/>
              <a:buFont typeface="Arial"/>
              <a:buNone/>
            </a:pPr>
            <a:r>
              <a:rPr b="1" i="0" lang="en-US" sz="1300" u="none" cap="none" strike="noStrike">
                <a:solidFill>
                  <a:srgbClr val="FFFFFF"/>
                </a:solidFill>
                <a:latin typeface="Calibri"/>
                <a:ea typeface="Calibri"/>
                <a:cs typeface="Calibri"/>
                <a:sym typeface="Calibri"/>
              </a:rPr>
              <a:t>Md Rakibur Rahman</a:t>
            </a:r>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E5FF"/>
                </a:solidFill>
                <a:latin typeface="Calibri"/>
                <a:ea typeface="Calibri"/>
                <a:cs typeface="Calibri"/>
                <a:sym typeface="Calibri"/>
              </a:rPr>
              <a:t>Reg. 49</a:t>
            </a:r>
            <a:endParaRPr sz="1000">
              <a:solidFill>
                <a:srgbClr val="A0AAB8"/>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000"/>
              <a:buFont typeface="Arial"/>
              <a:buNone/>
            </a:pPr>
            <a:r>
              <a:rPr lang="en-US" sz="1000">
                <a:solidFill>
                  <a:srgbClr val="A0AAB8"/>
                </a:solidFill>
                <a:latin typeface="Calibri"/>
                <a:ea typeface="Calibri"/>
                <a:cs typeface="Calibri"/>
                <a:sym typeface="Calibri"/>
              </a:rPr>
              <a:t>July 2025 </a:t>
            </a:r>
            <a:r>
              <a:rPr lang="en-US">
                <a:solidFill>
                  <a:srgbClr val="A0AAB8"/>
                </a:solidFill>
                <a:latin typeface="Calibri"/>
                <a:ea typeface="Calibri"/>
                <a:cs typeface="Calibri"/>
                <a:sym typeface="Calibri"/>
              </a:rPr>
              <a:t>· </a:t>
            </a:r>
            <a:r>
              <a:rPr b="0" i="0" lang="en-US" sz="1000" u="none" cap="none" strike="noStrike">
                <a:solidFill>
                  <a:srgbClr val="A0AAB8"/>
                </a:solidFill>
                <a:latin typeface="Calibri"/>
                <a:ea typeface="Calibri"/>
                <a:cs typeface="Calibri"/>
                <a:sym typeface="Calibri"/>
              </a:rPr>
              <a:t>Batch 05 </a:t>
            </a:r>
            <a:endParaRPr sz="1000">
              <a:solidFill>
                <a:srgbClr val="A0AAB8"/>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000"/>
              <a:buFont typeface="Arial"/>
              <a:buNone/>
            </a:pPr>
            <a:r>
              <a:rPr lang="en-US" sz="1000">
                <a:solidFill>
                  <a:srgbClr val="A0AAB8"/>
                </a:solidFill>
                <a:latin typeface="Calibri"/>
                <a:ea typeface="Calibri"/>
                <a:cs typeface="Calibri"/>
                <a:sym typeface="Calibri"/>
              </a:rPr>
              <a:t>Professional Masters in Information and Cyber Security</a:t>
            </a:r>
            <a:endParaRPr sz="1200">
              <a:solidFill>
                <a:srgbClr val="A0AAB8"/>
              </a:solidFill>
              <a:latin typeface="Calibri"/>
              <a:ea typeface="Calibri"/>
              <a:cs typeface="Calibri"/>
              <a:sym typeface="Calibri"/>
            </a:endParaRPr>
          </a:p>
        </p:txBody>
      </p:sp>
      <p:sp>
        <p:nvSpPr>
          <p:cNvPr id="179" name="Google Shape;179;p29"/>
          <p:cNvSpPr txBox="1"/>
          <p:nvPr/>
        </p:nvSpPr>
        <p:spPr>
          <a:xfrm>
            <a:off x="11801986" y="34109"/>
            <a:ext cx="384048" cy="41148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01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183" name="Shape 183"/>
        <p:cNvGrpSpPr/>
        <p:nvPr/>
      </p:nvGrpSpPr>
      <p:grpSpPr>
        <a:xfrm>
          <a:off x="0" y="0"/>
          <a:ext cx="0" cy="0"/>
          <a:chOff x="0" y="0"/>
          <a:chExt cx="0" cy="0"/>
        </a:xfrm>
      </p:grpSpPr>
      <p:sp>
        <p:nvSpPr>
          <p:cNvPr id="184" name="Google Shape;184;p30"/>
          <p:cNvSpPr/>
          <p:nvPr/>
        </p:nvSpPr>
        <p:spPr>
          <a:xfrm>
            <a:off x="0" y="0"/>
            <a:ext cx="54864" cy="68580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5" name="Google Shape;185;p30"/>
          <p:cNvSpPr/>
          <p:nvPr/>
        </p:nvSpPr>
        <p:spPr>
          <a:xfrm>
            <a:off x="54864" y="0"/>
            <a:ext cx="12136831" cy="36576"/>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6" name="Google Shape;186;p30"/>
          <p:cNvSpPr/>
          <p:nvPr/>
        </p:nvSpPr>
        <p:spPr>
          <a:xfrm>
            <a:off x="54864" y="6821424"/>
            <a:ext cx="12136831" cy="36576"/>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7" name="Google Shape;187;p30"/>
          <p:cNvSpPr txBox="1"/>
          <p:nvPr/>
        </p:nvSpPr>
        <p:spPr>
          <a:xfrm>
            <a:off x="274320" y="64008"/>
            <a:ext cx="73152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FF4545"/>
                </a:solidFill>
                <a:latin typeface="Calibri"/>
                <a:ea typeface="Calibri"/>
                <a:cs typeface="Calibri"/>
                <a:sym typeface="Calibri"/>
              </a:rPr>
              <a:t>THE PROBLEM</a:t>
            </a:r>
            <a:endParaRPr/>
          </a:p>
        </p:txBody>
      </p:sp>
      <p:sp>
        <p:nvSpPr>
          <p:cNvPr id="188" name="Google Shape;188;p30"/>
          <p:cNvSpPr txBox="1"/>
          <p:nvPr/>
        </p:nvSpPr>
        <p:spPr>
          <a:xfrm>
            <a:off x="274320" y="292608"/>
            <a:ext cx="11430000" cy="4754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400">
                <a:solidFill>
                  <a:srgbClr val="FFFFFF"/>
                </a:solidFill>
                <a:latin typeface="Calibri"/>
                <a:ea typeface="Calibri"/>
                <a:cs typeface="Calibri"/>
                <a:sym typeface="Calibri"/>
              </a:rPr>
              <a:t>What Existing VAPT Systems Get Wrong</a:t>
            </a:r>
            <a:endParaRPr/>
          </a:p>
        </p:txBody>
      </p:sp>
      <p:sp>
        <p:nvSpPr>
          <p:cNvPr id="189" name="Google Shape;189;p30"/>
          <p:cNvSpPr/>
          <p:nvPr/>
        </p:nvSpPr>
        <p:spPr>
          <a:xfrm>
            <a:off x="274320" y="1207008"/>
            <a:ext cx="5303520" cy="996600"/>
          </a:xfrm>
          <a:prstGeom prst="rect">
            <a:avLst/>
          </a:prstGeom>
          <a:solidFill>
            <a:srgbClr val="2A1010"/>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0" name="Google Shape;190;p30"/>
          <p:cNvSpPr txBox="1"/>
          <p:nvPr/>
        </p:nvSpPr>
        <p:spPr>
          <a:xfrm>
            <a:off x="384048" y="1298448"/>
            <a:ext cx="36576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a:solidFill>
                  <a:srgbClr val="FF4545"/>
                </a:solidFill>
                <a:latin typeface="Calibri"/>
                <a:ea typeface="Calibri"/>
                <a:cs typeface="Calibri"/>
                <a:sym typeface="Calibri"/>
              </a:rPr>
              <a:t>✕</a:t>
            </a:r>
            <a:endParaRPr/>
          </a:p>
        </p:txBody>
      </p:sp>
      <p:sp>
        <p:nvSpPr>
          <p:cNvPr id="191" name="Google Shape;191;p30"/>
          <p:cNvSpPr txBox="1"/>
          <p:nvPr/>
        </p:nvSpPr>
        <p:spPr>
          <a:xfrm>
            <a:off x="713232" y="1280160"/>
            <a:ext cx="4754880" cy="3291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a:solidFill>
                  <a:srgbClr val="FFFFFF"/>
                </a:solidFill>
                <a:latin typeface="Calibri"/>
                <a:ea typeface="Calibri"/>
                <a:cs typeface="Calibri"/>
                <a:sym typeface="Calibri"/>
              </a:rPr>
              <a:t>No Structured World Model</a:t>
            </a:r>
            <a:endParaRPr/>
          </a:p>
        </p:txBody>
      </p:sp>
      <p:sp>
        <p:nvSpPr>
          <p:cNvPr id="192" name="Google Shape;192;p30"/>
          <p:cNvSpPr txBox="1"/>
          <p:nvPr/>
        </p:nvSpPr>
        <p:spPr>
          <a:xfrm>
            <a:off x="713232" y="1609344"/>
            <a:ext cx="4754880" cy="6583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50">
                <a:solidFill>
                  <a:srgbClr val="A0AAB8"/>
                </a:solidFill>
                <a:latin typeface="Calibri"/>
                <a:ea typeface="Calibri"/>
                <a:cs typeface="Calibri"/>
                <a:sym typeface="Calibri"/>
              </a:rPr>
              <a:t>Systems reason from flat conversation history or task queues — no graph of what the target actually is.</a:t>
            </a:r>
            <a:endParaRPr/>
          </a:p>
        </p:txBody>
      </p:sp>
      <p:sp>
        <p:nvSpPr>
          <p:cNvPr id="193" name="Google Shape;193;p30"/>
          <p:cNvSpPr/>
          <p:nvPr/>
        </p:nvSpPr>
        <p:spPr>
          <a:xfrm>
            <a:off x="274320" y="2295048"/>
            <a:ext cx="5303520" cy="996600"/>
          </a:xfrm>
          <a:prstGeom prst="rect">
            <a:avLst/>
          </a:prstGeom>
          <a:solidFill>
            <a:srgbClr val="2A1010"/>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4" name="Google Shape;194;p30"/>
          <p:cNvSpPr txBox="1"/>
          <p:nvPr/>
        </p:nvSpPr>
        <p:spPr>
          <a:xfrm>
            <a:off x="384048" y="2386488"/>
            <a:ext cx="36576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a:solidFill>
                  <a:srgbClr val="FF4545"/>
                </a:solidFill>
                <a:latin typeface="Calibri"/>
                <a:ea typeface="Calibri"/>
                <a:cs typeface="Calibri"/>
                <a:sym typeface="Calibri"/>
              </a:rPr>
              <a:t>✕</a:t>
            </a:r>
            <a:endParaRPr/>
          </a:p>
        </p:txBody>
      </p:sp>
      <p:sp>
        <p:nvSpPr>
          <p:cNvPr id="195" name="Google Shape;195;p30"/>
          <p:cNvSpPr txBox="1"/>
          <p:nvPr/>
        </p:nvSpPr>
        <p:spPr>
          <a:xfrm>
            <a:off x="713232" y="2368200"/>
            <a:ext cx="4754880" cy="3291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a:solidFill>
                  <a:srgbClr val="FFFFFF"/>
                </a:solidFill>
                <a:latin typeface="Calibri"/>
                <a:ea typeface="Calibri"/>
                <a:cs typeface="Calibri"/>
                <a:sym typeface="Calibri"/>
              </a:rPr>
              <a:t>No Attack Path Reasoning</a:t>
            </a:r>
            <a:endParaRPr/>
          </a:p>
        </p:txBody>
      </p:sp>
      <p:sp>
        <p:nvSpPr>
          <p:cNvPr id="196" name="Google Shape;196;p30"/>
          <p:cNvSpPr txBox="1"/>
          <p:nvPr/>
        </p:nvSpPr>
        <p:spPr>
          <a:xfrm>
            <a:off x="713232" y="2697384"/>
            <a:ext cx="4754880" cy="6583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50">
                <a:solidFill>
                  <a:srgbClr val="A0AAB8"/>
                </a:solidFill>
                <a:latin typeface="Calibri"/>
                <a:ea typeface="Calibri"/>
                <a:cs typeface="Calibri"/>
                <a:sym typeface="Calibri"/>
              </a:rPr>
              <a:t>Finished tasks are logged, not understood. Systems cannot represent which vulnerabilities chain together or why.</a:t>
            </a:r>
            <a:endParaRPr/>
          </a:p>
        </p:txBody>
      </p:sp>
      <p:sp>
        <p:nvSpPr>
          <p:cNvPr id="197" name="Google Shape;197;p30"/>
          <p:cNvSpPr/>
          <p:nvPr/>
        </p:nvSpPr>
        <p:spPr>
          <a:xfrm>
            <a:off x="274320" y="3383088"/>
            <a:ext cx="5303520" cy="996600"/>
          </a:xfrm>
          <a:prstGeom prst="rect">
            <a:avLst/>
          </a:prstGeom>
          <a:solidFill>
            <a:srgbClr val="2A1010"/>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8" name="Google Shape;198;p30"/>
          <p:cNvSpPr txBox="1"/>
          <p:nvPr/>
        </p:nvSpPr>
        <p:spPr>
          <a:xfrm>
            <a:off x="384048" y="3474528"/>
            <a:ext cx="36576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a:solidFill>
                  <a:srgbClr val="FF4545"/>
                </a:solidFill>
                <a:latin typeface="Calibri"/>
                <a:ea typeface="Calibri"/>
                <a:cs typeface="Calibri"/>
                <a:sym typeface="Calibri"/>
              </a:rPr>
              <a:t>✕</a:t>
            </a:r>
            <a:endParaRPr/>
          </a:p>
        </p:txBody>
      </p:sp>
      <p:sp>
        <p:nvSpPr>
          <p:cNvPr id="199" name="Google Shape;199;p30"/>
          <p:cNvSpPr txBox="1"/>
          <p:nvPr/>
        </p:nvSpPr>
        <p:spPr>
          <a:xfrm>
            <a:off x="713232" y="3456240"/>
            <a:ext cx="4754880" cy="3291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a:solidFill>
                  <a:srgbClr val="FFFFFF"/>
                </a:solidFill>
                <a:latin typeface="Calibri"/>
                <a:ea typeface="Calibri"/>
                <a:cs typeface="Calibri"/>
                <a:sym typeface="Calibri"/>
              </a:rPr>
              <a:t>Fragile Re-Planning</a:t>
            </a:r>
            <a:endParaRPr/>
          </a:p>
        </p:txBody>
      </p:sp>
      <p:sp>
        <p:nvSpPr>
          <p:cNvPr id="200" name="Google Shape;200;p30"/>
          <p:cNvSpPr txBox="1"/>
          <p:nvPr/>
        </p:nvSpPr>
        <p:spPr>
          <a:xfrm>
            <a:off x="713232" y="3785424"/>
            <a:ext cx="4754880" cy="6583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50">
                <a:solidFill>
                  <a:srgbClr val="A0AAB8"/>
                </a:solidFill>
                <a:latin typeface="Calibri"/>
                <a:ea typeface="Calibri"/>
                <a:cs typeface="Calibri"/>
                <a:sym typeface="Calibri"/>
              </a:rPr>
              <a:t>Dynamic re-planning is ad-hoc. There is no formal trigger grounded in discovered evidence.</a:t>
            </a:r>
            <a:endParaRPr/>
          </a:p>
        </p:txBody>
      </p:sp>
      <p:sp>
        <p:nvSpPr>
          <p:cNvPr id="201" name="Google Shape;201;p30"/>
          <p:cNvSpPr/>
          <p:nvPr/>
        </p:nvSpPr>
        <p:spPr>
          <a:xfrm>
            <a:off x="274320" y="4471128"/>
            <a:ext cx="5303520" cy="996600"/>
          </a:xfrm>
          <a:prstGeom prst="rect">
            <a:avLst/>
          </a:prstGeom>
          <a:solidFill>
            <a:srgbClr val="2A1010"/>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2" name="Google Shape;202;p30"/>
          <p:cNvSpPr txBox="1"/>
          <p:nvPr/>
        </p:nvSpPr>
        <p:spPr>
          <a:xfrm>
            <a:off x="384048" y="4562568"/>
            <a:ext cx="36576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a:solidFill>
                  <a:srgbClr val="FF4545"/>
                </a:solidFill>
                <a:latin typeface="Calibri"/>
                <a:ea typeface="Calibri"/>
                <a:cs typeface="Calibri"/>
                <a:sym typeface="Calibri"/>
              </a:rPr>
              <a:t>✕</a:t>
            </a:r>
            <a:endParaRPr/>
          </a:p>
        </p:txBody>
      </p:sp>
      <p:sp>
        <p:nvSpPr>
          <p:cNvPr id="203" name="Google Shape;203;p30"/>
          <p:cNvSpPr txBox="1"/>
          <p:nvPr/>
        </p:nvSpPr>
        <p:spPr>
          <a:xfrm>
            <a:off x="713232" y="4544280"/>
            <a:ext cx="4754880" cy="3291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a:solidFill>
                  <a:srgbClr val="FFFFFF"/>
                </a:solidFill>
                <a:latin typeface="Calibri"/>
                <a:ea typeface="Calibri"/>
                <a:cs typeface="Calibri"/>
                <a:sym typeface="Calibri"/>
              </a:rPr>
              <a:t>Arbitrary Termination</a:t>
            </a:r>
            <a:endParaRPr/>
          </a:p>
        </p:txBody>
      </p:sp>
      <p:sp>
        <p:nvSpPr>
          <p:cNvPr id="204" name="Google Shape;204;p30"/>
          <p:cNvSpPr txBox="1"/>
          <p:nvPr/>
        </p:nvSpPr>
        <p:spPr>
          <a:xfrm>
            <a:off x="713232" y="4873464"/>
            <a:ext cx="4754880" cy="6583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50">
                <a:solidFill>
                  <a:srgbClr val="A0AAB8"/>
                </a:solidFill>
                <a:latin typeface="Calibri"/>
                <a:ea typeface="Calibri"/>
                <a:cs typeface="Calibri"/>
                <a:sym typeface="Calibri"/>
              </a:rPr>
              <a:t>Missions end on time-limits or empty queues — not because the attack surface and all chains are truly exhausted.</a:t>
            </a:r>
            <a:endParaRPr/>
          </a:p>
        </p:txBody>
      </p:sp>
      <p:sp>
        <p:nvSpPr>
          <p:cNvPr id="205" name="Google Shape;205;p30"/>
          <p:cNvSpPr/>
          <p:nvPr/>
        </p:nvSpPr>
        <p:spPr>
          <a:xfrm>
            <a:off x="5943600" y="1207008"/>
            <a:ext cx="5943600" cy="2331720"/>
          </a:xfrm>
          <a:prstGeom prst="rect">
            <a:avLst/>
          </a:prstGeom>
          <a:solidFill>
            <a:srgbClr val="10162B"/>
          </a:solidFill>
          <a:ln cap="flat" cmpd="sng" w="190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6" name="Google Shape;206;p30"/>
          <p:cNvSpPr txBox="1"/>
          <p:nvPr/>
        </p:nvSpPr>
        <p:spPr>
          <a:xfrm>
            <a:off x="6080760" y="1252728"/>
            <a:ext cx="548640" cy="6400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6000">
                <a:solidFill>
                  <a:srgbClr val="00E5FF"/>
                </a:solidFill>
                <a:latin typeface="Calibri"/>
                <a:ea typeface="Calibri"/>
                <a:cs typeface="Calibri"/>
                <a:sym typeface="Calibri"/>
              </a:rPr>
              <a:t>“</a:t>
            </a:r>
            <a:endParaRPr/>
          </a:p>
        </p:txBody>
      </p:sp>
      <p:sp>
        <p:nvSpPr>
          <p:cNvPr id="207" name="Google Shape;207;p30"/>
          <p:cNvSpPr txBox="1"/>
          <p:nvPr/>
        </p:nvSpPr>
        <p:spPr>
          <a:xfrm>
            <a:off x="6126480" y="1709928"/>
            <a:ext cx="5577840" cy="1463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000">
                <a:solidFill>
                  <a:srgbClr val="FFFFFF"/>
                </a:solidFill>
                <a:latin typeface="Calibri"/>
                <a:ea typeface="Calibri"/>
                <a:cs typeface="Calibri"/>
                <a:sym typeface="Calibri"/>
              </a:rPr>
              <a:t>They automate tool execution. CMatrix automates the reasoning of a professional penetration tester.</a:t>
            </a:r>
            <a:endParaRPr/>
          </a:p>
        </p:txBody>
      </p:sp>
      <p:sp>
        <p:nvSpPr>
          <p:cNvPr id="208" name="Google Shape;208;p30"/>
          <p:cNvSpPr txBox="1"/>
          <p:nvPr/>
        </p:nvSpPr>
        <p:spPr>
          <a:xfrm>
            <a:off x="6126480" y="3218688"/>
            <a:ext cx="557784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a:solidFill>
                  <a:srgbClr val="A0AAB8"/>
                </a:solidFill>
                <a:latin typeface="Calibri"/>
                <a:ea typeface="Calibri"/>
                <a:cs typeface="Calibri"/>
                <a:sym typeface="Calibri"/>
              </a:rPr>
              <a:t>— CMatrix Design Philosophy</a:t>
            </a:r>
            <a:endParaRPr/>
          </a:p>
        </p:txBody>
      </p:sp>
      <p:sp>
        <p:nvSpPr>
          <p:cNvPr id="209" name="Google Shape;209;p30"/>
          <p:cNvSpPr/>
          <p:nvPr/>
        </p:nvSpPr>
        <p:spPr>
          <a:xfrm>
            <a:off x="5943600" y="3675887"/>
            <a:ext cx="5943600" cy="347472"/>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0" name="Google Shape;210;p30"/>
          <p:cNvSpPr txBox="1"/>
          <p:nvPr/>
        </p:nvSpPr>
        <p:spPr>
          <a:xfrm>
            <a:off x="6126480" y="3703320"/>
            <a:ext cx="5669280" cy="3017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a:solidFill>
                  <a:srgbClr val="FFFFFF"/>
                </a:solidFill>
                <a:latin typeface="Calibri"/>
                <a:ea typeface="Calibri"/>
                <a:cs typeface="Calibri"/>
                <a:sym typeface="Calibri"/>
              </a:rPr>
              <a:t>⚠  ROOT CAUSE</a:t>
            </a:r>
            <a:endParaRPr/>
          </a:p>
        </p:txBody>
      </p:sp>
      <p:sp>
        <p:nvSpPr>
          <p:cNvPr id="211" name="Google Shape;211;p30"/>
          <p:cNvSpPr/>
          <p:nvPr/>
        </p:nvSpPr>
        <p:spPr>
          <a:xfrm>
            <a:off x="5943600" y="4041648"/>
            <a:ext cx="5943600" cy="1298448"/>
          </a:xfrm>
          <a:prstGeom prst="rect">
            <a:avLst/>
          </a:prstGeom>
          <a:solidFill>
            <a:srgbClr val="10162B"/>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2" name="Google Shape;212;p30"/>
          <p:cNvSpPr txBox="1"/>
          <p:nvPr/>
        </p:nvSpPr>
        <p:spPr>
          <a:xfrm>
            <a:off x="6126480" y="4114800"/>
            <a:ext cx="5623560" cy="11521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50">
                <a:solidFill>
                  <a:srgbClr val="A0AAB8"/>
                </a:solidFill>
                <a:latin typeface="Calibri"/>
                <a:ea typeface="Calibri"/>
                <a:cs typeface="Calibri"/>
                <a:sym typeface="Calibri"/>
              </a:rPr>
              <a:t>Existing systems have no structured model of the target environment and no structured model of what attack paths are possible.  They know what they did — not what the target is, or what can be done to it.</a:t>
            </a:r>
            <a:endParaRPr/>
          </a:p>
        </p:txBody>
      </p:sp>
      <p:sp>
        <p:nvSpPr>
          <p:cNvPr id="213" name="Google Shape;213;p30"/>
          <p:cNvSpPr/>
          <p:nvPr/>
        </p:nvSpPr>
        <p:spPr>
          <a:xfrm>
            <a:off x="274320" y="5559552"/>
            <a:ext cx="11643055" cy="777240"/>
          </a:xfrm>
          <a:prstGeom prst="rect">
            <a:avLst/>
          </a:prstGeom>
          <a:solidFill>
            <a:srgbClr val="051420"/>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4" name="Google Shape;214;p30"/>
          <p:cNvSpPr txBox="1"/>
          <p:nvPr/>
        </p:nvSpPr>
        <p:spPr>
          <a:xfrm>
            <a:off x="457200" y="5650992"/>
            <a:ext cx="11277295" cy="5669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a:solidFill>
                  <a:srgbClr val="00E5FF"/>
                </a:solidFill>
                <a:latin typeface="Calibri"/>
                <a:ea typeface="Calibri"/>
                <a:cs typeface="Calibri"/>
                <a:sym typeface="Calibri"/>
              </a:rPr>
              <a:t>CMatrix Solution →  Dual-graph world model: ASG captures discovered reality  ·  APG captures inferred attack opportunity</a:t>
            </a:r>
            <a:endParaRPr/>
          </a:p>
        </p:txBody>
      </p:sp>
      <p:sp>
        <p:nvSpPr>
          <p:cNvPr id="215" name="Google Shape;215;p30"/>
          <p:cNvSpPr txBox="1"/>
          <p:nvPr/>
        </p:nvSpPr>
        <p:spPr>
          <a:xfrm>
            <a:off x="11794729" y="63137"/>
            <a:ext cx="384048" cy="4114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1300">
                <a:solidFill>
                  <a:srgbClr val="FF4545"/>
                </a:solidFill>
                <a:latin typeface="Calibri"/>
                <a:ea typeface="Calibri"/>
                <a:cs typeface="Calibri"/>
                <a:sym typeface="Calibri"/>
              </a:rPr>
              <a:t>02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219" name="Shape 219"/>
        <p:cNvGrpSpPr/>
        <p:nvPr/>
      </p:nvGrpSpPr>
      <p:grpSpPr>
        <a:xfrm>
          <a:off x="0" y="0"/>
          <a:ext cx="0" cy="0"/>
          <a:chOff x="0" y="0"/>
          <a:chExt cx="0" cy="0"/>
        </a:xfrm>
      </p:grpSpPr>
      <p:sp>
        <p:nvSpPr>
          <p:cNvPr id="220" name="Google Shape;220;p31"/>
          <p:cNvSpPr/>
          <p:nvPr/>
        </p:nvSpPr>
        <p:spPr>
          <a:xfrm>
            <a:off x="0" y="0"/>
            <a:ext cx="54864" cy="68580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1" name="Google Shape;221;p31"/>
          <p:cNvSpPr/>
          <p:nvPr/>
        </p:nvSpPr>
        <p:spPr>
          <a:xfrm>
            <a:off x="54864" y="0"/>
            <a:ext cx="12136831" cy="36576"/>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2" name="Google Shape;222;p31"/>
          <p:cNvSpPr/>
          <p:nvPr/>
        </p:nvSpPr>
        <p:spPr>
          <a:xfrm>
            <a:off x="54864" y="6821424"/>
            <a:ext cx="12136831" cy="36576"/>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3" name="Google Shape;223;p31"/>
          <p:cNvSpPr txBox="1"/>
          <p:nvPr/>
        </p:nvSpPr>
        <p:spPr>
          <a:xfrm>
            <a:off x="274320" y="64008"/>
            <a:ext cx="73152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BD93F9"/>
                </a:solidFill>
                <a:latin typeface="Calibri"/>
                <a:ea typeface="Calibri"/>
                <a:cs typeface="Calibri"/>
                <a:sym typeface="Calibri"/>
              </a:rPr>
              <a:t>RELATED WORK</a:t>
            </a:r>
            <a:endParaRPr/>
          </a:p>
        </p:txBody>
      </p:sp>
      <p:sp>
        <p:nvSpPr>
          <p:cNvPr id="224" name="Google Shape;224;p31"/>
          <p:cNvSpPr txBox="1"/>
          <p:nvPr/>
        </p:nvSpPr>
        <p:spPr>
          <a:xfrm>
            <a:off x="274320" y="292608"/>
            <a:ext cx="11430000" cy="4754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FFFFFF"/>
                </a:solidFill>
                <a:latin typeface="Calibri"/>
                <a:ea typeface="Calibri"/>
                <a:cs typeface="Calibri"/>
                <a:sym typeface="Calibri"/>
              </a:rPr>
              <a:t>Where Prior Systems Fall Short — and How CMatrix Responds</a:t>
            </a:r>
            <a:endParaRPr/>
          </a:p>
        </p:txBody>
      </p:sp>
      <p:sp>
        <p:nvSpPr>
          <p:cNvPr id="225" name="Google Shape;225;p31"/>
          <p:cNvSpPr/>
          <p:nvPr/>
        </p:nvSpPr>
        <p:spPr>
          <a:xfrm>
            <a:off x="274320" y="822960"/>
            <a:ext cx="9144000" cy="27432"/>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6" name="Google Shape;226;p31"/>
          <p:cNvSpPr/>
          <p:nvPr/>
        </p:nvSpPr>
        <p:spPr>
          <a:xfrm>
            <a:off x="201168" y="960120"/>
            <a:ext cx="3474720" cy="292608"/>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7" name="Google Shape;227;p31"/>
          <p:cNvSpPr txBox="1"/>
          <p:nvPr/>
        </p:nvSpPr>
        <p:spPr>
          <a:xfrm>
            <a:off x="274320" y="1005840"/>
            <a:ext cx="336499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0A0D1A"/>
                </a:solidFill>
                <a:latin typeface="Calibri"/>
                <a:ea typeface="Calibri"/>
                <a:cs typeface="Calibri"/>
                <a:sym typeface="Calibri"/>
              </a:rPr>
              <a:t>PRIOR SYSTEM</a:t>
            </a:r>
            <a:endParaRPr/>
          </a:p>
        </p:txBody>
      </p:sp>
      <p:sp>
        <p:nvSpPr>
          <p:cNvPr id="228" name="Google Shape;228;p31"/>
          <p:cNvSpPr/>
          <p:nvPr/>
        </p:nvSpPr>
        <p:spPr>
          <a:xfrm>
            <a:off x="3822191" y="960120"/>
            <a:ext cx="4389120" cy="292608"/>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9" name="Google Shape;229;p31"/>
          <p:cNvSpPr txBox="1"/>
          <p:nvPr/>
        </p:nvSpPr>
        <p:spPr>
          <a:xfrm>
            <a:off x="3895343" y="1005840"/>
            <a:ext cx="427939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0A0D1A"/>
                </a:solidFill>
                <a:latin typeface="Calibri"/>
                <a:ea typeface="Calibri"/>
                <a:cs typeface="Calibri"/>
                <a:sym typeface="Calibri"/>
              </a:rPr>
              <a:t>WHAT IT LACKS</a:t>
            </a:r>
            <a:endParaRPr/>
          </a:p>
        </p:txBody>
      </p:sp>
      <p:sp>
        <p:nvSpPr>
          <p:cNvPr id="230" name="Google Shape;230;p31"/>
          <p:cNvSpPr/>
          <p:nvPr/>
        </p:nvSpPr>
        <p:spPr>
          <a:xfrm>
            <a:off x="8357616" y="960120"/>
            <a:ext cx="3657600" cy="292608"/>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1" name="Google Shape;231;p31"/>
          <p:cNvSpPr txBox="1"/>
          <p:nvPr/>
        </p:nvSpPr>
        <p:spPr>
          <a:xfrm>
            <a:off x="8430768" y="1005840"/>
            <a:ext cx="35478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u="none" cap="none" strike="noStrike">
                <a:solidFill>
                  <a:srgbClr val="0A0D1A"/>
                </a:solidFill>
                <a:latin typeface="Calibri"/>
                <a:ea typeface="Calibri"/>
                <a:cs typeface="Calibri"/>
                <a:sym typeface="Calibri"/>
              </a:rPr>
              <a:t>CMatrix ADDRESSES BY</a:t>
            </a:r>
            <a:endParaRPr/>
          </a:p>
        </p:txBody>
      </p:sp>
      <p:sp>
        <p:nvSpPr>
          <p:cNvPr id="232" name="Google Shape;232;p31"/>
          <p:cNvSpPr/>
          <p:nvPr/>
        </p:nvSpPr>
        <p:spPr>
          <a:xfrm>
            <a:off x="201168" y="1289304"/>
            <a:ext cx="3474720" cy="1007668"/>
          </a:xfrm>
          <a:prstGeom prst="rect">
            <a:avLst/>
          </a:prstGeom>
          <a:solidFill>
            <a:srgbClr val="0E0C1A"/>
          </a:solidFill>
          <a:ln cap="flat" cmpd="sng" w="101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3" name="Google Shape;233;p31"/>
          <p:cNvSpPr/>
          <p:nvPr/>
        </p:nvSpPr>
        <p:spPr>
          <a:xfrm>
            <a:off x="201168" y="1289304"/>
            <a:ext cx="54864" cy="1007668"/>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4" name="Google Shape;234;p31"/>
          <p:cNvSpPr txBox="1"/>
          <p:nvPr/>
        </p:nvSpPr>
        <p:spPr>
          <a:xfrm>
            <a:off x="329184" y="1344168"/>
            <a:ext cx="3291840" cy="916228"/>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00E5FF"/>
                </a:solidFill>
                <a:latin typeface="Calibri"/>
                <a:ea typeface="Calibri"/>
                <a:cs typeface="Calibri"/>
                <a:sym typeface="Calibri"/>
              </a:rPr>
              <a:t>PentestGPT</a:t>
            </a:r>
            <a:br>
              <a:rPr b="1" i="0" lang="en-US" sz="1000" u="none" cap="none" strike="noStrike">
                <a:solidFill>
                  <a:srgbClr val="00E5FF"/>
                </a:solidFill>
                <a:latin typeface="Calibri"/>
                <a:ea typeface="Calibri"/>
                <a:cs typeface="Calibri"/>
                <a:sym typeface="Calibri"/>
              </a:rPr>
            </a:br>
            <a:r>
              <a:rPr b="1" i="0" lang="en-US" sz="1000" u="none" cap="none" strike="noStrike">
                <a:solidFill>
                  <a:srgbClr val="00E5FF"/>
                </a:solidFill>
                <a:latin typeface="Calibri"/>
                <a:ea typeface="Calibri"/>
                <a:cs typeface="Calibri"/>
                <a:sym typeface="Calibri"/>
              </a:rPr>
              <a:t>(USENIX Sec '24)</a:t>
            </a:r>
            <a:endParaRPr/>
          </a:p>
        </p:txBody>
      </p:sp>
      <p:sp>
        <p:nvSpPr>
          <p:cNvPr id="235" name="Google Shape;235;p31"/>
          <p:cNvSpPr/>
          <p:nvPr/>
        </p:nvSpPr>
        <p:spPr>
          <a:xfrm>
            <a:off x="3822191" y="1289304"/>
            <a:ext cx="4389120" cy="1007668"/>
          </a:xfrm>
          <a:prstGeom prst="rect">
            <a:avLst/>
          </a:prstGeom>
          <a:solidFill>
            <a:srgbClr val="0E0C1A"/>
          </a:solidFill>
          <a:ln cap="flat" cmpd="sng" w="9525">
            <a:solidFill>
              <a:srgbClr val="4010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6" name="Google Shape;236;p31"/>
          <p:cNvSpPr txBox="1"/>
          <p:nvPr/>
        </p:nvSpPr>
        <p:spPr>
          <a:xfrm>
            <a:off x="3913631" y="1344168"/>
            <a:ext cx="4242816" cy="916228"/>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A0AAB8"/>
                </a:solidFill>
                <a:latin typeface="Calibri"/>
                <a:ea typeface="Calibri"/>
                <a:cs typeface="Calibri"/>
                <a:sym typeface="Calibri"/>
              </a:rPr>
              <a:t>Flat conversation history — no structured world model of the target. Task Tree records tasks, not discovered facts.</a:t>
            </a:r>
            <a:endParaRPr/>
          </a:p>
        </p:txBody>
      </p:sp>
      <p:sp>
        <p:nvSpPr>
          <p:cNvPr id="237" name="Google Shape;237;p31"/>
          <p:cNvSpPr/>
          <p:nvPr/>
        </p:nvSpPr>
        <p:spPr>
          <a:xfrm>
            <a:off x="8357616" y="1289304"/>
            <a:ext cx="3657600" cy="1007668"/>
          </a:xfrm>
          <a:prstGeom prst="rect">
            <a:avLst/>
          </a:prstGeom>
          <a:solidFill>
            <a:srgbClr val="0E0C1A"/>
          </a:solidFill>
          <a:ln cap="flat" cmpd="sng" w="9525">
            <a:solidFill>
              <a:srgbClr val="1030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8" name="Google Shape;238;p31"/>
          <p:cNvSpPr txBox="1"/>
          <p:nvPr/>
        </p:nvSpPr>
        <p:spPr>
          <a:xfrm>
            <a:off x="8449056" y="1344168"/>
            <a:ext cx="3511296" cy="916228"/>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39FF14"/>
                </a:solidFill>
                <a:latin typeface="Calibri"/>
                <a:ea typeface="Calibri"/>
                <a:cs typeface="Calibri"/>
                <a:sym typeface="Calibri"/>
              </a:rPr>
              <a:t>ASG: a typed property graph of the target. Every discovered node is a first-class fact, not a sentence in history.</a:t>
            </a:r>
            <a:endParaRPr/>
          </a:p>
        </p:txBody>
      </p:sp>
      <p:sp>
        <p:nvSpPr>
          <p:cNvPr id="239" name="Google Shape;239;p31"/>
          <p:cNvSpPr/>
          <p:nvPr/>
        </p:nvSpPr>
        <p:spPr>
          <a:xfrm>
            <a:off x="201168" y="2351836"/>
            <a:ext cx="3474720" cy="1007668"/>
          </a:xfrm>
          <a:prstGeom prst="rect">
            <a:avLst/>
          </a:prstGeom>
          <a:solidFill>
            <a:srgbClr val="080A14"/>
          </a:solidFill>
          <a:ln cap="flat" cmpd="sng" w="1015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0" name="Google Shape;240;p31"/>
          <p:cNvSpPr/>
          <p:nvPr/>
        </p:nvSpPr>
        <p:spPr>
          <a:xfrm>
            <a:off x="201168" y="2351836"/>
            <a:ext cx="54864" cy="1007668"/>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1" name="Google Shape;241;p31"/>
          <p:cNvSpPr txBox="1"/>
          <p:nvPr/>
        </p:nvSpPr>
        <p:spPr>
          <a:xfrm>
            <a:off x="329184" y="2406700"/>
            <a:ext cx="3291840" cy="916228"/>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39FF14"/>
                </a:solidFill>
                <a:latin typeface="Calibri"/>
                <a:ea typeface="Calibri"/>
                <a:cs typeface="Calibri"/>
                <a:sym typeface="Calibri"/>
              </a:rPr>
              <a:t>AutoAttacker</a:t>
            </a:r>
            <a:br>
              <a:rPr b="1" i="0" lang="en-US" sz="1000" u="none" cap="none" strike="noStrike">
                <a:solidFill>
                  <a:srgbClr val="39FF14"/>
                </a:solidFill>
                <a:latin typeface="Calibri"/>
                <a:ea typeface="Calibri"/>
                <a:cs typeface="Calibri"/>
                <a:sym typeface="Calibri"/>
              </a:rPr>
            </a:br>
            <a:r>
              <a:rPr b="1" i="0" lang="en-US" sz="1000" u="none" cap="none" strike="noStrike">
                <a:solidFill>
                  <a:srgbClr val="39FF14"/>
                </a:solidFill>
                <a:latin typeface="Calibri"/>
                <a:ea typeface="Calibri"/>
                <a:cs typeface="Calibri"/>
                <a:sym typeface="Calibri"/>
              </a:rPr>
              <a:t>(arXiv '24)</a:t>
            </a:r>
            <a:endParaRPr/>
          </a:p>
        </p:txBody>
      </p:sp>
      <p:sp>
        <p:nvSpPr>
          <p:cNvPr id="242" name="Google Shape;242;p31"/>
          <p:cNvSpPr/>
          <p:nvPr/>
        </p:nvSpPr>
        <p:spPr>
          <a:xfrm>
            <a:off x="3822191" y="2351836"/>
            <a:ext cx="4389120" cy="1007668"/>
          </a:xfrm>
          <a:prstGeom prst="rect">
            <a:avLst/>
          </a:prstGeom>
          <a:solidFill>
            <a:srgbClr val="080A14"/>
          </a:solidFill>
          <a:ln cap="flat" cmpd="sng" w="9525">
            <a:solidFill>
              <a:srgbClr val="4010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3" name="Google Shape;243;p31"/>
          <p:cNvSpPr txBox="1"/>
          <p:nvPr/>
        </p:nvSpPr>
        <p:spPr>
          <a:xfrm>
            <a:off x="3913631" y="2406700"/>
            <a:ext cx="4242816" cy="916228"/>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A0AAB8"/>
                </a:solidFill>
                <a:latin typeface="Calibri"/>
                <a:ea typeface="Calibri"/>
                <a:cs typeface="Calibri"/>
                <a:sym typeface="Calibri"/>
              </a:rPr>
              <a:t>Experience reuse within one session only. Resets to zero knowledge on every new mission. No cross-session learning.</a:t>
            </a:r>
            <a:endParaRPr/>
          </a:p>
        </p:txBody>
      </p:sp>
      <p:sp>
        <p:nvSpPr>
          <p:cNvPr id="244" name="Google Shape;244;p31"/>
          <p:cNvSpPr/>
          <p:nvPr/>
        </p:nvSpPr>
        <p:spPr>
          <a:xfrm>
            <a:off x="8357616" y="2351836"/>
            <a:ext cx="3657600" cy="1007668"/>
          </a:xfrm>
          <a:prstGeom prst="rect">
            <a:avLst/>
          </a:prstGeom>
          <a:solidFill>
            <a:srgbClr val="080A14"/>
          </a:solidFill>
          <a:ln cap="flat" cmpd="sng" w="9525">
            <a:solidFill>
              <a:srgbClr val="1030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5" name="Google Shape;245;p31"/>
          <p:cNvSpPr txBox="1"/>
          <p:nvPr/>
        </p:nvSpPr>
        <p:spPr>
          <a:xfrm>
            <a:off x="8449056" y="2406700"/>
            <a:ext cx="3511296" cy="916228"/>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39FF14"/>
                </a:solidFill>
                <a:latin typeface="Calibri"/>
                <a:ea typeface="Calibri"/>
                <a:cs typeface="Calibri"/>
                <a:sym typeface="Calibri"/>
              </a:rPr>
              <a:t>Cross-Mission Experience Store (C10) + Attack Strategy Library (C11): validated chains accumulate across all missions.</a:t>
            </a:r>
            <a:endParaRPr/>
          </a:p>
        </p:txBody>
      </p:sp>
      <p:sp>
        <p:nvSpPr>
          <p:cNvPr id="246" name="Google Shape;246;p31"/>
          <p:cNvSpPr/>
          <p:nvPr/>
        </p:nvSpPr>
        <p:spPr>
          <a:xfrm>
            <a:off x="201168" y="3414369"/>
            <a:ext cx="3474720" cy="1007668"/>
          </a:xfrm>
          <a:prstGeom prst="rect">
            <a:avLst/>
          </a:prstGeom>
          <a:solidFill>
            <a:srgbClr val="0E0C1A"/>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7" name="Google Shape;247;p31"/>
          <p:cNvSpPr/>
          <p:nvPr/>
        </p:nvSpPr>
        <p:spPr>
          <a:xfrm>
            <a:off x="201168" y="3414369"/>
            <a:ext cx="54864" cy="1007668"/>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8" name="Google Shape;248;p31"/>
          <p:cNvSpPr txBox="1"/>
          <p:nvPr/>
        </p:nvSpPr>
        <p:spPr>
          <a:xfrm>
            <a:off x="329184" y="3469233"/>
            <a:ext cx="3291840" cy="916228"/>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FFD700"/>
                </a:solidFill>
                <a:latin typeface="Calibri"/>
                <a:ea typeface="Calibri"/>
                <a:cs typeface="Calibri"/>
                <a:sym typeface="Calibri"/>
              </a:rPr>
              <a:t>HPTSA / Teams of LLM Agents</a:t>
            </a:r>
            <a:br>
              <a:rPr b="1" i="0" lang="en-US" sz="1000" u="none" cap="none" strike="noStrike">
                <a:solidFill>
                  <a:srgbClr val="FFD700"/>
                </a:solidFill>
                <a:latin typeface="Calibri"/>
                <a:ea typeface="Calibri"/>
                <a:cs typeface="Calibri"/>
                <a:sym typeface="Calibri"/>
              </a:rPr>
            </a:br>
            <a:r>
              <a:rPr b="1" i="0" lang="en-US" sz="1000" u="none" cap="none" strike="noStrike">
                <a:solidFill>
                  <a:srgbClr val="FFD700"/>
                </a:solidFill>
                <a:latin typeface="Calibri"/>
                <a:ea typeface="Calibri"/>
                <a:cs typeface="Calibri"/>
                <a:sym typeface="Calibri"/>
              </a:rPr>
              <a:t>(arXiv '24)</a:t>
            </a:r>
            <a:endParaRPr/>
          </a:p>
        </p:txBody>
      </p:sp>
      <p:sp>
        <p:nvSpPr>
          <p:cNvPr id="249" name="Google Shape;249;p31"/>
          <p:cNvSpPr/>
          <p:nvPr/>
        </p:nvSpPr>
        <p:spPr>
          <a:xfrm>
            <a:off x="3822191" y="3414369"/>
            <a:ext cx="4389120" cy="1007668"/>
          </a:xfrm>
          <a:prstGeom prst="rect">
            <a:avLst/>
          </a:prstGeom>
          <a:solidFill>
            <a:srgbClr val="0E0C1A"/>
          </a:solidFill>
          <a:ln cap="flat" cmpd="sng" w="9525">
            <a:solidFill>
              <a:srgbClr val="4010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0" name="Google Shape;250;p31"/>
          <p:cNvSpPr txBox="1"/>
          <p:nvPr/>
        </p:nvSpPr>
        <p:spPr>
          <a:xfrm>
            <a:off x="3913631" y="3469233"/>
            <a:ext cx="4242816" cy="916228"/>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A0AAB8"/>
                </a:solidFill>
                <a:latin typeface="Calibri"/>
                <a:ea typeface="Calibri"/>
                <a:cs typeface="Calibri"/>
                <a:sym typeface="Calibri"/>
              </a:rPr>
              <a:t>No structured attack graph. Hierarchical delegation but no formal representation of which vulnerabilities chain together.</a:t>
            </a:r>
            <a:endParaRPr/>
          </a:p>
        </p:txBody>
      </p:sp>
      <p:sp>
        <p:nvSpPr>
          <p:cNvPr id="251" name="Google Shape;251;p31"/>
          <p:cNvSpPr/>
          <p:nvPr/>
        </p:nvSpPr>
        <p:spPr>
          <a:xfrm>
            <a:off x="8357616" y="3414369"/>
            <a:ext cx="3657600" cy="1007668"/>
          </a:xfrm>
          <a:prstGeom prst="rect">
            <a:avLst/>
          </a:prstGeom>
          <a:solidFill>
            <a:srgbClr val="0E0C1A"/>
          </a:solidFill>
          <a:ln cap="flat" cmpd="sng" w="9525">
            <a:solidFill>
              <a:srgbClr val="1030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2" name="Google Shape;252;p31"/>
          <p:cNvSpPr txBox="1"/>
          <p:nvPr/>
        </p:nvSpPr>
        <p:spPr>
          <a:xfrm>
            <a:off x="8449056" y="3469233"/>
            <a:ext cx="3511296" cy="916228"/>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39FF14"/>
                </a:solidFill>
                <a:latin typeface="Calibri"/>
                <a:ea typeface="Calibri"/>
                <a:cs typeface="Calibri"/>
                <a:sym typeface="Calibri"/>
              </a:rPr>
              <a:t>APG AttackChain lifecycle (C3): attack paths are first-class entities with risk scores, priorities, and evidence links.</a:t>
            </a:r>
            <a:endParaRPr/>
          </a:p>
        </p:txBody>
      </p:sp>
      <p:sp>
        <p:nvSpPr>
          <p:cNvPr id="253" name="Google Shape;253;p31"/>
          <p:cNvSpPr/>
          <p:nvPr/>
        </p:nvSpPr>
        <p:spPr>
          <a:xfrm>
            <a:off x="201168" y="4476902"/>
            <a:ext cx="3474720" cy="1007668"/>
          </a:xfrm>
          <a:prstGeom prst="rect">
            <a:avLst/>
          </a:prstGeom>
          <a:solidFill>
            <a:srgbClr val="080A14"/>
          </a:solidFill>
          <a:ln cap="flat" cmpd="sng" w="10150">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4" name="Google Shape;254;p31"/>
          <p:cNvSpPr/>
          <p:nvPr/>
        </p:nvSpPr>
        <p:spPr>
          <a:xfrm>
            <a:off x="201168" y="4476902"/>
            <a:ext cx="54864" cy="1007668"/>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5" name="Google Shape;255;p31"/>
          <p:cNvSpPr txBox="1"/>
          <p:nvPr/>
        </p:nvSpPr>
        <p:spPr>
          <a:xfrm>
            <a:off x="329184" y="4531766"/>
            <a:ext cx="3291840" cy="916228"/>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00BFD8"/>
                </a:solidFill>
                <a:latin typeface="Calibri"/>
                <a:ea typeface="Calibri"/>
                <a:cs typeface="Calibri"/>
                <a:sym typeface="Calibri"/>
              </a:rPr>
              <a:t>PentestAgent</a:t>
            </a:r>
            <a:br>
              <a:rPr b="1" i="0" lang="en-US" sz="1000" u="none" cap="none" strike="noStrike">
                <a:solidFill>
                  <a:srgbClr val="00BFD8"/>
                </a:solidFill>
                <a:latin typeface="Calibri"/>
                <a:ea typeface="Calibri"/>
                <a:cs typeface="Calibri"/>
                <a:sym typeface="Calibri"/>
              </a:rPr>
            </a:br>
            <a:r>
              <a:rPr b="1" i="0" lang="en-US" sz="1000" u="none" cap="none" strike="noStrike">
                <a:solidFill>
                  <a:srgbClr val="00BFD8"/>
                </a:solidFill>
                <a:latin typeface="Calibri"/>
                <a:ea typeface="Calibri"/>
                <a:cs typeface="Calibri"/>
                <a:sym typeface="Calibri"/>
              </a:rPr>
              <a:t>(AsiaCCS '25)</a:t>
            </a:r>
            <a:endParaRPr/>
          </a:p>
        </p:txBody>
      </p:sp>
      <p:sp>
        <p:nvSpPr>
          <p:cNvPr id="256" name="Google Shape;256;p31"/>
          <p:cNvSpPr/>
          <p:nvPr/>
        </p:nvSpPr>
        <p:spPr>
          <a:xfrm>
            <a:off x="3822191" y="4476902"/>
            <a:ext cx="4389120" cy="1007668"/>
          </a:xfrm>
          <a:prstGeom prst="rect">
            <a:avLst/>
          </a:prstGeom>
          <a:solidFill>
            <a:srgbClr val="080A14"/>
          </a:solidFill>
          <a:ln cap="flat" cmpd="sng" w="9525">
            <a:solidFill>
              <a:srgbClr val="4010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7" name="Google Shape;257;p31"/>
          <p:cNvSpPr txBox="1"/>
          <p:nvPr/>
        </p:nvSpPr>
        <p:spPr>
          <a:xfrm>
            <a:off x="3913631" y="4531766"/>
            <a:ext cx="4242816" cy="916228"/>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A0AAB8"/>
                </a:solidFill>
                <a:latin typeface="Calibri"/>
                <a:ea typeface="Calibri"/>
                <a:cs typeface="Calibri"/>
                <a:sym typeface="Calibri"/>
              </a:rPr>
              <a:t>RAG shared memory conflates discovery facts with reasoning. Termination is task-queue empty — attack surface may still have unexplored nodes.</a:t>
            </a:r>
            <a:endParaRPr/>
          </a:p>
        </p:txBody>
      </p:sp>
      <p:sp>
        <p:nvSpPr>
          <p:cNvPr id="258" name="Google Shape;258;p31"/>
          <p:cNvSpPr/>
          <p:nvPr/>
        </p:nvSpPr>
        <p:spPr>
          <a:xfrm>
            <a:off x="8357616" y="4476902"/>
            <a:ext cx="3657600" cy="1007668"/>
          </a:xfrm>
          <a:prstGeom prst="rect">
            <a:avLst/>
          </a:prstGeom>
          <a:solidFill>
            <a:srgbClr val="080A14"/>
          </a:solidFill>
          <a:ln cap="flat" cmpd="sng" w="9525">
            <a:solidFill>
              <a:srgbClr val="1030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9" name="Google Shape;259;p31"/>
          <p:cNvSpPr txBox="1"/>
          <p:nvPr/>
        </p:nvSpPr>
        <p:spPr>
          <a:xfrm>
            <a:off x="8449056" y="4531766"/>
            <a:ext cx="3511296" cy="916228"/>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39FF14"/>
                </a:solidFill>
                <a:latin typeface="Calibri"/>
                <a:ea typeface="Calibri"/>
                <a:cs typeface="Calibri"/>
                <a:sym typeface="Calibri"/>
              </a:rPr>
              <a:t>Dual-graph separation (C1) + Dual termination (C8): both ASG exhaustion AND APG resolution required for mission close.</a:t>
            </a:r>
            <a:endParaRPr/>
          </a:p>
        </p:txBody>
      </p:sp>
      <p:sp>
        <p:nvSpPr>
          <p:cNvPr id="260" name="Google Shape;260;p31"/>
          <p:cNvSpPr/>
          <p:nvPr/>
        </p:nvSpPr>
        <p:spPr>
          <a:xfrm>
            <a:off x="201168" y="5539435"/>
            <a:ext cx="3474720" cy="1007668"/>
          </a:xfrm>
          <a:prstGeom prst="rect">
            <a:avLst/>
          </a:prstGeom>
          <a:solidFill>
            <a:srgbClr val="0E0C1A"/>
          </a:solidFill>
          <a:ln cap="flat" cmpd="sng" w="1015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61" name="Google Shape;261;p31"/>
          <p:cNvSpPr/>
          <p:nvPr/>
        </p:nvSpPr>
        <p:spPr>
          <a:xfrm>
            <a:off x="201168" y="5539435"/>
            <a:ext cx="54864" cy="1007668"/>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62" name="Google Shape;262;p31"/>
          <p:cNvSpPr txBox="1"/>
          <p:nvPr/>
        </p:nvSpPr>
        <p:spPr>
          <a:xfrm>
            <a:off x="329184" y="5594299"/>
            <a:ext cx="3291840" cy="916228"/>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FF4545"/>
                </a:solidFill>
                <a:latin typeface="Calibri"/>
                <a:ea typeface="Calibri"/>
                <a:cs typeface="Calibri"/>
                <a:sym typeface="Calibri"/>
              </a:rPr>
              <a:t>VulnBot</a:t>
            </a:r>
            <a:br>
              <a:rPr b="1" i="0" lang="en-US" sz="1000" u="none" cap="none" strike="noStrike">
                <a:solidFill>
                  <a:srgbClr val="FF4545"/>
                </a:solidFill>
                <a:latin typeface="Calibri"/>
                <a:ea typeface="Calibri"/>
                <a:cs typeface="Calibri"/>
                <a:sym typeface="Calibri"/>
              </a:rPr>
            </a:br>
            <a:r>
              <a:rPr b="1" i="0" lang="en-US" sz="1000" u="none" cap="none" strike="noStrike">
                <a:solidFill>
                  <a:srgbClr val="FF4545"/>
                </a:solidFill>
                <a:latin typeface="Calibri"/>
                <a:ea typeface="Calibri"/>
                <a:cs typeface="Calibri"/>
                <a:sym typeface="Calibri"/>
              </a:rPr>
              <a:t>(arXiv '25)</a:t>
            </a:r>
            <a:endParaRPr/>
          </a:p>
        </p:txBody>
      </p:sp>
      <p:sp>
        <p:nvSpPr>
          <p:cNvPr id="263" name="Google Shape;263;p31"/>
          <p:cNvSpPr/>
          <p:nvPr/>
        </p:nvSpPr>
        <p:spPr>
          <a:xfrm>
            <a:off x="3822191" y="5539435"/>
            <a:ext cx="4389120" cy="1007668"/>
          </a:xfrm>
          <a:prstGeom prst="rect">
            <a:avLst/>
          </a:prstGeom>
          <a:solidFill>
            <a:srgbClr val="0E0C1A"/>
          </a:solidFill>
          <a:ln cap="flat" cmpd="sng" w="9525">
            <a:solidFill>
              <a:srgbClr val="4010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64" name="Google Shape;264;p31"/>
          <p:cNvSpPr txBox="1"/>
          <p:nvPr/>
        </p:nvSpPr>
        <p:spPr>
          <a:xfrm>
            <a:off x="3913631" y="5594299"/>
            <a:ext cx="4242816" cy="916228"/>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A0AAB8"/>
                </a:solidFill>
                <a:latin typeface="Calibri"/>
                <a:ea typeface="Calibri"/>
                <a:cs typeface="Calibri"/>
                <a:sym typeface="Calibri"/>
              </a:rPr>
              <a:t>Five-module pipeline with no formal attack graph. Context compaction is ad-hoc. No lifecycle for attack chains.</a:t>
            </a:r>
            <a:endParaRPr/>
          </a:p>
        </p:txBody>
      </p:sp>
      <p:sp>
        <p:nvSpPr>
          <p:cNvPr id="265" name="Google Shape;265;p31"/>
          <p:cNvSpPr/>
          <p:nvPr/>
        </p:nvSpPr>
        <p:spPr>
          <a:xfrm>
            <a:off x="8357616" y="5539435"/>
            <a:ext cx="3657600" cy="1007668"/>
          </a:xfrm>
          <a:prstGeom prst="rect">
            <a:avLst/>
          </a:prstGeom>
          <a:solidFill>
            <a:srgbClr val="0E0C1A"/>
          </a:solidFill>
          <a:ln cap="flat" cmpd="sng" w="9525">
            <a:solidFill>
              <a:srgbClr val="1030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66" name="Google Shape;266;p31"/>
          <p:cNvSpPr txBox="1"/>
          <p:nvPr/>
        </p:nvSpPr>
        <p:spPr>
          <a:xfrm>
            <a:off x="8449056" y="5594299"/>
            <a:ext cx="3511296" cy="916228"/>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39FF14"/>
                </a:solidFill>
                <a:latin typeface="Calibri"/>
                <a:ea typeface="Calibri"/>
                <a:cs typeface="Calibri"/>
                <a:sym typeface="Calibri"/>
              </a:rPr>
              <a:t>Lossless Context Compaction (C6): three-layer ASG-backed scheme preserves all discovered findings regardless of mission length.</a:t>
            </a:r>
            <a:endParaRPr/>
          </a:p>
        </p:txBody>
      </p:sp>
      <p:sp>
        <p:nvSpPr>
          <p:cNvPr id="267" name="Google Shape;267;p31"/>
          <p:cNvSpPr txBox="1"/>
          <p:nvPr/>
        </p:nvSpPr>
        <p:spPr>
          <a:xfrm>
            <a:off x="11809244" y="19594"/>
            <a:ext cx="384048" cy="4114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1300" u="none" cap="none" strike="noStrike">
                <a:solidFill>
                  <a:srgbClr val="BD93F9"/>
                </a:solidFill>
                <a:latin typeface="Calibri"/>
                <a:ea typeface="Calibri"/>
                <a:cs typeface="Calibri"/>
                <a:sym typeface="Calibri"/>
              </a:rPr>
              <a:t>03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271" name="Shape 271"/>
        <p:cNvGrpSpPr/>
        <p:nvPr/>
      </p:nvGrpSpPr>
      <p:grpSpPr>
        <a:xfrm>
          <a:off x="0" y="0"/>
          <a:ext cx="0" cy="0"/>
          <a:chOff x="0" y="0"/>
          <a:chExt cx="0" cy="0"/>
        </a:xfrm>
      </p:grpSpPr>
      <p:sp>
        <p:nvSpPr>
          <p:cNvPr id="272" name="Google Shape;272;p32"/>
          <p:cNvSpPr/>
          <p:nvPr/>
        </p:nvSpPr>
        <p:spPr>
          <a:xfrm>
            <a:off x="0" y="0"/>
            <a:ext cx="54864" cy="68580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3" name="Google Shape;273;p32"/>
          <p:cNvSpPr/>
          <p:nvPr/>
        </p:nvSpPr>
        <p:spPr>
          <a:xfrm>
            <a:off x="54864" y="0"/>
            <a:ext cx="12136831" cy="3657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4" name="Google Shape;274;p32"/>
          <p:cNvSpPr/>
          <p:nvPr/>
        </p:nvSpPr>
        <p:spPr>
          <a:xfrm>
            <a:off x="54864" y="6821424"/>
            <a:ext cx="12136831" cy="3657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5" name="Google Shape;275;p32"/>
          <p:cNvSpPr txBox="1"/>
          <p:nvPr/>
        </p:nvSpPr>
        <p:spPr>
          <a:xfrm>
            <a:off x="274320" y="64008"/>
            <a:ext cx="73152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00E5FF"/>
                </a:solidFill>
                <a:latin typeface="Calibri"/>
                <a:ea typeface="Calibri"/>
                <a:cs typeface="Calibri"/>
                <a:sym typeface="Calibri"/>
              </a:rPr>
              <a:t>SCOPE</a:t>
            </a:r>
            <a:endParaRPr/>
          </a:p>
        </p:txBody>
      </p:sp>
      <p:sp>
        <p:nvSpPr>
          <p:cNvPr id="276" name="Google Shape;276;p32"/>
          <p:cNvSpPr txBox="1"/>
          <p:nvPr/>
        </p:nvSpPr>
        <p:spPr>
          <a:xfrm>
            <a:off x="274320" y="292608"/>
            <a:ext cx="11430000" cy="4754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400" u="none" cap="none" strike="noStrike">
                <a:solidFill>
                  <a:srgbClr val="FFFFFF"/>
                </a:solidFill>
                <a:latin typeface="Calibri"/>
                <a:ea typeface="Calibri"/>
                <a:cs typeface="Calibri"/>
                <a:sym typeface="Calibri"/>
              </a:rPr>
              <a:t>What CMatrix Assesses — and What It Does Not</a:t>
            </a:r>
            <a:endParaRPr/>
          </a:p>
        </p:txBody>
      </p:sp>
      <p:sp>
        <p:nvSpPr>
          <p:cNvPr id="277" name="Google Shape;277;p32"/>
          <p:cNvSpPr/>
          <p:nvPr/>
        </p:nvSpPr>
        <p:spPr>
          <a:xfrm>
            <a:off x="201168" y="987552"/>
            <a:ext cx="5394960" cy="5321810"/>
          </a:xfrm>
          <a:prstGeom prst="rect">
            <a:avLst/>
          </a:prstGeom>
          <a:solidFill>
            <a:srgbClr val="04180C"/>
          </a:solidFill>
          <a:ln cap="flat" cmpd="sng" w="2285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8" name="Google Shape;278;p32"/>
          <p:cNvSpPr/>
          <p:nvPr/>
        </p:nvSpPr>
        <p:spPr>
          <a:xfrm>
            <a:off x="201168" y="987552"/>
            <a:ext cx="5394960" cy="310896"/>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9" name="Google Shape;279;p32"/>
          <p:cNvSpPr txBox="1"/>
          <p:nvPr/>
        </p:nvSpPr>
        <p:spPr>
          <a:xfrm>
            <a:off x="310896" y="1033272"/>
            <a:ext cx="521208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0A0D1A"/>
                </a:solidFill>
                <a:latin typeface="Calibri"/>
                <a:ea typeface="Calibri"/>
                <a:cs typeface="Calibri"/>
                <a:sym typeface="Calibri"/>
              </a:rPr>
              <a:t>✓  IN SCOPE</a:t>
            </a:r>
            <a:endParaRPr/>
          </a:p>
        </p:txBody>
      </p:sp>
      <p:sp>
        <p:nvSpPr>
          <p:cNvPr id="280" name="Google Shape;280;p32"/>
          <p:cNvSpPr/>
          <p:nvPr/>
        </p:nvSpPr>
        <p:spPr>
          <a:xfrm>
            <a:off x="310896" y="1389888"/>
            <a:ext cx="5175504" cy="713232"/>
          </a:xfrm>
          <a:prstGeom prst="rect">
            <a:avLst/>
          </a:prstGeom>
          <a:solidFill>
            <a:srgbClr val="062210"/>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1" name="Google Shape;281;p32"/>
          <p:cNvSpPr txBox="1"/>
          <p:nvPr/>
        </p:nvSpPr>
        <p:spPr>
          <a:xfrm>
            <a:off x="402336" y="1435608"/>
            <a:ext cx="506577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39FF14"/>
                </a:solidFill>
                <a:latin typeface="Calibri"/>
                <a:ea typeface="Calibri"/>
                <a:cs typeface="Calibri"/>
                <a:sym typeface="Calibri"/>
              </a:rPr>
              <a:t>Web Applications</a:t>
            </a:r>
            <a:endParaRPr/>
          </a:p>
        </p:txBody>
      </p:sp>
      <p:sp>
        <p:nvSpPr>
          <p:cNvPr id="282" name="Google Shape;282;p32"/>
          <p:cNvSpPr txBox="1"/>
          <p:nvPr/>
        </p:nvSpPr>
        <p:spPr>
          <a:xfrm>
            <a:off x="402336" y="1664208"/>
            <a:ext cx="5065776" cy="384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A0AAB8"/>
                </a:solidFill>
                <a:latin typeface="Calibri"/>
                <a:ea typeface="Calibri"/>
                <a:cs typeface="Calibri"/>
                <a:sym typeface="Calibri"/>
              </a:rPr>
              <a:t>HTTP/HTTPS services, CMS, REST APIs, GraphQL endpoints.</a:t>
            </a:r>
            <a:endParaRPr/>
          </a:p>
        </p:txBody>
      </p:sp>
      <p:sp>
        <p:nvSpPr>
          <p:cNvPr id="283" name="Google Shape;283;p32"/>
          <p:cNvSpPr/>
          <p:nvPr/>
        </p:nvSpPr>
        <p:spPr>
          <a:xfrm>
            <a:off x="310896" y="2225650"/>
            <a:ext cx="5175504" cy="713232"/>
          </a:xfrm>
          <a:prstGeom prst="rect">
            <a:avLst/>
          </a:prstGeom>
          <a:solidFill>
            <a:srgbClr val="062210"/>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4" name="Google Shape;284;p32"/>
          <p:cNvSpPr txBox="1"/>
          <p:nvPr/>
        </p:nvSpPr>
        <p:spPr>
          <a:xfrm>
            <a:off x="402336" y="2271370"/>
            <a:ext cx="506577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39FF14"/>
                </a:solidFill>
                <a:latin typeface="Calibri"/>
                <a:ea typeface="Calibri"/>
                <a:cs typeface="Calibri"/>
                <a:sym typeface="Calibri"/>
              </a:rPr>
              <a:t>Network Services</a:t>
            </a:r>
            <a:endParaRPr/>
          </a:p>
        </p:txBody>
      </p:sp>
      <p:sp>
        <p:nvSpPr>
          <p:cNvPr id="285" name="Google Shape;285;p32"/>
          <p:cNvSpPr txBox="1"/>
          <p:nvPr/>
        </p:nvSpPr>
        <p:spPr>
          <a:xfrm>
            <a:off x="402336" y="2499970"/>
            <a:ext cx="5065776" cy="384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A0AAB8"/>
                </a:solidFill>
                <a:latin typeface="Calibri"/>
                <a:ea typeface="Calibri"/>
                <a:cs typeface="Calibri"/>
                <a:sym typeface="Calibri"/>
              </a:rPr>
              <a:t>Exposed ports, services, TLS/SSL, open protocols.</a:t>
            </a:r>
            <a:endParaRPr/>
          </a:p>
        </p:txBody>
      </p:sp>
      <p:sp>
        <p:nvSpPr>
          <p:cNvPr id="286" name="Google Shape;286;p32"/>
          <p:cNvSpPr/>
          <p:nvPr/>
        </p:nvSpPr>
        <p:spPr>
          <a:xfrm>
            <a:off x="310896" y="3061412"/>
            <a:ext cx="5175504" cy="713232"/>
          </a:xfrm>
          <a:prstGeom prst="rect">
            <a:avLst/>
          </a:prstGeom>
          <a:solidFill>
            <a:srgbClr val="062210"/>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7" name="Google Shape;287;p32"/>
          <p:cNvSpPr txBox="1"/>
          <p:nvPr/>
        </p:nvSpPr>
        <p:spPr>
          <a:xfrm>
            <a:off x="402336" y="3107132"/>
            <a:ext cx="506577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39FF14"/>
                </a:solidFill>
                <a:latin typeface="Calibri"/>
                <a:ea typeface="Calibri"/>
                <a:cs typeface="Calibri"/>
                <a:sym typeface="Calibri"/>
              </a:rPr>
              <a:t>API Attack Surface</a:t>
            </a:r>
            <a:endParaRPr/>
          </a:p>
        </p:txBody>
      </p:sp>
      <p:sp>
        <p:nvSpPr>
          <p:cNvPr id="288" name="Google Shape;288;p32"/>
          <p:cNvSpPr txBox="1"/>
          <p:nvPr/>
        </p:nvSpPr>
        <p:spPr>
          <a:xfrm>
            <a:off x="402336" y="3335732"/>
            <a:ext cx="5065776" cy="384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A0AAB8"/>
                </a:solidFill>
                <a:latin typeface="Calibri"/>
                <a:ea typeface="Calibri"/>
                <a:cs typeface="Calibri"/>
                <a:sym typeface="Calibri"/>
              </a:rPr>
              <a:t>REST endpoints, parameter injection, IDOR, auth bypass.</a:t>
            </a:r>
            <a:endParaRPr/>
          </a:p>
        </p:txBody>
      </p:sp>
      <p:sp>
        <p:nvSpPr>
          <p:cNvPr id="289" name="Google Shape;289;p32"/>
          <p:cNvSpPr/>
          <p:nvPr/>
        </p:nvSpPr>
        <p:spPr>
          <a:xfrm>
            <a:off x="310896" y="3897174"/>
            <a:ext cx="5175504" cy="713232"/>
          </a:xfrm>
          <a:prstGeom prst="rect">
            <a:avLst/>
          </a:prstGeom>
          <a:solidFill>
            <a:srgbClr val="062210"/>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0" name="Google Shape;290;p32"/>
          <p:cNvSpPr txBox="1"/>
          <p:nvPr/>
        </p:nvSpPr>
        <p:spPr>
          <a:xfrm>
            <a:off x="402336" y="3942894"/>
            <a:ext cx="506577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39FF14"/>
                </a:solidFill>
                <a:latin typeface="Calibri"/>
                <a:ea typeface="Calibri"/>
                <a:cs typeface="Calibri"/>
                <a:sym typeface="Calibri"/>
              </a:rPr>
              <a:t>Black-Box Mode</a:t>
            </a:r>
            <a:endParaRPr/>
          </a:p>
        </p:txBody>
      </p:sp>
      <p:sp>
        <p:nvSpPr>
          <p:cNvPr id="291" name="Google Shape;291;p32"/>
          <p:cNvSpPr txBox="1"/>
          <p:nvPr/>
        </p:nvSpPr>
        <p:spPr>
          <a:xfrm>
            <a:off x="402336" y="4171494"/>
            <a:ext cx="5065776" cy="384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A0AAB8"/>
                </a:solidFill>
                <a:latin typeface="Calibri"/>
                <a:ea typeface="Calibri"/>
                <a:cs typeface="Calibri"/>
                <a:sym typeface="Calibri"/>
              </a:rPr>
              <a:t>Zero prior knowledge. Operator provides: root domain + scope declaration only.</a:t>
            </a:r>
            <a:endParaRPr/>
          </a:p>
        </p:txBody>
      </p:sp>
      <p:sp>
        <p:nvSpPr>
          <p:cNvPr id="292" name="Google Shape;292;p32"/>
          <p:cNvSpPr/>
          <p:nvPr/>
        </p:nvSpPr>
        <p:spPr>
          <a:xfrm>
            <a:off x="310896" y="4732936"/>
            <a:ext cx="5175504" cy="713232"/>
          </a:xfrm>
          <a:prstGeom prst="rect">
            <a:avLst/>
          </a:prstGeom>
          <a:solidFill>
            <a:srgbClr val="062210"/>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3" name="Google Shape;293;p32"/>
          <p:cNvSpPr txBox="1"/>
          <p:nvPr/>
        </p:nvSpPr>
        <p:spPr>
          <a:xfrm>
            <a:off x="402336" y="4778656"/>
            <a:ext cx="506577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39FF14"/>
                </a:solidFill>
                <a:latin typeface="Calibri"/>
                <a:ea typeface="Calibri"/>
                <a:cs typeface="Calibri"/>
                <a:sym typeface="Calibri"/>
              </a:rPr>
              <a:t>Grey-Box Mode</a:t>
            </a:r>
            <a:endParaRPr/>
          </a:p>
        </p:txBody>
      </p:sp>
      <p:sp>
        <p:nvSpPr>
          <p:cNvPr id="294" name="Google Shape;294;p32"/>
          <p:cNvSpPr txBox="1"/>
          <p:nvPr/>
        </p:nvSpPr>
        <p:spPr>
          <a:xfrm>
            <a:off x="402336" y="5007256"/>
            <a:ext cx="5065776" cy="384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A0AAB8"/>
                </a:solidFill>
                <a:latin typeface="Calibri"/>
                <a:ea typeface="Calibri"/>
                <a:cs typeface="Calibri"/>
                <a:sym typeface="Calibri"/>
              </a:rPr>
              <a:t>Partial knowledge. Operator additionally provides: known IP ranges, credentials, network topology fragments. ASG Host nodes are pre-seeded.</a:t>
            </a:r>
            <a:endParaRPr/>
          </a:p>
        </p:txBody>
      </p:sp>
      <p:sp>
        <p:nvSpPr>
          <p:cNvPr id="295" name="Google Shape;295;p32"/>
          <p:cNvSpPr/>
          <p:nvPr/>
        </p:nvSpPr>
        <p:spPr>
          <a:xfrm>
            <a:off x="310896" y="5568698"/>
            <a:ext cx="5175504" cy="713232"/>
          </a:xfrm>
          <a:prstGeom prst="rect">
            <a:avLst/>
          </a:prstGeom>
          <a:solidFill>
            <a:srgbClr val="062210"/>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6" name="Google Shape;296;p32"/>
          <p:cNvSpPr txBox="1"/>
          <p:nvPr/>
        </p:nvSpPr>
        <p:spPr>
          <a:xfrm>
            <a:off x="402336" y="5614418"/>
            <a:ext cx="5065776"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39FF14"/>
                </a:solidFill>
                <a:latin typeface="Calibri"/>
                <a:ea typeface="Calibri"/>
                <a:cs typeface="Calibri"/>
                <a:sym typeface="Calibri"/>
              </a:rPr>
              <a:t>Authorised Assessments</a:t>
            </a:r>
            <a:endParaRPr/>
          </a:p>
        </p:txBody>
      </p:sp>
      <p:sp>
        <p:nvSpPr>
          <p:cNvPr id="297" name="Google Shape;297;p32"/>
          <p:cNvSpPr txBox="1"/>
          <p:nvPr/>
        </p:nvSpPr>
        <p:spPr>
          <a:xfrm>
            <a:off x="402336" y="5843018"/>
            <a:ext cx="5065776" cy="384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A0AAB8"/>
                </a:solidFill>
                <a:latin typeface="Calibri"/>
                <a:ea typeface="Calibri"/>
                <a:cs typeface="Calibri"/>
                <a:sym typeface="Calibri"/>
              </a:rPr>
              <a:t>CMatrix operates only within declared scope. Scope check fires before every tool execution at the Risk Gate.</a:t>
            </a:r>
            <a:endParaRPr/>
          </a:p>
        </p:txBody>
      </p:sp>
      <p:sp>
        <p:nvSpPr>
          <p:cNvPr id="298" name="Google Shape;298;p32"/>
          <p:cNvSpPr/>
          <p:nvPr/>
        </p:nvSpPr>
        <p:spPr>
          <a:xfrm>
            <a:off x="5779008" y="987552"/>
            <a:ext cx="4480560" cy="3108960"/>
          </a:xfrm>
          <a:prstGeom prst="rect">
            <a:avLst/>
          </a:prstGeom>
          <a:solidFill>
            <a:srgbClr val="1C0808"/>
          </a:solidFill>
          <a:ln cap="flat" cmpd="sng" w="2285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9" name="Google Shape;299;p32"/>
          <p:cNvSpPr/>
          <p:nvPr/>
        </p:nvSpPr>
        <p:spPr>
          <a:xfrm>
            <a:off x="5779008" y="987552"/>
            <a:ext cx="4480560" cy="310896"/>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00" name="Google Shape;300;p32"/>
          <p:cNvSpPr txBox="1"/>
          <p:nvPr/>
        </p:nvSpPr>
        <p:spPr>
          <a:xfrm>
            <a:off x="5888736" y="1033272"/>
            <a:ext cx="429768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  OUT OF SCOPE</a:t>
            </a:r>
            <a:endParaRPr/>
          </a:p>
        </p:txBody>
      </p:sp>
      <p:sp>
        <p:nvSpPr>
          <p:cNvPr id="301" name="Google Shape;301;p32"/>
          <p:cNvSpPr/>
          <p:nvPr/>
        </p:nvSpPr>
        <p:spPr>
          <a:xfrm>
            <a:off x="5888736" y="1389888"/>
            <a:ext cx="4261104" cy="384048"/>
          </a:xfrm>
          <a:prstGeom prst="rect">
            <a:avLst/>
          </a:prstGeom>
          <a:solidFill>
            <a:srgbClr val="280C0C"/>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02" name="Google Shape;302;p32"/>
          <p:cNvSpPr txBox="1"/>
          <p:nvPr/>
        </p:nvSpPr>
        <p:spPr>
          <a:xfrm>
            <a:off x="5980176" y="1444752"/>
            <a:ext cx="4151376"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A0AAB8"/>
                </a:solidFill>
                <a:latin typeface="Calibri"/>
                <a:ea typeface="Calibri"/>
                <a:cs typeface="Calibri"/>
                <a:sym typeface="Calibri"/>
              </a:rPr>
              <a:t>✕  White-Box  (source code review, SAST)</a:t>
            </a:r>
            <a:endParaRPr/>
          </a:p>
        </p:txBody>
      </p:sp>
      <p:sp>
        <p:nvSpPr>
          <p:cNvPr id="303" name="Google Shape;303;p32"/>
          <p:cNvSpPr/>
          <p:nvPr/>
        </p:nvSpPr>
        <p:spPr>
          <a:xfrm>
            <a:off x="5888736" y="1828800"/>
            <a:ext cx="4261104" cy="384048"/>
          </a:xfrm>
          <a:prstGeom prst="rect">
            <a:avLst/>
          </a:prstGeom>
          <a:solidFill>
            <a:srgbClr val="280C0C"/>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04" name="Google Shape;304;p32"/>
          <p:cNvSpPr txBox="1"/>
          <p:nvPr/>
        </p:nvSpPr>
        <p:spPr>
          <a:xfrm>
            <a:off x="5980176" y="1883664"/>
            <a:ext cx="4151376"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A0AAB8"/>
                </a:solidFill>
                <a:latin typeface="Calibri"/>
                <a:ea typeface="Calibri"/>
                <a:cs typeface="Calibri"/>
                <a:sym typeface="Calibri"/>
              </a:rPr>
              <a:t>✕  Mobile Applications  (iOS, Android)</a:t>
            </a:r>
            <a:endParaRPr/>
          </a:p>
        </p:txBody>
      </p:sp>
      <p:sp>
        <p:nvSpPr>
          <p:cNvPr id="305" name="Google Shape;305;p32"/>
          <p:cNvSpPr/>
          <p:nvPr/>
        </p:nvSpPr>
        <p:spPr>
          <a:xfrm>
            <a:off x="5888736" y="2267712"/>
            <a:ext cx="4261104" cy="384048"/>
          </a:xfrm>
          <a:prstGeom prst="rect">
            <a:avLst/>
          </a:prstGeom>
          <a:solidFill>
            <a:srgbClr val="280C0C"/>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06" name="Google Shape;306;p32"/>
          <p:cNvSpPr txBox="1"/>
          <p:nvPr/>
        </p:nvSpPr>
        <p:spPr>
          <a:xfrm>
            <a:off x="5980176" y="2322576"/>
            <a:ext cx="4151376"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A0AAB8"/>
                </a:solidFill>
                <a:latin typeface="Calibri"/>
                <a:ea typeface="Calibri"/>
                <a:cs typeface="Calibri"/>
                <a:sym typeface="Calibri"/>
              </a:rPr>
              <a:t>✕  Cloud / IoT Infrastructure  (AWS, Azure, embedded devices)</a:t>
            </a:r>
            <a:endParaRPr/>
          </a:p>
        </p:txBody>
      </p:sp>
      <p:sp>
        <p:nvSpPr>
          <p:cNvPr id="307" name="Google Shape;307;p32"/>
          <p:cNvSpPr/>
          <p:nvPr/>
        </p:nvSpPr>
        <p:spPr>
          <a:xfrm>
            <a:off x="5888736" y="2706624"/>
            <a:ext cx="4261104" cy="384048"/>
          </a:xfrm>
          <a:prstGeom prst="rect">
            <a:avLst/>
          </a:prstGeom>
          <a:solidFill>
            <a:srgbClr val="280C0C"/>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08" name="Google Shape;308;p32"/>
          <p:cNvSpPr txBox="1"/>
          <p:nvPr/>
        </p:nvSpPr>
        <p:spPr>
          <a:xfrm>
            <a:off x="5980176" y="2761488"/>
            <a:ext cx="4151376"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A0AAB8"/>
                </a:solidFill>
                <a:latin typeface="Calibri"/>
                <a:ea typeface="Calibri"/>
                <a:cs typeface="Calibri"/>
                <a:sym typeface="Calibri"/>
              </a:rPr>
              <a:t>✕  Wireless Networks  (Wi-Fi, Bluetooth, RF)</a:t>
            </a:r>
            <a:endParaRPr/>
          </a:p>
        </p:txBody>
      </p:sp>
      <p:sp>
        <p:nvSpPr>
          <p:cNvPr id="309" name="Google Shape;309;p32"/>
          <p:cNvSpPr/>
          <p:nvPr/>
        </p:nvSpPr>
        <p:spPr>
          <a:xfrm>
            <a:off x="5888736" y="3145536"/>
            <a:ext cx="4261104" cy="384048"/>
          </a:xfrm>
          <a:prstGeom prst="rect">
            <a:avLst/>
          </a:prstGeom>
          <a:solidFill>
            <a:srgbClr val="280C0C"/>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0" name="Google Shape;310;p32"/>
          <p:cNvSpPr txBox="1"/>
          <p:nvPr/>
        </p:nvSpPr>
        <p:spPr>
          <a:xfrm>
            <a:off x="5980176" y="3200400"/>
            <a:ext cx="4151376"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A0AAB8"/>
                </a:solidFill>
                <a:latin typeface="Calibri"/>
                <a:ea typeface="Calibri"/>
                <a:cs typeface="Calibri"/>
                <a:sym typeface="Calibri"/>
              </a:rPr>
              <a:t>✕  Active Directory / Domain Services</a:t>
            </a:r>
            <a:endParaRPr/>
          </a:p>
        </p:txBody>
      </p:sp>
      <p:sp>
        <p:nvSpPr>
          <p:cNvPr id="311" name="Google Shape;311;p32"/>
          <p:cNvSpPr/>
          <p:nvPr/>
        </p:nvSpPr>
        <p:spPr>
          <a:xfrm>
            <a:off x="5888736" y="3584448"/>
            <a:ext cx="4261104" cy="384048"/>
          </a:xfrm>
          <a:prstGeom prst="rect">
            <a:avLst/>
          </a:prstGeom>
          <a:solidFill>
            <a:srgbClr val="280C0C"/>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2" name="Google Shape;312;p32"/>
          <p:cNvSpPr txBox="1"/>
          <p:nvPr/>
        </p:nvSpPr>
        <p:spPr>
          <a:xfrm>
            <a:off x="5980176" y="3639312"/>
            <a:ext cx="4151376"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A0AAB8"/>
                </a:solidFill>
                <a:latin typeface="Calibri"/>
                <a:ea typeface="Calibri"/>
                <a:cs typeface="Calibri"/>
                <a:sym typeface="Calibri"/>
              </a:rPr>
              <a:t>✕  Physical / Social Engineering Attacks</a:t>
            </a:r>
            <a:endParaRPr/>
          </a:p>
        </p:txBody>
      </p:sp>
      <p:sp>
        <p:nvSpPr>
          <p:cNvPr id="313" name="Google Shape;313;p32"/>
          <p:cNvSpPr/>
          <p:nvPr/>
        </p:nvSpPr>
        <p:spPr>
          <a:xfrm>
            <a:off x="5779008" y="4206240"/>
            <a:ext cx="4480560" cy="1719072"/>
          </a:xfrm>
          <a:prstGeom prst="rect">
            <a:avLst/>
          </a:prstGeom>
          <a:solidFill>
            <a:srgbClr val="061022"/>
          </a:solidFill>
          <a:ln cap="flat" cmpd="sng" w="152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4" name="Google Shape;314;p32"/>
          <p:cNvSpPr/>
          <p:nvPr/>
        </p:nvSpPr>
        <p:spPr>
          <a:xfrm>
            <a:off x="5779008" y="4206240"/>
            <a:ext cx="4480560" cy="27432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5" name="Google Shape;315;p32"/>
          <p:cNvSpPr txBox="1"/>
          <p:nvPr/>
        </p:nvSpPr>
        <p:spPr>
          <a:xfrm>
            <a:off x="5870448" y="4242816"/>
            <a:ext cx="4315968"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0A0D1A"/>
                </a:solidFill>
                <a:latin typeface="Calibri"/>
                <a:ea typeface="Calibri"/>
                <a:cs typeface="Calibri"/>
                <a:sym typeface="Calibri"/>
              </a:rPr>
              <a:t>OPERATOR CONFIGURATION  (one-time, before mission start)</a:t>
            </a:r>
            <a:endParaRPr/>
          </a:p>
        </p:txBody>
      </p:sp>
      <p:sp>
        <p:nvSpPr>
          <p:cNvPr id="316" name="Google Shape;316;p32"/>
          <p:cNvSpPr txBox="1"/>
          <p:nvPr/>
        </p:nvSpPr>
        <p:spPr>
          <a:xfrm>
            <a:off x="5943600" y="4553712"/>
            <a:ext cx="42062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00E5FF"/>
                </a:solidFill>
                <a:latin typeface="Calibri"/>
                <a:ea typeface="Calibri"/>
                <a:cs typeface="Calibri"/>
                <a:sym typeface="Calibri"/>
              </a:rPr>
              <a:t>→  Root domain (e.g. shopvault.io)</a:t>
            </a:r>
            <a:endParaRPr/>
          </a:p>
        </p:txBody>
      </p:sp>
      <p:sp>
        <p:nvSpPr>
          <p:cNvPr id="317" name="Google Shape;317;p32"/>
          <p:cNvSpPr txBox="1"/>
          <p:nvPr/>
        </p:nvSpPr>
        <p:spPr>
          <a:xfrm>
            <a:off x="5943600" y="4864608"/>
            <a:ext cx="42062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00E5FF"/>
                </a:solidFill>
                <a:latin typeface="Calibri"/>
                <a:ea typeface="Calibri"/>
                <a:cs typeface="Calibri"/>
                <a:sym typeface="Calibri"/>
              </a:rPr>
              <a:t>→  Scope declaration  (all subdomains · web apps · APIs)</a:t>
            </a:r>
            <a:endParaRPr/>
          </a:p>
        </p:txBody>
      </p:sp>
      <p:sp>
        <p:nvSpPr>
          <p:cNvPr id="318" name="Google Shape;318;p32"/>
          <p:cNvSpPr txBox="1"/>
          <p:nvPr/>
        </p:nvSpPr>
        <p:spPr>
          <a:xfrm>
            <a:off x="5943600" y="5175504"/>
            <a:ext cx="42062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00E5FF"/>
                </a:solidFill>
                <a:latin typeface="Calibri"/>
                <a:ea typeface="Calibri"/>
                <a:cs typeface="Calibri"/>
                <a:sym typeface="Calibri"/>
              </a:rPr>
              <a:t>→  Assessment mode  (Black-Box or Grey-Box)</a:t>
            </a:r>
            <a:endParaRPr/>
          </a:p>
        </p:txBody>
      </p:sp>
      <p:sp>
        <p:nvSpPr>
          <p:cNvPr id="319" name="Google Shape;319;p32"/>
          <p:cNvSpPr txBox="1"/>
          <p:nvPr/>
        </p:nvSpPr>
        <p:spPr>
          <a:xfrm>
            <a:off x="5943600" y="5486400"/>
            <a:ext cx="42062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00E5FF"/>
                </a:solidFill>
                <a:latin typeface="Calibri"/>
                <a:ea typeface="Calibri"/>
                <a:cs typeface="Calibri"/>
                <a:sym typeface="Calibri"/>
              </a:rPr>
              <a:t>→  Grey-Box extras if applicable  (IP ranges, credentials)</a:t>
            </a:r>
            <a:endParaRPr/>
          </a:p>
        </p:txBody>
      </p:sp>
      <p:sp>
        <p:nvSpPr>
          <p:cNvPr id="320" name="Google Shape;320;p32"/>
          <p:cNvSpPr txBox="1"/>
          <p:nvPr/>
        </p:nvSpPr>
        <p:spPr>
          <a:xfrm>
            <a:off x="5815550" y="5980897"/>
            <a:ext cx="4206300" cy="384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950" u="none" cap="none" strike="noStrike">
                <a:solidFill>
                  <a:srgbClr val="A0AAB8"/>
                </a:solidFill>
                <a:latin typeface="Calibri"/>
                <a:ea typeface="Calibri"/>
                <a:cs typeface="Calibri"/>
                <a:sym typeface="Calibri"/>
              </a:rPr>
              <a:t>All subsequent tool calls, reasoning, and reporting are fully autonomous — zero manual commands during the assessment.</a:t>
            </a:r>
            <a:endParaRPr/>
          </a:p>
        </p:txBody>
      </p:sp>
      <p:sp>
        <p:nvSpPr>
          <p:cNvPr id="321" name="Google Shape;321;p32"/>
          <p:cNvSpPr txBox="1"/>
          <p:nvPr/>
        </p:nvSpPr>
        <p:spPr>
          <a:xfrm>
            <a:off x="11801986" y="34109"/>
            <a:ext cx="384048" cy="4114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1300" u="none" cap="none" strike="noStrike">
                <a:solidFill>
                  <a:srgbClr val="00E5FF"/>
                </a:solidFill>
                <a:latin typeface="Calibri"/>
                <a:ea typeface="Calibri"/>
                <a:cs typeface="Calibri"/>
                <a:sym typeface="Calibri"/>
              </a:rPr>
              <a:t>04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325" name="Shape 325"/>
        <p:cNvGrpSpPr/>
        <p:nvPr/>
      </p:nvGrpSpPr>
      <p:grpSpPr>
        <a:xfrm>
          <a:off x="0" y="0"/>
          <a:ext cx="0" cy="0"/>
          <a:chOff x="0" y="0"/>
          <a:chExt cx="0" cy="0"/>
        </a:xfrm>
      </p:grpSpPr>
      <p:sp>
        <p:nvSpPr>
          <p:cNvPr id="326" name="Google Shape;326;p33"/>
          <p:cNvSpPr/>
          <p:nvPr/>
        </p:nvSpPr>
        <p:spPr>
          <a:xfrm>
            <a:off x="0" y="0"/>
            <a:ext cx="54864" cy="68580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7" name="Google Shape;327;p33"/>
          <p:cNvSpPr/>
          <p:nvPr/>
        </p:nvSpPr>
        <p:spPr>
          <a:xfrm>
            <a:off x="54864" y="0"/>
            <a:ext cx="12136831" cy="3657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8" name="Google Shape;328;p33"/>
          <p:cNvSpPr/>
          <p:nvPr/>
        </p:nvSpPr>
        <p:spPr>
          <a:xfrm>
            <a:off x="54864" y="6821424"/>
            <a:ext cx="12136831" cy="3657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9" name="Google Shape;329;p33"/>
          <p:cNvSpPr txBox="1"/>
          <p:nvPr/>
        </p:nvSpPr>
        <p:spPr>
          <a:xfrm>
            <a:off x="274320" y="64008"/>
            <a:ext cx="5486400"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E5FF"/>
                </a:solidFill>
                <a:latin typeface="Calibri"/>
                <a:ea typeface="Calibri"/>
                <a:cs typeface="Calibri"/>
                <a:sym typeface="Calibri"/>
              </a:rPr>
              <a:t>SYSTEM ARCHITECTURE</a:t>
            </a:r>
            <a:endParaRPr b="0" i="0" sz="1400" u="none" cap="none" strike="noStrike">
              <a:solidFill>
                <a:srgbClr val="000000"/>
              </a:solidFill>
              <a:latin typeface="Arial"/>
              <a:ea typeface="Arial"/>
              <a:cs typeface="Arial"/>
              <a:sym typeface="Arial"/>
            </a:endParaRPr>
          </a:p>
        </p:txBody>
      </p:sp>
      <p:sp>
        <p:nvSpPr>
          <p:cNvPr id="330" name="Google Shape;330;p33"/>
          <p:cNvSpPr txBox="1"/>
          <p:nvPr/>
        </p:nvSpPr>
        <p:spPr>
          <a:xfrm>
            <a:off x="274320" y="301752"/>
            <a:ext cx="100584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CMatrix — Three-Tier Architecture Overview</a:t>
            </a:r>
            <a:endParaRPr b="0" i="0" sz="1400" u="none" cap="none" strike="noStrike">
              <a:solidFill>
                <a:srgbClr val="000000"/>
              </a:solidFill>
              <a:latin typeface="Arial"/>
              <a:ea typeface="Arial"/>
              <a:cs typeface="Arial"/>
              <a:sym typeface="Arial"/>
            </a:endParaRPr>
          </a:p>
        </p:txBody>
      </p:sp>
      <p:sp>
        <p:nvSpPr>
          <p:cNvPr id="331" name="Google Shape;331;p33"/>
          <p:cNvSpPr/>
          <p:nvPr/>
        </p:nvSpPr>
        <p:spPr>
          <a:xfrm>
            <a:off x="164592" y="804672"/>
            <a:ext cx="11862511" cy="1280160"/>
          </a:xfrm>
          <a:prstGeom prst="rect">
            <a:avLst/>
          </a:prstGeom>
          <a:solidFill>
            <a:srgbClr val="061020"/>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2" name="Google Shape;332;p33"/>
          <p:cNvSpPr txBox="1"/>
          <p:nvPr/>
        </p:nvSpPr>
        <p:spPr>
          <a:xfrm>
            <a:off x="201168" y="850392"/>
            <a:ext cx="146304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0E5FF"/>
                </a:solidFill>
                <a:latin typeface="Calibri"/>
                <a:ea typeface="Calibri"/>
                <a:cs typeface="Calibri"/>
                <a:sym typeface="Calibri"/>
              </a:rPr>
              <a:t>① ORCHESTRATION</a:t>
            </a:r>
            <a:endParaRPr b="0" i="0" sz="1400" u="none" cap="none" strike="noStrike">
              <a:solidFill>
                <a:srgbClr val="000000"/>
              </a:solidFill>
              <a:latin typeface="Arial"/>
              <a:ea typeface="Arial"/>
              <a:cs typeface="Arial"/>
              <a:sym typeface="Arial"/>
            </a:endParaRPr>
          </a:p>
        </p:txBody>
      </p:sp>
      <p:sp>
        <p:nvSpPr>
          <p:cNvPr id="333" name="Google Shape;333;p33"/>
          <p:cNvSpPr/>
          <p:nvPr/>
        </p:nvSpPr>
        <p:spPr>
          <a:xfrm>
            <a:off x="320040" y="1060704"/>
            <a:ext cx="1554480" cy="877824"/>
          </a:xfrm>
          <a:prstGeom prst="rect">
            <a:avLst/>
          </a:prstGeom>
          <a:solidFill>
            <a:srgbClr val="0C182E"/>
          </a:solidFill>
          <a:ln cap="flat" cmpd="sng" w="10150">
            <a:solidFill>
              <a:srgbClr val="A0AA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4" name="Google Shape;334;p33"/>
          <p:cNvSpPr txBox="1"/>
          <p:nvPr/>
        </p:nvSpPr>
        <p:spPr>
          <a:xfrm>
            <a:off x="320040" y="1115568"/>
            <a:ext cx="1554480" cy="2194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A0AAB8"/>
                </a:solidFill>
                <a:latin typeface="Calibri"/>
                <a:ea typeface="Calibri"/>
                <a:cs typeface="Calibri"/>
                <a:sym typeface="Calibri"/>
              </a:rPr>
              <a:t>OPERATOR</a:t>
            </a:r>
            <a:endParaRPr b="0" i="0" sz="1400" u="none" cap="none" strike="noStrike">
              <a:solidFill>
                <a:srgbClr val="000000"/>
              </a:solidFill>
              <a:latin typeface="Arial"/>
              <a:ea typeface="Arial"/>
              <a:cs typeface="Arial"/>
              <a:sym typeface="Arial"/>
            </a:endParaRPr>
          </a:p>
        </p:txBody>
      </p:sp>
      <p:sp>
        <p:nvSpPr>
          <p:cNvPr id="335" name="Google Shape;335;p33"/>
          <p:cNvSpPr txBox="1"/>
          <p:nvPr/>
        </p:nvSpPr>
        <p:spPr>
          <a:xfrm>
            <a:off x="320040" y="1371600"/>
            <a:ext cx="1554480" cy="5029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1" lang="en-US" sz="800" u="none" cap="none" strike="noStrike">
                <a:solidFill>
                  <a:srgbClr val="A0AAB8"/>
                </a:solidFill>
                <a:latin typeface="Calibri"/>
                <a:ea typeface="Calibri"/>
                <a:cs typeface="Calibri"/>
                <a:sym typeface="Calibri"/>
              </a:rPr>
              <a:t>Target · Scope · Mode</a:t>
            </a:r>
            <a:endParaRPr b="0" i="0" sz="1400" u="none" cap="none" strike="noStrike">
              <a:solidFill>
                <a:srgbClr val="000000"/>
              </a:solidFill>
              <a:latin typeface="Arial"/>
              <a:ea typeface="Arial"/>
              <a:cs typeface="Arial"/>
              <a:sym typeface="Arial"/>
            </a:endParaRPr>
          </a:p>
        </p:txBody>
      </p:sp>
      <p:cxnSp>
        <p:nvCxnSpPr>
          <p:cNvPr id="336" name="Google Shape;336;p33"/>
          <p:cNvCxnSpPr/>
          <p:nvPr/>
        </p:nvCxnSpPr>
        <p:spPr>
          <a:xfrm>
            <a:off x="1874520" y="0"/>
            <a:ext cx="210311" cy="0"/>
          </a:xfrm>
          <a:prstGeom prst="straightConnector1">
            <a:avLst/>
          </a:prstGeom>
          <a:noFill/>
          <a:ln cap="flat" cmpd="sng" w="19050">
            <a:solidFill>
              <a:srgbClr val="00E5FF"/>
            </a:solidFill>
            <a:prstDash val="solid"/>
            <a:round/>
            <a:headEnd len="med" w="med" type="stealth"/>
            <a:tailEnd len="sm" w="sm" type="none"/>
          </a:ln>
          <a:effectLst>
            <a:outerShdw blurRad="40000" rotWithShape="0" dir="5400000" dist="20000">
              <a:srgbClr val="000000">
                <a:alpha val="38039"/>
              </a:srgbClr>
            </a:outerShdw>
          </a:effectLst>
        </p:spPr>
      </p:cxnSp>
      <p:sp>
        <p:nvSpPr>
          <p:cNvPr id="337" name="Google Shape;337;p33"/>
          <p:cNvSpPr txBox="1"/>
          <p:nvPr/>
        </p:nvSpPr>
        <p:spPr>
          <a:xfrm>
            <a:off x="1901952" y="1225296"/>
            <a:ext cx="822960"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303848"/>
                </a:solidFill>
                <a:latin typeface="Calibri"/>
                <a:ea typeface="Calibri"/>
                <a:cs typeface="Calibri"/>
                <a:sym typeface="Calibri"/>
              </a:rPr>
              <a:t>mission config</a:t>
            </a:r>
            <a:endParaRPr b="0" i="0" sz="1400" u="none" cap="none" strike="noStrike">
              <a:solidFill>
                <a:srgbClr val="000000"/>
              </a:solidFill>
              <a:latin typeface="Arial"/>
              <a:ea typeface="Arial"/>
              <a:cs typeface="Arial"/>
              <a:sym typeface="Arial"/>
            </a:endParaRPr>
          </a:p>
        </p:txBody>
      </p:sp>
      <p:sp>
        <p:nvSpPr>
          <p:cNvPr id="338" name="Google Shape;338;p33"/>
          <p:cNvSpPr/>
          <p:nvPr/>
        </p:nvSpPr>
        <p:spPr>
          <a:xfrm>
            <a:off x="2084831" y="941832"/>
            <a:ext cx="2834640" cy="1005840"/>
          </a:xfrm>
          <a:prstGeom prst="rect">
            <a:avLst/>
          </a:prstGeom>
          <a:solidFill>
            <a:srgbClr val="04162E"/>
          </a:solidFill>
          <a:ln cap="flat" cmpd="sng" w="254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9" name="Google Shape;339;p33"/>
          <p:cNvSpPr/>
          <p:nvPr/>
        </p:nvSpPr>
        <p:spPr>
          <a:xfrm>
            <a:off x="2084831" y="941832"/>
            <a:ext cx="2834640" cy="27432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0" name="Google Shape;340;p33"/>
          <p:cNvSpPr txBox="1"/>
          <p:nvPr/>
        </p:nvSpPr>
        <p:spPr>
          <a:xfrm>
            <a:off x="2084831" y="969264"/>
            <a:ext cx="2834640" cy="2194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COMMANDER AGENT</a:t>
            </a:r>
            <a:endParaRPr b="0" i="0" sz="1400" u="none" cap="none" strike="noStrike">
              <a:solidFill>
                <a:srgbClr val="000000"/>
              </a:solidFill>
              <a:latin typeface="Arial"/>
              <a:ea typeface="Arial"/>
              <a:cs typeface="Arial"/>
              <a:sym typeface="Arial"/>
            </a:endParaRPr>
          </a:p>
        </p:txBody>
      </p:sp>
      <p:sp>
        <p:nvSpPr>
          <p:cNvPr id="341" name="Google Shape;341;p33"/>
          <p:cNvSpPr txBox="1"/>
          <p:nvPr/>
        </p:nvSpPr>
        <p:spPr>
          <a:xfrm>
            <a:off x="2194250" y="1212425"/>
            <a:ext cx="26322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 Reads ASG + APG state </a:t>
            </a:r>
            <a:endParaRPr b="0" i="0" sz="800" u="none" cap="none" strike="noStrike">
              <a:solidFill>
                <a:srgbClr val="A0AAB8"/>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800"/>
              <a:buFont typeface="Arial"/>
              <a:buNone/>
            </a:pPr>
            <a:r>
              <a:rPr lang="en-US" sz="800">
                <a:solidFill>
                  <a:srgbClr val="A0AAB8"/>
                </a:solidFill>
                <a:latin typeface="Calibri"/>
                <a:ea typeface="Calibri"/>
                <a:cs typeface="Calibri"/>
                <a:sym typeface="Calibri"/>
              </a:rPr>
              <a:t>• Plans &amp; delegates tasks</a:t>
            </a:r>
            <a:endParaRPr sz="800">
              <a:solidFill>
                <a:srgbClr val="A0AAB8"/>
              </a:solidFill>
              <a:latin typeface="Calibri"/>
              <a:ea typeface="Calibri"/>
              <a:cs typeface="Calibri"/>
              <a:sym typeface="Calibri"/>
            </a:endParaRPr>
          </a:p>
          <a:p>
            <a:pPr indent="0" lvl="0" marL="0" rtl="0" algn="l">
              <a:spcBef>
                <a:spcPts val="0"/>
              </a:spcBef>
              <a:spcAft>
                <a:spcPts val="0"/>
              </a:spcAft>
              <a:buClr>
                <a:schemeClr val="dk1"/>
              </a:buClr>
              <a:buSzPts val="800"/>
              <a:buFont typeface="Arial"/>
              <a:buNone/>
            </a:pPr>
            <a:r>
              <a:rPr lang="en-US" sz="800">
                <a:solidFill>
                  <a:srgbClr val="A0AAB8"/>
                </a:solidFill>
                <a:latin typeface="Calibri"/>
                <a:ea typeface="Calibri"/>
                <a:cs typeface="Calibri"/>
                <a:sym typeface="Calibri"/>
              </a:rPr>
              <a:t>• Seeds APG AttackChains from Vulnerability nodes</a:t>
            </a:r>
            <a:endParaRPr sz="800">
              <a:solidFill>
                <a:srgbClr val="A0AAB8"/>
              </a:solidFill>
              <a:latin typeface="Calibri"/>
              <a:ea typeface="Calibri"/>
              <a:cs typeface="Calibri"/>
              <a:sym typeface="Calibri"/>
            </a:endParaRPr>
          </a:p>
          <a:p>
            <a:pPr indent="0" lvl="0" marL="0" rtl="0" algn="l">
              <a:spcBef>
                <a:spcPts val="0"/>
              </a:spcBef>
              <a:spcAft>
                <a:spcPts val="0"/>
              </a:spcAft>
              <a:buClr>
                <a:schemeClr val="dk1"/>
              </a:buClr>
              <a:buSzPts val="800"/>
              <a:buFont typeface="Arial"/>
              <a:buNone/>
            </a:pPr>
            <a:r>
              <a:rPr lang="en-US" sz="800">
                <a:solidFill>
                  <a:srgbClr val="A0AAB8"/>
                </a:solidFill>
                <a:latin typeface="Calibri"/>
                <a:ea typeface="Calibri"/>
                <a:cs typeface="Calibri"/>
                <a:sym typeface="Calibri"/>
              </a:rPr>
              <a:t>• Approves High-risk ops</a:t>
            </a:r>
            <a:endParaRPr sz="800">
              <a:solidFill>
                <a:srgbClr val="A0AAB8"/>
              </a:solidFill>
              <a:latin typeface="Calibri"/>
              <a:ea typeface="Calibri"/>
              <a:cs typeface="Calibri"/>
              <a:sym typeface="Calibri"/>
            </a:endParaRPr>
          </a:p>
          <a:p>
            <a:pPr indent="0" lvl="0" marL="0" rtl="0" algn="l">
              <a:spcBef>
                <a:spcPts val="0"/>
              </a:spcBef>
              <a:spcAft>
                <a:spcPts val="0"/>
              </a:spcAft>
              <a:buClr>
                <a:schemeClr val="dk1"/>
              </a:buClr>
              <a:buSzPts val="800"/>
              <a:buFont typeface="Arial"/>
              <a:buNone/>
            </a:pPr>
            <a:r>
              <a:rPr lang="en-US" sz="800">
                <a:solidFill>
                  <a:srgbClr val="A0AAB8"/>
                </a:solidFill>
                <a:latin typeface="Calibri"/>
                <a:ea typeface="Calibri"/>
                <a:cs typeface="Calibri"/>
                <a:sym typeface="Calibri"/>
              </a:rPr>
              <a:t>• Writes to APG only</a:t>
            </a:r>
            <a:endParaRPr sz="800">
              <a:solidFill>
                <a:srgbClr val="A0AAB8"/>
              </a:solidFill>
              <a:latin typeface="Calibri"/>
              <a:ea typeface="Calibri"/>
              <a:cs typeface="Calibri"/>
              <a:sym typeface="Calibri"/>
            </a:endParaRPr>
          </a:p>
        </p:txBody>
      </p:sp>
      <p:sp>
        <p:nvSpPr>
          <p:cNvPr id="342" name="Google Shape;342;p33"/>
          <p:cNvSpPr/>
          <p:nvPr/>
        </p:nvSpPr>
        <p:spPr>
          <a:xfrm>
            <a:off x="5120640" y="1060704"/>
            <a:ext cx="6793992" cy="877824"/>
          </a:xfrm>
          <a:prstGeom prst="rect">
            <a:avLst/>
          </a:prstGeom>
          <a:solidFill>
            <a:srgbClr val="100C22"/>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3" name="Google Shape;343;p33"/>
          <p:cNvSpPr txBox="1"/>
          <p:nvPr/>
        </p:nvSpPr>
        <p:spPr>
          <a:xfrm>
            <a:off x="5120640" y="1115568"/>
            <a:ext cx="6793992"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BD93F9"/>
                </a:solidFill>
                <a:latin typeface="Calibri"/>
                <a:ea typeface="Calibri"/>
                <a:cs typeface="Calibri"/>
                <a:sym typeface="Calibri"/>
              </a:rPr>
              <a:t>VAPT PROTOCOL PROMPT</a:t>
            </a:r>
            <a:endParaRPr b="0" i="0" sz="1400" u="none" cap="none" strike="noStrike">
              <a:solidFill>
                <a:srgbClr val="000000"/>
              </a:solidFill>
              <a:latin typeface="Arial"/>
              <a:ea typeface="Arial"/>
              <a:cs typeface="Arial"/>
              <a:sym typeface="Arial"/>
            </a:endParaRPr>
          </a:p>
        </p:txBody>
      </p:sp>
      <p:sp>
        <p:nvSpPr>
          <p:cNvPr id="344" name="Google Shape;344;p33"/>
          <p:cNvSpPr txBox="1"/>
          <p:nvPr/>
        </p:nvSpPr>
        <p:spPr>
          <a:xfrm>
            <a:off x="5212080" y="1353312"/>
            <a:ext cx="6611112" cy="5303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Phase rules · Re-plan triggers · Termination conditions · Methodology-as-config (C7)</a:t>
            </a:r>
            <a:endParaRPr b="0" i="0" sz="1400" u="none" cap="none" strike="noStrike">
              <a:solidFill>
                <a:srgbClr val="000000"/>
              </a:solidFill>
              <a:latin typeface="Arial"/>
              <a:ea typeface="Arial"/>
              <a:cs typeface="Arial"/>
              <a:sym typeface="Arial"/>
            </a:endParaRPr>
          </a:p>
        </p:txBody>
      </p:sp>
      <p:cxnSp>
        <p:nvCxnSpPr>
          <p:cNvPr id="345" name="Google Shape;345;p33"/>
          <p:cNvCxnSpPr/>
          <p:nvPr/>
        </p:nvCxnSpPr>
        <p:spPr>
          <a:xfrm>
            <a:off x="4919471" y="0"/>
            <a:ext cx="201169" cy="0"/>
          </a:xfrm>
          <a:prstGeom prst="straightConnector1">
            <a:avLst/>
          </a:prstGeom>
          <a:noFill/>
          <a:ln cap="flat" cmpd="sng" w="12700">
            <a:solidFill>
              <a:srgbClr val="BD93F9"/>
            </a:solidFill>
            <a:prstDash val="solid"/>
            <a:round/>
            <a:headEnd len="med" w="med" type="stealth"/>
            <a:tailEnd len="med" w="med" type="stealth"/>
          </a:ln>
          <a:effectLst>
            <a:outerShdw blurRad="40000" rotWithShape="0" dir="5400000" dist="20000">
              <a:srgbClr val="000000">
                <a:alpha val="38039"/>
              </a:srgbClr>
            </a:outerShdw>
          </a:effectLst>
        </p:spPr>
      </p:cxnSp>
      <p:sp>
        <p:nvSpPr>
          <p:cNvPr id="346" name="Google Shape;346;p33"/>
          <p:cNvSpPr/>
          <p:nvPr/>
        </p:nvSpPr>
        <p:spPr>
          <a:xfrm>
            <a:off x="164592" y="2139696"/>
            <a:ext cx="11862511" cy="1682496"/>
          </a:xfrm>
          <a:prstGeom prst="rect">
            <a:avLst/>
          </a:prstGeom>
          <a:solidFill>
            <a:srgbClr val="05140A"/>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7" name="Google Shape;347;p33"/>
          <p:cNvSpPr txBox="1"/>
          <p:nvPr/>
        </p:nvSpPr>
        <p:spPr>
          <a:xfrm>
            <a:off x="201168" y="2185416"/>
            <a:ext cx="237744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② DUAL-GRAPH WORLD MODEL</a:t>
            </a:r>
            <a:endParaRPr b="0" i="0" sz="1400" u="none" cap="none" strike="noStrike">
              <a:solidFill>
                <a:srgbClr val="000000"/>
              </a:solidFill>
              <a:latin typeface="Arial"/>
              <a:ea typeface="Arial"/>
              <a:cs typeface="Arial"/>
              <a:sym typeface="Arial"/>
            </a:endParaRPr>
          </a:p>
        </p:txBody>
      </p:sp>
      <p:sp>
        <p:nvSpPr>
          <p:cNvPr id="348" name="Google Shape;348;p33"/>
          <p:cNvSpPr/>
          <p:nvPr/>
        </p:nvSpPr>
        <p:spPr>
          <a:xfrm>
            <a:off x="320040" y="2414016"/>
            <a:ext cx="5050980" cy="1298448"/>
          </a:xfrm>
          <a:prstGeom prst="rect">
            <a:avLst/>
          </a:prstGeom>
          <a:solidFill>
            <a:srgbClr val="04180C"/>
          </a:solidFill>
          <a:ln cap="flat" cmpd="sng" w="2285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9" name="Google Shape;349;p33"/>
          <p:cNvSpPr/>
          <p:nvPr/>
        </p:nvSpPr>
        <p:spPr>
          <a:xfrm>
            <a:off x="320040" y="2414016"/>
            <a:ext cx="5050980" cy="27432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0" name="Google Shape;350;p33"/>
          <p:cNvSpPr txBox="1"/>
          <p:nvPr/>
        </p:nvSpPr>
        <p:spPr>
          <a:xfrm>
            <a:off x="320040" y="2450592"/>
            <a:ext cx="5050980" cy="2194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ATTACK SURFACE GRAPH  (ASG)</a:t>
            </a:r>
            <a:endParaRPr b="0" i="0" sz="1400" u="none" cap="none" strike="noStrike">
              <a:solidFill>
                <a:srgbClr val="000000"/>
              </a:solidFill>
              <a:latin typeface="Arial"/>
              <a:ea typeface="Arial"/>
              <a:cs typeface="Arial"/>
              <a:sym typeface="Arial"/>
            </a:endParaRPr>
          </a:p>
        </p:txBody>
      </p:sp>
      <p:sp>
        <p:nvSpPr>
          <p:cNvPr id="351" name="Google Shape;351;p33"/>
          <p:cNvSpPr/>
          <p:nvPr/>
        </p:nvSpPr>
        <p:spPr>
          <a:xfrm>
            <a:off x="457200" y="2743200"/>
            <a:ext cx="749808"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2" name="Google Shape;352;p33"/>
          <p:cNvSpPr txBox="1"/>
          <p:nvPr/>
        </p:nvSpPr>
        <p:spPr>
          <a:xfrm>
            <a:off x="457200" y="2761488"/>
            <a:ext cx="749808"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Domain</a:t>
            </a:r>
            <a:endParaRPr b="0" i="0" sz="1400" u="none" cap="none" strike="noStrike">
              <a:solidFill>
                <a:srgbClr val="000000"/>
              </a:solidFill>
              <a:latin typeface="Arial"/>
              <a:ea typeface="Arial"/>
              <a:cs typeface="Arial"/>
              <a:sym typeface="Arial"/>
            </a:endParaRPr>
          </a:p>
        </p:txBody>
      </p:sp>
      <p:sp>
        <p:nvSpPr>
          <p:cNvPr id="353" name="Google Shape;353;p33"/>
          <p:cNvSpPr/>
          <p:nvPr/>
        </p:nvSpPr>
        <p:spPr>
          <a:xfrm>
            <a:off x="1261872" y="2743200"/>
            <a:ext cx="749808"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4" name="Google Shape;354;p33"/>
          <p:cNvSpPr txBox="1"/>
          <p:nvPr/>
        </p:nvSpPr>
        <p:spPr>
          <a:xfrm>
            <a:off x="1261872" y="2761488"/>
            <a:ext cx="749808"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Host</a:t>
            </a:r>
            <a:endParaRPr b="0" i="0" sz="1400" u="none" cap="none" strike="noStrike">
              <a:solidFill>
                <a:srgbClr val="000000"/>
              </a:solidFill>
              <a:latin typeface="Arial"/>
              <a:ea typeface="Arial"/>
              <a:cs typeface="Arial"/>
              <a:sym typeface="Arial"/>
            </a:endParaRPr>
          </a:p>
        </p:txBody>
      </p:sp>
      <p:sp>
        <p:nvSpPr>
          <p:cNvPr id="355" name="Google Shape;355;p33"/>
          <p:cNvSpPr/>
          <p:nvPr/>
        </p:nvSpPr>
        <p:spPr>
          <a:xfrm>
            <a:off x="2066544" y="2743200"/>
            <a:ext cx="749808"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6" name="Google Shape;356;p33"/>
          <p:cNvSpPr txBox="1"/>
          <p:nvPr/>
        </p:nvSpPr>
        <p:spPr>
          <a:xfrm>
            <a:off x="2066544" y="2761488"/>
            <a:ext cx="749808"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Port</a:t>
            </a:r>
            <a:endParaRPr b="0" i="0" sz="1400" u="none" cap="none" strike="noStrike">
              <a:solidFill>
                <a:srgbClr val="000000"/>
              </a:solidFill>
              <a:latin typeface="Arial"/>
              <a:ea typeface="Arial"/>
              <a:cs typeface="Arial"/>
              <a:sym typeface="Arial"/>
            </a:endParaRPr>
          </a:p>
        </p:txBody>
      </p:sp>
      <p:sp>
        <p:nvSpPr>
          <p:cNvPr id="357" name="Google Shape;357;p33"/>
          <p:cNvSpPr/>
          <p:nvPr/>
        </p:nvSpPr>
        <p:spPr>
          <a:xfrm>
            <a:off x="2871216" y="2743200"/>
            <a:ext cx="749808"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8" name="Google Shape;358;p33"/>
          <p:cNvSpPr txBox="1"/>
          <p:nvPr/>
        </p:nvSpPr>
        <p:spPr>
          <a:xfrm>
            <a:off x="2871216" y="2761488"/>
            <a:ext cx="749808"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Service</a:t>
            </a:r>
            <a:endParaRPr b="0" i="0" sz="1400" u="none" cap="none" strike="noStrike">
              <a:solidFill>
                <a:srgbClr val="000000"/>
              </a:solidFill>
              <a:latin typeface="Arial"/>
              <a:ea typeface="Arial"/>
              <a:cs typeface="Arial"/>
              <a:sym typeface="Arial"/>
            </a:endParaRPr>
          </a:p>
        </p:txBody>
      </p:sp>
      <p:sp>
        <p:nvSpPr>
          <p:cNvPr id="359" name="Google Shape;359;p33"/>
          <p:cNvSpPr/>
          <p:nvPr/>
        </p:nvSpPr>
        <p:spPr>
          <a:xfrm>
            <a:off x="3675888" y="2743200"/>
            <a:ext cx="749808"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0" name="Google Shape;360;p33"/>
          <p:cNvSpPr txBox="1"/>
          <p:nvPr/>
        </p:nvSpPr>
        <p:spPr>
          <a:xfrm>
            <a:off x="3675888" y="2761488"/>
            <a:ext cx="749808"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Technology</a:t>
            </a:r>
            <a:endParaRPr b="0" i="0" sz="1400" u="none" cap="none" strike="noStrike">
              <a:solidFill>
                <a:srgbClr val="000000"/>
              </a:solidFill>
              <a:latin typeface="Arial"/>
              <a:ea typeface="Arial"/>
              <a:cs typeface="Arial"/>
              <a:sym typeface="Arial"/>
            </a:endParaRPr>
          </a:p>
        </p:txBody>
      </p:sp>
      <p:sp>
        <p:nvSpPr>
          <p:cNvPr id="361" name="Google Shape;361;p33"/>
          <p:cNvSpPr/>
          <p:nvPr/>
        </p:nvSpPr>
        <p:spPr>
          <a:xfrm>
            <a:off x="457200" y="3017520"/>
            <a:ext cx="950976"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2" name="Google Shape;362;p33"/>
          <p:cNvSpPr txBox="1"/>
          <p:nvPr/>
        </p:nvSpPr>
        <p:spPr>
          <a:xfrm>
            <a:off x="457200" y="3035808"/>
            <a:ext cx="950976"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Endpoint</a:t>
            </a:r>
            <a:endParaRPr b="0" i="0" sz="1400" u="none" cap="none" strike="noStrike">
              <a:solidFill>
                <a:srgbClr val="000000"/>
              </a:solidFill>
              <a:latin typeface="Arial"/>
              <a:ea typeface="Arial"/>
              <a:cs typeface="Arial"/>
              <a:sym typeface="Arial"/>
            </a:endParaRPr>
          </a:p>
        </p:txBody>
      </p:sp>
      <p:sp>
        <p:nvSpPr>
          <p:cNvPr id="363" name="Google Shape;363;p33"/>
          <p:cNvSpPr/>
          <p:nvPr/>
        </p:nvSpPr>
        <p:spPr>
          <a:xfrm>
            <a:off x="1463040" y="3017520"/>
            <a:ext cx="950976"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4" name="Google Shape;364;p33"/>
          <p:cNvSpPr txBox="1"/>
          <p:nvPr/>
        </p:nvSpPr>
        <p:spPr>
          <a:xfrm>
            <a:off x="1463040" y="3035808"/>
            <a:ext cx="950976"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Parameter</a:t>
            </a:r>
            <a:endParaRPr b="0" i="0" sz="1400" u="none" cap="none" strike="noStrike">
              <a:solidFill>
                <a:srgbClr val="000000"/>
              </a:solidFill>
              <a:latin typeface="Arial"/>
              <a:ea typeface="Arial"/>
              <a:cs typeface="Arial"/>
              <a:sym typeface="Arial"/>
            </a:endParaRPr>
          </a:p>
        </p:txBody>
      </p:sp>
      <p:sp>
        <p:nvSpPr>
          <p:cNvPr id="365" name="Google Shape;365;p33"/>
          <p:cNvSpPr/>
          <p:nvPr/>
        </p:nvSpPr>
        <p:spPr>
          <a:xfrm>
            <a:off x="2468880" y="3017520"/>
            <a:ext cx="950976"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6" name="Google Shape;366;p33"/>
          <p:cNvSpPr txBox="1"/>
          <p:nvPr/>
        </p:nvSpPr>
        <p:spPr>
          <a:xfrm>
            <a:off x="2468880" y="3035808"/>
            <a:ext cx="950976"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Vulnerability</a:t>
            </a:r>
            <a:endParaRPr b="0" i="0" sz="1400" u="none" cap="none" strike="noStrike">
              <a:solidFill>
                <a:srgbClr val="000000"/>
              </a:solidFill>
              <a:latin typeface="Arial"/>
              <a:ea typeface="Arial"/>
              <a:cs typeface="Arial"/>
              <a:sym typeface="Arial"/>
            </a:endParaRPr>
          </a:p>
        </p:txBody>
      </p:sp>
      <p:sp>
        <p:nvSpPr>
          <p:cNvPr id="367" name="Google Shape;367;p33"/>
          <p:cNvSpPr/>
          <p:nvPr/>
        </p:nvSpPr>
        <p:spPr>
          <a:xfrm>
            <a:off x="3474720" y="3017520"/>
            <a:ext cx="950976" cy="228600"/>
          </a:xfrm>
          <a:prstGeom prst="rect">
            <a:avLst/>
          </a:prstGeom>
          <a:solidFill>
            <a:srgbClr val="08281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8" name="Google Shape;368;p33"/>
          <p:cNvSpPr txBox="1"/>
          <p:nvPr/>
        </p:nvSpPr>
        <p:spPr>
          <a:xfrm>
            <a:off x="3474720" y="3035808"/>
            <a:ext cx="950976"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Evidence</a:t>
            </a:r>
            <a:endParaRPr b="0" i="0" sz="1400" u="none" cap="none" strike="noStrike">
              <a:solidFill>
                <a:srgbClr val="000000"/>
              </a:solidFill>
              <a:latin typeface="Arial"/>
              <a:ea typeface="Arial"/>
              <a:cs typeface="Arial"/>
              <a:sym typeface="Arial"/>
            </a:endParaRPr>
          </a:p>
        </p:txBody>
      </p:sp>
      <p:sp>
        <p:nvSpPr>
          <p:cNvPr id="369" name="Google Shape;369;p33"/>
          <p:cNvSpPr txBox="1"/>
          <p:nvPr/>
        </p:nvSpPr>
        <p:spPr>
          <a:xfrm>
            <a:off x="429768" y="3300984"/>
            <a:ext cx="4868100" cy="3474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60C070"/>
                </a:solidFill>
                <a:latin typeface="Calibri"/>
                <a:ea typeface="Calibri"/>
                <a:cs typeface="Calibri"/>
                <a:sym typeface="Calibri"/>
              </a:rPr>
              <a:t>Discovered Reality — confirmed facts only. Never contains hypotheses.</a:t>
            </a:r>
            <a:endParaRPr b="0" i="0" sz="1400" u="none" cap="none" strike="noStrike">
              <a:solidFill>
                <a:srgbClr val="000000"/>
              </a:solidFill>
              <a:latin typeface="Arial"/>
              <a:ea typeface="Arial"/>
              <a:cs typeface="Arial"/>
              <a:sym typeface="Arial"/>
            </a:endParaRPr>
          </a:p>
        </p:txBody>
      </p:sp>
      <p:sp>
        <p:nvSpPr>
          <p:cNvPr id="370" name="Google Shape;370;p33"/>
          <p:cNvSpPr/>
          <p:nvPr/>
        </p:nvSpPr>
        <p:spPr>
          <a:xfrm>
            <a:off x="6652260" y="2414016"/>
            <a:ext cx="5326380" cy="1298448"/>
          </a:xfrm>
          <a:prstGeom prst="rect">
            <a:avLst/>
          </a:prstGeom>
          <a:solidFill>
            <a:srgbClr val="1E1004"/>
          </a:solidFill>
          <a:ln cap="flat" cmpd="sng" w="228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1" name="Google Shape;371;p33"/>
          <p:cNvSpPr/>
          <p:nvPr/>
        </p:nvSpPr>
        <p:spPr>
          <a:xfrm>
            <a:off x="6652260" y="2414016"/>
            <a:ext cx="5326380" cy="27432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2" name="Google Shape;372;p33"/>
          <p:cNvSpPr txBox="1"/>
          <p:nvPr/>
        </p:nvSpPr>
        <p:spPr>
          <a:xfrm>
            <a:off x="6652260" y="2450592"/>
            <a:ext cx="5326380" cy="2194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ATTACK PATH GRAPH  (APG)</a:t>
            </a:r>
            <a:endParaRPr b="0" i="0" sz="1400" u="none" cap="none" strike="noStrike">
              <a:solidFill>
                <a:srgbClr val="000000"/>
              </a:solidFill>
              <a:latin typeface="Arial"/>
              <a:ea typeface="Arial"/>
              <a:cs typeface="Arial"/>
              <a:sym typeface="Arial"/>
            </a:endParaRPr>
          </a:p>
        </p:txBody>
      </p:sp>
      <p:sp>
        <p:nvSpPr>
          <p:cNvPr id="373" name="Google Shape;373;p33"/>
          <p:cNvSpPr/>
          <p:nvPr/>
        </p:nvSpPr>
        <p:spPr>
          <a:xfrm>
            <a:off x="6789420" y="2743200"/>
            <a:ext cx="1280160" cy="228600"/>
          </a:xfrm>
          <a:prstGeom prst="rect">
            <a:avLst/>
          </a:prstGeom>
          <a:solidFill>
            <a:srgbClr val="2E1804"/>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4" name="Google Shape;374;p33"/>
          <p:cNvSpPr txBox="1"/>
          <p:nvPr/>
        </p:nvSpPr>
        <p:spPr>
          <a:xfrm>
            <a:off x="6789420" y="2761488"/>
            <a:ext cx="128016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FFD700"/>
                </a:solidFill>
                <a:latin typeface="Calibri"/>
                <a:ea typeface="Calibri"/>
                <a:cs typeface="Calibri"/>
                <a:sym typeface="Calibri"/>
              </a:rPr>
              <a:t>AttackChain</a:t>
            </a:r>
            <a:endParaRPr b="0" i="0" sz="1400" u="none" cap="none" strike="noStrike">
              <a:solidFill>
                <a:srgbClr val="000000"/>
              </a:solidFill>
              <a:latin typeface="Arial"/>
              <a:ea typeface="Arial"/>
              <a:cs typeface="Arial"/>
              <a:sym typeface="Arial"/>
            </a:endParaRPr>
          </a:p>
        </p:txBody>
      </p:sp>
      <p:sp>
        <p:nvSpPr>
          <p:cNvPr id="375" name="Google Shape;375;p33"/>
          <p:cNvSpPr/>
          <p:nvPr/>
        </p:nvSpPr>
        <p:spPr>
          <a:xfrm>
            <a:off x="8161020" y="2743200"/>
            <a:ext cx="1280160" cy="228600"/>
          </a:xfrm>
          <a:prstGeom prst="rect">
            <a:avLst/>
          </a:prstGeom>
          <a:solidFill>
            <a:srgbClr val="2E1804"/>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6" name="Google Shape;376;p33"/>
          <p:cNvSpPr txBox="1"/>
          <p:nvPr/>
        </p:nvSpPr>
        <p:spPr>
          <a:xfrm>
            <a:off x="8161020" y="2761488"/>
            <a:ext cx="128016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FFD700"/>
                </a:solidFill>
                <a:latin typeface="Calibri"/>
                <a:ea typeface="Calibri"/>
                <a:cs typeface="Calibri"/>
                <a:sym typeface="Calibri"/>
              </a:rPr>
              <a:t>ChainStep</a:t>
            </a:r>
            <a:endParaRPr b="0" i="0" sz="1400" u="none" cap="none" strike="noStrike">
              <a:solidFill>
                <a:srgbClr val="000000"/>
              </a:solidFill>
              <a:latin typeface="Arial"/>
              <a:ea typeface="Arial"/>
              <a:cs typeface="Arial"/>
              <a:sym typeface="Arial"/>
            </a:endParaRPr>
          </a:p>
        </p:txBody>
      </p:sp>
      <p:sp>
        <p:nvSpPr>
          <p:cNvPr id="377" name="Google Shape;377;p33"/>
          <p:cNvSpPr/>
          <p:nvPr/>
        </p:nvSpPr>
        <p:spPr>
          <a:xfrm>
            <a:off x="9532620" y="2743200"/>
            <a:ext cx="1280160" cy="228600"/>
          </a:xfrm>
          <a:prstGeom prst="rect">
            <a:avLst/>
          </a:prstGeom>
          <a:solidFill>
            <a:srgbClr val="2E1804"/>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8" name="Google Shape;378;p33"/>
          <p:cNvSpPr txBox="1"/>
          <p:nvPr/>
        </p:nvSpPr>
        <p:spPr>
          <a:xfrm>
            <a:off x="9532620" y="2761488"/>
            <a:ext cx="128016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FFD700"/>
                </a:solidFill>
                <a:latin typeface="Calibri"/>
                <a:ea typeface="Calibri"/>
                <a:cs typeface="Calibri"/>
                <a:sym typeface="Calibri"/>
              </a:rPr>
              <a:t>Impact</a:t>
            </a:r>
            <a:endParaRPr b="0" i="0" sz="1400" u="none" cap="none" strike="noStrike">
              <a:solidFill>
                <a:srgbClr val="000000"/>
              </a:solidFill>
              <a:latin typeface="Arial"/>
              <a:ea typeface="Arial"/>
              <a:cs typeface="Arial"/>
              <a:sym typeface="Arial"/>
            </a:endParaRPr>
          </a:p>
        </p:txBody>
      </p:sp>
      <p:sp>
        <p:nvSpPr>
          <p:cNvPr id="379" name="Google Shape;379;p33"/>
          <p:cNvSpPr txBox="1"/>
          <p:nvPr/>
        </p:nvSpPr>
        <p:spPr>
          <a:xfrm>
            <a:off x="6761988" y="3035808"/>
            <a:ext cx="514296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risk_score  ·  validation_status  ·  priority</a:t>
            </a:r>
            <a:endParaRPr b="0" i="0" sz="1400" u="none" cap="none" strike="noStrike">
              <a:solidFill>
                <a:srgbClr val="000000"/>
              </a:solidFill>
              <a:latin typeface="Arial"/>
              <a:ea typeface="Arial"/>
              <a:cs typeface="Arial"/>
              <a:sym typeface="Arial"/>
            </a:endParaRPr>
          </a:p>
        </p:txBody>
      </p:sp>
      <p:sp>
        <p:nvSpPr>
          <p:cNvPr id="380" name="Google Shape;380;p33"/>
          <p:cNvSpPr txBox="1"/>
          <p:nvPr/>
        </p:nvSpPr>
        <p:spPr>
          <a:xfrm>
            <a:off x="6761988" y="3282696"/>
            <a:ext cx="5142960" cy="3474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C09020"/>
                </a:solidFill>
                <a:latin typeface="Calibri"/>
                <a:ea typeface="Calibri"/>
                <a:cs typeface="Calibri"/>
                <a:sym typeface="Calibri"/>
              </a:rPr>
              <a:t>Inferred Opportunity — attack reasoning only. Never contains raw scan data.</a:t>
            </a:r>
            <a:endParaRPr b="0" i="0" sz="1400" u="none" cap="none" strike="noStrike">
              <a:solidFill>
                <a:srgbClr val="000000"/>
              </a:solidFill>
              <a:latin typeface="Arial"/>
              <a:ea typeface="Arial"/>
              <a:cs typeface="Arial"/>
              <a:sym typeface="Arial"/>
            </a:endParaRPr>
          </a:p>
        </p:txBody>
      </p:sp>
      <p:sp>
        <p:nvSpPr>
          <p:cNvPr id="381" name="Google Shape;381;p33"/>
          <p:cNvSpPr/>
          <p:nvPr/>
        </p:nvSpPr>
        <p:spPr>
          <a:xfrm>
            <a:off x="5600700" y="2414016"/>
            <a:ext cx="1005840" cy="1298448"/>
          </a:xfrm>
          <a:prstGeom prst="rect">
            <a:avLst/>
          </a:prstGeom>
          <a:solidFill>
            <a:srgbClr val="0610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2" name="Google Shape;382;p33"/>
          <p:cNvSpPr txBox="1"/>
          <p:nvPr/>
        </p:nvSpPr>
        <p:spPr>
          <a:xfrm>
            <a:off x="5600700" y="2706624"/>
            <a:ext cx="1005840" cy="5029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A0AAB8"/>
                </a:solidFill>
                <a:latin typeface="Calibri"/>
                <a:ea typeface="Calibri"/>
                <a:cs typeface="Calibri"/>
                <a:sym typeface="Calibri"/>
              </a:rPr>
              <a:t>STRICT SEPARATION</a:t>
            </a:r>
            <a:endParaRPr b="0" i="0" sz="1400" u="none" cap="none" strike="noStrike">
              <a:solidFill>
                <a:srgbClr val="000000"/>
              </a:solidFill>
              <a:latin typeface="Arial"/>
              <a:ea typeface="Arial"/>
              <a:cs typeface="Arial"/>
              <a:sym typeface="Arial"/>
            </a:endParaRPr>
          </a:p>
        </p:txBody>
      </p:sp>
      <p:sp>
        <p:nvSpPr>
          <p:cNvPr id="383" name="Google Shape;383;p33"/>
          <p:cNvSpPr/>
          <p:nvPr/>
        </p:nvSpPr>
        <p:spPr>
          <a:xfrm>
            <a:off x="6094476" y="2414016"/>
            <a:ext cx="18288" cy="1298448"/>
          </a:xfrm>
          <a:prstGeom prst="rect">
            <a:avLst/>
          </a:prstGeom>
          <a:solidFill>
            <a:srgbClr val="30384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384" name="Google Shape;384;p33"/>
          <p:cNvCxnSpPr/>
          <p:nvPr/>
        </p:nvCxnSpPr>
        <p:spPr>
          <a:xfrm>
            <a:off x="0" y="3712464"/>
            <a:ext cx="0" cy="201168"/>
          </a:xfrm>
          <a:prstGeom prst="straightConnector1">
            <a:avLst/>
          </a:prstGeom>
          <a:noFill/>
          <a:ln cap="flat" cmpd="sng" w="10150">
            <a:solidFill>
              <a:srgbClr val="FFD700"/>
            </a:solidFill>
            <a:prstDash val="solid"/>
            <a:round/>
            <a:headEnd len="med" w="med" type="stealth"/>
            <a:tailEnd len="sm" w="sm" type="none"/>
          </a:ln>
          <a:effectLst>
            <a:outerShdw blurRad="40000" rotWithShape="0" dir="5400000" dist="20000">
              <a:srgbClr val="000000">
                <a:alpha val="38039"/>
              </a:srgbClr>
            </a:outerShdw>
          </a:effectLst>
        </p:spPr>
      </p:cxnSp>
      <p:cxnSp>
        <p:nvCxnSpPr>
          <p:cNvPr id="385" name="Google Shape;385;p33"/>
          <p:cNvCxnSpPr/>
          <p:nvPr/>
        </p:nvCxnSpPr>
        <p:spPr>
          <a:xfrm>
            <a:off x="0" y="2084832"/>
            <a:ext cx="0" cy="54864"/>
          </a:xfrm>
          <a:prstGeom prst="straightConnector1">
            <a:avLst/>
          </a:prstGeom>
          <a:noFill/>
          <a:ln cap="flat" cmpd="sng" w="15225">
            <a:solidFill>
              <a:srgbClr val="00E5FF"/>
            </a:solidFill>
            <a:prstDash val="solid"/>
            <a:round/>
            <a:headEnd len="med" w="med" type="stealth"/>
            <a:tailEnd len="sm" w="sm" type="none"/>
          </a:ln>
          <a:effectLst>
            <a:outerShdw blurRad="40000" rotWithShape="0" dir="5400000" dist="20000">
              <a:srgbClr val="000000">
                <a:alpha val="38039"/>
              </a:srgbClr>
            </a:outerShdw>
          </a:effectLst>
        </p:spPr>
      </p:cxnSp>
      <p:cxnSp>
        <p:nvCxnSpPr>
          <p:cNvPr id="386" name="Google Shape;386;p33"/>
          <p:cNvCxnSpPr/>
          <p:nvPr/>
        </p:nvCxnSpPr>
        <p:spPr>
          <a:xfrm rot="10800000">
            <a:off x="0" y="2084832"/>
            <a:ext cx="0" cy="54864"/>
          </a:xfrm>
          <a:prstGeom prst="straightConnector1">
            <a:avLst/>
          </a:prstGeom>
          <a:noFill/>
          <a:ln cap="flat" cmpd="sng" w="12700">
            <a:solidFill>
              <a:srgbClr val="FFD700"/>
            </a:solidFill>
            <a:prstDash val="solid"/>
            <a:round/>
            <a:headEnd len="med" w="med" type="stealth"/>
            <a:tailEnd len="sm" w="sm" type="none"/>
          </a:ln>
          <a:effectLst>
            <a:outerShdw blurRad="40000" rotWithShape="0" dir="5400000" dist="20000">
              <a:srgbClr val="000000">
                <a:alpha val="38039"/>
              </a:srgbClr>
            </a:outerShdw>
          </a:effectLst>
        </p:spPr>
      </p:cxnSp>
      <p:sp>
        <p:nvSpPr>
          <p:cNvPr id="387" name="Google Shape;387;p33"/>
          <p:cNvSpPr/>
          <p:nvPr/>
        </p:nvSpPr>
        <p:spPr>
          <a:xfrm>
            <a:off x="164592" y="3877056"/>
            <a:ext cx="11862511" cy="2724912"/>
          </a:xfrm>
          <a:prstGeom prst="rect">
            <a:avLst/>
          </a:prstGeom>
          <a:solidFill>
            <a:srgbClr val="0A081C"/>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8" name="Google Shape;388;p33"/>
          <p:cNvSpPr txBox="1"/>
          <p:nvPr/>
        </p:nvSpPr>
        <p:spPr>
          <a:xfrm>
            <a:off x="201168" y="3913632"/>
            <a:ext cx="1097280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BD93F9"/>
                </a:solidFill>
                <a:latin typeface="Calibri"/>
                <a:ea typeface="Calibri"/>
                <a:cs typeface="Calibri"/>
                <a:sym typeface="Calibri"/>
              </a:rPr>
              <a:t>③ SPECIALIZED AGENTS  +  TOOL ADAPTER LAYER</a:t>
            </a:r>
            <a:endParaRPr b="0" i="0" sz="1400" u="none" cap="none" strike="noStrike">
              <a:solidFill>
                <a:srgbClr val="000000"/>
              </a:solidFill>
              <a:latin typeface="Arial"/>
              <a:ea typeface="Arial"/>
              <a:cs typeface="Arial"/>
              <a:sym typeface="Arial"/>
            </a:endParaRPr>
          </a:p>
        </p:txBody>
      </p:sp>
      <p:sp>
        <p:nvSpPr>
          <p:cNvPr id="389" name="Google Shape;389;p33"/>
          <p:cNvSpPr/>
          <p:nvPr/>
        </p:nvSpPr>
        <p:spPr>
          <a:xfrm>
            <a:off x="320040" y="4133088"/>
            <a:ext cx="1287780" cy="2404872"/>
          </a:xfrm>
          <a:prstGeom prst="rect">
            <a:avLst/>
          </a:prstGeom>
          <a:solidFill>
            <a:srgbClr val="0C0E22"/>
          </a:solidFill>
          <a:ln cap="flat" cmpd="sng" w="152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90" name="Google Shape;390;p33"/>
          <p:cNvSpPr/>
          <p:nvPr/>
        </p:nvSpPr>
        <p:spPr>
          <a:xfrm>
            <a:off x="320040" y="4133088"/>
            <a:ext cx="1287780" cy="219456"/>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91" name="Google Shape;391;p33"/>
          <p:cNvSpPr txBox="1"/>
          <p:nvPr/>
        </p:nvSpPr>
        <p:spPr>
          <a:xfrm>
            <a:off x="320040" y="4151376"/>
            <a:ext cx="12877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Recon</a:t>
            </a:r>
            <a:endParaRPr b="0" i="0" sz="1400" u="none" cap="none" strike="noStrike">
              <a:solidFill>
                <a:srgbClr val="000000"/>
              </a:solidFill>
              <a:latin typeface="Arial"/>
              <a:ea typeface="Arial"/>
              <a:cs typeface="Arial"/>
              <a:sym typeface="Arial"/>
            </a:endParaRPr>
          </a:p>
        </p:txBody>
      </p:sp>
      <p:sp>
        <p:nvSpPr>
          <p:cNvPr id="392" name="Google Shape;392;p33"/>
          <p:cNvSpPr txBox="1"/>
          <p:nvPr/>
        </p:nvSpPr>
        <p:spPr>
          <a:xfrm>
            <a:off x="374904" y="4407408"/>
            <a:ext cx="11964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lang="en-US" sz="700">
                <a:solidFill>
                  <a:srgbClr val="39FF14"/>
                </a:solidFill>
                <a:latin typeface="Calibri"/>
                <a:ea typeface="Calibri"/>
                <a:cs typeface="Calibri"/>
                <a:sym typeface="Calibri"/>
              </a:rPr>
              <a:t>· </a:t>
            </a:r>
            <a:r>
              <a:rPr b="0" i="0" lang="en-US" sz="700" u="none" cap="none" strike="noStrike">
                <a:solidFill>
                  <a:srgbClr val="39FF14"/>
                </a:solidFill>
                <a:latin typeface="Calibri"/>
                <a:ea typeface="Calibri"/>
                <a:cs typeface="Calibri"/>
                <a:sym typeface="Calibri"/>
              </a:rPr>
              <a:t>Amass </a:t>
            </a:r>
            <a:endParaRPr b="0" i="0" sz="700" u="none" cap="none" strike="noStrike">
              <a:solidFill>
                <a:srgbClr val="39FF14"/>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39FF14"/>
                </a:solidFill>
                <a:latin typeface="Calibri"/>
                <a:ea typeface="Calibri"/>
                <a:cs typeface="Calibri"/>
                <a:sym typeface="Calibri"/>
              </a:rPr>
              <a:t>· httpx </a:t>
            </a:r>
            <a:endParaRPr b="0" i="0" sz="700" u="none" cap="none" strike="noStrike">
              <a:solidFill>
                <a:srgbClr val="39FF14"/>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39FF14"/>
                </a:solidFill>
                <a:latin typeface="Calibri"/>
                <a:ea typeface="Calibri"/>
                <a:cs typeface="Calibri"/>
                <a:sym typeface="Calibri"/>
              </a:rPr>
              <a:t>· Nmap</a:t>
            </a:r>
            <a:endParaRPr b="0" i="0" sz="1400" u="none" cap="none" strike="noStrike">
              <a:solidFill>
                <a:srgbClr val="000000"/>
              </a:solidFill>
              <a:latin typeface="Arial"/>
              <a:ea typeface="Arial"/>
              <a:cs typeface="Arial"/>
              <a:sym typeface="Arial"/>
            </a:endParaRPr>
          </a:p>
        </p:txBody>
      </p:sp>
      <p:cxnSp>
        <p:nvCxnSpPr>
          <p:cNvPr id="393" name="Google Shape;393;p33"/>
          <p:cNvCxnSpPr/>
          <p:nvPr/>
        </p:nvCxnSpPr>
        <p:spPr>
          <a:xfrm>
            <a:off x="0" y="2130552"/>
            <a:ext cx="0" cy="2002536"/>
          </a:xfrm>
          <a:prstGeom prst="straightConnector1">
            <a:avLst/>
          </a:prstGeom>
          <a:noFill/>
          <a:ln cap="flat" cmpd="sng" w="9525">
            <a:solidFill>
              <a:srgbClr val="39FF14"/>
            </a:solidFill>
            <a:prstDash val="solid"/>
            <a:round/>
            <a:headEnd len="med" w="med" type="stealth"/>
            <a:tailEnd len="sm" w="sm" type="none"/>
          </a:ln>
          <a:effectLst>
            <a:outerShdw blurRad="40000" rotWithShape="0" dir="5400000" dist="20000">
              <a:srgbClr val="000000">
                <a:alpha val="38039"/>
              </a:srgbClr>
            </a:outerShdw>
          </a:effectLst>
        </p:spPr>
      </p:cxnSp>
      <p:cxnSp>
        <p:nvCxnSpPr>
          <p:cNvPr id="394" name="Google Shape;394;p33"/>
          <p:cNvCxnSpPr/>
          <p:nvPr/>
        </p:nvCxnSpPr>
        <p:spPr>
          <a:xfrm rot="10800000">
            <a:off x="0" y="3822192"/>
            <a:ext cx="0" cy="310896"/>
          </a:xfrm>
          <a:prstGeom prst="straightConnector1">
            <a:avLst/>
          </a:prstGeom>
          <a:noFill/>
          <a:ln cap="flat" cmpd="sng" w="9525">
            <a:solidFill>
              <a:srgbClr val="205028"/>
            </a:solidFill>
            <a:prstDash val="solid"/>
            <a:round/>
            <a:headEnd len="med" w="med" type="stealth"/>
            <a:tailEnd len="sm" w="sm" type="none"/>
          </a:ln>
          <a:effectLst>
            <a:outerShdw blurRad="40000" rotWithShape="0" dir="5400000" dist="20000">
              <a:srgbClr val="000000">
                <a:alpha val="38039"/>
              </a:srgbClr>
            </a:outerShdw>
          </a:effectLst>
        </p:spPr>
      </p:cxnSp>
      <p:sp>
        <p:nvSpPr>
          <p:cNvPr id="395" name="Google Shape;395;p33"/>
          <p:cNvSpPr/>
          <p:nvPr/>
        </p:nvSpPr>
        <p:spPr>
          <a:xfrm>
            <a:off x="1662684" y="4133088"/>
            <a:ext cx="1287780" cy="2404872"/>
          </a:xfrm>
          <a:prstGeom prst="rect">
            <a:avLst/>
          </a:prstGeom>
          <a:solidFill>
            <a:srgbClr val="0C0E22"/>
          </a:solidFill>
          <a:ln cap="flat" cmpd="sng" w="152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96" name="Google Shape;396;p33"/>
          <p:cNvSpPr/>
          <p:nvPr/>
        </p:nvSpPr>
        <p:spPr>
          <a:xfrm>
            <a:off x="1662684" y="4133088"/>
            <a:ext cx="1287780" cy="21945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97" name="Google Shape;397;p33"/>
          <p:cNvSpPr txBox="1"/>
          <p:nvPr/>
        </p:nvSpPr>
        <p:spPr>
          <a:xfrm>
            <a:off x="1662684" y="4151376"/>
            <a:ext cx="12877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Analysis</a:t>
            </a:r>
            <a:endParaRPr b="0" i="0" sz="1400" u="none" cap="none" strike="noStrike">
              <a:solidFill>
                <a:srgbClr val="000000"/>
              </a:solidFill>
              <a:latin typeface="Arial"/>
              <a:ea typeface="Arial"/>
              <a:cs typeface="Arial"/>
              <a:sym typeface="Arial"/>
            </a:endParaRPr>
          </a:p>
        </p:txBody>
      </p:sp>
      <p:sp>
        <p:nvSpPr>
          <p:cNvPr id="398" name="Google Shape;398;p33"/>
          <p:cNvSpPr txBox="1"/>
          <p:nvPr/>
        </p:nvSpPr>
        <p:spPr>
          <a:xfrm>
            <a:off x="1717548" y="4407408"/>
            <a:ext cx="11964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lang="en-US" sz="700">
                <a:solidFill>
                  <a:srgbClr val="00E5FF"/>
                </a:solidFill>
                <a:latin typeface="Calibri"/>
                <a:ea typeface="Calibri"/>
                <a:cs typeface="Calibri"/>
                <a:sym typeface="Calibri"/>
              </a:rPr>
              <a:t>· </a:t>
            </a:r>
            <a:r>
              <a:rPr b="0" i="0" lang="en-US" sz="700" u="none" cap="none" strike="noStrike">
                <a:solidFill>
                  <a:srgbClr val="00E5FF"/>
                </a:solidFill>
                <a:latin typeface="Calibri"/>
                <a:ea typeface="Calibri"/>
                <a:cs typeface="Calibri"/>
                <a:sym typeface="Calibri"/>
              </a:rPr>
              <a:t>WhatWeb</a:t>
            </a:r>
            <a:endParaRPr b="0" i="0" sz="700" u="none" cap="none" strike="noStrike">
              <a:solidFill>
                <a:srgbClr val="00E5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E5FF"/>
                </a:solidFill>
                <a:latin typeface="Calibri"/>
                <a:ea typeface="Calibri"/>
                <a:cs typeface="Calibri"/>
                <a:sym typeface="Calibri"/>
              </a:rPr>
              <a:t> · Gobuster </a:t>
            </a:r>
            <a:endParaRPr b="0" i="0" sz="700" u="none" cap="none" strike="noStrike">
              <a:solidFill>
                <a:srgbClr val="00E5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E5FF"/>
                </a:solidFill>
                <a:latin typeface="Calibri"/>
                <a:ea typeface="Calibri"/>
                <a:cs typeface="Calibri"/>
                <a:sym typeface="Calibri"/>
              </a:rPr>
              <a:t>· ffuf </a:t>
            </a:r>
            <a:endParaRPr b="0" i="0" sz="700" u="none" cap="none" strike="noStrike">
              <a:solidFill>
                <a:srgbClr val="00E5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E5FF"/>
                </a:solidFill>
                <a:latin typeface="Calibri"/>
                <a:ea typeface="Calibri"/>
                <a:cs typeface="Calibri"/>
                <a:sym typeface="Calibri"/>
              </a:rPr>
              <a:t>· Nuclei</a:t>
            </a:r>
            <a:endParaRPr b="0" i="0" sz="700" u="none" cap="none" strike="noStrike">
              <a:solidFill>
                <a:srgbClr val="00E5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E5FF"/>
                </a:solidFill>
                <a:latin typeface="Calibri"/>
                <a:ea typeface="Calibri"/>
                <a:cs typeface="Calibri"/>
                <a:sym typeface="Calibri"/>
              </a:rPr>
              <a:t> · ZAP</a:t>
            </a:r>
            <a:endParaRPr b="0" i="0" sz="1400" u="none" cap="none" strike="noStrike">
              <a:solidFill>
                <a:srgbClr val="000000"/>
              </a:solidFill>
              <a:latin typeface="Arial"/>
              <a:ea typeface="Arial"/>
              <a:cs typeface="Arial"/>
              <a:sym typeface="Arial"/>
            </a:endParaRPr>
          </a:p>
        </p:txBody>
      </p:sp>
      <p:cxnSp>
        <p:nvCxnSpPr>
          <p:cNvPr id="399" name="Google Shape;399;p33"/>
          <p:cNvCxnSpPr/>
          <p:nvPr/>
        </p:nvCxnSpPr>
        <p:spPr>
          <a:xfrm>
            <a:off x="0" y="2130552"/>
            <a:ext cx="0" cy="2002536"/>
          </a:xfrm>
          <a:prstGeom prst="straightConnector1">
            <a:avLst/>
          </a:prstGeom>
          <a:noFill/>
          <a:ln cap="flat" cmpd="sng" w="9525">
            <a:solidFill>
              <a:srgbClr val="00E5FF"/>
            </a:solidFill>
            <a:prstDash val="solid"/>
            <a:round/>
            <a:headEnd len="med" w="med" type="stealth"/>
            <a:tailEnd len="sm" w="sm" type="none"/>
          </a:ln>
          <a:effectLst>
            <a:outerShdw blurRad="40000" rotWithShape="0" dir="5400000" dist="20000">
              <a:srgbClr val="000000">
                <a:alpha val="38039"/>
              </a:srgbClr>
            </a:outerShdw>
          </a:effectLst>
        </p:spPr>
      </p:cxnSp>
      <p:cxnSp>
        <p:nvCxnSpPr>
          <p:cNvPr id="400" name="Google Shape;400;p33"/>
          <p:cNvCxnSpPr/>
          <p:nvPr/>
        </p:nvCxnSpPr>
        <p:spPr>
          <a:xfrm rot="10800000">
            <a:off x="0" y="3822192"/>
            <a:ext cx="0" cy="310896"/>
          </a:xfrm>
          <a:prstGeom prst="straightConnector1">
            <a:avLst/>
          </a:prstGeom>
          <a:noFill/>
          <a:ln cap="flat" cmpd="sng" w="9525">
            <a:solidFill>
              <a:srgbClr val="205028"/>
            </a:solidFill>
            <a:prstDash val="solid"/>
            <a:round/>
            <a:headEnd len="med" w="med" type="stealth"/>
            <a:tailEnd len="sm" w="sm" type="none"/>
          </a:ln>
          <a:effectLst>
            <a:outerShdw blurRad="40000" rotWithShape="0" dir="5400000" dist="20000">
              <a:srgbClr val="000000">
                <a:alpha val="38039"/>
              </a:srgbClr>
            </a:outerShdw>
          </a:effectLst>
        </p:spPr>
      </p:cxnSp>
      <p:sp>
        <p:nvSpPr>
          <p:cNvPr id="401" name="Google Shape;401;p33"/>
          <p:cNvSpPr/>
          <p:nvPr/>
        </p:nvSpPr>
        <p:spPr>
          <a:xfrm>
            <a:off x="3005328" y="4133088"/>
            <a:ext cx="1287780" cy="2404872"/>
          </a:xfrm>
          <a:prstGeom prst="rect">
            <a:avLst/>
          </a:prstGeom>
          <a:solidFill>
            <a:srgbClr val="0C0E22"/>
          </a:solidFill>
          <a:ln cap="flat" cmpd="sng" w="152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2" name="Google Shape;402;p33"/>
          <p:cNvSpPr/>
          <p:nvPr/>
        </p:nvSpPr>
        <p:spPr>
          <a:xfrm>
            <a:off x="3005328" y="4133088"/>
            <a:ext cx="1287780" cy="219456"/>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3" name="Google Shape;403;p33"/>
          <p:cNvSpPr txBox="1"/>
          <p:nvPr/>
        </p:nvSpPr>
        <p:spPr>
          <a:xfrm>
            <a:off x="3005328" y="4151376"/>
            <a:ext cx="12877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Research</a:t>
            </a:r>
            <a:endParaRPr b="0" i="0" sz="1400" u="none" cap="none" strike="noStrike">
              <a:solidFill>
                <a:srgbClr val="000000"/>
              </a:solidFill>
              <a:latin typeface="Arial"/>
              <a:ea typeface="Arial"/>
              <a:cs typeface="Arial"/>
              <a:sym typeface="Arial"/>
            </a:endParaRPr>
          </a:p>
        </p:txBody>
      </p:sp>
      <p:sp>
        <p:nvSpPr>
          <p:cNvPr id="404" name="Google Shape;404;p33"/>
          <p:cNvSpPr txBox="1"/>
          <p:nvPr/>
        </p:nvSpPr>
        <p:spPr>
          <a:xfrm>
            <a:off x="3060192" y="4407408"/>
            <a:ext cx="11964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lang="en-US" sz="700">
                <a:solidFill>
                  <a:srgbClr val="FFD700"/>
                </a:solidFill>
                <a:latin typeface="Calibri"/>
                <a:ea typeface="Calibri"/>
                <a:cs typeface="Calibri"/>
                <a:sym typeface="Calibri"/>
              </a:rPr>
              <a:t>· </a:t>
            </a:r>
            <a:r>
              <a:rPr b="0" i="0" lang="en-US" sz="700" u="none" cap="none" strike="noStrike">
                <a:solidFill>
                  <a:srgbClr val="FFD700"/>
                </a:solidFill>
                <a:latin typeface="Calibri"/>
                <a:ea typeface="Calibri"/>
                <a:cs typeface="Calibri"/>
                <a:sym typeface="Calibri"/>
              </a:rPr>
              <a:t>NVD</a:t>
            </a:r>
            <a:endParaRPr b="0" i="0" sz="700" u="none" cap="none" strike="noStrike">
              <a:solidFill>
                <a:srgbClr val="FFD7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FFD700"/>
                </a:solidFill>
                <a:latin typeface="Calibri"/>
                <a:ea typeface="Calibri"/>
                <a:cs typeface="Calibri"/>
                <a:sym typeface="Calibri"/>
              </a:rPr>
              <a:t>· Exploit-DB </a:t>
            </a:r>
            <a:endParaRPr b="0" i="0" sz="700" u="none" cap="none" strike="noStrike">
              <a:solidFill>
                <a:srgbClr val="FFD7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FFD700"/>
                </a:solidFill>
                <a:latin typeface="Calibri"/>
                <a:ea typeface="Calibri"/>
                <a:cs typeface="Calibri"/>
                <a:sym typeface="Calibri"/>
              </a:rPr>
              <a:t>· GitHub</a:t>
            </a:r>
            <a:endParaRPr b="0" i="0" sz="1400" u="none" cap="none" strike="noStrike">
              <a:solidFill>
                <a:srgbClr val="000000"/>
              </a:solidFill>
              <a:latin typeface="Arial"/>
              <a:ea typeface="Arial"/>
              <a:cs typeface="Arial"/>
              <a:sym typeface="Arial"/>
            </a:endParaRPr>
          </a:p>
        </p:txBody>
      </p:sp>
      <p:cxnSp>
        <p:nvCxnSpPr>
          <p:cNvPr id="405" name="Google Shape;405;p33"/>
          <p:cNvCxnSpPr/>
          <p:nvPr/>
        </p:nvCxnSpPr>
        <p:spPr>
          <a:xfrm>
            <a:off x="0" y="2130552"/>
            <a:ext cx="0" cy="2002536"/>
          </a:xfrm>
          <a:prstGeom prst="straightConnector1">
            <a:avLst/>
          </a:prstGeom>
          <a:noFill/>
          <a:ln cap="flat" cmpd="sng" w="9525">
            <a:solidFill>
              <a:srgbClr val="FFD700"/>
            </a:solidFill>
            <a:prstDash val="solid"/>
            <a:round/>
            <a:headEnd len="med" w="med" type="stealth"/>
            <a:tailEnd len="sm" w="sm" type="none"/>
          </a:ln>
          <a:effectLst>
            <a:outerShdw blurRad="40000" rotWithShape="0" dir="5400000" dist="20000">
              <a:srgbClr val="000000">
                <a:alpha val="38039"/>
              </a:srgbClr>
            </a:outerShdw>
          </a:effectLst>
        </p:spPr>
      </p:cxnSp>
      <p:cxnSp>
        <p:nvCxnSpPr>
          <p:cNvPr id="406" name="Google Shape;406;p33"/>
          <p:cNvCxnSpPr/>
          <p:nvPr/>
        </p:nvCxnSpPr>
        <p:spPr>
          <a:xfrm rot="10800000">
            <a:off x="0" y="3822192"/>
            <a:ext cx="0" cy="310896"/>
          </a:xfrm>
          <a:prstGeom prst="straightConnector1">
            <a:avLst/>
          </a:prstGeom>
          <a:noFill/>
          <a:ln cap="flat" cmpd="sng" w="9525">
            <a:solidFill>
              <a:srgbClr val="205028"/>
            </a:solidFill>
            <a:prstDash val="solid"/>
            <a:round/>
            <a:headEnd len="med" w="med" type="stealth"/>
            <a:tailEnd len="sm" w="sm" type="none"/>
          </a:ln>
          <a:effectLst>
            <a:outerShdw blurRad="40000" rotWithShape="0" dir="5400000" dist="20000">
              <a:srgbClr val="000000">
                <a:alpha val="38039"/>
              </a:srgbClr>
            </a:outerShdw>
          </a:effectLst>
        </p:spPr>
      </p:cxnSp>
      <p:sp>
        <p:nvSpPr>
          <p:cNvPr id="407" name="Google Shape;407;p33"/>
          <p:cNvSpPr/>
          <p:nvPr/>
        </p:nvSpPr>
        <p:spPr>
          <a:xfrm>
            <a:off x="4347972" y="4133088"/>
            <a:ext cx="1287780" cy="2404872"/>
          </a:xfrm>
          <a:prstGeom prst="rect">
            <a:avLst/>
          </a:prstGeom>
          <a:solidFill>
            <a:srgbClr val="0C0E22"/>
          </a:solidFill>
          <a:ln cap="flat" cmpd="sng" w="152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8" name="Google Shape;408;p33"/>
          <p:cNvSpPr/>
          <p:nvPr/>
        </p:nvSpPr>
        <p:spPr>
          <a:xfrm>
            <a:off x="4347972" y="4133088"/>
            <a:ext cx="1287780" cy="219456"/>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9" name="Google Shape;409;p33"/>
          <p:cNvSpPr txBox="1"/>
          <p:nvPr/>
        </p:nvSpPr>
        <p:spPr>
          <a:xfrm>
            <a:off x="4347972" y="4151376"/>
            <a:ext cx="12877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Validation</a:t>
            </a:r>
            <a:endParaRPr b="0" i="0" sz="1400" u="none" cap="none" strike="noStrike">
              <a:solidFill>
                <a:srgbClr val="000000"/>
              </a:solidFill>
              <a:latin typeface="Arial"/>
              <a:ea typeface="Arial"/>
              <a:cs typeface="Arial"/>
              <a:sym typeface="Arial"/>
            </a:endParaRPr>
          </a:p>
        </p:txBody>
      </p:sp>
      <p:sp>
        <p:nvSpPr>
          <p:cNvPr id="410" name="Google Shape;410;p33"/>
          <p:cNvSpPr txBox="1"/>
          <p:nvPr/>
        </p:nvSpPr>
        <p:spPr>
          <a:xfrm>
            <a:off x="4402836" y="4407408"/>
            <a:ext cx="11964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lang="en-US" sz="700">
                <a:solidFill>
                  <a:srgbClr val="FF4545"/>
                </a:solidFill>
                <a:latin typeface="Calibri"/>
                <a:ea typeface="Calibri"/>
                <a:cs typeface="Calibri"/>
                <a:sym typeface="Calibri"/>
              </a:rPr>
              <a:t>· </a:t>
            </a:r>
            <a:r>
              <a:rPr b="0" i="0" lang="en-US" sz="700" u="none" cap="none" strike="noStrike">
                <a:solidFill>
                  <a:srgbClr val="FF4545"/>
                </a:solidFill>
                <a:latin typeface="Calibri"/>
                <a:ea typeface="Calibri"/>
                <a:cs typeface="Calibri"/>
                <a:sym typeface="Calibri"/>
              </a:rPr>
              <a:t>SQLMap</a:t>
            </a:r>
            <a:endParaRPr b="0" i="0" sz="700" u="none" cap="none" strike="noStrike">
              <a:solidFill>
                <a:srgbClr val="FF4545"/>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FF4545"/>
                </a:solidFill>
                <a:latin typeface="Calibri"/>
                <a:ea typeface="Calibri"/>
                <a:cs typeface="Calibri"/>
                <a:sym typeface="Calibri"/>
              </a:rPr>
              <a:t> · Metasploit</a:t>
            </a:r>
            <a:endParaRPr b="0" i="0" sz="1400" u="none" cap="none" strike="noStrike">
              <a:solidFill>
                <a:srgbClr val="000000"/>
              </a:solidFill>
              <a:latin typeface="Arial"/>
              <a:ea typeface="Arial"/>
              <a:cs typeface="Arial"/>
              <a:sym typeface="Arial"/>
            </a:endParaRPr>
          </a:p>
        </p:txBody>
      </p:sp>
      <p:cxnSp>
        <p:nvCxnSpPr>
          <p:cNvPr id="411" name="Google Shape;411;p33"/>
          <p:cNvCxnSpPr/>
          <p:nvPr/>
        </p:nvCxnSpPr>
        <p:spPr>
          <a:xfrm>
            <a:off x="0" y="2130552"/>
            <a:ext cx="0" cy="2002536"/>
          </a:xfrm>
          <a:prstGeom prst="straightConnector1">
            <a:avLst/>
          </a:prstGeom>
          <a:noFill/>
          <a:ln cap="flat" cmpd="sng" w="9525">
            <a:solidFill>
              <a:srgbClr val="FF4545"/>
            </a:solidFill>
            <a:prstDash val="solid"/>
            <a:round/>
            <a:headEnd len="med" w="med" type="stealth"/>
            <a:tailEnd len="sm" w="sm" type="none"/>
          </a:ln>
          <a:effectLst>
            <a:outerShdw blurRad="40000" rotWithShape="0" dir="5400000" dist="20000">
              <a:srgbClr val="000000">
                <a:alpha val="38039"/>
              </a:srgbClr>
            </a:outerShdw>
          </a:effectLst>
        </p:spPr>
      </p:cxnSp>
      <p:cxnSp>
        <p:nvCxnSpPr>
          <p:cNvPr id="412" name="Google Shape;412;p33"/>
          <p:cNvCxnSpPr/>
          <p:nvPr/>
        </p:nvCxnSpPr>
        <p:spPr>
          <a:xfrm rot="10800000">
            <a:off x="0" y="3822192"/>
            <a:ext cx="0" cy="310896"/>
          </a:xfrm>
          <a:prstGeom prst="straightConnector1">
            <a:avLst/>
          </a:prstGeom>
          <a:noFill/>
          <a:ln cap="flat" cmpd="sng" w="9525">
            <a:solidFill>
              <a:srgbClr val="205028"/>
            </a:solidFill>
            <a:prstDash val="solid"/>
            <a:round/>
            <a:headEnd len="med" w="med" type="stealth"/>
            <a:tailEnd len="sm" w="sm" type="none"/>
          </a:ln>
          <a:effectLst>
            <a:outerShdw blurRad="40000" rotWithShape="0" dir="5400000" dist="20000">
              <a:srgbClr val="000000">
                <a:alpha val="38039"/>
              </a:srgbClr>
            </a:outerShdw>
          </a:effectLst>
        </p:spPr>
      </p:cxnSp>
      <p:sp>
        <p:nvSpPr>
          <p:cNvPr id="413" name="Google Shape;413;p33"/>
          <p:cNvSpPr/>
          <p:nvPr/>
        </p:nvSpPr>
        <p:spPr>
          <a:xfrm>
            <a:off x="5690616" y="4133088"/>
            <a:ext cx="1287780" cy="2404872"/>
          </a:xfrm>
          <a:prstGeom prst="rect">
            <a:avLst/>
          </a:prstGeom>
          <a:solidFill>
            <a:srgbClr val="0C0E22"/>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4" name="Google Shape;414;p33"/>
          <p:cNvSpPr/>
          <p:nvPr/>
        </p:nvSpPr>
        <p:spPr>
          <a:xfrm>
            <a:off x="5690616" y="4133088"/>
            <a:ext cx="1287780" cy="219456"/>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5" name="Google Shape;415;p33"/>
          <p:cNvSpPr txBox="1"/>
          <p:nvPr/>
        </p:nvSpPr>
        <p:spPr>
          <a:xfrm>
            <a:off x="5690616" y="4151376"/>
            <a:ext cx="12877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Evidence</a:t>
            </a:r>
            <a:endParaRPr b="0" i="0" sz="1400" u="none" cap="none" strike="noStrike">
              <a:solidFill>
                <a:srgbClr val="000000"/>
              </a:solidFill>
              <a:latin typeface="Arial"/>
              <a:ea typeface="Arial"/>
              <a:cs typeface="Arial"/>
              <a:sym typeface="Arial"/>
            </a:endParaRPr>
          </a:p>
        </p:txBody>
      </p:sp>
      <p:sp>
        <p:nvSpPr>
          <p:cNvPr id="416" name="Google Shape;416;p33"/>
          <p:cNvSpPr txBox="1"/>
          <p:nvPr/>
        </p:nvSpPr>
        <p:spPr>
          <a:xfrm>
            <a:off x="5745480" y="4407408"/>
            <a:ext cx="1196340" cy="2130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BD93F9"/>
                </a:solidFill>
                <a:latin typeface="Calibri"/>
                <a:ea typeface="Calibri"/>
                <a:cs typeface="Calibri"/>
                <a:sym typeface="Calibri"/>
              </a:rPr>
              <a:t>EyeWitness</a:t>
            </a:r>
            <a:endParaRPr b="0" i="0" sz="1400" u="none" cap="none" strike="noStrike">
              <a:solidFill>
                <a:srgbClr val="000000"/>
              </a:solidFill>
              <a:latin typeface="Arial"/>
              <a:ea typeface="Arial"/>
              <a:cs typeface="Arial"/>
              <a:sym typeface="Arial"/>
            </a:endParaRPr>
          </a:p>
        </p:txBody>
      </p:sp>
      <p:cxnSp>
        <p:nvCxnSpPr>
          <p:cNvPr id="417" name="Google Shape;417;p33"/>
          <p:cNvCxnSpPr/>
          <p:nvPr/>
        </p:nvCxnSpPr>
        <p:spPr>
          <a:xfrm>
            <a:off x="0" y="2130552"/>
            <a:ext cx="0" cy="2002536"/>
          </a:xfrm>
          <a:prstGeom prst="straightConnector1">
            <a:avLst/>
          </a:prstGeom>
          <a:noFill/>
          <a:ln cap="flat" cmpd="sng" w="9525">
            <a:solidFill>
              <a:srgbClr val="BD93F9"/>
            </a:solidFill>
            <a:prstDash val="solid"/>
            <a:round/>
            <a:headEnd len="med" w="med" type="stealth"/>
            <a:tailEnd len="sm" w="sm" type="none"/>
          </a:ln>
          <a:effectLst>
            <a:outerShdw blurRad="40000" rotWithShape="0" dir="5400000" dist="20000">
              <a:srgbClr val="000000">
                <a:alpha val="38039"/>
              </a:srgbClr>
            </a:outerShdw>
          </a:effectLst>
        </p:spPr>
      </p:cxnSp>
      <p:cxnSp>
        <p:nvCxnSpPr>
          <p:cNvPr id="418" name="Google Shape;418;p33"/>
          <p:cNvCxnSpPr/>
          <p:nvPr/>
        </p:nvCxnSpPr>
        <p:spPr>
          <a:xfrm rot="10800000">
            <a:off x="0" y="3822192"/>
            <a:ext cx="0" cy="310896"/>
          </a:xfrm>
          <a:prstGeom prst="straightConnector1">
            <a:avLst/>
          </a:prstGeom>
          <a:noFill/>
          <a:ln cap="flat" cmpd="sng" w="9525">
            <a:solidFill>
              <a:srgbClr val="205028"/>
            </a:solidFill>
            <a:prstDash val="solid"/>
            <a:round/>
            <a:headEnd len="med" w="med" type="stealth"/>
            <a:tailEnd len="sm" w="sm" type="none"/>
          </a:ln>
          <a:effectLst>
            <a:outerShdw blurRad="40000" rotWithShape="0" dir="5400000" dist="20000">
              <a:srgbClr val="000000">
                <a:alpha val="38039"/>
              </a:srgbClr>
            </a:outerShdw>
          </a:effectLst>
        </p:spPr>
      </p:cxnSp>
      <p:sp>
        <p:nvSpPr>
          <p:cNvPr id="419" name="Google Shape;419;p33"/>
          <p:cNvSpPr/>
          <p:nvPr/>
        </p:nvSpPr>
        <p:spPr>
          <a:xfrm>
            <a:off x="7033260" y="4133088"/>
            <a:ext cx="1287780" cy="2404872"/>
          </a:xfrm>
          <a:prstGeom prst="rect">
            <a:avLst/>
          </a:prstGeom>
          <a:solidFill>
            <a:srgbClr val="0C0E22"/>
          </a:solidFill>
          <a:ln cap="flat" cmpd="sng" w="15225">
            <a:solidFill>
              <a:srgbClr val="A0AA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0" name="Google Shape;420;p33"/>
          <p:cNvSpPr/>
          <p:nvPr/>
        </p:nvSpPr>
        <p:spPr>
          <a:xfrm>
            <a:off x="7033260" y="4133088"/>
            <a:ext cx="1287780" cy="219456"/>
          </a:xfrm>
          <a:prstGeom prst="rect">
            <a:avLst/>
          </a:prstGeom>
          <a:solidFill>
            <a:srgbClr val="A0AAB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1" name="Google Shape;421;p33"/>
          <p:cNvSpPr txBox="1"/>
          <p:nvPr/>
        </p:nvSpPr>
        <p:spPr>
          <a:xfrm>
            <a:off x="7033260" y="4151376"/>
            <a:ext cx="1287780"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Report</a:t>
            </a:r>
            <a:endParaRPr b="0" i="0" sz="1400" u="none" cap="none" strike="noStrike">
              <a:solidFill>
                <a:srgbClr val="000000"/>
              </a:solidFill>
              <a:latin typeface="Arial"/>
              <a:ea typeface="Arial"/>
              <a:cs typeface="Arial"/>
              <a:sym typeface="Arial"/>
            </a:endParaRPr>
          </a:p>
        </p:txBody>
      </p:sp>
      <p:sp>
        <p:nvSpPr>
          <p:cNvPr id="422" name="Google Shape;422;p33"/>
          <p:cNvSpPr txBox="1"/>
          <p:nvPr/>
        </p:nvSpPr>
        <p:spPr>
          <a:xfrm>
            <a:off x="7088124" y="4407408"/>
            <a:ext cx="1196340" cy="2130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A0AAB8"/>
                </a:solidFill>
                <a:latin typeface="Calibri"/>
                <a:ea typeface="Calibri"/>
                <a:cs typeface="Calibri"/>
                <a:sym typeface="Calibri"/>
              </a:rPr>
              <a:t>Reads ASG + APG</a:t>
            </a:r>
            <a:endParaRPr b="0" i="0" sz="1400" u="none" cap="none" strike="noStrike">
              <a:solidFill>
                <a:srgbClr val="000000"/>
              </a:solidFill>
              <a:latin typeface="Arial"/>
              <a:ea typeface="Arial"/>
              <a:cs typeface="Arial"/>
              <a:sym typeface="Arial"/>
            </a:endParaRPr>
          </a:p>
        </p:txBody>
      </p:sp>
      <p:cxnSp>
        <p:nvCxnSpPr>
          <p:cNvPr id="423" name="Google Shape;423;p33"/>
          <p:cNvCxnSpPr/>
          <p:nvPr/>
        </p:nvCxnSpPr>
        <p:spPr>
          <a:xfrm>
            <a:off x="0" y="2130552"/>
            <a:ext cx="0" cy="2002536"/>
          </a:xfrm>
          <a:prstGeom prst="straightConnector1">
            <a:avLst/>
          </a:prstGeom>
          <a:noFill/>
          <a:ln cap="flat" cmpd="sng" w="9525">
            <a:solidFill>
              <a:srgbClr val="A0AAB8"/>
            </a:solidFill>
            <a:prstDash val="solid"/>
            <a:round/>
            <a:headEnd len="med" w="med" type="stealth"/>
            <a:tailEnd len="sm" w="sm" type="none"/>
          </a:ln>
          <a:effectLst>
            <a:outerShdw blurRad="40000" rotWithShape="0" dir="5400000" dist="20000">
              <a:srgbClr val="000000">
                <a:alpha val="38039"/>
              </a:srgbClr>
            </a:outerShdw>
          </a:effectLst>
        </p:spPr>
      </p:cxnSp>
      <p:sp>
        <p:nvSpPr>
          <p:cNvPr id="424" name="Google Shape;424;p33"/>
          <p:cNvSpPr/>
          <p:nvPr/>
        </p:nvSpPr>
        <p:spPr>
          <a:xfrm>
            <a:off x="8538375" y="4133100"/>
            <a:ext cx="3452100" cy="2404800"/>
          </a:xfrm>
          <a:prstGeom prst="rect">
            <a:avLst/>
          </a:prstGeom>
          <a:solidFill>
            <a:srgbClr val="0A081E"/>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5" name="Google Shape;425;p33"/>
          <p:cNvSpPr/>
          <p:nvPr/>
        </p:nvSpPr>
        <p:spPr>
          <a:xfrm>
            <a:off x="8538425" y="4133100"/>
            <a:ext cx="3452100" cy="2376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6" name="Google Shape;426;p33"/>
          <p:cNvSpPr txBox="1"/>
          <p:nvPr/>
        </p:nvSpPr>
        <p:spPr>
          <a:xfrm>
            <a:off x="9284025" y="4160525"/>
            <a:ext cx="20163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TOOL ADAPTER LAYER</a:t>
            </a:r>
            <a:endParaRPr b="0" i="0" sz="1400" u="none" cap="none" strike="noStrike">
              <a:solidFill>
                <a:srgbClr val="000000"/>
              </a:solidFill>
              <a:latin typeface="Arial"/>
              <a:ea typeface="Arial"/>
              <a:cs typeface="Arial"/>
              <a:sym typeface="Arial"/>
            </a:endParaRPr>
          </a:p>
        </p:txBody>
      </p:sp>
      <p:sp>
        <p:nvSpPr>
          <p:cNvPr id="427" name="Google Shape;427;p33"/>
          <p:cNvSpPr/>
          <p:nvPr/>
        </p:nvSpPr>
        <p:spPr>
          <a:xfrm>
            <a:off x="8732520" y="4407408"/>
            <a:ext cx="3166567" cy="649224"/>
          </a:xfrm>
          <a:prstGeom prst="rect">
            <a:avLst/>
          </a:prstGeom>
          <a:solidFill>
            <a:srgbClr val="100C24"/>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8" name="Google Shape;428;p33"/>
          <p:cNvSpPr/>
          <p:nvPr/>
        </p:nvSpPr>
        <p:spPr>
          <a:xfrm>
            <a:off x="8571269" y="4407400"/>
            <a:ext cx="457500" cy="6492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9" name="Google Shape;429;p33"/>
          <p:cNvSpPr txBox="1"/>
          <p:nvPr/>
        </p:nvSpPr>
        <p:spPr>
          <a:xfrm>
            <a:off x="8597800" y="4631963"/>
            <a:ext cx="4575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0A0D1A"/>
                </a:solidFill>
                <a:latin typeface="Calibri"/>
                <a:ea typeface="Calibri"/>
                <a:cs typeface="Calibri"/>
                <a:sym typeface="Calibri"/>
              </a:rPr>
              <a:t>LOW</a:t>
            </a:r>
            <a:endParaRPr b="0" i="0" sz="1400" u="none" cap="none" strike="noStrike">
              <a:solidFill>
                <a:srgbClr val="000000"/>
              </a:solidFill>
              <a:latin typeface="Arial"/>
              <a:ea typeface="Arial"/>
              <a:cs typeface="Arial"/>
              <a:sym typeface="Arial"/>
            </a:endParaRPr>
          </a:p>
        </p:txBody>
      </p:sp>
      <p:sp>
        <p:nvSpPr>
          <p:cNvPr id="430" name="Google Shape;430;p33"/>
          <p:cNvSpPr txBox="1"/>
          <p:nvPr/>
        </p:nvSpPr>
        <p:spPr>
          <a:xfrm>
            <a:off x="9116568" y="4503409"/>
            <a:ext cx="2755200" cy="20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Passive</a:t>
            </a:r>
            <a:endParaRPr b="0" i="0" sz="1400" u="none" cap="none" strike="noStrike">
              <a:solidFill>
                <a:srgbClr val="000000"/>
              </a:solidFill>
              <a:latin typeface="Arial"/>
              <a:ea typeface="Arial"/>
              <a:cs typeface="Arial"/>
              <a:sym typeface="Arial"/>
            </a:endParaRPr>
          </a:p>
        </p:txBody>
      </p:sp>
      <p:sp>
        <p:nvSpPr>
          <p:cNvPr id="431" name="Google Shape;431;p33"/>
          <p:cNvSpPr txBox="1"/>
          <p:nvPr/>
        </p:nvSpPr>
        <p:spPr>
          <a:xfrm>
            <a:off x="9116568" y="4686289"/>
            <a:ext cx="2755200" cy="2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Execute immediately</a:t>
            </a:r>
            <a:endParaRPr b="0" i="0" sz="1400" u="none" cap="none" strike="noStrike">
              <a:solidFill>
                <a:srgbClr val="000000"/>
              </a:solidFill>
              <a:latin typeface="Arial"/>
              <a:ea typeface="Arial"/>
              <a:cs typeface="Arial"/>
              <a:sym typeface="Arial"/>
            </a:endParaRPr>
          </a:p>
        </p:txBody>
      </p:sp>
      <p:sp>
        <p:nvSpPr>
          <p:cNvPr id="432" name="Google Shape;432;p33"/>
          <p:cNvSpPr/>
          <p:nvPr/>
        </p:nvSpPr>
        <p:spPr>
          <a:xfrm>
            <a:off x="8732520" y="5111496"/>
            <a:ext cx="3166567" cy="649224"/>
          </a:xfrm>
          <a:prstGeom prst="rect">
            <a:avLst/>
          </a:prstGeom>
          <a:solidFill>
            <a:srgbClr val="100C24"/>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3" name="Google Shape;433;p33"/>
          <p:cNvSpPr/>
          <p:nvPr/>
        </p:nvSpPr>
        <p:spPr>
          <a:xfrm>
            <a:off x="8571269" y="5111500"/>
            <a:ext cx="457500" cy="6492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4" name="Google Shape;434;p33"/>
          <p:cNvSpPr txBox="1"/>
          <p:nvPr/>
        </p:nvSpPr>
        <p:spPr>
          <a:xfrm>
            <a:off x="8546703" y="5336043"/>
            <a:ext cx="5088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0A0D1A"/>
                </a:solidFill>
                <a:latin typeface="Calibri"/>
                <a:ea typeface="Calibri"/>
                <a:cs typeface="Calibri"/>
                <a:sym typeface="Calibri"/>
              </a:rPr>
              <a:t>MED</a:t>
            </a:r>
            <a:endParaRPr b="0" i="0" sz="1400" u="none" cap="none" strike="noStrike">
              <a:solidFill>
                <a:srgbClr val="000000"/>
              </a:solidFill>
              <a:latin typeface="Arial"/>
              <a:ea typeface="Arial"/>
              <a:cs typeface="Arial"/>
              <a:sym typeface="Arial"/>
            </a:endParaRPr>
          </a:p>
        </p:txBody>
      </p:sp>
      <p:sp>
        <p:nvSpPr>
          <p:cNvPr id="435" name="Google Shape;435;p33"/>
          <p:cNvSpPr txBox="1"/>
          <p:nvPr/>
        </p:nvSpPr>
        <p:spPr>
          <a:xfrm>
            <a:off x="9116568" y="5129784"/>
            <a:ext cx="2755087"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FFD700"/>
                </a:solidFill>
                <a:latin typeface="Calibri"/>
                <a:ea typeface="Calibri"/>
                <a:cs typeface="Calibri"/>
                <a:sym typeface="Calibri"/>
              </a:rPr>
              <a:t>Active</a:t>
            </a:r>
            <a:endParaRPr b="0" i="0" sz="1400" u="none" cap="none" strike="noStrike">
              <a:solidFill>
                <a:srgbClr val="000000"/>
              </a:solidFill>
              <a:latin typeface="Arial"/>
              <a:ea typeface="Arial"/>
              <a:cs typeface="Arial"/>
              <a:sym typeface="Arial"/>
            </a:endParaRPr>
          </a:p>
        </p:txBody>
      </p:sp>
      <p:sp>
        <p:nvSpPr>
          <p:cNvPr id="436" name="Google Shape;436;p33"/>
          <p:cNvSpPr txBox="1"/>
          <p:nvPr/>
        </p:nvSpPr>
        <p:spPr>
          <a:xfrm>
            <a:off x="9116568" y="5390377"/>
            <a:ext cx="2755200" cy="2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LLM Classifier → exec/escalate</a:t>
            </a:r>
            <a:endParaRPr b="0" i="0" sz="1400" u="none" cap="none" strike="noStrike">
              <a:solidFill>
                <a:srgbClr val="000000"/>
              </a:solidFill>
              <a:latin typeface="Arial"/>
              <a:ea typeface="Arial"/>
              <a:cs typeface="Arial"/>
              <a:sym typeface="Arial"/>
            </a:endParaRPr>
          </a:p>
        </p:txBody>
      </p:sp>
      <p:sp>
        <p:nvSpPr>
          <p:cNvPr id="437" name="Google Shape;437;p33"/>
          <p:cNvSpPr/>
          <p:nvPr/>
        </p:nvSpPr>
        <p:spPr>
          <a:xfrm>
            <a:off x="8732520" y="5815584"/>
            <a:ext cx="3166567" cy="649224"/>
          </a:xfrm>
          <a:prstGeom prst="rect">
            <a:avLst/>
          </a:prstGeom>
          <a:solidFill>
            <a:srgbClr val="100C24"/>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8" name="Google Shape;438;p33"/>
          <p:cNvSpPr/>
          <p:nvPr/>
        </p:nvSpPr>
        <p:spPr>
          <a:xfrm>
            <a:off x="8571200" y="5815575"/>
            <a:ext cx="457500" cy="6492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9" name="Google Shape;439;p33"/>
          <p:cNvSpPr txBox="1"/>
          <p:nvPr/>
        </p:nvSpPr>
        <p:spPr>
          <a:xfrm>
            <a:off x="8546703" y="6040136"/>
            <a:ext cx="5088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0A0D1A"/>
                </a:solidFill>
                <a:latin typeface="Calibri"/>
                <a:ea typeface="Calibri"/>
                <a:cs typeface="Calibri"/>
                <a:sym typeface="Calibri"/>
              </a:rPr>
              <a:t>HIGH</a:t>
            </a:r>
            <a:endParaRPr b="0" i="0" sz="1400" u="none" cap="none" strike="noStrike">
              <a:solidFill>
                <a:srgbClr val="000000"/>
              </a:solidFill>
              <a:latin typeface="Arial"/>
              <a:ea typeface="Arial"/>
              <a:cs typeface="Arial"/>
              <a:sym typeface="Arial"/>
            </a:endParaRPr>
          </a:p>
        </p:txBody>
      </p:sp>
      <p:sp>
        <p:nvSpPr>
          <p:cNvPr id="440" name="Google Shape;440;p33"/>
          <p:cNvSpPr txBox="1"/>
          <p:nvPr/>
        </p:nvSpPr>
        <p:spPr>
          <a:xfrm>
            <a:off x="9116568" y="5833872"/>
            <a:ext cx="2755087" cy="182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FF4545"/>
                </a:solidFill>
                <a:latin typeface="Calibri"/>
                <a:ea typeface="Calibri"/>
                <a:cs typeface="Calibri"/>
                <a:sym typeface="Calibri"/>
              </a:rPr>
              <a:t>Exploit</a:t>
            </a:r>
            <a:endParaRPr b="0" i="0" sz="1400" u="none" cap="none" strike="noStrike">
              <a:solidFill>
                <a:srgbClr val="000000"/>
              </a:solidFill>
              <a:latin typeface="Arial"/>
              <a:ea typeface="Arial"/>
              <a:cs typeface="Arial"/>
              <a:sym typeface="Arial"/>
            </a:endParaRPr>
          </a:p>
        </p:txBody>
      </p:sp>
      <p:sp>
        <p:nvSpPr>
          <p:cNvPr id="441" name="Google Shape;441;p33"/>
          <p:cNvSpPr txBox="1"/>
          <p:nvPr/>
        </p:nvSpPr>
        <p:spPr>
          <a:xfrm>
            <a:off x="9116568" y="6094465"/>
            <a:ext cx="2755200" cy="2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1" lang="en-US" sz="700" u="none" cap="none" strike="noStrike">
                <a:solidFill>
                  <a:srgbClr val="A0AAB8"/>
                </a:solidFill>
                <a:latin typeface="Calibri"/>
                <a:ea typeface="Calibri"/>
                <a:cs typeface="Calibri"/>
                <a:sym typeface="Calibri"/>
              </a:rPr>
              <a:t>Commander Mailbox approval</a:t>
            </a:r>
            <a:endParaRPr b="0" i="0" sz="1400" u="none" cap="none" strike="noStrike">
              <a:solidFill>
                <a:srgbClr val="000000"/>
              </a:solidFill>
              <a:latin typeface="Arial"/>
              <a:ea typeface="Arial"/>
              <a:cs typeface="Arial"/>
              <a:sym typeface="Arial"/>
            </a:endParaRPr>
          </a:p>
        </p:txBody>
      </p:sp>
      <p:sp>
        <p:nvSpPr>
          <p:cNvPr id="442" name="Google Shape;442;p33"/>
          <p:cNvSpPr txBox="1"/>
          <p:nvPr/>
        </p:nvSpPr>
        <p:spPr>
          <a:xfrm>
            <a:off x="11622735" y="61539"/>
            <a:ext cx="508725" cy="29238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05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447" name="Shape 447"/>
        <p:cNvGrpSpPr/>
        <p:nvPr/>
      </p:nvGrpSpPr>
      <p:grpSpPr>
        <a:xfrm>
          <a:off x="0" y="0"/>
          <a:ext cx="0" cy="0"/>
          <a:chOff x="0" y="0"/>
          <a:chExt cx="0" cy="0"/>
        </a:xfrm>
      </p:grpSpPr>
      <p:sp>
        <p:nvSpPr>
          <p:cNvPr id="448" name="Google Shape;448;p34"/>
          <p:cNvSpPr/>
          <p:nvPr/>
        </p:nvSpPr>
        <p:spPr>
          <a:xfrm>
            <a:off x="365760" y="73152"/>
            <a:ext cx="10972800" cy="24384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7FFF00"/>
              </a:buClr>
              <a:buSzPts val="1100"/>
              <a:buFont typeface="Arial"/>
              <a:buNone/>
            </a:pPr>
            <a:r>
              <a:rPr b="1" i="0" lang="en-US" sz="1100" u="none" cap="none" strike="noStrike">
                <a:solidFill>
                  <a:srgbClr val="7FFF00"/>
                </a:solidFill>
                <a:latin typeface="Arial"/>
                <a:ea typeface="Arial"/>
                <a:cs typeface="Arial"/>
                <a:sym typeface="Arial"/>
              </a:rPr>
              <a:t>DUAL-GRAPH WORLD MODEL</a:t>
            </a:r>
            <a:endParaRPr b="0" i="0" sz="1100" u="none" cap="none" strike="noStrike">
              <a:solidFill>
                <a:schemeClr val="dk1"/>
              </a:solidFill>
              <a:latin typeface="Calibri"/>
              <a:ea typeface="Calibri"/>
              <a:cs typeface="Calibri"/>
              <a:sym typeface="Calibri"/>
            </a:endParaRPr>
          </a:p>
        </p:txBody>
      </p:sp>
      <p:sp>
        <p:nvSpPr>
          <p:cNvPr id="449" name="Google Shape;449;p34"/>
          <p:cNvSpPr/>
          <p:nvPr/>
        </p:nvSpPr>
        <p:spPr>
          <a:xfrm>
            <a:off x="365760" y="292608"/>
            <a:ext cx="11216640" cy="438912"/>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FFFF"/>
              </a:buClr>
              <a:buSzPts val="2800"/>
              <a:buFont typeface="Arial"/>
              <a:buNone/>
            </a:pPr>
            <a:r>
              <a:rPr b="1" i="0" lang="en-US" sz="2800" u="none" cap="none" strike="noStrike">
                <a:solidFill>
                  <a:srgbClr val="FFFFFF"/>
                </a:solidFill>
                <a:latin typeface="Arial"/>
                <a:ea typeface="Arial"/>
                <a:cs typeface="Arial"/>
                <a:sym typeface="Arial"/>
              </a:rPr>
              <a:t>Two Strictly Separated Knowledge Layers</a:t>
            </a:r>
            <a:endParaRPr b="0" i="0" sz="2800" u="none" cap="none" strike="noStrike">
              <a:solidFill>
                <a:schemeClr val="dk1"/>
              </a:solidFill>
              <a:latin typeface="Calibri"/>
              <a:ea typeface="Calibri"/>
              <a:cs typeface="Calibri"/>
              <a:sym typeface="Calibri"/>
            </a:endParaRPr>
          </a:p>
        </p:txBody>
      </p:sp>
      <p:sp>
        <p:nvSpPr>
          <p:cNvPr id="450" name="Google Shape;450;p34"/>
          <p:cNvSpPr/>
          <p:nvPr/>
        </p:nvSpPr>
        <p:spPr>
          <a:xfrm>
            <a:off x="11582520" y="186952"/>
            <a:ext cx="426600" cy="243900"/>
          </a:xfrm>
          <a:prstGeom prst="rect">
            <a:avLst/>
          </a:prstGeom>
          <a:noFill/>
          <a:ln>
            <a:noFill/>
          </a:ln>
        </p:spPr>
        <p:txBody>
          <a:bodyPr anchorCtr="0" anchor="ctr" bIns="60925" lIns="121900" spcFirstLastPara="1" rIns="121900" wrap="square" tIns="60925">
            <a:noAutofit/>
          </a:bodyPr>
          <a:lstStyle/>
          <a:p>
            <a:pPr indent="0" lvl="0" marL="0" marR="0" rtl="0" algn="r">
              <a:lnSpc>
                <a:spcPct val="100000"/>
              </a:lnSpc>
              <a:spcBef>
                <a:spcPts val="0"/>
              </a:spcBef>
              <a:spcAft>
                <a:spcPts val="0"/>
              </a:spcAft>
              <a:buClr>
                <a:schemeClr val="dk1"/>
              </a:buClr>
              <a:buSzPts val="1300"/>
              <a:buFont typeface="Arial"/>
              <a:buNone/>
            </a:pPr>
            <a:r>
              <a:rPr b="1" i="0" lang="en-US" sz="1300" u="none" cap="none" strike="noStrike">
                <a:solidFill>
                  <a:srgbClr val="39FF14"/>
                </a:solidFill>
                <a:latin typeface="Calibri"/>
                <a:ea typeface="Calibri"/>
                <a:cs typeface="Calibri"/>
                <a:sym typeface="Calibri"/>
              </a:rPr>
              <a:t>0</a:t>
            </a:r>
            <a:r>
              <a:rPr b="1" lang="en-US" sz="1300">
                <a:solidFill>
                  <a:srgbClr val="39FF14"/>
                </a:solidFill>
                <a:latin typeface="Calibri"/>
                <a:ea typeface="Calibri"/>
                <a:cs typeface="Calibri"/>
                <a:sym typeface="Calibri"/>
              </a:rPr>
              <a:t>6</a:t>
            </a:r>
            <a:endParaRPr b="0" i="0" sz="1400" u="none" cap="none" strike="noStrik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444444"/>
              </a:buClr>
              <a:buSzPts val="1100"/>
              <a:buFont typeface="Arial"/>
              <a:buNone/>
            </a:pPr>
            <a:r>
              <a:t/>
            </a:r>
            <a:endParaRPr b="0" i="0" sz="1100" u="none" cap="none" strike="noStrike">
              <a:solidFill>
                <a:srgbClr val="444444"/>
              </a:solidFill>
              <a:latin typeface="Arial"/>
              <a:ea typeface="Arial"/>
              <a:cs typeface="Arial"/>
              <a:sym typeface="Arial"/>
            </a:endParaRPr>
          </a:p>
        </p:txBody>
      </p:sp>
      <p:sp>
        <p:nvSpPr>
          <p:cNvPr id="451" name="Google Shape;451;p34"/>
          <p:cNvSpPr/>
          <p:nvPr/>
        </p:nvSpPr>
        <p:spPr>
          <a:xfrm>
            <a:off x="182880" y="804672"/>
            <a:ext cx="5547300" cy="5632800"/>
          </a:xfrm>
          <a:prstGeom prst="rect">
            <a:avLst/>
          </a:prstGeom>
          <a:solidFill>
            <a:srgbClr val="0D1A0D"/>
          </a:solidFill>
          <a:ln cap="flat" cmpd="sng" w="19050">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34"/>
          <p:cNvSpPr/>
          <p:nvPr/>
        </p:nvSpPr>
        <p:spPr>
          <a:xfrm>
            <a:off x="304800" y="853440"/>
            <a:ext cx="5242560" cy="268224"/>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7FFF00"/>
              </a:buClr>
              <a:buSzPts val="1400"/>
              <a:buFont typeface="Arial"/>
              <a:buNone/>
            </a:pPr>
            <a:r>
              <a:rPr b="1" i="0" lang="en-US" sz="1400" u="none" cap="none" strike="noStrike">
                <a:solidFill>
                  <a:srgbClr val="7FFF00"/>
                </a:solidFill>
                <a:latin typeface="Arial"/>
                <a:ea typeface="Arial"/>
                <a:cs typeface="Arial"/>
                <a:sym typeface="Arial"/>
              </a:rPr>
              <a:t>ASG — Attack Surface Graph</a:t>
            </a:r>
            <a:endParaRPr b="0" i="0" sz="1400" u="none" cap="none" strike="noStrike">
              <a:solidFill>
                <a:schemeClr val="dk1"/>
              </a:solidFill>
              <a:latin typeface="Calibri"/>
              <a:ea typeface="Calibri"/>
              <a:cs typeface="Calibri"/>
              <a:sym typeface="Calibri"/>
            </a:endParaRPr>
          </a:p>
        </p:txBody>
      </p:sp>
      <p:sp>
        <p:nvSpPr>
          <p:cNvPr id="453" name="Google Shape;453;p34"/>
          <p:cNvSpPr/>
          <p:nvPr/>
        </p:nvSpPr>
        <p:spPr>
          <a:xfrm>
            <a:off x="304800" y="1097280"/>
            <a:ext cx="5242560" cy="18288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7FFF00"/>
              </a:buClr>
              <a:buSzPts val="900"/>
              <a:buFont typeface="Arial"/>
              <a:buNone/>
            </a:pPr>
            <a:r>
              <a:rPr b="0" i="1" lang="en-US" sz="900" u="none" cap="none" strike="noStrike">
                <a:solidFill>
                  <a:srgbClr val="7FFF00"/>
                </a:solidFill>
                <a:latin typeface="Arial"/>
                <a:ea typeface="Arial"/>
                <a:cs typeface="Arial"/>
                <a:sym typeface="Arial"/>
              </a:rPr>
              <a:t>Discovered Reality  ·  Every node = confirmed by tool  ·  Every edge = confirmed relationship</a:t>
            </a:r>
            <a:endParaRPr b="0" i="0" sz="900" u="none" cap="none" strike="noStrike">
              <a:solidFill>
                <a:schemeClr val="dk1"/>
              </a:solidFill>
              <a:latin typeface="Calibri"/>
              <a:ea typeface="Calibri"/>
              <a:cs typeface="Calibri"/>
              <a:sym typeface="Calibri"/>
            </a:endParaRPr>
          </a:p>
        </p:txBody>
      </p:sp>
      <p:sp>
        <p:nvSpPr>
          <p:cNvPr id="454" name="Google Shape;454;p34"/>
          <p:cNvSpPr/>
          <p:nvPr/>
        </p:nvSpPr>
        <p:spPr>
          <a:xfrm>
            <a:off x="268224" y="1341120"/>
            <a:ext cx="877824" cy="414528"/>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34"/>
          <p:cNvSpPr/>
          <p:nvPr/>
        </p:nvSpPr>
        <p:spPr>
          <a:xfrm>
            <a:off x="292608" y="1341120"/>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Domain</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shopvault.io</a:t>
            </a:r>
            <a:endParaRPr b="0" i="0" sz="800" u="none" cap="none" strike="noStrike">
              <a:solidFill>
                <a:schemeClr val="dk1"/>
              </a:solidFill>
              <a:latin typeface="Calibri"/>
              <a:ea typeface="Calibri"/>
              <a:cs typeface="Calibri"/>
              <a:sym typeface="Calibri"/>
            </a:endParaRPr>
          </a:p>
        </p:txBody>
      </p:sp>
      <p:sp>
        <p:nvSpPr>
          <p:cNvPr id="456" name="Google Shape;456;p34"/>
          <p:cNvSpPr/>
          <p:nvPr/>
        </p:nvSpPr>
        <p:spPr>
          <a:xfrm>
            <a:off x="268224" y="2003145"/>
            <a:ext cx="877824" cy="414528"/>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34"/>
          <p:cNvSpPr/>
          <p:nvPr/>
        </p:nvSpPr>
        <p:spPr>
          <a:xfrm>
            <a:off x="292608" y="2003145"/>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Host</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10.0.0.1</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Ubuntu 22</a:t>
            </a:r>
            <a:endParaRPr b="0" i="0" sz="800" u="none" cap="none" strike="noStrike">
              <a:solidFill>
                <a:schemeClr val="dk1"/>
              </a:solidFill>
              <a:latin typeface="Calibri"/>
              <a:ea typeface="Calibri"/>
              <a:cs typeface="Calibri"/>
              <a:sym typeface="Calibri"/>
            </a:endParaRPr>
          </a:p>
        </p:txBody>
      </p:sp>
      <p:sp>
        <p:nvSpPr>
          <p:cNvPr id="458" name="Google Shape;458;p34"/>
          <p:cNvSpPr/>
          <p:nvPr/>
        </p:nvSpPr>
        <p:spPr>
          <a:xfrm>
            <a:off x="268224" y="2665171"/>
            <a:ext cx="877824" cy="414528"/>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34"/>
          <p:cNvSpPr/>
          <p:nvPr/>
        </p:nvSpPr>
        <p:spPr>
          <a:xfrm>
            <a:off x="292608" y="2665171"/>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Host</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10.0.0.2</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Debian 11</a:t>
            </a:r>
            <a:endParaRPr b="0" i="0" sz="800" u="none" cap="none" strike="noStrike">
              <a:solidFill>
                <a:schemeClr val="dk1"/>
              </a:solidFill>
              <a:latin typeface="Calibri"/>
              <a:ea typeface="Calibri"/>
              <a:cs typeface="Calibri"/>
              <a:sym typeface="Calibri"/>
            </a:endParaRPr>
          </a:p>
        </p:txBody>
      </p:sp>
      <p:sp>
        <p:nvSpPr>
          <p:cNvPr id="460" name="Google Shape;460;p34"/>
          <p:cNvSpPr/>
          <p:nvPr/>
        </p:nvSpPr>
        <p:spPr>
          <a:xfrm>
            <a:off x="268225" y="3327200"/>
            <a:ext cx="910200" cy="414600"/>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34"/>
          <p:cNvSpPr/>
          <p:nvPr/>
        </p:nvSpPr>
        <p:spPr>
          <a:xfrm>
            <a:off x="292600" y="3327200"/>
            <a:ext cx="877800" cy="4146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Host</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api.shopvault</a:t>
            </a:r>
            <a:endParaRPr b="0" i="0" sz="800" u="none" cap="none" strike="noStrike">
              <a:solidFill>
                <a:schemeClr val="dk1"/>
              </a:solidFill>
              <a:latin typeface="Calibri"/>
              <a:ea typeface="Calibri"/>
              <a:cs typeface="Calibri"/>
              <a:sym typeface="Calibri"/>
            </a:endParaRPr>
          </a:p>
        </p:txBody>
      </p:sp>
      <p:sp>
        <p:nvSpPr>
          <p:cNvPr id="462" name="Google Shape;462;p34"/>
          <p:cNvSpPr/>
          <p:nvPr/>
        </p:nvSpPr>
        <p:spPr>
          <a:xfrm>
            <a:off x="1280160" y="1672133"/>
            <a:ext cx="877824" cy="414528"/>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34"/>
          <p:cNvSpPr/>
          <p:nvPr/>
        </p:nvSpPr>
        <p:spPr>
          <a:xfrm>
            <a:off x="1304544" y="1672133"/>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Port :443</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tcp open</a:t>
            </a:r>
            <a:endParaRPr b="0" i="0" sz="800" u="none" cap="none" strike="noStrike">
              <a:solidFill>
                <a:schemeClr val="dk1"/>
              </a:solidFill>
              <a:latin typeface="Calibri"/>
              <a:ea typeface="Calibri"/>
              <a:cs typeface="Calibri"/>
              <a:sym typeface="Calibri"/>
            </a:endParaRPr>
          </a:p>
        </p:txBody>
      </p:sp>
      <p:sp>
        <p:nvSpPr>
          <p:cNvPr id="464" name="Google Shape;464;p34"/>
          <p:cNvSpPr/>
          <p:nvPr/>
        </p:nvSpPr>
        <p:spPr>
          <a:xfrm>
            <a:off x="1280160" y="2334159"/>
            <a:ext cx="877824" cy="414528"/>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34"/>
          <p:cNvSpPr/>
          <p:nvPr/>
        </p:nvSpPr>
        <p:spPr>
          <a:xfrm>
            <a:off x="1304544" y="2334159"/>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Port :22</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tcp open</a:t>
            </a:r>
            <a:endParaRPr b="0" i="0" sz="800" u="none" cap="none" strike="noStrike">
              <a:solidFill>
                <a:schemeClr val="dk1"/>
              </a:solidFill>
              <a:latin typeface="Calibri"/>
              <a:ea typeface="Calibri"/>
              <a:cs typeface="Calibri"/>
              <a:sym typeface="Calibri"/>
            </a:endParaRPr>
          </a:p>
        </p:txBody>
      </p:sp>
      <p:sp>
        <p:nvSpPr>
          <p:cNvPr id="466" name="Google Shape;466;p34"/>
          <p:cNvSpPr/>
          <p:nvPr/>
        </p:nvSpPr>
        <p:spPr>
          <a:xfrm>
            <a:off x="1280160" y="2996184"/>
            <a:ext cx="877824" cy="414528"/>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34"/>
          <p:cNvSpPr/>
          <p:nvPr/>
        </p:nvSpPr>
        <p:spPr>
          <a:xfrm>
            <a:off x="1304544" y="2996184"/>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Port :8080</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unenc</a:t>
            </a:r>
            <a:endParaRPr b="0" i="0" sz="800" u="none" cap="none" strike="noStrike">
              <a:solidFill>
                <a:schemeClr val="dk1"/>
              </a:solidFill>
              <a:latin typeface="Calibri"/>
              <a:ea typeface="Calibri"/>
              <a:cs typeface="Calibri"/>
              <a:sym typeface="Calibri"/>
            </a:endParaRPr>
          </a:p>
        </p:txBody>
      </p:sp>
      <p:sp>
        <p:nvSpPr>
          <p:cNvPr id="468" name="Google Shape;468;p34"/>
          <p:cNvSpPr/>
          <p:nvPr/>
        </p:nvSpPr>
        <p:spPr>
          <a:xfrm>
            <a:off x="1280160" y="3658209"/>
            <a:ext cx="877824" cy="414528"/>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34"/>
          <p:cNvSpPr/>
          <p:nvPr/>
        </p:nvSpPr>
        <p:spPr>
          <a:xfrm>
            <a:off x="1304544" y="3658209"/>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Port :80</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tcp open</a:t>
            </a:r>
            <a:endParaRPr b="0" i="0" sz="800" u="none" cap="none" strike="noStrike">
              <a:solidFill>
                <a:schemeClr val="dk1"/>
              </a:solidFill>
              <a:latin typeface="Calibri"/>
              <a:ea typeface="Calibri"/>
              <a:cs typeface="Calibri"/>
              <a:sym typeface="Calibri"/>
            </a:endParaRPr>
          </a:p>
        </p:txBody>
      </p:sp>
      <p:sp>
        <p:nvSpPr>
          <p:cNvPr id="470" name="Google Shape;470;p34"/>
          <p:cNvSpPr/>
          <p:nvPr/>
        </p:nvSpPr>
        <p:spPr>
          <a:xfrm>
            <a:off x="2292096" y="1672133"/>
            <a:ext cx="877824" cy="414528"/>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34"/>
          <p:cNvSpPr/>
          <p:nvPr/>
        </p:nvSpPr>
        <p:spPr>
          <a:xfrm>
            <a:off x="2316480" y="1672133"/>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Service</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Nginx 1.18</a:t>
            </a:r>
            <a:endParaRPr b="0" i="0" sz="800" u="none" cap="none" strike="noStrike">
              <a:solidFill>
                <a:schemeClr val="dk1"/>
              </a:solidFill>
              <a:latin typeface="Calibri"/>
              <a:ea typeface="Calibri"/>
              <a:cs typeface="Calibri"/>
              <a:sym typeface="Calibri"/>
            </a:endParaRPr>
          </a:p>
        </p:txBody>
      </p:sp>
      <p:sp>
        <p:nvSpPr>
          <p:cNvPr id="472" name="Google Shape;472;p34"/>
          <p:cNvSpPr/>
          <p:nvPr/>
        </p:nvSpPr>
        <p:spPr>
          <a:xfrm>
            <a:off x="2292096" y="2334159"/>
            <a:ext cx="877824" cy="414528"/>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34"/>
          <p:cNvSpPr/>
          <p:nvPr/>
        </p:nvSpPr>
        <p:spPr>
          <a:xfrm>
            <a:off x="2316480" y="2334159"/>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Service</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OpenSSH 8.9</a:t>
            </a:r>
            <a:endParaRPr b="0" i="0" sz="800" u="none" cap="none" strike="noStrike">
              <a:solidFill>
                <a:schemeClr val="dk1"/>
              </a:solidFill>
              <a:latin typeface="Calibri"/>
              <a:ea typeface="Calibri"/>
              <a:cs typeface="Calibri"/>
              <a:sym typeface="Calibri"/>
            </a:endParaRPr>
          </a:p>
        </p:txBody>
      </p:sp>
      <p:sp>
        <p:nvSpPr>
          <p:cNvPr id="474" name="Google Shape;474;p34"/>
          <p:cNvSpPr/>
          <p:nvPr/>
        </p:nvSpPr>
        <p:spPr>
          <a:xfrm>
            <a:off x="2292096" y="2996184"/>
            <a:ext cx="877824" cy="414528"/>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34"/>
          <p:cNvSpPr/>
          <p:nvPr/>
        </p:nvSpPr>
        <p:spPr>
          <a:xfrm>
            <a:off x="2316480" y="2996184"/>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Service</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HTTP plain</a:t>
            </a:r>
            <a:endParaRPr b="0" i="0" sz="800" u="none" cap="none" strike="noStrike">
              <a:solidFill>
                <a:schemeClr val="dk1"/>
              </a:solidFill>
              <a:latin typeface="Calibri"/>
              <a:ea typeface="Calibri"/>
              <a:cs typeface="Calibri"/>
              <a:sym typeface="Calibri"/>
            </a:endParaRPr>
          </a:p>
        </p:txBody>
      </p:sp>
      <p:sp>
        <p:nvSpPr>
          <p:cNvPr id="476" name="Google Shape;476;p34"/>
          <p:cNvSpPr/>
          <p:nvPr/>
        </p:nvSpPr>
        <p:spPr>
          <a:xfrm>
            <a:off x="2292096" y="3658209"/>
            <a:ext cx="877824" cy="414528"/>
          </a:xfrm>
          <a:prstGeom prst="rect">
            <a:avLst/>
          </a:prstGeom>
          <a:solidFill>
            <a:srgbClr val="051818"/>
          </a:solidFill>
          <a:ln cap="flat" cmpd="sng" w="114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34"/>
          <p:cNvSpPr/>
          <p:nvPr/>
        </p:nvSpPr>
        <p:spPr>
          <a:xfrm>
            <a:off x="2316480" y="3658209"/>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Tech</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WordPress 5.9</a:t>
            </a:r>
            <a:endParaRPr b="0" i="0" sz="800" u="none" cap="none" strike="noStrike">
              <a:solidFill>
                <a:schemeClr val="dk1"/>
              </a:solidFill>
              <a:latin typeface="Calibri"/>
              <a:ea typeface="Calibri"/>
              <a:cs typeface="Calibri"/>
              <a:sym typeface="Calibri"/>
            </a:endParaRPr>
          </a:p>
        </p:txBody>
      </p:sp>
      <p:sp>
        <p:nvSpPr>
          <p:cNvPr id="478" name="Google Shape;478;p34"/>
          <p:cNvSpPr/>
          <p:nvPr/>
        </p:nvSpPr>
        <p:spPr>
          <a:xfrm>
            <a:off x="2292096" y="4320235"/>
            <a:ext cx="877824" cy="414528"/>
          </a:xfrm>
          <a:prstGeom prst="rect">
            <a:avLst/>
          </a:prstGeom>
          <a:solidFill>
            <a:srgbClr val="051818"/>
          </a:solidFill>
          <a:ln cap="flat" cmpd="sng" w="114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34"/>
          <p:cNvSpPr/>
          <p:nvPr/>
        </p:nvSpPr>
        <p:spPr>
          <a:xfrm>
            <a:off x="2316480" y="4320235"/>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Tech</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WooCommerce</a:t>
            </a:r>
            <a:endParaRPr b="0" i="0" sz="800" u="none" cap="none" strike="noStrike">
              <a:solidFill>
                <a:schemeClr val="dk1"/>
              </a:solidFill>
              <a:latin typeface="Calibri"/>
              <a:ea typeface="Calibri"/>
              <a:cs typeface="Calibri"/>
              <a:sym typeface="Calibri"/>
            </a:endParaRPr>
          </a:p>
        </p:txBody>
      </p:sp>
      <p:sp>
        <p:nvSpPr>
          <p:cNvPr id="480" name="Google Shape;480;p34"/>
          <p:cNvSpPr/>
          <p:nvPr/>
        </p:nvSpPr>
        <p:spPr>
          <a:xfrm>
            <a:off x="2292096" y="4982261"/>
            <a:ext cx="877824" cy="414528"/>
          </a:xfrm>
          <a:prstGeom prst="rect">
            <a:avLst/>
          </a:prstGeom>
          <a:solidFill>
            <a:srgbClr val="051818"/>
          </a:solidFill>
          <a:ln cap="flat" cmpd="sng" w="114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34"/>
          <p:cNvSpPr/>
          <p:nvPr/>
        </p:nvSpPr>
        <p:spPr>
          <a:xfrm>
            <a:off x="2316480" y="4982261"/>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Tech</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Django 4.1</a:t>
            </a:r>
            <a:endParaRPr b="0" i="0" sz="800" u="none" cap="none" strike="noStrike">
              <a:solidFill>
                <a:schemeClr val="dk1"/>
              </a:solidFill>
              <a:latin typeface="Calibri"/>
              <a:ea typeface="Calibri"/>
              <a:cs typeface="Calibri"/>
              <a:sym typeface="Calibri"/>
            </a:endParaRPr>
          </a:p>
        </p:txBody>
      </p:sp>
      <p:sp>
        <p:nvSpPr>
          <p:cNvPr id="482" name="Google Shape;482;p34"/>
          <p:cNvSpPr/>
          <p:nvPr/>
        </p:nvSpPr>
        <p:spPr>
          <a:xfrm>
            <a:off x="3304032" y="1341120"/>
            <a:ext cx="877824" cy="414528"/>
          </a:xfrm>
          <a:prstGeom prst="rect">
            <a:avLst/>
          </a:prstGeom>
          <a:solidFill>
            <a:srgbClr val="051818"/>
          </a:solidFill>
          <a:ln cap="flat" cmpd="sng" w="114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34"/>
          <p:cNvSpPr/>
          <p:nvPr/>
        </p:nvSpPr>
        <p:spPr>
          <a:xfrm>
            <a:off x="3328416" y="1341120"/>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Endpoint</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/wp-admin</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HIGH</a:t>
            </a:r>
            <a:endParaRPr b="0" i="0" sz="800" u="none" cap="none" strike="noStrike">
              <a:solidFill>
                <a:schemeClr val="dk1"/>
              </a:solidFill>
              <a:latin typeface="Calibri"/>
              <a:ea typeface="Calibri"/>
              <a:cs typeface="Calibri"/>
              <a:sym typeface="Calibri"/>
            </a:endParaRPr>
          </a:p>
        </p:txBody>
      </p:sp>
      <p:sp>
        <p:nvSpPr>
          <p:cNvPr id="484" name="Google Shape;484;p34"/>
          <p:cNvSpPr/>
          <p:nvPr/>
        </p:nvSpPr>
        <p:spPr>
          <a:xfrm>
            <a:off x="3304032" y="2003145"/>
            <a:ext cx="877824" cy="414528"/>
          </a:xfrm>
          <a:prstGeom prst="rect">
            <a:avLst/>
          </a:prstGeom>
          <a:solidFill>
            <a:srgbClr val="1A0404"/>
          </a:solidFill>
          <a:ln cap="flat" cmpd="sng" w="11425">
            <a:solidFill>
              <a:srgbClr val="FF525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34"/>
          <p:cNvSpPr/>
          <p:nvPr/>
        </p:nvSpPr>
        <p:spPr>
          <a:xfrm>
            <a:off x="3328416" y="2003145"/>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/backup/</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db_export</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CRITICAL</a:t>
            </a:r>
            <a:endParaRPr b="0" i="0" sz="800" u="none" cap="none" strike="noStrike">
              <a:solidFill>
                <a:schemeClr val="dk1"/>
              </a:solidFill>
              <a:latin typeface="Calibri"/>
              <a:ea typeface="Calibri"/>
              <a:cs typeface="Calibri"/>
              <a:sym typeface="Calibri"/>
            </a:endParaRPr>
          </a:p>
        </p:txBody>
      </p:sp>
      <p:sp>
        <p:nvSpPr>
          <p:cNvPr id="486" name="Google Shape;486;p34"/>
          <p:cNvSpPr/>
          <p:nvPr/>
        </p:nvSpPr>
        <p:spPr>
          <a:xfrm>
            <a:off x="3328420" y="2530996"/>
            <a:ext cx="877800" cy="414600"/>
          </a:xfrm>
          <a:prstGeom prst="rect">
            <a:avLst/>
          </a:prstGeom>
          <a:solidFill>
            <a:srgbClr val="051818"/>
          </a:solidFill>
          <a:ln cap="flat" cmpd="sng" w="114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34"/>
          <p:cNvSpPr/>
          <p:nvPr/>
        </p:nvSpPr>
        <p:spPr>
          <a:xfrm>
            <a:off x="3352825" y="2580975"/>
            <a:ext cx="829200" cy="3309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Endpoint</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/api/orders</a:t>
            </a:r>
            <a:endParaRPr b="0" i="0" sz="800" u="none" cap="none" strike="noStrike">
              <a:solidFill>
                <a:schemeClr val="dk1"/>
              </a:solidFill>
              <a:latin typeface="Calibri"/>
              <a:ea typeface="Calibri"/>
              <a:cs typeface="Calibri"/>
              <a:sym typeface="Calibri"/>
            </a:endParaRPr>
          </a:p>
        </p:txBody>
      </p:sp>
      <p:sp>
        <p:nvSpPr>
          <p:cNvPr id="488" name="Google Shape;488;p34"/>
          <p:cNvSpPr/>
          <p:nvPr/>
        </p:nvSpPr>
        <p:spPr>
          <a:xfrm>
            <a:off x="3304025" y="3212525"/>
            <a:ext cx="1014000" cy="529200"/>
          </a:xfrm>
          <a:prstGeom prst="rect">
            <a:avLst/>
          </a:prstGeom>
          <a:solidFill>
            <a:srgbClr val="051818"/>
          </a:solidFill>
          <a:ln cap="flat" cmpd="sng" w="114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34"/>
          <p:cNvSpPr/>
          <p:nvPr/>
        </p:nvSpPr>
        <p:spPr>
          <a:xfrm>
            <a:off x="3303000" y="3202813"/>
            <a:ext cx="1014000" cy="5292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Endpoint</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/api/users</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undocumented</a:t>
            </a:r>
            <a:endParaRPr b="0" i="0" sz="800" u="none" cap="none" strike="noStrike">
              <a:solidFill>
                <a:schemeClr val="dk1"/>
              </a:solidFill>
              <a:latin typeface="Calibri"/>
              <a:ea typeface="Calibri"/>
              <a:cs typeface="Calibri"/>
              <a:sym typeface="Calibri"/>
            </a:endParaRPr>
          </a:p>
        </p:txBody>
      </p:sp>
      <p:sp>
        <p:nvSpPr>
          <p:cNvPr id="490" name="Google Shape;490;p34"/>
          <p:cNvSpPr/>
          <p:nvPr/>
        </p:nvSpPr>
        <p:spPr>
          <a:xfrm>
            <a:off x="3304032" y="3989223"/>
            <a:ext cx="877824" cy="414528"/>
          </a:xfrm>
          <a:prstGeom prst="rect">
            <a:avLst/>
          </a:prstGeom>
          <a:solidFill>
            <a:srgbClr val="051818"/>
          </a:solidFill>
          <a:ln cap="flat" cmpd="sng" w="114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34"/>
          <p:cNvSpPr/>
          <p:nvPr/>
        </p:nvSpPr>
        <p:spPr>
          <a:xfrm>
            <a:off x="3328416" y="3989223"/>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Param</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user_id=?</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injectable</a:t>
            </a:r>
            <a:endParaRPr b="0" i="0" sz="800" u="none" cap="none" strike="noStrike">
              <a:solidFill>
                <a:schemeClr val="dk1"/>
              </a:solidFill>
              <a:latin typeface="Calibri"/>
              <a:ea typeface="Calibri"/>
              <a:cs typeface="Calibri"/>
              <a:sym typeface="Calibri"/>
            </a:endParaRPr>
          </a:p>
        </p:txBody>
      </p:sp>
      <p:sp>
        <p:nvSpPr>
          <p:cNvPr id="492" name="Google Shape;492;p34"/>
          <p:cNvSpPr/>
          <p:nvPr/>
        </p:nvSpPr>
        <p:spPr>
          <a:xfrm>
            <a:off x="3304025" y="4536575"/>
            <a:ext cx="877800" cy="529200"/>
          </a:xfrm>
          <a:prstGeom prst="rect">
            <a:avLst/>
          </a:prstGeom>
          <a:solidFill>
            <a:srgbClr val="1A0404"/>
          </a:solidFill>
          <a:ln cap="flat" cmpd="sng" w="11425">
            <a:solidFill>
              <a:srgbClr val="FF525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34"/>
          <p:cNvSpPr/>
          <p:nvPr/>
        </p:nvSpPr>
        <p:spPr>
          <a:xfrm>
            <a:off x="3328425" y="4536550"/>
            <a:ext cx="829200" cy="5292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CVE-2022-21661</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SQLi CVSS 8.8</a:t>
            </a:r>
            <a:endParaRPr b="0" i="0" sz="800" u="none" cap="none" strike="noStrike">
              <a:solidFill>
                <a:schemeClr val="dk1"/>
              </a:solidFill>
              <a:latin typeface="Calibri"/>
              <a:ea typeface="Calibri"/>
              <a:cs typeface="Calibri"/>
              <a:sym typeface="Calibri"/>
            </a:endParaRPr>
          </a:p>
        </p:txBody>
      </p:sp>
      <p:sp>
        <p:nvSpPr>
          <p:cNvPr id="494" name="Google Shape;494;p34"/>
          <p:cNvSpPr/>
          <p:nvPr/>
        </p:nvSpPr>
        <p:spPr>
          <a:xfrm>
            <a:off x="3247275" y="5273000"/>
            <a:ext cx="934500" cy="454800"/>
          </a:xfrm>
          <a:prstGeom prst="rect">
            <a:avLst/>
          </a:prstGeom>
          <a:solidFill>
            <a:srgbClr val="1A0404"/>
          </a:solidFill>
          <a:ln cap="flat" cmpd="sng" w="11425">
            <a:solidFill>
              <a:srgbClr val="FF525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34"/>
          <p:cNvSpPr/>
          <p:nvPr/>
        </p:nvSpPr>
        <p:spPr>
          <a:xfrm>
            <a:off x="3247275" y="5325675"/>
            <a:ext cx="910200" cy="3048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IDOR /orders</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Severity:HIGH</a:t>
            </a:r>
            <a:endParaRPr b="0" i="0" sz="800" u="none" cap="none" strike="noStrike">
              <a:solidFill>
                <a:schemeClr val="dk1"/>
              </a:solidFill>
              <a:latin typeface="Calibri"/>
              <a:ea typeface="Calibri"/>
              <a:cs typeface="Calibri"/>
              <a:sym typeface="Calibri"/>
            </a:endParaRPr>
          </a:p>
        </p:txBody>
      </p:sp>
      <p:sp>
        <p:nvSpPr>
          <p:cNvPr id="496" name="Google Shape;496;p34"/>
          <p:cNvSpPr/>
          <p:nvPr/>
        </p:nvSpPr>
        <p:spPr>
          <a:xfrm>
            <a:off x="4567914" y="4651213"/>
            <a:ext cx="1014000" cy="414600"/>
          </a:xfrm>
          <a:prstGeom prst="rect">
            <a:avLst/>
          </a:prstGeom>
          <a:solidFill>
            <a:srgbClr val="100818"/>
          </a:solidFill>
          <a:ln cap="flat" cmpd="sng" w="11425">
            <a:solidFill>
              <a:srgbClr val="9C27B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34"/>
          <p:cNvSpPr/>
          <p:nvPr/>
        </p:nvSpPr>
        <p:spPr>
          <a:xfrm>
            <a:off x="4595437" y="4651175"/>
            <a:ext cx="910200" cy="4146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CE93D8"/>
              </a:buClr>
              <a:buSzPts val="800"/>
              <a:buFont typeface="Arial"/>
              <a:buNone/>
            </a:pPr>
            <a:r>
              <a:rPr b="0" i="0" lang="en-US" sz="800" u="none" cap="none" strike="noStrike">
                <a:solidFill>
                  <a:srgbClr val="CE93D8"/>
                </a:solidFill>
                <a:latin typeface="Arial"/>
                <a:ea typeface="Arial"/>
                <a:cs typeface="Arial"/>
                <a:sym typeface="Arial"/>
              </a:rPr>
              <a:t>Evidence</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CE93D8"/>
              </a:buClr>
              <a:buSzPts val="800"/>
              <a:buFont typeface="Arial"/>
              <a:buNone/>
            </a:pPr>
            <a:r>
              <a:rPr b="0" i="0" lang="en-US" sz="800" u="none" cap="none" strike="noStrike">
                <a:solidFill>
                  <a:srgbClr val="CE93D8"/>
                </a:solidFill>
                <a:latin typeface="Arial"/>
                <a:ea typeface="Arial"/>
                <a:cs typeface="Arial"/>
                <a:sym typeface="Arial"/>
              </a:rPr>
              <a:t>sqli-extract.txt</a:t>
            </a:r>
            <a:endParaRPr b="0" i="0" sz="800" u="none" cap="none" strike="noStrike">
              <a:solidFill>
                <a:schemeClr val="dk1"/>
              </a:solidFill>
              <a:latin typeface="Calibri"/>
              <a:ea typeface="Calibri"/>
              <a:cs typeface="Calibri"/>
              <a:sym typeface="Calibri"/>
            </a:endParaRPr>
          </a:p>
        </p:txBody>
      </p:sp>
      <p:sp>
        <p:nvSpPr>
          <p:cNvPr id="498" name="Google Shape;498;p34"/>
          <p:cNvSpPr/>
          <p:nvPr/>
        </p:nvSpPr>
        <p:spPr>
          <a:xfrm>
            <a:off x="4315968" y="5313273"/>
            <a:ext cx="877824" cy="414528"/>
          </a:xfrm>
          <a:prstGeom prst="rect">
            <a:avLst/>
          </a:prstGeom>
          <a:solidFill>
            <a:srgbClr val="100818"/>
          </a:solidFill>
          <a:ln cap="flat" cmpd="sng" w="11425">
            <a:solidFill>
              <a:srgbClr val="9C27B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34"/>
          <p:cNvSpPr/>
          <p:nvPr/>
        </p:nvSpPr>
        <p:spPr>
          <a:xfrm>
            <a:off x="4340352" y="5313273"/>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CE93D8"/>
              </a:buClr>
              <a:buSzPts val="800"/>
              <a:buFont typeface="Arial"/>
              <a:buNone/>
            </a:pPr>
            <a:r>
              <a:rPr b="0" i="0" lang="en-US" sz="800" u="none" cap="none" strike="noStrike">
                <a:solidFill>
                  <a:srgbClr val="CE93D8"/>
                </a:solidFill>
                <a:latin typeface="Arial"/>
                <a:ea typeface="Arial"/>
                <a:cs typeface="Arial"/>
                <a:sym typeface="Arial"/>
              </a:rPr>
              <a:t>Evidence</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CE93D8"/>
              </a:buClr>
              <a:buSzPts val="800"/>
              <a:buFont typeface="Arial"/>
              <a:buNone/>
            </a:pPr>
            <a:r>
              <a:rPr b="0" i="0" lang="en-US" sz="800" u="none" cap="none" strike="noStrike">
                <a:solidFill>
                  <a:srgbClr val="CE93D8"/>
                </a:solidFill>
                <a:latin typeface="Arial"/>
                <a:ea typeface="Arial"/>
                <a:cs typeface="Arial"/>
                <a:sym typeface="Arial"/>
              </a:rPr>
              <a:t>admin-panel.png</a:t>
            </a:r>
            <a:endParaRPr b="0" i="0" sz="800" u="none" cap="none" strike="noStrike">
              <a:solidFill>
                <a:schemeClr val="dk1"/>
              </a:solidFill>
              <a:latin typeface="Calibri"/>
              <a:ea typeface="Calibri"/>
              <a:cs typeface="Calibri"/>
              <a:sym typeface="Calibri"/>
            </a:endParaRPr>
          </a:p>
        </p:txBody>
      </p:sp>
      <p:sp>
        <p:nvSpPr>
          <p:cNvPr id="500" name="Google Shape;500;p34"/>
          <p:cNvSpPr/>
          <p:nvPr/>
        </p:nvSpPr>
        <p:spPr>
          <a:xfrm>
            <a:off x="4315968" y="5754624"/>
            <a:ext cx="877824" cy="414528"/>
          </a:xfrm>
          <a:prstGeom prst="rect">
            <a:avLst/>
          </a:prstGeom>
          <a:solidFill>
            <a:srgbClr val="100818"/>
          </a:solidFill>
          <a:ln cap="flat" cmpd="sng" w="11425">
            <a:solidFill>
              <a:srgbClr val="9C27B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34"/>
          <p:cNvSpPr/>
          <p:nvPr/>
        </p:nvSpPr>
        <p:spPr>
          <a:xfrm>
            <a:off x="4340352" y="5754624"/>
            <a:ext cx="829056" cy="414528"/>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CE93D8"/>
              </a:buClr>
              <a:buSzPts val="800"/>
              <a:buFont typeface="Arial"/>
              <a:buNone/>
            </a:pPr>
            <a:r>
              <a:rPr b="0" i="0" lang="en-US" sz="800" u="none" cap="none" strike="noStrike">
                <a:solidFill>
                  <a:srgbClr val="CE93D8"/>
                </a:solidFill>
                <a:latin typeface="Arial"/>
                <a:ea typeface="Arial"/>
                <a:cs typeface="Arial"/>
                <a:sym typeface="Arial"/>
              </a:rPr>
              <a:t>Evidence</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CE93D8"/>
              </a:buClr>
              <a:buSzPts val="800"/>
              <a:buFont typeface="Arial"/>
              <a:buNone/>
            </a:pPr>
            <a:r>
              <a:rPr b="0" i="0" lang="en-US" sz="800" u="none" cap="none" strike="noStrike">
                <a:solidFill>
                  <a:srgbClr val="CE93D8"/>
                </a:solidFill>
                <a:latin typeface="Arial"/>
                <a:ea typeface="Arial"/>
                <a:cs typeface="Arial"/>
                <a:sym typeface="Arial"/>
              </a:rPr>
              <a:t>webshell-rce.png</a:t>
            </a:r>
            <a:endParaRPr b="0" i="0" sz="800" u="none" cap="none" strike="noStrike">
              <a:solidFill>
                <a:schemeClr val="dk1"/>
              </a:solidFill>
              <a:latin typeface="Calibri"/>
              <a:ea typeface="Calibri"/>
              <a:cs typeface="Calibri"/>
              <a:sym typeface="Calibri"/>
            </a:endParaRPr>
          </a:p>
        </p:txBody>
      </p:sp>
      <p:cxnSp>
        <p:nvCxnSpPr>
          <p:cNvPr id="502" name="Google Shape;502;p34"/>
          <p:cNvCxnSpPr/>
          <p:nvPr/>
        </p:nvCxnSpPr>
        <p:spPr>
          <a:xfrm>
            <a:off x="1146048" y="1548384"/>
            <a:ext cx="134112" cy="331013"/>
          </a:xfrm>
          <a:prstGeom prst="straightConnector1">
            <a:avLst/>
          </a:prstGeom>
          <a:noFill/>
          <a:ln cap="flat" cmpd="sng" w="9525">
            <a:solidFill>
              <a:srgbClr val="7FFF00"/>
            </a:solidFill>
            <a:prstDash val="solid"/>
            <a:round/>
            <a:headEnd len="sm" w="sm" type="none"/>
            <a:tailEnd len="med" w="med" type="stealth"/>
          </a:ln>
        </p:spPr>
      </p:cxnSp>
      <p:sp>
        <p:nvSpPr>
          <p:cNvPr id="503" name="Google Shape;503;p34"/>
          <p:cNvSpPr/>
          <p:nvPr/>
        </p:nvSpPr>
        <p:spPr>
          <a:xfrm>
            <a:off x="1054528" y="1453650"/>
            <a:ext cx="585300" cy="1584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77777"/>
              </a:buClr>
              <a:buSzPts val="600"/>
              <a:buFont typeface="Arial"/>
              <a:buNone/>
            </a:pPr>
            <a:r>
              <a:rPr b="0" i="0" lang="en-US" sz="600" u="none" cap="none" strike="noStrike">
                <a:solidFill>
                  <a:schemeClr val="lt1"/>
                </a:solidFill>
                <a:latin typeface="Arial"/>
                <a:ea typeface="Arial"/>
                <a:cs typeface="Arial"/>
                <a:sym typeface="Arial"/>
              </a:rPr>
              <a:t>has_host</a:t>
            </a:r>
            <a:endParaRPr b="0" i="0" sz="600" u="none" cap="none" strike="noStrike">
              <a:solidFill>
                <a:schemeClr val="lt1"/>
              </a:solidFill>
              <a:latin typeface="Calibri"/>
              <a:ea typeface="Calibri"/>
              <a:cs typeface="Calibri"/>
              <a:sym typeface="Calibri"/>
            </a:endParaRPr>
          </a:p>
        </p:txBody>
      </p:sp>
      <p:cxnSp>
        <p:nvCxnSpPr>
          <p:cNvPr id="504" name="Google Shape;504;p34"/>
          <p:cNvCxnSpPr/>
          <p:nvPr/>
        </p:nvCxnSpPr>
        <p:spPr>
          <a:xfrm>
            <a:off x="1146048" y="2210409"/>
            <a:ext cx="134112" cy="331013"/>
          </a:xfrm>
          <a:prstGeom prst="straightConnector1">
            <a:avLst/>
          </a:prstGeom>
          <a:noFill/>
          <a:ln cap="flat" cmpd="sng" w="9525">
            <a:solidFill>
              <a:srgbClr val="7FFF00"/>
            </a:solidFill>
            <a:prstDash val="solid"/>
            <a:round/>
            <a:headEnd len="sm" w="sm" type="none"/>
            <a:tailEnd len="med" w="med" type="stealth"/>
          </a:ln>
        </p:spPr>
      </p:cxnSp>
      <p:cxnSp>
        <p:nvCxnSpPr>
          <p:cNvPr id="505" name="Google Shape;505;p34"/>
          <p:cNvCxnSpPr/>
          <p:nvPr/>
        </p:nvCxnSpPr>
        <p:spPr>
          <a:xfrm>
            <a:off x="1146048" y="2872435"/>
            <a:ext cx="134112" cy="331013"/>
          </a:xfrm>
          <a:prstGeom prst="straightConnector1">
            <a:avLst/>
          </a:prstGeom>
          <a:noFill/>
          <a:ln cap="flat" cmpd="sng" w="9525">
            <a:solidFill>
              <a:srgbClr val="7FFF00"/>
            </a:solidFill>
            <a:prstDash val="solid"/>
            <a:round/>
            <a:headEnd len="sm" w="sm" type="none"/>
            <a:tailEnd len="med" w="med" type="stealth"/>
          </a:ln>
        </p:spPr>
      </p:cxnSp>
      <p:cxnSp>
        <p:nvCxnSpPr>
          <p:cNvPr id="506" name="Google Shape;506;p34"/>
          <p:cNvCxnSpPr/>
          <p:nvPr/>
        </p:nvCxnSpPr>
        <p:spPr>
          <a:xfrm>
            <a:off x="1173975" y="3463250"/>
            <a:ext cx="106500" cy="402000"/>
          </a:xfrm>
          <a:prstGeom prst="straightConnector1">
            <a:avLst/>
          </a:prstGeom>
          <a:noFill/>
          <a:ln cap="flat" cmpd="sng" w="9525">
            <a:solidFill>
              <a:srgbClr val="7FFF00"/>
            </a:solidFill>
            <a:prstDash val="solid"/>
            <a:round/>
            <a:headEnd len="sm" w="sm" type="none"/>
            <a:tailEnd len="med" w="med" type="stealth"/>
          </a:ln>
        </p:spPr>
      </p:cxnSp>
      <p:cxnSp>
        <p:nvCxnSpPr>
          <p:cNvPr id="507" name="Google Shape;507;p34"/>
          <p:cNvCxnSpPr/>
          <p:nvPr/>
        </p:nvCxnSpPr>
        <p:spPr>
          <a:xfrm>
            <a:off x="2157984" y="1879397"/>
            <a:ext cx="134112" cy="12192"/>
          </a:xfrm>
          <a:prstGeom prst="straightConnector1">
            <a:avLst/>
          </a:prstGeom>
          <a:noFill/>
          <a:ln cap="flat" cmpd="sng" w="9525">
            <a:solidFill>
              <a:srgbClr val="7FFF00"/>
            </a:solidFill>
            <a:prstDash val="solid"/>
            <a:round/>
            <a:headEnd len="sm" w="sm" type="none"/>
            <a:tailEnd len="med" w="med" type="stealth"/>
          </a:ln>
        </p:spPr>
      </p:cxnSp>
      <p:sp>
        <p:nvSpPr>
          <p:cNvPr id="508" name="Google Shape;508;p34"/>
          <p:cNvSpPr/>
          <p:nvPr/>
        </p:nvSpPr>
        <p:spPr>
          <a:xfrm>
            <a:off x="1993325" y="1453632"/>
            <a:ext cx="487800" cy="1584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77777"/>
              </a:buClr>
              <a:buSzPts val="600"/>
              <a:buFont typeface="Arial"/>
              <a:buNone/>
            </a:pPr>
            <a:r>
              <a:rPr b="0" i="0" lang="en-US" sz="600" u="none" cap="none" strike="noStrike">
                <a:solidFill>
                  <a:schemeClr val="lt1"/>
                </a:solidFill>
                <a:latin typeface="Arial"/>
                <a:ea typeface="Arial"/>
                <a:cs typeface="Arial"/>
                <a:sym typeface="Arial"/>
              </a:rPr>
              <a:t>runs</a:t>
            </a:r>
            <a:endParaRPr b="0" i="0" sz="600" u="none" cap="none" strike="noStrike">
              <a:solidFill>
                <a:schemeClr val="lt1"/>
              </a:solidFill>
              <a:latin typeface="Calibri"/>
              <a:ea typeface="Calibri"/>
              <a:cs typeface="Calibri"/>
              <a:sym typeface="Calibri"/>
            </a:endParaRPr>
          </a:p>
        </p:txBody>
      </p:sp>
      <p:cxnSp>
        <p:nvCxnSpPr>
          <p:cNvPr id="509" name="Google Shape;509;p34"/>
          <p:cNvCxnSpPr/>
          <p:nvPr/>
        </p:nvCxnSpPr>
        <p:spPr>
          <a:xfrm>
            <a:off x="2157984" y="2541423"/>
            <a:ext cx="134112" cy="12192"/>
          </a:xfrm>
          <a:prstGeom prst="straightConnector1">
            <a:avLst/>
          </a:prstGeom>
          <a:noFill/>
          <a:ln cap="flat" cmpd="sng" w="9525">
            <a:solidFill>
              <a:srgbClr val="7FFF00"/>
            </a:solidFill>
            <a:prstDash val="solid"/>
            <a:round/>
            <a:headEnd len="sm" w="sm" type="none"/>
            <a:tailEnd len="med" w="med" type="stealth"/>
          </a:ln>
        </p:spPr>
      </p:cxnSp>
      <p:cxnSp>
        <p:nvCxnSpPr>
          <p:cNvPr id="510" name="Google Shape;510;p34"/>
          <p:cNvCxnSpPr/>
          <p:nvPr/>
        </p:nvCxnSpPr>
        <p:spPr>
          <a:xfrm>
            <a:off x="2157984" y="3203448"/>
            <a:ext cx="134112" cy="12192"/>
          </a:xfrm>
          <a:prstGeom prst="straightConnector1">
            <a:avLst/>
          </a:prstGeom>
          <a:noFill/>
          <a:ln cap="flat" cmpd="sng" w="9525">
            <a:solidFill>
              <a:srgbClr val="7FFF00"/>
            </a:solidFill>
            <a:prstDash val="solid"/>
            <a:round/>
            <a:headEnd len="sm" w="sm" type="none"/>
            <a:tailEnd len="med" w="med" type="stealth"/>
          </a:ln>
        </p:spPr>
      </p:cxnSp>
      <p:cxnSp>
        <p:nvCxnSpPr>
          <p:cNvPr id="511" name="Google Shape;511;p34"/>
          <p:cNvCxnSpPr/>
          <p:nvPr/>
        </p:nvCxnSpPr>
        <p:spPr>
          <a:xfrm>
            <a:off x="2157984" y="3865473"/>
            <a:ext cx="134112" cy="12192"/>
          </a:xfrm>
          <a:prstGeom prst="straightConnector1">
            <a:avLst/>
          </a:prstGeom>
          <a:noFill/>
          <a:ln cap="flat" cmpd="sng" w="9525">
            <a:solidFill>
              <a:srgbClr val="00D4FF"/>
            </a:solidFill>
            <a:prstDash val="solid"/>
            <a:round/>
            <a:headEnd len="sm" w="sm" type="none"/>
            <a:tailEnd len="med" w="med" type="stealth"/>
          </a:ln>
        </p:spPr>
      </p:cxnSp>
      <p:sp>
        <p:nvSpPr>
          <p:cNvPr id="512" name="Google Shape;512;p34"/>
          <p:cNvSpPr/>
          <p:nvPr/>
        </p:nvSpPr>
        <p:spPr>
          <a:xfrm>
            <a:off x="1969013" y="3455195"/>
            <a:ext cx="487800" cy="1584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77777"/>
              </a:buClr>
              <a:buSzPts val="600"/>
              <a:buFont typeface="Arial"/>
              <a:buNone/>
            </a:pPr>
            <a:r>
              <a:rPr b="0" i="0" lang="en-US" sz="600" u="none" cap="none" strike="noStrike">
                <a:solidFill>
                  <a:schemeClr val="lt1"/>
                </a:solidFill>
                <a:latin typeface="Arial"/>
                <a:ea typeface="Arial"/>
                <a:cs typeface="Arial"/>
                <a:sym typeface="Arial"/>
              </a:rPr>
              <a:t>uses</a:t>
            </a:r>
            <a:endParaRPr b="0" i="0" sz="600" u="none" cap="none" strike="noStrike">
              <a:solidFill>
                <a:schemeClr val="lt1"/>
              </a:solidFill>
              <a:latin typeface="Calibri"/>
              <a:ea typeface="Calibri"/>
              <a:cs typeface="Calibri"/>
              <a:sym typeface="Calibri"/>
            </a:endParaRPr>
          </a:p>
        </p:txBody>
      </p:sp>
      <p:cxnSp>
        <p:nvCxnSpPr>
          <p:cNvPr id="513" name="Google Shape;513;p34"/>
          <p:cNvCxnSpPr>
            <a:stCxn id="483" idx="2"/>
            <a:endCxn id="485" idx="0"/>
          </p:cNvCxnSpPr>
          <p:nvPr/>
        </p:nvCxnSpPr>
        <p:spPr>
          <a:xfrm>
            <a:off x="3742944" y="1755648"/>
            <a:ext cx="0" cy="247500"/>
          </a:xfrm>
          <a:prstGeom prst="straightConnector1">
            <a:avLst/>
          </a:prstGeom>
          <a:noFill/>
          <a:ln cap="flat" cmpd="sng" w="9525">
            <a:solidFill>
              <a:srgbClr val="00D4FF"/>
            </a:solidFill>
            <a:prstDash val="solid"/>
            <a:round/>
            <a:headEnd len="sm" w="sm" type="none"/>
            <a:tailEnd len="med" w="med" type="stealth"/>
          </a:ln>
        </p:spPr>
      </p:cxnSp>
      <p:sp>
        <p:nvSpPr>
          <p:cNvPr id="514" name="Google Shape;514;p34"/>
          <p:cNvSpPr/>
          <p:nvPr/>
        </p:nvSpPr>
        <p:spPr>
          <a:xfrm>
            <a:off x="3145525" y="1800200"/>
            <a:ext cx="535800" cy="1584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77777"/>
              </a:buClr>
              <a:buSzPts val="600"/>
              <a:buFont typeface="Arial"/>
              <a:buNone/>
            </a:pPr>
            <a:r>
              <a:rPr b="0" i="0" lang="en-US" sz="600" u="none" cap="none" strike="noStrike">
                <a:solidFill>
                  <a:schemeClr val="lt1"/>
                </a:solidFill>
                <a:latin typeface="Arial"/>
                <a:ea typeface="Arial"/>
                <a:cs typeface="Arial"/>
                <a:sym typeface="Arial"/>
              </a:rPr>
              <a:t>has_ep</a:t>
            </a:r>
            <a:endParaRPr b="0" i="0" sz="600" u="none" cap="none" strike="noStrike">
              <a:solidFill>
                <a:schemeClr val="lt1"/>
              </a:solidFill>
              <a:latin typeface="Calibri"/>
              <a:ea typeface="Calibri"/>
              <a:cs typeface="Calibri"/>
              <a:sym typeface="Calibri"/>
            </a:endParaRPr>
          </a:p>
        </p:txBody>
      </p:sp>
      <p:cxnSp>
        <p:nvCxnSpPr>
          <p:cNvPr id="515" name="Google Shape;515;p34"/>
          <p:cNvCxnSpPr/>
          <p:nvPr/>
        </p:nvCxnSpPr>
        <p:spPr>
          <a:xfrm>
            <a:off x="3169920" y="1879397"/>
            <a:ext cx="134112" cy="331013"/>
          </a:xfrm>
          <a:prstGeom prst="straightConnector1">
            <a:avLst/>
          </a:prstGeom>
          <a:noFill/>
          <a:ln cap="flat" cmpd="sng" w="9525">
            <a:solidFill>
              <a:srgbClr val="FF5252"/>
            </a:solidFill>
            <a:prstDash val="solid"/>
            <a:round/>
            <a:headEnd len="sm" w="sm" type="none"/>
            <a:tailEnd len="med" w="med" type="stealth"/>
          </a:ln>
        </p:spPr>
      </p:cxnSp>
      <p:cxnSp>
        <p:nvCxnSpPr>
          <p:cNvPr id="516" name="Google Shape;516;p34"/>
          <p:cNvCxnSpPr/>
          <p:nvPr/>
        </p:nvCxnSpPr>
        <p:spPr>
          <a:xfrm>
            <a:off x="3169920" y="3865473"/>
            <a:ext cx="134112" cy="993039"/>
          </a:xfrm>
          <a:prstGeom prst="straightConnector1">
            <a:avLst/>
          </a:prstGeom>
          <a:noFill/>
          <a:ln cap="flat" cmpd="sng" w="9525">
            <a:solidFill>
              <a:srgbClr val="FF5252"/>
            </a:solidFill>
            <a:prstDash val="solid"/>
            <a:round/>
            <a:headEnd len="sm" w="sm" type="none"/>
            <a:tailEnd len="med" w="med" type="stealth"/>
          </a:ln>
        </p:spPr>
      </p:cxnSp>
      <p:sp>
        <p:nvSpPr>
          <p:cNvPr id="517" name="Google Shape;517;p34"/>
          <p:cNvSpPr/>
          <p:nvPr/>
        </p:nvSpPr>
        <p:spPr>
          <a:xfrm>
            <a:off x="2446525" y="4117275"/>
            <a:ext cx="699000" cy="1584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77777"/>
              </a:buClr>
              <a:buSzPts val="600"/>
              <a:buFont typeface="Arial"/>
              <a:buNone/>
            </a:pPr>
            <a:r>
              <a:rPr b="0" i="0" lang="en-US" sz="600" u="none" cap="none" strike="noStrike">
                <a:solidFill>
                  <a:schemeClr val="lt1"/>
                </a:solidFill>
                <a:latin typeface="Arial"/>
                <a:ea typeface="Arial"/>
                <a:cs typeface="Arial"/>
                <a:sym typeface="Arial"/>
              </a:rPr>
              <a:t>affected_by</a:t>
            </a:r>
            <a:endParaRPr b="0" i="0" sz="600" u="none" cap="none" strike="noStrike">
              <a:solidFill>
                <a:schemeClr val="lt1"/>
              </a:solidFill>
              <a:latin typeface="Calibri"/>
              <a:ea typeface="Calibri"/>
              <a:cs typeface="Calibri"/>
              <a:sym typeface="Calibri"/>
            </a:endParaRPr>
          </a:p>
        </p:txBody>
      </p:sp>
      <p:cxnSp>
        <p:nvCxnSpPr>
          <p:cNvPr id="518" name="Google Shape;518;p34"/>
          <p:cNvCxnSpPr>
            <a:endCxn id="489" idx="0"/>
          </p:cNvCxnSpPr>
          <p:nvPr/>
        </p:nvCxnSpPr>
        <p:spPr>
          <a:xfrm flipH="1">
            <a:off x="3810000" y="2964313"/>
            <a:ext cx="219000" cy="238500"/>
          </a:xfrm>
          <a:prstGeom prst="straightConnector1">
            <a:avLst/>
          </a:prstGeom>
          <a:noFill/>
          <a:ln cap="flat" cmpd="sng" w="9525">
            <a:solidFill>
              <a:srgbClr val="00D4FF"/>
            </a:solidFill>
            <a:prstDash val="solid"/>
            <a:round/>
            <a:headEnd len="sm" w="sm" type="none"/>
            <a:tailEnd len="med" w="med" type="stealth"/>
          </a:ln>
        </p:spPr>
      </p:cxnSp>
      <p:sp>
        <p:nvSpPr>
          <p:cNvPr id="519" name="Google Shape;519;p34"/>
          <p:cNvSpPr/>
          <p:nvPr/>
        </p:nvSpPr>
        <p:spPr>
          <a:xfrm>
            <a:off x="4055872" y="2978150"/>
            <a:ext cx="699000" cy="1584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77777"/>
              </a:buClr>
              <a:buSzPts val="600"/>
              <a:buFont typeface="Arial"/>
              <a:buNone/>
            </a:pPr>
            <a:r>
              <a:rPr b="0" i="0" lang="en-US" sz="600" u="none" cap="none" strike="noStrike">
                <a:solidFill>
                  <a:schemeClr val="lt1"/>
                </a:solidFill>
                <a:latin typeface="Arial"/>
                <a:ea typeface="Arial"/>
                <a:cs typeface="Arial"/>
                <a:sym typeface="Arial"/>
              </a:rPr>
              <a:t>has_param</a:t>
            </a:r>
            <a:endParaRPr b="0" i="0" sz="600" u="none" cap="none" strike="noStrike">
              <a:solidFill>
                <a:schemeClr val="lt1"/>
              </a:solidFill>
              <a:latin typeface="Calibri"/>
              <a:ea typeface="Calibri"/>
              <a:cs typeface="Calibri"/>
              <a:sym typeface="Calibri"/>
            </a:endParaRPr>
          </a:p>
        </p:txBody>
      </p:sp>
      <p:sp>
        <p:nvSpPr>
          <p:cNvPr id="520" name="Google Shape;520;p34"/>
          <p:cNvSpPr/>
          <p:nvPr/>
        </p:nvSpPr>
        <p:spPr>
          <a:xfrm>
            <a:off x="3810000" y="5110313"/>
            <a:ext cx="651600" cy="1584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77777"/>
              </a:buClr>
              <a:buSzPts val="600"/>
              <a:buFont typeface="Arial"/>
              <a:buNone/>
            </a:pPr>
            <a:r>
              <a:rPr b="0" i="0" lang="en-US" sz="600" u="none" cap="none" strike="noStrike">
                <a:solidFill>
                  <a:schemeClr val="lt1"/>
                </a:solidFill>
                <a:latin typeface="Arial"/>
                <a:ea typeface="Arial"/>
                <a:cs typeface="Arial"/>
                <a:sym typeface="Arial"/>
              </a:rPr>
              <a:t>affected_by</a:t>
            </a:r>
            <a:endParaRPr b="0" i="0" sz="600" u="none" cap="none" strike="noStrike">
              <a:solidFill>
                <a:schemeClr val="lt1"/>
              </a:solidFill>
              <a:latin typeface="Calibri"/>
              <a:ea typeface="Calibri"/>
              <a:cs typeface="Calibri"/>
              <a:sym typeface="Calibri"/>
            </a:endParaRPr>
          </a:p>
        </p:txBody>
      </p:sp>
      <p:cxnSp>
        <p:nvCxnSpPr>
          <p:cNvPr id="521" name="Google Shape;521;p34"/>
          <p:cNvCxnSpPr>
            <a:endCxn id="497" idx="1"/>
          </p:cNvCxnSpPr>
          <p:nvPr/>
        </p:nvCxnSpPr>
        <p:spPr>
          <a:xfrm>
            <a:off x="4181737" y="4858475"/>
            <a:ext cx="413700" cy="0"/>
          </a:xfrm>
          <a:prstGeom prst="straightConnector1">
            <a:avLst/>
          </a:prstGeom>
          <a:noFill/>
          <a:ln cap="flat" cmpd="sng" w="9525">
            <a:solidFill>
              <a:srgbClr val="9C27B0"/>
            </a:solidFill>
            <a:prstDash val="solid"/>
            <a:round/>
            <a:headEnd len="sm" w="sm" type="none"/>
            <a:tailEnd len="med" w="med" type="stealth"/>
          </a:ln>
        </p:spPr>
      </p:cxnSp>
      <p:sp>
        <p:nvSpPr>
          <p:cNvPr id="522" name="Google Shape;522;p34"/>
          <p:cNvSpPr/>
          <p:nvPr/>
        </p:nvSpPr>
        <p:spPr>
          <a:xfrm>
            <a:off x="4713214" y="5110325"/>
            <a:ext cx="699000" cy="1584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77777"/>
              </a:buClr>
              <a:buSzPts val="600"/>
              <a:buFont typeface="Arial"/>
              <a:buNone/>
            </a:pPr>
            <a:r>
              <a:rPr b="0" i="0" lang="en-US" sz="600" u="none" cap="none" strike="noStrike">
                <a:solidFill>
                  <a:schemeClr val="lt1"/>
                </a:solidFill>
                <a:latin typeface="Arial"/>
                <a:ea typeface="Arial"/>
                <a:cs typeface="Arial"/>
                <a:sym typeface="Arial"/>
              </a:rPr>
              <a:t>validated_by</a:t>
            </a:r>
            <a:endParaRPr b="0" i="0" sz="600" u="none" cap="none" strike="noStrike">
              <a:solidFill>
                <a:schemeClr val="lt1"/>
              </a:solidFill>
              <a:latin typeface="Calibri"/>
              <a:ea typeface="Calibri"/>
              <a:cs typeface="Calibri"/>
              <a:sym typeface="Calibri"/>
            </a:endParaRPr>
          </a:p>
        </p:txBody>
      </p:sp>
      <p:cxnSp>
        <p:nvCxnSpPr>
          <p:cNvPr id="523" name="Google Shape;523;p34"/>
          <p:cNvCxnSpPr>
            <a:endCxn id="499" idx="0"/>
          </p:cNvCxnSpPr>
          <p:nvPr/>
        </p:nvCxnSpPr>
        <p:spPr>
          <a:xfrm>
            <a:off x="4181880" y="4858473"/>
            <a:ext cx="573000" cy="454800"/>
          </a:xfrm>
          <a:prstGeom prst="straightConnector1">
            <a:avLst/>
          </a:prstGeom>
          <a:noFill/>
          <a:ln cap="flat" cmpd="sng" w="9525">
            <a:solidFill>
              <a:srgbClr val="9C27B0"/>
            </a:solidFill>
            <a:prstDash val="solid"/>
            <a:round/>
            <a:headEnd len="sm" w="sm" type="none"/>
            <a:tailEnd len="med" w="med" type="stealth"/>
          </a:ln>
        </p:spPr>
      </p:cxnSp>
      <p:cxnSp>
        <p:nvCxnSpPr>
          <p:cNvPr id="524" name="Google Shape;524;p34"/>
          <p:cNvCxnSpPr/>
          <p:nvPr/>
        </p:nvCxnSpPr>
        <p:spPr>
          <a:xfrm>
            <a:off x="4181856" y="4858512"/>
            <a:ext cx="134112" cy="1103376"/>
          </a:xfrm>
          <a:prstGeom prst="straightConnector1">
            <a:avLst/>
          </a:prstGeom>
          <a:noFill/>
          <a:ln cap="flat" cmpd="sng" w="9525">
            <a:solidFill>
              <a:srgbClr val="9C27B0"/>
            </a:solidFill>
            <a:prstDash val="solid"/>
            <a:round/>
            <a:headEnd len="sm" w="sm" type="none"/>
            <a:tailEnd len="med" w="med" type="stealth"/>
          </a:ln>
        </p:spPr>
      </p:cxnSp>
      <p:sp>
        <p:nvSpPr>
          <p:cNvPr id="525" name="Google Shape;525;p34"/>
          <p:cNvSpPr/>
          <p:nvPr/>
        </p:nvSpPr>
        <p:spPr>
          <a:xfrm>
            <a:off x="182880" y="6193536"/>
            <a:ext cx="5547360" cy="243840"/>
          </a:xfrm>
          <a:prstGeom prst="rect">
            <a:avLst/>
          </a:prstGeom>
          <a:solidFill>
            <a:srgbClr val="0D1A0D"/>
          </a:solidFill>
          <a:ln cap="flat" cmpd="sng" w="9525">
            <a:solidFill>
              <a:srgbClr val="33333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34"/>
          <p:cNvSpPr/>
          <p:nvPr/>
        </p:nvSpPr>
        <p:spPr>
          <a:xfrm>
            <a:off x="304800" y="6205728"/>
            <a:ext cx="5242560" cy="207264"/>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 </a:t>
            </a:r>
            <a:r>
              <a:rPr b="0" i="0" lang="en-US" sz="800" u="none" cap="none" strike="noStrike">
                <a:solidFill>
                  <a:srgbClr val="888888"/>
                </a:solidFill>
                <a:latin typeface="Arial"/>
                <a:ea typeface="Arial"/>
                <a:cs typeface="Arial"/>
                <a:sym typeface="Arial"/>
              </a:rPr>
              <a:t>Infrastructure  </a:t>
            </a:r>
            <a:r>
              <a:rPr b="0" i="0" lang="en-US" sz="800" u="none" cap="none" strike="noStrike">
                <a:solidFill>
                  <a:srgbClr val="00D4FF"/>
                </a:solidFill>
                <a:latin typeface="Arial"/>
                <a:ea typeface="Arial"/>
                <a:cs typeface="Arial"/>
                <a:sym typeface="Arial"/>
              </a:rPr>
              <a:t>■ </a:t>
            </a:r>
            <a:r>
              <a:rPr b="0" i="0" lang="en-US" sz="800" u="none" cap="none" strike="noStrike">
                <a:solidFill>
                  <a:srgbClr val="888888"/>
                </a:solidFill>
                <a:latin typeface="Arial"/>
                <a:ea typeface="Arial"/>
                <a:cs typeface="Arial"/>
                <a:sym typeface="Arial"/>
              </a:rPr>
              <a:t>Application  </a:t>
            </a:r>
            <a:r>
              <a:rPr b="0" i="0" lang="en-US" sz="800" u="none" cap="none" strike="noStrike">
                <a:solidFill>
                  <a:srgbClr val="FF5252"/>
                </a:solidFill>
                <a:latin typeface="Arial"/>
                <a:ea typeface="Arial"/>
                <a:cs typeface="Arial"/>
                <a:sym typeface="Arial"/>
              </a:rPr>
              <a:t>■ </a:t>
            </a:r>
            <a:r>
              <a:rPr b="0" i="0" lang="en-US" sz="800" u="none" cap="none" strike="noStrike">
                <a:solidFill>
                  <a:srgbClr val="888888"/>
                </a:solidFill>
                <a:latin typeface="Arial"/>
                <a:ea typeface="Arial"/>
                <a:cs typeface="Arial"/>
                <a:sym typeface="Arial"/>
              </a:rPr>
              <a:t>Vulnerability  </a:t>
            </a:r>
            <a:r>
              <a:rPr b="0" i="0" lang="en-US" sz="800" u="none" cap="none" strike="noStrike">
                <a:solidFill>
                  <a:srgbClr val="9C27B0"/>
                </a:solidFill>
                <a:latin typeface="Arial"/>
                <a:ea typeface="Arial"/>
                <a:cs typeface="Arial"/>
                <a:sym typeface="Arial"/>
              </a:rPr>
              <a:t>■ </a:t>
            </a:r>
            <a:r>
              <a:rPr b="0" i="0" lang="en-US" sz="800" u="none" cap="none" strike="noStrike">
                <a:solidFill>
                  <a:srgbClr val="888888"/>
                </a:solidFill>
                <a:latin typeface="Arial"/>
                <a:ea typeface="Arial"/>
                <a:cs typeface="Arial"/>
                <a:sym typeface="Arial"/>
              </a:rPr>
              <a:t>Evidence</a:t>
            </a:r>
            <a:endParaRPr b="0" i="0" sz="800" u="none" cap="none" strike="noStrike">
              <a:solidFill>
                <a:schemeClr val="dk1"/>
              </a:solidFill>
              <a:latin typeface="Calibri"/>
              <a:ea typeface="Calibri"/>
              <a:cs typeface="Calibri"/>
              <a:sym typeface="Calibri"/>
            </a:endParaRPr>
          </a:p>
        </p:txBody>
      </p:sp>
      <p:cxnSp>
        <p:nvCxnSpPr>
          <p:cNvPr id="527" name="Google Shape;527;p34"/>
          <p:cNvCxnSpPr/>
          <p:nvPr/>
        </p:nvCxnSpPr>
        <p:spPr>
          <a:xfrm>
            <a:off x="5943568" y="786347"/>
            <a:ext cx="12300" cy="5632800"/>
          </a:xfrm>
          <a:prstGeom prst="straightConnector1">
            <a:avLst/>
          </a:prstGeom>
          <a:noFill/>
          <a:ln cap="flat" cmpd="sng" w="12700">
            <a:solidFill>
              <a:srgbClr val="00FFFF"/>
            </a:solidFill>
            <a:prstDash val="dash"/>
            <a:round/>
            <a:headEnd len="sm" w="sm" type="none"/>
            <a:tailEnd len="sm" w="sm" type="none"/>
          </a:ln>
        </p:spPr>
      </p:cxnSp>
      <p:sp>
        <p:nvSpPr>
          <p:cNvPr id="528" name="Google Shape;528;p34"/>
          <p:cNvSpPr/>
          <p:nvPr/>
        </p:nvSpPr>
        <p:spPr>
          <a:xfrm>
            <a:off x="5650960" y="3456395"/>
            <a:ext cx="585300" cy="3657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FFFF"/>
              </a:buClr>
              <a:buSzPts val="700"/>
              <a:buFont typeface="Arial"/>
              <a:buNone/>
            </a:pPr>
            <a:r>
              <a:rPr b="1" i="0" lang="en-US" sz="700" u="none" cap="none" strike="noStrike">
                <a:solidFill>
                  <a:srgbClr val="00FFFF"/>
                </a:solidFill>
                <a:latin typeface="Arial"/>
                <a:ea typeface="Arial"/>
                <a:cs typeface="Arial"/>
                <a:sym typeface="Arial"/>
              </a:rPr>
              <a:t>STRICT</a:t>
            </a:r>
            <a:endParaRPr b="0" i="0" sz="7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FFFF"/>
              </a:buClr>
              <a:buSzPts val="700"/>
              <a:buFont typeface="Arial"/>
              <a:buNone/>
            </a:pPr>
            <a:r>
              <a:rPr b="1" i="0" lang="en-US" sz="700" u="none" cap="none" strike="noStrike">
                <a:solidFill>
                  <a:srgbClr val="00FFFF"/>
                </a:solidFill>
                <a:latin typeface="Arial"/>
                <a:ea typeface="Arial"/>
                <a:cs typeface="Arial"/>
                <a:sym typeface="Arial"/>
              </a:rPr>
              <a:t>SEPARATION</a:t>
            </a:r>
            <a:endParaRPr b="0" i="0" sz="700" u="none" cap="none" strike="noStrike">
              <a:solidFill>
                <a:schemeClr val="dk1"/>
              </a:solidFill>
              <a:latin typeface="Calibri"/>
              <a:ea typeface="Calibri"/>
              <a:cs typeface="Calibri"/>
              <a:sym typeface="Calibri"/>
            </a:endParaRPr>
          </a:p>
        </p:txBody>
      </p:sp>
      <p:sp>
        <p:nvSpPr>
          <p:cNvPr id="529" name="Google Shape;529;p34"/>
          <p:cNvSpPr/>
          <p:nvPr/>
        </p:nvSpPr>
        <p:spPr>
          <a:xfrm>
            <a:off x="6156960" y="804672"/>
            <a:ext cx="5852160" cy="5632704"/>
          </a:xfrm>
          <a:prstGeom prst="rect">
            <a:avLst/>
          </a:prstGeom>
          <a:solidFill>
            <a:srgbClr val="1A0E00"/>
          </a:solidFill>
          <a:ln cap="flat" cmpd="sng" w="19050">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34"/>
          <p:cNvSpPr/>
          <p:nvPr/>
        </p:nvSpPr>
        <p:spPr>
          <a:xfrm>
            <a:off x="6278880" y="853440"/>
            <a:ext cx="5608320" cy="268224"/>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C107"/>
              </a:buClr>
              <a:buSzPts val="1400"/>
              <a:buFont typeface="Arial"/>
              <a:buNone/>
            </a:pPr>
            <a:r>
              <a:rPr b="1" i="0" lang="en-US" sz="1400" u="none" cap="none" strike="noStrike">
                <a:solidFill>
                  <a:srgbClr val="FFC107"/>
                </a:solidFill>
                <a:latin typeface="Arial"/>
                <a:ea typeface="Arial"/>
                <a:cs typeface="Arial"/>
                <a:sym typeface="Arial"/>
              </a:rPr>
              <a:t>APG — Attack Path Graph</a:t>
            </a:r>
            <a:endParaRPr b="0" i="0" sz="1400" u="none" cap="none" strike="noStrike">
              <a:solidFill>
                <a:schemeClr val="dk1"/>
              </a:solidFill>
              <a:latin typeface="Calibri"/>
              <a:ea typeface="Calibri"/>
              <a:cs typeface="Calibri"/>
              <a:sym typeface="Calibri"/>
            </a:endParaRPr>
          </a:p>
        </p:txBody>
      </p:sp>
      <p:sp>
        <p:nvSpPr>
          <p:cNvPr id="531" name="Google Shape;531;p34"/>
          <p:cNvSpPr/>
          <p:nvPr/>
        </p:nvSpPr>
        <p:spPr>
          <a:xfrm>
            <a:off x="6278880" y="1097280"/>
            <a:ext cx="5608320" cy="18288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C107"/>
              </a:buClr>
              <a:buSzPts val="900"/>
              <a:buFont typeface="Arial"/>
              <a:buNone/>
            </a:pPr>
            <a:r>
              <a:rPr b="0" i="1" lang="en-US" sz="900" u="none" cap="none" strike="noStrike">
                <a:solidFill>
                  <a:srgbClr val="FFC107"/>
                </a:solidFill>
                <a:latin typeface="Arial"/>
                <a:ea typeface="Arial"/>
                <a:cs typeface="Arial"/>
                <a:sym typeface="Arial"/>
              </a:rPr>
              <a:t>Inferred Opportunity  ·  Commander reasons from ASG vulnerabilities — no raw scan data</a:t>
            </a:r>
            <a:endParaRPr b="0" i="0" sz="900" u="none" cap="none" strike="noStrike">
              <a:solidFill>
                <a:schemeClr val="dk1"/>
              </a:solidFill>
              <a:latin typeface="Calibri"/>
              <a:ea typeface="Calibri"/>
              <a:cs typeface="Calibri"/>
              <a:sym typeface="Calibri"/>
            </a:endParaRPr>
          </a:p>
        </p:txBody>
      </p:sp>
      <p:sp>
        <p:nvSpPr>
          <p:cNvPr id="532" name="Google Shape;532;p34"/>
          <p:cNvSpPr/>
          <p:nvPr/>
        </p:nvSpPr>
        <p:spPr>
          <a:xfrm>
            <a:off x="6254496" y="1341120"/>
            <a:ext cx="2731008" cy="2346960"/>
          </a:xfrm>
          <a:prstGeom prst="rect">
            <a:avLst/>
          </a:prstGeom>
          <a:solidFill>
            <a:srgbClr val="1A0E00"/>
          </a:solidFill>
          <a:ln cap="flat" cmpd="sng" w="114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34"/>
          <p:cNvSpPr/>
          <p:nvPr/>
        </p:nvSpPr>
        <p:spPr>
          <a:xfrm>
            <a:off x="6339840" y="1402080"/>
            <a:ext cx="2560320" cy="24384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Chain-01: SQLi → RCE</a:t>
            </a:r>
            <a:r>
              <a:rPr b="1" i="0" lang="en-US" sz="900" u="none" cap="none" strike="noStrike">
                <a:solidFill>
                  <a:srgbClr val="FF5252"/>
                </a:solidFill>
                <a:latin typeface="Arial"/>
                <a:ea typeface="Arial"/>
                <a:cs typeface="Arial"/>
                <a:sym typeface="Arial"/>
              </a:rPr>
              <a:t>  risk: 9.1↑</a:t>
            </a:r>
            <a:r>
              <a:rPr b="0" i="0" lang="en-US" sz="900" u="none" cap="none" strike="noStrike">
                <a:solidFill>
                  <a:srgbClr val="7FFF00"/>
                </a:solidFill>
                <a:latin typeface="Arial"/>
                <a:ea typeface="Arial"/>
                <a:cs typeface="Arial"/>
                <a:sym typeface="Arial"/>
              </a:rPr>
              <a:t>  ✓ VALIDATED</a:t>
            </a:r>
            <a:endParaRPr b="0" i="0" sz="900" u="none" cap="none" strike="noStrike">
              <a:solidFill>
                <a:schemeClr val="dk1"/>
              </a:solidFill>
              <a:latin typeface="Calibri"/>
              <a:ea typeface="Calibri"/>
              <a:cs typeface="Calibri"/>
              <a:sym typeface="Calibri"/>
            </a:endParaRPr>
          </a:p>
        </p:txBody>
      </p:sp>
      <p:sp>
        <p:nvSpPr>
          <p:cNvPr id="534" name="Google Shape;534;p34"/>
          <p:cNvSpPr/>
          <p:nvPr/>
        </p:nvSpPr>
        <p:spPr>
          <a:xfrm>
            <a:off x="6339850" y="1755650"/>
            <a:ext cx="829200" cy="1116600"/>
          </a:xfrm>
          <a:prstGeom prst="rect">
            <a:avLst/>
          </a:prstGeom>
          <a:solidFill>
            <a:srgbClr val="062210"/>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34"/>
          <p:cNvSpPr/>
          <p:nvPr/>
        </p:nvSpPr>
        <p:spPr>
          <a:xfrm>
            <a:off x="6364225" y="1852395"/>
            <a:ext cx="747900" cy="8703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SQLMap</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WP_Que</a:t>
            </a:r>
            <a:r>
              <a:rPr b="0" i="0" lang="en-US" sz="800" u="none" cap="none" strike="noStrike">
                <a:solidFill>
                  <a:srgbClr val="7FFF00"/>
                </a:solidFill>
                <a:latin typeface="Arial"/>
                <a:ea typeface="Arial"/>
                <a:cs typeface="Arial"/>
                <a:sym typeface="Arial"/>
              </a:rPr>
              <a:t>r</a:t>
            </a:r>
            <a:r>
              <a:rPr b="0" i="0" lang="en-US" sz="800" u="none" cap="none" strike="noStrike">
                <a:solidFill>
                  <a:srgbClr val="7FFF00"/>
                </a:solidFill>
                <a:latin typeface="Arial"/>
                <a:ea typeface="Arial"/>
                <a:cs typeface="Arial"/>
                <a:sym typeface="Arial"/>
              </a:rPr>
              <a:t>y</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SQLi confirmed</a:t>
            </a:r>
            <a:endParaRPr b="0" i="0" sz="800" u="none" cap="none" strike="noStrike">
              <a:solidFill>
                <a:schemeClr val="dk1"/>
              </a:solidFill>
              <a:latin typeface="Calibri"/>
              <a:ea typeface="Calibri"/>
              <a:cs typeface="Calibri"/>
              <a:sym typeface="Calibri"/>
            </a:endParaRPr>
          </a:p>
        </p:txBody>
      </p:sp>
      <p:sp>
        <p:nvSpPr>
          <p:cNvPr id="536" name="Google Shape;536;p34"/>
          <p:cNvSpPr/>
          <p:nvPr/>
        </p:nvSpPr>
        <p:spPr>
          <a:xfrm>
            <a:off x="7087616" y="2221992"/>
            <a:ext cx="158496" cy="24384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FFC107"/>
              </a:buClr>
              <a:buSzPts val="1200"/>
              <a:buFont typeface="Calibri"/>
              <a:buNone/>
            </a:pPr>
            <a:r>
              <a:rPr b="0" i="0" lang="en-US" sz="1200" u="none" cap="none" strike="noStrike">
                <a:solidFill>
                  <a:srgbClr val="FFC107"/>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537" name="Google Shape;537;p34"/>
          <p:cNvSpPr/>
          <p:nvPr/>
        </p:nvSpPr>
        <p:spPr>
          <a:xfrm>
            <a:off x="7246112" y="1755654"/>
            <a:ext cx="747900" cy="1116600"/>
          </a:xfrm>
          <a:prstGeom prst="rect">
            <a:avLst/>
          </a:prstGeom>
          <a:solidFill>
            <a:srgbClr val="062210"/>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34"/>
          <p:cNvSpPr/>
          <p:nvPr/>
        </p:nvSpPr>
        <p:spPr>
          <a:xfrm>
            <a:off x="7270499" y="1852396"/>
            <a:ext cx="699000" cy="8703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SQLMap</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dump users</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hash cracked</a:t>
            </a:r>
            <a:endParaRPr b="0" i="0" sz="800" u="none" cap="none" strike="noStrike">
              <a:solidFill>
                <a:schemeClr val="dk1"/>
              </a:solidFill>
              <a:latin typeface="Calibri"/>
              <a:ea typeface="Calibri"/>
              <a:cs typeface="Calibri"/>
              <a:sym typeface="Calibri"/>
            </a:endParaRPr>
          </a:p>
        </p:txBody>
      </p:sp>
      <p:sp>
        <p:nvSpPr>
          <p:cNvPr id="539" name="Google Shape;539;p34"/>
          <p:cNvSpPr/>
          <p:nvPr/>
        </p:nvSpPr>
        <p:spPr>
          <a:xfrm>
            <a:off x="7993888" y="2221992"/>
            <a:ext cx="158496" cy="24384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FFC107"/>
              </a:buClr>
              <a:buSzPts val="1200"/>
              <a:buFont typeface="Calibri"/>
              <a:buNone/>
            </a:pPr>
            <a:r>
              <a:rPr b="0" i="0" lang="en-US" sz="1200" u="none" cap="none" strike="noStrike">
                <a:solidFill>
                  <a:srgbClr val="FFC107"/>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540" name="Google Shape;540;p34"/>
          <p:cNvSpPr/>
          <p:nvPr/>
        </p:nvSpPr>
        <p:spPr>
          <a:xfrm>
            <a:off x="8071099" y="1755650"/>
            <a:ext cx="829200" cy="1116600"/>
          </a:xfrm>
          <a:prstGeom prst="rect">
            <a:avLst/>
          </a:prstGeom>
          <a:solidFill>
            <a:srgbClr val="062210"/>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34"/>
          <p:cNvSpPr/>
          <p:nvPr/>
        </p:nvSpPr>
        <p:spPr>
          <a:xfrm>
            <a:off x="8127975" y="1852395"/>
            <a:ext cx="747900" cy="8703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Metasploit</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webshell</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Full RCE</a:t>
            </a:r>
            <a:endParaRPr b="0" i="0" sz="800" u="none" cap="none" strike="noStrike">
              <a:solidFill>
                <a:schemeClr val="dk1"/>
              </a:solidFill>
              <a:latin typeface="Calibri"/>
              <a:ea typeface="Calibri"/>
              <a:cs typeface="Calibri"/>
              <a:sym typeface="Calibri"/>
            </a:endParaRPr>
          </a:p>
        </p:txBody>
      </p:sp>
      <p:sp>
        <p:nvSpPr>
          <p:cNvPr id="542" name="Google Shape;542;p34"/>
          <p:cNvSpPr/>
          <p:nvPr/>
        </p:nvSpPr>
        <p:spPr>
          <a:xfrm>
            <a:off x="6339850" y="3054100"/>
            <a:ext cx="2560200" cy="529200"/>
          </a:xfrm>
          <a:prstGeom prst="rect">
            <a:avLst/>
          </a:prstGeom>
          <a:solidFill>
            <a:srgbClr val="1A0404"/>
          </a:solidFill>
          <a:ln cap="flat" cmpd="sng" w="10150">
            <a:solidFill>
              <a:srgbClr val="FF525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34"/>
          <p:cNvSpPr/>
          <p:nvPr/>
        </p:nvSpPr>
        <p:spPr>
          <a:xfrm>
            <a:off x="6427560" y="3132461"/>
            <a:ext cx="2440800" cy="3810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5252"/>
              </a:buClr>
              <a:buSzPts val="800"/>
              <a:buFont typeface="Arial"/>
              <a:buNone/>
            </a:pPr>
            <a:r>
              <a:rPr b="1" i="0" lang="en-US" sz="800" u="none" cap="none" strike="noStrike">
                <a:solidFill>
                  <a:srgbClr val="FF5252"/>
                </a:solidFill>
                <a:latin typeface="Arial"/>
                <a:ea typeface="Arial"/>
                <a:cs typeface="Arial"/>
                <a:sym typeface="Arial"/>
              </a:rPr>
              <a:t>IMPACT  CRITICAL  ·  </a:t>
            </a:r>
            <a:r>
              <a:rPr b="0" i="0" lang="en-US" sz="800" u="none" cap="none" strike="noStrike">
                <a:solidFill>
                  <a:srgbClr val="DDDDDD"/>
                </a:solidFill>
                <a:latin typeface="Arial"/>
                <a:ea typeface="Arial"/>
                <a:cs typeface="Arial"/>
                <a:sym typeface="Arial"/>
              </a:rPr>
              <a:t>Full RCE · Customer PII exposed</a:t>
            </a:r>
            <a:endParaRPr b="0" i="0" sz="800" u="none" cap="none" strike="noStrike">
              <a:solidFill>
                <a:schemeClr val="dk1"/>
              </a:solidFill>
              <a:latin typeface="Calibri"/>
              <a:ea typeface="Calibri"/>
              <a:cs typeface="Calibri"/>
              <a:sym typeface="Calibri"/>
            </a:endParaRPr>
          </a:p>
        </p:txBody>
      </p:sp>
      <p:sp>
        <p:nvSpPr>
          <p:cNvPr id="544" name="Google Shape;544;p34"/>
          <p:cNvSpPr/>
          <p:nvPr/>
        </p:nvSpPr>
        <p:spPr>
          <a:xfrm>
            <a:off x="9180576" y="1341120"/>
            <a:ext cx="2731008" cy="2346960"/>
          </a:xfrm>
          <a:prstGeom prst="rect">
            <a:avLst/>
          </a:prstGeom>
          <a:solidFill>
            <a:srgbClr val="1A0E00"/>
          </a:solidFill>
          <a:ln cap="flat" cmpd="sng" w="114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34"/>
          <p:cNvSpPr/>
          <p:nvPr/>
        </p:nvSpPr>
        <p:spPr>
          <a:xfrm>
            <a:off x="9265920" y="1402080"/>
            <a:ext cx="2560320" cy="24384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Chain-02: IDOR → Orders</a:t>
            </a:r>
            <a:r>
              <a:rPr b="1" i="0" lang="en-US" sz="900" u="none" cap="none" strike="noStrike">
                <a:solidFill>
                  <a:srgbClr val="FF5252"/>
                </a:solidFill>
                <a:latin typeface="Arial"/>
                <a:ea typeface="Arial"/>
                <a:cs typeface="Arial"/>
                <a:sym typeface="Arial"/>
              </a:rPr>
              <a:t>  risk: 7.5</a:t>
            </a:r>
            <a:r>
              <a:rPr b="0" i="0" lang="en-US" sz="900" u="none" cap="none" strike="noStrike">
                <a:solidFill>
                  <a:srgbClr val="7FFF00"/>
                </a:solidFill>
                <a:latin typeface="Arial"/>
                <a:ea typeface="Arial"/>
                <a:cs typeface="Arial"/>
                <a:sym typeface="Arial"/>
              </a:rPr>
              <a:t>  ✓ VALIDATED</a:t>
            </a:r>
            <a:endParaRPr b="0" i="0" sz="900" u="none" cap="none" strike="noStrike">
              <a:solidFill>
                <a:schemeClr val="dk1"/>
              </a:solidFill>
              <a:latin typeface="Calibri"/>
              <a:ea typeface="Calibri"/>
              <a:cs typeface="Calibri"/>
              <a:sym typeface="Calibri"/>
            </a:endParaRPr>
          </a:p>
        </p:txBody>
      </p:sp>
      <p:sp>
        <p:nvSpPr>
          <p:cNvPr id="546" name="Google Shape;546;p34"/>
          <p:cNvSpPr/>
          <p:nvPr/>
        </p:nvSpPr>
        <p:spPr>
          <a:xfrm>
            <a:off x="9265920" y="1755654"/>
            <a:ext cx="1200900" cy="1116600"/>
          </a:xfrm>
          <a:prstGeom prst="rect">
            <a:avLst/>
          </a:prstGeom>
          <a:solidFill>
            <a:srgbClr val="062210"/>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34"/>
          <p:cNvSpPr/>
          <p:nvPr/>
        </p:nvSpPr>
        <p:spPr>
          <a:xfrm>
            <a:off x="9290300" y="1852395"/>
            <a:ext cx="1152000" cy="8163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SQLMap</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IDOR param</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confirmed</a:t>
            </a:r>
            <a:endParaRPr b="0" i="0" sz="800" u="none" cap="none" strike="noStrike">
              <a:solidFill>
                <a:schemeClr val="dk1"/>
              </a:solidFill>
              <a:latin typeface="Calibri"/>
              <a:ea typeface="Calibri"/>
              <a:cs typeface="Calibri"/>
              <a:sym typeface="Calibri"/>
            </a:endParaRPr>
          </a:p>
        </p:txBody>
      </p:sp>
      <p:sp>
        <p:nvSpPr>
          <p:cNvPr id="548" name="Google Shape;548;p34"/>
          <p:cNvSpPr/>
          <p:nvPr/>
        </p:nvSpPr>
        <p:spPr>
          <a:xfrm>
            <a:off x="10466832" y="2221992"/>
            <a:ext cx="158496" cy="24384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FFC107"/>
              </a:buClr>
              <a:buSzPts val="1200"/>
              <a:buFont typeface="Calibri"/>
              <a:buNone/>
            </a:pPr>
            <a:r>
              <a:rPr b="0" i="0" lang="en-US" sz="1200" u="none" cap="none" strike="noStrike">
                <a:solidFill>
                  <a:srgbClr val="FFC107"/>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549" name="Google Shape;549;p34"/>
          <p:cNvSpPr/>
          <p:nvPr/>
        </p:nvSpPr>
        <p:spPr>
          <a:xfrm>
            <a:off x="10625327" y="1755654"/>
            <a:ext cx="1200900" cy="1116600"/>
          </a:xfrm>
          <a:prstGeom prst="rect">
            <a:avLst/>
          </a:prstGeom>
          <a:solidFill>
            <a:srgbClr val="062210"/>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34"/>
          <p:cNvSpPr/>
          <p:nvPr/>
        </p:nvSpPr>
        <p:spPr>
          <a:xfrm>
            <a:off x="10649700" y="1852395"/>
            <a:ext cx="1152000" cy="8163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HTTP GET</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all orders</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PII exposed</a:t>
            </a:r>
            <a:endParaRPr b="0" i="0" sz="800" u="none" cap="none" strike="noStrike">
              <a:solidFill>
                <a:schemeClr val="dk1"/>
              </a:solidFill>
              <a:latin typeface="Calibri"/>
              <a:ea typeface="Calibri"/>
              <a:cs typeface="Calibri"/>
              <a:sym typeface="Calibri"/>
            </a:endParaRPr>
          </a:p>
        </p:txBody>
      </p:sp>
      <p:sp>
        <p:nvSpPr>
          <p:cNvPr id="551" name="Google Shape;551;p34"/>
          <p:cNvSpPr/>
          <p:nvPr/>
        </p:nvSpPr>
        <p:spPr>
          <a:xfrm>
            <a:off x="9265930" y="3054100"/>
            <a:ext cx="2560200" cy="529200"/>
          </a:xfrm>
          <a:prstGeom prst="rect">
            <a:avLst/>
          </a:prstGeom>
          <a:solidFill>
            <a:srgbClr val="1A0404"/>
          </a:solidFill>
          <a:ln cap="flat" cmpd="sng" w="10150">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34"/>
          <p:cNvSpPr/>
          <p:nvPr/>
        </p:nvSpPr>
        <p:spPr>
          <a:xfrm>
            <a:off x="9298975" y="3132461"/>
            <a:ext cx="2440800" cy="3810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C107"/>
              </a:buClr>
              <a:buSzPts val="800"/>
              <a:buFont typeface="Arial"/>
              <a:buNone/>
            </a:pPr>
            <a:r>
              <a:rPr b="1" i="0" lang="en-US" sz="800" u="none" cap="none" strike="noStrike">
                <a:solidFill>
                  <a:srgbClr val="FFC107"/>
                </a:solidFill>
                <a:latin typeface="Arial"/>
                <a:ea typeface="Arial"/>
                <a:cs typeface="Arial"/>
                <a:sym typeface="Arial"/>
              </a:rPr>
              <a:t>IMPACT  HIGH  ·  </a:t>
            </a:r>
            <a:r>
              <a:rPr b="0" i="0" lang="en-US" sz="800" u="none" cap="none" strike="noStrike">
                <a:solidFill>
                  <a:srgbClr val="DDDDDD"/>
                </a:solidFill>
                <a:latin typeface="Arial"/>
                <a:ea typeface="Arial"/>
                <a:cs typeface="Arial"/>
                <a:sym typeface="Arial"/>
              </a:rPr>
              <a:t>All orders + PII exposed</a:t>
            </a:r>
            <a:endParaRPr b="0" i="0" sz="800" u="none" cap="none" strike="noStrike">
              <a:solidFill>
                <a:schemeClr val="dk1"/>
              </a:solidFill>
              <a:latin typeface="Calibri"/>
              <a:ea typeface="Calibri"/>
              <a:cs typeface="Calibri"/>
              <a:sym typeface="Calibri"/>
            </a:endParaRPr>
          </a:p>
        </p:txBody>
      </p:sp>
      <p:sp>
        <p:nvSpPr>
          <p:cNvPr id="553" name="Google Shape;553;p34"/>
          <p:cNvSpPr/>
          <p:nvPr/>
        </p:nvSpPr>
        <p:spPr>
          <a:xfrm>
            <a:off x="6254500" y="3785625"/>
            <a:ext cx="2730900" cy="2224500"/>
          </a:xfrm>
          <a:prstGeom prst="rect">
            <a:avLst/>
          </a:prstGeom>
          <a:solidFill>
            <a:srgbClr val="1A0E00"/>
          </a:solidFill>
          <a:ln cap="flat" cmpd="sng" w="114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34"/>
          <p:cNvSpPr/>
          <p:nvPr/>
        </p:nvSpPr>
        <p:spPr>
          <a:xfrm>
            <a:off x="6339840" y="3846576"/>
            <a:ext cx="2560320" cy="24384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Chain-03: Blind SQLi → Creds</a:t>
            </a:r>
            <a:r>
              <a:rPr b="1" i="0" lang="en-US" sz="900" u="none" cap="none" strike="noStrike">
                <a:solidFill>
                  <a:srgbClr val="FF5252"/>
                </a:solidFill>
                <a:latin typeface="Arial"/>
                <a:ea typeface="Arial"/>
                <a:cs typeface="Arial"/>
                <a:sym typeface="Arial"/>
              </a:rPr>
              <a:t>  risk: 8.1</a:t>
            </a:r>
            <a:r>
              <a:rPr b="0" i="0" lang="en-US" sz="900" u="none" cap="none" strike="noStrike">
                <a:solidFill>
                  <a:srgbClr val="7FFF00"/>
                </a:solidFill>
                <a:latin typeface="Arial"/>
                <a:ea typeface="Arial"/>
                <a:cs typeface="Arial"/>
                <a:sym typeface="Arial"/>
              </a:rPr>
              <a:t>  ✓ VALIDATED</a:t>
            </a:r>
            <a:endParaRPr b="0" i="0" sz="900" u="none" cap="none" strike="noStrike">
              <a:solidFill>
                <a:schemeClr val="dk1"/>
              </a:solidFill>
              <a:latin typeface="Calibri"/>
              <a:ea typeface="Calibri"/>
              <a:cs typeface="Calibri"/>
              <a:sym typeface="Calibri"/>
            </a:endParaRPr>
          </a:p>
        </p:txBody>
      </p:sp>
      <p:sp>
        <p:nvSpPr>
          <p:cNvPr id="555" name="Google Shape;555;p34"/>
          <p:cNvSpPr/>
          <p:nvPr/>
        </p:nvSpPr>
        <p:spPr>
          <a:xfrm>
            <a:off x="6339850" y="4196475"/>
            <a:ext cx="1200900" cy="1116600"/>
          </a:xfrm>
          <a:prstGeom prst="rect">
            <a:avLst/>
          </a:prstGeom>
          <a:solidFill>
            <a:srgbClr val="062210"/>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34"/>
          <p:cNvSpPr/>
          <p:nvPr/>
        </p:nvSpPr>
        <p:spPr>
          <a:xfrm>
            <a:off x="6364235" y="4293209"/>
            <a:ext cx="1152000" cy="8706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SQLMap</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blind SQLi</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staging login</a:t>
            </a:r>
            <a:endParaRPr b="0" i="0" sz="800" u="none" cap="none" strike="noStrike">
              <a:solidFill>
                <a:schemeClr val="dk1"/>
              </a:solidFill>
              <a:latin typeface="Calibri"/>
              <a:ea typeface="Calibri"/>
              <a:cs typeface="Calibri"/>
              <a:sym typeface="Calibri"/>
            </a:endParaRPr>
          </a:p>
        </p:txBody>
      </p:sp>
      <p:sp>
        <p:nvSpPr>
          <p:cNvPr id="557" name="Google Shape;557;p34"/>
          <p:cNvSpPr/>
          <p:nvPr/>
        </p:nvSpPr>
        <p:spPr>
          <a:xfrm>
            <a:off x="7540752" y="4666488"/>
            <a:ext cx="158496" cy="24384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FFC107"/>
              </a:buClr>
              <a:buSzPts val="1200"/>
              <a:buFont typeface="Calibri"/>
              <a:buNone/>
            </a:pPr>
            <a:r>
              <a:rPr b="0" i="0" lang="en-US" sz="1200" u="none" cap="none" strike="noStrike">
                <a:solidFill>
                  <a:srgbClr val="FFC107"/>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558" name="Google Shape;558;p34"/>
          <p:cNvSpPr/>
          <p:nvPr/>
        </p:nvSpPr>
        <p:spPr>
          <a:xfrm>
            <a:off x="7699256" y="4196475"/>
            <a:ext cx="1200900" cy="1116600"/>
          </a:xfrm>
          <a:prstGeom prst="rect">
            <a:avLst/>
          </a:prstGeom>
          <a:solidFill>
            <a:srgbClr val="062210"/>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34"/>
          <p:cNvSpPr/>
          <p:nvPr/>
        </p:nvSpPr>
        <p:spPr>
          <a:xfrm>
            <a:off x="7723639" y="4293209"/>
            <a:ext cx="1152000" cy="8706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Extract</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DB creds</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reuse risk</a:t>
            </a:r>
            <a:endParaRPr b="0" i="0" sz="800" u="none" cap="none" strike="noStrike">
              <a:solidFill>
                <a:schemeClr val="dk1"/>
              </a:solidFill>
              <a:latin typeface="Calibri"/>
              <a:ea typeface="Calibri"/>
              <a:cs typeface="Calibri"/>
              <a:sym typeface="Calibri"/>
            </a:endParaRPr>
          </a:p>
        </p:txBody>
      </p:sp>
      <p:sp>
        <p:nvSpPr>
          <p:cNvPr id="560" name="Google Shape;560;p34"/>
          <p:cNvSpPr/>
          <p:nvPr/>
        </p:nvSpPr>
        <p:spPr>
          <a:xfrm>
            <a:off x="6339900" y="5420161"/>
            <a:ext cx="2560200" cy="529200"/>
          </a:xfrm>
          <a:prstGeom prst="rect">
            <a:avLst/>
          </a:prstGeom>
          <a:solidFill>
            <a:srgbClr val="1A0404"/>
          </a:solidFill>
          <a:ln cap="flat" cmpd="sng" w="10150">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34"/>
          <p:cNvSpPr/>
          <p:nvPr/>
        </p:nvSpPr>
        <p:spPr>
          <a:xfrm>
            <a:off x="6376485" y="5498537"/>
            <a:ext cx="2487300" cy="3810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C107"/>
              </a:buClr>
              <a:buSzPts val="800"/>
              <a:buFont typeface="Arial"/>
              <a:buNone/>
            </a:pPr>
            <a:r>
              <a:rPr b="1" i="0" lang="en-US" sz="800" u="none" cap="none" strike="noStrike">
                <a:solidFill>
                  <a:srgbClr val="FFC107"/>
                </a:solidFill>
                <a:latin typeface="Arial"/>
                <a:ea typeface="Arial"/>
                <a:cs typeface="Arial"/>
                <a:sym typeface="Arial"/>
              </a:rPr>
              <a:t>IMPACT  HIGH  ·  </a:t>
            </a:r>
            <a:r>
              <a:rPr b="0" i="0" lang="en-US" sz="800" u="none" cap="none" strike="noStrike">
                <a:solidFill>
                  <a:srgbClr val="DDDDDD"/>
                </a:solidFill>
                <a:latin typeface="Arial"/>
                <a:ea typeface="Arial"/>
                <a:cs typeface="Arial"/>
                <a:sym typeface="Arial"/>
              </a:rPr>
              <a:t>DB credentials extracted · reuse risk</a:t>
            </a:r>
            <a:endParaRPr b="0" i="0" sz="800" u="none" cap="none" strike="noStrike">
              <a:solidFill>
                <a:schemeClr val="dk1"/>
              </a:solidFill>
              <a:latin typeface="Calibri"/>
              <a:ea typeface="Calibri"/>
              <a:cs typeface="Calibri"/>
              <a:sym typeface="Calibri"/>
            </a:endParaRPr>
          </a:p>
        </p:txBody>
      </p:sp>
      <p:sp>
        <p:nvSpPr>
          <p:cNvPr id="562" name="Google Shape;562;p34"/>
          <p:cNvSpPr/>
          <p:nvPr/>
        </p:nvSpPr>
        <p:spPr>
          <a:xfrm>
            <a:off x="9180573" y="3785625"/>
            <a:ext cx="2730900" cy="2224500"/>
          </a:xfrm>
          <a:prstGeom prst="rect">
            <a:avLst/>
          </a:prstGeom>
          <a:solidFill>
            <a:srgbClr val="1A0E00"/>
          </a:solidFill>
          <a:ln cap="flat" cmpd="sng" w="114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34"/>
          <p:cNvSpPr/>
          <p:nvPr/>
        </p:nvSpPr>
        <p:spPr>
          <a:xfrm>
            <a:off x="9265920" y="3846576"/>
            <a:ext cx="2560320" cy="24384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Chain-04: Exposed Backup</a:t>
            </a:r>
            <a:r>
              <a:rPr b="1" i="0" lang="en-US" sz="900" u="none" cap="none" strike="noStrike">
                <a:solidFill>
                  <a:srgbClr val="FF5252"/>
                </a:solidFill>
                <a:latin typeface="Arial"/>
                <a:ea typeface="Arial"/>
                <a:cs typeface="Arial"/>
                <a:sym typeface="Arial"/>
              </a:rPr>
              <a:t>  risk: 7.0</a:t>
            </a:r>
            <a:r>
              <a:rPr b="0" i="0" lang="en-US" sz="900" u="none" cap="none" strike="noStrike">
                <a:solidFill>
                  <a:srgbClr val="7FFF00"/>
                </a:solidFill>
                <a:latin typeface="Arial"/>
                <a:ea typeface="Arial"/>
                <a:cs typeface="Arial"/>
                <a:sym typeface="Arial"/>
              </a:rPr>
              <a:t>  ✓ VALIDATED</a:t>
            </a:r>
            <a:endParaRPr b="0" i="0" sz="900" u="none" cap="none" strike="noStrike">
              <a:solidFill>
                <a:schemeClr val="dk1"/>
              </a:solidFill>
              <a:latin typeface="Calibri"/>
              <a:ea typeface="Calibri"/>
              <a:cs typeface="Calibri"/>
              <a:sym typeface="Calibri"/>
            </a:endParaRPr>
          </a:p>
        </p:txBody>
      </p:sp>
      <p:sp>
        <p:nvSpPr>
          <p:cNvPr id="564" name="Google Shape;564;p34"/>
          <p:cNvSpPr/>
          <p:nvPr/>
        </p:nvSpPr>
        <p:spPr>
          <a:xfrm>
            <a:off x="9265926" y="4196475"/>
            <a:ext cx="2560200" cy="1116600"/>
          </a:xfrm>
          <a:prstGeom prst="rect">
            <a:avLst/>
          </a:prstGeom>
          <a:solidFill>
            <a:srgbClr val="062210"/>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34"/>
          <p:cNvSpPr/>
          <p:nvPr/>
        </p:nvSpPr>
        <p:spPr>
          <a:xfrm>
            <a:off x="9290306" y="4293209"/>
            <a:ext cx="2511600" cy="8706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HTTP GET</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/backup/*.sql</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public file · no auth</a:t>
            </a:r>
            <a:endParaRPr b="0" i="0" sz="800" u="none" cap="none" strike="noStrike">
              <a:solidFill>
                <a:schemeClr val="dk1"/>
              </a:solidFill>
              <a:latin typeface="Calibri"/>
              <a:ea typeface="Calibri"/>
              <a:cs typeface="Calibri"/>
              <a:sym typeface="Calibri"/>
            </a:endParaRPr>
          </a:p>
        </p:txBody>
      </p:sp>
      <p:sp>
        <p:nvSpPr>
          <p:cNvPr id="566" name="Google Shape;566;p34"/>
          <p:cNvSpPr/>
          <p:nvPr/>
        </p:nvSpPr>
        <p:spPr>
          <a:xfrm>
            <a:off x="9265980" y="5420161"/>
            <a:ext cx="2560200" cy="529200"/>
          </a:xfrm>
          <a:prstGeom prst="rect">
            <a:avLst/>
          </a:prstGeom>
          <a:solidFill>
            <a:srgbClr val="1A0404"/>
          </a:solidFill>
          <a:ln cap="flat" cmpd="sng" w="10150">
            <a:solidFill>
              <a:srgbClr val="FF525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34"/>
          <p:cNvSpPr/>
          <p:nvPr/>
        </p:nvSpPr>
        <p:spPr>
          <a:xfrm>
            <a:off x="9302563" y="5498537"/>
            <a:ext cx="2487300" cy="3810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5252"/>
              </a:buClr>
              <a:buSzPts val="800"/>
              <a:buFont typeface="Arial"/>
              <a:buNone/>
            </a:pPr>
            <a:r>
              <a:rPr b="1" i="0" lang="en-US" sz="800" u="none" cap="none" strike="noStrike">
                <a:solidFill>
                  <a:srgbClr val="FF5252"/>
                </a:solidFill>
                <a:latin typeface="Arial"/>
                <a:ea typeface="Arial"/>
                <a:cs typeface="Arial"/>
                <a:sym typeface="Arial"/>
              </a:rPr>
              <a:t>IMPACT  CRITICAL  ·  </a:t>
            </a:r>
            <a:r>
              <a:rPr b="0" i="0" lang="en-US" sz="800" u="none" cap="none" strike="noStrike">
                <a:solidFill>
                  <a:srgbClr val="DDDDDD"/>
                </a:solidFill>
                <a:latin typeface="Arial"/>
                <a:ea typeface="Arial"/>
                <a:cs typeface="Arial"/>
                <a:sym typeface="Arial"/>
              </a:rPr>
              <a:t>Full PII DB download · no exploit needed</a:t>
            </a:r>
            <a:endParaRPr b="0" i="0" sz="800" u="none" cap="none" strike="noStrike">
              <a:solidFill>
                <a:schemeClr val="dk1"/>
              </a:solidFill>
              <a:latin typeface="Calibri"/>
              <a:ea typeface="Calibri"/>
              <a:cs typeface="Calibri"/>
              <a:sym typeface="Calibri"/>
            </a:endParaRPr>
          </a:p>
        </p:txBody>
      </p:sp>
      <p:sp>
        <p:nvSpPr>
          <p:cNvPr id="568" name="Google Shape;568;p34"/>
          <p:cNvSpPr/>
          <p:nvPr/>
        </p:nvSpPr>
        <p:spPr>
          <a:xfrm>
            <a:off x="6156950" y="6106375"/>
            <a:ext cx="5852100" cy="330900"/>
          </a:xfrm>
          <a:prstGeom prst="rect">
            <a:avLst/>
          </a:prstGeom>
          <a:solidFill>
            <a:srgbClr val="1A1000"/>
          </a:solidFill>
          <a:ln cap="flat" cmpd="sng" w="95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34"/>
          <p:cNvSpPr/>
          <p:nvPr/>
        </p:nvSpPr>
        <p:spPr>
          <a:xfrm>
            <a:off x="6248350" y="6126201"/>
            <a:ext cx="5669400" cy="2682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FFC107"/>
              </a:buClr>
              <a:buSzPts val="800"/>
              <a:buFont typeface="Arial"/>
              <a:buNone/>
            </a:pPr>
            <a:r>
              <a:rPr b="1" i="0" lang="en-US" sz="800" u="none" cap="none" strike="noStrike">
                <a:solidFill>
                  <a:srgbClr val="FFC107"/>
                </a:solidFill>
                <a:latin typeface="Arial"/>
                <a:ea typeface="Arial"/>
                <a:cs typeface="Arial"/>
                <a:sym typeface="Arial"/>
              </a:rPr>
              <a:t>APG Priority Queue:  </a:t>
            </a:r>
            <a:r>
              <a:rPr b="0" i="0" lang="en-US" sz="800" u="none" cap="none" strike="noStrike">
                <a:solidFill>
                  <a:srgbClr val="BBBBBB"/>
                </a:solidFill>
                <a:latin typeface="Arial"/>
                <a:ea typeface="Arial"/>
                <a:cs typeface="Arial"/>
                <a:sym typeface="Arial"/>
              </a:rPr>
              <a:t>#1 Chain-01 · 9.1  ·  #2 Chain-03 · 8.1  ·  #3 Chain-02 · 7.5  ·  #4 Chain-04 · 7.0  </a:t>
            </a:r>
            <a:endParaRPr b="0" i="0" sz="800" u="none" cap="none" strike="noStrike">
              <a:solidFill>
                <a:srgbClr val="BBBBBB"/>
              </a:solidFill>
              <a:latin typeface="Arial"/>
              <a:ea typeface="Arial"/>
              <a:cs typeface="Arial"/>
              <a:sym typeface="Arial"/>
            </a:endParaRPr>
          </a:p>
          <a:p>
            <a:pPr indent="457200" lvl="0" marL="457200" marR="0" rtl="0" algn="ctr">
              <a:lnSpc>
                <a:spcPct val="100000"/>
              </a:lnSpc>
              <a:spcBef>
                <a:spcPts val="0"/>
              </a:spcBef>
              <a:spcAft>
                <a:spcPts val="0"/>
              </a:spcAft>
              <a:buClr>
                <a:srgbClr val="FFC107"/>
              </a:buClr>
              <a:buSzPts val="800"/>
              <a:buFont typeface="Arial"/>
              <a:buNone/>
            </a:pPr>
            <a:r>
              <a:rPr lang="en-US" sz="800">
                <a:solidFill>
                  <a:srgbClr val="BBBBBB"/>
                </a:solidFill>
              </a:rPr>
              <a:t>    </a:t>
            </a:r>
            <a:r>
              <a:rPr b="0" i="0" lang="en-US" sz="800" u="none" cap="none" strike="noStrike">
                <a:solidFill>
                  <a:srgbClr val="BBBBBB"/>
                </a:solidFill>
                <a:latin typeface="Arial"/>
                <a:ea typeface="Arial"/>
                <a:cs typeface="Arial"/>
                <a:sym typeface="Arial"/>
              </a:rPr>
              <a:t>·  Commander re-ranks on every status change</a:t>
            </a:r>
            <a:endParaRPr b="0" i="0" sz="800" u="none" cap="none" strike="noStrike">
              <a:solidFill>
                <a:schemeClr val="dk1"/>
              </a:solidFill>
              <a:latin typeface="Calibri"/>
              <a:ea typeface="Calibri"/>
              <a:cs typeface="Calibri"/>
              <a:sym typeface="Calibri"/>
            </a:endParaRPr>
          </a:p>
        </p:txBody>
      </p:sp>
      <p:sp>
        <p:nvSpPr>
          <p:cNvPr id="570" name="Google Shape;570;p34"/>
          <p:cNvSpPr/>
          <p:nvPr/>
        </p:nvSpPr>
        <p:spPr>
          <a:xfrm>
            <a:off x="182880" y="6473952"/>
            <a:ext cx="11826240" cy="304800"/>
          </a:xfrm>
          <a:prstGeom prst="rect">
            <a:avLst/>
          </a:prstGeom>
          <a:solidFill>
            <a:srgbClr val="04101A"/>
          </a:solidFill>
          <a:ln cap="flat" cmpd="sng" w="95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34"/>
          <p:cNvSpPr/>
          <p:nvPr/>
        </p:nvSpPr>
        <p:spPr>
          <a:xfrm>
            <a:off x="304800" y="6486144"/>
            <a:ext cx="11582400" cy="268224"/>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D4FF"/>
              </a:buClr>
              <a:buSzPts val="800"/>
              <a:buFont typeface="Arial"/>
              <a:buNone/>
            </a:pPr>
            <a:r>
              <a:rPr b="0" i="1" lang="en-US" sz="800" u="none" cap="none" strike="noStrike">
                <a:solidFill>
                  <a:srgbClr val="00D4FF"/>
                </a:solidFill>
                <a:latin typeface="Arial"/>
                <a:ea typeface="Arial"/>
                <a:cs typeface="Arial"/>
                <a:sym typeface="Arial"/>
              </a:rPr>
              <a:t>Separation Principle:  Discovery agents write only to the ASG — they never reason about chains.  The Commander writes only to the APG — it never runs tools.  No agent conflates discovered facts with hypothesised attack reasoning.</a:t>
            </a:r>
            <a:endParaRPr b="0" i="0" sz="800" u="none" cap="none" strike="noStrike">
              <a:solidFill>
                <a:schemeClr val="dk1"/>
              </a:solidFill>
              <a:latin typeface="Calibri"/>
              <a:ea typeface="Calibri"/>
              <a:cs typeface="Calibri"/>
              <a:sym typeface="Calibri"/>
            </a:endParaRPr>
          </a:p>
        </p:txBody>
      </p:sp>
      <p:cxnSp>
        <p:nvCxnSpPr>
          <p:cNvPr id="572" name="Google Shape;572;p34"/>
          <p:cNvCxnSpPr>
            <a:stCxn id="491" idx="3"/>
            <a:endCxn id="495" idx="2"/>
          </p:cNvCxnSpPr>
          <p:nvPr/>
        </p:nvCxnSpPr>
        <p:spPr>
          <a:xfrm flipH="1">
            <a:off x="3702372" y="4196487"/>
            <a:ext cx="455100" cy="1434000"/>
          </a:xfrm>
          <a:prstGeom prst="bentConnector4">
            <a:avLst>
              <a:gd fmla="val -328983" name="adj1"/>
              <a:gd fmla="val 142619" name="adj2"/>
            </a:avLst>
          </a:prstGeom>
          <a:noFill/>
          <a:ln cap="flat" cmpd="sng" w="9525">
            <a:solidFill>
              <a:srgbClr val="FF5252"/>
            </a:solidFill>
            <a:prstDash val="solid"/>
            <a:round/>
            <a:headEnd len="sm" w="sm" type="none"/>
            <a:tailEnd len="med" w="med" type="stealth"/>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576" name="Shape 576"/>
        <p:cNvGrpSpPr/>
        <p:nvPr/>
      </p:nvGrpSpPr>
      <p:grpSpPr>
        <a:xfrm>
          <a:off x="0" y="0"/>
          <a:ext cx="0" cy="0"/>
          <a:chOff x="0" y="0"/>
          <a:chExt cx="0" cy="0"/>
        </a:xfrm>
      </p:grpSpPr>
      <p:sp>
        <p:nvSpPr>
          <p:cNvPr id="577" name="Google Shape;577;p35"/>
          <p:cNvSpPr/>
          <p:nvPr/>
        </p:nvSpPr>
        <p:spPr>
          <a:xfrm>
            <a:off x="0" y="0"/>
            <a:ext cx="54900" cy="68580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8" name="Google Shape;578;p35"/>
          <p:cNvSpPr/>
          <p:nvPr/>
        </p:nvSpPr>
        <p:spPr>
          <a:xfrm>
            <a:off x="54864" y="0"/>
            <a:ext cx="12136800" cy="366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9" name="Google Shape;579;p35"/>
          <p:cNvSpPr/>
          <p:nvPr/>
        </p:nvSpPr>
        <p:spPr>
          <a:xfrm>
            <a:off x="54864" y="6821424"/>
            <a:ext cx="12136800" cy="366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80" name="Google Shape;580;p35"/>
          <p:cNvSpPr txBox="1"/>
          <p:nvPr/>
        </p:nvSpPr>
        <p:spPr>
          <a:xfrm>
            <a:off x="274320" y="64008"/>
            <a:ext cx="54864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BD93F9"/>
                </a:solidFill>
                <a:latin typeface="Calibri"/>
                <a:ea typeface="Calibri"/>
                <a:cs typeface="Calibri"/>
                <a:sym typeface="Calibri"/>
              </a:rPr>
              <a:t>AGENT ARCHITECTURE</a:t>
            </a:r>
            <a:endParaRPr b="0" i="0" sz="1400" u="none" cap="none" strike="noStrike">
              <a:solidFill>
                <a:srgbClr val="000000"/>
              </a:solidFill>
              <a:latin typeface="Arial"/>
              <a:ea typeface="Arial"/>
              <a:cs typeface="Arial"/>
              <a:sym typeface="Arial"/>
            </a:endParaRPr>
          </a:p>
        </p:txBody>
      </p:sp>
      <p:sp>
        <p:nvSpPr>
          <p:cNvPr id="581" name="Google Shape;581;p35"/>
          <p:cNvSpPr txBox="1"/>
          <p:nvPr/>
        </p:nvSpPr>
        <p:spPr>
          <a:xfrm>
            <a:off x="274320" y="292608"/>
            <a:ext cx="10058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Calibri"/>
                <a:ea typeface="Calibri"/>
                <a:cs typeface="Calibri"/>
                <a:sym typeface="Calibri"/>
              </a:rPr>
              <a:t>Context-Isolated Agents — Spawn · Execute · Return · Discard</a:t>
            </a:r>
            <a:endParaRPr b="0" i="0" sz="1400" u="none" cap="none" strike="noStrike">
              <a:solidFill>
                <a:srgbClr val="000000"/>
              </a:solidFill>
              <a:latin typeface="Arial"/>
              <a:ea typeface="Arial"/>
              <a:cs typeface="Arial"/>
              <a:sym typeface="Arial"/>
            </a:endParaRPr>
          </a:p>
        </p:txBody>
      </p:sp>
      <p:sp>
        <p:nvSpPr>
          <p:cNvPr id="582" name="Google Shape;582;p35"/>
          <p:cNvSpPr/>
          <p:nvPr/>
        </p:nvSpPr>
        <p:spPr>
          <a:xfrm>
            <a:off x="164600" y="804675"/>
            <a:ext cx="4434900" cy="5888700"/>
          </a:xfrm>
          <a:prstGeom prst="rect">
            <a:avLst/>
          </a:prstGeom>
          <a:solidFill>
            <a:srgbClr val="080C20"/>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83" name="Google Shape;583;p35"/>
          <p:cNvSpPr txBox="1"/>
          <p:nvPr/>
        </p:nvSpPr>
        <p:spPr>
          <a:xfrm>
            <a:off x="164592" y="859536"/>
            <a:ext cx="44349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BD93F9"/>
                </a:solidFill>
                <a:latin typeface="Calibri"/>
                <a:ea typeface="Calibri"/>
                <a:cs typeface="Calibri"/>
                <a:sym typeface="Calibri"/>
              </a:rPr>
              <a:t>CONTEXT ISOLATION MODEL</a:t>
            </a:r>
            <a:endParaRPr b="0" i="0" sz="1400" u="none" cap="none" strike="noStrike">
              <a:solidFill>
                <a:srgbClr val="000000"/>
              </a:solidFill>
              <a:latin typeface="Arial"/>
              <a:ea typeface="Arial"/>
              <a:cs typeface="Arial"/>
              <a:sym typeface="Arial"/>
            </a:endParaRPr>
          </a:p>
        </p:txBody>
      </p:sp>
      <p:sp>
        <p:nvSpPr>
          <p:cNvPr id="584" name="Google Shape;584;p35"/>
          <p:cNvSpPr/>
          <p:nvPr/>
        </p:nvSpPr>
        <p:spPr>
          <a:xfrm>
            <a:off x="987552" y="1152144"/>
            <a:ext cx="2743200" cy="502800"/>
          </a:xfrm>
          <a:prstGeom prst="rect">
            <a:avLst/>
          </a:prstGeom>
          <a:solidFill>
            <a:srgbClr val="041832"/>
          </a:solidFill>
          <a:ln cap="flat" cmpd="sng" w="228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85" name="Google Shape;585;p35"/>
          <p:cNvSpPr/>
          <p:nvPr/>
        </p:nvSpPr>
        <p:spPr>
          <a:xfrm>
            <a:off x="987552" y="1152144"/>
            <a:ext cx="2743200" cy="1830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86" name="Google Shape;586;p35"/>
          <p:cNvSpPr txBox="1"/>
          <p:nvPr/>
        </p:nvSpPr>
        <p:spPr>
          <a:xfrm>
            <a:off x="987552" y="1170432"/>
            <a:ext cx="27432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COMMANDER AGENT</a:t>
            </a:r>
            <a:endParaRPr b="0" i="0" sz="1400" u="none" cap="none" strike="noStrike">
              <a:solidFill>
                <a:srgbClr val="000000"/>
              </a:solidFill>
              <a:latin typeface="Arial"/>
              <a:ea typeface="Arial"/>
              <a:cs typeface="Arial"/>
              <a:sym typeface="Arial"/>
            </a:endParaRPr>
          </a:p>
        </p:txBody>
      </p:sp>
      <p:sp>
        <p:nvSpPr>
          <p:cNvPr id="587" name="Google Shape;587;p35"/>
          <p:cNvSpPr txBox="1"/>
          <p:nvPr/>
        </p:nvSpPr>
        <p:spPr>
          <a:xfrm>
            <a:off x="987552" y="1353312"/>
            <a:ext cx="27432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1" lang="en-US" sz="800" u="none" cap="none" strike="noStrike">
                <a:solidFill>
                  <a:srgbClr val="A0AAB8"/>
                </a:solidFill>
                <a:latin typeface="Calibri"/>
                <a:ea typeface="Calibri"/>
                <a:cs typeface="Calibri"/>
                <a:sym typeface="Calibri"/>
              </a:rPr>
              <a:t>Reads ASG + APG → decides next action</a:t>
            </a:r>
            <a:endParaRPr b="0" i="0" sz="1400" u="none" cap="none" strike="noStrike">
              <a:solidFill>
                <a:srgbClr val="000000"/>
              </a:solidFill>
              <a:latin typeface="Arial"/>
              <a:ea typeface="Arial"/>
              <a:cs typeface="Arial"/>
              <a:sym typeface="Arial"/>
            </a:endParaRPr>
          </a:p>
        </p:txBody>
      </p:sp>
      <p:cxnSp>
        <p:nvCxnSpPr>
          <p:cNvPr id="588" name="Google Shape;588;p35"/>
          <p:cNvCxnSpPr/>
          <p:nvPr/>
        </p:nvCxnSpPr>
        <p:spPr>
          <a:xfrm>
            <a:off x="0" y="1655064"/>
            <a:ext cx="0" cy="228600"/>
          </a:xfrm>
          <a:prstGeom prst="straightConnector1">
            <a:avLst/>
          </a:prstGeom>
          <a:noFill/>
          <a:ln cap="flat" cmpd="sng" w="19050">
            <a:solidFill>
              <a:srgbClr val="BD93F9"/>
            </a:solidFill>
            <a:prstDash val="solid"/>
            <a:round/>
            <a:headEnd len="med" w="med" type="stealth"/>
            <a:tailEnd len="sm" w="sm" type="none"/>
          </a:ln>
          <a:effectLst>
            <a:outerShdw blurRad="40000" rotWithShape="0" dir="5400000" dist="20000">
              <a:srgbClr val="000000">
                <a:alpha val="38040"/>
              </a:srgbClr>
            </a:outerShdw>
          </a:effectLst>
        </p:spPr>
      </p:cxnSp>
      <p:sp>
        <p:nvSpPr>
          <p:cNvPr id="589" name="Google Shape;589;p35"/>
          <p:cNvSpPr txBox="1"/>
          <p:nvPr/>
        </p:nvSpPr>
        <p:spPr>
          <a:xfrm>
            <a:off x="2455164" y="1673352"/>
            <a:ext cx="1645800" cy="20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0" i="1" lang="en-US" sz="750" u="none" cap="none" strike="noStrike">
                <a:solidFill>
                  <a:srgbClr val="BD93F9"/>
                </a:solidFill>
                <a:latin typeface="Calibri"/>
                <a:ea typeface="Calibri"/>
                <a:cs typeface="Calibri"/>
                <a:sym typeface="Calibri"/>
              </a:rPr>
              <a:t>spawn with scoped context</a:t>
            </a:r>
            <a:endParaRPr b="0" i="0" sz="1400" u="none" cap="none" strike="noStrike">
              <a:solidFill>
                <a:srgbClr val="000000"/>
              </a:solidFill>
              <a:latin typeface="Arial"/>
              <a:ea typeface="Arial"/>
              <a:cs typeface="Arial"/>
              <a:sym typeface="Arial"/>
            </a:endParaRPr>
          </a:p>
        </p:txBody>
      </p:sp>
      <p:sp>
        <p:nvSpPr>
          <p:cNvPr id="590" name="Google Shape;590;p35"/>
          <p:cNvSpPr/>
          <p:nvPr/>
        </p:nvSpPr>
        <p:spPr>
          <a:xfrm>
            <a:off x="365750" y="1947675"/>
            <a:ext cx="4032600" cy="2758500"/>
          </a:xfrm>
          <a:prstGeom prst="rect">
            <a:avLst/>
          </a:prstGeom>
          <a:solidFill>
            <a:srgbClr val="0A1028"/>
          </a:solidFill>
          <a:ln cap="flat" cmpd="sng" w="12700">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1" name="Google Shape;591;p35"/>
          <p:cNvSpPr/>
          <p:nvPr/>
        </p:nvSpPr>
        <p:spPr>
          <a:xfrm>
            <a:off x="365760" y="1947672"/>
            <a:ext cx="4032600" cy="219600"/>
          </a:xfrm>
          <a:prstGeom prst="rect">
            <a:avLst/>
          </a:prstGeom>
          <a:solidFill>
            <a:srgbClr val="20103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2" name="Google Shape;592;p35"/>
          <p:cNvSpPr txBox="1"/>
          <p:nvPr/>
        </p:nvSpPr>
        <p:spPr>
          <a:xfrm>
            <a:off x="365760" y="1984248"/>
            <a:ext cx="40326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BD93F9"/>
                </a:solidFill>
                <a:latin typeface="Calibri"/>
                <a:ea typeface="Calibri"/>
                <a:cs typeface="Calibri"/>
                <a:sym typeface="Calibri"/>
              </a:rPr>
              <a:t>ISOLATED AGENT CONTEXT  (fresh per task)</a:t>
            </a:r>
            <a:endParaRPr b="0" i="0" sz="1400" u="none" cap="none" strike="noStrike">
              <a:solidFill>
                <a:srgbClr val="000000"/>
              </a:solidFill>
              <a:latin typeface="Arial"/>
              <a:ea typeface="Arial"/>
              <a:cs typeface="Arial"/>
              <a:sym typeface="Arial"/>
            </a:endParaRPr>
          </a:p>
        </p:txBody>
      </p:sp>
      <p:sp>
        <p:nvSpPr>
          <p:cNvPr id="593" name="Google Shape;593;p35"/>
          <p:cNvSpPr/>
          <p:nvPr/>
        </p:nvSpPr>
        <p:spPr>
          <a:xfrm>
            <a:off x="457200" y="2221998"/>
            <a:ext cx="3849600" cy="512100"/>
          </a:xfrm>
          <a:prstGeom prst="rect">
            <a:avLst/>
          </a:prstGeom>
          <a:solidFill>
            <a:srgbClr val="04160A"/>
          </a:solidFill>
          <a:ln cap="flat" cmpd="sng" w="1015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4" name="Google Shape;594;p35"/>
          <p:cNvSpPr txBox="1"/>
          <p:nvPr/>
        </p:nvSpPr>
        <p:spPr>
          <a:xfrm>
            <a:off x="530352" y="2258568"/>
            <a:ext cx="1005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ASG SLICE</a:t>
            </a:r>
            <a:endParaRPr b="0" i="0" sz="1400" u="none" cap="none" strike="noStrike">
              <a:solidFill>
                <a:srgbClr val="000000"/>
              </a:solidFill>
              <a:latin typeface="Arial"/>
              <a:ea typeface="Arial"/>
              <a:cs typeface="Arial"/>
              <a:sym typeface="Arial"/>
            </a:endParaRPr>
          </a:p>
        </p:txBody>
      </p:sp>
      <p:sp>
        <p:nvSpPr>
          <p:cNvPr id="595" name="Google Shape;595;p35"/>
          <p:cNvSpPr txBox="1"/>
          <p:nvPr/>
        </p:nvSpPr>
        <p:spPr>
          <a:xfrm>
            <a:off x="1572768" y="2258568"/>
            <a:ext cx="2661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A0AAB8"/>
                </a:solidFill>
                <a:latin typeface="Calibri"/>
                <a:ea typeface="Calibri"/>
                <a:cs typeface="Calibri"/>
                <a:sym typeface="Calibri"/>
              </a:rPr>
              <a:t>Only nodes relevant to this task</a:t>
            </a:r>
            <a:endParaRPr b="0" i="0" sz="1400" u="none" cap="none" strike="noStrike">
              <a:solidFill>
                <a:srgbClr val="000000"/>
              </a:solidFill>
              <a:latin typeface="Arial"/>
              <a:ea typeface="Arial"/>
              <a:cs typeface="Arial"/>
              <a:sym typeface="Arial"/>
            </a:endParaRPr>
          </a:p>
        </p:txBody>
      </p:sp>
      <p:sp>
        <p:nvSpPr>
          <p:cNvPr id="596" name="Google Shape;596;p35"/>
          <p:cNvSpPr/>
          <p:nvPr/>
        </p:nvSpPr>
        <p:spPr>
          <a:xfrm>
            <a:off x="457200" y="2814064"/>
            <a:ext cx="3849600" cy="502800"/>
          </a:xfrm>
          <a:prstGeom prst="rect">
            <a:avLst/>
          </a:prstGeom>
          <a:solidFill>
            <a:srgbClr val="1A1002"/>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7" name="Google Shape;597;p35"/>
          <p:cNvSpPr txBox="1"/>
          <p:nvPr/>
        </p:nvSpPr>
        <p:spPr>
          <a:xfrm>
            <a:off x="530352" y="2850646"/>
            <a:ext cx="1005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FFD700"/>
                </a:solidFill>
                <a:latin typeface="Calibri"/>
                <a:ea typeface="Calibri"/>
                <a:cs typeface="Calibri"/>
                <a:sym typeface="Calibri"/>
              </a:rPr>
              <a:t>APG SLICE</a:t>
            </a:r>
            <a:endParaRPr b="0" i="0" sz="1400" u="none" cap="none" strike="noStrike">
              <a:solidFill>
                <a:srgbClr val="000000"/>
              </a:solidFill>
              <a:latin typeface="Arial"/>
              <a:ea typeface="Arial"/>
              <a:cs typeface="Arial"/>
              <a:sym typeface="Arial"/>
            </a:endParaRPr>
          </a:p>
        </p:txBody>
      </p:sp>
      <p:sp>
        <p:nvSpPr>
          <p:cNvPr id="598" name="Google Shape;598;p35"/>
          <p:cNvSpPr txBox="1"/>
          <p:nvPr/>
        </p:nvSpPr>
        <p:spPr>
          <a:xfrm>
            <a:off x="1572768" y="2850646"/>
            <a:ext cx="2661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A0AAB8"/>
                </a:solidFill>
                <a:latin typeface="Calibri"/>
                <a:ea typeface="Calibri"/>
                <a:cs typeface="Calibri"/>
                <a:sym typeface="Calibri"/>
              </a:rPr>
              <a:t>Relevant AttackChains (if any)</a:t>
            </a:r>
            <a:endParaRPr b="0" i="0" sz="1400" u="none" cap="none" strike="noStrike">
              <a:solidFill>
                <a:srgbClr val="000000"/>
              </a:solidFill>
              <a:latin typeface="Arial"/>
              <a:ea typeface="Arial"/>
              <a:cs typeface="Arial"/>
              <a:sym typeface="Arial"/>
            </a:endParaRPr>
          </a:p>
        </p:txBody>
      </p:sp>
      <p:sp>
        <p:nvSpPr>
          <p:cNvPr id="599" name="Google Shape;599;p35"/>
          <p:cNvSpPr/>
          <p:nvPr/>
        </p:nvSpPr>
        <p:spPr>
          <a:xfrm>
            <a:off x="434350" y="3409824"/>
            <a:ext cx="3849600" cy="502800"/>
          </a:xfrm>
          <a:prstGeom prst="rect">
            <a:avLst/>
          </a:prstGeom>
          <a:solidFill>
            <a:srgbClr val="180606"/>
          </a:solidFill>
          <a:ln cap="flat" cmpd="sng" w="1015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0" name="Google Shape;600;p35"/>
          <p:cNvSpPr txBox="1"/>
          <p:nvPr/>
        </p:nvSpPr>
        <p:spPr>
          <a:xfrm>
            <a:off x="507502" y="3446398"/>
            <a:ext cx="1005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FF4545"/>
                </a:solidFill>
                <a:latin typeface="Calibri"/>
                <a:ea typeface="Calibri"/>
                <a:cs typeface="Calibri"/>
                <a:sym typeface="Calibri"/>
              </a:rPr>
              <a:t>TOOL SET</a:t>
            </a:r>
            <a:endParaRPr b="0" i="0" sz="1400" u="none" cap="none" strike="noStrike">
              <a:solidFill>
                <a:srgbClr val="000000"/>
              </a:solidFill>
              <a:latin typeface="Arial"/>
              <a:ea typeface="Arial"/>
              <a:cs typeface="Arial"/>
              <a:sym typeface="Arial"/>
            </a:endParaRPr>
          </a:p>
        </p:txBody>
      </p:sp>
      <p:sp>
        <p:nvSpPr>
          <p:cNvPr id="601" name="Google Shape;601;p35"/>
          <p:cNvSpPr txBox="1"/>
          <p:nvPr/>
        </p:nvSpPr>
        <p:spPr>
          <a:xfrm>
            <a:off x="1549918" y="3446398"/>
            <a:ext cx="2661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A0AAB8"/>
                </a:solidFill>
                <a:latin typeface="Calibri"/>
                <a:ea typeface="Calibri"/>
                <a:cs typeface="Calibri"/>
                <a:sym typeface="Calibri"/>
              </a:rPr>
              <a:t>Authorized tools only — no others</a:t>
            </a:r>
            <a:endParaRPr b="0" i="0" sz="1400" u="none" cap="none" strike="noStrike">
              <a:solidFill>
                <a:srgbClr val="000000"/>
              </a:solidFill>
              <a:latin typeface="Arial"/>
              <a:ea typeface="Arial"/>
              <a:cs typeface="Arial"/>
              <a:sym typeface="Arial"/>
            </a:endParaRPr>
          </a:p>
        </p:txBody>
      </p:sp>
      <p:sp>
        <p:nvSpPr>
          <p:cNvPr id="602" name="Google Shape;602;p35"/>
          <p:cNvSpPr/>
          <p:nvPr/>
        </p:nvSpPr>
        <p:spPr>
          <a:xfrm>
            <a:off x="434350" y="4009554"/>
            <a:ext cx="3849600" cy="438900"/>
          </a:xfrm>
          <a:prstGeom prst="rect">
            <a:avLst/>
          </a:prstGeom>
          <a:solidFill>
            <a:srgbClr val="041420"/>
          </a:solidFill>
          <a:ln cap="flat" cmpd="sng" w="101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3" name="Google Shape;603;p35"/>
          <p:cNvSpPr txBox="1"/>
          <p:nvPr/>
        </p:nvSpPr>
        <p:spPr>
          <a:xfrm>
            <a:off x="507502" y="4046138"/>
            <a:ext cx="1005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E5FF"/>
                </a:solidFill>
                <a:latin typeface="Calibri"/>
                <a:ea typeface="Calibri"/>
                <a:cs typeface="Calibri"/>
                <a:sym typeface="Calibri"/>
              </a:rPr>
              <a:t>TASK SPEC</a:t>
            </a:r>
            <a:endParaRPr b="0" i="0" sz="1400" u="none" cap="none" strike="noStrike">
              <a:solidFill>
                <a:srgbClr val="000000"/>
              </a:solidFill>
              <a:latin typeface="Arial"/>
              <a:ea typeface="Arial"/>
              <a:cs typeface="Arial"/>
              <a:sym typeface="Arial"/>
            </a:endParaRPr>
          </a:p>
        </p:txBody>
      </p:sp>
      <p:sp>
        <p:nvSpPr>
          <p:cNvPr id="604" name="Google Shape;604;p35"/>
          <p:cNvSpPr txBox="1"/>
          <p:nvPr/>
        </p:nvSpPr>
        <p:spPr>
          <a:xfrm>
            <a:off x="1549918" y="4046138"/>
            <a:ext cx="26610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A0AAB8"/>
                </a:solidFill>
                <a:latin typeface="Calibri"/>
                <a:ea typeface="Calibri"/>
                <a:cs typeface="Calibri"/>
                <a:sym typeface="Calibri"/>
              </a:rPr>
              <a:t>Commander's current plan item</a:t>
            </a:r>
            <a:endParaRPr b="0" i="0" sz="1400" u="none" cap="none" strike="noStrike">
              <a:solidFill>
                <a:srgbClr val="000000"/>
              </a:solidFill>
              <a:latin typeface="Arial"/>
              <a:ea typeface="Arial"/>
              <a:cs typeface="Arial"/>
              <a:sym typeface="Arial"/>
            </a:endParaRPr>
          </a:p>
        </p:txBody>
      </p:sp>
      <p:cxnSp>
        <p:nvCxnSpPr>
          <p:cNvPr id="605" name="Google Shape;605;p35"/>
          <p:cNvCxnSpPr/>
          <p:nvPr/>
        </p:nvCxnSpPr>
        <p:spPr>
          <a:xfrm>
            <a:off x="0" y="5148072"/>
            <a:ext cx="0" cy="292500"/>
          </a:xfrm>
          <a:prstGeom prst="straightConnector1">
            <a:avLst/>
          </a:prstGeom>
          <a:noFill/>
          <a:ln cap="flat" cmpd="sng" w="19050">
            <a:solidFill>
              <a:srgbClr val="39FF14"/>
            </a:solidFill>
            <a:prstDash val="solid"/>
            <a:round/>
            <a:headEnd len="med" w="med" type="stealth"/>
            <a:tailEnd len="sm" w="sm" type="none"/>
          </a:ln>
          <a:effectLst>
            <a:outerShdw blurRad="40000" rotWithShape="0" dir="5400000" dist="20000">
              <a:srgbClr val="000000">
                <a:alpha val="38040"/>
              </a:srgbClr>
            </a:outerShdw>
          </a:effectLst>
        </p:spPr>
      </p:cxnSp>
      <p:sp>
        <p:nvSpPr>
          <p:cNvPr id="606" name="Google Shape;606;p35"/>
          <p:cNvSpPr/>
          <p:nvPr/>
        </p:nvSpPr>
        <p:spPr>
          <a:xfrm>
            <a:off x="397735" y="4907932"/>
            <a:ext cx="4032600" cy="512100"/>
          </a:xfrm>
          <a:prstGeom prst="rect">
            <a:avLst/>
          </a:prstGeom>
          <a:solidFill>
            <a:srgbClr val="041E0C"/>
          </a:solidFill>
          <a:ln cap="flat" cmpd="sng" w="1777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7" name="Google Shape;607;p35"/>
          <p:cNvSpPr txBox="1"/>
          <p:nvPr/>
        </p:nvSpPr>
        <p:spPr>
          <a:xfrm>
            <a:off x="397735" y="4976546"/>
            <a:ext cx="40326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RETURNS: Structured ASG Delta (new nodes + edges only)</a:t>
            </a:r>
            <a:endParaRPr b="0" i="0" sz="1400" u="none" cap="none" strike="noStrike">
              <a:solidFill>
                <a:srgbClr val="000000"/>
              </a:solidFill>
              <a:latin typeface="Arial"/>
              <a:ea typeface="Arial"/>
              <a:cs typeface="Arial"/>
              <a:sym typeface="Arial"/>
            </a:endParaRPr>
          </a:p>
        </p:txBody>
      </p:sp>
      <p:sp>
        <p:nvSpPr>
          <p:cNvPr id="608" name="Google Shape;608;p35"/>
          <p:cNvSpPr txBox="1"/>
          <p:nvPr/>
        </p:nvSpPr>
        <p:spPr>
          <a:xfrm>
            <a:off x="397735" y="5202614"/>
            <a:ext cx="40326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1" lang="en-US" sz="750" u="none" cap="none" strike="noStrike">
                <a:solidFill>
                  <a:srgbClr val="A0AAB8"/>
                </a:solidFill>
                <a:latin typeface="Calibri"/>
                <a:ea typeface="Calibri"/>
                <a:cs typeface="Calibri"/>
                <a:sym typeface="Calibri"/>
              </a:rPr>
              <a:t>Working context discarded — no raw history passes to Commander</a:t>
            </a:r>
            <a:endParaRPr b="0" i="0" sz="1400" u="none" cap="none" strike="noStrike">
              <a:solidFill>
                <a:srgbClr val="000000"/>
              </a:solidFill>
              <a:latin typeface="Arial"/>
              <a:ea typeface="Arial"/>
              <a:cs typeface="Arial"/>
              <a:sym typeface="Arial"/>
            </a:endParaRPr>
          </a:p>
        </p:txBody>
      </p:sp>
      <p:sp>
        <p:nvSpPr>
          <p:cNvPr id="609" name="Google Shape;609;p35"/>
          <p:cNvSpPr/>
          <p:nvPr/>
        </p:nvSpPr>
        <p:spPr>
          <a:xfrm>
            <a:off x="397735" y="5551486"/>
            <a:ext cx="4032600" cy="219600"/>
          </a:xfrm>
          <a:prstGeom prst="rect">
            <a:avLst/>
          </a:prstGeom>
          <a:solidFill>
            <a:srgbClr val="0C1022"/>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0" name="Google Shape;610;p35"/>
          <p:cNvSpPr txBox="1"/>
          <p:nvPr/>
        </p:nvSpPr>
        <p:spPr>
          <a:xfrm>
            <a:off x="489175" y="5578918"/>
            <a:ext cx="38952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E5FF"/>
                </a:solidFill>
                <a:latin typeface="Calibri"/>
                <a:ea typeface="Calibri"/>
                <a:cs typeface="Calibri"/>
                <a:sym typeface="Calibri"/>
              </a:rPr>
              <a:t>✓  Commander context stays clean</a:t>
            </a:r>
            <a:endParaRPr b="0" i="0" sz="1400" u="none" cap="none" strike="noStrike">
              <a:solidFill>
                <a:srgbClr val="000000"/>
              </a:solidFill>
              <a:latin typeface="Arial"/>
              <a:ea typeface="Arial"/>
              <a:cs typeface="Arial"/>
              <a:sym typeface="Arial"/>
            </a:endParaRPr>
          </a:p>
        </p:txBody>
      </p:sp>
      <p:sp>
        <p:nvSpPr>
          <p:cNvPr id="611" name="Google Shape;611;p35"/>
          <p:cNvSpPr/>
          <p:nvPr/>
        </p:nvSpPr>
        <p:spPr>
          <a:xfrm>
            <a:off x="397735" y="5829211"/>
            <a:ext cx="4032600" cy="219600"/>
          </a:xfrm>
          <a:prstGeom prst="rect">
            <a:avLst/>
          </a:prstGeom>
          <a:solidFill>
            <a:srgbClr val="0C1022"/>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2" name="Google Shape;612;p35"/>
          <p:cNvSpPr txBox="1"/>
          <p:nvPr/>
        </p:nvSpPr>
        <p:spPr>
          <a:xfrm>
            <a:off x="489175" y="5856643"/>
            <a:ext cx="38952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BD93F9"/>
                </a:solidFill>
                <a:latin typeface="Calibri"/>
                <a:ea typeface="Calibri"/>
                <a:cs typeface="Calibri"/>
                <a:sym typeface="Calibri"/>
              </a:rPr>
              <a:t>✓  Agents can't contaminate each other</a:t>
            </a:r>
            <a:endParaRPr b="0" i="0" sz="1400" u="none" cap="none" strike="noStrike">
              <a:solidFill>
                <a:srgbClr val="000000"/>
              </a:solidFill>
              <a:latin typeface="Arial"/>
              <a:ea typeface="Arial"/>
              <a:cs typeface="Arial"/>
              <a:sym typeface="Arial"/>
            </a:endParaRPr>
          </a:p>
        </p:txBody>
      </p:sp>
      <p:sp>
        <p:nvSpPr>
          <p:cNvPr id="613" name="Google Shape;613;p35"/>
          <p:cNvSpPr/>
          <p:nvPr/>
        </p:nvSpPr>
        <p:spPr>
          <a:xfrm>
            <a:off x="397735" y="6134374"/>
            <a:ext cx="4032600" cy="219600"/>
          </a:xfrm>
          <a:prstGeom prst="rect">
            <a:avLst/>
          </a:prstGeom>
          <a:solidFill>
            <a:srgbClr val="0C1022"/>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4" name="Google Shape;614;p35"/>
          <p:cNvSpPr txBox="1"/>
          <p:nvPr/>
        </p:nvSpPr>
        <p:spPr>
          <a:xfrm>
            <a:off x="466425" y="6114981"/>
            <a:ext cx="38952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FF4545"/>
                </a:solidFill>
                <a:latin typeface="Calibri"/>
                <a:ea typeface="Calibri"/>
                <a:cs typeface="Calibri"/>
                <a:sym typeface="Calibri"/>
              </a:rPr>
              <a:t>✓  High-risk refusals don't bias planning</a:t>
            </a:r>
            <a:endParaRPr b="0" i="0" sz="1400" u="none" cap="none" strike="noStrike">
              <a:solidFill>
                <a:srgbClr val="000000"/>
              </a:solidFill>
              <a:latin typeface="Arial"/>
              <a:ea typeface="Arial"/>
              <a:cs typeface="Arial"/>
              <a:sym typeface="Arial"/>
            </a:endParaRPr>
          </a:p>
        </p:txBody>
      </p:sp>
      <p:sp>
        <p:nvSpPr>
          <p:cNvPr id="615" name="Google Shape;615;p35"/>
          <p:cNvSpPr/>
          <p:nvPr/>
        </p:nvSpPr>
        <p:spPr>
          <a:xfrm>
            <a:off x="4773168" y="822960"/>
            <a:ext cx="3572100" cy="1896000"/>
          </a:xfrm>
          <a:prstGeom prst="rect">
            <a:avLst/>
          </a:prstGeom>
          <a:solidFill>
            <a:srgbClr val="10162B"/>
          </a:solidFill>
          <a:ln cap="flat" cmpd="sng" w="1777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6" name="Google Shape;616;p35"/>
          <p:cNvSpPr/>
          <p:nvPr/>
        </p:nvSpPr>
        <p:spPr>
          <a:xfrm>
            <a:off x="7339431" y="822960"/>
            <a:ext cx="1005900" cy="2196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7" name="Google Shape;617;p35"/>
          <p:cNvSpPr txBox="1"/>
          <p:nvPr/>
        </p:nvSpPr>
        <p:spPr>
          <a:xfrm>
            <a:off x="7339431" y="850392"/>
            <a:ext cx="10059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ORCHESTRATION</a:t>
            </a:r>
            <a:endParaRPr b="0" i="0" sz="1400" u="none" cap="none" strike="noStrike">
              <a:solidFill>
                <a:srgbClr val="000000"/>
              </a:solidFill>
              <a:latin typeface="Arial"/>
              <a:ea typeface="Arial"/>
              <a:cs typeface="Arial"/>
              <a:sym typeface="Arial"/>
            </a:endParaRPr>
          </a:p>
        </p:txBody>
      </p:sp>
      <p:sp>
        <p:nvSpPr>
          <p:cNvPr id="618" name="Google Shape;618;p35"/>
          <p:cNvSpPr txBox="1"/>
          <p:nvPr/>
        </p:nvSpPr>
        <p:spPr>
          <a:xfrm>
            <a:off x="4864608" y="859536"/>
            <a:ext cx="24291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E5FF"/>
                </a:solidFill>
                <a:latin typeface="Calibri"/>
                <a:ea typeface="Calibri"/>
                <a:cs typeface="Calibri"/>
                <a:sym typeface="Calibri"/>
              </a:rPr>
              <a:t>👑 Commander</a:t>
            </a:r>
            <a:endParaRPr b="0" i="0" sz="1400" u="none" cap="none" strike="noStrike">
              <a:solidFill>
                <a:srgbClr val="000000"/>
              </a:solidFill>
              <a:latin typeface="Arial"/>
              <a:ea typeface="Arial"/>
              <a:cs typeface="Arial"/>
              <a:sym typeface="Arial"/>
            </a:endParaRPr>
          </a:p>
        </p:txBody>
      </p:sp>
      <p:sp>
        <p:nvSpPr>
          <p:cNvPr id="619" name="Google Shape;619;p35"/>
          <p:cNvSpPr/>
          <p:nvPr/>
        </p:nvSpPr>
        <p:spPr>
          <a:xfrm>
            <a:off x="4864608" y="1133856"/>
            <a:ext cx="3389100" cy="183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0" name="Google Shape;620;p35"/>
          <p:cNvSpPr txBox="1"/>
          <p:nvPr/>
        </p:nvSpPr>
        <p:spPr>
          <a:xfrm>
            <a:off x="4864608" y="1170432"/>
            <a:ext cx="34074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1" lang="en-US" sz="850" u="none" cap="none" strike="noStrike">
                <a:solidFill>
                  <a:srgbClr val="FFFFFF"/>
                </a:solidFill>
                <a:latin typeface="Calibri"/>
                <a:ea typeface="Calibri"/>
                <a:cs typeface="Calibri"/>
                <a:sym typeface="Calibri"/>
              </a:rPr>
              <a:t>Reads the dual graph. Plans. Delegates. Never runs tools.</a:t>
            </a:r>
            <a:endParaRPr b="0" i="0" sz="1400" u="none" cap="none" strike="noStrike">
              <a:solidFill>
                <a:srgbClr val="000000"/>
              </a:solidFill>
              <a:latin typeface="Arial"/>
              <a:ea typeface="Arial"/>
              <a:cs typeface="Arial"/>
              <a:sym typeface="Arial"/>
            </a:endParaRPr>
          </a:p>
        </p:txBody>
      </p:sp>
      <p:sp>
        <p:nvSpPr>
          <p:cNvPr id="621" name="Google Shape;621;p35"/>
          <p:cNvSpPr/>
          <p:nvPr/>
        </p:nvSpPr>
        <p:spPr>
          <a:xfrm>
            <a:off x="4864608" y="1417320"/>
            <a:ext cx="3389100" cy="219600"/>
          </a:xfrm>
          <a:prstGeom prst="rect">
            <a:avLst/>
          </a:prstGeom>
          <a:solidFill>
            <a:srgbClr val="081022"/>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2" name="Google Shape;622;p35"/>
          <p:cNvSpPr txBox="1"/>
          <p:nvPr/>
        </p:nvSpPr>
        <p:spPr>
          <a:xfrm>
            <a:off x="4937760" y="1435608"/>
            <a:ext cx="3297900" cy="20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0E5FF"/>
                </a:solidFill>
                <a:latin typeface="Calibri"/>
                <a:ea typeface="Calibri"/>
                <a:cs typeface="Calibri"/>
                <a:sym typeface="Calibri"/>
              </a:rPr>
              <a:t>No tools — reasons over ASG + APG</a:t>
            </a:r>
            <a:endParaRPr b="0" i="0" sz="1400" u="none" cap="none" strike="noStrike">
              <a:solidFill>
                <a:srgbClr val="000000"/>
              </a:solidFill>
              <a:latin typeface="Arial"/>
              <a:ea typeface="Arial"/>
              <a:cs typeface="Arial"/>
              <a:sym typeface="Arial"/>
            </a:endParaRPr>
          </a:p>
        </p:txBody>
      </p:sp>
      <p:sp>
        <p:nvSpPr>
          <p:cNvPr id="623" name="Google Shape;623;p35"/>
          <p:cNvSpPr txBox="1"/>
          <p:nvPr/>
        </p:nvSpPr>
        <p:spPr>
          <a:xfrm>
            <a:off x="4864608" y="1673352"/>
            <a:ext cx="34074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Only agent that writes to APG. Approves High-risk ops via mailbox.</a:t>
            </a:r>
            <a:endParaRPr b="0" i="0" sz="1400" u="none" cap="none" strike="noStrike">
              <a:solidFill>
                <a:srgbClr val="000000"/>
              </a:solidFill>
              <a:latin typeface="Arial"/>
              <a:ea typeface="Arial"/>
              <a:cs typeface="Arial"/>
              <a:sym typeface="Arial"/>
            </a:endParaRPr>
          </a:p>
        </p:txBody>
      </p:sp>
      <p:sp>
        <p:nvSpPr>
          <p:cNvPr id="624" name="Google Shape;624;p35"/>
          <p:cNvSpPr/>
          <p:nvPr/>
        </p:nvSpPr>
        <p:spPr>
          <a:xfrm>
            <a:off x="8454999" y="822960"/>
            <a:ext cx="3572100" cy="1896000"/>
          </a:xfrm>
          <a:prstGeom prst="rect">
            <a:avLst/>
          </a:prstGeom>
          <a:solidFill>
            <a:srgbClr val="10162B"/>
          </a:solidFill>
          <a:ln cap="flat" cmpd="sng" w="1777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5" name="Google Shape;625;p35"/>
          <p:cNvSpPr/>
          <p:nvPr/>
        </p:nvSpPr>
        <p:spPr>
          <a:xfrm>
            <a:off x="11021263" y="822960"/>
            <a:ext cx="1005900" cy="2196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6" name="Google Shape;626;p35"/>
          <p:cNvSpPr txBox="1"/>
          <p:nvPr/>
        </p:nvSpPr>
        <p:spPr>
          <a:xfrm>
            <a:off x="11021263" y="850392"/>
            <a:ext cx="10059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PHASE 1</a:t>
            </a:r>
            <a:endParaRPr b="0" i="0" sz="1400" u="none" cap="none" strike="noStrike">
              <a:solidFill>
                <a:srgbClr val="000000"/>
              </a:solidFill>
              <a:latin typeface="Arial"/>
              <a:ea typeface="Arial"/>
              <a:cs typeface="Arial"/>
              <a:sym typeface="Arial"/>
            </a:endParaRPr>
          </a:p>
        </p:txBody>
      </p:sp>
      <p:sp>
        <p:nvSpPr>
          <p:cNvPr id="627" name="Google Shape;627;p35"/>
          <p:cNvSpPr txBox="1"/>
          <p:nvPr/>
        </p:nvSpPr>
        <p:spPr>
          <a:xfrm>
            <a:off x="8546439" y="859536"/>
            <a:ext cx="24291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39FF14"/>
                </a:solidFill>
                <a:latin typeface="Calibri"/>
                <a:ea typeface="Calibri"/>
                <a:cs typeface="Calibri"/>
                <a:sym typeface="Calibri"/>
              </a:rPr>
              <a:t>🕵️ Recon</a:t>
            </a:r>
            <a:endParaRPr b="0" i="0" sz="1400" u="none" cap="none" strike="noStrike">
              <a:solidFill>
                <a:srgbClr val="000000"/>
              </a:solidFill>
              <a:latin typeface="Arial"/>
              <a:ea typeface="Arial"/>
              <a:cs typeface="Arial"/>
              <a:sym typeface="Arial"/>
            </a:endParaRPr>
          </a:p>
        </p:txBody>
      </p:sp>
      <p:sp>
        <p:nvSpPr>
          <p:cNvPr id="628" name="Google Shape;628;p35"/>
          <p:cNvSpPr/>
          <p:nvPr/>
        </p:nvSpPr>
        <p:spPr>
          <a:xfrm>
            <a:off x="8546439" y="1133856"/>
            <a:ext cx="3389100" cy="183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9" name="Google Shape;629;p35"/>
          <p:cNvSpPr txBox="1"/>
          <p:nvPr/>
        </p:nvSpPr>
        <p:spPr>
          <a:xfrm>
            <a:off x="8546439" y="1170432"/>
            <a:ext cx="34074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1" lang="en-US" sz="850" u="none" cap="none" strike="noStrike">
                <a:solidFill>
                  <a:srgbClr val="FFFFFF"/>
                </a:solidFill>
                <a:latin typeface="Calibri"/>
                <a:ea typeface="Calibri"/>
                <a:cs typeface="Calibri"/>
                <a:sym typeface="Calibri"/>
              </a:rPr>
              <a:t>External reconnaissance and host discovery.</a:t>
            </a:r>
            <a:endParaRPr b="0" i="0" sz="1400" u="none" cap="none" strike="noStrike">
              <a:solidFill>
                <a:srgbClr val="000000"/>
              </a:solidFill>
              <a:latin typeface="Arial"/>
              <a:ea typeface="Arial"/>
              <a:cs typeface="Arial"/>
              <a:sym typeface="Arial"/>
            </a:endParaRPr>
          </a:p>
        </p:txBody>
      </p:sp>
      <p:sp>
        <p:nvSpPr>
          <p:cNvPr id="630" name="Google Shape;630;p35"/>
          <p:cNvSpPr/>
          <p:nvPr/>
        </p:nvSpPr>
        <p:spPr>
          <a:xfrm>
            <a:off x="8546439" y="1417320"/>
            <a:ext cx="3389100" cy="219600"/>
          </a:xfrm>
          <a:prstGeom prst="rect">
            <a:avLst/>
          </a:prstGeom>
          <a:solidFill>
            <a:srgbClr val="08102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1" name="Google Shape;631;p35"/>
          <p:cNvSpPr txBox="1"/>
          <p:nvPr/>
        </p:nvSpPr>
        <p:spPr>
          <a:xfrm>
            <a:off x="8619591" y="1435608"/>
            <a:ext cx="3297900" cy="20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39FF14"/>
                </a:solidFill>
                <a:latin typeface="Calibri"/>
                <a:ea typeface="Calibri"/>
                <a:cs typeface="Calibri"/>
                <a:sym typeface="Calibri"/>
              </a:rPr>
              <a:t>Amass  ·  httpx  ·  Nmap</a:t>
            </a:r>
            <a:endParaRPr b="0" i="0" sz="1400" u="none" cap="none" strike="noStrike">
              <a:solidFill>
                <a:srgbClr val="000000"/>
              </a:solidFill>
              <a:latin typeface="Arial"/>
              <a:ea typeface="Arial"/>
              <a:cs typeface="Arial"/>
              <a:sym typeface="Arial"/>
            </a:endParaRPr>
          </a:p>
        </p:txBody>
      </p:sp>
      <p:sp>
        <p:nvSpPr>
          <p:cNvPr id="632" name="Google Shape;632;p35"/>
          <p:cNvSpPr txBox="1"/>
          <p:nvPr/>
        </p:nvSpPr>
        <p:spPr>
          <a:xfrm>
            <a:off x="8546439" y="1673352"/>
            <a:ext cx="34074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Writes Domain, Host, Port, Service nodes to ASG.</a:t>
            </a:r>
            <a:endParaRPr b="0" i="0" sz="1400" u="none" cap="none" strike="noStrike">
              <a:solidFill>
                <a:srgbClr val="000000"/>
              </a:solidFill>
              <a:latin typeface="Arial"/>
              <a:ea typeface="Arial"/>
              <a:cs typeface="Arial"/>
              <a:sym typeface="Arial"/>
            </a:endParaRPr>
          </a:p>
        </p:txBody>
      </p:sp>
      <p:sp>
        <p:nvSpPr>
          <p:cNvPr id="633" name="Google Shape;633;p35"/>
          <p:cNvSpPr/>
          <p:nvPr/>
        </p:nvSpPr>
        <p:spPr>
          <a:xfrm>
            <a:off x="4773168" y="2810256"/>
            <a:ext cx="3572100" cy="1896000"/>
          </a:xfrm>
          <a:prstGeom prst="rect">
            <a:avLst/>
          </a:prstGeom>
          <a:solidFill>
            <a:srgbClr val="10162B"/>
          </a:solidFill>
          <a:ln cap="flat" cmpd="sng" w="1777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4" name="Google Shape;634;p35"/>
          <p:cNvSpPr/>
          <p:nvPr/>
        </p:nvSpPr>
        <p:spPr>
          <a:xfrm>
            <a:off x="7339431" y="2810256"/>
            <a:ext cx="1005900" cy="219600"/>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5" name="Google Shape;635;p35"/>
          <p:cNvSpPr txBox="1"/>
          <p:nvPr/>
        </p:nvSpPr>
        <p:spPr>
          <a:xfrm>
            <a:off x="7339431" y="2837688"/>
            <a:ext cx="10059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PHASE 2</a:t>
            </a:r>
            <a:endParaRPr b="0" i="0" sz="1400" u="none" cap="none" strike="noStrike">
              <a:solidFill>
                <a:srgbClr val="000000"/>
              </a:solidFill>
              <a:latin typeface="Arial"/>
              <a:ea typeface="Arial"/>
              <a:cs typeface="Arial"/>
              <a:sym typeface="Arial"/>
            </a:endParaRPr>
          </a:p>
        </p:txBody>
      </p:sp>
      <p:sp>
        <p:nvSpPr>
          <p:cNvPr id="636" name="Google Shape;636;p35"/>
          <p:cNvSpPr txBox="1"/>
          <p:nvPr/>
        </p:nvSpPr>
        <p:spPr>
          <a:xfrm>
            <a:off x="4864608" y="2846832"/>
            <a:ext cx="24291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BFD8"/>
                </a:solidFill>
                <a:latin typeface="Calibri"/>
                <a:ea typeface="Calibri"/>
                <a:cs typeface="Calibri"/>
                <a:sym typeface="Calibri"/>
              </a:rPr>
              <a:t>🔬 Analysis</a:t>
            </a:r>
            <a:endParaRPr b="0" i="0" sz="1400" u="none" cap="none" strike="noStrike">
              <a:solidFill>
                <a:srgbClr val="000000"/>
              </a:solidFill>
              <a:latin typeface="Arial"/>
              <a:ea typeface="Arial"/>
              <a:cs typeface="Arial"/>
              <a:sym typeface="Arial"/>
            </a:endParaRPr>
          </a:p>
        </p:txBody>
      </p:sp>
      <p:sp>
        <p:nvSpPr>
          <p:cNvPr id="637" name="Google Shape;637;p35"/>
          <p:cNvSpPr/>
          <p:nvPr/>
        </p:nvSpPr>
        <p:spPr>
          <a:xfrm>
            <a:off x="4864608" y="3121152"/>
            <a:ext cx="3389100" cy="18300"/>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8" name="Google Shape;638;p35"/>
          <p:cNvSpPr txBox="1"/>
          <p:nvPr/>
        </p:nvSpPr>
        <p:spPr>
          <a:xfrm>
            <a:off x="4864608" y="3157728"/>
            <a:ext cx="34074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1" lang="en-US" sz="850" u="none" cap="none" strike="noStrike">
                <a:solidFill>
                  <a:srgbClr val="FFFFFF"/>
                </a:solidFill>
                <a:latin typeface="Calibri"/>
                <a:ea typeface="Calibri"/>
                <a:cs typeface="Calibri"/>
                <a:sym typeface="Calibri"/>
              </a:rPr>
              <a:t>Deep enumeration and vulnerability discovery.</a:t>
            </a:r>
            <a:endParaRPr b="0" i="0" sz="1400" u="none" cap="none" strike="noStrike">
              <a:solidFill>
                <a:srgbClr val="000000"/>
              </a:solidFill>
              <a:latin typeface="Arial"/>
              <a:ea typeface="Arial"/>
              <a:cs typeface="Arial"/>
              <a:sym typeface="Arial"/>
            </a:endParaRPr>
          </a:p>
        </p:txBody>
      </p:sp>
      <p:sp>
        <p:nvSpPr>
          <p:cNvPr id="639" name="Google Shape;639;p35"/>
          <p:cNvSpPr/>
          <p:nvPr/>
        </p:nvSpPr>
        <p:spPr>
          <a:xfrm>
            <a:off x="4864608" y="3404616"/>
            <a:ext cx="3389100" cy="219600"/>
          </a:xfrm>
          <a:prstGeom prst="rect">
            <a:avLst/>
          </a:prstGeom>
          <a:solidFill>
            <a:srgbClr val="081022"/>
          </a:solidFill>
          <a:ln cap="flat" cmpd="sng" w="952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0" name="Google Shape;640;p35"/>
          <p:cNvSpPr txBox="1"/>
          <p:nvPr/>
        </p:nvSpPr>
        <p:spPr>
          <a:xfrm>
            <a:off x="4937760" y="3422904"/>
            <a:ext cx="3297900" cy="20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0BFD8"/>
                </a:solidFill>
                <a:latin typeface="Calibri"/>
                <a:ea typeface="Calibri"/>
                <a:cs typeface="Calibri"/>
                <a:sym typeface="Calibri"/>
              </a:rPr>
              <a:t>WhatWeb · Gobuster · ffuf · Nuclei · ZAP</a:t>
            </a:r>
            <a:endParaRPr b="0" i="0" sz="1400" u="none" cap="none" strike="noStrike">
              <a:solidFill>
                <a:srgbClr val="000000"/>
              </a:solidFill>
              <a:latin typeface="Arial"/>
              <a:ea typeface="Arial"/>
              <a:cs typeface="Arial"/>
              <a:sym typeface="Arial"/>
            </a:endParaRPr>
          </a:p>
        </p:txBody>
      </p:sp>
      <p:sp>
        <p:nvSpPr>
          <p:cNvPr id="641" name="Google Shape;641;p35"/>
          <p:cNvSpPr txBox="1"/>
          <p:nvPr/>
        </p:nvSpPr>
        <p:spPr>
          <a:xfrm>
            <a:off x="4864608" y="3660648"/>
            <a:ext cx="34074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Writes Technology, Endpoint, Parameter, Vulnerability nodes.</a:t>
            </a:r>
            <a:endParaRPr b="0" i="0" sz="1400" u="none" cap="none" strike="noStrike">
              <a:solidFill>
                <a:srgbClr val="000000"/>
              </a:solidFill>
              <a:latin typeface="Arial"/>
              <a:ea typeface="Arial"/>
              <a:cs typeface="Arial"/>
              <a:sym typeface="Arial"/>
            </a:endParaRPr>
          </a:p>
        </p:txBody>
      </p:sp>
      <p:sp>
        <p:nvSpPr>
          <p:cNvPr id="642" name="Google Shape;642;p35"/>
          <p:cNvSpPr/>
          <p:nvPr/>
        </p:nvSpPr>
        <p:spPr>
          <a:xfrm>
            <a:off x="8454999" y="2810256"/>
            <a:ext cx="3572100" cy="1896000"/>
          </a:xfrm>
          <a:prstGeom prst="rect">
            <a:avLst/>
          </a:prstGeom>
          <a:solidFill>
            <a:srgbClr val="10162B"/>
          </a:solidFill>
          <a:ln cap="flat" cmpd="sng" w="1777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3" name="Google Shape;643;p35"/>
          <p:cNvSpPr/>
          <p:nvPr/>
        </p:nvSpPr>
        <p:spPr>
          <a:xfrm>
            <a:off x="11021263" y="2810256"/>
            <a:ext cx="1005900" cy="2196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4" name="Google Shape;644;p35"/>
          <p:cNvSpPr txBox="1"/>
          <p:nvPr/>
        </p:nvSpPr>
        <p:spPr>
          <a:xfrm>
            <a:off x="11021263" y="2837688"/>
            <a:ext cx="10059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INTELLIGENCE</a:t>
            </a:r>
            <a:endParaRPr b="0" i="0" sz="1400" u="none" cap="none" strike="noStrike">
              <a:solidFill>
                <a:srgbClr val="000000"/>
              </a:solidFill>
              <a:latin typeface="Arial"/>
              <a:ea typeface="Arial"/>
              <a:cs typeface="Arial"/>
              <a:sym typeface="Arial"/>
            </a:endParaRPr>
          </a:p>
        </p:txBody>
      </p:sp>
      <p:sp>
        <p:nvSpPr>
          <p:cNvPr id="645" name="Google Shape;645;p35"/>
          <p:cNvSpPr txBox="1"/>
          <p:nvPr/>
        </p:nvSpPr>
        <p:spPr>
          <a:xfrm>
            <a:off x="8546439" y="2846832"/>
            <a:ext cx="24291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FFD700"/>
                </a:solidFill>
                <a:latin typeface="Calibri"/>
                <a:ea typeface="Calibri"/>
                <a:cs typeface="Calibri"/>
                <a:sym typeface="Calibri"/>
              </a:rPr>
              <a:t>🔍 Research</a:t>
            </a:r>
            <a:endParaRPr b="0" i="0" sz="1400" u="none" cap="none" strike="noStrike">
              <a:solidFill>
                <a:srgbClr val="000000"/>
              </a:solidFill>
              <a:latin typeface="Arial"/>
              <a:ea typeface="Arial"/>
              <a:cs typeface="Arial"/>
              <a:sym typeface="Arial"/>
            </a:endParaRPr>
          </a:p>
        </p:txBody>
      </p:sp>
      <p:sp>
        <p:nvSpPr>
          <p:cNvPr id="646" name="Google Shape;646;p35"/>
          <p:cNvSpPr/>
          <p:nvPr/>
        </p:nvSpPr>
        <p:spPr>
          <a:xfrm>
            <a:off x="8546439" y="3121152"/>
            <a:ext cx="3389100" cy="183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7" name="Google Shape;647;p35"/>
          <p:cNvSpPr txBox="1"/>
          <p:nvPr/>
        </p:nvSpPr>
        <p:spPr>
          <a:xfrm>
            <a:off x="8546439" y="3157728"/>
            <a:ext cx="34074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1" lang="en-US" sz="850" u="none" cap="none" strike="noStrike">
                <a:solidFill>
                  <a:srgbClr val="FFFFFF"/>
                </a:solidFill>
                <a:latin typeface="Calibri"/>
                <a:ea typeface="Calibri"/>
                <a:cs typeface="Calibri"/>
                <a:sym typeface="Calibri"/>
              </a:rPr>
              <a:t>Live CVE grounding — only agent with outbound internet access.</a:t>
            </a:r>
            <a:endParaRPr b="0" i="0" sz="1400" u="none" cap="none" strike="noStrike">
              <a:solidFill>
                <a:srgbClr val="000000"/>
              </a:solidFill>
              <a:latin typeface="Arial"/>
              <a:ea typeface="Arial"/>
              <a:cs typeface="Arial"/>
              <a:sym typeface="Arial"/>
            </a:endParaRPr>
          </a:p>
        </p:txBody>
      </p:sp>
      <p:sp>
        <p:nvSpPr>
          <p:cNvPr id="648" name="Google Shape;648;p35"/>
          <p:cNvSpPr/>
          <p:nvPr/>
        </p:nvSpPr>
        <p:spPr>
          <a:xfrm>
            <a:off x="8546439" y="3404616"/>
            <a:ext cx="3389100" cy="219600"/>
          </a:xfrm>
          <a:prstGeom prst="rect">
            <a:avLst/>
          </a:prstGeom>
          <a:solidFill>
            <a:srgbClr val="081022"/>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9" name="Google Shape;649;p35"/>
          <p:cNvSpPr txBox="1"/>
          <p:nvPr/>
        </p:nvSpPr>
        <p:spPr>
          <a:xfrm>
            <a:off x="8619591" y="3422904"/>
            <a:ext cx="3297900" cy="20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FFD700"/>
                </a:solidFill>
                <a:latin typeface="Calibri"/>
                <a:ea typeface="Calibri"/>
                <a:cs typeface="Calibri"/>
                <a:sym typeface="Calibri"/>
              </a:rPr>
              <a:t>NVD · Exploit-DB · GitHub · Vendor Advisories</a:t>
            </a:r>
            <a:endParaRPr b="0" i="0" sz="1400" u="none" cap="none" strike="noStrike">
              <a:solidFill>
                <a:srgbClr val="000000"/>
              </a:solidFill>
              <a:latin typeface="Arial"/>
              <a:ea typeface="Arial"/>
              <a:cs typeface="Arial"/>
              <a:sym typeface="Arial"/>
            </a:endParaRPr>
          </a:p>
        </p:txBody>
      </p:sp>
      <p:sp>
        <p:nvSpPr>
          <p:cNvPr id="650" name="Google Shape;650;p35"/>
          <p:cNvSpPr txBox="1"/>
          <p:nvPr/>
        </p:nvSpPr>
        <p:spPr>
          <a:xfrm>
            <a:off x="8546439" y="3660648"/>
            <a:ext cx="34074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Enriches ASG Vulnerability nodes with real-time CVSS + PoC data.</a:t>
            </a:r>
            <a:endParaRPr b="0" i="0" sz="1400" u="none" cap="none" strike="noStrike">
              <a:solidFill>
                <a:srgbClr val="000000"/>
              </a:solidFill>
              <a:latin typeface="Arial"/>
              <a:ea typeface="Arial"/>
              <a:cs typeface="Arial"/>
              <a:sym typeface="Arial"/>
            </a:endParaRPr>
          </a:p>
        </p:txBody>
      </p:sp>
      <p:sp>
        <p:nvSpPr>
          <p:cNvPr id="651" name="Google Shape;651;p35"/>
          <p:cNvSpPr/>
          <p:nvPr/>
        </p:nvSpPr>
        <p:spPr>
          <a:xfrm>
            <a:off x="4773168" y="4797552"/>
            <a:ext cx="3572100" cy="1896000"/>
          </a:xfrm>
          <a:prstGeom prst="rect">
            <a:avLst/>
          </a:prstGeom>
          <a:solidFill>
            <a:srgbClr val="10162B"/>
          </a:solidFill>
          <a:ln cap="flat" cmpd="sng" w="1777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2" name="Google Shape;652;p35"/>
          <p:cNvSpPr/>
          <p:nvPr/>
        </p:nvSpPr>
        <p:spPr>
          <a:xfrm>
            <a:off x="7339431" y="4797552"/>
            <a:ext cx="1005900" cy="2196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3" name="Google Shape;653;p35"/>
          <p:cNvSpPr txBox="1"/>
          <p:nvPr/>
        </p:nvSpPr>
        <p:spPr>
          <a:xfrm>
            <a:off x="7339431" y="4824984"/>
            <a:ext cx="10059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PHASE 3</a:t>
            </a:r>
            <a:endParaRPr b="0" i="0" sz="1400" u="none" cap="none" strike="noStrike">
              <a:solidFill>
                <a:srgbClr val="000000"/>
              </a:solidFill>
              <a:latin typeface="Arial"/>
              <a:ea typeface="Arial"/>
              <a:cs typeface="Arial"/>
              <a:sym typeface="Arial"/>
            </a:endParaRPr>
          </a:p>
        </p:txBody>
      </p:sp>
      <p:sp>
        <p:nvSpPr>
          <p:cNvPr id="654" name="Google Shape;654;p35"/>
          <p:cNvSpPr txBox="1"/>
          <p:nvPr/>
        </p:nvSpPr>
        <p:spPr>
          <a:xfrm>
            <a:off x="4864608" y="4834128"/>
            <a:ext cx="24291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FF4545"/>
                </a:solidFill>
                <a:latin typeface="Calibri"/>
                <a:ea typeface="Calibri"/>
                <a:cs typeface="Calibri"/>
                <a:sym typeface="Calibri"/>
              </a:rPr>
              <a:t>🎯 Validation</a:t>
            </a:r>
            <a:endParaRPr b="0" i="0" sz="1400" u="none" cap="none" strike="noStrike">
              <a:solidFill>
                <a:srgbClr val="000000"/>
              </a:solidFill>
              <a:latin typeface="Arial"/>
              <a:ea typeface="Arial"/>
              <a:cs typeface="Arial"/>
              <a:sym typeface="Arial"/>
            </a:endParaRPr>
          </a:p>
        </p:txBody>
      </p:sp>
      <p:sp>
        <p:nvSpPr>
          <p:cNvPr id="655" name="Google Shape;655;p35"/>
          <p:cNvSpPr/>
          <p:nvPr/>
        </p:nvSpPr>
        <p:spPr>
          <a:xfrm>
            <a:off x="4864608" y="5108448"/>
            <a:ext cx="3389100" cy="183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6" name="Google Shape;656;p35"/>
          <p:cNvSpPr txBox="1"/>
          <p:nvPr/>
        </p:nvSpPr>
        <p:spPr>
          <a:xfrm>
            <a:off x="4864608" y="5145024"/>
            <a:ext cx="34074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1" lang="en-US" sz="850" u="none" cap="none" strike="noStrike">
                <a:solidFill>
                  <a:srgbClr val="FFFFFF"/>
                </a:solidFill>
                <a:latin typeface="Calibri"/>
                <a:ea typeface="Calibri"/>
                <a:cs typeface="Calibri"/>
                <a:sym typeface="Calibri"/>
              </a:rPr>
              <a:t>Proves vulnerabilities are real and exploitable.</a:t>
            </a:r>
            <a:endParaRPr b="0" i="0" sz="1400" u="none" cap="none" strike="noStrike">
              <a:solidFill>
                <a:srgbClr val="000000"/>
              </a:solidFill>
              <a:latin typeface="Arial"/>
              <a:ea typeface="Arial"/>
              <a:cs typeface="Arial"/>
              <a:sym typeface="Arial"/>
            </a:endParaRPr>
          </a:p>
        </p:txBody>
      </p:sp>
      <p:sp>
        <p:nvSpPr>
          <p:cNvPr id="657" name="Google Shape;657;p35"/>
          <p:cNvSpPr/>
          <p:nvPr/>
        </p:nvSpPr>
        <p:spPr>
          <a:xfrm>
            <a:off x="4864608" y="5391912"/>
            <a:ext cx="3389100" cy="219600"/>
          </a:xfrm>
          <a:prstGeom prst="rect">
            <a:avLst/>
          </a:prstGeom>
          <a:solidFill>
            <a:srgbClr val="081022"/>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8" name="Google Shape;658;p35"/>
          <p:cNvSpPr txBox="1"/>
          <p:nvPr/>
        </p:nvSpPr>
        <p:spPr>
          <a:xfrm>
            <a:off x="4937760" y="5410200"/>
            <a:ext cx="3297900" cy="20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FF4545"/>
                </a:solidFill>
                <a:latin typeface="Calibri"/>
                <a:ea typeface="Calibri"/>
                <a:cs typeface="Calibri"/>
                <a:sym typeface="Calibri"/>
              </a:rPr>
              <a:t>SQLMap  ·  Metasploit</a:t>
            </a:r>
            <a:endParaRPr b="0" i="0" sz="1400" u="none" cap="none" strike="noStrike">
              <a:solidFill>
                <a:srgbClr val="000000"/>
              </a:solidFill>
              <a:latin typeface="Arial"/>
              <a:ea typeface="Arial"/>
              <a:cs typeface="Arial"/>
              <a:sym typeface="Arial"/>
            </a:endParaRPr>
          </a:p>
        </p:txBody>
      </p:sp>
      <p:sp>
        <p:nvSpPr>
          <p:cNvPr id="659" name="Google Shape;659;p35"/>
          <p:cNvSpPr txBox="1"/>
          <p:nvPr/>
        </p:nvSpPr>
        <p:spPr>
          <a:xfrm>
            <a:off x="4864608" y="5647944"/>
            <a:ext cx="34074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Self-debugging loop: Diagnose → Contextualize → Adapt → Cap (×3).</a:t>
            </a:r>
            <a:endParaRPr b="0" i="0" sz="1400" u="none" cap="none" strike="noStrike">
              <a:solidFill>
                <a:srgbClr val="000000"/>
              </a:solidFill>
              <a:latin typeface="Arial"/>
              <a:ea typeface="Arial"/>
              <a:cs typeface="Arial"/>
              <a:sym typeface="Arial"/>
            </a:endParaRPr>
          </a:p>
        </p:txBody>
      </p:sp>
      <p:sp>
        <p:nvSpPr>
          <p:cNvPr id="660" name="Google Shape;660;p35"/>
          <p:cNvSpPr/>
          <p:nvPr/>
        </p:nvSpPr>
        <p:spPr>
          <a:xfrm>
            <a:off x="8454999" y="4797552"/>
            <a:ext cx="3572100" cy="1896000"/>
          </a:xfrm>
          <a:prstGeom prst="rect">
            <a:avLst/>
          </a:prstGeom>
          <a:solidFill>
            <a:srgbClr val="10162B"/>
          </a:solidFill>
          <a:ln cap="flat" cmpd="sng" w="1777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61" name="Google Shape;661;p35"/>
          <p:cNvSpPr/>
          <p:nvPr/>
        </p:nvSpPr>
        <p:spPr>
          <a:xfrm>
            <a:off x="11021263" y="4797552"/>
            <a:ext cx="1005900" cy="2196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62" name="Google Shape;662;p35"/>
          <p:cNvSpPr txBox="1"/>
          <p:nvPr/>
        </p:nvSpPr>
        <p:spPr>
          <a:xfrm>
            <a:off x="11021263" y="4824984"/>
            <a:ext cx="10059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1" i="0" lang="en-US" sz="750" u="none" cap="none" strike="noStrike">
                <a:solidFill>
                  <a:srgbClr val="0A0D1A"/>
                </a:solidFill>
                <a:latin typeface="Calibri"/>
                <a:ea typeface="Calibri"/>
                <a:cs typeface="Calibri"/>
                <a:sym typeface="Calibri"/>
              </a:rPr>
              <a:t>PHASE 3</a:t>
            </a:r>
            <a:endParaRPr b="0" i="0" sz="1400" u="none" cap="none" strike="noStrike">
              <a:solidFill>
                <a:srgbClr val="000000"/>
              </a:solidFill>
              <a:latin typeface="Arial"/>
              <a:ea typeface="Arial"/>
              <a:cs typeface="Arial"/>
              <a:sym typeface="Arial"/>
            </a:endParaRPr>
          </a:p>
        </p:txBody>
      </p:sp>
      <p:sp>
        <p:nvSpPr>
          <p:cNvPr id="663" name="Google Shape;663;p35"/>
          <p:cNvSpPr txBox="1"/>
          <p:nvPr/>
        </p:nvSpPr>
        <p:spPr>
          <a:xfrm>
            <a:off x="8546439" y="4834128"/>
            <a:ext cx="24291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BD93F9"/>
                </a:solidFill>
                <a:latin typeface="Calibri"/>
                <a:ea typeface="Calibri"/>
                <a:cs typeface="Calibri"/>
                <a:sym typeface="Calibri"/>
              </a:rPr>
              <a:t>📸 Evidence</a:t>
            </a:r>
            <a:endParaRPr b="0" i="0" sz="1400" u="none" cap="none" strike="noStrike">
              <a:solidFill>
                <a:srgbClr val="000000"/>
              </a:solidFill>
              <a:latin typeface="Arial"/>
              <a:ea typeface="Arial"/>
              <a:cs typeface="Arial"/>
              <a:sym typeface="Arial"/>
            </a:endParaRPr>
          </a:p>
        </p:txBody>
      </p:sp>
      <p:sp>
        <p:nvSpPr>
          <p:cNvPr id="664" name="Google Shape;664;p35"/>
          <p:cNvSpPr/>
          <p:nvPr/>
        </p:nvSpPr>
        <p:spPr>
          <a:xfrm>
            <a:off x="8546439" y="5108448"/>
            <a:ext cx="3389100" cy="183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65" name="Google Shape;665;p35"/>
          <p:cNvSpPr txBox="1"/>
          <p:nvPr/>
        </p:nvSpPr>
        <p:spPr>
          <a:xfrm>
            <a:off x="8546439" y="5145024"/>
            <a:ext cx="34074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1" lang="en-US" sz="850" u="none" cap="none" strike="noStrike">
                <a:solidFill>
                  <a:srgbClr val="FFFFFF"/>
                </a:solidFill>
                <a:latin typeface="Calibri"/>
                <a:ea typeface="Calibri"/>
                <a:cs typeface="Calibri"/>
                <a:sym typeface="Calibri"/>
              </a:rPr>
              <a:t>Captures proof artifacts for every validated finding.</a:t>
            </a:r>
            <a:endParaRPr b="0" i="0" sz="1400" u="none" cap="none" strike="noStrike">
              <a:solidFill>
                <a:srgbClr val="000000"/>
              </a:solidFill>
              <a:latin typeface="Arial"/>
              <a:ea typeface="Arial"/>
              <a:cs typeface="Arial"/>
              <a:sym typeface="Arial"/>
            </a:endParaRPr>
          </a:p>
        </p:txBody>
      </p:sp>
      <p:sp>
        <p:nvSpPr>
          <p:cNvPr id="666" name="Google Shape;666;p35"/>
          <p:cNvSpPr/>
          <p:nvPr/>
        </p:nvSpPr>
        <p:spPr>
          <a:xfrm>
            <a:off x="8546439" y="5391912"/>
            <a:ext cx="3389100" cy="219600"/>
          </a:xfrm>
          <a:prstGeom prst="rect">
            <a:avLst/>
          </a:prstGeom>
          <a:solidFill>
            <a:srgbClr val="081022"/>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67" name="Google Shape;667;p35"/>
          <p:cNvSpPr txBox="1"/>
          <p:nvPr/>
        </p:nvSpPr>
        <p:spPr>
          <a:xfrm>
            <a:off x="8619591" y="5410200"/>
            <a:ext cx="3297900" cy="20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BD93F9"/>
                </a:solidFill>
                <a:latin typeface="Calibri"/>
                <a:ea typeface="Calibri"/>
                <a:cs typeface="Calibri"/>
                <a:sym typeface="Calibri"/>
              </a:rPr>
              <a:t>EyeWitness</a:t>
            </a:r>
            <a:endParaRPr b="0" i="0" sz="1400" u="none" cap="none" strike="noStrike">
              <a:solidFill>
                <a:srgbClr val="000000"/>
              </a:solidFill>
              <a:latin typeface="Arial"/>
              <a:ea typeface="Arial"/>
              <a:cs typeface="Arial"/>
              <a:sym typeface="Arial"/>
            </a:endParaRPr>
          </a:p>
        </p:txBody>
      </p:sp>
      <p:sp>
        <p:nvSpPr>
          <p:cNvPr id="668" name="Google Shape;668;p35"/>
          <p:cNvSpPr txBox="1"/>
          <p:nvPr/>
        </p:nvSpPr>
        <p:spPr>
          <a:xfrm>
            <a:off x="8546439" y="5647944"/>
            <a:ext cx="34074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Links Evidence nodes to ASG findings via validated_by edges.</a:t>
            </a:r>
            <a:endParaRPr b="0" i="0" sz="1400" u="none" cap="none" strike="noStrike">
              <a:solidFill>
                <a:srgbClr val="000000"/>
              </a:solidFill>
              <a:latin typeface="Arial"/>
              <a:ea typeface="Arial"/>
              <a:cs typeface="Arial"/>
              <a:sym typeface="Arial"/>
            </a:endParaRPr>
          </a:p>
        </p:txBody>
      </p:sp>
      <p:sp>
        <p:nvSpPr>
          <p:cNvPr id="669" name="Google Shape;669;p35"/>
          <p:cNvSpPr txBox="1"/>
          <p:nvPr/>
        </p:nvSpPr>
        <p:spPr>
          <a:xfrm>
            <a:off x="11617897" y="128125"/>
            <a:ext cx="4092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BD93F9"/>
                </a:solidFill>
                <a:latin typeface="Calibri"/>
                <a:ea typeface="Calibri"/>
                <a:cs typeface="Calibri"/>
                <a:sym typeface="Calibri"/>
              </a:rPr>
              <a:t>0</a:t>
            </a:r>
            <a:r>
              <a:rPr b="1" lang="en-US" sz="1300">
                <a:solidFill>
                  <a:srgbClr val="BD93F9"/>
                </a:solidFill>
                <a:latin typeface="Calibri"/>
                <a:ea typeface="Calibri"/>
                <a:cs typeface="Calibri"/>
                <a:sym typeface="Calibri"/>
              </a:rPr>
              <a:t>7</a:t>
            </a:r>
            <a:endParaRPr b="1" sz="1300">
              <a:solidFill>
                <a:srgbClr val="BD93F9"/>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E"/>
        </a:solidFill>
      </p:bgPr>
    </p:bg>
    <p:spTree>
      <p:nvGrpSpPr>
        <p:cNvPr id="674" name="Shape 674"/>
        <p:cNvGrpSpPr/>
        <p:nvPr/>
      </p:nvGrpSpPr>
      <p:grpSpPr>
        <a:xfrm>
          <a:off x="0" y="0"/>
          <a:ext cx="0" cy="0"/>
          <a:chOff x="0" y="0"/>
          <a:chExt cx="0" cy="0"/>
        </a:xfrm>
      </p:grpSpPr>
      <p:sp>
        <p:nvSpPr>
          <p:cNvPr id="675" name="Google Shape;675;p36"/>
          <p:cNvSpPr/>
          <p:nvPr/>
        </p:nvSpPr>
        <p:spPr>
          <a:xfrm>
            <a:off x="365760" y="121920"/>
            <a:ext cx="6096000" cy="243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FF"/>
              </a:buClr>
              <a:buSzPts val="1100"/>
              <a:buFont typeface="Calibri"/>
              <a:buNone/>
            </a:pPr>
            <a:r>
              <a:rPr b="1" i="0" lang="en-US" sz="1100" u="none" cap="none" strike="noStrike">
                <a:solidFill>
                  <a:srgbClr val="00D4FF"/>
                </a:solidFill>
                <a:latin typeface="Calibri"/>
                <a:ea typeface="Calibri"/>
                <a:cs typeface="Calibri"/>
                <a:sym typeface="Calibri"/>
              </a:rPr>
              <a:t>AGENT ARCHITECTURE</a:t>
            </a:r>
            <a:endParaRPr b="0" i="0" sz="1100" u="none" cap="none" strike="noStrike">
              <a:solidFill>
                <a:schemeClr val="dk1"/>
              </a:solidFill>
              <a:latin typeface="Calibri"/>
              <a:ea typeface="Calibri"/>
              <a:cs typeface="Calibri"/>
              <a:sym typeface="Calibri"/>
            </a:endParaRPr>
          </a:p>
        </p:txBody>
      </p:sp>
      <p:sp>
        <p:nvSpPr>
          <p:cNvPr id="676" name="Google Shape;676;p36"/>
          <p:cNvSpPr/>
          <p:nvPr/>
        </p:nvSpPr>
        <p:spPr>
          <a:xfrm>
            <a:off x="365760" y="341376"/>
            <a:ext cx="114606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Calibri"/>
              <a:buNone/>
            </a:pPr>
            <a:r>
              <a:rPr b="1" i="0" lang="en-US" sz="2300" u="none" cap="none" strike="noStrike">
                <a:solidFill>
                  <a:srgbClr val="FFFFFF"/>
                </a:solidFill>
                <a:latin typeface="Calibri"/>
                <a:ea typeface="Calibri"/>
                <a:cs typeface="Calibri"/>
                <a:sym typeface="Calibri"/>
              </a:rPr>
              <a:t>Context-Isolated Agent Spawn Lifecycle</a:t>
            </a:r>
            <a:endParaRPr b="0" i="0" sz="2300" u="none" cap="none" strike="noStrike">
              <a:solidFill>
                <a:schemeClr val="dk1"/>
              </a:solidFill>
              <a:latin typeface="Calibri"/>
              <a:ea typeface="Calibri"/>
              <a:cs typeface="Calibri"/>
              <a:sym typeface="Calibri"/>
            </a:endParaRPr>
          </a:p>
        </p:txBody>
      </p:sp>
      <p:sp>
        <p:nvSpPr>
          <p:cNvPr id="677" name="Google Shape;677;p36"/>
          <p:cNvSpPr/>
          <p:nvPr/>
        </p:nvSpPr>
        <p:spPr>
          <a:xfrm>
            <a:off x="365760" y="755904"/>
            <a:ext cx="11460600" cy="243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Every agent is born fresh · does exactly one job · dies clean · leaves only structured graph state behind</a:t>
            </a:r>
            <a:endParaRPr b="0" i="0" sz="1000" u="none" cap="none" strike="noStrike">
              <a:solidFill>
                <a:schemeClr val="dk1"/>
              </a:solidFill>
              <a:latin typeface="Calibri"/>
              <a:ea typeface="Calibri"/>
              <a:cs typeface="Calibri"/>
              <a:sym typeface="Calibri"/>
            </a:endParaRPr>
          </a:p>
        </p:txBody>
      </p:sp>
      <p:sp>
        <p:nvSpPr>
          <p:cNvPr id="678" name="Google Shape;678;p36"/>
          <p:cNvSpPr/>
          <p:nvPr/>
        </p:nvSpPr>
        <p:spPr>
          <a:xfrm>
            <a:off x="341376" y="1048512"/>
            <a:ext cx="7315200" cy="5486400"/>
          </a:xfrm>
          <a:prstGeom prst="roundRect">
            <a:avLst>
              <a:gd fmla="val 1778" name="adj"/>
            </a:avLst>
          </a:prstGeom>
          <a:solidFill>
            <a:srgbClr val="060E1C"/>
          </a:solidFill>
          <a:ln cap="flat" cmpd="sng" w="10150">
            <a:solidFill>
              <a:srgbClr val="1E2D4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79" name="Google Shape;679;p36"/>
          <p:cNvSpPr/>
          <p:nvPr/>
        </p:nvSpPr>
        <p:spPr>
          <a:xfrm>
            <a:off x="548640" y="1097280"/>
            <a:ext cx="1097400" cy="390000"/>
          </a:xfrm>
          <a:prstGeom prst="roundRect">
            <a:avLst>
              <a:gd fmla="val 15625" name="adj"/>
            </a:avLst>
          </a:prstGeom>
          <a:solidFill>
            <a:srgbClr val="0D1A2E"/>
          </a:solidFill>
          <a:ln cap="flat" cmpd="sng" w="12700">
            <a:solidFill>
              <a:srgbClr val="00D4FF"/>
            </a:solidFill>
            <a:prstDash val="solid"/>
            <a:round/>
            <a:headEnd len="sm" w="sm" type="none"/>
            <a:tailEnd len="sm" w="sm" type="none"/>
          </a:ln>
          <a:effectLst>
            <a:outerShdw blurRad="101600" rotWithShape="0" algn="bl" dir="2700000" dist="25400">
              <a:srgbClr val="000000">
                <a:alpha val="349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0" name="Google Shape;680;p36"/>
          <p:cNvSpPr/>
          <p:nvPr/>
        </p:nvSpPr>
        <p:spPr>
          <a:xfrm>
            <a:off x="548640" y="1097280"/>
            <a:ext cx="1097400" cy="390000"/>
          </a:xfrm>
          <a:prstGeom prst="rect">
            <a:avLst/>
          </a:prstGeom>
          <a:noFill/>
          <a:ln>
            <a:noFill/>
          </a:ln>
        </p:spPr>
        <p:txBody>
          <a:bodyPr anchorCtr="0" anchor="ctr" bIns="16925" lIns="16925" spcFirstLastPara="1" rIns="16925" wrap="square" tIns="16925">
            <a:noAutofit/>
          </a:bodyPr>
          <a:lstStyle/>
          <a:p>
            <a:pPr indent="0" lvl="0" marL="0" marR="0" rtl="0" algn="ctr">
              <a:spcBef>
                <a:spcPts val="0"/>
              </a:spcBef>
              <a:spcAft>
                <a:spcPts val="0"/>
              </a:spcAft>
              <a:buClr>
                <a:srgbClr val="00D4FF"/>
              </a:buClr>
              <a:buSzPts val="800"/>
              <a:buFont typeface="Calibri"/>
              <a:buNone/>
            </a:pPr>
            <a:r>
              <a:rPr b="1" i="0" lang="en-US" sz="800" u="none" cap="none" strike="noStrike">
                <a:solidFill>
                  <a:srgbClr val="00D4FF"/>
                </a:solidFill>
                <a:latin typeface="Calibri"/>
                <a:ea typeface="Calibri"/>
                <a:cs typeface="Calibri"/>
                <a:sym typeface="Calibri"/>
              </a:rPr>
              <a:t>👑 Commander</a:t>
            </a:r>
            <a:endParaRPr b="0" i="0" sz="800" u="none" cap="none" strike="noStrike">
              <a:solidFill>
                <a:schemeClr val="dk1"/>
              </a:solidFill>
              <a:latin typeface="Calibri"/>
              <a:ea typeface="Calibri"/>
              <a:cs typeface="Calibri"/>
              <a:sym typeface="Calibri"/>
            </a:endParaRPr>
          </a:p>
        </p:txBody>
      </p:sp>
      <p:cxnSp>
        <p:nvCxnSpPr>
          <p:cNvPr id="681" name="Google Shape;681;p36"/>
          <p:cNvCxnSpPr/>
          <p:nvPr/>
        </p:nvCxnSpPr>
        <p:spPr>
          <a:xfrm>
            <a:off x="1097280" y="1487424"/>
            <a:ext cx="0" cy="4827900"/>
          </a:xfrm>
          <a:prstGeom prst="straightConnector1">
            <a:avLst/>
          </a:prstGeom>
          <a:noFill/>
          <a:ln cap="flat" cmpd="sng" w="9525">
            <a:solidFill>
              <a:srgbClr val="1E2D45"/>
            </a:solidFill>
            <a:prstDash val="dash"/>
            <a:round/>
            <a:headEnd len="sm" w="sm" type="none"/>
            <a:tailEnd len="sm" w="sm" type="none"/>
          </a:ln>
        </p:spPr>
      </p:cxnSp>
      <p:sp>
        <p:nvSpPr>
          <p:cNvPr id="682" name="Google Shape;682;p36"/>
          <p:cNvSpPr/>
          <p:nvPr/>
        </p:nvSpPr>
        <p:spPr>
          <a:xfrm>
            <a:off x="2097024" y="1097280"/>
            <a:ext cx="1097400" cy="390000"/>
          </a:xfrm>
          <a:prstGeom prst="roundRect">
            <a:avLst>
              <a:gd fmla="val 15625" name="adj"/>
            </a:avLst>
          </a:prstGeom>
          <a:solidFill>
            <a:srgbClr val="0D1A2E"/>
          </a:solidFill>
          <a:ln cap="flat" cmpd="sng" w="12700">
            <a:solidFill>
              <a:srgbClr val="CE93D8"/>
            </a:solidFill>
            <a:prstDash val="solid"/>
            <a:round/>
            <a:headEnd len="sm" w="sm" type="none"/>
            <a:tailEnd len="sm" w="sm" type="none"/>
          </a:ln>
          <a:effectLst>
            <a:outerShdw blurRad="101600" rotWithShape="0" algn="bl" dir="2700000" dist="25400">
              <a:srgbClr val="000000">
                <a:alpha val="349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3" name="Google Shape;683;p36"/>
          <p:cNvSpPr/>
          <p:nvPr/>
        </p:nvSpPr>
        <p:spPr>
          <a:xfrm>
            <a:off x="2097024" y="1097280"/>
            <a:ext cx="1097400" cy="390000"/>
          </a:xfrm>
          <a:prstGeom prst="rect">
            <a:avLst/>
          </a:prstGeom>
          <a:noFill/>
          <a:ln>
            <a:noFill/>
          </a:ln>
        </p:spPr>
        <p:txBody>
          <a:bodyPr anchorCtr="0" anchor="ctr" bIns="16925" lIns="16925" spcFirstLastPara="1" rIns="16925" wrap="square" tIns="16925">
            <a:noAutofit/>
          </a:bodyPr>
          <a:lstStyle/>
          <a:p>
            <a:pPr indent="0" lvl="0" marL="0" marR="0" rtl="0" algn="ctr">
              <a:spcBef>
                <a:spcPts val="0"/>
              </a:spcBef>
              <a:spcAft>
                <a:spcPts val="0"/>
              </a:spcAft>
              <a:buClr>
                <a:srgbClr val="CE93D8"/>
              </a:buClr>
              <a:buSzPts val="800"/>
              <a:buFont typeface="Calibri"/>
              <a:buNone/>
            </a:pPr>
            <a:r>
              <a:rPr b="1" i="0" lang="en-US" sz="800" u="none" cap="none" strike="noStrike">
                <a:solidFill>
                  <a:srgbClr val="CE93D8"/>
                </a:solidFill>
                <a:latin typeface="Calibri"/>
                <a:ea typeface="Calibri"/>
                <a:cs typeface="Calibri"/>
                <a:sym typeface="Calibri"/>
              </a:rPr>
              <a:t>🤖 Agent</a:t>
            </a:r>
            <a:endParaRPr b="0" i="0" sz="800" u="none" cap="none" strike="noStrike">
              <a:solidFill>
                <a:schemeClr val="dk1"/>
              </a:solidFill>
              <a:latin typeface="Calibri"/>
              <a:ea typeface="Calibri"/>
              <a:cs typeface="Calibri"/>
              <a:sym typeface="Calibri"/>
            </a:endParaRPr>
          </a:p>
        </p:txBody>
      </p:sp>
      <p:cxnSp>
        <p:nvCxnSpPr>
          <p:cNvPr id="684" name="Google Shape;684;p36"/>
          <p:cNvCxnSpPr/>
          <p:nvPr/>
        </p:nvCxnSpPr>
        <p:spPr>
          <a:xfrm>
            <a:off x="2645664" y="1487424"/>
            <a:ext cx="0" cy="4827900"/>
          </a:xfrm>
          <a:prstGeom prst="straightConnector1">
            <a:avLst/>
          </a:prstGeom>
          <a:noFill/>
          <a:ln cap="flat" cmpd="sng" w="9525">
            <a:solidFill>
              <a:srgbClr val="1E2D45"/>
            </a:solidFill>
            <a:prstDash val="dash"/>
            <a:round/>
            <a:headEnd len="sm" w="sm" type="none"/>
            <a:tailEnd len="sm" w="sm" type="none"/>
          </a:ln>
        </p:spPr>
      </p:cxnSp>
      <p:sp>
        <p:nvSpPr>
          <p:cNvPr id="685" name="Google Shape;685;p36"/>
          <p:cNvSpPr/>
          <p:nvPr/>
        </p:nvSpPr>
        <p:spPr>
          <a:xfrm>
            <a:off x="3645408" y="1097280"/>
            <a:ext cx="1097400" cy="390000"/>
          </a:xfrm>
          <a:prstGeom prst="roundRect">
            <a:avLst>
              <a:gd fmla="val 15625" name="adj"/>
            </a:avLst>
          </a:prstGeom>
          <a:solidFill>
            <a:srgbClr val="0D1A2E"/>
          </a:solidFill>
          <a:ln cap="flat" cmpd="sng" w="12700">
            <a:solidFill>
              <a:srgbClr val="FFC107"/>
            </a:solidFill>
            <a:prstDash val="solid"/>
            <a:round/>
            <a:headEnd len="sm" w="sm" type="none"/>
            <a:tailEnd len="sm" w="sm" type="none"/>
          </a:ln>
          <a:effectLst>
            <a:outerShdw blurRad="101600" rotWithShape="0" algn="bl" dir="2700000" dist="25400">
              <a:srgbClr val="000000">
                <a:alpha val="349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6" name="Google Shape;686;p36"/>
          <p:cNvSpPr/>
          <p:nvPr/>
        </p:nvSpPr>
        <p:spPr>
          <a:xfrm>
            <a:off x="3645408" y="1097280"/>
            <a:ext cx="1097400" cy="390000"/>
          </a:xfrm>
          <a:prstGeom prst="rect">
            <a:avLst/>
          </a:prstGeom>
          <a:noFill/>
          <a:ln>
            <a:noFill/>
          </a:ln>
        </p:spPr>
        <p:txBody>
          <a:bodyPr anchorCtr="0" anchor="ctr" bIns="16925" lIns="16925" spcFirstLastPara="1" rIns="16925" wrap="square" tIns="16925">
            <a:noAutofit/>
          </a:bodyPr>
          <a:lstStyle/>
          <a:p>
            <a:pPr indent="0" lvl="0" marL="0" marR="0" rtl="0" algn="ctr">
              <a:spcBef>
                <a:spcPts val="0"/>
              </a:spcBef>
              <a:spcAft>
                <a:spcPts val="0"/>
              </a:spcAft>
              <a:buClr>
                <a:srgbClr val="FFC107"/>
              </a:buClr>
              <a:buSzPts val="800"/>
              <a:buFont typeface="Calibri"/>
              <a:buNone/>
            </a:pPr>
            <a:r>
              <a:rPr b="1" i="0" lang="en-US" sz="800" u="none" cap="none" strike="noStrike">
                <a:solidFill>
                  <a:srgbClr val="FFC107"/>
                </a:solidFill>
                <a:latin typeface="Calibri"/>
                <a:ea typeface="Calibri"/>
                <a:cs typeface="Calibri"/>
                <a:sym typeface="Calibri"/>
              </a:rPr>
              <a:t>🚦 Risk Gate</a:t>
            </a:r>
            <a:endParaRPr b="0" i="0" sz="800" u="none" cap="none" strike="noStrike">
              <a:solidFill>
                <a:schemeClr val="dk1"/>
              </a:solidFill>
              <a:latin typeface="Calibri"/>
              <a:ea typeface="Calibri"/>
              <a:cs typeface="Calibri"/>
              <a:sym typeface="Calibri"/>
            </a:endParaRPr>
          </a:p>
        </p:txBody>
      </p:sp>
      <p:cxnSp>
        <p:nvCxnSpPr>
          <p:cNvPr id="687" name="Google Shape;687;p36"/>
          <p:cNvCxnSpPr/>
          <p:nvPr/>
        </p:nvCxnSpPr>
        <p:spPr>
          <a:xfrm>
            <a:off x="4194048" y="1487424"/>
            <a:ext cx="0" cy="4827900"/>
          </a:xfrm>
          <a:prstGeom prst="straightConnector1">
            <a:avLst/>
          </a:prstGeom>
          <a:noFill/>
          <a:ln cap="flat" cmpd="sng" w="9525">
            <a:solidFill>
              <a:srgbClr val="1E2D45"/>
            </a:solidFill>
            <a:prstDash val="dash"/>
            <a:round/>
            <a:headEnd len="sm" w="sm" type="none"/>
            <a:tailEnd len="sm" w="sm" type="none"/>
          </a:ln>
        </p:spPr>
      </p:cxnSp>
      <p:sp>
        <p:nvSpPr>
          <p:cNvPr id="688" name="Google Shape;688;p36"/>
          <p:cNvSpPr/>
          <p:nvPr/>
        </p:nvSpPr>
        <p:spPr>
          <a:xfrm>
            <a:off x="5071080" y="1085355"/>
            <a:ext cx="1097400" cy="390000"/>
          </a:xfrm>
          <a:prstGeom prst="roundRect">
            <a:avLst>
              <a:gd fmla="val 15625" name="adj"/>
            </a:avLst>
          </a:prstGeom>
          <a:solidFill>
            <a:srgbClr val="0D1A2E"/>
          </a:solidFill>
          <a:ln cap="flat" cmpd="sng" w="12700">
            <a:solidFill>
              <a:srgbClr val="888888"/>
            </a:solidFill>
            <a:prstDash val="solid"/>
            <a:round/>
            <a:headEnd len="sm" w="sm" type="none"/>
            <a:tailEnd len="sm" w="sm" type="none"/>
          </a:ln>
          <a:effectLst>
            <a:outerShdw blurRad="101600" rotWithShape="0" algn="bl" dir="2700000" dist="25400">
              <a:srgbClr val="000000">
                <a:alpha val="349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9" name="Google Shape;689;p36"/>
          <p:cNvSpPr/>
          <p:nvPr/>
        </p:nvSpPr>
        <p:spPr>
          <a:xfrm>
            <a:off x="5170800" y="1134100"/>
            <a:ext cx="908700" cy="292500"/>
          </a:xfrm>
          <a:prstGeom prst="rect">
            <a:avLst/>
          </a:prstGeom>
          <a:noFill/>
          <a:ln>
            <a:noFill/>
          </a:ln>
        </p:spPr>
        <p:txBody>
          <a:bodyPr anchorCtr="0" anchor="ctr" bIns="16925" lIns="16925" spcFirstLastPara="1" rIns="16925" wrap="square" tIns="16925">
            <a:noAutofit/>
          </a:bodyPr>
          <a:lstStyle/>
          <a:p>
            <a:pPr indent="0" lvl="0" marL="0" marR="0" rtl="0" algn="ctr">
              <a:spcBef>
                <a:spcPts val="0"/>
              </a:spcBef>
              <a:spcAft>
                <a:spcPts val="0"/>
              </a:spcAft>
              <a:buClr>
                <a:srgbClr val="888888"/>
              </a:buClr>
              <a:buSzPts val="800"/>
              <a:buFont typeface="Calibri"/>
              <a:buNone/>
            </a:pPr>
            <a:r>
              <a:rPr b="1" i="0" lang="en-US" sz="800" u="none" cap="none" strike="noStrike">
                <a:solidFill>
                  <a:srgbClr val="888888"/>
                </a:solidFill>
                <a:latin typeface="Calibri"/>
                <a:ea typeface="Calibri"/>
                <a:cs typeface="Calibri"/>
                <a:sym typeface="Calibri"/>
              </a:rPr>
              <a:t>⚙️ Tool Adapter</a:t>
            </a:r>
            <a:endParaRPr b="0" i="0" sz="800" u="none" cap="none" strike="noStrike">
              <a:solidFill>
                <a:schemeClr val="dk1"/>
              </a:solidFill>
              <a:latin typeface="Calibri"/>
              <a:ea typeface="Calibri"/>
              <a:cs typeface="Calibri"/>
              <a:sym typeface="Calibri"/>
            </a:endParaRPr>
          </a:p>
        </p:txBody>
      </p:sp>
      <p:cxnSp>
        <p:nvCxnSpPr>
          <p:cNvPr id="690" name="Google Shape;690;p36"/>
          <p:cNvCxnSpPr/>
          <p:nvPr/>
        </p:nvCxnSpPr>
        <p:spPr>
          <a:xfrm>
            <a:off x="5742432" y="1487424"/>
            <a:ext cx="0" cy="4827900"/>
          </a:xfrm>
          <a:prstGeom prst="straightConnector1">
            <a:avLst/>
          </a:prstGeom>
          <a:noFill/>
          <a:ln cap="flat" cmpd="sng" w="9525">
            <a:solidFill>
              <a:srgbClr val="1E2D45"/>
            </a:solidFill>
            <a:prstDash val="dash"/>
            <a:round/>
            <a:headEnd len="sm" w="sm" type="none"/>
            <a:tailEnd len="sm" w="sm" type="none"/>
          </a:ln>
        </p:spPr>
      </p:cxnSp>
      <p:sp>
        <p:nvSpPr>
          <p:cNvPr id="691" name="Google Shape;691;p36"/>
          <p:cNvSpPr/>
          <p:nvPr/>
        </p:nvSpPr>
        <p:spPr>
          <a:xfrm>
            <a:off x="6496775" y="1097275"/>
            <a:ext cx="933300" cy="390000"/>
          </a:xfrm>
          <a:prstGeom prst="roundRect">
            <a:avLst>
              <a:gd fmla="val 15625" name="adj"/>
            </a:avLst>
          </a:prstGeom>
          <a:solidFill>
            <a:srgbClr val="0D1A2E"/>
          </a:solidFill>
          <a:ln cap="flat" cmpd="sng" w="12700">
            <a:solidFill>
              <a:srgbClr val="7FFF00"/>
            </a:solidFill>
            <a:prstDash val="solid"/>
            <a:round/>
            <a:headEnd len="sm" w="sm" type="none"/>
            <a:tailEnd len="sm" w="sm" type="none"/>
          </a:ln>
          <a:effectLst>
            <a:outerShdw blurRad="101600" rotWithShape="0" algn="bl" dir="2700000" dist="25400">
              <a:srgbClr val="000000">
                <a:alpha val="349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92" name="Google Shape;692;p36"/>
          <p:cNvSpPr/>
          <p:nvPr/>
        </p:nvSpPr>
        <p:spPr>
          <a:xfrm>
            <a:off x="6521425" y="1097275"/>
            <a:ext cx="908700" cy="390000"/>
          </a:xfrm>
          <a:prstGeom prst="rect">
            <a:avLst/>
          </a:prstGeom>
          <a:noFill/>
          <a:ln>
            <a:noFill/>
          </a:ln>
        </p:spPr>
        <p:txBody>
          <a:bodyPr anchorCtr="0" anchor="ctr" bIns="16925" lIns="16925" spcFirstLastPara="1" rIns="16925" wrap="square" tIns="16925">
            <a:noAutofit/>
          </a:bodyPr>
          <a:lstStyle/>
          <a:p>
            <a:pPr indent="0" lvl="0" marL="0" marR="0" rtl="0" algn="ctr">
              <a:spcBef>
                <a:spcPts val="0"/>
              </a:spcBef>
              <a:spcAft>
                <a:spcPts val="0"/>
              </a:spcAft>
              <a:buClr>
                <a:srgbClr val="7FFF00"/>
              </a:buClr>
              <a:buSzPts val="800"/>
              <a:buFont typeface="Calibri"/>
              <a:buNone/>
            </a:pPr>
            <a:r>
              <a:rPr b="1" i="0" lang="en-US" sz="800" u="none" cap="none" strike="noStrike">
                <a:solidFill>
                  <a:srgbClr val="7FFF00"/>
                </a:solidFill>
                <a:latin typeface="Calibri"/>
                <a:ea typeface="Calibri"/>
                <a:cs typeface="Calibri"/>
                <a:sym typeface="Calibri"/>
              </a:rPr>
              <a:t>🟢 ASG</a:t>
            </a:r>
            <a:endParaRPr b="0" i="0" sz="800" u="none" cap="none" strike="noStrike">
              <a:solidFill>
                <a:schemeClr val="dk1"/>
              </a:solidFill>
              <a:latin typeface="Calibri"/>
              <a:ea typeface="Calibri"/>
              <a:cs typeface="Calibri"/>
              <a:sym typeface="Calibri"/>
            </a:endParaRPr>
          </a:p>
        </p:txBody>
      </p:sp>
      <p:cxnSp>
        <p:nvCxnSpPr>
          <p:cNvPr id="693" name="Google Shape;693;p36"/>
          <p:cNvCxnSpPr/>
          <p:nvPr/>
        </p:nvCxnSpPr>
        <p:spPr>
          <a:xfrm>
            <a:off x="7114716" y="1487424"/>
            <a:ext cx="0" cy="4827900"/>
          </a:xfrm>
          <a:prstGeom prst="straightConnector1">
            <a:avLst/>
          </a:prstGeom>
          <a:noFill/>
          <a:ln cap="flat" cmpd="sng" w="9525">
            <a:solidFill>
              <a:srgbClr val="1E2D45"/>
            </a:solidFill>
            <a:prstDash val="dash"/>
            <a:round/>
            <a:headEnd len="sm" w="sm" type="none"/>
            <a:tailEnd len="sm" w="sm" type="none"/>
          </a:ln>
        </p:spPr>
      </p:cxnSp>
      <p:cxnSp>
        <p:nvCxnSpPr>
          <p:cNvPr id="694" name="Google Shape;694;p36"/>
          <p:cNvCxnSpPr/>
          <p:nvPr/>
        </p:nvCxnSpPr>
        <p:spPr>
          <a:xfrm>
            <a:off x="1097280" y="1755648"/>
            <a:ext cx="1548300" cy="0"/>
          </a:xfrm>
          <a:prstGeom prst="straightConnector1">
            <a:avLst/>
          </a:prstGeom>
          <a:noFill/>
          <a:ln cap="flat" cmpd="sng" w="9525">
            <a:solidFill>
              <a:srgbClr val="00D4FF"/>
            </a:solidFill>
            <a:prstDash val="solid"/>
            <a:round/>
            <a:headEnd len="sm" w="sm" type="none"/>
            <a:tailEnd len="med" w="med" type="triangle"/>
          </a:ln>
        </p:spPr>
      </p:cxnSp>
      <p:sp>
        <p:nvSpPr>
          <p:cNvPr id="695" name="Google Shape;695;p36"/>
          <p:cNvSpPr/>
          <p:nvPr/>
        </p:nvSpPr>
        <p:spPr>
          <a:xfrm>
            <a:off x="1200912" y="1584960"/>
            <a:ext cx="13410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D4FF"/>
              </a:buClr>
              <a:buSzPts val="600"/>
              <a:buFont typeface="Calibri"/>
              <a:buNone/>
            </a:pPr>
            <a:r>
              <a:rPr b="0" i="0" lang="en-US" sz="700" u="none" cap="none" strike="noStrike">
                <a:solidFill>
                  <a:srgbClr val="00D4FF"/>
                </a:solidFill>
                <a:latin typeface="Calibri"/>
                <a:ea typeface="Calibri"/>
                <a:cs typeface="Calibri"/>
                <a:sym typeface="Calibri"/>
              </a:rPr>
              <a:t>spawn(ASG slice + task + toolset)</a:t>
            </a:r>
            <a:endParaRPr b="0" i="0" sz="700" u="none" cap="none" strike="noStrike">
              <a:solidFill>
                <a:schemeClr val="dk1"/>
              </a:solidFill>
              <a:latin typeface="Calibri"/>
              <a:ea typeface="Calibri"/>
              <a:cs typeface="Calibri"/>
              <a:sym typeface="Calibri"/>
            </a:endParaRPr>
          </a:p>
        </p:txBody>
      </p:sp>
      <p:cxnSp>
        <p:nvCxnSpPr>
          <p:cNvPr id="696" name="Google Shape;696;p36"/>
          <p:cNvCxnSpPr/>
          <p:nvPr/>
        </p:nvCxnSpPr>
        <p:spPr>
          <a:xfrm>
            <a:off x="2645664" y="2097024"/>
            <a:ext cx="1548300" cy="0"/>
          </a:xfrm>
          <a:prstGeom prst="straightConnector1">
            <a:avLst/>
          </a:prstGeom>
          <a:noFill/>
          <a:ln cap="flat" cmpd="sng" w="9525">
            <a:solidFill>
              <a:srgbClr val="CE93D8"/>
            </a:solidFill>
            <a:prstDash val="solid"/>
            <a:round/>
            <a:headEnd len="sm" w="sm" type="none"/>
            <a:tailEnd len="med" w="med" type="triangle"/>
          </a:ln>
        </p:spPr>
      </p:cxnSp>
      <p:sp>
        <p:nvSpPr>
          <p:cNvPr id="697" name="Google Shape;697;p36"/>
          <p:cNvSpPr/>
          <p:nvPr/>
        </p:nvSpPr>
        <p:spPr>
          <a:xfrm>
            <a:off x="2749296" y="1926336"/>
            <a:ext cx="13410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E93D8"/>
              </a:buClr>
              <a:buSzPts val="600"/>
              <a:buFont typeface="Calibri"/>
              <a:buNone/>
            </a:pPr>
            <a:r>
              <a:rPr b="0" i="0" lang="en-US" sz="700" u="none" cap="none" strike="noStrike">
                <a:solidFill>
                  <a:srgbClr val="CE93D8"/>
                </a:solidFill>
                <a:latin typeface="Calibri"/>
                <a:ea typeface="Calibri"/>
                <a:cs typeface="Calibri"/>
                <a:sym typeface="Calibri"/>
              </a:rPr>
              <a:t>tool_call(WhatWeb) — LOW risk</a:t>
            </a:r>
            <a:endParaRPr b="0" i="0" sz="700" u="none" cap="none" strike="noStrike">
              <a:solidFill>
                <a:schemeClr val="dk1"/>
              </a:solidFill>
              <a:latin typeface="Calibri"/>
              <a:ea typeface="Calibri"/>
              <a:cs typeface="Calibri"/>
              <a:sym typeface="Calibri"/>
            </a:endParaRPr>
          </a:p>
        </p:txBody>
      </p:sp>
      <p:cxnSp>
        <p:nvCxnSpPr>
          <p:cNvPr id="698" name="Google Shape;698;p36"/>
          <p:cNvCxnSpPr/>
          <p:nvPr/>
        </p:nvCxnSpPr>
        <p:spPr>
          <a:xfrm>
            <a:off x="2645664" y="2316480"/>
            <a:ext cx="1548300" cy="0"/>
          </a:xfrm>
          <a:prstGeom prst="straightConnector1">
            <a:avLst/>
          </a:prstGeom>
          <a:noFill/>
          <a:ln cap="flat" cmpd="sng" w="9525">
            <a:solidFill>
              <a:srgbClr val="FFC107"/>
            </a:solidFill>
            <a:prstDash val="dash"/>
            <a:round/>
            <a:headEnd len="med" w="med" type="triangle"/>
            <a:tailEnd len="sm" w="sm" type="none"/>
          </a:ln>
        </p:spPr>
      </p:cxnSp>
      <p:sp>
        <p:nvSpPr>
          <p:cNvPr id="699" name="Google Shape;699;p36"/>
          <p:cNvSpPr/>
          <p:nvPr/>
        </p:nvSpPr>
        <p:spPr>
          <a:xfrm>
            <a:off x="2749296" y="2145792"/>
            <a:ext cx="13410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C107"/>
              </a:buClr>
              <a:buSzPts val="600"/>
              <a:buFont typeface="Calibri"/>
              <a:buNone/>
            </a:pPr>
            <a:r>
              <a:rPr b="0" i="0" lang="en-US" sz="700" u="none" cap="none" strike="noStrike">
                <a:solidFill>
                  <a:srgbClr val="FFC107"/>
                </a:solidFill>
                <a:latin typeface="Calibri"/>
                <a:ea typeface="Calibri"/>
                <a:cs typeface="Calibri"/>
                <a:sym typeface="Calibri"/>
              </a:rPr>
              <a:t>→ execute immediately</a:t>
            </a:r>
            <a:endParaRPr b="0" i="0" sz="700" u="none" cap="none" strike="noStrike">
              <a:solidFill>
                <a:schemeClr val="dk1"/>
              </a:solidFill>
              <a:latin typeface="Calibri"/>
              <a:ea typeface="Calibri"/>
              <a:cs typeface="Calibri"/>
              <a:sym typeface="Calibri"/>
            </a:endParaRPr>
          </a:p>
        </p:txBody>
      </p:sp>
      <p:cxnSp>
        <p:nvCxnSpPr>
          <p:cNvPr id="700" name="Google Shape;700;p36"/>
          <p:cNvCxnSpPr/>
          <p:nvPr/>
        </p:nvCxnSpPr>
        <p:spPr>
          <a:xfrm>
            <a:off x="4194048" y="2535936"/>
            <a:ext cx="1548300" cy="0"/>
          </a:xfrm>
          <a:prstGeom prst="straightConnector1">
            <a:avLst/>
          </a:prstGeom>
          <a:noFill/>
          <a:ln cap="flat" cmpd="sng" w="9525">
            <a:solidFill>
              <a:srgbClr val="FFC107"/>
            </a:solidFill>
            <a:prstDash val="solid"/>
            <a:round/>
            <a:headEnd len="sm" w="sm" type="none"/>
            <a:tailEnd len="med" w="med" type="triangle"/>
          </a:ln>
        </p:spPr>
      </p:cxnSp>
      <p:sp>
        <p:nvSpPr>
          <p:cNvPr id="701" name="Google Shape;701;p36"/>
          <p:cNvSpPr/>
          <p:nvPr/>
        </p:nvSpPr>
        <p:spPr>
          <a:xfrm>
            <a:off x="4297680" y="2365248"/>
            <a:ext cx="13410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C107"/>
              </a:buClr>
              <a:buSzPts val="600"/>
              <a:buFont typeface="Calibri"/>
              <a:buNone/>
            </a:pPr>
            <a:r>
              <a:rPr b="0" i="0" lang="en-US" sz="700" u="none" cap="none" strike="noStrike">
                <a:solidFill>
                  <a:srgbClr val="FFC107"/>
                </a:solidFill>
                <a:latin typeface="Calibri"/>
                <a:ea typeface="Calibri"/>
                <a:cs typeface="Calibri"/>
                <a:sym typeface="Calibri"/>
              </a:rPr>
              <a:t>execute(WhatWeb)</a:t>
            </a:r>
            <a:endParaRPr b="0" i="0" sz="700" u="none" cap="none" strike="noStrike">
              <a:solidFill>
                <a:schemeClr val="dk1"/>
              </a:solidFill>
              <a:latin typeface="Calibri"/>
              <a:ea typeface="Calibri"/>
              <a:cs typeface="Calibri"/>
              <a:sym typeface="Calibri"/>
            </a:endParaRPr>
          </a:p>
        </p:txBody>
      </p:sp>
      <p:cxnSp>
        <p:nvCxnSpPr>
          <p:cNvPr id="702" name="Google Shape;702;p36"/>
          <p:cNvCxnSpPr/>
          <p:nvPr/>
        </p:nvCxnSpPr>
        <p:spPr>
          <a:xfrm>
            <a:off x="2645664" y="2779776"/>
            <a:ext cx="3096900" cy="0"/>
          </a:xfrm>
          <a:prstGeom prst="straightConnector1">
            <a:avLst/>
          </a:prstGeom>
          <a:noFill/>
          <a:ln cap="flat" cmpd="sng" w="9525">
            <a:solidFill>
              <a:srgbClr val="888888"/>
            </a:solidFill>
            <a:prstDash val="dash"/>
            <a:round/>
            <a:headEnd len="med" w="med" type="triangle"/>
            <a:tailEnd len="sm" w="sm" type="none"/>
          </a:ln>
        </p:spPr>
      </p:cxnSp>
      <p:sp>
        <p:nvSpPr>
          <p:cNvPr id="703" name="Google Shape;703;p36"/>
          <p:cNvSpPr/>
          <p:nvPr/>
        </p:nvSpPr>
        <p:spPr>
          <a:xfrm>
            <a:off x="3523488" y="2609088"/>
            <a:ext cx="13410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88"/>
              </a:buClr>
              <a:buSzPts val="600"/>
              <a:buFont typeface="Calibri"/>
              <a:buNone/>
            </a:pPr>
            <a:r>
              <a:rPr b="0" i="0" lang="en-US" sz="700" u="none" cap="none" strike="noStrike">
                <a:solidFill>
                  <a:schemeClr val="lt1"/>
                </a:solidFill>
                <a:latin typeface="Calibri"/>
                <a:ea typeface="Calibri"/>
                <a:cs typeface="Calibri"/>
                <a:sym typeface="Calibri"/>
              </a:rPr>
              <a:t>structured findings {tech: WP 5.9.3}</a:t>
            </a:r>
            <a:endParaRPr b="0" i="0" sz="700" u="none" cap="none" strike="noStrike">
              <a:solidFill>
                <a:schemeClr val="lt1"/>
              </a:solidFill>
              <a:latin typeface="Calibri"/>
              <a:ea typeface="Calibri"/>
              <a:cs typeface="Calibri"/>
              <a:sym typeface="Calibri"/>
            </a:endParaRPr>
          </a:p>
        </p:txBody>
      </p:sp>
      <p:cxnSp>
        <p:nvCxnSpPr>
          <p:cNvPr id="704" name="Google Shape;704;p36"/>
          <p:cNvCxnSpPr/>
          <p:nvPr/>
        </p:nvCxnSpPr>
        <p:spPr>
          <a:xfrm>
            <a:off x="2645664" y="3169920"/>
            <a:ext cx="1548300" cy="0"/>
          </a:xfrm>
          <a:prstGeom prst="straightConnector1">
            <a:avLst/>
          </a:prstGeom>
          <a:noFill/>
          <a:ln cap="flat" cmpd="sng" w="9525">
            <a:solidFill>
              <a:srgbClr val="CE93D8"/>
            </a:solidFill>
            <a:prstDash val="solid"/>
            <a:round/>
            <a:headEnd len="sm" w="sm" type="none"/>
            <a:tailEnd len="med" w="med" type="triangle"/>
          </a:ln>
        </p:spPr>
      </p:cxnSp>
      <p:sp>
        <p:nvSpPr>
          <p:cNvPr id="705" name="Google Shape;705;p36"/>
          <p:cNvSpPr/>
          <p:nvPr/>
        </p:nvSpPr>
        <p:spPr>
          <a:xfrm>
            <a:off x="2749296" y="2999232"/>
            <a:ext cx="13410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E93D8"/>
              </a:buClr>
              <a:buSzPts val="600"/>
              <a:buFont typeface="Calibri"/>
              <a:buNone/>
            </a:pPr>
            <a:r>
              <a:rPr b="0" i="0" lang="en-US" sz="700" u="none" cap="none" strike="noStrike">
                <a:solidFill>
                  <a:srgbClr val="CE93D8"/>
                </a:solidFill>
                <a:latin typeface="Calibri"/>
                <a:ea typeface="Calibri"/>
                <a:cs typeface="Calibri"/>
                <a:sym typeface="Calibri"/>
              </a:rPr>
              <a:t>tool_call(Gobuster) — MED risk</a:t>
            </a:r>
            <a:endParaRPr b="0" i="0" sz="700" u="none" cap="none" strike="noStrike">
              <a:solidFill>
                <a:schemeClr val="dk1"/>
              </a:solidFill>
              <a:latin typeface="Calibri"/>
              <a:ea typeface="Calibri"/>
              <a:cs typeface="Calibri"/>
              <a:sym typeface="Calibri"/>
            </a:endParaRPr>
          </a:p>
        </p:txBody>
      </p:sp>
      <p:cxnSp>
        <p:nvCxnSpPr>
          <p:cNvPr id="706" name="Google Shape;706;p36"/>
          <p:cNvCxnSpPr/>
          <p:nvPr/>
        </p:nvCxnSpPr>
        <p:spPr>
          <a:xfrm>
            <a:off x="1097280" y="3389376"/>
            <a:ext cx="3096900" cy="0"/>
          </a:xfrm>
          <a:prstGeom prst="straightConnector1">
            <a:avLst/>
          </a:prstGeom>
          <a:noFill/>
          <a:ln cap="flat" cmpd="sng" w="9525">
            <a:solidFill>
              <a:srgbClr val="FFC107"/>
            </a:solidFill>
            <a:prstDash val="solid"/>
            <a:round/>
            <a:headEnd len="sm" w="sm" type="none"/>
            <a:tailEnd len="med" w="med" type="triangle"/>
          </a:ln>
        </p:spPr>
      </p:cxnSp>
      <p:sp>
        <p:nvSpPr>
          <p:cNvPr id="707" name="Google Shape;707;p36"/>
          <p:cNvSpPr/>
          <p:nvPr/>
        </p:nvSpPr>
        <p:spPr>
          <a:xfrm>
            <a:off x="1975104" y="3218688"/>
            <a:ext cx="13410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C107"/>
              </a:buClr>
              <a:buSzPts val="600"/>
              <a:buFont typeface="Calibri"/>
              <a:buNone/>
            </a:pPr>
            <a:r>
              <a:rPr b="0" i="0" lang="en-US" sz="700" u="none" cap="none" strike="noStrike">
                <a:solidFill>
                  <a:srgbClr val="FFC107"/>
                </a:solidFill>
                <a:latin typeface="Calibri"/>
                <a:ea typeface="Calibri"/>
                <a:cs typeface="Calibri"/>
                <a:sym typeface="Calibri"/>
              </a:rPr>
              <a:t>LLM Classifier → EXECUTE</a:t>
            </a:r>
            <a:endParaRPr b="0" i="0" sz="700" u="none" cap="none" strike="noStrike">
              <a:solidFill>
                <a:schemeClr val="dk1"/>
              </a:solidFill>
              <a:latin typeface="Calibri"/>
              <a:ea typeface="Calibri"/>
              <a:cs typeface="Calibri"/>
              <a:sym typeface="Calibri"/>
            </a:endParaRPr>
          </a:p>
        </p:txBody>
      </p:sp>
      <p:cxnSp>
        <p:nvCxnSpPr>
          <p:cNvPr id="708" name="Google Shape;708;p36"/>
          <p:cNvCxnSpPr/>
          <p:nvPr/>
        </p:nvCxnSpPr>
        <p:spPr>
          <a:xfrm>
            <a:off x="4194048" y="3608832"/>
            <a:ext cx="1548300" cy="0"/>
          </a:xfrm>
          <a:prstGeom prst="straightConnector1">
            <a:avLst/>
          </a:prstGeom>
          <a:noFill/>
          <a:ln cap="flat" cmpd="sng" w="9525">
            <a:solidFill>
              <a:srgbClr val="FFC107"/>
            </a:solidFill>
            <a:prstDash val="solid"/>
            <a:round/>
            <a:headEnd len="sm" w="sm" type="none"/>
            <a:tailEnd len="med" w="med" type="triangle"/>
          </a:ln>
        </p:spPr>
      </p:cxnSp>
      <p:sp>
        <p:nvSpPr>
          <p:cNvPr id="709" name="Google Shape;709;p36"/>
          <p:cNvSpPr/>
          <p:nvPr/>
        </p:nvSpPr>
        <p:spPr>
          <a:xfrm>
            <a:off x="4297680" y="3438144"/>
            <a:ext cx="13410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C107"/>
              </a:buClr>
              <a:buSzPts val="600"/>
              <a:buFont typeface="Calibri"/>
              <a:buNone/>
            </a:pPr>
            <a:r>
              <a:rPr b="0" i="0" lang="en-US" sz="700" u="none" cap="none" strike="noStrike">
                <a:solidFill>
                  <a:srgbClr val="FFC107"/>
                </a:solidFill>
                <a:latin typeface="Calibri"/>
                <a:ea typeface="Calibri"/>
                <a:cs typeface="Calibri"/>
                <a:sym typeface="Calibri"/>
              </a:rPr>
              <a:t>execute(Gobuster)</a:t>
            </a:r>
            <a:endParaRPr b="0" i="0" sz="700" u="none" cap="none" strike="noStrike">
              <a:solidFill>
                <a:schemeClr val="dk1"/>
              </a:solidFill>
              <a:latin typeface="Calibri"/>
              <a:ea typeface="Calibri"/>
              <a:cs typeface="Calibri"/>
              <a:sym typeface="Calibri"/>
            </a:endParaRPr>
          </a:p>
        </p:txBody>
      </p:sp>
      <p:cxnSp>
        <p:nvCxnSpPr>
          <p:cNvPr id="710" name="Google Shape;710;p36"/>
          <p:cNvCxnSpPr/>
          <p:nvPr/>
        </p:nvCxnSpPr>
        <p:spPr>
          <a:xfrm>
            <a:off x="2645664" y="3852672"/>
            <a:ext cx="3096900" cy="0"/>
          </a:xfrm>
          <a:prstGeom prst="straightConnector1">
            <a:avLst/>
          </a:prstGeom>
          <a:noFill/>
          <a:ln cap="flat" cmpd="sng" w="9525">
            <a:solidFill>
              <a:srgbClr val="888888"/>
            </a:solidFill>
            <a:prstDash val="dash"/>
            <a:round/>
            <a:headEnd len="med" w="med" type="triangle"/>
            <a:tailEnd len="sm" w="sm" type="none"/>
          </a:ln>
        </p:spPr>
      </p:cxnSp>
      <p:sp>
        <p:nvSpPr>
          <p:cNvPr id="711" name="Google Shape;711;p36"/>
          <p:cNvSpPr/>
          <p:nvPr/>
        </p:nvSpPr>
        <p:spPr>
          <a:xfrm>
            <a:off x="3523500" y="3681975"/>
            <a:ext cx="15483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88"/>
              </a:buClr>
              <a:buSzPts val="600"/>
              <a:buFont typeface="Calibri"/>
              <a:buNone/>
            </a:pPr>
            <a:r>
              <a:rPr b="0" i="0" lang="en-US" sz="700" u="none" cap="none" strike="noStrike">
                <a:solidFill>
                  <a:schemeClr val="lt1"/>
                </a:solidFill>
                <a:latin typeface="Calibri"/>
                <a:ea typeface="Calibri"/>
                <a:cs typeface="Calibri"/>
                <a:sym typeface="Calibri"/>
              </a:rPr>
              <a:t>structured findings {endpoint: /backup/...}</a:t>
            </a:r>
            <a:endParaRPr b="0" i="0" sz="700" u="none" cap="none" strike="noStrike">
              <a:solidFill>
                <a:schemeClr val="lt1"/>
              </a:solidFill>
              <a:latin typeface="Calibri"/>
              <a:ea typeface="Calibri"/>
              <a:cs typeface="Calibri"/>
              <a:sym typeface="Calibri"/>
            </a:endParaRPr>
          </a:p>
        </p:txBody>
      </p:sp>
      <p:cxnSp>
        <p:nvCxnSpPr>
          <p:cNvPr id="712" name="Google Shape;712;p36"/>
          <p:cNvCxnSpPr/>
          <p:nvPr/>
        </p:nvCxnSpPr>
        <p:spPr>
          <a:xfrm>
            <a:off x="2645664" y="4242816"/>
            <a:ext cx="1548300" cy="0"/>
          </a:xfrm>
          <a:prstGeom prst="straightConnector1">
            <a:avLst/>
          </a:prstGeom>
          <a:noFill/>
          <a:ln cap="flat" cmpd="sng" w="9525">
            <a:solidFill>
              <a:srgbClr val="FF5252"/>
            </a:solidFill>
            <a:prstDash val="solid"/>
            <a:round/>
            <a:headEnd len="sm" w="sm" type="none"/>
            <a:tailEnd len="med" w="med" type="triangle"/>
          </a:ln>
        </p:spPr>
      </p:cxnSp>
      <p:sp>
        <p:nvSpPr>
          <p:cNvPr id="713" name="Google Shape;713;p36"/>
          <p:cNvSpPr/>
          <p:nvPr/>
        </p:nvSpPr>
        <p:spPr>
          <a:xfrm>
            <a:off x="2749296" y="4072128"/>
            <a:ext cx="13410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5252"/>
              </a:buClr>
              <a:buSzPts val="600"/>
              <a:buFont typeface="Calibri"/>
              <a:buNone/>
            </a:pPr>
            <a:r>
              <a:rPr b="0" i="0" lang="en-US" sz="700" u="none" cap="none" strike="noStrike">
                <a:solidFill>
                  <a:srgbClr val="FF5252"/>
                </a:solidFill>
                <a:latin typeface="Calibri"/>
                <a:ea typeface="Calibri"/>
                <a:cs typeface="Calibri"/>
                <a:sym typeface="Calibri"/>
              </a:rPr>
              <a:t>tool_call(SQLMap) — HIGH risk</a:t>
            </a:r>
            <a:endParaRPr b="0" i="0" sz="700" u="none" cap="none" strike="noStrike">
              <a:solidFill>
                <a:schemeClr val="dk1"/>
              </a:solidFill>
              <a:latin typeface="Calibri"/>
              <a:ea typeface="Calibri"/>
              <a:cs typeface="Calibri"/>
              <a:sym typeface="Calibri"/>
            </a:endParaRPr>
          </a:p>
        </p:txBody>
      </p:sp>
      <p:cxnSp>
        <p:nvCxnSpPr>
          <p:cNvPr id="714" name="Google Shape;714;p36"/>
          <p:cNvCxnSpPr/>
          <p:nvPr/>
        </p:nvCxnSpPr>
        <p:spPr>
          <a:xfrm>
            <a:off x="1097280" y="4462272"/>
            <a:ext cx="3096900" cy="0"/>
          </a:xfrm>
          <a:prstGeom prst="straightConnector1">
            <a:avLst/>
          </a:prstGeom>
          <a:noFill/>
          <a:ln cap="flat" cmpd="sng" w="9525">
            <a:solidFill>
              <a:srgbClr val="FF5252"/>
            </a:solidFill>
            <a:prstDash val="solid"/>
            <a:round/>
            <a:headEnd len="sm" w="sm" type="none"/>
            <a:tailEnd len="med" w="med" type="triangle"/>
          </a:ln>
        </p:spPr>
      </p:cxnSp>
      <p:sp>
        <p:nvSpPr>
          <p:cNvPr id="715" name="Google Shape;715;p36"/>
          <p:cNvSpPr/>
          <p:nvPr/>
        </p:nvSpPr>
        <p:spPr>
          <a:xfrm>
            <a:off x="1167437" y="4175700"/>
            <a:ext cx="15117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5252"/>
              </a:buClr>
              <a:buSzPts val="600"/>
              <a:buFont typeface="Calibri"/>
              <a:buNone/>
            </a:pPr>
            <a:r>
              <a:rPr b="0" i="0" lang="en-US" sz="700" u="none" cap="none" strike="noStrike">
                <a:solidFill>
                  <a:srgbClr val="FF5252"/>
                </a:solidFill>
                <a:latin typeface="Calibri"/>
                <a:ea typeface="Calibri"/>
                <a:cs typeface="Calibri"/>
                <a:sym typeface="Calibri"/>
              </a:rPr>
              <a:t>Commander Mailbox — </a:t>
            </a:r>
            <a:endParaRPr b="0" i="0" sz="700" u="none" cap="none" strike="noStrike">
              <a:solidFill>
                <a:srgbClr val="FF5252"/>
              </a:solidFill>
              <a:latin typeface="Calibri"/>
              <a:ea typeface="Calibri"/>
              <a:cs typeface="Calibri"/>
              <a:sym typeface="Calibri"/>
            </a:endParaRPr>
          </a:p>
          <a:p>
            <a:pPr indent="0" lvl="0" marL="0" marR="0" rtl="0" algn="ctr">
              <a:spcBef>
                <a:spcPts val="0"/>
              </a:spcBef>
              <a:spcAft>
                <a:spcPts val="0"/>
              </a:spcAft>
              <a:buClr>
                <a:srgbClr val="FF5252"/>
              </a:buClr>
              <a:buSzPts val="600"/>
              <a:buFont typeface="Calibri"/>
              <a:buNone/>
            </a:pPr>
            <a:r>
              <a:rPr b="0" i="0" lang="en-US" sz="700" u="none" cap="none" strike="noStrike">
                <a:solidFill>
                  <a:srgbClr val="FF5252"/>
                </a:solidFill>
                <a:latin typeface="Calibri"/>
                <a:ea typeface="Calibri"/>
                <a:cs typeface="Calibri"/>
                <a:sym typeface="Calibri"/>
              </a:rPr>
              <a:t>approval request</a:t>
            </a:r>
            <a:endParaRPr b="0" i="0" sz="700" u="none" cap="none" strike="noStrike">
              <a:solidFill>
                <a:schemeClr val="dk1"/>
              </a:solidFill>
              <a:latin typeface="Calibri"/>
              <a:ea typeface="Calibri"/>
              <a:cs typeface="Calibri"/>
              <a:sym typeface="Calibri"/>
            </a:endParaRPr>
          </a:p>
        </p:txBody>
      </p:sp>
      <p:cxnSp>
        <p:nvCxnSpPr>
          <p:cNvPr id="716" name="Google Shape;716;p36"/>
          <p:cNvCxnSpPr/>
          <p:nvPr/>
        </p:nvCxnSpPr>
        <p:spPr>
          <a:xfrm>
            <a:off x="1097280" y="4681728"/>
            <a:ext cx="3096900" cy="0"/>
          </a:xfrm>
          <a:prstGeom prst="straightConnector1">
            <a:avLst/>
          </a:prstGeom>
          <a:noFill/>
          <a:ln cap="flat" cmpd="sng" w="9525">
            <a:solidFill>
              <a:srgbClr val="00D4FF"/>
            </a:solidFill>
            <a:prstDash val="dash"/>
            <a:round/>
            <a:headEnd len="med" w="med" type="triangle"/>
            <a:tailEnd len="sm" w="sm" type="none"/>
          </a:ln>
        </p:spPr>
      </p:cxnSp>
      <p:sp>
        <p:nvSpPr>
          <p:cNvPr id="717" name="Google Shape;717;p36"/>
          <p:cNvSpPr/>
          <p:nvPr/>
        </p:nvSpPr>
        <p:spPr>
          <a:xfrm>
            <a:off x="1228454" y="4709115"/>
            <a:ext cx="13410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D4FF"/>
              </a:buClr>
              <a:buSzPts val="600"/>
              <a:buFont typeface="Calibri"/>
              <a:buNone/>
            </a:pPr>
            <a:r>
              <a:rPr b="0" i="0" lang="en-US" sz="700" u="none" cap="none" strike="noStrike">
                <a:solidFill>
                  <a:srgbClr val="00D4FF"/>
                </a:solidFill>
                <a:latin typeface="Calibri"/>
                <a:ea typeface="Calibri"/>
                <a:cs typeface="Calibri"/>
                <a:sym typeface="Calibri"/>
              </a:rPr>
              <a:t>APPROVED </a:t>
            </a:r>
            <a:endParaRPr b="0" i="0" sz="700" u="none" cap="none" strike="noStrike">
              <a:solidFill>
                <a:srgbClr val="00D4FF"/>
              </a:solidFill>
              <a:latin typeface="Calibri"/>
              <a:ea typeface="Calibri"/>
              <a:cs typeface="Calibri"/>
              <a:sym typeface="Calibri"/>
            </a:endParaRPr>
          </a:p>
          <a:p>
            <a:pPr indent="0" lvl="0" marL="0" marR="0" rtl="0" algn="ctr">
              <a:spcBef>
                <a:spcPts val="0"/>
              </a:spcBef>
              <a:spcAft>
                <a:spcPts val="0"/>
              </a:spcAft>
              <a:buClr>
                <a:srgbClr val="00D4FF"/>
              </a:buClr>
              <a:buSzPts val="600"/>
              <a:buFont typeface="Calibri"/>
              <a:buNone/>
            </a:pPr>
            <a:r>
              <a:rPr b="0" i="0" lang="en-US" sz="700" u="none" cap="none" strike="noStrike">
                <a:solidFill>
                  <a:srgbClr val="00D4FF"/>
                </a:solidFill>
                <a:latin typeface="Calibri"/>
                <a:ea typeface="Calibri"/>
                <a:cs typeface="Calibri"/>
                <a:sym typeface="Calibri"/>
              </a:rPr>
              <a:t>(scope valid, chain intent ok)</a:t>
            </a:r>
            <a:endParaRPr b="0" i="0" sz="700" u="none" cap="none" strike="noStrike">
              <a:solidFill>
                <a:schemeClr val="dk1"/>
              </a:solidFill>
              <a:latin typeface="Calibri"/>
              <a:ea typeface="Calibri"/>
              <a:cs typeface="Calibri"/>
              <a:sym typeface="Calibri"/>
            </a:endParaRPr>
          </a:p>
        </p:txBody>
      </p:sp>
      <p:cxnSp>
        <p:nvCxnSpPr>
          <p:cNvPr id="718" name="Google Shape;718;p36"/>
          <p:cNvCxnSpPr/>
          <p:nvPr/>
        </p:nvCxnSpPr>
        <p:spPr>
          <a:xfrm flipH="1" rot="10800000">
            <a:off x="2645664" y="5057772"/>
            <a:ext cx="4476600" cy="14100"/>
          </a:xfrm>
          <a:prstGeom prst="straightConnector1">
            <a:avLst/>
          </a:prstGeom>
          <a:noFill/>
          <a:ln cap="flat" cmpd="sng" w="9525">
            <a:solidFill>
              <a:srgbClr val="7FFF00"/>
            </a:solidFill>
            <a:prstDash val="solid"/>
            <a:round/>
            <a:headEnd len="sm" w="sm" type="none"/>
            <a:tailEnd len="med" w="med" type="triangle"/>
          </a:ln>
        </p:spPr>
      </p:cxnSp>
      <p:sp>
        <p:nvSpPr>
          <p:cNvPr id="719" name="Google Shape;719;p36"/>
          <p:cNvSpPr/>
          <p:nvPr/>
        </p:nvSpPr>
        <p:spPr>
          <a:xfrm>
            <a:off x="4297671" y="4803675"/>
            <a:ext cx="23451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FF00"/>
              </a:buClr>
              <a:buSzPts val="600"/>
              <a:buFont typeface="Calibri"/>
              <a:buNone/>
            </a:pPr>
            <a:r>
              <a:rPr b="0" i="0" lang="en-US" sz="700" u="none" cap="none" strike="noStrike">
                <a:solidFill>
                  <a:srgbClr val="7FFF00"/>
                </a:solidFill>
                <a:latin typeface="Calibri"/>
                <a:ea typeface="Calibri"/>
                <a:cs typeface="Calibri"/>
                <a:sym typeface="Calibri"/>
              </a:rPr>
              <a:t>write delta [Tech node][Endpoint node][Vuln node]</a:t>
            </a:r>
            <a:endParaRPr b="0" i="0" sz="700" u="none" cap="none" strike="noStrike">
              <a:solidFill>
                <a:schemeClr val="dk1"/>
              </a:solidFill>
              <a:latin typeface="Calibri"/>
              <a:ea typeface="Calibri"/>
              <a:cs typeface="Calibri"/>
              <a:sym typeface="Calibri"/>
            </a:endParaRPr>
          </a:p>
        </p:txBody>
      </p:sp>
      <p:cxnSp>
        <p:nvCxnSpPr>
          <p:cNvPr id="720" name="Google Shape;720;p36"/>
          <p:cNvCxnSpPr/>
          <p:nvPr/>
        </p:nvCxnSpPr>
        <p:spPr>
          <a:xfrm>
            <a:off x="1097280" y="5413248"/>
            <a:ext cx="1548300" cy="0"/>
          </a:xfrm>
          <a:prstGeom prst="straightConnector1">
            <a:avLst/>
          </a:prstGeom>
          <a:noFill/>
          <a:ln cap="flat" cmpd="sng" w="9525">
            <a:solidFill>
              <a:srgbClr val="CE93D8"/>
            </a:solidFill>
            <a:prstDash val="solid"/>
            <a:round/>
            <a:headEnd len="sm" w="sm" type="none"/>
            <a:tailEnd len="med" w="med" type="triangle"/>
          </a:ln>
        </p:spPr>
      </p:cxnSp>
      <p:sp>
        <p:nvSpPr>
          <p:cNvPr id="721" name="Google Shape;721;p36"/>
          <p:cNvSpPr/>
          <p:nvPr/>
        </p:nvSpPr>
        <p:spPr>
          <a:xfrm>
            <a:off x="1200912" y="5242560"/>
            <a:ext cx="13410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E93D8"/>
              </a:buClr>
              <a:buSzPts val="600"/>
              <a:buFont typeface="Calibri"/>
              <a:buNone/>
            </a:pPr>
            <a:r>
              <a:rPr b="0" i="0" lang="en-US" sz="700" u="none" cap="none" strike="noStrike">
                <a:solidFill>
                  <a:srgbClr val="CE93D8"/>
                </a:solidFill>
                <a:latin typeface="Calibri"/>
                <a:ea typeface="Calibri"/>
                <a:cs typeface="Calibri"/>
                <a:sym typeface="Calibri"/>
              </a:rPr>
              <a:t>return structured ASG delta</a:t>
            </a:r>
            <a:endParaRPr b="0" i="0" sz="700" u="none" cap="none" strike="noStrike">
              <a:solidFill>
                <a:schemeClr val="dk1"/>
              </a:solidFill>
              <a:latin typeface="Calibri"/>
              <a:ea typeface="Calibri"/>
              <a:cs typeface="Calibri"/>
              <a:sym typeface="Calibri"/>
            </a:endParaRPr>
          </a:p>
        </p:txBody>
      </p:sp>
      <p:sp>
        <p:nvSpPr>
          <p:cNvPr id="722" name="Google Shape;722;p36"/>
          <p:cNvSpPr/>
          <p:nvPr/>
        </p:nvSpPr>
        <p:spPr>
          <a:xfrm>
            <a:off x="2590800" y="1755648"/>
            <a:ext cx="109800" cy="3657600"/>
          </a:xfrm>
          <a:prstGeom prst="rect">
            <a:avLst/>
          </a:prstGeom>
          <a:solidFill>
            <a:srgbClr val="0D1A2E"/>
          </a:solidFill>
          <a:ln cap="flat" cmpd="sng" w="9525">
            <a:solidFill>
              <a:srgbClr val="CE93D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23" name="Google Shape;723;p36"/>
          <p:cNvSpPr/>
          <p:nvPr/>
        </p:nvSpPr>
        <p:spPr>
          <a:xfrm>
            <a:off x="1042416" y="4462272"/>
            <a:ext cx="109800" cy="341400"/>
          </a:xfrm>
          <a:prstGeom prst="rect">
            <a:avLst/>
          </a:prstGeom>
          <a:solidFill>
            <a:srgbClr val="0D1A2E"/>
          </a:solidFill>
          <a:ln cap="flat" cmpd="sng" w="95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24" name="Google Shape;724;p36"/>
          <p:cNvSpPr/>
          <p:nvPr/>
        </p:nvSpPr>
        <p:spPr>
          <a:xfrm>
            <a:off x="2097024" y="5547360"/>
            <a:ext cx="1828800" cy="341400"/>
          </a:xfrm>
          <a:prstGeom prst="roundRect">
            <a:avLst>
              <a:gd fmla="val 14286" name="adj"/>
            </a:avLst>
          </a:prstGeom>
          <a:solidFill>
            <a:srgbClr val="0A1A08"/>
          </a:solidFill>
          <a:ln cap="flat" cmpd="sng" w="10150">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25" name="Google Shape;725;p36"/>
          <p:cNvSpPr/>
          <p:nvPr/>
        </p:nvSpPr>
        <p:spPr>
          <a:xfrm>
            <a:off x="2097024" y="5547360"/>
            <a:ext cx="1828800" cy="341400"/>
          </a:xfrm>
          <a:prstGeom prst="rect">
            <a:avLst/>
          </a:prstGeom>
          <a:noFill/>
          <a:ln>
            <a:noFill/>
          </a:ln>
        </p:spPr>
        <p:txBody>
          <a:bodyPr anchorCtr="0" anchor="ctr" bIns="16925" lIns="16925" spcFirstLastPara="1" rIns="16925" wrap="square" tIns="16925">
            <a:noAutofit/>
          </a:bodyPr>
          <a:lstStyle/>
          <a:p>
            <a:pPr indent="0" lvl="0" marL="0" marR="0" rtl="0" algn="ctr">
              <a:spcBef>
                <a:spcPts val="0"/>
              </a:spcBef>
              <a:spcAft>
                <a:spcPts val="0"/>
              </a:spcAft>
              <a:buClr>
                <a:srgbClr val="7FFF00"/>
              </a:buClr>
              <a:buSzPts val="600"/>
              <a:buFont typeface="Calibri"/>
              <a:buNone/>
            </a:pPr>
            <a:r>
              <a:rPr b="0" i="0" lang="en-US" sz="700" u="none" cap="none" strike="noStrike">
                <a:solidFill>
                  <a:srgbClr val="7FFF00"/>
                </a:solidFill>
                <a:latin typeface="Calibri"/>
                <a:ea typeface="Calibri"/>
                <a:cs typeface="Calibri"/>
                <a:sym typeface="Calibri"/>
              </a:rPr>
              <a:t>🗑️ Working context DISCARDED</a:t>
            </a:r>
            <a:endParaRPr b="0" i="0" sz="7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FF00"/>
              </a:buClr>
              <a:buSzPts val="600"/>
              <a:buFont typeface="Calibri"/>
              <a:buNone/>
            </a:pPr>
            <a:r>
              <a:rPr b="0" i="0" lang="en-US" sz="700" u="none" cap="none" strike="noStrike">
                <a:solidFill>
                  <a:srgbClr val="7FFF00"/>
                </a:solidFill>
                <a:latin typeface="Calibri"/>
                <a:ea typeface="Calibri"/>
                <a:cs typeface="Calibri"/>
                <a:sym typeface="Calibri"/>
              </a:rPr>
              <a:t>Raw tool output · history · reasoning → gone</a:t>
            </a:r>
            <a:endParaRPr b="0" i="0" sz="700" u="none" cap="none" strike="noStrike">
              <a:solidFill>
                <a:schemeClr val="dk1"/>
              </a:solidFill>
              <a:latin typeface="Calibri"/>
              <a:ea typeface="Calibri"/>
              <a:cs typeface="Calibri"/>
              <a:sym typeface="Calibri"/>
            </a:endParaRPr>
          </a:p>
        </p:txBody>
      </p:sp>
      <p:sp>
        <p:nvSpPr>
          <p:cNvPr id="726" name="Google Shape;726;p36"/>
          <p:cNvSpPr/>
          <p:nvPr/>
        </p:nvSpPr>
        <p:spPr>
          <a:xfrm>
            <a:off x="548640" y="5547360"/>
            <a:ext cx="1341000" cy="341400"/>
          </a:xfrm>
          <a:prstGeom prst="roundRect">
            <a:avLst>
              <a:gd fmla="val 14286" name="adj"/>
            </a:avLst>
          </a:prstGeom>
          <a:solidFill>
            <a:srgbClr val="1E1004"/>
          </a:solidFill>
          <a:ln cap="flat" cmpd="sng" w="10150">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27" name="Google Shape;727;p36"/>
          <p:cNvSpPr/>
          <p:nvPr/>
        </p:nvSpPr>
        <p:spPr>
          <a:xfrm>
            <a:off x="548640" y="5547360"/>
            <a:ext cx="1341000" cy="341400"/>
          </a:xfrm>
          <a:prstGeom prst="rect">
            <a:avLst/>
          </a:prstGeom>
          <a:noFill/>
          <a:ln>
            <a:noFill/>
          </a:ln>
        </p:spPr>
        <p:txBody>
          <a:bodyPr anchorCtr="0" anchor="ctr" bIns="16925" lIns="16925" spcFirstLastPara="1" rIns="16925" wrap="square" tIns="16925">
            <a:noAutofit/>
          </a:bodyPr>
          <a:lstStyle/>
          <a:p>
            <a:pPr indent="0" lvl="0" marL="0" marR="0" rtl="0" algn="ctr">
              <a:spcBef>
                <a:spcPts val="0"/>
              </a:spcBef>
              <a:spcAft>
                <a:spcPts val="0"/>
              </a:spcAft>
              <a:buClr>
                <a:srgbClr val="FFC107"/>
              </a:buClr>
              <a:buSzPts val="600"/>
              <a:buFont typeface="Calibri"/>
              <a:buNone/>
            </a:pPr>
            <a:r>
              <a:rPr b="0" i="0" lang="en-US" sz="700" u="none" cap="none" strike="noStrike">
                <a:solidFill>
                  <a:srgbClr val="FFC107"/>
                </a:solidFill>
                <a:latin typeface="Calibri"/>
                <a:ea typeface="Calibri"/>
                <a:cs typeface="Calibri"/>
                <a:sym typeface="Calibri"/>
              </a:rPr>
              <a:t>Commander reads new Vuln nodes → seeds APG Chain-01</a:t>
            </a:r>
            <a:endParaRPr b="0" i="0" sz="700" u="none" cap="none" strike="noStrike">
              <a:solidFill>
                <a:schemeClr val="dk1"/>
              </a:solidFill>
              <a:latin typeface="Calibri"/>
              <a:ea typeface="Calibri"/>
              <a:cs typeface="Calibri"/>
              <a:sym typeface="Calibri"/>
            </a:endParaRPr>
          </a:p>
        </p:txBody>
      </p:sp>
      <p:sp>
        <p:nvSpPr>
          <p:cNvPr id="728" name="Google Shape;728;p36"/>
          <p:cNvSpPr/>
          <p:nvPr/>
        </p:nvSpPr>
        <p:spPr>
          <a:xfrm>
            <a:off x="7851650" y="1048500"/>
            <a:ext cx="3950100" cy="2465700"/>
          </a:xfrm>
          <a:prstGeom prst="roundRect">
            <a:avLst>
              <a:gd fmla="val 3902" name="adj"/>
            </a:avLst>
          </a:prstGeom>
          <a:solidFill>
            <a:srgbClr val="0A0C1E"/>
          </a:solidFill>
          <a:ln cap="flat" cmpd="sng" w="11425">
            <a:solidFill>
              <a:srgbClr val="CE93D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29" name="Google Shape;729;p36"/>
          <p:cNvSpPr/>
          <p:nvPr/>
        </p:nvSpPr>
        <p:spPr>
          <a:xfrm>
            <a:off x="7997952" y="1072896"/>
            <a:ext cx="3657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E93D8"/>
              </a:buClr>
              <a:buSzPts val="1100"/>
              <a:buFont typeface="Calibri"/>
              <a:buNone/>
            </a:pPr>
            <a:r>
              <a:rPr b="1" i="0" lang="en-US" sz="1100" u="none" cap="none" strike="noStrike">
                <a:solidFill>
                  <a:srgbClr val="CE93D8"/>
                </a:solidFill>
                <a:latin typeface="Calibri"/>
                <a:ea typeface="Calibri"/>
                <a:cs typeface="Calibri"/>
                <a:sym typeface="Calibri"/>
              </a:rPr>
              <a:t>Agent Spawn Package</a:t>
            </a:r>
            <a:endParaRPr b="0" i="0" sz="1100" u="none" cap="none" strike="noStrike">
              <a:solidFill>
                <a:schemeClr val="dk1"/>
              </a:solidFill>
              <a:latin typeface="Calibri"/>
              <a:ea typeface="Calibri"/>
              <a:cs typeface="Calibri"/>
              <a:sym typeface="Calibri"/>
            </a:endParaRPr>
          </a:p>
        </p:txBody>
      </p:sp>
      <p:sp>
        <p:nvSpPr>
          <p:cNvPr id="730" name="Google Shape;730;p36"/>
          <p:cNvSpPr/>
          <p:nvPr/>
        </p:nvSpPr>
        <p:spPr>
          <a:xfrm>
            <a:off x="7997952" y="1414272"/>
            <a:ext cx="3657600" cy="317100"/>
          </a:xfrm>
          <a:prstGeom prst="roundRect">
            <a:avLst>
              <a:gd fmla="val 15385" name="adj"/>
            </a:avLst>
          </a:prstGeom>
          <a:solidFill>
            <a:srgbClr val="060816"/>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31" name="Google Shape;731;p36"/>
          <p:cNvSpPr/>
          <p:nvPr/>
        </p:nvSpPr>
        <p:spPr>
          <a:xfrm>
            <a:off x="8046720" y="1414272"/>
            <a:ext cx="3584400" cy="317100"/>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7FFF00"/>
              </a:buClr>
              <a:buSzPts val="800"/>
              <a:buFont typeface="Calibri"/>
              <a:buNone/>
            </a:pPr>
            <a:r>
              <a:rPr b="1" i="0" lang="en-US" sz="800" u="none" cap="none" strike="noStrike">
                <a:solidFill>
                  <a:srgbClr val="7FFF00"/>
                </a:solidFill>
                <a:latin typeface="Calibri"/>
                <a:ea typeface="Calibri"/>
                <a:cs typeface="Calibri"/>
                <a:sym typeface="Calibri"/>
              </a:rPr>
              <a:t>🟢 ASG SLICE  </a:t>
            </a:r>
            <a:r>
              <a:rPr b="0" i="0" lang="en-US" sz="800" u="none" cap="none" strike="noStrike">
                <a:solidFill>
                  <a:srgbClr val="9CA3AF"/>
                </a:solidFill>
                <a:latin typeface="Calibri"/>
                <a:ea typeface="Calibri"/>
                <a:cs typeface="Calibri"/>
                <a:sym typeface="Calibri"/>
              </a:rPr>
              <a:t>Only nodes relevant to this task — not the full graph</a:t>
            </a:r>
            <a:endParaRPr b="0" i="0" sz="800" u="none" cap="none" strike="noStrike">
              <a:solidFill>
                <a:schemeClr val="dk1"/>
              </a:solidFill>
              <a:latin typeface="Calibri"/>
              <a:ea typeface="Calibri"/>
              <a:cs typeface="Calibri"/>
              <a:sym typeface="Calibri"/>
            </a:endParaRPr>
          </a:p>
        </p:txBody>
      </p:sp>
      <p:sp>
        <p:nvSpPr>
          <p:cNvPr id="732" name="Google Shape;732;p36"/>
          <p:cNvSpPr/>
          <p:nvPr/>
        </p:nvSpPr>
        <p:spPr>
          <a:xfrm>
            <a:off x="7997952" y="1780032"/>
            <a:ext cx="3657600" cy="317100"/>
          </a:xfrm>
          <a:prstGeom prst="roundRect">
            <a:avLst>
              <a:gd fmla="val 15385" name="adj"/>
            </a:avLst>
          </a:prstGeom>
          <a:solidFill>
            <a:srgbClr val="060816"/>
          </a:solidFill>
          <a:ln cap="flat" cmpd="sng" w="95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33" name="Google Shape;733;p36"/>
          <p:cNvSpPr/>
          <p:nvPr/>
        </p:nvSpPr>
        <p:spPr>
          <a:xfrm>
            <a:off x="8046720" y="1780032"/>
            <a:ext cx="3584400" cy="317100"/>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FFC107"/>
              </a:buClr>
              <a:buSzPts val="800"/>
              <a:buFont typeface="Calibri"/>
              <a:buNone/>
            </a:pPr>
            <a:r>
              <a:rPr b="1" i="0" lang="en-US" sz="800" u="none" cap="none" strike="noStrike">
                <a:solidFill>
                  <a:srgbClr val="FFC107"/>
                </a:solidFill>
                <a:latin typeface="Calibri"/>
                <a:ea typeface="Calibri"/>
                <a:cs typeface="Calibri"/>
                <a:sym typeface="Calibri"/>
              </a:rPr>
              <a:t>🟡 APG SLICE  </a:t>
            </a:r>
            <a:r>
              <a:rPr b="0" i="0" lang="en-US" sz="800" u="none" cap="none" strike="noStrike">
                <a:solidFill>
                  <a:srgbClr val="9CA3AF"/>
                </a:solidFill>
                <a:latin typeface="Calibri"/>
                <a:ea typeface="Calibri"/>
                <a:cs typeface="Calibri"/>
                <a:sym typeface="Calibri"/>
              </a:rPr>
              <a:t>Relevant AttackChains only (Validation tasks)</a:t>
            </a:r>
            <a:endParaRPr b="0" i="0" sz="800" u="none" cap="none" strike="noStrike">
              <a:solidFill>
                <a:schemeClr val="dk1"/>
              </a:solidFill>
              <a:latin typeface="Calibri"/>
              <a:ea typeface="Calibri"/>
              <a:cs typeface="Calibri"/>
              <a:sym typeface="Calibri"/>
            </a:endParaRPr>
          </a:p>
        </p:txBody>
      </p:sp>
      <p:sp>
        <p:nvSpPr>
          <p:cNvPr id="734" name="Google Shape;734;p36"/>
          <p:cNvSpPr/>
          <p:nvPr/>
        </p:nvSpPr>
        <p:spPr>
          <a:xfrm>
            <a:off x="7997952" y="2145792"/>
            <a:ext cx="3657600" cy="317100"/>
          </a:xfrm>
          <a:prstGeom prst="roundRect">
            <a:avLst>
              <a:gd fmla="val 15385" name="adj"/>
            </a:avLst>
          </a:prstGeom>
          <a:solidFill>
            <a:srgbClr val="060816"/>
          </a:solidFill>
          <a:ln cap="flat" cmpd="sng" w="9525">
            <a:solidFill>
              <a:srgbClr val="FF525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35" name="Google Shape;735;p36"/>
          <p:cNvSpPr/>
          <p:nvPr/>
        </p:nvSpPr>
        <p:spPr>
          <a:xfrm>
            <a:off x="8046720" y="2145792"/>
            <a:ext cx="3584400" cy="317100"/>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FF5252"/>
              </a:buClr>
              <a:buSzPts val="800"/>
              <a:buFont typeface="Calibri"/>
              <a:buNone/>
            </a:pPr>
            <a:r>
              <a:rPr b="1" i="0" lang="en-US" sz="800" u="none" cap="none" strike="noStrike">
                <a:solidFill>
                  <a:srgbClr val="FF5252"/>
                </a:solidFill>
                <a:latin typeface="Calibri"/>
                <a:ea typeface="Calibri"/>
                <a:cs typeface="Calibri"/>
                <a:sym typeface="Calibri"/>
              </a:rPr>
              <a:t>🔴 TOOL SET  </a:t>
            </a:r>
            <a:r>
              <a:rPr b="0" i="0" lang="en-US" sz="800" u="none" cap="none" strike="noStrike">
                <a:solidFill>
                  <a:srgbClr val="9CA3AF"/>
                </a:solidFill>
                <a:latin typeface="Calibri"/>
                <a:ea typeface="Calibri"/>
                <a:cs typeface="Calibri"/>
                <a:sym typeface="Calibri"/>
              </a:rPr>
              <a:t>Authorized tools only — no others available</a:t>
            </a:r>
            <a:endParaRPr b="0" i="0" sz="800" u="none" cap="none" strike="noStrike">
              <a:solidFill>
                <a:schemeClr val="dk1"/>
              </a:solidFill>
              <a:latin typeface="Calibri"/>
              <a:ea typeface="Calibri"/>
              <a:cs typeface="Calibri"/>
              <a:sym typeface="Calibri"/>
            </a:endParaRPr>
          </a:p>
        </p:txBody>
      </p:sp>
      <p:sp>
        <p:nvSpPr>
          <p:cNvPr id="736" name="Google Shape;736;p36"/>
          <p:cNvSpPr/>
          <p:nvPr/>
        </p:nvSpPr>
        <p:spPr>
          <a:xfrm>
            <a:off x="7997952" y="2511552"/>
            <a:ext cx="3657600" cy="317100"/>
          </a:xfrm>
          <a:prstGeom prst="roundRect">
            <a:avLst>
              <a:gd fmla="val 15385" name="adj"/>
            </a:avLst>
          </a:prstGeom>
          <a:solidFill>
            <a:srgbClr val="060816"/>
          </a:solidFill>
          <a:ln cap="flat" cmpd="sng" w="95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37" name="Google Shape;737;p36"/>
          <p:cNvSpPr/>
          <p:nvPr/>
        </p:nvSpPr>
        <p:spPr>
          <a:xfrm>
            <a:off x="8046720" y="2511552"/>
            <a:ext cx="3584400" cy="317100"/>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00D4FF"/>
              </a:buClr>
              <a:buSzPts val="800"/>
              <a:buFont typeface="Calibri"/>
              <a:buNone/>
            </a:pPr>
            <a:r>
              <a:rPr b="1" i="0" lang="en-US" sz="800" u="none" cap="none" strike="noStrike">
                <a:solidFill>
                  <a:srgbClr val="00D4FF"/>
                </a:solidFill>
                <a:latin typeface="Calibri"/>
                <a:ea typeface="Calibri"/>
                <a:cs typeface="Calibri"/>
                <a:sym typeface="Calibri"/>
              </a:rPr>
              <a:t>🔵 TASK SPEC  </a:t>
            </a:r>
            <a:r>
              <a:rPr b="0" i="0" lang="en-US" sz="800" u="none" cap="none" strike="noStrike">
                <a:solidFill>
                  <a:srgbClr val="9CA3AF"/>
                </a:solidFill>
                <a:latin typeface="Calibri"/>
                <a:ea typeface="Calibri"/>
                <a:cs typeface="Calibri"/>
                <a:sym typeface="Calibri"/>
              </a:rPr>
              <a:t>Commander's current plan item — exact objective</a:t>
            </a:r>
            <a:endParaRPr b="0" i="0" sz="800" u="none" cap="none" strike="noStrike">
              <a:solidFill>
                <a:schemeClr val="dk1"/>
              </a:solidFill>
              <a:latin typeface="Calibri"/>
              <a:ea typeface="Calibri"/>
              <a:cs typeface="Calibri"/>
              <a:sym typeface="Calibri"/>
            </a:endParaRPr>
          </a:p>
        </p:txBody>
      </p:sp>
      <p:sp>
        <p:nvSpPr>
          <p:cNvPr id="738" name="Google Shape;738;p36"/>
          <p:cNvSpPr/>
          <p:nvPr/>
        </p:nvSpPr>
        <p:spPr>
          <a:xfrm>
            <a:off x="7997952" y="2877312"/>
            <a:ext cx="3657600" cy="317100"/>
          </a:xfrm>
          <a:prstGeom prst="roundRect">
            <a:avLst>
              <a:gd fmla="val 15385" name="adj"/>
            </a:avLst>
          </a:prstGeom>
          <a:solidFill>
            <a:srgbClr val="060816"/>
          </a:solidFill>
          <a:ln cap="flat" cmpd="sng" w="9525">
            <a:solidFill>
              <a:srgbClr val="CE93D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39" name="Google Shape;739;p36"/>
          <p:cNvSpPr/>
          <p:nvPr/>
        </p:nvSpPr>
        <p:spPr>
          <a:xfrm>
            <a:off x="8046720" y="2877312"/>
            <a:ext cx="3584400" cy="317100"/>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CE93D8"/>
              </a:buClr>
              <a:buSzPts val="800"/>
              <a:buFont typeface="Calibri"/>
              <a:buNone/>
            </a:pPr>
            <a:r>
              <a:rPr b="1" i="0" lang="en-US" sz="800" u="none" cap="none" strike="noStrike">
                <a:solidFill>
                  <a:srgbClr val="CE93D8"/>
                </a:solidFill>
                <a:latin typeface="Calibri"/>
                <a:ea typeface="Calibri"/>
                <a:cs typeface="Calibri"/>
                <a:sym typeface="Calibri"/>
              </a:rPr>
              <a:t>🟣 KNOWLEDGE DOCS  </a:t>
            </a:r>
            <a:r>
              <a:rPr b="0" i="0" lang="en-US" sz="800" u="none" cap="none" strike="noStrike">
                <a:solidFill>
                  <a:srgbClr val="9CA3AF"/>
                </a:solidFill>
                <a:latin typeface="Calibri"/>
                <a:ea typeface="Calibri"/>
                <a:cs typeface="Calibri"/>
                <a:sym typeface="Calibri"/>
              </a:rPr>
              <a:t>Vuln-class expert docs (Analysis + Validation)</a:t>
            </a:r>
            <a:endParaRPr b="0" i="0" sz="800" u="none" cap="none" strike="noStrike">
              <a:solidFill>
                <a:schemeClr val="dk1"/>
              </a:solidFill>
              <a:latin typeface="Calibri"/>
              <a:ea typeface="Calibri"/>
              <a:cs typeface="Calibri"/>
              <a:sym typeface="Calibri"/>
            </a:endParaRPr>
          </a:p>
        </p:txBody>
      </p:sp>
      <p:cxnSp>
        <p:nvCxnSpPr>
          <p:cNvPr id="740" name="Google Shape;740;p36"/>
          <p:cNvCxnSpPr/>
          <p:nvPr/>
        </p:nvCxnSpPr>
        <p:spPr>
          <a:xfrm>
            <a:off x="8461248" y="3584448"/>
            <a:ext cx="2730900" cy="0"/>
          </a:xfrm>
          <a:prstGeom prst="straightConnector1">
            <a:avLst/>
          </a:prstGeom>
          <a:noFill/>
          <a:ln cap="flat" cmpd="sng" w="12700">
            <a:solidFill>
              <a:srgbClr val="7FFF00"/>
            </a:solidFill>
            <a:prstDash val="solid"/>
            <a:round/>
            <a:headEnd len="sm" w="sm" type="none"/>
            <a:tailEnd len="med" w="med" type="triangle"/>
          </a:ln>
        </p:spPr>
      </p:cxnSp>
      <p:sp>
        <p:nvSpPr>
          <p:cNvPr id="741" name="Google Shape;741;p36"/>
          <p:cNvSpPr/>
          <p:nvPr/>
        </p:nvSpPr>
        <p:spPr>
          <a:xfrm>
            <a:off x="7997902" y="3237013"/>
            <a:ext cx="3657600" cy="20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FF00"/>
              </a:buClr>
              <a:buSzPts val="800"/>
              <a:buFont typeface="Calibri"/>
              <a:buNone/>
            </a:pPr>
            <a:r>
              <a:rPr b="1" i="0" lang="en-US" sz="800" u="none" cap="none" strike="noStrike">
                <a:solidFill>
                  <a:srgbClr val="7FFF00"/>
                </a:solidFill>
                <a:latin typeface="Calibri"/>
                <a:ea typeface="Calibri"/>
                <a:cs typeface="Calibri"/>
                <a:sym typeface="Calibri"/>
              </a:rPr>
              <a:t>Returns: Structured ASG Delta (new nodes + edges only)</a:t>
            </a:r>
            <a:endParaRPr b="0" i="0" sz="800" u="none" cap="none" strike="noStrike">
              <a:solidFill>
                <a:schemeClr val="dk1"/>
              </a:solidFill>
              <a:latin typeface="Calibri"/>
              <a:ea typeface="Calibri"/>
              <a:cs typeface="Calibri"/>
              <a:sym typeface="Calibri"/>
            </a:endParaRPr>
          </a:p>
        </p:txBody>
      </p:sp>
      <p:sp>
        <p:nvSpPr>
          <p:cNvPr id="742" name="Google Shape;742;p36"/>
          <p:cNvSpPr/>
          <p:nvPr/>
        </p:nvSpPr>
        <p:spPr>
          <a:xfrm>
            <a:off x="7997952" y="3608832"/>
            <a:ext cx="3657600" cy="17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563"/>
              </a:buClr>
              <a:buSzPts val="700"/>
              <a:buFont typeface="Calibri"/>
              <a:buNone/>
            </a:pPr>
            <a:r>
              <a:rPr b="0" i="1" lang="en-US" sz="700" u="none" cap="none" strike="noStrike">
                <a:solidFill>
                  <a:schemeClr val="lt1"/>
                </a:solidFill>
                <a:latin typeface="Calibri"/>
                <a:ea typeface="Calibri"/>
                <a:cs typeface="Calibri"/>
                <a:sym typeface="Calibri"/>
              </a:rPr>
              <a:t>Raw tool output · conversation history · intermediate reasoning → DISCARDED</a:t>
            </a:r>
            <a:endParaRPr b="0" i="0" sz="700" u="none" cap="none" strike="noStrike">
              <a:solidFill>
                <a:schemeClr val="lt1"/>
              </a:solidFill>
              <a:latin typeface="Calibri"/>
              <a:ea typeface="Calibri"/>
              <a:cs typeface="Calibri"/>
              <a:sym typeface="Calibri"/>
            </a:endParaRPr>
          </a:p>
        </p:txBody>
      </p:sp>
      <p:sp>
        <p:nvSpPr>
          <p:cNvPr id="743" name="Google Shape;743;p36"/>
          <p:cNvSpPr/>
          <p:nvPr/>
        </p:nvSpPr>
        <p:spPr>
          <a:xfrm>
            <a:off x="7851648" y="3852672"/>
            <a:ext cx="3950100" cy="633900"/>
          </a:xfrm>
          <a:prstGeom prst="roundRect">
            <a:avLst>
              <a:gd fmla="val 11538" name="adj"/>
            </a:avLst>
          </a:prstGeom>
          <a:solidFill>
            <a:srgbClr val="041A08"/>
          </a:solidFill>
          <a:ln cap="flat" cmpd="sng" w="11425">
            <a:solidFill>
              <a:srgbClr val="7FFF00"/>
            </a:solidFill>
            <a:prstDash val="solid"/>
            <a:round/>
            <a:headEnd len="sm" w="sm" type="none"/>
            <a:tailEnd len="sm" w="sm" type="none"/>
          </a:ln>
          <a:effectLst>
            <a:outerShdw blurRad="101600" rotWithShape="0" algn="bl" dir="2700000" dist="25400">
              <a:srgbClr val="000000">
                <a:alpha val="349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44" name="Google Shape;744;p36"/>
          <p:cNvSpPr/>
          <p:nvPr/>
        </p:nvSpPr>
        <p:spPr>
          <a:xfrm>
            <a:off x="7997952" y="3889248"/>
            <a:ext cx="3657600" cy="560700"/>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7FFF00"/>
              </a:buClr>
              <a:buSzPts val="900"/>
              <a:buFont typeface="Calibri"/>
              <a:buNone/>
            </a:pPr>
            <a:r>
              <a:rPr b="1" i="0" lang="en-US" sz="900" u="none" cap="none" strike="noStrike">
                <a:solidFill>
                  <a:srgbClr val="7FFF00"/>
                </a:solidFill>
                <a:latin typeface="Calibri"/>
                <a:ea typeface="Calibri"/>
                <a:cs typeface="Calibri"/>
                <a:sym typeface="Calibri"/>
              </a:rPr>
              <a:t>✅ Commander Stays Clean</a:t>
            </a:r>
            <a:br>
              <a:rPr b="1" i="0" lang="en-US" sz="900" u="none" cap="none" strike="noStrike">
                <a:solidFill>
                  <a:srgbClr val="7FFF00"/>
                </a:solidFill>
                <a:latin typeface="Calibri"/>
                <a:ea typeface="Calibri"/>
                <a:cs typeface="Calibri"/>
                <a:sym typeface="Calibri"/>
              </a:rPr>
            </a:b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CA3AF"/>
              </a:buClr>
              <a:buSzPts val="800"/>
              <a:buFont typeface="Calibri"/>
              <a:buNone/>
            </a:pPr>
            <a:r>
              <a:rPr b="0" i="0" lang="en-US" sz="800" u="none" cap="none" strike="noStrike">
                <a:solidFill>
                  <a:srgbClr val="9CA3AF"/>
                </a:solidFill>
                <a:latin typeface="Calibri"/>
                <a:ea typeface="Calibri"/>
                <a:cs typeface="Calibri"/>
                <a:sym typeface="Calibri"/>
              </a:rPr>
              <a:t>Commander only ever sees ASG/APG state — never thousands of lines of raw tool output. Reasoning context stays surgically focused.</a:t>
            </a:r>
            <a:endParaRPr b="0" i="0" sz="900" u="none" cap="none" strike="noStrike">
              <a:solidFill>
                <a:schemeClr val="dk1"/>
              </a:solidFill>
              <a:latin typeface="Calibri"/>
              <a:ea typeface="Calibri"/>
              <a:cs typeface="Calibri"/>
              <a:sym typeface="Calibri"/>
            </a:endParaRPr>
          </a:p>
        </p:txBody>
      </p:sp>
      <p:sp>
        <p:nvSpPr>
          <p:cNvPr id="745" name="Google Shape;745;p36"/>
          <p:cNvSpPr/>
          <p:nvPr/>
        </p:nvSpPr>
        <p:spPr>
          <a:xfrm>
            <a:off x="7851648" y="4559808"/>
            <a:ext cx="3950100" cy="633900"/>
          </a:xfrm>
          <a:prstGeom prst="roundRect">
            <a:avLst>
              <a:gd fmla="val 11538" name="adj"/>
            </a:avLst>
          </a:prstGeom>
          <a:solidFill>
            <a:srgbClr val="10081E"/>
          </a:solidFill>
          <a:ln cap="flat" cmpd="sng" w="11425">
            <a:solidFill>
              <a:srgbClr val="CE93D8"/>
            </a:solidFill>
            <a:prstDash val="solid"/>
            <a:round/>
            <a:headEnd len="sm" w="sm" type="none"/>
            <a:tailEnd len="sm" w="sm" type="none"/>
          </a:ln>
          <a:effectLst>
            <a:outerShdw blurRad="101600" rotWithShape="0" algn="bl" dir="2700000" dist="25400">
              <a:srgbClr val="000000">
                <a:alpha val="349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46" name="Google Shape;746;p36"/>
          <p:cNvSpPr/>
          <p:nvPr/>
        </p:nvSpPr>
        <p:spPr>
          <a:xfrm>
            <a:off x="7997952" y="4596384"/>
            <a:ext cx="3657600" cy="560700"/>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CE93D8"/>
              </a:buClr>
              <a:buSzPts val="900"/>
              <a:buFont typeface="Calibri"/>
              <a:buNone/>
            </a:pPr>
            <a:r>
              <a:rPr b="1" i="0" lang="en-US" sz="900" u="none" cap="none" strike="noStrike">
                <a:solidFill>
                  <a:srgbClr val="CE93D8"/>
                </a:solidFill>
                <a:latin typeface="Calibri"/>
                <a:ea typeface="Calibri"/>
                <a:cs typeface="Calibri"/>
                <a:sym typeface="Calibri"/>
              </a:rPr>
              <a:t>✅ Agents Can't Contaminate</a:t>
            </a:r>
            <a:br>
              <a:rPr b="1" i="0" lang="en-US" sz="900" u="none" cap="none" strike="noStrike">
                <a:solidFill>
                  <a:srgbClr val="CE93D8"/>
                </a:solidFill>
                <a:latin typeface="Calibri"/>
                <a:ea typeface="Calibri"/>
                <a:cs typeface="Calibri"/>
                <a:sym typeface="Calibri"/>
              </a:rPr>
            </a:b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CA3AF"/>
              </a:buClr>
              <a:buSzPts val="800"/>
              <a:buFont typeface="Calibri"/>
              <a:buNone/>
            </a:pPr>
            <a:r>
              <a:rPr b="0" i="0" lang="en-US" sz="800" u="none" cap="none" strike="noStrike">
                <a:solidFill>
                  <a:srgbClr val="9CA3AF"/>
                </a:solidFill>
                <a:latin typeface="Calibri"/>
                <a:ea typeface="Calibri"/>
                <a:cs typeface="Calibri"/>
                <a:sym typeface="Calibri"/>
              </a:rPr>
              <a:t>Agent A's verbose history never appears in Agent B's context. Knowledge passes only through the ASG. No shared memory. No cross-pollution.</a:t>
            </a:r>
            <a:endParaRPr b="0" i="0" sz="900" u="none" cap="none" strike="noStrike">
              <a:solidFill>
                <a:schemeClr val="dk1"/>
              </a:solidFill>
              <a:latin typeface="Calibri"/>
              <a:ea typeface="Calibri"/>
              <a:cs typeface="Calibri"/>
              <a:sym typeface="Calibri"/>
            </a:endParaRPr>
          </a:p>
        </p:txBody>
      </p:sp>
      <p:sp>
        <p:nvSpPr>
          <p:cNvPr id="747" name="Google Shape;747;p36"/>
          <p:cNvSpPr/>
          <p:nvPr/>
        </p:nvSpPr>
        <p:spPr>
          <a:xfrm>
            <a:off x="7851648" y="5266944"/>
            <a:ext cx="3950100" cy="633900"/>
          </a:xfrm>
          <a:prstGeom prst="roundRect">
            <a:avLst>
              <a:gd fmla="val 11538" name="adj"/>
            </a:avLst>
          </a:prstGeom>
          <a:solidFill>
            <a:srgbClr val="1A0606"/>
          </a:solidFill>
          <a:ln cap="flat" cmpd="sng" w="11425">
            <a:solidFill>
              <a:srgbClr val="FF5252"/>
            </a:solidFill>
            <a:prstDash val="solid"/>
            <a:round/>
            <a:headEnd len="sm" w="sm" type="none"/>
            <a:tailEnd len="sm" w="sm" type="none"/>
          </a:ln>
          <a:effectLst>
            <a:outerShdw blurRad="101600" rotWithShape="0" algn="bl" dir="2700000" dist="25400">
              <a:srgbClr val="000000">
                <a:alpha val="349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48" name="Google Shape;748;p36"/>
          <p:cNvSpPr/>
          <p:nvPr/>
        </p:nvSpPr>
        <p:spPr>
          <a:xfrm>
            <a:off x="7997952" y="5303520"/>
            <a:ext cx="3657600" cy="560700"/>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FF5252"/>
              </a:buClr>
              <a:buSzPts val="900"/>
              <a:buFont typeface="Calibri"/>
              <a:buNone/>
            </a:pPr>
            <a:r>
              <a:rPr b="1" i="0" lang="en-US" sz="900" u="none" cap="none" strike="noStrike">
                <a:solidFill>
                  <a:srgbClr val="FF5252"/>
                </a:solidFill>
                <a:latin typeface="Calibri"/>
                <a:ea typeface="Calibri"/>
                <a:cs typeface="Calibri"/>
                <a:sym typeface="Calibri"/>
              </a:rPr>
              <a:t>✅ Rejections Don't Bias Planning</a:t>
            </a:r>
            <a:br>
              <a:rPr b="1" i="0" lang="en-US" sz="900" u="none" cap="none" strike="noStrike">
                <a:solidFill>
                  <a:srgbClr val="FF5252"/>
                </a:solidFill>
                <a:latin typeface="Calibri"/>
                <a:ea typeface="Calibri"/>
                <a:cs typeface="Calibri"/>
                <a:sym typeface="Calibri"/>
              </a:rPr>
            </a:b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CA3AF"/>
              </a:buClr>
              <a:buSzPts val="800"/>
              <a:buFont typeface="Calibri"/>
              <a:buNone/>
            </a:pPr>
            <a:r>
              <a:rPr b="0" i="0" lang="en-US" sz="800" u="none" cap="none" strike="noStrike">
                <a:solidFill>
                  <a:srgbClr val="9CA3AF"/>
                </a:solidFill>
                <a:latin typeface="Calibri"/>
                <a:ea typeface="Calibri"/>
                <a:cs typeface="Calibri"/>
                <a:sym typeface="Calibri"/>
              </a:rPr>
              <a:t>When Commander rejects a High-risk tool call, that rejection never appears in the Commander's own context. Refusals don't accumulate and skew future decisions.</a:t>
            </a:r>
            <a:endParaRPr b="0" i="0" sz="900" u="none" cap="none" strike="noStrike">
              <a:solidFill>
                <a:schemeClr val="dk1"/>
              </a:solidFill>
              <a:latin typeface="Calibri"/>
              <a:ea typeface="Calibri"/>
              <a:cs typeface="Calibri"/>
              <a:sym typeface="Calibri"/>
            </a:endParaRPr>
          </a:p>
        </p:txBody>
      </p:sp>
      <p:sp>
        <p:nvSpPr>
          <p:cNvPr id="749" name="Google Shape;749;p36"/>
          <p:cNvSpPr/>
          <p:nvPr/>
        </p:nvSpPr>
        <p:spPr>
          <a:xfrm>
            <a:off x="7851648" y="6181344"/>
            <a:ext cx="3950100" cy="341400"/>
          </a:xfrm>
          <a:prstGeom prst="roundRect">
            <a:avLst>
              <a:gd fmla="val 17857" name="adj"/>
            </a:avLst>
          </a:prstGeom>
          <a:solidFill>
            <a:srgbClr val="1A1002"/>
          </a:solidFill>
          <a:ln cap="flat" cmpd="sng" w="114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50" name="Google Shape;750;p36"/>
          <p:cNvSpPr/>
          <p:nvPr/>
        </p:nvSpPr>
        <p:spPr>
          <a:xfrm>
            <a:off x="7997952" y="6181344"/>
            <a:ext cx="3657600" cy="341400"/>
          </a:xfrm>
          <a:prstGeom prst="rect">
            <a:avLst/>
          </a:prstGeom>
          <a:noFill/>
          <a:ln>
            <a:noFill/>
          </a:ln>
        </p:spPr>
        <p:txBody>
          <a:bodyPr anchorCtr="0" anchor="ctr" bIns="33875" lIns="33875" spcFirstLastPara="1" rIns="33875" wrap="square" tIns="33875">
            <a:noAutofit/>
          </a:bodyPr>
          <a:lstStyle/>
          <a:p>
            <a:pPr indent="0" lvl="0" marL="0" marR="0" rtl="0" algn="l">
              <a:spcBef>
                <a:spcPts val="0"/>
              </a:spcBef>
              <a:spcAft>
                <a:spcPts val="0"/>
              </a:spcAft>
              <a:buClr>
                <a:srgbClr val="FFC107"/>
              </a:buClr>
              <a:buSzPts val="800"/>
              <a:buFont typeface="Calibri"/>
              <a:buNone/>
            </a:pPr>
            <a:r>
              <a:rPr b="0" i="0" lang="en-US" sz="800" u="none" cap="none" strike="noStrike">
                <a:solidFill>
                  <a:srgbClr val="FFC107"/>
                </a:solidFill>
                <a:latin typeface="Calibri"/>
                <a:ea typeface="Calibri"/>
                <a:cs typeface="Calibri"/>
                <a:sym typeface="Calibri"/>
              </a:rPr>
              <a:t>🎯 Result: Long missions with many agents produce the same reasoning quality as single-agent tasks — context quality does not degrade with mission complexity.</a:t>
            </a:r>
            <a:endParaRPr b="0" i="0" sz="800" u="none" cap="none" strike="noStrike">
              <a:solidFill>
                <a:schemeClr val="dk1"/>
              </a:solidFill>
              <a:latin typeface="Calibri"/>
              <a:ea typeface="Calibri"/>
              <a:cs typeface="Calibri"/>
              <a:sym typeface="Calibri"/>
            </a:endParaRPr>
          </a:p>
        </p:txBody>
      </p:sp>
      <p:sp>
        <p:nvSpPr>
          <p:cNvPr id="751" name="Google Shape;751;p36"/>
          <p:cNvSpPr txBox="1"/>
          <p:nvPr/>
        </p:nvSpPr>
        <p:spPr>
          <a:xfrm>
            <a:off x="11617897" y="128125"/>
            <a:ext cx="4092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00D4FF"/>
                </a:solidFill>
                <a:latin typeface="Calibri"/>
                <a:ea typeface="Calibri"/>
                <a:cs typeface="Calibri"/>
                <a:sym typeface="Calibri"/>
              </a:rPr>
              <a:t>0</a:t>
            </a:r>
            <a:r>
              <a:rPr b="1" lang="en-US" sz="1300">
                <a:solidFill>
                  <a:srgbClr val="00D4FF"/>
                </a:solidFill>
                <a:latin typeface="Calibri"/>
                <a:ea typeface="Calibri"/>
                <a:cs typeface="Calibri"/>
                <a:sym typeface="Calibri"/>
              </a:rPr>
              <a:t>8</a:t>
            </a:r>
            <a:endParaRPr b="0" i="0" sz="1400" u="none" cap="none" strike="noStrike">
              <a:solidFill>
                <a:srgbClr val="00D4FF"/>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755" name="Shape 755"/>
        <p:cNvGrpSpPr/>
        <p:nvPr/>
      </p:nvGrpSpPr>
      <p:grpSpPr>
        <a:xfrm>
          <a:off x="0" y="0"/>
          <a:ext cx="0" cy="0"/>
          <a:chOff x="0" y="0"/>
          <a:chExt cx="0" cy="0"/>
        </a:xfrm>
      </p:grpSpPr>
      <p:sp>
        <p:nvSpPr>
          <p:cNvPr id="756" name="Google Shape;756;p37"/>
          <p:cNvSpPr/>
          <p:nvPr/>
        </p:nvSpPr>
        <p:spPr>
          <a:xfrm>
            <a:off x="0" y="0"/>
            <a:ext cx="54864" cy="68580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7" name="Google Shape;757;p37"/>
          <p:cNvSpPr/>
          <p:nvPr/>
        </p:nvSpPr>
        <p:spPr>
          <a:xfrm>
            <a:off x="54864" y="0"/>
            <a:ext cx="12136831" cy="36576"/>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8" name="Google Shape;758;p37"/>
          <p:cNvSpPr/>
          <p:nvPr/>
        </p:nvSpPr>
        <p:spPr>
          <a:xfrm>
            <a:off x="54864" y="6821424"/>
            <a:ext cx="12136831" cy="36576"/>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9" name="Google Shape;759;p37"/>
          <p:cNvSpPr txBox="1"/>
          <p:nvPr/>
        </p:nvSpPr>
        <p:spPr>
          <a:xfrm>
            <a:off x="274320" y="73152"/>
            <a:ext cx="73152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FF4545"/>
                </a:solidFill>
                <a:latin typeface="Calibri"/>
                <a:ea typeface="Calibri"/>
                <a:cs typeface="Calibri"/>
                <a:sym typeface="Calibri"/>
              </a:rPr>
              <a:t>OFFENSIVE TOOL CATALOGUE</a:t>
            </a:r>
            <a:endParaRPr/>
          </a:p>
        </p:txBody>
      </p:sp>
      <p:sp>
        <p:nvSpPr>
          <p:cNvPr id="760" name="Google Shape;760;p37"/>
          <p:cNvSpPr txBox="1"/>
          <p:nvPr/>
        </p:nvSpPr>
        <p:spPr>
          <a:xfrm>
            <a:off x="274320" y="347472"/>
            <a:ext cx="10972800" cy="5669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000">
                <a:solidFill>
                  <a:srgbClr val="FFFFFF"/>
                </a:solidFill>
                <a:latin typeface="Calibri"/>
                <a:ea typeface="Calibri"/>
                <a:cs typeface="Calibri"/>
                <a:sym typeface="Calibri"/>
              </a:rPr>
              <a:t>11 Industry-Standard Security Tools — AI Agent Operated</a:t>
            </a:r>
            <a:endParaRPr/>
          </a:p>
        </p:txBody>
      </p:sp>
      <p:sp>
        <p:nvSpPr>
          <p:cNvPr id="761" name="Google Shape;761;p37"/>
          <p:cNvSpPr/>
          <p:nvPr/>
        </p:nvSpPr>
        <p:spPr>
          <a:xfrm>
            <a:off x="274320" y="987552"/>
            <a:ext cx="3657600" cy="347472"/>
          </a:xfrm>
          <a:prstGeom prst="rect">
            <a:avLst/>
          </a:prstGeom>
          <a:solidFill>
            <a:srgbClr val="08101C"/>
          </a:solidFill>
          <a:ln cap="flat" cmpd="sng" w="152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2" name="Google Shape;762;p37"/>
          <p:cNvSpPr txBox="1"/>
          <p:nvPr/>
        </p:nvSpPr>
        <p:spPr>
          <a:xfrm>
            <a:off x="365760" y="1042416"/>
            <a:ext cx="3520440" cy="2560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a:solidFill>
                  <a:srgbClr val="39FF14"/>
                </a:solidFill>
                <a:latin typeface="Calibri"/>
                <a:ea typeface="Calibri"/>
                <a:cs typeface="Calibri"/>
                <a:sym typeface="Calibri"/>
              </a:rPr>
              <a:t>PHASE 1  ·  RECONNAISSANCE</a:t>
            </a:r>
            <a:endParaRPr/>
          </a:p>
        </p:txBody>
      </p:sp>
      <p:sp>
        <p:nvSpPr>
          <p:cNvPr id="763" name="Google Shape;763;p37"/>
          <p:cNvSpPr/>
          <p:nvPr/>
        </p:nvSpPr>
        <p:spPr>
          <a:xfrm>
            <a:off x="4160520" y="987552"/>
            <a:ext cx="3657600" cy="347472"/>
          </a:xfrm>
          <a:prstGeom prst="rect">
            <a:avLst/>
          </a:prstGeom>
          <a:solidFill>
            <a:srgbClr val="08101C"/>
          </a:solidFill>
          <a:ln cap="flat" cmpd="sng" w="152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4" name="Google Shape;764;p37"/>
          <p:cNvSpPr txBox="1"/>
          <p:nvPr/>
        </p:nvSpPr>
        <p:spPr>
          <a:xfrm>
            <a:off x="4251960" y="1042416"/>
            <a:ext cx="3520440" cy="2560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a:solidFill>
                  <a:srgbClr val="00E5FF"/>
                </a:solidFill>
                <a:latin typeface="Calibri"/>
                <a:ea typeface="Calibri"/>
                <a:cs typeface="Calibri"/>
                <a:sym typeface="Calibri"/>
              </a:rPr>
              <a:t>PHASE 2  ·  ANALYSIS</a:t>
            </a:r>
            <a:endParaRPr/>
          </a:p>
        </p:txBody>
      </p:sp>
      <p:sp>
        <p:nvSpPr>
          <p:cNvPr id="765" name="Google Shape;765;p37"/>
          <p:cNvSpPr/>
          <p:nvPr/>
        </p:nvSpPr>
        <p:spPr>
          <a:xfrm>
            <a:off x="8412480" y="987552"/>
            <a:ext cx="1828800" cy="347472"/>
          </a:xfrm>
          <a:prstGeom prst="rect">
            <a:avLst/>
          </a:prstGeom>
          <a:solidFill>
            <a:srgbClr val="08101C"/>
          </a:solidFill>
          <a:ln cap="flat" cmpd="sng" w="152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6" name="Google Shape;766;p37"/>
          <p:cNvSpPr txBox="1"/>
          <p:nvPr/>
        </p:nvSpPr>
        <p:spPr>
          <a:xfrm>
            <a:off x="8503920" y="1042416"/>
            <a:ext cx="1691640" cy="2560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a:solidFill>
                  <a:srgbClr val="FF4545"/>
                </a:solidFill>
                <a:latin typeface="Calibri"/>
                <a:ea typeface="Calibri"/>
                <a:cs typeface="Calibri"/>
                <a:sym typeface="Calibri"/>
              </a:rPr>
              <a:t>PHASE 3  ·  VALIDATION</a:t>
            </a:r>
            <a:endParaRPr/>
          </a:p>
        </p:txBody>
      </p:sp>
      <p:sp>
        <p:nvSpPr>
          <p:cNvPr id="767" name="Google Shape;767;p37"/>
          <p:cNvSpPr/>
          <p:nvPr/>
        </p:nvSpPr>
        <p:spPr>
          <a:xfrm>
            <a:off x="10469880" y="987552"/>
            <a:ext cx="1554480" cy="347472"/>
          </a:xfrm>
          <a:prstGeom prst="rect">
            <a:avLst/>
          </a:prstGeom>
          <a:solidFill>
            <a:srgbClr val="08101C"/>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8" name="Google Shape;768;p37"/>
          <p:cNvSpPr txBox="1"/>
          <p:nvPr/>
        </p:nvSpPr>
        <p:spPr>
          <a:xfrm>
            <a:off x="10561320" y="1042416"/>
            <a:ext cx="1417320" cy="2560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a:solidFill>
                  <a:srgbClr val="BD93F9"/>
                </a:solidFill>
                <a:latin typeface="Calibri"/>
                <a:ea typeface="Calibri"/>
                <a:cs typeface="Calibri"/>
                <a:sym typeface="Calibri"/>
              </a:rPr>
              <a:t>PHASE 3  ·  EVIDENCE</a:t>
            </a:r>
            <a:endParaRPr/>
          </a:p>
        </p:txBody>
      </p:sp>
      <p:sp>
        <p:nvSpPr>
          <p:cNvPr id="769" name="Google Shape;769;p37"/>
          <p:cNvSpPr/>
          <p:nvPr/>
        </p:nvSpPr>
        <p:spPr>
          <a:xfrm>
            <a:off x="274320" y="1417320"/>
            <a:ext cx="3657600" cy="1557528"/>
          </a:xfrm>
          <a:prstGeom prst="rect">
            <a:avLst/>
          </a:prstGeom>
          <a:solidFill>
            <a:srgbClr val="10162B"/>
          </a:solidFill>
          <a:ln cap="flat" cmpd="sng" w="127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0" name="Google Shape;770;p37"/>
          <p:cNvSpPr/>
          <p:nvPr/>
        </p:nvSpPr>
        <p:spPr>
          <a:xfrm>
            <a:off x="274320" y="1417320"/>
            <a:ext cx="365760" cy="1557528"/>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1" name="Google Shape;771;p37"/>
          <p:cNvSpPr txBox="1"/>
          <p:nvPr/>
        </p:nvSpPr>
        <p:spPr>
          <a:xfrm>
            <a:off x="292608" y="2031492"/>
            <a:ext cx="329184" cy="32918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a:solidFill>
                  <a:srgbClr val="0A0D1A"/>
                </a:solidFill>
                <a:latin typeface="Calibri"/>
                <a:ea typeface="Calibri"/>
                <a:cs typeface="Calibri"/>
                <a:sym typeface="Calibri"/>
              </a:rPr>
              <a:t>1</a:t>
            </a:r>
            <a:endParaRPr/>
          </a:p>
        </p:txBody>
      </p:sp>
      <p:sp>
        <p:nvSpPr>
          <p:cNvPr id="772" name="Google Shape;772;p37"/>
          <p:cNvSpPr txBox="1"/>
          <p:nvPr/>
        </p:nvSpPr>
        <p:spPr>
          <a:xfrm>
            <a:off x="731520" y="1472184"/>
            <a:ext cx="315468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a:solidFill>
                  <a:srgbClr val="39FF14"/>
                </a:solidFill>
                <a:latin typeface="Calibri"/>
                <a:ea typeface="Calibri"/>
                <a:cs typeface="Calibri"/>
                <a:sym typeface="Calibri"/>
              </a:rPr>
              <a:t>Amass</a:t>
            </a:r>
            <a:endParaRPr/>
          </a:p>
        </p:txBody>
      </p:sp>
      <p:sp>
        <p:nvSpPr>
          <p:cNvPr id="773" name="Google Shape;773;p37"/>
          <p:cNvSpPr txBox="1"/>
          <p:nvPr/>
        </p:nvSpPr>
        <p:spPr>
          <a:xfrm>
            <a:off x="731520" y="1737360"/>
            <a:ext cx="315468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850">
                <a:solidFill>
                  <a:srgbClr val="A0AAB8"/>
                </a:solidFill>
                <a:latin typeface="Calibri"/>
                <a:ea typeface="Calibri"/>
                <a:cs typeface="Calibri"/>
                <a:sym typeface="Calibri"/>
              </a:rPr>
              <a:t>Subdomain Enumeration  ·  Recon Agent</a:t>
            </a:r>
            <a:endParaRPr/>
          </a:p>
        </p:txBody>
      </p:sp>
      <p:sp>
        <p:nvSpPr>
          <p:cNvPr id="774" name="Google Shape;774;p37"/>
          <p:cNvSpPr txBox="1"/>
          <p:nvPr/>
        </p:nvSpPr>
        <p:spPr>
          <a:xfrm>
            <a:off x="731520" y="1947672"/>
            <a:ext cx="3154680" cy="963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a:solidFill>
                  <a:srgbClr val="A0AAB8"/>
                </a:solidFill>
                <a:latin typeface="Calibri"/>
                <a:ea typeface="Calibri"/>
                <a:cs typeface="Calibri"/>
                <a:sym typeface="Calibri"/>
              </a:rPr>
              <a:t>DNS brute-force · certificate transparency logs · passive OSINT. Discovers all external subdomains and maps attack surface entry points.</a:t>
            </a:r>
            <a:endParaRPr/>
          </a:p>
        </p:txBody>
      </p:sp>
      <p:sp>
        <p:nvSpPr>
          <p:cNvPr id="775" name="Google Shape;775;p37"/>
          <p:cNvSpPr/>
          <p:nvPr/>
        </p:nvSpPr>
        <p:spPr>
          <a:xfrm>
            <a:off x="274320" y="3048000"/>
            <a:ext cx="3657600" cy="1557528"/>
          </a:xfrm>
          <a:prstGeom prst="rect">
            <a:avLst/>
          </a:prstGeom>
          <a:solidFill>
            <a:srgbClr val="10162B"/>
          </a:solidFill>
          <a:ln cap="flat" cmpd="sng" w="127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6" name="Google Shape;776;p37"/>
          <p:cNvSpPr/>
          <p:nvPr/>
        </p:nvSpPr>
        <p:spPr>
          <a:xfrm>
            <a:off x="274320" y="3048000"/>
            <a:ext cx="365760" cy="1557528"/>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7" name="Google Shape;777;p37"/>
          <p:cNvSpPr txBox="1"/>
          <p:nvPr/>
        </p:nvSpPr>
        <p:spPr>
          <a:xfrm>
            <a:off x="292608" y="3662172"/>
            <a:ext cx="329184" cy="32918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a:solidFill>
                  <a:srgbClr val="0A0D1A"/>
                </a:solidFill>
                <a:latin typeface="Calibri"/>
                <a:ea typeface="Calibri"/>
                <a:cs typeface="Calibri"/>
                <a:sym typeface="Calibri"/>
              </a:rPr>
              <a:t>2</a:t>
            </a:r>
            <a:endParaRPr/>
          </a:p>
        </p:txBody>
      </p:sp>
      <p:sp>
        <p:nvSpPr>
          <p:cNvPr id="778" name="Google Shape;778;p37"/>
          <p:cNvSpPr txBox="1"/>
          <p:nvPr/>
        </p:nvSpPr>
        <p:spPr>
          <a:xfrm>
            <a:off x="731520" y="3102864"/>
            <a:ext cx="315468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a:solidFill>
                  <a:srgbClr val="39FF14"/>
                </a:solidFill>
                <a:latin typeface="Calibri"/>
                <a:ea typeface="Calibri"/>
                <a:cs typeface="Calibri"/>
                <a:sym typeface="Calibri"/>
              </a:rPr>
              <a:t>httpx</a:t>
            </a:r>
            <a:endParaRPr/>
          </a:p>
        </p:txBody>
      </p:sp>
      <p:sp>
        <p:nvSpPr>
          <p:cNvPr id="779" name="Google Shape;779;p37"/>
          <p:cNvSpPr txBox="1"/>
          <p:nvPr/>
        </p:nvSpPr>
        <p:spPr>
          <a:xfrm>
            <a:off x="731520" y="3368040"/>
            <a:ext cx="315468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850">
                <a:solidFill>
                  <a:srgbClr val="A0AAB8"/>
                </a:solidFill>
                <a:latin typeface="Calibri"/>
                <a:ea typeface="Calibri"/>
                <a:cs typeface="Calibri"/>
                <a:sym typeface="Calibri"/>
              </a:rPr>
              <a:t>Live Host Probing  ·  Recon Agent</a:t>
            </a:r>
            <a:endParaRPr/>
          </a:p>
        </p:txBody>
      </p:sp>
      <p:sp>
        <p:nvSpPr>
          <p:cNvPr id="780" name="Google Shape;780;p37"/>
          <p:cNvSpPr txBox="1"/>
          <p:nvPr/>
        </p:nvSpPr>
        <p:spPr>
          <a:xfrm>
            <a:off x="731520" y="3578352"/>
            <a:ext cx="3154680" cy="963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a:solidFill>
                  <a:srgbClr val="A0AAB8"/>
                </a:solidFill>
                <a:latin typeface="Calibri"/>
                <a:ea typeface="Calibri"/>
                <a:cs typeface="Calibri"/>
                <a:sym typeface="Calibri"/>
              </a:rPr>
              <a:t>Validates which discovered hosts respond over HTTP/HTTPS. Identifies web servers, status codes, redirects, TLS details.</a:t>
            </a:r>
            <a:endParaRPr/>
          </a:p>
        </p:txBody>
      </p:sp>
      <p:sp>
        <p:nvSpPr>
          <p:cNvPr id="781" name="Google Shape;781;p37"/>
          <p:cNvSpPr/>
          <p:nvPr/>
        </p:nvSpPr>
        <p:spPr>
          <a:xfrm>
            <a:off x="274320" y="4678680"/>
            <a:ext cx="3657600" cy="1557528"/>
          </a:xfrm>
          <a:prstGeom prst="rect">
            <a:avLst/>
          </a:prstGeom>
          <a:solidFill>
            <a:srgbClr val="10162B"/>
          </a:solidFill>
          <a:ln cap="flat" cmpd="sng" w="127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2" name="Google Shape;782;p37"/>
          <p:cNvSpPr/>
          <p:nvPr/>
        </p:nvSpPr>
        <p:spPr>
          <a:xfrm>
            <a:off x="274320" y="4678680"/>
            <a:ext cx="365760" cy="1557528"/>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3" name="Google Shape;783;p37"/>
          <p:cNvSpPr txBox="1"/>
          <p:nvPr/>
        </p:nvSpPr>
        <p:spPr>
          <a:xfrm>
            <a:off x="292608" y="5292852"/>
            <a:ext cx="329184" cy="32918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a:solidFill>
                  <a:srgbClr val="0A0D1A"/>
                </a:solidFill>
                <a:latin typeface="Calibri"/>
                <a:ea typeface="Calibri"/>
                <a:cs typeface="Calibri"/>
                <a:sym typeface="Calibri"/>
              </a:rPr>
              <a:t>3</a:t>
            </a:r>
            <a:endParaRPr/>
          </a:p>
        </p:txBody>
      </p:sp>
      <p:sp>
        <p:nvSpPr>
          <p:cNvPr id="784" name="Google Shape;784;p37"/>
          <p:cNvSpPr txBox="1"/>
          <p:nvPr/>
        </p:nvSpPr>
        <p:spPr>
          <a:xfrm>
            <a:off x="731520" y="4733544"/>
            <a:ext cx="315468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a:solidFill>
                  <a:srgbClr val="39FF14"/>
                </a:solidFill>
                <a:latin typeface="Calibri"/>
                <a:ea typeface="Calibri"/>
                <a:cs typeface="Calibri"/>
                <a:sym typeface="Calibri"/>
              </a:rPr>
              <a:t>Nmap</a:t>
            </a:r>
            <a:endParaRPr/>
          </a:p>
        </p:txBody>
      </p:sp>
      <p:sp>
        <p:nvSpPr>
          <p:cNvPr id="785" name="Google Shape;785;p37"/>
          <p:cNvSpPr txBox="1"/>
          <p:nvPr/>
        </p:nvSpPr>
        <p:spPr>
          <a:xfrm>
            <a:off x="731520" y="4998720"/>
            <a:ext cx="315468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850">
                <a:solidFill>
                  <a:srgbClr val="A0AAB8"/>
                </a:solidFill>
                <a:latin typeface="Calibri"/>
                <a:ea typeface="Calibri"/>
                <a:cs typeface="Calibri"/>
                <a:sym typeface="Calibri"/>
              </a:rPr>
              <a:t>Port + Service Scan  ·  Recon Agent</a:t>
            </a:r>
            <a:endParaRPr/>
          </a:p>
        </p:txBody>
      </p:sp>
      <p:sp>
        <p:nvSpPr>
          <p:cNvPr id="786" name="Google Shape;786;p37"/>
          <p:cNvSpPr txBox="1"/>
          <p:nvPr/>
        </p:nvSpPr>
        <p:spPr>
          <a:xfrm>
            <a:off x="731520" y="5209032"/>
            <a:ext cx="3154680" cy="963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a:solidFill>
                  <a:srgbClr val="A0AAB8"/>
                </a:solidFill>
                <a:latin typeface="Calibri"/>
                <a:ea typeface="Calibri"/>
                <a:cs typeface="Calibri"/>
                <a:sym typeface="Calibri"/>
              </a:rPr>
              <a:t>Port scanning, service fingerprinting, OS detection. Optional NSE script execution for vuln detection on open services.</a:t>
            </a:r>
            <a:endParaRPr/>
          </a:p>
        </p:txBody>
      </p:sp>
      <p:sp>
        <p:nvSpPr>
          <p:cNvPr id="787" name="Google Shape;787;p37"/>
          <p:cNvSpPr/>
          <p:nvPr/>
        </p:nvSpPr>
        <p:spPr>
          <a:xfrm>
            <a:off x="4160520" y="1417320"/>
            <a:ext cx="4114800" cy="905256"/>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8" name="Google Shape;788;p37"/>
          <p:cNvSpPr/>
          <p:nvPr/>
        </p:nvSpPr>
        <p:spPr>
          <a:xfrm>
            <a:off x="4160520" y="1417320"/>
            <a:ext cx="365760" cy="90525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9" name="Google Shape;789;p37"/>
          <p:cNvSpPr txBox="1"/>
          <p:nvPr/>
        </p:nvSpPr>
        <p:spPr>
          <a:xfrm>
            <a:off x="4178808" y="1705356"/>
            <a:ext cx="329184" cy="32918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a:solidFill>
                  <a:srgbClr val="0A0D1A"/>
                </a:solidFill>
                <a:latin typeface="Calibri"/>
                <a:ea typeface="Calibri"/>
                <a:cs typeface="Calibri"/>
                <a:sym typeface="Calibri"/>
              </a:rPr>
              <a:t>4</a:t>
            </a:r>
            <a:endParaRPr/>
          </a:p>
        </p:txBody>
      </p:sp>
      <p:sp>
        <p:nvSpPr>
          <p:cNvPr id="790" name="Google Shape;790;p37"/>
          <p:cNvSpPr txBox="1"/>
          <p:nvPr/>
        </p:nvSpPr>
        <p:spPr>
          <a:xfrm>
            <a:off x="4617720" y="1472184"/>
            <a:ext cx="361188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a:solidFill>
                  <a:srgbClr val="00E5FF"/>
                </a:solidFill>
                <a:latin typeface="Calibri"/>
                <a:ea typeface="Calibri"/>
                <a:cs typeface="Calibri"/>
                <a:sym typeface="Calibri"/>
              </a:rPr>
              <a:t>WhatWeb</a:t>
            </a:r>
            <a:endParaRPr/>
          </a:p>
        </p:txBody>
      </p:sp>
      <p:sp>
        <p:nvSpPr>
          <p:cNvPr id="791" name="Google Shape;791;p37"/>
          <p:cNvSpPr txBox="1"/>
          <p:nvPr/>
        </p:nvSpPr>
        <p:spPr>
          <a:xfrm>
            <a:off x="4617720" y="1737360"/>
            <a:ext cx="361188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850">
                <a:solidFill>
                  <a:srgbClr val="A0AAB8"/>
                </a:solidFill>
                <a:latin typeface="Calibri"/>
                <a:ea typeface="Calibri"/>
                <a:cs typeface="Calibri"/>
                <a:sym typeface="Calibri"/>
              </a:rPr>
              <a:t>Technology Fingerprinting  ·  Analysis Agent</a:t>
            </a:r>
            <a:endParaRPr/>
          </a:p>
        </p:txBody>
      </p:sp>
      <p:sp>
        <p:nvSpPr>
          <p:cNvPr id="792" name="Google Shape;792;p37"/>
          <p:cNvSpPr txBox="1"/>
          <p:nvPr/>
        </p:nvSpPr>
        <p:spPr>
          <a:xfrm>
            <a:off x="4617720" y="1947672"/>
            <a:ext cx="3611880" cy="31089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a:solidFill>
                  <a:srgbClr val="A0AAB8"/>
                </a:solidFill>
                <a:latin typeface="Calibri"/>
                <a:ea typeface="Calibri"/>
                <a:cs typeface="Calibri"/>
                <a:sym typeface="Calibri"/>
              </a:rPr>
              <a:t>Identifies CMS, frameworks, server software, JS libraries, and versions from HTTP responses. Seeds Technology nodes for the ASG.</a:t>
            </a:r>
            <a:endParaRPr/>
          </a:p>
        </p:txBody>
      </p:sp>
      <p:sp>
        <p:nvSpPr>
          <p:cNvPr id="793" name="Google Shape;793;p37"/>
          <p:cNvSpPr/>
          <p:nvPr/>
        </p:nvSpPr>
        <p:spPr>
          <a:xfrm>
            <a:off x="4160520" y="2395728"/>
            <a:ext cx="4114800" cy="905256"/>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4" name="Google Shape;794;p37"/>
          <p:cNvSpPr/>
          <p:nvPr/>
        </p:nvSpPr>
        <p:spPr>
          <a:xfrm>
            <a:off x="4160520" y="2395728"/>
            <a:ext cx="365760" cy="90525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5" name="Google Shape;795;p37"/>
          <p:cNvSpPr txBox="1"/>
          <p:nvPr/>
        </p:nvSpPr>
        <p:spPr>
          <a:xfrm>
            <a:off x="4178808" y="2683764"/>
            <a:ext cx="329184" cy="32918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a:solidFill>
                  <a:srgbClr val="0A0D1A"/>
                </a:solidFill>
                <a:latin typeface="Calibri"/>
                <a:ea typeface="Calibri"/>
                <a:cs typeface="Calibri"/>
                <a:sym typeface="Calibri"/>
              </a:rPr>
              <a:t>5</a:t>
            </a:r>
            <a:endParaRPr/>
          </a:p>
        </p:txBody>
      </p:sp>
      <p:sp>
        <p:nvSpPr>
          <p:cNvPr id="796" name="Google Shape;796;p37"/>
          <p:cNvSpPr txBox="1"/>
          <p:nvPr/>
        </p:nvSpPr>
        <p:spPr>
          <a:xfrm>
            <a:off x="4617720" y="2450592"/>
            <a:ext cx="361188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a:solidFill>
                  <a:srgbClr val="00E5FF"/>
                </a:solidFill>
                <a:latin typeface="Calibri"/>
                <a:ea typeface="Calibri"/>
                <a:cs typeface="Calibri"/>
                <a:sym typeface="Calibri"/>
              </a:rPr>
              <a:t>Gobuster</a:t>
            </a:r>
            <a:endParaRPr/>
          </a:p>
        </p:txBody>
      </p:sp>
      <p:sp>
        <p:nvSpPr>
          <p:cNvPr id="797" name="Google Shape;797;p37"/>
          <p:cNvSpPr txBox="1"/>
          <p:nvPr/>
        </p:nvSpPr>
        <p:spPr>
          <a:xfrm>
            <a:off x="4617720" y="2715768"/>
            <a:ext cx="361188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850">
                <a:solidFill>
                  <a:srgbClr val="A0AAB8"/>
                </a:solidFill>
                <a:latin typeface="Calibri"/>
                <a:ea typeface="Calibri"/>
                <a:cs typeface="Calibri"/>
                <a:sym typeface="Calibri"/>
              </a:rPr>
              <a:t>Directory Brute-Force  ·  Analysis Agent</a:t>
            </a:r>
            <a:endParaRPr/>
          </a:p>
        </p:txBody>
      </p:sp>
      <p:sp>
        <p:nvSpPr>
          <p:cNvPr id="798" name="Google Shape;798;p37"/>
          <p:cNvSpPr txBox="1"/>
          <p:nvPr/>
        </p:nvSpPr>
        <p:spPr>
          <a:xfrm>
            <a:off x="4617720" y="2926080"/>
            <a:ext cx="3611880" cy="31089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a:solidFill>
                  <a:srgbClr val="A0AAB8"/>
                </a:solidFill>
                <a:latin typeface="Calibri"/>
                <a:ea typeface="Calibri"/>
                <a:cs typeface="Calibri"/>
                <a:sym typeface="Calibri"/>
              </a:rPr>
              <a:t>Discovers hidden paths, admin panels, backup files, and exposed resources via wordlist-based HTTP path enumeration.</a:t>
            </a:r>
            <a:endParaRPr/>
          </a:p>
        </p:txBody>
      </p:sp>
      <p:sp>
        <p:nvSpPr>
          <p:cNvPr id="799" name="Google Shape;799;p37"/>
          <p:cNvSpPr/>
          <p:nvPr/>
        </p:nvSpPr>
        <p:spPr>
          <a:xfrm>
            <a:off x="4160520" y="3374136"/>
            <a:ext cx="4114800" cy="905256"/>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0" name="Google Shape;800;p37"/>
          <p:cNvSpPr/>
          <p:nvPr/>
        </p:nvSpPr>
        <p:spPr>
          <a:xfrm>
            <a:off x="4160520" y="3374136"/>
            <a:ext cx="365760" cy="90525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1" name="Google Shape;801;p37"/>
          <p:cNvSpPr txBox="1"/>
          <p:nvPr/>
        </p:nvSpPr>
        <p:spPr>
          <a:xfrm>
            <a:off x="4178808" y="3662172"/>
            <a:ext cx="329184" cy="32918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a:solidFill>
                  <a:srgbClr val="0A0D1A"/>
                </a:solidFill>
                <a:latin typeface="Calibri"/>
                <a:ea typeface="Calibri"/>
                <a:cs typeface="Calibri"/>
                <a:sym typeface="Calibri"/>
              </a:rPr>
              <a:t>6</a:t>
            </a:r>
            <a:endParaRPr/>
          </a:p>
        </p:txBody>
      </p:sp>
      <p:sp>
        <p:nvSpPr>
          <p:cNvPr id="802" name="Google Shape;802;p37"/>
          <p:cNvSpPr txBox="1"/>
          <p:nvPr/>
        </p:nvSpPr>
        <p:spPr>
          <a:xfrm>
            <a:off x="4617720" y="3429000"/>
            <a:ext cx="361188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a:solidFill>
                  <a:srgbClr val="00E5FF"/>
                </a:solidFill>
                <a:latin typeface="Calibri"/>
                <a:ea typeface="Calibri"/>
                <a:cs typeface="Calibri"/>
                <a:sym typeface="Calibri"/>
              </a:rPr>
              <a:t>ffuf</a:t>
            </a:r>
            <a:endParaRPr/>
          </a:p>
        </p:txBody>
      </p:sp>
      <p:sp>
        <p:nvSpPr>
          <p:cNvPr id="803" name="Google Shape;803;p37"/>
          <p:cNvSpPr txBox="1"/>
          <p:nvPr/>
        </p:nvSpPr>
        <p:spPr>
          <a:xfrm>
            <a:off x="4617720" y="3694176"/>
            <a:ext cx="361188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850">
                <a:solidFill>
                  <a:srgbClr val="A0AAB8"/>
                </a:solidFill>
                <a:latin typeface="Calibri"/>
                <a:ea typeface="Calibri"/>
                <a:cs typeface="Calibri"/>
                <a:sym typeface="Calibri"/>
              </a:rPr>
              <a:t>API + Parameter Fuzzing  ·  Analysis Agent</a:t>
            </a:r>
            <a:endParaRPr/>
          </a:p>
        </p:txBody>
      </p:sp>
      <p:sp>
        <p:nvSpPr>
          <p:cNvPr id="804" name="Google Shape;804;p37"/>
          <p:cNvSpPr txBox="1"/>
          <p:nvPr/>
        </p:nvSpPr>
        <p:spPr>
          <a:xfrm>
            <a:off x="4617720" y="3904488"/>
            <a:ext cx="3611880" cy="31089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a:solidFill>
                  <a:srgbClr val="A0AAB8"/>
                </a:solidFill>
                <a:latin typeface="Calibri"/>
                <a:ea typeface="Calibri"/>
                <a:cs typeface="Calibri"/>
                <a:sym typeface="Calibri"/>
              </a:rPr>
              <a:t>Fast web fuzzer for API route discovery, parameter fuzzing, virtual host enumeration, and undocumented endpoint identification.</a:t>
            </a:r>
            <a:endParaRPr/>
          </a:p>
        </p:txBody>
      </p:sp>
      <p:sp>
        <p:nvSpPr>
          <p:cNvPr id="805" name="Google Shape;805;p37"/>
          <p:cNvSpPr/>
          <p:nvPr/>
        </p:nvSpPr>
        <p:spPr>
          <a:xfrm>
            <a:off x="4160520" y="4352544"/>
            <a:ext cx="4114800" cy="905256"/>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6" name="Google Shape;806;p37"/>
          <p:cNvSpPr/>
          <p:nvPr/>
        </p:nvSpPr>
        <p:spPr>
          <a:xfrm>
            <a:off x="4160520" y="4352544"/>
            <a:ext cx="365760" cy="90525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7" name="Google Shape;807;p37"/>
          <p:cNvSpPr txBox="1"/>
          <p:nvPr/>
        </p:nvSpPr>
        <p:spPr>
          <a:xfrm>
            <a:off x="4178808" y="4640580"/>
            <a:ext cx="329184" cy="32918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a:solidFill>
                  <a:srgbClr val="0A0D1A"/>
                </a:solidFill>
                <a:latin typeface="Calibri"/>
                <a:ea typeface="Calibri"/>
                <a:cs typeface="Calibri"/>
                <a:sym typeface="Calibri"/>
              </a:rPr>
              <a:t>7</a:t>
            </a:r>
            <a:endParaRPr/>
          </a:p>
        </p:txBody>
      </p:sp>
      <p:sp>
        <p:nvSpPr>
          <p:cNvPr id="808" name="Google Shape;808;p37"/>
          <p:cNvSpPr txBox="1"/>
          <p:nvPr/>
        </p:nvSpPr>
        <p:spPr>
          <a:xfrm>
            <a:off x="4617720" y="4407408"/>
            <a:ext cx="361188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a:solidFill>
                  <a:srgbClr val="00E5FF"/>
                </a:solidFill>
                <a:latin typeface="Calibri"/>
                <a:ea typeface="Calibri"/>
                <a:cs typeface="Calibri"/>
                <a:sym typeface="Calibri"/>
              </a:rPr>
              <a:t>Nuclei</a:t>
            </a:r>
            <a:endParaRPr/>
          </a:p>
        </p:txBody>
      </p:sp>
      <p:sp>
        <p:nvSpPr>
          <p:cNvPr id="809" name="Google Shape;809;p37"/>
          <p:cNvSpPr txBox="1"/>
          <p:nvPr/>
        </p:nvSpPr>
        <p:spPr>
          <a:xfrm>
            <a:off x="4617720" y="4672584"/>
            <a:ext cx="361188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850">
                <a:solidFill>
                  <a:srgbClr val="A0AAB8"/>
                </a:solidFill>
                <a:latin typeface="Calibri"/>
                <a:ea typeface="Calibri"/>
                <a:cs typeface="Calibri"/>
                <a:sym typeface="Calibri"/>
              </a:rPr>
              <a:t>Template-Based Vuln Scan  ·  Analysis Agent</a:t>
            </a:r>
            <a:endParaRPr/>
          </a:p>
        </p:txBody>
      </p:sp>
      <p:sp>
        <p:nvSpPr>
          <p:cNvPr id="810" name="Google Shape;810;p37"/>
          <p:cNvSpPr txBox="1"/>
          <p:nvPr/>
        </p:nvSpPr>
        <p:spPr>
          <a:xfrm>
            <a:off x="4617720" y="4882896"/>
            <a:ext cx="3611880" cy="31089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a:solidFill>
                  <a:srgbClr val="A0AAB8"/>
                </a:solidFill>
                <a:latin typeface="Calibri"/>
                <a:ea typeface="Calibri"/>
                <a:cs typeface="Calibri"/>
                <a:sym typeface="Calibri"/>
              </a:rPr>
              <a:t>Matches discovered services and technologies against a library of CVE and misconfiguration templates for automated vulnerability detection.</a:t>
            </a:r>
            <a:endParaRPr/>
          </a:p>
        </p:txBody>
      </p:sp>
      <p:sp>
        <p:nvSpPr>
          <p:cNvPr id="811" name="Google Shape;811;p37"/>
          <p:cNvSpPr/>
          <p:nvPr/>
        </p:nvSpPr>
        <p:spPr>
          <a:xfrm>
            <a:off x="4160520" y="5330952"/>
            <a:ext cx="4114800" cy="905256"/>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2" name="Google Shape;812;p37"/>
          <p:cNvSpPr/>
          <p:nvPr/>
        </p:nvSpPr>
        <p:spPr>
          <a:xfrm>
            <a:off x="4160520" y="5330952"/>
            <a:ext cx="365760" cy="90525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3" name="Google Shape;813;p37"/>
          <p:cNvSpPr txBox="1"/>
          <p:nvPr/>
        </p:nvSpPr>
        <p:spPr>
          <a:xfrm>
            <a:off x="4178808" y="5618988"/>
            <a:ext cx="329184" cy="32918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a:solidFill>
                  <a:srgbClr val="0A0D1A"/>
                </a:solidFill>
                <a:latin typeface="Calibri"/>
                <a:ea typeface="Calibri"/>
                <a:cs typeface="Calibri"/>
                <a:sym typeface="Calibri"/>
              </a:rPr>
              <a:t>8</a:t>
            </a:r>
            <a:endParaRPr/>
          </a:p>
        </p:txBody>
      </p:sp>
      <p:sp>
        <p:nvSpPr>
          <p:cNvPr id="814" name="Google Shape;814;p37"/>
          <p:cNvSpPr txBox="1"/>
          <p:nvPr/>
        </p:nvSpPr>
        <p:spPr>
          <a:xfrm>
            <a:off x="4617720" y="5385816"/>
            <a:ext cx="361188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a:solidFill>
                  <a:srgbClr val="00E5FF"/>
                </a:solidFill>
                <a:latin typeface="Calibri"/>
                <a:ea typeface="Calibri"/>
                <a:cs typeface="Calibri"/>
                <a:sym typeface="Calibri"/>
              </a:rPr>
              <a:t>OWASP ZAP</a:t>
            </a:r>
            <a:endParaRPr/>
          </a:p>
        </p:txBody>
      </p:sp>
      <p:sp>
        <p:nvSpPr>
          <p:cNvPr id="815" name="Google Shape;815;p37"/>
          <p:cNvSpPr txBox="1"/>
          <p:nvPr/>
        </p:nvSpPr>
        <p:spPr>
          <a:xfrm>
            <a:off x="4617720" y="5650992"/>
            <a:ext cx="361188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850">
                <a:solidFill>
                  <a:srgbClr val="A0AAB8"/>
                </a:solidFill>
                <a:latin typeface="Calibri"/>
                <a:ea typeface="Calibri"/>
                <a:cs typeface="Calibri"/>
                <a:sym typeface="Calibri"/>
              </a:rPr>
              <a:t>Active Web App Scan  ·  Analysis Agent</a:t>
            </a:r>
            <a:endParaRPr/>
          </a:p>
        </p:txBody>
      </p:sp>
      <p:sp>
        <p:nvSpPr>
          <p:cNvPr id="816" name="Google Shape;816;p37"/>
          <p:cNvSpPr txBox="1"/>
          <p:nvPr/>
        </p:nvSpPr>
        <p:spPr>
          <a:xfrm>
            <a:off x="4617720" y="5861304"/>
            <a:ext cx="3611880" cy="31089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a:solidFill>
                  <a:srgbClr val="A0AAB8"/>
                </a:solidFill>
                <a:latin typeface="Calibri"/>
                <a:ea typeface="Calibri"/>
                <a:cs typeface="Calibri"/>
                <a:sym typeface="Calibri"/>
              </a:rPr>
              <a:t>Crawls and actively tests for OWASP Top 10: XSS, CSRF, injection flaws, authentication weaknesses, and insecure direct object references.</a:t>
            </a:r>
            <a:endParaRPr/>
          </a:p>
        </p:txBody>
      </p:sp>
      <p:sp>
        <p:nvSpPr>
          <p:cNvPr id="817" name="Google Shape;817;p37"/>
          <p:cNvSpPr/>
          <p:nvPr/>
        </p:nvSpPr>
        <p:spPr>
          <a:xfrm>
            <a:off x="8412480" y="1417320"/>
            <a:ext cx="3566160" cy="1557528"/>
          </a:xfrm>
          <a:prstGeom prst="rect">
            <a:avLst/>
          </a:prstGeom>
          <a:solidFill>
            <a:srgbClr val="10162B"/>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8" name="Google Shape;818;p37"/>
          <p:cNvSpPr/>
          <p:nvPr/>
        </p:nvSpPr>
        <p:spPr>
          <a:xfrm>
            <a:off x="8412475" y="1417325"/>
            <a:ext cx="365700" cy="15576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9" name="Google Shape;819;p37"/>
          <p:cNvSpPr txBox="1"/>
          <p:nvPr/>
        </p:nvSpPr>
        <p:spPr>
          <a:xfrm>
            <a:off x="8430776" y="2031500"/>
            <a:ext cx="365700" cy="307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a:solidFill>
                  <a:srgbClr val="0A0D1A"/>
                </a:solidFill>
                <a:latin typeface="Calibri"/>
                <a:ea typeface="Calibri"/>
                <a:cs typeface="Calibri"/>
                <a:sym typeface="Calibri"/>
              </a:rPr>
              <a:t>9</a:t>
            </a:r>
            <a:endParaRPr/>
          </a:p>
        </p:txBody>
      </p:sp>
      <p:sp>
        <p:nvSpPr>
          <p:cNvPr id="820" name="Google Shape;820;p37"/>
          <p:cNvSpPr txBox="1"/>
          <p:nvPr/>
        </p:nvSpPr>
        <p:spPr>
          <a:xfrm>
            <a:off x="8869680" y="1472184"/>
            <a:ext cx="306324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a:solidFill>
                  <a:srgbClr val="FF4545"/>
                </a:solidFill>
                <a:latin typeface="Calibri"/>
                <a:ea typeface="Calibri"/>
                <a:cs typeface="Calibri"/>
                <a:sym typeface="Calibri"/>
              </a:rPr>
              <a:t>SQLMap</a:t>
            </a:r>
            <a:endParaRPr/>
          </a:p>
        </p:txBody>
      </p:sp>
      <p:sp>
        <p:nvSpPr>
          <p:cNvPr id="821" name="Google Shape;821;p37"/>
          <p:cNvSpPr txBox="1"/>
          <p:nvPr/>
        </p:nvSpPr>
        <p:spPr>
          <a:xfrm>
            <a:off x="8869680" y="1737360"/>
            <a:ext cx="3063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850">
                <a:solidFill>
                  <a:srgbClr val="A0AAB8"/>
                </a:solidFill>
                <a:latin typeface="Calibri"/>
                <a:ea typeface="Calibri"/>
                <a:cs typeface="Calibri"/>
                <a:sym typeface="Calibri"/>
              </a:rPr>
              <a:t>SQL Injection Validation  ·  Validation Agent</a:t>
            </a:r>
            <a:endParaRPr/>
          </a:p>
        </p:txBody>
      </p:sp>
      <p:sp>
        <p:nvSpPr>
          <p:cNvPr id="822" name="Google Shape;822;p37"/>
          <p:cNvSpPr txBox="1"/>
          <p:nvPr/>
        </p:nvSpPr>
        <p:spPr>
          <a:xfrm>
            <a:off x="8869680" y="1947672"/>
            <a:ext cx="3063240" cy="963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a:solidFill>
                  <a:srgbClr val="A0AAB8"/>
                </a:solidFill>
                <a:latin typeface="Calibri"/>
                <a:ea typeface="Calibri"/>
                <a:cs typeface="Calibri"/>
                <a:sym typeface="Calibri"/>
              </a:rPr>
              <a:t>Automated SQLi detection and exploitation. Confirms injection points, extracts database data, tests for OS-level access escalation.</a:t>
            </a:r>
            <a:endParaRPr/>
          </a:p>
        </p:txBody>
      </p:sp>
      <p:sp>
        <p:nvSpPr>
          <p:cNvPr id="823" name="Google Shape;823;p37"/>
          <p:cNvSpPr/>
          <p:nvPr/>
        </p:nvSpPr>
        <p:spPr>
          <a:xfrm>
            <a:off x="8412480" y="3048000"/>
            <a:ext cx="3566160" cy="1557528"/>
          </a:xfrm>
          <a:prstGeom prst="rect">
            <a:avLst/>
          </a:prstGeom>
          <a:solidFill>
            <a:srgbClr val="10162B"/>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4" name="Google Shape;824;p37"/>
          <p:cNvSpPr/>
          <p:nvPr/>
        </p:nvSpPr>
        <p:spPr>
          <a:xfrm>
            <a:off x="8412475" y="3048000"/>
            <a:ext cx="365700" cy="15576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5" name="Google Shape;825;p37"/>
          <p:cNvSpPr txBox="1"/>
          <p:nvPr/>
        </p:nvSpPr>
        <p:spPr>
          <a:xfrm>
            <a:off x="8430776" y="3662171"/>
            <a:ext cx="365700" cy="307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a:solidFill>
                  <a:srgbClr val="0A0D1A"/>
                </a:solidFill>
                <a:latin typeface="Calibri"/>
                <a:ea typeface="Calibri"/>
                <a:cs typeface="Calibri"/>
                <a:sym typeface="Calibri"/>
              </a:rPr>
              <a:t>10</a:t>
            </a:r>
            <a:endParaRPr/>
          </a:p>
        </p:txBody>
      </p:sp>
      <p:sp>
        <p:nvSpPr>
          <p:cNvPr id="826" name="Google Shape;826;p37"/>
          <p:cNvSpPr txBox="1"/>
          <p:nvPr/>
        </p:nvSpPr>
        <p:spPr>
          <a:xfrm>
            <a:off x="8869680" y="3102864"/>
            <a:ext cx="306324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a:solidFill>
                  <a:srgbClr val="FF4545"/>
                </a:solidFill>
                <a:latin typeface="Calibri"/>
                <a:ea typeface="Calibri"/>
                <a:cs typeface="Calibri"/>
                <a:sym typeface="Calibri"/>
              </a:rPr>
              <a:t>Metasploit</a:t>
            </a:r>
            <a:endParaRPr/>
          </a:p>
        </p:txBody>
      </p:sp>
      <p:sp>
        <p:nvSpPr>
          <p:cNvPr id="827" name="Google Shape;827;p37"/>
          <p:cNvSpPr txBox="1"/>
          <p:nvPr/>
        </p:nvSpPr>
        <p:spPr>
          <a:xfrm>
            <a:off x="8869680" y="3368040"/>
            <a:ext cx="3063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850">
                <a:solidFill>
                  <a:srgbClr val="A0AAB8"/>
                </a:solidFill>
                <a:latin typeface="Calibri"/>
                <a:ea typeface="Calibri"/>
                <a:cs typeface="Calibri"/>
                <a:sym typeface="Calibri"/>
              </a:rPr>
              <a:t>Exploit + RCE Demo  ·  Validation Agent</a:t>
            </a:r>
            <a:endParaRPr/>
          </a:p>
        </p:txBody>
      </p:sp>
      <p:sp>
        <p:nvSpPr>
          <p:cNvPr id="828" name="Google Shape;828;p37"/>
          <p:cNvSpPr txBox="1"/>
          <p:nvPr/>
        </p:nvSpPr>
        <p:spPr>
          <a:xfrm>
            <a:off x="8869680" y="3578352"/>
            <a:ext cx="3063240" cy="963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a:solidFill>
                  <a:srgbClr val="A0AAB8"/>
                </a:solidFill>
                <a:latin typeface="Calibri"/>
                <a:ea typeface="Calibri"/>
                <a:cs typeface="Calibri"/>
                <a:sym typeface="Calibri"/>
              </a:rPr>
              <a:t>Executes known exploits against identified vulnerabilities. Validates APG ChainSteps, demonstrates impact, achieves proof of exploitation.</a:t>
            </a:r>
            <a:endParaRPr/>
          </a:p>
        </p:txBody>
      </p:sp>
      <p:sp>
        <p:nvSpPr>
          <p:cNvPr id="829" name="Google Shape;829;p37"/>
          <p:cNvSpPr/>
          <p:nvPr/>
        </p:nvSpPr>
        <p:spPr>
          <a:xfrm>
            <a:off x="8412480" y="4678680"/>
            <a:ext cx="3566160" cy="1557528"/>
          </a:xfrm>
          <a:prstGeom prst="rect">
            <a:avLst/>
          </a:prstGeom>
          <a:solidFill>
            <a:srgbClr val="10162B"/>
          </a:solidFill>
          <a:ln cap="flat" cmpd="sng" w="12700">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0" name="Google Shape;830;p37"/>
          <p:cNvSpPr/>
          <p:nvPr/>
        </p:nvSpPr>
        <p:spPr>
          <a:xfrm>
            <a:off x="8412475" y="4678675"/>
            <a:ext cx="365700" cy="15576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1" name="Google Shape;831;p37"/>
          <p:cNvSpPr txBox="1"/>
          <p:nvPr/>
        </p:nvSpPr>
        <p:spPr>
          <a:xfrm>
            <a:off x="8430776" y="5292843"/>
            <a:ext cx="365700" cy="307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a:solidFill>
                  <a:srgbClr val="0A0D1A"/>
                </a:solidFill>
                <a:latin typeface="Calibri"/>
                <a:ea typeface="Calibri"/>
                <a:cs typeface="Calibri"/>
                <a:sym typeface="Calibri"/>
              </a:rPr>
              <a:t>11</a:t>
            </a:r>
            <a:endParaRPr/>
          </a:p>
        </p:txBody>
      </p:sp>
      <p:sp>
        <p:nvSpPr>
          <p:cNvPr id="832" name="Google Shape;832;p37"/>
          <p:cNvSpPr txBox="1"/>
          <p:nvPr/>
        </p:nvSpPr>
        <p:spPr>
          <a:xfrm>
            <a:off x="8869680" y="4733544"/>
            <a:ext cx="306324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a:solidFill>
                  <a:srgbClr val="BD93F9"/>
                </a:solidFill>
                <a:latin typeface="Calibri"/>
                <a:ea typeface="Calibri"/>
                <a:cs typeface="Calibri"/>
                <a:sym typeface="Calibri"/>
              </a:rPr>
              <a:t>EyeWitness</a:t>
            </a:r>
            <a:endParaRPr/>
          </a:p>
        </p:txBody>
      </p:sp>
      <p:sp>
        <p:nvSpPr>
          <p:cNvPr id="833" name="Google Shape;833;p37"/>
          <p:cNvSpPr txBox="1"/>
          <p:nvPr/>
        </p:nvSpPr>
        <p:spPr>
          <a:xfrm>
            <a:off x="8869680" y="4998720"/>
            <a:ext cx="3063240" cy="201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850">
                <a:solidFill>
                  <a:srgbClr val="A0AAB8"/>
                </a:solidFill>
                <a:latin typeface="Calibri"/>
                <a:ea typeface="Calibri"/>
                <a:cs typeface="Calibri"/>
                <a:sym typeface="Calibri"/>
              </a:rPr>
              <a:t>Screenshot Evidence  ·  Evidence Agent</a:t>
            </a:r>
            <a:endParaRPr/>
          </a:p>
        </p:txBody>
      </p:sp>
      <p:sp>
        <p:nvSpPr>
          <p:cNvPr id="834" name="Google Shape;834;p37"/>
          <p:cNvSpPr txBox="1"/>
          <p:nvPr/>
        </p:nvSpPr>
        <p:spPr>
          <a:xfrm>
            <a:off x="8869680" y="5209032"/>
            <a:ext cx="3063240" cy="9631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a:solidFill>
                  <a:srgbClr val="A0AAB8"/>
                </a:solidFill>
                <a:latin typeface="Calibri"/>
                <a:ea typeface="Calibri"/>
                <a:cs typeface="Calibri"/>
                <a:sym typeface="Calibri"/>
              </a:rPr>
              <a:t>Headless screenshot capture of web pages, exposed panels, and API responses. Produces visual proof artifacts linked to ASG Evidence nodes.</a:t>
            </a:r>
            <a:endParaRPr/>
          </a:p>
        </p:txBody>
      </p:sp>
      <p:sp>
        <p:nvSpPr>
          <p:cNvPr id="835" name="Google Shape;835;p37"/>
          <p:cNvSpPr/>
          <p:nvPr/>
        </p:nvSpPr>
        <p:spPr>
          <a:xfrm>
            <a:off x="274320" y="6291072"/>
            <a:ext cx="11643055" cy="438912"/>
          </a:xfrm>
          <a:prstGeom prst="rect">
            <a:avLst/>
          </a:prstGeom>
          <a:solidFill>
            <a:srgbClr val="0E0818"/>
          </a:solidFill>
          <a:ln cap="flat" cmpd="sng" w="12700">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6" name="Google Shape;836;p37"/>
          <p:cNvSpPr txBox="1"/>
          <p:nvPr/>
        </p:nvSpPr>
        <p:spPr>
          <a:xfrm>
            <a:off x="457200" y="6327648"/>
            <a:ext cx="11368735"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50">
                <a:solidFill>
                  <a:srgbClr val="BD93F9"/>
                </a:solidFill>
                <a:latin typeface="Calibri"/>
                <a:ea typeface="Calibri"/>
                <a:cs typeface="Calibri"/>
                <a:sym typeface="Calibri"/>
              </a:rPr>
              <a:t>🔒  Every tool is wrapped in a Tool Adapter — agents reason about targets, not command syntax.  No irreversible offensive operation executes without Commander-level scope validation.</a:t>
            </a:r>
            <a:endParaRPr/>
          </a:p>
        </p:txBody>
      </p:sp>
      <p:sp>
        <p:nvSpPr>
          <p:cNvPr id="837" name="Google Shape;837;p37"/>
          <p:cNvSpPr txBox="1"/>
          <p:nvPr/>
        </p:nvSpPr>
        <p:spPr>
          <a:xfrm>
            <a:off x="11804164" y="70395"/>
            <a:ext cx="363583" cy="292388"/>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1300">
                <a:solidFill>
                  <a:srgbClr val="FF4545"/>
                </a:solidFill>
                <a:latin typeface="Calibri"/>
                <a:ea typeface="Calibri"/>
                <a:cs typeface="Calibri"/>
                <a:sym typeface="Calibri"/>
              </a:rPr>
              <a:t>09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E"/>
        </a:solidFill>
      </p:bgPr>
    </p:bg>
    <p:spTree>
      <p:nvGrpSpPr>
        <p:cNvPr id="842" name="Shape 842"/>
        <p:cNvGrpSpPr/>
        <p:nvPr/>
      </p:nvGrpSpPr>
      <p:grpSpPr>
        <a:xfrm>
          <a:off x="0" y="0"/>
          <a:ext cx="0" cy="0"/>
          <a:chOff x="0" y="0"/>
          <a:chExt cx="0" cy="0"/>
        </a:xfrm>
      </p:grpSpPr>
      <p:sp>
        <p:nvSpPr>
          <p:cNvPr id="843" name="Google Shape;843;p38"/>
          <p:cNvSpPr/>
          <p:nvPr/>
        </p:nvSpPr>
        <p:spPr>
          <a:xfrm>
            <a:off x="365760" y="121920"/>
            <a:ext cx="6096000" cy="24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D4FF"/>
              </a:buClr>
              <a:buSzPts val="1100"/>
              <a:buFont typeface="Calibri"/>
              <a:buNone/>
            </a:pPr>
            <a:r>
              <a:rPr b="1" i="0" lang="en-US" sz="1100" u="none" cap="none" strike="noStrike">
                <a:solidFill>
                  <a:srgbClr val="00D4FF"/>
                </a:solidFill>
                <a:latin typeface="Calibri"/>
                <a:ea typeface="Calibri"/>
                <a:cs typeface="Calibri"/>
                <a:sym typeface="Calibri"/>
              </a:rPr>
              <a:t>TOOL ADAPTER LAYER</a:t>
            </a:r>
            <a:endParaRPr b="0" i="0" sz="1100" u="none" cap="none" strike="noStrike">
              <a:solidFill>
                <a:schemeClr val="dk1"/>
              </a:solidFill>
              <a:latin typeface="Calibri"/>
              <a:ea typeface="Calibri"/>
              <a:cs typeface="Calibri"/>
              <a:sym typeface="Calibri"/>
            </a:endParaRPr>
          </a:p>
        </p:txBody>
      </p:sp>
      <p:sp>
        <p:nvSpPr>
          <p:cNvPr id="844" name="Google Shape;844;p38"/>
          <p:cNvSpPr/>
          <p:nvPr/>
        </p:nvSpPr>
        <p:spPr>
          <a:xfrm>
            <a:off x="365760" y="341376"/>
            <a:ext cx="11460600" cy="438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300"/>
              <a:buFont typeface="Calibri"/>
              <a:buNone/>
            </a:pPr>
            <a:r>
              <a:rPr b="1" i="0" lang="en-US" sz="2300" u="none" cap="none" strike="noStrike">
                <a:solidFill>
                  <a:srgbClr val="FFFFFF"/>
                </a:solidFill>
                <a:latin typeface="Calibri"/>
                <a:ea typeface="Calibri"/>
                <a:cs typeface="Calibri"/>
                <a:sym typeface="Calibri"/>
              </a:rPr>
              <a:t>Tool Risk Gate — Every Tool Call's Journey</a:t>
            </a:r>
            <a:endParaRPr b="0" i="0" sz="2300" u="none" cap="none" strike="noStrike">
              <a:solidFill>
                <a:schemeClr val="dk1"/>
              </a:solidFill>
              <a:latin typeface="Calibri"/>
              <a:ea typeface="Calibri"/>
              <a:cs typeface="Calibri"/>
              <a:sym typeface="Calibri"/>
            </a:endParaRPr>
          </a:p>
        </p:txBody>
      </p:sp>
      <p:sp>
        <p:nvSpPr>
          <p:cNvPr id="845" name="Google Shape;845;p38"/>
          <p:cNvSpPr/>
          <p:nvPr/>
        </p:nvSpPr>
        <p:spPr>
          <a:xfrm>
            <a:off x="365760" y="755904"/>
            <a:ext cx="11460600" cy="24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No tool executes without passing this gate  ·  No irreversible operation runs without Commander-level scope validation</a:t>
            </a:r>
            <a:endParaRPr b="0" i="0" sz="1000" u="none" cap="none" strike="noStrike">
              <a:solidFill>
                <a:schemeClr val="dk1"/>
              </a:solidFill>
              <a:latin typeface="Calibri"/>
              <a:ea typeface="Calibri"/>
              <a:cs typeface="Calibri"/>
              <a:sym typeface="Calibri"/>
            </a:endParaRPr>
          </a:p>
        </p:txBody>
      </p:sp>
      <p:sp>
        <p:nvSpPr>
          <p:cNvPr id="846" name="Google Shape;846;p38"/>
          <p:cNvSpPr/>
          <p:nvPr/>
        </p:nvSpPr>
        <p:spPr>
          <a:xfrm>
            <a:off x="2820925" y="1069850"/>
            <a:ext cx="1581900" cy="390000"/>
          </a:xfrm>
          <a:prstGeom prst="roundRect">
            <a:avLst>
              <a:gd fmla="val 11364" name="adj"/>
            </a:avLst>
          </a:prstGeom>
          <a:solidFill>
            <a:srgbClr val="04162E"/>
          </a:solidFill>
          <a:ln cap="flat" cmpd="sng" w="12700">
            <a:solidFill>
              <a:srgbClr val="00D4FF"/>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7" name="Google Shape;847;p38"/>
          <p:cNvSpPr/>
          <p:nvPr/>
        </p:nvSpPr>
        <p:spPr>
          <a:xfrm>
            <a:off x="2820925" y="1069850"/>
            <a:ext cx="1581900" cy="390000"/>
          </a:xfrm>
          <a:prstGeom prst="rect">
            <a:avLst/>
          </a:prstGeom>
          <a:noFill/>
          <a:ln>
            <a:noFill/>
          </a:ln>
        </p:spPr>
        <p:txBody>
          <a:bodyPr anchorCtr="0" anchor="ctr" bIns="33875" lIns="33875" spcFirstLastPara="1" rIns="33875" wrap="square" tIns="33875">
            <a:noAutofit/>
          </a:bodyPr>
          <a:lstStyle/>
          <a:p>
            <a:pPr indent="0" lvl="0" marL="0" marR="0" rtl="0" algn="ctr">
              <a:lnSpc>
                <a:spcPct val="100000"/>
              </a:lnSpc>
              <a:spcBef>
                <a:spcPts val="0"/>
              </a:spcBef>
              <a:spcAft>
                <a:spcPts val="0"/>
              </a:spcAft>
              <a:buClr>
                <a:srgbClr val="00D4FF"/>
              </a:buClr>
              <a:buSzPts val="800"/>
              <a:buFont typeface="Calibri"/>
              <a:buNone/>
            </a:pPr>
            <a:r>
              <a:rPr b="1" i="0" lang="en-US" sz="800" u="none" cap="none" strike="noStrike">
                <a:solidFill>
                  <a:srgbClr val="00D4FF"/>
                </a:solidFill>
                <a:latin typeface="Calibri"/>
                <a:ea typeface="Calibri"/>
                <a:cs typeface="Calibri"/>
                <a:sym typeface="Calibri"/>
              </a:rPr>
              <a:t>🤖 Agent requests tool call</a:t>
            </a:r>
            <a:br>
              <a:rPr b="1" i="0" lang="en-US" sz="800" u="none" cap="none" strike="noStrike">
                <a:solidFill>
                  <a:srgbClr val="00D4FF"/>
                </a:solidFill>
                <a:latin typeface="Calibri"/>
                <a:ea typeface="Calibri"/>
                <a:cs typeface="Calibri"/>
                <a:sym typeface="Calibri"/>
              </a:rPr>
            </a:br>
            <a:r>
              <a:rPr b="0" i="0" lang="en-US" sz="700" u="none" cap="none" strike="noStrike">
                <a:solidFill>
                  <a:srgbClr val="9CA3AF"/>
                </a:solidFill>
                <a:latin typeface="Calibri"/>
                <a:ea typeface="Calibri"/>
                <a:cs typeface="Calibri"/>
                <a:sym typeface="Calibri"/>
              </a:rPr>
              <a:t>Tool: Gobuster · Target: shopvault.io</a:t>
            </a:r>
            <a:endParaRPr b="0" i="0" sz="800" u="none" cap="none" strike="noStrike">
              <a:solidFill>
                <a:schemeClr val="dk1"/>
              </a:solidFill>
              <a:latin typeface="Calibri"/>
              <a:ea typeface="Calibri"/>
              <a:cs typeface="Calibri"/>
              <a:sym typeface="Calibri"/>
            </a:endParaRPr>
          </a:p>
        </p:txBody>
      </p:sp>
      <p:cxnSp>
        <p:nvCxnSpPr>
          <p:cNvPr id="848" name="Google Shape;848;p38"/>
          <p:cNvCxnSpPr>
            <a:stCxn id="847" idx="2"/>
          </p:cNvCxnSpPr>
          <p:nvPr/>
        </p:nvCxnSpPr>
        <p:spPr>
          <a:xfrm>
            <a:off x="3611875" y="1459850"/>
            <a:ext cx="0" cy="163800"/>
          </a:xfrm>
          <a:prstGeom prst="straightConnector1">
            <a:avLst/>
          </a:prstGeom>
          <a:noFill/>
          <a:ln cap="flat" cmpd="sng" w="9525">
            <a:solidFill>
              <a:srgbClr val="444444"/>
            </a:solidFill>
            <a:prstDash val="solid"/>
            <a:round/>
            <a:headEnd len="sm" w="sm" type="none"/>
            <a:tailEnd len="med" w="med" type="triangle"/>
          </a:ln>
        </p:spPr>
      </p:cxnSp>
      <p:sp>
        <p:nvSpPr>
          <p:cNvPr id="849" name="Google Shape;849;p38"/>
          <p:cNvSpPr/>
          <p:nvPr/>
        </p:nvSpPr>
        <p:spPr>
          <a:xfrm>
            <a:off x="2820925" y="1623584"/>
            <a:ext cx="1581900" cy="466500"/>
          </a:xfrm>
          <a:prstGeom prst="roundRect">
            <a:avLst>
              <a:gd fmla="val 11364" name="adj"/>
            </a:avLst>
          </a:prstGeom>
          <a:solidFill>
            <a:srgbClr val="0C0820"/>
          </a:solidFill>
          <a:ln cap="flat" cmpd="sng" w="12700">
            <a:solidFill>
              <a:srgbClr val="9C27B0"/>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0" name="Google Shape;850;p38"/>
          <p:cNvSpPr/>
          <p:nvPr/>
        </p:nvSpPr>
        <p:spPr>
          <a:xfrm>
            <a:off x="2820925" y="1623584"/>
            <a:ext cx="1581900" cy="466500"/>
          </a:xfrm>
          <a:prstGeom prst="rect">
            <a:avLst/>
          </a:prstGeom>
          <a:noFill/>
          <a:ln>
            <a:noFill/>
          </a:ln>
        </p:spPr>
        <p:txBody>
          <a:bodyPr anchorCtr="0" anchor="ctr" bIns="33875" lIns="33875" spcFirstLastPara="1" rIns="33875" wrap="square" tIns="33875">
            <a:noAutofit/>
          </a:bodyPr>
          <a:lstStyle/>
          <a:p>
            <a:pPr indent="0" lvl="0" marL="0" marR="0" rtl="0" algn="ctr">
              <a:lnSpc>
                <a:spcPct val="100000"/>
              </a:lnSpc>
              <a:spcBef>
                <a:spcPts val="0"/>
              </a:spcBef>
              <a:spcAft>
                <a:spcPts val="0"/>
              </a:spcAft>
              <a:buClr>
                <a:srgbClr val="CE93D8"/>
              </a:buClr>
              <a:buSzPts val="800"/>
              <a:buFont typeface="Calibri"/>
              <a:buNone/>
            </a:pPr>
            <a:r>
              <a:rPr b="1" i="0" lang="en-US" sz="800" u="none" cap="none" strike="noStrike">
                <a:solidFill>
                  <a:srgbClr val="CE93D8"/>
                </a:solidFill>
                <a:latin typeface="Calibri"/>
                <a:ea typeface="Calibri"/>
                <a:cs typeface="Calibri"/>
                <a:sym typeface="Calibri"/>
              </a:rPr>
              <a:t>🪝 PreToolUse Hook fires</a:t>
            </a:r>
            <a:br>
              <a:rPr b="1" i="0" lang="en-US" sz="800" u="none" cap="none" strike="noStrike">
                <a:solidFill>
                  <a:srgbClr val="CE93D8"/>
                </a:solidFill>
                <a:latin typeface="Calibri"/>
                <a:ea typeface="Calibri"/>
                <a:cs typeface="Calibri"/>
                <a:sym typeface="Calibri"/>
              </a:rPr>
            </a:br>
            <a:r>
              <a:rPr b="0" i="0" lang="en-US" sz="700" u="none" cap="none" strike="noStrike">
                <a:solidFill>
                  <a:srgbClr val="9C27B0"/>
                </a:solidFill>
                <a:latin typeface="Calibri"/>
                <a:ea typeface="Calibri"/>
                <a:cs typeface="Calibri"/>
                <a:sym typeface="Calibri"/>
              </a:rPr>
              <a:t>CONTINUE / BLOCK / MODIFY</a:t>
            </a:r>
            <a:endParaRPr b="0" i="0" sz="800" u="none" cap="none" strike="noStrike">
              <a:solidFill>
                <a:schemeClr val="dk1"/>
              </a:solidFill>
              <a:latin typeface="Calibri"/>
              <a:ea typeface="Calibri"/>
              <a:cs typeface="Calibri"/>
              <a:sym typeface="Calibri"/>
            </a:endParaRPr>
          </a:p>
        </p:txBody>
      </p:sp>
      <p:cxnSp>
        <p:nvCxnSpPr>
          <p:cNvPr id="851" name="Google Shape;851;p38"/>
          <p:cNvCxnSpPr>
            <a:endCxn id="852" idx="0"/>
          </p:cNvCxnSpPr>
          <p:nvPr/>
        </p:nvCxnSpPr>
        <p:spPr>
          <a:xfrm>
            <a:off x="3611875" y="2090201"/>
            <a:ext cx="0" cy="155700"/>
          </a:xfrm>
          <a:prstGeom prst="straightConnector1">
            <a:avLst/>
          </a:prstGeom>
          <a:noFill/>
          <a:ln cap="flat" cmpd="sng" w="9525">
            <a:solidFill>
              <a:srgbClr val="444444"/>
            </a:solidFill>
            <a:prstDash val="solid"/>
            <a:round/>
            <a:headEnd len="sm" w="sm" type="none"/>
            <a:tailEnd len="med" w="med" type="triangle"/>
          </a:ln>
        </p:spPr>
      </p:cxnSp>
      <p:sp>
        <p:nvSpPr>
          <p:cNvPr id="853" name="Google Shape;853;p38"/>
          <p:cNvSpPr/>
          <p:nvPr/>
        </p:nvSpPr>
        <p:spPr>
          <a:xfrm>
            <a:off x="2820925" y="2245902"/>
            <a:ext cx="1581900" cy="390000"/>
          </a:xfrm>
          <a:prstGeom prst="roundRect">
            <a:avLst>
              <a:gd fmla="val 11364" name="adj"/>
            </a:avLst>
          </a:prstGeom>
          <a:solidFill>
            <a:srgbClr val="0A0C1E"/>
          </a:solidFill>
          <a:ln cap="flat" cmpd="sng" w="12700">
            <a:solidFill>
              <a:srgbClr val="555555"/>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2" name="Google Shape;852;p38"/>
          <p:cNvSpPr/>
          <p:nvPr/>
        </p:nvSpPr>
        <p:spPr>
          <a:xfrm>
            <a:off x="2820925" y="2245901"/>
            <a:ext cx="1581900" cy="390000"/>
          </a:xfrm>
          <a:prstGeom prst="rect">
            <a:avLst/>
          </a:prstGeom>
          <a:noFill/>
          <a:ln>
            <a:noFill/>
          </a:ln>
        </p:spPr>
        <p:txBody>
          <a:bodyPr anchorCtr="0" anchor="ctr" bIns="33875" lIns="33875" spcFirstLastPara="1" rIns="33875" wrap="square" tIns="33875">
            <a:noAutofit/>
          </a:bodyPr>
          <a:lstStyle/>
          <a:p>
            <a:pPr indent="0" lvl="0" marL="0" marR="0" rtl="0" algn="ctr">
              <a:lnSpc>
                <a:spcPct val="100000"/>
              </a:lnSpc>
              <a:spcBef>
                <a:spcPts val="0"/>
              </a:spcBef>
              <a:spcAft>
                <a:spcPts val="0"/>
              </a:spcAft>
              <a:buClr>
                <a:srgbClr val="888888"/>
              </a:buClr>
              <a:buSzPts val="800"/>
              <a:buFont typeface="Calibri"/>
              <a:buNone/>
            </a:pPr>
            <a:r>
              <a:rPr b="1" i="0" lang="en-US" sz="800" u="none" cap="none" strike="noStrike">
                <a:solidFill>
                  <a:srgbClr val="888888"/>
                </a:solidFill>
                <a:latin typeface="Calibri"/>
                <a:ea typeface="Calibri"/>
                <a:cs typeface="Calibri"/>
                <a:sym typeface="Calibri"/>
              </a:rPr>
              <a:t>🔍 Scope Check</a:t>
            </a:r>
            <a:br>
              <a:rPr b="1" i="0" lang="en-US" sz="800" u="none" cap="none" strike="noStrike">
                <a:solidFill>
                  <a:srgbClr val="888888"/>
                </a:solidFill>
                <a:latin typeface="Calibri"/>
                <a:ea typeface="Calibri"/>
                <a:cs typeface="Calibri"/>
                <a:sym typeface="Calibri"/>
              </a:rPr>
            </a:br>
            <a:r>
              <a:rPr b="0" i="0" lang="en-US" sz="700" u="none" cap="none" strike="noStrike">
                <a:solidFill>
                  <a:srgbClr val="666666"/>
                </a:solidFill>
                <a:latin typeface="Calibri"/>
                <a:ea typeface="Calibri"/>
                <a:cs typeface="Calibri"/>
                <a:sym typeface="Calibri"/>
              </a:rPr>
              <a:t>Target in scope? Tool authorized?</a:t>
            </a:r>
            <a:endParaRPr b="0" i="0" sz="800" u="none" cap="none" strike="noStrike">
              <a:solidFill>
                <a:schemeClr val="dk1"/>
              </a:solidFill>
              <a:latin typeface="Calibri"/>
              <a:ea typeface="Calibri"/>
              <a:cs typeface="Calibri"/>
              <a:sym typeface="Calibri"/>
            </a:endParaRPr>
          </a:p>
        </p:txBody>
      </p:sp>
      <p:cxnSp>
        <p:nvCxnSpPr>
          <p:cNvPr id="854" name="Google Shape;854;p38"/>
          <p:cNvCxnSpPr>
            <a:endCxn id="855" idx="0"/>
          </p:cNvCxnSpPr>
          <p:nvPr/>
        </p:nvCxnSpPr>
        <p:spPr>
          <a:xfrm>
            <a:off x="3611900" y="2636026"/>
            <a:ext cx="0" cy="156900"/>
          </a:xfrm>
          <a:prstGeom prst="straightConnector1">
            <a:avLst/>
          </a:prstGeom>
          <a:noFill/>
          <a:ln cap="flat" cmpd="sng" w="9525">
            <a:solidFill>
              <a:srgbClr val="444444"/>
            </a:solidFill>
            <a:prstDash val="solid"/>
            <a:round/>
            <a:headEnd len="sm" w="sm" type="none"/>
            <a:tailEnd len="med" w="med" type="triangle"/>
          </a:ln>
        </p:spPr>
      </p:cxnSp>
      <p:sp>
        <p:nvSpPr>
          <p:cNvPr id="856" name="Google Shape;856;p38"/>
          <p:cNvSpPr/>
          <p:nvPr/>
        </p:nvSpPr>
        <p:spPr>
          <a:xfrm>
            <a:off x="2880350" y="2792926"/>
            <a:ext cx="1463100" cy="341400"/>
          </a:xfrm>
          <a:prstGeom prst="rect">
            <a:avLst/>
          </a:prstGeom>
          <a:solidFill>
            <a:srgbClr val="0A0F1E"/>
          </a:solidFill>
          <a:ln cap="flat" cmpd="sng" w="12700">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5" name="Google Shape;855;p38"/>
          <p:cNvSpPr/>
          <p:nvPr/>
        </p:nvSpPr>
        <p:spPr>
          <a:xfrm>
            <a:off x="2880350" y="2792926"/>
            <a:ext cx="1463100" cy="341400"/>
          </a:xfrm>
          <a:prstGeom prst="rect">
            <a:avLst/>
          </a:prstGeom>
          <a:noFill/>
          <a:ln>
            <a:noFill/>
          </a:ln>
        </p:spPr>
        <p:txBody>
          <a:bodyPr anchorCtr="0" anchor="ctr" bIns="33875" lIns="33875" spcFirstLastPara="1" rIns="33875" wrap="square" tIns="33875">
            <a:noAutofit/>
          </a:bodyPr>
          <a:lstStyle/>
          <a:p>
            <a:pPr indent="0" lvl="0" marL="0" marR="0" rtl="0" algn="ctr">
              <a:lnSpc>
                <a:spcPct val="100000"/>
              </a:lnSpc>
              <a:spcBef>
                <a:spcPts val="0"/>
              </a:spcBef>
              <a:spcAft>
                <a:spcPts val="0"/>
              </a:spcAft>
              <a:buClr>
                <a:srgbClr val="FFC107"/>
              </a:buClr>
              <a:buSzPts val="800"/>
              <a:buFont typeface="Calibri"/>
              <a:buNone/>
            </a:pPr>
            <a:r>
              <a:rPr b="1" i="0" lang="en-US" sz="800" u="none" cap="none" strike="noStrike">
                <a:solidFill>
                  <a:srgbClr val="FFC107"/>
                </a:solidFill>
                <a:latin typeface="Calibri"/>
                <a:ea typeface="Calibri"/>
                <a:cs typeface="Calibri"/>
                <a:sym typeface="Calibri"/>
              </a:rPr>
              <a:t>🎯 Risk Classification</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C107"/>
              </a:buClr>
              <a:buSzPts val="800"/>
              <a:buFont typeface="Calibri"/>
              <a:buNone/>
            </a:pPr>
            <a:r>
              <a:rPr b="1" i="0" lang="en-US" sz="800" u="none" cap="none" strike="noStrike">
                <a:solidFill>
                  <a:srgbClr val="FFC107"/>
                </a:solidFill>
                <a:latin typeface="Calibri"/>
                <a:ea typeface="Calibri"/>
                <a:cs typeface="Calibri"/>
                <a:sym typeface="Calibri"/>
              </a:rPr>
              <a:t>LOW · MED · HIGH</a:t>
            </a:r>
            <a:endParaRPr b="0" i="0" sz="800" u="none" cap="none" strike="noStrike">
              <a:solidFill>
                <a:schemeClr val="dk1"/>
              </a:solidFill>
              <a:latin typeface="Calibri"/>
              <a:ea typeface="Calibri"/>
              <a:cs typeface="Calibri"/>
              <a:sym typeface="Calibri"/>
            </a:endParaRPr>
          </a:p>
        </p:txBody>
      </p:sp>
      <p:cxnSp>
        <p:nvCxnSpPr>
          <p:cNvPr id="857" name="Google Shape;857;p38"/>
          <p:cNvCxnSpPr>
            <a:stCxn id="855" idx="1"/>
            <a:endCxn id="858" idx="0"/>
          </p:cNvCxnSpPr>
          <p:nvPr/>
        </p:nvCxnSpPr>
        <p:spPr>
          <a:xfrm flipH="1">
            <a:off x="1239050" y="2963626"/>
            <a:ext cx="1641300" cy="406800"/>
          </a:xfrm>
          <a:prstGeom prst="straightConnector1">
            <a:avLst/>
          </a:prstGeom>
          <a:noFill/>
          <a:ln cap="flat" cmpd="sng" w="9525">
            <a:solidFill>
              <a:srgbClr val="7FFF00"/>
            </a:solidFill>
            <a:prstDash val="solid"/>
            <a:round/>
            <a:headEnd len="sm" w="sm" type="none"/>
            <a:tailEnd len="med" w="med" type="triangle"/>
          </a:ln>
        </p:spPr>
      </p:cxnSp>
      <p:sp>
        <p:nvSpPr>
          <p:cNvPr id="859" name="Google Shape;859;p38"/>
          <p:cNvSpPr/>
          <p:nvPr/>
        </p:nvSpPr>
        <p:spPr>
          <a:xfrm>
            <a:off x="844294" y="3103710"/>
            <a:ext cx="685800" cy="173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FFF00"/>
              </a:buClr>
              <a:buSzPts val="700"/>
              <a:buFont typeface="Calibri"/>
              <a:buNone/>
            </a:pPr>
            <a:r>
              <a:rPr b="0" i="0" lang="en-US" sz="700" u="none" cap="none" strike="noStrike">
                <a:solidFill>
                  <a:srgbClr val="7FFF00"/>
                </a:solidFill>
                <a:latin typeface="Calibri"/>
                <a:ea typeface="Calibri"/>
                <a:cs typeface="Calibri"/>
                <a:sym typeface="Calibri"/>
              </a:rPr>
              <a:t>LOW</a:t>
            </a:r>
            <a:endParaRPr b="0" i="0" sz="700" u="none" cap="none" strike="noStrike">
              <a:solidFill>
                <a:schemeClr val="dk1"/>
              </a:solidFill>
              <a:latin typeface="Calibri"/>
              <a:ea typeface="Calibri"/>
              <a:cs typeface="Calibri"/>
              <a:sym typeface="Calibri"/>
            </a:endParaRPr>
          </a:p>
        </p:txBody>
      </p:sp>
      <p:cxnSp>
        <p:nvCxnSpPr>
          <p:cNvPr id="860" name="Google Shape;860;p38"/>
          <p:cNvCxnSpPr>
            <a:stCxn id="855" idx="2"/>
          </p:cNvCxnSpPr>
          <p:nvPr/>
        </p:nvCxnSpPr>
        <p:spPr>
          <a:xfrm>
            <a:off x="3611900" y="3134326"/>
            <a:ext cx="7800" cy="260400"/>
          </a:xfrm>
          <a:prstGeom prst="straightConnector1">
            <a:avLst/>
          </a:prstGeom>
          <a:noFill/>
          <a:ln cap="flat" cmpd="sng" w="9525">
            <a:solidFill>
              <a:srgbClr val="FFC107"/>
            </a:solidFill>
            <a:prstDash val="solid"/>
            <a:round/>
            <a:headEnd len="sm" w="sm" type="none"/>
            <a:tailEnd len="med" w="med" type="triangle"/>
          </a:ln>
        </p:spPr>
      </p:cxnSp>
      <p:sp>
        <p:nvSpPr>
          <p:cNvPr id="861" name="Google Shape;861;p38"/>
          <p:cNvSpPr/>
          <p:nvPr/>
        </p:nvSpPr>
        <p:spPr>
          <a:xfrm>
            <a:off x="3703325" y="3196487"/>
            <a:ext cx="685800" cy="150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C107"/>
              </a:buClr>
              <a:buSzPts val="700"/>
              <a:buFont typeface="Calibri"/>
              <a:buNone/>
            </a:pPr>
            <a:r>
              <a:rPr b="0" i="0" lang="en-US" sz="700" u="none" cap="none" strike="noStrike">
                <a:solidFill>
                  <a:srgbClr val="FFC107"/>
                </a:solidFill>
                <a:latin typeface="Calibri"/>
                <a:ea typeface="Calibri"/>
                <a:cs typeface="Calibri"/>
                <a:sym typeface="Calibri"/>
              </a:rPr>
              <a:t>MED</a:t>
            </a:r>
            <a:endParaRPr b="0" i="0" sz="700" u="none" cap="none" strike="noStrike">
              <a:solidFill>
                <a:schemeClr val="dk1"/>
              </a:solidFill>
              <a:latin typeface="Calibri"/>
              <a:ea typeface="Calibri"/>
              <a:cs typeface="Calibri"/>
              <a:sym typeface="Calibri"/>
            </a:endParaRPr>
          </a:p>
        </p:txBody>
      </p:sp>
      <p:cxnSp>
        <p:nvCxnSpPr>
          <p:cNvPr id="862" name="Google Shape;862;p38"/>
          <p:cNvCxnSpPr>
            <a:stCxn id="855" idx="3"/>
            <a:endCxn id="863" idx="0"/>
          </p:cNvCxnSpPr>
          <p:nvPr/>
        </p:nvCxnSpPr>
        <p:spPr>
          <a:xfrm>
            <a:off x="4343450" y="2963626"/>
            <a:ext cx="1699200" cy="445200"/>
          </a:xfrm>
          <a:prstGeom prst="straightConnector1">
            <a:avLst/>
          </a:prstGeom>
          <a:noFill/>
          <a:ln cap="flat" cmpd="sng" w="9525">
            <a:solidFill>
              <a:srgbClr val="FF5252"/>
            </a:solidFill>
            <a:prstDash val="solid"/>
            <a:round/>
            <a:headEnd len="sm" w="sm" type="none"/>
            <a:tailEnd len="med" w="med" type="triangle"/>
          </a:ln>
        </p:spPr>
      </p:cxnSp>
      <p:sp>
        <p:nvSpPr>
          <p:cNvPr id="864" name="Google Shape;864;p38"/>
          <p:cNvSpPr/>
          <p:nvPr/>
        </p:nvSpPr>
        <p:spPr>
          <a:xfrm>
            <a:off x="4983475" y="2968235"/>
            <a:ext cx="685800" cy="173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5252"/>
              </a:buClr>
              <a:buSzPts val="700"/>
              <a:buFont typeface="Calibri"/>
              <a:buNone/>
            </a:pPr>
            <a:r>
              <a:rPr b="0" i="0" lang="en-US" sz="700" u="none" cap="none" strike="noStrike">
                <a:solidFill>
                  <a:srgbClr val="FF5252"/>
                </a:solidFill>
                <a:latin typeface="Calibri"/>
                <a:ea typeface="Calibri"/>
                <a:cs typeface="Calibri"/>
                <a:sym typeface="Calibri"/>
              </a:rPr>
              <a:t>HIGH</a:t>
            </a:r>
            <a:endParaRPr b="0" i="0" sz="700" u="none" cap="none" strike="noStrike">
              <a:solidFill>
                <a:schemeClr val="dk1"/>
              </a:solidFill>
              <a:latin typeface="Calibri"/>
              <a:ea typeface="Calibri"/>
              <a:cs typeface="Calibri"/>
              <a:sym typeface="Calibri"/>
            </a:endParaRPr>
          </a:p>
        </p:txBody>
      </p:sp>
      <p:sp>
        <p:nvSpPr>
          <p:cNvPr id="865" name="Google Shape;865;p38"/>
          <p:cNvSpPr/>
          <p:nvPr/>
        </p:nvSpPr>
        <p:spPr>
          <a:xfrm>
            <a:off x="448078" y="3370528"/>
            <a:ext cx="1581900" cy="539400"/>
          </a:xfrm>
          <a:prstGeom prst="roundRect">
            <a:avLst>
              <a:gd fmla="val 11364" name="adj"/>
            </a:avLst>
          </a:prstGeom>
          <a:solidFill>
            <a:srgbClr val="041A08"/>
          </a:solidFill>
          <a:ln cap="flat" cmpd="sng" w="12700">
            <a:solidFill>
              <a:srgbClr val="7FFF00"/>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8" name="Google Shape;858;p38"/>
          <p:cNvSpPr/>
          <p:nvPr/>
        </p:nvSpPr>
        <p:spPr>
          <a:xfrm>
            <a:off x="448078" y="3370528"/>
            <a:ext cx="1581900" cy="539400"/>
          </a:xfrm>
          <a:prstGeom prst="rect">
            <a:avLst/>
          </a:prstGeom>
          <a:noFill/>
          <a:ln>
            <a:noFill/>
          </a:ln>
        </p:spPr>
        <p:txBody>
          <a:bodyPr anchorCtr="0" anchor="ctr" bIns="33875" lIns="33875" spcFirstLastPara="1" rIns="33875" wrap="square" tIns="33875">
            <a:noAutofit/>
          </a:bodyPr>
          <a:lstStyle/>
          <a:p>
            <a:pPr indent="0" lvl="0" marL="0" marR="0" rtl="0" algn="ctr">
              <a:lnSpc>
                <a:spcPct val="100000"/>
              </a:lnSpc>
              <a:spcBef>
                <a:spcPts val="0"/>
              </a:spcBef>
              <a:spcAft>
                <a:spcPts val="0"/>
              </a:spcAft>
              <a:buClr>
                <a:srgbClr val="7FFF00"/>
              </a:buClr>
              <a:buSzPts val="800"/>
              <a:buFont typeface="Calibri"/>
              <a:buNone/>
            </a:pPr>
            <a:r>
              <a:rPr b="1" i="0" lang="en-US" sz="800" u="none" cap="none" strike="noStrike">
                <a:solidFill>
                  <a:srgbClr val="7FFF00"/>
                </a:solidFill>
                <a:latin typeface="Calibri"/>
                <a:ea typeface="Calibri"/>
                <a:cs typeface="Calibri"/>
                <a:sym typeface="Calibri"/>
              </a:rPr>
              <a:t>✅ Execute immediately</a:t>
            </a:r>
            <a:br>
              <a:rPr b="1" i="0" lang="en-US" sz="800" u="none" cap="none" strike="noStrike">
                <a:solidFill>
                  <a:srgbClr val="7FFF00"/>
                </a:solidFill>
                <a:latin typeface="Calibri"/>
                <a:ea typeface="Calibri"/>
                <a:cs typeface="Calibri"/>
                <a:sym typeface="Calibri"/>
              </a:rPr>
            </a:br>
            <a:r>
              <a:rPr b="0" i="0" lang="en-US" sz="700" u="none" cap="none" strike="noStrike">
                <a:solidFill>
                  <a:srgbClr val="7FFF00"/>
                </a:solidFill>
                <a:latin typeface="Calibri"/>
                <a:ea typeface="Calibri"/>
                <a:cs typeface="Calibri"/>
                <a:sym typeface="Calibri"/>
              </a:rPr>
              <a:t>Scope check only</a:t>
            </a:r>
            <a:endParaRPr b="0" i="0" sz="800" u="none" cap="none" strike="noStrike">
              <a:solidFill>
                <a:schemeClr val="dk1"/>
              </a:solidFill>
              <a:latin typeface="Calibri"/>
              <a:ea typeface="Calibri"/>
              <a:cs typeface="Calibri"/>
              <a:sym typeface="Calibri"/>
            </a:endParaRPr>
          </a:p>
        </p:txBody>
      </p:sp>
      <p:cxnSp>
        <p:nvCxnSpPr>
          <p:cNvPr id="866" name="Google Shape;866;p38"/>
          <p:cNvCxnSpPr>
            <a:endCxn id="867" idx="1"/>
          </p:cNvCxnSpPr>
          <p:nvPr/>
        </p:nvCxnSpPr>
        <p:spPr>
          <a:xfrm>
            <a:off x="1238900" y="3909924"/>
            <a:ext cx="1422000" cy="1325100"/>
          </a:xfrm>
          <a:prstGeom prst="straightConnector1">
            <a:avLst/>
          </a:prstGeom>
          <a:noFill/>
          <a:ln cap="flat" cmpd="sng" w="9525">
            <a:solidFill>
              <a:srgbClr val="7FFF00"/>
            </a:solidFill>
            <a:prstDash val="solid"/>
            <a:round/>
            <a:headEnd len="sm" w="sm" type="none"/>
            <a:tailEnd len="med" w="med" type="triangle"/>
          </a:ln>
        </p:spPr>
      </p:cxnSp>
      <p:sp>
        <p:nvSpPr>
          <p:cNvPr id="868" name="Google Shape;868;p38"/>
          <p:cNvSpPr/>
          <p:nvPr/>
        </p:nvSpPr>
        <p:spPr>
          <a:xfrm>
            <a:off x="2828562" y="3408953"/>
            <a:ext cx="1581900" cy="539400"/>
          </a:xfrm>
          <a:prstGeom prst="roundRect">
            <a:avLst>
              <a:gd fmla="val 11364" name="adj"/>
            </a:avLst>
          </a:prstGeom>
          <a:solidFill>
            <a:srgbClr val="04162E"/>
          </a:solidFill>
          <a:ln cap="flat" cmpd="sng" w="12700">
            <a:solidFill>
              <a:srgbClr val="00D4FF"/>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9" name="Google Shape;869;p38"/>
          <p:cNvSpPr/>
          <p:nvPr/>
        </p:nvSpPr>
        <p:spPr>
          <a:xfrm>
            <a:off x="2828562" y="3408953"/>
            <a:ext cx="1581900" cy="539400"/>
          </a:xfrm>
          <a:prstGeom prst="rect">
            <a:avLst/>
          </a:prstGeom>
          <a:noFill/>
          <a:ln>
            <a:noFill/>
          </a:ln>
        </p:spPr>
        <p:txBody>
          <a:bodyPr anchorCtr="0" anchor="ctr" bIns="33875" lIns="33875" spcFirstLastPara="1" rIns="33875" wrap="square" tIns="33875">
            <a:noAutofit/>
          </a:bodyPr>
          <a:lstStyle/>
          <a:p>
            <a:pPr indent="0" lvl="0" marL="0" marR="0" rtl="0" algn="ctr">
              <a:lnSpc>
                <a:spcPct val="100000"/>
              </a:lnSpc>
              <a:spcBef>
                <a:spcPts val="0"/>
              </a:spcBef>
              <a:spcAft>
                <a:spcPts val="0"/>
              </a:spcAft>
              <a:buClr>
                <a:srgbClr val="00D4FF"/>
              </a:buClr>
              <a:buSzPts val="800"/>
              <a:buFont typeface="Calibri"/>
              <a:buNone/>
            </a:pPr>
            <a:r>
              <a:rPr b="1" i="0" lang="en-US" sz="800" u="none" cap="none" strike="noStrike">
                <a:solidFill>
                  <a:srgbClr val="00D4FF"/>
                </a:solidFill>
                <a:latin typeface="Calibri"/>
                <a:ea typeface="Calibri"/>
                <a:cs typeface="Calibri"/>
                <a:sym typeface="Calibri"/>
              </a:rPr>
              <a:t>🧠 LLM Classifier</a:t>
            </a:r>
            <a:br>
              <a:rPr b="1" i="0" lang="en-US" sz="800" u="none" cap="none" strike="noStrike">
                <a:solidFill>
                  <a:srgbClr val="00D4FF"/>
                </a:solidFill>
                <a:latin typeface="Calibri"/>
                <a:ea typeface="Calibri"/>
                <a:cs typeface="Calibri"/>
                <a:sym typeface="Calibri"/>
              </a:rPr>
            </a:br>
            <a:r>
              <a:rPr b="0" i="0" lang="en-US" sz="700" u="none" cap="none" strike="noStrike">
                <a:solidFill>
                  <a:srgbClr val="00D4FF"/>
                </a:solidFill>
                <a:latin typeface="Calibri"/>
                <a:ea typeface="Calibri"/>
                <a:cs typeface="Calibri"/>
                <a:sym typeface="Calibri"/>
              </a:rPr>
              <a:t>Fast filter → CoT pass</a:t>
            </a:r>
            <a:endParaRPr b="0" i="0" sz="800" u="none" cap="none" strike="noStrike">
              <a:solidFill>
                <a:schemeClr val="dk1"/>
              </a:solidFill>
              <a:latin typeface="Calibri"/>
              <a:ea typeface="Calibri"/>
              <a:cs typeface="Calibri"/>
              <a:sym typeface="Calibri"/>
            </a:endParaRPr>
          </a:p>
        </p:txBody>
      </p:sp>
      <p:sp>
        <p:nvSpPr>
          <p:cNvPr id="870" name="Google Shape;870;p38"/>
          <p:cNvSpPr/>
          <p:nvPr/>
        </p:nvSpPr>
        <p:spPr>
          <a:xfrm>
            <a:off x="2263069" y="3995009"/>
            <a:ext cx="777300" cy="173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FFF00"/>
              </a:buClr>
              <a:buSzPts val="700"/>
              <a:buFont typeface="Calibri"/>
              <a:buNone/>
            </a:pPr>
            <a:r>
              <a:rPr b="0" i="0" lang="en-US" sz="700" u="none" cap="none" strike="noStrike">
                <a:solidFill>
                  <a:srgbClr val="7FFF00"/>
                </a:solidFill>
                <a:latin typeface="Calibri"/>
                <a:ea typeface="Calibri"/>
                <a:cs typeface="Calibri"/>
                <a:sym typeface="Calibri"/>
              </a:rPr>
              <a:t>EXECUTE</a:t>
            </a:r>
            <a:endParaRPr b="0" i="0" sz="700" u="none" cap="none" strike="noStrike">
              <a:solidFill>
                <a:schemeClr val="dk1"/>
              </a:solidFill>
              <a:latin typeface="Calibri"/>
              <a:ea typeface="Calibri"/>
              <a:cs typeface="Calibri"/>
              <a:sym typeface="Calibri"/>
            </a:endParaRPr>
          </a:p>
        </p:txBody>
      </p:sp>
      <p:sp>
        <p:nvSpPr>
          <p:cNvPr id="871" name="Google Shape;871;p38"/>
          <p:cNvSpPr/>
          <p:nvPr/>
        </p:nvSpPr>
        <p:spPr>
          <a:xfrm>
            <a:off x="4030183" y="3995009"/>
            <a:ext cx="777300" cy="173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C107"/>
              </a:buClr>
              <a:buSzPts val="700"/>
              <a:buFont typeface="Calibri"/>
              <a:buNone/>
            </a:pPr>
            <a:r>
              <a:rPr b="0" i="0" lang="en-US" sz="700" u="none" cap="none" strike="noStrike">
                <a:solidFill>
                  <a:srgbClr val="FFC107"/>
                </a:solidFill>
                <a:latin typeface="Calibri"/>
                <a:ea typeface="Calibri"/>
                <a:cs typeface="Calibri"/>
                <a:sym typeface="Calibri"/>
              </a:rPr>
              <a:t>ESCALATE</a:t>
            </a:r>
            <a:endParaRPr b="0" i="0" sz="700" u="none" cap="none" strike="noStrike">
              <a:solidFill>
                <a:schemeClr val="dk1"/>
              </a:solidFill>
              <a:latin typeface="Calibri"/>
              <a:ea typeface="Calibri"/>
              <a:cs typeface="Calibri"/>
              <a:sym typeface="Calibri"/>
            </a:endParaRPr>
          </a:p>
        </p:txBody>
      </p:sp>
      <p:sp>
        <p:nvSpPr>
          <p:cNvPr id="872" name="Google Shape;872;p38"/>
          <p:cNvSpPr/>
          <p:nvPr/>
        </p:nvSpPr>
        <p:spPr>
          <a:xfrm>
            <a:off x="2491740" y="4215384"/>
            <a:ext cx="1097280" cy="539496"/>
          </a:xfrm>
          <a:prstGeom prst="roundRect">
            <a:avLst>
              <a:gd fmla="val 11364" name="adj"/>
            </a:avLst>
          </a:prstGeom>
          <a:solidFill>
            <a:srgbClr val="041A08"/>
          </a:solidFill>
          <a:ln cap="flat" cmpd="sng" w="12700">
            <a:solidFill>
              <a:srgbClr val="7FFF00"/>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3" name="Google Shape;873;p38"/>
          <p:cNvSpPr/>
          <p:nvPr/>
        </p:nvSpPr>
        <p:spPr>
          <a:xfrm>
            <a:off x="2491740" y="4215384"/>
            <a:ext cx="1097280" cy="539496"/>
          </a:xfrm>
          <a:prstGeom prst="rect">
            <a:avLst/>
          </a:prstGeom>
          <a:noFill/>
          <a:ln>
            <a:noFill/>
          </a:ln>
        </p:spPr>
        <p:txBody>
          <a:bodyPr anchorCtr="0" anchor="ctr" bIns="33875" lIns="33875" spcFirstLastPara="1" rIns="33875" wrap="square" tIns="33875">
            <a:noAutofit/>
          </a:bodyPr>
          <a:lstStyle/>
          <a:p>
            <a:pPr indent="0" lvl="0" marL="0" marR="0" rtl="0" algn="ctr">
              <a:lnSpc>
                <a:spcPct val="100000"/>
              </a:lnSpc>
              <a:spcBef>
                <a:spcPts val="0"/>
              </a:spcBef>
              <a:spcAft>
                <a:spcPts val="0"/>
              </a:spcAft>
              <a:buClr>
                <a:srgbClr val="7FFF00"/>
              </a:buClr>
              <a:buSzPts val="800"/>
              <a:buFont typeface="Calibri"/>
              <a:buNone/>
            </a:pPr>
            <a:r>
              <a:rPr b="0" i="0" lang="en-US" sz="800" u="none" cap="none" strike="noStrike">
                <a:solidFill>
                  <a:srgbClr val="7FFF00"/>
                </a:solidFill>
                <a:latin typeface="Calibri"/>
                <a:ea typeface="Calibri"/>
                <a:cs typeface="Calibri"/>
                <a:sym typeface="Calibri"/>
              </a:rPr>
              <a:t>✅ Proceed to</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Calibri"/>
              <a:buNone/>
            </a:pPr>
            <a:r>
              <a:rPr b="0" i="0" lang="en-US" sz="800" u="none" cap="none" strike="noStrike">
                <a:solidFill>
                  <a:srgbClr val="7FFF00"/>
                </a:solidFill>
                <a:latin typeface="Calibri"/>
                <a:ea typeface="Calibri"/>
                <a:cs typeface="Calibri"/>
                <a:sym typeface="Calibri"/>
              </a:rPr>
              <a:t>Tool Adapter</a:t>
            </a:r>
            <a:endParaRPr b="0" i="0" sz="800" u="none" cap="none" strike="noStrike">
              <a:solidFill>
                <a:schemeClr val="dk1"/>
              </a:solidFill>
              <a:latin typeface="Calibri"/>
              <a:ea typeface="Calibri"/>
              <a:cs typeface="Calibri"/>
              <a:sym typeface="Calibri"/>
            </a:endParaRPr>
          </a:p>
        </p:txBody>
      </p:sp>
      <p:cxnSp>
        <p:nvCxnSpPr>
          <p:cNvPr id="874" name="Google Shape;874;p38"/>
          <p:cNvCxnSpPr/>
          <p:nvPr/>
        </p:nvCxnSpPr>
        <p:spPr>
          <a:xfrm>
            <a:off x="3040380" y="4754880"/>
            <a:ext cx="0" cy="246888"/>
          </a:xfrm>
          <a:prstGeom prst="straightConnector1">
            <a:avLst/>
          </a:prstGeom>
          <a:noFill/>
          <a:ln cap="flat" cmpd="sng" w="9525">
            <a:solidFill>
              <a:srgbClr val="7FFF00"/>
            </a:solidFill>
            <a:prstDash val="solid"/>
            <a:round/>
            <a:headEnd len="sm" w="sm" type="none"/>
            <a:tailEnd len="med" w="med" type="triangle"/>
          </a:ln>
        </p:spPr>
      </p:cxnSp>
      <p:sp>
        <p:nvSpPr>
          <p:cNvPr id="875" name="Google Shape;875;p38"/>
          <p:cNvSpPr/>
          <p:nvPr/>
        </p:nvSpPr>
        <p:spPr>
          <a:xfrm>
            <a:off x="3634749" y="4215375"/>
            <a:ext cx="1046700" cy="539400"/>
          </a:xfrm>
          <a:prstGeom prst="roundRect">
            <a:avLst>
              <a:gd fmla="val 11364" name="adj"/>
            </a:avLst>
          </a:prstGeom>
          <a:solidFill>
            <a:srgbClr val="1A1002"/>
          </a:solidFill>
          <a:ln cap="flat" cmpd="sng" w="12700">
            <a:solidFill>
              <a:srgbClr val="FFC107"/>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6" name="Google Shape;876;p38"/>
          <p:cNvSpPr/>
          <p:nvPr/>
        </p:nvSpPr>
        <p:spPr>
          <a:xfrm>
            <a:off x="3634750" y="4215375"/>
            <a:ext cx="983100" cy="539400"/>
          </a:xfrm>
          <a:prstGeom prst="rect">
            <a:avLst/>
          </a:prstGeom>
          <a:noFill/>
          <a:ln>
            <a:noFill/>
          </a:ln>
        </p:spPr>
        <p:txBody>
          <a:bodyPr anchorCtr="0" anchor="ctr" bIns="33875" lIns="33875" spcFirstLastPara="1" rIns="33875" wrap="square" tIns="33875">
            <a:noAutofit/>
          </a:bodyPr>
          <a:lstStyle/>
          <a:p>
            <a:pPr indent="0" lvl="0" marL="0" marR="0" rtl="0" algn="ctr">
              <a:lnSpc>
                <a:spcPct val="100000"/>
              </a:lnSpc>
              <a:spcBef>
                <a:spcPts val="0"/>
              </a:spcBef>
              <a:spcAft>
                <a:spcPts val="0"/>
              </a:spcAft>
              <a:buClr>
                <a:srgbClr val="FFC107"/>
              </a:buClr>
              <a:buSzPts val="800"/>
              <a:buFont typeface="Calibri"/>
              <a:buNone/>
            </a:pPr>
            <a:r>
              <a:rPr b="0" i="0" lang="en-US" sz="800" u="none" cap="none" strike="noStrike">
                <a:solidFill>
                  <a:srgbClr val="FFC107"/>
                </a:solidFill>
                <a:latin typeface="Calibri"/>
                <a:ea typeface="Calibri"/>
                <a:cs typeface="Calibri"/>
                <a:sym typeface="Calibri"/>
              </a:rPr>
              <a:t>⬆️ Route to</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C107"/>
              </a:buClr>
              <a:buSzPts val="800"/>
              <a:buFont typeface="Calibri"/>
              <a:buNone/>
            </a:pPr>
            <a:r>
              <a:rPr b="0" i="0" lang="en-US" sz="800" u="none" cap="none" strike="noStrike">
                <a:solidFill>
                  <a:srgbClr val="FFC107"/>
                </a:solidFill>
                <a:latin typeface="Calibri"/>
                <a:ea typeface="Calibri"/>
                <a:cs typeface="Calibri"/>
                <a:sym typeface="Calibri"/>
              </a:rPr>
              <a:t>Commander Mailbox</a:t>
            </a:r>
            <a:endParaRPr b="0" i="0" sz="800" u="none" cap="none" strike="noStrike">
              <a:solidFill>
                <a:schemeClr val="dk1"/>
              </a:solidFill>
              <a:latin typeface="Calibri"/>
              <a:ea typeface="Calibri"/>
              <a:cs typeface="Calibri"/>
              <a:sym typeface="Calibri"/>
            </a:endParaRPr>
          </a:p>
        </p:txBody>
      </p:sp>
      <p:cxnSp>
        <p:nvCxnSpPr>
          <p:cNvPr id="877" name="Google Shape;877;p38"/>
          <p:cNvCxnSpPr>
            <a:stCxn id="876" idx="3"/>
          </p:cNvCxnSpPr>
          <p:nvPr/>
        </p:nvCxnSpPr>
        <p:spPr>
          <a:xfrm flipH="1" rot="10800000">
            <a:off x="4617850" y="4468875"/>
            <a:ext cx="260700" cy="16200"/>
          </a:xfrm>
          <a:prstGeom prst="straightConnector1">
            <a:avLst/>
          </a:prstGeom>
          <a:noFill/>
          <a:ln cap="flat" cmpd="sng" w="9525">
            <a:solidFill>
              <a:srgbClr val="FFC107"/>
            </a:solidFill>
            <a:prstDash val="solid"/>
            <a:round/>
            <a:headEnd len="sm" w="sm" type="none"/>
            <a:tailEnd len="med" w="med" type="triangle"/>
          </a:ln>
        </p:spPr>
      </p:cxnSp>
      <p:sp>
        <p:nvSpPr>
          <p:cNvPr id="878" name="Google Shape;878;p38"/>
          <p:cNvSpPr/>
          <p:nvPr/>
        </p:nvSpPr>
        <p:spPr>
          <a:xfrm>
            <a:off x="5251721" y="3408953"/>
            <a:ext cx="1581900" cy="539400"/>
          </a:xfrm>
          <a:prstGeom prst="roundRect">
            <a:avLst>
              <a:gd fmla="val 11364" name="adj"/>
            </a:avLst>
          </a:prstGeom>
          <a:solidFill>
            <a:srgbClr val="1A0606"/>
          </a:solidFill>
          <a:ln cap="flat" cmpd="sng" w="12700">
            <a:solidFill>
              <a:srgbClr val="FF5252"/>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3" name="Google Shape;863;p38"/>
          <p:cNvSpPr/>
          <p:nvPr/>
        </p:nvSpPr>
        <p:spPr>
          <a:xfrm>
            <a:off x="5251721" y="3408953"/>
            <a:ext cx="1581900" cy="539400"/>
          </a:xfrm>
          <a:prstGeom prst="rect">
            <a:avLst/>
          </a:prstGeom>
          <a:noFill/>
          <a:ln>
            <a:noFill/>
          </a:ln>
        </p:spPr>
        <p:txBody>
          <a:bodyPr anchorCtr="0" anchor="ctr" bIns="33875" lIns="33875" spcFirstLastPara="1" rIns="33875" wrap="square" tIns="33875">
            <a:noAutofit/>
          </a:bodyPr>
          <a:lstStyle/>
          <a:p>
            <a:pPr indent="0" lvl="0" marL="0" marR="0" rtl="0" algn="ctr">
              <a:lnSpc>
                <a:spcPct val="100000"/>
              </a:lnSpc>
              <a:spcBef>
                <a:spcPts val="0"/>
              </a:spcBef>
              <a:spcAft>
                <a:spcPts val="0"/>
              </a:spcAft>
              <a:buClr>
                <a:srgbClr val="FF5252"/>
              </a:buClr>
              <a:buSzPts val="800"/>
              <a:buFont typeface="Calibri"/>
              <a:buNone/>
            </a:pPr>
            <a:r>
              <a:rPr b="1" i="0" lang="en-US" sz="800" u="none" cap="none" strike="noStrike">
                <a:solidFill>
                  <a:srgbClr val="FF5252"/>
                </a:solidFill>
                <a:latin typeface="Calibri"/>
                <a:ea typeface="Calibri"/>
                <a:cs typeface="Calibri"/>
                <a:sym typeface="Calibri"/>
              </a:rPr>
              <a:t>📬 Commander Mailbox</a:t>
            </a:r>
            <a:br>
              <a:rPr b="1" i="0" lang="en-US" sz="800" u="none" cap="none" strike="noStrike">
                <a:solidFill>
                  <a:srgbClr val="FF5252"/>
                </a:solidFill>
                <a:latin typeface="Calibri"/>
                <a:ea typeface="Calibri"/>
                <a:cs typeface="Calibri"/>
                <a:sym typeface="Calibri"/>
              </a:rPr>
            </a:br>
            <a:r>
              <a:rPr b="0" i="0" lang="en-US" sz="700" u="none" cap="none" strike="noStrike">
                <a:solidFill>
                  <a:srgbClr val="FF5252"/>
                </a:solidFill>
                <a:latin typeface="Calibri"/>
                <a:ea typeface="Calibri"/>
                <a:cs typeface="Calibri"/>
                <a:sym typeface="Calibri"/>
              </a:rPr>
              <a:t>Human-in-the-loop slot</a:t>
            </a:r>
            <a:endParaRPr b="0" i="0" sz="800" u="none" cap="none" strike="noStrike">
              <a:solidFill>
                <a:schemeClr val="dk1"/>
              </a:solidFill>
              <a:latin typeface="Calibri"/>
              <a:ea typeface="Calibri"/>
              <a:cs typeface="Calibri"/>
              <a:sym typeface="Calibri"/>
            </a:endParaRPr>
          </a:p>
        </p:txBody>
      </p:sp>
      <p:sp>
        <p:nvSpPr>
          <p:cNvPr id="879" name="Google Shape;879;p38"/>
          <p:cNvSpPr/>
          <p:nvPr/>
        </p:nvSpPr>
        <p:spPr>
          <a:xfrm>
            <a:off x="4617736" y="3774622"/>
            <a:ext cx="685800" cy="173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FFF00"/>
              </a:buClr>
              <a:buSzPts val="700"/>
              <a:buFont typeface="Calibri"/>
              <a:buNone/>
            </a:pPr>
            <a:r>
              <a:rPr b="0" i="0" lang="en-US" sz="700" u="none" cap="none" strike="noStrike">
                <a:solidFill>
                  <a:srgbClr val="7FFF00"/>
                </a:solidFill>
                <a:latin typeface="Calibri"/>
                <a:ea typeface="Calibri"/>
                <a:cs typeface="Calibri"/>
                <a:sym typeface="Calibri"/>
              </a:rPr>
              <a:t>✅ APPROVE</a:t>
            </a:r>
            <a:endParaRPr b="0" i="0" sz="700" u="none" cap="none" strike="noStrike">
              <a:solidFill>
                <a:schemeClr val="dk1"/>
              </a:solidFill>
              <a:latin typeface="Calibri"/>
              <a:ea typeface="Calibri"/>
              <a:cs typeface="Calibri"/>
              <a:sym typeface="Calibri"/>
            </a:endParaRPr>
          </a:p>
        </p:txBody>
      </p:sp>
      <p:sp>
        <p:nvSpPr>
          <p:cNvPr id="880" name="Google Shape;880;p38"/>
          <p:cNvSpPr/>
          <p:nvPr/>
        </p:nvSpPr>
        <p:spPr>
          <a:xfrm>
            <a:off x="5315990" y="3995009"/>
            <a:ext cx="685800" cy="173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5252"/>
              </a:buClr>
              <a:buSzPts val="700"/>
              <a:buFont typeface="Calibri"/>
              <a:buNone/>
            </a:pPr>
            <a:r>
              <a:rPr b="0" i="0" lang="en-US" sz="700" u="none" cap="none" strike="noStrike">
                <a:solidFill>
                  <a:srgbClr val="FF5252"/>
                </a:solidFill>
                <a:latin typeface="Calibri"/>
                <a:ea typeface="Calibri"/>
                <a:cs typeface="Calibri"/>
                <a:sym typeface="Calibri"/>
              </a:rPr>
              <a:t>❌ REJECT</a:t>
            </a:r>
            <a:endParaRPr b="0" i="0" sz="700" u="none" cap="none" strike="noStrike">
              <a:solidFill>
                <a:schemeClr val="dk1"/>
              </a:solidFill>
              <a:latin typeface="Calibri"/>
              <a:ea typeface="Calibri"/>
              <a:cs typeface="Calibri"/>
              <a:sym typeface="Calibri"/>
            </a:endParaRPr>
          </a:p>
        </p:txBody>
      </p:sp>
      <p:sp>
        <p:nvSpPr>
          <p:cNvPr id="881" name="Google Shape;881;p38"/>
          <p:cNvSpPr/>
          <p:nvPr/>
        </p:nvSpPr>
        <p:spPr>
          <a:xfrm>
            <a:off x="6102856" y="3995022"/>
            <a:ext cx="685800" cy="173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C107"/>
              </a:buClr>
              <a:buSzPts val="700"/>
              <a:buFont typeface="Calibri"/>
              <a:buNone/>
            </a:pPr>
            <a:r>
              <a:rPr b="0" i="0" lang="en-US" sz="700" u="none" cap="none" strike="noStrike">
                <a:solidFill>
                  <a:srgbClr val="FFC107"/>
                </a:solidFill>
                <a:latin typeface="Calibri"/>
                <a:ea typeface="Calibri"/>
                <a:cs typeface="Calibri"/>
                <a:sym typeface="Calibri"/>
              </a:rPr>
              <a:t>🔄 MODIFY</a:t>
            </a:r>
            <a:endParaRPr b="0" i="0" sz="700" u="none" cap="none" strike="noStrike">
              <a:solidFill>
                <a:schemeClr val="dk1"/>
              </a:solidFill>
              <a:latin typeface="Calibri"/>
              <a:ea typeface="Calibri"/>
              <a:cs typeface="Calibri"/>
              <a:sym typeface="Calibri"/>
            </a:endParaRPr>
          </a:p>
        </p:txBody>
      </p:sp>
      <p:sp>
        <p:nvSpPr>
          <p:cNvPr id="882" name="Google Shape;882;p38"/>
          <p:cNvSpPr/>
          <p:nvPr/>
        </p:nvSpPr>
        <p:spPr>
          <a:xfrm>
            <a:off x="4832604" y="4215384"/>
            <a:ext cx="777240" cy="539496"/>
          </a:xfrm>
          <a:prstGeom prst="roundRect">
            <a:avLst>
              <a:gd fmla="val 11364" name="adj"/>
            </a:avLst>
          </a:prstGeom>
          <a:solidFill>
            <a:srgbClr val="041A08"/>
          </a:solidFill>
          <a:ln cap="flat" cmpd="sng" w="12700">
            <a:solidFill>
              <a:srgbClr val="7FFF00"/>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p38"/>
          <p:cNvSpPr/>
          <p:nvPr/>
        </p:nvSpPr>
        <p:spPr>
          <a:xfrm>
            <a:off x="4832604" y="4215384"/>
            <a:ext cx="777240" cy="539496"/>
          </a:xfrm>
          <a:prstGeom prst="rect">
            <a:avLst/>
          </a:prstGeom>
          <a:noFill/>
          <a:ln>
            <a:noFill/>
          </a:ln>
        </p:spPr>
        <p:txBody>
          <a:bodyPr anchorCtr="0" anchor="ctr" bIns="33875" lIns="33875" spcFirstLastPara="1" rIns="33875" wrap="square" tIns="33875">
            <a:noAutofit/>
          </a:bodyPr>
          <a:lstStyle/>
          <a:p>
            <a:pPr indent="0" lvl="0" marL="0" marR="0" rtl="0" algn="ctr">
              <a:lnSpc>
                <a:spcPct val="100000"/>
              </a:lnSpc>
              <a:spcBef>
                <a:spcPts val="0"/>
              </a:spcBef>
              <a:spcAft>
                <a:spcPts val="0"/>
              </a:spcAft>
              <a:buClr>
                <a:srgbClr val="7FFF00"/>
              </a:buClr>
              <a:buSzPts val="700"/>
              <a:buFont typeface="Calibri"/>
              <a:buNone/>
            </a:pPr>
            <a:r>
              <a:rPr b="0" i="0" lang="en-US" sz="700" u="none" cap="none" strike="noStrike">
                <a:solidFill>
                  <a:srgbClr val="7FFF00"/>
                </a:solidFill>
                <a:latin typeface="Calibri"/>
                <a:ea typeface="Calibri"/>
                <a:cs typeface="Calibri"/>
                <a:sym typeface="Calibri"/>
              </a:rPr>
              <a:t>Proceed to</a:t>
            </a:r>
            <a:endParaRPr b="0" i="0" sz="7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700"/>
              <a:buFont typeface="Calibri"/>
              <a:buNone/>
            </a:pPr>
            <a:r>
              <a:rPr b="0" i="0" lang="en-US" sz="700" u="none" cap="none" strike="noStrike">
                <a:solidFill>
                  <a:srgbClr val="7FFF00"/>
                </a:solidFill>
                <a:latin typeface="Calibri"/>
                <a:ea typeface="Calibri"/>
                <a:cs typeface="Calibri"/>
                <a:sym typeface="Calibri"/>
              </a:rPr>
              <a:t>Tool Adapter</a:t>
            </a:r>
            <a:endParaRPr b="0" i="0" sz="700" u="none" cap="none" strike="noStrike">
              <a:solidFill>
                <a:schemeClr val="dk1"/>
              </a:solidFill>
              <a:latin typeface="Calibri"/>
              <a:ea typeface="Calibri"/>
              <a:cs typeface="Calibri"/>
              <a:sym typeface="Calibri"/>
            </a:endParaRPr>
          </a:p>
        </p:txBody>
      </p:sp>
      <p:cxnSp>
        <p:nvCxnSpPr>
          <p:cNvPr id="884" name="Google Shape;884;p38"/>
          <p:cNvCxnSpPr/>
          <p:nvPr/>
        </p:nvCxnSpPr>
        <p:spPr>
          <a:xfrm flipH="1">
            <a:off x="4562856" y="4754880"/>
            <a:ext cx="658368" cy="246887"/>
          </a:xfrm>
          <a:prstGeom prst="straightConnector1">
            <a:avLst/>
          </a:prstGeom>
          <a:noFill/>
          <a:ln cap="flat" cmpd="sng" w="9525">
            <a:solidFill>
              <a:srgbClr val="7FFF00"/>
            </a:solidFill>
            <a:prstDash val="solid"/>
            <a:round/>
            <a:headEnd len="sm" w="sm" type="none"/>
            <a:tailEnd len="med" w="med" type="triangle"/>
          </a:ln>
        </p:spPr>
      </p:cxnSp>
      <p:sp>
        <p:nvSpPr>
          <p:cNvPr id="885" name="Google Shape;885;p38"/>
          <p:cNvSpPr/>
          <p:nvPr/>
        </p:nvSpPr>
        <p:spPr>
          <a:xfrm>
            <a:off x="5646420" y="4215384"/>
            <a:ext cx="777240" cy="539496"/>
          </a:xfrm>
          <a:prstGeom prst="roundRect">
            <a:avLst>
              <a:gd fmla="val 11364" name="adj"/>
            </a:avLst>
          </a:prstGeom>
          <a:solidFill>
            <a:srgbClr val="1A0606"/>
          </a:solidFill>
          <a:ln cap="flat" cmpd="sng" w="12700">
            <a:solidFill>
              <a:srgbClr val="FF5252"/>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6" name="Google Shape;886;p38"/>
          <p:cNvSpPr/>
          <p:nvPr/>
        </p:nvSpPr>
        <p:spPr>
          <a:xfrm>
            <a:off x="5646420" y="4215384"/>
            <a:ext cx="777240" cy="539496"/>
          </a:xfrm>
          <a:prstGeom prst="rect">
            <a:avLst/>
          </a:prstGeom>
          <a:noFill/>
          <a:ln>
            <a:noFill/>
          </a:ln>
        </p:spPr>
        <p:txBody>
          <a:bodyPr anchorCtr="0" anchor="ctr" bIns="33875" lIns="33875" spcFirstLastPara="1" rIns="33875" wrap="square" tIns="33875">
            <a:noAutofit/>
          </a:bodyPr>
          <a:lstStyle/>
          <a:p>
            <a:pPr indent="0" lvl="0" marL="0" marR="0" rtl="0" algn="ctr">
              <a:lnSpc>
                <a:spcPct val="100000"/>
              </a:lnSpc>
              <a:spcBef>
                <a:spcPts val="0"/>
              </a:spcBef>
              <a:spcAft>
                <a:spcPts val="0"/>
              </a:spcAft>
              <a:buClr>
                <a:srgbClr val="FF5252"/>
              </a:buClr>
              <a:buSzPts val="700"/>
              <a:buFont typeface="Calibri"/>
              <a:buNone/>
            </a:pPr>
            <a:r>
              <a:rPr b="0" i="0" lang="en-US" sz="700" u="none" cap="none" strike="noStrike">
                <a:solidFill>
                  <a:srgbClr val="FF5252"/>
                </a:solidFill>
                <a:latin typeface="Calibri"/>
                <a:ea typeface="Calibri"/>
                <a:cs typeface="Calibri"/>
                <a:sym typeface="Calibri"/>
              </a:rPr>
              <a:t>Cancelled</a:t>
            </a:r>
            <a:endParaRPr b="0" i="0" sz="7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5252"/>
              </a:buClr>
              <a:buSzPts val="700"/>
              <a:buFont typeface="Calibri"/>
              <a:buNone/>
            </a:pPr>
            <a:r>
              <a:rPr b="0" i="0" lang="en-US" sz="700" u="none" cap="none" strike="noStrike">
                <a:solidFill>
                  <a:srgbClr val="FF5252"/>
                </a:solidFill>
                <a:latin typeface="Calibri"/>
                <a:ea typeface="Calibri"/>
                <a:cs typeface="Calibri"/>
                <a:sym typeface="Calibri"/>
              </a:rPr>
              <a:t>Annotated to APG</a:t>
            </a:r>
            <a:endParaRPr b="0" i="0" sz="700" u="none" cap="none" strike="noStrike">
              <a:solidFill>
                <a:schemeClr val="dk1"/>
              </a:solidFill>
              <a:latin typeface="Calibri"/>
              <a:ea typeface="Calibri"/>
              <a:cs typeface="Calibri"/>
              <a:sym typeface="Calibri"/>
            </a:endParaRPr>
          </a:p>
        </p:txBody>
      </p:sp>
      <p:sp>
        <p:nvSpPr>
          <p:cNvPr id="887" name="Google Shape;887;p38"/>
          <p:cNvSpPr/>
          <p:nvPr/>
        </p:nvSpPr>
        <p:spPr>
          <a:xfrm>
            <a:off x="6460236" y="4215384"/>
            <a:ext cx="777240" cy="539496"/>
          </a:xfrm>
          <a:prstGeom prst="roundRect">
            <a:avLst>
              <a:gd fmla="val 11364" name="adj"/>
            </a:avLst>
          </a:prstGeom>
          <a:solidFill>
            <a:srgbClr val="1A1002"/>
          </a:solidFill>
          <a:ln cap="flat" cmpd="sng" w="12700">
            <a:solidFill>
              <a:srgbClr val="FFC107"/>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8" name="Google Shape;888;p38"/>
          <p:cNvSpPr/>
          <p:nvPr/>
        </p:nvSpPr>
        <p:spPr>
          <a:xfrm>
            <a:off x="6460236" y="4215384"/>
            <a:ext cx="777240" cy="539496"/>
          </a:xfrm>
          <a:prstGeom prst="rect">
            <a:avLst/>
          </a:prstGeom>
          <a:noFill/>
          <a:ln>
            <a:noFill/>
          </a:ln>
        </p:spPr>
        <p:txBody>
          <a:bodyPr anchorCtr="0" anchor="ctr" bIns="33875" lIns="33875" spcFirstLastPara="1" rIns="33875" wrap="square" tIns="33875">
            <a:noAutofit/>
          </a:bodyPr>
          <a:lstStyle/>
          <a:p>
            <a:pPr indent="0" lvl="0" marL="0" marR="0" rtl="0" algn="ctr">
              <a:lnSpc>
                <a:spcPct val="100000"/>
              </a:lnSpc>
              <a:spcBef>
                <a:spcPts val="0"/>
              </a:spcBef>
              <a:spcAft>
                <a:spcPts val="0"/>
              </a:spcAft>
              <a:buClr>
                <a:srgbClr val="FFC107"/>
              </a:buClr>
              <a:buSzPts val="700"/>
              <a:buFont typeface="Calibri"/>
              <a:buNone/>
            </a:pPr>
            <a:r>
              <a:rPr b="0" i="0" lang="en-US" sz="700" u="none" cap="none" strike="noStrike">
                <a:solidFill>
                  <a:srgbClr val="FFC107"/>
                </a:solidFill>
                <a:latin typeface="Calibri"/>
                <a:ea typeface="Calibri"/>
                <a:cs typeface="Calibri"/>
                <a:sym typeface="Calibri"/>
              </a:rPr>
              <a:t>Params adjusted</a:t>
            </a:r>
            <a:endParaRPr b="0" i="0" sz="7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C107"/>
              </a:buClr>
              <a:buSzPts val="700"/>
              <a:buFont typeface="Calibri"/>
              <a:buNone/>
            </a:pPr>
            <a:r>
              <a:rPr b="0" i="0" lang="en-US" sz="700" u="none" cap="none" strike="noStrike">
                <a:solidFill>
                  <a:srgbClr val="FFC107"/>
                </a:solidFill>
                <a:latin typeface="Calibri"/>
                <a:ea typeface="Calibri"/>
                <a:cs typeface="Calibri"/>
                <a:sym typeface="Calibri"/>
              </a:rPr>
              <a:t>then approved</a:t>
            </a:r>
            <a:endParaRPr b="0" i="0" sz="700" u="none" cap="none" strike="noStrike">
              <a:solidFill>
                <a:schemeClr val="dk1"/>
              </a:solidFill>
              <a:latin typeface="Calibri"/>
              <a:ea typeface="Calibri"/>
              <a:cs typeface="Calibri"/>
              <a:sym typeface="Calibri"/>
            </a:endParaRPr>
          </a:p>
        </p:txBody>
      </p:sp>
      <p:sp>
        <p:nvSpPr>
          <p:cNvPr id="889" name="Google Shape;889;p38"/>
          <p:cNvSpPr/>
          <p:nvPr/>
        </p:nvSpPr>
        <p:spPr>
          <a:xfrm>
            <a:off x="2660900" y="5001774"/>
            <a:ext cx="1902000" cy="466500"/>
          </a:xfrm>
          <a:prstGeom prst="roundRect">
            <a:avLst>
              <a:gd fmla="val 11364" name="adj"/>
            </a:avLst>
          </a:prstGeom>
          <a:solidFill>
            <a:srgbClr val="0C0820"/>
          </a:solidFill>
          <a:ln cap="flat" cmpd="sng" w="12700">
            <a:solidFill>
              <a:srgbClr val="9C27B0"/>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7" name="Google Shape;867;p38"/>
          <p:cNvSpPr/>
          <p:nvPr/>
        </p:nvSpPr>
        <p:spPr>
          <a:xfrm>
            <a:off x="2660900" y="5001774"/>
            <a:ext cx="1902000" cy="466500"/>
          </a:xfrm>
          <a:prstGeom prst="rect">
            <a:avLst/>
          </a:prstGeom>
          <a:noFill/>
          <a:ln>
            <a:noFill/>
          </a:ln>
        </p:spPr>
        <p:txBody>
          <a:bodyPr anchorCtr="0" anchor="ctr" bIns="33875" lIns="33875" spcFirstLastPara="1" rIns="33875" wrap="square" tIns="33875">
            <a:noAutofit/>
          </a:bodyPr>
          <a:lstStyle/>
          <a:p>
            <a:pPr indent="0" lvl="0" marL="0" marR="0" rtl="0" algn="ctr">
              <a:lnSpc>
                <a:spcPct val="100000"/>
              </a:lnSpc>
              <a:spcBef>
                <a:spcPts val="0"/>
              </a:spcBef>
              <a:spcAft>
                <a:spcPts val="0"/>
              </a:spcAft>
              <a:buClr>
                <a:srgbClr val="CE93D8"/>
              </a:buClr>
              <a:buSzPts val="800"/>
              <a:buFont typeface="Calibri"/>
              <a:buNone/>
            </a:pPr>
            <a:r>
              <a:rPr b="1" i="0" lang="en-US" sz="800" u="none" cap="none" strike="noStrike">
                <a:solidFill>
                  <a:srgbClr val="CE93D8"/>
                </a:solidFill>
                <a:latin typeface="Calibri"/>
                <a:ea typeface="Calibri"/>
                <a:cs typeface="Calibri"/>
                <a:sym typeface="Calibri"/>
              </a:rPr>
              <a:t>⚙️ Tool Adapter executes</a:t>
            </a:r>
            <a:br>
              <a:rPr b="1" i="0" lang="en-US" sz="800" u="none" cap="none" strike="noStrike">
                <a:solidFill>
                  <a:srgbClr val="CE93D8"/>
                </a:solidFill>
                <a:latin typeface="Calibri"/>
                <a:ea typeface="Calibri"/>
                <a:cs typeface="Calibri"/>
                <a:sym typeface="Calibri"/>
              </a:rPr>
            </a:br>
            <a:r>
              <a:rPr b="0" i="0" lang="en-US" sz="700" u="none" cap="none" strike="noStrike">
                <a:solidFill>
                  <a:srgbClr val="9C27B0"/>
                </a:solidFill>
                <a:latin typeface="Calibri"/>
                <a:ea typeface="Calibri"/>
                <a:cs typeface="Calibri"/>
                <a:sym typeface="Calibri"/>
              </a:rPr>
              <a:t>Run tool → parse raw output → structured JSON → discard raw</a:t>
            </a:r>
            <a:endParaRPr b="0" i="0" sz="800" u="none" cap="none" strike="noStrike">
              <a:solidFill>
                <a:schemeClr val="dk1"/>
              </a:solidFill>
              <a:latin typeface="Calibri"/>
              <a:ea typeface="Calibri"/>
              <a:cs typeface="Calibri"/>
              <a:sym typeface="Calibri"/>
            </a:endParaRPr>
          </a:p>
        </p:txBody>
      </p:sp>
      <p:cxnSp>
        <p:nvCxnSpPr>
          <p:cNvPr id="890" name="Google Shape;890;p38"/>
          <p:cNvCxnSpPr>
            <a:stCxn id="867" idx="2"/>
          </p:cNvCxnSpPr>
          <p:nvPr/>
        </p:nvCxnSpPr>
        <p:spPr>
          <a:xfrm>
            <a:off x="3611900" y="5468274"/>
            <a:ext cx="0" cy="164400"/>
          </a:xfrm>
          <a:prstGeom prst="straightConnector1">
            <a:avLst/>
          </a:prstGeom>
          <a:noFill/>
          <a:ln cap="flat" cmpd="sng" w="9525">
            <a:solidFill>
              <a:srgbClr val="444444"/>
            </a:solidFill>
            <a:prstDash val="solid"/>
            <a:round/>
            <a:headEnd len="sm" w="sm" type="none"/>
            <a:tailEnd len="med" w="med" type="triangle"/>
          </a:ln>
        </p:spPr>
      </p:cxnSp>
      <p:sp>
        <p:nvSpPr>
          <p:cNvPr id="891" name="Google Shape;891;p38"/>
          <p:cNvSpPr/>
          <p:nvPr/>
        </p:nvSpPr>
        <p:spPr>
          <a:xfrm>
            <a:off x="2820924" y="5632704"/>
            <a:ext cx="1581912" cy="438912"/>
          </a:xfrm>
          <a:prstGeom prst="roundRect">
            <a:avLst>
              <a:gd fmla="val 13889" name="adj"/>
            </a:avLst>
          </a:prstGeom>
          <a:solidFill>
            <a:srgbClr val="0C0820"/>
          </a:solidFill>
          <a:ln cap="flat" cmpd="sng" w="12700">
            <a:solidFill>
              <a:srgbClr val="9C27B0"/>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2" name="Google Shape;892;p38"/>
          <p:cNvSpPr/>
          <p:nvPr/>
        </p:nvSpPr>
        <p:spPr>
          <a:xfrm>
            <a:off x="2820924" y="5632704"/>
            <a:ext cx="1581912" cy="438912"/>
          </a:xfrm>
          <a:prstGeom prst="rect">
            <a:avLst/>
          </a:prstGeom>
          <a:noFill/>
          <a:ln>
            <a:noFill/>
          </a:ln>
        </p:spPr>
        <p:txBody>
          <a:bodyPr anchorCtr="0" anchor="ctr" bIns="33875" lIns="33875" spcFirstLastPara="1" rIns="33875" wrap="square" tIns="33875">
            <a:noAutofit/>
          </a:bodyPr>
          <a:lstStyle/>
          <a:p>
            <a:pPr indent="0" lvl="0" marL="0" marR="0" rtl="0" algn="ctr">
              <a:lnSpc>
                <a:spcPct val="100000"/>
              </a:lnSpc>
              <a:spcBef>
                <a:spcPts val="0"/>
              </a:spcBef>
              <a:spcAft>
                <a:spcPts val="0"/>
              </a:spcAft>
              <a:buClr>
                <a:srgbClr val="CE93D8"/>
              </a:buClr>
              <a:buSzPts val="800"/>
              <a:buFont typeface="Calibri"/>
              <a:buNone/>
            </a:pPr>
            <a:r>
              <a:rPr b="1" i="0" lang="en-US" sz="800" u="none" cap="none" strike="noStrike">
                <a:solidFill>
                  <a:srgbClr val="CE93D8"/>
                </a:solidFill>
                <a:latin typeface="Calibri"/>
                <a:ea typeface="Calibri"/>
                <a:cs typeface="Calibri"/>
                <a:sym typeface="Calibri"/>
              </a:rPr>
              <a:t>🪝 PostToolUse Hook fires</a:t>
            </a:r>
            <a:br>
              <a:rPr b="1" i="0" lang="en-US" sz="800" u="none" cap="none" strike="noStrike">
                <a:solidFill>
                  <a:srgbClr val="CE93D8"/>
                </a:solidFill>
                <a:latin typeface="Calibri"/>
                <a:ea typeface="Calibri"/>
                <a:cs typeface="Calibri"/>
                <a:sym typeface="Calibri"/>
              </a:rPr>
            </a:br>
            <a:r>
              <a:rPr b="0" i="0" lang="en-US" sz="700" u="none" cap="none" strike="noStrike">
                <a:solidFill>
                  <a:srgbClr val="9C27B0"/>
                </a:solidFill>
                <a:latin typeface="Calibri"/>
                <a:ea typeface="Calibri"/>
                <a:cs typeface="Calibri"/>
                <a:sym typeface="Calibri"/>
              </a:rPr>
              <a:t>log · alert · validate · block write</a:t>
            </a:r>
            <a:endParaRPr b="0" i="0" sz="800" u="none" cap="none" strike="noStrike">
              <a:solidFill>
                <a:schemeClr val="dk1"/>
              </a:solidFill>
              <a:latin typeface="Calibri"/>
              <a:ea typeface="Calibri"/>
              <a:cs typeface="Calibri"/>
              <a:sym typeface="Calibri"/>
            </a:endParaRPr>
          </a:p>
        </p:txBody>
      </p:sp>
      <p:cxnSp>
        <p:nvCxnSpPr>
          <p:cNvPr id="893" name="Google Shape;893;p38"/>
          <p:cNvCxnSpPr>
            <a:stCxn id="892" idx="1"/>
          </p:cNvCxnSpPr>
          <p:nvPr/>
        </p:nvCxnSpPr>
        <p:spPr>
          <a:xfrm flipH="1">
            <a:off x="2702124" y="5852160"/>
            <a:ext cx="118800" cy="365700"/>
          </a:xfrm>
          <a:prstGeom prst="straightConnector1">
            <a:avLst/>
          </a:prstGeom>
          <a:noFill/>
          <a:ln cap="flat" cmpd="sng" w="9525">
            <a:solidFill>
              <a:srgbClr val="7FFF00"/>
            </a:solidFill>
            <a:prstDash val="solid"/>
            <a:round/>
            <a:headEnd len="sm" w="sm" type="none"/>
            <a:tailEnd len="med" w="med" type="triangle"/>
          </a:ln>
        </p:spPr>
      </p:cxnSp>
      <p:sp>
        <p:nvSpPr>
          <p:cNvPr id="894" name="Google Shape;894;p38"/>
          <p:cNvSpPr/>
          <p:nvPr/>
        </p:nvSpPr>
        <p:spPr>
          <a:xfrm>
            <a:off x="2088512" y="5897895"/>
            <a:ext cx="685800" cy="173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FFF00"/>
              </a:buClr>
              <a:buSzPts val="700"/>
              <a:buFont typeface="Calibri"/>
              <a:buNone/>
            </a:pPr>
            <a:r>
              <a:rPr b="0" i="0" lang="en-US" sz="700" u="none" cap="none" strike="noStrike">
                <a:solidFill>
                  <a:srgbClr val="7FFF00"/>
                </a:solidFill>
                <a:latin typeface="Calibri"/>
                <a:ea typeface="Calibri"/>
                <a:cs typeface="Calibri"/>
                <a:sym typeface="Calibri"/>
              </a:rPr>
              <a:t>ASG</a:t>
            </a:r>
            <a:endParaRPr b="0" i="0" sz="700" u="none" cap="none" strike="noStrike">
              <a:solidFill>
                <a:schemeClr val="dk1"/>
              </a:solidFill>
              <a:latin typeface="Calibri"/>
              <a:ea typeface="Calibri"/>
              <a:cs typeface="Calibri"/>
              <a:sym typeface="Calibri"/>
            </a:endParaRPr>
          </a:p>
        </p:txBody>
      </p:sp>
      <p:cxnSp>
        <p:nvCxnSpPr>
          <p:cNvPr id="895" name="Google Shape;895;p38"/>
          <p:cNvCxnSpPr>
            <a:stCxn id="892" idx="3"/>
          </p:cNvCxnSpPr>
          <p:nvPr/>
        </p:nvCxnSpPr>
        <p:spPr>
          <a:xfrm>
            <a:off x="4402836" y="5852160"/>
            <a:ext cx="214800" cy="365700"/>
          </a:xfrm>
          <a:prstGeom prst="straightConnector1">
            <a:avLst/>
          </a:prstGeom>
          <a:noFill/>
          <a:ln cap="flat" cmpd="sng" w="9525">
            <a:solidFill>
              <a:srgbClr val="00D4FF"/>
            </a:solidFill>
            <a:prstDash val="solid"/>
            <a:round/>
            <a:headEnd len="sm" w="sm" type="none"/>
            <a:tailEnd len="med" w="med" type="triangle"/>
          </a:ln>
        </p:spPr>
      </p:cxnSp>
      <p:sp>
        <p:nvSpPr>
          <p:cNvPr id="896" name="Google Shape;896;p38"/>
          <p:cNvSpPr/>
          <p:nvPr/>
        </p:nvSpPr>
        <p:spPr>
          <a:xfrm>
            <a:off x="4617730" y="5897908"/>
            <a:ext cx="685800" cy="173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D4FF"/>
              </a:buClr>
              <a:buSzPts val="700"/>
              <a:buFont typeface="Calibri"/>
              <a:buNone/>
            </a:pPr>
            <a:r>
              <a:rPr b="0" i="0" lang="en-US" sz="700" u="none" cap="none" strike="noStrike">
                <a:solidFill>
                  <a:srgbClr val="00D4FF"/>
                </a:solidFill>
                <a:latin typeface="Calibri"/>
                <a:ea typeface="Calibri"/>
                <a:cs typeface="Calibri"/>
                <a:sym typeface="Calibri"/>
              </a:rPr>
              <a:t>Agent</a:t>
            </a:r>
            <a:endParaRPr b="0" i="0" sz="700" u="none" cap="none" strike="noStrike">
              <a:solidFill>
                <a:schemeClr val="dk1"/>
              </a:solidFill>
              <a:latin typeface="Calibri"/>
              <a:ea typeface="Calibri"/>
              <a:cs typeface="Calibri"/>
              <a:sym typeface="Calibri"/>
            </a:endParaRPr>
          </a:p>
        </p:txBody>
      </p:sp>
      <p:sp>
        <p:nvSpPr>
          <p:cNvPr id="897" name="Google Shape;897;p38"/>
          <p:cNvSpPr/>
          <p:nvPr/>
        </p:nvSpPr>
        <p:spPr>
          <a:xfrm>
            <a:off x="2029968" y="6217920"/>
            <a:ext cx="1344168" cy="438912"/>
          </a:xfrm>
          <a:prstGeom prst="roundRect">
            <a:avLst>
              <a:gd fmla="val 13889" name="adj"/>
            </a:avLst>
          </a:prstGeom>
          <a:solidFill>
            <a:srgbClr val="041A08"/>
          </a:solidFill>
          <a:ln cap="flat" cmpd="sng" w="12700">
            <a:solidFill>
              <a:srgbClr val="7FFF00"/>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8" name="Google Shape;898;p38"/>
          <p:cNvSpPr/>
          <p:nvPr/>
        </p:nvSpPr>
        <p:spPr>
          <a:xfrm>
            <a:off x="2029968" y="6217920"/>
            <a:ext cx="1344168" cy="438912"/>
          </a:xfrm>
          <a:prstGeom prst="rect">
            <a:avLst/>
          </a:prstGeom>
          <a:noFill/>
          <a:ln>
            <a:noFill/>
          </a:ln>
        </p:spPr>
        <p:txBody>
          <a:bodyPr anchorCtr="0" anchor="ctr" bIns="33875" lIns="33875" spcFirstLastPara="1" rIns="33875" wrap="square" tIns="33875">
            <a:noAutofit/>
          </a:bodyPr>
          <a:lstStyle/>
          <a:p>
            <a:pPr indent="0" lvl="0" marL="0" marR="0" rtl="0" algn="ctr">
              <a:lnSpc>
                <a:spcPct val="100000"/>
              </a:lnSpc>
              <a:spcBef>
                <a:spcPts val="0"/>
              </a:spcBef>
              <a:spcAft>
                <a:spcPts val="0"/>
              </a:spcAft>
              <a:buClr>
                <a:srgbClr val="7FFF00"/>
              </a:buClr>
              <a:buSzPts val="700"/>
              <a:buFont typeface="Calibri"/>
              <a:buNone/>
            </a:pPr>
            <a:r>
              <a:rPr b="0" i="0" lang="en-US" sz="700" u="none" cap="none" strike="noStrike">
                <a:solidFill>
                  <a:srgbClr val="7FFF00"/>
                </a:solidFill>
                <a:latin typeface="Calibri"/>
                <a:ea typeface="Calibri"/>
                <a:cs typeface="Calibri"/>
                <a:sym typeface="Calibri"/>
              </a:rPr>
              <a:t>🟢 Nodes + edges</a:t>
            </a:r>
            <a:endParaRPr b="0" i="0" sz="7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700"/>
              <a:buFont typeface="Calibri"/>
              <a:buNone/>
            </a:pPr>
            <a:r>
              <a:rPr b="0" i="0" lang="en-US" sz="700" u="none" cap="none" strike="noStrike">
                <a:solidFill>
                  <a:srgbClr val="7FFF00"/>
                </a:solidFill>
                <a:latin typeface="Calibri"/>
                <a:ea typeface="Calibri"/>
                <a:cs typeface="Calibri"/>
                <a:sym typeface="Calibri"/>
              </a:rPr>
              <a:t>written to ASG</a:t>
            </a:r>
            <a:endParaRPr b="0" i="0" sz="700" u="none" cap="none" strike="noStrike">
              <a:solidFill>
                <a:schemeClr val="dk1"/>
              </a:solidFill>
              <a:latin typeface="Calibri"/>
              <a:ea typeface="Calibri"/>
              <a:cs typeface="Calibri"/>
              <a:sym typeface="Calibri"/>
            </a:endParaRPr>
          </a:p>
        </p:txBody>
      </p:sp>
      <p:sp>
        <p:nvSpPr>
          <p:cNvPr id="899" name="Google Shape;899;p38"/>
          <p:cNvSpPr/>
          <p:nvPr/>
        </p:nvSpPr>
        <p:spPr>
          <a:xfrm>
            <a:off x="3886200" y="6217920"/>
            <a:ext cx="1463040" cy="438912"/>
          </a:xfrm>
          <a:prstGeom prst="roundRect">
            <a:avLst>
              <a:gd fmla="val 13889" name="adj"/>
            </a:avLst>
          </a:prstGeom>
          <a:solidFill>
            <a:srgbClr val="04162E"/>
          </a:solidFill>
          <a:ln cap="flat" cmpd="sng" w="12700">
            <a:solidFill>
              <a:srgbClr val="00D4FF"/>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0" name="Google Shape;900;p38"/>
          <p:cNvSpPr/>
          <p:nvPr/>
        </p:nvSpPr>
        <p:spPr>
          <a:xfrm>
            <a:off x="3886200" y="6217920"/>
            <a:ext cx="1463040" cy="438912"/>
          </a:xfrm>
          <a:prstGeom prst="rect">
            <a:avLst/>
          </a:prstGeom>
          <a:noFill/>
          <a:ln>
            <a:noFill/>
          </a:ln>
        </p:spPr>
        <p:txBody>
          <a:bodyPr anchorCtr="0" anchor="ctr" bIns="33875" lIns="33875" spcFirstLastPara="1" rIns="33875" wrap="square" tIns="33875">
            <a:noAutofit/>
          </a:bodyPr>
          <a:lstStyle/>
          <a:p>
            <a:pPr indent="0" lvl="0" marL="0" marR="0" rtl="0" algn="ctr">
              <a:lnSpc>
                <a:spcPct val="100000"/>
              </a:lnSpc>
              <a:spcBef>
                <a:spcPts val="0"/>
              </a:spcBef>
              <a:spcAft>
                <a:spcPts val="0"/>
              </a:spcAft>
              <a:buClr>
                <a:srgbClr val="00D4FF"/>
              </a:buClr>
              <a:buSzPts val="700"/>
              <a:buFont typeface="Calibri"/>
              <a:buNone/>
            </a:pPr>
            <a:r>
              <a:rPr b="0" i="0" lang="en-US" sz="700" u="none" cap="none" strike="noStrike">
                <a:solidFill>
                  <a:srgbClr val="00D4FF"/>
                </a:solidFill>
                <a:latin typeface="Calibri"/>
                <a:ea typeface="Calibri"/>
                <a:cs typeface="Calibri"/>
                <a:sym typeface="Calibri"/>
              </a:rPr>
              <a:t>🤖 Agent receives</a:t>
            </a:r>
            <a:endParaRPr b="0" i="0" sz="7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D4FF"/>
              </a:buClr>
              <a:buSzPts val="700"/>
              <a:buFont typeface="Calibri"/>
              <a:buNone/>
            </a:pPr>
            <a:r>
              <a:rPr b="0" i="0" lang="en-US" sz="700" u="none" cap="none" strike="noStrike">
                <a:solidFill>
                  <a:srgbClr val="00D4FF"/>
                </a:solidFill>
                <a:latin typeface="Calibri"/>
                <a:ea typeface="Calibri"/>
                <a:cs typeface="Calibri"/>
                <a:sym typeface="Calibri"/>
              </a:rPr>
              <a:t>compact summary only</a:t>
            </a:r>
            <a:endParaRPr b="0" i="0" sz="700" u="none" cap="none" strike="noStrike">
              <a:solidFill>
                <a:schemeClr val="dk1"/>
              </a:solidFill>
              <a:latin typeface="Calibri"/>
              <a:ea typeface="Calibri"/>
              <a:cs typeface="Calibri"/>
              <a:sym typeface="Calibri"/>
            </a:endParaRPr>
          </a:p>
        </p:txBody>
      </p:sp>
      <p:sp>
        <p:nvSpPr>
          <p:cNvPr id="901" name="Google Shape;901;p38"/>
          <p:cNvSpPr/>
          <p:nvPr/>
        </p:nvSpPr>
        <p:spPr>
          <a:xfrm>
            <a:off x="7485888" y="1036320"/>
            <a:ext cx="4316100" cy="2682300"/>
          </a:xfrm>
          <a:prstGeom prst="roundRect">
            <a:avLst>
              <a:gd fmla="val 3636" name="adj"/>
            </a:avLst>
          </a:prstGeom>
          <a:solidFill>
            <a:srgbClr val="041628"/>
          </a:solidFill>
          <a:ln cap="flat" cmpd="sng" w="114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2" name="Google Shape;902;p38"/>
          <p:cNvSpPr/>
          <p:nvPr/>
        </p:nvSpPr>
        <p:spPr>
          <a:xfrm>
            <a:off x="7632192" y="1072896"/>
            <a:ext cx="4023300" cy="26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D4FF"/>
              </a:buClr>
              <a:buSzPts val="1000"/>
              <a:buFont typeface="Calibri"/>
              <a:buNone/>
            </a:pPr>
            <a:r>
              <a:rPr b="1" i="0" lang="en-US" sz="1000" u="none" cap="none" strike="noStrike">
                <a:solidFill>
                  <a:srgbClr val="00D4FF"/>
                </a:solidFill>
                <a:latin typeface="Calibri"/>
                <a:ea typeface="Calibri"/>
                <a:cs typeface="Calibri"/>
                <a:sym typeface="Calibri"/>
              </a:rPr>
              <a:t>🧠 LLM Permission Classifier — Medium-Risk Calls</a:t>
            </a:r>
            <a:endParaRPr b="0" i="0" sz="1000" u="none" cap="none" strike="noStrike">
              <a:solidFill>
                <a:schemeClr val="dk1"/>
              </a:solidFill>
              <a:latin typeface="Calibri"/>
              <a:ea typeface="Calibri"/>
              <a:cs typeface="Calibri"/>
              <a:sym typeface="Calibri"/>
            </a:endParaRPr>
          </a:p>
        </p:txBody>
      </p:sp>
      <p:sp>
        <p:nvSpPr>
          <p:cNvPr id="903" name="Google Shape;903;p38"/>
          <p:cNvSpPr/>
          <p:nvPr/>
        </p:nvSpPr>
        <p:spPr>
          <a:xfrm>
            <a:off x="7632192" y="1377696"/>
            <a:ext cx="4023300" cy="487800"/>
          </a:xfrm>
          <a:prstGeom prst="roundRect">
            <a:avLst>
              <a:gd fmla="val 10000" name="adj"/>
            </a:avLst>
          </a:prstGeom>
          <a:solidFill>
            <a:srgbClr val="04100C"/>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4" name="Google Shape;904;p38"/>
          <p:cNvSpPr/>
          <p:nvPr/>
        </p:nvSpPr>
        <p:spPr>
          <a:xfrm>
            <a:off x="7680960" y="1377696"/>
            <a:ext cx="3950100" cy="487800"/>
          </a:xfrm>
          <a:prstGeom prst="rect">
            <a:avLst/>
          </a:prstGeom>
          <a:noFill/>
          <a:ln>
            <a:noFill/>
          </a:ln>
        </p:spPr>
        <p:txBody>
          <a:bodyPr anchorCtr="0" anchor="ctr" bIns="33875" lIns="33875" spcFirstLastPara="1" rIns="33875" wrap="square" tIns="33875">
            <a:noAutofit/>
          </a:bodyPr>
          <a:lstStyle/>
          <a:p>
            <a:pPr indent="0" lvl="0" marL="0" marR="0" rtl="0" algn="l">
              <a:lnSpc>
                <a:spcPct val="100000"/>
              </a:lnSpc>
              <a:spcBef>
                <a:spcPts val="0"/>
              </a:spcBef>
              <a:spcAft>
                <a:spcPts val="0"/>
              </a:spcAft>
              <a:buClr>
                <a:srgbClr val="7FFF00"/>
              </a:buClr>
              <a:buSzPts val="800"/>
              <a:buFont typeface="Calibri"/>
              <a:buNone/>
            </a:pPr>
            <a:r>
              <a:rPr b="1" i="0" lang="en-US" sz="800" u="none" cap="none" strike="noStrike">
                <a:solidFill>
                  <a:srgbClr val="7FFF00"/>
                </a:solidFill>
                <a:latin typeface="Calibri"/>
                <a:ea typeface="Calibri"/>
                <a:cs typeface="Calibri"/>
                <a:sym typeface="Calibri"/>
              </a:rPr>
              <a:t>Fast Filter (instant)</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A3AF"/>
              </a:buClr>
              <a:buSzPts val="700"/>
              <a:buFont typeface="Calibri"/>
              <a:buNone/>
            </a:pPr>
            <a:r>
              <a:rPr b="0" i="0" lang="en-US" sz="700" u="none" cap="none" strike="noStrike">
                <a:solidFill>
                  <a:srgbClr val="9CA3AF"/>
                </a:solidFill>
                <a:latin typeface="Calibri"/>
                <a:ea typeface="Calibri"/>
                <a:cs typeface="Calibri"/>
                <a:sym typeface="Calibri"/>
              </a:rPr>
              <a:t>Obviously safe? → EXECUTE immediately</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A3AF"/>
              </a:buClr>
              <a:buSzPts val="700"/>
              <a:buFont typeface="Calibri"/>
              <a:buNone/>
            </a:pPr>
            <a:r>
              <a:rPr b="0" i="0" lang="en-US" sz="700" u="none" cap="none" strike="noStrike">
                <a:solidFill>
                  <a:srgbClr val="9CA3AF"/>
                </a:solidFill>
                <a:latin typeface="Calibri"/>
                <a:ea typeface="Calibri"/>
                <a:cs typeface="Calibri"/>
                <a:sym typeface="Calibri"/>
              </a:rPr>
              <a:t>Obviously risky? → ESCALATE immediately</a:t>
            </a:r>
            <a:endParaRPr b="0" i="0" sz="800" u="none" cap="none" strike="noStrike">
              <a:solidFill>
                <a:schemeClr val="dk1"/>
              </a:solidFill>
              <a:latin typeface="Calibri"/>
              <a:ea typeface="Calibri"/>
              <a:cs typeface="Calibri"/>
              <a:sym typeface="Calibri"/>
            </a:endParaRPr>
          </a:p>
        </p:txBody>
      </p:sp>
      <p:sp>
        <p:nvSpPr>
          <p:cNvPr id="905" name="Google Shape;905;p38"/>
          <p:cNvSpPr/>
          <p:nvPr/>
        </p:nvSpPr>
        <p:spPr>
          <a:xfrm>
            <a:off x="7632192" y="1914144"/>
            <a:ext cx="4023300" cy="390000"/>
          </a:xfrm>
          <a:prstGeom prst="roundRect">
            <a:avLst>
              <a:gd fmla="val 12500" name="adj"/>
            </a:avLst>
          </a:prstGeom>
          <a:solidFill>
            <a:srgbClr val="060816"/>
          </a:solidFill>
          <a:ln cap="flat" cmpd="sng" w="95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p38"/>
          <p:cNvSpPr/>
          <p:nvPr/>
        </p:nvSpPr>
        <p:spPr>
          <a:xfrm>
            <a:off x="7680960" y="1914144"/>
            <a:ext cx="3950100" cy="390000"/>
          </a:xfrm>
          <a:prstGeom prst="rect">
            <a:avLst/>
          </a:prstGeom>
          <a:noFill/>
          <a:ln>
            <a:noFill/>
          </a:ln>
        </p:spPr>
        <p:txBody>
          <a:bodyPr anchorCtr="0" anchor="ctr" bIns="33875" lIns="33875" spcFirstLastPara="1" rIns="33875" wrap="square" tIns="33875">
            <a:noAutofit/>
          </a:bodyPr>
          <a:lstStyle/>
          <a:p>
            <a:pPr indent="0" lvl="0" marL="0" marR="0" rtl="0" algn="l">
              <a:lnSpc>
                <a:spcPct val="100000"/>
              </a:lnSpc>
              <a:spcBef>
                <a:spcPts val="0"/>
              </a:spcBef>
              <a:spcAft>
                <a:spcPts val="0"/>
              </a:spcAft>
              <a:buClr>
                <a:srgbClr val="00D4FF"/>
              </a:buClr>
              <a:buSzPts val="800"/>
              <a:buFont typeface="Calibri"/>
              <a:buNone/>
            </a:pPr>
            <a:r>
              <a:rPr b="1" i="0" lang="en-US" sz="800" u="none" cap="none" strike="noStrike">
                <a:solidFill>
                  <a:srgbClr val="00D4FF"/>
                </a:solidFill>
                <a:latin typeface="Calibri"/>
                <a:ea typeface="Calibri"/>
                <a:cs typeface="Calibri"/>
                <a:sym typeface="Calibri"/>
              </a:rPr>
              <a:t>Axis 1: SCOPE ALIGNMENT  </a:t>
            </a:r>
            <a:r>
              <a:rPr b="0" i="0" lang="en-US" sz="700" u="none" cap="none" strike="noStrike">
                <a:solidFill>
                  <a:srgbClr val="9CA3AF"/>
                </a:solidFill>
                <a:latin typeface="Calibri"/>
                <a:ea typeface="Calibri"/>
                <a:cs typeface="Calibri"/>
                <a:sym typeface="Calibri"/>
              </a:rPr>
              <a:t>Is the target in declared assessment scope?</a:t>
            </a:r>
            <a:endParaRPr b="0" i="0" sz="800" u="none" cap="none" strike="noStrike">
              <a:solidFill>
                <a:schemeClr val="dk1"/>
              </a:solidFill>
              <a:latin typeface="Calibri"/>
              <a:ea typeface="Calibri"/>
              <a:cs typeface="Calibri"/>
              <a:sym typeface="Calibri"/>
            </a:endParaRPr>
          </a:p>
        </p:txBody>
      </p:sp>
      <p:sp>
        <p:nvSpPr>
          <p:cNvPr id="907" name="Google Shape;907;p38"/>
          <p:cNvSpPr/>
          <p:nvPr/>
        </p:nvSpPr>
        <p:spPr>
          <a:xfrm>
            <a:off x="7632192" y="2353056"/>
            <a:ext cx="4023300" cy="390000"/>
          </a:xfrm>
          <a:prstGeom prst="roundRect">
            <a:avLst>
              <a:gd fmla="val 12500" name="adj"/>
            </a:avLst>
          </a:prstGeom>
          <a:solidFill>
            <a:srgbClr val="060816"/>
          </a:solidFill>
          <a:ln cap="flat" cmpd="sng" w="95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8" name="Google Shape;908;p38"/>
          <p:cNvSpPr/>
          <p:nvPr/>
        </p:nvSpPr>
        <p:spPr>
          <a:xfrm>
            <a:off x="7680960" y="2353056"/>
            <a:ext cx="3950100" cy="390000"/>
          </a:xfrm>
          <a:prstGeom prst="rect">
            <a:avLst/>
          </a:prstGeom>
          <a:noFill/>
          <a:ln>
            <a:noFill/>
          </a:ln>
        </p:spPr>
        <p:txBody>
          <a:bodyPr anchorCtr="0" anchor="ctr" bIns="33875" lIns="33875" spcFirstLastPara="1" rIns="33875" wrap="square" tIns="33875">
            <a:noAutofit/>
          </a:bodyPr>
          <a:lstStyle/>
          <a:p>
            <a:pPr indent="0" lvl="0" marL="0" marR="0" rtl="0" algn="l">
              <a:lnSpc>
                <a:spcPct val="100000"/>
              </a:lnSpc>
              <a:spcBef>
                <a:spcPts val="0"/>
              </a:spcBef>
              <a:spcAft>
                <a:spcPts val="0"/>
              </a:spcAft>
              <a:buClr>
                <a:srgbClr val="FFC107"/>
              </a:buClr>
              <a:buSzPts val="800"/>
              <a:buFont typeface="Calibri"/>
              <a:buNone/>
            </a:pPr>
            <a:r>
              <a:rPr b="1" i="0" lang="en-US" sz="800" u="none" cap="none" strike="noStrike">
                <a:solidFill>
                  <a:srgbClr val="FFC107"/>
                </a:solidFill>
                <a:latin typeface="Calibri"/>
                <a:ea typeface="Calibri"/>
                <a:cs typeface="Calibri"/>
                <a:sym typeface="Calibri"/>
              </a:rPr>
              <a:t>Axis 2: CHAIN INTENT  </a:t>
            </a:r>
            <a:r>
              <a:rPr b="0" i="0" lang="en-US" sz="700" u="none" cap="none" strike="noStrike">
                <a:solidFill>
                  <a:srgbClr val="9CA3AF"/>
                </a:solidFill>
                <a:latin typeface="Calibri"/>
                <a:ea typeface="Calibri"/>
                <a:cs typeface="Calibri"/>
                <a:sym typeface="Calibri"/>
              </a:rPr>
              <a:t>Is this call consistent with the active APG AttackChain?</a:t>
            </a:r>
            <a:endParaRPr b="0" i="0" sz="800" u="none" cap="none" strike="noStrike">
              <a:solidFill>
                <a:schemeClr val="dk1"/>
              </a:solidFill>
              <a:latin typeface="Calibri"/>
              <a:ea typeface="Calibri"/>
              <a:cs typeface="Calibri"/>
              <a:sym typeface="Calibri"/>
            </a:endParaRPr>
          </a:p>
        </p:txBody>
      </p:sp>
      <p:sp>
        <p:nvSpPr>
          <p:cNvPr id="909" name="Google Shape;909;p38"/>
          <p:cNvSpPr/>
          <p:nvPr/>
        </p:nvSpPr>
        <p:spPr>
          <a:xfrm>
            <a:off x="7632192" y="2791968"/>
            <a:ext cx="4023300" cy="390000"/>
          </a:xfrm>
          <a:prstGeom prst="roundRect">
            <a:avLst>
              <a:gd fmla="val 12500" name="adj"/>
            </a:avLst>
          </a:prstGeom>
          <a:solidFill>
            <a:srgbClr val="060816"/>
          </a:solidFill>
          <a:ln cap="flat" cmpd="sng" w="9525">
            <a:solidFill>
              <a:srgbClr val="FF525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0" name="Google Shape;910;p38"/>
          <p:cNvSpPr/>
          <p:nvPr/>
        </p:nvSpPr>
        <p:spPr>
          <a:xfrm>
            <a:off x="7680960" y="2791968"/>
            <a:ext cx="3950100" cy="390000"/>
          </a:xfrm>
          <a:prstGeom prst="rect">
            <a:avLst/>
          </a:prstGeom>
          <a:noFill/>
          <a:ln>
            <a:noFill/>
          </a:ln>
        </p:spPr>
        <p:txBody>
          <a:bodyPr anchorCtr="0" anchor="ctr" bIns="33875" lIns="33875" spcFirstLastPara="1" rIns="33875" wrap="square" tIns="33875">
            <a:noAutofit/>
          </a:bodyPr>
          <a:lstStyle/>
          <a:p>
            <a:pPr indent="0" lvl="0" marL="0" marR="0" rtl="0" algn="l">
              <a:lnSpc>
                <a:spcPct val="100000"/>
              </a:lnSpc>
              <a:spcBef>
                <a:spcPts val="0"/>
              </a:spcBef>
              <a:spcAft>
                <a:spcPts val="0"/>
              </a:spcAft>
              <a:buClr>
                <a:srgbClr val="FF5252"/>
              </a:buClr>
              <a:buSzPts val="800"/>
              <a:buFont typeface="Calibri"/>
              <a:buNone/>
            </a:pPr>
            <a:r>
              <a:rPr b="1" i="0" lang="en-US" sz="800" u="none" cap="none" strike="noStrike">
                <a:solidFill>
                  <a:srgbClr val="FF5252"/>
                </a:solidFill>
                <a:latin typeface="Calibri"/>
                <a:ea typeface="Calibri"/>
                <a:cs typeface="Calibri"/>
                <a:sym typeface="Calibri"/>
              </a:rPr>
              <a:t>Axis 3: PARAMETER SAFETY  </a:t>
            </a:r>
            <a:r>
              <a:rPr b="0" i="0" lang="en-US" sz="700" u="none" cap="none" strike="noStrike">
                <a:solidFill>
                  <a:srgbClr val="9CA3AF"/>
                </a:solidFill>
                <a:latin typeface="Calibri"/>
                <a:ea typeface="Calibri"/>
                <a:cs typeface="Calibri"/>
                <a:sym typeface="Calibri"/>
              </a:rPr>
              <a:t>Do params exhibit prompt injection patterns or scope drift?</a:t>
            </a:r>
            <a:endParaRPr b="0" i="0" sz="800" u="none" cap="none" strike="noStrike">
              <a:solidFill>
                <a:schemeClr val="dk1"/>
              </a:solidFill>
              <a:latin typeface="Calibri"/>
              <a:ea typeface="Calibri"/>
              <a:cs typeface="Calibri"/>
              <a:sym typeface="Calibri"/>
            </a:endParaRPr>
          </a:p>
        </p:txBody>
      </p:sp>
      <p:sp>
        <p:nvSpPr>
          <p:cNvPr id="911" name="Google Shape;911;p38"/>
          <p:cNvSpPr/>
          <p:nvPr/>
        </p:nvSpPr>
        <p:spPr>
          <a:xfrm>
            <a:off x="7632192" y="3255264"/>
            <a:ext cx="1975200" cy="341400"/>
          </a:xfrm>
          <a:prstGeom prst="roundRect">
            <a:avLst>
              <a:gd fmla="val 14286" name="adj"/>
            </a:avLst>
          </a:prstGeom>
          <a:solidFill>
            <a:srgbClr val="041A08"/>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2" name="Google Shape;912;p38"/>
          <p:cNvSpPr/>
          <p:nvPr/>
        </p:nvSpPr>
        <p:spPr>
          <a:xfrm>
            <a:off x="7632192" y="3255264"/>
            <a:ext cx="1975200" cy="341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FFF00"/>
              </a:buClr>
              <a:buSzPts val="900"/>
              <a:buFont typeface="Calibri"/>
              <a:buNone/>
            </a:pPr>
            <a:r>
              <a:rPr b="1" i="0" lang="en-US" sz="900" u="none" cap="none" strike="noStrike">
                <a:solidFill>
                  <a:srgbClr val="7FFF00"/>
                </a:solidFill>
                <a:latin typeface="Calibri"/>
                <a:ea typeface="Calibri"/>
                <a:cs typeface="Calibri"/>
                <a:sym typeface="Calibri"/>
              </a:rPr>
              <a:t>✅ EXECUTE</a:t>
            </a:r>
            <a:endParaRPr b="0" i="0" sz="900" u="none" cap="none" strike="noStrike">
              <a:solidFill>
                <a:schemeClr val="dk1"/>
              </a:solidFill>
              <a:latin typeface="Calibri"/>
              <a:ea typeface="Calibri"/>
              <a:cs typeface="Calibri"/>
              <a:sym typeface="Calibri"/>
            </a:endParaRPr>
          </a:p>
        </p:txBody>
      </p:sp>
      <p:sp>
        <p:nvSpPr>
          <p:cNvPr id="913" name="Google Shape;913;p38"/>
          <p:cNvSpPr/>
          <p:nvPr/>
        </p:nvSpPr>
        <p:spPr>
          <a:xfrm>
            <a:off x="9680448" y="3255264"/>
            <a:ext cx="1975200" cy="341400"/>
          </a:xfrm>
          <a:prstGeom prst="roundRect">
            <a:avLst>
              <a:gd fmla="val 14286" name="adj"/>
            </a:avLst>
          </a:prstGeom>
          <a:solidFill>
            <a:srgbClr val="1A1002"/>
          </a:solidFill>
          <a:ln cap="flat" cmpd="sng" w="114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4" name="Google Shape;914;p38"/>
          <p:cNvSpPr/>
          <p:nvPr/>
        </p:nvSpPr>
        <p:spPr>
          <a:xfrm>
            <a:off x="9680448" y="3255264"/>
            <a:ext cx="1975200" cy="341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C107"/>
              </a:buClr>
              <a:buSzPts val="900"/>
              <a:buFont typeface="Calibri"/>
              <a:buNone/>
            </a:pPr>
            <a:r>
              <a:rPr b="1" i="0" lang="en-US" sz="900" u="none" cap="none" strike="noStrike">
                <a:solidFill>
                  <a:srgbClr val="FFC107"/>
                </a:solidFill>
                <a:latin typeface="Calibri"/>
                <a:ea typeface="Calibri"/>
                <a:cs typeface="Calibri"/>
                <a:sym typeface="Calibri"/>
              </a:rPr>
              <a:t>⬆️ ESCALATE</a:t>
            </a:r>
            <a:endParaRPr b="0" i="0" sz="900" u="none" cap="none" strike="noStrike">
              <a:solidFill>
                <a:schemeClr val="dk1"/>
              </a:solidFill>
              <a:latin typeface="Calibri"/>
              <a:ea typeface="Calibri"/>
              <a:cs typeface="Calibri"/>
              <a:sym typeface="Calibri"/>
            </a:endParaRPr>
          </a:p>
        </p:txBody>
      </p:sp>
      <p:sp>
        <p:nvSpPr>
          <p:cNvPr id="915" name="Google Shape;915;p38"/>
          <p:cNvSpPr/>
          <p:nvPr/>
        </p:nvSpPr>
        <p:spPr>
          <a:xfrm>
            <a:off x="7485888" y="3742944"/>
            <a:ext cx="4316100" cy="26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Tool Risk Tier Summary</a:t>
            </a:r>
            <a:endParaRPr b="0" i="0" sz="1000" u="none" cap="none" strike="noStrike">
              <a:solidFill>
                <a:schemeClr val="dk1"/>
              </a:solidFill>
              <a:latin typeface="Calibri"/>
              <a:ea typeface="Calibri"/>
              <a:cs typeface="Calibri"/>
              <a:sym typeface="Calibri"/>
            </a:endParaRPr>
          </a:p>
        </p:txBody>
      </p:sp>
      <p:sp>
        <p:nvSpPr>
          <p:cNvPr id="916" name="Google Shape;916;p38"/>
          <p:cNvSpPr/>
          <p:nvPr/>
        </p:nvSpPr>
        <p:spPr>
          <a:xfrm>
            <a:off x="7485888" y="4047744"/>
            <a:ext cx="4316100" cy="512100"/>
          </a:xfrm>
          <a:prstGeom prst="roundRect">
            <a:avLst>
              <a:gd fmla="val 11905" name="adj"/>
            </a:avLst>
          </a:prstGeom>
          <a:solidFill>
            <a:srgbClr val="041A08"/>
          </a:solidFill>
          <a:ln cap="flat" cmpd="sng" w="11425">
            <a:solidFill>
              <a:srgbClr val="7FFF00"/>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7" name="Google Shape;917;p38"/>
          <p:cNvSpPr/>
          <p:nvPr/>
        </p:nvSpPr>
        <p:spPr>
          <a:xfrm>
            <a:off x="7632192" y="4047744"/>
            <a:ext cx="4023300" cy="512100"/>
          </a:xfrm>
          <a:prstGeom prst="rect">
            <a:avLst/>
          </a:prstGeom>
          <a:noFill/>
          <a:ln>
            <a:noFill/>
          </a:ln>
        </p:spPr>
        <p:txBody>
          <a:bodyPr anchorCtr="0" anchor="ctr" bIns="33875" lIns="33875" spcFirstLastPara="1" rIns="33875" wrap="square" tIns="33875">
            <a:noAutofit/>
          </a:bodyPr>
          <a:lstStyle/>
          <a:p>
            <a:pPr indent="0" lvl="0" marL="0" marR="0" rtl="0" algn="l">
              <a:lnSpc>
                <a:spcPct val="100000"/>
              </a:lnSpc>
              <a:spcBef>
                <a:spcPts val="0"/>
              </a:spcBef>
              <a:spcAft>
                <a:spcPts val="0"/>
              </a:spcAft>
              <a:buClr>
                <a:srgbClr val="7FFF00"/>
              </a:buClr>
              <a:buSzPts val="900"/>
              <a:buFont typeface="Calibri"/>
              <a:buNone/>
            </a:pPr>
            <a:r>
              <a:rPr b="1" i="0" lang="en-US" sz="900" u="none" cap="none" strike="noStrike">
                <a:solidFill>
                  <a:srgbClr val="7FFF00"/>
                </a:solidFill>
                <a:latin typeface="Calibri"/>
                <a:ea typeface="Calibri"/>
                <a:cs typeface="Calibri"/>
                <a:sym typeface="Calibri"/>
              </a:rPr>
              <a:t>🟢 LOW  </a:t>
            </a:r>
            <a:r>
              <a:rPr b="0" i="0" lang="en-US" sz="800" u="none" cap="none" strike="noStrike">
                <a:solidFill>
                  <a:srgbClr val="9CA3AF"/>
                </a:solidFill>
                <a:latin typeface="Calibri"/>
                <a:ea typeface="Calibri"/>
                <a:cs typeface="Calibri"/>
                <a:sym typeface="Calibri"/>
              </a:rPr>
              <a:t>Scope check only</a:t>
            </a:r>
            <a:br>
              <a:rPr b="0" i="0" lang="en-US" sz="800" u="none" cap="none" strike="noStrike">
                <a:solidFill>
                  <a:srgbClr val="9CA3AF"/>
                </a:solidFill>
                <a:latin typeface="Calibri"/>
                <a:ea typeface="Calibri"/>
                <a:cs typeface="Calibri"/>
                <a:sym typeface="Calibri"/>
              </a:rPr>
            </a:br>
            <a:r>
              <a:rPr b="0" i="1" lang="en-US" sz="700" u="none" cap="none" strike="noStrike">
                <a:solidFill>
                  <a:srgbClr val="6B7280"/>
                </a:solidFill>
                <a:latin typeface="Calibri"/>
                <a:ea typeface="Calibri"/>
                <a:cs typeface="Calibri"/>
                <a:sym typeface="Calibri"/>
              </a:rPr>
              <a:t>Amass · httpx · WhatWeb · EyeWitness</a:t>
            </a:r>
            <a:endParaRPr b="0" i="0" sz="900" u="none" cap="none" strike="noStrike">
              <a:solidFill>
                <a:schemeClr val="dk1"/>
              </a:solidFill>
              <a:latin typeface="Calibri"/>
              <a:ea typeface="Calibri"/>
              <a:cs typeface="Calibri"/>
              <a:sym typeface="Calibri"/>
            </a:endParaRPr>
          </a:p>
        </p:txBody>
      </p:sp>
      <p:sp>
        <p:nvSpPr>
          <p:cNvPr id="918" name="Google Shape;918;p38"/>
          <p:cNvSpPr/>
          <p:nvPr/>
        </p:nvSpPr>
        <p:spPr>
          <a:xfrm>
            <a:off x="7485888" y="4632960"/>
            <a:ext cx="4316100" cy="512100"/>
          </a:xfrm>
          <a:prstGeom prst="roundRect">
            <a:avLst>
              <a:gd fmla="val 11905" name="adj"/>
            </a:avLst>
          </a:prstGeom>
          <a:solidFill>
            <a:srgbClr val="1A1002"/>
          </a:solidFill>
          <a:ln cap="flat" cmpd="sng" w="11425">
            <a:solidFill>
              <a:srgbClr val="FFC107"/>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9" name="Google Shape;919;p38"/>
          <p:cNvSpPr/>
          <p:nvPr/>
        </p:nvSpPr>
        <p:spPr>
          <a:xfrm>
            <a:off x="7632192" y="4632960"/>
            <a:ext cx="4023300" cy="512100"/>
          </a:xfrm>
          <a:prstGeom prst="rect">
            <a:avLst/>
          </a:prstGeom>
          <a:noFill/>
          <a:ln>
            <a:noFill/>
          </a:ln>
        </p:spPr>
        <p:txBody>
          <a:bodyPr anchorCtr="0" anchor="ctr" bIns="33875" lIns="33875" spcFirstLastPara="1" rIns="33875" wrap="square" tIns="33875">
            <a:noAutofit/>
          </a:bodyPr>
          <a:lstStyle/>
          <a:p>
            <a:pPr indent="0" lvl="0" marL="0" marR="0" rtl="0" algn="l">
              <a:lnSpc>
                <a:spcPct val="100000"/>
              </a:lnSpc>
              <a:spcBef>
                <a:spcPts val="0"/>
              </a:spcBef>
              <a:spcAft>
                <a:spcPts val="0"/>
              </a:spcAft>
              <a:buClr>
                <a:srgbClr val="FFC107"/>
              </a:buClr>
              <a:buSzPts val="900"/>
              <a:buFont typeface="Calibri"/>
              <a:buNone/>
            </a:pPr>
            <a:r>
              <a:rPr b="1" i="0" lang="en-US" sz="900" u="none" cap="none" strike="noStrike">
                <a:solidFill>
                  <a:srgbClr val="FFC107"/>
                </a:solidFill>
                <a:latin typeface="Calibri"/>
                <a:ea typeface="Calibri"/>
                <a:cs typeface="Calibri"/>
                <a:sym typeface="Calibri"/>
              </a:rPr>
              <a:t>🟡 MED  </a:t>
            </a:r>
            <a:r>
              <a:rPr b="0" i="0" lang="en-US" sz="800" u="none" cap="none" strike="noStrike">
                <a:solidFill>
                  <a:srgbClr val="9CA3AF"/>
                </a:solidFill>
                <a:latin typeface="Calibri"/>
                <a:ea typeface="Calibri"/>
                <a:cs typeface="Calibri"/>
                <a:sym typeface="Calibri"/>
              </a:rPr>
              <a:t>LLM Classifier → exec/esc</a:t>
            </a:r>
            <a:br>
              <a:rPr b="0" i="0" lang="en-US" sz="800" u="none" cap="none" strike="noStrike">
                <a:solidFill>
                  <a:srgbClr val="9CA3AF"/>
                </a:solidFill>
                <a:latin typeface="Calibri"/>
                <a:ea typeface="Calibri"/>
                <a:cs typeface="Calibri"/>
                <a:sym typeface="Calibri"/>
              </a:rPr>
            </a:br>
            <a:r>
              <a:rPr b="0" i="1" lang="en-US" sz="700" u="none" cap="none" strike="noStrike">
                <a:solidFill>
                  <a:srgbClr val="6B7280"/>
                </a:solidFill>
                <a:latin typeface="Calibri"/>
                <a:ea typeface="Calibri"/>
                <a:cs typeface="Calibri"/>
                <a:sym typeface="Calibri"/>
              </a:rPr>
              <a:t>Nmap · Gobuster · ffuf · Nuclei · ZAP</a:t>
            </a:r>
            <a:endParaRPr b="0" i="0" sz="900" u="none" cap="none" strike="noStrike">
              <a:solidFill>
                <a:schemeClr val="dk1"/>
              </a:solidFill>
              <a:latin typeface="Calibri"/>
              <a:ea typeface="Calibri"/>
              <a:cs typeface="Calibri"/>
              <a:sym typeface="Calibri"/>
            </a:endParaRPr>
          </a:p>
        </p:txBody>
      </p:sp>
      <p:sp>
        <p:nvSpPr>
          <p:cNvPr id="920" name="Google Shape;920;p38"/>
          <p:cNvSpPr/>
          <p:nvPr/>
        </p:nvSpPr>
        <p:spPr>
          <a:xfrm>
            <a:off x="7485888" y="5218176"/>
            <a:ext cx="4316100" cy="512100"/>
          </a:xfrm>
          <a:prstGeom prst="roundRect">
            <a:avLst>
              <a:gd fmla="val 11905" name="adj"/>
            </a:avLst>
          </a:prstGeom>
          <a:solidFill>
            <a:srgbClr val="1A0606"/>
          </a:solidFill>
          <a:ln cap="flat" cmpd="sng" w="11425">
            <a:solidFill>
              <a:srgbClr val="FF5252"/>
            </a:solidFill>
            <a:prstDash val="solid"/>
            <a:round/>
            <a:headEnd len="sm" w="sm" type="none"/>
            <a:tailEnd len="sm" w="sm" type="none"/>
          </a:ln>
          <a:effectLst>
            <a:outerShdw blurRad="76200" rotWithShape="0" algn="bl" dir="2700000" dist="25400">
              <a:srgbClr val="000000">
                <a:alpha val="3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1" name="Google Shape;921;p38"/>
          <p:cNvSpPr/>
          <p:nvPr/>
        </p:nvSpPr>
        <p:spPr>
          <a:xfrm>
            <a:off x="7632192" y="5218176"/>
            <a:ext cx="4023300" cy="512100"/>
          </a:xfrm>
          <a:prstGeom prst="rect">
            <a:avLst/>
          </a:prstGeom>
          <a:noFill/>
          <a:ln>
            <a:noFill/>
          </a:ln>
        </p:spPr>
        <p:txBody>
          <a:bodyPr anchorCtr="0" anchor="ctr" bIns="33875" lIns="33875" spcFirstLastPara="1" rIns="33875" wrap="square" tIns="33875">
            <a:noAutofit/>
          </a:bodyPr>
          <a:lstStyle/>
          <a:p>
            <a:pPr indent="0" lvl="0" marL="0" marR="0" rtl="0" algn="l">
              <a:lnSpc>
                <a:spcPct val="100000"/>
              </a:lnSpc>
              <a:spcBef>
                <a:spcPts val="0"/>
              </a:spcBef>
              <a:spcAft>
                <a:spcPts val="0"/>
              </a:spcAft>
              <a:buClr>
                <a:srgbClr val="FF5252"/>
              </a:buClr>
              <a:buSzPts val="900"/>
              <a:buFont typeface="Calibri"/>
              <a:buNone/>
            </a:pPr>
            <a:r>
              <a:rPr b="1" i="0" lang="en-US" sz="900" u="none" cap="none" strike="noStrike">
                <a:solidFill>
                  <a:srgbClr val="FF5252"/>
                </a:solidFill>
                <a:latin typeface="Calibri"/>
                <a:ea typeface="Calibri"/>
                <a:cs typeface="Calibri"/>
                <a:sym typeface="Calibri"/>
              </a:rPr>
              <a:t>🔴 HIGH  </a:t>
            </a:r>
            <a:r>
              <a:rPr b="0" i="0" lang="en-US" sz="800" u="none" cap="none" strike="noStrike">
                <a:solidFill>
                  <a:srgbClr val="9CA3AF"/>
                </a:solidFill>
                <a:latin typeface="Calibri"/>
                <a:ea typeface="Calibri"/>
                <a:cs typeface="Calibri"/>
                <a:sym typeface="Calibri"/>
              </a:rPr>
              <a:t>Commander Mailbox approval</a:t>
            </a:r>
            <a:br>
              <a:rPr b="0" i="0" lang="en-US" sz="800" u="none" cap="none" strike="noStrike">
                <a:solidFill>
                  <a:srgbClr val="9CA3AF"/>
                </a:solidFill>
                <a:latin typeface="Calibri"/>
                <a:ea typeface="Calibri"/>
                <a:cs typeface="Calibri"/>
                <a:sym typeface="Calibri"/>
              </a:rPr>
            </a:br>
            <a:r>
              <a:rPr b="0" i="1" lang="en-US" sz="700" u="none" cap="none" strike="noStrike">
                <a:solidFill>
                  <a:srgbClr val="6B7280"/>
                </a:solidFill>
                <a:latin typeface="Calibri"/>
                <a:ea typeface="Calibri"/>
                <a:cs typeface="Calibri"/>
                <a:sym typeface="Calibri"/>
              </a:rPr>
              <a:t>SQLMap · Metasploit</a:t>
            </a:r>
            <a:endParaRPr b="0" i="0" sz="900" u="none" cap="none" strike="noStrike">
              <a:solidFill>
                <a:schemeClr val="dk1"/>
              </a:solidFill>
              <a:latin typeface="Calibri"/>
              <a:ea typeface="Calibri"/>
              <a:cs typeface="Calibri"/>
              <a:sym typeface="Calibri"/>
            </a:endParaRPr>
          </a:p>
        </p:txBody>
      </p:sp>
      <p:sp>
        <p:nvSpPr>
          <p:cNvPr id="922" name="Google Shape;922;p38"/>
          <p:cNvSpPr/>
          <p:nvPr/>
        </p:nvSpPr>
        <p:spPr>
          <a:xfrm>
            <a:off x="7485888" y="5852160"/>
            <a:ext cx="4316100" cy="670500"/>
          </a:xfrm>
          <a:prstGeom prst="roundRect">
            <a:avLst>
              <a:gd fmla="val 10909" name="adj"/>
            </a:avLst>
          </a:prstGeom>
          <a:solidFill>
            <a:srgbClr val="06101E"/>
          </a:solidFill>
          <a:ln cap="flat" cmpd="sng" w="10150">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3" name="Google Shape;923;p38"/>
          <p:cNvSpPr/>
          <p:nvPr/>
        </p:nvSpPr>
        <p:spPr>
          <a:xfrm>
            <a:off x="7632192" y="5852160"/>
            <a:ext cx="4023300" cy="670500"/>
          </a:xfrm>
          <a:prstGeom prst="rect">
            <a:avLst/>
          </a:prstGeom>
          <a:no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D4FF"/>
              </a:buClr>
              <a:buSzPts val="900"/>
              <a:buFont typeface="Calibri"/>
              <a:buNone/>
            </a:pPr>
            <a:r>
              <a:rPr b="1" i="0" lang="en-US" sz="900" u="none" cap="none" strike="noStrike">
                <a:solidFill>
                  <a:srgbClr val="00D4FF"/>
                </a:solidFill>
                <a:latin typeface="Calibri"/>
                <a:ea typeface="Calibri"/>
                <a:cs typeface="Calibri"/>
                <a:sym typeface="Calibri"/>
              </a:rPr>
              <a:t>🔒 Critical Safety Property</a:t>
            </a:r>
            <a:br>
              <a:rPr b="1" i="0" lang="en-US" sz="900" u="none" cap="none" strike="noStrike">
                <a:solidFill>
                  <a:srgbClr val="00D4FF"/>
                </a:solidFill>
                <a:latin typeface="Calibri"/>
                <a:ea typeface="Calibri"/>
                <a:cs typeface="Calibri"/>
                <a:sym typeface="Calibri"/>
              </a:rPr>
            </a:b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A3AF"/>
              </a:buClr>
              <a:buSzPts val="800"/>
              <a:buFont typeface="Calibri"/>
              <a:buNone/>
            </a:pPr>
            <a:r>
              <a:rPr b="0" i="0" lang="en-US" sz="800" u="none" cap="none" strike="noStrike">
                <a:solidFill>
                  <a:srgbClr val="9CA3AF"/>
                </a:solidFill>
                <a:latin typeface="Calibri"/>
                <a:ea typeface="Calibri"/>
                <a:cs typeface="Calibri"/>
                <a:sym typeface="Calibri"/>
              </a:rPr>
              <a:t>No irreversible offensive operation executes without Commander-level scope validation. No Medium-tier call executes without LLM classifier approval.</a:t>
            </a:r>
            <a:endParaRPr b="0" i="0" sz="900" u="none" cap="none" strike="noStrike">
              <a:solidFill>
                <a:schemeClr val="dk1"/>
              </a:solidFill>
              <a:latin typeface="Calibri"/>
              <a:ea typeface="Calibri"/>
              <a:cs typeface="Calibri"/>
              <a:sym typeface="Calibri"/>
            </a:endParaRPr>
          </a:p>
        </p:txBody>
      </p:sp>
      <p:sp>
        <p:nvSpPr>
          <p:cNvPr id="924" name="Google Shape;924;p38"/>
          <p:cNvSpPr/>
          <p:nvPr/>
        </p:nvSpPr>
        <p:spPr>
          <a:xfrm>
            <a:off x="11643360" y="6608064"/>
            <a:ext cx="463200" cy="219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374151"/>
              </a:buClr>
              <a:buSzPts val="1100"/>
              <a:buFont typeface="Calibri"/>
              <a:buNone/>
            </a:pPr>
            <a:r>
              <a:rPr b="1" i="0" lang="en-US" sz="1100" u="none" cap="none" strike="noStrike">
                <a:solidFill>
                  <a:srgbClr val="374151"/>
                </a:solidFill>
                <a:latin typeface="Calibri"/>
                <a:ea typeface="Calibri"/>
                <a:cs typeface="Calibri"/>
                <a:sym typeface="Calibri"/>
              </a:rPr>
              <a:t>07b</a:t>
            </a:r>
            <a:endParaRPr b="0" i="0" sz="1100" u="none" cap="none" strike="noStrike">
              <a:solidFill>
                <a:schemeClr val="dk1"/>
              </a:solidFill>
              <a:latin typeface="Calibri"/>
              <a:ea typeface="Calibri"/>
              <a:cs typeface="Calibri"/>
              <a:sym typeface="Calibri"/>
            </a:endParaRPr>
          </a:p>
        </p:txBody>
      </p:sp>
      <p:sp>
        <p:nvSpPr>
          <p:cNvPr id="925" name="Google Shape;925;p38"/>
          <p:cNvSpPr txBox="1"/>
          <p:nvPr/>
        </p:nvSpPr>
        <p:spPr>
          <a:xfrm>
            <a:off x="11612747" y="82400"/>
            <a:ext cx="4116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00D4FF"/>
                </a:solidFill>
                <a:latin typeface="Calibri"/>
                <a:ea typeface="Calibri"/>
                <a:cs typeface="Calibri"/>
                <a:sym typeface="Calibri"/>
              </a:rPr>
              <a:t>10</a:t>
            </a:r>
            <a:endParaRPr b="0" i="0" sz="1400" u="none" cap="none" strike="noStrike">
              <a:solidFill>
                <a:srgbClr val="00D4FF"/>
              </a:solidFill>
              <a:latin typeface="Arial"/>
              <a:ea typeface="Arial"/>
              <a:cs typeface="Arial"/>
              <a:sym typeface="Arial"/>
            </a:endParaRPr>
          </a:p>
        </p:txBody>
      </p:sp>
      <p:cxnSp>
        <p:nvCxnSpPr>
          <p:cNvPr id="926" name="Google Shape;926;p38"/>
          <p:cNvCxnSpPr>
            <a:endCxn id="873" idx="0"/>
          </p:cNvCxnSpPr>
          <p:nvPr/>
        </p:nvCxnSpPr>
        <p:spPr>
          <a:xfrm flipH="1">
            <a:off x="3040380" y="3981684"/>
            <a:ext cx="148800" cy="233700"/>
          </a:xfrm>
          <a:prstGeom prst="straightConnector1">
            <a:avLst/>
          </a:prstGeom>
          <a:noFill/>
          <a:ln cap="flat" cmpd="sng" w="9525">
            <a:solidFill>
              <a:srgbClr val="39FF14"/>
            </a:solidFill>
            <a:prstDash val="solid"/>
            <a:round/>
            <a:headEnd len="med" w="med" type="none"/>
            <a:tailEnd len="med" w="med" type="triangle"/>
          </a:ln>
        </p:spPr>
      </p:cxnSp>
      <p:cxnSp>
        <p:nvCxnSpPr>
          <p:cNvPr id="927" name="Google Shape;927;p38"/>
          <p:cNvCxnSpPr>
            <a:endCxn id="876" idx="0"/>
          </p:cNvCxnSpPr>
          <p:nvPr/>
        </p:nvCxnSpPr>
        <p:spPr>
          <a:xfrm>
            <a:off x="3846400" y="3942675"/>
            <a:ext cx="279900" cy="272700"/>
          </a:xfrm>
          <a:prstGeom prst="straightConnector1">
            <a:avLst/>
          </a:prstGeom>
          <a:noFill/>
          <a:ln cap="flat" cmpd="sng" w="9525">
            <a:solidFill>
              <a:srgbClr val="FFC107"/>
            </a:solidFill>
            <a:prstDash val="solid"/>
            <a:round/>
            <a:headEnd len="med" w="med" type="none"/>
            <a:tailEnd len="med" w="med" type="triangle"/>
          </a:ln>
        </p:spPr>
      </p:cxnSp>
      <p:cxnSp>
        <p:nvCxnSpPr>
          <p:cNvPr id="928" name="Google Shape;928;p38"/>
          <p:cNvCxnSpPr>
            <a:endCxn id="883" idx="0"/>
          </p:cNvCxnSpPr>
          <p:nvPr/>
        </p:nvCxnSpPr>
        <p:spPr>
          <a:xfrm flipH="1">
            <a:off x="5221224" y="3942684"/>
            <a:ext cx="61500" cy="272700"/>
          </a:xfrm>
          <a:prstGeom prst="straightConnector1">
            <a:avLst/>
          </a:prstGeom>
          <a:noFill/>
          <a:ln cap="flat" cmpd="sng" w="9525">
            <a:solidFill>
              <a:srgbClr val="39FF14"/>
            </a:solidFill>
            <a:prstDash val="solid"/>
            <a:round/>
            <a:headEnd len="med" w="med" type="none"/>
            <a:tailEnd len="med" w="med" type="triangle"/>
          </a:ln>
        </p:spPr>
      </p:cxnSp>
      <p:cxnSp>
        <p:nvCxnSpPr>
          <p:cNvPr id="929" name="Google Shape;929;p38"/>
          <p:cNvCxnSpPr>
            <a:stCxn id="863" idx="2"/>
            <a:endCxn id="886" idx="0"/>
          </p:cNvCxnSpPr>
          <p:nvPr/>
        </p:nvCxnSpPr>
        <p:spPr>
          <a:xfrm flipH="1">
            <a:off x="6035171" y="3948353"/>
            <a:ext cx="7500" cy="267000"/>
          </a:xfrm>
          <a:prstGeom prst="straightConnector1">
            <a:avLst/>
          </a:prstGeom>
          <a:noFill/>
          <a:ln cap="flat" cmpd="sng" w="9525">
            <a:solidFill>
              <a:srgbClr val="FF4545"/>
            </a:solidFill>
            <a:prstDash val="solid"/>
            <a:round/>
            <a:headEnd len="med" w="med" type="none"/>
            <a:tailEnd len="med" w="med" type="triangle"/>
          </a:ln>
        </p:spPr>
      </p:cxnSp>
      <p:cxnSp>
        <p:nvCxnSpPr>
          <p:cNvPr id="930" name="Google Shape;930;p38"/>
          <p:cNvCxnSpPr>
            <a:stCxn id="863" idx="3"/>
          </p:cNvCxnSpPr>
          <p:nvPr/>
        </p:nvCxnSpPr>
        <p:spPr>
          <a:xfrm>
            <a:off x="6833621" y="3678653"/>
            <a:ext cx="259200" cy="547800"/>
          </a:xfrm>
          <a:prstGeom prst="straightConnector1">
            <a:avLst/>
          </a:prstGeom>
          <a:noFill/>
          <a:ln cap="flat" cmpd="sng" w="9525">
            <a:solidFill>
              <a:srgbClr val="FFC107"/>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935" name="Shape 935"/>
        <p:cNvGrpSpPr/>
        <p:nvPr/>
      </p:nvGrpSpPr>
      <p:grpSpPr>
        <a:xfrm>
          <a:off x="0" y="0"/>
          <a:ext cx="0" cy="0"/>
          <a:chOff x="0" y="0"/>
          <a:chExt cx="0" cy="0"/>
        </a:xfrm>
      </p:grpSpPr>
      <p:sp>
        <p:nvSpPr>
          <p:cNvPr id="936" name="Google Shape;936;p39"/>
          <p:cNvSpPr/>
          <p:nvPr/>
        </p:nvSpPr>
        <p:spPr>
          <a:xfrm>
            <a:off x="365760" y="73152"/>
            <a:ext cx="10972800" cy="2439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D4FF"/>
              </a:buClr>
              <a:buSzPts val="1100"/>
              <a:buFont typeface="Arial"/>
              <a:buNone/>
            </a:pPr>
            <a:r>
              <a:rPr b="1" i="0" lang="en-US" sz="1100" u="none" cap="none" strike="noStrike">
                <a:solidFill>
                  <a:srgbClr val="00D4FF"/>
                </a:solidFill>
                <a:latin typeface="Arial"/>
                <a:ea typeface="Arial"/>
                <a:cs typeface="Arial"/>
                <a:sym typeface="Arial"/>
              </a:rPr>
              <a:t>AUTONOMOUS PLANNING CYCLE</a:t>
            </a:r>
            <a:endParaRPr b="0" i="0" sz="1100" u="none" cap="none" strike="noStrike">
              <a:solidFill>
                <a:schemeClr val="dk1"/>
              </a:solidFill>
              <a:latin typeface="Calibri"/>
              <a:ea typeface="Calibri"/>
              <a:cs typeface="Calibri"/>
              <a:sym typeface="Calibri"/>
            </a:endParaRPr>
          </a:p>
        </p:txBody>
      </p:sp>
      <p:sp>
        <p:nvSpPr>
          <p:cNvPr id="937" name="Google Shape;937;p39"/>
          <p:cNvSpPr/>
          <p:nvPr/>
        </p:nvSpPr>
        <p:spPr>
          <a:xfrm>
            <a:off x="365760" y="292608"/>
            <a:ext cx="11460600" cy="3657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FFFF"/>
              </a:buClr>
              <a:buSzPts val="2300"/>
              <a:buFont typeface="Arial"/>
              <a:buNone/>
            </a:pPr>
            <a:r>
              <a:rPr b="1" i="0" lang="en-US" sz="2300" u="none" cap="none" strike="noStrike">
                <a:solidFill>
                  <a:srgbClr val="FFFFFF"/>
                </a:solidFill>
                <a:latin typeface="Arial"/>
                <a:ea typeface="Arial"/>
                <a:cs typeface="Arial"/>
                <a:sym typeface="Arial"/>
              </a:rPr>
              <a:t>Commander Loop — Graph-Grounded, Event-Driven, Self-Terminating</a:t>
            </a:r>
            <a:endParaRPr b="0" i="0" sz="2300" u="none" cap="none" strike="noStrike">
              <a:solidFill>
                <a:schemeClr val="dk1"/>
              </a:solidFill>
              <a:latin typeface="Calibri"/>
              <a:ea typeface="Calibri"/>
              <a:cs typeface="Calibri"/>
              <a:sym typeface="Calibri"/>
            </a:endParaRPr>
          </a:p>
        </p:txBody>
      </p:sp>
      <p:sp>
        <p:nvSpPr>
          <p:cNvPr id="938" name="Google Shape;938;p39"/>
          <p:cNvSpPr/>
          <p:nvPr/>
        </p:nvSpPr>
        <p:spPr>
          <a:xfrm>
            <a:off x="182880" y="804672"/>
            <a:ext cx="7071300" cy="5632800"/>
          </a:xfrm>
          <a:prstGeom prst="rect">
            <a:avLst/>
          </a:prstGeom>
          <a:solidFill>
            <a:srgbClr val="04100C"/>
          </a:solidFill>
          <a:ln cap="flat" cmpd="sng" w="19050">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9" name="Google Shape;939;p39"/>
          <p:cNvSpPr/>
          <p:nvPr/>
        </p:nvSpPr>
        <p:spPr>
          <a:xfrm>
            <a:off x="304800" y="853440"/>
            <a:ext cx="6827400" cy="2682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D4FF"/>
              </a:buClr>
              <a:buSzPts val="1200"/>
              <a:buFont typeface="Arial"/>
              <a:buNone/>
            </a:pPr>
            <a:r>
              <a:rPr b="1" i="0" lang="en-US" sz="1200" u="none" cap="none" strike="noStrike">
                <a:solidFill>
                  <a:srgbClr val="00D4FF"/>
                </a:solidFill>
                <a:latin typeface="Arial"/>
                <a:ea typeface="Arial"/>
                <a:cs typeface="Arial"/>
                <a:sym typeface="Arial"/>
              </a:rPr>
              <a:t>Core Planning Loop — Commander runs this every iteration</a:t>
            </a:r>
            <a:endParaRPr b="0" i="0" sz="1200" u="none" cap="none" strike="noStrike">
              <a:solidFill>
                <a:schemeClr val="dk1"/>
              </a:solidFill>
              <a:latin typeface="Calibri"/>
              <a:ea typeface="Calibri"/>
              <a:cs typeface="Calibri"/>
              <a:sym typeface="Calibri"/>
            </a:endParaRPr>
          </a:p>
        </p:txBody>
      </p:sp>
      <p:sp>
        <p:nvSpPr>
          <p:cNvPr id="940" name="Google Shape;940;p39"/>
          <p:cNvSpPr/>
          <p:nvPr/>
        </p:nvSpPr>
        <p:spPr>
          <a:xfrm>
            <a:off x="1969125" y="1208350"/>
            <a:ext cx="2218800" cy="304800"/>
          </a:xfrm>
          <a:prstGeom prst="roundRect">
            <a:avLst>
              <a:gd fmla="val 26316" name="adj"/>
            </a:avLst>
          </a:prstGeom>
          <a:solidFill>
            <a:srgbClr val="041A08"/>
          </a:solidFill>
          <a:ln cap="flat" cmpd="sng" w="152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1" name="Google Shape;941;p39"/>
          <p:cNvSpPr/>
          <p:nvPr/>
        </p:nvSpPr>
        <p:spPr>
          <a:xfrm>
            <a:off x="2170450" y="1190050"/>
            <a:ext cx="1743600" cy="3657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1200"/>
              <a:buFont typeface="Arial"/>
              <a:buNone/>
            </a:pPr>
            <a:r>
              <a:rPr b="1" i="0" lang="en-US" sz="1200" u="none" cap="none" strike="noStrike">
                <a:solidFill>
                  <a:srgbClr val="7FFF00"/>
                </a:solidFill>
                <a:latin typeface="Arial"/>
                <a:ea typeface="Arial"/>
                <a:cs typeface="Arial"/>
                <a:sym typeface="Arial"/>
              </a:rPr>
              <a:t>🚀  MISSION START</a:t>
            </a:r>
            <a:endParaRPr b="0" i="0" sz="1200" u="none" cap="none" strike="noStrike">
              <a:solidFill>
                <a:schemeClr val="dk1"/>
              </a:solidFill>
              <a:latin typeface="Calibri"/>
              <a:ea typeface="Calibri"/>
              <a:cs typeface="Calibri"/>
              <a:sym typeface="Calibri"/>
            </a:endParaRPr>
          </a:p>
        </p:txBody>
      </p:sp>
      <p:sp>
        <p:nvSpPr>
          <p:cNvPr id="942" name="Google Shape;942;p39"/>
          <p:cNvSpPr/>
          <p:nvPr/>
        </p:nvSpPr>
        <p:spPr>
          <a:xfrm>
            <a:off x="268224" y="1780032"/>
            <a:ext cx="2133600" cy="633900"/>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3" name="Google Shape;943;p39"/>
          <p:cNvSpPr/>
          <p:nvPr/>
        </p:nvSpPr>
        <p:spPr>
          <a:xfrm>
            <a:off x="316992" y="1780032"/>
            <a:ext cx="2036100" cy="6339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 OBSERVE ASG</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Unexplored nodes? New Vulns?</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New Technology nodes?</a:t>
            </a:r>
            <a:endParaRPr b="0" i="0" sz="800" u="none" cap="none" strike="noStrike">
              <a:solidFill>
                <a:schemeClr val="dk1"/>
              </a:solidFill>
              <a:latin typeface="Calibri"/>
              <a:ea typeface="Calibri"/>
              <a:cs typeface="Calibri"/>
              <a:sym typeface="Calibri"/>
            </a:endParaRPr>
          </a:p>
        </p:txBody>
      </p:sp>
      <p:sp>
        <p:nvSpPr>
          <p:cNvPr id="944" name="Google Shape;944;p39"/>
          <p:cNvSpPr/>
          <p:nvPr/>
        </p:nvSpPr>
        <p:spPr>
          <a:xfrm>
            <a:off x="2584704" y="1780032"/>
            <a:ext cx="2133600" cy="633900"/>
          </a:xfrm>
          <a:prstGeom prst="rect">
            <a:avLst/>
          </a:prstGeom>
          <a:solidFill>
            <a:srgbClr val="1E1004"/>
          </a:solidFill>
          <a:ln cap="flat" cmpd="sng" w="114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5" name="Google Shape;945;p39"/>
          <p:cNvSpPr/>
          <p:nvPr/>
        </p:nvSpPr>
        <p:spPr>
          <a:xfrm>
            <a:off x="2633472" y="1780032"/>
            <a:ext cx="2036100" cy="6339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 OBSERVE APG</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Hypothesized chains?</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VALIDATED / RULED_OUT?</a:t>
            </a:r>
            <a:endParaRPr b="0" i="0" sz="800" u="none" cap="none" strike="noStrike">
              <a:solidFill>
                <a:schemeClr val="dk1"/>
              </a:solidFill>
              <a:latin typeface="Calibri"/>
              <a:ea typeface="Calibri"/>
              <a:cs typeface="Calibri"/>
              <a:sym typeface="Calibri"/>
            </a:endParaRPr>
          </a:p>
        </p:txBody>
      </p:sp>
      <p:sp>
        <p:nvSpPr>
          <p:cNvPr id="946" name="Google Shape;946;p39"/>
          <p:cNvSpPr/>
          <p:nvPr/>
        </p:nvSpPr>
        <p:spPr>
          <a:xfrm>
            <a:off x="1304544" y="2584704"/>
            <a:ext cx="2316600" cy="633900"/>
          </a:xfrm>
          <a:prstGeom prst="rect">
            <a:avLst/>
          </a:prstGeom>
          <a:solidFill>
            <a:srgbClr val="04162E"/>
          </a:solidFill>
          <a:ln cap="flat" cmpd="sng" w="114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7" name="Google Shape;947;p39"/>
          <p:cNvSpPr/>
          <p:nvPr/>
        </p:nvSpPr>
        <p:spPr>
          <a:xfrm>
            <a:off x="1353312" y="2584704"/>
            <a:ext cx="2218800" cy="6339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 REASON</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Given ASG + APG state:</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What is the best next action?</a:t>
            </a:r>
            <a:endParaRPr b="0" i="0" sz="800" u="none" cap="none" strike="noStrike">
              <a:solidFill>
                <a:schemeClr val="dk1"/>
              </a:solidFill>
              <a:latin typeface="Calibri"/>
              <a:ea typeface="Calibri"/>
              <a:cs typeface="Calibri"/>
              <a:sym typeface="Calibri"/>
            </a:endParaRPr>
          </a:p>
        </p:txBody>
      </p:sp>
      <p:sp>
        <p:nvSpPr>
          <p:cNvPr id="948" name="Google Shape;948;p39"/>
          <p:cNvSpPr/>
          <p:nvPr/>
        </p:nvSpPr>
        <p:spPr>
          <a:xfrm>
            <a:off x="1853175" y="3389375"/>
            <a:ext cx="1219200" cy="390000"/>
          </a:xfrm>
          <a:prstGeom prst="rect">
            <a:avLst/>
          </a:prstGeom>
          <a:solidFill>
            <a:srgbClr val="04162E"/>
          </a:solidFill>
          <a:ln cap="flat" cmpd="sng" w="12700">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9" name="Google Shape;949;p39"/>
          <p:cNvSpPr/>
          <p:nvPr/>
        </p:nvSpPr>
        <p:spPr>
          <a:xfrm>
            <a:off x="1853175" y="3462575"/>
            <a:ext cx="1219200" cy="2925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D4FF"/>
              </a:buClr>
              <a:buSzPts val="1100"/>
              <a:buFont typeface="Arial"/>
              <a:buNone/>
            </a:pPr>
            <a:r>
              <a:rPr b="1" i="0" lang="en-US" sz="1100" u="none" cap="none" strike="noStrike">
                <a:solidFill>
                  <a:srgbClr val="00D4FF"/>
                </a:solidFill>
                <a:latin typeface="Arial"/>
                <a:ea typeface="Arial"/>
                <a:cs typeface="Arial"/>
                <a:sym typeface="Arial"/>
              </a:rPr>
              <a:t>DECIDE</a:t>
            </a:r>
            <a:endParaRPr b="0" i="0" sz="1100" u="none" cap="none" strike="noStrike">
              <a:solidFill>
                <a:schemeClr val="dk1"/>
              </a:solidFill>
              <a:latin typeface="Calibri"/>
              <a:ea typeface="Calibri"/>
              <a:cs typeface="Calibri"/>
              <a:sym typeface="Calibri"/>
            </a:endParaRPr>
          </a:p>
        </p:txBody>
      </p:sp>
      <p:sp>
        <p:nvSpPr>
          <p:cNvPr id="950" name="Google Shape;950;p39"/>
          <p:cNvSpPr/>
          <p:nvPr/>
        </p:nvSpPr>
        <p:spPr>
          <a:xfrm>
            <a:off x="329184" y="4047744"/>
            <a:ext cx="1341000" cy="633900"/>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1" name="Google Shape;951;p39"/>
          <p:cNvSpPr/>
          <p:nvPr/>
        </p:nvSpPr>
        <p:spPr>
          <a:xfrm>
            <a:off x="377952" y="4047744"/>
            <a:ext cx="1243500" cy="6339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 EXPLORE</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Spawn Discovery</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Agent</a:t>
            </a:r>
            <a:endParaRPr b="0" i="0" sz="800" u="none" cap="none" strike="noStrike">
              <a:solidFill>
                <a:schemeClr val="dk1"/>
              </a:solidFill>
              <a:latin typeface="Calibri"/>
              <a:ea typeface="Calibri"/>
              <a:cs typeface="Calibri"/>
              <a:sym typeface="Calibri"/>
            </a:endParaRPr>
          </a:p>
        </p:txBody>
      </p:sp>
      <p:sp>
        <p:nvSpPr>
          <p:cNvPr id="952" name="Google Shape;952;p39"/>
          <p:cNvSpPr/>
          <p:nvPr/>
        </p:nvSpPr>
        <p:spPr>
          <a:xfrm>
            <a:off x="1853184" y="4047744"/>
            <a:ext cx="1219200" cy="633900"/>
          </a:xfrm>
          <a:prstGeom prst="rect">
            <a:avLst/>
          </a:prstGeom>
          <a:solidFill>
            <a:srgbClr val="1E1004"/>
          </a:solidFill>
          <a:ln cap="flat" cmpd="sng" w="114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3" name="Google Shape;953;p39"/>
          <p:cNvSpPr/>
          <p:nvPr/>
        </p:nvSpPr>
        <p:spPr>
          <a:xfrm>
            <a:off x="1901952" y="4047744"/>
            <a:ext cx="1121700" cy="6339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 PARALLEL</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Weigh priority</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both paths</a:t>
            </a:r>
            <a:endParaRPr b="0" i="0" sz="800" u="none" cap="none" strike="noStrike">
              <a:solidFill>
                <a:schemeClr val="dk1"/>
              </a:solidFill>
              <a:latin typeface="Calibri"/>
              <a:ea typeface="Calibri"/>
              <a:cs typeface="Calibri"/>
              <a:sym typeface="Calibri"/>
            </a:endParaRPr>
          </a:p>
        </p:txBody>
      </p:sp>
      <p:sp>
        <p:nvSpPr>
          <p:cNvPr id="954" name="Google Shape;954;p39"/>
          <p:cNvSpPr/>
          <p:nvPr/>
        </p:nvSpPr>
        <p:spPr>
          <a:xfrm>
            <a:off x="3316224" y="4047744"/>
            <a:ext cx="1341000" cy="633900"/>
          </a:xfrm>
          <a:prstGeom prst="rect">
            <a:avLst/>
          </a:prstGeom>
          <a:solidFill>
            <a:srgbClr val="1A0606"/>
          </a:solidFill>
          <a:ln cap="flat" cmpd="sng" w="11425">
            <a:solidFill>
              <a:srgbClr val="FF525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5" name="Google Shape;955;p39"/>
          <p:cNvSpPr/>
          <p:nvPr/>
        </p:nvSpPr>
        <p:spPr>
          <a:xfrm>
            <a:off x="3364992" y="4047744"/>
            <a:ext cx="1243500" cy="6339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 VALIDATE</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Spawn Validation</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Agent</a:t>
            </a:r>
            <a:endParaRPr b="0" i="0" sz="800" u="none" cap="none" strike="noStrike">
              <a:solidFill>
                <a:schemeClr val="dk1"/>
              </a:solidFill>
              <a:latin typeface="Calibri"/>
              <a:ea typeface="Calibri"/>
              <a:cs typeface="Calibri"/>
              <a:sym typeface="Calibri"/>
            </a:endParaRPr>
          </a:p>
        </p:txBody>
      </p:sp>
      <p:sp>
        <p:nvSpPr>
          <p:cNvPr id="956" name="Google Shape;956;p39"/>
          <p:cNvSpPr/>
          <p:nvPr/>
        </p:nvSpPr>
        <p:spPr>
          <a:xfrm>
            <a:off x="1304544" y="4852416"/>
            <a:ext cx="2316600" cy="512100"/>
          </a:xfrm>
          <a:prstGeom prst="rect">
            <a:avLst/>
          </a:prstGeom>
          <a:solidFill>
            <a:srgbClr val="100818"/>
          </a:solidFill>
          <a:ln cap="flat" cmpd="sng" w="11425">
            <a:solidFill>
              <a:srgbClr val="9C27B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7" name="Google Shape;957;p39"/>
          <p:cNvSpPr/>
          <p:nvPr/>
        </p:nvSpPr>
        <p:spPr>
          <a:xfrm>
            <a:off x="1353312" y="4852416"/>
            <a:ext cx="2218800" cy="5121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CE93D8"/>
              </a:buClr>
              <a:buSzPts val="800"/>
              <a:buFont typeface="Arial"/>
              <a:buNone/>
            </a:pPr>
            <a:r>
              <a:rPr b="0" i="0" lang="en-US" sz="800" u="none" cap="none" strike="noStrike">
                <a:solidFill>
                  <a:srgbClr val="CE93D8"/>
                </a:solidFill>
                <a:latin typeface="Arial"/>
                <a:ea typeface="Arial"/>
                <a:cs typeface="Arial"/>
                <a:sym typeface="Arial"/>
              </a:rPr>
              <a:t>⚡ AGENT EXECUTES</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CE93D8"/>
              </a:buClr>
              <a:buSzPts val="800"/>
              <a:buFont typeface="Arial"/>
              <a:buNone/>
            </a:pPr>
            <a:r>
              <a:rPr b="0" i="0" lang="en-US" sz="800" u="none" cap="none" strike="noStrike">
                <a:solidFill>
                  <a:srgbClr val="CE93D8"/>
                </a:solidFill>
                <a:latin typeface="Arial"/>
                <a:ea typeface="Arial"/>
                <a:cs typeface="Arial"/>
                <a:sym typeface="Arial"/>
              </a:rPr>
              <a:t>Tools → Risk Gate → ASG writes</a:t>
            </a:r>
            <a:endParaRPr b="0" i="0" sz="800" u="none" cap="none" strike="noStrike">
              <a:solidFill>
                <a:schemeClr val="dk1"/>
              </a:solidFill>
              <a:latin typeface="Calibri"/>
              <a:ea typeface="Calibri"/>
              <a:cs typeface="Calibri"/>
              <a:sym typeface="Calibri"/>
            </a:endParaRPr>
          </a:p>
        </p:txBody>
      </p:sp>
      <p:sp>
        <p:nvSpPr>
          <p:cNvPr id="958" name="Google Shape;958;p39"/>
          <p:cNvSpPr/>
          <p:nvPr/>
        </p:nvSpPr>
        <p:spPr>
          <a:xfrm>
            <a:off x="4840224" y="4047744"/>
            <a:ext cx="1828800" cy="633900"/>
          </a:xfrm>
          <a:prstGeom prst="rect">
            <a:avLst/>
          </a:prstGeom>
          <a:solidFill>
            <a:srgbClr val="1A0606"/>
          </a:solidFill>
          <a:ln cap="flat" cmpd="sng" w="11425">
            <a:solidFill>
              <a:srgbClr val="FF525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9" name="Google Shape;959;p39"/>
          <p:cNvSpPr/>
          <p:nvPr/>
        </p:nvSpPr>
        <p:spPr>
          <a:xfrm>
            <a:off x="4888992" y="4047744"/>
            <a:ext cx="1731300" cy="6339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 CYCLE GUARD</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Repeated calls?</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5252"/>
              </a:buClr>
              <a:buSzPts val="800"/>
              <a:buFont typeface="Arial"/>
              <a:buNone/>
            </a:pPr>
            <a:r>
              <a:rPr b="0" i="0" lang="en-US" sz="800" u="none" cap="none" strike="noStrike">
                <a:solidFill>
                  <a:srgbClr val="FF5252"/>
                </a:solidFill>
                <a:latin typeface="Arial"/>
                <a:ea typeface="Arial"/>
                <a:cs typeface="Arial"/>
                <a:sym typeface="Arial"/>
              </a:rPr>
              <a:t>Fixation detected?</a:t>
            </a:r>
            <a:endParaRPr b="0" i="0" sz="800" u="none" cap="none" strike="noStrike">
              <a:solidFill>
                <a:schemeClr val="dk1"/>
              </a:solidFill>
              <a:latin typeface="Calibri"/>
              <a:ea typeface="Calibri"/>
              <a:cs typeface="Calibri"/>
              <a:sym typeface="Calibri"/>
            </a:endParaRPr>
          </a:p>
        </p:txBody>
      </p:sp>
      <p:sp>
        <p:nvSpPr>
          <p:cNvPr id="960" name="Google Shape;960;p39"/>
          <p:cNvSpPr/>
          <p:nvPr/>
        </p:nvSpPr>
        <p:spPr>
          <a:xfrm>
            <a:off x="5938150" y="4982550"/>
            <a:ext cx="914400" cy="2682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FF5252"/>
              </a:buClr>
              <a:buSzPts val="700"/>
              <a:buFont typeface="Arial"/>
              <a:buNone/>
            </a:pPr>
            <a:r>
              <a:rPr b="0" i="1" lang="en-US" sz="600" u="none" cap="none" strike="noStrike">
                <a:solidFill>
                  <a:schemeClr val="lt1"/>
                </a:solidFill>
                <a:latin typeface="Arial"/>
                <a:ea typeface="Arial"/>
                <a:cs typeface="Arial"/>
                <a:sym typeface="Arial"/>
              </a:rPr>
              <a:t>REFLECTOR or </a:t>
            </a:r>
            <a:endParaRPr b="0" i="1" sz="6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FF5252"/>
              </a:buClr>
              <a:buSzPts val="700"/>
              <a:buFont typeface="Arial"/>
              <a:buNone/>
            </a:pPr>
            <a:r>
              <a:rPr b="0" i="1" lang="en-US" sz="600" u="none" cap="none" strike="noStrike">
                <a:solidFill>
                  <a:schemeClr val="lt1"/>
                </a:solidFill>
                <a:latin typeface="Arial"/>
                <a:ea typeface="Arial"/>
                <a:cs typeface="Arial"/>
                <a:sym typeface="Arial"/>
              </a:rPr>
              <a:t>FORCE RE-PLAN</a:t>
            </a:r>
            <a:endParaRPr b="0" i="0" sz="600" u="none" cap="none" strike="noStrike">
              <a:solidFill>
                <a:schemeClr val="lt1"/>
              </a:solidFill>
              <a:latin typeface="Calibri"/>
              <a:ea typeface="Calibri"/>
              <a:cs typeface="Calibri"/>
              <a:sym typeface="Calibri"/>
            </a:endParaRPr>
          </a:p>
        </p:txBody>
      </p:sp>
      <p:sp>
        <p:nvSpPr>
          <p:cNvPr id="961" name="Google Shape;961;p39"/>
          <p:cNvSpPr/>
          <p:nvPr/>
        </p:nvSpPr>
        <p:spPr>
          <a:xfrm>
            <a:off x="329184" y="5547360"/>
            <a:ext cx="1682400" cy="633900"/>
          </a:xfrm>
          <a:prstGeom prst="rect">
            <a:avLst/>
          </a:prstGeom>
          <a:solidFill>
            <a:srgbClr val="062210"/>
          </a:solidFill>
          <a:ln cap="flat" cmpd="sng" w="114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p39"/>
          <p:cNvSpPr/>
          <p:nvPr/>
        </p:nvSpPr>
        <p:spPr>
          <a:xfrm>
            <a:off x="377952" y="5547360"/>
            <a:ext cx="1584900" cy="6339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 UPDATE ASG</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New nodes + edges</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from returning agent</a:t>
            </a:r>
            <a:endParaRPr b="0" i="0" sz="800" u="none" cap="none" strike="noStrike">
              <a:solidFill>
                <a:schemeClr val="dk1"/>
              </a:solidFill>
              <a:latin typeface="Calibri"/>
              <a:ea typeface="Calibri"/>
              <a:cs typeface="Calibri"/>
              <a:sym typeface="Calibri"/>
            </a:endParaRPr>
          </a:p>
        </p:txBody>
      </p:sp>
      <p:sp>
        <p:nvSpPr>
          <p:cNvPr id="963" name="Google Shape;963;p39"/>
          <p:cNvSpPr/>
          <p:nvPr/>
        </p:nvSpPr>
        <p:spPr>
          <a:xfrm>
            <a:off x="2157984" y="5547360"/>
            <a:ext cx="1682400" cy="633900"/>
          </a:xfrm>
          <a:prstGeom prst="rect">
            <a:avLst/>
          </a:prstGeom>
          <a:solidFill>
            <a:srgbClr val="1E1004"/>
          </a:solidFill>
          <a:ln cap="flat" cmpd="sng" w="114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4" name="Google Shape;964;p39"/>
          <p:cNvSpPr/>
          <p:nvPr/>
        </p:nvSpPr>
        <p:spPr>
          <a:xfrm>
            <a:off x="2206752" y="5547360"/>
            <a:ext cx="1584900" cy="6339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 UPDATE APG</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Chain status changed?</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Re-prioritize queue</a:t>
            </a:r>
            <a:endParaRPr b="0" i="0" sz="800" u="none" cap="none" strike="noStrike">
              <a:solidFill>
                <a:schemeClr val="dk1"/>
              </a:solidFill>
              <a:latin typeface="Calibri"/>
              <a:ea typeface="Calibri"/>
              <a:cs typeface="Calibri"/>
              <a:sym typeface="Calibri"/>
            </a:endParaRPr>
          </a:p>
        </p:txBody>
      </p:sp>
      <p:sp>
        <p:nvSpPr>
          <p:cNvPr id="965" name="Google Shape;965;p39"/>
          <p:cNvSpPr/>
          <p:nvPr/>
        </p:nvSpPr>
        <p:spPr>
          <a:xfrm>
            <a:off x="3986778" y="5547350"/>
            <a:ext cx="1188600" cy="633900"/>
          </a:xfrm>
          <a:prstGeom prst="rect">
            <a:avLst/>
          </a:prstGeom>
          <a:solidFill>
            <a:srgbClr val="04162E"/>
          </a:solidFill>
          <a:ln cap="flat" cmpd="sng" w="114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6" name="Google Shape;966;p39"/>
          <p:cNvSpPr/>
          <p:nvPr/>
        </p:nvSpPr>
        <p:spPr>
          <a:xfrm>
            <a:off x="3974650" y="5547350"/>
            <a:ext cx="1188600" cy="6339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 TERM CHECK</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ASG exhausted?</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D4FF"/>
              </a:buClr>
              <a:buSzPts val="800"/>
              <a:buFont typeface="Arial"/>
              <a:buNone/>
            </a:pPr>
            <a:r>
              <a:rPr b="0" i="0" lang="en-US" sz="800" u="none" cap="none" strike="noStrike">
                <a:solidFill>
                  <a:srgbClr val="00D4FF"/>
                </a:solidFill>
                <a:latin typeface="Arial"/>
                <a:ea typeface="Arial"/>
                <a:cs typeface="Arial"/>
                <a:sym typeface="Arial"/>
              </a:rPr>
              <a:t>AND APG resolved?</a:t>
            </a:r>
            <a:endParaRPr b="0" i="0" sz="800" u="none" cap="none" strike="noStrike">
              <a:solidFill>
                <a:schemeClr val="dk1"/>
              </a:solidFill>
              <a:latin typeface="Calibri"/>
              <a:ea typeface="Calibri"/>
              <a:cs typeface="Calibri"/>
              <a:sym typeface="Calibri"/>
            </a:endParaRPr>
          </a:p>
        </p:txBody>
      </p:sp>
      <p:sp>
        <p:nvSpPr>
          <p:cNvPr id="967" name="Google Shape;967;p39"/>
          <p:cNvSpPr/>
          <p:nvPr/>
        </p:nvSpPr>
        <p:spPr>
          <a:xfrm>
            <a:off x="5240223" y="2121425"/>
            <a:ext cx="853500" cy="1707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888888"/>
              </a:buClr>
              <a:buSzPts val="700"/>
              <a:buFont typeface="Arial"/>
              <a:buNone/>
            </a:pPr>
            <a:r>
              <a:rPr b="0" i="0" lang="en-US" sz="700" u="none" cap="none" strike="noStrike">
                <a:solidFill>
                  <a:schemeClr val="lt1"/>
                </a:solidFill>
                <a:latin typeface="Arial"/>
                <a:ea typeface="Arial"/>
                <a:cs typeface="Arial"/>
                <a:sym typeface="Arial"/>
              </a:rPr>
              <a:t>no — continue</a:t>
            </a:r>
            <a:endParaRPr b="0" i="0" sz="700" u="none" cap="none" strike="noStrike">
              <a:solidFill>
                <a:schemeClr val="lt1"/>
              </a:solidFill>
              <a:latin typeface="Calibri"/>
              <a:ea typeface="Calibri"/>
              <a:cs typeface="Calibri"/>
              <a:sym typeface="Calibri"/>
            </a:endParaRPr>
          </a:p>
        </p:txBody>
      </p:sp>
      <p:sp>
        <p:nvSpPr>
          <p:cNvPr id="968" name="Google Shape;968;p39"/>
          <p:cNvSpPr/>
          <p:nvPr/>
        </p:nvSpPr>
        <p:spPr>
          <a:xfrm>
            <a:off x="7437120" y="804672"/>
            <a:ext cx="4572000" cy="5632800"/>
          </a:xfrm>
          <a:prstGeom prst="rect">
            <a:avLst/>
          </a:prstGeom>
          <a:solidFill>
            <a:srgbClr val="0D0D0D"/>
          </a:solidFill>
          <a:ln cap="flat" cmpd="sng" w="19050">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9" name="Google Shape;969;p39"/>
          <p:cNvSpPr/>
          <p:nvPr/>
        </p:nvSpPr>
        <p:spPr>
          <a:xfrm>
            <a:off x="7559040" y="853440"/>
            <a:ext cx="4328100" cy="2682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C107"/>
              </a:buClr>
              <a:buSzPts val="1200"/>
              <a:buFont typeface="Arial"/>
              <a:buNone/>
            </a:pPr>
            <a:r>
              <a:rPr b="1" i="0" lang="en-US" sz="1200" u="none" cap="none" strike="noStrike">
                <a:solidFill>
                  <a:srgbClr val="FFC107"/>
                </a:solidFill>
                <a:latin typeface="Arial"/>
                <a:ea typeface="Arial"/>
                <a:cs typeface="Arial"/>
                <a:sym typeface="Arial"/>
              </a:rPr>
              <a:t>What Triggers a Re-Plan</a:t>
            </a:r>
            <a:endParaRPr b="0" i="0" sz="1200" u="none" cap="none" strike="noStrike">
              <a:solidFill>
                <a:schemeClr val="dk1"/>
              </a:solidFill>
              <a:latin typeface="Calibri"/>
              <a:ea typeface="Calibri"/>
              <a:cs typeface="Calibri"/>
              <a:sym typeface="Calibri"/>
            </a:endParaRPr>
          </a:p>
        </p:txBody>
      </p:sp>
      <p:sp>
        <p:nvSpPr>
          <p:cNvPr id="970" name="Google Shape;970;p39"/>
          <p:cNvSpPr/>
          <p:nvPr/>
        </p:nvSpPr>
        <p:spPr>
          <a:xfrm>
            <a:off x="7559040" y="1170432"/>
            <a:ext cx="4328100" cy="1121700"/>
          </a:xfrm>
          <a:prstGeom prst="rect">
            <a:avLst/>
          </a:prstGeom>
          <a:solidFill>
            <a:srgbClr val="062210"/>
          </a:solidFill>
          <a:ln cap="flat" cmpd="sng" w="10150">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1" name="Google Shape;971;p39"/>
          <p:cNvSpPr/>
          <p:nvPr/>
        </p:nvSpPr>
        <p:spPr>
          <a:xfrm>
            <a:off x="7620000" y="1194816"/>
            <a:ext cx="4206300" cy="2196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7FFF00"/>
              </a:buClr>
              <a:buSzPts val="900"/>
              <a:buFont typeface="Arial"/>
              <a:buNone/>
            </a:pPr>
            <a:r>
              <a:rPr b="1" i="0" lang="en-US" sz="900" u="none" cap="none" strike="noStrike">
                <a:solidFill>
                  <a:srgbClr val="7FFF00"/>
                </a:solidFill>
                <a:latin typeface="Arial"/>
                <a:ea typeface="Arial"/>
                <a:cs typeface="Arial"/>
                <a:sym typeface="Arial"/>
              </a:rPr>
              <a:t>ASG Trigger Events</a:t>
            </a:r>
            <a:endParaRPr b="0" i="0" sz="900" u="none" cap="none" strike="noStrike">
              <a:solidFill>
                <a:schemeClr val="dk1"/>
              </a:solidFill>
              <a:latin typeface="Calibri"/>
              <a:ea typeface="Calibri"/>
              <a:cs typeface="Calibri"/>
              <a:sym typeface="Calibri"/>
            </a:endParaRPr>
          </a:p>
        </p:txBody>
      </p:sp>
      <p:sp>
        <p:nvSpPr>
          <p:cNvPr id="972" name="Google Shape;972;p39"/>
          <p:cNvSpPr/>
          <p:nvPr/>
        </p:nvSpPr>
        <p:spPr>
          <a:xfrm>
            <a:off x="7656576" y="1438656"/>
            <a:ext cx="4145400" cy="2439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7FFF00"/>
              </a:buClr>
              <a:buSzPts val="900"/>
              <a:buFont typeface="Arial"/>
              <a:buNone/>
            </a:pPr>
            <a:r>
              <a:rPr b="0" i="0" lang="en-US" sz="900" u="none" cap="none" strike="noStrike">
                <a:solidFill>
                  <a:srgbClr val="7FFF00"/>
                </a:solidFill>
                <a:latin typeface="Arial"/>
                <a:ea typeface="Arial"/>
                <a:cs typeface="Arial"/>
                <a:sym typeface="Arial"/>
              </a:rPr>
              <a:t>🆕 New Vulnerability node → seed APG chain?</a:t>
            </a:r>
            <a:endParaRPr b="0" i="0" sz="900" u="none" cap="none" strike="noStrike">
              <a:solidFill>
                <a:schemeClr val="dk1"/>
              </a:solidFill>
              <a:latin typeface="Calibri"/>
              <a:ea typeface="Calibri"/>
              <a:cs typeface="Calibri"/>
              <a:sym typeface="Calibri"/>
            </a:endParaRPr>
          </a:p>
        </p:txBody>
      </p:sp>
      <p:sp>
        <p:nvSpPr>
          <p:cNvPr id="973" name="Google Shape;973;p39"/>
          <p:cNvSpPr/>
          <p:nvPr/>
        </p:nvSpPr>
        <p:spPr>
          <a:xfrm>
            <a:off x="7656576" y="1706880"/>
            <a:ext cx="4145400" cy="2439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7FFF00"/>
              </a:buClr>
              <a:buSzPts val="900"/>
              <a:buFont typeface="Arial"/>
              <a:buNone/>
            </a:pPr>
            <a:r>
              <a:rPr b="0" i="0" lang="en-US" sz="900" u="none" cap="none" strike="noStrike">
                <a:solidFill>
                  <a:srgbClr val="7FFF00"/>
                </a:solidFill>
                <a:latin typeface="Arial"/>
                <a:ea typeface="Arial"/>
                <a:cs typeface="Arial"/>
                <a:sym typeface="Arial"/>
              </a:rPr>
              <a:t>🆕 New Technology node → spawn Research Agent</a:t>
            </a:r>
            <a:endParaRPr b="0" i="0" sz="900" u="none" cap="none" strike="noStrike">
              <a:solidFill>
                <a:schemeClr val="dk1"/>
              </a:solidFill>
              <a:latin typeface="Calibri"/>
              <a:ea typeface="Calibri"/>
              <a:cs typeface="Calibri"/>
              <a:sym typeface="Calibri"/>
            </a:endParaRPr>
          </a:p>
        </p:txBody>
      </p:sp>
      <p:sp>
        <p:nvSpPr>
          <p:cNvPr id="974" name="Google Shape;974;p39"/>
          <p:cNvSpPr/>
          <p:nvPr/>
        </p:nvSpPr>
        <p:spPr>
          <a:xfrm>
            <a:off x="7656576" y="1975104"/>
            <a:ext cx="4145400" cy="2439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7FFF00"/>
              </a:buClr>
              <a:buSzPts val="900"/>
              <a:buFont typeface="Arial"/>
              <a:buNone/>
            </a:pPr>
            <a:r>
              <a:rPr b="0" i="0" lang="en-US" sz="900" u="none" cap="none" strike="noStrike">
                <a:solidFill>
                  <a:srgbClr val="7FFF00"/>
                </a:solidFill>
                <a:latin typeface="Arial"/>
                <a:ea typeface="Arial"/>
                <a:cs typeface="Arial"/>
                <a:sym typeface="Arial"/>
              </a:rPr>
              <a:t>🆕 New Endpoint node → probe with Analysis Agent</a:t>
            </a:r>
            <a:endParaRPr b="0" i="0" sz="900" u="none" cap="none" strike="noStrike">
              <a:solidFill>
                <a:schemeClr val="dk1"/>
              </a:solidFill>
              <a:latin typeface="Calibri"/>
              <a:ea typeface="Calibri"/>
              <a:cs typeface="Calibri"/>
              <a:sym typeface="Calibri"/>
            </a:endParaRPr>
          </a:p>
        </p:txBody>
      </p:sp>
      <p:sp>
        <p:nvSpPr>
          <p:cNvPr id="975" name="Google Shape;975;p39"/>
          <p:cNvSpPr/>
          <p:nvPr/>
        </p:nvSpPr>
        <p:spPr>
          <a:xfrm>
            <a:off x="7559040" y="2365248"/>
            <a:ext cx="4328100" cy="1121700"/>
          </a:xfrm>
          <a:prstGeom prst="rect">
            <a:avLst/>
          </a:prstGeom>
          <a:solidFill>
            <a:srgbClr val="1E1004"/>
          </a:solidFill>
          <a:ln cap="flat" cmpd="sng" w="10150">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6" name="Google Shape;976;p39"/>
          <p:cNvSpPr/>
          <p:nvPr/>
        </p:nvSpPr>
        <p:spPr>
          <a:xfrm>
            <a:off x="7620000" y="2389632"/>
            <a:ext cx="4206300" cy="2196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C107"/>
              </a:buClr>
              <a:buSzPts val="900"/>
              <a:buFont typeface="Arial"/>
              <a:buNone/>
            </a:pPr>
            <a:r>
              <a:rPr b="1" i="0" lang="en-US" sz="900" u="none" cap="none" strike="noStrike">
                <a:solidFill>
                  <a:srgbClr val="FFC107"/>
                </a:solidFill>
                <a:latin typeface="Arial"/>
                <a:ea typeface="Arial"/>
                <a:cs typeface="Arial"/>
                <a:sym typeface="Arial"/>
              </a:rPr>
              <a:t>APG Trigger Events</a:t>
            </a:r>
            <a:endParaRPr b="0" i="0" sz="900" u="none" cap="none" strike="noStrike">
              <a:solidFill>
                <a:schemeClr val="dk1"/>
              </a:solidFill>
              <a:latin typeface="Calibri"/>
              <a:ea typeface="Calibri"/>
              <a:cs typeface="Calibri"/>
              <a:sym typeface="Calibri"/>
            </a:endParaRPr>
          </a:p>
        </p:txBody>
      </p:sp>
      <p:sp>
        <p:nvSpPr>
          <p:cNvPr id="977" name="Google Shape;977;p39"/>
          <p:cNvSpPr/>
          <p:nvPr/>
        </p:nvSpPr>
        <p:spPr>
          <a:xfrm>
            <a:off x="7656576" y="2633472"/>
            <a:ext cx="4145400" cy="2439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C107"/>
              </a:buClr>
              <a:buSzPts val="900"/>
              <a:buFont typeface="Arial"/>
              <a:buNone/>
            </a:pPr>
            <a:r>
              <a:rPr b="0" i="0" lang="en-US" sz="900" u="none" cap="none" strike="noStrike">
                <a:solidFill>
                  <a:srgbClr val="FFC107"/>
                </a:solidFill>
                <a:latin typeface="Arial"/>
                <a:ea typeface="Arial"/>
                <a:cs typeface="Arial"/>
                <a:sym typeface="Arial"/>
              </a:rPr>
              <a:t>📈 Chain → PARTIALLY_VALIDATED → re-rank all</a:t>
            </a:r>
            <a:endParaRPr b="0" i="0" sz="900" u="none" cap="none" strike="noStrike">
              <a:solidFill>
                <a:schemeClr val="dk1"/>
              </a:solidFill>
              <a:latin typeface="Calibri"/>
              <a:ea typeface="Calibri"/>
              <a:cs typeface="Calibri"/>
              <a:sym typeface="Calibri"/>
            </a:endParaRPr>
          </a:p>
        </p:txBody>
      </p:sp>
      <p:sp>
        <p:nvSpPr>
          <p:cNvPr id="978" name="Google Shape;978;p39"/>
          <p:cNvSpPr/>
          <p:nvPr/>
        </p:nvSpPr>
        <p:spPr>
          <a:xfrm>
            <a:off x="7656576" y="2901696"/>
            <a:ext cx="4145400" cy="2439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C107"/>
              </a:buClr>
              <a:buSzPts val="900"/>
              <a:buFont typeface="Arial"/>
              <a:buNone/>
            </a:pPr>
            <a:r>
              <a:rPr b="0" i="0" lang="en-US" sz="900" u="none" cap="none" strike="noStrike">
                <a:solidFill>
                  <a:srgbClr val="FFC107"/>
                </a:solidFill>
                <a:latin typeface="Arial"/>
                <a:ea typeface="Arial"/>
                <a:cs typeface="Arial"/>
                <a:sym typeface="Arial"/>
              </a:rPr>
              <a:t>✅ Chain → VALIDATED → pursue next chain</a:t>
            </a:r>
            <a:endParaRPr b="0" i="0" sz="900" u="none" cap="none" strike="noStrike">
              <a:solidFill>
                <a:schemeClr val="dk1"/>
              </a:solidFill>
              <a:latin typeface="Calibri"/>
              <a:ea typeface="Calibri"/>
              <a:cs typeface="Calibri"/>
              <a:sym typeface="Calibri"/>
            </a:endParaRPr>
          </a:p>
        </p:txBody>
      </p:sp>
      <p:sp>
        <p:nvSpPr>
          <p:cNvPr id="979" name="Google Shape;979;p39"/>
          <p:cNvSpPr/>
          <p:nvPr/>
        </p:nvSpPr>
        <p:spPr>
          <a:xfrm>
            <a:off x="7656576" y="3169920"/>
            <a:ext cx="4145400" cy="2439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C107"/>
              </a:buClr>
              <a:buSzPts val="900"/>
              <a:buFont typeface="Arial"/>
              <a:buNone/>
            </a:pPr>
            <a:r>
              <a:rPr b="0" i="0" lang="en-US" sz="900" u="none" cap="none" strike="noStrike">
                <a:solidFill>
                  <a:srgbClr val="FFC107"/>
                </a:solidFill>
                <a:latin typeface="Arial"/>
                <a:ea typeface="Arial"/>
                <a:cs typeface="Arial"/>
                <a:sym typeface="Arial"/>
              </a:rPr>
              <a:t>❌ Chain → RULED_OUT → remove, re-prioritize</a:t>
            </a:r>
            <a:endParaRPr b="0" i="0" sz="900" u="none" cap="none" strike="noStrike">
              <a:solidFill>
                <a:schemeClr val="dk1"/>
              </a:solidFill>
              <a:latin typeface="Calibri"/>
              <a:ea typeface="Calibri"/>
              <a:cs typeface="Calibri"/>
              <a:sym typeface="Calibri"/>
            </a:endParaRPr>
          </a:p>
        </p:txBody>
      </p:sp>
      <p:sp>
        <p:nvSpPr>
          <p:cNvPr id="980" name="Google Shape;980;p39"/>
          <p:cNvSpPr/>
          <p:nvPr/>
        </p:nvSpPr>
        <p:spPr>
          <a:xfrm>
            <a:off x="7559040" y="3560064"/>
            <a:ext cx="4328100" cy="756000"/>
          </a:xfrm>
          <a:prstGeom prst="rect">
            <a:avLst/>
          </a:prstGeom>
          <a:solidFill>
            <a:srgbClr val="1A0606"/>
          </a:solidFill>
          <a:ln cap="flat" cmpd="sng" w="10150">
            <a:solidFill>
              <a:srgbClr val="FF525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1" name="Google Shape;981;p39"/>
          <p:cNvSpPr/>
          <p:nvPr/>
        </p:nvSpPr>
        <p:spPr>
          <a:xfrm>
            <a:off x="7620000" y="3584448"/>
            <a:ext cx="4206300" cy="2196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5252"/>
              </a:buClr>
              <a:buSzPts val="900"/>
              <a:buFont typeface="Arial"/>
              <a:buNone/>
            </a:pPr>
            <a:r>
              <a:rPr b="1" i="0" lang="en-US" sz="900" u="none" cap="none" strike="noStrike">
                <a:solidFill>
                  <a:srgbClr val="FF5252"/>
                </a:solidFill>
                <a:latin typeface="Arial"/>
                <a:ea typeface="Arial"/>
                <a:cs typeface="Arial"/>
                <a:sym typeface="Arial"/>
              </a:rPr>
              <a:t>Cycle Guard Events</a:t>
            </a:r>
            <a:endParaRPr b="0" i="0" sz="900" u="none" cap="none" strike="noStrike">
              <a:solidFill>
                <a:schemeClr val="dk1"/>
              </a:solidFill>
              <a:latin typeface="Calibri"/>
              <a:ea typeface="Calibri"/>
              <a:cs typeface="Calibri"/>
              <a:sym typeface="Calibri"/>
            </a:endParaRPr>
          </a:p>
        </p:txBody>
      </p:sp>
      <p:sp>
        <p:nvSpPr>
          <p:cNvPr id="982" name="Google Shape;982;p39"/>
          <p:cNvSpPr/>
          <p:nvPr/>
        </p:nvSpPr>
        <p:spPr>
          <a:xfrm>
            <a:off x="7656576" y="3828288"/>
            <a:ext cx="4145400" cy="2196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5252"/>
              </a:buClr>
              <a:buSzPts val="900"/>
              <a:buFont typeface="Arial"/>
              <a:buNone/>
            </a:pPr>
            <a:r>
              <a:rPr b="0" i="0" lang="en-US" sz="900" u="none" cap="none" strike="noStrike">
                <a:solidFill>
                  <a:srgbClr val="FF5252"/>
                </a:solidFill>
                <a:latin typeface="Arial"/>
                <a:ea typeface="Arial"/>
                <a:cs typeface="Arial"/>
                <a:sym typeface="Arial"/>
              </a:rPr>
              <a:t>🔁 Same tool call repeated ×3 → Force re-plan</a:t>
            </a:r>
            <a:endParaRPr b="0" i="0" sz="900" u="none" cap="none" strike="noStrike">
              <a:solidFill>
                <a:schemeClr val="dk1"/>
              </a:solidFill>
              <a:latin typeface="Calibri"/>
              <a:ea typeface="Calibri"/>
              <a:cs typeface="Calibri"/>
              <a:sym typeface="Calibri"/>
            </a:endParaRPr>
          </a:p>
        </p:txBody>
      </p:sp>
      <p:sp>
        <p:nvSpPr>
          <p:cNvPr id="983" name="Google Shape;983;p39"/>
          <p:cNvSpPr/>
          <p:nvPr/>
        </p:nvSpPr>
        <p:spPr>
          <a:xfrm>
            <a:off x="7656576" y="4072128"/>
            <a:ext cx="4145400" cy="2196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5252"/>
              </a:buClr>
              <a:buSzPts val="900"/>
              <a:buFont typeface="Arial"/>
              <a:buNone/>
            </a:pPr>
            <a:r>
              <a:rPr b="0" i="0" lang="en-US" sz="900" u="none" cap="none" strike="noStrike">
                <a:solidFill>
                  <a:srgbClr val="FF5252"/>
                </a:solidFill>
                <a:latin typeface="Arial"/>
                <a:ea typeface="Arial"/>
                <a:cs typeface="Arial"/>
                <a:sym typeface="Arial"/>
              </a:rPr>
              <a:t>💥 Repeated different failures → Reflector</a:t>
            </a:r>
            <a:endParaRPr b="0" i="0" sz="900" u="none" cap="none" strike="noStrike">
              <a:solidFill>
                <a:schemeClr val="dk1"/>
              </a:solidFill>
              <a:latin typeface="Calibri"/>
              <a:ea typeface="Calibri"/>
              <a:cs typeface="Calibri"/>
              <a:sym typeface="Calibri"/>
            </a:endParaRPr>
          </a:p>
        </p:txBody>
      </p:sp>
      <p:sp>
        <p:nvSpPr>
          <p:cNvPr id="984" name="Google Shape;984;p39"/>
          <p:cNvSpPr/>
          <p:nvPr/>
        </p:nvSpPr>
        <p:spPr>
          <a:xfrm>
            <a:off x="7559040" y="4413504"/>
            <a:ext cx="4328100" cy="1902000"/>
          </a:xfrm>
          <a:prstGeom prst="rect">
            <a:avLst/>
          </a:prstGeom>
          <a:solidFill>
            <a:srgbClr val="04162E"/>
          </a:solidFill>
          <a:ln cap="flat" cmpd="sng" w="12700">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39"/>
          <p:cNvSpPr/>
          <p:nvPr/>
        </p:nvSpPr>
        <p:spPr>
          <a:xfrm>
            <a:off x="7620000" y="4462272"/>
            <a:ext cx="4206300" cy="2439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D4FF"/>
              </a:buClr>
              <a:buSzPts val="1100"/>
              <a:buFont typeface="Arial"/>
              <a:buNone/>
            </a:pPr>
            <a:r>
              <a:rPr b="1" i="0" lang="en-US" sz="1100" u="none" cap="none" strike="noStrike">
                <a:solidFill>
                  <a:srgbClr val="00D4FF"/>
                </a:solidFill>
                <a:latin typeface="Arial"/>
                <a:ea typeface="Arial"/>
                <a:cs typeface="Arial"/>
                <a:sym typeface="Arial"/>
              </a:rPr>
              <a:t>Dual Termination Condition</a:t>
            </a:r>
            <a:endParaRPr b="0" i="0" sz="1100" u="none" cap="none" strike="noStrike">
              <a:solidFill>
                <a:schemeClr val="dk1"/>
              </a:solidFill>
              <a:latin typeface="Calibri"/>
              <a:ea typeface="Calibri"/>
              <a:cs typeface="Calibri"/>
              <a:sym typeface="Calibri"/>
            </a:endParaRPr>
          </a:p>
        </p:txBody>
      </p:sp>
      <p:sp>
        <p:nvSpPr>
          <p:cNvPr id="986" name="Google Shape;986;p39"/>
          <p:cNvSpPr/>
          <p:nvPr/>
        </p:nvSpPr>
        <p:spPr>
          <a:xfrm>
            <a:off x="7620000" y="4754880"/>
            <a:ext cx="1981200" cy="756000"/>
          </a:xfrm>
          <a:prstGeom prst="rect">
            <a:avLst/>
          </a:prstGeom>
          <a:solidFill>
            <a:srgbClr val="062210"/>
          </a:solidFill>
          <a:ln cap="flat" cmpd="sng" w="95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7" name="Google Shape;987;p39"/>
          <p:cNvSpPr/>
          <p:nvPr/>
        </p:nvSpPr>
        <p:spPr>
          <a:xfrm>
            <a:off x="7656575" y="4876675"/>
            <a:ext cx="1908000" cy="5121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 ASG Exhausted</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Every node investigated</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7FFF00"/>
              </a:buClr>
              <a:buSzPts val="800"/>
              <a:buFont typeface="Arial"/>
              <a:buNone/>
            </a:pPr>
            <a:r>
              <a:rPr b="0" i="0" lang="en-US" sz="800" u="none" cap="none" strike="noStrike">
                <a:solidFill>
                  <a:srgbClr val="7FFF00"/>
                </a:solidFill>
                <a:latin typeface="Arial"/>
                <a:ea typeface="Arial"/>
                <a:cs typeface="Arial"/>
                <a:sym typeface="Arial"/>
              </a:rPr>
              <a:t>by appropriate agent</a:t>
            </a:r>
            <a:endParaRPr b="0" i="0" sz="800" u="none" cap="none" strike="noStrike">
              <a:solidFill>
                <a:schemeClr val="dk1"/>
              </a:solidFill>
              <a:latin typeface="Calibri"/>
              <a:ea typeface="Calibri"/>
              <a:cs typeface="Calibri"/>
              <a:sym typeface="Calibri"/>
            </a:endParaRPr>
          </a:p>
        </p:txBody>
      </p:sp>
      <p:sp>
        <p:nvSpPr>
          <p:cNvPr id="988" name="Google Shape;988;p39"/>
          <p:cNvSpPr/>
          <p:nvPr/>
        </p:nvSpPr>
        <p:spPr>
          <a:xfrm>
            <a:off x="9820770" y="4730555"/>
            <a:ext cx="1981200" cy="756000"/>
          </a:xfrm>
          <a:prstGeom prst="rect">
            <a:avLst/>
          </a:prstGeom>
          <a:solidFill>
            <a:srgbClr val="1E1004"/>
          </a:solidFill>
          <a:ln cap="flat" cmpd="sng" w="9525">
            <a:solidFill>
              <a:srgbClr val="FFC10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9" name="Google Shape;989;p39"/>
          <p:cNvSpPr/>
          <p:nvPr/>
        </p:nvSpPr>
        <p:spPr>
          <a:xfrm>
            <a:off x="9869547" y="4852350"/>
            <a:ext cx="1908000" cy="5121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 APG Resolved</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All chains VALIDATED</a:t>
            </a:r>
            <a:endParaRPr b="0" i="0" sz="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C107"/>
              </a:buClr>
              <a:buSzPts val="800"/>
              <a:buFont typeface="Arial"/>
              <a:buNone/>
            </a:pPr>
            <a:r>
              <a:rPr b="0" i="0" lang="en-US" sz="800" u="none" cap="none" strike="noStrike">
                <a:solidFill>
                  <a:srgbClr val="FFC107"/>
                </a:solidFill>
                <a:latin typeface="Arial"/>
                <a:ea typeface="Arial"/>
                <a:cs typeface="Arial"/>
                <a:sym typeface="Arial"/>
              </a:rPr>
              <a:t>or RULED_OUT</a:t>
            </a:r>
            <a:endParaRPr b="0" i="0" sz="800" u="none" cap="none" strike="noStrike">
              <a:solidFill>
                <a:schemeClr val="dk1"/>
              </a:solidFill>
              <a:latin typeface="Calibri"/>
              <a:ea typeface="Calibri"/>
              <a:cs typeface="Calibri"/>
              <a:sym typeface="Calibri"/>
            </a:endParaRPr>
          </a:p>
        </p:txBody>
      </p:sp>
      <p:sp>
        <p:nvSpPr>
          <p:cNvPr id="990" name="Google Shape;990;p39"/>
          <p:cNvSpPr/>
          <p:nvPr/>
        </p:nvSpPr>
        <p:spPr>
          <a:xfrm>
            <a:off x="9540240" y="5023095"/>
            <a:ext cx="365700" cy="2439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AND</a:t>
            </a:r>
            <a:endParaRPr b="0" i="0" sz="900" u="none" cap="none" strike="noStrike">
              <a:solidFill>
                <a:schemeClr val="dk1"/>
              </a:solidFill>
              <a:latin typeface="Calibri"/>
              <a:ea typeface="Calibri"/>
              <a:cs typeface="Calibri"/>
              <a:sym typeface="Calibri"/>
            </a:endParaRPr>
          </a:p>
        </p:txBody>
      </p:sp>
      <p:sp>
        <p:nvSpPr>
          <p:cNvPr id="991" name="Google Shape;991;p39"/>
          <p:cNvSpPr/>
          <p:nvPr/>
        </p:nvSpPr>
        <p:spPr>
          <a:xfrm>
            <a:off x="7620000" y="5583925"/>
            <a:ext cx="4206300" cy="390000"/>
          </a:xfrm>
          <a:prstGeom prst="roundRect">
            <a:avLst>
              <a:gd fmla="val 13043" name="adj"/>
            </a:avLst>
          </a:prstGeom>
          <a:solidFill>
            <a:srgbClr val="041A08"/>
          </a:solidFill>
          <a:ln cap="flat" cmpd="sng" w="12700">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2" name="Google Shape;992;p39"/>
          <p:cNvSpPr/>
          <p:nvPr/>
        </p:nvSpPr>
        <p:spPr>
          <a:xfrm>
            <a:off x="7656575" y="5657125"/>
            <a:ext cx="4133100" cy="2439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900"/>
              <a:buFont typeface="Arial"/>
              <a:buNone/>
            </a:pPr>
            <a:r>
              <a:rPr b="1" i="0" lang="en-US" sz="900" u="none" cap="none" strike="noStrike">
                <a:solidFill>
                  <a:srgbClr val="7FFF00"/>
                </a:solidFill>
                <a:latin typeface="Arial"/>
                <a:ea typeface="Arial"/>
                <a:cs typeface="Arial"/>
                <a:sym typeface="Arial"/>
              </a:rPr>
              <a:t>✅ BOTH TRUE → Report Agent spawned → MISSION COMPLETE</a:t>
            </a:r>
            <a:endParaRPr b="0" i="0" sz="900" u="none" cap="none" strike="noStrike">
              <a:solidFill>
                <a:schemeClr val="dk1"/>
              </a:solidFill>
              <a:latin typeface="Calibri"/>
              <a:ea typeface="Calibri"/>
              <a:cs typeface="Calibri"/>
              <a:sym typeface="Calibri"/>
            </a:endParaRPr>
          </a:p>
        </p:txBody>
      </p:sp>
      <p:sp>
        <p:nvSpPr>
          <p:cNvPr id="993" name="Google Shape;993;p39"/>
          <p:cNvSpPr/>
          <p:nvPr/>
        </p:nvSpPr>
        <p:spPr>
          <a:xfrm>
            <a:off x="7619950" y="6046986"/>
            <a:ext cx="4206300" cy="2196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9C27B0"/>
              </a:buClr>
              <a:buSzPts val="800"/>
              <a:buFont typeface="Arial"/>
              <a:buNone/>
            </a:pPr>
            <a:r>
              <a:rPr b="0" i="1" lang="en-US" sz="800" u="none" cap="none" strike="noStrike">
                <a:solidFill>
                  <a:srgbClr val="9C27B0"/>
                </a:solidFill>
                <a:latin typeface="Arial"/>
                <a:ea typeface="Arial"/>
                <a:cs typeface="Arial"/>
                <a:sym typeface="Arial"/>
              </a:rPr>
              <a:t>⚠️ Timer-based systems stop mid-chain.  CMatrix requires dual-graph resolution.</a:t>
            </a:r>
            <a:endParaRPr b="0" i="0" sz="800" u="none" cap="none" strike="noStrike">
              <a:solidFill>
                <a:schemeClr val="dk1"/>
              </a:solidFill>
              <a:latin typeface="Calibri"/>
              <a:ea typeface="Calibri"/>
              <a:cs typeface="Calibri"/>
              <a:sym typeface="Calibri"/>
            </a:endParaRPr>
          </a:p>
        </p:txBody>
      </p:sp>
      <p:sp>
        <p:nvSpPr>
          <p:cNvPr id="994" name="Google Shape;994;p39"/>
          <p:cNvSpPr/>
          <p:nvPr/>
        </p:nvSpPr>
        <p:spPr>
          <a:xfrm>
            <a:off x="182880" y="6473952"/>
            <a:ext cx="11826300" cy="304800"/>
          </a:xfrm>
          <a:prstGeom prst="rect">
            <a:avLst/>
          </a:prstGeom>
          <a:solidFill>
            <a:srgbClr val="04101A"/>
          </a:solidFill>
          <a:ln cap="flat" cmpd="sng" w="9525">
            <a:solidFill>
              <a:srgbClr val="00D4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5" name="Google Shape;995;p39"/>
          <p:cNvSpPr/>
          <p:nvPr/>
        </p:nvSpPr>
        <p:spPr>
          <a:xfrm>
            <a:off x="304800" y="6486144"/>
            <a:ext cx="11582400" cy="2682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D4FF"/>
              </a:buClr>
              <a:buSzPts val="800"/>
              <a:buFont typeface="Arial"/>
              <a:buNone/>
            </a:pPr>
            <a:r>
              <a:rPr b="0" i="1" lang="en-US" sz="800" u="none" cap="none" strike="noStrike">
                <a:solidFill>
                  <a:srgbClr val="00D4FF"/>
                </a:solidFill>
                <a:latin typeface="Arial"/>
                <a:ea typeface="Arial"/>
                <a:cs typeface="Arial"/>
                <a:sym typeface="Arial"/>
              </a:rPr>
              <a:t>Every Commander decision traces to a graph event.  Every re-plan is triggered by a node write.  Mission ends only when the graph demands it — not when a timer fires.</a:t>
            </a:r>
            <a:endParaRPr b="0" i="0" sz="800" u="none" cap="none" strike="noStrike">
              <a:solidFill>
                <a:schemeClr val="dk1"/>
              </a:solidFill>
              <a:latin typeface="Calibri"/>
              <a:ea typeface="Calibri"/>
              <a:cs typeface="Calibri"/>
              <a:sym typeface="Calibri"/>
            </a:endParaRPr>
          </a:p>
        </p:txBody>
      </p:sp>
      <p:sp>
        <p:nvSpPr>
          <p:cNvPr id="996" name="Google Shape;996;p39"/>
          <p:cNvSpPr txBox="1"/>
          <p:nvPr/>
        </p:nvSpPr>
        <p:spPr>
          <a:xfrm>
            <a:off x="11612747" y="82400"/>
            <a:ext cx="4116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00D4FF"/>
                </a:solidFill>
                <a:latin typeface="Calibri"/>
                <a:ea typeface="Calibri"/>
                <a:cs typeface="Calibri"/>
                <a:sym typeface="Calibri"/>
              </a:rPr>
              <a:t>11</a:t>
            </a:r>
            <a:endParaRPr b="0" i="0" sz="1400" u="none" cap="none" strike="noStrike">
              <a:solidFill>
                <a:srgbClr val="00D4FF"/>
              </a:solidFill>
              <a:latin typeface="Arial"/>
              <a:ea typeface="Arial"/>
              <a:cs typeface="Arial"/>
              <a:sym typeface="Arial"/>
            </a:endParaRPr>
          </a:p>
        </p:txBody>
      </p:sp>
      <p:cxnSp>
        <p:nvCxnSpPr>
          <p:cNvPr id="997" name="Google Shape;997;p39"/>
          <p:cNvCxnSpPr/>
          <p:nvPr/>
        </p:nvCxnSpPr>
        <p:spPr>
          <a:xfrm flipH="1">
            <a:off x="1334925" y="1513150"/>
            <a:ext cx="1743600" cy="267000"/>
          </a:xfrm>
          <a:prstGeom prst="straightConnector1">
            <a:avLst/>
          </a:prstGeom>
          <a:noFill/>
          <a:ln cap="flat" cmpd="sng" w="9525">
            <a:solidFill>
              <a:srgbClr val="7FFF00"/>
            </a:solidFill>
            <a:prstDash val="solid"/>
            <a:round/>
            <a:headEnd len="sm" w="sm" type="none"/>
            <a:tailEnd len="med" w="med" type="stealth"/>
          </a:ln>
        </p:spPr>
      </p:cxnSp>
      <p:cxnSp>
        <p:nvCxnSpPr>
          <p:cNvPr id="998" name="Google Shape;998;p39"/>
          <p:cNvCxnSpPr/>
          <p:nvPr/>
        </p:nvCxnSpPr>
        <p:spPr>
          <a:xfrm>
            <a:off x="3078525" y="1513150"/>
            <a:ext cx="573000" cy="267000"/>
          </a:xfrm>
          <a:prstGeom prst="straightConnector1">
            <a:avLst/>
          </a:prstGeom>
          <a:noFill/>
          <a:ln cap="flat" cmpd="sng" w="9525">
            <a:solidFill>
              <a:srgbClr val="FFC107"/>
            </a:solidFill>
            <a:prstDash val="solid"/>
            <a:round/>
            <a:headEnd len="sm" w="sm" type="none"/>
            <a:tailEnd len="med" w="med" type="stealth"/>
          </a:ln>
        </p:spPr>
      </p:cxnSp>
      <p:cxnSp>
        <p:nvCxnSpPr>
          <p:cNvPr id="999" name="Google Shape;999;p39"/>
          <p:cNvCxnSpPr/>
          <p:nvPr/>
        </p:nvCxnSpPr>
        <p:spPr>
          <a:xfrm>
            <a:off x="1335024" y="2413932"/>
            <a:ext cx="1127700" cy="170700"/>
          </a:xfrm>
          <a:prstGeom prst="straightConnector1">
            <a:avLst/>
          </a:prstGeom>
          <a:noFill/>
          <a:ln cap="flat" cmpd="sng" w="9525">
            <a:solidFill>
              <a:srgbClr val="7FFF00"/>
            </a:solidFill>
            <a:prstDash val="solid"/>
            <a:round/>
            <a:headEnd len="sm" w="sm" type="none"/>
            <a:tailEnd len="med" w="med" type="stealth"/>
          </a:ln>
        </p:spPr>
      </p:cxnSp>
      <p:cxnSp>
        <p:nvCxnSpPr>
          <p:cNvPr id="1000" name="Google Shape;1000;p39"/>
          <p:cNvCxnSpPr/>
          <p:nvPr/>
        </p:nvCxnSpPr>
        <p:spPr>
          <a:xfrm flipH="1">
            <a:off x="2462904" y="2413932"/>
            <a:ext cx="1188600" cy="170700"/>
          </a:xfrm>
          <a:prstGeom prst="straightConnector1">
            <a:avLst/>
          </a:prstGeom>
          <a:noFill/>
          <a:ln cap="flat" cmpd="sng" w="9525">
            <a:solidFill>
              <a:srgbClr val="FFC107"/>
            </a:solidFill>
            <a:prstDash val="solid"/>
            <a:round/>
            <a:headEnd len="sm" w="sm" type="none"/>
            <a:tailEnd len="med" w="med" type="stealth"/>
          </a:ln>
        </p:spPr>
      </p:cxnSp>
      <p:cxnSp>
        <p:nvCxnSpPr>
          <p:cNvPr id="1001" name="Google Shape;1001;p39"/>
          <p:cNvCxnSpPr/>
          <p:nvPr/>
        </p:nvCxnSpPr>
        <p:spPr>
          <a:xfrm>
            <a:off x="2462844" y="3218604"/>
            <a:ext cx="0" cy="170700"/>
          </a:xfrm>
          <a:prstGeom prst="straightConnector1">
            <a:avLst/>
          </a:prstGeom>
          <a:noFill/>
          <a:ln cap="flat" cmpd="sng" w="9525">
            <a:solidFill>
              <a:srgbClr val="00D4FF"/>
            </a:solidFill>
            <a:prstDash val="solid"/>
            <a:round/>
            <a:headEnd len="sm" w="sm" type="none"/>
            <a:tailEnd len="med" w="med" type="stealth"/>
          </a:ln>
        </p:spPr>
      </p:cxnSp>
      <p:cxnSp>
        <p:nvCxnSpPr>
          <p:cNvPr id="1002" name="Google Shape;1002;p39"/>
          <p:cNvCxnSpPr/>
          <p:nvPr/>
        </p:nvCxnSpPr>
        <p:spPr>
          <a:xfrm flipH="1">
            <a:off x="999675" y="3584375"/>
            <a:ext cx="853500" cy="463500"/>
          </a:xfrm>
          <a:prstGeom prst="bentConnector3">
            <a:avLst>
              <a:gd fmla="val 49999" name="adj1"/>
            </a:avLst>
          </a:prstGeom>
          <a:noFill/>
          <a:ln cap="flat" cmpd="sng" w="9525">
            <a:solidFill>
              <a:srgbClr val="7FFF00"/>
            </a:solidFill>
            <a:prstDash val="solid"/>
            <a:round/>
            <a:headEnd len="sm" w="sm" type="none"/>
            <a:tailEnd len="med" w="med" type="stealth"/>
          </a:ln>
        </p:spPr>
      </p:cxnSp>
      <p:sp>
        <p:nvSpPr>
          <p:cNvPr id="1003" name="Google Shape;1003;p39"/>
          <p:cNvSpPr/>
          <p:nvPr/>
        </p:nvSpPr>
        <p:spPr>
          <a:xfrm>
            <a:off x="1203175" y="3424375"/>
            <a:ext cx="600000" cy="155700"/>
          </a:xfrm>
          <a:prstGeom prst="rect">
            <a:avLst/>
          </a:prstGeom>
          <a:solidFill>
            <a:srgbClr val="0A0A0A"/>
          </a:solidFill>
          <a:ln>
            <a:noFill/>
          </a:ln>
        </p:spPr>
        <p:txBody>
          <a:bodyPr anchorCtr="0" anchor="ctr" bIns="30000" lIns="30000" spcFirstLastPara="1" rIns="30000" wrap="square" tIns="300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rgbClr val="FFFFFF"/>
                </a:solidFill>
                <a:latin typeface="Arial"/>
                <a:ea typeface="Arial"/>
                <a:cs typeface="Arial"/>
                <a:sym typeface="Arial"/>
              </a:rPr>
              <a:t>ASG gaps</a:t>
            </a:r>
            <a:endParaRPr/>
          </a:p>
        </p:txBody>
      </p:sp>
      <p:cxnSp>
        <p:nvCxnSpPr>
          <p:cNvPr id="1004" name="Google Shape;1004;p39"/>
          <p:cNvCxnSpPr/>
          <p:nvPr/>
        </p:nvCxnSpPr>
        <p:spPr>
          <a:xfrm>
            <a:off x="2462775" y="3779375"/>
            <a:ext cx="0" cy="268500"/>
          </a:xfrm>
          <a:prstGeom prst="straightConnector1">
            <a:avLst/>
          </a:prstGeom>
          <a:noFill/>
          <a:ln cap="flat" cmpd="sng" w="9525">
            <a:solidFill>
              <a:srgbClr val="FFC107"/>
            </a:solidFill>
            <a:prstDash val="solid"/>
            <a:round/>
            <a:headEnd len="sm" w="sm" type="none"/>
            <a:tailEnd len="med" w="med" type="stealth"/>
          </a:ln>
        </p:spPr>
      </p:cxnSp>
      <p:sp>
        <p:nvSpPr>
          <p:cNvPr id="1005" name="Google Shape;1005;p39"/>
          <p:cNvSpPr/>
          <p:nvPr/>
        </p:nvSpPr>
        <p:spPr>
          <a:xfrm>
            <a:off x="2531013" y="3823563"/>
            <a:ext cx="399900" cy="155700"/>
          </a:xfrm>
          <a:prstGeom prst="rect">
            <a:avLst/>
          </a:prstGeom>
          <a:solidFill>
            <a:srgbClr val="0A0A0A"/>
          </a:solidFill>
          <a:ln>
            <a:noFill/>
          </a:ln>
        </p:spPr>
        <p:txBody>
          <a:bodyPr anchorCtr="0" anchor="ctr" bIns="30000" lIns="30000" spcFirstLastPara="1" rIns="30000" wrap="square" tIns="300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rgbClr val="FFFFFF"/>
                </a:solidFill>
                <a:latin typeface="Arial"/>
                <a:ea typeface="Arial"/>
                <a:cs typeface="Arial"/>
                <a:sym typeface="Arial"/>
              </a:rPr>
              <a:t>both</a:t>
            </a:r>
            <a:endParaRPr/>
          </a:p>
        </p:txBody>
      </p:sp>
      <p:cxnSp>
        <p:nvCxnSpPr>
          <p:cNvPr id="1006" name="Google Shape;1006;p39"/>
          <p:cNvCxnSpPr/>
          <p:nvPr/>
        </p:nvCxnSpPr>
        <p:spPr>
          <a:xfrm>
            <a:off x="3072375" y="3584375"/>
            <a:ext cx="914400" cy="463500"/>
          </a:xfrm>
          <a:prstGeom prst="bentConnector3">
            <a:avLst>
              <a:gd fmla="val 98381" name="adj1"/>
            </a:avLst>
          </a:prstGeom>
          <a:noFill/>
          <a:ln cap="flat" cmpd="sng" w="9525">
            <a:solidFill>
              <a:srgbClr val="FF5252"/>
            </a:solidFill>
            <a:prstDash val="solid"/>
            <a:round/>
            <a:headEnd len="sm" w="sm" type="none"/>
            <a:tailEnd len="med" w="med" type="stealth"/>
          </a:ln>
        </p:spPr>
      </p:cxnSp>
      <p:sp>
        <p:nvSpPr>
          <p:cNvPr id="1007" name="Google Shape;1007;p39"/>
          <p:cNvSpPr/>
          <p:nvPr/>
        </p:nvSpPr>
        <p:spPr>
          <a:xfrm>
            <a:off x="3102375" y="3424375"/>
            <a:ext cx="650100" cy="155700"/>
          </a:xfrm>
          <a:prstGeom prst="rect">
            <a:avLst/>
          </a:prstGeom>
          <a:solidFill>
            <a:srgbClr val="0A0A0A"/>
          </a:solidFill>
          <a:ln>
            <a:noFill/>
          </a:ln>
        </p:spPr>
        <p:txBody>
          <a:bodyPr anchorCtr="0" anchor="ctr" bIns="30000" lIns="30000" spcFirstLastPara="1" rIns="30000" wrap="square" tIns="300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rgbClr val="FFFFFF"/>
                </a:solidFill>
                <a:latin typeface="Arial"/>
                <a:ea typeface="Arial"/>
                <a:cs typeface="Arial"/>
                <a:sym typeface="Arial"/>
              </a:rPr>
              <a:t>APG chains</a:t>
            </a:r>
            <a:endParaRPr/>
          </a:p>
        </p:txBody>
      </p:sp>
      <p:cxnSp>
        <p:nvCxnSpPr>
          <p:cNvPr id="1008" name="Google Shape;1008;p39"/>
          <p:cNvCxnSpPr/>
          <p:nvPr/>
        </p:nvCxnSpPr>
        <p:spPr>
          <a:xfrm>
            <a:off x="999684" y="4681644"/>
            <a:ext cx="604800" cy="170700"/>
          </a:xfrm>
          <a:prstGeom prst="straightConnector1">
            <a:avLst/>
          </a:prstGeom>
          <a:noFill/>
          <a:ln cap="flat" cmpd="sng" w="9525">
            <a:solidFill>
              <a:srgbClr val="7FFF00"/>
            </a:solidFill>
            <a:prstDash val="solid"/>
            <a:round/>
            <a:headEnd len="sm" w="sm" type="none"/>
            <a:tailEnd len="med" w="med" type="stealth"/>
          </a:ln>
        </p:spPr>
      </p:cxnSp>
      <p:cxnSp>
        <p:nvCxnSpPr>
          <p:cNvPr id="1009" name="Google Shape;1009;p39"/>
          <p:cNvCxnSpPr/>
          <p:nvPr/>
        </p:nvCxnSpPr>
        <p:spPr>
          <a:xfrm>
            <a:off x="2462784" y="4681644"/>
            <a:ext cx="0" cy="170700"/>
          </a:xfrm>
          <a:prstGeom prst="straightConnector1">
            <a:avLst/>
          </a:prstGeom>
          <a:noFill/>
          <a:ln cap="flat" cmpd="sng" w="9525">
            <a:solidFill>
              <a:srgbClr val="FFC107"/>
            </a:solidFill>
            <a:prstDash val="solid"/>
            <a:round/>
            <a:headEnd len="sm" w="sm" type="none"/>
            <a:tailEnd len="med" w="med" type="stealth"/>
          </a:ln>
        </p:spPr>
      </p:cxnSp>
      <p:cxnSp>
        <p:nvCxnSpPr>
          <p:cNvPr id="1010" name="Google Shape;1010;p39"/>
          <p:cNvCxnSpPr/>
          <p:nvPr/>
        </p:nvCxnSpPr>
        <p:spPr>
          <a:xfrm flipH="1">
            <a:off x="3321024" y="4681644"/>
            <a:ext cx="665700" cy="170700"/>
          </a:xfrm>
          <a:prstGeom prst="straightConnector1">
            <a:avLst/>
          </a:prstGeom>
          <a:noFill/>
          <a:ln cap="flat" cmpd="sng" w="9525">
            <a:solidFill>
              <a:srgbClr val="FF5252"/>
            </a:solidFill>
            <a:prstDash val="solid"/>
            <a:round/>
            <a:headEnd len="sm" w="sm" type="none"/>
            <a:tailEnd len="med" w="med" type="stealth"/>
          </a:ln>
        </p:spPr>
      </p:cxnSp>
      <p:cxnSp>
        <p:nvCxnSpPr>
          <p:cNvPr id="1011" name="Google Shape;1011;p39"/>
          <p:cNvCxnSpPr>
            <a:endCxn id="959" idx="2"/>
          </p:cNvCxnSpPr>
          <p:nvPr/>
        </p:nvCxnSpPr>
        <p:spPr>
          <a:xfrm flipH="1" rot="10800000">
            <a:off x="3621042" y="4681644"/>
            <a:ext cx="2133600" cy="426900"/>
          </a:xfrm>
          <a:prstGeom prst="bentConnector2">
            <a:avLst/>
          </a:prstGeom>
          <a:noFill/>
          <a:ln cap="flat" cmpd="sng" w="9525">
            <a:solidFill>
              <a:srgbClr val="FF5252"/>
            </a:solidFill>
            <a:prstDash val="solid"/>
            <a:round/>
            <a:headEnd len="sm" w="sm" type="none"/>
            <a:tailEnd len="med" w="med" type="stealth"/>
          </a:ln>
        </p:spPr>
      </p:cxnSp>
      <p:sp>
        <p:nvSpPr>
          <p:cNvPr id="1012" name="Google Shape;1012;p39"/>
          <p:cNvSpPr/>
          <p:nvPr/>
        </p:nvSpPr>
        <p:spPr>
          <a:xfrm>
            <a:off x="3674419" y="4826843"/>
            <a:ext cx="500100" cy="155700"/>
          </a:xfrm>
          <a:prstGeom prst="rect">
            <a:avLst/>
          </a:prstGeom>
          <a:solidFill>
            <a:srgbClr val="0A0A0A"/>
          </a:solidFill>
          <a:ln>
            <a:noFill/>
          </a:ln>
        </p:spPr>
        <p:txBody>
          <a:bodyPr anchorCtr="0" anchor="ctr" bIns="30000" lIns="30000" spcFirstLastPara="1" rIns="30000" wrap="square" tIns="300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rgbClr val="FFFFFF"/>
                </a:solidFill>
                <a:latin typeface="Arial"/>
                <a:ea typeface="Arial"/>
                <a:cs typeface="Arial"/>
                <a:sym typeface="Arial"/>
              </a:rPr>
              <a:t>guard</a:t>
            </a:r>
            <a:endParaRPr/>
          </a:p>
        </p:txBody>
      </p:sp>
      <p:cxnSp>
        <p:nvCxnSpPr>
          <p:cNvPr id="1013" name="Google Shape;1013;p39"/>
          <p:cNvCxnSpPr>
            <a:endCxn id="962" idx="2"/>
          </p:cNvCxnSpPr>
          <p:nvPr/>
        </p:nvCxnSpPr>
        <p:spPr>
          <a:xfrm flipH="1">
            <a:off x="1170402" y="4715460"/>
            <a:ext cx="4847400" cy="1465800"/>
          </a:xfrm>
          <a:prstGeom prst="bentConnector4">
            <a:avLst>
              <a:gd fmla="val -217" name="adj1"/>
              <a:gd fmla="val 110343" name="adj2"/>
            </a:avLst>
          </a:prstGeom>
          <a:noFill/>
          <a:ln cap="flat" cmpd="sng" w="9525">
            <a:solidFill>
              <a:srgbClr val="7FFF00"/>
            </a:solidFill>
            <a:prstDash val="solid"/>
            <a:round/>
            <a:headEnd len="sm" w="sm" type="none"/>
            <a:tailEnd len="med" w="med" type="stealth"/>
          </a:ln>
        </p:spPr>
      </p:cxnSp>
      <p:sp>
        <p:nvSpPr>
          <p:cNvPr id="1014" name="Google Shape;1014;p39"/>
          <p:cNvSpPr/>
          <p:nvPr/>
        </p:nvSpPr>
        <p:spPr>
          <a:xfrm>
            <a:off x="4889399" y="4852344"/>
            <a:ext cx="600000" cy="155700"/>
          </a:xfrm>
          <a:prstGeom prst="rect">
            <a:avLst/>
          </a:prstGeom>
          <a:solidFill>
            <a:srgbClr val="0A0A0A"/>
          </a:solidFill>
          <a:ln>
            <a:noFill/>
          </a:ln>
        </p:spPr>
        <p:txBody>
          <a:bodyPr anchorCtr="0" anchor="ctr" bIns="30000" lIns="30000" spcFirstLastPara="1" rIns="30000" wrap="square" tIns="300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rgbClr val="FFFFFF"/>
                </a:solidFill>
                <a:latin typeface="Arial"/>
                <a:ea typeface="Arial"/>
                <a:cs typeface="Arial"/>
                <a:sym typeface="Arial"/>
              </a:rPr>
              <a:t>normal</a:t>
            </a:r>
            <a:endParaRPr/>
          </a:p>
        </p:txBody>
      </p:sp>
      <p:cxnSp>
        <p:nvCxnSpPr>
          <p:cNvPr id="1015" name="Google Shape;1015;p39"/>
          <p:cNvCxnSpPr/>
          <p:nvPr/>
        </p:nvCxnSpPr>
        <p:spPr>
          <a:xfrm>
            <a:off x="2462844" y="5364516"/>
            <a:ext cx="536400" cy="182700"/>
          </a:xfrm>
          <a:prstGeom prst="straightConnector1">
            <a:avLst/>
          </a:prstGeom>
          <a:noFill/>
          <a:ln cap="flat" cmpd="sng" w="9525">
            <a:solidFill>
              <a:srgbClr val="FFC107"/>
            </a:solidFill>
            <a:prstDash val="solid"/>
            <a:round/>
            <a:headEnd len="sm" w="sm" type="none"/>
            <a:tailEnd len="med" w="med" type="stealth"/>
          </a:ln>
        </p:spPr>
      </p:cxnSp>
      <p:cxnSp>
        <p:nvCxnSpPr>
          <p:cNvPr id="1016" name="Google Shape;1016;p39"/>
          <p:cNvCxnSpPr/>
          <p:nvPr/>
        </p:nvCxnSpPr>
        <p:spPr>
          <a:xfrm>
            <a:off x="3612800" y="5324675"/>
            <a:ext cx="1318500" cy="222600"/>
          </a:xfrm>
          <a:prstGeom prst="bentConnector3">
            <a:avLst>
              <a:gd fmla="val 98769" name="adj1"/>
            </a:avLst>
          </a:prstGeom>
          <a:noFill/>
          <a:ln cap="flat" cmpd="sng" w="9525">
            <a:solidFill>
              <a:srgbClr val="00D4FF"/>
            </a:solidFill>
            <a:prstDash val="solid"/>
            <a:round/>
            <a:headEnd len="sm" w="sm" type="none"/>
            <a:tailEnd len="med" w="med" type="stealth"/>
          </a:ln>
        </p:spPr>
      </p:cxnSp>
      <p:cxnSp>
        <p:nvCxnSpPr>
          <p:cNvPr id="1017" name="Google Shape;1017;p39"/>
          <p:cNvCxnSpPr/>
          <p:nvPr/>
        </p:nvCxnSpPr>
        <p:spPr>
          <a:xfrm>
            <a:off x="2011584" y="5864310"/>
            <a:ext cx="146400" cy="0"/>
          </a:xfrm>
          <a:prstGeom prst="straightConnector1">
            <a:avLst/>
          </a:prstGeom>
          <a:noFill/>
          <a:ln cap="flat" cmpd="sng" w="9525">
            <a:solidFill>
              <a:srgbClr val="FFC107"/>
            </a:solidFill>
            <a:prstDash val="solid"/>
            <a:round/>
            <a:headEnd len="sm" w="sm" type="none"/>
            <a:tailEnd len="med" w="med" type="stealth"/>
          </a:ln>
        </p:spPr>
      </p:cxnSp>
      <p:cxnSp>
        <p:nvCxnSpPr>
          <p:cNvPr id="1018" name="Google Shape;1018;p39"/>
          <p:cNvCxnSpPr/>
          <p:nvPr/>
        </p:nvCxnSpPr>
        <p:spPr>
          <a:xfrm>
            <a:off x="3840384" y="5864310"/>
            <a:ext cx="146400" cy="0"/>
          </a:xfrm>
          <a:prstGeom prst="straightConnector1">
            <a:avLst/>
          </a:prstGeom>
          <a:noFill/>
          <a:ln cap="flat" cmpd="sng" w="9525">
            <a:solidFill>
              <a:srgbClr val="00D4FF"/>
            </a:solidFill>
            <a:prstDash val="solid"/>
            <a:round/>
            <a:headEnd len="sm" w="sm" type="none"/>
            <a:tailEnd len="med" w="med" type="stealth"/>
          </a:ln>
        </p:spPr>
      </p:cxnSp>
      <p:cxnSp>
        <p:nvCxnSpPr>
          <p:cNvPr id="1019" name="Google Shape;1019;p39"/>
          <p:cNvCxnSpPr>
            <a:endCxn id="945" idx="3"/>
          </p:cNvCxnSpPr>
          <p:nvPr/>
        </p:nvCxnSpPr>
        <p:spPr>
          <a:xfrm flipH="1" rot="5400000">
            <a:off x="4024122" y="2742432"/>
            <a:ext cx="3557700" cy="2266800"/>
          </a:xfrm>
          <a:prstGeom prst="bentConnector2">
            <a:avLst/>
          </a:prstGeom>
          <a:noFill/>
          <a:ln cap="flat" cmpd="sng" w="9525">
            <a:solidFill>
              <a:srgbClr val="00D4FF"/>
            </a:solidFill>
            <a:prstDash val="solid"/>
            <a:round/>
            <a:headEnd len="sm" w="sm" type="none"/>
            <a:tailEnd len="med" w="med" type="stealth"/>
          </a:ln>
        </p:spPr>
      </p:cxnSp>
      <p:cxnSp>
        <p:nvCxnSpPr>
          <p:cNvPr id="1020" name="Google Shape;1020;p39"/>
          <p:cNvCxnSpPr/>
          <p:nvPr/>
        </p:nvCxnSpPr>
        <p:spPr>
          <a:xfrm flipH="1" rot="10800000">
            <a:off x="5180875" y="5654725"/>
            <a:ext cx="1784700" cy="6300"/>
          </a:xfrm>
          <a:prstGeom prst="straightConnector1">
            <a:avLst/>
          </a:prstGeom>
          <a:noFill/>
          <a:ln cap="flat" cmpd="sng" w="9525">
            <a:solidFill>
              <a:srgbClr val="00FFFF"/>
            </a:solidFill>
            <a:prstDash val="solid"/>
            <a:round/>
            <a:headEnd len="med" w="med" type="none"/>
            <a:tailEnd len="med" w="med" type="none"/>
          </a:ln>
        </p:spPr>
      </p:cxnSp>
      <p:sp>
        <p:nvSpPr>
          <p:cNvPr id="1021" name="Google Shape;1021;p39"/>
          <p:cNvSpPr/>
          <p:nvPr/>
        </p:nvSpPr>
        <p:spPr>
          <a:xfrm>
            <a:off x="6152425" y="5785100"/>
            <a:ext cx="1008900" cy="365700"/>
          </a:xfrm>
          <a:prstGeom prst="roundRect">
            <a:avLst>
              <a:gd fmla="val 26316" name="adj"/>
            </a:avLst>
          </a:prstGeom>
          <a:solidFill>
            <a:srgbClr val="041A08"/>
          </a:solidFill>
          <a:ln cap="flat" cmpd="sng" w="15225">
            <a:solidFill>
              <a:srgbClr val="7FFF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2" name="Google Shape;1022;p39"/>
          <p:cNvSpPr/>
          <p:nvPr/>
        </p:nvSpPr>
        <p:spPr>
          <a:xfrm>
            <a:off x="6230125" y="5785100"/>
            <a:ext cx="853500" cy="3657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7FFF00"/>
              </a:buClr>
              <a:buSzPts val="1200"/>
              <a:buFont typeface="Arial"/>
              <a:buNone/>
            </a:pPr>
            <a:r>
              <a:rPr b="1" i="0" lang="en-US" sz="700" u="none" cap="none" strike="noStrike">
                <a:solidFill>
                  <a:srgbClr val="7FFF00"/>
                </a:solidFill>
                <a:latin typeface="Arial"/>
                <a:ea typeface="Arial"/>
                <a:cs typeface="Arial"/>
                <a:sym typeface="Arial"/>
              </a:rPr>
              <a:t>🚀  </a:t>
            </a:r>
            <a:r>
              <a:rPr lang="en-US" sz="700">
                <a:solidFill>
                  <a:srgbClr val="FFFFFF"/>
                </a:solidFill>
              </a:rPr>
              <a:t>Mission complete — spawn report</a:t>
            </a:r>
            <a:endParaRPr b="0" i="0" sz="700" u="none" cap="none" strike="noStrike">
              <a:solidFill>
                <a:schemeClr val="dk1"/>
              </a:solidFill>
              <a:latin typeface="Calibri"/>
              <a:ea typeface="Calibri"/>
              <a:cs typeface="Calibri"/>
              <a:sym typeface="Calibri"/>
            </a:endParaRPr>
          </a:p>
        </p:txBody>
      </p:sp>
      <p:cxnSp>
        <p:nvCxnSpPr>
          <p:cNvPr id="1023" name="Google Shape;1023;p39"/>
          <p:cNvCxnSpPr>
            <a:endCxn id="1022" idx="1"/>
          </p:cNvCxnSpPr>
          <p:nvPr/>
        </p:nvCxnSpPr>
        <p:spPr>
          <a:xfrm>
            <a:off x="5163325" y="5864150"/>
            <a:ext cx="1066800" cy="103800"/>
          </a:xfrm>
          <a:prstGeom prst="straightConnector1">
            <a:avLst/>
          </a:prstGeom>
          <a:noFill/>
          <a:ln cap="flat" cmpd="sng" w="9525">
            <a:solidFill>
              <a:schemeClr val="dk2"/>
            </a:solidFill>
            <a:prstDash val="solid"/>
            <a:round/>
            <a:headEnd len="med" w="med" type="none"/>
            <a:tailEnd len="med" w="med" type="triangle"/>
          </a:ln>
        </p:spPr>
      </p:cxnSp>
      <p:sp>
        <p:nvSpPr>
          <p:cNvPr id="1024" name="Google Shape;1024;p39"/>
          <p:cNvSpPr/>
          <p:nvPr/>
        </p:nvSpPr>
        <p:spPr>
          <a:xfrm>
            <a:off x="5275998" y="5988238"/>
            <a:ext cx="853500" cy="1707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888888"/>
              </a:buClr>
              <a:buSzPts val="700"/>
              <a:buFont typeface="Arial"/>
              <a:buNone/>
            </a:pPr>
            <a:r>
              <a:rPr lang="en-US" sz="600">
                <a:solidFill>
                  <a:srgbClr val="FFFFFF"/>
                </a:solidFill>
              </a:rPr>
              <a:t>yes — both true</a:t>
            </a:r>
            <a:endParaRPr b="0" i="0" sz="600" u="none" cap="none" strike="noStrike">
              <a:solidFill>
                <a:schemeClr val="lt1"/>
              </a:solidFill>
              <a:latin typeface="Calibri"/>
              <a:ea typeface="Calibri"/>
              <a:cs typeface="Calibri"/>
              <a:sym typeface="Calibri"/>
            </a:endParaRPr>
          </a:p>
        </p:txBody>
      </p:sp>
      <p:cxnSp>
        <p:nvCxnSpPr>
          <p:cNvPr id="1025" name="Google Shape;1025;p39"/>
          <p:cNvCxnSpPr>
            <a:stCxn id="957" idx="2"/>
            <a:endCxn id="962" idx="0"/>
          </p:cNvCxnSpPr>
          <p:nvPr/>
        </p:nvCxnSpPr>
        <p:spPr>
          <a:xfrm flipH="1">
            <a:off x="1170312" y="5364516"/>
            <a:ext cx="1292400" cy="182700"/>
          </a:xfrm>
          <a:prstGeom prst="straightConnector1">
            <a:avLst/>
          </a:prstGeom>
          <a:noFill/>
          <a:ln cap="flat" cmpd="sng" w="9525">
            <a:solidFill>
              <a:srgbClr val="7FFF00"/>
            </a:solidFill>
            <a:prstDash val="solid"/>
            <a:round/>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1030" name="Shape 1030"/>
        <p:cNvGrpSpPr/>
        <p:nvPr/>
      </p:nvGrpSpPr>
      <p:grpSpPr>
        <a:xfrm>
          <a:off x="0" y="0"/>
          <a:ext cx="0" cy="0"/>
          <a:chOff x="0" y="0"/>
          <a:chExt cx="0" cy="0"/>
        </a:xfrm>
      </p:grpSpPr>
      <p:sp>
        <p:nvSpPr>
          <p:cNvPr id="1031" name="Google Shape;1031;p40"/>
          <p:cNvSpPr/>
          <p:nvPr/>
        </p:nvSpPr>
        <p:spPr>
          <a:xfrm>
            <a:off x="0" y="0"/>
            <a:ext cx="54900" cy="6858000"/>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40"/>
          <p:cNvSpPr/>
          <p:nvPr/>
        </p:nvSpPr>
        <p:spPr>
          <a:xfrm>
            <a:off x="54864" y="0"/>
            <a:ext cx="12134100" cy="36600"/>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40"/>
          <p:cNvSpPr/>
          <p:nvPr/>
        </p:nvSpPr>
        <p:spPr>
          <a:xfrm>
            <a:off x="54864" y="6821424"/>
            <a:ext cx="12134100" cy="36600"/>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40"/>
          <p:cNvSpPr/>
          <p:nvPr/>
        </p:nvSpPr>
        <p:spPr>
          <a:xfrm>
            <a:off x="274320" y="64008"/>
            <a:ext cx="7315200" cy="24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E5FF"/>
              </a:buClr>
              <a:buSzPts val="1000"/>
              <a:buFont typeface="Calibri"/>
              <a:buNone/>
            </a:pPr>
            <a:r>
              <a:rPr b="1" i="0" lang="en-US" sz="1000" u="none" cap="none" strike="noStrike">
                <a:solidFill>
                  <a:srgbClr val="00E5FF"/>
                </a:solidFill>
                <a:latin typeface="Calibri"/>
                <a:ea typeface="Calibri"/>
                <a:cs typeface="Calibri"/>
                <a:sym typeface="Calibri"/>
              </a:rPr>
              <a:t>AUTONOMOUS PLANNING CYCLE</a:t>
            </a:r>
            <a:endParaRPr b="0" i="0" sz="1000" u="none" cap="none" strike="noStrike">
              <a:solidFill>
                <a:schemeClr val="dk1"/>
              </a:solidFill>
              <a:latin typeface="Calibri"/>
              <a:ea typeface="Calibri"/>
              <a:cs typeface="Calibri"/>
              <a:sym typeface="Calibri"/>
            </a:endParaRPr>
          </a:p>
        </p:txBody>
      </p:sp>
      <p:sp>
        <p:nvSpPr>
          <p:cNvPr id="1035" name="Google Shape;1035;p40"/>
          <p:cNvSpPr/>
          <p:nvPr/>
        </p:nvSpPr>
        <p:spPr>
          <a:xfrm>
            <a:off x="274320" y="283464"/>
            <a:ext cx="10515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2400"/>
              <a:buFont typeface="Arial"/>
              <a:buNone/>
            </a:pPr>
            <a:r>
              <a:rPr b="1" i="0" lang="en-US" sz="2400" u="none" cap="none" strike="noStrike">
                <a:solidFill>
                  <a:srgbClr val="E8ECF4"/>
                </a:solidFill>
                <a:latin typeface="Arial"/>
                <a:ea typeface="Arial"/>
                <a:cs typeface="Arial"/>
                <a:sym typeface="Arial"/>
              </a:rPr>
              <a:t>Dual Termination &amp; Context Compaction</a:t>
            </a:r>
            <a:endParaRPr b="0" i="0" sz="2400" u="none" cap="none" strike="noStrike">
              <a:solidFill>
                <a:schemeClr val="dk1"/>
              </a:solidFill>
              <a:latin typeface="Calibri"/>
              <a:ea typeface="Calibri"/>
              <a:cs typeface="Calibri"/>
              <a:sym typeface="Calibri"/>
            </a:endParaRPr>
          </a:p>
        </p:txBody>
      </p:sp>
      <p:cxnSp>
        <p:nvCxnSpPr>
          <p:cNvPr id="1036" name="Google Shape;1036;p40"/>
          <p:cNvCxnSpPr/>
          <p:nvPr/>
        </p:nvCxnSpPr>
        <p:spPr>
          <a:xfrm>
            <a:off x="6035040" y="914400"/>
            <a:ext cx="0" cy="5623500"/>
          </a:xfrm>
          <a:prstGeom prst="straightConnector1">
            <a:avLst/>
          </a:prstGeom>
          <a:noFill/>
          <a:ln cap="flat" cmpd="sng" w="12700">
            <a:solidFill>
              <a:srgbClr val="23283A"/>
            </a:solidFill>
            <a:prstDash val="solid"/>
            <a:round/>
            <a:headEnd len="sm" w="sm" type="none"/>
            <a:tailEnd len="sm" w="sm" type="none"/>
          </a:ln>
        </p:spPr>
      </p:cxnSp>
      <p:sp>
        <p:nvSpPr>
          <p:cNvPr id="1037" name="Google Shape;1037;p40"/>
          <p:cNvSpPr/>
          <p:nvPr/>
        </p:nvSpPr>
        <p:spPr>
          <a:xfrm>
            <a:off x="274320" y="932688"/>
            <a:ext cx="5577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1300"/>
              <a:buFont typeface="Calibri"/>
              <a:buNone/>
            </a:pPr>
            <a:r>
              <a:rPr b="1" i="0" lang="en-US" sz="1300" u="none" cap="none" strike="noStrike">
                <a:solidFill>
                  <a:srgbClr val="E8ECF4"/>
                </a:solidFill>
                <a:latin typeface="Calibri"/>
                <a:ea typeface="Calibri"/>
                <a:cs typeface="Calibri"/>
                <a:sym typeface="Calibri"/>
              </a:rPr>
              <a:t>DUAL TERMINATION CONDITION</a:t>
            </a:r>
            <a:r>
              <a:rPr b="0" i="1" lang="en-US" sz="1100" u="none" cap="none" strike="noStrike">
                <a:solidFill>
                  <a:srgbClr val="A0AAB8"/>
                </a:solidFill>
                <a:latin typeface="Calibri"/>
                <a:ea typeface="Calibri"/>
                <a:cs typeface="Calibri"/>
                <a:sym typeface="Calibri"/>
              </a:rPr>
              <a:t>  —  why both must be true</a:t>
            </a:r>
            <a:endParaRPr b="0" i="0" sz="1300" u="none" cap="none" strike="noStrike">
              <a:solidFill>
                <a:schemeClr val="dk1"/>
              </a:solidFill>
              <a:latin typeface="Calibri"/>
              <a:ea typeface="Calibri"/>
              <a:cs typeface="Calibri"/>
              <a:sym typeface="Calibri"/>
            </a:endParaRPr>
          </a:p>
        </p:txBody>
      </p:sp>
      <p:sp>
        <p:nvSpPr>
          <p:cNvPr id="1038" name="Google Shape;1038;p40"/>
          <p:cNvSpPr/>
          <p:nvPr/>
        </p:nvSpPr>
        <p:spPr>
          <a:xfrm>
            <a:off x="274320" y="1298448"/>
            <a:ext cx="2606100" cy="1206900"/>
          </a:xfrm>
          <a:prstGeom prst="roundRect">
            <a:avLst>
              <a:gd fmla="val 4545" name="adj"/>
            </a:avLst>
          </a:prstGeom>
          <a:solidFill>
            <a:srgbClr val="0E1A06"/>
          </a:solidFill>
          <a:ln cap="flat" cmpd="sng" w="12700">
            <a:solidFill>
              <a:srgbClr val="39FF14"/>
            </a:solidFill>
            <a:prstDash val="solid"/>
            <a:round/>
            <a:headEnd len="sm" w="sm" type="none"/>
            <a:tailEnd len="sm" w="sm" type="none"/>
          </a:ln>
          <a:effectLst>
            <a:outerShdw blurRad="76200" rotWithShape="0" algn="bl" dir="2700000" dist="254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40"/>
          <p:cNvSpPr/>
          <p:nvPr/>
        </p:nvSpPr>
        <p:spPr>
          <a:xfrm>
            <a:off x="384048" y="1371600"/>
            <a:ext cx="2386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9FF14"/>
              </a:buClr>
              <a:buSzPts val="1150"/>
              <a:buFont typeface="Calibri"/>
              <a:buNone/>
            </a:pPr>
            <a:r>
              <a:rPr b="1" i="0" lang="en-US" sz="1150" u="none" cap="none" strike="noStrike">
                <a:solidFill>
                  <a:srgbClr val="39FF14"/>
                </a:solidFill>
                <a:latin typeface="Calibri"/>
                <a:ea typeface="Calibri"/>
                <a:cs typeface="Calibri"/>
                <a:sym typeface="Calibri"/>
              </a:rPr>
              <a:t>ASG exhausted?</a:t>
            </a:r>
            <a:endParaRPr b="0" i="0" sz="1150" u="none" cap="none" strike="noStrike">
              <a:solidFill>
                <a:schemeClr val="dk1"/>
              </a:solidFill>
              <a:latin typeface="Calibri"/>
              <a:ea typeface="Calibri"/>
              <a:cs typeface="Calibri"/>
              <a:sym typeface="Calibri"/>
            </a:endParaRPr>
          </a:p>
        </p:txBody>
      </p:sp>
      <p:sp>
        <p:nvSpPr>
          <p:cNvPr id="1040" name="Google Shape;1040;p40"/>
          <p:cNvSpPr/>
          <p:nvPr/>
        </p:nvSpPr>
        <p:spPr>
          <a:xfrm>
            <a:off x="384048" y="1664208"/>
            <a:ext cx="2386500" cy="8046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A0AAB8"/>
              </a:buClr>
              <a:buSzPts val="850"/>
              <a:buFont typeface="Calibri"/>
              <a:buNone/>
            </a:pPr>
            <a:r>
              <a:rPr b="0" i="0" lang="en-US" sz="850" u="none" cap="none" strike="noStrike">
                <a:solidFill>
                  <a:srgbClr val="A0AAB8"/>
                </a:solidFill>
                <a:latin typeface="Calibri"/>
                <a:ea typeface="Calibri"/>
                <a:cs typeface="Calibri"/>
                <a:sym typeface="Calibri"/>
              </a:rPr>
              <a:t>Every Domain, Host, Port, Service, Technology, Endpoint, and Parameter node has been investigated by the appropriate agent.</a:t>
            </a:r>
            <a:endParaRPr b="0" i="0" sz="850" u="none" cap="none" strike="noStrike">
              <a:solidFill>
                <a:schemeClr val="dk1"/>
              </a:solidFill>
              <a:latin typeface="Calibri"/>
              <a:ea typeface="Calibri"/>
              <a:cs typeface="Calibri"/>
              <a:sym typeface="Calibri"/>
            </a:endParaRPr>
          </a:p>
        </p:txBody>
      </p:sp>
      <p:sp>
        <p:nvSpPr>
          <p:cNvPr id="1041" name="Google Shape;1041;p40"/>
          <p:cNvSpPr/>
          <p:nvPr/>
        </p:nvSpPr>
        <p:spPr>
          <a:xfrm>
            <a:off x="3246120" y="1298448"/>
            <a:ext cx="2606100" cy="1206900"/>
          </a:xfrm>
          <a:prstGeom prst="roundRect">
            <a:avLst>
              <a:gd fmla="val 4545" name="adj"/>
            </a:avLst>
          </a:prstGeom>
          <a:solidFill>
            <a:srgbClr val="1E1804"/>
          </a:solidFill>
          <a:ln cap="flat" cmpd="sng" w="12700">
            <a:solidFill>
              <a:srgbClr val="FFD700"/>
            </a:solidFill>
            <a:prstDash val="solid"/>
            <a:round/>
            <a:headEnd len="sm" w="sm" type="none"/>
            <a:tailEnd len="sm" w="sm" type="none"/>
          </a:ln>
          <a:effectLst>
            <a:outerShdw blurRad="76200" rotWithShape="0" algn="bl" dir="2700000" dist="254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40"/>
          <p:cNvSpPr/>
          <p:nvPr/>
        </p:nvSpPr>
        <p:spPr>
          <a:xfrm>
            <a:off x="3355848" y="1371600"/>
            <a:ext cx="2386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1150"/>
              <a:buFont typeface="Calibri"/>
              <a:buNone/>
            </a:pPr>
            <a:r>
              <a:rPr b="1" i="0" lang="en-US" sz="1150" u="none" cap="none" strike="noStrike">
                <a:solidFill>
                  <a:srgbClr val="FFD700"/>
                </a:solidFill>
                <a:latin typeface="Calibri"/>
                <a:ea typeface="Calibri"/>
                <a:cs typeface="Calibri"/>
                <a:sym typeface="Calibri"/>
              </a:rPr>
              <a:t>APG resolved?</a:t>
            </a:r>
            <a:endParaRPr b="0" i="0" sz="1150" u="none" cap="none" strike="noStrike">
              <a:solidFill>
                <a:schemeClr val="dk1"/>
              </a:solidFill>
              <a:latin typeface="Calibri"/>
              <a:ea typeface="Calibri"/>
              <a:cs typeface="Calibri"/>
              <a:sym typeface="Calibri"/>
            </a:endParaRPr>
          </a:p>
        </p:txBody>
      </p:sp>
      <p:sp>
        <p:nvSpPr>
          <p:cNvPr id="1043" name="Google Shape;1043;p40"/>
          <p:cNvSpPr/>
          <p:nvPr/>
        </p:nvSpPr>
        <p:spPr>
          <a:xfrm>
            <a:off x="3355848" y="1664208"/>
            <a:ext cx="2386500" cy="8046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A0AAB8"/>
              </a:buClr>
              <a:buSzPts val="850"/>
              <a:buFont typeface="Calibri"/>
              <a:buNone/>
            </a:pPr>
            <a:r>
              <a:rPr b="0" i="0" lang="en-US" sz="850" u="none" cap="none" strike="noStrike">
                <a:solidFill>
                  <a:srgbClr val="A0AAB8"/>
                </a:solidFill>
                <a:latin typeface="Calibri"/>
                <a:ea typeface="Calibri"/>
                <a:cs typeface="Calibri"/>
                <a:sym typeface="Calibri"/>
              </a:rPr>
              <a:t>Every AttackChain sits in a terminal state — VALIDATED or RULED_OUT. None left HYPOTHESIZED or PARTIALLY_VALIDATED.</a:t>
            </a:r>
            <a:endParaRPr b="0" i="0" sz="850" u="none" cap="none" strike="noStrike">
              <a:solidFill>
                <a:schemeClr val="dk1"/>
              </a:solidFill>
              <a:latin typeface="Calibri"/>
              <a:ea typeface="Calibri"/>
              <a:cs typeface="Calibri"/>
              <a:sym typeface="Calibri"/>
            </a:endParaRPr>
          </a:p>
        </p:txBody>
      </p:sp>
      <p:sp>
        <p:nvSpPr>
          <p:cNvPr id="1044" name="Google Shape;1044;p40"/>
          <p:cNvSpPr/>
          <p:nvPr/>
        </p:nvSpPr>
        <p:spPr>
          <a:xfrm>
            <a:off x="274320" y="2670048"/>
            <a:ext cx="2606100" cy="1079100"/>
          </a:xfrm>
          <a:prstGeom prst="roundRect">
            <a:avLst>
              <a:gd fmla="val 5085" name="adj"/>
            </a:avLst>
          </a:prstGeom>
          <a:solidFill>
            <a:srgbClr val="220808"/>
          </a:solidFill>
          <a:ln cap="flat" cmpd="sng" w="12700">
            <a:solidFill>
              <a:srgbClr val="FF4545"/>
            </a:solidFill>
            <a:prstDash val="solid"/>
            <a:round/>
            <a:headEnd len="sm" w="sm" type="none"/>
            <a:tailEnd len="sm" w="sm" type="none"/>
          </a:ln>
          <a:effectLst>
            <a:outerShdw blurRad="76200" rotWithShape="0" algn="bl" dir="2700000" dist="254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40"/>
          <p:cNvSpPr/>
          <p:nvPr/>
        </p:nvSpPr>
        <p:spPr>
          <a:xfrm>
            <a:off x="384048" y="2734056"/>
            <a:ext cx="23865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4545"/>
              </a:buClr>
              <a:buSzPts val="950"/>
              <a:buFont typeface="Calibri"/>
              <a:buNone/>
            </a:pPr>
            <a:r>
              <a:rPr b="1" i="0" lang="en-US" sz="950" u="none" cap="none" strike="noStrike">
                <a:solidFill>
                  <a:srgbClr val="FF4545"/>
                </a:solidFill>
                <a:latin typeface="Calibri"/>
                <a:ea typeface="Calibri"/>
                <a:cs typeface="Calibri"/>
                <a:sym typeface="Calibri"/>
              </a:rPr>
              <a:t>❌ ASG only — NOT DONE</a:t>
            </a:r>
            <a:endParaRPr b="0" i="0" sz="950" u="none" cap="none" strike="noStrike">
              <a:solidFill>
                <a:schemeClr val="dk1"/>
              </a:solidFill>
              <a:latin typeface="Calibri"/>
              <a:ea typeface="Calibri"/>
              <a:cs typeface="Calibri"/>
              <a:sym typeface="Calibri"/>
            </a:endParaRPr>
          </a:p>
        </p:txBody>
      </p:sp>
      <p:sp>
        <p:nvSpPr>
          <p:cNvPr id="1046" name="Google Shape;1046;p40"/>
          <p:cNvSpPr/>
          <p:nvPr/>
        </p:nvSpPr>
        <p:spPr>
          <a:xfrm>
            <a:off x="384048" y="2980944"/>
            <a:ext cx="2386500" cy="7131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A0AAB8"/>
              </a:buClr>
              <a:buSzPts val="800"/>
              <a:buFont typeface="Calibri"/>
              <a:buNone/>
            </a:pPr>
            <a:r>
              <a:rPr b="0" i="0" lang="en-US" sz="800" u="none" cap="none" strike="noStrike">
                <a:solidFill>
                  <a:srgbClr val="A0AAB8"/>
                </a:solidFill>
                <a:latin typeface="Calibri"/>
                <a:ea typeface="Calibri"/>
                <a:cs typeface="Calibri"/>
                <a:sym typeface="Calibri"/>
              </a:rPr>
              <a:t>Surface fully explored but chains still open. Attack reasoning is unfinished.</a:t>
            </a:r>
            <a:endParaRPr b="0" i="0" sz="800" u="none" cap="none" strike="noStrike">
              <a:solidFill>
                <a:schemeClr val="dk1"/>
              </a:solidFill>
              <a:latin typeface="Calibri"/>
              <a:ea typeface="Calibri"/>
              <a:cs typeface="Calibri"/>
              <a:sym typeface="Calibri"/>
            </a:endParaRPr>
          </a:p>
        </p:txBody>
      </p:sp>
      <p:sp>
        <p:nvSpPr>
          <p:cNvPr id="1047" name="Google Shape;1047;p40"/>
          <p:cNvSpPr/>
          <p:nvPr/>
        </p:nvSpPr>
        <p:spPr>
          <a:xfrm>
            <a:off x="3246120" y="2670048"/>
            <a:ext cx="2606100" cy="1079100"/>
          </a:xfrm>
          <a:prstGeom prst="roundRect">
            <a:avLst>
              <a:gd fmla="val 5085" name="adj"/>
            </a:avLst>
          </a:prstGeom>
          <a:solidFill>
            <a:srgbClr val="220808"/>
          </a:solidFill>
          <a:ln cap="flat" cmpd="sng" w="12700">
            <a:solidFill>
              <a:srgbClr val="FF4545"/>
            </a:solidFill>
            <a:prstDash val="solid"/>
            <a:round/>
            <a:headEnd len="sm" w="sm" type="none"/>
            <a:tailEnd len="sm" w="sm" type="none"/>
          </a:ln>
          <a:effectLst>
            <a:outerShdw blurRad="76200" rotWithShape="0" algn="bl" dir="2700000" dist="254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40"/>
          <p:cNvSpPr/>
          <p:nvPr/>
        </p:nvSpPr>
        <p:spPr>
          <a:xfrm>
            <a:off x="3355848" y="2734056"/>
            <a:ext cx="23865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4545"/>
              </a:buClr>
              <a:buSzPts val="950"/>
              <a:buFont typeface="Calibri"/>
              <a:buNone/>
            </a:pPr>
            <a:r>
              <a:rPr b="1" i="0" lang="en-US" sz="950" u="none" cap="none" strike="noStrike">
                <a:solidFill>
                  <a:srgbClr val="FF4545"/>
                </a:solidFill>
                <a:latin typeface="Calibri"/>
                <a:ea typeface="Calibri"/>
                <a:cs typeface="Calibri"/>
                <a:sym typeface="Calibri"/>
              </a:rPr>
              <a:t>❌ APG only — NOT DONE</a:t>
            </a:r>
            <a:endParaRPr b="0" i="0" sz="950" u="none" cap="none" strike="noStrike">
              <a:solidFill>
                <a:schemeClr val="dk1"/>
              </a:solidFill>
              <a:latin typeface="Calibri"/>
              <a:ea typeface="Calibri"/>
              <a:cs typeface="Calibri"/>
              <a:sym typeface="Calibri"/>
            </a:endParaRPr>
          </a:p>
        </p:txBody>
      </p:sp>
      <p:sp>
        <p:nvSpPr>
          <p:cNvPr id="1049" name="Google Shape;1049;p40"/>
          <p:cNvSpPr/>
          <p:nvPr/>
        </p:nvSpPr>
        <p:spPr>
          <a:xfrm>
            <a:off x="3355848" y="2980944"/>
            <a:ext cx="2386500" cy="7131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A0AAB8"/>
              </a:buClr>
              <a:buSzPts val="800"/>
              <a:buFont typeface="Calibri"/>
              <a:buNone/>
            </a:pPr>
            <a:r>
              <a:rPr b="0" i="0" lang="en-US" sz="800" u="none" cap="none" strike="noStrike">
                <a:solidFill>
                  <a:srgbClr val="A0AAB8"/>
                </a:solidFill>
                <a:latin typeface="Calibri"/>
                <a:ea typeface="Calibri"/>
                <a:cs typeface="Calibri"/>
                <a:sym typeface="Calibri"/>
              </a:rPr>
              <a:t>All chains resolved, but new ASG nodes were just written — they might seed new chains.</a:t>
            </a:r>
            <a:endParaRPr b="0" i="0" sz="800" u="none" cap="none" strike="noStrike">
              <a:solidFill>
                <a:schemeClr val="dk1"/>
              </a:solidFill>
              <a:latin typeface="Calibri"/>
              <a:ea typeface="Calibri"/>
              <a:cs typeface="Calibri"/>
              <a:sym typeface="Calibri"/>
            </a:endParaRPr>
          </a:p>
        </p:txBody>
      </p:sp>
      <p:sp>
        <p:nvSpPr>
          <p:cNvPr id="1050" name="Google Shape;1050;p40"/>
          <p:cNvSpPr/>
          <p:nvPr/>
        </p:nvSpPr>
        <p:spPr>
          <a:xfrm>
            <a:off x="274320" y="3822192"/>
            <a:ext cx="2606100" cy="1079100"/>
          </a:xfrm>
          <a:prstGeom prst="roundRect">
            <a:avLst>
              <a:gd fmla="val 5085" name="adj"/>
            </a:avLst>
          </a:prstGeom>
          <a:solidFill>
            <a:srgbClr val="220808"/>
          </a:solidFill>
          <a:ln cap="flat" cmpd="sng" w="12700">
            <a:solidFill>
              <a:srgbClr val="FF4545"/>
            </a:solidFill>
            <a:prstDash val="solid"/>
            <a:round/>
            <a:headEnd len="sm" w="sm" type="none"/>
            <a:tailEnd len="sm" w="sm" type="none"/>
          </a:ln>
          <a:effectLst>
            <a:outerShdw blurRad="76200" rotWithShape="0" algn="bl" dir="2700000" dist="254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40"/>
          <p:cNvSpPr/>
          <p:nvPr/>
        </p:nvSpPr>
        <p:spPr>
          <a:xfrm>
            <a:off x="384048" y="3886200"/>
            <a:ext cx="23865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4545"/>
              </a:buClr>
              <a:buSzPts val="950"/>
              <a:buFont typeface="Calibri"/>
              <a:buNone/>
            </a:pPr>
            <a:r>
              <a:rPr b="1" i="0" lang="en-US" sz="950" u="none" cap="none" strike="noStrike">
                <a:solidFill>
                  <a:srgbClr val="FF4545"/>
                </a:solidFill>
                <a:latin typeface="Calibri"/>
                <a:ea typeface="Calibri"/>
                <a:cs typeface="Calibri"/>
                <a:sym typeface="Calibri"/>
              </a:rPr>
              <a:t>❌ Neither — NOT DONE</a:t>
            </a:r>
            <a:endParaRPr b="0" i="0" sz="950" u="none" cap="none" strike="noStrike">
              <a:solidFill>
                <a:schemeClr val="dk1"/>
              </a:solidFill>
              <a:latin typeface="Calibri"/>
              <a:ea typeface="Calibri"/>
              <a:cs typeface="Calibri"/>
              <a:sym typeface="Calibri"/>
            </a:endParaRPr>
          </a:p>
        </p:txBody>
      </p:sp>
      <p:sp>
        <p:nvSpPr>
          <p:cNvPr id="1052" name="Google Shape;1052;p40"/>
          <p:cNvSpPr/>
          <p:nvPr/>
        </p:nvSpPr>
        <p:spPr>
          <a:xfrm>
            <a:off x="384048" y="4133088"/>
            <a:ext cx="2386500" cy="7131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A0AAB8"/>
              </a:buClr>
              <a:buSzPts val="800"/>
              <a:buFont typeface="Calibri"/>
              <a:buNone/>
            </a:pPr>
            <a:r>
              <a:rPr b="0" i="0" lang="en-US" sz="800" u="none" cap="none" strike="noStrike">
                <a:solidFill>
                  <a:srgbClr val="A0AAB8"/>
                </a:solidFill>
                <a:latin typeface="Calibri"/>
                <a:ea typeface="Calibri"/>
                <a:cs typeface="Calibri"/>
                <a:sym typeface="Calibri"/>
              </a:rPr>
              <a:t>Both conditions incomplete. Mission continues.</a:t>
            </a:r>
            <a:endParaRPr b="0" i="0" sz="800" u="none" cap="none" strike="noStrike">
              <a:solidFill>
                <a:schemeClr val="dk1"/>
              </a:solidFill>
              <a:latin typeface="Calibri"/>
              <a:ea typeface="Calibri"/>
              <a:cs typeface="Calibri"/>
              <a:sym typeface="Calibri"/>
            </a:endParaRPr>
          </a:p>
        </p:txBody>
      </p:sp>
      <p:sp>
        <p:nvSpPr>
          <p:cNvPr id="1053" name="Google Shape;1053;p40"/>
          <p:cNvSpPr/>
          <p:nvPr/>
        </p:nvSpPr>
        <p:spPr>
          <a:xfrm>
            <a:off x="3246120" y="3822192"/>
            <a:ext cx="2606100" cy="1079100"/>
          </a:xfrm>
          <a:prstGeom prst="roundRect">
            <a:avLst>
              <a:gd fmla="val 5085" name="adj"/>
            </a:avLst>
          </a:prstGeom>
          <a:solidFill>
            <a:srgbClr val="0C2008"/>
          </a:solidFill>
          <a:ln cap="flat" cmpd="sng" w="12700">
            <a:solidFill>
              <a:srgbClr val="39FF14"/>
            </a:solidFill>
            <a:prstDash val="solid"/>
            <a:round/>
            <a:headEnd len="sm" w="sm" type="none"/>
            <a:tailEnd len="sm" w="sm" type="none"/>
          </a:ln>
          <a:effectLst>
            <a:outerShdw blurRad="76200" rotWithShape="0" algn="bl" dir="2700000" dist="254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40"/>
          <p:cNvSpPr/>
          <p:nvPr/>
        </p:nvSpPr>
        <p:spPr>
          <a:xfrm>
            <a:off x="3355848" y="3886200"/>
            <a:ext cx="23865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9FF14"/>
              </a:buClr>
              <a:buSzPts val="950"/>
              <a:buFont typeface="Calibri"/>
              <a:buNone/>
            </a:pPr>
            <a:r>
              <a:rPr b="1" i="0" lang="en-US" sz="950" u="none" cap="none" strike="noStrike">
                <a:solidFill>
                  <a:srgbClr val="39FF14"/>
                </a:solidFill>
                <a:latin typeface="Calibri"/>
                <a:ea typeface="Calibri"/>
                <a:cs typeface="Calibri"/>
                <a:sym typeface="Calibri"/>
              </a:rPr>
              <a:t>✅ Both true — MISSION COMPLETE</a:t>
            </a:r>
            <a:endParaRPr b="0" i="0" sz="950" u="none" cap="none" strike="noStrike">
              <a:solidFill>
                <a:schemeClr val="dk1"/>
              </a:solidFill>
              <a:latin typeface="Calibri"/>
              <a:ea typeface="Calibri"/>
              <a:cs typeface="Calibri"/>
              <a:sym typeface="Calibri"/>
            </a:endParaRPr>
          </a:p>
        </p:txBody>
      </p:sp>
      <p:sp>
        <p:nvSpPr>
          <p:cNvPr id="1055" name="Google Shape;1055;p40"/>
          <p:cNvSpPr/>
          <p:nvPr/>
        </p:nvSpPr>
        <p:spPr>
          <a:xfrm>
            <a:off x="3355848" y="4133088"/>
            <a:ext cx="2386500" cy="7131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A0AAB8"/>
              </a:buClr>
              <a:buSzPts val="800"/>
              <a:buFont typeface="Calibri"/>
              <a:buNone/>
            </a:pPr>
            <a:r>
              <a:rPr b="0" i="0" lang="en-US" sz="800" u="none" cap="none" strike="noStrike">
                <a:solidFill>
                  <a:srgbClr val="A0AAB8"/>
                </a:solidFill>
                <a:latin typeface="Calibri"/>
                <a:ea typeface="Calibri"/>
                <a:cs typeface="Calibri"/>
                <a:sym typeface="Calibri"/>
              </a:rPr>
              <a:t>ASG fully mapped, every attack opportunity proven or disproven. Report Agent spawned.</a:t>
            </a:r>
            <a:endParaRPr b="0" i="0" sz="800" u="none" cap="none" strike="noStrike">
              <a:solidFill>
                <a:schemeClr val="dk1"/>
              </a:solidFill>
              <a:latin typeface="Calibri"/>
              <a:ea typeface="Calibri"/>
              <a:cs typeface="Calibri"/>
              <a:sym typeface="Calibri"/>
            </a:endParaRPr>
          </a:p>
        </p:txBody>
      </p:sp>
      <p:sp>
        <p:nvSpPr>
          <p:cNvPr id="1056" name="Google Shape;1056;p40"/>
          <p:cNvSpPr/>
          <p:nvPr/>
        </p:nvSpPr>
        <p:spPr>
          <a:xfrm>
            <a:off x="274320" y="5029200"/>
            <a:ext cx="5577900" cy="1005900"/>
          </a:xfrm>
          <a:prstGeom prst="roundRect">
            <a:avLst>
              <a:gd fmla="val 5455" name="adj"/>
            </a:avLst>
          </a:prstGeom>
          <a:solidFill>
            <a:srgbClr val="150C28"/>
          </a:solidFill>
          <a:ln cap="flat" cmpd="sng" w="12700">
            <a:solidFill>
              <a:srgbClr val="BD93F9"/>
            </a:solidFill>
            <a:prstDash val="solid"/>
            <a:round/>
            <a:headEnd len="sm" w="sm" type="none"/>
            <a:tailEnd len="sm" w="sm" type="none"/>
          </a:ln>
          <a:effectLst>
            <a:outerShdw blurRad="76200" rotWithShape="0" algn="bl" dir="2700000" dist="254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40"/>
          <p:cNvSpPr/>
          <p:nvPr/>
        </p:nvSpPr>
        <p:spPr>
          <a:xfrm>
            <a:off x="411480" y="5120640"/>
            <a:ext cx="5303400" cy="822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BD93F9"/>
              </a:buClr>
              <a:buSzPts val="900"/>
              <a:buFont typeface="Calibri"/>
              <a:buNone/>
            </a:pPr>
            <a:r>
              <a:rPr b="1" i="0" lang="en-US" sz="900" u="none" cap="none" strike="noStrike">
                <a:solidFill>
                  <a:srgbClr val="BD93F9"/>
                </a:solidFill>
                <a:latin typeface="Calibri"/>
                <a:ea typeface="Calibri"/>
                <a:cs typeface="Calibri"/>
                <a:sym typeface="Calibri"/>
              </a:rPr>
              <a:t>Why existing systems fail:  </a:t>
            </a:r>
            <a:r>
              <a:rPr b="0" i="0" lang="en-US" sz="900" u="none" cap="none" strike="noStrike">
                <a:solidFill>
                  <a:srgbClr val="D8C9F5"/>
                </a:solidFill>
                <a:latin typeface="Calibri"/>
                <a:ea typeface="Calibri"/>
                <a:cs typeface="Calibri"/>
                <a:sym typeface="Calibri"/>
              </a:rPr>
              <a:t>timer-based execution stops mid-chain; task-queue-based systems can't express APG resolution at all. CMatrix is the only architecture that evaluates both conditions simultaneously.</a:t>
            </a:r>
            <a:endParaRPr b="0" i="0" sz="900" u="none" cap="none" strike="noStrike">
              <a:solidFill>
                <a:schemeClr val="dk1"/>
              </a:solidFill>
              <a:latin typeface="Calibri"/>
              <a:ea typeface="Calibri"/>
              <a:cs typeface="Calibri"/>
              <a:sym typeface="Calibri"/>
            </a:endParaRPr>
          </a:p>
        </p:txBody>
      </p:sp>
      <p:sp>
        <p:nvSpPr>
          <p:cNvPr id="1058" name="Google Shape;1058;p40"/>
          <p:cNvSpPr/>
          <p:nvPr/>
        </p:nvSpPr>
        <p:spPr>
          <a:xfrm>
            <a:off x="6263640" y="932688"/>
            <a:ext cx="5651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1300"/>
              <a:buFont typeface="Calibri"/>
              <a:buNone/>
            </a:pPr>
            <a:r>
              <a:rPr b="1" i="0" lang="en-US" sz="1300" u="none" cap="none" strike="noStrike">
                <a:solidFill>
                  <a:srgbClr val="E8ECF4"/>
                </a:solidFill>
                <a:latin typeface="Calibri"/>
                <a:ea typeface="Calibri"/>
                <a:cs typeface="Calibri"/>
                <a:sym typeface="Calibri"/>
              </a:rPr>
              <a:t>CONTEXT COMPACTION</a:t>
            </a:r>
            <a:r>
              <a:rPr b="0" i="1" lang="en-US" sz="1100" u="none" cap="none" strike="noStrike">
                <a:solidFill>
                  <a:srgbClr val="A0AAB8"/>
                </a:solidFill>
                <a:latin typeface="Calibri"/>
                <a:ea typeface="Calibri"/>
                <a:cs typeface="Calibri"/>
                <a:sym typeface="Calibri"/>
              </a:rPr>
              <a:t>  —  how long missions stay sharp</a:t>
            </a:r>
            <a:endParaRPr b="0" i="0" sz="1300" u="none" cap="none" strike="noStrike">
              <a:solidFill>
                <a:schemeClr val="dk1"/>
              </a:solidFill>
              <a:latin typeface="Calibri"/>
              <a:ea typeface="Calibri"/>
              <a:cs typeface="Calibri"/>
              <a:sym typeface="Calibri"/>
            </a:endParaRPr>
          </a:p>
        </p:txBody>
      </p:sp>
      <p:sp>
        <p:nvSpPr>
          <p:cNvPr id="1059" name="Google Shape;1059;p40"/>
          <p:cNvSpPr/>
          <p:nvPr/>
        </p:nvSpPr>
        <p:spPr>
          <a:xfrm>
            <a:off x="6263640" y="1298448"/>
            <a:ext cx="5651100" cy="868800"/>
          </a:xfrm>
          <a:prstGeom prst="roundRect">
            <a:avLst>
              <a:gd fmla="val 6316" name="adj"/>
            </a:avLst>
          </a:prstGeom>
          <a:solidFill>
            <a:srgbClr val="0E1A06"/>
          </a:solidFill>
          <a:ln cap="flat" cmpd="sng" w="12700">
            <a:solidFill>
              <a:srgbClr val="39FF14"/>
            </a:solidFill>
            <a:prstDash val="solid"/>
            <a:round/>
            <a:headEnd len="sm" w="sm" type="none"/>
            <a:tailEnd len="sm" w="sm" type="none"/>
          </a:ln>
          <a:effectLst>
            <a:outerShdw blurRad="76200" rotWithShape="0" algn="bl" dir="2700000" dist="254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40"/>
          <p:cNvSpPr/>
          <p:nvPr/>
        </p:nvSpPr>
        <p:spPr>
          <a:xfrm>
            <a:off x="6400800" y="1371600"/>
            <a:ext cx="53766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9FF14"/>
              </a:buClr>
              <a:buSzPts val="900"/>
              <a:buFont typeface="Calibri"/>
              <a:buNone/>
            </a:pPr>
            <a:r>
              <a:rPr b="1" i="0" lang="en-US" sz="900" u="none" cap="none" strike="noStrike">
                <a:solidFill>
                  <a:srgbClr val="39FF14"/>
                </a:solidFill>
                <a:latin typeface="Calibri"/>
                <a:ea typeface="Calibri"/>
                <a:cs typeface="Calibri"/>
                <a:sym typeface="Calibri"/>
              </a:rPr>
              <a:t>NORMAL OPERATION</a:t>
            </a:r>
            <a:endParaRPr b="0" i="0" sz="900" u="none" cap="none" strike="noStrike">
              <a:solidFill>
                <a:schemeClr val="dk1"/>
              </a:solidFill>
              <a:latin typeface="Calibri"/>
              <a:ea typeface="Calibri"/>
              <a:cs typeface="Calibri"/>
              <a:sym typeface="Calibri"/>
            </a:endParaRPr>
          </a:p>
        </p:txBody>
      </p:sp>
      <p:sp>
        <p:nvSpPr>
          <p:cNvPr id="1061" name="Google Shape;1061;p40"/>
          <p:cNvSpPr/>
          <p:nvPr/>
        </p:nvSpPr>
        <p:spPr>
          <a:xfrm>
            <a:off x="6400800" y="1591056"/>
            <a:ext cx="5376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1150"/>
              <a:buFont typeface="Calibri"/>
              <a:buNone/>
            </a:pPr>
            <a:r>
              <a:rPr b="1" i="0" lang="en-US" sz="1150" u="none" cap="none" strike="noStrike">
                <a:solidFill>
                  <a:srgbClr val="E8ECF4"/>
                </a:solidFill>
                <a:latin typeface="Calibri"/>
                <a:ea typeface="Calibri"/>
                <a:cs typeface="Calibri"/>
                <a:sym typeface="Calibri"/>
              </a:rPr>
              <a:t>MicroCompact — every tool call</a:t>
            </a:r>
            <a:endParaRPr b="0" i="0" sz="1150" u="none" cap="none" strike="noStrike">
              <a:solidFill>
                <a:schemeClr val="dk1"/>
              </a:solidFill>
              <a:latin typeface="Calibri"/>
              <a:ea typeface="Calibri"/>
              <a:cs typeface="Calibri"/>
              <a:sym typeface="Calibri"/>
            </a:endParaRPr>
          </a:p>
        </p:txBody>
      </p:sp>
      <p:sp>
        <p:nvSpPr>
          <p:cNvPr id="1062" name="Google Shape;1062;p40"/>
          <p:cNvSpPr/>
          <p:nvPr/>
        </p:nvSpPr>
        <p:spPr>
          <a:xfrm>
            <a:off x="6400800" y="1847088"/>
            <a:ext cx="5376600" cy="246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A0AAB8"/>
              </a:buClr>
              <a:buSzPts val="900"/>
              <a:buFont typeface="Calibri"/>
              <a:buNone/>
            </a:pPr>
            <a:r>
              <a:rPr b="0" i="0" lang="en-US" sz="900" u="none" cap="none" strike="noStrike">
                <a:solidFill>
                  <a:srgbClr val="A0AAB8"/>
                </a:solidFill>
                <a:latin typeface="Calibri"/>
                <a:ea typeface="Calibri"/>
                <a:cs typeface="Calibri"/>
                <a:sym typeface="Calibri"/>
              </a:rPr>
              <a:t>Raw tool output is discarded immediately; the agent sees only a 3-line summary.</a:t>
            </a:r>
            <a:endParaRPr b="0" i="0" sz="900" u="none" cap="none" strike="noStrike">
              <a:solidFill>
                <a:schemeClr val="dk1"/>
              </a:solidFill>
              <a:latin typeface="Calibri"/>
              <a:ea typeface="Calibri"/>
              <a:cs typeface="Calibri"/>
              <a:sym typeface="Calibri"/>
            </a:endParaRPr>
          </a:p>
        </p:txBody>
      </p:sp>
      <p:sp>
        <p:nvSpPr>
          <p:cNvPr id="1063" name="Google Shape;1063;p40"/>
          <p:cNvSpPr/>
          <p:nvPr/>
        </p:nvSpPr>
        <p:spPr>
          <a:xfrm>
            <a:off x="6263640" y="2194560"/>
            <a:ext cx="56511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AAB8"/>
              </a:buClr>
              <a:buSzPts val="850"/>
              <a:buFont typeface="Calibri"/>
              <a:buNone/>
            </a:pPr>
            <a:r>
              <a:rPr b="0" i="1" lang="en-US" sz="850" u="none" cap="none" strike="noStrike">
                <a:solidFill>
                  <a:srgbClr val="A0AAB8"/>
                </a:solidFill>
                <a:latin typeface="Calibri"/>
                <a:ea typeface="Calibri"/>
                <a:cs typeface="Calibri"/>
                <a:sym typeface="Calibri"/>
              </a:rPr>
              <a:t>context grows  ↓</a:t>
            </a:r>
            <a:endParaRPr b="0" i="0" sz="850" u="none" cap="none" strike="noStrike">
              <a:solidFill>
                <a:schemeClr val="dk1"/>
              </a:solidFill>
              <a:latin typeface="Calibri"/>
              <a:ea typeface="Calibri"/>
              <a:cs typeface="Calibri"/>
              <a:sym typeface="Calibri"/>
            </a:endParaRPr>
          </a:p>
        </p:txBody>
      </p:sp>
      <p:sp>
        <p:nvSpPr>
          <p:cNvPr id="1064" name="Google Shape;1064;p40"/>
          <p:cNvSpPr/>
          <p:nvPr/>
        </p:nvSpPr>
        <p:spPr>
          <a:xfrm>
            <a:off x="6263640" y="2395728"/>
            <a:ext cx="5651100" cy="868800"/>
          </a:xfrm>
          <a:prstGeom prst="roundRect">
            <a:avLst>
              <a:gd fmla="val 6316" name="adj"/>
            </a:avLst>
          </a:prstGeom>
          <a:solidFill>
            <a:srgbClr val="1E1804"/>
          </a:solidFill>
          <a:ln cap="flat" cmpd="sng" w="12700">
            <a:solidFill>
              <a:srgbClr val="FFD700"/>
            </a:solidFill>
            <a:prstDash val="solid"/>
            <a:round/>
            <a:headEnd len="sm" w="sm" type="none"/>
            <a:tailEnd len="sm" w="sm" type="none"/>
          </a:ln>
          <a:effectLst>
            <a:outerShdw blurRad="76200" rotWithShape="0" algn="bl" dir="2700000" dist="254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40"/>
          <p:cNvSpPr/>
          <p:nvPr/>
        </p:nvSpPr>
        <p:spPr>
          <a:xfrm>
            <a:off x="6400800" y="2468880"/>
            <a:ext cx="53766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700"/>
              </a:buClr>
              <a:buSzPts val="900"/>
              <a:buFont typeface="Calibri"/>
              <a:buNone/>
            </a:pPr>
            <a:r>
              <a:rPr b="1" i="0" lang="en-US" sz="900" u="none" cap="none" strike="noStrike">
                <a:solidFill>
                  <a:srgbClr val="FFD700"/>
                </a:solidFill>
                <a:latin typeface="Calibri"/>
                <a:ea typeface="Calibri"/>
                <a:cs typeface="Calibri"/>
                <a:sym typeface="Calibri"/>
              </a:rPr>
              <a:t>AUTOCOMPACT  ·  @ 60% context</a:t>
            </a:r>
            <a:endParaRPr b="0" i="0" sz="900" u="none" cap="none" strike="noStrike">
              <a:solidFill>
                <a:schemeClr val="dk1"/>
              </a:solidFill>
              <a:latin typeface="Calibri"/>
              <a:ea typeface="Calibri"/>
              <a:cs typeface="Calibri"/>
              <a:sym typeface="Calibri"/>
            </a:endParaRPr>
          </a:p>
        </p:txBody>
      </p:sp>
      <p:sp>
        <p:nvSpPr>
          <p:cNvPr id="1066" name="Google Shape;1066;p40"/>
          <p:cNvSpPr/>
          <p:nvPr/>
        </p:nvSpPr>
        <p:spPr>
          <a:xfrm>
            <a:off x="6400800" y="2688336"/>
            <a:ext cx="5376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1150"/>
              <a:buFont typeface="Calibri"/>
              <a:buNone/>
            </a:pPr>
            <a:r>
              <a:rPr b="1" i="0" lang="en-US" sz="1150" u="none" cap="none" strike="noStrike">
                <a:solidFill>
                  <a:srgbClr val="E8ECF4"/>
                </a:solidFill>
                <a:latin typeface="Calibri"/>
                <a:ea typeface="Calibri"/>
                <a:cs typeface="Calibri"/>
                <a:sym typeface="Calibri"/>
              </a:rPr>
              <a:t>Older turns summarized by a scoped LLM call</a:t>
            </a:r>
            <a:endParaRPr b="0" i="0" sz="1150" u="none" cap="none" strike="noStrike">
              <a:solidFill>
                <a:schemeClr val="dk1"/>
              </a:solidFill>
              <a:latin typeface="Calibri"/>
              <a:ea typeface="Calibri"/>
              <a:cs typeface="Calibri"/>
              <a:sym typeface="Calibri"/>
            </a:endParaRPr>
          </a:p>
        </p:txBody>
      </p:sp>
      <p:sp>
        <p:nvSpPr>
          <p:cNvPr id="1067" name="Google Shape;1067;p40"/>
          <p:cNvSpPr/>
          <p:nvPr/>
        </p:nvSpPr>
        <p:spPr>
          <a:xfrm>
            <a:off x="6400800" y="2944368"/>
            <a:ext cx="5376600" cy="246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A0AAB8"/>
              </a:buClr>
              <a:buSzPts val="900"/>
              <a:buFont typeface="Calibri"/>
              <a:buNone/>
            </a:pPr>
            <a:r>
              <a:rPr b="0" i="0" lang="en-US" sz="900" u="none" cap="none" strike="noStrike">
                <a:solidFill>
                  <a:srgbClr val="A0AAB8"/>
                </a:solidFill>
                <a:latin typeface="Calibri"/>
                <a:ea typeface="Calibri"/>
                <a:cs typeface="Calibri"/>
                <a:sym typeface="Calibri"/>
              </a:rPr>
              <a:t>The summary replaces raw conversation turns. The agent continues uninterrupted.</a:t>
            </a:r>
            <a:endParaRPr b="0" i="0" sz="900" u="none" cap="none" strike="noStrike">
              <a:solidFill>
                <a:schemeClr val="dk1"/>
              </a:solidFill>
              <a:latin typeface="Calibri"/>
              <a:ea typeface="Calibri"/>
              <a:cs typeface="Calibri"/>
              <a:sym typeface="Calibri"/>
            </a:endParaRPr>
          </a:p>
        </p:txBody>
      </p:sp>
      <p:sp>
        <p:nvSpPr>
          <p:cNvPr id="1068" name="Google Shape;1068;p40"/>
          <p:cNvSpPr/>
          <p:nvPr/>
        </p:nvSpPr>
        <p:spPr>
          <a:xfrm>
            <a:off x="6263640" y="3291840"/>
            <a:ext cx="56511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AAB8"/>
              </a:buClr>
              <a:buSzPts val="850"/>
              <a:buFont typeface="Calibri"/>
              <a:buNone/>
            </a:pPr>
            <a:r>
              <a:rPr b="0" i="1" lang="en-US" sz="850" u="none" cap="none" strike="noStrike">
                <a:solidFill>
                  <a:srgbClr val="A0AAB8"/>
                </a:solidFill>
                <a:latin typeface="Calibri"/>
                <a:ea typeface="Calibri"/>
                <a:cs typeface="Calibri"/>
                <a:sym typeface="Calibri"/>
              </a:rPr>
              <a:t>context grows  ↓</a:t>
            </a:r>
            <a:endParaRPr b="0" i="0" sz="850" u="none" cap="none" strike="noStrike">
              <a:solidFill>
                <a:schemeClr val="dk1"/>
              </a:solidFill>
              <a:latin typeface="Calibri"/>
              <a:ea typeface="Calibri"/>
              <a:cs typeface="Calibri"/>
              <a:sym typeface="Calibri"/>
            </a:endParaRPr>
          </a:p>
        </p:txBody>
      </p:sp>
      <p:sp>
        <p:nvSpPr>
          <p:cNvPr id="1069" name="Google Shape;1069;p40"/>
          <p:cNvSpPr/>
          <p:nvPr/>
        </p:nvSpPr>
        <p:spPr>
          <a:xfrm>
            <a:off x="6263640" y="3493008"/>
            <a:ext cx="5651100" cy="1051500"/>
          </a:xfrm>
          <a:prstGeom prst="roundRect">
            <a:avLst>
              <a:gd fmla="val 5217" name="adj"/>
            </a:avLst>
          </a:prstGeom>
          <a:solidFill>
            <a:srgbClr val="061A28"/>
          </a:solidFill>
          <a:ln cap="flat" cmpd="sng" w="12700">
            <a:solidFill>
              <a:srgbClr val="00E5FF"/>
            </a:solidFill>
            <a:prstDash val="solid"/>
            <a:round/>
            <a:headEnd len="sm" w="sm" type="none"/>
            <a:tailEnd len="sm" w="sm" type="none"/>
          </a:ln>
          <a:effectLst>
            <a:outerShdw blurRad="76200" rotWithShape="0" algn="bl" dir="2700000" dist="254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40"/>
          <p:cNvSpPr/>
          <p:nvPr/>
        </p:nvSpPr>
        <p:spPr>
          <a:xfrm>
            <a:off x="6400800" y="3566160"/>
            <a:ext cx="53766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E5FF"/>
              </a:buClr>
              <a:buSzPts val="900"/>
              <a:buFont typeface="Calibri"/>
              <a:buNone/>
            </a:pPr>
            <a:r>
              <a:rPr b="1" i="0" lang="en-US" sz="900" u="none" cap="none" strike="noStrike">
                <a:solidFill>
                  <a:srgbClr val="00E5FF"/>
                </a:solidFill>
                <a:latin typeface="Calibri"/>
                <a:ea typeface="Calibri"/>
                <a:cs typeface="Calibri"/>
                <a:sym typeface="Calibri"/>
              </a:rPr>
              <a:t>FULLCOMPACT  ·  @ 85% context</a:t>
            </a:r>
            <a:endParaRPr b="0" i="0" sz="900" u="none" cap="none" strike="noStrike">
              <a:solidFill>
                <a:schemeClr val="dk1"/>
              </a:solidFill>
              <a:latin typeface="Calibri"/>
              <a:ea typeface="Calibri"/>
              <a:cs typeface="Calibri"/>
              <a:sym typeface="Calibri"/>
            </a:endParaRPr>
          </a:p>
        </p:txBody>
      </p:sp>
      <p:sp>
        <p:nvSpPr>
          <p:cNvPr id="1071" name="Google Shape;1071;p40"/>
          <p:cNvSpPr/>
          <p:nvPr/>
        </p:nvSpPr>
        <p:spPr>
          <a:xfrm>
            <a:off x="6400800" y="3785616"/>
            <a:ext cx="5376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4"/>
              </a:buClr>
              <a:buSzPts val="1150"/>
              <a:buFont typeface="Calibri"/>
              <a:buNone/>
            </a:pPr>
            <a:r>
              <a:rPr b="1" i="0" lang="en-US" sz="1150" u="none" cap="none" strike="noStrike">
                <a:solidFill>
                  <a:srgbClr val="E8ECF4"/>
                </a:solidFill>
                <a:latin typeface="Calibri"/>
                <a:ea typeface="Calibri"/>
                <a:cs typeface="Calibri"/>
                <a:sym typeface="Calibri"/>
              </a:rPr>
              <a:t>Entire history rebuilt from scratch</a:t>
            </a:r>
            <a:endParaRPr b="0" i="0" sz="1150" u="none" cap="none" strike="noStrike">
              <a:solidFill>
                <a:schemeClr val="dk1"/>
              </a:solidFill>
              <a:latin typeface="Calibri"/>
              <a:ea typeface="Calibri"/>
              <a:cs typeface="Calibri"/>
              <a:sym typeface="Calibri"/>
            </a:endParaRPr>
          </a:p>
        </p:txBody>
      </p:sp>
      <p:sp>
        <p:nvSpPr>
          <p:cNvPr id="1072" name="Google Shape;1072;p40"/>
          <p:cNvSpPr/>
          <p:nvPr/>
        </p:nvSpPr>
        <p:spPr>
          <a:xfrm>
            <a:off x="6400800" y="4041648"/>
            <a:ext cx="5376600" cy="429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A0AAB8"/>
              </a:buClr>
              <a:buSzPts val="900"/>
              <a:buFont typeface="Calibri"/>
              <a:buNone/>
            </a:pPr>
            <a:r>
              <a:rPr b="0" i="0" lang="en-US" sz="900" u="none" cap="none" strike="noStrike">
                <a:solidFill>
                  <a:srgbClr val="A0AAB8"/>
                </a:solidFill>
                <a:latin typeface="Calibri"/>
                <a:ea typeface="Calibri"/>
                <a:cs typeface="Calibri"/>
                <a:sym typeface="Calibri"/>
              </a:rPr>
              <a:t>Reconstructed from: current ASG snapshot · current APG priorities · last N tool results. Zero intelligence lost — everything important already lives in the graph.</a:t>
            </a:r>
            <a:endParaRPr b="0" i="0" sz="900" u="none" cap="none" strike="noStrike">
              <a:solidFill>
                <a:schemeClr val="dk1"/>
              </a:solidFill>
              <a:latin typeface="Calibri"/>
              <a:ea typeface="Calibri"/>
              <a:cs typeface="Calibri"/>
              <a:sym typeface="Calibri"/>
            </a:endParaRPr>
          </a:p>
        </p:txBody>
      </p:sp>
      <p:sp>
        <p:nvSpPr>
          <p:cNvPr id="1073" name="Google Shape;1073;p40"/>
          <p:cNvSpPr/>
          <p:nvPr/>
        </p:nvSpPr>
        <p:spPr>
          <a:xfrm>
            <a:off x="6263640" y="4590288"/>
            <a:ext cx="56511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AAB8"/>
              </a:buClr>
              <a:buSzPts val="850"/>
              <a:buFont typeface="Calibri"/>
              <a:buNone/>
            </a:pPr>
            <a:r>
              <a:rPr b="0" i="1" lang="en-US" sz="850" u="none" cap="none" strike="noStrike">
                <a:solidFill>
                  <a:srgbClr val="A0AAB8"/>
                </a:solidFill>
                <a:latin typeface="Calibri"/>
                <a:ea typeface="Calibri"/>
                <a:cs typeface="Calibri"/>
                <a:sym typeface="Calibri"/>
              </a:rPr>
              <a:t>fresh context  →  loops back to Normal Operation  ↺</a:t>
            </a:r>
            <a:endParaRPr b="0" i="0" sz="850" u="none" cap="none" strike="noStrike">
              <a:solidFill>
                <a:schemeClr val="dk1"/>
              </a:solidFill>
              <a:latin typeface="Calibri"/>
              <a:ea typeface="Calibri"/>
              <a:cs typeface="Calibri"/>
              <a:sym typeface="Calibri"/>
            </a:endParaRPr>
          </a:p>
        </p:txBody>
      </p:sp>
      <p:sp>
        <p:nvSpPr>
          <p:cNvPr id="1074" name="Google Shape;1074;p40"/>
          <p:cNvSpPr/>
          <p:nvPr/>
        </p:nvSpPr>
        <p:spPr>
          <a:xfrm>
            <a:off x="6263640" y="5029200"/>
            <a:ext cx="5651100" cy="1005900"/>
          </a:xfrm>
          <a:prstGeom prst="roundRect">
            <a:avLst>
              <a:gd fmla="val 5455" name="adj"/>
            </a:avLst>
          </a:prstGeom>
          <a:solidFill>
            <a:srgbClr val="0C2008"/>
          </a:solidFill>
          <a:ln cap="flat" cmpd="sng" w="12700">
            <a:solidFill>
              <a:srgbClr val="39FF14"/>
            </a:solidFill>
            <a:prstDash val="solid"/>
            <a:round/>
            <a:headEnd len="sm" w="sm" type="none"/>
            <a:tailEnd len="sm" w="sm" type="none"/>
          </a:ln>
          <a:effectLst>
            <a:outerShdw blurRad="76200" rotWithShape="0" algn="bl" dir="2700000" dist="254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40"/>
          <p:cNvSpPr/>
          <p:nvPr/>
        </p:nvSpPr>
        <p:spPr>
          <a:xfrm>
            <a:off x="6400800" y="5120640"/>
            <a:ext cx="5376600" cy="822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9FF14"/>
              </a:buClr>
              <a:buSzPts val="900"/>
              <a:buFont typeface="Calibri"/>
              <a:buNone/>
            </a:pPr>
            <a:r>
              <a:rPr b="1" i="0" lang="en-US" sz="900" u="none" cap="none" strike="noStrike">
                <a:solidFill>
                  <a:srgbClr val="39FF14"/>
                </a:solidFill>
                <a:latin typeface="Calibri"/>
                <a:ea typeface="Calibri"/>
                <a:cs typeface="Calibri"/>
                <a:sym typeface="Calibri"/>
              </a:rPr>
              <a:t>The ASG is the key:  </a:t>
            </a:r>
            <a:r>
              <a:rPr b="0" i="0" lang="en-US" sz="900" u="none" cap="none" strike="noStrike">
                <a:solidFill>
                  <a:srgbClr val="C8F5BD"/>
                </a:solidFill>
                <a:latin typeface="Calibri"/>
                <a:ea typeface="Calibri"/>
                <a:cs typeface="Calibri"/>
                <a:sym typeface="Calibri"/>
              </a:rPr>
              <a:t>conversation history is expendable because every discovery lives permanently in the graph. That's what makes FullCompact safe — nothing important is ever lost.</a:t>
            </a:r>
            <a:endParaRPr b="0" i="0" sz="900" u="none" cap="none" strike="noStrike">
              <a:solidFill>
                <a:schemeClr val="dk1"/>
              </a:solidFill>
              <a:latin typeface="Calibri"/>
              <a:ea typeface="Calibri"/>
              <a:cs typeface="Calibri"/>
              <a:sym typeface="Calibri"/>
            </a:endParaRPr>
          </a:p>
        </p:txBody>
      </p:sp>
      <p:sp>
        <p:nvSpPr>
          <p:cNvPr id="1076" name="Google Shape;1076;p40"/>
          <p:cNvSpPr txBox="1"/>
          <p:nvPr/>
        </p:nvSpPr>
        <p:spPr>
          <a:xfrm>
            <a:off x="11612747" y="82400"/>
            <a:ext cx="4116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lang="en-US" sz="1300">
                <a:solidFill>
                  <a:srgbClr val="00D4FF"/>
                </a:solidFill>
                <a:latin typeface="Calibri"/>
                <a:ea typeface="Calibri"/>
                <a:cs typeface="Calibri"/>
                <a:sym typeface="Calibri"/>
              </a:rPr>
              <a:t>12</a:t>
            </a:r>
            <a:endParaRPr b="0" i="0" sz="1400" u="none" cap="none" strike="noStrike">
              <a:solidFill>
                <a:srgbClr val="00D4FF"/>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1080" name="Shape 1080"/>
        <p:cNvGrpSpPr/>
        <p:nvPr/>
      </p:nvGrpSpPr>
      <p:grpSpPr>
        <a:xfrm>
          <a:off x="0" y="0"/>
          <a:ext cx="0" cy="0"/>
          <a:chOff x="0" y="0"/>
          <a:chExt cx="0" cy="0"/>
        </a:xfrm>
      </p:grpSpPr>
      <p:sp>
        <p:nvSpPr>
          <p:cNvPr id="1081" name="Google Shape;1081;p41"/>
          <p:cNvSpPr/>
          <p:nvPr/>
        </p:nvSpPr>
        <p:spPr>
          <a:xfrm>
            <a:off x="0" y="0"/>
            <a:ext cx="54900" cy="68580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82" name="Google Shape;1082;p41"/>
          <p:cNvSpPr/>
          <p:nvPr/>
        </p:nvSpPr>
        <p:spPr>
          <a:xfrm>
            <a:off x="54864" y="0"/>
            <a:ext cx="12136800" cy="366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83" name="Google Shape;1083;p41"/>
          <p:cNvSpPr/>
          <p:nvPr/>
        </p:nvSpPr>
        <p:spPr>
          <a:xfrm>
            <a:off x="54876" y="6848874"/>
            <a:ext cx="12136800" cy="366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84" name="Google Shape;1084;p41"/>
          <p:cNvSpPr txBox="1"/>
          <p:nvPr/>
        </p:nvSpPr>
        <p:spPr>
          <a:xfrm>
            <a:off x="274320" y="64008"/>
            <a:ext cx="54864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D700"/>
                </a:solidFill>
                <a:latin typeface="Calibri"/>
                <a:ea typeface="Calibri"/>
                <a:cs typeface="Calibri"/>
                <a:sym typeface="Calibri"/>
              </a:rPr>
              <a:t>ATTACK CHAIN LIFECYCLE</a:t>
            </a:r>
            <a:endParaRPr b="0" i="0" sz="1400" u="none" cap="none" strike="noStrike">
              <a:solidFill>
                <a:srgbClr val="000000"/>
              </a:solidFill>
              <a:latin typeface="Arial"/>
              <a:ea typeface="Arial"/>
              <a:cs typeface="Arial"/>
              <a:sym typeface="Arial"/>
            </a:endParaRPr>
          </a:p>
        </p:txBody>
      </p:sp>
      <p:sp>
        <p:nvSpPr>
          <p:cNvPr id="1085" name="Google Shape;1085;p41"/>
          <p:cNvSpPr txBox="1"/>
          <p:nvPr/>
        </p:nvSpPr>
        <p:spPr>
          <a:xfrm>
            <a:off x="274320" y="283464"/>
            <a:ext cx="10972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Calibri"/>
                <a:ea typeface="Calibri"/>
                <a:cs typeface="Calibri"/>
                <a:sym typeface="Calibri"/>
              </a:rPr>
              <a:t>APG Chain State Machine + Validation Agent Self-Debugging Loop</a:t>
            </a:r>
            <a:endParaRPr b="0" i="0" sz="1400" u="none" cap="none" strike="noStrike">
              <a:solidFill>
                <a:srgbClr val="000000"/>
              </a:solidFill>
              <a:latin typeface="Arial"/>
              <a:ea typeface="Arial"/>
              <a:cs typeface="Arial"/>
              <a:sym typeface="Arial"/>
            </a:endParaRPr>
          </a:p>
        </p:txBody>
      </p:sp>
      <p:sp>
        <p:nvSpPr>
          <p:cNvPr id="1086" name="Google Shape;1086;p41"/>
          <p:cNvSpPr/>
          <p:nvPr/>
        </p:nvSpPr>
        <p:spPr>
          <a:xfrm>
            <a:off x="228600" y="804672"/>
            <a:ext cx="2331600" cy="1783200"/>
          </a:xfrm>
          <a:prstGeom prst="rect">
            <a:avLst/>
          </a:prstGeom>
          <a:solidFill>
            <a:srgbClr val="504000"/>
          </a:solidFill>
          <a:ln cap="flat" cmpd="sng" w="2540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87" name="Google Shape;1087;p41"/>
          <p:cNvSpPr/>
          <p:nvPr/>
        </p:nvSpPr>
        <p:spPr>
          <a:xfrm>
            <a:off x="228600" y="804672"/>
            <a:ext cx="2331600" cy="2742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88" name="Google Shape;1088;p41"/>
          <p:cNvSpPr txBox="1"/>
          <p:nvPr/>
        </p:nvSpPr>
        <p:spPr>
          <a:xfrm>
            <a:off x="228600" y="841248"/>
            <a:ext cx="2331600" cy="238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HYPOTHESIZED</a:t>
            </a:r>
            <a:endParaRPr b="0" i="0" sz="1400" u="none" cap="none" strike="noStrike">
              <a:solidFill>
                <a:srgbClr val="000000"/>
              </a:solidFill>
              <a:latin typeface="Arial"/>
              <a:ea typeface="Arial"/>
              <a:cs typeface="Arial"/>
              <a:sym typeface="Arial"/>
            </a:endParaRPr>
          </a:p>
        </p:txBody>
      </p:sp>
      <p:sp>
        <p:nvSpPr>
          <p:cNvPr id="1089" name="Google Shape;1089;p41"/>
          <p:cNvSpPr txBox="1"/>
          <p:nvPr/>
        </p:nvSpPr>
        <p:spPr>
          <a:xfrm>
            <a:off x="320040" y="1152144"/>
            <a:ext cx="2167200" cy="5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Commander inferred a possible</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chain from ASG Vulnerability nodes.</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Not yet tested.</a:t>
            </a:r>
            <a:endParaRPr b="0" i="0" sz="1400" u="none" cap="none" strike="noStrike">
              <a:solidFill>
                <a:srgbClr val="000000"/>
              </a:solidFill>
              <a:latin typeface="Arial"/>
              <a:ea typeface="Arial"/>
              <a:cs typeface="Arial"/>
              <a:sym typeface="Arial"/>
            </a:endParaRPr>
          </a:p>
        </p:txBody>
      </p:sp>
      <p:cxnSp>
        <p:nvCxnSpPr>
          <p:cNvPr id="1090" name="Google Shape;1090;p41"/>
          <p:cNvCxnSpPr/>
          <p:nvPr/>
        </p:nvCxnSpPr>
        <p:spPr>
          <a:xfrm>
            <a:off x="2560320" y="0"/>
            <a:ext cx="237600" cy="0"/>
          </a:xfrm>
          <a:prstGeom prst="straightConnector1">
            <a:avLst/>
          </a:prstGeom>
          <a:noFill/>
          <a:ln cap="flat" cmpd="sng" w="22850">
            <a:solidFill>
              <a:srgbClr val="FFD700"/>
            </a:solidFill>
            <a:prstDash val="solid"/>
            <a:round/>
            <a:headEnd len="med" w="med" type="stealth"/>
            <a:tailEnd len="sm" w="sm" type="none"/>
          </a:ln>
          <a:effectLst>
            <a:outerShdw blurRad="40000" rotWithShape="0" dir="5400000" dist="20000">
              <a:srgbClr val="000000">
                <a:alpha val="38040"/>
              </a:srgbClr>
            </a:outerShdw>
          </a:effectLst>
        </p:spPr>
      </p:cxnSp>
      <p:sp>
        <p:nvSpPr>
          <p:cNvPr id="1091" name="Google Shape;1091;p41"/>
          <p:cNvSpPr/>
          <p:nvPr/>
        </p:nvSpPr>
        <p:spPr>
          <a:xfrm>
            <a:off x="2798064" y="804672"/>
            <a:ext cx="2331600" cy="1783200"/>
          </a:xfrm>
          <a:prstGeom prst="rect">
            <a:avLst/>
          </a:prstGeom>
          <a:solidFill>
            <a:srgbClr val="284008"/>
          </a:solidFill>
          <a:ln cap="flat" cmpd="sng" w="254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92" name="Google Shape;1092;p41"/>
          <p:cNvSpPr/>
          <p:nvPr/>
        </p:nvSpPr>
        <p:spPr>
          <a:xfrm>
            <a:off x="2798064" y="804672"/>
            <a:ext cx="2331600" cy="2742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93" name="Google Shape;1093;p41"/>
          <p:cNvSpPr txBox="1"/>
          <p:nvPr/>
        </p:nvSpPr>
        <p:spPr>
          <a:xfrm>
            <a:off x="2798075" y="841249"/>
            <a:ext cx="2331600" cy="453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PARTIALLY VALIDATED</a:t>
            </a:r>
            <a:br>
              <a:rPr b="1" i="0" lang="en-US" sz="950" u="none" cap="none" strike="noStrike">
                <a:solidFill>
                  <a:srgbClr val="0A0D1A"/>
                </a:solidFill>
                <a:latin typeface="Calibri"/>
                <a:ea typeface="Calibri"/>
                <a:cs typeface="Calibri"/>
                <a:sym typeface="Calibri"/>
              </a:rPr>
            </a:br>
            <a:endParaRPr b="0" i="0" sz="1400" u="none" cap="none" strike="noStrike">
              <a:solidFill>
                <a:srgbClr val="000000"/>
              </a:solidFill>
              <a:latin typeface="Arial"/>
              <a:ea typeface="Arial"/>
              <a:cs typeface="Arial"/>
              <a:sym typeface="Arial"/>
            </a:endParaRPr>
          </a:p>
        </p:txBody>
      </p:sp>
      <p:sp>
        <p:nvSpPr>
          <p:cNvPr id="1094" name="Google Shape;1094;p41"/>
          <p:cNvSpPr txBox="1"/>
          <p:nvPr/>
        </p:nvSpPr>
        <p:spPr>
          <a:xfrm>
            <a:off x="2889504" y="1152144"/>
            <a:ext cx="2167200" cy="5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One or more ChainSteps confirmed.</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Chain not complete end-to-end.</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Validation in progress.</a:t>
            </a:r>
            <a:endParaRPr b="0" i="0" sz="1400" u="none" cap="none" strike="noStrike">
              <a:solidFill>
                <a:srgbClr val="000000"/>
              </a:solidFill>
              <a:latin typeface="Arial"/>
              <a:ea typeface="Arial"/>
              <a:cs typeface="Arial"/>
              <a:sym typeface="Arial"/>
            </a:endParaRPr>
          </a:p>
        </p:txBody>
      </p:sp>
      <p:sp>
        <p:nvSpPr>
          <p:cNvPr id="1095" name="Google Shape;1095;p41"/>
          <p:cNvSpPr/>
          <p:nvPr/>
        </p:nvSpPr>
        <p:spPr>
          <a:xfrm>
            <a:off x="5038344" y="1531620"/>
            <a:ext cx="329100" cy="329100"/>
          </a:xfrm>
          <a:prstGeom prst="rect">
            <a:avLst/>
          </a:prstGeom>
          <a:solidFill>
            <a:srgbClr val="FFD700"/>
          </a:solidFill>
          <a:ln cap="flat" cmpd="sng" w="9525">
            <a:solidFill>
              <a:srgbClr val="A0AA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1096" name="Google Shape;1096;p41"/>
          <p:cNvCxnSpPr/>
          <p:nvPr/>
        </p:nvCxnSpPr>
        <p:spPr>
          <a:xfrm rot="10800000">
            <a:off x="5038284" y="0"/>
            <a:ext cx="91500" cy="0"/>
          </a:xfrm>
          <a:prstGeom prst="straightConnector1">
            <a:avLst/>
          </a:prstGeom>
          <a:noFill/>
          <a:ln cap="flat" cmpd="sng" w="22850">
            <a:solidFill>
              <a:srgbClr val="FFD700"/>
            </a:solidFill>
            <a:prstDash val="solid"/>
            <a:round/>
            <a:headEnd len="med" w="med" type="stealth"/>
            <a:tailEnd len="sm" w="sm" type="none"/>
          </a:ln>
          <a:effectLst>
            <a:outerShdw blurRad="40000" rotWithShape="0" dir="5400000" dist="20000">
              <a:srgbClr val="000000">
                <a:alpha val="38040"/>
              </a:srgbClr>
            </a:outerShdw>
          </a:effectLst>
        </p:spPr>
      </p:cxnSp>
      <p:sp>
        <p:nvSpPr>
          <p:cNvPr id="1097" name="Google Shape;1097;p41"/>
          <p:cNvSpPr/>
          <p:nvPr/>
        </p:nvSpPr>
        <p:spPr>
          <a:xfrm>
            <a:off x="7024155" y="804610"/>
            <a:ext cx="2331600" cy="1783200"/>
          </a:xfrm>
          <a:prstGeom prst="rect">
            <a:avLst/>
          </a:prstGeom>
          <a:solidFill>
            <a:srgbClr val="06280E"/>
          </a:solidFill>
          <a:ln cap="flat" cmpd="sng" w="254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98" name="Google Shape;1098;p41"/>
          <p:cNvSpPr/>
          <p:nvPr/>
        </p:nvSpPr>
        <p:spPr>
          <a:xfrm>
            <a:off x="7024155" y="804610"/>
            <a:ext cx="2331600" cy="2742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99" name="Google Shape;1099;p41"/>
          <p:cNvSpPr txBox="1"/>
          <p:nvPr/>
        </p:nvSpPr>
        <p:spPr>
          <a:xfrm>
            <a:off x="7024155" y="841186"/>
            <a:ext cx="2331600" cy="238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VALIDATED</a:t>
            </a:r>
            <a:endParaRPr b="0" i="0" sz="1400" u="none" cap="none" strike="noStrike">
              <a:solidFill>
                <a:srgbClr val="000000"/>
              </a:solidFill>
              <a:latin typeface="Arial"/>
              <a:ea typeface="Arial"/>
              <a:cs typeface="Arial"/>
              <a:sym typeface="Arial"/>
            </a:endParaRPr>
          </a:p>
        </p:txBody>
      </p:sp>
      <p:sp>
        <p:nvSpPr>
          <p:cNvPr id="1100" name="Google Shape;1100;p41"/>
          <p:cNvSpPr txBox="1"/>
          <p:nvPr/>
        </p:nvSpPr>
        <p:spPr>
          <a:xfrm>
            <a:off x="7115595" y="1152081"/>
            <a:ext cx="2167200" cy="5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All ChainSteps confirmed with</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linked Evidence. Impact demonstrated.</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Mission success for this chain.</a:t>
            </a:r>
            <a:endParaRPr b="0" i="0" sz="1400" u="none" cap="none" strike="noStrike">
              <a:solidFill>
                <a:srgbClr val="000000"/>
              </a:solidFill>
              <a:latin typeface="Arial"/>
              <a:ea typeface="Arial"/>
              <a:cs typeface="Arial"/>
              <a:sym typeface="Arial"/>
            </a:endParaRPr>
          </a:p>
        </p:txBody>
      </p:sp>
      <p:cxnSp>
        <p:nvCxnSpPr>
          <p:cNvPr id="1101" name="Google Shape;1101;p41"/>
          <p:cNvCxnSpPr/>
          <p:nvPr/>
        </p:nvCxnSpPr>
        <p:spPr>
          <a:xfrm>
            <a:off x="5367528" y="0"/>
            <a:ext cx="73200" cy="0"/>
          </a:xfrm>
          <a:prstGeom prst="straightConnector1">
            <a:avLst/>
          </a:prstGeom>
          <a:noFill/>
          <a:ln cap="flat" cmpd="sng" w="22850">
            <a:solidFill>
              <a:srgbClr val="39FF14"/>
            </a:solidFill>
            <a:prstDash val="solid"/>
            <a:round/>
            <a:headEnd len="med" w="med" type="stealth"/>
            <a:tailEnd len="sm" w="sm" type="none"/>
          </a:ln>
          <a:effectLst>
            <a:outerShdw blurRad="40000" rotWithShape="0" dir="5400000" dist="20000">
              <a:srgbClr val="000000">
                <a:alpha val="38040"/>
              </a:srgbClr>
            </a:outerShdw>
          </a:effectLst>
        </p:spPr>
      </p:cxnSp>
      <p:sp>
        <p:nvSpPr>
          <p:cNvPr id="1102" name="Google Shape;1102;p41"/>
          <p:cNvSpPr txBox="1"/>
          <p:nvPr/>
        </p:nvSpPr>
        <p:spPr>
          <a:xfrm>
            <a:off x="5528266" y="1395403"/>
            <a:ext cx="10974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39FF14"/>
                </a:solidFill>
                <a:latin typeface="Calibri"/>
                <a:ea typeface="Calibri"/>
                <a:cs typeface="Calibri"/>
                <a:sym typeface="Calibri"/>
              </a:rPr>
              <a:t>chain succeeds</a:t>
            </a:r>
            <a:endParaRPr b="0" i="0" sz="1400" u="none" cap="none" strike="noStrike">
              <a:solidFill>
                <a:srgbClr val="000000"/>
              </a:solidFill>
              <a:latin typeface="Arial"/>
              <a:ea typeface="Arial"/>
              <a:cs typeface="Arial"/>
              <a:sym typeface="Arial"/>
            </a:endParaRPr>
          </a:p>
        </p:txBody>
      </p:sp>
      <p:sp>
        <p:nvSpPr>
          <p:cNvPr id="1103" name="Google Shape;1103;p41"/>
          <p:cNvSpPr/>
          <p:nvPr/>
        </p:nvSpPr>
        <p:spPr>
          <a:xfrm>
            <a:off x="9558355" y="804609"/>
            <a:ext cx="2331600" cy="1783200"/>
          </a:xfrm>
          <a:prstGeom prst="rect">
            <a:avLst/>
          </a:prstGeom>
          <a:solidFill>
            <a:srgbClr val="280808"/>
          </a:solidFill>
          <a:ln cap="flat" cmpd="sng" w="254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04" name="Google Shape;1104;p41"/>
          <p:cNvSpPr/>
          <p:nvPr/>
        </p:nvSpPr>
        <p:spPr>
          <a:xfrm>
            <a:off x="9558350" y="813913"/>
            <a:ext cx="2331600" cy="2742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05" name="Google Shape;1105;p41"/>
          <p:cNvSpPr txBox="1"/>
          <p:nvPr/>
        </p:nvSpPr>
        <p:spPr>
          <a:xfrm>
            <a:off x="9893950" y="804613"/>
            <a:ext cx="1554300" cy="238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A0D1A"/>
                </a:solidFill>
                <a:latin typeface="Calibri"/>
                <a:ea typeface="Calibri"/>
                <a:cs typeface="Calibri"/>
                <a:sym typeface="Calibri"/>
              </a:rPr>
              <a:t>RULED_OUT</a:t>
            </a:r>
            <a:endParaRPr b="0" i="0" sz="1400" u="none" cap="none" strike="noStrike">
              <a:solidFill>
                <a:srgbClr val="000000"/>
              </a:solidFill>
              <a:latin typeface="Arial"/>
              <a:ea typeface="Arial"/>
              <a:cs typeface="Arial"/>
              <a:sym typeface="Arial"/>
            </a:endParaRPr>
          </a:p>
        </p:txBody>
      </p:sp>
      <p:sp>
        <p:nvSpPr>
          <p:cNvPr id="1106" name="Google Shape;1106;p41"/>
          <p:cNvSpPr txBox="1"/>
          <p:nvPr/>
        </p:nvSpPr>
        <p:spPr>
          <a:xfrm>
            <a:off x="9640545" y="1188731"/>
            <a:ext cx="2167200" cy="5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A required ChainStep failed after</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max retries. Chain not exploitable</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as hypothesized. Commander re-plans.</a:t>
            </a:r>
            <a:endParaRPr b="0" i="0" sz="1400" u="none" cap="none" strike="noStrike">
              <a:solidFill>
                <a:srgbClr val="000000"/>
              </a:solidFill>
              <a:latin typeface="Arial"/>
              <a:ea typeface="Arial"/>
              <a:cs typeface="Arial"/>
              <a:sym typeface="Arial"/>
            </a:endParaRPr>
          </a:p>
        </p:txBody>
      </p:sp>
      <p:cxnSp>
        <p:nvCxnSpPr>
          <p:cNvPr id="1107" name="Google Shape;1107;p41"/>
          <p:cNvCxnSpPr/>
          <p:nvPr/>
        </p:nvCxnSpPr>
        <p:spPr>
          <a:xfrm>
            <a:off x="5367528" y="0"/>
            <a:ext cx="73200" cy="0"/>
          </a:xfrm>
          <a:prstGeom prst="straightConnector1">
            <a:avLst/>
          </a:prstGeom>
          <a:noFill/>
          <a:ln cap="flat" cmpd="sng" w="22850">
            <a:solidFill>
              <a:srgbClr val="FF4545"/>
            </a:solidFill>
            <a:prstDash val="solid"/>
            <a:round/>
            <a:headEnd len="med" w="med" type="stealth"/>
            <a:tailEnd len="sm" w="sm" type="none"/>
          </a:ln>
          <a:effectLst>
            <a:outerShdw blurRad="40000" rotWithShape="0" dir="5400000" dist="20000">
              <a:srgbClr val="000000">
                <a:alpha val="38040"/>
              </a:srgbClr>
            </a:outerShdw>
          </a:effectLst>
        </p:spPr>
      </p:cxnSp>
      <p:sp>
        <p:nvSpPr>
          <p:cNvPr id="1108" name="Google Shape;1108;p41"/>
          <p:cNvSpPr txBox="1"/>
          <p:nvPr/>
        </p:nvSpPr>
        <p:spPr>
          <a:xfrm>
            <a:off x="7834529" y="2775468"/>
            <a:ext cx="12345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800" u="none" cap="none" strike="noStrike">
                <a:solidFill>
                  <a:srgbClr val="FF4545"/>
                </a:solidFill>
                <a:latin typeface="Calibri"/>
                <a:ea typeface="Calibri"/>
                <a:cs typeface="Calibri"/>
                <a:sym typeface="Calibri"/>
              </a:rPr>
              <a:t>step fails after cap</a:t>
            </a:r>
            <a:endParaRPr b="0" i="0" sz="1400" u="none" cap="none" strike="noStrike">
              <a:solidFill>
                <a:srgbClr val="000000"/>
              </a:solidFill>
              <a:latin typeface="Arial"/>
              <a:ea typeface="Arial"/>
              <a:cs typeface="Arial"/>
              <a:sym typeface="Arial"/>
            </a:endParaRPr>
          </a:p>
        </p:txBody>
      </p:sp>
      <p:sp>
        <p:nvSpPr>
          <p:cNvPr id="1109" name="Google Shape;1109;p41"/>
          <p:cNvSpPr/>
          <p:nvPr/>
        </p:nvSpPr>
        <p:spPr>
          <a:xfrm>
            <a:off x="211779" y="3630170"/>
            <a:ext cx="7132200" cy="1755600"/>
          </a:xfrm>
          <a:prstGeom prst="rect">
            <a:avLst/>
          </a:prstGeom>
          <a:solidFill>
            <a:srgbClr val="080C1E"/>
          </a:solidFill>
          <a:ln cap="flat" cmpd="sng" w="1777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10" name="Google Shape;1110;p41"/>
          <p:cNvSpPr/>
          <p:nvPr/>
        </p:nvSpPr>
        <p:spPr>
          <a:xfrm>
            <a:off x="211779" y="3630170"/>
            <a:ext cx="7132200" cy="2559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11" name="Google Shape;1111;p41"/>
          <p:cNvSpPr txBox="1"/>
          <p:nvPr/>
        </p:nvSpPr>
        <p:spPr>
          <a:xfrm>
            <a:off x="211779" y="3666746"/>
            <a:ext cx="71322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0A0D1A"/>
                </a:solidFill>
                <a:latin typeface="Calibri"/>
                <a:ea typeface="Calibri"/>
                <a:cs typeface="Calibri"/>
                <a:sym typeface="Calibri"/>
              </a:rPr>
              <a:t>🎯  Validation Agent — Self-Debugging Loop  (on ChainStep failure)</a:t>
            </a:r>
            <a:endParaRPr b="0" i="0" sz="1400" u="none" cap="none" strike="noStrike">
              <a:solidFill>
                <a:srgbClr val="000000"/>
              </a:solidFill>
              <a:latin typeface="Arial"/>
              <a:ea typeface="Arial"/>
              <a:cs typeface="Arial"/>
              <a:sym typeface="Arial"/>
            </a:endParaRPr>
          </a:p>
        </p:txBody>
      </p:sp>
      <p:sp>
        <p:nvSpPr>
          <p:cNvPr id="1112" name="Google Shape;1112;p41"/>
          <p:cNvSpPr/>
          <p:nvPr/>
        </p:nvSpPr>
        <p:spPr>
          <a:xfrm>
            <a:off x="348940" y="3950210"/>
            <a:ext cx="1428900" cy="1371600"/>
          </a:xfrm>
          <a:prstGeom prst="rect">
            <a:avLst/>
          </a:prstGeom>
          <a:solidFill>
            <a:srgbClr val="101428"/>
          </a:solidFill>
          <a:ln cap="flat" cmpd="sng" w="1270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13" name="Google Shape;1113;p41"/>
          <p:cNvSpPr/>
          <p:nvPr/>
        </p:nvSpPr>
        <p:spPr>
          <a:xfrm>
            <a:off x="348940" y="3950210"/>
            <a:ext cx="1428900" cy="2196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14" name="Google Shape;1114;p41"/>
          <p:cNvSpPr txBox="1"/>
          <p:nvPr/>
        </p:nvSpPr>
        <p:spPr>
          <a:xfrm>
            <a:off x="348940" y="3977642"/>
            <a:ext cx="14289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ATTEMPT</a:t>
            </a:r>
            <a:endParaRPr b="0" i="0" sz="1400" u="none" cap="none" strike="noStrike">
              <a:solidFill>
                <a:srgbClr val="000000"/>
              </a:solidFill>
              <a:latin typeface="Arial"/>
              <a:ea typeface="Arial"/>
              <a:cs typeface="Arial"/>
              <a:sym typeface="Arial"/>
            </a:endParaRPr>
          </a:p>
        </p:txBody>
      </p:sp>
      <p:sp>
        <p:nvSpPr>
          <p:cNvPr id="1115" name="Google Shape;1115;p41"/>
          <p:cNvSpPr txBox="1"/>
          <p:nvPr/>
        </p:nvSpPr>
        <p:spPr>
          <a:xfrm>
            <a:off x="403804" y="4206242"/>
            <a:ext cx="13374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Execute tool</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against target</a:t>
            </a:r>
            <a:endParaRPr b="0" i="0" sz="1400" u="none" cap="none" strike="noStrike">
              <a:solidFill>
                <a:srgbClr val="000000"/>
              </a:solidFill>
              <a:latin typeface="Arial"/>
              <a:ea typeface="Arial"/>
              <a:cs typeface="Arial"/>
              <a:sym typeface="Arial"/>
            </a:endParaRPr>
          </a:p>
        </p:txBody>
      </p:sp>
      <p:sp>
        <p:nvSpPr>
          <p:cNvPr id="1116" name="Google Shape;1116;p41"/>
          <p:cNvSpPr/>
          <p:nvPr/>
        </p:nvSpPr>
        <p:spPr>
          <a:xfrm>
            <a:off x="1850842" y="3950210"/>
            <a:ext cx="1428900" cy="1371600"/>
          </a:xfrm>
          <a:prstGeom prst="rect">
            <a:avLst/>
          </a:prstGeom>
          <a:solidFill>
            <a:srgbClr val="101428"/>
          </a:solidFill>
          <a:ln cap="flat" cmpd="sng" w="1270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17" name="Google Shape;1117;p41"/>
          <p:cNvSpPr/>
          <p:nvPr/>
        </p:nvSpPr>
        <p:spPr>
          <a:xfrm>
            <a:off x="1850842" y="3950210"/>
            <a:ext cx="1428900" cy="2196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18" name="Google Shape;1118;p41"/>
          <p:cNvSpPr txBox="1"/>
          <p:nvPr/>
        </p:nvSpPr>
        <p:spPr>
          <a:xfrm>
            <a:off x="1850842" y="3977642"/>
            <a:ext cx="14289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DIAGNOSE</a:t>
            </a:r>
            <a:endParaRPr b="0" i="0" sz="1400" u="none" cap="none" strike="noStrike">
              <a:solidFill>
                <a:srgbClr val="000000"/>
              </a:solidFill>
              <a:latin typeface="Arial"/>
              <a:ea typeface="Arial"/>
              <a:cs typeface="Arial"/>
              <a:sym typeface="Arial"/>
            </a:endParaRPr>
          </a:p>
        </p:txBody>
      </p:sp>
      <p:sp>
        <p:nvSpPr>
          <p:cNvPr id="1119" name="Google Shape;1119;p41"/>
          <p:cNvSpPr txBox="1"/>
          <p:nvPr/>
        </p:nvSpPr>
        <p:spPr>
          <a:xfrm>
            <a:off x="1905706" y="4206242"/>
            <a:ext cx="13374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Analyze failure:</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wrong param · auth</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version mismatch</a:t>
            </a:r>
            <a:endParaRPr b="0" i="0" sz="1400" u="none" cap="none" strike="noStrike">
              <a:solidFill>
                <a:srgbClr val="000000"/>
              </a:solidFill>
              <a:latin typeface="Arial"/>
              <a:ea typeface="Arial"/>
              <a:cs typeface="Arial"/>
              <a:sym typeface="Arial"/>
            </a:endParaRPr>
          </a:p>
        </p:txBody>
      </p:sp>
      <p:cxnSp>
        <p:nvCxnSpPr>
          <p:cNvPr id="1120" name="Google Shape;1120;p41"/>
          <p:cNvCxnSpPr/>
          <p:nvPr/>
        </p:nvCxnSpPr>
        <p:spPr>
          <a:xfrm>
            <a:off x="0" y="0"/>
            <a:ext cx="0" cy="0"/>
          </a:xfrm>
          <a:prstGeom prst="straightConnector1">
            <a:avLst/>
          </a:prstGeom>
          <a:noFill/>
          <a:ln cap="flat" cmpd="sng" w="15225">
            <a:solidFill>
              <a:srgbClr val="FFD700"/>
            </a:solidFill>
            <a:prstDash val="solid"/>
            <a:round/>
            <a:headEnd len="med" w="med" type="stealth"/>
            <a:tailEnd len="sm" w="sm" type="none"/>
          </a:ln>
          <a:effectLst>
            <a:outerShdw blurRad="40000" rotWithShape="0" dir="5400000" dist="20000">
              <a:srgbClr val="000000">
                <a:alpha val="38040"/>
              </a:srgbClr>
            </a:outerShdw>
          </a:effectLst>
        </p:spPr>
      </p:cxnSp>
      <p:sp>
        <p:nvSpPr>
          <p:cNvPr id="1121" name="Google Shape;1121;p41"/>
          <p:cNvSpPr/>
          <p:nvPr/>
        </p:nvSpPr>
        <p:spPr>
          <a:xfrm>
            <a:off x="3352743" y="3950210"/>
            <a:ext cx="1428900" cy="1371600"/>
          </a:xfrm>
          <a:prstGeom prst="rect">
            <a:avLst/>
          </a:prstGeom>
          <a:solidFill>
            <a:srgbClr val="101428"/>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22" name="Google Shape;1122;p41"/>
          <p:cNvSpPr/>
          <p:nvPr/>
        </p:nvSpPr>
        <p:spPr>
          <a:xfrm>
            <a:off x="3352743" y="3950210"/>
            <a:ext cx="1428900" cy="2196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23" name="Google Shape;1123;p41"/>
          <p:cNvSpPr txBox="1"/>
          <p:nvPr/>
        </p:nvSpPr>
        <p:spPr>
          <a:xfrm>
            <a:off x="3352743" y="3977642"/>
            <a:ext cx="14289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CONTEXTUALIZE</a:t>
            </a:r>
            <a:endParaRPr b="0" i="0" sz="1400" u="none" cap="none" strike="noStrike">
              <a:solidFill>
                <a:srgbClr val="000000"/>
              </a:solidFill>
              <a:latin typeface="Arial"/>
              <a:ea typeface="Arial"/>
              <a:cs typeface="Arial"/>
              <a:sym typeface="Arial"/>
            </a:endParaRPr>
          </a:p>
        </p:txBody>
      </p:sp>
      <p:sp>
        <p:nvSpPr>
          <p:cNvPr id="1124" name="Google Shape;1124;p41"/>
          <p:cNvSpPr txBox="1"/>
          <p:nvPr/>
        </p:nvSpPr>
        <p:spPr>
          <a:xfrm>
            <a:off x="3407607" y="4206242"/>
            <a:ext cx="13374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Query ASG for</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additional node</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attributes</a:t>
            </a:r>
            <a:endParaRPr b="0" i="0" sz="1400" u="none" cap="none" strike="noStrike">
              <a:solidFill>
                <a:srgbClr val="000000"/>
              </a:solidFill>
              <a:latin typeface="Arial"/>
              <a:ea typeface="Arial"/>
              <a:cs typeface="Arial"/>
              <a:sym typeface="Arial"/>
            </a:endParaRPr>
          </a:p>
        </p:txBody>
      </p:sp>
      <p:cxnSp>
        <p:nvCxnSpPr>
          <p:cNvPr id="1125" name="Google Shape;1125;p41"/>
          <p:cNvCxnSpPr/>
          <p:nvPr/>
        </p:nvCxnSpPr>
        <p:spPr>
          <a:xfrm>
            <a:off x="0" y="0"/>
            <a:ext cx="0" cy="0"/>
          </a:xfrm>
          <a:prstGeom prst="straightConnector1">
            <a:avLst/>
          </a:prstGeom>
          <a:noFill/>
          <a:ln cap="flat" cmpd="sng" w="15225">
            <a:solidFill>
              <a:srgbClr val="00E5FF"/>
            </a:solidFill>
            <a:prstDash val="solid"/>
            <a:round/>
            <a:headEnd len="med" w="med" type="stealth"/>
            <a:tailEnd len="sm" w="sm" type="none"/>
          </a:ln>
          <a:effectLst>
            <a:outerShdw blurRad="40000" rotWithShape="0" dir="5400000" dist="20000">
              <a:srgbClr val="000000">
                <a:alpha val="38040"/>
              </a:srgbClr>
            </a:outerShdw>
          </a:effectLst>
        </p:spPr>
      </p:cxnSp>
      <p:sp>
        <p:nvSpPr>
          <p:cNvPr id="1126" name="Google Shape;1126;p41"/>
          <p:cNvSpPr/>
          <p:nvPr/>
        </p:nvSpPr>
        <p:spPr>
          <a:xfrm>
            <a:off x="4854646" y="3950210"/>
            <a:ext cx="1428900" cy="1371600"/>
          </a:xfrm>
          <a:prstGeom prst="rect">
            <a:avLst/>
          </a:prstGeom>
          <a:solidFill>
            <a:srgbClr val="101428"/>
          </a:solidFill>
          <a:ln cap="flat" cmpd="sng" w="127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27" name="Google Shape;1127;p41"/>
          <p:cNvSpPr/>
          <p:nvPr/>
        </p:nvSpPr>
        <p:spPr>
          <a:xfrm>
            <a:off x="4854646" y="3950210"/>
            <a:ext cx="1428900" cy="2196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28" name="Google Shape;1128;p41"/>
          <p:cNvSpPr txBox="1"/>
          <p:nvPr/>
        </p:nvSpPr>
        <p:spPr>
          <a:xfrm>
            <a:off x="4854646" y="3977642"/>
            <a:ext cx="14289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ADAPT</a:t>
            </a:r>
            <a:endParaRPr b="0" i="0" sz="1400" u="none" cap="none" strike="noStrike">
              <a:solidFill>
                <a:srgbClr val="000000"/>
              </a:solidFill>
              <a:latin typeface="Arial"/>
              <a:ea typeface="Arial"/>
              <a:cs typeface="Arial"/>
              <a:sym typeface="Arial"/>
            </a:endParaRPr>
          </a:p>
        </p:txBody>
      </p:sp>
      <p:sp>
        <p:nvSpPr>
          <p:cNvPr id="1129" name="Google Shape;1129;p41"/>
          <p:cNvSpPr txBox="1"/>
          <p:nvPr/>
        </p:nvSpPr>
        <p:spPr>
          <a:xfrm>
            <a:off x="4909510" y="4206242"/>
            <a:ext cx="13374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Modify tool call</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based on diagnosis</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 context</a:t>
            </a:r>
            <a:endParaRPr b="0" i="0" sz="1400" u="none" cap="none" strike="noStrike">
              <a:solidFill>
                <a:srgbClr val="000000"/>
              </a:solidFill>
              <a:latin typeface="Arial"/>
              <a:ea typeface="Arial"/>
              <a:cs typeface="Arial"/>
              <a:sym typeface="Arial"/>
            </a:endParaRPr>
          </a:p>
        </p:txBody>
      </p:sp>
      <p:cxnSp>
        <p:nvCxnSpPr>
          <p:cNvPr id="1130" name="Google Shape;1130;p41"/>
          <p:cNvCxnSpPr/>
          <p:nvPr/>
        </p:nvCxnSpPr>
        <p:spPr>
          <a:xfrm>
            <a:off x="0" y="0"/>
            <a:ext cx="0" cy="0"/>
          </a:xfrm>
          <a:prstGeom prst="straightConnector1">
            <a:avLst/>
          </a:prstGeom>
          <a:noFill/>
          <a:ln cap="flat" cmpd="sng" w="15225">
            <a:solidFill>
              <a:srgbClr val="39FF14"/>
            </a:solidFill>
            <a:prstDash val="solid"/>
            <a:round/>
            <a:headEnd len="med" w="med" type="stealth"/>
            <a:tailEnd len="sm" w="sm" type="none"/>
          </a:ln>
          <a:effectLst>
            <a:outerShdw blurRad="40000" rotWithShape="0" dir="5400000" dist="20000">
              <a:srgbClr val="000000">
                <a:alpha val="38040"/>
              </a:srgbClr>
            </a:outerShdw>
          </a:effectLst>
        </p:spPr>
      </p:cxnSp>
      <p:sp>
        <p:nvSpPr>
          <p:cNvPr id="1131" name="Google Shape;1131;p41"/>
          <p:cNvSpPr/>
          <p:nvPr/>
        </p:nvSpPr>
        <p:spPr>
          <a:xfrm>
            <a:off x="6356548" y="3950210"/>
            <a:ext cx="850500" cy="1371600"/>
          </a:xfrm>
          <a:prstGeom prst="rect">
            <a:avLst/>
          </a:prstGeom>
          <a:solidFill>
            <a:srgbClr val="220808"/>
          </a:solidFill>
          <a:ln cap="flat" cmpd="sng" w="1777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32" name="Google Shape;1132;p41"/>
          <p:cNvSpPr/>
          <p:nvPr/>
        </p:nvSpPr>
        <p:spPr>
          <a:xfrm>
            <a:off x="6356548" y="3950210"/>
            <a:ext cx="850500" cy="2196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33" name="Google Shape;1133;p41"/>
          <p:cNvSpPr txBox="1"/>
          <p:nvPr/>
        </p:nvSpPr>
        <p:spPr>
          <a:xfrm>
            <a:off x="6356548" y="3977642"/>
            <a:ext cx="8505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A0D1A"/>
                </a:solidFill>
                <a:latin typeface="Calibri"/>
                <a:ea typeface="Calibri"/>
                <a:cs typeface="Calibri"/>
                <a:sym typeface="Calibri"/>
              </a:rPr>
              <a:t>CAP  (×3 max)</a:t>
            </a:r>
            <a:endParaRPr b="0" i="0" sz="1400" u="none" cap="none" strike="noStrike">
              <a:solidFill>
                <a:srgbClr val="000000"/>
              </a:solidFill>
              <a:latin typeface="Arial"/>
              <a:ea typeface="Arial"/>
              <a:cs typeface="Arial"/>
              <a:sym typeface="Arial"/>
            </a:endParaRPr>
          </a:p>
        </p:txBody>
      </p:sp>
      <p:cxnSp>
        <p:nvCxnSpPr>
          <p:cNvPr id="1134" name="Google Shape;1134;p41"/>
          <p:cNvCxnSpPr/>
          <p:nvPr/>
        </p:nvCxnSpPr>
        <p:spPr>
          <a:xfrm>
            <a:off x="0" y="0"/>
            <a:ext cx="0" cy="0"/>
          </a:xfrm>
          <a:prstGeom prst="straightConnector1">
            <a:avLst/>
          </a:prstGeom>
          <a:noFill/>
          <a:ln cap="flat" cmpd="sng" w="15225">
            <a:solidFill>
              <a:srgbClr val="FF4545"/>
            </a:solidFill>
            <a:prstDash val="solid"/>
            <a:round/>
            <a:headEnd len="med" w="med" type="stealth"/>
            <a:tailEnd len="sm" w="sm" type="none"/>
          </a:ln>
          <a:effectLst>
            <a:outerShdw blurRad="40000" rotWithShape="0" dir="5400000" dist="20000">
              <a:srgbClr val="000000">
                <a:alpha val="38040"/>
              </a:srgbClr>
            </a:outerShdw>
          </a:effectLst>
        </p:spPr>
      </p:cxnSp>
      <p:sp>
        <p:nvSpPr>
          <p:cNvPr id="1135" name="Google Shape;1135;p41"/>
          <p:cNvSpPr txBox="1"/>
          <p:nvPr/>
        </p:nvSpPr>
        <p:spPr>
          <a:xfrm>
            <a:off x="6411411" y="4206242"/>
            <a:ext cx="759000" cy="107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 Mark ChainStep</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   RULED_OUT</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 Write failure</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   to ASG node</a:t>
            </a:r>
            <a:endParaRPr b="0" i="0" sz="1400" u="none" cap="none" strike="noStrike">
              <a:solidFill>
                <a:srgbClr val="000000"/>
              </a:solidFill>
              <a:latin typeface="Arial"/>
              <a:ea typeface="Arial"/>
              <a:cs typeface="Arial"/>
              <a:sym typeface="Arial"/>
            </a:endParaRPr>
          </a:p>
        </p:txBody>
      </p:sp>
      <p:cxnSp>
        <p:nvCxnSpPr>
          <p:cNvPr id="1136" name="Google Shape;1136;p41"/>
          <p:cNvCxnSpPr/>
          <p:nvPr/>
        </p:nvCxnSpPr>
        <p:spPr>
          <a:xfrm>
            <a:off x="0" y="6537960"/>
            <a:ext cx="0" cy="0"/>
          </a:xfrm>
          <a:prstGeom prst="straightConnector1">
            <a:avLst/>
          </a:prstGeom>
          <a:noFill/>
          <a:ln cap="flat" cmpd="sng" w="12700">
            <a:solidFill>
              <a:srgbClr val="39FF14"/>
            </a:solidFill>
            <a:prstDash val="solid"/>
            <a:round/>
            <a:headEnd len="med" w="med" type="stealth"/>
            <a:tailEnd len="sm" w="sm" type="none"/>
          </a:ln>
          <a:effectLst>
            <a:outerShdw blurRad="40000" rotWithShape="0" dir="5400000" dist="20000">
              <a:srgbClr val="000000">
                <a:alpha val="38040"/>
              </a:srgbClr>
            </a:outerShdw>
          </a:effectLst>
        </p:spPr>
      </p:cxnSp>
      <p:sp>
        <p:nvSpPr>
          <p:cNvPr id="1137" name="Google Shape;1137;p41"/>
          <p:cNvSpPr txBox="1"/>
          <p:nvPr/>
        </p:nvSpPr>
        <p:spPr>
          <a:xfrm>
            <a:off x="1777839" y="5417023"/>
            <a:ext cx="22860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1" lang="en-US" sz="750" u="none" cap="none" strike="noStrike">
                <a:solidFill>
                  <a:srgbClr val="39FF14"/>
                </a:solidFill>
                <a:latin typeface="Calibri"/>
                <a:ea typeface="Calibri"/>
                <a:cs typeface="Calibri"/>
                <a:sym typeface="Calibri"/>
              </a:rPr>
              <a:t>retry (up to cap)</a:t>
            </a:r>
            <a:endParaRPr b="0" i="0" sz="1400" u="none" cap="none" strike="noStrike">
              <a:solidFill>
                <a:srgbClr val="000000"/>
              </a:solidFill>
              <a:latin typeface="Arial"/>
              <a:ea typeface="Arial"/>
              <a:cs typeface="Arial"/>
              <a:sym typeface="Arial"/>
            </a:endParaRPr>
          </a:p>
        </p:txBody>
      </p:sp>
      <p:sp>
        <p:nvSpPr>
          <p:cNvPr id="1138" name="Google Shape;1138;p41"/>
          <p:cNvSpPr/>
          <p:nvPr/>
        </p:nvSpPr>
        <p:spPr>
          <a:xfrm>
            <a:off x="7435475" y="3630175"/>
            <a:ext cx="4620600" cy="2965200"/>
          </a:xfrm>
          <a:prstGeom prst="rect">
            <a:avLst/>
          </a:prstGeom>
          <a:solidFill>
            <a:srgbClr val="0E0C04"/>
          </a:solidFill>
          <a:ln cap="flat" cmpd="sng" w="1777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39" name="Google Shape;1139;p41"/>
          <p:cNvSpPr/>
          <p:nvPr/>
        </p:nvSpPr>
        <p:spPr>
          <a:xfrm>
            <a:off x="7435540" y="3630170"/>
            <a:ext cx="4620600" cy="2559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40" name="Google Shape;1140;p41"/>
          <p:cNvSpPr txBox="1"/>
          <p:nvPr/>
        </p:nvSpPr>
        <p:spPr>
          <a:xfrm>
            <a:off x="7435540" y="3666746"/>
            <a:ext cx="46206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0A0D1A"/>
                </a:solidFill>
                <a:latin typeface="Calibri"/>
                <a:ea typeface="Calibri"/>
                <a:cs typeface="Calibri"/>
                <a:sym typeface="Calibri"/>
              </a:rPr>
              <a:t>Risk Score + Chain Priority</a:t>
            </a:r>
            <a:endParaRPr b="0" i="0" sz="1400" u="none" cap="none" strike="noStrike">
              <a:solidFill>
                <a:srgbClr val="000000"/>
              </a:solidFill>
              <a:latin typeface="Arial"/>
              <a:ea typeface="Arial"/>
              <a:cs typeface="Arial"/>
              <a:sym typeface="Arial"/>
            </a:endParaRPr>
          </a:p>
        </p:txBody>
      </p:sp>
      <p:sp>
        <p:nvSpPr>
          <p:cNvPr id="1141" name="Google Shape;1141;p41"/>
          <p:cNvSpPr txBox="1"/>
          <p:nvPr/>
        </p:nvSpPr>
        <p:spPr>
          <a:xfrm>
            <a:off x="7526980" y="3941066"/>
            <a:ext cx="44559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D700"/>
                </a:solidFill>
                <a:latin typeface="Calibri"/>
                <a:ea typeface="Calibri"/>
                <a:cs typeface="Calibri"/>
                <a:sym typeface="Calibri"/>
              </a:rPr>
              <a:t>risk_score = CVSS × Exploitability × Impact</a:t>
            </a:r>
            <a:endParaRPr b="0" i="0" sz="1400" u="none" cap="none" strike="noStrike">
              <a:solidFill>
                <a:srgbClr val="000000"/>
              </a:solidFill>
              <a:latin typeface="Arial"/>
              <a:ea typeface="Arial"/>
              <a:cs typeface="Arial"/>
              <a:sym typeface="Arial"/>
            </a:endParaRPr>
          </a:p>
        </p:txBody>
      </p:sp>
      <p:sp>
        <p:nvSpPr>
          <p:cNvPr id="1142" name="Google Shape;1142;p41"/>
          <p:cNvSpPr txBox="1"/>
          <p:nvPr/>
        </p:nvSpPr>
        <p:spPr>
          <a:xfrm>
            <a:off x="7526980" y="4215386"/>
            <a:ext cx="4455900" cy="35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Priority = rank across all HYPOTHESIZED + PARTIALLY_VALIDATED chains.</a:t>
            </a:r>
            <a:br>
              <a:rPr b="0" i="0" lang="en-US" sz="850" u="none" cap="none" strike="noStrike">
                <a:solidFill>
                  <a:srgbClr val="A0AAB8"/>
                </a:solidFill>
                <a:latin typeface="Calibri"/>
                <a:ea typeface="Calibri"/>
                <a:cs typeface="Calibri"/>
                <a:sym typeface="Calibri"/>
              </a:rPr>
            </a:br>
            <a:r>
              <a:rPr b="0" i="0" lang="en-US" sz="850" u="none" cap="none" strike="noStrike">
                <a:solidFill>
                  <a:srgbClr val="A0AAB8"/>
                </a:solidFill>
                <a:latin typeface="Calibri"/>
                <a:ea typeface="Calibri"/>
                <a:cs typeface="Calibri"/>
                <a:sym typeface="Calibri"/>
              </a:rPr>
              <a:t>Commander pursues highest-priority chain first — re-ranks on every status change.</a:t>
            </a:r>
            <a:endParaRPr b="0" i="0" sz="1400" u="none" cap="none" strike="noStrike">
              <a:solidFill>
                <a:srgbClr val="000000"/>
              </a:solidFill>
              <a:latin typeface="Arial"/>
              <a:ea typeface="Arial"/>
              <a:cs typeface="Arial"/>
              <a:sym typeface="Arial"/>
            </a:endParaRPr>
          </a:p>
        </p:txBody>
      </p:sp>
      <p:sp>
        <p:nvSpPr>
          <p:cNvPr id="1143" name="Google Shape;1143;p41"/>
          <p:cNvSpPr/>
          <p:nvPr/>
        </p:nvSpPr>
        <p:spPr>
          <a:xfrm>
            <a:off x="7526980" y="4745738"/>
            <a:ext cx="4455900" cy="237600"/>
          </a:xfrm>
          <a:prstGeom prst="rect">
            <a:avLst/>
          </a:prstGeom>
          <a:solidFill>
            <a:srgbClr val="22180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44" name="Google Shape;1144;p41"/>
          <p:cNvSpPr txBox="1"/>
          <p:nvPr/>
        </p:nvSpPr>
        <p:spPr>
          <a:xfrm>
            <a:off x="7563556" y="4773170"/>
            <a:ext cx="43920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FFD700"/>
                </a:solidFill>
                <a:latin typeface="Calibri"/>
                <a:ea typeface="Calibri"/>
                <a:cs typeface="Calibri"/>
                <a:sym typeface="Calibri"/>
              </a:rPr>
              <a:t>shopvault.io  —  APG Chain Priority Order</a:t>
            </a:r>
            <a:endParaRPr b="0" i="0" sz="1400" u="none" cap="none" strike="noStrike">
              <a:solidFill>
                <a:srgbClr val="000000"/>
              </a:solidFill>
              <a:latin typeface="Arial"/>
              <a:ea typeface="Arial"/>
              <a:cs typeface="Arial"/>
              <a:sym typeface="Arial"/>
            </a:endParaRPr>
          </a:p>
        </p:txBody>
      </p:sp>
      <p:sp>
        <p:nvSpPr>
          <p:cNvPr id="1145" name="Google Shape;1145;p41"/>
          <p:cNvSpPr/>
          <p:nvPr/>
        </p:nvSpPr>
        <p:spPr>
          <a:xfrm>
            <a:off x="7526980" y="5020058"/>
            <a:ext cx="4455900" cy="347400"/>
          </a:xfrm>
          <a:prstGeom prst="rect">
            <a:avLst/>
          </a:prstGeom>
          <a:solidFill>
            <a:srgbClr val="181202"/>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46" name="Google Shape;1146;p41"/>
          <p:cNvSpPr txBox="1"/>
          <p:nvPr/>
        </p:nvSpPr>
        <p:spPr>
          <a:xfrm>
            <a:off x="7563556" y="5074922"/>
            <a:ext cx="2013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FF4545"/>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
        <p:nvSpPr>
          <p:cNvPr id="1147" name="Google Shape;1147;p41"/>
          <p:cNvSpPr txBox="1"/>
          <p:nvPr/>
        </p:nvSpPr>
        <p:spPr>
          <a:xfrm>
            <a:off x="7783012" y="5074922"/>
            <a:ext cx="39348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Chain-01  —  CVE-2022-21661 SQLi → RCE</a:t>
            </a:r>
            <a:endParaRPr b="0" i="0" sz="1400" u="none" cap="none" strike="noStrike">
              <a:solidFill>
                <a:srgbClr val="000000"/>
              </a:solidFill>
              <a:latin typeface="Arial"/>
              <a:ea typeface="Arial"/>
              <a:cs typeface="Arial"/>
              <a:sym typeface="Arial"/>
            </a:endParaRPr>
          </a:p>
        </p:txBody>
      </p:sp>
      <p:sp>
        <p:nvSpPr>
          <p:cNvPr id="1148" name="Google Shape;1148;p41"/>
          <p:cNvSpPr txBox="1"/>
          <p:nvPr/>
        </p:nvSpPr>
        <p:spPr>
          <a:xfrm>
            <a:off x="11553083" y="5074922"/>
            <a:ext cx="384000" cy="238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50"/>
              <a:buFont typeface="Arial"/>
              <a:buNone/>
            </a:pPr>
            <a:r>
              <a:rPr b="1" i="0" lang="en-US" sz="950" u="none" cap="none" strike="noStrike">
                <a:solidFill>
                  <a:srgbClr val="FF4545"/>
                </a:solidFill>
                <a:latin typeface="Calibri"/>
                <a:ea typeface="Calibri"/>
                <a:cs typeface="Calibri"/>
                <a:sym typeface="Calibri"/>
              </a:rPr>
              <a:t>9.1</a:t>
            </a:r>
            <a:endParaRPr b="0" i="0" sz="1400" u="none" cap="none" strike="noStrike">
              <a:solidFill>
                <a:srgbClr val="000000"/>
              </a:solidFill>
              <a:latin typeface="Arial"/>
              <a:ea typeface="Arial"/>
              <a:cs typeface="Arial"/>
              <a:sym typeface="Arial"/>
            </a:endParaRPr>
          </a:p>
        </p:txBody>
      </p:sp>
      <p:sp>
        <p:nvSpPr>
          <p:cNvPr id="1149" name="Google Shape;1149;p41"/>
          <p:cNvSpPr/>
          <p:nvPr/>
        </p:nvSpPr>
        <p:spPr>
          <a:xfrm>
            <a:off x="7526980" y="5385818"/>
            <a:ext cx="4455900" cy="347400"/>
          </a:xfrm>
          <a:prstGeom prst="rect">
            <a:avLst/>
          </a:prstGeom>
          <a:solidFill>
            <a:srgbClr val="120C02"/>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50" name="Google Shape;1150;p41"/>
          <p:cNvSpPr txBox="1"/>
          <p:nvPr/>
        </p:nvSpPr>
        <p:spPr>
          <a:xfrm>
            <a:off x="7563556" y="5440682"/>
            <a:ext cx="2013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FFD700"/>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sp>
        <p:nvSpPr>
          <p:cNvPr id="1151" name="Google Shape;1151;p41"/>
          <p:cNvSpPr txBox="1"/>
          <p:nvPr/>
        </p:nvSpPr>
        <p:spPr>
          <a:xfrm>
            <a:off x="7783012" y="5440682"/>
            <a:ext cx="39348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Chain-03  —  Blind SQLi on staging → DB creds</a:t>
            </a:r>
            <a:endParaRPr b="0" i="0" sz="1400" u="none" cap="none" strike="noStrike">
              <a:solidFill>
                <a:srgbClr val="000000"/>
              </a:solidFill>
              <a:latin typeface="Arial"/>
              <a:ea typeface="Arial"/>
              <a:cs typeface="Arial"/>
              <a:sym typeface="Arial"/>
            </a:endParaRPr>
          </a:p>
        </p:txBody>
      </p:sp>
      <p:sp>
        <p:nvSpPr>
          <p:cNvPr id="1152" name="Google Shape;1152;p41"/>
          <p:cNvSpPr txBox="1"/>
          <p:nvPr/>
        </p:nvSpPr>
        <p:spPr>
          <a:xfrm>
            <a:off x="11553083" y="5440682"/>
            <a:ext cx="384000" cy="238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50"/>
              <a:buFont typeface="Arial"/>
              <a:buNone/>
            </a:pPr>
            <a:r>
              <a:rPr b="1" i="0" lang="en-US" sz="950" u="none" cap="none" strike="noStrike">
                <a:solidFill>
                  <a:srgbClr val="FFD700"/>
                </a:solidFill>
                <a:latin typeface="Calibri"/>
                <a:ea typeface="Calibri"/>
                <a:cs typeface="Calibri"/>
                <a:sym typeface="Calibri"/>
              </a:rPr>
              <a:t>8.1</a:t>
            </a:r>
            <a:endParaRPr b="0" i="0" sz="1400" u="none" cap="none" strike="noStrike">
              <a:solidFill>
                <a:srgbClr val="000000"/>
              </a:solidFill>
              <a:latin typeface="Arial"/>
              <a:ea typeface="Arial"/>
              <a:cs typeface="Arial"/>
              <a:sym typeface="Arial"/>
            </a:endParaRPr>
          </a:p>
        </p:txBody>
      </p:sp>
      <p:sp>
        <p:nvSpPr>
          <p:cNvPr id="1153" name="Google Shape;1153;p41"/>
          <p:cNvSpPr/>
          <p:nvPr/>
        </p:nvSpPr>
        <p:spPr>
          <a:xfrm>
            <a:off x="7526980" y="5751578"/>
            <a:ext cx="4455900" cy="347400"/>
          </a:xfrm>
          <a:prstGeom prst="rect">
            <a:avLst/>
          </a:prstGeom>
          <a:solidFill>
            <a:srgbClr val="181202"/>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54" name="Google Shape;1154;p41"/>
          <p:cNvSpPr txBox="1"/>
          <p:nvPr/>
        </p:nvSpPr>
        <p:spPr>
          <a:xfrm>
            <a:off x="7563556" y="5806442"/>
            <a:ext cx="2013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FFD700"/>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sp>
        <p:nvSpPr>
          <p:cNvPr id="1155" name="Google Shape;1155;p41"/>
          <p:cNvSpPr txBox="1"/>
          <p:nvPr/>
        </p:nvSpPr>
        <p:spPr>
          <a:xfrm>
            <a:off x="7783012" y="5806442"/>
            <a:ext cx="39348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Chain-02  —  IDOR on /api/v1/orders → PII</a:t>
            </a:r>
            <a:endParaRPr b="0" i="0" sz="1400" u="none" cap="none" strike="noStrike">
              <a:solidFill>
                <a:srgbClr val="000000"/>
              </a:solidFill>
              <a:latin typeface="Arial"/>
              <a:ea typeface="Arial"/>
              <a:cs typeface="Arial"/>
              <a:sym typeface="Arial"/>
            </a:endParaRPr>
          </a:p>
        </p:txBody>
      </p:sp>
      <p:sp>
        <p:nvSpPr>
          <p:cNvPr id="1156" name="Google Shape;1156;p41"/>
          <p:cNvSpPr txBox="1"/>
          <p:nvPr/>
        </p:nvSpPr>
        <p:spPr>
          <a:xfrm>
            <a:off x="11553083" y="5806442"/>
            <a:ext cx="384000" cy="238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50"/>
              <a:buFont typeface="Arial"/>
              <a:buNone/>
            </a:pPr>
            <a:r>
              <a:rPr b="1" i="0" lang="en-US" sz="950" u="none" cap="none" strike="noStrike">
                <a:solidFill>
                  <a:srgbClr val="FFD700"/>
                </a:solidFill>
                <a:latin typeface="Calibri"/>
                <a:ea typeface="Calibri"/>
                <a:cs typeface="Calibri"/>
                <a:sym typeface="Calibri"/>
              </a:rPr>
              <a:t>7.5</a:t>
            </a:r>
            <a:endParaRPr b="0" i="0" sz="1400" u="none" cap="none" strike="noStrike">
              <a:solidFill>
                <a:srgbClr val="000000"/>
              </a:solidFill>
              <a:latin typeface="Arial"/>
              <a:ea typeface="Arial"/>
              <a:cs typeface="Arial"/>
              <a:sym typeface="Arial"/>
            </a:endParaRPr>
          </a:p>
        </p:txBody>
      </p:sp>
      <p:sp>
        <p:nvSpPr>
          <p:cNvPr id="1157" name="Google Shape;1157;p41"/>
          <p:cNvSpPr/>
          <p:nvPr/>
        </p:nvSpPr>
        <p:spPr>
          <a:xfrm>
            <a:off x="7526980" y="6117338"/>
            <a:ext cx="4455900" cy="347400"/>
          </a:xfrm>
          <a:prstGeom prst="rect">
            <a:avLst/>
          </a:prstGeom>
          <a:solidFill>
            <a:srgbClr val="120C02"/>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58" name="Google Shape;1158;p41"/>
          <p:cNvSpPr txBox="1"/>
          <p:nvPr/>
        </p:nvSpPr>
        <p:spPr>
          <a:xfrm>
            <a:off x="7563556" y="6172202"/>
            <a:ext cx="2013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BD93F9"/>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
        <p:nvSpPr>
          <p:cNvPr id="1159" name="Google Shape;1159;p41"/>
          <p:cNvSpPr txBox="1"/>
          <p:nvPr/>
        </p:nvSpPr>
        <p:spPr>
          <a:xfrm>
            <a:off x="7783012" y="6172202"/>
            <a:ext cx="3934800" cy="2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Chain-04  —  Direct DB backup download → PII</a:t>
            </a:r>
            <a:endParaRPr b="0" i="0" sz="1400" u="none" cap="none" strike="noStrike">
              <a:solidFill>
                <a:srgbClr val="000000"/>
              </a:solidFill>
              <a:latin typeface="Arial"/>
              <a:ea typeface="Arial"/>
              <a:cs typeface="Arial"/>
              <a:sym typeface="Arial"/>
            </a:endParaRPr>
          </a:p>
        </p:txBody>
      </p:sp>
      <p:sp>
        <p:nvSpPr>
          <p:cNvPr id="1160" name="Google Shape;1160;p41"/>
          <p:cNvSpPr txBox="1"/>
          <p:nvPr/>
        </p:nvSpPr>
        <p:spPr>
          <a:xfrm>
            <a:off x="11553083" y="6172202"/>
            <a:ext cx="384000" cy="238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50"/>
              <a:buFont typeface="Arial"/>
              <a:buNone/>
            </a:pPr>
            <a:r>
              <a:rPr b="1" i="0" lang="en-US" sz="950" u="none" cap="none" strike="noStrike">
                <a:solidFill>
                  <a:srgbClr val="BD93F9"/>
                </a:solidFill>
                <a:latin typeface="Calibri"/>
                <a:ea typeface="Calibri"/>
                <a:cs typeface="Calibri"/>
                <a:sym typeface="Calibri"/>
              </a:rPr>
              <a:t>N/A</a:t>
            </a:r>
            <a:endParaRPr b="0" i="0" sz="1400" u="none" cap="none" strike="noStrike">
              <a:solidFill>
                <a:srgbClr val="000000"/>
              </a:solidFill>
              <a:latin typeface="Arial"/>
              <a:ea typeface="Arial"/>
              <a:cs typeface="Arial"/>
              <a:sym typeface="Arial"/>
            </a:endParaRPr>
          </a:p>
        </p:txBody>
      </p:sp>
      <p:sp>
        <p:nvSpPr>
          <p:cNvPr id="1161" name="Google Shape;1161;p41"/>
          <p:cNvSpPr txBox="1"/>
          <p:nvPr/>
        </p:nvSpPr>
        <p:spPr>
          <a:xfrm>
            <a:off x="11524920" y="139675"/>
            <a:ext cx="4839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lang="en-US" sz="1300">
                <a:solidFill>
                  <a:srgbClr val="FFD700"/>
                </a:solidFill>
                <a:latin typeface="Calibri"/>
                <a:ea typeface="Calibri"/>
                <a:cs typeface="Calibri"/>
                <a:sym typeface="Calibri"/>
              </a:rPr>
              <a:t>13</a:t>
            </a:r>
            <a:endParaRPr b="0" i="0" sz="1400" u="none" cap="none" strike="noStrike">
              <a:solidFill>
                <a:srgbClr val="000000"/>
              </a:solidFill>
              <a:latin typeface="Arial"/>
              <a:ea typeface="Arial"/>
              <a:cs typeface="Arial"/>
              <a:sym typeface="Arial"/>
            </a:endParaRPr>
          </a:p>
        </p:txBody>
      </p:sp>
      <p:cxnSp>
        <p:nvCxnSpPr>
          <p:cNvPr id="1162" name="Google Shape;1162;p41"/>
          <p:cNvCxnSpPr>
            <a:stCxn id="1095" idx="3"/>
            <a:endCxn id="1097" idx="1"/>
          </p:cNvCxnSpPr>
          <p:nvPr/>
        </p:nvCxnSpPr>
        <p:spPr>
          <a:xfrm>
            <a:off x="5367444" y="1696170"/>
            <a:ext cx="1656600" cy="0"/>
          </a:xfrm>
          <a:prstGeom prst="straightConnector1">
            <a:avLst/>
          </a:prstGeom>
          <a:noFill/>
          <a:ln cap="flat" cmpd="sng" w="9525">
            <a:solidFill>
              <a:srgbClr val="00FF00"/>
            </a:solidFill>
            <a:prstDash val="solid"/>
            <a:round/>
            <a:headEnd len="sm" w="sm" type="none"/>
            <a:tailEnd len="med" w="med" type="triangle"/>
          </a:ln>
        </p:spPr>
      </p:cxnSp>
      <p:cxnSp>
        <p:nvCxnSpPr>
          <p:cNvPr id="1163" name="Google Shape;1163;p41"/>
          <p:cNvCxnSpPr>
            <a:endCxn id="1103" idx="2"/>
          </p:cNvCxnSpPr>
          <p:nvPr/>
        </p:nvCxnSpPr>
        <p:spPr>
          <a:xfrm>
            <a:off x="5202955" y="1860909"/>
            <a:ext cx="5521200" cy="726900"/>
          </a:xfrm>
          <a:prstGeom prst="curvedConnector4">
            <a:avLst>
              <a:gd fmla="val 14188" name="adj1"/>
              <a:gd fmla="val 162989" name="adj2"/>
            </a:avLst>
          </a:prstGeom>
          <a:noFill/>
          <a:ln cap="flat" cmpd="sng" w="9525">
            <a:solidFill>
              <a:srgbClr val="FF0000"/>
            </a:solidFill>
            <a:prstDash val="solid"/>
            <a:round/>
            <a:headEnd len="sm" w="sm" type="none"/>
            <a:tailEnd len="sm" w="sm"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1167" name="Shape 1167"/>
        <p:cNvGrpSpPr/>
        <p:nvPr/>
      </p:nvGrpSpPr>
      <p:grpSpPr>
        <a:xfrm>
          <a:off x="0" y="0"/>
          <a:ext cx="0" cy="0"/>
          <a:chOff x="0" y="0"/>
          <a:chExt cx="0" cy="0"/>
        </a:xfrm>
      </p:grpSpPr>
      <p:sp>
        <p:nvSpPr>
          <p:cNvPr id="1168" name="Google Shape;1168;p42"/>
          <p:cNvSpPr/>
          <p:nvPr/>
        </p:nvSpPr>
        <p:spPr>
          <a:xfrm>
            <a:off x="0" y="0"/>
            <a:ext cx="54900" cy="6858000"/>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69" name="Google Shape;1169;p42"/>
          <p:cNvSpPr/>
          <p:nvPr/>
        </p:nvSpPr>
        <p:spPr>
          <a:xfrm>
            <a:off x="54864" y="0"/>
            <a:ext cx="12136800" cy="36600"/>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70" name="Google Shape;1170;p42"/>
          <p:cNvSpPr/>
          <p:nvPr/>
        </p:nvSpPr>
        <p:spPr>
          <a:xfrm>
            <a:off x="54864" y="6821424"/>
            <a:ext cx="12136800" cy="36600"/>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71" name="Google Shape;1171;p42"/>
          <p:cNvSpPr txBox="1"/>
          <p:nvPr/>
        </p:nvSpPr>
        <p:spPr>
          <a:xfrm>
            <a:off x="274320" y="73152"/>
            <a:ext cx="7315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BFD8"/>
                </a:solidFill>
                <a:latin typeface="Calibri"/>
                <a:ea typeface="Calibri"/>
                <a:cs typeface="Calibri"/>
                <a:sym typeface="Calibri"/>
              </a:rPr>
              <a:t>CROSS-MISSION LEARNING</a:t>
            </a:r>
            <a:endParaRPr b="0" i="0" sz="1400" u="none" cap="none" strike="noStrike">
              <a:solidFill>
                <a:srgbClr val="000000"/>
              </a:solidFill>
              <a:latin typeface="Arial"/>
              <a:ea typeface="Arial"/>
              <a:cs typeface="Arial"/>
              <a:sym typeface="Arial"/>
            </a:endParaRPr>
          </a:p>
        </p:txBody>
      </p:sp>
      <p:sp>
        <p:nvSpPr>
          <p:cNvPr id="1172" name="Google Shape;1172;p42"/>
          <p:cNvSpPr txBox="1"/>
          <p:nvPr/>
        </p:nvSpPr>
        <p:spPr>
          <a:xfrm>
            <a:off x="274320" y="347472"/>
            <a:ext cx="11430000" cy="492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Experience Store + Attack Strategy Library — CMatrix Gets Smarter Each Mission</a:t>
            </a:r>
            <a:endParaRPr b="0" i="0" sz="1400" u="none" cap="none" strike="noStrike">
              <a:solidFill>
                <a:srgbClr val="000000"/>
              </a:solidFill>
              <a:latin typeface="Arial"/>
              <a:ea typeface="Arial"/>
              <a:cs typeface="Arial"/>
              <a:sym typeface="Arial"/>
            </a:endParaRPr>
          </a:p>
        </p:txBody>
      </p:sp>
      <p:sp>
        <p:nvSpPr>
          <p:cNvPr id="1173" name="Google Shape;1173;p42"/>
          <p:cNvSpPr/>
          <p:nvPr/>
        </p:nvSpPr>
        <p:spPr>
          <a:xfrm>
            <a:off x="274320" y="1005840"/>
            <a:ext cx="2286000" cy="914400"/>
          </a:xfrm>
          <a:prstGeom prst="rect">
            <a:avLst/>
          </a:prstGeom>
          <a:solidFill>
            <a:srgbClr val="061420"/>
          </a:solidFill>
          <a:ln cap="flat" cmpd="sng" w="190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74" name="Google Shape;1174;p42"/>
          <p:cNvSpPr txBox="1"/>
          <p:nvPr/>
        </p:nvSpPr>
        <p:spPr>
          <a:xfrm>
            <a:off x="411480" y="1143000"/>
            <a:ext cx="2011800" cy="492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Mission N</a:t>
            </a:r>
            <a:br>
              <a:rPr b="1" i="0" lang="en-US" sz="1300" u="none" cap="none" strike="noStrike">
                <a:solidFill>
                  <a:srgbClr val="00E5FF"/>
                </a:solidFill>
                <a:latin typeface="Calibri"/>
                <a:ea typeface="Calibri"/>
                <a:cs typeface="Calibri"/>
                <a:sym typeface="Calibri"/>
              </a:rPr>
            </a:br>
            <a:r>
              <a:rPr b="1" i="0" lang="en-US" sz="1300" u="none" cap="none" strike="noStrike">
                <a:solidFill>
                  <a:srgbClr val="00E5FF"/>
                </a:solidFill>
                <a:latin typeface="Calibri"/>
                <a:ea typeface="Calibri"/>
                <a:cs typeface="Calibri"/>
                <a:sym typeface="Calibri"/>
              </a:rPr>
              <a:t>(completed)</a:t>
            </a:r>
            <a:endParaRPr b="0" i="0" sz="1400" u="none" cap="none" strike="noStrike">
              <a:solidFill>
                <a:srgbClr val="000000"/>
              </a:solidFill>
              <a:latin typeface="Arial"/>
              <a:ea typeface="Arial"/>
              <a:cs typeface="Arial"/>
              <a:sym typeface="Arial"/>
            </a:endParaRPr>
          </a:p>
        </p:txBody>
      </p:sp>
      <p:cxnSp>
        <p:nvCxnSpPr>
          <p:cNvPr id="1175" name="Google Shape;1175;p42"/>
          <p:cNvCxnSpPr/>
          <p:nvPr/>
        </p:nvCxnSpPr>
        <p:spPr>
          <a:xfrm>
            <a:off x="2560320" y="0"/>
            <a:ext cx="1097400" cy="0"/>
          </a:xfrm>
          <a:prstGeom prst="straightConnector1">
            <a:avLst/>
          </a:prstGeom>
          <a:noFill/>
          <a:ln cap="flat" cmpd="sng" w="19050">
            <a:solidFill>
              <a:srgbClr val="00E5FF"/>
            </a:solidFill>
            <a:prstDash val="solid"/>
            <a:round/>
            <a:headEnd len="med" w="med" type="stealth"/>
            <a:tailEnd len="sm" w="sm" type="none"/>
          </a:ln>
          <a:effectLst>
            <a:outerShdw blurRad="40000" rotWithShape="0" dir="5400000" dist="20000">
              <a:srgbClr val="000000">
                <a:alpha val="38040"/>
              </a:srgbClr>
            </a:outerShdw>
          </a:effectLst>
        </p:spPr>
      </p:cxnSp>
      <p:sp>
        <p:nvSpPr>
          <p:cNvPr id="1176" name="Google Shape;1176;p42"/>
          <p:cNvSpPr txBox="1"/>
          <p:nvPr/>
        </p:nvSpPr>
        <p:spPr>
          <a:xfrm>
            <a:off x="2578608" y="1097280"/>
            <a:ext cx="1024200" cy="48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Report Agent writes</a:t>
            </a:r>
            <a:br>
              <a:rPr b="0" i="1" lang="en-US" sz="850" u="none" cap="none" strike="noStrike">
                <a:solidFill>
                  <a:srgbClr val="A0AAB8"/>
                </a:solidFill>
                <a:latin typeface="Calibri"/>
                <a:ea typeface="Calibri"/>
                <a:cs typeface="Calibri"/>
                <a:sym typeface="Calibri"/>
              </a:rPr>
            </a:br>
            <a:r>
              <a:rPr b="0" i="1" lang="en-US" sz="850" u="none" cap="none" strike="noStrike">
                <a:solidFill>
                  <a:srgbClr val="A0AAB8"/>
                </a:solidFill>
                <a:latin typeface="Calibri"/>
                <a:ea typeface="Calibri"/>
                <a:cs typeface="Calibri"/>
                <a:sym typeface="Calibri"/>
              </a:rPr>
              <a:t>validated chains</a:t>
            </a:r>
            <a:endParaRPr b="0" i="0" sz="1400" u="none" cap="none" strike="noStrike">
              <a:solidFill>
                <a:srgbClr val="000000"/>
              </a:solidFill>
              <a:latin typeface="Arial"/>
              <a:ea typeface="Arial"/>
              <a:cs typeface="Arial"/>
              <a:sym typeface="Arial"/>
            </a:endParaRPr>
          </a:p>
        </p:txBody>
      </p:sp>
      <p:sp>
        <p:nvSpPr>
          <p:cNvPr id="1177" name="Google Shape;1177;p42"/>
          <p:cNvSpPr/>
          <p:nvPr/>
        </p:nvSpPr>
        <p:spPr>
          <a:xfrm>
            <a:off x="3749050" y="1005725"/>
            <a:ext cx="2286000" cy="914400"/>
          </a:xfrm>
          <a:prstGeom prst="rect">
            <a:avLst/>
          </a:prstGeom>
          <a:solidFill>
            <a:srgbClr val="04201E"/>
          </a:solidFill>
          <a:ln cap="flat" cmpd="sng" w="25400">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78" name="Google Shape;1178;p42"/>
          <p:cNvSpPr txBox="1"/>
          <p:nvPr/>
        </p:nvSpPr>
        <p:spPr>
          <a:xfrm>
            <a:off x="3799293" y="1042961"/>
            <a:ext cx="21489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0BFD8"/>
                </a:solidFill>
                <a:latin typeface="Calibri"/>
                <a:ea typeface="Calibri"/>
                <a:cs typeface="Calibri"/>
                <a:sym typeface="Calibri"/>
              </a:rPr>
              <a:t>Cross-Mission</a:t>
            </a:r>
            <a:br>
              <a:rPr b="1" i="0" lang="en-US" sz="1200" u="none" cap="none" strike="noStrike">
                <a:solidFill>
                  <a:srgbClr val="00BFD8"/>
                </a:solidFill>
                <a:latin typeface="Calibri"/>
                <a:ea typeface="Calibri"/>
                <a:cs typeface="Calibri"/>
                <a:sym typeface="Calibri"/>
              </a:rPr>
            </a:br>
            <a:r>
              <a:rPr b="1" i="0" lang="en-US" sz="1200" u="none" cap="none" strike="noStrike">
                <a:solidFill>
                  <a:srgbClr val="00BFD8"/>
                </a:solidFill>
                <a:latin typeface="Calibri"/>
                <a:ea typeface="Calibri"/>
                <a:cs typeface="Calibri"/>
                <a:sym typeface="Calibri"/>
              </a:rPr>
              <a:t>Experience Store</a:t>
            </a:r>
            <a:endParaRPr b="0" i="0" sz="1400" u="none" cap="none" strike="noStrike">
              <a:solidFill>
                <a:srgbClr val="000000"/>
              </a:solidFill>
              <a:latin typeface="Arial"/>
              <a:ea typeface="Arial"/>
              <a:cs typeface="Arial"/>
              <a:sym typeface="Arial"/>
            </a:endParaRPr>
          </a:p>
        </p:txBody>
      </p:sp>
      <p:sp>
        <p:nvSpPr>
          <p:cNvPr id="1179" name="Google Shape;1179;p42"/>
          <p:cNvSpPr txBox="1"/>
          <p:nvPr/>
        </p:nvSpPr>
        <p:spPr>
          <a:xfrm>
            <a:off x="3799293" y="1473205"/>
            <a:ext cx="2148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1" lang="en-US" sz="900" u="none" cap="none" strike="noStrike">
                <a:solidFill>
                  <a:srgbClr val="A0AAB8"/>
                </a:solidFill>
                <a:latin typeface="Calibri"/>
                <a:ea typeface="Calibri"/>
                <a:cs typeface="Calibri"/>
                <a:sym typeface="Calibri"/>
              </a:rPr>
              <a:t>RAG-backed · persistent</a:t>
            </a:r>
            <a:br>
              <a:rPr b="0" i="1" lang="en-US" sz="900" u="none" cap="none" strike="noStrike">
                <a:solidFill>
                  <a:srgbClr val="A0AAB8"/>
                </a:solidFill>
                <a:latin typeface="Calibri"/>
                <a:ea typeface="Calibri"/>
                <a:cs typeface="Calibri"/>
                <a:sym typeface="Calibri"/>
              </a:rPr>
            </a:br>
            <a:r>
              <a:rPr b="0" i="1" lang="en-US" sz="900" u="none" cap="none" strike="noStrike">
                <a:solidFill>
                  <a:srgbClr val="A0AAB8"/>
                </a:solidFill>
                <a:latin typeface="Calibri"/>
                <a:ea typeface="Calibri"/>
                <a:cs typeface="Calibri"/>
                <a:sym typeface="Calibri"/>
              </a:rPr>
              <a:t>across all missions</a:t>
            </a:r>
            <a:endParaRPr b="0" i="0" sz="1400" u="none" cap="none" strike="noStrike">
              <a:solidFill>
                <a:srgbClr val="000000"/>
              </a:solidFill>
              <a:latin typeface="Arial"/>
              <a:ea typeface="Arial"/>
              <a:cs typeface="Arial"/>
              <a:sym typeface="Arial"/>
            </a:endParaRPr>
          </a:p>
        </p:txBody>
      </p:sp>
      <p:cxnSp>
        <p:nvCxnSpPr>
          <p:cNvPr id="1180" name="Google Shape;1180;p42"/>
          <p:cNvCxnSpPr/>
          <p:nvPr/>
        </p:nvCxnSpPr>
        <p:spPr>
          <a:xfrm>
            <a:off x="6126480" y="0"/>
            <a:ext cx="1097400" cy="0"/>
          </a:xfrm>
          <a:prstGeom prst="straightConnector1">
            <a:avLst/>
          </a:prstGeom>
          <a:noFill/>
          <a:ln cap="flat" cmpd="sng" w="19050">
            <a:solidFill>
              <a:srgbClr val="FFD700"/>
            </a:solidFill>
            <a:prstDash val="solid"/>
            <a:round/>
            <a:headEnd len="med" w="med" type="stealth"/>
            <a:tailEnd len="sm" w="sm" type="none"/>
          </a:ln>
          <a:effectLst>
            <a:outerShdw blurRad="40000" rotWithShape="0" dir="5400000" dist="20000">
              <a:srgbClr val="000000">
                <a:alpha val="38040"/>
              </a:srgbClr>
            </a:outerShdw>
          </a:effectLst>
        </p:spPr>
      </p:cxnSp>
      <p:sp>
        <p:nvSpPr>
          <p:cNvPr id="1181" name="Google Shape;1181;p42"/>
          <p:cNvSpPr txBox="1"/>
          <p:nvPr/>
        </p:nvSpPr>
        <p:spPr>
          <a:xfrm>
            <a:off x="6144768" y="1051560"/>
            <a:ext cx="10242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FFD700"/>
                </a:solidFill>
                <a:latin typeface="Calibri"/>
                <a:ea typeface="Calibri"/>
                <a:cs typeface="Calibri"/>
                <a:sym typeface="Calibri"/>
              </a:rPr>
              <a:t>Crystallize</a:t>
            </a:r>
            <a:br>
              <a:rPr b="0" i="1" lang="en-US" sz="850" u="none" cap="none" strike="noStrike">
                <a:solidFill>
                  <a:srgbClr val="FFD700"/>
                </a:solidFill>
                <a:latin typeface="Calibri"/>
                <a:ea typeface="Calibri"/>
                <a:cs typeface="Calibri"/>
                <a:sym typeface="Calibri"/>
              </a:rPr>
            </a:br>
            <a:r>
              <a:rPr b="0" i="1" lang="en-US" sz="850" u="none" cap="none" strike="noStrike">
                <a:solidFill>
                  <a:srgbClr val="FFD700"/>
                </a:solidFill>
                <a:latin typeface="Calibri"/>
                <a:ea typeface="Calibri"/>
                <a:cs typeface="Calibri"/>
                <a:sym typeface="Calibri"/>
              </a:rPr>
              <a:t>(&gt;=2 missions)</a:t>
            </a:r>
            <a:endParaRPr b="0" i="0" sz="1400" u="none" cap="none" strike="noStrike">
              <a:solidFill>
                <a:srgbClr val="000000"/>
              </a:solidFill>
              <a:latin typeface="Arial"/>
              <a:ea typeface="Arial"/>
              <a:cs typeface="Arial"/>
              <a:sym typeface="Arial"/>
            </a:endParaRPr>
          </a:p>
        </p:txBody>
      </p:sp>
      <p:sp>
        <p:nvSpPr>
          <p:cNvPr id="1182" name="Google Shape;1182;p42"/>
          <p:cNvSpPr/>
          <p:nvPr/>
        </p:nvSpPr>
        <p:spPr>
          <a:xfrm>
            <a:off x="7315200" y="983100"/>
            <a:ext cx="2148900" cy="859500"/>
          </a:xfrm>
          <a:prstGeom prst="rect">
            <a:avLst/>
          </a:prstGeom>
          <a:solidFill>
            <a:srgbClr val="201804"/>
          </a:solidFill>
          <a:ln cap="flat" cmpd="sng" w="2540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83" name="Google Shape;1183;p42"/>
          <p:cNvSpPr txBox="1"/>
          <p:nvPr/>
        </p:nvSpPr>
        <p:spPr>
          <a:xfrm>
            <a:off x="7424925" y="1005949"/>
            <a:ext cx="19509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D700"/>
                </a:solidFill>
                <a:latin typeface="Calibri"/>
                <a:ea typeface="Calibri"/>
                <a:cs typeface="Calibri"/>
                <a:sym typeface="Calibri"/>
              </a:rPr>
              <a:t>Attack Strategy</a:t>
            </a:r>
            <a:br>
              <a:rPr b="1" i="0" lang="en-US" sz="1200" u="none" cap="none" strike="noStrike">
                <a:solidFill>
                  <a:srgbClr val="FFD700"/>
                </a:solidFill>
                <a:latin typeface="Calibri"/>
                <a:ea typeface="Calibri"/>
                <a:cs typeface="Calibri"/>
                <a:sym typeface="Calibri"/>
              </a:rPr>
            </a:br>
            <a:r>
              <a:rPr b="1" i="0" lang="en-US" sz="1200" u="none" cap="none" strike="noStrike">
                <a:solidFill>
                  <a:srgbClr val="FFD700"/>
                </a:solidFill>
                <a:latin typeface="Calibri"/>
                <a:ea typeface="Calibri"/>
                <a:cs typeface="Calibri"/>
                <a:sym typeface="Calibri"/>
              </a:rPr>
              <a:t>Library</a:t>
            </a:r>
            <a:endParaRPr b="0" i="0" sz="1400" u="none" cap="none" strike="noStrike">
              <a:solidFill>
                <a:srgbClr val="000000"/>
              </a:solidFill>
              <a:latin typeface="Arial"/>
              <a:ea typeface="Arial"/>
              <a:cs typeface="Arial"/>
              <a:sym typeface="Arial"/>
            </a:endParaRPr>
          </a:p>
        </p:txBody>
      </p:sp>
      <p:sp>
        <p:nvSpPr>
          <p:cNvPr id="1184" name="Google Shape;1184;p42"/>
          <p:cNvSpPr txBox="1"/>
          <p:nvPr/>
        </p:nvSpPr>
        <p:spPr>
          <a:xfrm>
            <a:off x="7406640" y="1380743"/>
            <a:ext cx="2148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1" lang="en-US" sz="900" u="none" cap="none" strike="noStrike">
                <a:solidFill>
                  <a:srgbClr val="A0AAB8"/>
                </a:solidFill>
                <a:latin typeface="Calibri"/>
                <a:ea typeface="Calibri"/>
                <a:cs typeface="Calibri"/>
                <a:sym typeface="Calibri"/>
              </a:rPr>
              <a:t>Named strategies · confidence scores</a:t>
            </a:r>
            <a:br>
              <a:rPr b="0" i="1" lang="en-US" sz="900" u="none" cap="none" strike="noStrike">
                <a:solidFill>
                  <a:srgbClr val="A0AAB8"/>
                </a:solidFill>
                <a:latin typeface="Calibri"/>
                <a:ea typeface="Calibri"/>
                <a:cs typeface="Calibri"/>
                <a:sym typeface="Calibri"/>
              </a:rPr>
            </a:br>
            <a:r>
              <a:rPr b="0" i="1" lang="en-US" sz="900" u="none" cap="none" strike="noStrike">
                <a:solidFill>
                  <a:srgbClr val="A0AAB8"/>
                </a:solidFill>
                <a:latin typeface="Calibri"/>
                <a:ea typeface="Calibri"/>
                <a:cs typeface="Calibri"/>
                <a:sym typeface="Calibri"/>
              </a:rPr>
              <a:t>technology-fingerprint indexed</a:t>
            </a:r>
            <a:endParaRPr b="0" i="0" sz="1400" u="none" cap="none" strike="noStrike">
              <a:solidFill>
                <a:srgbClr val="000000"/>
              </a:solidFill>
              <a:latin typeface="Arial"/>
              <a:ea typeface="Arial"/>
              <a:cs typeface="Arial"/>
              <a:sym typeface="Arial"/>
            </a:endParaRPr>
          </a:p>
        </p:txBody>
      </p:sp>
      <p:cxnSp>
        <p:nvCxnSpPr>
          <p:cNvPr id="1185" name="Google Shape;1185;p42"/>
          <p:cNvCxnSpPr/>
          <p:nvPr/>
        </p:nvCxnSpPr>
        <p:spPr>
          <a:xfrm>
            <a:off x="9692640" y="0"/>
            <a:ext cx="1097400" cy="0"/>
          </a:xfrm>
          <a:prstGeom prst="straightConnector1">
            <a:avLst/>
          </a:prstGeom>
          <a:noFill/>
          <a:ln cap="flat" cmpd="sng" w="19050">
            <a:solidFill>
              <a:srgbClr val="39FF14"/>
            </a:solidFill>
            <a:prstDash val="solid"/>
            <a:round/>
            <a:headEnd len="med" w="med" type="stealth"/>
            <a:tailEnd len="sm" w="sm" type="none"/>
          </a:ln>
          <a:effectLst>
            <a:outerShdw blurRad="40000" rotWithShape="0" dir="5400000" dist="20000">
              <a:srgbClr val="000000">
                <a:alpha val="38040"/>
              </a:srgbClr>
            </a:outerShdw>
          </a:effectLst>
        </p:spPr>
      </p:cxnSp>
      <p:sp>
        <p:nvSpPr>
          <p:cNvPr id="1186" name="Google Shape;1186;p42"/>
          <p:cNvSpPr txBox="1"/>
          <p:nvPr/>
        </p:nvSpPr>
        <p:spPr>
          <a:xfrm>
            <a:off x="9660666" y="1147580"/>
            <a:ext cx="10242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Pre-ranked seeds</a:t>
            </a:r>
            <a:br>
              <a:rPr b="0" i="1" lang="en-US" sz="850" u="none" cap="none" strike="noStrike">
                <a:solidFill>
                  <a:srgbClr val="A0AAB8"/>
                </a:solidFill>
                <a:latin typeface="Calibri"/>
                <a:ea typeface="Calibri"/>
                <a:cs typeface="Calibri"/>
                <a:sym typeface="Calibri"/>
              </a:rPr>
            </a:br>
            <a:r>
              <a:rPr b="0" i="1" lang="en-US" sz="850" u="none" cap="none" strike="noStrike">
                <a:solidFill>
                  <a:srgbClr val="A0AAB8"/>
                </a:solidFill>
                <a:latin typeface="Calibri"/>
                <a:ea typeface="Calibri"/>
                <a:cs typeface="Calibri"/>
                <a:sym typeface="Calibri"/>
              </a:rPr>
              <a:t>at mission start</a:t>
            </a:r>
            <a:endParaRPr b="0" i="0" sz="1400" u="none" cap="none" strike="noStrike">
              <a:solidFill>
                <a:srgbClr val="000000"/>
              </a:solidFill>
              <a:latin typeface="Arial"/>
              <a:ea typeface="Arial"/>
              <a:cs typeface="Arial"/>
              <a:sym typeface="Arial"/>
            </a:endParaRPr>
          </a:p>
        </p:txBody>
      </p:sp>
      <p:sp>
        <p:nvSpPr>
          <p:cNvPr id="1187" name="Google Shape;1187;p42"/>
          <p:cNvSpPr/>
          <p:nvPr/>
        </p:nvSpPr>
        <p:spPr>
          <a:xfrm>
            <a:off x="10790010" y="923527"/>
            <a:ext cx="1143000" cy="914400"/>
          </a:xfrm>
          <a:prstGeom prst="rect">
            <a:avLst/>
          </a:prstGeom>
          <a:solidFill>
            <a:srgbClr val="062010"/>
          </a:solidFill>
          <a:ln cap="flat" cmpd="sng" w="1905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88" name="Google Shape;1188;p42"/>
          <p:cNvSpPr txBox="1"/>
          <p:nvPr/>
        </p:nvSpPr>
        <p:spPr>
          <a:xfrm>
            <a:off x="10831105" y="1010406"/>
            <a:ext cx="10515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39FF14"/>
                </a:solidFill>
                <a:latin typeface="Calibri"/>
                <a:ea typeface="Calibri"/>
                <a:cs typeface="Calibri"/>
                <a:sym typeface="Calibri"/>
              </a:rPr>
              <a:t>Mission</a:t>
            </a:r>
            <a:br>
              <a:rPr b="1" i="0" lang="en-US" sz="1200" u="none" cap="none" strike="noStrike">
                <a:solidFill>
                  <a:srgbClr val="39FF14"/>
                </a:solidFill>
                <a:latin typeface="Calibri"/>
                <a:ea typeface="Calibri"/>
                <a:cs typeface="Calibri"/>
                <a:sym typeface="Calibri"/>
              </a:rPr>
            </a:br>
            <a:r>
              <a:rPr b="1" i="0" lang="en-US" sz="1200" u="none" cap="none" strike="noStrike">
                <a:solidFill>
                  <a:srgbClr val="39FF14"/>
                </a:solidFill>
                <a:latin typeface="Calibri"/>
                <a:ea typeface="Calibri"/>
                <a:cs typeface="Calibri"/>
                <a:sym typeface="Calibri"/>
              </a:rPr>
              <a:t>N+1</a:t>
            </a:r>
            <a:endParaRPr b="0" i="0" sz="1400" u="none" cap="none" strike="noStrike">
              <a:solidFill>
                <a:srgbClr val="000000"/>
              </a:solidFill>
              <a:latin typeface="Arial"/>
              <a:ea typeface="Arial"/>
              <a:cs typeface="Arial"/>
              <a:sym typeface="Arial"/>
            </a:endParaRPr>
          </a:p>
        </p:txBody>
      </p:sp>
      <p:cxnSp>
        <p:nvCxnSpPr>
          <p:cNvPr id="1189" name="Google Shape;1189;p42"/>
          <p:cNvCxnSpPr/>
          <p:nvPr/>
        </p:nvCxnSpPr>
        <p:spPr>
          <a:xfrm>
            <a:off x="4937760" y="0"/>
            <a:ext cx="5943600" cy="0"/>
          </a:xfrm>
          <a:prstGeom prst="straightConnector1">
            <a:avLst/>
          </a:prstGeom>
          <a:noFill/>
          <a:ln cap="flat" cmpd="sng" w="19050">
            <a:solidFill>
              <a:srgbClr val="00BFD8"/>
            </a:solidFill>
            <a:prstDash val="solid"/>
            <a:round/>
            <a:headEnd len="med" w="med" type="stealth"/>
            <a:tailEnd len="sm" w="sm" type="none"/>
          </a:ln>
          <a:effectLst>
            <a:outerShdw blurRad="40000" rotWithShape="0" dir="5400000" dist="20000">
              <a:srgbClr val="000000">
                <a:alpha val="38040"/>
              </a:srgbClr>
            </a:outerShdw>
          </a:effectLst>
        </p:spPr>
      </p:cxnSp>
      <p:sp>
        <p:nvSpPr>
          <p:cNvPr id="1190" name="Google Shape;1190;p42"/>
          <p:cNvSpPr txBox="1"/>
          <p:nvPr/>
        </p:nvSpPr>
        <p:spPr>
          <a:xfrm>
            <a:off x="6518140" y="1863501"/>
            <a:ext cx="36576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Candidate chain hypotheses injected into Commander context</a:t>
            </a:r>
            <a:endParaRPr b="0" i="0" sz="1400" u="none" cap="none" strike="noStrike">
              <a:solidFill>
                <a:srgbClr val="000000"/>
              </a:solidFill>
              <a:latin typeface="Arial"/>
              <a:ea typeface="Arial"/>
              <a:cs typeface="Arial"/>
              <a:sym typeface="Arial"/>
            </a:endParaRPr>
          </a:p>
        </p:txBody>
      </p:sp>
      <p:sp>
        <p:nvSpPr>
          <p:cNvPr id="1191" name="Google Shape;1191;p42"/>
          <p:cNvSpPr/>
          <p:nvPr/>
        </p:nvSpPr>
        <p:spPr>
          <a:xfrm>
            <a:off x="274320" y="2212848"/>
            <a:ext cx="5669400" cy="4160400"/>
          </a:xfrm>
          <a:prstGeom prst="rect">
            <a:avLst/>
          </a:prstGeom>
          <a:solidFill>
            <a:srgbClr val="041818"/>
          </a:solidFill>
          <a:ln cap="flat" cmpd="sng" w="19050">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92" name="Google Shape;1192;p42"/>
          <p:cNvSpPr/>
          <p:nvPr/>
        </p:nvSpPr>
        <p:spPr>
          <a:xfrm>
            <a:off x="274320" y="2212848"/>
            <a:ext cx="5669400" cy="365700"/>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93" name="Google Shape;1193;p42"/>
          <p:cNvSpPr txBox="1"/>
          <p:nvPr/>
        </p:nvSpPr>
        <p:spPr>
          <a:xfrm>
            <a:off x="384048" y="2267712"/>
            <a:ext cx="5486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A0D1A"/>
                </a:solidFill>
                <a:latin typeface="Calibri"/>
                <a:ea typeface="Calibri"/>
                <a:cs typeface="Calibri"/>
                <a:sym typeface="Calibri"/>
              </a:rPr>
              <a:t>C10  ·  Cross-Mission Experience Store</a:t>
            </a:r>
            <a:endParaRPr b="0" i="0" sz="1400" u="none" cap="none" strike="noStrike">
              <a:solidFill>
                <a:srgbClr val="000000"/>
              </a:solidFill>
              <a:latin typeface="Arial"/>
              <a:ea typeface="Arial"/>
              <a:cs typeface="Arial"/>
              <a:sym typeface="Arial"/>
            </a:endParaRPr>
          </a:p>
        </p:txBody>
      </p:sp>
      <p:sp>
        <p:nvSpPr>
          <p:cNvPr id="1194" name="Google Shape;1194;p42"/>
          <p:cNvSpPr/>
          <p:nvPr/>
        </p:nvSpPr>
        <p:spPr>
          <a:xfrm>
            <a:off x="384048" y="2670048"/>
            <a:ext cx="5449800" cy="859500"/>
          </a:xfrm>
          <a:prstGeom prst="rect">
            <a:avLst/>
          </a:prstGeom>
          <a:solidFill>
            <a:srgbClr val="062222"/>
          </a:solidFill>
          <a:ln cap="flat" cmpd="sng" w="952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95" name="Google Shape;1195;p42"/>
          <p:cNvSpPr txBox="1"/>
          <p:nvPr/>
        </p:nvSpPr>
        <p:spPr>
          <a:xfrm>
            <a:off x="475488" y="2724912"/>
            <a:ext cx="53217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0BFD8"/>
                </a:solidFill>
                <a:latin typeface="Calibri"/>
                <a:ea typeface="Calibri"/>
                <a:cs typeface="Calibri"/>
                <a:sym typeface="Calibri"/>
              </a:rPr>
              <a:t>What it stores</a:t>
            </a:r>
            <a:endParaRPr b="0" i="0" sz="1400" u="none" cap="none" strike="noStrike">
              <a:solidFill>
                <a:srgbClr val="000000"/>
              </a:solidFill>
              <a:latin typeface="Arial"/>
              <a:ea typeface="Arial"/>
              <a:cs typeface="Arial"/>
              <a:sym typeface="Arial"/>
            </a:endParaRPr>
          </a:p>
        </p:txBody>
      </p:sp>
      <p:sp>
        <p:nvSpPr>
          <p:cNvPr id="1196" name="Google Shape;1196;p42"/>
          <p:cNvSpPr txBox="1"/>
          <p:nvPr/>
        </p:nvSpPr>
        <p:spPr>
          <a:xfrm>
            <a:off x="475488" y="2980944"/>
            <a:ext cx="5321700" cy="384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Per-mission · per-chain raw records of validated exploitation outcomes.</a:t>
            </a:r>
            <a:br>
              <a:rPr b="0" i="0" lang="en-US" sz="950" u="none" cap="none" strike="noStrike">
                <a:solidFill>
                  <a:srgbClr val="A0AAB8"/>
                </a:solidFill>
                <a:latin typeface="Calibri"/>
                <a:ea typeface="Calibri"/>
                <a:cs typeface="Calibri"/>
                <a:sym typeface="Calibri"/>
              </a:rPr>
            </a:br>
            <a:r>
              <a:rPr b="0" i="0" lang="en-US" sz="950" u="none" cap="none" strike="noStrike">
                <a:solidFill>
                  <a:srgbClr val="A0AAB8"/>
                </a:solidFill>
                <a:latin typeface="Calibri"/>
                <a:ea typeface="Calibri"/>
                <a:cs typeface="Calibri"/>
                <a:sym typeface="Calibri"/>
              </a:rPr>
              <a:t>Target technology fingerprint · CVE · successful tool invocation · ChainStep sequence · mission outcome.</a:t>
            </a:r>
            <a:endParaRPr b="0" i="0" sz="1400" u="none" cap="none" strike="noStrike">
              <a:solidFill>
                <a:srgbClr val="000000"/>
              </a:solidFill>
              <a:latin typeface="Arial"/>
              <a:ea typeface="Arial"/>
              <a:cs typeface="Arial"/>
              <a:sym typeface="Arial"/>
            </a:endParaRPr>
          </a:p>
        </p:txBody>
      </p:sp>
      <p:sp>
        <p:nvSpPr>
          <p:cNvPr id="1197" name="Google Shape;1197;p42"/>
          <p:cNvSpPr/>
          <p:nvPr/>
        </p:nvSpPr>
        <p:spPr>
          <a:xfrm>
            <a:off x="384048" y="3566160"/>
            <a:ext cx="5449800" cy="859500"/>
          </a:xfrm>
          <a:prstGeom prst="rect">
            <a:avLst/>
          </a:prstGeom>
          <a:solidFill>
            <a:srgbClr val="062222"/>
          </a:solidFill>
          <a:ln cap="flat" cmpd="sng" w="952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98" name="Google Shape;1198;p42"/>
          <p:cNvSpPr txBox="1"/>
          <p:nvPr/>
        </p:nvSpPr>
        <p:spPr>
          <a:xfrm>
            <a:off x="475488" y="3621024"/>
            <a:ext cx="53217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0BFD8"/>
                </a:solidFill>
                <a:latin typeface="Calibri"/>
                <a:ea typeface="Calibri"/>
                <a:cs typeface="Calibri"/>
                <a:sym typeface="Calibri"/>
              </a:rPr>
              <a:t>When it's written</a:t>
            </a:r>
            <a:endParaRPr b="0" i="0" sz="1400" u="none" cap="none" strike="noStrike">
              <a:solidFill>
                <a:srgbClr val="000000"/>
              </a:solidFill>
              <a:latin typeface="Arial"/>
              <a:ea typeface="Arial"/>
              <a:cs typeface="Arial"/>
              <a:sym typeface="Arial"/>
            </a:endParaRPr>
          </a:p>
        </p:txBody>
      </p:sp>
      <p:sp>
        <p:nvSpPr>
          <p:cNvPr id="1199" name="Google Shape;1199;p42"/>
          <p:cNvSpPr txBox="1"/>
          <p:nvPr/>
        </p:nvSpPr>
        <p:spPr>
          <a:xfrm>
            <a:off x="475488" y="3877056"/>
            <a:ext cx="5321700" cy="238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Report Agent writes one entry for every chain with terminal status VALIDATED at mission close.</a:t>
            </a:r>
            <a:endParaRPr b="0" i="0" sz="1400" u="none" cap="none" strike="noStrike">
              <a:solidFill>
                <a:srgbClr val="000000"/>
              </a:solidFill>
              <a:latin typeface="Arial"/>
              <a:ea typeface="Arial"/>
              <a:cs typeface="Arial"/>
              <a:sym typeface="Arial"/>
            </a:endParaRPr>
          </a:p>
        </p:txBody>
      </p:sp>
      <p:sp>
        <p:nvSpPr>
          <p:cNvPr id="1200" name="Google Shape;1200;p42"/>
          <p:cNvSpPr/>
          <p:nvPr/>
        </p:nvSpPr>
        <p:spPr>
          <a:xfrm>
            <a:off x="384048" y="4462272"/>
            <a:ext cx="5449800" cy="859500"/>
          </a:xfrm>
          <a:prstGeom prst="rect">
            <a:avLst/>
          </a:prstGeom>
          <a:solidFill>
            <a:srgbClr val="062222"/>
          </a:solidFill>
          <a:ln cap="flat" cmpd="sng" w="952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01" name="Google Shape;1201;p42"/>
          <p:cNvSpPr txBox="1"/>
          <p:nvPr/>
        </p:nvSpPr>
        <p:spPr>
          <a:xfrm>
            <a:off x="475488" y="4517136"/>
            <a:ext cx="53217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0BFD8"/>
                </a:solidFill>
                <a:latin typeface="Calibri"/>
                <a:ea typeface="Calibri"/>
                <a:cs typeface="Calibri"/>
                <a:sym typeface="Calibri"/>
              </a:rPr>
              <a:t>When it's read</a:t>
            </a:r>
            <a:endParaRPr b="0" i="0" sz="1400" u="none" cap="none" strike="noStrike">
              <a:solidFill>
                <a:srgbClr val="000000"/>
              </a:solidFill>
              <a:latin typeface="Arial"/>
              <a:ea typeface="Arial"/>
              <a:cs typeface="Arial"/>
              <a:sym typeface="Arial"/>
            </a:endParaRPr>
          </a:p>
        </p:txBody>
      </p:sp>
      <p:sp>
        <p:nvSpPr>
          <p:cNvPr id="1202" name="Google Shape;1202;p42"/>
          <p:cNvSpPr txBox="1"/>
          <p:nvPr/>
        </p:nvSpPr>
        <p:spPr>
          <a:xfrm>
            <a:off x="475488" y="4773168"/>
            <a:ext cx="5321700" cy="384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Commander queries immediately after Recon Agent writes first Technology nodes to ASG — before Analysis begins. Retrieved records become candidate chain hypotheses.</a:t>
            </a:r>
            <a:endParaRPr b="0" i="0" sz="1400" u="none" cap="none" strike="noStrike">
              <a:solidFill>
                <a:srgbClr val="000000"/>
              </a:solidFill>
              <a:latin typeface="Arial"/>
              <a:ea typeface="Arial"/>
              <a:cs typeface="Arial"/>
              <a:sym typeface="Arial"/>
            </a:endParaRPr>
          </a:p>
        </p:txBody>
      </p:sp>
      <p:sp>
        <p:nvSpPr>
          <p:cNvPr id="1203" name="Google Shape;1203;p42"/>
          <p:cNvSpPr/>
          <p:nvPr/>
        </p:nvSpPr>
        <p:spPr>
          <a:xfrm>
            <a:off x="384048" y="5358384"/>
            <a:ext cx="5449800" cy="859500"/>
          </a:xfrm>
          <a:prstGeom prst="rect">
            <a:avLst/>
          </a:prstGeom>
          <a:solidFill>
            <a:srgbClr val="062222"/>
          </a:solidFill>
          <a:ln cap="flat" cmpd="sng" w="952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04" name="Google Shape;1204;p42"/>
          <p:cNvSpPr txBox="1"/>
          <p:nvPr/>
        </p:nvSpPr>
        <p:spPr>
          <a:xfrm>
            <a:off x="475488" y="5413248"/>
            <a:ext cx="53217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0BFD8"/>
                </a:solidFill>
                <a:latin typeface="Calibri"/>
                <a:ea typeface="Calibri"/>
                <a:cs typeface="Calibri"/>
                <a:sym typeface="Calibri"/>
              </a:rPr>
              <a:t>Research origin</a:t>
            </a:r>
            <a:endParaRPr b="0" i="0" sz="1400" u="none" cap="none" strike="noStrike">
              <a:solidFill>
                <a:srgbClr val="000000"/>
              </a:solidFill>
              <a:latin typeface="Arial"/>
              <a:ea typeface="Arial"/>
              <a:cs typeface="Arial"/>
              <a:sym typeface="Arial"/>
            </a:endParaRPr>
          </a:p>
        </p:txBody>
      </p:sp>
      <p:sp>
        <p:nvSpPr>
          <p:cNvPr id="1205" name="Google Shape;1205;p42"/>
          <p:cNvSpPr txBox="1"/>
          <p:nvPr/>
        </p:nvSpPr>
        <p:spPr>
          <a:xfrm>
            <a:off x="475488" y="5669280"/>
            <a:ext cx="5321700" cy="384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Generalizes AutoAttacker's within-mission experience-reuse mechanism to cross-mission scope. AutoAttacker reuses subtasks within one session; CMatrix accumulates across every mission ever run.</a:t>
            </a:r>
            <a:endParaRPr b="0" i="0" sz="1400" u="none" cap="none" strike="noStrike">
              <a:solidFill>
                <a:srgbClr val="000000"/>
              </a:solidFill>
              <a:latin typeface="Arial"/>
              <a:ea typeface="Arial"/>
              <a:cs typeface="Arial"/>
              <a:sym typeface="Arial"/>
            </a:endParaRPr>
          </a:p>
        </p:txBody>
      </p:sp>
      <p:sp>
        <p:nvSpPr>
          <p:cNvPr id="1206" name="Google Shape;1206;p42"/>
          <p:cNvSpPr/>
          <p:nvPr/>
        </p:nvSpPr>
        <p:spPr>
          <a:xfrm>
            <a:off x="6172200" y="2212848"/>
            <a:ext cx="5833800" cy="4160400"/>
          </a:xfrm>
          <a:prstGeom prst="rect">
            <a:avLst/>
          </a:prstGeom>
          <a:solidFill>
            <a:srgbClr val="1C1404"/>
          </a:solidFill>
          <a:ln cap="flat" cmpd="sng" w="190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07" name="Google Shape;1207;p42"/>
          <p:cNvSpPr/>
          <p:nvPr/>
        </p:nvSpPr>
        <p:spPr>
          <a:xfrm>
            <a:off x="6172200" y="2212848"/>
            <a:ext cx="5833800" cy="3657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08" name="Google Shape;1208;p42"/>
          <p:cNvSpPr txBox="1"/>
          <p:nvPr/>
        </p:nvSpPr>
        <p:spPr>
          <a:xfrm>
            <a:off x="6281928" y="2267712"/>
            <a:ext cx="56511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A0D1A"/>
                </a:solidFill>
                <a:latin typeface="Calibri"/>
                <a:ea typeface="Calibri"/>
                <a:cs typeface="Calibri"/>
                <a:sym typeface="Calibri"/>
              </a:rPr>
              <a:t>C11  ·  Attack Strategy Library</a:t>
            </a:r>
            <a:endParaRPr b="0" i="0" sz="1400" u="none" cap="none" strike="noStrike">
              <a:solidFill>
                <a:srgbClr val="000000"/>
              </a:solidFill>
              <a:latin typeface="Arial"/>
              <a:ea typeface="Arial"/>
              <a:cs typeface="Arial"/>
              <a:sym typeface="Arial"/>
            </a:endParaRPr>
          </a:p>
        </p:txBody>
      </p:sp>
      <p:sp>
        <p:nvSpPr>
          <p:cNvPr id="1209" name="Google Shape;1209;p42"/>
          <p:cNvSpPr/>
          <p:nvPr/>
        </p:nvSpPr>
        <p:spPr>
          <a:xfrm>
            <a:off x="6281928" y="2670048"/>
            <a:ext cx="5614500" cy="859500"/>
          </a:xfrm>
          <a:prstGeom prst="rect">
            <a:avLst/>
          </a:prstGeom>
          <a:solidFill>
            <a:srgbClr val="221806"/>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10" name="Google Shape;1210;p42"/>
          <p:cNvSpPr txBox="1"/>
          <p:nvPr/>
        </p:nvSpPr>
        <p:spPr>
          <a:xfrm>
            <a:off x="6373368" y="2724912"/>
            <a:ext cx="54864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D700"/>
                </a:solidFill>
                <a:latin typeface="Calibri"/>
                <a:ea typeface="Calibri"/>
                <a:cs typeface="Calibri"/>
                <a:sym typeface="Calibri"/>
              </a:rPr>
              <a:t>What it stores</a:t>
            </a:r>
            <a:endParaRPr b="0" i="0" sz="1400" u="none" cap="none" strike="noStrike">
              <a:solidFill>
                <a:srgbClr val="000000"/>
              </a:solidFill>
              <a:latin typeface="Arial"/>
              <a:ea typeface="Arial"/>
              <a:cs typeface="Arial"/>
              <a:sym typeface="Arial"/>
            </a:endParaRPr>
          </a:p>
        </p:txBody>
      </p:sp>
      <p:sp>
        <p:nvSpPr>
          <p:cNvPr id="1211" name="Google Shape;1211;p42"/>
          <p:cNvSpPr txBox="1"/>
          <p:nvPr/>
        </p:nvSpPr>
        <p:spPr>
          <a:xfrm>
            <a:off x="6373368" y="2980944"/>
            <a:ext cx="5486400" cy="384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Generalized attack procedures distilled from multiple validated outcomes against the same target technology class. Named strategies (e.g. STRAT-WP-SQLI-001) with confidence scores.</a:t>
            </a:r>
            <a:endParaRPr b="0" i="0" sz="1400" u="none" cap="none" strike="noStrike">
              <a:solidFill>
                <a:srgbClr val="000000"/>
              </a:solidFill>
              <a:latin typeface="Arial"/>
              <a:ea typeface="Arial"/>
              <a:cs typeface="Arial"/>
              <a:sym typeface="Arial"/>
            </a:endParaRPr>
          </a:p>
        </p:txBody>
      </p:sp>
      <p:sp>
        <p:nvSpPr>
          <p:cNvPr id="1212" name="Google Shape;1212;p42"/>
          <p:cNvSpPr/>
          <p:nvPr/>
        </p:nvSpPr>
        <p:spPr>
          <a:xfrm>
            <a:off x="6281928" y="3566160"/>
            <a:ext cx="5614500" cy="859500"/>
          </a:xfrm>
          <a:prstGeom prst="rect">
            <a:avLst/>
          </a:prstGeom>
          <a:solidFill>
            <a:srgbClr val="221806"/>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13" name="Google Shape;1213;p42"/>
          <p:cNvSpPr txBox="1"/>
          <p:nvPr/>
        </p:nvSpPr>
        <p:spPr>
          <a:xfrm>
            <a:off x="6373368" y="3621024"/>
            <a:ext cx="54864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D700"/>
                </a:solidFill>
                <a:latin typeface="Calibri"/>
                <a:ea typeface="Calibri"/>
                <a:cs typeface="Calibri"/>
                <a:sym typeface="Calibri"/>
              </a:rPr>
              <a:t>Crystallization threshold</a:t>
            </a:r>
            <a:endParaRPr b="0" i="0" sz="1400" u="none" cap="none" strike="noStrike">
              <a:solidFill>
                <a:srgbClr val="000000"/>
              </a:solidFill>
              <a:latin typeface="Arial"/>
              <a:ea typeface="Arial"/>
              <a:cs typeface="Arial"/>
              <a:sym typeface="Arial"/>
            </a:endParaRPr>
          </a:p>
        </p:txBody>
      </p:sp>
      <p:sp>
        <p:nvSpPr>
          <p:cNvPr id="1214" name="Google Shape;1214;p42"/>
          <p:cNvSpPr txBox="1"/>
          <p:nvPr/>
        </p:nvSpPr>
        <p:spPr>
          <a:xfrm>
            <a:off x="6373368" y="3877056"/>
            <a:ext cx="5486400" cy="384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Same technology fingerprint (e.g. WordPress 5.x + WooCommerce + Nginx) produces validated AttackChain in 2 or more independent missions → Commander triggers crystallization.</a:t>
            </a:r>
            <a:endParaRPr b="0" i="0" sz="1400" u="none" cap="none" strike="noStrike">
              <a:solidFill>
                <a:srgbClr val="000000"/>
              </a:solidFill>
              <a:latin typeface="Arial"/>
              <a:ea typeface="Arial"/>
              <a:cs typeface="Arial"/>
              <a:sym typeface="Arial"/>
            </a:endParaRPr>
          </a:p>
        </p:txBody>
      </p:sp>
      <p:sp>
        <p:nvSpPr>
          <p:cNvPr id="1215" name="Google Shape;1215;p42"/>
          <p:cNvSpPr/>
          <p:nvPr/>
        </p:nvSpPr>
        <p:spPr>
          <a:xfrm>
            <a:off x="6281928" y="4462272"/>
            <a:ext cx="5614500" cy="859500"/>
          </a:xfrm>
          <a:prstGeom prst="rect">
            <a:avLst/>
          </a:prstGeom>
          <a:solidFill>
            <a:srgbClr val="221806"/>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16" name="Google Shape;1216;p42"/>
          <p:cNvSpPr txBox="1"/>
          <p:nvPr/>
        </p:nvSpPr>
        <p:spPr>
          <a:xfrm>
            <a:off x="6373368" y="4517136"/>
            <a:ext cx="54864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D700"/>
                </a:solidFill>
                <a:latin typeface="Calibri"/>
                <a:ea typeface="Calibri"/>
                <a:cs typeface="Calibri"/>
                <a:sym typeface="Calibri"/>
              </a:rPr>
              <a:t>When it's used</a:t>
            </a:r>
            <a:endParaRPr b="0" i="0" sz="1400" u="none" cap="none" strike="noStrike">
              <a:solidFill>
                <a:srgbClr val="000000"/>
              </a:solidFill>
              <a:latin typeface="Arial"/>
              <a:ea typeface="Arial"/>
              <a:cs typeface="Arial"/>
              <a:sym typeface="Arial"/>
            </a:endParaRPr>
          </a:p>
        </p:txBody>
      </p:sp>
      <p:sp>
        <p:nvSpPr>
          <p:cNvPr id="1217" name="Google Shape;1217;p42"/>
          <p:cNvSpPr txBox="1"/>
          <p:nvPr/>
        </p:nvSpPr>
        <p:spPr>
          <a:xfrm>
            <a:off x="6373368" y="4773168"/>
            <a:ext cx="5486400" cy="384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Retrieved at mission start. Strategies are injected as pre-ranked APG AttackChain seeds — prioritized above zero-prior chains because they carry validated track record.</a:t>
            </a:r>
            <a:endParaRPr b="0" i="0" sz="1400" u="none" cap="none" strike="noStrike">
              <a:solidFill>
                <a:srgbClr val="000000"/>
              </a:solidFill>
              <a:latin typeface="Arial"/>
              <a:ea typeface="Arial"/>
              <a:cs typeface="Arial"/>
              <a:sym typeface="Arial"/>
            </a:endParaRPr>
          </a:p>
        </p:txBody>
      </p:sp>
      <p:sp>
        <p:nvSpPr>
          <p:cNvPr id="1218" name="Google Shape;1218;p42"/>
          <p:cNvSpPr/>
          <p:nvPr/>
        </p:nvSpPr>
        <p:spPr>
          <a:xfrm>
            <a:off x="6281928" y="5358384"/>
            <a:ext cx="5614500" cy="859500"/>
          </a:xfrm>
          <a:prstGeom prst="rect">
            <a:avLst/>
          </a:prstGeom>
          <a:solidFill>
            <a:srgbClr val="221806"/>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19" name="Google Shape;1219;p42"/>
          <p:cNvSpPr txBox="1"/>
          <p:nvPr/>
        </p:nvSpPr>
        <p:spPr>
          <a:xfrm>
            <a:off x="6373368" y="5413248"/>
            <a:ext cx="54864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D700"/>
                </a:solidFill>
                <a:latin typeface="Calibri"/>
                <a:ea typeface="Calibri"/>
                <a:cs typeface="Calibri"/>
                <a:sym typeface="Calibri"/>
              </a:rPr>
              <a:t>Why it matters</a:t>
            </a:r>
            <a:endParaRPr b="0" i="0" sz="1400" u="none" cap="none" strike="noStrike">
              <a:solidFill>
                <a:srgbClr val="000000"/>
              </a:solidFill>
              <a:latin typeface="Arial"/>
              <a:ea typeface="Arial"/>
              <a:cs typeface="Arial"/>
              <a:sym typeface="Arial"/>
            </a:endParaRPr>
          </a:p>
        </p:txBody>
      </p:sp>
      <p:sp>
        <p:nvSpPr>
          <p:cNvPr id="1220" name="Google Shape;1220;p42"/>
          <p:cNvSpPr txBox="1"/>
          <p:nvPr/>
        </p:nvSpPr>
        <p:spPr>
          <a:xfrm>
            <a:off x="6373368" y="5669280"/>
            <a:ext cx="5486400" cy="5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50"/>
              <a:buFont typeface="Arial"/>
              <a:buNone/>
            </a:pPr>
            <a:r>
              <a:rPr b="0" i="0" lang="en-US" sz="950" u="none" cap="none" strike="noStrike">
                <a:solidFill>
                  <a:srgbClr val="A0AAB8"/>
                </a:solidFill>
                <a:latin typeface="Calibri"/>
                <a:ea typeface="Calibri"/>
                <a:cs typeface="Calibri"/>
                <a:sym typeface="Calibri"/>
              </a:rPr>
              <a:t>No existing autonomous VAPT system accumulates and generalizes validated exploitation procedures across sessions. Every prior system resets to zero knowledge on each mission. CMatrix's library makes it measurably more efficient on repeat target-type engagements.</a:t>
            </a:r>
            <a:endParaRPr b="0" i="0" sz="1400" u="none" cap="none" strike="noStrike">
              <a:solidFill>
                <a:srgbClr val="000000"/>
              </a:solidFill>
              <a:latin typeface="Arial"/>
              <a:ea typeface="Arial"/>
              <a:cs typeface="Arial"/>
              <a:sym typeface="Arial"/>
            </a:endParaRPr>
          </a:p>
        </p:txBody>
      </p:sp>
      <p:sp>
        <p:nvSpPr>
          <p:cNvPr id="1221" name="Google Shape;1221;p42"/>
          <p:cNvSpPr txBox="1"/>
          <p:nvPr/>
        </p:nvSpPr>
        <p:spPr>
          <a:xfrm>
            <a:off x="11585450" y="73150"/>
            <a:ext cx="4389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i="0" lang="en-US" sz="1300" u="none" cap="none" strike="noStrike">
                <a:solidFill>
                  <a:srgbClr val="00BFD8"/>
                </a:solidFill>
                <a:latin typeface="Calibri"/>
                <a:ea typeface="Calibri"/>
                <a:cs typeface="Calibri"/>
                <a:sym typeface="Calibri"/>
              </a:rPr>
              <a:t>1</a:t>
            </a:r>
            <a:r>
              <a:rPr b="1" lang="en-US" sz="1300">
                <a:solidFill>
                  <a:srgbClr val="00BFD8"/>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1225" name="Shape 1225"/>
        <p:cNvGrpSpPr/>
        <p:nvPr/>
      </p:nvGrpSpPr>
      <p:grpSpPr>
        <a:xfrm>
          <a:off x="0" y="0"/>
          <a:ext cx="0" cy="0"/>
          <a:chOff x="0" y="0"/>
          <a:chExt cx="0" cy="0"/>
        </a:xfrm>
      </p:grpSpPr>
      <p:sp>
        <p:nvSpPr>
          <p:cNvPr id="1226" name="Google Shape;1226;p43"/>
          <p:cNvSpPr/>
          <p:nvPr/>
        </p:nvSpPr>
        <p:spPr>
          <a:xfrm>
            <a:off x="0" y="0"/>
            <a:ext cx="54900" cy="68580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27" name="Google Shape;1227;p43"/>
          <p:cNvSpPr/>
          <p:nvPr/>
        </p:nvSpPr>
        <p:spPr>
          <a:xfrm>
            <a:off x="54864" y="0"/>
            <a:ext cx="12136800" cy="366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28" name="Google Shape;1228;p43"/>
          <p:cNvSpPr/>
          <p:nvPr/>
        </p:nvSpPr>
        <p:spPr>
          <a:xfrm>
            <a:off x="54864" y="6821424"/>
            <a:ext cx="12136800" cy="366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29" name="Google Shape;1229;p43"/>
          <p:cNvSpPr txBox="1"/>
          <p:nvPr/>
        </p:nvSpPr>
        <p:spPr>
          <a:xfrm>
            <a:off x="274320" y="64008"/>
            <a:ext cx="45720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D700"/>
                </a:solidFill>
                <a:latin typeface="Calibri"/>
                <a:ea typeface="Calibri"/>
                <a:cs typeface="Calibri"/>
                <a:sym typeface="Calibri"/>
              </a:rPr>
              <a:t>REAL-WORLD SCENARIO</a:t>
            </a:r>
            <a:endParaRPr b="0" i="0" sz="1400" u="none" cap="none" strike="noStrike">
              <a:solidFill>
                <a:srgbClr val="000000"/>
              </a:solidFill>
              <a:latin typeface="Arial"/>
              <a:ea typeface="Arial"/>
              <a:cs typeface="Arial"/>
              <a:sym typeface="Arial"/>
            </a:endParaRPr>
          </a:p>
        </p:txBody>
      </p:sp>
      <p:sp>
        <p:nvSpPr>
          <p:cNvPr id="1230" name="Google Shape;1230;p43"/>
          <p:cNvSpPr txBox="1"/>
          <p:nvPr/>
        </p:nvSpPr>
        <p:spPr>
          <a:xfrm>
            <a:off x="274320" y="283464"/>
            <a:ext cx="114300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Calibri"/>
                <a:ea typeface="Calibri"/>
                <a:cs typeface="Calibri"/>
                <a:sym typeface="Calibri"/>
              </a:rPr>
              <a:t>Mission: shopvault.io — Black-Box Assessment — Zero Manual Commands</a:t>
            </a:r>
            <a:endParaRPr b="0" i="0" sz="1400" u="none" cap="none" strike="noStrike">
              <a:solidFill>
                <a:srgbClr val="000000"/>
              </a:solidFill>
              <a:latin typeface="Arial"/>
              <a:ea typeface="Arial"/>
              <a:cs typeface="Arial"/>
              <a:sym typeface="Arial"/>
            </a:endParaRPr>
          </a:p>
        </p:txBody>
      </p:sp>
      <p:sp>
        <p:nvSpPr>
          <p:cNvPr id="1231" name="Google Shape;1231;p43"/>
          <p:cNvSpPr/>
          <p:nvPr/>
        </p:nvSpPr>
        <p:spPr>
          <a:xfrm>
            <a:off x="164592" y="768096"/>
            <a:ext cx="11862600" cy="347400"/>
          </a:xfrm>
          <a:prstGeom prst="rect">
            <a:avLst/>
          </a:prstGeom>
          <a:solidFill>
            <a:srgbClr val="101004"/>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32" name="Google Shape;1232;p43"/>
          <p:cNvSpPr txBox="1"/>
          <p:nvPr/>
        </p:nvSpPr>
        <p:spPr>
          <a:xfrm>
            <a:off x="320040" y="822960"/>
            <a:ext cx="115974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1" lang="en-US" sz="900" u="none" cap="none" strike="noStrike">
                <a:solidFill>
                  <a:srgbClr val="FFD700"/>
                </a:solidFill>
                <a:latin typeface="Calibri"/>
                <a:ea typeface="Calibri"/>
                <a:cs typeface="Calibri"/>
                <a:sym typeface="Calibri"/>
              </a:rPr>
              <a:t>Scope: all subdomains · web applications · REST APIs of shopvault.io  ·  Mode: Black-Box (zero prior knowledge)  ·  Operator configures root domain + scope → presses start.</a:t>
            </a:r>
            <a:endParaRPr b="0" i="0" sz="1400" u="none" cap="none" strike="noStrike">
              <a:solidFill>
                <a:srgbClr val="000000"/>
              </a:solidFill>
              <a:latin typeface="Arial"/>
              <a:ea typeface="Arial"/>
              <a:cs typeface="Arial"/>
              <a:sym typeface="Arial"/>
            </a:endParaRPr>
          </a:p>
        </p:txBody>
      </p:sp>
      <p:sp>
        <p:nvSpPr>
          <p:cNvPr id="1233" name="Google Shape;1233;p43"/>
          <p:cNvSpPr/>
          <p:nvPr/>
        </p:nvSpPr>
        <p:spPr>
          <a:xfrm>
            <a:off x="164592" y="1188720"/>
            <a:ext cx="2395800" cy="5010900"/>
          </a:xfrm>
          <a:prstGeom prst="rect">
            <a:avLst/>
          </a:prstGeom>
          <a:solidFill>
            <a:srgbClr val="041408"/>
          </a:solidFill>
          <a:ln cap="flat" cmpd="sng" w="152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34" name="Google Shape;1234;p43"/>
          <p:cNvSpPr/>
          <p:nvPr/>
        </p:nvSpPr>
        <p:spPr>
          <a:xfrm>
            <a:off x="164592" y="1188720"/>
            <a:ext cx="2395800" cy="457200"/>
          </a:xfrm>
          <a:prstGeom prst="rect">
            <a:avLst/>
          </a:prstGeom>
          <a:solidFill>
            <a:srgbClr val="08101C"/>
          </a:solidFill>
          <a:ln cap="flat" cmpd="sng" w="152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35" name="Google Shape;1235;p43"/>
          <p:cNvSpPr txBox="1"/>
          <p:nvPr/>
        </p:nvSpPr>
        <p:spPr>
          <a:xfrm>
            <a:off x="237744" y="1243584"/>
            <a:ext cx="22860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39FF14"/>
                </a:solidFill>
                <a:latin typeface="Calibri"/>
                <a:ea typeface="Calibri"/>
                <a:cs typeface="Calibri"/>
                <a:sym typeface="Calibri"/>
              </a:rPr>
              <a:t>PHASE 1</a:t>
            </a:r>
            <a:br>
              <a:rPr b="1" i="0" lang="en-US" sz="1000" u="none" cap="none" strike="noStrike">
                <a:solidFill>
                  <a:srgbClr val="39FF14"/>
                </a:solidFill>
                <a:latin typeface="Calibri"/>
                <a:ea typeface="Calibri"/>
                <a:cs typeface="Calibri"/>
                <a:sym typeface="Calibri"/>
              </a:rPr>
            </a:br>
            <a:r>
              <a:rPr b="1" i="0" lang="en-US" sz="1000" u="none" cap="none" strike="noStrike">
                <a:solidFill>
                  <a:srgbClr val="39FF14"/>
                </a:solidFill>
                <a:latin typeface="Calibri"/>
                <a:ea typeface="Calibri"/>
                <a:cs typeface="Calibri"/>
                <a:sym typeface="Calibri"/>
              </a:rPr>
              <a:t>Reconnaissance</a:t>
            </a:r>
            <a:endParaRPr b="0" i="0" sz="1400" u="none" cap="none" strike="noStrike">
              <a:solidFill>
                <a:srgbClr val="000000"/>
              </a:solidFill>
              <a:latin typeface="Arial"/>
              <a:ea typeface="Arial"/>
              <a:cs typeface="Arial"/>
              <a:sym typeface="Arial"/>
            </a:endParaRPr>
          </a:p>
        </p:txBody>
      </p:sp>
      <p:sp>
        <p:nvSpPr>
          <p:cNvPr id="1236" name="Google Shape;1236;p43"/>
          <p:cNvSpPr txBox="1"/>
          <p:nvPr/>
        </p:nvSpPr>
        <p:spPr>
          <a:xfrm>
            <a:off x="237744" y="1700784"/>
            <a:ext cx="22860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39FF14"/>
                </a:solidFill>
                <a:latin typeface="Calibri"/>
                <a:ea typeface="Calibri"/>
                <a:cs typeface="Calibri"/>
                <a:sym typeface="Calibri"/>
              </a:rPr>
              <a:t>🕵️ Recon Agent</a:t>
            </a:r>
            <a:endParaRPr b="0" i="0" sz="1400" u="none" cap="none" strike="noStrike">
              <a:solidFill>
                <a:srgbClr val="000000"/>
              </a:solidFill>
              <a:latin typeface="Arial"/>
              <a:ea typeface="Arial"/>
              <a:cs typeface="Arial"/>
              <a:sym typeface="Arial"/>
            </a:endParaRPr>
          </a:p>
        </p:txBody>
      </p:sp>
      <p:sp>
        <p:nvSpPr>
          <p:cNvPr id="1237" name="Google Shape;1237;p43"/>
          <p:cNvSpPr/>
          <p:nvPr/>
        </p:nvSpPr>
        <p:spPr>
          <a:xfrm>
            <a:off x="237744" y="1920240"/>
            <a:ext cx="2249400" cy="183000"/>
          </a:xfrm>
          <a:prstGeom prst="rect">
            <a:avLst/>
          </a:prstGeom>
          <a:solidFill>
            <a:srgbClr val="081022"/>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38" name="Google Shape;1238;p43"/>
          <p:cNvSpPr txBox="1"/>
          <p:nvPr/>
        </p:nvSpPr>
        <p:spPr>
          <a:xfrm>
            <a:off x="274320" y="1929384"/>
            <a:ext cx="22128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39FF14"/>
                </a:solidFill>
                <a:latin typeface="Calibri"/>
                <a:ea typeface="Calibri"/>
                <a:cs typeface="Calibri"/>
                <a:sym typeface="Calibri"/>
              </a:rPr>
              <a:t>Amass  ·  httpx  ·  Nmap</a:t>
            </a:r>
            <a:endParaRPr b="0" i="0" sz="1400" u="none" cap="none" strike="noStrike">
              <a:solidFill>
                <a:srgbClr val="000000"/>
              </a:solidFill>
              <a:latin typeface="Arial"/>
              <a:ea typeface="Arial"/>
              <a:cs typeface="Arial"/>
              <a:sym typeface="Arial"/>
            </a:endParaRPr>
          </a:p>
        </p:txBody>
      </p:sp>
      <p:sp>
        <p:nvSpPr>
          <p:cNvPr id="1239" name="Google Shape;1239;p43"/>
          <p:cNvSpPr/>
          <p:nvPr/>
        </p:nvSpPr>
        <p:spPr>
          <a:xfrm>
            <a:off x="237744" y="2157984"/>
            <a:ext cx="2249400" cy="1127700"/>
          </a:xfrm>
          <a:prstGeom prst="rect">
            <a:avLst/>
          </a:prstGeom>
          <a:solidFill>
            <a:srgbClr val="080E1C"/>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40" name="Google Shape;1240;p43"/>
          <p:cNvSpPr/>
          <p:nvPr/>
        </p:nvSpPr>
        <p:spPr>
          <a:xfrm>
            <a:off x="237744" y="2157984"/>
            <a:ext cx="45600" cy="11277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41" name="Google Shape;1241;p43"/>
          <p:cNvSpPr txBox="1"/>
          <p:nvPr/>
        </p:nvSpPr>
        <p:spPr>
          <a:xfrm>
            <a:off x="310896" y="2194560"/>
            <a:ext cx="21213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Amass</a:t>
            </a:r>
            <a:endParaRPr b="0" i="0" sz="1400" u="none" cap="none" strike="noStrike">
              <a:solidFill>
                <a:srgbClr val="000000"/>
              </a:solidFill>
              <a:latin typeface="Arial"/>
              <a:ea typeface="Arial"/>
              <a:cs typeface="Arial"/>
              <a:sym typeface="Arial"/>
            </a:endParaRPr>
          </a:p>
        </p:txBody>
      </p:sp>
      <p:sp>
        <p:nvSpPr>
          <p:cNvPr id="1242" name="Google Shape;1242;p43"/>
          <p:cNvSpPr txBox="1"/>
          <p:nvPr/>
        </p:nvSpPr>
        <p:spPr>
          <a:xfrm>
            <a:off x="310896" y="2432304"/>
            <a:ext cx="21213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14 subdomains discovered</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api · admin · staging · pay · ...</a:t>
            </a:r>
            <a:endParaRPr b="0" i="0" sz="1400" u="none" cap="none" strike="noStrike">
              <a:solidFill>
                <a:srgbClr val="000000"/>
              </a:solidFill>
              <a:latin typeface="Arial"/>
              <a:ea typeface="Arial"/>
              <a:cs typeface="Arial"/>
              <a:sym typeface="Arial"/>
            </a:endParaRPr>
          </a:p>
        </p:txBody>
      </p:sp>
      <p:sp>
        <p:nvSpPr>
          <p:cNvPr id="1243" name="Google Shape;1243;p43"/>
          <p:cNvSpPr/>
          <p:nvPr/>
        </p:nvSpPr>
        <p:spPr>
          <a:xfrm>
            <a:off x="237744" y="3340608"/>
            <a:ext cx="2249400" cy="1127700"/>
          </a:xfrm>
          <a:prstGeom prst="rect">
            <a:avLst/>
          </a:prstGeom>
          <a:solidFill>
            <a:srgbClr val="080E1C"/>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44" name="Google Shape;1244;p43"/>
          <p:cNvSpPr/>
          <p:nvPr/>
        </p:nvSpPr>
        <p:spPr>
          <a:xfrm>
            <a:off x="237744" y="3340608"/>
            <a:ext cx="45600" cy="11277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45" name="Google Shape;1245;p43"/>
          <p:cNvSpPr txBox="1"/>
          <p:nvPr/>
        </p:nvSpPr>
        <p:spPr>
          <a:xfrm>
            <a:off x="310896" y="3377184"/>
            <a:ext cx="21213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httpx</a:t>
            </a:r>
            <a:endParaRPr b="0" i="0" sz="1400" u="none" cap="none" strike="noStrike">
              <a:solidFill>
                <a:srgbClr val="000000"/>
              </a:solidFill>
              <a:latin typeface="Arial"/>
              <a:ea typeface="Arial"/>
              <a:cs typeface="Arial"/>
              <a:sym typeface="Arial"/>
            </a:endParaRPr>
          </a:p>
        </p:txBody>
      </p:sp>
      <p:sp>
        <p:nvSpPr>
          <p:cNvPr id="1246" name="Google Shape;1246;p43"/>
          <p:cNvSpPr txBox="1"/>
          <p:nvPr/>
        </p:nvSpPr>
        <p:spPr>
          <a:xfrm>
            <a:off x="310896" y="3614928"/>
            <a:ext cx="21213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11 live hosts confirmed</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staging returns unexpected 200</a:t>
            </a:r>
            <a:endParaRPr b="0" i="0" sz="1400" u="none" cap="none" strike="noStrike">
              <a:solidFill>
                <a:srgbClr val="000000"/>
              </a:solidFill>
              <a:latin typeface="Arial"/>
              <a:ea typeface="Arial"/>
              <a:cs typeface="Arial"/>
              <a:sym typeface="Arial"/>
            </a:endParaRPr>
          </a:p>
        </p:txBody>
      </p:sp>
      <p:sp>
        <p:nvSpPr>
          <p:cNvPr id="1247" name="Google Shape;1247;p43"/>
          <p:cNvSpPr/>
          <p:nvPr/>
        </p:nvSpPr>
        <p:spPr>
          <a:xfrm>
            <a:off x="237744" y="4523232"/>
            <a:ext cx="2249400" cy="1127700"/>
          </a:xfrm>
          <a:prstGeom prst="rect">
            <a:avLst/>
          </a:prstGeom>
          <a:solidFill>
            <a:srgbClr val="080E1C"/>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48" name="Google Shape;1248;p43"/>
          <p:cNvSpPr/>
          <p:nvPr/>
        </p:nvSpPr>
        <p:spPr>
          <a:xfrm>
            <a:off x="237744" y="4523232"/>
            <a:ext cx="45600" cy="11277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49" name="Google Shape;1249;p43"/>
          <p:cNvSpPr txBox="1"/>
          <p:nvPr/>
        </p:nvSpPr>
        <p:spPr>
          <a:xfrm>
            <a:off x="310896" y="4559808"/>
            <a:ext cx="21213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Nmap</a:t>
            </a:r>
            <a:endParaRPr b="0" i="0" sz="1400" u="none" cap="none" strike="noStrike">
              <a:solidFill>
                <a:srgbClr val="000000"/>
              </a:solidFill>
              <a:latin typeface="Arial"/>
              <a:ea typeface="Arial"/>
              <a:cs typeface="Arial"/>
              <a:sym typeface="Arial"/>
            </a:endParaRPr>
          </a:p>
        </p:txBody>
      </p:sp>
      <p:sp>
        <p:nvSpPr>
          <p:cNvPr id="1250" name="Google Shape;1250;p43"/>
          <p:cNvSpPr txBox="1"/>
          <p:nvPr/>
        </p:nvSpPr>
        <p:spPr>
          <a:xfrm>
            <a:off x="310896" y="4797552"/>
            <a:ext cx="21213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Ports 80, 443, 8080, 8443 open</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pay.shopvault.io: expired TLS</a:t>
            </a:r>
            <a:endParaRPr b="0" i="0" sz="1400" u="none" cap="none" strike="noStrike">
              <a:solidFill>
                <a:srgbClr val="000000"/>
              </a:solidFill>
              <a:latin typeface="Arial"/>
              <a:ea typeface="Arial"/>
              <a:cs typeface="Arial"/>
              <a:sym typeface="Arial"/>
            </a:endParaRPr>
          </a:p>
        </p:txBody>
      </p:sp>
      <p:sp>
        <p:nvSpPr>
          <p:cNvPr id="1251" name="Google Shape;1251;p43"/>
          <p:cNvSpPr/>
          <p:nvPr/>
        </p:nvSpPr>
        <p:spPr>
          <a:xfrm>
            <a:off x="164592" y="5797296"/>
            <a:ext cx="2395800" cy="402300"/>
          </a:xfrm>
          <a:prstGeom prst="rect">
            <a:avLst/>
          </a:prstGeom>
          <a:solidFill>
            <a:srgbClr val="060C18"/>
          </a:solidFill>
          <a:ln cap="flat" cmpd="sng" w="1015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52" name="Google Shape;1252;p43"/>
          <p:cNvSpPr txBox="1"/>
          <p:nvPr/>
        </p:nvSpPr>
        <p:spPr>
          <a:xfrm>
            <a:off x="256032" y="5852160"/>
            <a:ext cx="22587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39FF14"/>
                </a:solidFill>
                <a:latin typeface="Calibri"/>
                <a:ea typeface="Calibri"/>
                <a:cs typeface="Calibri"/>
                <a:sym typeface="Calibri"/>
              </a:rPr>
              <a:t>ASG ← 37 new nodes</a:t>
            </a:r>
            <a:endParaRPr b="0" i="0" sz="1400" u="none" cap="none" strike="noStrike">
              <a:solidFill>
                <a:srgbClr val="000000"/>
              </a:solidFill>
              <a:latin typeface="Arial"/>
              <a:ea typeface="Arial"/>
              <a:cs typeface="Arial"/>
              <a:sym typeface="Arial"/>
            </a:endParaRPr>
          </a:p>
        </p:txBody>
      </p:sp>
      <p:cxnSp>
        <p:nvCxnSpPr>
          <p:cNvPr id="1253" name="Google Shape;1253;p43"/>
          <p:cNvCxnSpPr/>
          <p:nvPr/>
        </p:nvCxnSpPr>
        <p:spPr>
          <a:xfrm>
            <a:off x="2560320" y="1417320"/>
            <a:ext cx="54900" cy="0"/>
          </a:xfrm>
          <a:prstGeom prst="straightConnector1">
            <a:avLst/>
          </a:prstGeom>
          <a:noFill/>
          <a:ln cap="flat" cmpd="sng" w="22850">
            <a:solidFill>
              <a:srgbClr val="00E5FF"/>
            </a:solidFill>
            <a:prstDash val="solid"/>
            <a:round/>
            <a:headEnd len="med" w="med" type="stealth"/>
            <a:tailEnd len="sm" w="sm" type="none"/>
          </a:ln>
          <a:effectLst>
            <a:outerShdw blurRad="40000" rotWithShape="0" dir="5400000" dist="20000">
              <a:srgbClr val="000000">
                <a:alpha val="38040"/>
              </a:srgbClr>
            </a:outerShdw>
          </a:effectLst>
        </p:spPr>
      </p:cxnSp>
      <p:sp>
        <p:nvSpPr>
          <p:cNvPr id="1254" name="Google Shape;1254;p43"/>
          <p:cNvSpPr/>
          <p:nvPr/>
        </p:nvSpPr>
        <p:spPr>
          <a:xfrm>
            <a:off x="2615184" y="1188720"/>
            <a:ext cx="3474600" cy="5010900"/>
          </a:xfrm>
          <a:prstGeom prst="rect">
            <a:avLst/>
          </a:prstGeom>
          <a:solidFill>
            <a:srgbClr val="041018"/>
          </a:solidFill>
          <a:ln cap="flat" cmpd="sng" w="152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55" name="Google Shape;1255;p43"/>
          <p:cNvSpPr/>
          <p:nvPr/>
        </p:nvSpPr>
        <p:spPr>
          <a:xfrm>
            <a:off x="2615184" y="1188720"/>
            <a:ext cx="3474600" cy="457200"/>
          </a:xfrm>
          <a:prstGeom prst="rect">
            <a:avLst/>
          </a:prstGeom>
          <a:solidFill>
            <a:srgbClr val="08101C"/>
          </a:solidFill>
          <a:ln cap="flat" cmpd="sng" w="152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56" name="Google Shape;1256;p43"/>
          <p:cNvSpPr txBox="1"/>
          <p:nvPr/>
        </p:nvSpPr>
        <p:spPr>
          <a:xfrm>
            <a:off x="2688336" y="1243584"/>
            <a:ext cx="33651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00E5FF"/>
                </a:solidFill>
                <a:latin typeface="Calibri"/>
                <a:ea typeface="Calibri"/>
                <a:cs typeface="Calibri"/>
                <a:sym typeface="Calibri"/>
              </a:rPr>
              <a:t>PHASE 2</a:t>
            </a:r>
            <a:br>
              <a:rPr b="1" i="0" lang="en-US" sz="1000" u="none" cap="none" strike="noStrike">
                <a:solidFill>
                  <a:srgbClr val="00E5FF"/>
                </a:solidFill>
                <a:latin typeface="Calibri"/>
                <a:ea typeface="Calibri"/>
                <a:cs typeface="Calibri"/>
                <a:sym typeface="Calibri"/>
              </a:rPr>
            </a:br>
            <a:r>
              <a:rPr b="1" i="0" lang="en-US" sz="1000" u="none" cap="none" strike="noStrike">
                <a:solidFill>
                  <a:srgbClr val="00E5FF"/>
                </a:solidFill>
                <a:latin typeface="Calibri"/>
                <a:ea typeface="Calibri"/>
                <a:cs typeface="Calibri"/>
                <a:sym typeface="Calibri"/>
              </a:rPr>
              <a:t>Analysis + Intel</a:t>
            </a:r>
            <a:endParaRPr b="0" i="0" sz="1400" u="none" cap="none" strike="noStrike">
              <a:solidFill>
                <a:srgbClr val="000000"/>
              </a:solidFill>
              <a:latin typeface="Arial"/>
              <a:ea typeface="Arial"/>
              <a:cs typeface="Arial"/>
              <a:sym typeface="Arial"/>
            </a:endParaRPr>
          </a:p>
        </p:txBody>
      </p:sp>
      <p:sp>
        <p:nvSpPr>
          <p:cNvPr id="1257" name="Google Shape;1257;p43"/>
          <p:cNvSpPr txBox="1"/>
          <p:nvPr/>
        </p:nvSpPr>
        <p:spPr>
          <a:xfrm>
            <a:off x="2688336" y="1700784"/>
            <a:ext cx="33651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00E5FF"/>
                </a:solidFill>
                <a:latin typeface="Calibri"/>
                <a:ea typeface="Calibri"/>
                <a:cs typeface="Calibri"/>
                <a:sym typeface="Calibri"/>
              </a:rPr>
              <a:t>🔬 Analysis + 🔍 Research</a:t>
            </a:r>
            <a:endParaRPr b="0" i="0" sz="1400" u="none" cap="none" strike="noStrike">
              <a:solidFill>
                <a:srgbClr val="000000"/>
              </a:solidFill>
              <a:latin typeface="Arial"/>
              <a:ea typeface="Arial"/>
              <a:cs typeface="Arial"/>
              <a:sym typeface="Arial"/>
            </a:endParaRPr>
          </a:p>
        </p:txBody>
      </p:sp>
      <p:sp>
        <p:nvSpPr>
          <p:cNvPr id="1258" name="Google Shape;1258;p43"/>
          <p:cNvSpPr/>
          <p:nvPr/>
        </p:nvSpPr>
        <p:spPr>
          <a:xfrm>
            <a:off x="2688336" y="1920240"/>
            <a:ext cx="3328500" cy="183000"/>
          </a:xfrm>
          <a:prstGeom prst="rect">
            <a:avLst/>
          </a:prstGeom>
          <a:solidFill>
            <a:srgbClr val="081022"/>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59" name="Google Shape;1259;p43"/>
          <p:cNvSpPr txBox="1"/>
          <p:nvPr/>
        </p:nvSpPr>
        <p:spPr>
          <a:xfrm>
            <a:off x="2724912" y="1929384"/>
            <a:ext cx="32919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00E5FF"/>
                </a:solidFill>
                <a:latin typeface="Calibri"/>
                <a:ea typeface="Calibri"/>
                <a:cs typeface="Calibri"/>
                <a:sym typeface="Calibri"/>
              </a:rPr>
              <a:t>WhatWeb  ·  Gobuster  ·  ffuf  ·  Nuclei  ·  ZAP</a:t>
            </a:r>
            <a:endParaRPr b="0" i="0" sz="1400" u="none" cap="none" strike="noStrike">
              <a:solidFill>
                <a:srgbClr val="000000"/>
              </a:solidFill>
              <a:latin typeface="Arial"/>
              <a:ea typeface="Arial"/>
              <a:cs typeface="Arial"/>
              <a:sym typeface="Arial"/>
            </a:endParaRPr>
          </a:p>
        </p:txBody>
      </p:sp>
      <p:sp>
        <p:nvSpPr>
          <p:cNvPr id="1260" name="Google Shape;1260;p43"/>
          <p:cNvSpPr/>
          <p:nvPr/>
        </p:nvSpPr>
        <p:spPr>
          <a:xfrm>
            <a:off x="2688336" y="2157984"/>
            <a:ext cx="3328500" cy="832200"/>
          </a:xfrm>
          <a:prstGeom prst="rect">
            <a:avLst/>
          </a:prstGeom>
          <a:solidFill>
            <a:srgbClr val="080E1C"/>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1" name="Google Shape;1261;p43"/>
          <p:cNvSpPr/>
          <p:nvPr/>
        </p:nvSpPr>
        <p:spPr>
          <a:xfrm>
            <a:off x="2688336" y="2157984"/>
            <a:ext cx="45600" cy="8322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2" name="Google Shape;1262;p43"/>
          <p:cNvSpPr txBox="1"/>
          <p:nvPr/>
        </p:nvSpPr>
        <p:spPr>
          <a:xfrm>
            <a:off x="2761488" y="2194560"/>
            <a:ext cx="32004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0E5FF"/>
                </a:solidFill>
                <a:latin typeface="Calibri"/>
                <a:ea typeface="Calibri"/>
                <a:cs typeface="Calibri"/>
                <a:sym typeface="Calibri"/>
              </a:rPr>
              <a:t>WhatWeb</a:t>
            </a:r>
            <a:endParaRPr b="0" i="0" sz="1400" u="none" cap="none" strike="noStrike">
              <a:solidFill>
                <a:srgbClr val="000000"/>
              </a:solidFill>
              <a:latin typeface="Arial"/>
              <a:ea typeface="Arial"/>
              <a:cs typeface="Arial"/>
              <a:sym typeface="Arial"/>
            </a:endParaRPr>
          </a:p>
        </p:txBody>
      </p:sp>
      <p:sp>
        <p:nvSpPr>
          <p:cNvPr id="1263" name="Google Shape;1263;p43"/>
          <p:cNvSpPr txBox="1"/>
          <p:nvPr/>
        </p:nvSpPr>
        <p:spPr>
          <a:xfrm>
            <a:off x="2761488" y="2432304"/>
            <a:ext cx="32004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WordPress 5.9.3 · Django API</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 Research: CVE-2022-21661 (CVSS 8.8)</a:t>
            </a:r>
            <a:endParaRPr b="0" i="0" sz="1400" u="none" cap="none" strike="noStrike">
              <a:solidFill>
                <a:srgbClr val="000000"/>
              </a:solidFill>
              <a:latin typeface="Arial"/>
              <a:ea typeface="Arial"/>
              <a:cs typeface="Arial"/>
              <a:sym typeface="Arial"/>
            </a:endParaRPr>
          </a:p>
        </p:txBody>
      </p:sp>
      <p:sp>
        <p:nvSpPr>
          <p:cNvPr id="1264" name="Google Shape;1264;p43"/>
          <p:cNvSpPr/>
          <p:nvPr/>
        </p:nvSpPr>
        <p:spPr>
          <a:xfrm>
            <a:off x="2688336" y="3044952"/>
            <a:ext cx="3328500" cy="832200"/>
          </a:xfrm>
          <a:prstGeom prst="rect">
            <a:avLst/>
          </a:prstGeom>
          <a:solidFill>
            <a:srgbClr val="080E1C"/>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5" name="Google Shape;1265;p43"/>
          <p:cNvSpPr/>
          <p:nvPr/>
        </p:nvSpPr>
        <p:spPr>
          <a:xfrm>
            <a:off x="2688336" y="3044952"/>
            <a:ext cx="45600" cy="8322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6" name="Google Shape;1266;p43"/>
          <p:cNvSpPr txBox="1"/>
          <p:nvPr/>
        </p:nvSpPr>
        <p:spPr>
          <a:xfrm>
            <a:off x="2761488" y="3081528"/>
            <a:ext cx="32004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0E5FF"/>
                </a:solidFill>
                <a:latin typeface="Calibri"/>
                <a:ea typeface="Calibri"/>
                <a:cs typeface="Calibri"/>
                <a:sym typeface="Calibri"/>
              </a:rPr>
              <a:t>Gobuster</a:t>
            </a:r>
            <a:endParaRPr b="0" i="0" sz="1400" u="none" cap="none" strike="noStrike">
              <a:solidFill>
                <a:srgbClr val="000000"/>
              </a:solidFill>
              <a:latin typeface="Arial"/>
              <a:ea typeface="Arial"/>
              <a:cs typeface="Arial"/>
              <a:sym typeface="Arial"/>
            </a:endParaRPr>
          </a:p>
        </p:txBody>
      </p:sp>
      <p:sp>
        <p:nvSpPr>
          <p:cNvPr id="1267" name="Google Shape;1267;p43"/>
          <p:cNvSpPr txBox="1"/>
          <p:nvPr/>
        </p:nvSpPr>
        <p:spPr>
          <a:xfrm>
            <a:off x="2761488" y="3319272"/>
            <a:ext cx="32004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/backup/db_export_2023.sql EXPOSED</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/admin/users · /admin/login</a:t>
            </a:r>
            <a:endParaRPr b="0" i="0" sz="1400" u="none" cap="none" strike="noStrike">
              <a:solidFill>
                <a:srgbClr val="000000"/>
              </a:solidFill>
              <a:latin typeface="Arial"/>
              <a:ea typeface="Arial"/>
              <a:cs typeface="Arial"/>
              <a:sym typeface="Arial"/>
            </a:endParaRPr>
          </a:p>
        </p:txBody>
      </p:sp>
      <p:sp>
        <p:nvSpPr>
          <p:cNvPr id="1268" name="Google Shape;1268;p43"/>
          <p:cNvSpPr/>
          <p:nvPr/>
        </p:nvSpPr>
        <p:spPr>
          <a:xfrm>
            <a:off x="2688336" y="3931920"/>
            <a:ext cx="3328500" cy="832200"/>
          </a:xfrm>
          <a:prstGeom prst="rect">
            <a:avLst/>
          </a:prstGeom>
          <a:solidFill>
            <a:srgbClr val="080E1C"/>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9" name="Google Shape;1269;p43"/>
          <p:cNvSpPr/>
          <p:nvPr/>
        </p:nvSpPr>
        <p:spPr>
          <a:xfrm>
            <a:off x="2688336" y="3931920"/>
            <a:ext cx="45600" cy="8322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70" name="Google Shape;1270;p43"/>
          <p:cNvSpPr txBox="1"/>
          <p:nvPr/>
        </p:nvSpPr>
        <p:spPr>
          <a:xfrm>
            <a:off x="2761488" y="3968496"/>
            <a:ext cx="32004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0E5FF"/>
                </a:solidFill>
                <a:latin typeface="Calibri"/>
                <a:ea typeface="Calibri"/>
                <a:cs typeface="Calibri"/>
                <a:sym typeface="Calibri"/>
              </a:rPr>
              <a:t>ffuf</a:t>
            </a:r>
            <a:endParaRPr b="0" i="0" sz="1400" u="none" cap="none" strike="noStrike">
              <a:solidFill>
                <a:srgbClr val="000000"/>
              </a:solidFill>
              <a:latin typeface="Arial"/>
              <a:ea typeface="Arial"/>
              <a:cs typeface="Arial"/>
              <a:sym typeface="Arial"/>
            </a:endParaRPr>
          </a:p>
        </p:txBody>
      </p:sp>
      <p:sp>
        <p:nvSpPr>
          <p:cNvPr id="1271" name="Google Shape;1271;p43"/>
          <p:cNvSpPr txBox="1"/>
          <p:nvPr/>
        </p:nvSpPr>
        <p:spPr>
          <a:xfrm>
            <a:off x="2761488" y="4206240"/>
            <a:ext cx="32004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IDOR: user_id param unsanitized</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/api/v1/internal/users found</a:t>
            </a:r>
            <a:endParaRPr b="0" i="0" sz="1400" u="none" cap="none" strike="noStrike">
              <a:solidFill>
                <a:srgbClr val="000000"/>
              </a:solidFill>
              <a:latin typeface="Arial"/>
              <a:ea typeface="Arial"/>
              <a:cs typeface="Arial"/>
              <a:sym typeface="Arial"/>
            </a:endParaRPr>
          </a:p>
        </p:txBody>
      </p:sp>
      <p:sp>
        <p:nvSpPr>
          <p:cNvPr id="1272" name="Google Shape;1272;p43"/>
          <p:cNvSpPr/>
          <p:nvPr/>
        </p:nvSpPr>
        <p:spPr>
          <a:xfrm>
            <a:off x="2688336" y="4818888"/>
            <a:ext cx="3328500" cy="832200"/>
          </a:xfrm>
          <a:prstGeom prst="rect">
            <a:avLst/>
          </a:prstGeom>
          <a:solidFill>
            <a:srgbClr val="080E1C"/>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73" name="Google Shape;1273;p43"/>
          <p:cNvSpPr/>
          <p:nvPr/>
        </p:nvSpPr>
        <p:spPr>
          <a:xfrm>
            <a:off x="2688336" y="4818888"/>
            <a:ext cx="45600" cy="8322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74" name="Google Shape;1274;p43"/>
          <p:cNvSpPr txBox="1"/>
          <p:nvPr/>
        </p:nvSpPr>
        <p:spPr>
          <a:xfrm>
            <a:off x="2761488" y="4855464"/>
            <a:ext cx="32004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0E5FF"/>
                </a:solidFill>
                <a:latin typeface="Calibri"/>
                <a:ea typeface="Calibri"/>
                <a:cs typeface="Calibri"/>
                <a:sym typeface="Calibri"/>
              </a:rPr>
              <a:t>ZAP</a:t>
            </a:r>
            <a:endParaRPr b="0" i="0" sz="1400" u="none" cap="none" strike="noStrike">
              <a:solidFill>
                <a:srgbClr val="000000"/>
              </a:solidFill>
              <a:latin typeface="Arial"/>
              <a:ea typeface="Arial"/>
              <a:cs typeface="Arial"/>
              <a:sym typeface="Arial"/>
            </a:endParaRPr>
          </a:p>
        </p:txBody>
      </p:sp>
      <p:sp>
        <p:nvSpPr>
          <p:cNvPr id="1275" name="Google Shape;1275;p43"/>
          <p:cNvSpPr txBox="1"/>
          <p:nvPr/>
        </p:nvSpPr>
        <p:spPr>
          <a:xfrm>
            <a:off x="2761488" y="5093208"/>
            <a:ext cx="32004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XSS on /search?q=</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SQL error on staging login</a:t>
            </a:r>
            <a:endParaRPr b="0" i="0" sz="1400" u="none" cap="none" strike="noStrike">
              <a:solidFill>
                <a:srgbClr val="000000"/>
              </a:solidFill>
              <a:latin typeface="Arial"/>
              <a:ea typeface="Arial"/>
              <a:cs typeface="Arial"/>
              <a:sym typeface="Arial"/>
            </a:endParaRPr>
          </a:p>
        </p:txBody>
      </p:sp>
      <p:sp>
        <p:nvSpPr>
          <p:cNvPr id="1276" name="Google Shape;1276;p43"/>
          <p:cNvSpPr/>
          <p:nvPr/>
        </p:nvSpPr>
        <p:spPr>
          <a:xfrm>
            <a:off x="2615184" y="5797296"/>
            <a:ext cx="3474600" cy="402300"/>
          </a:xfrm>
          <a:prstGeom prst="rect">
            <a:avLst/>
          </a:prstGeom>
          <a:solidFill>
            <a:srgbClr val="060C18"/>
          </a:solidFill>
          <a:ln cap="flat" cmpd="sng" w="101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77" name="Google Shape;1277;p43"/>
          <p:cNvSpPr txBox="1"/>
          <p:nvPr/>
        </p:nvSpPr>
        <p:spPr>
          <a:xfrm>
            <a:off x="2706624" y="5852160"/>
            <a:ext cx="33375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00E5FF"/>
                </a:solidFill>
                <a:latin typeface="Calibri"/>
                <a:ea typeface="Calibri"/>
                <a:cs typeface="Calibri"/>
                <a:sym typeface="Calibri"/>
              </a:rPr>
              <a:t>ASG ← 61 nodes</a:t>
            </a:r>
            <a:br>
              <a:rPr b="1" i="0" lang="en-US" sz="850" u="none" cap="none" strike="noStrike">
                <a:solidFill>
                  <a:srgbClr val="00E5FF"/>
                </a:solidFill>
                <a:latin typeface="Calibri"/>
                <a:ea typeface="Calibri"/>
                <a:cs typeface="Calibri"/>
                <a:sym typeface="Calibri"/>
              </a:rPr>
            </a:br>
            <a:r>
              <a:rPr b="1" i="0" lang="en-US" sz="850" u="none" cap="none" strike="noStrike">
                <a:solidFill>
                  <a:srgbClr val="00E5FF"/>
                </a:solidFill>
                <a:latin typeface="Calibri"/>
                <a:ea typeface="Calibri"/>
                <a:cs typeface="Calibri"/>
                <a:sym typeface="Calibri"/>
              </a:rPr>
              <a:t>APG ← 3 chains seeded</a:t>
            </a:r>
            <a:endParaRPr b="0" i="0" sz="1400" u="none" cap="none" strike="noStrike">
              <a:solidFill>
                <a:srgbClr val="000000"/>
              </a:solidFill>
              <a:latin typeface="Arial"/>
              <a:ea typeface="Arial"/>
              <a:cs typeface="Arial"/>
              <a:sym typeface="Arial"/>
            </a:endParaRPr>
          </a:p>
        </p:txBody>
      </p:sp>
      <p:cxnSp>
        <p:nvCxnSpPr>
          <p:cNvPr id="1278" name="Google Shape;1278;p43"/>
          <p:cNvCxnSpPr/>
          <p:nvPr/>
        </p:nvCxnSpPr>
        <p:spPr>
          <a:xfrm>
            <a:off x="6089904" y="1417320"/>
            <a:ext cx="54900" cy="0"/>
          </a:xfrm>
          <a:prstGeom prst="straightConnector1">
            <a:avLst/>
          </a:prstGeom>
          <a:noFill/>
          <a:ln cap="flat" cmpd="sng" w="22850">
            <a:solidFill>
              <a:srgbClr val="FF4545"/>
            </a:solidFill>
            <a:prstDash val="solid"/>
            <a:round/>
            <a:headEnd len="med" w="med" type="stealth"/>
            <a:tailEnd len="sm" w="sm" type="none"/>
          </a:ln>
          <a:effectLst>
            <a:outerShdw blurRad="40000" rotWithShape="0" dir="5400000" dist="20000">
              <a:srgbClr val="000000">
                <a:alpha val="38040"/>
              </a:srgbClr>
            </a:outerShdw>
          </a:effectLst>
        </p:spPr>
      </p:cxnSp>
      <p:sp>
        <p:nvSpPr>
          <p:cNvPr id="1279" name="Google Shape;1279;p43"/>
          <p:cNvSpPr/>
          <p:nvPr/>
        </p:nvSpPr>
        <p:spPr>
          <a:xfrm>
            <a:off x="6144768" y="1188720"/>
            <a:ext cx="3639300" cy="5010900"/>
          </a:xfrm>
          <a:prstGeom prst="rect">
            <a:avLst/>
          </a:prstGeom>
          <a:solidFill>
            <a:srgbClr val="180606"/>
          </a:solidFill>
          <a:ln cap="flat" cmpd="sng" w="152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80" name="Google Shape;1280;p43"/>
          <p:cNvSpPr/>
          <p:nvPr/>
        </p:nvSpPr>
        <p:spPr>
          <a:xfrm>
            <a:off x="6144768" y="1188720"/>
            <a:ext cx="3639300" cy="457200"/>
          </a:xfrm>
          <a:prstGeom prst="rect">
            <a:avLst/>
          </a:prstGeom>
          <a:solidFill>
            <a:srgbClr val="08101C"/>
          </a:solidFill>
          <a:ln cap="flat" cmpd="sng" w="152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81" name="Google Shape;1281;p43"/>
          <p:cNvSpPr txBox="1"/>
          <p:nvPr/>
        </p:nvSpPr>
        <p:spPr>
          <a:xfrm>
            <a:off x="6217920" y="1243584"/>
            <a:ext cx="35295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4545"/>
                </a:solidFill>
                <a:latin typeface="Calibri"/>
                <a:ea typeface="Calibri"/>
                <a:cs typeface="Calibri"/>
                <a:sym typeface="Calibri"/>
              </a:rPr>
              <a:t>PHASE 3</a:t>
            </a:r>
            <a:br>
              <a:rPr b="1" i="0" lang="en-US" sz="1000" u="none" cap="none" strike="noStrike">
                <a:solidFill>
                  <a:srgbClr val="FF4545"/>
                </a:solidFill>
                <a:latin typeface="Calibri"/>
                <a:ea typeface="Calibri"/>
                <a:cs typeface="Calibri"/>
                <a:sym typeface="Calibri"/>
              </a:rPr>
            </a:br>
            <a:r>
              <a:rPr b="1" i="0" lang="en-US" sz="1000" u="none" cap="none" strike="noStrike">
                <a:solidFill>
                  <a:srgbClr val="FF4545"/>
                </a:solidFill>
                <a:latin typeface="Calibri"/>
                <a:ea typeface="Calibri"/>
                <a:cs typeface="Calibri"/>
                <a:sym typeface="Calibri"/>
              </a:rPr>
              <a:t>Validation</a:t>
            </a:r>
            <a:endParaRPr b="0" i="0" sz="1400" u="none" cap="none" strike="noStrike">
              <a:solidFill>
                <a:srgbClr val="000000"/>
              </a:solidFill>
              <a:latin typeface="Arial"/>
              <a:ea typeface="Arial"/>
              <a:cs typeface="Arial"/>
              <a:sym typeface="Arial"/>
            </a:endParaRPr>
          </a:p>
        </p:txBody>
      </p:sp>
      <p:sp>
        <p:nvSpPr>
          <p:cNvPr id="1282" name="Google Shape;1282;p43"/>
          <p:cNvSpPr txBox="1"/>
          <p:nvPr/>
        </p:nvSpPr>
        <p:spPr>
          <a:xfrm>
            <a:off x="6217920" y="1700784"/>
            <a:ext cx="35295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FF4545"/>
                </a:solidFill>
                <a:latin typeface="Calibri"/>
                <a:ea typeface="Calibri"/>
                <a:cs typeface="Calibri"/>
                <a:sym typeface="Calibri"/>
              </a:rPr>
              <a:t>🎯 Validation + 📸 Evidence</a:t>
            </a:r>
            <a:endParaRPr b="0" i="0" sz="1400" u="none" cap="none" strike="noStrike">
              <a:solidFill>
                <a:srgbClr val="000000"/>
              </a:solidFill>
              <a:latin typeface="Arial"/>
              <a:ea typeface="Arial"/>
              <a:cs typeface="Arial"/>
              <a:sym typeface="Arial"/>
            </a:endParaRPr>
          </a:p>
        </p:txBody>
      </p:sp>
      <p:sp>
        <p:nvSpPr>
          <p:cNvPr id="1283" name="Google Shape;1283;p43"/>
          <p:cNvSpPr/>
          <p:nvPr/>
        </p:nvSpPr>
        <p:spPr>
          <a:xfrm>
            <a:off x="6217920" y="1920240"/>
            <a:ext cx="3492900" cy="183000"/>
          </a:xfrm>
          <a:prstGeom prst="rect">
            <a:avLst/>
          </a:prstGeom>
          <a:solidFill>
            <a:srgbClr val="081022"/>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84" name="Google Shape;1284;p43"/>
          <p:cNvSpPr txBox="1"/>
          <p:nvPr/>
        </p:nvSpPr>
        <p:spPr>
          <a:xfrm>
            <a:off x="6254496" y="1929384"/>
            <a:ext cx="34563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FF4545"/>
                </a:solidFill>
                <a:latin typeface="Calibri"/>
                <a:ea typeface="Calibri"/>
                <a:cs typeface="Calibri"/>
                <a:sym typeface="Calibri"/>
              </a:rPr>
              <a:t>SQLMap  ·  Metasploit  ·  EyeWitness</a:t>
            </a:r>
            <a:endParaRPr b="0" i="0" sz="1400" u="none" cap="none" strike="noStrike">
              <a:solidFill>
                <a:srgbClr val="000000"/>
              </a:solidFill>
              <a:latin typeface="Arial"/>
              <a:ea typeface="Arial"/>
              <a:cs typeface="Arial"/>
              <a:sym typeface="Arial"/>
            </a:endParaRPr>
          </a:p>
        </p:txBody>
      </p:sp>
      <p:sp>
        <p:nvSpPr>
          <p:cNvPr id="1285" name="Google Shape;1285;p43"/>
          <p:cNvSpPr/>
          <p:nvPr/>
        </p:nvSpPr>
        <p:spPr>
          <a:xfrm>
            <a:off x="6217920" y="2157984"/>
            <a:ext cx="3492900" cy="855000"/>
          </a:xfrm>
          <a:prstGeom prst="rect">
            <a:avLst/>
          </a:prstGeom>
          <a:solidFill>
            <a:srgbClr val="080E1C"/>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86" name="Google Shape;1286;p43"/>
          <p:cNvSpPr/>
          <p:nvPr/>
        </p:nvSpPr>
        <p:spPr>
          <a:xfrm>
            <a:off x="6217920" y="2157984"/>
            <a:ext cx="45600" cy="8550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87" name="Google Shape;1287;p43"/>
          <p:cNvSpPr txBox="1"/>
          <p:nvPr/>
        </p:nvSpPr>
        <p:spPr>
          <a:xfrm>
            <a:off x="6291072" y="2194560"/>
            <a:ext cx="33651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FF4545"/>
                </a:solidFill>
                <a:latin typeface="Calibri"/>
                <a:ea typeface="Calibri"/>
                <a:cs typeface="Calibri"/>
                <a:sym typeface="Calibri"/>
              </a:rPr>
              <a:t>Chain-01</a:t>
            </a:r>
            <a:br>
              <a:rPr b="1" i="0" lang="en-US" sz="800" u="none" cap="none" strike="noStrike">
                <a:solidFill>
                  <a:srgbClr val="FF4545"/>
                </a:solidFill>
                <a:latin typeface="Calibri"/>
                <a:ea typeface="Calibri"/>
                <a:cs typeface="Calibri"/>
                <a:sym typeface="Calibri"/>
              </a:rPr>
            </a:br>
            <a:r>
              <a:rPr b="1" i="0" lang="en-US" sz="800" u="none" cap="none" strike="noStrike">
                <a:solidFill>
                  <a:srgbClr val="FF4545"/>
                </a:solidFill>
                <a:latin typeface="Calibri"/>
                <a:ea typeface="Calibri"/>
                <a:cs typeface="Calibri"/>
                <a:sym typeface="Calibri"/>
              </a:rPr>
              <a:t>(risk 8.8)</a:t>
            </a:r>
            <a:endParaRPr b="0" i="0" sz="1400" u="none" cap="none" strike="noStrike">
              <a:solidFill>
                <a:srgbClr val="000000"/>
              </a:solidFill>
              <a:latin typeface="Arial"/>
              <a:ea typeface="Arial"/>
              <a:cs typeface="Arial"/>
              <a:sym typeface="Arial"/>
            </a:endParaRPr>
          </a:p>
        </p:txBody>
      </p:sp>
      <p:sp>
        <p:nvSpPr>
          <p:cNvPr id="1288" name="Google Shape;1288;p43"/>
          <p:cNvSpPr txBox="1"/>
          <p:nvPr/>
        </p:nvSpPr>
        <p:spPr>
          <a:xfrm>
            <a:off x="6291072" y="2432304"/>
            <a:ext cx="33651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SQLMap → SQLi confirmed</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Admin hash cracked → Metasploit → RCE</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Status: VALIDATED (escalated 9.1)</a:t>
            </a:r>
            <a:endParaRPr b="0" i="0" sz="1400" u="none" cap="none" strike="noStrike">
              <a:solidFill>
                <a:srgbClr val="000000"/>
              </a:solidFill>
              <a:latin typeface="Arial"/>
              <a:ea typeface="Arial"/>
              <a:cs typeface="Arial"/>
              <a:sym typeface="Arial"/>
            </a:endParaRPr>
          </a:p>
        </p:txBody>
      </p:sp>
      <p:sp>
        <p:nvSpPr>
          <p:cNvPr id="1289" name="Google Shape;1289;p43"/>
          <p:cNvSpPr/>
          <p:nvPr/>
        </p:nvSpPr>
        <p:spPr>
          <a:xfrm>
            <a:off x="6217920" y="3067812"/>
            <a:ext cx="3492900" cy="855000"/>
          </a:xfrm>
          <a:prstGeom prst="rect">
            <a:avLst/>
          </a:prstGeom>
          <a:solidFill>
            <a:srgbClr val="080E1C"/>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90" name="Google Shape;1290;p43"/>
          <p:cNvSpPr/>
          <p:nvPr/>
        </p:nvSpPr>
        <p:spPr>
          <a:xfrm>
            <a:off x="6217920" y="3067812"/>
            <a:ext cx="45600" cy="8550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91" name="Google Shape;1291;p43"/>
          <p:cNvSpPr txBox="1"/>
          <p:nvPr/>
        </p:nvSpPr>
        <p:spPr>
          <a:xfrm>
            <a:off x="6291072" y="3104388"/>
            <a:ext cx="33651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FF4545"/>
                </a:solidFill>
                <a:latin typeface="Calibri"/>
                <a:ea typeface="Calibri"/>
                <a:cs typeface="Calibri"/>
                <a:sym typeface="Calibri"/>
              </a:rPr>
              <a:t>Chain-02</a:t>
            </a:r>
            <a:br>
              <a:rPr b="1" i="0" lang="en-US" sz="800" u="none" cap="none" strike="noStrike">
                <a:solidFill>
                  <a:srgbClr val="FF4545"/>
                </a:solidFill>
                <a:latin typeface="Calibri"/>
                <a:ea typeface="Calibri"/>
                <a:cs typeface="Calibri"/>
                <a:sym typeface="Calibri"/>
              </a:rPr>
            </a:br>
            <a:r>
              <a:rPr b="1" i="0" lang="en-US" sz="800" u="none" cap="none" strike="noStrike">
                <a:solidFill>
                  <a:srgbClr val="FF4545"/>
                </a:solidFill>
                <a:latin typeface="Calibri"/>
                <a:ea typeface="Calibri"/>
                <a:cs typeface="Calibri"/>
                <a:sym typeface="Calibri"/>
              </a:rPr>
              <a:t>(risk 7.5)</a:t>
            </a:r>
            <a:endParaRPr b="0" i="0" sz="1400" u="none" cap="none" strike="noStrike">
              <a:solidFill>
                <a:srgbClr val="000000"/>
              </a:solidFill>
              <a:latin typeface="Arial"/>
              <a:ea typeface="Arial"/>
              <a:cs typeface="Arial"/>
              <a:sym typeface="Arial"/>
            </a:endParaRPr>
          </a:p>
        </p:txBody>
      </p:sp>
      <p:sp>
        <p:nvSpPr>
          <p:cNvPr id="1292" name="Google Shape;1292;p43"/>
          <p:cNvSpPr txBox="1"/>
          <p:nvPr/>
        </p:nvSpPr>
        <p:spPr>
          <a:xfrm>
            <a:off x="6291072" y="3342132"/>
            <a:ext cx="33651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SQLMap on user_id → IDOR confirmed</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Any customer orders accessible</a:t>
            </a:r>
            <a:endParaRPr b="0" i="0" sz="1400" u="none" cap="none" strike="noStrike">
              <a:solidFill>
                <a:srgbClr val="000000"/>
              </a:solidFill>
              <a:latin typeface="Arial"/>
              <a:ea typeface="Arial"/>
              <a:cs typeface="Arial"/>
              <a:sym typeface="Arial"/>
            </a:endParaRPr>
          </a:p>
        </p:txBody>
      </p:sp>
      <p:sp>
        <p:nvSpPr>
          <p:cNvPr id="1293" name="Google Shape;1293;p43"/>
          <p:cNvSpPr/>
          <p:nvPr/>
        </p:nvSpPr>
        <p:spPr>
          <a:xfrm>
            <a:off x="6217920" y="3977640"/>
            <a:ext cx="3492900" cy="855000"/>
          </a:xfrm>
          <a:prstGeom prst="rect">
            <a:avLst/>
          </a:prstGeom>
          <a:solidFill>
            <a:srgbClr val="080E1C"/>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94" name="Google Shape;1294;p43"/>
          <p:cNvSpPr/>
          <p:nvPr/>
        </p:nvSpPr>
        <p:spPr>
          <a:xfrm>
            <a:off x="6217920" y="3977640"/>
            <a:ext cx="45600" cy="8550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95" name="Google Shape;1295;p43"/>
          <p:cNvSpPr txBox="1"/>
          <p:nvPr/>
        </p:nvSpPr>
        <p:spPr>
          <a:xfrm>
            <a:off x="6291072" y="4014216"/>
            <a:ext cx="33651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FF4545"/>
                </a:solidFill>
                <a:latin typeface="Calibri"/>
                <a:ea typeface="Calibri"/>
                <a:cs typeface="Calibri"/>
                <a:sym typeface="Calibri"/>
              </a:rPr>
              <a:t>Chain-03</a:t>
            </a:r>
            <a:br>
              <a:rPr b="1" i="0" lang="en-US" sz="800" u="none" cap="none" strike="noStrike">
                <a:solidFill>
                  <a:srgbClr val="FF4545"/>
                </a:solidFill>
                <a:latin typeface="Calibri"/>
                <a:ea typeface="Calibri"/>
                <a:cs typeface="Calibri"/>
                <a:sym typeface="Calibri"/>
              </a:rPr>
            </a:br>
            <a:r>
              <a:rPr b="1" i="0" lang="en-US" sz="800" u="none" cap="none" strike="noStrike">
                <a:solidFill>
                  <a:srgbClr val="FF4545"/>
                </a:solidFill>
                <a:latin typeface="Calibri"/>
                <a:ea typeface="Calibri"/>
                <a:cs typeface="Calibri"/>
                <a:sym typeface="Calibri"/>
              </a:rPr>
              <a:t>(risk 8.1)</a:t>
            </a:r>
            <a:endParaRPr b="0" i="0" sz="1400" u="none" cap="none" strike="noStrike">
              <a:solidFill>
                <a:srgbClr val="000000"/>
              </a:solidFill>
              <a:latin typeface="Arial"/>
              <a:ea typeface="Arial"/>
              <a:cs typeface="Arial"/>
              <a:sym typeface="Arial"/>
            </a:endParaRPr>
          </a:p>
        </p:txBody>
      </p:sp>
      <p:sp>
        <p:nvSpPr>
          <p:cNvPr id="1296" name="Google Shape;1296;p43"/>
          <p:cNvSpPr txBox="1"/>
          <p:nvPr/>
        </p:nvSpPr>
        <p:spPr>
          <a:xfrm>
            <a:off x="6291072" y="4251960"/>
            <a:ext cx="33651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Blind SQLi on staging → DB creds</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Credential reuse risk flagged</a:t>
            </a:r>
            <a:endParaRPr b="0" i="0" sz="1400" u="none" cap="none" strike="noStrike">
              <a:solidFill>
                <a:srgbClr val="000000"/>
              </a:solidFill>
              <a:latin typeface="Arial"/>
              <a:ea typeface="Arial"/>
              <a:cs typeface="Arial"/>
              <a:sym typeface="Arial"/>
            </a:endParaRPr>
          </a:p>
        </p:txBody>
      </p:sp>
      <p:sp>
        <p:nvSpPr>
          <p:cNvPr id="1297" name="Google Shape;1297;p43"/>
          <p:cNvSpPr/>
          <p:nvPr/>
        </p:nvSpPr>
        <p:spPr>
          <a:xfrm>
            <a:off x="6217920" y="4887468"/>
            <a:ext cx="3492900" cy="855000"/>
          </a:xfrm>
          <a:prstGeom prst="rect">
            <a:avLst/>
          </a:prstGeom>
          <a:solidFill>
            <a:srgbClr val="080E1C"/>
          </a:solidFill>
          <a:ln cap="flat" cmpd="sng" w="952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98" name="Google Shape;1298;p43"/>
          <p:cNvSpPr/>
          <p:nvPr/>
        </p:nvSpPr>
        <p:spPr>
          <a:xfrm>
            <a:off x="6217920" y="4887468"/>
            <a:ext cx="45600" cy="8550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99" name="Google Shape;1299;p43"/>
          <p:cNvSpPr txBox="1"/>
          <p:nvPr/>
        </p:nvSpPr>
        <p:spPr>
          <a:xfrm>
            <a:off x="6291072" y="4924044"/>
            <a:ext cx="33651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FF4545"/>
                </a:solidFill>
                <a:latin typeface="Calibri"/>
                <a:ea typeface="Calibri"/>
                <a:cs typeface="Calibri"/>
                <a:sym typeface="Calibri"/>
              </a:rPr>
              <a:t>Chain-04</a:t>
            </a:r>
            <a:br>
              <a:rPr b="1" i="0" lang="en-US" sz="800" u="none" cap="none" strike="noStrike">
                <a:solidFill>
                  <a:srgbClr val="FF4545"/>
                </a:solidFill>
                <a:latin typeface="Calibri"/>
                <a:ea typeface="Calibri"/>
                <a:cs typeface="Calibri"/>
                <a:sym typeface="Calibri"/>
              </a:rPr>
            </a:br>
            <a:r>
              <a:rPr b="1" i="0" lang="en-US" sz="800" u="none" cap="none" strike="noStrike">
                <a:solidFill>
                  <a:srgbClr val="FF4545"/>
                </a:solidFill>
                <a:latin typeface="Calibri"/>
                <a:ea typeface="Calibri"/>
                <a:cs typeface="Calibri"/>
                <a:sym typeface="Calibri"/>
              </a:rPr>
              <a:t>(validated instantly)</a:t>
            </a:r>
            <a:endParaRPr b="0" i="0" sz="1400" u="none" cap="none" strike="noStrike">
              <a:solidFill>
                <a:srgbClr val="000000"/>
              </a:solidFill>
              <a:latin typeface="Arial"/>
              <a:ea typeface="Arial"/>
              <a:cs typeface="Arial"/>
              <a:sym typeface="Arial"/>
            </a:endParaRPr>
          </a:p>
        </p:txBody>
      </p:sp>
      <p:sp>
        <p:nvSpPr>
          <p:cNvPr id="1300" name="Google Shape;1300;p43"/>
          <p:cNvSpPr txBox="1"/>
          <p:nvPr/>
        </p:nvSpPr>
        <p:spPr>
          <a:xfrm>
            <a:off x="6291072" y="5161788"/>
            <a:ext cx="33651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Direct GET on exposed DB backup file</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Misconfiguration → full PII exposure, no agent needed</a:t>
            </a:r>
            <a:endParaRPr b="0" i="0" sz="1400" u="none" cap="none" strike="noStrike">
              <a:solidFill>
                <a:srgbClr val="000000"/>
              </a:solidFill>
              <a:latin typeface="Arial"/>
              <a:ea typeface="Arial"/>
              <a:cs typeface="Arial"/>
              <a:sym typeface="Arial"/>
            </a:endParaRPr>
          </a:p>
        </p:txBody>
      </p:sp>
      <p:sp>
        <p:nvSpPr>
          <p:cNvPr id="1301" name="Google Shape;1301;p43"/>
          <p:cNvSpPr/>
          <p:nvPr/>
        </p:nvSpPr>
        <p:spPr>
          <a:xfrm>
            <a:off x="6144768" y="5797296"/>
            <a:ext cx="3639300" cy="402300"/>
          </a:xfrm>
          <a:prstGeom prst="rect">
            <a:avLst/>
          </a:prstGeom>
          <a:solidFill>
            <a:srgbClr val="060C18"/>
          </a:solidFill>
          <a:ln cap="flat" cmpd="sng" w="1015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02" name="Google Shape;1302;p43"/>
          <p:cNvSpPr txBox="1"/>
          <p:nvPr/>
        </p:nvSpPr>
        <p:spPr>
          <a:xfrm>
            <a:off x="6236208" y="5852160"/>
            <a:ext cx="35022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FF4545"/>
                </a:solidFill>
                <a:latin typeface="Calibri"/>
                <a:ea typeface="Calibri"/>
                <a:cs typeface="Calibri"/>
                <a:sym typeface="Calibri"/>
              </a:rPr>
              <a:t>APG ← 4 chains VALIDATED</a:t>
            </a:r>
            <a:br>
              <a:rPr b="1" i="0" lang="en-US" sz="850" u="none" cap="none" strike="noStrike">
                <a:solidFill>
                  <a:srgbClr val="FF4545"/>
                </a:solidFill>
                <a:latin typeface="Calibri"/>
                <a:ea typeface="Calibri"/>
                <a:cs typeface="Calibri"/>
                <a:sym typeface="Calibri"/>
              </a:rPr>
            </a:br>
            <a:r>
              <a:rPr b="1" i="0" lang="en-US" sz="850" u="none" cap="none" strike="noStrike">
                <a:solidFill>
                  <a:srgbClr val="FF4545"/>
                </a:solidFill>
                <a:latin typeface="Calibri"/>
                <a:ea typeface="Calibri"/>
                <a:cs typeface="Calibri"/>
                <a:sym typeface="Calibri"/>
              </a:rPr>
              <a:t>ASG ← Evidence nodes linked</a:t>
            </a:r>
            <a:endParaRPr b="0" i="0" sz="1400" u="none" cap="none" strike="noStrike">
              <a:solidFill>
                <a:srgbClr val="000000"/>
              </a:solidFill>
              <a:latin typeface="Arial"/>
              <a:ea typeface="Arial"/>
              <a:cs typeface="Arial"/>
              <a:sym typeface="Arial"/>
            </a:endParaRPr>
          </a:p>
        </p:txBody>
      </p:sp>
      <p:cxnSp>
        <p:nvCxnSpPr>
          <p:cNvPr id="1303" name="Google Shape;1303;p43"/>
          <p:cNvCxnSpPr/>
          <p:nvPr/>
        </p:nvCxnSpPr>
        <p:spPr>
          <a:xfrm>
            <a:off x="9784080" y="1417320"/>
            <a:ext cx="54900" cy="0"/>
          </a:xfrm>
          <a:prstGeom prst="straightConnector1">
            <a:avLst/>
          </a:prstGeom>
          <a:noFill/>
          <a:ln cap="flat" cmpd="sng" w="22850">
            <a:solidFill>
              <a:srgbClr val="BD93F9"/>
            </a:solidFill>
            <a:prstDash val="solid"/>
            <a:round/>
            <a:headEnd len="med" w="med" type="stealth"/>
            <a:tailEnd len="sm" w="sm" type="none"/>
          </a:ln>
          <a:effectLst>
            <a:outerShdw blurRad="40000" rotWithShape="0" dir="5400000" dist="20000">
              <a:srgbClr val="000000">
                <a:alpha val="38040"/>
              </a:srgbClr>
            </a:outerShdw>
          </a:effectLst>
        </p:spPr>
      </p:cxnSp>
      <p:sp>
        <p:nvSpPr>
          <p:cNvPr id="1304" name="Google Shape;1304;p43"/>
          <p:cNvSpPr/>
          <p:nvPr/>
        </p:nvSpPr>
        <p:spPr>
          <a:xfrm>
            <a:off x="9838950" y="1188725"/>
            <a:ext cx="2212800" cy="5010900"/>
          </a:xfrm>
          <a:prstGeom prst="rect">
            <a:avLst/>
          </a:prstGeom>
          <a:solidFill>
            <a:srgbClr val="10081C"/>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05" name="Google Shape;1305;p43"/>
          <p:cNvSpPr/>
          <p:nvPr/>
        </p:nvSpPr>
        <p:spPr>
          <a:xfrm>
            <a:off x="9838950" y="1188725"/>
            <a:ext cx="2212800" cy="457200"/>
          </a:xfrm>
          <a:prstGeom prst="rect">
            <a:avLst/>
          </a:prstGeom>
          <a:solidFill>
            <a:srgbClr val="08101C"/>
          </a:solidFill>
          <a:ln cap="flat" cmpd="sng" w="152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06" name="Google Shape;1306;p43"/>
          <p:cNvSpPr txBox="1"/>
          <p:nvPr/>
        </p:nvSpPr>
        <p:spPr>
          <a:xfrm>
            <a:off x="9912100" y="1243575"/>
            <a:ext cx="21213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BD93F9"/>
                </a:solidFill>
                <a:latin typeface="Calibri"/>
                <a:ea typeface="Calibri"/>
                <a:cs typeface="Calibri"/>
                <a:sym typeface="Calibri"/>
              </a:rPr>
              <a:t>PHASE 4</a:t>
            </a:r>
            <a:br>
              <a:rPr b="1" i="0" lang="en-US" sz="1000" u="none" cap="none" strike="noStrike">
                <a:solidFill>
                  <a:srgbClr val="BD93F9"/>
                </a:solidFill>
                <a:latin typeface="Calibri"/>
                <a:ea typeface="Calibri"/>
                <a:cs typeface="Calibri"/>
                <a:sym typeface="Calibri"/>
              </a:rPr>
            </a:br>
            <a:r>
              <a:rPr b="1" i="0" lang="en-US" sz="1000" u="none" cap="none" strike="noStrike">
                <a:solidFill>
                  <a:srgbClr val="BD93F9"/>
                </a:solidFill>
                <a:latin typeface="Calibri"/>
                <a:ea typeface="Calibri"/>
                <a:cs typeface="Calibri"/>
                <a:sym typeface="Calibri"/>
              </a:rPr>
              <a:t>Report</a:t>
            </a:r>
            <a:endParaRPr b="0" i="0" sz="1400" u="none" cap="none" strike="noStrike">
              <a:solidFill>
                <a:srgbClr val="000000"/>
              </a:solidFill>
              <a:latin typeface="Arial"/>
              <a:ea typeface="Arial"/>
              <a:cs typeface="Arial"/>
              <a:sym typeface="Arial"/>
            </a:endParaRPr>
          </a:p>
        </p:txBody>
      </p:sp>
      <p:sp>
        <p:nvSpPr>
          <p:cNvPr id="1307" name="Google Shape;1307;p43"/>
          <p:cNvSpPr txBox="1"/>
          <p:nvPr/>
        </p:nvSpPr>
        <p:spPr>
          <a:xfrm>
            <a:off x="9912100" y="1700775"/>
            <a:ext cx="21213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BD93F9"/>
                </a:solidFill>
                <a:latin typeface="Calibri"/>
                <a:ea typeface="Calibri"/>
                <a:cs typeface="Calibri"/>
                <a:sym typeface="Calibri"/>
              </a:rPr>
              <a:t>📝 Report Agent</a:t>
            </a:r>
            <a:endParaRPr b="0" i="0" sz="1400" u="none" cap="none" strike="noStrike">
              <a:solidFill>
                <a:srgbClr val="000000"/>
              </a:solidFill>
              <a:latin typeface="Arial"/>
              <a:ea typeface="Arial"/>
              <a:cs typeface="Arial"/>
              <a:sym typeface="Arial"/>
            </a:endParaRPr>
          </a:p>
        </p:txBody>
      </p:sp>
      <p:sp>
        <p:nvSpPr>
          <p:cNvPr id="1308" name="Google Shape;1308;p43"/>
          <p:cNvSpPr/>
          <p:nvPr/>
        </p:nvSpPr>
        <p:spPr>
          <a:xfrm>
            <a:off x="9912100" y="1920250"/>
            <a:ext cx="2060700" cy="183000"/>
          </a:xfrm>
          <a:prstGeom prst="rect">
            <a:avLst/>
          </a:prstGeom>
          <a:solidFill>
            <a:srgbClr val="081022"/>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09" name="Google Shape;1309;p43"/>
          <p:cNvSpPr txBox="1"/>
          <p:nvPr/>
        </p:nvSpPr>
        <p:spPr>
          <a:xfrm>
            <a:off x="9948675" y="1929375"/>
            <a:ext cx="20241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BD93F9"/>
                </a:solidFill>
                <a:latin typeface="Calibri"/>
                <a:ea typeface="Calibri"/>
                <a:cs typeface="Calibri"/>
                <a:sym typeface="Calibri"/>
              </a:rPr>
              <a:t>Reads ASG + APG</a:t>
            </a:r>
            <a:endParaRPr b="0" i="0" sz="1400" u="none" cap="none" strike="noStrike">
              <a:solidFill>
                <a:srgbClr val="000000"/>
              </a:solidFill>
              <a:latin typeface="Arial"/>
              <a:ea typeface="Arial"/>
              <a:cs typeface="Arial"/>
              <a:sym typeface="Arial"/>
            </a:endParaRPr>
          </a:p>
        </p:txBody>
      </p:sp>
      <p:sp>
        <p:nvSpPr>
          <p:cNvPr id="1310" name="Google Shape;1310;p43"/>
          <p:cNvSpPr/>
          <p:nvPr/>
        </p:nvSpPr>
        <p:spPr>
          <a:xfrm>
            <a:off x="9912100" y="2157975"/>
            <a:ext cx="2060700" cy="3492900"/>
          </a:xfrm>
          <a:prstGeom prst="rect">
            <a:avLst/>
          </a:prstGeom>
          <a:solidFill>
            <a:srgbClr val="080E1C"/>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11" name="Google Shape;1311;p43"/>
          <p:cNvSpPr/>
          <p:nvPr/>
        </p:nvSpPr>
        <p:spPr>
          <a:xfrm>
            <a:off x="9912096" y="2157984"/>
            <a:ext cx="45600" cy="34929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12" name="Google Shape;1312;p43"/>
          <p:cNvSpPr txBox="1"/>
          <p:nvPr/>
        </p:nvSpPr>
        <p:spPr>
          <a:xfrm>
            <a:off x="9985250" y="2194550"/>
            <a:ext cx="20241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BD93F9"/>
                </a:solidFill>
                <a:latin typeface="Calibri"/>
                <a:ea typeface="Calibri"/>
                <a:cs typeface="Calibri"/>
                <a:sym typeface="Calibri"/>
              </a:rPr>
              <a:t>Output</a:t>
            </a:r>
            <a:endParaRPr b="0" i="0" sz="1400" u="none" cap="none" strike="noStrike">
              <a:solidFill>
                <a:srgbClr val="000000"/>
              </a:solidFill>
              <a:latin typeface="Arial"/>
              <a:ea typeface="Arial"/>
              <a:cs typeface="Arial"/>
              <a:sym typeface="Arial"/>
            </a:endParaRPr>
          </a:p>
        </p:txBody>
      </p:sp>
      <p:sp>
        <p:nvSpPr>
          <p:cNvPr id="1313" name="Google Shape;1313;p43"/>
          <p:cNvSpPr txBox="1"/>
          <p:nvPr/>
        </p:nvSpPr>
        <p:spPr>
          <a:xfrm>
            <a:off x="9985250" y="2432300"/>
            <a:ext cx="20241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A0AAB8"/>
                </a:solidFill>
                <a:latin typeface="Calibri"/>
                <a:ea typeface="Calibri"/>
                <a:cs typeface="Calibri"/>
                <a:sym typeface="Calibri"/>
              </a:rPr>
              <a:t>Executive summary · 4 validated chains</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RCE + IDOR + SQLi + exposed DB backup</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11 vuln entries · full attack surface map</a:t>
            </a:r>
            <a:br>
              <a:rPr b="0" i="0" lang="en-US" sz="800" u="none" cap="none" strike="noStrike">
                <a:solidFill>
                  <a:srgbClr val="A0AAB8"/>
                </a:solidFill>
                <a:latin typeface="Calibri"/>
                <a:ea typeface="Calibri"/>
                <a:cs typeface="Calibri"/>
                <a:sym typeface="Calibri"/>
              </a:rPr>
            </a:br>
            <a:r>
              <a:rPr b="0" i="0" lang="en-US" sz="800" u="none" cap="none" strike="noStrike">
                <a:solidFill>
                  <a:srgbClr val="A0AAB8"/>
                </a:solidFill>
                <a:latin typeface="Calibri"/>
                <a:ea typeface="Calibri"/>
                <a:cs typeface="Calibri"/>
                <a:sym typeface="Calibri"/>
              </a:rPr>
              <a:t>Evidence at every ChainStep</a:t>
            </a:r>
            <a:endParaRPr b="0" i="0" sz="1400" u="none" cap="none" strike="noStrike">
              <a:solidFill>
                <a:srgbClr val="000000"/>
              </a:solidFill>
              <a:latin typeface="Arial"/>
              <a:ea typeface="Arial"/>
              <a:cs typeface="Arial"/>
              <a:sym typeface="Arial"/>
            </a:endParaRPr>
          </a:p>
        </p:txBody>
      </p:sp>
      <p:sp>
        <p:nvSpPr>
          <p:cNvPr id="1314" name="Google Shape;1314;p43"/>
          <p:cNvSpPr/>
          <p:nvPr/>
        </p:nvSpPr>
        <p:spPr>
          <a:xfrm>
            <a:off x="9838949" y="5797300"/>
            <a:ext cx="2212800" cy="402300"/>
          </a:xfrm>
          <a:prstGeom prst="rect">
            <a:avLst/>
          </a:prstGeom>
          <a:solidFill>
            <a:srgbClr val="060C18"/>
          </a:solidFill>
          <a:ln cap="flat" cmpd="sng" w="10150">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15" name="Google Shape;1315;p43"/>
          <p:cNvSpPr txBox="1"/>
          <p:nvPr/>
        </p:nvSpPr>
        <p:spPr>
          <a:xfrm>
            <a:off x="9930376" y="5852150"/>
            <a:ext cx="20607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BD93F9"/>
                </a:solidFill>
                <a:latin typeface="Calibri"/>
                <a:ea typeface="Calibri"/>
                <a:cs typeface="Calibri"/>
                <a:sym typeface="Calibri"/>
              </a:rPr>
              <a:t>ZERO manual commands</a:t>
            </a:r>
            <a:endParaRPr b="0" i="0" sz="1400" u="none" cap="none" strike="noStrike">
              <a:solidFill>
                <a:srgbClr val="000000"/>
              </a:solidFill>
              <a:latin typeface="Arial"/>
              <a:ea typeface="Arial"/>
              <a:cs typeface="Arial"/>
              <a:sym typeface="Arial"/>
            </a:endParaRPr>
          </a:p>
        </p:txBody>
      </p:sp>
      <p:sp>
        <p:nvSpPr>
          <p:cNvPr id="1316" name="Google Shape;1316;p43"/>
          <p:cNvSpPr/>
          <p:nvPr/>
        </p:nvSpPr>
        <p:spPr>
          <a:xfrm>
            <a:off x="164592" y="6236208"/>
            <a:ext cx="11862600" cy="493800"/>
          </a:xfrm>
          <a:prstGeom prst="rect">
            <a:avLst/>
          </a:prstGeom>
          <a:solidFill>
            <a:srgbClr val="081022"/>
          </a:solidFill>
          <a:ln cap="flat" cmpd="sng" w="152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17" name="Google Shape;1317;p43"/>
          <p:cNvSpPr txBox="1"/>
          <p:nvPr/>
        </p:nvSpPr>
        <p:spPr>
          <a:xfrm>
            <a:off x="201168" y="6263640"/>
            <a:ext cx="1663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9FF14"/>
                </a:solidFill>
                <a:latin typeface="Calibri"/>
                <a:ea typeface="Calibri"/>
                <a:cs typeface="Calibri"/>
                <a:sym typeface="Calibri"/>
              </a:rPr>
              <a:t>14</a:t>
            </a:r>
            <a:endParaRPr b="0" i="0" sz="1400" u="none" cap="none" strike="noStrike">
              <a:solidFill>
                <a:srgbClr val="000000"/>
              </a:solidFill>
              <a:latin typeface="Arial"/>
              <a:ea typeface="Arial"/>
              <a:cs typeface="Arial"/>
              <a:sym typeface="Arial"/>
            </a:endParaRPr>
          </a:p>
        </p:txBody>
      </p:sp>
      <p:sp>
        <p:nvSpPr>
          <p:cNvPr id="1318" name="Google Shape;1318;p43"/>
          <p:cNvSpPr txBox="1"/>
          <p:nvPr/>
        </p:nvSpPr>
        <p:spPr>
          <a:xfrm>
            <a:off x="201168" y="6483096"/>
            <a:ext cx="16632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subdomains</a:t>
            </a:r>
            <a:endParaRPr b="0" i="0" sz="1400" u="none" cap="none" strike="noStrike">
              <a:solidFill>
                <a:srgbClr val="000000"/>
              </a:solidFill>
              <a:latin typeface="Arial"/>
              <a:ea typeface="Arial"/>
              <a:cs typeface="Arial"/>
              <a:sym typeface="Arial"/>
            </a:endParaRPr>
          </a:p>
        </p:txBody>
      </p:sp>
      <p:sp>
        <p:nvSpPr>
          <p:cNvPr id="1319" name="Google Shape;1319;p43"/>
          <p:cNvSpPr txBox="1"/>
          <p:nvPr/>
        </p:nvSpPr>
        <p:spPr>
          <a:xfrm>
            <a:off x="1864461" y="6263640"/>
            <a:ext cx="1663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9FF14"/>
                </a:solidFill>
                <a:latin typeface="Calibri"/>
                <a:ea typeface="Calibri"/>
                <a:cs typeface="Calibri"/>
                <a:sym typeface="Calibri"/>
              </a:rPr>
              <a:t>11</a:t>
            </a:r>
            <a:endParaRPr b="0" i="0" sz="1400" u="none" cap="none" strike="noStrike">
              <a:solidFill>
                <a:srgbClr val="000000"/>
              </a:solidFill>
              <a:latin typeface="Arial"/>
              <a:ea typeface="Arial"/>
              <a:cs typeface="Arial"/>
              <a:sym typeface="Arial"/>
            </a:endParaRPr>
          </a:p>
        </p:txBody>
      </p:sp>
      <p:sp>
        <p:nvSpPr>
          <p:cNvPr id="1320" name="Google Shape;1320;p43"/>
          <p:cNvSpPr txBox="1"/>
          <p:nvPr/>
        </p:nvSpPr>
        <p:spPr>
          <a:xfrm>
            <a:off x="1864461" y="6483096"/>
            <a:ext cx="16632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live hosts</a:t>
            </a:r>
            <a:endParaRPr b="0" i="0" sz="1400" u="none" cap="none" strike="noStrike">
              <a:solidFill>
                <a:srgbClr val="000000"/>
              </a:solidFill>
              <a:latin typeface="Arial"/>
              <a:ea typeface="Arial"/>
              <a:cs typeface="Arial"/>
              <a:sym typeface="Arial"/>
            </a:endParaRPr>
          </a:p>
        </p:txBody>
      </p:sp>
      <p:sp>
        <p:nvSpPr>
          <p:cNvPr id="1321" name="Google Shape;1321;p43"/>
          <p:cNvSpPr txBox="1"/>
          <p:nvPr/>
        </p:nvSpPr>
        <p:spPr>
          <a:xfrm>
            <a:off x="3527755" y="6263640"/>
            <a:ext cx="1663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E5FF"/>
                </a:solidFill>
                <a:latin typeface="Calibri"/>
                <a:ea typeface="Calibri"/>
                <a:cs typeface="Calibri"/>
                <a:sym typeface="Calibri"/>
              </a:rPr>
              <a:t>28</a:t>
            </a:r>
            <a:endParaRPr b="0" i="0" sz="1400" u="none" cap="none" strike="noStrike">
              <a:solidFill>
                <a:srgbClr val="000000"/>
              </a:solidFill>
              <a:latin typeface="Arial"/>
              <a:ea typeface="Arial"/>
              <a:cs typeface="Arial"/>
              <a:sym typeface="Arial"/>
            </a:endParaRPr>
          </a:p>
        </p:txBody>
      </p:sp>
      <p:sp>
        <p:nvSpPr>
          <p:cNvPr id="1322" name="Google Shape;1322;p43"/>
          <p:cNvSpPr txBox="1"/>
          <p:nvPr/>
        </p:nvSpPr>
        <p:spPr>
          <a:xfrm>
            <a:off x="3527755" y="6483096"/>
            <a:ext cx="16632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open ports</a:t>
            </a:r>
            <a:endParaRPr b="0" i="0" sz="1400" u="none" cap="none" strike="noStrike">
              <a:solidFill>
                <a:srgbClr val="000000"/>
              </a:solidFill>
              <a:latin typeface="Arial"/>
              <a:ea typeface="Arial"/>
              <a:cs typeface="Arial"/>
              <a:sym typeface="Arial"/>
            </a:endParaRPr>
          </a:p>
        </p:txBody>
      </p:sp>
      <p:sp>
        <p:nvSpPr>
          <p:cNvPr id="1323" name="Google Shape;1323;p43"/>
          <p:cNvSpPr txBox="1"/>
          <p:nvPr/>
        </p:nvSpPr>
        <p:spPr>
          <a:xfrm>
            <a:off x="5191048" y="6263640"/>
            <a:ext cx="1663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E5FF"/>
                </a:solidFill>
                <a:latin typeface="Calibri"/>
                <a:ea typeface="Calibri"/>
                <a:cs typeface="Calibri"/>
                <a:sym typeface="Calibri"/>
              </a:rPr>
              <a:t>19</a:t>
            </a:r>
            <a:endParaRPr b="0" i="0" sz="1400" u="none" cap="none" strike="noStrike">
              <a:solidFill>
                <a:srgbClr val="000000"/>
              </a:solidFill>
              <a:latin typeface="Arial"/>
              <a:ea typeface="Arial"/>
              <a:cs typeface="Arial"/>
              <a:sym typeface="Arial"/>
            </a:endParaRPr>
          </a:p>
        </p:txBody>
      </p:sp>
      <p:sp>
        <p:nvSpPr>
          <p:cNvPr id="1324" name="Google Shape;1324;p43"/>
          <p:cNvSpPr txBox="1"/>
          <p:nvPr/>
        </p:nvSpPr>
        <p:spPr>
          <a:xfrm>
            <a:off x="5191048" y="6483096"/>
            <a:ext cx="16632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endpoints</a:t>
            </a:r>
            <a:endParaRPr b="0" i="0" sz="1400" u="none" cap="none" strike="noStrike">
              <a:solidFill>
                <a:srgbClr val="000000"/>
              </a:solidFill>
              <a:latin typeface="Arial"/>
              <a:ea typeface="Arial"/>
              <a:cs typeface="Arial"/>
              <a:sym typeface="Arial"/>
            </a:endParaRPr>
          </a:p>
        </p:txBody>
      </p:sp>
      <p:sp>
        <p:nvSpPr>
          <p:cNvPr id="1325" name="Google Shape;1325;p43"/>
          <p:cNvSpPr txBox="1"/>
          <p:nvPr/>
        </p:nvSpPr>
        <p:spPr>
          <a:xfrm>
            <a:off x="6854342" y="6263640"/>
            <a:ext cx="1663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D700"/>
                </a:solidFill>
                <a:latin typeface="Calibri"/>
                <a:ea typeface="Calibri"/>
                <a:cs typeface="Calibri"/>
                <a:sym typeface="Calibri"/>
              </a:rPr>
              <a:t>11</a:t>
            </a:r>
            <a:endParaRPr b="0" i="0" sz="1400" u="none" cap="none" strike="noStrike">
              <a:solidFill>
                <a:srgbClr val="000000"/>
              </a:solidFill>
              <a:latin typeface="Arial"/>
              <a:ea typeface="Arial"/>
              <a:cs typeface="Arial"/>
              <a:sym typeface="Arial"/>
            </a:endParaRPr>
          </a:p>
        </p:txBody>
      </p:sp>
      <p:sp>
        <p:nvSpPr>
          <p:cNvPr id="1326" name="Google Shape;1326;p43"/>
          <p:cNvSpPr txBox="1"/>
          <p:nvPr/>
        </p:nvSpPr>
        <p:spPr>
          <a:xfrm>
            <a:off x="6854342" y="6483096"/>
            <a:ext cx="16632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vulnerabilities</a:t>
            </a:r>
            <a:endParaRPr b="0" i="0" sz="1400" u="none" cap="none" strike="noStrike">
              <a:solidFill>
                <a:srgbClr val="000000"/>
              </a:solidFill>
              <a:latin typeface="Arial"/>
              <a:ea typeface="Arial"/>
              <a:cs typeface="Arial"/>
              <a:sym typeface="Arial"/>
            </a:endParaRPr>
          </a:p>
        </p:txBody>
      </p:sp>
      <p:sp>
        <p:nvSpPr>
          <p:cNvPr id="1327" name="Google Shape;1327;p43"/>
          <p:cNvSpPr txBox="1"/>
          <p:nvPr/>
        </p:nvSpPr>
        <p:spPr>
          <a:xfrm>
            <a:off x="8517635" y="6263640"/>
            <a:ext cx="1663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4545"/>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
        <p:nvSpPr>
          <p:cNvPr id="1328" name="Google Shape;1328;p43"/>
          <p:cNvSpPr txBox="1"/>
          <p:nvPr/>
        </p:nvSpPr>
        <p:spPr>
          <a:xfrm>
            <a:off x="8517635" y="6483096"/>
            <a:ext cx="16632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validated chains</a:t>
            </a:r>
            <a:endParaRPr b="0" i="0" sz="1400" u="none" cap="none" strike="noStrike">
              <a:solidFill>
                <a:srgbClr val="000000"/>
              </a:solidFill>
              <a:latin typeface="Arial"/>
              <a:ea typeface="Arial"/>
              <a:cs typeface="Arial"/>
              <a:sym typeface="Arial"/>
            </a:endParaRPr>
          </a:p>
        </p:txBody>
      </p:sp>
      <p:sp>
        <p:nvSpPr>
          <p:cNvPr id="1329" name="Google Shape;1329;p43"/>
          <p:cNvSpPr txBox="1"/>
          <p:nvPr/>
        </p:nvSpPr>
        <p:spPr>
          <a:xfrm>
            <a:off x="10180929" y="6263640"/>
            <a:ext cx="1663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BD93F9"/>
                </a:solidFill>
                <a:latin typeface="Calibri"/>
                <a:ea typeface="Calibri"/>
                <a:cs typeface="Calibri"/>
                <a:sym typeface="Calibri"/>
              </a:rPr>
              <a:t>0</a:t>
            </a:r>
            <a:endParaRPr b="0" i="0" sz="1400" u="none" cap="none" strike="noStrike">
              <a:solidFill>
                <a:srgbClr val="000000"/>
              </a:solidFill>
              <a:latin typeface="Arial"/>
              <a:ea typeface="Arial"/>
              <a:cs typeface="Arial"/>
              <a:sym typeface="Arial"/>
            </a:endParaRPr>
          </a:p>
        </p:txBody>
      </p:sp>
      <p:sp>
        <p:nvSpPr>
          <p:cNvPr id="1330" name="Google Shape;1330;p43"/>
          <p:cNvSpPr txBox="1"/>
          <p:nvPr/>
        </p:nvSpPr>
        <p:spPr>
          <a:xfrm>
            <a:off x="10180929" y="6483096"/>
            <a:ext cx="1663200" cy="2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A0AAB8"/>
                </a:solidFill>
                <a:latin typeface="Calibri"/>
                <a:ea typeface="Calibri"/>
                <a:cs typeface="Calibri"/>
                <a:sym typeface="Calibri"/>
              </a:rPr>
              <a:t>manual commands</a:t>
            </a:r>
            <a:endParaRPr b="0" i="0" sz="1400" u="none" cap="none" strike="noStrike">
              <a:solidFill>
                <a:srgbClr val="000000"/>
              </a:solidFill>
              <a:latin typeface="Arial"/>
              <a:ea typeface="Arial"/>
              <a:cs typeface="Arial"/>
              <a:sym typeface="Arial"/>
            </a:endParaRPr>
          </a:p>
        </p:txBody>
      </p:sp>
      <p:sp>
        <p:nvSpPr>
          <p:cNvPr id="1331" name="Google Shape;1331;p43"/>
          <p:cNvSpPr txBox="1"/>
          <p:nvPr/>
        </p:nvSpPr>
        <p:spPr>
          <a:xfrm>
            <a:off x="11704321" y="54850"/>
            <a:ext cx="4023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lang="en-US" sz="1300">
                <a:solidFill>
                  <a:srgbClr val="FFD700"/>
                </a:solidFill>
                <a:latin typeface="Calibri"/>
                <a:ea typeface="Calibri"/>
                <a:cs typeface="Calibri"/>
                <a:sym typeface="Calibri"/>
              </a:rPr>
              <a:t>15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1335" name="Shape 1335"/>
        <p:cNvGrpSpPr/>
        <p:nvPr/>
      </p:nvGrpSpPr>
      <p:grpSpPr>
        <a:xfrm>
          <a:off x="0" y="0"/>
          <a:ext cx="0" cy="0"/>
          <a:chOff x="0" y="0"/>
          <a:chExt cx="0" cy="0"/>
        </a:xfrm>
      </p:grpSpPr>
      <p:sp>
        <p:nvSpPr>
          <p:cNvPr id="1336" name="Google Shape;1336;p44"/>
          <p:cNvSpPr/>
          <p:nvPr/>
        </p:nvSpPr>
        <p:spPr>
          <a:xfrm>
            <a:off x="0" y="0"/>
            <a:ext cx="54864" cy="68580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7" name="Google Shape;1337;p44"/>
          <p:cNvSpPr/>
          <p:nvPr/>
        </p:nvSpPr>
        <p:spPr>
          <a:xfrm>
            <a:off x="54864" y="0"/>
            <a:ext cx="12136831" cy="36576"/>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8" name="Google Shape;1338;p44"/>
          <p:cNvSpPr/>
          <p:nvPr/>
        </p:nvSpPr>
        <p:spPr>
          <a:xfrm>
            <a:off x="54864" y="6821424"/>
            <a:ext cx="12136831" cy="36576"/>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9" name="Google Shape;1339;p44"/>
          <p:cNvSpPr txBox="1"/>
          <p:nvPr/>
        </p:nvSpPr>
        <p:spPr>
          <a:xfrm>
            <a:off x="274320" y="64008"/>
            <a:ext cx="73152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FF4545"/>
                </a:solidFill>
                <a:latin typeface="Calibri"/>
                <a:ea typeface="Calibri"/>
                <a:cs typeface="Calibri"/>
                <a:sym typeface="Calibri"/>
              </a:rPr>
              <a:t>CHAIN-01 TRACEABILITY</a:t>
            </a:r>
            <a:endParaRPr/>
          </a:p>
        </p:txBody>
      </p:sp>
      <p:sp>
        <p:nvSpPr>
          <p:cNvPr id="1340" name="Google Shape;1340;p44"/>
          <p:cNvSpPr txBox="1"/>
          <p:nvPr/>
        </p:nvSpPr>
        <p:spPr>
          <a:xfrm>
            <a:off x="274320" y="292608"/>
            <a:ext cx="11430000" cy="4754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300">
                <a:solidFill>
                  <a:srgbClr val="FFFFFF"/>
                </a:solidFill>
                <a:latin typeface="Calibri"/>
                <a:ea typeface="Calibri"/>
                <a:cs typeface="Calibri"/>
                <a:sym typeface="Calibri"/>
              </a:rPr>
              <a:t>CVE-2022-21661 → SQL Injection → RCE → Customer PII — Full Evidence Chain</a:t>
            </a:r>
            <a:endParaRPr/>
          </a:p>
        </p:txBody>
      </p:sp>
      <p:sp>
        <p:nvSpPr>
          <p:cNvPr id="1341" name="Google Shape;1341;p44"/>
          <p:cNvSpPr/>
          <p:nvPr/>
        </p:nvSpPr>
        <p:spPr>
          <a:xfrm>
            <a:off x="274320" y="822960"/>
            <a:ext cx="10058400" cy="27432"/>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2" name="Google Shape;1342;p44"/>
          <p:cNvSpPr/>
          <p:nvPr/>
        </p:nvSpPr>
        <p:spPr>
          <a:xfrm>
            <a:off x="201168" y="896112"/>
            <a:ext cx="11789359" cy="713232"/>
          </a:xfrm>
          <a:prstGeom prst="rect">
            <a:avLst/>
          </a:prstGeom>
          <a:solidFill>
            <a:srgbClr val="04180C"/>
          </a:solidFill>
          <a:ln cap="flat" cmpd="sng" w="1777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3" name="Google Shape;1343;p44"/>
          <p:cNvSpPr/>
          <p:nvPr/>
        </p:nvSpPr>
        <p:spPr>
          <a:xfrm>
            <a:off x="201168" y="896112"/>
            <a:ext cx="1645920" cy="713232"/>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4" name="Google Shape;1344;p44"/>
          <p:cNvSpPr txBox="1"/>
          <p:nvPr/>
        </p:nvSpPr>
        <p:spPr>
          <a:xfrm>
            <a:off x="237744" y="950976"/>
            <a:ext cx="1572768" cy="62179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50">
                <a:solidFill>
                  <a:srgbClr val="0A0D1A"/>
                </a:solidFill>
                <a:latin typeface="Calibri"/>
                <a:ea typeface="Calibri"/>
                <a:cs typeface="Calibri"/>
                <a:sym typeface="Calibri"/>
              </a:rPr>
              <a:t>ASG</a:t>
            </a:r>
            <a:br>
              <a:rPr b="1" i="0" lang="en-US" sz="850">
                <a:solidFill>
                  <a:srgbClr val="0A0D1A"/>
                </a:solidFill>
                <a:latin typeface="Calibri"/>
                <a:ea typeface="Calibri"/>
                <a:cs typeface="Calibri"/>
                <a:sym typeface="Calibri"/>
              </a:rPr>
            </a:br>
            <a:r>
              <a:rPr b="1" i="0" lang="en-US" sz="850">
                <a:solidFill>
                  <a:srgbClr val="0A0D1A"/>
                </a:solidFill>
                <a:latin typeface="Calibri"/>
                <a:ea typeface="Calibri"/>
                <a:cs typeface="Calibri"/>
                <a:sym typeface="Calibri"/>
              </a:rPr>
              <a:t>DISCOVERY</a:t>
            </a:r>
            <a:endParaRPr/>
          </a:p>
        </p:txBody>
      </p:sp>
      <p:sp>
        <p:nvSpPr>
          <p:cNvPr id="1345" name="Google Shape;1345;p44"/>
          <p:cNvSpPr/>
          <p:nvPr/>
        </p:nvSpPr>
        <p:spPr>
          <a:xfrm>
            <a:off x="1938528" y="950976"/>
            <a:ext cx="1586941" cy="603504"/>
          </a:xfrm>
          <a:prstGeom prst="rect">
            <a:avLst/>
          </a:prstGeom>
          <a:solidFill>
            <a:srgbClr val="062410"/>
          </a:solidFill>
          <a:ln cap="flat" cmpd="sng" w="1015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6" name="Google Shape;1346;p44"/>
          <p:cNvSpPr txBox="1"/>
          <p:nvPr/>
        </p:nvSpPr>
        <p:spPr>
          <a:xfrm>
            <a:off x="1938528" y="987552"/>
            <a:ext cx="1586941" cy="5852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00">
                <a:solidFill>
                  <a:srgbClr val="39FF14"/>
                </a:solidFill>
                <a:latin typeface="Calibri"/>
                <a:ea typeface="Calibri"/>
                <a:cs typeface="Calibri"/>
                <a:sym typeface="Calibri"/>
              </a:rPr>
              <a:t>Domain</a:t>
            </a:r>
            <a:br>
              <a:rPr b="1" i="0" lang="en-US" sz="800">
                <a:solidFill>
                  <a:srgbClr val="39FF14"/>
                </a:solidFill>
                <a:latin typeface="Calibri"/>
                <a:ea typeface="Calibri"/>
                <a:cs typeface="Calibri"/>
                <a:sym typeface="Calibri"/>
              </a:rPr>
            </a:br>
            <a:r>
              <a:rPr b="1" i="0" lang="en-US" sz="800">
                <a:solidFill>
                  <a:srgbClr val="39FF14"/>
                </a:solidFill>
                <a:latin typeface="Calibri"/>
                <a:ea typeface="Calibri"/>
                <a:cs typeface="Calibri"/>
                <a:sym typeface="Calibri"/>
              </a:rPr>
              <a:t>shopvault.io</a:t>
            </a:r>
            <a:endParaRPr/>
          </a:p>
        </p:txBody>
      </p:sp>
      <p:sp>
        <p:nvSpPr>
          <p:cNvPr id="1347" name="Google Shape;1347;p44"/>
          <p:cNvSpPr/>
          <p:nvPr/>
        </p:nvSpPr>
        <p:spPr>
          <a:xfrm>
            <a:off x="3598621" y="950976"/>
            <a:ext cx="1586941" cy="603504"/>
          </a:xfrm>
          <a:prstGeom prst="rect">
            <a:avLst/>
          </a:prstGeom>
          <a:solidFill>
            <a:srgbClr val="062410"/>
          </a:solidFill>
          <a:ln cap="flat" cmpd="sng" w="1015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8" name="Google Shape;1348;p44"/>
          <p:cNvSpPr txBox="1"/>
          <p:nvPr/>
        </p:nvSpPr>
        <p:spPr>
          <a:xfrm>
            <a:off x="3598621" y="987552"/>
            <a:ext cx="1586941" cy="5852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00">
                <a:solidFill>
                  <a:srgbClr val="39FF14"/>
                </a:solidFill>
                <a:latin typeface="Calibri"/>
                <a:ea typeface="Calibri"/>
                <a:cs typeface="Calibri"/>
                <a:sym typeface="Calibri"/>
              </a:rPr>
              <a:t>→ Host</a:t>
            </a:r>
            <a:br>
              <a:rPr b="1" i="0" lang="en-US" sz="800">
                <a:solidFill>
                  <a:srgbClr val="39FF14"/>
                </a:solidFill>
                <a:latin typeface="Calibri"/>
                <a:ea typeface="Calibri"/>
                <a:cs typeface="Calibri"/>
                <a:sym typeface="Calibri"/>
              </a:rPr>
            </a:br>
            <a:r>
              <a:rPr b="1" i="0" lang="en-US" sz="800">
                <a:solidFill>
                  <a:srgbClr val="39FF14"/>
                </a:solidFill>
                <a:latin typeface="Calibri"/>
                <a:ea typeface="Calibri"/>
                <a:cs typeface="Calibri"/>
                <a:sym typeface="Calibri"/>
              </a:rPr>
              <a:t>192.168.1.10</a:t>
            </a:r>
            <a:endParaRPr/>
          </a:p>
        </p:txBody>
      </p:sp>
      <p:sp>
        <p:nvSpPr>
          <p:cNvPr id="1349" name="Google Shape;1349;p44"/>
          <p:cNvSpPr/>
          <p:nvPr/>
        </p:nvSpPr>
        <p:spPr>
          <a:xfrm>
            <a:off x="5258714" y="950976"/>
            <a:ext cx="1586941" cy="603504"/>
          </a:xfrm>
          <a:prstGeom prst="rect">
            <a:avLst/>
          </a:prstGeom>
          <a:solidFill>
            <a:srgbClr val="062410"/>
          </a:solidFill>
          <a:ln cap="flat" cmpd="sng" w="1015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50" name="Google Shape;1350;p44"/>
          <p:cNvSpPr txBox="1"/>
          <p:nvPr/>
        </p:nvSpPr>
        <p:spPr>
          <a:xfrm>
            <a:off x="5258714" y="987552"/>
            <a:ext cx="1586941" cy="5852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00">
                <a:solidFill>
                  <a:srgbClr val="39FF14"/>
                </a:solidFill>
                <a:latin typeface="Calibri"/>
                <a:ea typeface="Calibri"/>
                <a:cs typeface="Calibri"/>
                <a:sym typeface="Calibri"/>
              </a:rPr>
              <a:t>→ Port</a:t>
            </a:r>
            <a:br>
              <a:rPr b="1" i="0" lang="en-US" sz="800">
                <a:solidFill>
                  <a:srgbClr val="39FF14"/>
                </a:solidFill>
                <a:latin typeface="Calibri"/>
                <a:ea typeface="Calibri"/>
                <a:cs typeface="Calibri"/>
                <a:sym typeface="Calibri"/>
              </a:rPr>
            </a:br>
            <a:r>
              <a:rPr b="1" i="0" lang="en-US" sz="800">
                <a:solidFill>
                  <a:srgbClr val="39FF14"/>
                </a:solidFill>
                <a:latin typeface="Calibri"/>
                <a:ea typeface="Calibri"/>
                <a:cs typeface="Calibri"/>
                <a:sym typeface="Calibri"/>
              </a:rPr>
              <a:t>:443</a:t>
            </a:r>
            <a:endParaRPr/>
          </a:p>
        </p:txBody>
      </p:sp>
      <p:sp>
        <p:nvSpPr>
          <p:cNvPr id="1351" name="Google Shape;1351;p44"/>
          <p:cNvSpPr/>
          <p:nvPr/>
        </p:nvSpPr>
        <p:spPr>
          <a:xfrm>
            <a:off x="6918807" y="950976"/>
            <a:ext cx="1586941" cy="603504"/>
          </a:xfrm>
          <a:prstGeom prst="rect">
            <a:avLst/>
          </a:prstGeom>
          <a:solidFill>
            <a:srgbClr val="062410"/>
          </a:solidFill>
          <a:ln cap="flat" cmpd="sng" w="1015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52" name="Google Shape;1352;p44"/>
          <p:cNvSpPr txBox="1"/>
          <p:nvPr/>
        </p:nvSpPr>
        <p:spPr>
          <a:xfrm>
            <a:off x="6918807" y="987552"/>
            <a:ext cx="1586941" cy="5852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00">
                <a:solidFill>
                  <a:srgbClr val="39FF14"/>
                </a:solidFill>
                <a:latin typeface="Calibri"/>
                <a:ea typeface="Calibri"/>
                <a:cs typeface="Calibri"/>
                <a:sym typeface="Calibri"/>
              </a:rPr>
              <a:t>→ Service</a:t>
            </a:r>
            <a:br>
              <a:rPr b="1" i="0" lang="en-US" sz="800">
                <a:solidFill>
                  <a:srgbClr val="39FF14"/>
                </a:solidFill>
                <a:latin typeface="Calibri"/>
                <a:ea typeface="Calibri"/>
                <a:cs typeface="Calibri"/>
                <a:sym typeface="Calibri"/>
              </a:rPr>
            </a:br>
            <a:r>
              <a:rPr b="1" i="0" lang="en-US" sz="800">
                <a:solidFill>
                  <a:srgbClr val="39FF14"/>
                </a:solidFill>
                <a:latin typeface="Calibri"/>
                <a:ea typeface="Calibri"/>
                <a:cs typeface="Calibri"/>
                <a:sym typeface="Calibri"/>
              </a:rPr>
              <a:t>Nginx 1.18.0</a:t>
            </a:r>
            <a:endParaRPr/>
          </a:p>
        </p:txBody>
      </p:sp>
      <p:sp>
        <p:nvSpPr>
          <p:cNvPr id="1353" name="Google Shape;1353;p44"/>
          <p:cNvSpPr/>
          <p:nvPr/>
        </p:nvSpPr>
        <p:spPr>
          <a:xfrm>
            <a:off x="8578900" y="950976"/>
            <a:ext cx="1586941" cy="603504"/>
          </a:xfrm>
          <a:prstGeom prst="rect">
            <a:avLst/>
          </a:prstGeom>
          <a:solidFill>
            <a:srgbClr val="062410"/>
          </a:solidFill>
          <a:ln cap="flat" cmpd="sng" w="101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54" name="Google Shape;1354;p44"/>
          <p:cNvSpPr txBox="1"/>
          <p:nvPr/>
        </p:nvSpPr>
        <p:spPr>
          <a:xfrm>
            <a:off x="8578900" y="987552"/>
            <a:ext cx="1586941" cy="5852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00">
                <a:solidFill>
                  <a:srgbClr val="00E5FF"/>
                </a:solidFill>
                <a:latin typeface="Calibri"/>
                <a:ea typeface="Calibri"/>
                <a:cs typeface="Calibri"/>
                <a:sym typeface="Calibri"/>
              </a:rPr>
              <a:t>→ Technology</a:t>
            </a:r>
            <a:br>
              <a:rPr b="1" i="0" lang="en-US" sz="800">
                <a:solidFill>
                  <a:srgbClr val="00E5FF"/>
                </a:solidFill>
                <a:latin typeface="Calibri"/>
                <a:ea typeface="Calibri"/>
                <a:cs typeface="Calibri"/>
                <a:sym typeface="Calibri"/>
              </a:rPr>
            </a:br>
            <a:r>
              <a:rPr b="1" i="0" lang="en-US" sz="800">
                <a:solidFill>
                  <a:srgbClr val="00E5FF"/>
                </a:solidFill>
                <a:latin typeface="Calibri"/>
                <a:ea typeface="Calibri"/>
                <a:cs typeface="Calibri"/>
                <a:sym typeface="Calibri"/>
              </a:rPr>
              <a:t>WordPress 5.9.3</a:t>
            </a:r>
            <a:endParaRPr/>
          </a:p>
        </p:txBody>
      </p:sp>
      <p:sp>
        <p:nvSpPr>
          <p:cNvPr id="1355" name="Google Shape;1355;p44"/>
          <p:cNvSpPr/>
          <p:nvPr/>
        </p:nvSpPr>
        <p:spPr>
          <a:xfrm>
            <a:off x="10238993" y="950976"/>
            <a:ext cx="1586941" cy="603504"/>
          </a:xfrm>
          <a:prstGeom prst="rect">
            <a:avLst/>
          </a:prstGeom>
          <a:solidFill>
            <a:srgbClr val="062410"/>
          </a:solidFill>
          <a:ln cap="flat" cmpd="sng" w="1015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56" name="Google Shape;1356;p44"/>
          <p:cNvSpPr txBox="1"/>
          <p:nvPr/>
        </p:nvSpPr>
        <p:spPr>
          <a:xfrm>
            <a:off x="10238993" y="987552"/>
            <a:ext cx="1586941" cy="5852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00">
                <a:solidFill>
                  <a:srgbClr val="FF4545"/>
                </a:solidFill>
                <a:latin typeface="Calibri"/>
                <a:ea typeface="Calibri"/>
                <a:cs typeface="Calibri"/>
                <a:sym typeface="Calibri"/>
              </a:rPr>
              <a:t>→ Vulnerability</a:t>
            </a:r>
            <a:br>
              <a:rPr b="1" i="0" lang="en-US" sz="800">
                <a:solidFill>
                  <a:srgbClr val="FF4545"/>
                </a:solidFill>
                <a:latin typeface="Calibri"/>
                <a:ea typeface="Calibri"/>
                <a:cs typeface="Calibri"/>
                <a:sym typeface="Calibri"/>
              </a:rPr>
            </a:br>
            <a:r>
              <a:rPr b="1" i="0" lang="en-US" sz="800">
                <a:solidFill>
                  <a:srgbClr val="FF4545"/>
                </a:solidFill>
                <a:latin typeface="Calibri"/>
                <a:ea typeface="Calibri"/>
                <a:cs typeface="Calibri"/>
                <a:sym typeface="Calibri"/>
              </a:rPr>
              <a:t>CVE-2022-21661</a:t>
            </a:r>
            <a:br>
              <a:rPr b="1" i="0" lang="en-US" sz="800">
                <a:solidFill>
                  <a:srgbClr val="FF4545"/>
                </a:solidFill>
                <a:latin typeface="Calibri"/>
                <a:ea typeface="Calibri"/>
                <a:cs typeface="Calibri"/>
                <a:sym typeface="Calibri"/>
              </a:rPr>
            </a:br>
            <a:r>
              <a:rPr b="1" i="0" lang="en-US" sz="800">
                <a:solidFill>
                  <a:srgbClr val="FF4545"/>
                </a:solidFill>
                <a:latin typeface="Calibri"/>
                <a:ea typeface="Calibri"/>
                <a:cs typeface="Calibri"/>
                <a:sym typeface="Calibri"/>
              </a:rPr>
              <a:t>CVSS 8.8</a:t>
            </a:r>
            <a:endParaRPr/>
          </a:p>
        </p:txBody>
      </p:sp>
      <p:cxnSp>
        <p:nvCxnSpPr>
          <p:cNvPr id="1357" name="Google Shape;1357;p44"/>
          <p:cNvCxnSpPr/>
          <p:nvPr/>
        </p:nvCxnSpPr>
        <p:spPr>
          <a:xfrm>
            <a:off x="0" y="1609344"/>
            <a:ext cx="0" cy="182880"/>
          </a:xfrm>
          <a:prstGeom prst="straightConnector1">
            <a:avLst/>
          </a:prstGeom>
          <a:noFill/>
          <a:ln cap="flat" cmpd="sng" w="20300">
            <a:solidFill>
              <a:srgbClr val="FFD700"/>
            </a:solidFill>
            <a:prstDash val="solid"/>
            <a:round/>
            <a:headEnd len="med" w="med" type="stealth"/>
            <a:tailEnd len="sm" w="sm" type="none"/>
          </a:ln>
          <a:effectLst>
            <a:outerShdw blurRad="40000" rotWithShape="0" dir="5400000" dist="20000">
              <a:srgbClr val="000000">
                <a:alpha val="38039"/>
              </a:srgbClr>
            </a:outerShdw>
          </a:effectLst>
        </p:spPr>
      </p:cxnSp>
      <p:sp>
        <p:nvSpPr>
          <p:cNvPr id="1358" name="Google Shape;1358;p44"/>
          <p:cNvSpPr txBox="1"/>
          <p:nvPr/>
        </p:nvSpPr>
        <p:spPr>
          <a:xfrm>
            <a:off x="6168999" y="1627632"/>
            <a:ext cx="502920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800">
                <a:solidFill>
                  <a:srgbClr val="FFD700"/>
                </a:solidFill>
                <a:latin typeface="Calibri"/>
                <a:ea typeface="Calibri"/>
                <a:cs typeface="Calibri"/>
                <a:sym typeface="Calibri"/>
              </a:rPr>
              <a:t>starts_at: Vulnerability node → Commander seeds APG AttackChain</a:t>
            </a:r>
            <a:endParaRPr/>
          </a:p>
        </p:txBody>
      </p:sp>
      <p:sp>
        <p:nvSpPr>
          <p:cNvPr id="1359" name="Google Shape;1359;p44"/>
          <p:cNvSpPr/>
          <p:nvPr/>
        </p:nvSpPr>
        <p:spPr>
          <a:xfrm>
            <a:off x="201168" y="1865376"/>
            <a:ext cx="11789359" cy="4059936"/>
          </a:xfrm>
          <a:prstGeom prst="rect">
            <a:avLst/>
          </a:prstGeom>
          <a:solidFill>
            <a:srgbClr val="140C02"/>
          </a:solidFill>
          <a:ln cap="flat" cmpd="sng" w="1777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0" name="Google Shape;1360;p44"/>
          <p:cNvSpPr/>
          <p:nvPr/>
        </p:nvSpPr>
        <p:spPr>
          <a:xfrm>
            <a:off x="201168" y="1865376"/>
            <a:ext cx="11789359" cy="256032"/>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1" name="Google Shape;1361;p44"/>
          <p:cNvSpPr txBox="1"/>
          <p:nvPr/>
        </p:nvSpPr>
        <p:spPr>
          <a:xfrm>
            <a:off x="310896" y="1901952"/>
            <a:ext cx="11643055"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a:solidFill>
                  <a:srgbClr val="0A0D1A"/>
                </a:solidFill>
                <a:latin typeface="Calibri"/>
                <a:ea typeface="Calibri"/>
                <a:cs typeface="Calibri"/>
                <a:sym typeface="Calibri"/>
              </a:rPr>
              <a:t>APG  ·  AttackChain: Chain-01  ·  status: VALIDATED  ·  risk_score: 9.1</a:t>
            </a:r>
            <a:endParaRPr/>
          </a:p>
        </p:txBody>
      </p:sp>
      <p:sp>
        <p:nvSpPr>
          <p:cNvPr id="1362" name="Google Shape;1362;p44"/>
          <p:cNvSpPr/>
          <p:nvPr/>
        </p:nvSpPr>
        <p:spPr>
          <a:xfrm>
            <a:off x="201168" y="2157984"/>
            <a:ext cx="2892475" cy="3730752"/>
          </a:xfrm>
          <a:prstGeom prst="rect">
            <a:avLst/>
          </a:prstGeom>
          <a:solidFill>
            <a:srgbClr val="1E1402"/>
          </a:solidFill>
          <a:ln cap="flat" cmpd="sng" w="1777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3" name="Google Shape;1363;p44"/>
          <p:cNvSpPr/>
          <p:nvPr/>
        </p:nvSpPr>
        <p:spPr>
          <a:xfrm>
            <a:off x="201168" y="2157984"/>
            <a:ext cx="2892475" cy="219456"/>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4" name="Google Shape;1364;p44"/>
          <p:cNvSpPr txBox="1"/>
          <p:nvPr/>
        </p:nvSpPr>
        <p:spPr>
          <a:xfrm>
            <a:off x="256032" y="2185416"/>
            <a:ext cx="2526715"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00">
                <a:solidFill>
                  <a:srgbClr val="0A0D1A"/>
                </a:solidFill>
                <a:latin typeface="Calibri"/>
                <a:ea typeface="Calibri"/>
                <a:cs typeface="Calibri"/>
                <a:sym typeface="Calibri"/>
              </a:rPr>
              <a:t>ChainStep 1</a:t>
            </a:r>
            <a:br>
              <a:rPr b="1" i="0" lang="en-US" sz="800">
                <a:solidFill>
                  <a:srgbClr val="0A0D1A"/>
                </a:solidFill>
                <a:latin typeface="Calibri"/>
                <a:ea typeface="Calibri"/>
                <a:cs typeface="Calibri"/>
                <a:sym typeface="Calibri"/>
              </a:rPr>
            </a:br>
            <a:r>
              <a:rPr b="1" i="0" lang="en-US" sz="800">
                <a:solidFill>
                  <a:srgbClr val="0A0D1A"/>
                </a:solidFill>
                <a:latin typeface="Calibri"/>
                <a:ea typeface="Calibri"/>
                <a:cs typeface="Calibri"/>
                <a:sym typeface="Calibri"/>
              </a:rPr>
              <a:t>Recognise</a:t>
            </a:r>
            <a:endParaRPr/>
          </a:p>
        </p:txBody>
      </p:sp>
      <p:sp>
        <p:nvSpPr>
          <p:cNvPr id="1365" name="Google Shape;1365;p44"/>
          <p:cNvSpPr/>
          <p:nvPr/>
        </p:nvSpPr>
        <p:spPr>
          <a:xfrm>
            <a:off x="2096947" y="2176272"/>
            <a:ext cx="960120" cy="18288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6" name="Google Shape;1366;p44"/>
          <p:cNvSpPr txBox="1"/>
          <p:nvPr/>
        </p:nvSpPr>
        <p:spPr>
          <a:xfrm>
            <a:off x="2096947" y="2185416"/>
            <a:ext cx="960120" cy="16459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650">
                <a:solidFill>
                  <a:srgbClr val="0A0D1A"/>
                </a:solidFill>
                <a:latin typeface="Calibri"/>
                <a:ea typeface="Calibri"/>
                <a:cs typeface="Calibri"/>
                <a:sym typeface="Calibri"/>
              </a:rPr>
              <a:t>VALIDATED</a:t>
            </a:r>
            <a:endParaRPr/>
          </a:p>
        </p:txBody>
      </p:sp>
      <p:sp>
        <p:nvSpPr>
          <p:cNvPr id="1367" name="Google Shape;1367;p44"/>
          <p:cNvSpPr txBox="1"/>
          <p:nvPr/>
        </p:nvSpPr>
        <p:spPr>
          <a:xfrm>
            <a:off x="292608" y="2432304"/>
            <a:ext cx="2746171"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50">
                <a:solidFill>
                  <a:srgbClr val="A0AAB8"/>
                </a:solidFill>
                <a:latin typeface="Calibri"/>
                <a:ea typeface="Calibri"/>
                <a:cs typeface="Calibri"/>
                <a:sym typeface="Calibri"/>
              </a:rPr>
              <a:t>SQLMap → WP_Query SQLi confirmed</a:t>
            </a:r>
            <a:br>
              <a:rPr b="0" i="0" lang="en-US" sz="850">
                <a:solidFill>
                  <a:srgbClr val="A0AAB8"/>
                </a:solidFill>
                <a:latin typeface="Calibri"/>
                <a:ea typeface="Calibri"/>
                <a:cs typeface="Calibri"/>
                <a:sym typeface="Calibri"/>
              </a:rPr>
            </a:br>
            <a:r>
              <a:rPr b="0" i="0" lang="en-US" sz="850">
                <a:solidFill>
                  <a:srgbClr val="A0AAB8"/>
                </a:solidFill>
                <a:latin typeface="Calibri"/>
                <a:ea typeface="Calibri"/>
                <a:cs typeface="Calibri"/>
                <a:sym typeface="Calibri"/>
              </a:rPr>
              <a:t>Parameter: /?s= | Backend: MySQL 8.0</a:t>
            </a:r>
            <a:endParaRPr/>
          </a:p>
        </p:txBody>
      </p:sp>
      <p:sp>
        <p:nvSpPr>
          <p:cNvPr id="1368" name="Google Shape;1368;p44"/>
          <p:cNvSpPr/>
          <p:nvPr/>
        </p:nvSpPr>
        <p:spPr>
          <a:xfrm>
            <a:off x="274320" y="5230368"/>
            <a:ext cx="2764459" cy="603504"/>
          </a:xfrm>
          <a:prstGeom prst="rect">
            <a:avLst/>
          </a:prstGeom>
          <a:solidFill>
            <a:srgbClr val="10061E"/>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9" name="Google Shape;1369;p44"/>
          <p:cNvSpPr txBox="1"/>
          <p:nvPr/>
        </p:nvSpPr>
        <p:spPr>
          <a:xfrm>
            <a:off x="329184" y="5248656"/>
            <a:ext cx="2691307" cy="5669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00">
                <a:solidFill>
                  <a:srgbClr val="BD93F9"/>
                </a:solidFill>
                <a:latin typeface="Calibri"/>
                <a:ea typeface="Calibri"/>
                <a:cs typeface="Calibri"/>
                <a:sym typeface="Calibri"/>
              </a:rPr>
              <a:t>Evidence</a:t>
            </a:r>
            <a:br>
              <a:rPr b="0" i="0" lang="en-US" sz="800">
                <a:solidFill>
                  <a:srgbClr val="BD93F9"/>
                </a:solidFill>
                <a:latin typeface="Calibri"/>
                <a:ea typeface="Calibri"/>
                <a:cs typeface="Calibri"/>
                <a:sym typeface="Calibri"/>
              </a:rPr>
            </a:br>
            <a:r>
              <a:rPr b="0" i="0" lang="en-US" sz="800">
                <a:solidFill>
                  <a:srgbClr val="BD93F9"/>
                </a:solidFill>
                <a:latin typeface="Calibri"/>
                <a:ea typeface="Calibri"/>
                <a:cs typeface="Calibri"/>
                <a:sym typeface="Calibri"/>
              </a:rPr>
              <a:t>screenshot_sqli_01.png</a:t>
            </a:r>
            <a:br>
              <a:rPr b="0" i="0" lang="en-US" sz="800">
                <a:solidFill>
                  <a:srgbClr val="BD93F9"/>
                </a:solidFill>
                <a:latin typeface="Calibri"/>
                <a:ea typeface="Calibri"/>
                <a:cs typeface="Calibri"/>
                <a:sym typeface="Calibri"/>
              </a:rPr>
            </a:br>
            <a:r>
              <a:rPr b="0" i="0" lang="en-US" sz="800">
                <a:solidFill>
                  <a:srgbClr val="BD93F9"/>
                </a:solidFill>
                <a:latin typeface="Calibri"/>
                <a:ea typeface="Calibri"/>
                <a:cs typeface="Calibri"/>
                <a:sym typeface="Calibri"/>
              </a:rPr>
              <a:t>ASG Evidence node</a:t>
            </a:r>
            <a:endParaRPr/>
          </a:p>
        </p:txBody>
      </p:sp>
      <p:sp>
        <p:nvSpPr>
          <p:cNvPr id="1370" name="Google Shape;1370;p44"/>
          <p:cNvSpPr txBox="1"/>
          <p:nvPr/>
        </p:nvSpPr>
        <p:spPr>
          <a:xfrm>
            <a:off x="3038779" y="5266944"/>
            <a:ext cx="804672" cy="32918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1" lang="en-US" sz="650">
                <a:solidFill>
                  <a:srgbClr val="BD93F9"/>
                </a:solidFill>
                <a:latin typeface="Calibri"/>
                <a:ea typeface="Calibri"/>
                <a:cs typeface="Calibri"/>
                <a:sym typeface="Calibri"/>
              </a:rPr>
              <a:t>↗ supported_by</a:t>
            </a:r>
            <a:br>
              <a:rPr b="0" i="1" lang="en-US" sz="650">
                <a:solidFill>
                  <a:srgbClr val="BD93F9"/>
                </a:solidFill>
                <a:latin typeface="Calibri"/>
                <a:ea typeface="Calibri"/>
                <a:cs typeface="Calibri"/>
                <a:sym typeface="Calibri"/>
              </a:rPr>
            </a:br>
            <a:r>
              <a:rPr b="0" i="1" lang="en-US" sz="650">
                <a:solidFill>
                  <a:srgbClr val="BD93F9"/>
                </a:solidFill>
                <a:latin typeface="Calibri"/>
                <a:ea typeface="Calibri"/>
                <a:cs typeface="Calibri"/>
                <a:sym typeface="Calibri"/>
              </a:rPr>
              <a:t>ASG Evidence</a:t>
            </a:r>
            <a:endParaRPr/>
          </a:p>
        </p:txBody>
      </p:sp>
      <p:cxnSp>
        <p:nvCxnSpPr>
          <p:cNvPr id="1371" name="Google Shape;1371;p44"/>
          <p:cNvCxnSpPr/>
          <p:nvPr/>
        </p:nvCxnSpPr>
        <p:spPr>
          <a:xfrm>
            <a:off x="0" y="0"/>
            <a:ext cx="0" cy="0"/>
          </a:xfrm>
          <a:prstGeom prst="straightConnector1">
            <a:avLst/>
          </a:prstGeom>
          <a:noFill/>
          <a:ln cap="flat" cmpd="sng" w="17775">
            <a:solidFill>
              <a:srgbClr val="FFD700"/>
            </a:solidFill>
            <a:prstDash val="solid"/>
            <a:round/>
            <a:headEnd len="med" w="med" type="stealth"/>
            <a:tailEnd len="sm" w="sm" type="none"/>
          </a:ln>
          <a:effectLst>
            <a:outerShdw blurRad="40000" rotWithShape="0" dir="5400000" dist="20000">
              <a:srgbClr val="000000">
                <a:alpha val="38039"/>
              </a:srgbClr>
            </a:outerShdw>
          </a:effectLst>
        </p:spPr>
      </p:cxnSp>
      <p:sp>
        <p:nvSpPr>
          <p:cNvPr id="1372" name="Google Shape;1372;p44"/>
          <p:cNvSpPr txBox="1"/>
          <p:nvPr/>
        </p:nvSpPr>
        <p:spPr>
          <a:xfrm>
            <a:off x="3111931" y="3877056"/>
            <a:ext cx="640080" cy="1280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650">
                <a:solidFill>
                  <a:srgbClr val="A0AAB8"/>
                </a:solidFill>
                <a:latin typeface="Calibri"/>
                <a:ea typeface="Calibri"/>
                <a:cs typeface="Calibri"/>
                <a:sym typeface="Calibri"/>
              </a:rPr>
              <a:t>next_step</a:t>
            </a:r>
            <a:endParaRPr/>
          </a:p>
        </p:txBody>
      </p:sp>
      <p:sp>
        <p:nvSpPr>
          <p:cNvPr id="1373" name="Google Shape;1373;p44"/>
          <p:cNvSpPr/>
          <p:nvPr/>
        </p:nvSpPr>
        <p:spPr>
          <a:xfrm>
            <a:off x="3148507" y="2157984"/>
            <a:ext cx="2892475" cy="3730752"/>
          </a:xfrm>
          <a:prstGeom prst="rect">
            <a:avLst/>
          </a:prstGeom>
          <a:solidFill>
            <a:srgbClr val="1E1402"/>
          </a:solidFill>
          <a:ln cap="flat" cmpd="sng" w="1777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4" name="Google Shape;1374;p44"/>
          <p:cNvSpPr/>
          <p:nvPr/>
        </p:nvSpPr>
        <p:spPr>
          <a:xfrm>
            <a:off x="3148507" y="2157984"/>
            <a:ext cx="2892475" cy="219456"/>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5" name="Google Shape;1375;p44"/>
          <p:cNvSpPr txBox="1"/>
          <p:nvPr/>
        </p:nvSpPr>
        <p:spPr>
          <a:xfrm>
            <a:off x="3203371" y="2185416"/>
            <a:ext cx="2526715"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00">
                <a:solidFill>
                  <a:srgbClr val="0A0D1A"/>
                </a:solidFill>
                <a:latin typeface="Calibri"/>
                <a:ea typeface="Calibri"/>
                <a:cs typeface="Calibri"/>
                <a:sym typeface="Calibri"/>
              </a:rPr>
              <a:t>ChainStep 2</a:t>
            </a:r>
            <a:br>
              <a:rPr b="1" i="0" lang="en-US" sz="800">
                <a:solidFill>
                  <a:srgbClr val="0A0D1A"/>
                </a:solidFill>
                <a:latin typeface="Calibri"/>
                <a:ea typeface="Calibri"/>
                <a:cs typeface="Calibri"/>
                <a:sym typeface="Calibri"/>
              </a:rPr>
            </a:br>
            <a:r>
              <a:rPr b="1" i="0" lang="en-US" sz="800">
                <a:solidFill>
                  <a:srgbClr val="0A0D1A"/>
                </a:solidFill>
                <a:latin typeface="Calibri"/>
                <a:ea typeface="Calibri"/>
                <a:cs typeface="Calibri"/>
                <a:sym typeface="Calibri"/>
              </a:rPr>
              <a:t>Escalate</a:t>
            </a:r>
            <a:endParaRPr/>
          </a:p>
        </p:txBody>
      </p:sp>
      <p:sp>
        <p:nvSpPr>
          <p:cNvPr id="1376" name="Google Shape;1376;p44"/>
          <p:cNvSpPr/>
          <p:nvPr/>
        </p:nvSpPr>
        <p:spPr>
          <a:xfrm>
            <a:off x="5044287" y="2176272"/>
            <a:ext cx="960120" cy="18288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7" name="Google Shape;1377;p44"/>
          <p:cNvSpPr txBox="1"/>
          <p:nvPr/>
        </p:nvSpPr>
        <p:spPr>
          <a:xfrm>
            <a:off x="5044287" y="2185416"/>
            <a:ext cx="960120" cy="16459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650">
                <a:solidFill>
                  <a:srgbClr val="0A0D1A"/>
                </a:solidFill>
                <a:latin typeface="Calibri"/>
                <a:ea typeface="Calibri"/>
                <a:cs typeface="Calibri"/>
                <a:sym typeface="Calibri"/>
              </a:rPr>
              <a:t>VALIDATED</a:t>
            </a:r>
            <a:endParaRPr/>
          </a:p>
        </p:txBody>
      </p:sp>
      <p:sp>
        <p:nvSpPr>
          <p:cNvPr id="1378" name="Google Shape;1378;p44"/>
          <p:cNvSpPr txBox="1"/>
          <p:nvPr/>
        </p:nvSpPr>
        <p:spPr>
          <a:xfrm>
            <a:off x="3239947" y="2432304"/>
            <a:ext cx="2746171"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50">
                <a:solidFill>
                  <a:srgbClr val="A0AAB8"/>
                </a:solidFill>
                <a:latin typeface="Calibri"/>
                <a:ea typeface="Calibri"/>
                <a:cs typeface="Calibri"/>
                <a:sym typeface="Calibri"/>
              </a:rPr>
              <a:t>Admin password hash extracted</a:t>
            </a:r>
            <a:br>
              <a:rPr b="0" i="0" lang="en-US" sz="850">
                <a:solidFill>
                  <a:srgbClr val="A0AAB8"/>
                </a:solidFill>
                <a:latin typeface="Calibri"/>
                <a:ea typeface="Calibri"/>
                <a:cs typeface="Calibri"/>
                <a:sym typeface="Calibri"/>
              </a:rPr>
            </a:br>
            <a:r>
              <a:rPr b="0" i="0" lang="en-US" sz="850">
                <a:solidFill>
                  <a:srgbClr val="A0AAB8"/>
                </a:solidFill>
                <a:latin typeface="Calibri"/>
                <a:ea typeface="Calibri"/>
                <a:cs typeface="Calibri"/>
                <a:sym typeface="Calibri"/>
              </a:rPr>
              <a:t>Cracked offline (MD5) → admin:Welcome1!</a:t>
            </a:r>
            <a:endParaRPr/>
          </a:p>
        </p:txBody>
      </p:sp>
      <p:sp>
        <p:nvSpPr>
          <p:cNvPr id="1379" name="Google Shape;1379;p44"/>
          <p:cNvSpPr/>
          <p:nvPr/>
        </p:nvSpPr>
        <p:spPr>
          <a:xfrm>
            <a:off x="3221659" y="5230368"/>
            <a:ext cx="2764459" cy="603504"/>
          </a:xfrm>
          <a:prstGeom prst="rect">
            <a:avLst/>
          </a:prstGeom>
          <a:solidFill>
            <a:srgbClr val="10061E"/>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0" name="Google Shape;1380;p44"/>
          <p:cNvSpPr txBox="1"/>
          <p:nvPr/>
        </p:nvSpPr>
        <p:spPr>
          <a:xfrm>
            <a:off x="3276523" y="5248656"/>
            <a:ext cx="2691307" cy="5669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00">
                <a:solidFill>
                  <a:srgbClr val="BD93F9"/>
                </a:solidFill>
                <a:latin typeface="Calibri"/>
                <a:ea typeface="Calibri"/>
                <a:cs typeface="Calibri"/>
                <a:sym typeface="Calibri"/>
              </a:rPr>
              <a:t>Evidence</a:t>
            </a:r>
            <a:br>
              <a:rPr b="0" i="0" lang="en-US" sz="800">
                <a:solidFill>
                  <a:srgbClr val="BD93F9"/>
                </a:solidFill>
                <a:latin typeface="Calibri"/>
                <a:ea typeface="Calibri"/>
                <a:cs typeface="Calibri"/>
                <a:sym typeface="Calibri"/>
              </a:rPr>
            </a:br>
            <a:r>
              <a:rPr b="0" i="0" lang="en-US" sz="800">
                <a:solidFill>
                  <a:srgbClr val="BD93F9"/>
                </a:solidFill>
                <a:latin typeface="Calibri"/>
                <a:ea typeface="Calibri"/>
                <a:cs typeface="Calibri"/>
                <a:sym typeface="Calibri"/>
              </a:rPr>
              <a:t>hash_dump.txt</a:t>
            </a:r>
            <a:br>
              <a:rPr b="0" i="0" lang="en-US" sz="800">
                <a:solidFill>
                  <a:srgbClr val="BD93F9"/>
                </a:solidFill>
                <a:latin typeface="Calibri"/>
                <a:ea typeface="Calibri"/>
                <a:cs typeface="Calibri"/>
                <a:sym typeface="Calibri"/>
              </a:rPr>
            </a:br>
            <a:r>
              <a:rPr b="0" i="0" lang="en-US" sz="800">
                <a:solidFill>
                  <a:srgbClr val="BD93F9"/>
                </a:solidFill>
                <a:latin typeface="Calibri"/>
                <a:ea typeface="Calibri"/>
                <a:cs typeface="Calibri"/>
                <a:sym typeface="Calibri"/>
              </a:rPr>
              <a:t>ASG Evidence node</a:t>
            </a:r>
            <a:endParaRPr/>
          </a:p>
        </p:txBody>
      </p:sp>
      <p:sp>
        <p:nvSpPr>
          <p:cNvPr id="1381" name="Google Shape;1381;p44"/>
          <p:cNvSpPr txBox="1"/>
          <p:nvPr/>
        </p:nvSpPr>
        <p:spPr>
          <a:xfrm>
            <a:off x="5986119" y="5266944"/>
            <a:ext cx="804672" cy="32918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1" lang="en-US" sz="650">
                <a:solidFill>
                  <a:srgbClr val="BD93F9"/>
                </a:solidFill>
                <a:latin typeface="Calibri"/>
                <a:ea typeface="Calibri"/>
                <a:cs typeface="Calibri"/>
                <a:sym typeface="Calibri"/>
              </a:rPr>
              <a:t>↗ supported_by</a:t>
            </a:r>
            <a:br>
              <a:rPr b="0" i="1" lang="en-US" sz="650">
                <a:solidFill>
                  <a:srgbClr val="BD93F9"/>
                </a:solidFill>
                <a:latin typeface="Calibri"/>
                <a:ea typeface="Calibri"/>
                <a:cs typeface="Calibri"/>
                <a:sym typeface="Calibri"/>
              </a:rPr>
            </a:br>
            <a:r>
              <a:rPr b="0" i="1" lang="en-US" sz="650">
                <a:solidFill>
                  <a:srgbClr val="BD93F9"/>
                </a:solidFill>
                <a:latin typeface="Calibri"/>
                <a:ea typeface="Calibri"/>
                <a:cs typeface="Calibri"/>
                <a:sym typeface="Calibri"/>
              </a:rPr>
              <a:t>ASG Evidence</a:t>
            </a:r>
            <a:endParaRPr/>
          </a:p>
        </p:txBody>
      </p:sp>
      <p:cxnSp>
        <p:nvCxnSpPr>
          <p:cNvPr id="1382" name="Google Shape;1382;p44"/>
          <p:cNvCxnSpPr/>
          <p:nvPr/>
        </p:nvCxnSpPr>
        <p:spPr>
          <a:xfrm>
            <a:off x="0" y="0"/>
            <a:ext cx="0" cy="0"/>
          </a:xfrm>
          <a:prstGeom prst="straightConnector1">
            <a:avLst/>
          </a:prstGeom>
          <a:noFill/>
          <a:ln cap="flat" cmpd="sng" w="17775">
            <a:solidFill>
              <a:srgbClr val="FFD700"/>
            </a:solidFill>
            <a:prstDash val="solid"/>
            <a:round/>
            <a:headEnd len="med" w="med" type="stealth"/>
            <a:tailEnd len="sm" w="sm" type="none"/>
          </a:ln>
          <a:effectLst>
            <a:outerShdw blurRad="40000" rotWithShape="0" dir="5400000" dist="20000">
              <a:srgbClr val="000000">
                <a:alpha val="38039"/>
              </a:srgbClr>
            </a:outerShdw>
          </a:effectLst>
        </p:spPr>
      </p:cxnSp>
      <p:sp>
        <p:nvSpPr>
          <p:cNvPr id="1383" name="Google Shape;1383;p44"/>
          <p:cNvSpPr txBox="1"/>
          <p:nvPr/>
        </p:nvSpPr>
        <p:spPr>
          <a:xfrm>
            <a:off x="6059271" y="3877056"/>
            <a:ext cx="640080" cy="1280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650">
                <a:solidFill>
                  <a:srgbClr val="A0AAB8"/>
                </a:solidFill>
                <a:latin typeface="Calibri"/>
                <a:ea typeface="Calibri"/>
                <a:cs typeface="Calibri"/>
                <a:sym typeface="Calibri"/>
              </a:rPr>
              <a:t>next_step</a:t>
            </a:r>
            <a:endParaRPr/>
          </a:p>
        </p:txBody>
      </p:sp>
      <p:sp>
        <p:nvSpPr>
          <p:cNvPr id="1384" name="Google Shape;1384;p44"/>
          <p:cNvSpPr/>
          <p:nvPr/>
        </p:nvSpPr>
        <p:spPr>
          <a:xfrm>
            <a:off x="6095847" y="2157984"/>
            <a:ext cx="2892475" cy="3730752"/>
          </a:xfrm>
          <a:prstGeom prst="rect">
            <a:avLst/>
          </a:prstGeom>
          <a:solidFill>
            <a:srgbClr val="1E1402"/>
          </a:solidFill>
          <a:ln cap="flat" cmpd="sng" w="1777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5" name="Google Shape;1385;p44"/>
          <p:cNvSpPr/>
          <p:nvPr/>
        </p:nvSpPr>
        <p:spPr>
          <a:xfrm>
            <a:off x="6095847" y="2157984"/>
            <a:ext cx="2892475" cy="219456"/>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6" name="Google Shape;1386;p44"/>
          <p:cNvSpPr txBox="1"/>
          <p:nvPr/>
        </p:nvSpPr>
        <p:spPr>
          <a:xfrm>
            <a:off x="6150711" y="2185416"/>
            <a:ext cx="2526715"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00">
                <a:solidFill>
                  <a:srgbClr val="0A0D1A"/>
                </a:solidFill>
                <a:latin typeface="Calibri"/>
                <a:ea typeface="Calibri"/>
                <a:cs typeface="Calibri"/>
                <a:sym typeface="Calibri"/>
              </a:rPr>
              <a:t>ChainStep 3</a:t>
            </a:r>
            <a:br>
              <a:rPr b="1" i="0" lang="en-US" sz="800">
                <a:solidFill>
                  <a:srgbClr val="0A0D1A"/>
                </a:solidFill>
                <a:latin typeface="Calibri"/>
                <a:ea typeface="Calibri"/>
                <a:cs typeface="Calibri"/>
                <a:sym typeface="Calibri"/>
              </a:rPr>
            </a:br>
            <a:r>
              <a:rPr b="1" i="0" lang="en-US" sz="800">
                <a:solidFill>
                  <a:srgbClr val="0A0D1A"/>
                </a:solidFill>
                <a:latin typeface="Calibri"/>
                <a:ea typeface="Calibri"/>
                <a:cs typeface="Calibri"/>
                <a:sym typeface="Calibri"/>
              </a:rPr>
              <a:t>Exploit</a:t>
            </a:r>
            <a:endParaRPr/>
          </a:p>
        </p:txBody>
      </p:sp>
      <p:sp>
        <p:nvSpPr>
          <p:cNvPr id="1387" name="Google Shape;1387;p44"/>
          <p:cNvSpPr/>
          <p:nvPr/>
        </p:nvSpPr>
        <p:spPr>
          <a:xfrm>
            <a:off x="7991627" y="2176272"/>
            <a:ext cx="960120" cy="18288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8" name="Google Shape;1388;p44"/>
          <p:cNvSpPr txBox="1"/>
          <p:nvPr/>
        </p:nvSpPr>
        <p:spPr>
          <a:xfrm>
            <a:off x="7991627" y="2185416"/>
            <a:ext cx="960120" cy="16459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650">
                <a:solidFill>
                  <a:srgbClr val="0A0D1A"/>
                </a:solidFill>
                <a:latin typeface="Calibri"/>
                <a:ea typeface="Calibri"/>
                <a:cs typeface="Calibri"/>
                <a:sym typeface="Calibri"/>
              </a:rPr>
              <a:t>VALIDATED</a:t>
            </a:r>
            <a:endParaRPr/>
          </a:p>
        </p:txBody>
      </p:sp>
      <p:sp>
        <p:nvSpPr>
          <p:cNvPr id="1389" name="Google Shape;1389;p44"/>
          <p:cNvSpPr txBox="1"/>
          <p:nvPr/>
        </p:nvSpPr>
        <p:spPr>
          <a:xfrm>
            <a:off x="6187287" y="2432304"/>
            <a:ext cx="2746171"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50">
                <a:solidFill>
                  <a:srgbClr val="A0AAB8"/>
                </a:solidFill>
                <a:latin typeface="Calibri"/>
                <a:ea typeface="Calibri"/>
                <a:cs typeface="Calibri"/>
                <a:sym typeface="Calibri"/>
              </a:rPr>
              <a:t>Metasploit WP-Admin upload → shell</a:t>
            </a:r>
            <a:br>
              <a:rPr b="0" i="0" lang="en-US" sz="850">
                <a:solidFill>
                  <a:srgbClr val="A0AAB8"/>
                </a:solidFill>
                <a:latin typeface="Calibri"/>
                <a:ea typeface="Calibri"/>
                <a:cs typeface="Calibri"/>
                <a:sym typeface="Calibri"/>
              </a:rPr>
            </a:br>
            <a:r>
              <a:rPr b="0" i="0" lang="en-US" sz="850">
                <a:solidFill>
                  <a:srgbClr val="A0AAB8"/>
                </a:solidFill>
                <a:latin typeface="Calibri"/>
                <a:ea typeface="Calibri"/>
                <a:cs typeface="Calibri"/>
                <a:sym typeface="Calibri"/>
              </a:rPr>
              <a:t>RCE confirmed on production host</a:t>
            </a:r>
            <a:endParaRPr/>
          </a:p>
        </p:txBody>
      </p:sp>
      <p:sp>
        <p:nvSpPr>
          <p:cNvPr id="1390" name="Google Shape;1390;p44"/>
          <p:cNvSpPr/>
          <p:nvPr/>
        </p:nvSpPr>
        <p:spPr>
          <a:xfrm>
            <a:off x="6168999" y="5230368"/>
            <a:ext cx="2764459" cy="603504"/>
          </a:xfrm>
          <a:prstGeom prst="rect">
            <a:avLst/>
          </a:prstGeom>
          <a:solidFill>
            <a:srgbClr val="10061E"/>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91" name="Google Shape;1391;p44"/>
          <p:cNvSpPr txBox="1"/>
          <p:nvPr/>
        </p:nvSpPr>
        <p:spPr>
          <a:xfrm>
            <a:off x="6223863" y="5248656"/>
            <a:ext cx="2691307" cy="5669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00">
                <a:solidFill>
                  <a:srgbClr val="BD93F9"/>
                </a:solidFill>
                <a:latin typeface="Calibri"/>
                <a:ea typeface="Calibri"/>
                <a:cs typeface="Calibri"/>
                <a:sym typeface="Calibri"/>
              </a:rPr>
              <a:t>Evidence</a:t>
            </a:r>
            <a:br>
              <a:rPr b="0" i="0" lang="en-US" sz="800">
                <a:solidFill>
                  <a:srgbClr val="BD93F9"/>
                </a:solidFill>
                <a:latin typeface="Calibri"/>
                <a:ea typeface="Calibri"/>
                <a:cs typeface="Calibri"/>
                <a:sym typeface="Calibri"/>
              </a:rPr>
            </a:br>
            <a:r>
              <a:rPr b="0" i="0" lang="en-US" sz="800">
                <a:solidFill>
                  <a:srgbClr val="BD93F9"/>
                </a:solidFill>
                <a:latin typeface="Calibri"/>
                <a:ea typeface="Calibri"/>
                <a:cs typeface="Calibri"/>
                <a:sym typeface="Calibri"/>
              </a:rPr>
              <a:t>shell_access.png</a:t>
            </a:r>
            <a:br>
              <a:rPr b="0" i="0" lang="en-US" sz="800">
                <a:solidFill>
                  <a:srgbClr val="BD93F9"/>
                </a:solidFill>
                <a:latin typeface="Calibri"/>
                <a:ea typeface="Calibri"/>
                <a:cs typeface="Calibri"/>
                <a:sym typeface="Calibri"/>
              </a:rPr>
            </a:br>
            <a:r>
              <a:rPr b="0" i="0" lang="en-US" sz="800">
                <a:solidFill>
                  <a:srgbClr val="BD93F9"/>
                </a:solidFill>
                <a:latin typeface="Calibri"/>
                <a:ea typeface="Calibri"/>
                <a:cs typeface="Calibri"/>
                <a:sym typeface="Calibri"/>
              </a:rPr>
              <a:t>ASG Evidence node</a:t>
            </a:r>
            <a:endParaRPr/>
          </a:p>
        </p:txBody>
      </p:sp>
      <p:sp>
        <p:nvSpPr>
          <p:cNvPr id="1392" name="Google Shape;1392;p44"/>
          <p:cNvSpPr txBox="1"/>
          <p:nvPr/>
        </p:nvSpPr>
        <p:spPr>
          <a:xfrm>
            <a:off x="8933459" y="5266944"/>
            <a:ext cx="804672" cy="32918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1" lang="en-US" sz="650">
                <a:solidFill>
                  <a:srgbClr val="BD93F9"/>
                </a:solidFill>
                <a:latin typeface="Calibri"/>
                <a:ea typeface="Calibri"/>
                <a:cs typeface="Calibri"/>
                <a:sym typeface="Calibri"/>
              </a:rPr>
              <a:t>↗ supported_by</a:t>
            </a:r>
            <a:br>
              <a:rPr b="0" i="1" lang="en-US" sz="650">
                <a:solidFill>
                  <a:srgbClr val="BD93F9"/>
                </a:solidFill>
                <a:latin typeface="Calibri"/>
                <a:ea typeface="Calibri"/>
                <a:cs typeface="Calibri"/>
                <a:sym typeface="Calibri"/>
              </a:rPr>
            </a:br>
            <a:r>
              <a:rPr b="0" i="1" lang="en-US" sz="650">
                <a:solidFill>
                  <a:srgbClr val="BD93F9"/>
                </a:solidFill>
                <a:latin typeface="Calibri"/>
                <a:ea typeface="Calibri"/>
                <a:cs typeface="Calibri"/>
                <a:sym typeface="Calibri"/>
              </a:rPr>
              <a:t>ASG Evidence</a:t>
            </a:r>
            <a:endParaRPr/>
          </a:p>
        </p:txBody>
      </p:sp>
      <p:cxnSp>
        <p:nvCxnSpPr>
          <p:cNvPr id="1393" name="Google Shape;1393;p44"/>
          <p:cNvCxnSpPr/>
          <p:nvPr/>
        </p:nvCxnSpPr>
        <p:spPr>
          <a:xfrm>
            <a:off x="0" y="0"/>
            <a:ext cx="0" cy="0"/>
          </a:xfrm>
          <a:prstGeom prst="straightConnector1">
            <a:avLst/>
          </a:prstGeom>
          <a:noFill/>
          <a:ln cap="flat" cmpd="sng" w="17775">
            <a:solidFill>
              <a:srgbClr val="FF4545"/>
            </a:solidFill>
            <a:prstDash val="solid"/>
            <a:round/>
            <a:headEnd len="med" w="med" type="stealth"/>
            <a:tailEnd len="sm" w="sm" type="none"/>
          </a:ln>
          <a:effectLst>
            <a:outerShdw blurRad="40000" rotWithShape="0" dir="5400000" dist="20000">
              <a:srgbClr val="000000">
                <a:alpha val="38039"/>
              </a:srgbClr>
            </a:outerShdw>
          </a:effectLst>
        </p:spPr>
      </p:cxnSp>
      <p:sp>
        <p:nvSpPr>
          <p:cNvPr id="1394" name="Google Shape;1394;p44"/>
          <p:cNvSpPr txBox="1"/>
          <p:nvPr/>
        </p:nvSpPr>
        <p:spPr>
          <a:xfrm>
            <a:off x="9006611" y="3877056"/>
            <a:ext cx="640080" cy="1280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650">
                <a:solidFill>
                  <a:srgbClr val="A0AAB8"/>
                </a:solidFill>
                <a:latin typeface="Calibri"/>
                <a:ea typeface="Calibri"/>
                <a:cs typeface="Calibri"/>
                <a:sym typeface="Calibri"/>
              </a:rPr>
              <a:t>next_step</a:t>
            </a:r>
            <a:endParaRPr/>
          </a:p>
        </p:txBody>
      </p:sp>
      <p:sp>
        <p:nvSpPr>
          <p:cNvPr id="1395" name="Google Shape;1395;p44"/>
          <p:cNvSpPr/>
          <p:nvPr/>
        </p:nvSpPr>
        <p:spPr>
          <a:xfrm>
            <a:off x="9043187" y="2157984"/>
            <a:ext cx="2892475" cy="3730752"/>
          </a:xfrm>
          <a:prstGeom prst="rect">
            <a:avLst/>
          </a:prstGeom>
          <a:solidFill>
            <a:srgbClr val="1E1402"/>
          </a:solidFill>
          <a:ln cap="flat" cmpd="sng" w="1777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96" name="Google Shape;1396;p44"/>
          <p:cNvSpPr/>
          <p:nvPr/>
        </p:nvSpPr>
        <p:spPr>
          <a:xfrm>
            <a:off x="9043187" y="2157984"/>
            <a:ext cx="2892475" cy="219456"/>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97" name="Google Shape;1397;p44"/>
          <p:cNvSpPr txBox="1"/>
          <p:nvPr/>
        </p:nvSpPr>
        <p:spPr>
          <a:xfrm>
            <a:off x="9098051" y="2185416"/>
            <a:ext cx="2526715"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00">
                <a:solidFill>
                  <a:srgbClr val="0A0D1A"/>
                </a:solidFill>
                <a:latin typeface="Calibri"/>
                <a:ea typeface="Calibri"/>
                <a:cs typeface="Calibri"/>
                <a:sym typeface="Calibri"/>
              </a:rPr>
              <a:t>Impact</a:t>
            </a:r>
            <a:br>
              <a:rPr b="1" i="0" lang="en-US" sz="800">
                <a:solidFill>
                  <a:srgbClr val="0A0D1A"/>
                </a:solidFill>
                <a:latin typeface="Calibri"/>
                <a:ea typeface="Calibri"/>
                <a:cs typeface="Calibri"/>
                <a:sym typeface="Calibri"/>
              </a:rPr>
            </a:br>
            <a:r>
              <a:rPr b="1" i="0" lang="en-US" sz="800">
                <a:solidFill>
                  <a:srgbClr val="0A0D1A"/>
                </a:solidFill>
                <a:latin typeface="Calibri"/>
                <a:ea typeface="Calibri"/>
                <a:cs typeface="Calibri"/>
                <a:sym typeface="Calibri"/>
              </a:rPr>
              <a:t>Demonstrated</a:t>
            </a:r>
            <a:endParaRPr/>
          </a:p>
        </p:txBody>
      </p:sp>
      <p:sp>
        <p:nvSpPr>
          <p:cNvPr id="1398" name="Google Shape;1398;p44"/>
          <p:cNvSpPr/>
          <p:nvPr/>
        </p:nvSpPr>
        <p:spPr>
          <a:xfrm>
            <a:off x="10938967" y="2176272"/>
            <a:ext cx="960120" cy="18288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99" name="Google Shape;1399;p44"/>
          <p:cNvSpPr txBox="1"/>
          <p:nvPr/>
        </p:nvSpPr>
        <p:spPr>
          <a:xfrm>
            <a:off x="10938967" y="2185416"/>
            <a:ext cx="960120" cy="16459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650">
                <a:solidFill>
                  <a:srgbClr val="0A0D1A"/>
                </a:solidFill>
                <a:latin typeface="Calibri"/>
                <a:ea typeface="Calibri"/>
                <a:cs typeface="Calibri"/>
                <a:sym typeface="Calibri"/>
              </a:rPr>
              <a:t>DEMONSTRATED</a:t>
            </a:r>
            <a:endParaRPr/>
          </a:p>
        </p:txBody>
      </p:sp>
      <p:sp>
        <p:nvSpPr>
          <p:cNvPr id="1400" name="Google Shape;1400;p44"/>
          <p:cNvSpPr txBox="1"/>
          <p:nvPr/>
        </p:nvSpPr>
        <p:spPr>
          <a:xfrm>
            <a:off x="9134627" y="2432304"/>
            <a:ext cx="2746171"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50">
                <a:solidFill>
                  <a:srgbClr val="A0AAB8"/>
                </a:solidFill>
                <a:latin typeface="Calibri"/>
                <a:ea typeface="Calibri"/>
                <a:cs typeface="Calibri"/>
                <a:sym typeface="Calibri"/>
              </a:rPr>
              <a:t>Full server access</a:t>
            </a:r>
            <a:br>
              <a:rPr b="0" i="0" lang="en-US" sz="850">
                <a:solidFill>
                  <a:srgbClr val="A0AAB8"/>
                </a:solidFill>
                <a:latin typeface="Calibri"/>
                <a:ea typeface="Calibri"/>
                <a:cs typeface="Calibri"/>
                <a:sym typeface="Calibri"/>
              </a:rPr>
            </a:br>
            <a:r>
              <a:rPr b="0" i="0" lang="en-US" sz="850">
                <a:solidFill>
                  <a:srgbClr val="A0AAB8"/>
                </a:solidFill>
                <a:latin typeface="Calibri"/>
                <a:ea typeface="Calibri"/>
                <a:cs typeface="Calibri"/>
                <a:sym typeface="Calibri"/>
              </a:rPr>
              <a:t>Customer PII: 14,000 records accessible</a:t>
            </a:r>
            <a:endParaRPr/>
          </a:p>
        </p:txBody>
      </p:sp>
      <p:sp>
        <p:nvSpPr>
          <p:cNvPr id="1401" name="Google Shape;1401;p44"/>
          <p:cNvSpPr/>
          <p:nvPr/>
        </p:nvSpPr>
        <p:spPr>
          <a:xfrm>
            <a:off x="9116339" y="5230368"/>
            <a:ext cx="2764459" cy="603504"/>
          </a:xfrm>
          <a:prstGeom prst="rect">
            <a:avLst/>
          </a:prstGeom>
          <a:solidFill>
            <a:srgbClr val="10061E"/>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02" name="Google Shape;1402;p44"/>
          <p:cNvSpPr txBox="1"/>
          <p:nvPr/>
        </p:nvSpPr>
        <p:spPr>
          <a:xfrm>
            <a:off x="9171203" y="5248656"/>
            <a:ext cx="2691307" cy="5669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00">
                <a:solidFill>
                  <a:srgbClr val="BD93F9"/>
                </a:solidFill>
                <a:latin typeface="Calibri"/>
                <a:ea typeface="Calibri"/>
                <a:cs typeface="Calibri"/>
                <a:sym typeface="Calibri"/>
              </a:rPr>
              <a:t>Evidence</a:t>
            </a:r>
            <a:br>
              <a:rPr b="0" i="0" lang="en-US" sz="800">
                <a:solidFill>
                  <a:srgbClr val="BD93F9"/>
                </a:solidFill>
                <a:latin typeface="Calibri"/>
                <a:ea typeface="Calibri"/>
                <a:cs typeface="Calibri"/>
                <a:sym typeface="Calibri"/>
              </a:rPr>
            </a:br>
            <a:r>
              <a:rPr b="0" i="0" lang="en-US" sz="800">
                <a:solidFill>
                  <a:srgbClr val="BD93F9"/>
                </a:solidFill>
                <a:latin typeface="Calibri"/>
                <a:ea typeface="Calibri"/>
                <a:cs typeface="Calibri"/>
                <a:sym typeface="Calibri"/>
              </a:rPr>
              <a:t>pii_sample.json</a:t>
            </a:r>
            <a:br>
              <a:rPr b="0" i="0" lang="en-US" sz="800">
                <a:solidFill>
                  <a:srgbClr val="BD93F9"/>
                </a:solidFill>
                <a:latin typeface="Calibri"/>
                <a:ea typeface="Calibri"/>
                <a:cs typeface="Calibri"/>
                <a:sym typeface="Calibri"/>
              </a:rPr>
            </a:br>
            <a:r>
              <a:rPr b="0" i="0" lang="en-US" sz="800">
                <a:solidFill>
                  <a:srgbClr val="BD93F9"/>
                </a:solidFill>
                <a:latin typeface="Calibri"/>
                <a:ea typeface="Calibri"/>
                <a:cs typeface="Calibri"/>
                <a:sym typeface="Calibri"/>
              </a:rPr>
              <a:t>ASG Evidence node</a:t>
            </a:r>
            <a:endParaRPr/>
          </a:p>
        </p:txBody>
      </p:sp>
      <p:sp>
        <p:nvSpPr>
          <p:cNvPr id="1403" name="Google Shape;1403;p44"/>
          <p:cNvSpPr txBox="1"/>
          <p:nvPr/>
        </p:nvSpPr>
        <p:spPr>
          <a:xfrm>
            <a:off x="11880799" y="5266944"/>
            <a:ext cx="804672" cy="32918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1" lang="en-US" sz="650">
                <a:solidFill>
                  <a:srgbClr val="BD93F9"/>
                </a:solidFill>
                <a:latin typeface="Calibri"/>
                <a:ea typeface="Calibri"/>
                <a:cs typeface="Calibri"/>
                <a:sym typeface="Calibri"/>
              </a:rPr>
              <a:t>↗ supported_by</a:t>
            </a:r>
            <a:br>
              <a:rPr b="0" i="1" lang="en-US" sz="650">
                <a:solidFill>
                  <a:srgbClr val="BD93F9"/>
                </a:solidFill>
                <a:latin typeface="Calibri"/>
                <a:ea typeface="Calibri"/>
                <a:cs typeface="Calibri"/>
                <a:sym typeface="Calibri"/>
              </a:rPr>
            </a:br>
            <a:r>
              <a:rPr b="0" i="1" lang="en-US" sz="650">
                <a:solidFill>
                  <a:srgbClr val="BD93F9"/>
                </a:solidFill>
                <a:latin typeface="Calibri"/>
                <a:ea typeface="Calibri"/>
                <a:cs typeface="Calibri"/>
                <a:sym typeface="Calibri"/>
              </a:rPr>
              <a:t>ASG Evidence</a:t>
            </a:r>
            <a:endParaRPr/>
          </a:p>
        </p:txBody>
      </p:sp>
      <p:sp>
        <p:nvSpPr>
          <p:cNvPr id="1404" name="Google Shape;1404;p44"/>
          <p:cNvSpPr/>
          <p:nvPr/>
        </p:nvSpPr>
        <p:spPr>
          <a:xfrm>
            <a:off x="201168" y="6345936"/>
            <a:ext cx="11789359" cy="347472"/>
          </a:xfrm>
          <a:prstGeom prst="rect">
            <a:avLst/>
          </a:prstGeom>
          <a:solidFill>
            <a:srgbClr val="060E20"/>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05" name="Google Shape;1405;p44"/>
          <p:cNvSpPr txBox="1"/>
          <p:nvPr/>
        </p:nvSpPr>
        <p:spPr>
          <a:xfrm>
            <a:off x="365760" y="6382512"/>
            <a:ext cx="11551615"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900">
                <a:solidFill>
                  <a:srgbClr val="00E5FF"/>
                </a:solidFill>
                <a:latin typeface="Calibri"/>
                <a:ea typeface="Calibri"/>
                <a:cs typeface="Calibri"/>
                <a:sym typeface="Calibri"/>
              </a:rPr>
              <a:t>Every step fully traceable: ASG Vulnerability → APG AttackChain → ChainSteps → ASG Evidence nodes.  Report Agent reads both graphs and outputs an evidence-backed narrative without human intervention.</a:t>
            </a:r>
            <a:endParaRPr/>
          </a:p>
        </p:txBody>
      </p:sp>
      <p:sp>
        <p:nvSpPr>
          <p:cNvPr id="1406" name="Google Shape;1406;p44"/>
          <p:cNvSpPr txBox="1"/>
          <p:nvPr/>
        </p:nvSpPr>
        <p:spPr>
          <a:xfrm>
            <a:off x="11794729" y="34109"/>
            <a:ext cx="384048" cy="4114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1300">
                <a:solidFill>
                  <a:srgbClr val="FF4545"/>
                </a:solidFill>
                <a:latin typeface="Calibri"/>
                <a:ea typeface="Calibri"/>
                <a:cs typeface="Calibri"/>
                <a:sym typeface="Calibri"/>
              </a:rPr>
              <a:t>16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1410" name="Shape 1410"/>
        <p:cNvGrpSpPr/>
        <p:nvPr/>
      </p:nvGrpSpPr>
      <p:grpSpPr>
        <a:xfrm>
          <a:off x="0" y="0"/>
          <a:ext cx="0" cy="0"/>
          <a:chOff x="0" y="0"/>
          <a:chExt cx="0" cy="0"/>
        </a:xfrm>
      </p:grpSpPr>
      <p:sp>
        <p:nvSpPr>
          <p:cNvPr id="1411" name="Google Shape;1411;p45"/>
          <p:cNvSpPr/>
          <p:nvPr/>
        </p:nvSpPr>
        <p:spPr>
          <a:xfrm>
            <a:off x="0" y="0"/>
            <a:ext cx="54864" cy="68580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2" name="Google Shape;1412;p45"/>
          <p:cNvSpPr/>
          <p:nvPr/>
        </p:nvSpPr>
        <p:spPr>
          <a:xfrm>
            <a:off x="54864" y="0"/>
            <a:ext cx="12136831" cy="36576"/>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3" name="Google Shape;1413;p45"/>
          <p:cNvSpPr/>
          <p:nvPr/>
        </p:nvSpPr>
        <p:spPr>
          <a:xfrm>
            <a:off x="54864" y="6821424"/>
            <a:ext cx="12136831" cy="36576"/>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4" name="Google Shape;1414;p45"/>
          <p:cNvSpPr txBox="1"/>
          <p:nvPr/>
        </p:nvSpPr>
        <p:spPr>
          <a:xfrm>
            <a:off x="274320" y="64008"/>
            <a:ext cx="73152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FFD700"/>
                </a:solidFill>
                <a:latin typeface="Calibri"/>
                <a:ea typeface="Calibri"/>
                <a:cs typeface="Calibri"/>
                <a:sym typeface="Calibri"/>
              </a:rPr>
              <a:t>NOVEL CONTRIBUTION</a:t>
            </a:r>
            <a:endParaRPr/>
          </a:p>
        </p:txBody>
      </p:sp>
      <p:sp>
        <p:nvSpPr>
          <p:cNvPr id="1415" name="Google Shape;1415;p45"/>
          <p:cNvSpPr txBox="1"/>
          <p:nvPr/>
        </p:nvSpPr>
        <p:spPr>
          <a:xfrm>
            <a:off x="274320" y="292608"/>
            <a:ext cx="11430000" cy="4754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a:solidFill>
                  <a:srgbClr val="FFFFFF"/>
                </a:solidFill>
                <a:latin typeface="Calibri"/>
                <a:ea typeface="Calibri"/>
                <a:cs typeface="Calibri"/>
                <a:sym typeface="Calibri"/>
              </a:rPr>
              <a:t>What Makes CMatrix a Research Contribution</a:t>
            </a:r>
            <a:endParaRPr/>
          </a:p>
        </p:txBody>
      </p:sp>
      <p:sp>
        <p:nvSpPr>
          <p:cNvPr id="1416" name="Google Shape;1416;p45"/>
          <p:cNvSpPr/>
          <p:nvPr/>
        </p:nvSpPr>
        <p:spPr>
          <a:xfrm>
            <a:off x="274320" y="1097280"/>
            <a:ext cx="11643055" cy="512064"/>
          </a:xfrm>
          <a:prstGeom prst="rect">
            <a:avLst/>
          </a:prstGeom>
          <a:solidFill>
            <a:srgbClr val="121002"/>
          </a:solidFill>
          <a:ln cap="flat" cmpd="sng" w="190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7" name="Google Shape;1417;p45"/>
          <p:cNvSpPr txBox="1"/>
          <p:nvPr/>
        </p:nvSpPr>
        <p:spPr>
          <a:xfrm>
            <a:off x="370325" y="1207063"/>
            <a:ext cx="114300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300">
                <a:solidFill>
                  <a:srgbClr val="FFD700"/>
                </a:solidFill>
                <a:latin typeface="Calibri"/>
                <a:ea typeface="Calibri"/>
                <a:cs typeface="Calibri"/>
                <a:sym typeface="Calibri"/>
              </a:rPr>
              <a:t>First autonomous VAPT system to maintain two strictly separated, continuously evolving graph structures - one for discovered reality, one for inferred attack opportunity.</a:t>
            </a:r>
            <a:endParaRPr/>
          </a:p>
        </p:txBody>
      </p:sp>
      <p:sp>
        <p:nvSpPr>
          <p:cNvPr id="1418" name="Google Shape;1418;p45"/>
          <p:cNvSpPr/>
          <p:nvPr/>
        </p:nvSpPr>
        <p:spPr>
          <a:xfrm>
            <a:off x="274320" y="1783080"/>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9" name="Google Shape;1419;p45"/>
          <p:cNvSpPr/>
          <p:nvPr/>
        </p:nvSpPr>
        <p:spPr>
          <a:xfrm>
            <a:off x="274320" y="1783080"/>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0" name="Google Shape;1420;p45"/>
          <p:cNvSpPr txBox="1"/>
          <p:nvPr/>
        </p:nvSpPr>
        <p:spPr>
          <a:xfrm>
            <a:off x="292608" y="1801368"/>
            <a:ext cx="475488" cy="2926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0A0D1A"/>
                </a:solidFill>
                <a:latin typeface="Calibri"/>
                <a:ea typeface="Calibri"/>
                <a:cs typeface="Calibri"/>
                <a:sym typeface="Calibri"/>
              </a:rPr>
              <a:t>C1</a:t>
            </a:r>
            <a:endParaRPr/>
          </a:p>
        </p:txBody>
      </p:sp>
      <p:sp>
        <p:nvSpPr>
          <p:cNvPr id="1421" name="Google Shape;1421;p45"/>
          <p:cNvSpPr txBox="1"/>
          <p:nvPr/>
        </p:nvSpPr>
        <p:spPr>
          <a:xfrm>
            <a:off x="841248" y="1819656"/>
            <a:ext cx="315468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a:solidFill>
                  <a:srgbClr val="FFFFFF"/>
                </a:solidFill>
                <a:latin typeface="Calibri"/>
                <a:ea typeface="Calibri"/>
                <a:cs typeface="Calibri"/>
                <a:sym typeface="Calibri"/>
              </a:rPr>
              <a:t>Dual-Graph World Model</a:t>
            </a:r>
            <a:endParaRPr/>
          </a:p>
        </p:txBody>
      </p:sp>
      <p:sp>
        <p:nvSpPr>
          <p:cNvPr id="1422" name="Google Shape;1422;p45"/>
          <p:cNvSpPr txBox="1"/>
          <p:nvPr/>
        </p:nvSpPr>
        <p:spPr>
          <a:xfrm>
            <a:off x="384048" y="2167128"/>
            <a:ext cx="36118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50">
                <a:solidFill>
                  <a:srgbClr val="A0AAB8"/>
                </a:solidFill>
                <a:latin typeface="Calibri"/>
                <a:ea typeface="Calibri"/>
                <a:cs typeface="Calibri"/>
                <a:sym typeface="Calibri"/>
              </a:rPr>
              <a:t>ASG (discovered reality) &amp; APG (inferred opportunity) are strictly separated with enforced write ownership.</a:t>
            </a:r>
            <a:endParaRPr/>
          </a:p>
        </p:txBody>
      </p:sp>
      <p:sp>
        <p:nvSpPr>
          <p:cNvPr id="1423" name="Google Shape;1423;p45"/>
          <p:cNvSpPr/>
          <p:nvPr/>
        </p:nvSpPr>
        <p:spPr>
          <a:xfrm>
            <a:off x="4187952" y="1783080"/>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4" name="Google Shape;1424;p45"/>
          <p:cNvSpPr/>
          <p:nvPr/>
        </p:nvSpPr>
        <p:spPr>
          <a:xfrm>
            <a:off x="4187952" y="1783080"/>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5" name="Google Shape;1425;p45"/>
          <p:cNvSpPr txBox="1"/>
          <p:nvPr/>
        </p:nvSpPr>
        <p:spPr>
          <a:xfrm>
            <a:off x="4206240" y="1801368"/>
            <a:ext cx="475488" cy="2926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0A0D1A"/>
                </a:solidFill>
                <a:latin typeface="Calibri"/>
                <a:ea typeface="Calibri"/>
                <a:cs typeface="Calibri"/>
                <a:sym typeface="Calibri"/>
              </a:rPr>
              <a:t>C2</a:t>
            </a:r>
            <a:endParaRPr/>
          </a:p>
        </p:txBody>
      </p:sp>
      <p:sp>
        <p:nvSpPr>
          <p:cNvPr id="1426" name="Google Shape;1426;p45"/>
          <p:cNvSpPr txBox="1"/>
          <p:nvPr/>
        </p:nvSpPr>
        <p:spPr>
          <a:xfrm>
            <a:off x="4754880" y="1819656"/>
            <a:ext cx="315468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a:solidFill>
                  <a:srgbClr val="FFFFFF"/>
                </a:solidFill>
                <a:latin typeface="Calibri"/>
                <a:ea typeface="Calibri"/>
                <a:cs typeface="Calibri"/>
                <a:sym typeface="Calibri"/>
              </a:rPr>
              <a:t>Graph-Driven Re-Planning</a:t>
            </a:r>
            <a:endParaRPr/>
          </a:p>
        </p:txBody>
      </p:sp>
      <p:sp>
        <p:nvSpPr>
          <p:cNvPr id="1427" name="Google Shape;1427;p45"/>
          <p:cNvSpPr txBox="1"/>
          <p:nvPr/>
        </p:nvSpPr>
        <p:spPr>
          <a:xfrm>
            <a:off x="4297680" y="2167128"/>
            <a:ext cx="36118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50">
                <a:solidFill>
                  <a:srgbClr val="A0AAB8"/>
                </a:solidFill>
                <a:latin typeface="Calibri"/>
                <a:ea typeface="Calibri"/>
                <a:cs typeface="Calibri"/>
                <a:sym typeface="Calibri"/>
              </a:rPr>
              <a:t>Re-planning fires on explicit graph triggers (e.g., new vuln node seeds a chain) rather than arbitrary schedules.</a:t>
            </a:r>
            <a:endParaRPr/>
          </a:p>
        </p:txBody>
      </p:sp>
      <p:sp>
        <p:nvSpPr>
          <p:cNvPr id="1428" name="Google Shape;1428;p45"/>
          <p:cNvSpPr/>
          <p:nvPr/>
        </p:nvSpPr>
        <p:spPr>
          <a:xfrm>
            <a:off x="8101584" y="1783080"/>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9" name="Google Shape;1429;p45"/>
          <p:cNvSpPr/>
          <p:nvPr/>
        </p:nvSpPr>
        <p:spPr>
          <a:xfrm>
            <a:off x="8101584" y="1783080"/>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30" name="Google Shape;1430;p45"/>
          <p:cNvSpPr txBox="1"/>
          <p:nvPr/>
        </p:nvSpPr>
        <p:spPr>
          <a:xfrm>
            <a:off x="8119872" y="1801368"/>
            <a:ext cx="475488" cy="2926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0A0D1A"/>
                </a:solidFill>
                <a:latin typeface="Calibri"/>
                <a:ea typeface="Calibri"/>
                <a:cs typeface="Calibri"/>
                <a:sym typeface="Calibri"/>
              </a:rPr>
              <a:t>C3</a:t>
            </a:r>
            <a:endParaRPr/>
          </a:p>
        </p:txBody>
      </p:sp>
      <p:sp>
        <p:nvSpPr>
          <p:cNvPr id="1431" name="Google Shape;1431;p45"/>
          <p:cNvSpPr txBox="1"/>
          <p:nvPr/>
        </p:nvSpPr>
        <p:spPr>
          <a:xfrm>
            <a:off x="8668512" y="1819656"/>
            <a:ext cx="315468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a:solidFill>
                  <a:srgbClr val="FFFFFF"/>
                </a:solidFill>
                <a:latin typeface="Calibri"/>
                <a:ea typeface="Calibri"/>
                <a:cs typeface="Calibri"/>
                <a:sym typeface="Calibri"/>
              </a:rPr>
              <a:t>APG Attack Chain Lifecycle with Evidence Traceability</a:t>
            </a:r>
            <a:endParaRPr/>
          </a:p>
        </p:txBody>
      </p:sp>
      <p:sp>
        <p:nvSpPr>
          <p:cNvPr id="1432" name="Google Shape;1432;p45"/>
          <p:cNvSpPr txBox="1"/>
          <p:nvPr/>
        </p:nvSpPr>
        <p:spPr>
          <a:xfrm>
            <a:off x="8211312" y="2167128"/>
            <a:ext cx="36118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50">
                <a:solidFill>
                  <a:srgbClr val="A0AAB8"/>
                </a:solidFill>
                <a:latin typeface="Calibri"/>
                <a:ea typeface="Calibri"/>
                <a:cs typeface="Calibri"/>
                <a:sym typeface="Calibri"/>
              </a:rPr>
              <a:t>Attack chains are first-class entities: risk-scored, prioritized, lifecycle-tracked. Every ChainStep links to ASG Evidence via supported_by.</a:t>
            </a:r>
            <a:endParaRPr/>
          </a:p>
        </p:txBody>
      </p:sp>
      <p:sp>
        <p:nvSpPr>
          <p:cNvPr id="1433" name="Google Shape;1433;p45"/>
          <p:cNvSpPr/>
          <p:nvPr/>
        </p:nvSpPr>
        <p:spPr>
          <a:xfrm>
            <a:off x="274320" y="3035808"/>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34" name="Google Shape;1434;p45"/>
          <p:cNvSpPr/>
          <p:nvPr/>
        </p:nvSpPr>
        <p:spPr>
          <a:xfrm>
            <a:off x="274320" y="3035808"/>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35" name="Google Shape;1435;p45"/>
          <p:cNvSpPr txBox="1"/>
          <p:nvPr/>
        </p:nvSpPr>
        <p:spPr>
          <a:xfrm>
            <a:off x="292608" y="3054096"/>
            <a:ext cx="475488" cy="2926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0A0D1A"/>
                </a:solidFill>
                <a:latin typeface="Calibri"/>
                <a:ea typeface="Calibri"/>
                <a:cs typeface="Calibri"/>
                <a:sym typeface="Calibri"/>
              </a:rPr>
              <a:t>C4</a:t>
            </a:r>
            <a:endParaRPr/>
          </a:p>
        </p:txBody>
      </p:sp>
      <p:sp>
        <p:nvSpPr>
          <p:cNvPr id="1436" name="Google Shape;1436;p45"/>
          <p:cNvSpPr txBox="1"/>
          <p:nvPr/>
        </p:nvSpPr>
        <p:spPr>
          <a:xfrm>
            <a:off x="841248" y="3072384"/>
            <a:ext cx="315468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a:solidFill>
                  <a:srgbClr val="FFFFFF"/>
                </a:solidFill>
                <a:latin typeface="Calibri"/>
                <a:ea typeface="Calibri"/>
                <a:cs typeface="Calibri"/>
                <a:sym typeface="Calibri"/>
              </a:rPr>
              <a:t>ASG-Aware Parallel Dispatch</a:t>
            </a:r>
            <a:endParaRPr/>
          </a:p>
        </p:txBody>
      </p:sp>
      <p:sp>
        <p:nvSpPr>
          <p:cNvPr id="1437" name="Google Shape;1437;p45"/>
          <p:cNvSpPr txBox="1"/>
          <p:nvPr/>
        </p:nvSpPr>
        <p:spPr>
          <a:xfrm>
            <a:off x="384048" y="3419856"/>
            <a:ext cx="36118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50">
                <a:solidFill>
                  <a:srgbClr val="A0AAB8"/>
                </a:solidFill>
                <a:latin typeface="Calibri"/>
                <a:ea typeface="Calibri"/>
                <a:cs typeface="Calibri"/>
                <a:sym typeface="Calibri"/>
              </a:rPr>
              <a:t>Dependency-safe concurrent tool execution using the ASG itself as the dependency graph, instead of a task scheduler.</a:t>
            </a:r>
            <a:endParaRPr/>
          </a:p>
        </p:txBody>
      </p:sp>
      <p:sp>
        <p:nvSpPr>
          <p:cNvPr id="1438" name="Google Shape;1438;p45"/>
          <p:cNvSpPr/>
          <p:nvPr/>
        </p:nvSpPr>
        <p:spPr>
          <a:xfrm>
            <a:off x="4187952" y="3035808"/>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39" name="Google Shape;1439;p45"/>
          <p:cNvSpPr/>
          <p:nvPr/>
        </p:nvSpPr>
        <p:spPr>
          <a:xfrm>
            <a:off x="4187952" y="3035808"/>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40" name="Google Shape;1440;p45"/>
          <p:cNvSpPr txBox="1"/>
          <p:nvPr/>
        </p:nvSpPr>
        <p:spPr>
          <a:xfrm>
            <a:off x="4206240" y="3054096"/>
            <a:ext cx="475488" cy="2926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0A0D1A"/>
                </a:solidFill>
                <a:latin typeface="Calibri"/>
                <a:ea typeface="Calibri"/>
                <a:cs typeface="Calibri"/>
                <a:sym typeface="Calibri"/>
              </a:rPr>
              <a:t>C5</a:t>
            </a:r>
            <a:endParaRPr/>
          </a:p>
        </p:txBody>
      </p:sp>
      <p:sp>
        <p:nvSpPr>
          <p:cNvPr id="1441" name="Google Shape;1441;p45"/>
          <p:cNvSpPr txBox="1"/>
          <p:nvPr/>
        </p:nvSpPr>
        <p:spPr>
          <a:xfrm>
            <a:off x="4754880" y="3072384"/>
            <a:ext cx="315468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a:solidFill>
                  <a:srgbClr val="FFFFFF"/>
                </a:solidFill>
                <a:latin typeface="Calibri"/>
                <a:ea typeface="Calibri"/>
                <a:cs typeface="Calibri"/>
                <a:sym typeface="Calibri"/>
              </a:rPr>
              <a:t>Tool Risk Gate + Mailbox</a:t>
            </a:r>
            <a:endParaRPr/>
          </a:p>
        </p:txBody>
      </p:sp>
      <p:sp>
        <p:nvSpPr>
          <p:cNvPr id="1442" name="Google Shape;1442;p45"/>
          <p:cNvSpPr txBox="1"/>
          <p:nvPr/>
        </p:nvSpPr>
        <p:spPr>
          <a:xfrm>
            <a:off x="4297680" y="3419856"/>
            <a:ext cx="36118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50">
                <a:solidFill>
                  <a:srgbClr val="A0AAB8"/>
                </a:solidFill>
                <a:latin typeface="Calibri"/>
                <a:ea typeface="Calibri"/>
                <a:cs typeface="Calibri"/>
                <a:sym typeface="Calibri"/>
              </a:rPr>
              <a:t>Every tool call is risk-classified before execution. High-risk ops route to Commander for human-in-the-loop approval.</a:t>
            </a:r>
            <a:endParaRPr/>
          </a:p>
        </p:txBody>
      </p:sp>
      <p:sp>
        <p:nvSpPr>
          <p:cNvPr id="1443" name="Google Shape;1443;p45"/>
          <p:cNvSpPr/>
          <p:nvPr/>
        </p:nvSpPr>
        <p:spPr>
          <a:xfrm>
            <a:off x="8101584" y="3035808"/>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44" name="Google Shape;1444;p45"/>
          <p:cNvSpPr/>
          <p:nvPr/>
        </p:nvSpPr>
        <p:spPr>
          <a:xfrm>
            <a:off x="8101584" y="3035808"/>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45" name="Google Shape;1445;p45"/>
          <p:cNvSpPr txBox="1"/>
          <p:nvPr/>
        </p:nvSpPr>
        <p:spPr>
          <a:xfrm>
            <a:off x="8119872" y="3054096"/>
            <a:ext cx="475488" cy="2926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0A0D1A"/>
                </a:solidFill>
                <a:latin typeface="Calibri"/>
                <a:ea typeface="Calibri"/>
                <a:cs typeface="Calibri"/>
                <a:sym typeface="Calibri"/>
              </a:rPr>
              <a:t>C6</a:t>
            </a:r>
            <a:endParaRPr/>
          </a:p>
        </p:txBody>
      </p:sp>
      <p:sp>
        <p:nvSpPr>
          <p:cNvPr id="1446" name="Google Shape;1446;p45"/>
          <p:cNvSpPr txBox="1"/>
          <p:nvPr/>
        </p:nvSpPr>
        <p:spPr>
          <a:xfrm>
            <a:off x="8668512" y="3072384"/>
            <a:ext cx="315468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a:solidFill>
                  <a:srgbClr val="FFFFFF"/>
                </a:solidFill>
                <a:latin typeface="Calibri"/>
                <a:ea typeface="Calibri"/>
                <a:cs typeface="Calibri"/>
                <a:sym typeface="Calibri"/>
              </a:rPr>
              <a:t>Lossless Context Compaction</a:t>
            </a:r>
            <a:endParaRPr/>
          </a:p>
        </p:txBody>
      </p:sp>
      <p:sp>
        <p:nvSpPr>
          <p:cNvPr id="1447" name="Google Shape;1447;p45"/>
          <p:cNvSpPr txBox="1"/>
          <p:nvPr/>
        </p:nvSpPr>
        <p:spPr>
          <a:xfrm>
            <a:off x="8211312" y="3419856"/>
            <a:ext cx="36118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50">
                <a:solidFill>
                  <a:srgbClr val="A0AAB8"/>
                </a:solidFill>
                <a:latin typeface="Calibri"/>
                <a:ea typeface="Calibri"/>
                <a:cs typeface="Calibri"/>
                <a:sym typeface="Calibri"/>
              </a:rPr>
              <a:t>ASG-backed three-layer compaction scheme reduces conversation history to near-zero without losing discovered findings.</a:t>
            </a:r>
            <a:endParaRPr/>
          </a:p>
        </p:txBody>
      </p:sp>
      <p:sp>
        <p:nvSpPr>
          <p:cNvPr id="1448" name="Google Shape;1448;p45"/>
          <p:cNvSpPr/>
          <p:nvPr/>
        </p:nvSpPr>
        <p:spPr>
          <a:xfrm>
            <a:off x="274320" y="4288536"/>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49" name="Google Shape;1449;p45"/>
          <p:cNvSpPr/>
          <p:nvPr/>
        </p:nvSpPr>
        <p:spPr>
          <a:xfrm>
            <a:off x="274320" y="4288536"/>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0" name="Google Shape;1450;p45"/>
          <p:cNvSpPr txBox="1"/>
          <p:nvPr/>
        </p:nvSpPr>
        <p:spPr>
          <a:xfrm>
            <a:off x="292608" y="4306824"/>
            <a:ext cx="475488" cy="2926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0A0D1A"/>
                </a:solidFill>
                <a:latin typeface="Calibri"/>
                <a:ea typeface="Calibri"/>
                <a:cs typeface="Calibri"/>
                <a:sym typeface="Calibri"/>
              </a:rPr>
              <a:t>C7</a:t>
            </a:r>
            <a:endParaRPr/>
          </a:p>
        </p:txBody>
      </p:sp>
      <p:sp>
        <p:nvSpPr>
          <p:cNvPr id="1451" name="Google Shape;1451;p45"/>
          <p:cNvSpPr txBox="1"/>
          <p:nvPr/>
        </p:nvSpPr>
        <p:spPr>
          <a:xfrm>
            <a:off x="841248" y="4325112"/>
            <a:ext cx="315468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a:solidFill>
                  <a:srgbClr val="FFFFFF"/>
                </a:solidFill>
                <a:latin typeface="Calibri"/>
                <a:ea typeface="Calibri"/>
                <a:cs typeface="Calibri"/>
                <a:sym typeface="Calibri"/>
              </a:rPr>
              <a:t>Methodology-as-Config</a:t>
            </a:r>
            <a:endParaRPr/>
          </a:p>
        </p:txBody>
      </p:sp>
      <p:sp>
        <p:nvSpPr>
          <p:cNvPr id="1452" name="Google Shape;1452;p45"/>
          <p:cNvSpPr txBox="1"/>
          <p:nvPr/>
        </p:nvSpPr>
        <p:spPr>
          <a:xfrm>
            <a:off x="384048" y="4672584"/>
            <a:ext cx="36118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50">
                <a:solidFill>
                  <a:srgbClr val="A0AAB8"/>
                </a:solidFill>
                <a:latin typeface="Calibri"/>
                <a:ea typeface="Calibri"/>
                <a:cs typeface="Calibri"/>
                <a:sym typeface="Calibri"/>
              </a:rPr>
              <a:t>Commander's planning policy is encoded as a versioned natural-language document, allowing methodology benchmarking.</a:t>
            </a:r>
            <a:endParaRPr/>
          </a:p>
        </p:txBody>
      </p:sp>
      <p:sp>
        <p:nvSpPr>
          <p:cNvPr id="1453" name="Google Shape;1453;p45"/>
          <p:cNvSpPr/>
          <p:nvPr/>
        </p:nvSpPr>
        <p:spPr>
          <a:xfrm>
            <a:off x="4187952" y="4288536"/>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4" name="Google Shape;1454;p45"/>
          <p:cNvSpPr/>
          <p:nvPr/>
        </p:nvSpPr>
        <p:spPr>
          <a:xfrm>
            <a:off x="4187952" y="4288536"/>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5" name="Google Shape;1455;p45"/>
          <p:cNvSpPr txBox="1"/>
          <p:nvPr/>
        </p:nvSpPr>
        <p:spPr>
          <a:xfrm>
            <a:off x="4206240" y="4306824"/>
            <a:ext cx="475488" cy="2926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0A0D1A"/>
                </a:solidFill>
                <a:latin typeface="Calibri"/>
                <a:ea typeface="Calibri"/>
                <a:cs typeface="Calibri"/>
                <a:sym typeface="Calibri"/>
              </a:rPr>
              <a:t>C8</a:t>
            </a:r>
            <a:endParaRPr/>
          </a:p>
        </p:txBody>
      </p:sp>
      <p:sp>
        <p:nvSpPr>
          <p:cNvPr id="1456" name="Google Shape;1456;p45"/>
          <p:cNvSpPr txBox="1"/>
          <p:nvPr/>
        </p:nvSpPr>
        <p:spPr>
          <a:xfrm>
            <a:off x="4754880" y="4325112"/>
            <a:ext cx="315468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a:solidFill>
                  <a:srgbClr val="FFFFFF"/>
                </a:solidFill>
                <a:latin typeface="Calibri"/>
                <a:ea typeface="Calibri"/>
                <a:cs typeface="Calibri"/>
                <a:sym typeface="Calibri"/>
              </a:rPr>
              <a:t>Dual-Graph Termination</a:t>
            </a:r>
            <a:endParaRPr/>
          </a:p>
        </p:txBody>
      </p:sp>
      <p:sp>
        <p:nvSpPr>
          <p:cNvPr id="1457" name="Google Shape;1457;p45"/>
          <p:cNvSpPr txBox="1"/>
          <p:nvPr/>
        </p:nvSpPr>
        <p:spPr>
          <a:xfrm>
            <a:off x="4297680" y="4672584"/>
            <a:ext cx="36118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50">
                <a:solidFill>
                  <a:srgbClr val="A0AAB8"/>
                </a:solidFill>
                <a:latin typeface="Calibri"/>
                <a:ea typeface="Calibri"/>
                <a:cs typeface="Calibri"/>
                <a:sym typeface="Calibri"/>
              </a:rPr>
              <a:t>Mission completion is formally defined as the conjunction of ASG exhaustion (no unexplored nodes) and APG resolution.</a:t>
            </a:r>
            <a:endParaRPr/>
          </a:p>
        </p:txBody>
      </p:sp>
      <p:sp>
        <p:nvSpPr>
          <p:cNvPr id="1458" name="Google Shape;1458;p45"/>
          <p:cNvSpPr/>
          <p:nvPr/>
        </p:nvSpPr>
        <p:spPr>
          <a:xfrm>
            <a:off x="8101584" y="4288536"/>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9" name="Google Shape;1459;p45"/>
          <p:cNvSpPr/>
          <p:nvPr/>
        </p:nvSpPr>
        <p:spPr>
          <a:xfrm>
            <a:off x="8101584" y="4288536"/>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0" name="Google Shape;1460;p45"/>
          <p:cNvSpPr txBox="1"/>
          <p:nvPr/>
        </p:nvSpPr>
        <p:spPr>
          <a:xfrm>
            <a:off x="8119872" y="4306824"/>
            <a:ext cx="475488" cy="2926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0A0D1A"/>
                </a:solidFill>
                <a:latin typeface="Calibri"/>
                <a:ea typeface="Calibri"/>
                <a:cs typeface="Calibri"/>
                <a:sym typeface="Calibri"/>
              </a:rPr>
              <a:t>C9</a:t>
            </a:r>
            <a:endParaRPr/>
          </a:p>
        </p:txBody>
      </p:sp>
      <p:sp>
        <p:nvSpPr>
          <p:cNvPr id="1461" name="Google Shape;1461;p45"/>
          <p:cNvSpPr txBox="1"/>
          <p:nvPr/>
        </p:nvSpPr>
        <p:spPr>
          <a:xfrm>
            <a:off x="8668512" y="4325112"/>
            <a:ext cx="315468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a:solidFill>
                  <a:srgbClr val="FFFFFF"/>
                </a:solidFill>
                <a:latin typeface="Calibri"/>
                <a:ea typeface="Calibri"/>
                <a:cs typeface="Calibri"/>
                <a:sym typeface="Calibri"/>
              </a:rPr>
              <a:t>Live CVE Grounding</a:t>
            </a:r>
            <a:endParaRPr/>
          </a:p>
        </p:txBody>
      </p:sp>
      <p:sp>
        <p:nvSpPr>
          <p:cNvPr id="1462" name="Google Shape;1462;p45"/>
          <p:cNvSpPr txBox="1"/>
          <p:nvPr/>
        </p:nvSpPr>
        <p:spPr>
          <a:xfrm>
            <a:off x="8211312" y="4672584"/>
            <a:ext cx="36118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50">
                <a:solidFill>
                  <a:srgbClr val="A0AAB8"/>
                </a:solidFill>
                <a:latin typeface="Calibri"/>
                <a:ea typeface="Calibri"/>
                <a:cs typeface="Calibri"/>
                <a:sym typeface="Calibri"/>
              </a:rPr>
              <a:t>Real-time vulnerability enrichment and exploit feasibility research via a scoped agent, written back into the ASG.</a:t>
            </a:r>
            <a:endParaRPr/>
          </a:p>
        </p:txBody>
      </p:sp>
      <p:sp>
        <p:nvSpPr>
          <p:cNvPr id="1463" name="Google Shape;1463;p45"/>
          <p:cNvSpPr/>
          <p:nvPr/>
        </p:nvSpPr>
        <p:spPr>
          <a:xfrm>
            <a:off x="274320" y="5541264"/>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4" name="Google Shape;1464;p45"/>
          <p:cNvSpPr/>
          <p:nvPr/>
        </p:nvSpPr>
        <p:spPr>
          <a:xfrm>
            <a:off x="274320" y="5541264"/>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5" name="Google Shape;1465;p45"/>
          <p:cNvSpPr txBox="1"/>
          <p:nvPr/>
        </p:nvSpPr>
        <p:spPr>
          <a:xfrm>
            <a:off x="292608" y="5559552"/>
            <a:ext cx="475488" cy="2926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0A0D1A"/>
                </a:solidFill>
                <a:latin typeface="Calibri"/>
                <a:ea typeface="Calibri"/>
                <a:cs typeface="Calibri"/>
                <a:sym typeface="Calibri"/>
              </a:rPr>
              <a:t>C10</a:t>
            </a:r>
            <a:endParaRPr/>
          </a:p>
        </p:txBody>
      </p:sp>
      <p:sp>
        <p:nvSpPr>
          <p:cNvPr id="1466" name="Google Shape;1466;p45"/>
          <p:cNvSpPr txBox="1"/>
          <p:nvPr/>
        </p:nvSpPr>
        <p:spPr>
          <a:xfrm>
            <a:off x="841248" y="5577840"/>
            <a:ext cx="315468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a:solidFill>
                  <a:srgbClr val="FFFFFF"/>
                </a:solidFill>
                <a:latin typeface="Calibri"/>
                <a:ea typeface="Calibri"/>
                <a:cs typeface="Calibri"/>
                <a:sym typeface="Calibri"/>
              </a:rPr>
              <a:t>Cross-Mission Experience</a:t>
            </a:r>
            <a:endParaRPr/>
          </a:p>
        </p:txBody>
      </p:sp>
      <p:sp>
        <p:nvSpPr>
          <p:cNvPr id="1467" name="Google Shape;1467;p45"/>
          <p:cNvSpPr txBox="1"/>
          <p:nvPr/>
        </p:nvSpPr>
        <p:spPr>
          <a:xfrm>
            <a:off x="384048" y="5925312"/>
            <a:ext cx="36118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50">
                <a:solidFill>
                  <a:srgbClr val="A0AAB8"/>
                </a:solidFill>
                <a:latin typeface="Calibri"/>
                <a:ea typeface="Calibri"/>
                <a:cs typeface="Calibri"/>
                <a:sym typeface="Calibri"/>
              </a:rPr>
              <a:t>Persistent RAG-backed store of validated exploitation outcomes across missions to seed APG hypotheses at mission start.</a:t>
            </a:r>
            <a:endParaRPr/>
          </a:p>
        </p:txBody>
      </p:sp>
      <p:sp>
        <p:nvSpPr>
          <p:cNvPr id="1468" name="Google Shape;1468;p45"/>
          <p:cNvSpPr/>
          <p:nvPr/>
        </p:nvSpPr>
        <p:spPr>
          <a:xfrm>
            <a:off x="4187952" y="5541264"/>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9" name="Google Shape;1469;p45"/>
          <p:cNvSpPr/>
          <p:nvPr/>
        </p:nvSpPr>
        <p:spPr>
          <a:xfrm>
            <a:off x="4187952" y="5541264"/>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0" name="Google Shape;1470;p45"/>
          <p:cNvSpPr txBox="1"/>
          <p:nvPr/>
        </p:nvSpPr>
        <p:spPr>
          <a:xfrm>
            <a:off x="4206240" y="5559552"/>
            <a:ext cx="475488" cy="2926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0A0D1A"/>
                </a:solidFill>
                <a:latin typeface="Calibri"/>
                <a:ea typeface="Calibri"/>
                <a:cs typeface="Calibri"/>
                <a:sym typeface="Calibri"/>
              </a:rPr>
              <a:t>C11</a:t>
            </a:r>
            <a:endParaRPr/>
          </a:p>
        </p:txBody>
      </p:sp>
      <p:sp>
        <p:nvSpPr>
          <p:cNvPr id="1471" name="Google Shape;1471;p45"/>
          <p:cNvSpPr txBox="1"/>
          <p:nvPr/>
        </p:nvSpPr>
        <p:spPr>
          <a:xfrm>
            <a:off x="4754880" y="5577840"/>
            <a:ext cx="315468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a:solidFill>
                  <a:srgbClr val="FFFFFF"/>
                </a:solidFill>
                <a:latin typeface="Calibri"/>
                <a:ea typeface="Calibri"/>
                <a:cs typeface="Calibri"/>
                <a:sym typeface="Calibri"/>
              </a:rPr>
              <a:t>Attack Strategy Library</a:t>
            </a:r>
            <a:endParaRPr/>
          </a:p>
        </p:txBody>
      </p:sp>
      <p:sp>
        <p:nvSpPr>
          <p:cNvPr id="1472" name="Google Shape;1472;p45"/>
          <p:cNvSpPr txBox="1"/>
          <p:nvPr/>
        </p:nvSpPr>
        <p:spPr>
          <a:xfrm>
            <a:off x="4297680" y="5925312"/>
            <a:ext cx="36118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50">
                <a:solidFill>
                  <a:srgbClr val="A0AAB8"/>
                </a:solidFill>
                <a:latin typeface="Calibri"/>
                <a:ea typeface="Calibri"/>
                <a:cs typeface="Calibri"/>
                <a:sym typeface="Calibri"/>
              </a:rPr>
              <a:t>Crystallizes validated chains into parameterized strategies when the same target fingerprint succeeds across missions.</a:t>
            </a:r>
            <a:endParaRPr/>
          </a:p>
        </p:txBody>
      </p:sp>
      <p:sp>
        <p:nvSpPr>
          <p:cNvPr id="1473" name="Google Shape;1473;p45"/>
          <p:cNvSpPr/>
          <p:nvPr/>
        </p:nvSpPr>
        <p:spPr>
          <a:xfrm>
            <a:off x="8101584" y="5541264"/>
            <a:ext cx="3794760" cy="1143000"/>
          </a:xfrm>
          <a:prstGeom prst="rect">
            <a:avLst/>
          </a:prstGeom>
          <a:solidFill>
            <a:srgbClr val="10162B"/>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4" name="Google Shape;1474;p45"/>
          <p:cNvSpPr/>
          <p:nvPr/>
        </p:nvSpPr>
        <p:spPr>
          <a:xfrm>
            <a:off x="8101584" y="5541264"/>
            <a:ext cx="502920" cy="329184"/>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5" name="Google Shape;1475;p45"/>
          <p:cNvSpPr txBox="1"/>
          <p:nvPr/>
        </p:nvSpPr>
        <p:spPr>
          <a:xfrm>
            <a:off x="8119872" y="5559552"/>
            <a:ext cx="475488" cy="2926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0A0D1A"/>
                </a:solidFill>
                <a:latin typeface="Calibri"/>
                <a:ea typeface="Calibri"/>
                <a:cs typeface="Calibri"/>
                <a:sym typeface="Calibri"/>
              </a:rPr>
              <a:t>C12</a:t>
            </a:r>
            <a:endParaRPr/>
          </a:p>
        </p:txBody>
      </p:sp>
      <p:sp>
        <p:nvSpPr>
          <p:cNvPr id="1476" name="Google Shape;1476;p45"/>
          <p:cNvSpPr txBox="1"/>
          <p:nvPr/>
        </p:nvSpPr>
        <p:spPr>
          <a:xfrm>
            <a:off x="8668512" y="5577840"/>
            <a:ext cx="315468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a:solidFill>
                  <a:srgbClr val="FFFFFF"/>
                </a:solidFill>
                <a:latin typeface="Calibri"/>
                <a:ea typeface="Calibri"/>
                <a:cs typeface="Calibri"/>
                <a:sym typeface="Calibri"/>
              </a:rPr>
              <a:t>Trajectory Export Dataset</a:t>
            </a:r>
            <a:endParaRPr/>
          </a:p>
        </p:txBody>
      </p:sp>
      <p:sp>
        <p:nvSpPr>
          <p:cNvPr id="1477" name="Google Shape;1477;p45"/>
          <p:cNvSpPr txBox="1"/>
          <p:nvPr/>
        </p:nvSpPr>
        <p:spPr>
          <a:xfrm>
            <a:off x="8211312" y="5925312"/>
            <a:ext cx="36118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50">
                <a:solidFill>
                  <a:srgbClr val="A0AAB8"/>
                </a:solidFill>
                <a:latin typeface="Calibri"/>
                <a:ea typeface="Calibri"/>
                <a:cs typeface="Calibri"/>
                <a:sym typeface="Calibri"/>
              </a:rPr>
              <a:t>Every mission produces a machine-readable decision log capturing ASG/APG triggers, rationale, and actions taken.</a:t>
            </a:r>
            <a:endParaRPr/>
          </a:p>
        </p:txBody>
      </p:sp>
      <p:sp>
        <p:nvSpPr>
          <p:cNvPr id="1478" name="Google Shape;1478;p45"/>
          <p:cNvSpPr txBox="1"/>
          <p:nvPr/>
        </p:nvSpPr>
        <p:spPr>
          <a:xfrm>
            <a:off x="11780215" y="63137"/>
            <a:ext cx="384048" cy="4114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1300">
                <a:solidFill>
                  <a:srgbClr val="FFD700"/>
                </a:solidFill>
                <a:latin typeface="Calibri"/>
                <a:ea typeface="Calibri"/>
                <a:cs typeface="Calibri"/>
                <a:sym typeface="Calibri"/>
              </a:rPr>
              <a:t>17</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1482" name="Shape 1482"/>
        <p:cNvGrpSpPr/>
        <p:nvPr/>
      </p:nvGrpSpPr>
      <p:grpSpPr>
        <a:xfrm>
          <a:off x="0" y="0"/>
          <a:ext cx="0" cy="0"/>
          <a:chOff x="0" y="0"/>
          <a:chExt cx="0" cy="0"/>
        </a:xfrm>
      </p:grpSpPr>
      <p:sp>
        <p:nvSpPr>
          <p:cNvPr id="1483" name="Google Shape;1483;p46"/>
          <p:cNvSpPr/>
          <p:nvPr/>
        </p:nvSpPr>
        <p:spPr>
          <a:xfrm>
            <a:off x="0" y="0"/>
            <a:ext cx="54864" cy="68580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4" name="Google Shape;1484;p46"/>
          <p:cNvSpPr/>
          <p:nvPr/>
        </p:nvSpPr>
        <p:spPr>
          <a:xfrm>
            <a:off x="54864" y="0"/>
            <a:ext cx="12136831" cy="36576"/>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5" name="Google Shape;1485;p46"/>
          <p:cNvSpPr/>
          <p:nvPr/>
        </p:nvSpPr>
        <p:spPr>
          <a:xfrm>
            <a:off x="54864" y="6821424"/>
            <a:ext cx="12136831" cy="36576"/>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6" name="Google Shape;1486;p46"/>
          <p:cNvSpPr txBox="1"/>
          <p:nvPr/>
        </p:nvSpPr>
        <p:spPr>
          <a:xfrm>
            <a:off x="274320" y="64008"/>
            <a:ext cx="73152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9FF14"/>
                </a:solidFill>
                <a:latin typeface="Calibri"/>
                <a:ea typeface="Calibri"/>
                <a:cs typeface="Calibri"/>
                <a:sym typeface="Calibri"/>
              </a:rPr>
              <a:t>WHAT CMATRIX UNIQUELY INTRODUCES</a:t>
            </a:r>
            <a:endParaRPr/>
          </a:p>
        </p:txBody>
      </p:sp>
      <p:sp>
        <p:nvSpPr>
          <p:cNvPr id="1487" name="Google Shape;1487;p46"/>
          <p:cNvSpPr txBox="1"/>
          <p:nvPr/>
        </p:nvSpPr>
        <p:spPr>
          <a:xfrm>
            <a:off x="274320" y="292608"/>
            <a:ext cx="11430000" cy="4754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a:solidFill>
                  <a:srgbClr val="FFFFFF"/>
                </a:solidFill>
                <a:latin typeface="Calibri"/>
                <a:ea typeface="Calibri"/>
                <a:cs typeface="Calibri"/>
                <a:sym typeface="Calibri"/>
              </a:rPr>
              <a:t>The Architecture No Prior Autonomous VAPT System Has Built</a:t>
            </a:r>
            <a:endParaRPr/>
          </a:p>
        </p:txBody>
      </p:sp>
      <p:sp>
        <p:nvSpPr>
          <p:cNvPr id="1488" name="Google Shape;1488;p46"/>
          <p:cNvSpPr/>
          <p:nvPr/>
        </p:nvSpPr>
        <p:spPr>
          <a:xfrm>
            <a:off x="274320" y="822960"/>
            <a:ext cx="10058400" cy="27432"/>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9" name="Google Shape;1489;p46"/>
          <p:cNvSpPr/>
          <p:nvPr/>
        </p:nvSpPr>
        <p:spPr>
          <a:xfrm>
            <a:off x="201168" y="960120"/>
            <a:ext cx="2286000" cy="292608"/>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0" name="Google Shape;1490;p46"/>
          <p:cNvSpPr txBox="1"/>
          <p:nvPr/>
        </p:nvSpPr>
        <p:spPr>
          <a:xfrm>
            <a:off x="274320" y="1005840"/>
            <a:ext cx="217627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a:solidFill>
                  <a:srgbClr val="0A0D1A"/>
                </a:solidFill>
                <a:latin typeface="Calibri"/>
                <a:ea typeface="Calibri"/>
                <a:cs typeface="Calibri"/>
                <a:sym typeface="Calibri"/>
              </a:rPr>
              <a:t>AREA</a:t>
            </a:r>
            <a:endParaRPr/>
          </a:p>
        </p:txBody>
      </p:sp>
      <p:sp>
        <p:nvSpPr>
          <p:cNvPr id="1491" name="Google Shape;1491;p46"/>
          <p:cNvSpPr/>
          <p:nvPr/>
        </p:nvSpPr>
        <p:spPr>
          <a:xfrm>
            <a:off x="2578608" y="960120"/>
            <a:ext cx="4480560" cy="292608"/>
          </a:xfrm>
          <a:prstGeom prst="rect">
            <a:avLst/>
          </a:prstGeom>
          <a:solidFill>
            <a:srgbClr val="3038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2" name="Google Shape;1492;p46"/>
          <p:cNvSpPr txBox="1"/>
          <p:nvPr/>
        </p:nvSpPr>
        <p:spPr>
          <a:xfrm>
            <a:off x="2651760" y="1005840"/>
            <a:ext cx="437083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a:solidFill>
                  <a:srgbClr val="FFFFFF"/>
                </a:solidFill>
                <a:latin typeface="Calibri"/>
                <a:ea typeface="Calibri"/>
                <a:cs typeface="Calibri"/>
                <a:sym typeface="Calibri"/>
              </a:rPr>
              <a:t>WHAT EXISTS</a:t>
            </a:r>
            <a:endParaRPr/>
          </a:p>
        </p:txBody>
      </p:sp>
      <p:sp>
        <p:nvSpPr>
          <p:cNvPr id="1493" name="Google Shape;1493;p46"/>
          <p:cNvSpPr/>
          <p:nvPr/>
        </p:nvSpPr>
        <p:spPr>
          <a:xfrm>
            <a:off x="7242048" y="960120"/>
            <a:ext cx="4754880" cy="292608"/>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4" name="Google Shape;1494;p46"/>
          <p:cNvSpPr txBox="1"/>
          <p:nvPr/>
        </p:nvSpPr>
        <p:spPr>
          <a:xfrm>
            <a:off x="7315200" y="1005840"/>
            <a:ext cx="4645152" cy="2194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950">
                <a:solidFill>
                  <a:srgbClr val="0A0D1A"/>
                </a:solidFill>
                <a:latin typeface="Calibri"/>
                <a:ea typeface="Calibri"/>
                <a:cs typeface="Calibri"/>
                <a:sym typeface="Calibri"/>
              </a:rPr>
              <a:t>CMATRIX INTRODUCES</a:t>
            </a:r>
            <a:endParaRPr/>
          </a:p>
        </p:txBody>
      </p:sp>
      <p:sp>
        <p:nvSpPr>
          <p:cNvPr id="1495" name="Google Shape;1495;p46"/>
          <p:cNvSpPr/>
          <p:nvPr/>
        </p:nvSpPr>
        <p:spPr>
          <a:xfrm>
            <a:off x="201168" y="1289304"/>
            <a:ext cx="2286000" cy="1273302"/>
          </a:xfrm>
          <a:prstGeom prst="rect">
            <a:avLst/>
          </a:prstGeom>
          <a:solidFill>
            <a:srgbClr val="0C0C1A"/>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6" name="Google Shape;1496;p46"/>
          <p:cNvSpPr/>
          <p:nvPr/>
        </p:nvSpPr>
        <p:spPr>
          <a:xfrm>
            <a:off x="201168" y="1289304"/>
            <a:ext cx="54864" cy="1273302"/>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7" name="Google Shape;1497;p46"/>
          <p:cNvSpPr txBox="1"/>
          <p:nvPr/>
        </p:nvSpPr>
        <p:spPr>
          <a:xfrm>
            <a:off x="310896" y="1380744"/>
            <a:ext cx="2103120" cy="11087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00E5FF"/>
                </a:solidFill>
                <a:latin typeface="Calibri"/>
                <a:ea typeface="Calibri"/>
                <a:cs typeface="Calibri"/>
                <a:sym typeface="Calibri"/>
              </a:rPr>
              <a:t>World</a:t>
            </a:r>
            <a:br>
              <a:rPr b="1" i="0" lang="en-US" sz="1100">
                <a:solidFill>
                  <a:srgbClr val="00E5FF"/>
                </a:solidFill>
                <a:latin typeface="Calibri"/>
                <a:ea typeface="Calibri"/>
                <a:cs typeface="Calibri"/>
                <a:sym typeface="Calibri"/>
              </a:rPr>
            </a:br>
            <a:r>
              <a:rPr b="1" i="0" lang="en-US" sz="1100">
                <a:solidFill>
                  <a:srgbClr val="00E5FF"/>
                </a:solidFill>
                <a:latin typeface="Calibri"/>
                <a:ea typeface="Calibri"/>
                <a:cs typeface="Calibri"/>
                <a:sym typeface="Calibri"/>
              </a:rPr>
              <a:t>Model</a:t>
            </a:r>
            <a:endParaRPr/>
          </a:p>
        </p:txBody>
      </p:sp>
      <p:sp>
        <p:nvSpPr>
          <p:cNvPr id="1498" name="Google Shape;1498;p46"/>
          <p:cNvSpPr/>
          <p:nvPr/>
        </p:nvSpPr>
        <p:spPr>
          <a:xfrm>
            <a:off x="2578608" y="1289304"/>
            <a:ext cx="4480560" cy="1273302"/>
          </a:xfrm>
          <a:prstGeom prst="rect">
            <a:avLst/>
          </a:prstGeom>
          <a:solidFill>
            <a:srgbClr val="0C0C1A"/>
          </a:solidFill>
          <a:ln cap="flat" cmpd="sng" w="9525">
            <a:solidFill>
              <a:srgbClr val="30384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9" name="Google Shape;1499;p46"/>
          <p:cNvSpPr txBox="1"/>
          <p:nvPr/>
        </p:nvSpPr>
        <p:spPr>
          <a:xfrm>
            <a:off x="2670048" y="1344168"/>
            <a:ext cx="4297680" cy="11818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A0AAB8"/>
                </a:solidFill>
                <a:latin typeface="Calibri"/>
                <a:ea typeface="Calibri"/>
                <a:cs typeface="Calibri"/>
                <a:sym typeface="Calibri"/>
              </a:rPr>
              <a:t>Flat conversation history (PentestGPT)  ·  Task queues (VulnBot)  ·  RAG-backed untyped memory (PentestAgent)</a:t>
            </a:r>
            <a:endParaRPr/>
          </a:p>
        </p:txBody>
      </p:sp>
      <p:sp>
        <p:nvSpPr>
          <p:cNvPr id="1500" name="Google Shape;1500;p46"/>
          <p:cNvSpPr/>
          <p:nvPr/>
        </p:nvSpPr>
        <p:spPr>
          <a:xfrm>
            <a:off x="7242048" y="1289304"/>
            <a:ext cx="4754880" cy="1273302"/>
          </a:xfrm>
          <a:prstGeom prst="rect">
            <a:avLst/>
          </a:prstGeom>
          <a:solidFill>
            <a:srgbClr val="041406"/>
          </a:solidFill>
          <a:ln cap="flat" cmpd="sng" w="101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01" name="Google Shape;1501;p46"/>
          <p:cNvSpPr txBox="1"/>
          <p:nvPr/>
        </p:nvSpPr>
        <p:spPr>
          <a:xfrm>
            <a:off x="7333488" y="1344168"/>
            <a:ext cx="4572000" cy="11818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39FF14"/>
                </a:solidFill>
                <a:latin typeface="Calibri"/>
                <a:ea typeface="Calibri"/>
                <a:cs typeface="Calibri"/>
                <a:sym typeface="Calibri"/>
              </a:rPr>
              <a:t>Dual typed property graphs: ASG (confirmed facts) + APG (attack reasoning).  Strict write separation enforced per agent role.  Graph edges express relationships (affected_by, starts_at) that vector similarity cannot represent.</a:t>
            </a:r>
            <a:endParaRPr/>
          </a:p>
        </p:txBody>
      </p:sp>
      <p:sp>
        <p:nvSpPr>
          <p:cNvPr id="1502" name="Google Shape;1502;p46"/>
          <p:cNvSpPr/>
          <p:nvPr/>
        </p:nvSpPr>
        <p:spPr>
          <a:xfrm>
            <a:off x="201168" y="2617470"/>
            <a:ext cx="2286000" cy="1273302"/>
          </a:xfrm>
          <a:prstGeom prst="rect">
            <a:avLst/>
          </a:prstGeom>
          <a:solidFill>
            <a:srgbClr val="080814"/>
          </a:solidFill>
          <a:ln cap="flat" cmpd="sng" w="12700">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03" name="Google Shape;1503;p46"/>
          <p:cNvSpPr/>
          <p:nvPr/>
        </p:nvSpPr>
        <p:spPr>
          <a:xfrm>
            <a:off x="201168" y="2617470"/>
            <a:ext cx="54864" cy="1273302"/>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04" name="Google Shape;1504;p46"/>
          <p:cNvSpPr txBox="1"/>
          <p:nvPr/>
        </p:nvSpPr>
        <p:spPr>
          <a:xfrm>
            <a:off x="310896" y="2708910"/>
            <a:ext cx="2103120" cy="11087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00BFD8"/>
                </a:solidFill>
                <a:latin typeface="Calibri"/>
                <a:ea typeface="Calibri"/>
                <a:cs typeface="Calibri"/>
                <a:sym typeface="Calibri"/>
              </a:rPr>
              <a:t>Termination</a:t>
            </a:r>
            <a:br>
              <a:rPr b="1" i="0" lang="en-US" sz="1100">
                <a:solidFill>
                  <a:srgbClr val="00BFD8"/>
                </a:solidFill>
                <a:latin typeface="Calibri"/>
                <a:ea typeface="Calibri"/>
                <a:cs typeface="Calibri"/>
                <a:sym typeface="Calibri"/>
              </a:rPr>
            </a:br>
            <a:r>
              <a:rPr b="1" i="0" lang="en-US" sz="1100">
                <a:solidFill>
                  <a:srgbClr val="00BFD8"/>
                </a:solidFill>
                <a:latin typeface="Calibri"/>
                <a:ea typeface="Calibri"/>
                <a:cs typeface="Calibri"/>
                <a:sym typeface="Calibri"/>
              </a:rPr>
              <a:t>Logic</a:t>
            </a:r>
            <a:endParaRPr/>
          </a:p>
        </p:txBody>
      </p:sp>
      <p:sp>
        <p:nvSpPr>
          <p:cNvPr id="1505" name="Google Shape;1505;p46"/>
          <p:cNvSpPr/>
          <p:nvPr/>
        </p:nvSpPr>
        <p:spPr>
          <a:xfrm>
            <a:off x="2578608" y="2617470"/>
            <a:ext cx="4480560" cy="1273302"/>
          </a:xfrm>
          <a:prstGeom prst="rect">
            <a:avLst/>
          </a:prstGeom>
          <a:solidFill>
            <a:srgbClr val="080814"/>
          </a:solidFill>
          <a:ln cap="flat" cmpd="sng" w="9525">
            <a:solidFill>
              <a:srgbClr val="30384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06" name="Google Shape;1506;p46"/>
          <p:cNvSpPr txBox="1"/>
          <p:nvPr/>
        </p:nvSpPr>
        <p:spPr>
          <a:xfrm>
            <a:off x="2670048" y="2672334"/>
            <a:ext cx="4297680" cy="11818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A0AAB8"/>
                </a:solidFill>
                <a:latin typeface="Calibri"/>
                <a:ea typeface="Calibri"/>
                <a:cs typeface="Calibri"/>
                <a:sym typeface="Calibri"/>
              </a:rPr>
              <a:t>Wall-clock timeout (PentestGPT)  ·  Empty task queue (VulnBot)  ·  Ad-hoc human decision (most systems)</a:t>
            </a:r>
            <a:endParaRPr/>
          </a:p>
        </p:txBody>
      </p:sp>
      <p:sp>
        <p:nvSpPr>
          <p:cNvPr id="1507" name="Google Shape;1507;p46"/>
          <p:cNvSpPr/>
          <p:nvPr/>
        </p:nvSpPr>
        <p:spPr>
          <a:xfrm>
            <a:off x="7242048" y="2617470"/>
            <a:ext cx="4754880" cy="1273302"/>
          </a:xfrm>
          <a:prstGeom prst="rect">
            <a:avLst/>
          </a:prstGeom>
          <a:solidFill>
            <a:srgbClr val="041406"/>
          </a:solidFill>
          <a:ln cap="flat" cmpd="sng" w="10150">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08" name="Google Shape;1508;p46"/>
          <p:cNvSpPr txBox="1"/>
          <p:nvPr/>
        </p:nvSpPr>
        <p:spPr>
          <a:xfrm>
            <a:off x="7333488" y="2672334"/>
            <a:ext cx="4572000" cy="11818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39FF14"/>
                </a:solidFill>
                <a:latin typeface="Calibri"/>
                <a:ea typeface="Calibri"/>
                <a:cs typeface="Calibri"/>
                <a:sym typeface="Calibri"/>
              </a:rPr>
              <a:t>Formal dual condition: ASG exhaustion (∀ node.status = INVESTIGATED)  AND  APG resolution (∀ chain.status ∈ {VALIDATED, RULED_OUT}).  Both required simultaneously.</a:t>
            </a:r>
            <a:endParaRPr/>
          </a:p>
        </p:txBody>
      </p:sp>
      <p:sp>
        <p:nvSpPr>
          <p:cNvPr id="1509" name="Google Shape;1509;p46"/>
          <p:cNvSpPr/>
          <p:nvPr/>
        </p:nvSpPr>
        <p:spPr>
          <a:xfrm>
            <a:off x="201168" y="3945636"/>
            <a:ext cx="2286000" cy="1273302"/>
          </a:xfrm>
          <a:prstGeom prst="rect">
            <a:avLst/>
          </a:prstGeom>
          <a:solidFill>
            <a:srgbClr val="0C0C1A"/>
          </a:solidFill>
          <a:ln cap="flat" cmpd="sng" w="1270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0" name="Google Shape;1510;p46"/>
          <p:cNvSpPr/>
          <p:nvPr/>
        </p:nvSpPr>
        <p:spPr>
          <a:xfrm>
            <a:off x="201168" y="3945636"/>
            <a:ext cx="54864" cy="1273302"/>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1" name="Google Shape;1511;p46"/>
          <p:cNvSpPr txBox="1"/>
          <p:nvPr/>
        </p:nvSpPr>
        <p:spPr>
          <a:xfrm>
            <a:off x="310896" y="4037076"/>
            <a:ext cx="2103120" cy="11087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FD700"/>
                </a:solidFill>
                <a:latin typeface="Calibri"/>
                <a:ea typeface="Calibri"/>
                <a:cs typeface="Calibri"/>
                <a:sym typeface="Calibri"/>
              </a:rPr>
              <a:t>Cross-Mission</a:t>
            </a:r>
            <a:br>
              <a:rPr b="1" i="0" lang="en-US" sz="1100">
                <a:solidFill>
                  <a:srgbClr val="FFD700"/>
                </a:solidFill>
                <a:latin typeface="Calibri"/>
                <a:ea typeface="Calibri"/>
                <a:cs typeface="Calibri"/>
                <a:sym typeface="Calibri"/>
              </a:rPr>
            </a:br>
            <a:r>
              <a:rPr b="1" i="0" lang="en-US" sz="1100">
                <a:solidFill>
                  <a:srgbClr val="FFD700"/>
                </a:solidFill>
                <a:latin typeface="Calibri"/>
                <a:ea typeface="Calibri"/>
                <a:cs typeface="Calibri"/>
                <a:sym typeface="Calibri"/>
              </a:rPr>
              <a:t>Learning</a:t>
            </a:r>
            <a:endParaRPr/>
          </a:p>
        </p:txBody>
      </p:sp>
      <p:sp>
        <p:nvSpPr>
          <p:cNvPr id="1512" name="Google Shape;1512;p46"/>
          <p:cNvSpPr/>
          <p:nvPr/>
        </p:nvSpPr>
        <p:spPr>
          <a:xfrm>
            <a:off x="2578608" y="3945636"/>
            <a:ext cx="4480560" cy="1273302"/>
          </a:xfrm>
          <a:prstGeom prst="rect">
            <a:avLst/>
          </a:prstGeom>
          <a:solidFill>
            <a:srgbClr val="0C0C1A"/>
          </a:solidFill>
          <a:ln cap="flat" cmpd="sng" w="9525">
            <a:solidFill>
              <a:srgbClr val="30384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3" name="Google Shape;1513;p46"/>
          <p:cNvSpPr txBox="1"/>
          <p:nvPr/>
        </p:nvSpPr>
        <p:spPr>
          <a:xfrm>
            <a:off x="2670048" y="4000500"/>
            <a:ext cx="4297680" cy="11818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A0AAB8"/>
                </a:solidFill>
                <a:latin typeface="Calibri"/>
                <a:ea typeface="Calibri"/>
                <a:cs typeface="Calibri"/>
                <a:sym typeface="Calibri"/>
              </a:rPr>
              <a:t>AutoAttacker reuses subtasks within one session.  All other prior systems reset to zero knowledge on each mission.</a:t>
            </a:r>
            <a:endParaRPr/>
          </a:p>
        </p:txBody>
      </p:sp>
      <p:sp>
        <p:nvSpPr>
          <p:cNvPr id="1514" name="Google Shape;1514;p46"/>
          <p:cNvSpPr/>
          <p:nvPr/>
        </p:nvSpPr>
        <p:spPr>
          <a:xfrm>
            <a:off x="7242048" y="3945636"/>
            <a:ext cx="4754880" cy="1273302"/>
          </a:xfrm>
          <a:prstGeom prst="rect">
            <a:avLst/>
          </a:prstGeom>
          <a:solidFill>
            <a:srgbClr val="041406"/>
          </a:solidFill>
          <a:ln cap="flat" cmpd="sng" w="1015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5" name="Google Shape;1515;p46"/>
          <p:cNvSpPr txBox="1"/>
          <p:nvPr/>
        </p:nvSpPr>
        <p:spPr>
          <a:xfrm>
            <a:off x="7333488" y="4000500"/>
            <a:ext cx="4572000" cy="11818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39FF14"/>
                </a:solidFill>
                <a:latin typeface="Calibri"/>
                <a:ea typeface="Calibri"/>
                <a:cs typeface="Calibri"/>
                <a:sym typeface="Calibri"/>
              </a:rPr>
              <a:t>Cross-Mission Experience Store (C10) + Attack Strategy Library (C11):  validated exploitation outcomes accumulate across every mission ever run.  Pre-ranked APG seeds at mission start for known target-type fingerprints.</a:t>
            </a:r>
            <a:endParaRPr/>
          </a:p>
        </p:txBody>
      </p:sp>
      <p:sp>
        <p:nvSpPr>
          <p:cNvPr id="1516" name="Google Shape;1516;p46"/>
          <p:cNvSpPr/>
          <p:nvPr/>
        </p:nvSpPr>
        <p:spPr>
          <a:xfrm>
            <a:off x="201168" y="5273802"/>
            <a:ext cx="2286000" cy="1273302"/>
          </a:xfrm>
          <a:prstGeom prst="rect">
            <a:avLst/>
          </a:prstGeom>
          <a:solidFill>
            <a:srgbClr val="080814"/>
          </a:solidFill>
          <a:ln cap="flat" cmpd="sng" w="12700">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7" name="Google Shape;1517;p46"/>
          <p:cNvSpPr/>
          <p:nvPr/>
        </p:nvSpPr>
        <p:spPr>
          <a:xfrm>
            <a:off x="201168" y="5273802"/>
            <a:ext cx="54864" cy="1273302"/>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8" name="Google Shape;1518;p46"/>
          <p:cNvSpPr txBox="1"/>
          <p:nvPr/>
        </p:nvSpPr>
        <p:spPr>
          <a:xfrm>
            <a:off x="310896" y="5365242"/>
            <a:ext cx="2103120" cy="11087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BD93F9"/>
                </a:solidFill>
                <a:latin typeface="Calibri"/>
                <a:ea typeface="Calibri"/>
                <a:cs typeface="Calibri"/>
                <a:sym typeface="Calibri"/>
              </a:rPr>
              <a:t>Trajectory</a:t>
            </a:r>
            <a:br>
              <a:rPr b="1" i="0" lang="en-US" sz="1100">
                <a:solidFill>
                  <a:srgbClr val="BD93F9"/>
                </a:solidFill>
                <a:latin typeface="Calibri"/>
                <a:ea typeface="Calibri"/>
                <a:cs typeface="Calibri"/>
                <a:sym typeface="Calibri"/>
              </a:rPr>
            </a:br>
            <a:r>
              <a:rPr b="1" i="0" lang="en-US" sz="1100">
                <a:solidFill>
                  <a:srgbClr val="BD93F9"/>
                </a:solidFill>
                <a:latin typeface="Calibri"/>
                <a:ea typeface="Calibri"/>
                <a:cs typeface="Calibri"/>
                <a:sym typeface="Calibri"/>
              </a:rPr>
              <a:t>Export</a:t>
            </a:r>
            <a:endParaRPr/>
          </a:p>
        </p:txBody>
      </p:sp>
      <p:sp>
        <p:nvSpPr>
          <p:cNvPr id="1519" name="Google Shape;1519;p46"/>
          <p:cNvSpPr/>
          <p:nvPr/>
        </p:nvSpPr>
        <p:spPr>
          <a:xfrm>
            <a:off x="2578608" y="5273802"/>
            <a:ext cx="4480560" cy="1273302"/>
          </a:xfrm>
          <a:prstGeom prst="rect">
            <a:avLst/>
          </a:prstGeom>
          <a:solidFill>
            <a:srgbClr val="080814"/>
          </a:solidFill>
          <a:ln cap="flat" cmpd="sng" w="9525">
            <a:solidFill>
              <a:srgbClr val="30384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20" name="Google Shape;1520;p46"/>
          <p:cNvSpPr txBox="1"/>
          <p:nvPr/>
        </p:nvSpPr>
        <p:spPr>
          <a:xfrm>
            <a:off x="2670048" y="5328666"/>
            <a:ext cx="4297680" cy="11818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A0AAB8"/>
                </a:solidFill>
                <a:latin typeface="Calibri"/>
                <a:ea typeface="Calibri"/>
                <a:cs typeface="Calibri"/>
                <a:sym typeface="Calibri"/>
              </a:rPr>
              <a:t>No prior autonomous VAPT system produces machine-readable decision logs usable for ML training.</a:t>
            </a:r>
            <a:endParaRPr/>
          </a:p>
        </p:txBody>
      </p:sp>
      <p:sp>
        <p:nvSpPr>
          <p:cNvPr id="1521" name="Google Shape;1521;p46"/>
          <p:cNvSpPr/>
          <p:nvPr/>
        </p:nvSpPr>
        <p:spPr>
          <a:xfrm>
            <a:off x="7242048" y="5273802"/>
            <a:ext cx="4754880" cy="1273302"/>
          </a:xfrm>
          <a:prstGeom prst="rect">
            <a:avLst/>
          </a:prstGeom>
          <a:solidFill>
            <a:srgbClr val="041406"/>
          </a:solidFill>
          <a:ln cap="flat" cmpd="sng" w="10150">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22" name="Google Shape;1522;p46"/>
          <p:cNvSpPr txBox="1"/>
          <p:nvPr/>
        </p:nvSpPr>
        <p:spPr>
          <a:xfrm>
            <a:off x="7333488" y="5328666"/>
            <a:ext cx="4572000" cy="11818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39FF14"/>
                </a:solidFill>
                <a:latin typeface="Calibri"/>
                <a:ea typeface="Calibri"/>
                <a:cs typeface="Calibri"/>
                <a:sym typeface="Calibri"/>
              </a:rPr>
              <a:t>C12: every mission generates a structured decision log capturing ASG/APG triggers, Commander rationale, and actions taken.  Directly usable as SFT/RL training data for security-specialized LLMs.</a:t>
            </a:r>
            <a:endParaRPr/>
          </a:p>
        </p:txBody>
      </p:sp>
      <p:sp>
        <p:nvSpPr>
          <p:cNvPr id="1523" name="Google Shape;1523;p46"/>
          <p:cNvSpPr txBox="1"/>
          <p:nvPr/>
        </p:nvSpPr>
        <p:spPr>
          <a:xfrm>
            <a:off x="11765701" y="63137"/>
            <a:ext cx="384048" cy="4114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1300">
                <a:solidFill>
                  <a:srgbClr val="39FF14"/>
                </a:solidFill>
                <a:latin typeface="Calibri"/>
                <a:ea typeface="Calibri"/>
                <a:cs typeface="Calibri"/>
                <a:sym typeface="Calibri"/>
              </a:rPr>
              <a:t>18</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1527" name="Shape 1527"/>
        <p:cNvGrpSpPr/>
        <p:nvPr/>
      </p:nvGrpSpPr>
      <p:grpSpPr>
        <a:xfrm>
          <a:off x="0" y="0"/>
          <a:ext cx="0" cy="0"/>
          <a:chOff x="0" y="0"/>
          <a:chExt cx="0" cy="0"/>
        </a:xfrm>
      </p:grpSpPr>
      <p:sp>
        <p:nvSpPr>
          <p:cNvPr id="1528" name="Google Shape;1528;p47"/>
          <p:cNvSpPr/>
          <p:nvPr/>
        </p:nvSpPr>
        <p:spPr>
          <a:xfrm>
            <a:off x="0" y="0"/>
            <a:ext cx="54864" cy="68580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29" name="Google Shape;1529;p47"/>
          <p:cNvSpPr/>
          <p:nvPr/>
        </p:nvSpPr>
        <p:spPr>
          <a:xfrm>
            <a:off x="54864" y="0"/>
            <a:ext cx="12136831" cy="36576"/>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0" name="Google Shape;1530;p47"/>
          <p:cNvSpPr/>
          <p:nvPr/>
        </p:nvSpPr>
        <p:spPr>
          <a:xfrm>
            <a:off x="54864" y="6821424"/>
            <a:ext cx="12136831" cy="36576"/>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1" name="Google Shape;1531;p47"/>
          <p:cNvSpPr txBox="1"/>
          <p:nvPr/>
        </p:nvSpPr>
        <p:spPr>
          <a:xfrm>
            <a:off x="274320" y="64008"/>
            <a:ext cx="73152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FFD700"/>
                </a:solidFill>
                <a:latin typeface="Calibri"/>
                <a:ea typeface="Calibri"/>
                <a:cs typeface="Calibri"/>
                <a:sym typeface="Calibri"/>
              </a:rPr>
              <a:t>EVALUATION PLAN</a:t>
            </a:r>
            <a:endParaRPr/>
          </a:p>
        </p:txBody>
      </p:sp>
      <p:sp>
        <p:nvSpPr>
          <p:cNvPr id="1532" name="Google Shape;1532;p47"/>
          <p:cNvSpPr txBox="1"/>
          <p:nvPr/>
        </p:nvSpPr>
        <p:spPr>
          <a:xfrm>
            <a:off x="274320" y="292608"/>
            <a:ext cx="11430000" cy="4754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a:solidFill>
                  <a:srgbClr val="FFFFFF"/>
                </a:solidFill>
                <a:latin typeface="Calibri"/>
                <a:ea typeface="Calibri"/>
                <a:cs typeface="Calibri"/>
                <a:sym typeface="Calibri"/>
              </a:rPr>
              <a:t>How We Will Validate CMatrix Claims Empirically</a:t>
            </a:r>
            <a:endParaRPr/>
          </a:p>
        </p:txBody>
      </p:sp>
      <p:sp>
        <p:nvSpPr>
          <p:cNvPr id="1533" name="Google Shape;1533;p47"/>
          <p:cNvSpPr/>
          <p:nvPr/>
        </p:nvSpPr>
        <p:spPr>
          <a:xfrm>
            <a:off x="274320" y="822960"/>
            <a:ext cx="8229600" cy="27432"/>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4" name="Google Shape;1534;p47"/>
          <p:cNvSpPr/>
          <p:nvPr/>
        </p:nvSpPr>
        <p:spPr>
          <a:xfrm>
            <a:off x="201168" y="987552"/>
            <a:ext cx="5852160" cy="2286000"/>
          </a:xfrm>
          <a:prstGeom prst="rect">
            <a:avLst/>
          </a:prstGeom>
          <a:solidFill>
            <a:srgbClr val="0C1022"/>
          </a:solidFill>
          <a:ln cap="flat" cmpd="sng" w="1777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5" name="Google Shape;1535;p47"/>
          <p:cNvSpPr/>
          <p:nvPr/>
        </p:nvSpPr>
        <p:spPr>
          <a:xfrm>
            <a:off x="201168" y="987552"/>
            <a:ext cx="5852160" cy="292608"/>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6" name="Google Shape;1536;p47"/>
          <p:cNvSpPr txBox="1"/>
          <p:nvPr/>
        </p:nvSpPr>
        <p:spPr>
          <a:xfrm>
            <a:off x="201168" y="1024128"/>
            <a:ext cx="585216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a:solidFill>
                  <a:srgbClr val="0A0D1A"/>
                </a:solidFill>
                <a:latin typeface="Calibri"/>
                <a:ea typeface="Calibri"/>
                <a:cs typeface="Calibri"/>
                <a:sym typeface="Calibri"/>
              </a:rPr>
              <a:t>EVALUATION PLATFORMS</a:t>
            </a:r>
            <a:endParaRPr/>
          </a:p>
        </p:txBody>
      </p:sp>
      <p:sp>
        <p:nvSpPr>
          <p:cNvPr id="1537" name="Google Shape;1537;p47"/>
          <p:cNvSpPr/>
          <p:nvPr/>
        </p:nvSpPr>
        <p:spPr>
          <a:xfrm>
            <a:off x="292608" y="1335024"/>
            <a:ext cx="5669280" cy="566928"/>
          </a:xfrm>
          <a:prstGeom prst="rect">
            <a:avLst/>
          </a:prstGeom>
          <a:solidFill>
            <a:srgbClr val="081424"/>
          </a:solidFill>
          <a:ln cap="flat" cmpd="sng" w="95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8" name="Google Shape;1538;p47"/>
          <p:cNvSpPr txBox="1"/>
          <p:nvPr/>
        </p:nvSpPr>
        <p:spPr>
          <a:xfrm>
            <a:off x="384048" y="1371600"/>
            <a:ext cx="5559552"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00E5FF"/>
                </a:solidFill>
                <a:latin typeface="Calibri"/>
                <a:ea typeface="Calibri"/>
                <a:cs typeface="Calibri"/>
                <a:sym typeface="Calibri"/>
              </a:rPr>
              <a:t>HackTheBox (HTB)</a:t>
            </a:r>
            <a:endParaRPr/>
          </a:p>
        </p:txBody>
      </p:sp>
      <p:sp>
        <p:nvSpPr>
          <p:cNvPr id="1539" name="Google Shape;1539;p47"/>
          <p:cNvSpPr txBox="1"/>
          <p:nvPr/>
        </p:nvSpPr>
        <p:spPr>
          <a:xfrm>
            <a:off x="384048" y="1591056"/>
            <a:ext cx="55595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A0AAB8"/>
                </a:solidFill>
                <a:latin typeface="Calibri"/>
                <a:ea typeface="Calibri"/>
                <a:cs typeface="Calibri"/>
                <a:sym typeface="Calibri"/>
              </a:rPr>
              <a:t>Retired machines — Linux + Windows — known ground-truth vulnerabilities for coverage scoring.</a:t>
            </a:r>
            <a:endParaRPr/>
          </a:p>
        </p:txBody>
      </p:sp>
      <p:sp>
        <p:nvSpPr>
          <p:cNvPr id="1540" name="Google Shape;1540;p47"/>
          <p:cNvSpPr/>
          <p:nvPr/>
        </p:nvSpPr>
        <p:spPr>
          <a:xfrm>
            <a:off x="292608" y="1956816"/>
            <a:ext cx="5669280" cy="566928"/>
          </a:xfrm>
          <a:prstGeom prst="rect">
            <a:avLst/>
          </a:prstGeom>
          <a:solidFill>
            <a:srgbClr val="081424"/>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41" name="Google Shape;1541;p47"/>
          <p:cNvSpPr txBox="1"/>
          <p:nvPr/>
        </p:nvSpPr>
        <p:spPr>
          <a:xfrm>
            <a:off x="384048" y="1993392"/>
            <a:ext cx="5559552"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9FF14"/>
                </a:solidFill>
                <a:latin typeface="Calibri"/>
                <a:ea typeface="Calibri"/>
                <a:cs typeface="Calibri"/>
                <a:sym typeface="Calibri"/>
              </a:rPr>
              <a:t>TryHackMe (THM)</a:t>
            </a:r>
            <a:endParaRPr/>
          </a:p>
        </p:txBody>
      </p:sp>
      <p:sp>
        <p:nvSpPr>
          <p:cNvPr id="1542" name="Google Shape;1542;p47"/>
          <p:cNvSpPr txBox="1"/>
          <p:nvPr/>
        </p:nvSpPr>
        <p:spPr>
          <a:xfrm>
            <a:off x="384048" y="2212848"/>
            <a:ext cx="55595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A0AAB8"/>
                </a:solidFill>
                <a:latin typeface="Calibri"/>
                <a:ea typeface="Calibri"/>
                <a:cs typeface="Calibri"/>
                <a:sym typeface="Calibri"/>
              </a:rPr>
              <a:t>Guided CTF environments with intentionally vulnerable web applications and APIs.</a:t>
            </a:r>
            <a:endParaRPr/>
          </a:p>
        </p:txBody>
      </p:sp>
      <p:sp>
        <p:nvSpPr>
          <p:cNvPr id="1543" name="Google Shape;1543;p47"/>
          <p:cNvSpPr/>
          <p:nvPr/>
        </p:nvSpPr>
        <p:spPr>
          <a:xfrm>
            <a:off x="292608" y="2578608"/>
            <a:ext cx="5669280" cy="566928"/>
          </a:xfrm>
          <a:prstGeom prst="rect">
            <a:avLst/>
          </a:prstGeom>
          <a:solidFill>
            <a:srgbClr val="081424"/>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44" name="Google Shape;1544;p47"/>
          <p:cNvSpPr txBox="1"/>
          <p:nvPr/>
        </p:nvSpPr>
        <p:spPr>
          <a:xfrm>
            <a:off x="384048" y="2615184"/>
            <a:ext cx="5559552"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FFD700"/>
                </a:solidFill>
                <a:latin typeface="Calibri"/>
                <a:ea typeface="Calibri"/>
                <a:cs typeface="Calibri"/>
                <a:sym typeface="Calibri"/>
              </a:rPr>
              <a:t>Custom Lab VMs</a:t>
            </a:r>
            <a:endParaRPr/>
          </a:p>
        </p:txBody>
      </p:sp>
      <p:sp>
        <p:nvSpPr>
          <p:cNvPr id="1545" name="Google Shape;1545;p47"/>
          <p:cNvSpPr txBox="1"/>
          <p:nvPr/>
        </p:nvSpPr>
        <p:spPr>
          <a:xfrm>
            <a:off x="384048" y="2834640"/>
            <a:ext cx="55595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A0AAB8"/>
                </a:solidFill>
                <a:latin typeface="Calibri"/>
                <a:ea typeface="Calibri"/>
                <a:cs typeface="Calibri"/>
                <a:sym typeface="Calibri"/>
              </a:rPr>
              <a:t>Controlled WordPress + Django stack mirroring shopvault.io for repeatable A/B testing.</a:t>
            </a:r>
            <a:endParaRPr/>
          </a:p>
        </p:txBody>
      </p:sp>
      <p:sp>
        <p:nvSpPr>
          <p:cNvPr id="1546" name="Google Shape;1546;p47"/>
          <p:cNvSpPr/>
          <p:nvPr/>
        </p:nvSpPr>
        <p:spPr>
          <a:xfrm>
            <a:off x="201168" y="3364992"/>
            <a:ext cx="5852160" cy="3438144"/>
          </a:xfrm>
          <a:prstGeom prst="rect">
            <a:avLst/>
          </a:prstGeom>
          <a:solidFill>
            <a:srgbClr val="0E0C04"/>
          </a:solidFill>
          <a:ln cap="flat" cmpd="sng" w="1777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47" name="Google Shape;1547;p47"/>
          <p:cNvSpPr/>
          <p:nvPr/>
        </p:nvSpPr>
        <p:spPr>
          <a:xfrm>
            <a:off x="201168" y="3364992"/>
            <a:ext cx="5852160" cy="292608"/>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48" name="Google Shape;1548;p47"/>
          <p:cNvSpPr txBox="1"/>
          <p:nvPr/>
        </p:nvSpPr>
        <p:spPr>
          <a:xfrm>
            <a:off x="201168" y="3401568"/>
            <a:ext cx="5852160"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a:solidFill>
                  <a:srgbClr val="0A0D1A"/>
                </a:solidFill>
                <a:latin typeface="Calibri"/>
                <a:ea typeface="Calibri"/>
                <a:cs typeface="Calibri"/>
                <a:sym typeface="Calibri"/>
              </a:rPr>
              <a:t>RESEARCH QUESTIONS</a:t>
            </a:r>
            <a:endParaRPr/>
          </a:p>
        </p:txBody>
      </p:sp>
      <p:sp>
        <p:nvSpPr>
          <p:cNvPr id="1549" name="Google Shape;1549;p47"/>
          <p:cNvSpPr/>
          <p:nvPr/>
        </p:nvSpPr>
        <p:spPr>
          <a:xfrm>
            <a:off x="292608" y="3712464"/>
            <a:ext cx="411480" cy="64008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0" name="Google Shape;1550;p47"/>
          <p:cNvSpPr txBox="1"/>
          <p:nvPr/>
        </p:nvSpPr>
        <p:spPr>
          <a:xfrm>
            <a:off x="310896" y="3877056"/>
            <a:ext cx="384048" cy="2926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a:solidFill>
                  <a:srgbClr val="0A0D1A"/>
                </a:solidFill>
                <a:latin typeface="Calibri"/>
                <a:ea typeface="Calibri"/>
                <a:cs typeface="Calibri"/>
                <a:sym typeface="Calibri"/>
              </a:rPr>
              <a:t>RQ1</a:t>
            </a:r>
            <a:endParaRPr/>
          </a:p>
        </p:txBody>
      </p:sp>
      <p:sp>
        <p:nvSpPr>
          <p:cNvPr id="1551" name="Google Shape;1551;p47"/>
          <p:cNvSpPr txBox="1"/>
          <p:nvPr/>
        </p:nvSpPr>
        <p:spPr>
          <a:xfrm>
            <a:off x="768096" y="3749040"/>
            <a:ext cx="5175504" cy="5852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A0AAB8"/>
                </a:solidFill>
                <a:latin typeface="Calibri"/>
                <a:ea typeface="Calibri"/>
                <a:cs typeface="Calibri"/>
                <a:sym typeface="Calibri"/>
              </a:rPr>
              <a:t>Does the dual-graph architecture improve vulnerability coverage compared to a flat-memory baseline?</a:t>
            </a:r>
            <a:endParaRPr/>
          </a:p>
        </p:txBody>
      </p:sp>
      <p:sp>
        <p:nvSpPr>
          <p:cNvPr id="1552" name="Google Shape;1552;p47"/>
          <p:cNvSpPr/>
          <p:nvPr/>
        </p:nvSpPr>
        <p:spPr>
          <a:xfrm>
            <a:off x="292608" y="4462272"/>
            <a:ext cx="411480" cy="64008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3" name="Google Shape;1553;p47"/>
          <p:cNvSpPr txBox="1"/>
          <p:nvPr/>
        </p:nvSpPr>
        <p:spPr>
          <a:xfrm>
            <a:off x="310896" y="4626864"/>
            <a:ext cx="384048" cy="2926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a:solidFill>
                  <a:srgbClr val="0A0D1A"/>
                </a:solidFill>
                <a:latin typeface="Calibri"/>
                <a:ea typeface="Calibri"/>
                <a:cs typeface="Calibri"/>
                <a:sym typeface="Calibri"/>
              </a:rPr>
              <a:t>RQ2</a:t>
            </a:r>
            <a:endParaRPr/>
          </a:p>
        </p:txBody>
      </p:sp>
      <p:sp>
        <p:nvSpPr>
          <p:cNvPr id="1554" name="Google Shape;1554;p47"/>
          <p:cNvSpPr txBox="1"/>
          <p:nvPr/>
        </p:nvSpPr>
        <p:spPr>
          <a:xfrm>
            <a:off x="768096" y="4498848"/>
            <a:ext cx="5175504" cy="5852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A0AAB8"/>
                </a:solidFill>
                <a:latin typeface="Calibri"/>
                <a:ea typeface="Calibri"/>
                <a:cs typeface="Calibri"/>
                <a:sym typeface="Calibri"/>
              </a:rPr>
              <a:t>Does formal dual termination reduce false-early-stops vs timer-based termination?</a:t>
            </a:r>
            <a:endParaRPr/>
          </a:p>
        </p:txBody>
      </p:sp>
      <p:sp>
        <p:nvSpPr>
          <p:cNvPr id="1555" name="Google Shape;1555;p47"/>
          <p:cNvSpPr/>
          <p:nvPr/>
        </p:nvSpPr>
        <p:spPr>
          <a:xfrm>
            <a:off x="292608" y="5212080"/>
            <a:ext cx="411480" cy="64008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6" name="Google Shape;1556;p47"/>
          <p:cNvSpPr txBox="1"/>
          <p:nvPr/>
        </p:nvSpPr>
        <p:spPr>
          <a:xfrm>
            <a:off x="310896" y="5376672"/>
            <a:ext cx="384048" cy="2926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a:solidFill>
                  <a:srgbClr val="0A0D1A"/>
                </a:solidFill>
                <a:latin typeface="Calibri"/>
                <a:ea typeface="Calibri"/>
                <a:cs typeface="Calibri"/>
                <a:sym typeface="Calibri"/>
              </a:rPr>
              <a:t>RQ3</a:t>
            </a:r>
            <a:endParaRPr/>
          </a:p>
        </p:txBody>
      </p:sp>
      <p:sp>
        <p:nvSpPr>
          <p:cNvPr id="1557" name="Google Shape;1557;p47"/>
          <p:cNvSpPr txBox="1"/>
          <p:nvPr/>
        </p:nvSpPr>
        <p:spPr>
          <a:xfrm>
            <a:off x="768096" y="5248656"/>
            <a:ext cx="5175504" cy="5852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A0AAB8"/>
                </a:solidFill>
                <a:latin typeface="Calibri"/>
                <a:ea typeface="Calibri"/>
                <a:cs typeface="Calibri"/>
                <a:sym typeface="Calibri"/>
              </a:rPr>
              <a:t>Does cross-mission learning measurably reduce time-to-finding on repeat target-type engagements?</a:t>
            </a:r>
            <a:endParaRPr/>
          </a:p>
        </p:txBody>
      </p:sp>
      <p:sp>
        <p:nvSpPr>
          <p:cNvPr id="1558" name="Google Shape;1558;p47"/>
          <p:cNvSpPr/>
          <p:nvPr/>
        </p:nvSpPr>
        <p:spPr>
          <a:xfrm>
            <a:off x="292608" y="5961888"/>
            <a:ext cx="411480" cy="64008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9" name="Google Shape;1559;p47"/>
          <p:cNvSpPr txBox="1"/>
          <p:nvPr/>
        </p:nvSpPr>
        <p:spPr>
          <a:xfrm>
            <a:off x="310896" y="6126480"/>
            <a:ext cx="384048" cy="2926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a:solidFill>
                  <a:srgbClr val="0A0D1A"/>
                </a:solidFill>
                <a:latin typeface="Calibri"/>
                <a:ea typeface="Calibri"/>
                <a:cs typeface="Calibri"/>
                <a:sym typeface="Calibri"/>
              </a:rPr>
              <a:t>RQ4</a:t>
            </a:r>
            <a:endParaRPr/>
          </a:p>
        </p:txBody>
      </p:sp>
      <p:sp>
        <p:nvSpPr>
          <p:cNvPr id="1560" name="Google Shape;1560;p47"/>
          <p:cNvSpPr txBox="1"/>
          <p:nvPr/>
        </p:nvSpPr>
        <p:spPr>
          <a:xfrm>
            <a:off x="768096" y="5998464"/>
            <a:ext cx="5175504" cy="5852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A0AAB8"/>
                </a:solidFill>
                <a:latin typeface="Calibri"/>
                <a:ea typeface="Calibri"/>
                <a:cs typeface="Calibri"/>
                <a:sym typeface="Calibri"/>
              </a:rPr>
              <a:t>Does the risk gate reduce unintended offensive actions without significantly reducing coverage?</a:t>
            </a:r>
            <a:endParaRPr/>
          </a:p>
        </p:txBody>
      </p:sp>
      <p:sp>
        <p:nvSpPr>
          <p:cNvPr id="1561" name="Google Shape;1561;p47"/>
          <p:cNvSpPr/>
          <p:nvPr/>
        </p:nvSpPr>
        <p:spPr>
          <a:xfrm>
            <a:off x="6181344" y="987552"/>
            <a:ext cx="5809183" cy="2103120"/>
          </a:xfrm>
          <a:prstGeom prst="rect">
            <a:avLst/>
          </a:prstGeom>
          <a:solidFill>
            <a:srgbClr val="061408"/>
          </a:solidFill>
          <a:ln cap="flat" cmpd="sng" w="1777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2" name="Google Shape;1562;p47"/>
          <p:cNvSpPr/>
          <p:nvPr/>
        </p:nvSpPr>
        <p:spPr>
          <a:xfrm>
            <a:off x="6181344" y="987552"/>
            <a:ext cx="5809183" cy="292608"/>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3" name="Google Shape;1563;p47"/>
          <p:cNvSpPr txBox="1"/>
          <p:nvPr/>
        </p:nvSpPr>
        <p:spPr>
          <a:xfrm>
            <a:off x="6181344" y="1024128"/>
            <a:ext cx="5809183"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a:solidFill>
                  <a:srgbClr val="0A0D1A"/>
                </a:solidFill>
                <a:latin typeface="Calibri"/>
                <a:ea typeface="Calibri"/>
                <a:cs typeface="Calibri"/>
                <a:sym typeface="Calibri"/>
              </a:rPr>
              <a:t>EVALUATION METRICS</a:t>
            </a:r>
            <a:endParaRPr/>
          </a:p>
        </p:txBody>
      </p:sp>
      <p:sp>
        <p:nvSpPr>
          <p:cNvPr id="1564" name="Google Shape;1564;p47"/>
          <p:cNvSpPr/>
          <p:nvPr/>
        </p:nvSpPr>
        <p:spPr>
          <a:xfrm>
            <a:off x="6272784" y="1335024"/>
            <a:ext cx="5626303" cy="310896"/>
          </a:xfrm>
          <a:prstGeom prst="rect">
            <a:avLst/>
          </a:prstGeom>
          <a:solidFill>
            <a:srgbClr val="061C0A"/>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5" name="Google Shape;1565;p47"/>
          <p:cNvSpPr txBox="1"/>
          <p:nvPr/>
        </p:nvSpPr>
        <p:spPr>
          <a:xfrm>
            <a:off x="6345936" y="1371600"/>
            <a:ext cx="16916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a:solidFill>
                  <a:srgbClr val="39FF14"/>
                </a:solidFill>
                <a:latin typeface="Calibri"/>
                <a:ea typeface="Calibri"/>
                <a:cs typeface="Calibri"/>
                <a:sym typeface="Calibri"/>
              </a:rPr>
              <a:t>Vulnerability Coverage</a:t>
            </a:r>
            <a:endParaRPr/>
          </a:p>
        </p:txBody>
      </p:sp>
      <p:sp>
        <p:nvSpPr>
          <p:cNvPr id="1566" name="Google Shape;1566;p47"/>
          <p:cNvSpPr txBox="1"/>
          <p:nvPr/>
        </p:nvSpPr>
        <p:spPr>
          <a:xfrm>
            <a:off x="8083296" y="1371600"/>
            <a:ext cx="3797503"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A0AAB8"/>
                </a:solidFill>
                <a:latin typeface="Calibri"/>
                <a:ea typeface="Calibri"/>
                <a:cs typeface="Calibri"/>
                <a:sym typeface="Calibri"/>
              </a:rPr>
              <a:t>% of known vulns discovered vs ground truth per machine</a:t>
            </a:r>
            <a:endParaRPr/>
          </a:p>
        </p:txBody>
      </p:sp>
      <p:sp>
        <p:nvSpPr>
          <p:cNvPr id="1567" name="Google Shape;1567;p47"/>
          <p:cNvSpPr/>
          <p:nvPr/>
        </p:nvSpPr>
        <p:spPr>
          <a:xfrm>
            <a:off x="6272784" y="1682496"/>
            <a:ext cx="5626303" cy="310896"/>
          </a:xfrm>
          <a:prstGeom prst="rect">
            <a:avLst/>
          </a:prstGeom>
          <a:solidFill>
            <a:srgbClr val="061C0A"/>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8" name="Google Shape;1568;p47"/>
          <p:cNvSpPr txBox="1"/>
          <p:nvPr/>
        </p:nvSpPr>
        <p:spPr>
          <a:xfrm>
            <a:off x="6345936" y="1719072"/>
            <a:ext cx="16916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a:solidFill>
                  <a:srgbClr val="39FF14"/>
                </a:solidFill>
                <a:latin typeface="Calibri"/>
                <a:ea typeface="Calibri"/>
                <a:cs typeface="Calibri"/>
                <a:sym typeface="Calibri"/>
              </a:rPr>
              <a:t>Chain Precision</a:t>
            </a:r>
            <a:endParaRPr/>
          </a:p>
        </p:txBody>
      </p:sp>
      <p:sp>
        <p:nvSpPr>
          <p:cNvPr id="1569" name="Google Shape;1569;p47"/>
          <p:cNvSpPr txBox="1"/>
          <p:nvPr/>
        </p:nvSpPr>
        <p:spPr>
          <a:xfrm>
            <a:off x="8083296" y="1719072"/>
            <a:ext cx="3797503"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A0AAB8"/>
                </a:solidFill>
                <a:latin typeface="Calibri"/>
                <a:ea typeface="Calibri"/>
                <a:cs typeface="Calibri"/>
                <a:sym typeface="Calibri"/>
              </a:rPr>
              <a:t>% of APG AttackChains that result in VALIDATED status</a:t>
            </a:r>
            <a:endParaRPr/>
          </a:p>
        </p:txBody>
      </p:sp>
      <p:sp>
        <p:nvSpPr>
          <p:cNvPr id="1570" name="Google Shape;1570;p47"/>
          <p:cNvSpPr/>
          <p:nvPr/>
        </p:nvSpPr>
        <p:spPr>
          <a:xfrm>
            <a:off x="6272784" y="2029968"/>
            <a:ext cx="5626303" cy="310896"/>
          </a:xfrm>
          <a:prstGeom prst="rect">
            <a:avLst/>
          </a:prstGeom>
          <a:solidFill>
            <a:srgbClr val="061C0A"/>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1" name="Google Shape;1571;p47"/>
          <p:cNvSpPr txBox="1"/>
          <p:nvPr/>
        </p:nvSpPr>
        <p:spPr>
          <a:xfrm>
            <a:off x="6345936" y="2066544"/>
            <a:ext cx="16916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a:solidFill>
                  <a:srgbClr val="39FF14"/>
                </a:solidFill>
                <a:latin typeface="Calibri"/>
                <a:ea typeface="Calibri"/>
                <a:cs typeface="Calibri"/>
                <a:sym typeface="Calibri"/>
              </a:rPr>
              <a:t>Time-to-Finding</a:t>
            </a:r>
            <a:endParaRPr/>
          </a:p>
        </p:txBody>
      </p:sp>
      <p:sp>
        <p:nvSpPr>
          <p:cNvPr id="1572" name="Google Shape;1572;p47"/>
          <p:cNvSpPr txBox="1"/>
          <p:nvPr/>
        </p:nvSpPr>
        <p:spPr>
          <a:xfrm>
            <a:off x="8083296" y="2066544"/>
            <a:ext cx="3797503"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A0AAB8"/>
                </a:solidFill>
                <a:latin typeface="Calibri"/>
                <a:ea typeface="Calibri"/>
                <a:cs typeface="Calibri"/>
                <a:sym typeface="Calibri"/>
              </a:rPr>
              <a:t>Wall-clock time from mission start to first VALIDATED chain</a:t>
            </a:r>
            <a:endParaRPr/>
          </a:p>
        </p:txBody>
      </p:sp>
      <p:sp>
        <p:nvSpPr>
          <p:cNvPr id="1573" name="Google Shape;1573;p47"/>
          <p:cNvSpPr/>
          <p:nvPr/>
        </p:nvSpPr>
        <p:spPr>
          <a:xfrm>
            <a:off x="6272784" y="2377440"/>
            <a:ext cx="5626303" cy="310896"/>
          </a:xfrm>
          <a:prstGeom prst="rect">
            <a:avLst/>
          </a:prstGeom>
          <a:solidFill>
            <a:srgbClr val="061C0A"/>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4" name="Google Shape;1574;p47"/>
          <p:cNvSpPr txBox="1"/>
          <p:nvPr/>
        </p:nvSpPr>
        <p:spPr>
          <a:xfrm>
            <a:off x="6345936" y="2414016"/>
            <a:ext cx="16916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a:solidFill>
                  <a:srgbClr val="39FF14"/>
                </a:solidFill>
                <a:latin typeface="Calibri"/>
                <a:ea typeface="Calibri"/>
                <a:cs typeface="Calibri"/>
                <a:sym typeface="Calibri"/>
              </a:rPr>
              <a:t>False Early-Stop Rate</a:t>
            </a:r>
            <a:endParaRPr/>
          </a:p>
        </p:txBody>
      </p:sp>
      <p:sp>
        <p:nvSpPr>
          <p:cNvPr id="1575" name="Google Shape;1575;p47"/>
          <p:cNvSpPr txBox="1"/>
          <p:nvPr/>
        </p:nvSpPr>
        <p:spPr>
          <a:xfrm>
            <a:off x="8083296" y="2414016"/>
            <a:ext cx="3797503"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A0AAB8"/>
                </a:solidFill>
                <a:latin typeface="Calibri"/>
                <a:ea typeface="Calibri"/>
                <a:cs typeface="Calibri"/>
                <a:sym typeface="Calibri"/>
              </a:rPr>
              <a:t>% of missions terminated before surface exhaustion</a:t>
            </a:r>
            <a:endParaRPr/>
          </a:p>
        </p:txBody>
      </p:sp>
      <p:sp>
        <p:nvSpPr>
          <p:cNvPr id="1576" name="Google Shape;1576;p47"/>
          <p:cNvSpPr/>
          <p:nvPr/>
        </p:nvSpPr>
        <p:spPr>
          <a:xfrm>
            <a:off x="6272784" y="2724912"/>
            <a:ext cx="5626303" cy="310896"/>
          </a:xfrm>
          <a:prstGeom prst="rect">
            <a:avLst/>
          </a:prstGeom>
          <a:solidFill>
            <a:srgbClr val="061C0A"/>
          </a:solidFill>
          <a:ln cap="flat" cmpd="sng" w="95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7" name="Google Shape;1577;p47"/>
          <p:cNvSpPr txBox="1"/>
          <p:nvPr/>
        </p:nvSpPr>
        <p:spPr>
          <a:xfrm>
            <a:off x="6345936" y="2761488"/>
            <a:ext cx="169164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a:solidFill>
                  <a:srgbClr val="39FF14"/>
                </a:solidFill>
                <a:latin typeface="Calibri"/>
                <a:ea typeface="Calibri"/>
                <a:cs typeface="Calibri"/>
                <a:sym typeface="Calibri"/>
              </a:rPr>
              <a:t>Tool Call Efficiency</a:t>
            </a:r>
            <a:endParaRPr/>
          </a:p>
        </p:txBody>
      </p:sp>
      <p:sp>
        <p:nvSpPr>
          <p:cNvPr id="1578" name="Google Shape;1578;p47"/>
          <p:cNvSpPr txBox="1"/>
          <p:nvPr/>
        </p:nvSpPr>
        <p:spPr>
          <a:xfrm>
            <a:off x="8083296" y="2761488"/>
            <a:ext cx="3797503"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A0AAB8"/>
                </a:solidFill>
                <a:latin typeface="Calibri"/>
                <a:ea typeface="Calibri"/>
                <a:cs typeface="Calibri"/>
                <a:sym typeface="Calibri"/>
              </a:rPr>
              <a:t>Mean tool calls to first VALIDATED chain per target</a:t>
            </a:r>
            <a:endParaRPr/>
          </a:p>
        </p:txBody>
      </p:sp>
      <p:sp>
        <p:nvSpPr>
          <p:cNvPr id="1579" name="Google Shape;1579;p47"/>
          <p:cNvSpPr/>
          <p:nvPr/>
        </p:nvSpPr>
        <p:spPr>
          <a:xfrm>
            <a:off x="6181344" y="3182112"/>
            <a:ext cx="5809183" cy="1463040"/>
          </a:xfrm>
          <a:prstGeom prst="rect">
            <a:avLst/>
          </a:prstGeom>
          <a:solidFill>
            <a:srgbClr val="180808"/>
          </a:solidFill>
          <a:ln cap="flat" cmpd="sng" w="17775">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0" name="Google Shape;1580;p47"/>
          <p:cNvSpPr/>
          <p:nvPr/>
        </p:nvSpPr>
        <p:spPr>
          <a:xfrm>
            <a:off x="6181344" y="3182112"/>
            <a:ext cx="5809183" cy="292608"/>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1" name="Google Shape;1581;p47"/>
          <p:cNvSpPr txBox="1"/>
          <p:nvPr/>
        </p:nvSpPr>
        <p:spPr>
          <a:xfrm>
            <a:off x="6181344" y="3218688"/>
            <a:ext cx="5809183"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a:solidFill>
                  <a:srgbClr val="FFFFFF"/>
                </a:solidFill>
                <a:latin typeface="Calibri"/>
                <a:ea typeface="Calibri"/>
                <a:cs typeface="Calibri"/>
                <a:sym typeface="Calibri"/>
              </a:rPr>
              <a:t>BASELINES</a:t>
            </a:r>
            <a:endParaRPr/>
          </a:p>
        </p:txBody>
      </p:sp>
      <p:sp>
        <p:nvSpPr>
          <p:cNvPr id="1582" name="Google Shape;1582;p47"/>
          <p:cNvSpPr txBox="1"/>
          <p:nvPr/>
        </p:nvSpPr>
        <p:spPr>
          <a:xfrm>
            <a:off x="6327648" y="3529584"/>
            <a:ext cx="5553151" cy="3291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A0AAB8"/>
                </a:solidFill>
                <a:latin typeface="Calibri"/>
                <a:ea typeface="Calibri"/>
                <a:cs typeface="Calibri"/>
                <a:sym typeface="Calibri"/>
              </a:rPr>
              <a:t>✕  PentestGPT:  Flat conversation history — no structured world model</a:t>
            </a:r>
            <a:endParaRPr/>
          </a:p>
        </p:txBody>
      </p:sp>
      <p:sp>
        <p:nvSpPr>
          <p:cNvPr id="1583" name="Google Shape;1583;p47"/>
          <p:cNvSpPr txBox="1"/>
          <p:nvPr/>
        </p:nvSpPr>
        <p:spPr>
          <a:xfrm>
            <a:off x="6327648" y="3895344"/>
            <a:ext cx="5553151" cy="3291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A0AAB8"/>
                </a:solidFill>
                <a:latin typeface="Calibri"/>
                <a:ea typeface="Calibri"/>
                <a:cs typeface="Calibri"/>
                <a:sym typeface="Calibri"/>
              </a:rPr>
              <a:t>✕  Random Tool Agent:  Same tool set, random action selection — no planning</a:t>
            </a:r>
            <a:endParaRPr/>
          </a:p>
        </p:txBody>
      </p:sp>
      <p:sp>
        <p:nvSpPr>
          <p:cNvPr id="1584" name="Google Shape;1584;p47"/>
          <p:cNvSpPr txBox="1"/>
          <p:nvPr/>
        </p:nvSpPr>
        <p:spPr>
          <a:xfrm>
            <a:off x="6327648" y="4261104"/>
            <a:ext cx="5553151" cy="3291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A0AAB8"/>
                </a:solidFill>
                <a:latin typeface="Calibri"/>
                <a:ea typeface="Calibri"/>
                <a:cs typeface="Calibri"/>
                <a:sym typeface="Calibri"/>
              </a:rPr>
              <a:t>✕  Manual Expert:  Timed human VAPT expert on same targets for ground truth</a:t>
            </a:r>
            <a:endParaRPr/>
          </a:p>
        </p:txBody>
      </p:sp>
      <p:sp>
        <p:nvSpPr>
          <p:cNvPr id="1585" name="Google Shape;1585;p47"/>
          <p:cNvSpPr/>
          <p:nvPr/>
        </p:nvSpPr>
        <p:spPr>
          <a:xfrm>
            <a:off x="6181344" y="4736592"/>
            <a:ext cx="5809183" cy="2103120"/>
          </a:xfrm>
          <a:prstGeom prst="rect">
            <a:avLst/>
          </a:prstGeom>
          <a:solidFill>
            <a:srgbClr val="081022"/>
          </a:solidFill>
          <a:ln cap="flat" cmpd="sng" w="1777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6" name="Google Shape;1586;p47"/>
          <p:cNvSpPr/>
          <p:nvPr/>
        </p:nvSpPr>
        <p:spPr>
          <a:xfrm>
            <a:off x="6181344" y="4736592"/>
            <a:ext cx="5809183" cy="292608"/>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7" name="Google Shape;1587;p47"/>
          <p:cNvSpPr txBox="1"/>
          <p:nvPr/>
        </p:nvSpPr>
        <p:spPr>
          <a:xfrm>
            <a:off x="6181344" y="4773168"/>
            <a:ext cx="5809183"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a:solidFill>
                  <a:srgbClr val="0A0D1A"/>
                </a:solidFill>
                <a:latin typeface="Calibri"/>
                <a:ea typeface="Calibri"/>
                <a:cs typeface="Calibri"/>
                <a:sym typeface="Calibri"/>
              </a:rPr>
              <a:t>ABLATION STUDY</a:t>
            </a:r>
            <a:endParaRPr/>
          </a:p>
        </p:txBody>
      </p:sp>
      <p:sp>
        <p:nvSpPr>
          <p:cNvPr id="1588" name="Google Shape;1588;p47"/>
          <p:cNvSpPr/>
          <p:nvPr/>
        </p:nvSpPr>
        <p:spPr>
          <a:xfrm>
            <a:off x="6272784" y="5084064"/>
            <a:ext cx="5626303" cy="365760"/>
          </a:xfrm>
          <a:prstGeom prst="rect">
            <a:avLst/>
          </a:prstGeom>
          <a:solidFill>
            <a:srgbClr val="0C0E26"/>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9" name="Google Shape;1589;p47"/>
          <p:cNvSpPr txBox="1"/>
          <p:nvPr/>
        </p:nvSpPr>
        <p:spPr>
          <a:xfrm>
            <a:off x="6345936" y="5120640"/>
            <a:ext cx="14630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a:solidFill>
                  <a:srgbClr val="BD93F9"/>
                </a:solidFill>
                <a:latin typeface="Calibri"/>
                <a:ea typeface="Calibri"/>
                <a:cs typeface="Calibri"/>
                <a:sym typeface="Calibri"/>
              </a:rPr>
              <a:t>A1 — No dual-graph</a:t>
            </a:r>
            <a:endParaRPr/>
          </a:p>
        </p:txBody>
      </p:sp>
      <p:sp>
        <p:nvSpPr>
          <p:cNvPr id="1590" name="Google Shape;1590;p47"/>
          <p:cNvSpPr txBox="1"/>
          <p:nvPr/>
        </p:nvSpPr>
        <p:spPr>
          <a:xfrm>
            <a:off x="7845552" y="5120640"/>
            <a:ext cx="3998671"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A0AAB8"/>
                </a:solidFill>
                <a:latin typeface="Calibri"/>
                <a:ea typeface="Calibri"/>
                <a:cs typeface="Calibri"/>
                <a:sym typeface="Calibri"/>
              </a:rPr>
              <a:t>CMatrix with flat history only (remove ASG + APG)</a:t>
            </a:r>
            <a:endParaRPr/>
          </a:p>
        </p:txBody>
      </p:sp>
      <p:sp>
        <p:nvSpPr>
          <p:cNvPr id="1591" name="Google Shape;1591;p47"/>
          <p:cNvSpPr/>
          <p:nvPr/>
        </p:nvSpPr>
        <p:spPr>
          <a:xfrm>
            <a:off x="6272784" y="5504688"/>
            <a:ext cx="5626303" cy="365760"/>
          </a:xfrm>
          <a:prstGeom prst="rect">
            <a:avLst/>
          </a:prstGeom>
          <a:solidFill>
            <a:srgbClr val="0C0E26"/>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2" name="Google Shape;1592;p47"/>
          <p:cNvSpPr txBox="1"/>
          <p:nvPr/>
        </p:nvSpPr>
        <p:spPr>
          <a:xfrm>
            <a:off x="6345936" y="5541264"/>
            <a:ext cx="14630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a:solidFill>
                  <a:srgbClr val="BD93F9"/>
                </a:solidFill>
                <a:latin typeface="Calibri"/>
                <a:ea typeface="Calibri"/>
                <a:cs typeface="Calibri"/>
                <a:sym typeface="Calibri"/>
              </a:rPr>
              <a:t>A2 — ASG only</a:t>
            </a:r>
            <a:endParaRPr/>
          </a:p>
        </p:txBody>
      </p:sp>
      <p:sp>
        <p:nvSpPr>
          <p:cNvPr id="1593" name="Google Shape;1593;p47"/>
          <p:cNvSpPr txBox="1"/>
          <p:nvPr/>
        </p:nvSpPr>
        <p:spPr>
          <a:xfrm>
            <a:off x="7845552" y="5541264"/>
            <a:ext cx="3998671"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A0AAB8"/>
                </a:solidFill>
                <a:latin typeface="Calibri"/>
                <a:ea typeface="Calibri"/>
                <a:cs typeface="Calibri"/>
                <a:sym typeface="Calibri"/>
              </a:rPr>
              <a:t>CMatrix with ASG discovery but no APG reasoning</a:t>
            </a:r>
            <a:endParaRPr/>
          </a:p>
        </p:txBody>
      </p:sp>
      <p:sp>
        <p:nvSpPr>
          <p:cNvPr id="1594" name="Google Shape;1594;p47"/>
          <p:cNvSpPr/>
          <p:nvPr/>
        </p:nvSpPr>
        <p:spPr>
          <a:xfrm>
            <a:off x="6272784" y="5925312"/>
            <a:ext cx="5626303" cy="365760"/>
          </a:xfrm>
          <a:prstGeom prst="rect">
            <a:avLst/>
          </a:prstGeom>
          <a:solidFill>
            <a:srgbClr val="0C0E26"/>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5" name="Google Shape;1595;p47"/>
          <p:cNvSpPr txBox="1"/>
          <p:nvPr/>
        </p:nvSpPr>
        <p:spPr>
          <a:xfrm>
            <a:off x="6345936" y="5961888"/>
            <a:ext cx="14630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a:solidFill>
                  <a:srgbClr val="BD93F9"/>
                </a:solidFill>
                <a:latin typeface="Calibri"/>
                <a:ea typeface="Calibri"/>
                <a:cs typeface="Calibri"/>
                <a:sym typeface="Calibri"/>
              </a:rPr>
              <a:t>A3 — No compaction</a:t>
            </a:r>
            <a:endParaRPr/>
          </a:p>
        </p:txBody>
      </p:sp>
      <p:sp>
        <p:nvSpPr>
          <p:cNvPr id="1596" name="Google Shape;1596;p47"/>
          <p:cNvSpPr txBox="1"/>
          <p:nvPr/>
        </p:nvSpPr>
        <p:spPr>
          <a:xfrm>
            <a:off x="7845552" y="5961888"/>
            <a:ext cx="3998671"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A0AAB8"/>
                </a:solidFill>
                <a:latin typeface="Calibri"/>
                <a:ea typeface="Calibri"/>
                <a:cs typeface="Calibri"/>
                <a:sym typeface="Calibri"/>
              </a:rPr>
              <a:t>CMatrix with unlimited raw history (no C6)</a:t>
            </a:r>
            <a:endParaRPr/>
          </a:p>
        </p:txBody>
      </p:sp>
      <p:sp>
        <p:nvSpPr>
          <p:cNvPr id="1597" name="Google Shape;1597;p47"/>
          <p:cNvSpPr/>
          <p:nvPr/>
        </p:nvSpPr>
        <p:spPr>
          <a:xfrm>
            <a:off x="6272784" y="6345936"/>
            <a:ext cx="5626303" cy="365760"/>
          </a:xfrm>
          <a:prstGeom prst="rect">
            <a:avLst/>
          </a:prstGeom>
          <a:solidFill>
            <a:srgbClr val="0C0E26"/>
          </a:solidFill>
          <a:ln cap="flat" cmpd="sng" w="9525">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8" name="Google Shape;1598;p47"/>
          <p:cNvSpPr txBox="1"/>
          <p:nvPr/>
        </p:nvSpPr>
        <p:spPr>
          <a:xfrm>
            <a:off x="6345936" y="6382512"/>
            <a:ext cx="14630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a:solidFill>
                  <a:srgbClr val="BD93F9"/>
                </a:solidFill>
                <a:latin typeface="Calibri"/>
                <a:ea typeface="Calibri"/>
                <a:cs typeface="Calibri"/>
                <a:sym typeface="Calibri"/>
              </a:rPr>
              <a:t>A4 — No learning</a:t>
            </a:r>
            <a:endParaRPr/>
          </a:p>
        </p:txBody>
      </p:sp>
      <p:sp>
        <p:nvSpPr>
          <p:cNvPr id="1599" name="Google Shape;1599;p47"/>
          <p:cNvSpPr txBox="1"/>
          <p:nvPr/>
        </p:nvSpPr>
        <p:spPr>
          <a:xfrm>
            <a:off x="7845552" y="6382512"/>
            <a:ext cx="3998671"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A0AAB8"/>
                </a:solidFill>
                <a:latin typeface="Calibri"/>
                <a:ea typeface="Calibri"/>
                <a:cs typeface="Calibri"/>
                <a:sym typeface="Calibri"/>
              </a:rPr>
              <a:t>CMatrix without C10/C11 cross-mission store</a:t>
            </a:r>
            <a:endParaRPr/>
          </a:p>
        </p:txBody>
      </p:sp>
      <p:sp>
        <p:nvSpPr>
          <p:cNvPr id="1600" name="Google Shape;1600;p47"/>
          <p:cNvSpPr txBox="1"/>
          <p:nvPr/>
        </p:nvSpPr>
        <p:spPr>
          <a:xfrm>
            <a:off x="11794729" y="63137"/>
            <a:ext cx="384048" cy="4114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1300">
                <a:solidFill>
                  <a:srgbClr val="FFD700"/>
                </a:solidFill>
                <a:latin typeface="Calibri"/>
                <a:ea typeface="Calibri"/>
                <a:cs typeface="Calibri"/>
                <a:sym typeface="Calibri"/>
              </a:rPr>
              <a:t>19</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1604" name="Shape 1604"/>
        <p:cNvGrpSpPr/>
        <p:nvPr/>
      </p:nvGrpSpPr>
      <p:grpSpPr>
        <a:xfrm>
          <a:off x="0" y="0"/>
          <a:ext cx="0" cy="0"/>
          <a:chOff x="0" y="0"/>
          <a:chExt cx="0" cy="0"/>
        </a:xfrm>
      </p:grpSpPr>
      <p:sp>
        <p:nvSpPr>
          <p:cNvPr id="1605" name="Google Shape;1605;p48"/>
          <p:cNvSpPr/>
          <p:nvPr/>
        </p:nvSpPr>
        <p:spPr>
          <a:xfrm>
            <a:off x="0" y="0"/>
            <a:ext cx="54864" cy="68580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06" name="Google Shape;1606;p48"/>
          <p:cNvSpPr/>
          <p:nvPr/>
        </p:nvSpPr>
        <p:spPr>
          <a:xfrm>
            <a:off x="54864" y="0"/>
            <a:ext cx="12136831" cy="36576"/>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07" name="Google Shape;1607;p48"/>
          <p:cNvSpPr/>
          <p:nvPr/>
        </p:nvSpPr>
        <p:spPr>
          <a:xfrm>
            <a:off x="54864" y="6821424"/>
            <a:ext cx="12136831" cy="36576"/>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08" name="Google Shape;1608;p48"/>
          <p:cNvSpPr txBox="1"/>
          <p:nvPr/>
        </p:nvSpPr>
        <p:spPr>
          <a:xfrm>
            <a:off x="274320" y="73152"/>
            <a:ext cx="45720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00E5FF"/>
                </a:solidFill>
                <a:latin typeface="Calibri"/>
                <a:ea typeface="Calibri"/>
                <a:cs typeface="Calibri"/>
                <a:sym typeface="Calibri"/>
              </a:rPr>
              <a:t>SUMMARY</a:t>
            </a:r>
            <a:endParaRPr/>
          </a:p>
        </p:txBody>
      </p:sp>
      <p:sp>
        <p:nvSpPr>
          <p:cNvPr id="1609" name="Google Shape;1609;p48"/>
          <p:cNvSpPr txBox="1"/>
          <p:nvPr/>
        </p:nvSpPr>
        <p:spPr>
          <a:xfrm>
            <a:off x="274320" y="310896"/>
            <a:ext cx="11430000" cy="4754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FFFFFF"/>
                </a:solidFill>
                <a:latin typeface="Calibri"/>
                <a:ea typeface="Calibri"/>
                <a:cs typeface="Calibri"/>
                <a:sym typeface="Calibri"/>
              </a:rPr>
              <a:t>CMatrix — What We Built, What We Claim, What We Need</a:t>
            </a:r>
            <a:endParaRPr/>
          </a:p>
        </p:txBody>
      </p:sp>
      <p:sp>
        <p:nvSpPr>
          <p:cNvPr id="1610" name="Google Shape;1610;p48"/>
          <p:cNvSpPr/>
          <p:nvPr/>
        </p:nvSpPr>
        <p:spPr>
          <a:xfrm>
            <a:off x="274320" y="987552"/>
            <a:ext cx="5029200" cy="1508760"/>
          </a:xfrm>
          <a:prstGeom prst="rect">
            <a:avLst/>
          </a:prstGeom>
          <a:solidFill>
            <a:srgbClr val="041222"/>
          </a:solidFill>
          <a:ln cap="flat" cmpd="sng" w="203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11" name="Google Shape;1611;p48"/>
          <p:cNvSpPr txBox="1"/>
          <p:nvPr/>
        </p:nvSpPr>
        <p:spPr>
          <a:xfrm>
            <a:off x="384048" y="1042416"/>
            <a:ext cx="484632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00E5FF"/>
                </a:solidFill>
                <a:latin typeface="Calibri"/>
                <a:ea typeface="Calibri"/>
                <a:cs typeface="Calibri"/>
                <a:sym typeface="Calibri"/>
              </a:rPr>
              <a:t>WHAT CMATRIX IS</a:t>
            </a:r>
            <a:endParaRPr/>
          </a:p>
        </p:txBody>
      </p:sp>
      <p:sp>
        <p:nvSpPr>
          <p:cNvPr id="1612" name="Google Shape;1612;p48"/>
          <p:cNvSpPr txBox="1"/>
          <p:nvPr/>
        </p:nvSpPr>
        <p:spPr>
          <a:xfrm>
            <a:off x="402336" y="1298448"/>
            <a:ext cx="4809744" cy="11521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50">
                <a:solidFill>
                  <a:srgbClr val="A0AAB8"/>
                </a:solidFill>
                <a:latin typeface="Calibri"/>
                <a:ea typeface="Calibri"/>
                <a:cs typeface="Calibri"/>
                <a:sym typeface="Calibri"/>
              </a:rPr>
              <a:t>A dual-graph-guided, LLM-orchestrated multi-agent framework for autonomous Vulnerability Assessment and Penetration Testing.  It maintains two strictly separated graph structures — the ASG (what the target is) and the APG (what can be done to it) — and uses both to plan, dispatch, validate, and formally terminate a complete VAPT engagement without human intervention.</a:t>
            </a:r>
            <a:endParaRPr/>
          </a:p>
        </p:txBody>
      </p:sp>
      <p:sp>
        <p:nvSpPr>
          <p:cNvPr id="1613" name="Google Shape;1613;p48"/>
          <p:cNvSpPr/>
          <p:nvPr/>
        </p:nvSpPr>
        <p:spPr>
          <a:xfrm>
            <a:off x="274320" y="2615184"/>
            <a:ext cx="5029200" cy="4096512"/>
          </a:xfrm>
          <a:prstGeom prst="rect">
            <a:avLst/>
          </a:prstGeom>
          <a:solidFill>
            <a:srgbClr val="081004"/>
          </a:solidFill>
          <a:ln cap="flat" cmpd="sng" w="1777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14" name="Google Shape;1614;p48"/>
          <p:cNvSpPr txBox="1"/>
          <p:nvPr/>
        </p:nvSpPr>
        <p:spPr>
          <a:xfrm>
            <a:off x="384048" y="2670048"/>
            <a:ext cx="484632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39FF14"/>
                </a:solidFill>
                <a:latin typeface="Calibri"/>
                <a:ea typeface="Calibri"/>
                <a:cs typeface="Calibri"/>
                <a:sym typeface="Calibri"/>
              </a:rPr>
              <a:t>12 ORIGINAL RESEARCH CONTRIBUTIONS</a:t>
            </a:r>
            <a:endParaRPr/>
          </a:p>
        </p:txBody>
      </p:sp>
      <p:sp>
        <p:nvSpPr>
          <p:cNvPr id="1615" name="Google Shape;1615;p48"/>
          <p:cNvSpPr txBox="1"/>
          <p:nvPr/>
        </p:nvSpPr>
        <p:spPr>
          <a:xfrm>
            <a:off x="457200" y="2926080"/>
            <a:ext cx="4773168"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a:solidFill>
                  <a:srgbClr val="39FF14"/>
                </a:solidFill>
                <a:latin typeface="Calibri"/>
                <a:ea typeface="Calibri"/>
                <a:cs typeface="Calibri"/>
                <a:sym typeface="Calibri"/>
              </a:rPr>
              <a:t>C1  Dual-Graph World Model (ASG + APG, strictly separated)</a:t>
            </a:r>
            <a:endParaRPr/>
          </a:p>
        </p:txBody>
      </p:sp>
      <p:sp>
        <p:nvSpPr>
          <p:cNvPr id="1616" name="Google Shape;1616;p48"/>
          <p:cNvSpPr txBox="1"/>
          <p:nvPr/>
        </p:nvSpPr>
        <p:spPr>
          <a:xfrm>
            <a:off x="457200" y="3236976"/>
            <a:ext cx="4773168"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a:solidFill>
                  <a:srgbClr val="00E5FF"/>
                </a:solidFill>
                <a:latin typeface="Calibri"/>
                <a:ea typeface="Calibri"/>
                <a:cs typeface="Calibri"/>
                <a:sym typeface="Calibri"/>
              </a:rPr>
              <a:t>C2  Graph-Driven Re-Planning (trigger: new Vulnerability node)</a:t>
            </a:r>
            <a:endParaRPr/>
          </a:p>
        </p:txBody>
      </p:sp>
      <p:sp>
        <p:nvSpPr>
          <p:cNvPr id="1617" name="Google Shape;1617;p48"/>
          <p:cNvSpPr txBox="1"/>
          <p:nvPr/>
        </p:nvSpPr>
        <p:spPr>
          <a:xfrm>
            <a:off x="457200" y="3547872"/>
            <a:ext cx="4773168"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a:solidFill>
                  <a:srgbClr val="39FF14"/>
                </a:solidFill>
                <a:latin typeface="Calibri"/>
                <a:ea typeface="Calibri"/>
                <a:cs typeface="Calibri"/>
                <a:sym typeface="Calibri"/>
              </a:rPr>
              <a:t>C3  APG Chain Lifecycle with Evidence Traceability</a:t>
            </a:r>
            <a:endParaRPr/>
          </a:p>
        </p:txBody>
      </p:sp>
      <p:sp>
        <p:nvSpPr>
          <p:cNvPr id="1618" name="Google Shape;1618;p48"/>
          <p:cNvSpPr txBox="1"/>
          <p:nvPr/>
        </p:nvSpPr>
        <p:spPr>
          <a:xfrm>
            <a:off x="457200" y="3858768"/>
            <a:ext cx="4773168"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a:solidFill>
                  <a:srgbClr val="00E5FF"/>
                </a:solidFill>
                <a:latin typeface="Calibri"/>
                <a:ea typeface="Calibri"/>
                <a:cs typeface="Calibri"/>
                <a:sym typeface="Calibri"/>
              </a:rPr>
              <a:t>C4  ASG-Aware Parallel Dispatch</a:t>
            </a:r>
            <a:endParaRPr/>
          </a:p>
        </p:txBody>
      </p:sp>
      <p:sp>
        <p:nvSpPr>
          <p:cNvPr id="1619" name="Google Shape;1619;p48"/>
          <p:cNvSpPr txBox="1"/>
          <p:nvPr/>
        </p:nvSpPr>
        <p:spPr>
          <a:xfrm>
            <a:off x="457200" y="4169664"/>
            <a:ext cx="4773168"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a:solidFill>
                  <a:srgbClr val="39FF14"/>
                </a:solidFill>
                <a:latin typeface="Calibri"/>
                <a:ea typeface="Calibri"/>
                <a:cs typeface="Calibri"/>
                <a:sym typeface="Calibri"/>
              </a:rPr>
              <a:t>C5  Tool Risk Gate + Commander Mailbox</a:t>
            </a:r>
            <a:endParaRPr/>
          </a:p>
        </p:txBody>
      </p:sp>
      <p:sp>
        <p:nvSpPr>
          <p:cNvPr id="1620" name="Google Shape;1620;p48"/>
          <p:cNvSpPr txBox="1"/>
          <p:nvPr/>
        </p:nvSpPr>
        <p:spPr>
          <a:xfrm>
            <a:off x="457200" y="4480560"/>
            <a:ext cx="4773168"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a:solidFill>
                  <a:srgbClr val="00E5FF"/>
                </a:solidFill>
                <a:latin typeface="Calibri"/>
                <a:ea typeface="Calibri"/>
                <a:cs typeface="Calibri"/>
                <a:sym typeface="Calibri"/>
              </a:rPr>
              <a:t>C6  Lossless Context Compaction (3-layer)</a:t>
            </a:r>
            <a:endParaRPr/>
          </a:p>
        </p:txBody>
      </p:sp>
      <p:sp>
        <p:nvSpPr>
          <p:cNvPr id="1621" name="Google Shape;1621;p48"/>
          <p:cNvSpPr txBox="1"/>
          <p:nvPr/>
        </p:nvSpPr>
        <p:spPr>
          <a:xfrm>
            <a:off x="457200" y="4791456"/>
            <a:ext cx="4773168"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a:solidFill>
                  <a:srgbClr val="39FF14"/>
                </a:solidFill>
                <a:latin typeface="Calibri"/>
                <a:ea typeface="Calibri"/>
                <a:cs typeface="Calibri"/>
                <a:sym typeface="Calibri"/>
              </a:rPr>
              <a:t>C7  Methodology-as-Config (VAPT Protocol Prompt)</a:t>
            </a:r>
            <a:endParaRPr/>
          </a:p>
        </p:txBody>
      </p:sp>
      <p:sp>
        <p:nvSpPr>
          <p:cNvPr id="1622" name="Google Shape;1622;p48"/>
          <p:cNvSpPr txBox="1"/>
          <p:nvPr/>
        </p:nvSpPr>
        <p:spPr>
          <a:xfrm>
            <a:off x="457200" y="5102352"/>
            <a:ext cx="4773168"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a:solidFill>
                  <a:srgbClr val="00E5FF"/>
                </a:solidFill>
                <a:latin typeface="Calibri"/>
                <a:ea typeface="Calibri"/>
                <a:cs typeface="Calibri"/>
                <a:sym typeface="Calibri"/>
              </a:rPr>
              <a:t>C8  Dual Termination (ASG exhausted ∧ APG resolved)</a:t>
            </a:r>
            <a:endParaRPr/>
          </a:p>
        </p:txBody>
      </p:sp>
      <p:sp>
        <p:nvSpPr>
          <p:cNvPr id="1623" name="Google Shape;1623;p48"/>
          <p:cNvSpPr txBox="1"/>
          <p:nvPr/>
        </p:nvSpPr>
        <p:spPr>
          <a:xfrm>
            <a:off x="457200" y="5413248"/>
            <a:ext cx="4773168"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a:solidFill>
                  <a:srgbClr val="39FF14"/>
                </a:solidFill>
                <a:latin typeface="Calibri"/>
                <a:ea typeface="Calibri"/>
                <a:cs typeface="Calibri"/>
                <a:sym typeface="Calibri"/>
              </a:rPr>
              <a:t>C9  Live CVE Grounding (Research Agent)</a:t>
            </a:r>
            <a:endParaRPr/>
          </a:p>
        </p:txBody>
      </p:sp>
      <p:sp>
        <p:nvSpPr>
          <p:cNvPr id="1624" name="Google Shape;1624;p48"/>
          <p:cNvSpPr txBox="1"/>
          <p:nvPr/>
        </p:nvSpPr>
        <p:spPr>
          <a:xfrm>
            <a:off x="457200" y="5724144"/>
            <a:ext cx="4773168"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a:solidFill>
                  <a:srgbClr val="00E5FF"/>
                </a:solidFill>
                <a:latin typeface="Calibri"/>
                <a:ea typeface="Calibri"/>
                <a:cs typeface="Calibri"/>
                <a:sym typeface="Calibri"/>
              </a:rPr>
              <a:t>C10 Cross-Mission Experience Store</a:t>
            </a:r>
            <a:endParaRPr/>
          </a:p>
        </p:txBody>
      </p:sp>
      <p:sp>
        <p:nvSpPr>
          <p:cNvPr id="1625" name="Google Shape;1625;p48"/>
          <p:cNvSpPr txBox="1"/>
          <p:nvPr/>
        </p:nvSpPr>
        <p:spPr>
          <a:xfrm>
            <a:off x="457200" y="6035040"/>
            <a:ext cx="4773168"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a:solidFill>
                  <a:srgbClr val="39FF14"/>
                </a:solidFill>
                <a:latin typeface="Calibri"/>
                <a:ea typeface="Calibri"/>
                <a:cs typeface="Calibri"/>
                <a:sym typeface="Calibri"/>
              </a:rPr>
              <a:t>C11 Attack Strategy Library (crystallization)</a:t>
            </a:r>
            <a:endParaRPr/>
          </a:p>
        </p:txBody>
      </p:sp>
      <p:sp>
        <p:nvSpPr>
          <p:cNvPr id="1626" name="Google Shape;1626;p48"/>
          <p:cNvSpPr txBox="1"/>
          <p:nvPr/>
        </p:nvSpPr>
        <p:spPr>
          <a:xfrm>
            <a:off x="457200" y="6345936"/>
            <a:ext cx="4773168"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a:solidFill>
                  <a:srgbClr val="00E5FF"/>
                </a:solidFill>
                <a:latin typeface="Calibri"/>
                <a:ea typeface="Calibri"/>
                <a:cs typeface="Calibri"/>
                <a:sym typeface="Calibri"/>
              </a:rPr>
              <a:t>C12 Trajectory Export Dataset (SFT/RL ready)</a:t>
            </a:r>
            <a:endParaRPr/>
          </a:p>
        </p:txBody>
      </p:sp>
      <p:sp>
        <p:nvSpPr>
          <p:cNvPr id="1627" name="Google Shape;1627;p48"/>
          <p:cNvSpPr/>
          <p:nvPr/>
        </p:nvSpPr>
        <p:spPr>
          <a:xfrm>
            <a:off x="5504688" y="987552"/>
            <a:ext cx="6485839" cy="2779776"/>
          </a:xfrm>
          <a:prstGeom prst="rect">
            <a:avLst/>
          </a:prstGeom>
          <a:solidFill>
            <a:srgbClr val="161202"/>
          </a:solidFill>
          <a:ln cap="flat" cmpd="sng" w="1777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28" name="Google Shape;1628;p48"/>
          <p:cNvSpPr txBox="1"/>
          <p:nvPr/>
        </p:nvSpPr>
        <p:spPr>
          <a:xfrm>
            <a:off x="5614416" y="1042416"/>
            <a:ext cx="6302959"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FFD700"/>
                </a:solidFill>
                <a:latin typeface="Calibri"/>
                <a:ea typeface="Calibri"/>
                <a:cs typeface="Calibri"/>
                <a:sym typeface="Calibri"/>
              </a:rPr>
              <a:t>WHAT WE CLAIM</a:t>
            </a:r>
            <a:endParaRPr/>
          </a:p>
        </p:txBody>
      </p:sp>
      <p:sp>
        <p:nvSpPr>
          <p:cNvPr id="1629" name="Google Shape;1629;p48"/>
          <p:cNvSpPr/>
          <p:nvPr/>
        </p:nvSpPr>
        <p:spPr>
          <a:xfrm>
            <a:off x="5596128" y="1298448"/>
            <a:ext cx="6302959" cy="530352"/>
          </a:xfrm>
          <a:prstGeom prst="rect">
            <a:avLst/>
          </a:prstGeom>
          <a:solidFill>
            <a:srgbClr val="1E1602"/>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30" name="Google Shape;1630;p48"/>
          <p:cNvSpPr txBox="1"/>
          <p:nvPr/>
        </p:nvSpPr>
        <p:spPr>
          <a:xfrm>
            <a:off x="5669280" y="1335024"/>
            <a:ext cx="6211519"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A0AAB8"/>
                </a:solidFill>
                <a:latin typeface="Calibri"/>
                <a:ea typeface="Calibri"/>
                <a:cs typeface="Calibri"/>
                <a:sym typeface="Calibri"/>
              </a:rPr>
              <a:t>→  CMatrix is the first autonomous VAPT system to maintain two strictly separated, continuously evolving graph structures for simultaneous discovery and attack reasoning.</a:t>
            </a:r>
            <a:endParaRPr/>
          </a:p>
        </p:txBody>
      </p:sp>
      <p:sp>
        <p:nvSpPr>
          <p:cNvPr id="1631" name="Google Shape;1631;p48"/>
          <p:cNvSpPr/>
          <p:nvPr/>
        </p:nvSpPr>
        <p:spPr>
          <a:xfrm>
            <a:off x="5596128" y="1883664"/>
            <a:ext cx="6302959" cy="530352"/>
          </a:xfrm>
          <a:prstGeom prst="rect">
            <a:avLst/>
          </a:prstGeom>
          <a:solidFill>
            <a:srgbClr val="1E1602"/>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32" name="Google Shape;1632;p48"/>
          <p:cNvSpPr txBox="1"/>
          <p:nvPr/>
        </p:nvSpPr>
        <p:spPr>
          <a:xfrm>
            <a:off x="5669280" y="1920240"/>
            <a:ext cx="6211519"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A0AAB8"/>
                </a:solidFill>
                <a:latin typeface="Calibri"/>
                <a:ea typeface="Calibri"/>
                <a:cs typeface="Calibri"/>
                <a:sym typeface="Calibri"/>
              </a:rPr>
              <a:t>→  Formal dual termination provides a theoretically sound, verifiable completion criterion that prior systems cannot express.</a:t>
            </a:r>
            <a:endParaRPr/>
          </a:p>
        </p:txBody>
      </p:sp>
      <p:sp>
        <p:nvSpPr>
          <p:cNvPr id="1633" name="Google Shape;1633;p48"/>
          <p:cNvSpPr/>
          <p:nvPr/>
        </p:nvSpPr>
        <p:spPr>
          <a:xfrm>
            <a:off x="5596128" y="2468880"/>
            <a:ext cx="6302959" cy="530352"/>
          </a:xfrm>
          <a:prstGeom prst="rect">
            <a:avLst/>
          </a:prstGeom>
          <a:solidFill>
            <a:srgbClr val="1E1602"/>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34" name="Google Shape;1634;p48"/>
          <p:cNvSpPr txBox="1"/>
          <p:nvPr/>
        </p:nvSpPr>
        <p:spPr>
          <a:xfrm>
            <a:off x="5669280" y="2505456"/>
            <a:ext cx="6211519"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A0AAB8"/>
                </a:solidFill>
                <a:latin typeface="Calibri"/>
                <a:ea typeface="Calibri"/>
                <a:cs typeface="Calibri"/>
                <a:sym typeface="Calibri"/>
              </a:rPr>
              <a:t>→  Cross-mission learning accumulates validated exploitation outcomes across all missions — a capability no prior published VAPT system demonstrates.</a:t>
            </a:r>
            <a:endParaRPr/>
          </a:p>
        </p:txBody>
      </p:sp>
      <p:sp>
        <p:nvSpPr>
          <p:cNvPr id="1635" name="Google Shape;1635;p48"/>
          <p:cNvSpPr/>
          <p:nvPr/>
        </p:nvSpPr>
        <p:spPr>
          <a:xfrm>
            <a:off x="5596128" y="3054096"/>
            <a:ext cx="6302959" cy="530352"/>
          </a:xfrm>
          <a:prstGeom prst="rect">
            <a:avLst/>
          </a:prstGeom>
          <a:solidFill>
            <a:srgbClr val="1E1602"/>
          </a:solidFill>
          <a:ln cap="flat" cmpd="sng" w="95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36" name="Google Shape;1636;p48"/>
          <p:cNvSpPr txBox="1"/>
          <p:nvPr/>
        </p:nvSpPr>
        <p:spPr>
          <a:xfrm>
            <a:off x="5669280" y="3090672"/>
            <a:ext cx="6211519"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A0AAB8"/>
                </a:solidFill>
                <a:latin typeface="Calibri"/>
                <a:ea typeface="Calibri"/>
                <a:cs typeface="Calibri"/>
                <a:sym typeface="Calibri"/>
              </a:rPr>
              <a:t>→  The architecture produces a machine-readable decision trace usable for training security-specialized LLMs (C12 — novel in the VAPT domain).</a:t>
            </a:r>
            <a:endParaRPr/>
          </a:p>
        </p:txBody>
      </p:sp>
      <p:sp>
        <p:nvSpPr>
          <p:cNvPr id="1637" name="Google Shape;1637;p48"/>
          <p:cNvSpPr/>
          <p:nvPr/>
        </p:nvSpPr>
        <p:spPr>
          <a:xfrm>
            <a:off x="5504688" y="3877056"/>
            <a:ext cx="6485839" cy="2834640"/>
          </a:xfrm>
          <a:prstGeom prst="rect">
            <a:avLst/>
          </a:prstGeom>
          <a:solidFill>
            <a:srgbClr val="041410"/>
          </a:solidFill>
          <a:ln cap="flat" cmpd="sng" w="20300">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38" name="Google Shape;1638;p48"/>
          <p:cNvSpPr/>
          <p:nvPr/>
        </p:nvSpPr>
        <p:spPr>
          <a:xfrm>
            <a:off x="5504688" y="3877056"/>
            <a:ext cx="6485839" cy="292608"/>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39" name="Google Shape;1639;p48"/>
          <p:cNvSpPr txBox="1"/>
          <p:nvPr/>
        </p:nvSpPr>
        <p:spPr>
          <a:xfrm>
            <a:off x="5614416" y="3913632"/>
            <a:ext cx="6302959"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a:solidFill>
                  <a:srgbClr val="0A0D1A"/>
                </a:solidFill>
                <a:latin typeface="Calibri"/>
                <a:ea typeface="Calibri"/>
                <a:cs typeface="Calibri"/>
                <a:sym typeface="Calibri"/>
              </a:rPr>
              <a:t>WHAT WE ARE ASKING FOR</a:t>
            </a:r>
            <a:endParaRPr/>
          </a:p>
        </p:txBody>
      </p:sp>
      <p:sp>
        <p:nvSpPr>
          <p:cNvPr id="1640" name="Google Shape;1640;p48"/>
          <p:cNvSpPr/>
          <p:nvPr/>
        </p:nvSpPr>
        <p:spPr>
          <a:xfrm>
            <a:off x="5596128" y="4224528"/>
            <a:ext cx="6302959" cy="566928"/>
          </a:xfrm>
          <a:prstGeom prst="rect">
            <a:avLst/>
          </a:prstGeom>
          <a:solidFill>
            <a:srgbClr val="061C16"/>
          </a:solidFill>
          <a:ln cap="flat" cmpd="sng" w="952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41" name="Google Shape;1641;p48"/>
          <p:cNvSpPr txBox="1"/>
          <p:nvPr/>
        </p:nvSpPr>
        <p:spPr>
          <a:xfrm>
            <a:off x="5687568" y="4261104"/>
            <a:ext cx="6193231"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00BFD8"/>
                </a:solidFill>
                <a:latin typeface="Calibri"/>
                <a:ea typeface="Calibri"/>
                <a:cs typeface="Calibri"/>
                <a:sym typeface="Calibri"/>
              </a:rPr>
              <a:t>Feedback on Scope</a:t>
            </a:r>
            <a:endParaRPr/>
          </a:p>
        </p:txBody>
      </p:sp>
      <p:sp>
        <p:nvSpPr>
          <p:cNvPr id="1642" name="Google Shape;1642;p48"/>
          <p:cNvSpPr txBox="1"/>
          <p:nvPr/>
        </p:nvSpPr>
        <p:spPr>
          <a:xfrm>
            <a:off x="5687568" y="4480560"/>
            <a:ext cx="6193231"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A0AAB8"/>
                </a:solidFill>
                <a:latin typeface="Calibri"/>
                <a:ea typeface="Calibri"/>
                <a:cs typeface="Calibri"/>
                <a:sym typeface="Calibri"/>
              </a:rPr>
              <a:t>Are the 12 contributions appropriately scoped for a PhD thesis?</a:t>
            </a:r>
            <a:endParaRPr/>
          </a:p>
        </p:txBody>
      </p:sp>
      <p:sp>
        <p:nvSpPr>
          <p:cNvPr id="1643" name="Google Shape;1643;p48"/>
          <p:cNvSpPr/>
          <p:nvPr/>
        </p:nvSpPr>
        <p:spPr>
          <a:xfrm>
            <a:off x="5596128" y="4846320"/>
            <a:ext cx="6302959" cy="566928"/>
          </a:xfrm>
          <a:prstGeom prst="rect">
            <a:avLst/>
          </a:prstGeom>
          <a:solidFill>
            <a:srgbClr val="061C16"/>
          </a:solidFill>
          <a:ln cap="flat" cmpd="sng" w="952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44" name="Google Shape;1644;p48"/>
          <p:cNvSpPr txBox="1"/>
          <p:nvPr/>
        </p:nvSpPr>
        <p:spPr>
          <a:xfrm>
            <a:off x="5687568" y="4882896"/>
            <a:ext cx="6193231"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00BFD8"/>
                </a:solidFill>
                <a:latin typeface="Calibri"/>
                <a:ea typeface="Calibri"/>
                <a:cs typeface="Calibri"/>
                <a:sym typeface="Calibri"/>
              </a:rPr>
              <a:t>Evaluation Guidance</a:t>
            </a:r>
            <a:endParaRPr/>
          </a:p>
        </p:txBody>
      </p:sp>
      <p:sp>
        <p:nvSpPr>
          <p:cNvPr id="1645" name="Google Shape;1645;p48"/>
          <p:cNvSpPr txBox="1"/>
          <p:nvPr/>
        </p:nvSpPr>
        <p:spPr>
          <a:xfrm>
            <a:off x="5687568" y="5102352"/>
            <a:ext cx="6193231"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A0AAB8"/>
                </a:solidFill>
                <a:latin typeface="Calibri"/>
                <a:ea typeface="Calibri"/>
                <a:cs typeface="Calibri"/>
                <a:sym typeface="Calibri"/>
              </a:rPr>
              <a:t>Is the HTB/THM ablation plan sufficient to prove the core claims?</a:t>
            </a:r>
            <a:endParaRPr/>
          </a:p>
        </p:txBody>
      </p:sp>
      <p:sp>
        <p:nvSpPr>
          <p:cNvPr id="1646" name="Google Shape;1646;p48"/>
          <p:cNvSpPr/>
          <p:nvPr/>
        </p:nvSpPr>
        <p:spPr>
          <a:xfrm>
            <a:off x="5596128" y="5468112"/>
            <a:ext cx="6302959" cy="566928"/>
          </a:xfrm>
          <a:prstGeom prst="rect">
            <a:avLst/>
          </a:prstGeom>
          <a:solidFill>
            <a:srgbClr val="061C16"/>
          </a:solidFill>
          <a:ln cap="flat" cmpd="sng" w="952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47" name="Google Shape;1647;p48"/>
          <p:cNvSpPr txBox="1"/>
          <p:nvPr/>
        </p:nvSpPr>
        <p:spPr>
          <a:xfrm>
            <a:off x="5687568" y="5504688"/>
            <a:ext cx="6193231"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00BFD8"/>
                </a:solidFill>
                <a:latin typeface="Calibri"/>
                <a:ea typeface="Calibri"/>
                <a:cs typeface="Calibri"/>
                <a:sym typeface="Calibri"/>
              </a:rPr>
              <a:t>Implementation Priority</a:t>
            </a:r>
            <a:endParaRPr/>
          </a:p>
        </p:txBody>
      </p:sp>
      <p:sp>
        <p:nvSpPr>
          <p:cNvPr id="1648" name="Google Shape;1648;p48"/>
          <p:cNvSpPr txBox="1"/>
          <p:nvPr/>
        </p:nvSpPr>
        <p:spPr>
          <a:xfrm>
            <a:off x="5687568" y="5724144"/>
            <a:ext cx="6193231"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A0AAB8"/>
                </a:solidFill>
                <a:latin typeface="Calibri"/>
                <a:ea typeface="Calibri"/>
                <a:cs typeface="Calibri"/>
                <a:sym typeface="Calibri"/>
              </a:rPr>
              <a:t>Which of C1–C12 should be fully implemented vs theoretically validated?</a:t>
            </a:r>
            <a:endParaRPr/>
          </a:p>
        </p:txBody>
      </p:sp>
      <p:sp>
        <p:nvSpPr>
          <p:cNvPr id="1649" name="Google Shape;1649;p48"/>
          <p:cNvSpPr/>
          <p:nvPr/>
        </p:nvSpPr>
        <p:spPr>
          <a:xfrm>
            <a:off x="5596128" y="6089904"/>
            <a:ext cx="6302959" cy="566928"/>
          </a:xfrm>
          <a:prstGeom prst="rect">
            <a:avLst/>
          </a:prstGeom>
          <a:solidFill>
            <a:srgbClr val="061C16"/>
          </a:solidFill>
          <a:ln cap="flat" cmpd="sng" w="9525">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50" name="Google Shape;1650;p48"/>
          <p:cNvSpPr txBox="1"/>
          <p:nvPr/>
        </p:nvSpPr>
        <p:spPr>
          <a:xfrm>
            <a:off x="5687568" y="6126480"/>
            <a:ext cx="6193231"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a:solidFill>
                  <a:srgbClr val="00BFD8"/>
                </a:solidFill>
                <a:latin typeface="Calibri"/>
                <a:ea typeface="Calibri"/>
                <a:cs typeface="Calibri"/>
                <a:sym typeface="Calibri"/>
              </a:rPr>
              <a:t>Publication Venue</a:t>
            </a:r>
            <a:endParaRPr/>
          </a:p>
        </p:txBody>
      </p:sp>
      <p:sp>
        <p:nvSpPr>
          <p:cNvPr id="1651" name="Google Shape;1651;p48"/>
          <p:cNvSpPr txBox="1"/>
          <p:nvPr/>
        </p:nvSpPr>
        <p:spPr>
          <a:xfrm>
            <a:off x="5687568" y="6345936"/>
            <a:ext cx="6193231"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a:solidFill>
                  <a:srgbClr val="A0AAB8"/>
                </a:solidFill>
                <a:latin typeface="Calibri"/>
                <a:ea typeface="Calibri"/>
                <a:cs typeface="Calibri"/>
                <a:sym typeface="Calibri"/>
              </a:rPr>
              <a:t>USENIX Security / IEEE S&amp;P / ACSAC — which tier matches the contribution level?</a:t>
            </a:r>
            <a:endParaRPr/>
          </a:p>
        </p:txBody>
      </p:sp>
      <p:sp>
        <p:nvSpPr>
          <p:cNvPr id="1652" name="Google Shape;1652;p48"/>
          <p:cNvSpPr txBox="1"/>
          <p:nvPr/>
        </p:nvSpPr>
        <p:spPr>
          <a:xfrm>
            <a:off x="11794729" y="34109"/>
            <a:ext cx="384048" cy="4114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1300">
                <a:solidFill>
                  <a:srgbClr val="00E5FF"/>
                </a:solidFill>
                <a:latin typeface="Calibri"/>
                <a:ea typeface="Calibri"/>
                <a:cs typeface="Calibri"/>
                <a:sym typeface="Calibri"/>
              </a:rPr>
              <a:t>20</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D1A"/>
        </a:solidFill>
      </p:bgPr>
    </p:bg>
    <p:spTree>
      <p:nvGrpSpPr>
        <p:cNvPr id="1656" name="Shape 1656"/>
        <p:cNvGrpSpPr/>
        <p:nvPr/>
      </p:nvGrpSpPr>
      <p:grpSpPr>
        <a:xfrm>
          <a:off x="0" y="0"/>
          <a:ext cx="0" cy="0"/>
          <a:chOff x="0" y="0"/>
          <a:chExt cx="0" cy="0"/>
        </a:xfrm>
      </p:grpSpPr>
      <p:sp>
        <p:nvSpPr>
          <p:cNvPr id="1657" name="Google Shape;1657;p49"/>
          <p:cNvSpPr/>
          <p:nvPr/>
        </p:nvSpPr>
        <p:spPr>
          <a:xfrm>
            <a:off x="0" y="0"/>
            <a:ext cx="54900" cy="68580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58" name="Google Shape;1658;p49"/>
          <p:cNvSpPr/>
          <p:nvPr/>
        </p:nvSpPr>
        <p:spPr>
          <a:xfrm>
            <a:off x="54864" y="0"/>
            <a:ext cx="12136800" cy="366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59" name="Google Shape;1659;p49"/>
          <p:cNvSpPr/>
          <p:nvPr/>
        </p:nvSpPr>
        <p:spPr>
          <a:xfrm>
            <a:off x="54864" y="6821424"/>
            <a:ext cx="12136800" cy="36600"/>
          </a:xfrm>
          <a:prstGeom prst="rect">
            <a:avLst/>
          </a:prstGeom>
          <a:solidFill>
            <a:srgbClr val="BD93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60" name="Google Shape;1660;p49"/>
          <p:cNvSpPr txBox="1"/>
          <p:nvPr/>
        </p:nvSpPr>
        <p:spPr>
          <a:xfrm>
            <a:off x="274320" y="54864"/>
            <a:ext cx="7315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BD93F9"/>
                </a:solidFill>
                <a:latin typeface="Calibri"/>
                <a:ea typeface="Calibri"/>
                <a:cs typeface="Calibri"/>
                <a:sym typeface="Calibri"/>
              </a:rPr>
              <a:t>INSPIRATIONS &amp; REFERENCES</a:t>
            </a:r>
            <a:endParaRPr b="0" i="0" sz="1400" u="none" cap="none" strike="noStrike">
              <a:solidFill>
                <a:srgbClr val="000000"/>
              </a:solidFill>
              <a:latin typeface="Arial"/>
              <a:ea typeface="Arial"/>
              <a:cs typeface="Arial"/>
              <a:sym typeface="Arial"/>
            </a:endParaRPr>
          </a:p>
        </p:txBody>
      </p:sp>
      <p:sp>
        <p:nvSpPr>
          <p:cNvPr id="1661" name="Google Shape;1661;p49"/>
          <p:cNvSpPr txBox="1"/>
          <p:nvPr/>
        </p:nvSpPr>
        <p:spPr>
          <a:xfrm>
            <a:off x="274320" y="329184"/>
            <a:ext cx="11430000" cy="492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Academic Papers + Open-Source Repositories That Shaped CMatrix</a:t>
            </a:r>
            <a:endParaRPr b="0" i="0" sz="1400" u="none" cap="none" strike="noStrike">
              <a:solidFill>
                <a:srgbClr val="000000"/>
              </a:solidFill>
              <a:latin typeface="Arial"/>
              <a:ea typeface="Arial"/>
              <a:cs typeface="Arial"/>
              <a:sym typeface="Arial"/>
            </a:endParaRPr>
          </a:p>
        </p:txBody>
      </p:sp>
      <p:sp>
        <p:nvSpPr>
          <p:cNvPr id="1662" name="Google Shape;1662;p49"/>
          <p:cNvSpPr/>
          <p:nvPr/>
        </p:nvSpPr>
        <p:spPr>
          <a:xfrm>
            <a:off x="274320" y="987552"/>
            <a:ext cx="5898000" cy="274200"/>
          </a:xfrm>
          <a:prstGeom prst="rect">
            <a:avLst/>
          </a:prstGeom>
          <a:solidFill>
            <a:srgbClr val="081420"/>
          </a:solidFill>
          <a:ln cap="flat" cmpd="sng" w="1015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63" name="Google Shape;1663;p49"/>
          <p:cNvSpPr txBox="1"/>
          <p:nvPr/>
        </p:nvSpPr>
        <p:spPr>
          <a:xfrm>
            <a:off x="384048" y="1005840"/>
            <a:ext cx="57150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00E5FF"/>
                </a:solidFill>
                <a:latin typeface="Calibri"/>
                <a:ea typeface="Calibri"/>
                <a:cs typeface="Calibri"/>
                <a:sym typeface="Calibri"/>
              </a:rPr>
              <a:t>📄  ACADEMIC PAPERS</a:t>
            </a:r>
            <a:endParaRPr b="0" i="0" sz="1400" u="none" cap="none" strike="noStrike">
              <a:solidFill>
                <a:srgbClr val="000000"/>
              </a:solidFill>
              <a:latin typeface="Arial"/>
              <a:ea typeface="Arial"/>
              <a:cs typeface="Arial"/>
              <a:sym typeface="Arial"/>
            </a:endParaRPr>
          </a:p>
        </p:txBody>
      </p:sp>
      <p:sp>
        <p:nvSpPr>
          <p:cNvPr id="1664" name="Google Shape;1664;p49"/>
          <p:cNvSpPr/>
          <p:nvPr/>
        </p:nvSpPr>
        <p:spPr>
          <a:xfrm>
            <a:off x="6236208" y="960120"/>
            <a:ext cx="27300" cy="5349300"/>
          </a:xfrm>
          <a:prstGeom prst="rect">
            <a:avLst/>
          </a:prstGeom>
          <a:solidFill>
            <a:srgbClr val="A0AAB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65" name="Google Shape;1665;p49"/>
          <p:cNvSpPr/>
          <p:nvPr/>
        </p:nvSpPr>
        <p:spPr>
          <a:xfrm>
            <a:off x="274320" y="1307592"/>
            <a:ext cx="5898000" cy="1024200"/>
          </a:xfrm>
          <a:prstGeom prst="rect">
            <a:avLst/>
          </a:prstGeom>
          <a:solidFill>
            <a:srgbClr val="10162B"/>
          </a:solidFill>
          <a:ln cap="flat" cmpd="sng" w="12700">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66" name="Google Shape;1666;p49"/>
          <p:cNvSpPr/>
          <p:nvPr/>
        </p:nvSpPr>
        <p:spPr>
          <a:xfrm>
            <a:off x="274320" y="1307592"/>
            <a:ext cx="347400" cy="10242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67" name="Google Shape;1667;p49"/>
          <p:cNvSpPr txBox="1"/>
          <p:nvPr/>
        </p:nvSpPr>
        <p:spPr>
          <a:xfrm>
            <a:off x="292608" y="1682496"/>
            <a:ext cx="3108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A0D1A"/>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
        <p:nvSpPr>
          <p:cNvPr id="1668" name="Google Shape;1668;p49"/>
          <p:cNvSpPr txBox="1"/>
          <p:nvPr/>
        </p:nvSpPr>
        <p:spPr>
          <a:xfrm>
            <a:off x="713232" y="1362456"/>
            <a:ext cx="5413200" cy="269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00E5FF"/>
                </a:solidFill>
                <a:latin typeface="Calibri"/>
                <a:ea typeface="Calibri"/>
                <a:cs typeface="Calibri"/>
                <a:sym typeface="Calibri"/>
              </a:rPr>
              <a:t>PentestGPT</a:t>
            </a:r>
            <a:endParaRPr b="0" i="0" sz="1400" u="none" cap="none" strike="noStrike">
              <a:solidFill>
                <a:srgbClr val="000000"/>
              </a:solidFill>
              <a:latin typeface="Arial"/>
              <a:ea typeface="Arial"/>
              <a:cs typeface="Arial"/>
              <a:sym typeface="Arial"/>
            </a:endParaRPr>
          </a:p>
        </p:txBody>
      </p:sp>
      <p:sp>
        <p:nvSpPr>
          <p:cNvPr id="1669" name="Google Shape;1669;p49"/>
          <p:cNvSpPr txBox="1"/>
          <p:nvPr/>
        </p:nvSpPr>
        <p:spPr>
          <a:xfrm>
            <a:off x="713232" y="1581912"/>
            <a:ext cx="54132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USENIX Security '24</a:t>
            </a:r>
            <a:endParaRPr b="0" i="0" sz="1400" u="none" cap="none" strike="noStrike">
              <a:solidFill>
                <a:srgbClr val="000000"/>
              </a:solidFill>
              <a:latin typeface="Arial"/>
              <a:ea typeface="Arial"/>
              <a:cs typeface="Arial"/>
              <a:sym typeface="Arial"/>
            </a:endParaRPr>
          </a:p>
        </p:txBody>
      </p:sp>
      <p:sp>
        <p:nvSpPr>
          <p:cNvPr id="1670" name="Google Shape;1670;p49"/>
          <p:cNvSpPr txBox="1"/>
          <p:nvPr/>
        </p:nvSpPr>
        <p:spPr>
          <a:xfrm>
            <a:off x="713232" y="1764792"/>
            <a:ext cx="54132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Tripartite Reasoning / Generation / Parsing architecture.</a:t>
            </a:r>
            <a:br>
              <a:rPr b="0" i="0" lang="en-US" sz="850" u="none" cap="none" strike="noStrike">
                <a:solidFill>
                  <a:srgbClr val="A0AAB8"/>
                </a:solidFill>
                <a:latin typeface="Calibri"/>
                <a:ea typeface="Calibri"/>
                <a:cs typeface="Calibri"/>
                <a:sym typeface="Calibri"/>
              </a:rPr>
            </a:br>
            <a:r>
              <a:rPr b="0" i="0" lang="en-US" sz="850" u="none" cap="none" strike="noStrike">
                <a:solidFill>
                  <a:srgbClr val="A0AAB8"/>
                </a:solidFill>
                <a:latin typeface="Calibri"/>
                <a:ea typeface="Calibri"/>
                <a:cs typeface="Calibri"/>
                <a:sym typeface="Calibri"/>
              </a:rPr>
              <a:t>Pentesting Task Tree memory for long-session context.</a:t>
            </a:r>
            <a:endParaRPr b="0" i="0" sz="1400" u="none" cap="none" strike="noStrike">
              <a:solidFill>
                <a:srgbClr val="000000"/>
              </a:solidFill>
              <a:latin typeface="Arial"/>
              <a:ea typeface="Arial"/>
              <a:cs typeface="Arial"/>
              <a:sym typeface="Arial"/>
            </a:endParaRPr>
          </a:p>
        </p:txBody>
      </p:sp>
      <p:sp>
        <p:nvSpPr>
          <p:cNvPr id="1671" name="Google Shape;1671;p49"/>
          <p:cNvSpPr/>
          <p:nvPr/>
        </p:nvSpPr>
        <p:spPr>
          <a:xfrm>
            <a:off x="694944" y="2130552"/>
            <a:ext cx="5404200" cy="164700"/>
          </a:xfrm>
          <a:prstGeom prst="rect">
            <a:avLst/>
          </a:prstGeom>
          <a:solidFill>
            <a:srgbClr val="0618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72" name="Google Shape;1672;p49"/>
          <p:cNvSpPr txBox="1"/>
          <p:nvPr/>
        </p:nvSpPr>
        <p:spPr>
          <a:xfrm>
            <a:off x="731520" y="2139696"/>
            <a:ext cx="53676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CMatrix:  Tool Adapter Layer (parse before you reason) + MicroCompact permanent graph state.</a:t>
            </a:r>
            <a:endParaRPr b="0" i="0" sz="1400" u="none" cap="none" strike="noStrike">
              <a:solidFill>
                <a:srgbClr val="000000"/>
              </a:solidFill>
              <a:latin typeface="Arial"/>
              <a:ea typeface="Arial"/>
              <a:cs typeface="Arial"/>
              <a:sym typeface="Arial"/>
            </a:endParaRPr>
          </a:p>
        </p:txBody>
      </p:sp>
      <p:sp>
        <p:nvSpPr>
          <p:cNvPr id="1673" name="Google Shape;1673;p49"/>
          <p:cNvSpPr/>
          <p:nvPr/>
        </p:nvSpPr>
        <p:spPr>
          <a:xfrm>
            <a:off x="274320" y="2386584"/>
            <a:ext cx="5898000" cy="1024200"/>
          </a:xfrm>
          <a:prstGeom prst="rect">
            <a:avLst/>
          </a:prstGeom>
          <a:solidFill>
            <a:srgbClr val="10162B"/>
          </a:solidFill>
          <a:ln cap="flat" cmpd="sng" w="12700">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74" name="Google Shape;1674;p49"/>
          <p:cNvSpPr/>
          <p:nvPr/>
        </p:nvSpPr>
        <p:spPr>
          <a:xfrm>
            <a:off x="274320" y="2386584"/>
            <a:ext cx="347400" cy="10242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75" name="Google Shape;1675;p49"/>
          <p:cNvSpPr txBox="1"/>
          <p:nvPr/>
        </p:nvSpPr>
        <p:spPr>
          <a:xfrm>
            <a:off x="292608" y="2761488"/>
            <a:ext cx="3108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A0D1A"/>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sp>
        <p:nvSpPr>
          <p:cNvPr id="1676" name="Google Shape;1676;p49"/>
          <p:cNvSpPr txBox="1"/>
          <p:nvPr/>
        </p:nvSpPr>
        <p:spPr>
          <a:xfrm>
            <a:off x="713232" y="2441448"/>
            <a:ext cx="5413200" cy="269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39FF14"/>
                </a:solidFill>
                <a:latin typeface="Calibri"/>
                <a:ea typeface="Calibri"/>
                <a:cs typeface="Calibri"/>
                <a:sym typeface="Calibri"/>
              </a:rPr>
              <a:t>AutoAttacker</a:t>
            </a:r>
            <a:endParaRPr b="0" i="0" sz="1400" u="none" cap="none" strike="noStrike">
              <a:solidFill>
                <a:srgbClr val="000000"/>
              </a:solidFill>
              <a:latin typeface="Arial"/>
              <a:ea typeface="Arial"/>
              <a:cs typeface="Arial"/>
              <a:sym typeface="Arial"/>
            </a:endParaRPr>
          </a:p>
        </p:txBody>
      </p:sp>
      <p:sp>
        <p:nvSpPr>
          <p:cNvPr id="1677" name="Google Shape;1677;p49"/>
          <p:cNvSpPr txBox="1"/>
          <p:nvPr/>
        </p:nvSpPr>
        <p:spPr>
          <a:xfrm>
            <a:off x="713232" y="2660904"/>
            <a:ext cx="54132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arXiv '24  — Xu et al.</a:t>
            </a:r>
            <a:endParaRPr b="0" i="0" sz="1400" u="none" cap="none" strike="noStrike">
              <a:solidFill>
                <a:srgbClr val="000000"/>
              </a:solidFill>
              <a:latin typeface="Arial"/>
              <a:ea typeface="Arial"/>
              <a:cs typeface="Arial"/>
              <a:sym typeface="Arial"/>
            </a:endParaRPr>
          </a:p>
        </p:txBody>
      </p:sp>
      <p:sp>
        <p:nvSpPr>
          <p:cNvPr id="1678" name="Google Shape;1678;p49"/>
          <p:cNvSpPr txBox="1"/>
          <p:nvPr/>
        </p:nvSpPr>
        <p:spPr>
          <a:xfrm>
            <a:off x="713232" y="2843784"/>
            <a:ext cx="54132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Modular planner / summarizer / code-generator for post-breach automation.</a:t>
            </a:r>
            <a:br>
              <a:rPr b="0" i="0" lang="en-US" sz="850" u="none" cap="none" strike="noStrike">
                <a:solidFill>
                  <a:srgbClr val="A0AAB8"/>
                </a:solidFill>
                <a:latin typeface="Calibri"/>
                <a:ea typeface="Calibri"/>
                <a:cs typeface="Calibri"/>
                <a:sym typeface="Calibri"/>
              </a:rPr>
            </a:br>
            <a:r>
              <a:rPr b="0" i="0" lang="en-US" sz="850" u="none" cap="none" strike="noStrike">
                <a:solidFill>
                  <a:srgbClr val="A0AAB8"/>
                </a:solidFill>
                <a:latin typeface="Calibri"/>
                <a:ea typeface="Calibri"/>
                <a:cs typeface="Calibri"/>
                <a:sym typeface="Calibri"/>
              </a:rPr>
              <a:t>Experience manager stores + reuses attack subtasks within one mission.</a:t>
            </a:r>
            <a:endParaRPr b="0" i="0" sz="1400" u="none" cap="none" strike="noStrike">
              <a:solidFill>
                <a:srgbClr val="000000"/>
              </a:solidFill>
              <a:latin typeface="Arial"/>
              <a:ea typeface="Arial"/>
              <a:cs typeface="Arial"/>
              <a:sym typeface="Arial"/>
            </a:endParaRPr>
          </a:p>
        </p:txBody>
      </p:sp>
      <p:sp>
        <p:nvSpPr>
          <p:cNvPr id="1679" name="Google Shape;1679;p49"/>
          <p:cNvSpPr/>
          <p:nvPr/>
        </p:nvSpPr>
        <p:spPr>
          <a:xfrm>
            <a:off x="694944" y="3209544"/>
            <a:ext cx="5404200" cy="164700"/>
          </a:xfrm>
          <a:prstGeom prst="rect">
            <a:avLst/>
          </a:prstGeom>
          <a:solidFill>
            <a:srgbClr val="0618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80" name="Google Shape;1680;p49"/>
          <p:cNvSpPr txBox="1"/>
          <p:nvPr/>
        </p:nvSpPr>
        <p:spPr>
          <a:xfrm>
            <a:off x="731520" y="3218688"/>
            <a:ext cx="53676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CMatrix:  Cross-Mission Experience Store (C10) — generalizes reuse to cross-mission scope.</a:t>
            </a:r>
            <a:endParaRPr b="0" i="0" sz="1400" u="none" cap="none" strike="noStrike">
              <a:solidFill>
                <a:srgbClr val="000000"/>
              </a:solidFill>
              <a:latin typeface="Arial"/>
              <a:ea typeface="Arial"/>
              <a:cs typeface="Arial"/>
              <a:sym typeface="Arial"/>
            </a:endParaRPr>
          </a:p>
        </p:txBody>
      </p:sp>
      <p:sp>
        <p:nvSpPr>
          <p:cNvPr id="1681" name="Google Shape;1681;p49"/>
          <p:cNvSpPr/>
          <p:nvPr/>
        </p:nvSpPr>
        <p:spPr>
          <a:xfrm>
            <a:off x="274320" y="3465576"/>
            <a:ext cx="5898000" cy="1024200"/>
          </a:xfrm>
          <a:prstGeom prst="rect">
            <a:avLst/>
          </a:prstGeom>
          <a:solidFill>
            <a:srgbClr val="10162B"/>
          </a:solidFill>
          <a:ln cap="flat" cmpd="sng" w="12700">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82" name="Google Shape;1682;p49"/>
          <p:cNvSpPr/>
          <p:nvPr/>
        </p:nvSpPr>
        <p:spPr>
          <a:xfrm>
            <a:off x="274320" y="3465576"/>
            <a:ext cx="347400" cy="10242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83" name="Google Shape;1683;p49"/>
          <p:cNvSpPr txBox="1"/>
          <p:nvPr/>
        </p:nvSpPr>
        <p:spPr>
          <a:xfrm>
            <a:off x="292608" y="3840480"/>
            <a:ext cx="3108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A0D1A"/>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sp>
        <p:nvSpPr>
          <p:cNvPr id="1684" name="Google Shape;1684;p49"/>
          <p:cNvSpPr txBox="1"/>
          <p:nvPr/>
        </p:nvSpPr>
        <p:spPr>
          <a:xfrm>
            <a:off x="713232" y="3520440"/>
            <a:ext cx="5413200" cy="269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FFD700"/>
                </a:solidFill>
                <a:latin typeface="Calibri"/>
                <a:ea typeface="Calibri"/>
                <a:cs typeface="Calibri"/>
                <a:sym typeface="Calibri"/>
              </a:rPr>
              <a:t>Teams of LLM Agents (HPTSA)</a:t>
            </a:r>
            <a:endParaRPr b="0" i="0" sz="1400" u="none" cap="none" strike="noStrike">
              <a:solidFill>
                <a:srgbClr val="000000"/>
              </a:solidFill>
              <a:latin typeface="Arial"/>
              <a:ea typeface="Arial"/>
              <a:cs typeface="Arial"/>
              <a:sym typeface="Arial"/>
            </a:endParaRPr>
          </a:p>
        </p:txBody>
      </p:sp>
      <p:sp>
        <p:nvSpPr>
          <p:cNvPr id="1685" name="Google Shape;1685;p49"/>
          <p:cNvSpPr txBox="1"/>
          <p:nvPr/>
        </p:nvSpPr>
        <p:spPr>
          <a:xfrm>
            <a:off x="713232" y="3739896"/>
            <a:ext cx="54132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arXiv '24  — Zhu et al.</a:t>
            </a:r>
            <a:endParaRPr b="0" i="0" sz="1400" u="none" cap="none" strike="noStrike">
              <a:solidFill>
                <a:srgbClr val="000000"/>
              </a:solidFill>
              <a:latin typeface="Arial"/>
              <a:ea typeface="Arial"/>
              <a:cs typeface="Arial"/>
              <a:sym typeface="Arial"/>
            </a:endParaRPr>
          </a:p>
        </p:txBody>
      </p:sp>
      <p:sp>
        <p:nvSpPr>
          <p:cNvPr id="1686" name="Google Shape;1686;p49"/>
          <p:cNvSpPr txBox="1"/>
          <p:nvPr/>
        </p:nvSpPr>
        <p:spPr>
          <a:xfrm>
            <a:off x="713232" y="3922776"/>
            <a:ext cx="54132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Hierarchical planner delegates to task-specific sub-agents.</a:t>
            </a:r>
            <a:br>
              <a:rPr b="0" i="0" lang="en-US" sz="850" u="none" cap="none" strike="noStrike">
                <a:solidFill>
                  <a:srgbClr val="A0AAB8"/>
                </a:solidFill>
                <a:latin typeface="Calibri"/>
                <a:ea typeface="Calibri"/>
                <a:cs typeface="Calibri"/>
                <a:sym typeface="Calibri"/>
              </a:rPr>
            </a:br>
            <a:r>
              <a:rPr b="0" i="0" lang="en-US" sz="850" u="none" cap="none" strike="noStrike">
                <a:solidFill>
                  <a:srgbClr val="A0AAB8"/>
                </a:solidFill>
                <a:latin typeface="Calibri"/>
                <a:ea typeface="Calibri"/>
                <a:cs typeface="Calibri"/>
                <a:sym typeface="Calibri"/>
              </a:rPr>
              <a:t>Task-specific document injection improves zero-day exploitation by 2.1x.</a:t>
            </a:r>
            <a:endParaRPr b="0" i="0" sz="1400" u="none" cap="none" strike="noStrike">
              <a:solidFill>
                <a:srgbClr val="000000"/>
              </a:solidFill>
              <a:latin typeface="Arial"/>
              <a:ea typeface="Arial"/>
              <a:cs typeface="Arial"/>
              <a:sym typeface="Arial"/>
            </a:endParaRPr>
          </a:p>
        </p:txBody>
      </p:sp>
      <p:sp>
        <p:nvSpPr>
          <p:cNvPr id="1687" name="Google Shape;1687;p49"/>
          <p:cNvSpPr/>
          <p:nvPr/>
        </p:nvSpPr>
        <p:spPr>
          <a:xfrm>
            <a:off x="694944" y="4288536"/>
            <a:ext cx="5404200" cy="164700"/>
          </a:xfrm>
          <a:prstGeom prst="rect">
            <a:avLst/>
          </a:prstGeom>
          <a:solidFill>
            <a:srgbClr val="0618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88" name="Google Shape;1688;p49"/>
          <p:cNvSpPr txBox="1"/>
          <p:nvPr/>
        </p:nvSpPr>
        <p:spPr>
          <a:xfrm>
            <a:off x="731520" y="4297680"/>
            <a:ext cx="53676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CMatrix:  Vulnerability-Class Knowledge Injection at agent spawn time (C3 / §7).</a:t>
            </a:r>
            <a:endParaRPr b="0" i="0" sz="1400" u="none" cap="none" strike="noStrike">
              <a:solidFill>
                <a:srgbClr val="000000"/>
              </a:solidFill>
              <a:latin typeface="Arial"/>
              <a:ea typeface="Arial"/>
              <a:cs typeface="Arial"/>
              <a:sym typeface="Arial"/>
            </a:endParaRPr>
          </a:p>
        </p:txBody>
      </p:sp>
      <p:sp>
        <p:nvSpPr>
          <p:cNvPr id="1689" name="Google Shape;1689;p49"/>
          <p:cNvSpPr/>
          <p:nvPr/>
        </p:nvSpPr>
        <p:spPr>
          <a:xfrm>
            <a:off x="274320" y="4544568"/>
            <a:ext cx="5898000" cy="1024200"/>
          </a:xfrm>
          <a:prstGeom prst="rect">
            <a:avLst/>
          </a:prstGeom>
          <a:solidFill>
            <a:srgbClr val="10162B"/>
          </a:solidFill>
          <a:ln cap="flat" cmpd="sng" w="12700">
            <a:solidFill>
              <a:srgbClr val="00BF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90" name="Google Shape;1690;p49"/>
          <p:cNvSpPr/>
          <p:nvPr/>
        </p:nvSpPr>
        <p:spPr>
          <a:xfrm>
            <a:off x="274320" y="4544568"/>
            <a:ext cx="347400" cy="1024200"/>
          </a:xfrm>
          <a:prstGeom prst="rect">
            <a:avLst/>
          </a:prstGeom>
          <a:solidFill>
            <a:srgbClr val="00B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91" name="Google Shape;1691;p49"/>
          <p:cNvSpPr txBox="1"/>
          <p:nvPr/>
        </p:nvSpPr>
        <p:spPr>
          <a:xfrm>
            <a:off x="292608" y="4919472"/>
            <a:ext cx="3108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A0D1A"/>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
        <p:nvSpPr>
          <p:cNvPr id="1692" name="Google Shape;1692;p49"/>
          <p:cNvSpPr txBox="1"/>
          <p:nvPr/>
        </p:nvSpPr>
        <p:spPr>
          <a:xfrm>
            <a:off x="713232" y="4599432"/>
            <a:ext cx="5413200" cy="269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00BFD8"/>
                </a:solidFill>
                <a:latin typeface="Calibri"/>
                <a:ea typeface="Calibri"/>
                <a:cs typeface="Calibri"/>
                <a:sym typeface="Calibri"/>
              </a:rPr>
              <a:t>PentestAgent</a:t>
            </a:r>
            <a:endParaRPr b="0" i="0" sz="1400" u="none" cap="none" strike="noStrike">
              <a:solidFill>
                <a:srgbClr val="000000"/>
              </a:solidFill>
              <a:latin typeface="Arial"/>
              <a:ea typeface="Arial"/>
              <a:cs typeface="Arial"/>
              <a:sym typeface="Arial"/>
            </a:endParaRPr>
          </a:p>
        </p:txBody>
      </p:sp>
      <p:sp>
        <p:nvSpPr>
          <p:cNvPr id="1693" name="Google Shape;1693;p49"/>
          <p:cNvSpPr txBox="1"/>
          <p:nvPr/>
        </p:nvSpPr>
        <p:spPr>
          <a:xfrm>
            <a:off x="713232" y="4818888"/>
            <a:ext cx="54132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AsiaCCS '25  — Shen et al.</a:t>
            </a:r>
            <a:endParaRPr b="0" i="0" sz="1400" u="none" cap="none" strike="noStrike">
              <a:solidFill>
                <a:srgbClr val="000000"/>
              </a:solidFill>
              <a:latin typeface="Arial"/>
              <a:ea typeface="Arial"/>
              <a:cs typeface="Arial"/>
              <a:sym typeface="Arial"/>
            </a:endParaRPr>
          </a:p>
        </p:txBody>
      </p:sp>
      <p:sp>
        <p:nvSpPr>
          <p:cNvPr id="1694" name="Google Shape;1694;p49"/>
          <p:cNvSpPr txBox="1"/>
          <p:nvPr/>
        </p:nvSpPr>
        <p:spPr>
          <a:xfrm>
            <a:off x="713232" y="5001768"/>
            <a:ext cx="54132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Planning agent + RAG-backed shared memory.</a:t>
            </a:r>
            <a:br>
              <a:rPr b="0" i="0" lang="en-US" sz="850" u="none" cap="none" strike="noStrike">
                <a:solidFill>
                  <a:srgbClr val="A0AAB8"/>
                </a:solidFill>
                <a:latin typeface="Calibri"/>
                <a:ea typeface="Calibri"/>
                <a:cs typeface="Calibri"/>
                <a:sym typeface="Calibri"/>
              </a:rPr>
            </a:br>
            <a:r>
              <a:rPr b="0" i="0" lang="en-US" sz="850" u="none" cap="none" strike="noStrike">
                <a:solidFill>
                  <a:srgbClr val="A0AAB8"/>
                </a:solidFill>
                <a:latin typeface="Calibri"/>
                <a:ea typeface="Calibri"/>
                <a:cs typeface="Calibri"/>
                <a:sym typeface="Calibri"/>
              </a:rPr>
              <a:t>Execution agent self-diagnoses failed exploit attempts before abandoning.</a:t>
            </a:r>
            <a:endParaRPr b="0" i="0" sz="1400" u="none" cap="none" strike="noStrike">
              <a:solidFill>
                <a:srgbClr val="000000"/>
              </a:solidFill>
              <a:latin typeface="Arial"/>
              <a:ea typeface="Arial"/>
              <a:cs typeface="Arial"/>
              <a:sym typeface="Arial"/>
            </a:endParaRPr>
          </a:p>
        </p:txBody>
      </p:sp>
      <p:sp>
        <p:nvSpPr>
          <p:cNvPr id="1695" name="Google Shape;1695;p49"/>
          <p:cNvSpPr/>
          <p:nvPr/>
        </p:nvSpPr>
        <p:spPr>
          <a:xfrm>
            <a:off x="694944" y="5367528"/>
            <a:ext cx="5404200" cy="164700"/>
          </a:xfrm>
          <a:prstGeom prst="rect">
            <a:avLst/>
          </a:prstGeom>
          <a:solidFill>
            <a:srgbClr val="0618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96" name="Google Shape;1696;p49"/>
          <p:cNvSpPr txBox="1"/>
          <p:nvPr/>
        </p:nvSpPr>
        <p:spPr>
          <a:xfrm>
            <a:off x="731520" y="5376672"/>
            <a:ext cx="53676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CMatrix:  Validation Agent self-debugging loop: Diagnose → Contextualize → Adapt → Cap.</a:t>
            </a:r>
            <a:endParaRPr b="0" i="0" sz="1400" u="none" cap="none" strike="noStrike">
              <a:solidFill>
                <a:srgbClr val="000000"/>
              </a:solidFill>
              <a:latin typeface="Arial"/>
              <a:ea typeface="Arial"/>
              <a:cs typeface="Arial"/>
              <a:sym typeface="Arial"/>
            </a:endParaRPr>
          </a:p>
        </p:txBody>
      </p:sp>
      <p:sp>
        <p:nvSpPr>
          <p:cNvPr id="1697" name="Google Shape;1697;p49"/>
          <p:cNvSpPr/>
          <p:nvPr/>
        </p:nvSpPr>
        <p:spPr>
          <a:xfrm>
            <a:off x="274320" y="5623560"/>
            <a:ext cx="5898000" cy="1024200"/>
          </a:xfrm>
          <a:prstGeom prst="rect">
            <a:avLst/>
          </a:prstGeom>
          <a:solidFill>
            <a:srgbClr val="10162B"/>
          </a:solidFill>
          <a:ln cap="flat" cmpd="sng" w="12700">
            <a:solidFill>
              <a:srgbClr val="FF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98" name="Google Shape;1698;p49"/>
          <p:cNvSpPr/>
          <p:nvPr/>
        </p:nvSpPr>
        <p:spPr>
          <a:xfrm>
            <a:off x="274320" y="5623560"/>
            <a:ext cx="347400" cy="1024200"/>
          </a:xfrm>
          <a:prstGeom prst="rect">
            <a:avLst/>
          </a:prstGeom>
          <a:solidFill>
            <a:srgbClr val="FF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99" name="Google Shape;1699;p49"/>
          <p:cNvSpPr txBox="1"/>
          <p:nvPr/>
        </p:nvSpPr>
        <p:spPr>
          <a:xfrm>
            <a:off x="292608" y="5998464"/>
            <a:ext cx="3108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A0D1A"/>
                </a:solidFill>
                <a:latin typeface="Calibri"/>
                <a:ea typeface="Calibri"/>
                <a:cs typeface="Calibri"/>
                <a:sym typeface="Calibri"/>
              </a:rPr>
              <a:t>5</a:t>
            </a:r>
            <a:endParaRPr b="0" i="0" sz="1400" u="none" cap="none" strike="noStrike">
              <a:solidFill>
                <a:srgbClr val="000000"/>
              </a:solidFill>
              <a:latin typeface="Arial"/>
              <a:ea typeface="Arial"/>
              <a:cs typeface="Arial"/>
              <a:sym typeface="Arial"/>
            </a:endParaRPr>
          </a:p>
        </p:txBody>
      </p:sp>
      <p:sp>
        <p:nvSpPr>
          <p:cNvPr id="1700" name="Google Shape;1700;p49"/>
          <p:cNvSpPr txBox="1"/>
          <p:nvPr/>
        </p:nvSpPr>
        <p:spPr>
          <a:xfrm>
            <a:off x="713232" y="5678424"/>
            <a:ext cx="5413200" cy="269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FF4545"/>
                </a:solidFill>
                <a:latin typeface="Calibri"/>
                <a:ea typeface="Calibri"/>
                <a:cs typeface="Calibri"/>
                <a:sym typeface="Calibri"/>
              </a:rPr>
              <a:t>VulnBot</a:t>
            </a:r>
            <a:endParaRPr b="0" i="0" sz="1400" u="none" cap="none" strike="noStrike">
              <a:solidFill>
                <a:srgbClr val="000000"/>
              </a:solidFill>
              <a:latin typeface="Arial"/>
              <a:ea typeface="Arial"/>
              <a:cs typeface="Arial"/>
              <a:sym typeface="Arial"/>
            </a:endParaRPr>
          </a:p>
        </p:txBody>
      </p:sp>
      <p:sp>
        <p:nvSpPr>
          <p:cNvPr id="1701" name="Google Shape;1701;p49"/>
          <p:cNvSpPr txBox="1"/>
          <p:nvPr/>
        </p:nvSpPr>
        <p:spPr>
          <a:xfrm>
            <a:off x="713232" y="5897880"/>
            <a:ext cx="54132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arXiv '25  — Kong et al.</a:t>
            </a:r>
            <a:endParaRPr b="0" i="0" sz="1400" u="none" cap="none" strike="noStrike">
              <a:solidFill>
                <a:srgbClr val="000000"/>
              </a:solidFill>
              <a:latin typeface="Arial"/>
              <a:ea typeface="Arial"/>
              <a:cs typeface="Arial"/>
              <a:sym typeface="Arial"/>
            </a:endParaRPr>
          </a:p>
        </p:txBody>
      </p:sp>
      <p:sp>
        <p:nvSpPr>
          <p:cNvPr id="1702" name="Google Shape;1702;p49"/>
          <p:cNvSpPr txBox="1"/>
          <p:nvPr/>
        </p:nvSpPr>
        <p:spPr>
          <a:xfrm>
            <a:off x="713232" y="6080760"/>
            <a:ext cx="54132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0" lang="en-US" sz="850" u="none" cap="none" strike="noStrike">
                <a:solidFill>
                  <a:srgbClr val="A0AAB8"/>
                </a:solidFill>
                <a:latin typeface="Calibri"/>
                <a:ea typeface="Calibri"/>
                <a:cs typeface="Calibri"/>
                <a:sym typeface="Calibri"/>
              </a:rPr>
              <a:t>Five-module pipeline around a Penetration Task Graph.</a:t>
            </a:r>
            <a:br>
              <a:rPr b="0" i="0" lang="en-US" sz="850" u="none" cap="none" strike="noStrike">
                <a:solidFill>
                  <a:srgbClr val="A0AAB8"/>
                </a:solidFill>
                <a:latin typeface="Calibri"/>
                <a:ea typeface="Calibri"/>
                <a:cs typeface="Calibri"/>
                <a:sym typeface="Calibri"/>
              </a:rPr>
            </a:br>
            <a:r>
              <a:rPr b="0" i="0" lang="en-US" sz="850" u="none" cap="none" strike="noStrike">
                <a:solidFill>
                  <a:srgbClr val="A0AAB8"/>
                </a:solidFill>
                <a:latin typeface="Calibri"/>
                <a:ea typeface="Calibri"/>
                <a:cs typeface="Calibri"/>
                <a:sym typeface="Calibri"/>
              </a:rPr>
              <a:t>Summarizer condenses phase output — prevents raw history leaking between agents.</a:t>
            </a:r>
            <a:endParaRPr b="0" i="0" sz="1400" u="none" cap="none" strike="noStrike">
              <a:solidFill>
                <a:srgbClr val="000000"/>
              </a:solidFill>
              <a:latin typeface="Arial"/>
              <a:ea typeface="Arial"/>
              <a:cs typeface="Arial"/>
              <a:sym typeface="Arial"/>
            </a:endParaRPr>
          </a:p>
        </p:txBody>
      </p:sp>
      <p:sp>
        <p:nvSpPr>
          <p:cNvPr id="1703" name="Google Shape;1703;p49"/>
          <p:cNvSpPr/>
          <p:nvPr/>
        </p:nvSpPr>
        <p:spPr>
          <a:xfrm>
            <a:off x="694944" y="6446520"/>
            <a:ext cx="5404200" cy="164700"/>
          </a:xfrm>
          <a:prstGeom prst="rect">
            <a:avLst/>
          </a:prstGeom>
          <a:solidFill>
            <a:srgbClr val="0618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04" name="Google Shape;1704;p49"/>
          <p:cNvSpPr txBox="1"/>
          <p:nvPr/>
        </p:nvSpPr>
        <p:spPr>
          <a:xfrm>
            <a:off x="731520" y="6455664"/>
            <a:ext cx="53676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39FF14"/>
                </a:solidFill>
                <a:latin typeface="Calibri"/>
                <a:ea typeface="Calibri"/>
                <a:cs typeface="Calibri"/>
                <a:sym typeface="Calibri"/>
              </a:rPr>
              <a:t>CMatrix:  Context-Isolated Agent Spawning — agents return structured ASG delta, not raw history.</a:t>
            </a:r>
            <a:endParaRPr b="0" i="0" sz="1400" u="none" cap="none" strike="noStrike">
              <a:solidFill>
                <a:srgbClr val="000000"/>
              </a:solidFill>
              <a:latin typeface="Arial"/>
              <a:ea typeface="Arial"/>
              <a:cs typeface="Arial"/>
              <a:sym typeface="Arial"/>
            </a:endParaRPr>
          </a:p>
        </p:txBody>
      </p:sp>
      <p:sp>
        <p:nvSpPr>
          <p:cNvPr id="1705" name="Google Shape;1705;p49"/>
          <p:cNvSpPr/>
          <p:nvPr/>
        </p:nvSpPr>
        <p:spPr>
          <a:xfrm>
            <a:off x="6355080" y="987552"/>
            <a:ext cx="5669400" cy="274200"/>
          </a:xfrm>
          <a:prstGeom prst="rect">
            <a:avLst/>
          </a:prstGeom>
          <a:solidFill>
            <a:srgbClr val="120820"/>
          </a:solidFill>
          <a:ln cap="flat" cmpd="sng" w="10150">
            <a:solidFill>
              <a:srgbClr val="BD93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06" name="Google Shape;1706;p49"/>
          <p:cNvSpPr txBox="1"/>
          <p:nvPr/>
        </p:nvSpPr>
        <p:spPr>
          <a:xfrm>
            <a:off x="6464808" y="1005840"/>
            <a:ext cx="54864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BD93F9"/>
                </a:solidFill>
                <a:latin typeface="Calibri"/>
                <a:ea typeface="Calibri"/>
                <a:cs typeface="Calibri"/>
                <a:sym typeface="Calibri"/>
              </a:rPr>
              <a:t>💻  OPEN-SOURCE REPOSITORIES</a:t>
            </a:r>
            <a:endParaRPr b="0" i="0" sz="1400" u="none" cap="none" strike="noStrike">
              <a:solidFill>
                <a:srgbClr val="000000"/>
              </a:solidFill>
              <a:latin typeface="Arial"/>
              <a:ea typeface="Arial"/>
              <a:cs typeface="Arial"/>
              <a:sym typeface="Arial"/>
            </a:endParaRPr>
          </a:p>
        </p:txBody>
      </p:sp>
      <p:sp>
        <p:nvSpPr>
          <p:cNvPr id="1707" name="Google Shape;1707;p49"/>
          <p:cNvSpPr/>
          <p:nvPr/>
        </p:nvSpPr>
        <p:spPr>
          <a:xfrm>
            <a:off x="6355080" y="1307592"/>
            <a:ext cx="5669400" cy="1627500"/>
          </a:xfrm>
          <a:prstGeom prst="rect">
            <a:avLst/>
          </a:prstGeom>
          <a:solidFill>
            <a:srgbClr val="10162B"/>
          </a:solidFill>
          <a:ln cap="flat" cmpd="sng" w="15225">
            <a:solidFill>
              <a:srgbClr val="39FF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08" name="Google Shape;1708;p49"/>
          <p:cNvSpPr/>
          <p:nvPr/>
        </p:nvSpPr>
        <p:spPr>
          <a:xfrm>
            <a:off x="6355080" y="1307592"/>
            <a:ext cx="347400" cy="1627500"/>
          </a:xfrm>
          <a:prstGeom prst="rect">
            <a:avLst/>
          </a:prstGeom>
          <a:solidFill>
            <a:srgbClr val="39FF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09" name="Google Shape;1709;p49"/>
          <p:cNvSpPr txBox="1"/>
          <p:nvPr/>
        </p:nvSpPr>
        <p:spPr>
          <a:xfrm>
            <a:off x="6373368" y="1984248"/>
            <a:ext cx="3108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A0D1A"/>
                </a:solidFill>
                <a:latin typeface="Calibri"/>
                <a:ea typeface="Calibri"/>
                <a:cs typeface="Calibri"/>
                <a:sym typeface="Calibri"/>
              </a:rPr>
              <a:t>6</a:t>
            </a:r>
            <a:endParaRPr b="0" i="0" sz="1400" u="none" cap="none" strike="noStrike">
              <a:solidFill>
                <a:srgbClr val="000000"/>
              </a:solidFill>
              <a:latin typeface="Arial"/>
              <a:ea typeface="Arial"/>
              <a:cs typeface="Arial"/>
              <a:sym typeface="Arial"/>
            </a:endParaRPr>
          </a:p>
        </p:txBody>
      </p:sp>
      <p:sp>
        <p:nvSpPr>
          <p:cNvPr id="1710" name="Google Shape;1710;p49"/>
          <p:cNvSpPr txBox="1"/>
          <p:nvPr/>
        </p:nvSpPr>
        <p:spPr>
          <a:xfrm>
            <a:off x="6793992" y="1380744"/>
            <a:ext cx="5184600" cy="292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39FF14"/>
                </a:solidFill>
                <a:latin typeface="Calibri"/>
                <a:ea typeface="Calibri"/>
                <a:cs typeface="Calibri"/>
                <a:sym typeface="Calibri"/>
              </a:rPr>
              <a:t>PentAGI</a:t>
            </a:r>
            <a:endParaRPr b="0" i="0" sz="1400" u="none" cap="none" strike="noStrike">
              <a:solidFill>
                <a:srgbClr val="000000"/>
              </a:solidFill>
              <a:latin typeface="Arial"/>
              <a:ea typeface="Arial"/>
              <a:cs typeface="Arial"/>
              <a:sym typeface="Arial"/>
            </a:endParaRPr>
          </a:p>
        </p:txBody>
      </p:sp>
      <p:sp>
        <p:nvSpPr>
          <p:cNvPr id="1711" name="Google Shape;1711;p49"/>
          <p:cNvSpPr txBox="1"/>
          <p:nvPr/>
        </p:nvSpPr>
        <p:spPr>
          <a:xfrm>
            <a:off x="6793992" y="1645920"/>
            <a:ext cx="51846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vxcontrol/pentagi</a:t>
            </a:r>
            <a:endParaRPr b="0" i="0" sz="1400" u="none" cap="none" strike="noStrike">
              <a:solidFill>
                <a:srgbClr val="000000"/>
              </a:solidFill>
              <a:latin typeface="Arial"/>
              <a:ea typeface="Arial"/>
              <a:cs typeface="Arial"/>
              <a:sym typeface="Arial"/>
            </a:endParaRPr>
          </a:p>
        </p:txBody>
      </p:sp>
      <p:sp>
        <p:nvSpPr>
          <p:cNvPr id="1712" name="Google Shape;1712;p49"/>
          <p:cNvSpPr txBox="1"/>
          <p:nvPr/>
        </p:nvSpPr>
        <p:spPr>
          <a:xfrm>
            <a:off x="6793992" y="1837944"/>
            <a:ext cx="51846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Production multi-agent pentesting platform.</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Adviser detects fixation; Reflector nudges stuck agents.</a:t>
            </a:r>
            <a:endParaRPr b="0" i="0" sz="1400" u="none" cap="none" strike="noStrike">
              <a:solidFill>
                <a:srgbClr val="000000"/>
              </a:solidFill>
              <a:latin typeface="Arial"/>
              <a:ea typeface="Arial"/>
              <a:cs typeface="Arial"/>
              <a:sym typeface="Arial"/>
            </a:endParaRPr>
          </a:p>
        </p:txBody>
      </p:sp>
      <p:sp>
        <p:nvSpPr>
          <p:cNvPr id="1713" name="Google Shape;1713;p49"/>
          <p:cNvSpPr/>
          <p:nvPr/>
        </p:nvSpPr>
        <p:spPr>
          <a:xfrm>
            <a:off x="6775704" y="2642616"/>
            <a:ext cx="5175600" cy="237600"/>
          </a:xfrm>
          <a:prstGeom prst="rect">
            <a:avLst/>
          </a:prstGeom>
          <a:solidFill>
            <a:srgbClr val="0618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14" name="Google Shape;1714;p49"/>
          <p:cNvSpPr txBox="1"/>
          <p:nvPr/>
        </p:nvSpPr>
        <p:spPr>
          <a:xfrm>
            <a:off x="6812280" y="2651760"/>
            <a:ext cx="51390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39FF14"/>
                </a:solidFill>
                <a:latin typeface="Calibri"/>
                <a:ea typeface="Calibri"/>
                <a:cs typeface="Calibri"/>
                <a:sym typeface="Calibri"/>
              </a:rPr>
              <a:t>CMatrix:  Cycle Guard (detects repeated identical tool calls) + Reflector (corrective guidance on repeated failures).</a:t>
            </a:r>
            <a:endParaRPr b="0" i="0" sz="1400" u="none" cap="none" strike="noStrike">
              <a:solidFill>
                <a:srgbClr val="000000"/>
              </a:solidFill>
              <a:latin typeface="Arial"/>
              <a:ea typeface="Arial"/>
              <a:cs typeface="Arial"/>
              <a:sym typeface="Arial"/>
            </a:endParaRPr>
          </a:p>
        </p:txBody>
      </p:sp>
      <p:sp>
        <p:nvSpPr>
          <p:cNvPr id="1715" name="Google Shape;1715;p49"/>
          <p:cNvSpPr/>
          <p:nvPr/>
        </p:nvSpPr>
        <p:spPr>
          <a:xfrm>
            <a:off x="6355080" y="3026664"/>
            <a:ext cx="5669400" cy="1627500"/>
          </a:xfrm>
          <a:prstGeom prst="rect">
            <a:avLst/>
          </a:prstGeom>
          <a:solidFill>
            <a:srgbClr val="10162B"/>
          </a:solidFill>
          <a:ln cap="flat" cmpd="sng" w="15225">
            <a:solidFill>
              <a:srgbClr val="00E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16" name="Google Shape;1716;p49"/>
          <p:cNvSpPr/>
          <p:nvPr/>
        </p:nvSpPr>
        <p:spPr>
          <a:xfrm>
            <a:off x="6355080" y="3026664"/>
            <a:ext cx="347400" cy="16275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17" name="Google Shape;1717;p49"/>
          <p:cNvSpPr txBox="1"/>
          <p:nvPr/>
        </p:nvSpPr>
        <p:spPr>
          <a:xfrm>
            <a:off x="6373368" y="3703320"/>
            <a:ext cx="3108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A0D1A"/>
                </a:solidFill>
                <a:latin typeface="Calibri"/>
                <a:ea typeface="Calibri"/>
                <a:cs typeface="Calibri"/>
                <a:sym typeface="Calibri"/>
              </a:rPr>
              <a:t>7</a:t>
            </a:r>
            <a:endParaRPr b="0" i="0" sz="1400" u="none" cap="none" strike="noStrike">
              <a:solidFill>
                <a:srgbClr val="000000"/>
              </a:solidFill>
              <a:latin typeface="Arial"/>
              <a:ea typeface="Arial"/>
              <a:cs typeface="Arial"/>
              <a:sym typeface="Arial"/>
            </a:endParaRPr>
          </a:p>
        </p:txBody>
      </p:sp>
      <p:sp>
        <p:nvSpPr>
          <p:cNvPr id="1718" name="Google Shape;1718;p49"/>
          <p:cNvSpPr txBox="1"/>
          <p:nvPr/>
        </p:nvSpPr>
        <p:spPr>
          <a:xfrm>
            <a:off x="6793992" y="3099816"/>
            <a:ext cx="5184600" cy="292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0E5FF"/>
                </a:solidFill>
                <a:latin typeface="Calibri"/>
                <a:ea typeface="Calibri"/>
                <a:cs typeface="Calibri"/>
                <a:sym typeface="Calibri"/>
              </a:rPr>
              <a:t>Claude Code</a:t>
            </a:r>
            <a:endParaRPr b="0" i="0" sz="1400" u="none" cap="none" strike="noStrike">
              <a:solidFill>
                <a:srgbClr val="000000"/>
              </a:solidFill>
              <a:latin typeface="Arial"/>
              <a:ea typeface="Arial"/>
              <a:cs typeface="Arial"/>
              <a:sym typeface="Arial"/>
            </a:endParaRPr>
          </a:p>
        </p:txBody>
      </p:sp>
      <p:sp>
        <p:nvSpPr>
          <p:cNvPr id="1719" name="Google Shape;1719;p49"/>
          <p:cNvSpPr txBox="1"/>
          <p:nvPr/>
        </p:nvSpPr>
        <p:spPr>
          <a:xfrm>
            <a:off x="6793992" y="3364992"/>
            <a:ext cx="51846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Anthropic pattern — yasasbanukaofficial/claude-code</a:t>
            </a:r>
            <a:endParaRPr b="0" i="0" sz="1400" u="none" cap="none" strike="noStrike">
              <a:solidFill>
                <a:srgbClr val="000000"/>
              </a:solidFill>
              <a:latin typeface="Arial"/>
              <a:ea typeface="Arial"/>
              <a:cs typeface="Arial"/>
              <a:sym typeface="Arial"/>
            </a:endParaRPr>
          </a:p>
        </p:txBody>
      </p:sp>
      <p:sp>
        <p:nvSpPr>
          <p:cNvPr id="1720" name="Google Shape;1720;p49"/>
          <p:cNvSpPr txBox="1"/>
          <p:nvPr/>
        </p:nvSpPr>
        <p:spPr>
          <a:xfrm>
            <a:off x="6793992" y="3557016"/>
            <a:ext cx="51846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yoloClassifier.ts: two-stage fast-filter + chain-of-thought tool-call auto-approval.</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27-event named hook architecture for operator intervention.</a:t>
            </a:r>
            <a:endParaRPr b="0" i="0" sz="1400" u="none" cap="none" strike="noStrike">
              <a:solidFill>
                <a:srgbClr val="000000"/>
              </a:solidFill>
              <a:latin typeface="Arial"/>
              <a:ea typeface="Arial"/>
              <a:cs typeface="Arial"/>
              <a:sym typeface="Arial"/>
            </a:endParaRPr>
          </a:p>
        </p:txBody>
      </p:sp>
      <p:sp>
        <p:nvSpPr>
          <p:cNvPr id="1721" name="Google Shape;1721;p49"/>
          <p:cNvSpPr/>
          <p:nvPr/>
        </p:nvSpPr>
        <p:spPr>
          <a:xfrm>
            <a:off x="6775704" y="4361688"/>
            <a:ext cx="5175600" cy="237600"/>
          </a:xfrm>
          <a:prstGeom prst="rect">
            <a:avLst/>
          </a:prstGeom>
          <a:solidFill>
            <a:srgbClr val="0618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22" name="Google Shape;1722;p49"/>
          <p:cNvSpPr txBox="1"/>
          <p:nvPr/>
        </p:nvSpPr>
        <p:spPr>
          <a:xfrm>
            <a:off x="6812280" y="4370832"/>
            <a:ext cx="51390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39FF14"/>
                </a:solidFill>
                <a:latin typeface="Calibri"/>
                <a:ea typeface="Calibri"/>
                <a:cs typeface="Calibri"/>
                <a:sym typeface="Calibri"/>
              </a:rPr>
              <a:t>CMatrix:  LLM Permission Classifier (Medium-tier Risk Gate) + 6-event Agent Lifecycle Hook System.</a:t>
            </a:r>
            <a:endParaRPr b="0" i="0" sz="1400" u="none" cap="none" strike="noStrike">
              <a:solidFill>
                <a:srgbClr val="000000"/>
              </a:solidFill>
              <a:latin typeface="Arial"/>
              <a:ea typeface="Arial"/>
              <a:cs typeface="Arial"/>
              <a:sym typeface="Arial"/>
            </a:endParaRPr>
          </a:p>
        </p:txBody>
      </p:sp>
      <p:sp>
        <p:nvSpPr>
          <p:cNvPr id="1723" name="Google Shape;1723;p49"/>
          <p:cNvSpPr/>
          <p:nvPr/>
        </p:nvSpPr>
        <p:spPr>
          <a:xfrm>
            <a:off x="6355080" y="4745736"/>
            <a:ext cx="5669400" cy="1627500"/>
          </a:xfrm>
          <a:prstGeom prst="rect">
            <a:avLst/>
          </a:prstGeom>
          <a:solidFill>
            <a:srgbClr val="10162B"/>
          </a:solidFill>
          <a:ln cap="flat" cmpd="sng" w="15225">
            <a:solidFill>
              <a:srgbClr val="FFD7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24" name="Google Shape;1724;p49"/>
          <p:cNvSpPr/>
          <p:nvPr/>
        </p:nvSpPr>
        <p:spPr>
          <a:xfrm>
            <a:off x="6355080" y="4745736"/>
            <a:ext cx="347400" cy="1627500"/>
          </a:xfrm>
          <a:prstGeom prst="rect">
            <a:avLst/>
          </a:prstGeom>
          <a:solidFill>
            <a:srgbClr val="FFD7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25" name="Google Shape;1725;p49"/>
          <p:cNvSpPr txBox="1"/>
          <p:nvPr/>
        </p:nvSpPr>
        <p:spPr>
          <a:xfrm>
            <a:off x="6373368" y="5422392"/>
            <a:ext cx="3108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A0D1A"/>
                </a:solidFill>
                <a:latin typeface="Calibri"/>
                <a:ea typeface="Calibri"/>
                <a:cs typeface="Calibri"/>
                <a:sym typeface="Calibri"/>
              </a:rPr>
              <a:t>8</a:t>
            </a:r>
            <a:endParaRPr b="0" i="0" sz="1400" u="none" cap="none" strike="noStrike">
              <a:solidFill>
                <a:srgbClr val="000000"/>
              </a:solidFill>
              <a:latin typeface="Arial"/>
              <a:ea typeface="Arial"/>
              <a:cs typeface="Arial"/>
              <a:sym typeface="Arial"/>
            </a:endParaRPr>
          </a:p>
        </p:txBody>
      </p:sp>
      <p:sp>
        <p:nvSpPr>
          <p:cNvPr id="1726" name="Google Shape;1726;p49"/>
          <p:cNvSpPr txBox="1"/>
          <p:nvPr/>
        </p:nvSpPr>
        <p:spPr>
          <a:xfrm>
            <a:off x="6793992" y="4818888"/>
            <a:ext cx="5184600" cy="292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FD700"/>
                </a:solidFill>
                <a:latin typeface="Calibri"/>
                <a:ea typeface="Calibri"/>
                <a:cs typeface="Calibri"/>
                <a:sym typeface="Calibri"/>
              </a:rPr>
              <a:t>Hermes Agent</a:t>
            </a:r>
            <a:endParaRPr b="0" i="0" sz="1400" u="none" cap="none" strike="noStrike">
              <a:solidFill>
                <a:srgbClr val="000000"/>
              </a:solidFill>
              <a:latin typeface="Arial"/>
              <a:ea typeface="Arial"/>
              <a:cs typeface="Arial"/>
              <a:sym typeface="Arial"/>
            </a:endParaRPr>
          </a:p>
        </p:txBody>
      </p:sp>
      <p:sp>
        <p:nvSpPr>
          <p:cNvPr id="1727" name="Google Shape;1727;p49"/>
          <p:cNvSpPr txBox="1"/>
          <p:nvPr/>
        </p:nvSpPr>
        <p:spPr>
          <a:xfrm>
            <a:off x="6793992" y="5084064"/>
            <a:ext cx="51846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1" lang="en-US" sz="850" u="none" cap="none" strike="noStrike">
                <a:solidFill>
                  <a:srgbClr val="A0AAB8"/>
                </a:solidFill>
                <a:latin typeface="Calibri"/>
                <a:ea typeface="Calibri"/>
                <a:cs typeface="Calibri"/>
                <a:sym typeface="Calibri"/>
              </a:rPr>
              <a:t>NousResearch/hermes-agent</a:t>
            </a:r>
            <a:endParaRPr b="0" i="0" sz="1400" u="none" cap="none" strike="noStrike">
              <a:solidFill>
                <a:srgbClr val="000000"/>
              </a:solidFill>
              <a:latin typeface="Arial"/>
              <a:ea typeface="Arial"/>
              <a:cs typeface="Arial"/>
              <a:sym typeface="Arial"/>
            </a:endParaRPr>
          </a:p>
        </p:txBody>
      </p:sp>
      <p:sp>
        <p:nvSpPr>
          <p:cNvPr id="1728" name="Google Shape;1728;p49"/>
          <p:cNvSpPr txBox="1"/>
          <p:nvPr/>
        </p:nvSpPr>
        <p:spPr>
          <a:xfrm>
            <a:off x="6793992" y="5276088"/>
            <a:ext cx="51846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A0AAB8"/>
                </a:solidFill>
                <a:latin typeface="Calibri"/>
                <a:ea typeface="Calibri"/>
                <a:cs typeface="Calibri"/>
                <a:sym typeface="Calibri"/>
              </a:rPr>
              <a:t>Closed learning loop: skill crystallization from completed tasks.</a:t>
            </a:r>
            <a:br>
              <a:rPr b="0" i="0" lang="en-US" sz="900" u="none" cap="none" strike="noStrike">
                <a:solidFill>
                  <a:srgbClr val="A0AAB8"/>
                </a:solidFill>
                <a:latin typeface="Calibri"/>
                <a:ea typeface="Calibri"/>
                <a:cs typeface="Calibri"/>
                <a:sym typeface="Calibri"/>
              </a:rPr>
            </a:br>
            <a:r>
              <a:rPr b="0" i="0" lang="en-US" sz="900" u="none" cap="none" strike="noStrike">
                <a:solidFill>
                  <a:srgbClr val="A0AAB8"/>
                </a:solidFill>
                <a:latin typeface="Calibri"/>
                <a:ea typeface="Calibri"/>
                <a:cs typeface="Calibri"/>
                <a:sym typeface="Calibri"/>
              </a:rPr>
              <a:t>Structured trajectory export for SFT/RL training via DSPy + Atropos.</a:t>
            </a:r>
            <a:endParaRPr b="0" i="0" sz="1400" u="none" cap="none" strike="noStrike">
              <a:solidFill>
                <a:srgbClr val="000000"/>
              </a:solidFill>
              <a:latin typeface="Arial"/>
              <a:ea typeface="Arial"/>
              <a:cs typeface="Arial"/>
              <a:sym typeface="Arial"/>
            </a:endParaRPr>
          </a:p>
        </p:txBody>
      </p:sp>
      <p:sp>
        <p:nvSpPr>
          <p:cNvPr id="1729" name="Google Shape;1729;p49"/>
          <p:cNvSpPr/>
          <p:nvPr/>
        </p:nvSpPr>
        <p:spPr>
          <a:xfrm>
            <a:off x="6775704" y="6080760"/>
            <a:ext cx="5175600" cy="237600"/>
          </a:xfrm>
          <a:prstGeom prst="rect">
            <a:avLst/>
          </a:prstGeom>
          <a:solidFill>
            <a:srgbClr val="06180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30" name="Google Shape;1730;p49"/>
          <p:cNvSpPr txBox="1"/>
          <p:nvPr/>
        </p:nvSpPr>
        <p:spPr>
          <a:xfrm>
            <a:off x="6812280" y="6089904"/>
            <a:ext cx="51390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39FF14"/>
                </a:solidFill>
                <a:latin typeface="Calibri"/>
                <a:ea typeface="Calibri"/>
                <a:cs typeface="Calibri"/>
                <a:sym typeface="Calibri"/>
              </a:rPr>
              <a:t>CMatrix:  Attack Strategy Library crystallization (C11) + Engagement Trajectory Export dataset (C12).</a:t>
            </a:r>
            <a:endParaRPr b="0" i="0" sz="1400" u="none" cap="none" strike="noStrike">
              <a:solidFill>
                <a:srgbClr val="000000"/>
              </a:solidFill>
              <a:latin typeface="Arial"/>
              <a:ea typeface="Arial"/>
              <a:cs typeface="Arial"/>
              <a:sym typeface="Arial"/>
            </a:endParaRPr>
          </a:p>
        </p:txBody>
      </p:sp>
      <p:sp>
        <p:nvSpPr>
          <p:cNvPr id="1731" name="Google Shape;1731;p49"/>
          <p:cNvSpPr/>
          <p:nvPr/>
        </p:nvSpPr>
        <p:spPr>
          <a:xfrm>
            <a:off x="274320" y="987552"/>
            <a:ext cx="5898000" cy="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32" name="Google Shape;1732;p49"/>
          <p:cNvSpPr txBox="1"/>
          <p:nvPr/>
        </p:nvSpPr>
        <p:spPr>
          <a:xfrm>
            <a:off x="11656597" y="82400"/>
            <a:ext cx="4278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00"/>
              <a:buFont typeface="Arial"/>
              <a:buNone/>
            </a:pPr>
            <a:r>
              <a:rPr b="1" lang="en-US" sz="1300">
                <a:solidFill>
                  <a:srgbClr val="BD93F9"/>
                </a:solidFill>
                <a:latin typeface="Calibri"/>
                <a:ea typeface="Calibri"/>
                <a:cs typeface="Calibri"/>
                <a:sym typeface="Calibri"/>
              </a:rPr>
              <a:t>21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