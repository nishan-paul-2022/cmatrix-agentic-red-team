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
<Relationships xmlns="http://schemas.openxmlformats.org/package/2006/relationships">
  
		
  <Relationship Id="rId1" Type="http://schemas.openxmlformats.org/officeDocument/2006/relationships/extended-properties" Target="docProps/app.xml"/>
  
		
  <Relationship Id="rId2" Type="http://schemas.openxmlformats.org/package/2006/relationships/metadata/core-properties" Target="docProps/core.xml"/>
  
		
  <Relationship Id="rId3" Type="http://schemas.openxmlformats.org/officeDocument/2006/relationships/officeDocument" Target="ppt/presentation.xml"/>
  
		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notesMaster" Target="notesMasters/notesMaster1.xml"/>
  <Relationship Id="rId4" Type="http://schemas.openxmlformats.org/officeDocument/2006/relationships/presProps" Target="presProps.xml"/>
  <Relationship Id="rId5" Type="http://schemas.openxmlformats.org/officeDocument/2006/relationships/viewProps" Target="viewProps.xml"/>
  <Relationship Id="rId6" Type="http://schemas.openxmlformats.org/officeDocument/2006/relationships/theme" Target="theme/theme1.xml"/>
  <Relationship Id="rId7" Type="http://schemas.openxmlformats.org/officeDocument/2006/relationships/tableStyles" Target="tableStyles.xml"/>
</Relationships>

</file>

<file path=ppt/notesMasters/_rels/notesMaster1.xml.rels><?xml version="1.0" encoding="utf-8"?>
<Relationships xmlns="http://schemas.openxmlformats.org/package/2006/relationships">
  
		
  <Relationship Id="rId1" Type="http://schemas.openxmlformats.org/officeDocument/2006/relationships/theme" Target="../theme/theme1.xml"/>
  
		
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1.xml"/>
  
		
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188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D4FF"/>
                </a:solidFill>
              </a:rPr>
              <a:t>DUAL-GRAPH WORLD MODEL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274320" y="301752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ASG — Attack Surface Graph: Discovered Reality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274320" y="621792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shopvault.io mission  ·  Every node = confirmed by tool  ·  Every edge = confirmed relationship  ·  No hypotheses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256032" y="1828800"/>
            <a:ext cx="1115568" cy="438912"/>
          </a:xfrm>
          <a:prstGeom prst="roundRect">
            <a:avLst>
              <a:gd name="adj" fmla="val 12500"/>
            </a:avLst>
          </a:prstGeom>
          <a:solidFill>
            <a:srgbClr val="062210"/>
          </a:solidFill>
          <a:ln w="15240">
            <a:solidFill>
              <a:srgbClr val="7FFF0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56032" y="1828800"/>
            <a:ext cx="1115568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7FFF00"/>
                </a:solidFill>
              </a:rPr>
              <a:t>🌐 Domain</a:t>
            </a:r>
            <a:endParaRPr lang="en-US" sz="7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7FFF00"/>
                </a:solidFill>
              </a:rPr>
              <a:t>shopvault.io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1554480" y="932688"/>
            <a:ext cx="1115568" cy="438912"/>
          </a:xfrm>
          <a:prstGeom prst="roundRect">
            <a:avLst>
              <a:gd name="adj" fmla="val 12500"/>
            </a:avLst>
          </a:prstGeom>
          <a:solidFill>
            <a:srgbClr val="062210"/>
          </a:solidFill>
          <a:ln w="15240">
            <a:solidFill>
              <a:srgbClr val="7FFF0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554480" y="932688"/>
            <a:ext cx="1115568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7FFF00"/>
                </a:solidFill>
              </a:rPr>
              <a:t>🖥️ Host</a:t>
            </a:r>
            <a:endParaRPr lang="en-US" sz="7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7FFF00"/>
                </a:solidFill>
              </a:rPr>
              <a:t>10.0.0.1 · Ubuntu 22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1554480" y="1828800"/>
            <a:ext cx="1115568" cy="438912"/>
          </a:xfrm>
          <a:prstGeom prst="roundRect">
            <a:avLst>
              <a:gd name="adj" fmla="val 12500"/>
            </a:avLst>
          </a:prstGeom>
          <a:solidFill>
            <a:srgbClr val="062210"/>
          </a:solidFill>
          <a:ln w="15240">
            <a:solidFill>
              <a:srgbClr val="7FFF0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554480" y="1828800"/>
            <a:ext cx="1115568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7FFF00"/>
                </a:solidFill>
              </a:rPr>
              <a:t>🖥️ Host</a:t>
            </a:r>
            <a:endParaRPr lang="en-US" sz="7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7FFF00"/>
                </a:solidFill>
              </a:rPr>
              <a:t>10.0.0.2 · Debian 11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1554480" y="3218688"/>
            <a:ext cx="1115568" cy="438912"/>
          </a:xfrm>
          <a:prstGeom prst="roundRect">
            <a:avLst>
              <a:gd name="adj" fmla="val 12500"/>
            </a:avLst>
          </a:prstGeom>
          <a:solidFill>
            <a:srgbClr val="062210"/>
          </a:solidFill>
          <a:ln w="15240">
            <a:solidFill>
              <a:srgbClr val="7FFF0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554480" y="3218688"/>
            <a:ext cx="1115568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7FFF00"/>
                </a:solidFill>
              </a:rPr>
              <a:t>🖥️ Host</a:t>
            </a:r>
            <a:endParaRPr lang="en-US" sz="7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7FFF00"/>
                </a:solidFill>
              </a:rPr>
              <a:t>api.shopvault.io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2852928" y="822960"/>
            <a:ext cx="1115568" cy="438912"/>
          </a:xfrm>
          <a:prstGeom prst="roundRect">
            <a:avLst>
              <a:gd name="adj" fmla="val 12500"/>
            </a:avLst>
          </a:prstGeom>
          <a:solidFill>
            <a:srgbClr val="062210"/>
          </a:solidFill>
          <a:ln w="15240">
            <a:solidFill>
              <a:srgbClr val="7FFF0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852928" y="822960"/>
            <a:ext cx="1115568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7FFF00"/>
                </a:solidFill>
              </a:rPr>
              <a:t>🔌 Port :443</a:t>
            </a:r>
            <a:endParaRPr lang="en-US" sz="7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7FFF00"/>
                </a:solidFill>
              </a:rPr>
              <a:t>tcp · open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2852928" y="1353312"/>
            <a:ext cx="1115568" cy="438912"/>
          </a:xfrm>
          <a:prstGeom prst="roundRect">
            <a:avLst>
              <a:gd name="adj" fmla="val 12500"/>
            </a:avLst>
          </a:prstGeom>
          <a:solidFill>
            <a:srgbClr val="062210"/>
          </a:solidFill>
          <a:ln w="15240">
            <a:solidFill>
              <a:srgbClr val="7FFF0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852928" y="1353312"/>
            <a:ext cx="1115568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7FFF00"/>
                </a:solidFill>
              </a:rPr>
              <a:t>🔌 Port :22</a:t>
            </a:r>
            <a:endParaRPr lang="en-US" sz="7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7FFF00"/>
                </a:solidFill>
              </a:rPr>
              <a:t>tcp · open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2852928" y="1828800"/>
            <a:ext cx="1115568" cy="438912"/>
          </a:xfrm>
          <a:prstGeom prst="roundRect">
            <a:avLst>
              <a:gd name="adj" fmla="val 12500"/>
            </a:avLst>
          </a:prstGeom>
          <a:solidFill>
            <a:srgbClr val="062210"/>
          </a:solidFill>
          <a:ln w="15240">
            <a:solidFill>
              <a:srgbClr val="7FFF0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852928" y="1828800"/>
            <a:ext cx="1115568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7FFF00"/>
                </a:solidFill>
              </a:rPr>
              <a:t>🔌 Port :8080</a:t>
            </a:r>
            <a:endParaRPr lang="en-US" sz="7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7FFF00"/>
                </a:solidFill>
              </a:rPr>
              <a:t>unencrypted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2852928" y="3218688"/>
            <a:ext cx="1115568" cy="438912"/>
          </a:xfrm>
          <a:prstGeom prst="roundRect">
            <a:avLst>
              <a:gd name="adj" fmla="val 12500"/>
            </a:avLst>
          </a:prstGeom>
          <a:solidFill>
            <a:srgbClr val="062210"/>
          </a:solidFill>
          <a:ln w="15240">
            <a:solidFill>
              <a:srgbClr val="7FFF0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852928" y="3218688"/>
            <a:ext cx="1115568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7FFF00"/>
                </a:solidFill>
              </a:rPr>
              <a:t>🔌 Port :80</a:t>
            </a:r>
            <a:endParaRPr lang="en-US" sz="7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7FFF00"/>
                </a:solidFill>
              </a:rPr>
              <a:t>tcp · open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4151376" y="822960"/>
            <a:ext cx="1115568" cy="438912"/>
          </a:xfrm>
          <a:prstGeom prst="roundRect">
            <a:avLst>
              <a:gd name="adj" fmla="val 12500"/>
            </a:avLst>
          </a:prstGeom>
          <a:solidFill>
            <a:srgbClr val="062210"/>
          </a:solidFill>
          <a:ln w="15240">
            <a:solidFill>
              <a:srgbClr val="7FFF0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151376" y="822960"/>
            <a:ext cx="1115568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7FFF00"/>
                </a:solidFill>
              </a:rPr>
              <a:t>⚙️ Service</a:t>
            </a:r>
            <a:endParaRPr lang="en-US" sz="7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7FFF00"/>
                </a:solidFill>
              </a:rPr>
              <a:t>Nginx 1.18.0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4151376" y="1828800"/>
            <a:ext cx="1115568" cy="438912"/>
          </a:xfrm>
          <a:prstGeom prst="roundRect">
            <a:avLst>
              <a:gd name="adj" fmla="val 12500"/>
            </a:avLst>
          </a:prstGeom>
          <a:solidFill>
            <a:srgbClr val="062210"/>
          </a:solidFill>
          <a:ln w="15240">
            <a:solidFill>
              <a:srgbClr val="7FFF0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151376" y="1828800"/>
            <a:ext cx="1115568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7FFF00"/>
                </a:solidFill>
              </a:rPr>
              <a:t>⚙️ Service</a:t>
            </a:r>
            <a:endParaRPr lang="en-US" sz="7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7FFF00"/>
                </a:solidFill>
              </a:rPr>
              <a:t>HTTP unencrypted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4151376" y="1353312"/>
            <a:ext cx="1115568" cy="438912"/>
          </a:xfrm>
          <a:prstGeom prst="roundRect">
            <a:avLst>
              <a:gd name="adj" fmla="val 12500"/>
            </a:avLst>
          </a:prstGeom>
          <a:solidFill>
            <a:srgbClr val="062210"/>
          </a:solidFill>
          <a:ln w="15240">
            <a:solidFill>
              <a:srgbClr val="7FFF0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151376" y="1353312"/>
            <a:ext cx="1115568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7FFF00"/>
                </a:solidFill>
              </a:rPr>
              <a:t>⚙️ Service</a:t>
            </a:r>
            <a:endParaRPr lang="en-US" sz="7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7FFF00"/>
                </a:solidFill>
              </a:rPr>
              <a:t>OpenSSH 8.9p1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4151376" y="2542032"/>
            <a:ext cx="1115568" cy="438912"/>
          </a:xfrm>
          <a:prstGeom prst="roundRect">
            <a:avLst>
              <a:gd name="adj" fmla="val 12500"/>
            </a:avLst>
          </a:prstGeom>
          <a:solidFill>
            <a:srgbClr val="082018"/>
          </a:solidFill>
          <a:ln w="1524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3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151376" y="2542032"/>
            <a:ext cx="1115568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D4FF"/>
                </a:solidFill>
              </a:rPr>
              <a:t>📦 Technology</a:t>
            </a:r>
            <a:endParaRPr lang="en-US" sz="7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00D4FF"/>
                </a:solidFill>
              </a:rPr>
              <a:t>WordPress 5.9.3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4151376" y="3017520"/>
            <a:ext cx="1115568" cy="438912"/>
          </a:xfrm>
          <a:prstGeom prst="roundRect">
            <a:avLst>
              <a:gd name="adj" fmla="val 12500"/>
            </a:avLst>
          </a:prstGeom>
          <a:solidFill>
            <a:srgbClr val="082018"/>
          </a:solidFill>
          <a:ln w="1524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3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151376" y="3017520"/>
            <a:ext cx="1115568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D4FF"/>
                </a:solidFill>
              </a:rPr>
              <a:t>📦 Technology</a:t>
            </a:r>
            <a:endParaRPr lang="en-US" sz="7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00D4FF"/>
                </a:solidFill>
              </a:rPr>
              <a:t>WooCommerce 6.1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4151376" y="3493008"/>
            <a:ext cx="1115568" cy="438912"/>
          </a:xfrm>
          <a:prstGeom prst="roundRect">
            <a:avLst>
              <a:gd name="adj" fmla="val 12500"/>
            </a:avLst>
          </a:prstGeom>
          <a:solidFill>
            <a:srgbClr val="082018"/>
          </a:solidFill>
          <a:ln w="1524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3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151376" y="3493008"/>
            <a:ext cx="1115568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D4FF"/>
                </a:solidFill>
              </a:rPr>
              <a:t>📦 Technology</a:t>
            </a:r>
            <a:endParaRPr lang="en-US" sz="7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00D4FF"/>
                </a:solidFill>
              </a:rPr>
              <a:t>Django 4.1.2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5449824" y="822960"/>
            <a:ext cx="1115568" cy="438912"/>
          </a:xfrm>
          <a:prstGeom prst="roundRect">
            <a:avLst>
              <a:gd name="adj" fmla="val 12500"/>
            </a:avLst>
          </a:prstGeom>
          <a:solidFill>
            <a:srgbClr val="082018"/>
          </a:solidFill>
          <a:ln w="1524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3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449824" y="822960"/>
            <a:ext cx="1115568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D4FF"/>
                </a:solidFill>
              </a:rPr>
              <a:t>🔗 Endpoint</a:t>
            </a:r>
            <a:endParaRPr lang="en-US" sz="7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00D4FF"/>
                </a:solidFill>
              </a:rPr>
              <a:t>/wp-admin/login · HIGH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5449824" y="1353312"/>
            <a:ext cx="1115568" cy="438912"/>
          </a:xfrm>
          <a:prstGeom prst="roundRect">
            <a:avLst>
              <a:gd name="adj" fmla="val 12500"/>
            </a:avLst>
          </a:prstGeom>
          <a:solidFill>
            <a:srgbClr val="1A0404"/>
          </a:solidFill>
          <a:ln w="15240">
            <a:solidFill>
              <a:srgbClr val="FF5252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3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449824" y="1353312"/>
            <a:ext cx="1115568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5252"/>
                </a:solidFill>
              </a:rPr>
              <a:t>🔗 Endpoint</a:t>
            </a:r>
            <a:endParaRPr lang="en-US" sz="7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FF5252"/>
                </a:solidFill>
              </a:rPr>
              <a:t>/backup/db_export.sql ⚠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5449824" y="2542032"/>
            <a:ext cx="1115568" cy="438912"/>
          </a:xfrm>
          <a:prstGeom prst="roundRect">
            <a:avLst>
              <a:gd name="adj" fmla="val 12500"/>
            </a:avLst>
          </a:prstGeom>
          <a:solidFill>
            <a:srgbClr val="082018"/>
          </a:solidFill>
          <a:ln w="1524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3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5449824" y="2542032"/>
            <a:ext cx="1115568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D4FF"/>
                </a:solidFill>
              </a:rPr>
              <a:t>🔗 Endpoint</a:t>
            </a:r>
            <a:endParaRPr lang="en-US" sz="7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00D4FF"/>
                </a:solidFill>
              </a:rPr>
              <a:t>/api/v1/orders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5449824" y="3017520"/>
            <a:ext cx="1115568" cy="438912"/>
          </a:xfrm>
          <a:prstGeom prst="roundRect">
            <a:avLst>
              <a:gd name="adj" fmla="val 12500"/>
            </a:avLst>
          </a:prstGeom>
          <a:solidFill>
            <a:srgbClr val="082018"/>
          </a:solidFill>
          <a:ln w="1524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35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5449824" y="3017520"/>
            <a:ext cx="1115568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D4FF"/>
                </a:solidFill>
              </a:rPr>
              <a:t>🔗 Endpoint</a:t>
            </a:r>
            <a:endParaRPr lang="en-US" sz="7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00D4FF"/>
                </a:solidFill>
              </a:rPr>
              <a:t>/api/v1/internal/users!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5449824" y="3493008"/>
            <a:ext cx="1115568" cy="438912"/>
          </a:xfrm>
          <a:prstGeom prst="roundRect">
            <a:avLst>
              <a:gd name="adj" fmla="val 12500"/>
            </a:avLst>
          </a:prstGeom>
          <a:solidFill>
            <a:srgbClr val="082018"/>
          </a:solidFill>
          <a:ln w="1524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3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5449824" y="3493008"/>
            <a:ext cx="1115568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D4FF"/>
                </a:solidFill>
              </a:rPr>
              <a:t>⚙️ Parameter</a:t>
            </a:r>
            <a:endParaRPr lang="en-US" sz="7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00D4FF"/>
                </a:solidFill>
              </a:rPr>
              <a:t>user_id=? · injectable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6656832" y="822960"/>
            <a:ext cx="1115568" cy="438912"/>
          </a:xfrm>
          <a:prstGeom prst="roundRect">
            <a:avLst>
              <a:gd name="adj" fmla="val 12500"/>
            </a:avLst>
          </a:prstGeom>
          <a:solidFill>
            <a:srgbClr val="220606"/>
          </a:solidFill>
          <a:ln w="15240">
            <a:solidFill>
              <a:srgbClr val="FF5252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35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6656832" y="822960"/>
            <a:ext cx="1115568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5252"/>
                </a:solidFill>
              </a:rPr>
              <a:t>🚨 Vulnerability</a:t>
            </a:r>
            <a:endParaRPr lang="en-US" sz="7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FF5252"/>
                </a:solidFill>
              </a:rPr>
              <a:t>CVE-2022-21661 · CVSS 8.8</a:t>
            </a:r>
            <a:endParaRPr lang="en-US" sz="7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FF5252"/>
                </a:solidFill>
              </a:rPr>
              <a:t>PoC ✓ Metasploit ✓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6656832" y="2542032"/>
            <a:ext cx="1115568" cy="438912"/>
          </a:xfrm>
          <a:prstGeom prst="roundRect">
            <a:avLst>
              <a:gd name="adj" fmla="val 12500"/>
            </a:avLst>
          </a:prstGeom>
          <a:solidFill>
            <a:srgbClr val="220606"/>
          </a:solidFill>
          <a:ln w="15240">
            <a:solidFill>
              <a:srgbClr val="FF5252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35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6656832" y="2542032"/>
            <a:ext cx="1115568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5252"/>
                </a:solidFill>
              </a:rPr>
              <a:t>🚨 Vulnerability</a:t>
            </a:r>
            <a:endParaRPr lang="en-US" sz="7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FF5252"/>
                </a:solidFill>
              </a:rPr>
              <a:t>IDOR /api/v1/orders</a:t>
            </a:r>
            <a:endParaRPr lang="en-US" sz="7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FF5252"/>
                </a:solidFill>
              </a:rPr>
              <a:t>Severity: HIGH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6656832" y="1463040"/>
            <a:ext cx="1115568" cy="438912"/>
          </a:xfrm>
          <a:prstGeom prst="roundRect">
            <a:avLst>
              <a:gd name="adj" fmla="val 12500"/>
            </a:avLst>
          </a:prstGeom>
          <a:solidFill>
            <a:srgbClr val="220606"/>
          </a:solidFill>
          <a:ln w="15240">
            <a:solidFill>
              <a:srgbClr val="FF5252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35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6656832" y="1463040"/>
            <a:ext cx="1115568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5252"/>
                </a:solidFill>
              </a:rPr>
              <a:t>🚨 Vulnerability</a:t>
            </a:r>
            <a:endParaRPr lang="en-US" sz="7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FF5252"/>
                </a:solidFill>
              </a:rPr>
              <a:t>Exposed DB backup</a:t>
            </a:r>
            <a:endParaRPr lang="en-US" sz="7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FF5252"/>
                </a:solidFill>
              </a:rPr>
              <a:t>Severity: CRITICAL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7863840" y="822960"/>
            <a:ext cx="1115568" cy="438912"/>
          </a:xfrm>
          <a:prstGeom prst="roundRect">
            <a:avLst>
              <a:gd name="adj" fmla="val 12500"/>
            </a:avLst>
          </a:prstGeom>
          <a:solidFill>
            <a:srgbClr val="120820"/>
          </a:solidFill>
          <a:ln w="15240">
            <a:solidFill>
              <a:srgbClr val="9C27B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35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7863840" y="822960"/>
            <a:ext cx="1115568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E93D8"/>
                </a:solidFill>
              </a:rPr>
              <a:t>📎 Evidence</a:t>
            </a:r>
            <a:endParaRPr lang="en-US" sz="7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9C27B0"/>
                </a:solidFill>
              </a:rPr>
              <a:t>sqli-extraction.txt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7863840" y="1389888"/>
            <a:ext cx="1115568" cy="438912"/>
          </a:xfrm>
          <a:prstGeom prst="roundRect">
            <a:avLst>
              <a:gd name="adj" fmla="val 12500"/>
            </a:avLst>
          </a:prstGeom>
          <a:solidFill>
            <a:srgbClr val="120820"/>
          </a:solidFill>
          <a:ln w="15240">
            <a:solidFill>
              <a:srgbClr val="9C27B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35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7863840" y="1389888"/>
            <a:ext cx="1115568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E93D8"/>
                </a:solidFill>
              </a:rPr>
              <a:t>📎 Evidence</a:t>
            </a:r>
            <a:endParaRPr lang="en-US" sz="7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9C27B0"/>
                </a:solidFill>
              </a:rPr>
              <a:t>admin-panel.png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7863840" y="1956816"/>
            <a:ext cx="1115568" cy="438912"/>
          </a:xfrm>
          <a:prstGeom prst="roundRect">
            <a:avLst>
              <a:gd name="adj" fmla="val 12500"/>
            </a:avLst>
          </a:prstGeom>
          <a:solidFill>
            <a:srgbClr val="120820"/>
          </a:solidFill>
          <a:ln w="15240">
            <a:solidFill>
              <a:srgbClr val="9C27B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35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7863840" y="1956816"/>
            <a:ext cx="1115568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E93D8"/>
                </a:solidFill>
              </a:rPr>
              <a:t>📎 Evidence</a:t>
            </a:r>
            <a:endParaRPr lang="en-US" sz="7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9C27B0"/>
                </a:solidFill>
              </a:rPr>
              <a:t>webshell-rce.png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813816" y="1152144"/>
            <a:ext cx="1298448" cy="896112"/>
          </a:xfrm>
          <a:prstGeom prst="line">
            <a:avLst/>
          </a:prstGeom>
          <a:noFill/>
          <a:ln w="8890">
            <a:solidFill>
              <a:srgbClr val="3D6B3D"/>
            </a:solidFill>
            <a:prstDash val="solid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813816" y="2048256"/>
            <a:ext cx="1298448" cy="914"/>
          </a:xfrm>
          <a:prstGeom prst="line">
            <a:avLst/>
          </a:prstGeom>
          <a:noFill/>
          <a:ln w="8890">
            <a:solidFill>
              <a:srgbClr val="3D6B3D"/>
            </a:solidFill>
            <a:prstDash val="solid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813816" y="2048256"/>
            <a:ext cx="1298448" cy="1389888"/>
          </a:xfrm>
          <a:prstGeom prst="line">
            <a:avLst/>
          </a:prstGeom>
          <a:noFill/>
          <a:ln w="8890">
            <a:solidFill>
              <a:srgbClr val="3D6B3D"/>
            </a:solidFill>
            <a:prstDash val="solid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2112264" y="1042416"/>
            <a:ext cx="1298448" cy="109728"/>
          </a:xfrm>
          <a:prstGeom prst="line">
            <a:avLst/>
          </a:prstGeom>
          <a:noFill/>
          <a:ln w="8890">
            <a:solidFill>
              <a:srgbClr val="3D6B3D"/>
            </a:solidFill>
            <a:prstDash val="solid"/>
            <a:tailEnd type="triangle"/>
          </a:ln>
        </p:spPr>
      </p:sp>
      <p:sp>
        <p:nvSpPr>
          <p:cNvPr id="59" name="Shape 57"/>
          <p:cNvSpPr/>
          <p:nvPr/>
        </p:nvSpPr>
        <p:spPr>
          <a:xfrm>
            <a:off x="2112264" y="1152144"/>
            <a:ext cx="1298448" cy="420624"/>
          </a:xfrm>
          <a:prstGeom prst="line">
            <a:avLst/>
          </a:prstGeom>
          <a:noFill/>
          <a:ln w="8890">
            <a:solidFill>
              <a:srgbClr val="3D6B3D"/>
            </a:solidFill>
            <a:prstDash val="solid"/>
            <a:tailEnd type="triangle"/>
          </a:ln>
        </p:spPr>
      </p:sp>
      <p:sp>
        <p:nvSpPr>
          <p:cNvPr id="60" name="Shape 58"/>
          <p:cNvSpPr/>
          <p:nvPr/>
        </p:nvSpPr>
        <p:spPr>
          <a:xfrm>
            <a:off x="2112264" y="2048256"/>
            <a:ext cx="1298448" cy="914"/>
          </a:xfrm>
          <a:prstGeom prst="line">
            <a:avLst/>
          </a:prstGeom>
          <a:noFill/>
          <a:ln w="8890">
            <a:solidFill>
              <a:srgbClr val="3D6B3D"/>
            </a:solidFill>
            <a:prstDash val="solid"/>
            <a:tailEnd type="triangle"/>
          </a:ln>
        </p:spPr>
      </p:sp>
      <p:sp>
        <p:nvSpPr>
          <p:cNvPr id="61" name="Shape 59"/>
          <p:cNvSpPr/>
          <p:nvPr/>
        </p:nvSpPr>
        <p:spPr>
          <a:xfrm>
            <a:off x="2112264" y="3438144"/>
            <a:ext cx="1298448" cy="914"/>
          </a:xfrm>
          <a:prstGeom prst="line">
            <a:avLst/>
          </a:prstGeom>
          <a:noFill/>
          <a:ln w="8890">
            <a:solidFill>
              <a:srgbClr val="3D6B3D"/>
            </a:solidFill>
            <a:prstDash val="solid"/>
            <a:tailEnd type="triangle"/>
          </a:ln>
        </p:spPr>
      </p:sp>
      <p:sp>
        <p:nvSpPr>
          <p:cNvPr id="62" name="Shape 60"/>
          <p:cNvSpPr/>
          <p:nvPr/>
        </p:nvSpPr>
        <p:spPr>
          <a:xfrm>
            <a:off x="3410712" y="1042416"/>
            <a:ext cx="1298448" cy="914"/>
          </a:xfrm>
          <a:prstGeom prst="line">
            <a:avLst/>
          </a:prstGeom>
          <a:noFill/>
          <a:ln w="8890">
            <a:solidFill>
              <a:srgbClr val="3D6B3D"/>
            </a:solidFill>
            <a:prstDash val="solid"/>
            <a:tailEnd type="triangle"/>
          </a:ln>
        </p:spPr>
      </p:sp>
      <p:sp>
        <p:nvSpPr>
          <p:cNvPr id="63" name="Shape 61"/>
          <p:cNvSpPr/>
          <p:nvPr/>
        </p:nvSpPr>
        <p:spPr>
          <a:xfrm>
            <a:off x="3410712" y="1572768"/>
            <a:ext cx="1298448" cy="914"/>
          </a:xfrm>
          <a:prstGeom prst="line">
            <a:avLst/>
          </a:prstGeom>
          <a:noFill/>
          <a:ln w="8890">
            <a:solidFill>
              <a:srgbClr val="3D6B3D"/>
            </a:solidFill>
            <a:prstDash val="solid"/>
            <a:tailEnd type="triangle"/>
          </a:ln>
        </p:spPr>
      </p:sp>
      <p:sp>
        <p:nvSpPr>
          <p:cNvPr id="64" name="Shape 62"/>
          <p:cNvSpPr/>
          <p:nvPr/>
        </p:nvSpPr>
        <p:spPr>
          <a:xfrm>
            <a:off x="3410712" y="2048256"/>
            <a:ext cx="1298448" cy="914"/>
          </a:xfrm>
          <a:prstGeom prst="line">
            <a:avLst/>
          </a:prstGeom>
          <a:noFill/>
          <a:ln w="8890">
            <a:solidFill>
              <a:srgbClr val="3D6B3D"/>
            </a:solidFill>
            <a:prstDash val="solid"/>
            <a:tailEnd type="triangle"/>
          </a:ln>
        </p:spPr>
      </p:sp>
      <p:sp>
        <p:nvSpPr>
          <p:cNvPr id="65" name="Shape 63"/>
          <p:cNvSpPr/>
          <p:nvPr/>
        </p:nvSpPr>
        <p:spPr>
          <a:xfrm>
            <a:off x="2112264" y="1152144"/>
            <a:ext cx="2596896" cy="1609344"/>
          </a:xfrm>
          <a:prstGeom prst="line">
            <a:avLst/>
          </a:prstGeom>
          <a:noFill/>
          <a:ln w="8890">
            <a:solidFill>
              <a:srgbClr val="1A5C42"/>
            </a:solidFill>
            <a:prstDash val="solid"/>
            <a:tailEnd type="triangle"/>
          </a:ln>
        </p:spPr>
      </p:sp>
      <p:sp>
        <p:nvSpPr>
          <p:cNvPr id="66" name="Shape 64"/>
          <p:cNvSpPr/>
          <p:nvPr/>
        </p:nvSpPr>
        <p:spPr>
          <a:xfrm>
            <a:off x="2112264" y="1152144"/>
            <a:ext cx="2596896" cy="2084832"/>
          </a:xfrm>
          <a:prstGeom prst="line">
            <a:avLst/>
          </a:prstGeom>
          <a:noFill/>
          <a:ln w="8890">
            <a:solidFill>
              <a:srgbClr val="1A5C42"/>
            </a:solidFill>
            <a:prstDash val="solid"/>
            <a:tailEnd type="triangle"/>
          </a:ln>
        </p:spPr>
      </p:sp>
      <p:sp>
        <p:nvSpPr>
          <p:cNvPr id="67" name="Shape 65"/>
          <p:cNvSpPr/>
          <p:nvPr/>
        </p:nvSpPr>
        <p:spPr>
          <a:xfrm>
            <a:off x="2112264" y="3438144"/>
            <a:ext cx="2596896" cy="274320"/>
          </a:xfrm>
          <a:prstGeom prst="line">
            <a:avLst/>
          </a:prstGeom>
          <a:noFill/>
          <a:ln w="8890">
            <a:solidFill>
              <a:srgbClr val="1A5C42"/>
            </a:solidFill>
            <a:prstDash val="solid"/>
            <a:tailEnd type="triangle"/>
          </a:ln>
        </p:spPr>
      </p:sp>
      <p:sp>
        <p:nvSpPr>
          <p:cNvPr id="68" name="Shape 66"/>
          <p:cNvSpPr/>
          <p:nvPr/>
        </p:nvSpPr>
        <p:spPr>
          <a:xfrm>
            <a:off x="4709160" y="1042416"/>
            <a:ext cx="1298448" cy="914"/>
          </a:xfrm>
          <a:prstGeom prst="line">
            <a:avLst/>
          </a:prstGeom>
          <a:noFill/>
          <a:ln w="8890">
            <a:solidFill>
              <a:srgbClr val="145C5C"/>
            </a:solidFill>
            <a:prstDash val="solid"/>
            <a:tailEnd type="triangle"/>
          </a:ln>
        </p:spPr>
      </p:sp>
      <p:sp>
        <p:nvSpPr>
          <p:cNvPr id="69" name="Shape 67"/>
          <p:cNvSpPr/>
          <p:nvPr/>
        </p:nvSpPr>
        <p:spPr>
          <a:xfrm>
            <a:off x="4709160" y="1042416"/>
            <a:ext cx="1298448" cy="530352"/>
          </a:xfrm>
          <a:prstGeom prst="line">
            <a:avLst/>
          </a:prstGeom>
          <a:noFill/>
          <a:ln w="8890">
            <a:solidFill>
              <a:srgbClr val="5C1414"/>
            </a:solidFill>
            <a:prstDash val="solid"/>
            <a:tailEnd type="triangle"/>
          </a:ln>
        </p:spPr>
      </p:sp>
      <p:sp>
        <p:nvSpPr>
          <p:cNvPr id="70" name="Shape 68"/>
          <p:cNvSpPr/>
          <p:nvPr/>
        </p:nvSpPr>
        <p:spPr>
          <a:xfrm>
            <a:off x="2112264" y="2761488"/>
            <a:ext cx="3895344" cy="676656"/>
          </a:xfrm>
          <a:prstGeom prst="line">
            <a:avLst/>
          </a:prstGeom>
          <a:noFill/>
          <a:ln w="8890">
            <a:solidFill>
              <a:srgbClr val="145C5C"/>
            </a:solidFill>
            <a:prstDash val="solid"/>
            <a:tailEnd type="triangle"/>
          </a:ln>
        </p:spPr>
      </p:sp>
      <p:sp>
        <p:nvSpPr>
          <p:cNvPr id="71" name="Shape 69"/>
          <p:cNvSpPr/>
          <p:nvPr/>
        </p:nvSpPr>
        <p:spPr>
          <a:xfrm>
            <a:off x="2112264" y="3236976"/>
            <a:ext cx="3895344" cy="201168"/>
          </a:xfrm>
          <a:prstGeom prst="line">
            <a:avLst/>
          </a:prstGeom>
          <a:noFill/>
          <a:ln w="8890">
            <a:solidFill>
              <a:srgbClr val="145C5C"/>
            </a:solidFill>
            <a:prstDash val="solid"/>
            <a:tailEnd type="triangle"/>
          </a:ln>
        </p:spPr>
      </p:sp>
      <p:sp>
        <p:nvSpPr>
          <p:cNvPr id="72" name="Shape 70"/>
          <p:cNvSpPr/>
          <p:nvPr/>
        </p:nvSpPr>
        <p:spPr>
          <a:xfrm>
            <a:off x="6007608" y="2761488"/>
            <a:ext cx="914" cy="950976"/>
          </a:xfrm>
          <a:prstGeom prst="line">
            <a:avLst/>
          </a:prstGeom>
          <a:noFill/>
          <a:ln w="8890">
            <a:solidFill>
              <a:srgbClr val="145C5C"/>
            </a:solidFill>
            <a:prstDash val="solid"/>
            <a:tailEnd type="triangle"/>
          </a:ln>
        </p:spPr>
      </p:sp>
      <p:sp>
        <p:nvSpPr>
          <p:cNvPr id="73" name="Shape 71"/>
          <p:cNvSpPr/>
          <p:nvPr/>
        </p:nvSpPr>
        <p:spPr>
          <a:xfrm>
            <a:off x="4709160" y="1042416"/>
            <a:ext cx="2505456" cy="1719072"/>
          </a:xfrm>
          <a:prstGeom prst="line">
            <a:avLst/>
          </a:prstGeom>
          <a:noFill/>
          <a:ln w="8890">
            <a:solidFill>
              <a:srgbClr val="8B2020"/>
            </a:solidFill>
            <a:prstDash val="solid"/>
            <a:tailEnd type="triangle"/>
          </a:ln>
        </p:spPr>
      </p:sp>
      <p:sp>
        <p:nvSpPr>
          <p:cNvPr id="74" name="Shape 72"/>
          <p:cNvSpPr/>
          <p:nvPr/>
        </p:nvSpPr>
        <p:spPr>
          <a:xfrm>
            <a:off x="6007608" y="2761488"/>
            <a:ext cx="1207008" cy="950976"/>
          </a:xfrm>
          <a:prstGeom prst="line">
            <a:avLst/>
          </a:prstGeom>
          <a:noFill/>
          <a:ln w="8890">
            <a:solidFill>
              <a:srgbClr val="8B2020"/>
            </a:solidFill>
            <a:prstDash val="solid"/>
            <a:tailEnd type="triangle"/>
          </a:ln>
        </p:spPr>
      </p:sp>
      <p:sp>
        <p:nvSpPr>
          <p:cNvPr id="75" name="Shape 73"/>
          <p:cNvSpPr/>
          <p:nvPr/>
        </p:nvSpPr>
        <p:spPr>
          <a:xfrm>
            <a:off x="6007608" y="1572768"/>
            <a:ext cx="1207008" cy="109728"/>
          </a:xfrm>
          <a:prstGeom prst="line">
            <a:avLst/>
          </a:prstGeom>
          <a:noFill/>
          <a:ln w="8890">
            <a:solidFill>
              <a:srgbClr val="8B2020"/>
            </a:solidFill>
            <a:prstDash val="solid"/>
            <a:tailEnd type="triangle"/>
          </a:ln>
        </p:spPr>
      </p:sp>
      <p:sp>
        <p:nvSpPr>
          <p:cNvPr id="76" name="Shape 74"/>
          <p:cNvSpPr/>
          <p:nvPr/>
        </p:nvSpPr>
        <p:spPr>
          <a:xfrm>
            <a:off x="7214616" y="1042416"/>
            <a:ext cx="1207008" cy="914"/>
          </a:xfrm>
          <a:prstGeom prst="line">
            <a:avLst/>
          </a:prstGeom>
          <a:noFill/>
          <a:ln w="8890">
            <a:solidFill>
              <a:srgbClr val="6A2A8A"/>
            </a:solidFill>
            <a:prstDash val="solid"/>
            <a:tailEnd type="triangle"/>
          </a:ln>
        </p:spPr>
      </p:sp>
      <p:sp>
        <p:nvSpPr>
          <p:cNvPr id="77" name="Shape 75"/>
          <p:cNvSpPr/>
          <p:nvPr/>
        </p:nvSpPr>
        <p:spPr>
          <a:xfrm>
            <a:off x="7214616" y="1042416"/>
            <a:ext cx="1207008" cy="566928"/>
          </a:xfrm>
          <a:prstGeom prst="line">
            <a:avLst/>
          </a:prstGeom>
          <a:noFill/>
          <a:ln w="8890">
            <a:solidFill>
              <a:srgbClr val="6A2A8A"/>
            </a:solidFill>
            <a:prstDash val="solid"/>
            <a:tailEnd type="triangle"/>
          </a:ln>
        </p:spPr>
      </p:sp>
      <p:sp>
        <p:nvSpPr>
          <p:cNvPr id="78" name="Shape 76"/>
          <p:cNvSpPr/>
          <p:nvPr/>
        </p:nvSpPr>
        <p:spPr>
          <a:xfrm>
            <a:off x="7214616" y="1042416"/>
            <a:ext cx="1207008" cy="1133856"/>
          </a:xfrm>
          <a:prstGeom prst="line">
            <a:avLst/>
          </a:prstGeom>
          <a:noFill/>
          <a:ln w="8890">
            <a:solidFill>
              <a:srgbClr val="6A2A8A"/>
            </a:solidFill>
            <a:prstDash val="solid"/>
            <a:tailEnd type="triangle"/>
          </a:ln>
        </p:spPr>
      </p:sp>
      <p:sp>
        <p:nvSpPr>
          <p:cNvPr id="79" name="Text 77"/>
          <p:cNvSpPr/>
          <p:nvPr/>
        </p:nvSpPr>
        <p:spPr>
          <a:xfrm>
            <a:off x="960120" y="1956816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7FFF00"/>
                </a:solidFill>
              </a:rPr>
              <a:t>has_host</a:t>
            </a:r>
            <a:endParaRPr lang="en-US" sz="500" dirty="0"/>
          </a:p>
        </p:txBody>
      </p:sp>
      <p:sp>
        <p:nvSpPr>
          <p:cNvPr id="80" name="Text 78"/>
          <p:cNvSpPr/>
          <p:nvPr/>
        </p:nvSpPr>
        <p:spPr>
          <a:xfrm>
            <a:off x="2267712" y="1024128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7FFF00"/>
                </a:solidFill>
              </a:rPr>
              <a:t>has_port</a:t>
            </a:r>
            <a:endParaRPr lang="en-US" sz="500" dirty="0"/>
          </a:p>
        </p:txBody>
      </p:sp>
      <p:sp>
        <p:nvSpPr>
          <p:cNvPr id="81" name="Text 79"/>
          <p:cNvSpPr/>
          <p:nvPr/>
        </p:nvSpPr>
        <p:spPr>
          <a:xfrm>
            <a:off x="3566160" y="960120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7FFF00"/>
                </a:solidFill>
              </a:rPr>
              <a:t>runs</a:t>
            </a:r>
            <a:endParaRPr lang="en-US" sz="500" dirty="0"/>
          </a:p>
        </p:txBody>
      </p:sp>
      <p:sp>
        <p:nvSpPr>
          <p:cNvPr id="82" name="Text 80"/>
          <p:cNvSpPr/>
          <p:nvPr/>
        </p:nvSpPr>
        <p:spPr>
          <a:xfrm>
            <a:off x="3566160" y="2651760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00D4FF"/>
                </a:solidFill>
              </a:rPr>
              <a:t>uses</a:t>
            </a:r>
            <a:endParaRPr lang="en-US" sz="500" dirty="0"/>
          </a:p>
        </p:txBody>
      </p:sp>
      <p:sp>
        <p:nvSpPr>
          <p:cNvPr id="83" name="Text 81"/>
          <p:cNvSpPr/>
          <p:nvPr/>
        </p:nvSpPr>
        <p:spPr>
          <a:xfrm>
            <a:off x="4919472" y="960120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00D4FF"/>
                </a:solidFill>
              </a:rPr>
              <a:t>has_endpoint</a:t>
            </a:r>
            <a:endParaRPr lang="en-US" sz="500" dirty="0"/>
          </a:p>
        </p:txBody>
      </p:sp>
      <p:sp>
        <p:nvSpPr>
          <p:cNvPr id="84" name="Text 82"/>
          <p:cNvSpPr/>
          <p:nvPr/>
        </p:nvSpPr>
        <p:spPr>
          <a:xfrm>
            <a:off x="5303520" y="3621024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00D4FF"/>
                </a:solidFill>
              </a:rPr>
              <a:t>has_parameter</a:t>
            </a:r>
            <a:endParaRPr lang="en-US" sz="500" dirty="0"/>
          </a:p>
        </p:txBody>
      </p:sp>
      <p:sp>
        <p:nvSpPr>
          <p:cNvPr id="85" name="Text 83"/>
          <p:cNvSpPr/>
          <p:nvPr/>
        </p:nvSpPr>
        <p:spPr>
          <a:xfrm>
            <a:off x="6126480" y="1645920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5252"/>
                </a:solidFill>
              </a:rPr>
              <a:t>affected_by</a:t>
            </a:r>
            <a:endParaRPr lang="en-US" sz="500" dirty="0"/>
          </a:p>
        </p:txBody>
      </p:sp>
      <p:sp>
        <p:nvSpPr>
          <p:cNvPr id="86" name="Text 84"/>
          <p:cNvSpPr/>
          <p:nvPr/>
        </p:nvSpPr>
        <p:spPr>
          <a:xfrm>
            <a:off x="7333488" y="1170432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E93D8"/>
                </a:solidFill>
              </a:rPr>
              <a:t>validated_by</a:t>
            </a:r>
            <a:endParaRPr lang="en-US" sz="500" dirty="0"/>
          </a:p>
        </p:txBody>
      </p:sp>
      <p:sp>
        <p:nvSpPr>
          <p:cNvPr id="87" name="Shape 85"/>
          <p:cNvSpPr/>
          <p:nvPr/>
        </p:nvSpPr>
        <p:spPr>
          <a:xfrm>
            <a:off x="274320" y="4663440"/>
            <a:ext cx="118872" cy="118872"/>
          </a:xfrm>
          <a:prstGeom prst="rect">
            <a:avLst/>
          </a:prstGeom>
          <a:solidFill>
            <a:srgbClr val="7FFF00"/>
          </a:solidFill>
          <a:ln w="12700">
            <a:solidFill>
              <a:srgbClr val="7FFF0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29768" y="464515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CA3AF"/>
                </a:solidFill>
              </a:rPr>
              <a:t>🟢 Lime — Infrastructure (Domain · Host · Port · Service)</a:t>
            </a:r>
            <a:endParaRPr lang="en-US" sz="600" dirty="0"/>
          </a:p>
        </p:txBody>
      </p:sp>
      <p:sp>
        <p:nvSpPr>
          <p:cNvPr id="89" name="Shape 87"/>
          <p:cNvSpPr/>
          <p:nvPr/>
        </p:nvSpPr>
        <p:spPr>
          <a:xfrm>
            <a:off x="2450592" y="4663440"/>
            <a:ext cx="118872" cy="11887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2606040" y="464515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CA3AF"/>
                </a:solidFill>
              </a:rPr>
              <a:t>🔵 Cyan — Application (Technology · Endpoint · Parameter)</a:t>
            </a:r>
            <a:endParaRPr lang="en-US" sz="600" dirty="0"/>
          </a:p>
        </p:txBody>
      </p:sp>
      <p:sp>
        <p:nvSpPr>
          <p:cNvPr id="91" name="Shape 89"/>
          <p:cNvSpPr/>
          <p:nvPr/>
        </p:nvSpPr>
        <p:spPr>
          <a:xfrm>
            <a:off x="4626864" y="4663440"/>
            <a:ext cx="118872" cy="118872"/>
          </a:xfrm>
          <a:prstGeom prst="rect">
            <a:avLst/>
          </a:prstGeom>
          <a:solidFill>
            <a:srgbClr val="FF5252"/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4782312" y="464515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CA3AF"/>
                </a:solidFill>
              </a:rPr>
              <a:t>🔴 Red — Vulnerability</a:t>
            </a:r>
            <a:endParaRPr lang="en-US" sz="600" dirty="0"/>
          </a:p>
        </p:txBody>
      </p:sp>
      <p:sp>
        <p:nvSpPr>
          <p:cNvPr id="93" name="Shape 91"/>
          <p:cNvSpPr/>
          <p:nvPr/>
        </p:nvSpPr>
        <p:spPr>
          <a:xfrm>
            <a:off x="6803136" y="4663440"/>
            <a:ext cx="118872" cy="118872"/>
          </a:xfrm>
          <a:prstGeom prst="rect">
            <a:avLst/>
          </a:prstGeom>
          <a:solidFill>
            <a:srgbClr val="CE93D8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6958584" y="464515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CA3AF"/>
                </a:solidFill>
              </a:rPr>
              <a:t>🟣 Purple — Evidence</a:t>
            </a:r>
            <a:endParaRPr lang="en-US" sz="600" dirty="0"/>
          </a:p>
        </p:txBody>
      </p:sp>
      <p:sp>
        <p:nvSpPr>
          <p:cNvPr id="95" name="Text 93"/>
          <p:cNvSpPr/>
          <p:nvPr/>
        </p:nvSpPr>
        <p:spPr>
          <a:xfrm>
            <a:off x="274320" y="4873752"/>
            <a:ext cx="8595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i="1" dirty="0">
                <a:solidFill>
                  <a:srgbClr val="4B5563"/>
                </a:solidFill>
              </a:rPr>
              <a:t>The ASG contains only confirmed discovered facts. It never contains hypotheses.  |  Node types: 9  ·  Edge types: 8  ·  This mission: 111 total nodes</a:t>
            </a:r>
            <a:endParaRPr lang="en-US" sz="600" dirty="0"/>
          </a:p>
        </p:txBody>
      </p:sp>
      <p:sp>
        <p:nvSpPr>
          <p:cNvPr id="96" name="Text 94"/>
          <p:cNvSpPr/>
          <p:nvPr/>
        </p:nvSpPr>
        <p:spPr>
          <a:xfrm>
            <a:off x="8732520" y="4873752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74151"/>
                </a:solidFill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2026-06-27T15:40:11Z</dcterms:created>
  <dcterms:modified xsi:type="dcterms:W3CDTF">2026-06-27T15:40:11Z</dcterms:modified>
</cp:coreProperties>
</file>