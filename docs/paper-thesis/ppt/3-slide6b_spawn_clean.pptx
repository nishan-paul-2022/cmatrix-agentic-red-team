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notesMaster" Target="notesMasters/notesMaster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heme" Target="theme/theme1.xml"/>
  <Relationship Id="rId7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</a:rPr>
              <a:t>AGENT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Context-Isolated Agent Spawn Lifecycle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Every agent is born fresh · does exactly one job · dies clean · leaves only structured graph state behind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60E1C"/>
          </a:solidFill>
          <a:ln w="1016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2296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D1A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22960"/>
            <a:ext cx="82296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0D4FF"/>
                </a:solidFill>
              </a:rPr>
              <a:t>👑 Commander</a:t>
            </a:r>
            <a:endParaRPr lang="en-US" sz="580" dirty="0"/>
          </a:p>
        </p:txBody>
      </p:sp>
      <p:sp>
        <p:nvSpPr>
          <p:cNvPr id="8" name="Shape 6"/>
          <p:cNvSpPr/>
          <p:nvPr/>
        </p:nvSpPr>
        <p:spPr>
          <a:xfrm>
            <a:off x="822960" y="1115568"/>
            <a:ext cx="0" cy="3621024"/>
          </a:xfrm>
          <a:prstGeom prst="line">
            <a:avLst/>
          </a:prstGeom>
          <a:noFill/>
          <a:ln w="7620">
            <a:solidFill>
              <a:srgbClr val="1E2D4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572768" y="82296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D1A2E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72768" y="822960"/>
            <a:ext cx="82296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E93D8"/>
                </a:solidFill>
              </a:rPr>
              <a:t>🤖 Agent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1984248" y="1115568"/>
            <a:ext cx="0" cy="3621024"/>
          </a:xfrm>
          <a:prstGeom prst="line">
            <a:avLst/>
          </a:prstGeom>
          <a:noFill/>
          <a:ln w="7620">
            <a:solidFill>
              <a:srgbClr val="1E2D4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34056" y="82296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D1A2E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34056" y="822960"/>
            <a:ext cx="82296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C107"/>
                </a:solidFill>
              </a:rPr>
              <a:t>🚦 Risk Gate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3145536" y="1115568"/>
            <a:ext cx="0" cy="3621024"/>
          </a:xfrm>
          <a:prstGeom prst="line">
            <a:avLst/>
          </a:prstGeom>
          <a:noFill/>
          <a:ln w="7620">
            <a:solidFill>
              <a:srgbClr val="1E2D4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895344" y="82296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D1A2E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95344" y="822960"/>
            <a:ext cx="82296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888888"/>
                </a:solidFill>
              </a:rPr>
              <a:t>⚙️ Tool Adapter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4306824" y="1115568"/>
            <a:ext cx="0" cy="3621024"/>
          </a:xfrm>
          <a:prstGeom prst="line">
            <a:avLst/>
          </a:prstGeom>
          <a:noFill/>
          <a:ln w="7620">
            <a:solidFill>
              <a:srgbClr val="1E2D4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056632" y="82296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0D1A2E"/>
          </a:solidFill>
          <a:ln w="1270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56632" y="822960"/>
            <a:ext cx="822960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7FFF00"/>
                </a:solidFill>
              </a:rPr>
              <a:t>🟢 ASG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5468112" y="1115568"/>
            <a:ext cx="0" cy="3621024"/>
          </a:xfrm>
          <a:prstGeom prst="line">
            <a:avLst/>
          </a:prstGeom>
          <a:noFill/>
          <a:ln w="7620">
            <a:solidFill>
              <a:srgbClr val="1E2D4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22960" y="1316736"/>
            <a:ext cx="1161288" cy="0"/>
          </a:xfrm>
          <a:prstGeom prst="line">
            <a:avLst/>
          </a:prstGeom>
          <a:noFill/>
          <a:ln w="8890">
            <a:solidFill>
              <a:srgbClr val="00D4FF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00684" y="11887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00D4FF"/>
                </a:solidFill>
              </a:rPr>
              <a:t>spawn(ASG slice + task + toolset)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1984248" y="1572768"/>
            <a:ext cx="1161288" cy="0"/>
          </a:xfrm>
          <a:prstGeom prst="line">
            <a:avLst/>
          </a:prstGeom>
          <a:noFill/>
          <a:ln w="8890">
            <a:solidFill>
              <a:srgbClr val="CE93D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061972" y="144475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CE93D8"/>
                </a:solidFill>
              </a:rPr>
              <a:t>tool_call(WhatWeb) — LOW risk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1984248" y="1737360"/>
            <a:ext cx="1161288" cy="0"/>
          </a:xfrm>
          <a:prstGeom prst="line">
            <a:avLst/>
          </a:prstGeom>
          <a:noFill/>
          <a:ln w="8890">
            <a:solidFill>
              <a:srgbClr val="FFC107"/>
            </a:solidFill>
            <a:prstDash val="dash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2061972" y="160934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C107"/>
                </a:solidFill>
              </a:rPr>
              <a:t>→ execute immediately</a:t>
            </a:r>
            <a:endParaRPr lang="en-US" sz="460" dirty="0"/>
          </a:p>
        </p:txBody>
      </p:sp>
      <p:sp>
        <p:nvSpPr>
          <p:cNvPr id="27" name="Shape 25"/>
          <p:cNvSpPr/>
          <p:nvPr/>
        </p:nvSpPr>
        <p:spPr>
          <a:xfrm>
            <a:off x="3145536" y="1901952"/>
            <a:ext cx="1161288" cy="0"/>
          </a:xfrm>
          <a:prstGeom prst="line">
            <a:avLst/>
          </a:prstGeom>
          <a:noFill/>
          <a:ln w="8890">
            <a:solidFill>
              <a:srgbClr val="FFC107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223260" y="177393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C107"/>
                </a:solidFill>
              </a:rPr>
              <a:t>execute(WhatWeb)</a:t>
            </a:r>
            <a:endParaRPr lang="en-US" sz="460" dirty="0"/>
          </a:p>
        </p:txBody>
      </p:sp>
      <p:sp>
        <p:nvSpPr>
          <p:cNvPr id="29" name="Shape 27"/>
          <p:cNvSpPr/>
          <p:nvPr/>
        </p:nvSpPr>
        <p:spPr>
          <a:xfrm>
            <a:off x="1984248" y="2084832"/>
            <a:ext cx="2322576" cy="0"/>
          </a:xfrm>
          <a:prstGeom prst="line">
            <a:avLst/>
          </a:prstGeom>
          <a:noFill/>
          <a:ln w="8890">
            <a:solidFill>
              <a:srgbClr val="888888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2642616" y="195681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888888"/>
                </a:solidFill>
              </a:rPr>
              <a:t>structured findings {tech: WP 5.9.3}</a:t>
            </a:r>
            <a:endParaRPr lang="en-US" sz="460" dirty="0"/>
          </a:p>
        </p:txBody>
      </p:sp>
      <p:sp>
        <p:nvSpPr>
          <p:cNvPr id="31" name="Shape 29"/>
          <p:cNvSpPr/>
          <p:nvPr/>
        </p:nvSpPr>
        <p:spPr>
          <a:xfrm>
            <a:off x="1984248" y="2377440"/>
            <a:ext cx="1161288" cy="0"/>
          </a:xfrm>
          <a:prstGeom prst="line">
            <a:avLst/>
          </a:prstGeom>
          <a:noFill/>
          <a:ln w="8890">
            <a:solidFill>
              <a:srgbClr val="CE93D8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061972" y="224942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CE93D8"/>
                </a:solidFill>
              </a:rPr>
              <a:t>tool_call(Gobuster) — MED risk</a:t>
            </a:r>
            <a:endParaRPr lang="en-US" sz="460" dirty="0"/>
          </a:p>
        </p:txBody>
      </p:sp>
      <p:sp>
        <p:nvSpPr>
          <p:cNvPr id="33" name="Shape 31"/>
          <p:cNvSpPr/>
          <p:nvPr/>
        </p:nvSpPr>
        <p:spPr>
          <a:xfrm>
            <a:off x="822960" y="2542032"/>
            <a:ext cx="2322576" cy="0"/>
          </a:xfrm>
          <a:prstGeom prst="line">
            <a:avLst/>
          </a:prstGeom>
          <a:noFill/>
          <a:ln w="8890">
            <a:solidFill>
              <a:srgbClr val="FFC107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481328" y="241401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C107"/>
                </a:solidFill>
              </a:rPr>
              <a:t>LLM Classifier → EXECUTE</a:t>
            </a:r>
            <a:endParaRPr lang="en-US" sz="460" dirty="0"/>
          </a:p>
        </p:txBody>
      </p:sp>
      <p:sp>
        <p:nvSpPr>
          <p:cNvPr id="35" name="Shape 33"/>
          <p:cNvSpPr/>
          <p:nvPr/>
        </p:nvSpPr>
        <p:spPr>
          <a:xfrm>
            <a:off x="3145536" y="2706624"/>
            <a:ext cx="1161288" cy="0"/>
          </a:xfrm>
          <a:prstGeom prst="line">
            <a:avLst/>
          </a:prstGeom>
          <a:noFill/>
          <a:ln w="8890">
            <a:solidFill>
              <a:srgbClr val="FFC107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223260" y="257860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C107"/>
                </a:solidFill>
              </a:rPr>
              <a:t>execute(Gobuster)</a:t>
            </a:r>
            <a:endParaRPr lang="en-US" sz="460" dirty="0"/>
          </a:p>
        </p:txBody>
      </p:sp>
      <p:sp>
        <p:nvSpPr>
          <p:cNvPr id="37" name="Shape 35"/>
          <p:cNvSpPr/>
          <p:nvPr/>
        </p:nvSpPr>
        <p:spPr>
          <a:xfrm>
            <a:off x="1984248" y="2889504"/>
            <a:ext cx="2322576" cy="0"/>
          </a:xfrm>
          <a:prstGeom prst="line">
            <a:avLst/>
          </a:prstGeom>
          <a:noFill/>
          <a:ln w="8890">
            <a:solidFill>
              <a:srgbClr val="888888"/>
            </a:solidFill>
            <a:prstDash val="dash"/>
            <a:headEnd type="triangl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2642616" y="276148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888888"/>
                </a:solidFill>
              </a:rPr>
              <a:t>structured findings {endpoint: /backup/...}</a:t>
            </a:r>
            <a:endParaRPr lang="en-US" sz="460" dirty="0"/>
          </a:p>
        </p:txBody>
      </p:sp>
      <p:sp>
        <p:nvSpPr>
          <p:cNvPr id="39" name="Shape 37"/>
          <p:cNvSpPr/>
          <p:nvPr/>
        </p:nvSpPr>
        <p:spPr>
          <a:xfrm>
            <a:off x="1984248" y="3182112"/>
            <a:ext cx="1161288" cy="0"/>
          </a:xfrm>
          <a:prstGeom prst="line">
            <a:avLst/>
          </a:prstGeom>
          <a:noFill/>
          <a:ln w="8890">
            <a:solidFill>
              <a:srgbClr val="FF5252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061972" y="305409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5252"/>
                </a:solidFill>
              </a:rPr>
              <a:t>tool_call(SQLMap) — HIGH risk</a:t>
            </a:r>
            <a:endParaRPr lang="en-US" sz="460" dirty="0"/>
          </a:p>
        </p:txBody>
      </p:sp>
      <p:sp>
        <p:nvSpPr>
          <p:cNvPr id="41" name="Shape 39"/>
          <p:cNvSpPr/>
          <p:nvPr/>
        </p:nvSpPr>
        <p:spPr>
          <a:xfrm>
            <a:off x="822960" y="3346704"/>
            <a:ext cx="2322576" cy="0"/>
          </a:xfrm>
          <a:prstGeom prst="line">
            <a:avLst/>
          </a:prstGeom>
          <a:noFill/>
          <a:ln w="8890">
            <a:solidFill>
              <a:srgbClr val="FF5252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481328" y="321868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5252"/>
                </a:solidFill>
              </a:rPr>
              <a:t>Commander Mailbox — approval request</a:t>
            </a:r>
            <a:endParaRPr lang="en-US" sz="460" dirty="0"/>
          </a:p>
        </p:txBody>
      </p:sp>
      <p:sp>
        <p:nvSpPr>
          <p:cNvPr id="43" name="Shape 41"/>
          <p:cNvSpPr/>
          <p:nvPr/>
        </p:nvSpPr>
        <p:spPr>
          <a:xfrm>
            <a:off x="822960" y="3511296"/>
            <a:ext cx="2322576" cy="0"/>
          </a:xfrm>
          <a:prstGeom prst="line">
            <a:avLst/>
          </a:prstGeom>
          <a:noFill/>
          <a:ln w="8890">
            <a:solidFill>
              <a:srgbClr val="00D4FF"/>
            </a:solidFill>
            <a:prstDash val="dash"/>
            <a:headEnd type="triangl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1481328" y="338328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00D4FF"/>
                </a:solidFill>
              </a:rPr>
              <a:t>APPROVED (scope valid, chain intent ok)</a:t>
            </a:r>
            <a:endParaRPr lang="en-US" sz="460" dirty="0"/>
          </a:p>
        </p:txBody>
      </p:sp>
      <p:sp>
        <p:nvSpPr>
          <p:cNvPr id="45" name="Shape 43"/>
          <p:cNvSpPr/>
          <p:nvPr/>
        </p:nvSpPr>
        <p:spPr>
          <a:xfrm>
            <a:off x="1984248" y="3803904"/>
            <a:ext cx="3483864" cy="0"/>
          </a:xfrm>
          <a:prstGeom prst="line">
            <a:avLst/>
          </a:prstGeom>
          <a:noFill/>
          <a:ln w="8890">
            <a:solidFill>
              <a:srgbClr val="7FFF00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223260" y="367588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7FFF00"/>
                </a:solidFill>
              </a:rPr>
              <a:t>write delta [Tech node][Endpoint node][Vuln node]</a:t>
            </a:r>
            <a:endParaRPr lang="en-US" sz="460" dirty="0"/>
          </a:p>
        </p:txBody>
      </p:sp>
      <p:sp>
        <p:nvSpPr>
          <p:cNvPr id="47" name="Shape 45"/>
          <p:cNvSpPr/>
          <p:nvPr/>
        </p:nvSpPr>
        <p:spPr>
          <a:xfrm>
            <a:off x="822960" y="4059936"/>
            <a:ext cx="1161288" cy="0"/>
          </a:xfrm>
          <a:prstGeom prst="line">
            <a:avLst/>
          </a:prstGeom>
          <a:noFill/>
          <a:ln w="8890">
            <a:solidFill>
              <a:srgbClr val="CE93D8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900684" y="39319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CE93D8"/>
                </a:solidFill>
              </a:rPr>
              <a:t>return structured ASG delta</a:t>
            </a:r>
            <a:endParaRPr lang="en-US" sz="460" dirty="0"/>
          </a:p>
        </p:txBody>
      </p:sp>
      <p:sp>
        <p:nvSpPr>
          <p:cNvPr id="49" name="Shape 47"/>
          <p:cNvSpPr/>
          <p:nvPr/>
        </p:nvSpPr>
        <p:spPr>
          <a:xfrm>
            <a:off x="1943100" y="1316736"/>
            <a:ext cx="82296" cy="2743200"/>
          </a:xfrm>
          <a:prstGeom prst="rect">
            <a:avLst/>
          </a:prstGeom>
          <a:solidFill>
            <a:srgbClr val="0D1A2E"/>
          </a:solidFill>
          <a:ln w="8890">
            <a:solidFill>
              <a:srgbClr val="CE93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" y="3346704"/>
            <a:ext cx="82296" cy="256032"/>
          </a:xfrm>
          <a:prstGeom prst="rect">
            <a:avLst/>
          </a:prstGeom>
          <a:solidFill>
            <a:srgbClr val="0D1A2E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72768" y="41605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A1A08"/>
          </a:solidFill>
          <a:ln w="10160">
            <a:solidFill>
              <a:srgbClr val="7FFF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72768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7FFF00"/>
                </a:solidFill>
              </a:rPr>
              <a:t>🗑️ Working context DISCARDED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7FFF00"/>
                </a:solidFill>
              </a:rPr>
              <a:t>Raw tool output · history · reasoning → gone</a:t>
            </a:r>
            <a:endParaRPr lang="en-US" sz="480" dirty="0"/>
          </a:p>
        </p:txBody>
      </p:sp>
      <p:sp>
        <p:nvSpPr>
          <p:cNvPr id="53" name="Shape 51"/>
          <p:cNvSpPr/>
          <p:nvPr/>
        </p:nvSpPr>
        <p:spPr>
          <a:xfrm>
            <a:off x="411480" y="416052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E1004"/>
          </a:solidFill>
          <a:ln w="10160">
            <a:solidFill>
              <a:srgbClr val="FFC10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460" dirty="0">
                <a:solidFill>
                  <a:srgbClr val="FFC107"/>
                </a:solidFill>
              </a:rPr>
              <a:t>Commander reads new Vuln nodes → seeds APG Chain-01</a:t>
            </a:r>
            <a:endParaRPr lang="en-US" sz="460" dirty="0"/>
          </a:p>
        </p:txBody>
      </p:sp>
      <p:sp>
        <p:nvSpPr>
          <p:cNvPr id="55" name="Shape 53"/>
          <p:cNvSpPr/>
          <p:nvPr/>
        </p:nvSpPr>
        <p:spPr>
          <a:xfrm>
            <a:off x="5888736" y="786384"/>
            <a:ext cx="2962656" cy="1874520"/>
          </a:xfrm>
          <a:prstGeom prst="roundRect">
            <a:avLst>
              <a:gd name="adj" fmla="val 3902"/>
            </a:avLst>
          </a:prstGeom>
          <a:solidFill>
            <a:srgbClr val="0A0C1E"/>
          </a:solidFill>
          <a:ln w="11430">
            <a:solidFill>
              <a:srgbClr val="CE93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98464" y="804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E93D8"/>
                </a:solidFill>
              </a:rPr>
              <a:t>Agent Spawn Package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98464" y="106070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060816"/>
          </a:solidFill>
          <a:ln w="8890">
            <a:solidFill>
              <a:srgbClr val="7FF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0" y="1060704"/>
            <a:ext cx="2688336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FFF00"/>
                </a:solidFill>
              </a:rPr>
              <a:t>🟢 ASG SLICE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Only nodes relevant to this task — not the full graph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5998464" y="133502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060816"/>
          </a:solidFill>
          <a:ln w="8890">
            <a:solidFill>
              <a:srgbClr val="FFC10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5040" y="1335024"/>
            <a:ext cx="2688336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C107"/>
                </a:solidFill>
              </a:rPr>
              <a:t>🟡 APG SLICE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Relevant AttackChains only (Validation tasks)</a:t>
            </a:r>
            <a:endParaRPr lang="en-US" sz="620" dirty="0"/>
          </a:p>
        </p:txBody>
      </p:sp>
      <p:sp>
        <p:nvSpPr>
          <p:cNvPr id="61" name="Shape 59"/>
          <p:cNvSpPr/>
          <p:nvPr/>
        </p:nvSpPr>
        <p:spPr>
          <a:xfrm>
            <a:off x="5998464" y="160934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060816"/>
          </a:solidFill>
          <a:ln w="8890">
            <a:solidFill>
              <a:srgbClr val="FF52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1609344"/>
            <a:ext cx="2688336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F5252"/>
                </a:solidFill>
              </a:rPr>
              <a:t>🔴 TOOL SET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Authorized tools only — no others available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5998464" y="188366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060816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35040" y="1883664"/>
            <a:ext cx="2688336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00D4FF"/>
                </a:solidFill>
              </a:rPr>
              <a:t>🔵 TASK SPEC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Commander's current plan item — exact objective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5998464" y="215798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060816"/>
          </a:solidFill>
          <a:ln w="8890">
            <a:solidFill>
              <a:srgbClr val="CE93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35040" y="2157984"/>
            <a:ext cx="2688336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E93D8"/>
                </a:solidFill>
              </a:rPr>
              <a:t>🟣 KNOWLEDGE DOCS  </a:t>
            </a:r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Vuln-class expert docs (Analysis + Validation)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6345936" y="2688336"/>
            <a:ext cx="2048256" cy="0"/>
          </a:xfrm>
          <a:prstGeom prst="line">
            <a:avLst/>
          </a:prstGeom>
          <a:noFill/>
          <a:ln w="12700">
            <a:solidFill>
              <a:srgbClr val="7FFF00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5998464" y="254203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FFF00"/>
                </a:solidFill>
              </a:rPr>
              <a:t>Returns: Structured ASG Delta (new nodes + edges only)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998464" y="270662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4B5563"/>
                </a:solidFill>
              </a:rPr>
              <a:t>Raw tool output · conversation history · intermediate reasoning → DISCARDED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5888736" y="2889504"/>
            <a:ext cx="2962656" cy="475488"/>
          </a:xfrm>
          <a:prstGeom prst="roundRect">
            <a:avLst>
              <a:gd name="adj" fmla="val 11538"/>
            </a:avLst>
          </a:prstGeom>
          <a:solidFill>
            <a:srgbClr val="041A08"/>
          </a:solidFill>
          <a:ln w="11430">
            <a:solidFill>
              <a:srgbClr val="7FFF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998464" y="2916936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FF00"/>
                </a:solidFill>
              </a:rPr>
              <a:t>✅ Commander Stays Clean
</a:t>
            </a:r>
            <a:endParaRPr lang="en-US" sz="700" dirty="0"/>
          </a:p>
          <a:p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Commander only ever sees ASG/APG state — never thousands of lines of raw tool output. Reasoning context stays surgically focused.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888736" y="3419856"/>
            <a:ext cx="2962656" cy="475488"/>
          </a:xfrm>
          <a:prstGeom prst="roundRect">
            <a:avLst>
              <a:gd name="adj" fmla="val 11538"/>
            </a:avLst>
          </a:prstGeom>
          <a:solidFill>
            <a:srgbClr val="10081E"/>
          </a:solidFill>
          <a:ln w="1143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998464" y="3447288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E93D8"/>
                </a:solidFill>
              </a:rPr>
              <a:t>✅ Agents Can't Contaminate
</a:t>
            </a:r>
            <a:endParaRPr lang="en-US" sz="700" dirty="0"/>
          </a:p>
          <a:p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Agent A's verbose history never appears in Agent B's context. Knowledge passes only through the ASG. No shared memory. No cross-pollution.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888736" y="3950208"/>
            <a:ext cx="2962656" cy="475488"/>
          </a:xfrm>
          <a:prstGeom prst="roundRect">
            <a:avLst>
              <a:gd name="adj" fmla="val 11538"/>
            </a:avLst>
          </a:prstGeom>
          <a:solidFill>
            <a:srgbClr val="1A0606"/>
          </a:solidFill>
          <a:ln w="1143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998464" y="3977640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5252"/>
                </a:solidFill>
              </a:rPr>
              <a:t>✅ Rejections Don't Bias Planning
</a:t>
            </a:r>
            <a:endParaRPr lang="en-US" sz="700" dirty="0"/>
          </a:p>
          <a:p>
            <a:pPr indent="0" marL="0">
              <a:buNone/>
            </a:pPr>
            <a:r>
              <a:rPr lang="en-US" sz="580" dirty="0">
                <a:solidFill>
                  <a:srgbClr val="9CA3AF"/>
                </a:solidFill>
              </a:rPr>
              <a:t>When Commander rejects a High-risk tool call, that rejection never appears in the Commander's own context. Refusals don't accumulate and skew future decisions.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888736" y="4636008"/>
            <a:ext cx="2962656" cy="256032"/>
          </a:xfrm>
          <a:prstGeom prst="roundRect">
            <a:avLst>
              <a:gd name="adj" fmla="val 17857"/>
            </a:avLst>
          </a:prstGeom>
          <a:solidFill>
            <a:srgbClr val="1A1002"/>
          </a:solidFill>
          <a:ln w="11430">
            <a:solidFill>
              <a:srgbClr val="FFC10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98464" y="4636008"/>
            <a:ext cx="2743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C107"/>
                </a:solidFill>
              </a:rPr>
              <a:t>🎯 Result: Long missions with many agents produce the same reasoning quality as single-agent tasks — context quality does not degrade with mission complexity.</a:t>
            </a:r>
            <a:endParaRPr lang="en-US" sz="580" dirty="0"/>
          </a:p>
        </p:txBody>
      </p:sp>
      <p:sp>
        <p:nvSpPr>
          <p:cNvPr id="78" name="Text 76"/>
          <p:cNvSpPr/>
          <p:nvPr/>
        </p:nvSpPr>
        <p:spPr>
          <a:xfrm>
            <a:off x="8732520" y="49560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4151"/>
                </a:solidFill>
              </a:rPr>
              <a:t>06b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2026-06-27T15:44:31Z</dcterms:created>
  <dcterms:modified xsi:type="dcterms:W3CDTF">2026-06-27T15:44:31Z</dcterms:modified>
</cp:coreProperties>
</file>