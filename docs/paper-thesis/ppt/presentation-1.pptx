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 name="Google Shape;44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9" name="Google Shape;53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f29c58e3b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5" name="Google Shape;625;g3f29c58e3b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f29c58e3b1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5" name="Google Shape;735;g3f29c58e3b1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2" name="Google Shape;82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29c58e3b1_0_3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0" name="Google Shape;880;g3f29c58e3b1_0_3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83" name="Shape 83"/>
        <p:cNvGrpSpPr/>
        <p:nvPr/>
      </p:nvGrpSpPr>
      <p:grpSpPr>
        <a:xfrm>
          <a:off x="0" y="0"/>
          <a:ext cx="0" cy="0"/>
          <a:chOff x="0" y="0"/>
          <a:chExt cx="0" cy="0"/>
        </a:xfrm>
      </p:grpSpPr>
      <p:sp>
        <p:nvSpPr>
          <p:cNvPr id="84" name="Google Shape;84;p13"/>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 name="Google Shape;85;p13"/>
          <p:cNvSpPr/>
          <p:nvPr/>
        </p:nvSpPr>
        <p:spPr>
          <a:xfrm>
            <a:off x="54864" y="0"/>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 name="Google Shape;86;p13"/>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p13"/>
          <p:cNvSpPr txBox="1"/>
          <p:nvPr/>
        </p:nvSpPr>
        <p:spPr>
          <a:xfrm>
            <a:off x="457200" y="777240"/>
            <a:ext cx="73152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E5FF"/>
                </a:solidFill>
                <a:latin typeface="Calibri"/>
                <a:ea typeface="Calibri"/>
                <a:cs typeface="Calibri"/>
                <a:sym typeface="Calibri"/>
              </a:rPr>
              <a:t>RESEARCH PRESENTATION</a:t>
            </a:r>
            <a:endParaRPr b="0" i="0" sz="1400" u="none" cap="none" strike="noStrike">
              <a:solidFill>
                <a:srgbClr val="000000"/>
              </a:solidFill>
              <a:latin typeface="Arial"/>
              <a:ea typeface="Arial"/>
              <a:cs typeface="Arial"/>
              <a:sym typeface="Arial"/>
            </a:endParaRPr>
          </a:p>
        </p:txBody>
      </p:sp>
      <p:sp>
        <p:nvSpPr>
          <p:cNvPr id="88" name="Google Shape;88;p13"/>
          <p:cNvSpPr txBox="1"/>
          <p:nvPr/>
        </p:nvSpPr>
        <p:spPr>
          <a:xfrm>
            <a:off x="457200" y="1234440"/>
            <a:ext cx="8046720" cy="1737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rgbClr val="FFFFFF"/>
                </a:solidFill>
                <a:latin typeface="Calibri"/>
                <a:ea typeface="Calibri"/>
                <a:cs typeface="Calibri"/>
                <a:sym typeface="Calibri"/>
              </a:rPr>
              <a:t>CMatrix</a:t>
            </a:r>
            <a:endParaRPr b="0" i="0" sz="1400" u="none" cap="none" strike="noStrike">
              <a:solidFill>
                <a:srgbClr val="000000"/>
              </a:solidFill>
              <a:latin typeface="Arial"/>
              <a:ea typeface="Arial"/>
              <a:cs typeface="Arial"/>
              <a:sym typeface="Arial"/>
            </a:endParaRPr>
          </a:p>
        </p:txBody>
      </p:sp>
      <p:sp>
        <p:nvSpPr>
          <p:cNvPr id="89" name="Google Shape;89;p13"/>
          <p:cNvSpPr txBox="1"/>
          <p:nvPr/>
        </p:nvSpPr>
        <p:spPr>
          <a:xfrm>
            <a:off x="457200" y="2788920"/>
            <a:ext cx="868680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E5FF"/>
                </a:solidFill>
                <a:latin typeface="Calibri"/>
                <a:ea typeface="Calibri"/>
                <a:cs typeface="Calibri"/>
                <a:sym typeface="Calibri"/>
              </a:rPr>
              <a:t>Dual-Graph-Guided LLM-Orchestrated</a:t>
            </a:r>
            <a:br>
              <a:rPr b="0" i="1" lang="en-US" sz="2200" u="none" cap="none" strike="noStrike">
                <a:solidFill>
                  <a:srgbClr val="00E5FF"/>
                </a:solidFill>
                <a:latin typeface="Calibri"/>
                <a:ea typeface="Calibri"/>
                <a:cs typeface="Calibri"/>
                <a:sym typeface="Calibri"/>
              </a:rPr>
            </a:br>
            <a:r>
              <a:rPr b="0" i="1" lang="en-US" sz="2200" u="none" cap="none" strike="noStrike">
                <a:solidFill>
                  <a:srgbClr val="00E5FF"/>
                </a:solidFill>
                <a:latin typeface="Calibri"/>
                <a:ea typeface="Calibri"/>
                <a:cs typeface="Calibri"/>
                <a:sym typeface="Calibri"/>
              </a:rPr>
              <a:t>Multi-Agent Framework for Autonomous VAPT</a:t>
            </a:r>
            <a:endParaRPr b="0" i="0" sz="1400" u="none" cap="none" strike="noStrike">
              <a:solidFill>
                <a:srgbClr val="000000"/>
              </a:solidFill>
              <a:latin typeface="Arial"/>
              <a:ea typeface="Arial"/>
              <a:cs typeface="Arial"/>
              <a:sym typeface="Arial"/>
            </a:endParaRPr>
          </a:p>
        </p:txBody>
      </p:sp>
      <p:sp>
        <p:nvSpPr>
          <p:cNvPr id="90" name="Google Shape;90;p13"/>
          <p:cNvSpPr/>
          <p:nvPr/>
        </p:nvSpPr>
        <p:spPr>
          <a:xfrm>
            <a:off x="457200" y="3913632"/>
            <a:ext cx="5943600" cy="27432"/>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 name="Google Shape;91;p13"/>
          <p:cNvSpPr/>
          <p:nvPr/>
        </p:nvSpPr>
        <p:spPr>
          <a:xfrm>
            <a:off x="45720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 name="Google Shape;92;p13"/>
          <p:cNvSpPr txBox="1"/>
          <p:nvPr/>
        </p:nvSpPr>
        <p:spPr>
          <a:xfrm>
            <a:off x="54864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Autonomous Pentesting</a:t>
            </a:r>
            <a:endParaRPr b="0" i="0" sz="1400" u="none" cap="none" strike="noStrike">
              <a:solidFill>
                <a:srgbClr val="000000"/>
              </a:solidFill>
              <a:latin typeface="Arial"/>
              <a:ea typeface="Arial"/>
              <a:cs typeface="Arial"/>
              <a:sym typeface="Arial"/>
            </a:endParaRPr>
          </a:p>
        </p:txBody>
      </p:sp>
      <p:sp>
        <p:nvSpPr>
          <p:cNvPr id="93" name="Google Shape;93;p13"/>
          <p:cNvSpPr/>
          <p:nvPr/>
        </p:nvSpPr>
        <p:spPr>
          <a:xfrm>
            <a:off x="324612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 name="Google Shape;94;p13"/>
          <p:cNvSpPr txBox="1"/>
          <p:nvPr/>
        </p:nvSpPr>
        <p:spPr>
          <a:xfrm>
            <a:off x="333756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AI Agent Orchestration</a:t>
            </a:r>
            <a:endParaRPr b="0" i="0" sz="1400" u="none" cap="none" strike="noStrike">
              <a:solidFill>
                <a:srgbClr val="000000"/>
              </a:solidFill>
              <a:latin typeface="Arial"/>
              <a:ea typeface="Arial"/>
              <a:cs typeface="Arial"/>
              <a:sym typeface="Arial"/>
            </a:endParaRPr>
          </a:p>
        </p:txBody>
      </p:sp>
      <p:sp>
        <p:nvSpPr>
          <p:cNvPr id="95" name="Google Shape;95;p13"/>
          <p:cNvSpPr/>
          <p:nvPr/>
        </p:nvSpPr>
        <p:spPr>
          <a:xfrm>
            <a:off x="603504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13"/>
          <p:cNvSpPr txBox="1"/>
          <p:nvPr/>
        </p:nvSpPr>
        <p:spPr>
          <a:xfrm>
            <a:off x="612648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Attack Graph Reasoning</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457200" y="4754880"/>
            <a:ext cx="73152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0AAB8"/>
                </a:solidFill>
                <a:latin typeface="Calibri"/>
                <a:ea typeface="Calibri"/>
                <a:cs typeface="Calibri"/>
                <a:sym typeface="Calibri"/>
              </a:rPr>
              <a:t>Supervisor Meeting  ·  June 2026</a:t>
            </a:r>
            <a:endParaRPr b="0" i="0" sz="1400" u="none" cap="none" strike="noStrike">
              <a:solidFill>
                <a:srgbClr val="000000"/>
              </a:solidFill>
              <a:latin typeface="Arial"/>
              <a:ea typeface="Arial"/>
              <a:cs typeface="Arial"/>
              <a:sym typeface="Arial"/>
            </a:endParaRPr>
          </a:p>
        </p:txBody>
      </p:sp>
      <p:sp>
        <p:nvSpPr>
          <p:cNvPr id="98" name="Google Shape;98;p13"/>
          <p:cNvSpPr txBox="1"/>
          <p:nvPr/>
        </p:nvSpPr>
        <p:spPr>
          <a:xfrm>
            <a:off x="457200" y="5138928"/>
            <a:ext cx="91440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0AAB8"/>
                </a:solidFill>
                <a:latin typeface="Calibri"/>
                <a:ea typeface="Calibri"/>
                <a:cs typeface="Calibri"/>
                <a:sym typeface="Calibri"/>
              </a:rPr>
              <a:t>Black-Box &amp; Grey-Box Assessment  ·  Network  ·  Web  ·  REST API</a:t>
            </a:r>
            <a:endParaRPr b="0" i="0" sz="1400" u="none" cap="none" strike="noStrike">
              <a:solidFill>
                <a:srgbClr val="000000"/>
              </a:solidFill>
              <a:latin typeface="Arial"/>
              <a:ea typeface="Arial"/>
              <a:cs typeface="Arial"/>
              <a:sym typeface="Arial"/>
            </a:endParaRPr>
          </a:p>
        </p:txBody>
      </p:sp>
      <p:sp>
        <p:nvSpPr>
          <p:cNvPr id="99" name="Google Shape;99;p13"/>
          <p:cNvSpPr txBox="1"/>
          <p:nvPr/>
        </p:nvSpPr>
        <p:spPr>
          <a:xfrm>
            <a:off x="11807690" y="85205"/>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03" name="Shape 103"/>
        <p:cNvGrpSpPr/>
        <p:nvPr/>
      </p:nvGrpSpPr>
      <p:grpSpPr>
        <a:xfrm>
          <a:off x="0" y="0"/>
          <a:ext cx="0" cy="0"/>
          <a:chOff x="0" y="0"/>
          <a:chExt cx="0" cy="0"/>
        </a:xfrm>
      </p:grpSpPr>
      <p:sp>
        <p:nvSpPr>
          <p:cNvPr id="104" name="Google Shape;104;p14"/>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14"/>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14"/>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 name="Google Shape;107;p14"/>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4545"/>
                </a:solidFill>
                <a:latin typeface="Calibri"/>
                <a:ea typeface="Calibri"/>
                <a:cs typeface="Calibri"/>
                <a:sym typeface="Calibri"/>
              </a:rPr>
              <a:t>THE PROBLEM</a:t>
            </a:r>
            <a:endParaRPr b="0" i="0" sz="1400" u="none" cap="none" strike="noStrike">
              <a:solidFill>
                <a:srgbClr val="000000"/>
              </a:solidFill>
              <a:latin typeface="Arial"/>
              <a:ea typeface="Arial"/>
              <a:cs typeface="Arial"/>
              <a:sym typeface="Arial"/>
            </a:endParaRPr>
          </a:p>
        </p:txBody>
      </p:sp>
      <p:sp>
        <p:nvSpPr>
          <p:cNvPr id="108" name="Google Shape;108;p14"/>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Calibri"/>
                <a:ea typeface="Calibri"/>
                <a:cs typeface="Calibri"/>
                <a:sym typeface="Calibri"/>
              </a:rPr>
              <a:t>What Existing VAPT Systems Get Wrong</a:t>
            </a:r>
            <a:endParaRPr b="0" i="0" sz="1400" u="none" cap="none" strike="noStrike">
              <a:solidFill>
                <a:srgbClr val="000000"/>
              </a:solidFill>
              <a:latin typeface="Arial"/>
              <a:ea typeface="Arial"/>
              <a:cs typeface="Arial"/>
              <a:sym typeface="Arial"/>
            </a:endParaRPr>
          </a:p>
        </p:txBody>
      </p:sp>
      <p:sp>
        <p:nvSpPr>
          <p:cNvPr id="109" name="Google Shape;109;p14"/>
          <p:cNvSpPr/>
          <p:nvPr/>
        </p:nvSpPr>
        <p:spPr>
          <a:xfrm>
            <a:off x="274325" y="1207001"/>
            <a:ext cx="5303400" cy="9525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 name="Google Shape;110;p14"/>
          <p:cNvSpPr txBox="1"/>
          <p:nvPr/>
        </p:nvSpPr>
        <p:spPr>
          <a:xfrm>
            <a:off x="384048" y="1298448"/>
            <a:ext cx="36576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1" name="Google Shape;111;p14"/>
          <p:cNvSpPr txBox="1"/>
          <p:nvPr/>
        </p:nvSpPr>
        <p:spPr>
          <a:xfrm>
            <a:off x="713232" y="1280160"/>
            <a:ext cx="475488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No Structured World Model</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713232" y="1609344"/>
            <a:ext cx="4754880" cy="658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Systems reason from flat conversation history or task queues — no graph of what the target actually is.</a:t>
            </a:r>
            <a:endParaRPr b="0" i="0" sz="1400" u="none" cap="none" strike="noStrike">
              <a:solidFill>
                <a:srgbClr val="000000"/>
              </a:solidFill>
              <a:latin typeface="Arial"/>
              <a:ea typeface="Arial"/>
              <a:cs typeface="Arial"/>
              <a:sym typeface="Arial"/>
            </a:endParaRPr>
          </a:p>
        </p:txBody>
      </p:sp>
      <p:sp>
        <p:nvSpPr>
          <p:cNvPr id="113" name="Google Shape;113;p14"/>
          <p:cNvSpPr/>
          <p:nvPr/>
        </p:nvSpPr>
        <p:spPr>
          <a:xfrm>
            <a:off x="274400" y="2291687"/>
            <a:ext cx="5303400" cy="9105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p14"/>
          <p:cNvSpPr txBox="1"/>
          <p:nvPr/>
        </p:nvSpPr>
        <p:spPr>
          <a:xfrm>
            <a:off x="384073" y="2433613"/>
            <a:ext cx="3657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5" name="Google Shape;115;p14"/>
          <p:cNvSpPr txBox="1"/>
          <p:nvPr/>
        </p:nvSpPr>
        <p:spPr>
          <a:xfrm>
            <a:off x="713257" y="2415325"/>
            <a:ext cx="475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No Attack Path Reasoning</a:t>
            </a:r>
            <a:endParaRPr b="0" i="0" sz="1400" u="none" cap="none" strike="noStrike">
              <a:solidFill>
                <a:srgbClr val="000000"/>
              </a:solidFill>
              <a:latin typeface="Arial"/>
              <a:ea typeface="Arial"/>
              <a:cs typeface="Arial"/>
              <a:sym typeface="Arial"/>
            </a:endParaRPr>
          </a:p>
        </p:txBody>
      </p:sp>
      <p:sp>
        <p:nvSpPr>
          <p:cNvPr id="116" name="Google Shape;116;p14"/>
          <p:cNvSpPr txBox="1"/>
          <p:nvPr/>
        </p:nvSpPr>
        <p:spPr>
          <a:xfrm>
            <a:off x="713257" y="2744509"/>
            <a:ext cx="47550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Finished tasks are logged, not understood. Systems cannot represent which vulnerabilities chain together or why.</a:t>
            </a:r>
            <a:endParaRPr b="0" i="0" sz="1400" u="none" cap="none" strike="noStrike">
              <a:solidFill>
                <a:srgbClr val="000000"/>
              </a:solidFill>
              <a:latin typeface="Arial"/>
              <a:ea typeface="Arial"/>
              <a:cs typeface="Arial"/>
              <a:sym typeface="Arial"/>
            </a:endParaRPr>
          </a:p>
        </p:txBody>
      </p:sp>
      <p:sp>
        <p:nvSpPr>
          <p:cNvPr id="117" name="Google Shape;117;p14"/>
          <p:cNvSpPr/>
          <p:nvPr/>
        </p:nvSpPr>
        <p:spPr>
          <a:xfrm>
            <a:off x="274400" y="3307211"/>
            <a:ext cx="5303400" cy="9525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p14"/>
          <p:cNvSpPr txBox="1"/>
          <p:nvPr/>
        </p:nvSpPr>
        <p:spPr>
          <a:xfrm>
            <a:off x="383998" y="3414191"/>
            <a:ext cx="3657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9" name="Google Shape;119;p14"/>
          <p:cNvSpPr txBox="1"/>
          <p:nvPr/>
        </p:nvSpPr>
        <p:spPr>
          <a:xfrm>
            <a:off x="713195" y="3403090"/>
            <a:ext cx="475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Fragile Re-Planning</a:t>
            </a:r>
            <a:endParaRPr b="0" i="0" sz="1400" u="none" cap="none" strike="noStrike">
              <a:solidFill>
                <a:srgbClr val="000000"/>
              </a:solidFill>
              <a:latin typeface="Arial"/>
              <a:ea typeface="Arial"/>
              <a:cs typeface="Arial"/>
              <a:sym typeface="Arial"/>
            </a:endParaRPr>
          </a:p>
        </p:txBody>
      </p:sp>
      <p:sp>
        <p:nvSpPr>
          <p:cNvPr id="120" name="Google Shape;120;p14"/>
          <p:cNvSpPr txBox="1"/>
          <p:nvPr/>
        </p:nvSpPr>
        <p:spPr>
          <a:xfrm>
            <a:off x="713120" y="3737124"/>
            <a:ext cx="47550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Dynamic re-planning is ad-hoc. There is no formal trigger grounded in discovered evidence.</a:t>
            </a:r>
            <a:endParaRPr b="0" i="0" sz="1400" u="none" cap="none" strike="noStrike">
              <a:solidFill>
                <a:srgbClr val="000000"/>
              </a:solidFill>
              <a:latin typeface="Arial"/>
              <a:ea typeface="Arial"/>
              <a:cs typeface="Arial"/>
              <a:sym typeface="Arial"/>
            </a:endParaRPr>
          </a:p>
        </p:txBody>
      </p:sp>
      <p:sp>
        <p:nvSpPr>
          <p:cNvPr id="121" name="Google Shape;121;p14"/>
          <p:cNvSpPr/>
          <p:nvPr/>
        </p:nvSpPr>
        <p:spPr>
          <a:xfrm>
            <a:off x="274400" y="4372376"/>
            <a:ext cx="5303400" cy="10458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 name="Google Shape;122;p14"/>
          <p:cNvSpPr txBox="1"/>
          <p:nvPr/>
        </p:nvSpPr>
        <p:spPr>
          <a:xfrm>
            <a:off x="383973" y="4435131"/>
            <a:ext cx="3657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3" name="Google Shape;123;p14"/>
          <p:cNvSpPr txBox="1"/>
          <p:nvPr/>
        </p:nvSpPr>
        <p:spPr>
          <a:xfrm>
            <a:off x="713075" y="4481324"/>
            <a:ext cx="475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Arbitrary Termination</a:t>
            </a:r>
            <a:endParaRPr b="0" i="0" sz="1400" u="none" cap="none" strike="noStrike">
              <a:solidFill>
                <a:srgbClr val="000000"/>
              </a:solidFill>
              <a:latin typeface="Arial"/>
              <a:ea typeface="Arial"/>
              <a:cs typeface="Arial"/>
              <a:sym typeface="Arial"/>
            </a:endParaRPr>
          </a:p>
        </p:txBody>
      </p:sp>
      <p:sp>
        <p:nvSpPr>
          <p:cNvPr id="124" name="Google Shape;124;p14"/>
          <p:cNvSpPr txBox="1"/>
          <p:nvPr/>
        </p:nvSpPr>
        <p:spPr>
          <a:xfrm>
            <a:off x="713070" y="4814764"/>
            <a:ext cx="47550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Missions end on time-limits or empty queues — not because the attack surface and all chains are truly exhausted.</a:t>
            </a:r>
            <a:endParaRPr b="0" i="0" sz="1400" u="none" cap="none" strike="noStrike">
              <a:solidFill>
                <a:srgbClr val="000000"/>
              </a:solidFill>
              <a:latin typeface="Arial"/>
              <a:ea typeface="Arial"/>
              <a:cs typeface="Arial"/>
              <a:sym typeface="Arial"/>
            </a:endParaRPr>
          </a:p>
        </p:txBody>
      </p:sp>
      <p:sp>
        <p:nvSpPr>
          <p:cNvPr id="125" name="Google Shape;125;p14"/>
          <p:cNvSpPr/>
          <p:nvPr/>
        </p:nvSpPr>
        <p:spPr>
          <a:xfrm>
            <a:off x="5943600" y="1207008"/>
            <a:ext cx="5943600" cy="2331720"/>
          </a:xfrm>
          <a:prstGeom prst="rect">
            <a:avLst/>
          </a:prstGeom>
          <a:solidFill>
            <a:srgbClr val="10162B"/>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14"/>
          <p:cNvSpPr txBox="1"/>
          <p:nvPr/>
        </p:nvSpPr>
        <p:spPr>
          <a:xfrm>
            <a:off x="6080760" y="1252728"/>
            <a:ext cx="548640" cy="6400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rgbClr val="00E5FF"/>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7" name="Google Shape;127;p14"/>
          <p:cNvSpPr txBox="1"/>
          <p:nvPr/>
        </p:nvSpPr>
        <p:spPr>
          <a:xfrm>
            <a:off x="6126480" y="1709928"/>
            <a:ext cx="5577840" cy="1463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FFFFFF"/>
                </a:solidFill>
                <a:latin typeface="Calibri"/>
                <a:ea typeface="Calibri"/>
                <a:cs typeface="Calibri"/>
                <a:sym typeface="Calibri"/>
              </a:rPr>
              <a:t>They automate tool execution.</a:t>
            </a:r>
            <a:br>
              <a:rPr b="0" i="1" lang="en-US" sz="2000" u="none" cap="none" strike="noStrike">
                <a:solidFill>
                  <a:srgbClr val="FFFFFF"/>
                </a:solidFill>
                <a:latin typeface="Calibri"/>
                <a:ea typeface="Calibri"/>
                <a:cs typeface="Calibri"/>
                <a:sym typeface="Calibri"/>
              </a:rPr>
            </a:br>
            <a:r>
              <a:rPr b="0" i="1" lang="en-US" sz="2000" u="none" cap="none" strike="noStrike">
                <a:solidFill>
                  <a:srgbClr val="FFFFFF"/>
                </a:solidFill>
                <a:latin typeface="Calibri"/>
                <a:ea typeface="Calibri"/>
                <a:cs typeface="Calibri"/>
                <a:sym typeface="Calibri"/>
              </a:rPr>
              <a:t>CMatrix automates the reasoning</a:t>
            </a:r>
            <a:br>
              <a:rPr b="0" i="1" lang="en-US" sz="2000" u="none" cap="none" strike="noStrike">
                <a:solidFill>
                  <a:srgbClr val="FFFFFF"/>
                </a:solidFill>
                <a:latin typeface="Calibri"/>
                <a:ea typeface="Calibri"/>
                <a:cs typeface="Calibri"/>
                <a:sym typeface="Calibri"/>
              </a:rPr>
            </a:br>
            <a:r>
              <a:rPr b="0" i="1" lang="en-US" sz="2000" u="none" cap="none" strike="noStrike">
                <a:solidFill>
                  <a:srgbClr val="FFFFFF"/>
                </a:solidFill>
                <a:latin typeface="Calibri"/>
                <a:ea typeface="Calibri"/>
                <a:cs typeface="Calibri"/>
                <a:sym typeface="Calibri"/>
              </a:rPr>
              <a:t>of a professional penetration tester.</a:t>
            </a:r>
            <a:endParaRPr b="0" i="0" sz="1400" u="none" cap="none" strike="noStrike">
              <a:solidFill>
                <a:srgbClr val="000000"/>
              </a:solidFill>
              <a:latin typeface="Arial"/>
              <a:ea typeface="Arial"/>
              <a:cs typeface="Arial"/>
              <a:sym typeface="Arial"/>
            </a:endParaRPr>
          </a:p>
        </p:txBody>
      </p:sp>
      <p:sp>
        <p:nvSpPr>
          <p:cNvPr id="128" name="Google Shape;128;p14"/>
          <p:cNvSpPr txBox="1"/>
          <p:nvPr/>
        </p:nvSpPr>
        <p:spPr>
          <a:xfrm>
            <a:off x="6126480" y="3218688"/>
            <a:ext cx="5577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AB8"/>
                </a:solidFill>
                <a:latin typeface="Calibri"/>
                <a:ea typeface="Calibri"/>
                <a:cs typeface="Calibri"/>
                <a:sym typeface="Calibri"/>
              </a:rPr>
              <a:t>— CMatrix Design Philosophy</a:t>
            </a:r>
            <a:endParaRPr b="0" i="0" sz="1400" u="none" cap="none" strike="noStrike">
              <a:solidFill>
                <a:srgbClr val="000000"/>
              </a:solidFill>
              <a:latin typeface="Arial"/>
              <a:ea typeface="Arial"/>
              <a:cs typeface="Arial"/>
              <a:sym typeface="Arial"/>
            </a:endParaRPr>
          </a:p>
        </p:txBody>
      </p:sp>
      <p:sp>
        <p:nvSpPr>
          <p:cNvPr id="129" name="Google Shape;129;p14"/>
          <p:cNvSpPr/>
          <p:nvPr/>
        </p:nvSpPr>
        <p:spPr>
          <a:xfrm>
            <a:off x="5943600" y="3675887"/>
            <a:ext cx="5943600" cy="347472"/>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14"/>
          <p:cNvSpPr txBox="1"/>
          <p:nvPr/>
        </p:nvSpPr>
        <p:spPr>
          <a:xfrm>
            <a:off x="6126480" y="3703320"/>
            <a:ext cx="5669280" cy="301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  ROOT CAUSE</a:t>
            </a:r>
            <a:endParaRPr b="0" i="0" sz="1400" u="none" cap="none" strike="noStrike">
              <a:solidFill>
                <a:srgbClr val="000000"/>
              </a:solidFill>
              <a:latin typeface="Arial"/>
              <a:ea typeface="Arial"/>
              <a:cs typeface="Arial"/>
              <a:sym typeface="Arial"/>
            </a:endParaRPr>
          </a:p>
        </p:txBody>
      </p:sp>
      <p:sp>
        <p:nvSpPr>
          <p:cNvPr id="131" name="Google Shape;131;p14"/>
          <p:cNvSpPr/>
          <p:nvPr/>
        </p:nvSpPr>
        <p:spPr>
          <a:xfrm>
            <a:off x="5943600" y="4041648"/>
            <a:ext cx="5943600" cy="129844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 name="Google Shape;132;p14"/>
          <p:cNvSpPr txBox="1"/>
          <p:nvPr/>
        </p:nvSpPr>
        <p:spPr>
          <a:xfrm>
            <a:off x="6126480" y="4114800"/>
            <a:ext cx="5623560" cy="11521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A0AAB8"/>
                </a:solidFill>
                <a:latin typeface="Calibri"/>
                <a:ea typeface="Calibri"/>
                <a:cs typeface="Calibri"/>
                <a:sym typeface="Calibri"/>
              </a:rPr>
              <a:t>Existing systems have no structured model of the target environment and no structured model of what attack paths are possible.</a:t>
            </a:r>
            <a:br>
              <a:rPr b="0" i="0" lang="en-US" sz="1250" u="none" cap="none" strike="noStrike">
                <a:solidFill>
                  <a:srgbClr val="A0AAB8"/>
                </a:solidFill>
                <a:latin typeface="Calibri"/>
                <a:ea typeface="Calibri"/>
                <a:cs typeface="Calibri"/>
                <a:sym typeface="Calibri"/>
              </a:rPr>
            </a:br>
            <a:br>
              <a:rPr b="0" i="0" lang="en-US" sz="1250" u="none" cap="none" strike="noStrike">
                <a:solidFill>
                  <a:srgbClr val="A0AAB8"/>
                </a:solidFill>
                <a:latin typeface="Calibri"/>
                <a:ea typeface="Calibri"/>
                <a:cs typeface="Calibri"/>
                <a:sym typeface="Calibri"/>
              </a:rPr>
            </a:br>
            <a:r>
              <a:rPr b="0" i="0" lang="en-US" sz="1250" u="none" cap="none" strike="noStrike">
                <a:solidFill>
                  <a:srgbClr val="A0AAB8"/>
                </a:solidFill>
                <a:latin typeface="Calibri"/>
                <a:ea typeface="Calibri"/>
                <a:cs typeface="Calibri"/>
                <a:sym typeface="Calibri"/>
              </a:rPr>
              <a:t>They know what they did — not what the target is, or what can be done to it.</a:t>
            </a:r>
            <a:endParaRPr b="0" i="0" sz="1400" u="none" cap="none" strike="noStrike">
              <a:solidFill>
                <a:srgbClr val="000000"/>
              </a:solidFill>
              <a:latin typeface="Arial"/>
              <a:ea typeface="Arial"/>
              <a:cs typeface="Arial"/>
              <a:sym typeface="Arial"/>
            </a:endParaRPr>
          </a:p>
        </p:txBody>
      </p:sp>
      <p:sp>
        <p:nvSpPr>
          <p:cNvPr id="133" name="Google Shape;133;p14"/>
          <p:cNvSpPr/>
          <p:nvPr/>
        </p:nvSpPr>
        <p:spPr>
          <a:xfrm>
            <a:off x="274320" y="5559552"/>
            <a:ext cx="11643055" cy="777240"/>
          </a:xfrm>
          <a:prstGeom prst="rect">
            <a:avLst/>
          </a:prstGeom>
          <a:solidFill>
            <a:srgbClr val="051420"/>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 name="Google Shape;134;p14"/>
          <p:cNvSpPr txBox="1"/>
          <p:nvPr/>
        </p:nvSpPr>
        <p:spPr>
          <a:xfrm>
            <a:off x="457200" y="5650992"/>
            <a:ext cx="11277295" cy="5669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E5FF"/>
                </a:solidFill>
                <a:latin typeface="Calibri"/>
                <a:ea typeface="Calibri"/>
                <a:cs typeface="Calibri"/>
                <a:sym typeface="Calibri"/>
              </a:rPr>
              <a:t>CMatrix Solution →  Dual-graph world model: ASG captures discovered reality  ·  APG captures inferred attack opportunity</a:t>
            </a:r>
            <a:endParaRPr b="0" i="0" sz="1400" u="none" cap="none" strike="noStrike">
              <a:solidFill>
                <a:srgbClr val="000000"/>
              </a:solidFill>
              <a:latin typeface="Arial"/>
              <a:ea typeface="Arial"/>
              <a:cs typeface="Arial"/>
              <a:sym typeface="Arial"/>
            </a:endParaRPr>
          </a:p>
        </p:txBody>
      </p:sp>
      <p:sp>
        <p:nvSpPr>
          <p:cNvPr id="135" name="Google Shape;135;p14"/>
          <p:cNvSpPr txBox="1"/>
          <p:nvPr/>
        </p:nvSpPr>
        <p:spPr>
          <a:xfrm>
            <a:off x="11795740" y="36580"/>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02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39" name="Shape 139"/>
        <p:cNvGrpSpPr/>
        <p:nvPr/>
      </p:nvGrpSpPr>
      <p:grpSpPr>
        <a:xfrm>
          <a:off x="0" y="0"/>
          <a:ext cx="0" cy="0"/>
          <a:chOff x="0" y="0"/>
          <a:chExt cx="0" cy="0"/>
        </a:xfrm>
      </p:grpSpPr>
      <p:sp>
        <p:nvSpPr>
          <p:cNvPr id="140" name="Google Shape;140;p15"/>
          <p:cNvSpPr/>
          <p:nvPr/>
        </p:nvSpPr>
        <p:spPr>
          <a:xfrm>
            <a:off x="0" y="0"/>
            <a:ext cx="54864"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15"/>
          <p:cNvSpPr/>
          <p:nvPr/>
        </p:nvSpPr>
        <p:spPr>
          <a:xfrm>
            <a:off x="54864" y="0"/>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2" name="Google Shape;142;p15"/>
          <p:cNvSpPr/>
          <p:nvPr/>
        </p:nvSpPr>
        <p:spPr>
          <a:xfrm>
            <a:off x="54864" y="6821424"/>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15"/>
          <p:cNvSpPr txBox="1"/>
          <p:nvPr/>
        </p:nvSpPr>
        <p:spPr>
          <a:xfrm>
            <a:off x="274320" y="64008"/>
            <a:ext cx="731520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000" u="none" cap="none" strike="noStrike">
                <a:solidFill>
                  <a:srgbClr val="FFD700"/>
                </a:solidFill>
                <a:latin typeface="Calibri"/>
                <a:ea typeface="Calibri"/>
                <a:cs typeface="Calibri"/>
                <a:sym typeface="Calibri"/>
              </a:rPr>
              <a:t>NOVEL CONTRIBUTION</a:t>
            </a:r>
            <a:endParaRPr/>
          </a:p>
        </p:txBody>
      </p:sp>
      <p:sp>
        <p:nvSpPr>
          <p:cNvPr id="144" name="Google Shape;144;p15"/>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FFFFFF"/>
                </a:solidFill>
                <a:latin typeface="Calibri"/>
                <a:ea typeface="Calibri"/>
                <a:cs typeface="Calibri"/>
                <a:sym typeface="Calibri"/>
              </a:rPr>
              <a:t>What Makes CMatrix a Research Contribution</a:t>
            </a:r>
            <a:endParaRPr/>
          </a:p>
        </p:txBody>
      </p:sp>
      <p:sp>
        <p:nvSpPr>
          <p:cNvPr id="145" name="Google Shape;145;p15"/>
          <p:cNvSpPr/>
          <p:nvPr/>
        </p:nvSpPr>
        <p:spPr>
          <a:xfrm>
            <a:off x="296091" y="923108"/>
            <a:ext cx="11679340" cy="497550"/>
          </a:xfrm>
          <a:prstGeom prst="rect">
            <a:avLst/>
          </a:prstGeom>
          <a:solidFill>
            <a:srgbClr val="121002"/>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6" name="Google Shape;146;p15"/>
          <p:cNvSpPr txBox="1"/>
          <p:nvPr/>
        </p:nvSpPr>
        <p:spPr>
          <a:xfrm>
            <a:off x="372291" y="1025289"/>
            <a:ext cx="11516781" cy="292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300" u="none" cap="none" strike="noStrike">
                <a:solidFill>
                  <a:srgbClr val="FFD700"/>
                </a:solidFill>
                <a:latin typeface="Calibri"/>
                <a:ea typeface="Calibri"/>
                <a:cs typeface="Calibri"/>
                <a:sym typeface="Calibri"/>
              </a:rPr>
              <a:t>First autonomous VAPT system to maintain two strictly separated, continuously evolving graph structures - one for discovered reality, one for inferred attack opportunity.</a:t>
            </a:r>
            <a:endParaRPr/>
          </a:p>
        </p:txBody>
      </p:sp>
      <p:sp>
        <p:nvSpPr>
          <p:cNvPr id="147" name="Google Shape;147;p15"/>
          <p:cNvSpPr/>
          <p:nvPr/>
        </p:nvSpPr>
        <p:spPr>
          <a:xfrm>
            <a:off x="296091" y="1572623"/>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8" name="Google Shape;148;p15"/>
          <p:cNvSpPr/>
          <p:nvPr/>
        </p:nvSpPr>
        <p:spPr>
          <a:xfrm>
            <a:off x="296091" y="1572623"/>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9" name="Google Shape;149;p15"/>
          <p:cNvSpPr txBox="1"/>
          <p:nvPr/>
        </p:nvSpPr>
        <p:spPr>
          <a:xfrm>
            <a:off x="314379" y="1590911"/>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a:t>
            </a:r>
            <a:endParaRPr/>
          </a:p>
        </p:txBody>
      </p:sp>
      <p:sp>
        <p:nvSpPr>
          <p:cNvPr id="150" name="Google Shape;150;p15"/>
          <p:cNvSpPr txBox="1"/>
          <p:nvPr/>
        </p:nvSpPr>
        <p:spPr>
          <a:xfrm>
            <a:off x="863019" y="1609199"/>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Dual-Graph World Model</a:t>
            </a:r>
            <a:endParaRPr/>
          </a:p>
        </p:txBody>
      </p:sp>
      <p:sp>
        <p:nvSpPr>
          <p:cNvPr id="151" name="Google Shape;151;p15"/>
          <p:cNvSpPr txBox="1"/>
          <p:nvPr/>
        </p:nvSpPr>
        <p:spPr>
          <a:xfrm>
            <a:off x="405819" y="1956671"/>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ASG (discovered reality) &amp; APG (inferred opportunity) are strictly separated with enforced write ownership.</a:t>
            </a:r>
            <a:endParaRPr/>
          </a:p>
        </p:txBody>
      </p:sp>
      <p:sp>
        <p:nvSpPr>
          <p:cNvPr id="152" name="Google Shape;152;p15"/>
          <p:cNvSpPr/>
          <p:nvPr/>
        </p:nvSpPr>
        <p:spPr>
          <a:xfrm>
            <a:off x="4209723" y="1572623"/>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3" name="Google Shape;153;p15"/>
          <p:cNvSpPr/>
          <p:nvPr/>
        </p:nvSpPr>
        <p:spPr>
          <a:xfrm>
            <a:off x="4209723" y="1572623"/>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4" name="Google Shape;154;p15"/>
          <p:cNvSpPr txBox="1"/>
          <p:nvPr/>
        </p:nvSpPr>
        <p:spPr>
          <a:xfrm>
            <a:off x="4228011" y="1590911"/>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C2</a:t>
            </a:r>
            <a:endParaRPr/>
          </a:p>
        </p:txBody>
      </p:sp>
      <p:sp>
        <p:nvSpPr>
          <p:cNvPr id="155" name="Google Shape;155;p15"/>
          <p:cNvSpPr txBox="1"/>
          <p:nvPr/>
        </p:nvSpPr>
        <p:spPr>
          <a:xfrm>
            <a:off x="4776651" y="1609199"/>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Graph-Driven Re-Planning</a:t>
            </a:r>
            <a:endParaRPr/>
          </a:p>
        </p:txBody>
      </p:sp>
      <p:sp>
        <p:nvSpPr>
          <p:cNvPr id="156" name="Google Shape;156;p15"/>
          <p:cNvSpPr txBox="1"/>
          <p:nvPr/>
        </p:nvSpPr>
        <p:spPr>
          <a:xfrm>
            <a:off x="4319451" y="1956671"/>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Re-planning fires on explicit graph triggers (e.g., new vuln node seeds a chain) rather than arbitrary schedules.</a:t>
            </a:r>
            <a:endParaRPr/>
          </a:p>
        </p:txBody>
      </p:sp>
      <p:sp>
        <p:nvSpPr>
          <p:cNvPr id="157" name="Google Shape;157;p15"/>
          <p:cNvSpPr/>
          <p:nvPr/>
        </p:nvSpPr>
        <p:spPr>
          <a:xfrm>
            <a:off x="8123355" y="1572623"/>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8" name="Google Shape;158;p15"/>
          <p:cNvSpPr/>
          <p:nvPr/>
        </p:nvSpPr>
        <p:spPr>
          <a:xfrm>
            <a:off x="8123355" y="1572623"/>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9" name="Google Shape;159;p15"/>
          <p:cNvSpPr txBox="1"/>
          <p:nvPr/>
        </p:nvSpPr>
        <p:spPr>
          <a:xfrm>
            <a:off x="8141643" y="1590911"/>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C3</a:t>
            </a:r>
            <a:endParaRPr/>
          </a:p>
        </p:txBody>
      </p:sp>
      <p:sp>
        <p:nvSpPr>
          <p:cNvPr id="160" name="Google Shape;160;p15"/>
          <p:cNvSpPr txBox="1"/>
          <p:nvPr/>
        </p:nvSpPr>
        <p:spPr>
          <a:xfrm>
            <a:off x="8690283" y="1609199"/>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APG Attack Chain Lifecycle</a:t>
            </a:r>
            <a:endParaRPr/>
          </a:p>
        </p:txBody>
      </p:sp>
      <p:sp>
        <p:nvSpPr>
          <p:cNvPr id="161" name="Google Shape;161;p15"/>
          <p:cNvSpPr txBox="1"/>
          <p:nvPr/>
        </p:nvSpPr>
        <p:spPr>
          <a:xfrm>
            <a:off x="8233083" y="1956671"/>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Attack chains are first-class entities: risk-scored, prioritized, and lifecycle-tracked with evidence-linked ChainSteps.</a:t>
            </a:r>
            <a:endParaRPr/>
          </a:p>
        </p:txBody>
      </p:sp>
      <p:sp>
        <p:nvSpPr>
          <p:cNvPr id="162" name="Google Shape;162;p15"/>
          <p:cNvSpPr/>
          <p:nvPr/>
        </p:nvSpPr>
        <p:spPr>
          <a:xfrm>
            <a:off x="296091" y="2825351"/>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3" name="Google Shape;163;p15"/>
          <p:cNvSpPr/>
          <p:nvPr/>
        </p:nvSpPr>
        <p:spPr>
          <a:xfrm>
            <a:off x="296091" y="2825351"/>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4" name="Google Shape;164;p15"/>
          <p:cNvSpPr txBox="1"/>
          <p:nvPr/>
        </p:nvSpPr>
        <p:spPr>
          <a:xfrm>
            <a:off x="314379" y="2843639"/>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C4</a:t>
            </a:r>
            <a:endParaRPr/>
          </a:p>
        </p:txBody>
      </p:sp>
      <p:sp>
        <p:nvSpPr>
          <p:cNvPr id="165" name="Google Shape;165;p15"/>
          <p:cNvSpPr txBox="1"/>
          <p:nvPr/>
        </p:nvSpPr>
        <p:spPr>
          <a:xfrm>
            <a:off x="863019" y="2861927"/>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ASG-Aware Parallel Dispatch</a:t>
            </a:r>
            <a:endParaRPr/>
          </a:p>
        </p:txBody>
      </p:sp>
      <p:sp>
        <p:nvSpPr>
          <p:cNvPr id="166" name="Google Shape;166;p15"/>
          <p:cNvSpPr txBox="1"/>
          <p:nvPr/>
        </p:nvSpPr>
        <p:spPr>
          <a:xfrm>
            <a:off x="405819" y="3209399"/>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Dependency-safe concurrent tool execution using the ASG itself as the dependency graph, instead of a task scheduler.</a:t>
            </a:r>
            <a:endParaRPr/>
          </a:p>
        </p:txBody>
      </p:sp>
      <p:sp>
        <p:nvSpPr>
          <p:cNvPr id="167" name="Google Shape;167;p15"/>
          <p:cNvSpPr/>
          <p:nvPr/>
        </p:nvSpPr>
        <p:spPr>
          <a:xfrm>
            <a:off x="4209723" y="2825351"/>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8" name="Google Shape;168;p15"/>
          <p:cNvSpPr/>
          <p:nvPr/>
        </p:nvSpPr>
        <p:spPr>
          <a:xfrm>
            <a:off x="4209723" y="2825351"/>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9" name="Google Shape;169;p15"/>
          <p:cNvSpPr txBox="1"/>
          <p:nvPr/>
        </p:nvSpPr>
        <p:spPr>
          <a:xfrm>
            <a:off x="4228011" y="2843639"/>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C5</a:t>
            </a:r>
            <a:endParaRPr/>
          </a:p>
        </p:txBody>
      </p:sp>
      <p:sp>
        <p:nvSpPr>
          <p:cNvPr id="170" name="Google Shape;170;p15"/>
          <p:cNvSpPr txBox="1"/>
          <p:nvPr/>
        </p:nvSpPr>
        <p:spPr>
          <a:xfrm>
            <a:off x="4776651" y="2861927"/>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Tool Risk Gate + Mailbox</a:t>
            </a:r>
            <a:endParaRPr/>
          </a:p>
        </p:txBody>
      </p:sp>
      <p:sp>
        <p:nvSpPr>
          <p:cNvPr id="171" name="Google Shape;171;p15"/>
          <p:cNvSpPr txBox="1"/>
          <p:nvPr/>
        </p:nvSpPr>
        <p:spPr>
          <a:xfrm>
            <a:off x="4319451" y="3209399"/>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Every tool call is risk-classified before execution. High-risk ops route to Commander for human-in-the-loop approval.</a:t>
            </a:r>
            <a:endParaRPr/>
          </a:p>
        </p:txBody>
      </p:sp>
      <p:sp>
        <p:nvSpPr>
          <p:cNvPr id="172" name="Google Shape;172;p15"/>
          <p:cNvSpPr/>
          <p:nvPr/>
        </p:nvSpPr>
        <p:spPr>
          <a:xfrm>
            <a:off x="8123355" y="2825351"/>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3" name="Google Shape;173;p15"/>
          <p:cNvSpPr/>
          <p:nvPr/>
        </p:nvSpPr>
        <p:spPr>
          <a:xfrm>
            <a:off x="8123355" y="2825351"/>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4" name="Google Shape;174;p15"/>
          <p:cNvSpPr txBox="1"/>
          <p:nvPr/>
        </p:nvSpPr>
        <p:spPr>
          <a:xfrm>
            <a:off x="8141643" y="2843639"/>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C6</a:t>
            </a:r>
            <a:endParaRPr/>
          </a:p>
        </p:txBody>
      </p:sp>
      <p:sp>
        <p:nvSpPr>
          <p:cNvPr id="175" name="Google Shape;175;p15"/>
          <p:cNvSpPr txBox="1"/>
          <p:nvPr/>
        </p:nvSpPr>
        <p:spPr>
          <a:xfrm>
            <a:off x="8690283" y="2861927"/>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Lossless Context Compaction</a:t>
            </a:r>
            <a:endParaRPr/>
          </a:p>
        </p:txBody>
      </p:sp>
      <p:sp>
        <p:nvSpPr>
          <p:cNvPr id="176" name="Google Shape;176;p15"/>
          <p:cNvSpPr txBox="1"/>
          <p:nvPr/>
        </p:nvSpPr>
        <p:spPr>
          <a:xfrm>
            <a:off x="8233083" y="3209399"/>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ASG-backed three-layer compaction scheme reduces conversation history to near-zero without losing discovered findings.</a:t>
            </a:r>
            <a:endParaRPr/>
          </a:p>
        </p:txBody>
      </p:sp>
      <p:sp>
        <p:nvSpPr>
          <p:cNvPr id="177" name="Google Shape;177;p15"/>
          <p:cNvSpPr/>
          <p:nvPr/>
        </p:nvSpPr>
        <p:spPr>
          <a:xfrm>
            <a:off x="296091" y="4078079"/>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8" name="Google Shape;178;p15"/>
          <p:cNvSpPr/>
          <p:nvPr/>
        </p:nvSpPr>
        <p:spPr>
          <a:xfrm>
            <a:off x="296091" y="4078079"/>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9" name="Google Shape;179;p15"/>
          <p:cNvSpPr txBox="1"/>
          <p:nvPr/>
        </p:nvSpPr>
        <p:spPr>
          <a:xfrm>
            <a:off x="314379" y="4096367"/>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C7</a:t>
            </a:r>
            <a:endParaRPr/>
          </a:p>
        </p:txBody>
      </p:sp>
      <p:sp>
        <p:nvSpPr>
          <p:cNvPr id="180" name="Google Shape;180;p15"/>
          <p:cNvSpPr txBox="1"/>
          <p:nvPr/>
        </p:nvSpPr>
        <p:spPr>
          <a:xfrm>
            <a:off x="863019" y="4114655"/>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Methodology-as-Config</a:t>
            </a:r>
            <a:endParaRPr/>
          </a:p>
        </p:txBody>
      </p:sp>
      <p:sp>
        <p:nvSpPr>
          <p:cNvPr id="181" name="Google Shape;181;p15"/>
          <p:cNvSpPr txBox="1"/>
          <p:nvPr/>
        </p:nvSpPr>
        <p:spPr>
          <a:xfrm>
            <a:off x="405819" y="4462127"/>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Commander's planning policy is encoded as a versioned natural-language document, allowing methodology benchmarking.</a:t>
            </a:r>
            <a:endParaRPr/>
          </a:p>
        </p:txBody>
      </p:sp>
      <p:sp>
        <p:nvSpPr>
          <p:cNvPr id="182" name="Google Shape;182;p15"/>
          <p:cNvSpPr/>
          <p:nvPr/>
        </p:nvSpPr>
        <p:spPr>
          <a:xfrm>
            <a:off x="4209723" y="4078079"/>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3" name="Google Shape;183;p15"/>
          <p:cNvSpPr/>
          <p:nvPr/>
        </p:nvSpPr>
        <p:spPr>
          <a:xfrm>
            <a:off x="4209723" y="4078079"/>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4" name="Google Shape;184;p15"/>
          <p:cNvSpPr txBox="1"/>
          <p:nvPr/>
        </p:nvSpPr>
        <p:spPr>
          <a:xfrm>
            <a:off x="4228011" y="4096367"/>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C8</a:t>
            </a:r>
            <a:endParaRPr/>
          </a:p>
        </p:txBody>
      </p:sp>
      <p:sp>
        <p:nvSpPr>
          <p:cNvPr id="185" name="Google Shape;185;p15"/>
          <p:cNvSpPr txBox="1"/>
          <p:nvPr/>
        </p:nvSpPr>
        <p:spPr>
          <a:xfrm>
            <a:off x="4776651" y="4114655"/>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Dual-Graph Termination</a:t>
            </a:r>
            <a:endParaRPr/>
          </a:p>
        </p:txBody>
      </p:sp>
      <p:sp>
        <p:nvSpPr>
          <p:cNvPr id="186" name="Google Shape;186;p15"/>
          <p:cNvSpPr txBox="1"/>
          <p:nvPr/>
        </p:nvSpPr>
        <p:spPr>
          <a:xfrm>
            <a:off x="4319451" y="4462127"/>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Mission completion is formally defined as the conjunction of ASG exhaustion (no unexplored nodes) and APG resolution.</a:t>
            </a:r>
            <a:endParaRPr/>
          </a:p>
        </p:txBody>
      </p:sp>
      <p:sp>
        <p:nvSpPr>
          <p:cNvPr id="187" name="Google Shape;187;p15"/>
          <p:cNvSpPr/>
          <p:nvPr/>
        </p:nvSpPr>
        <p:spPr>
          <a:xfrm>
            <a:off x="8123355" y="4078079"/>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8" name="Google Shape;188;p15"/>
          <p:cNvSpPr/>
          <p:nvPr/>
        </p:nvSpPr>
        <p:spPr>
          <a:xfrm>
            <a:off x="8123355" y="4078079"/>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9" name="Google Shape;189;p15"/>
          <p:cNvSpPr txBox="1"/>
          <p:nvPr/>
        </p:nvSpPr>
        <p:spPr>
          <a:xfrm>
            <a:off x="8141643" y="4096367"/>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C9</a:t>
            </a:r>
            <a:endParaRPr/>
          </a:p>
        </p:txBody>
      </p:sp>
      <p:sp>
        <p:nvSpPr>
          <p:cNvPr id="190" name="Google Shape;190;p15"/>
          <p:cNvSpPr txBox="1"/>
          <p:nvPr/>
        </p:nvSpPr>
        <p:spPr>
          <a:xfrm>
            <a:off x="8690283" y="4114655"/>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Live CVE Grounding</a:t>
            </a:r>
            <a:endParaRPr/>
          </a:p>
        </p:txBody>
      </p:sp>
      <p:sp>
        <p:nvSpPr>
          <p:cNvPr id="191" name="Google Shape;191;p15"/>
          <p:cNvSpPr txBox="1"/>
          <p:nvPr/>
        </p:nvSpPr>
        <p:spPr>
          <a:xfrm>
            <a:off x="8233083" y="4462127"/>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Real-time vulnerability enrichment and exploit feasibility research via a scoped agent, written back into the ASG.</a:t>
            </a:r>
            <a:endParaRPr/>
          </a:p>
        </p:txBody>
      </p:sp>
      <p:sp>
        <p:nvSpPr>
          <p:cNvPr id="192" name="Google Shape;192;p15"/>
          <p:cNvSpPr/>
          <p:nvPr/>
        </p:nvSpPr>
        <p:spPr>
          <a:xfrm>
            <a:off x="296091" y="5330807"/>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3" name="Google Shape;193;p15"/>
          <p:cNvSpPr/>
          <p:nvPr/>
        </p:nvSpPr>
        <p:spPr>
          <a:xfrm>
            <a:off x="296091" y="5330807"/>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 name="Google Shape;194;p15"/>
          <p:cNvSpPr txBox="1"/>
          <p:nvPr/>
        </p:nvSpPr>
        <p:spPr>
          <a:xfrm>
            <a:off x="314379" y="5349095"/>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C10</a:t>
            </a:r>
            <a:endParaRPr/>
          </a:p>
        </p:txBody>
      </p:sp>
      <p:sp>
        <p:nvSpPr>
          <p:cNvPr id="195" name="Google Shape;195;p15"/>
          <p:cNvSpPr txBox="1"/>
          <p:nvPr/>
        </p:nvSpPr>
        <p:spPr>
          <a:xfrm>
            <a:off x="863019" y="5367383"/>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Cross-Mission Experience</a:t>
            </a:r>
            <a:endParaRPr/>
          </a:p>
        </p:txBody>
      </p:sp>
      <p:sp>
        <p:nvSpPr>
          <p:cNvPr id="196" name="Google Shape;196;p15"/>
          <p:cNvSpPr txBox="1"/>
          <p:nvPr/>
        </p:nvSpPr>
        <p:spPr>
          <a:xfrm>
            <a:off x="405819" y="5714855"/>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Persistent RAG-backed store of validated exploitation outcomes across missions to seed APG hypotheses at mission start.</a:t>
            </a:r>
            <a:endParaRPr/>
          </a:p>
        </p:txBody>
      </p:sp>
      <p:sp>
        <p:nvSpPr>
          <p:cNvPr id="197" name="Google Shape;197;p15"/>
          <p:cNvSpPr/>
          <p:nvPr/>
        </p:nvSpPr>
        <p:spPr>
          <a:xfrm>
            <a:off x="4209723" y="5330807"/>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8" name="Google Shape;198;p15"/>
          <p:cNvSpPr/>
          <p:nvPr/>
        </p:nvSpPr>
        <p:spPr>
          <a:xfrm>
            <a:off x="4209723" y="5330807"/>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 name="Google Shape;199;p15"/>
          <p:cNvSpPr txBox="1"/>
          <p:nvPr/>
        </p:nvSpPr>
        <p:spPr>
          <a:xfrm>
            <a:off x="4228011" y="5349095"/>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C11</a:t>
            </a:r>
            <a:endParaRPr/>
          </a:p>
        </p:txBody>
      </p:sp>
      <p:sp>
        <p:nvSpPr>
          <p:cNvPr id="200" name="Google Shape;200;p15"/>
          <p:cNvSpPr txBox="1"/>
          <p:nvPr/>
        </p:nvSpPr>
        <p:spPr>
          <a:xfrm>
            <a:off x="4776651" y="5367383"/>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Attack Strategy Library</a:t>
            </a:r>
            <a:endParaRPr/>
          </a:p>
        </p:txBody>
      </p:sp>
      <p:sp>
        <p:nvSpPr>
          <p:cNvPr id="201" name="Google Shape;201;p15"/>
          <p:cNvSpPr txBox="1"/>
          <p:nvPr/>
        </p:nvSpPr>
        <p:spPr>
          <a:xfrm>
            <a:off x="4319451" y="5714855"/>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Crystallizes validated chains into parameterized strategies when the same target fingerprint succeeds across missions.</a:t>
            </a:r>
            <a:endParaRPr/>
          </a:p>
        </p:txBody>
      </p:sp>
      <p:sp>
        <p:nvSpPr>
          <p:cNvPr id="202" name="Google Shape;202;p15"/>
          <p:cNvSpPr/>
          <p:nvPr/>
        </p:nvSpPr>
        <p:spPr>
          <a:xfrm>
            <a:off x="8123355" y="5330807"/>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3" name="Google Shape;203;p15"/>
          <p:cNvSpPr/>
          <p:nvPr/>
        </p:nvSpPr>
        <p:spPr>
          <a:xfrm>
            <a:off x="8123355" y="5330807"/>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4" name="Google Shape;204;p15"/>
          <p:cNvSpPr txBox="1"/>
          <p:nvPr/>
        </p:nvSpPr>
        <p:spPr>
          <a:xfrm>
            <a:off x="8141643" y="5349095"/>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C12</a:t>
            </a:r>
            <a:endParaRPr/>
          </a:p>
        </p:txBody>
      </p:sp>
      <p:sp>
        <p:nvSpPr>
          <p:cNvPr id="205" name="Google Shape;205;p15"/>
          <p:cNvSpPr txBox="1"/>
          <p:nvPr/>
        </p:nvSpPr>
        <p:spPr>
          <a:xfrm>
            <a:off x="8690283" y="5367383"/>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Trajectory Export Dataset</a:t>
            </a:r>
            <a:endParaRPr/>
          </a:p>
        </p:txBody>
      </p:sp>
      <p:sp>
        <p:nvSpPr>
          <p:cNvPr id="206" name="Google Shape;206;p15"/>
          <p:cNvSpPr txBox="1"/>
          <p:nvPr/>
        </p:nvSpPr>
        <p:spPr>
          <a:xfrm>
            <a:off x="8233083" y="5714855"/>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Every mission produces a machine-readable decision log capturing ASG/APG triggers, rationale, and actions taken.</a:t>
            </a:r>
            <a:endParaRPr/>
          </a:p>
        </p:txBody>
      </p:sp>
      <p:sp>
        <p:nvSpPr>
          <p:cNvPr id="207" name="Google Shape;207;p15"/>
          <p:cNvSpPr txBox="1"/>
          <p:nvPr/>
        </p:nvSpPr>
        <p:spPr>
          <a:xfrm>
            <a:off x="11807661" y="94694"/>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300" u="none" cap="none" strike="noStrike">
                <a:solidFill>
                  <a:srgbClr val="FFD700"/>
                </a:solidFill>
                <a:latin typeface="Calibri"/>
                <a:ea typeface="Calibri"/>
                <a:cs typeface="Calibri"/>
                <a:sym typeface="Calibri"/>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211" name="Shape 211"/>
        <p:cNvGrpSpPr/>
        <p:nvPr/>
      </p:nvGrpSpPr>
      <p:grpSpPr>
        <a:xfrm>
          <a:off x="0" y="0"/>
          <a:ext cx="0" cy="0"/>
          <a:chOff x="0" y="0"/>
          <a:chExt cx="0" cy="0"/>
        </a:xfrm>
      </p:grpSpPr>
      <p:sp>
        <p:nvSpPr>
          <p:cNvPr id="212" name="Google Shape;212;p16"/>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 name="Google Shape;213;p16"/>
          <p:cNvSpPr/>
          <p:nvPr/>
        </p:nvSpPr>
        <p:spPr>
          <a:xfrm>
            <a:off x="54864" y="0"/>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4" name="Google Shape;214;p16"/>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p16"/>
          <p:cNvSpPr txBox="1"/>
          <p:nvPr/>
        </p:nvSpPr>
        <p:spPr>
          <a:xfrm>
            <a:off x="274320" y="64008"/>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SYSTEM ARCHITECTURE</a:t>
            </a:r>
            <a:endParaRPr b="0" i="0" sz="1400" u="none" cap="none" strike="noStrike">
              <a:solidFill>
                <a:srgbClr val="000000"/>
              </a:solidFill>
              <a:latin typeface="Arial"/>
              <a:ea typeface="Arial"/>
              <a:cs typeface="Arial"/>
              <a:sym typeface="Arial"/>
            </a:endParaRPr>
          </a:p>
        </p:txBody>
      </p:sp>
      <p:sp>
        <p:nvSpPr>
          <p:cNvPr id="216" name="Google Shape;216;p16"/>
          <p:cNvSpPr txBox="1"/>
          <p:nvPr/>
        </p:nvSpPr>
        <p:spPr>
          <a:xfrm>
            <a:off x="274320" y="301752"/>
            <a:ext cx="10058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CMatrix — Three-Tier Architecture Overview</a:t>
            </a:r>
            <a:endParaRPr b="0" i="0" sz="1400" u="none" cap="none" strike="noStrike">
              <a:solidFill>
                <a:srgbClr val="000000"/>
              </a:solidFill>
              <a:latin typeface="Arial"/>
              <a:ea typeface="Arial"/>
              <a:cs typeface="Arial"/>
              <a:sym typeface="Arial"/>
            </a:endParaRPr>
          </a:p>
        </p:txBody>
      </p:sp>
      <p:sp>
        <p:nvSpPr>
          <p:cNvPr id="217" name="Google Shape;217;p16"/>
          <p:cNvSpPr/>
          <p:nvPr/>
        </p:nvSpPr>
        <p:spPr>
          <a:xfrm>
            <a:off x="164592" y="804672"/>
            <a:ext cx="11862511" cy="1280160"/>
          </a:xfrm>
          <a:prstGeom prst="rect">
            <a:avLst/>
          </a:prstGeom>
          <a:solidFill>
            <a:srgbClr val="061020"/>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p16"/>
          <p:cNvSpPr txBox="1"/>
          <p:nvPr/>
        </p:nvSpPr>
        <p:spPr>
          <a:xfrm>
            <a:off x="201168" y="850392"/>
            <a:ext cx="14630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① ORCHESTRATION</a:t>
            </a:r>
            <a:endParaRPr b="0" i="0" sz="1400" u="none" cap="none" strike="noStrike">
              <a:solidFill>
                <a:srgbClr val="000000"/>
              </a:solidFill>
              <a:latin typeface="Arial"/>
              <a:ea typeface="Arial"/>
              <a:cs typeface="Arial"/>
              <a:sym typeface="Arial"/>
            </a:endParaRPr>
          </a:p>
        </p:txBody>
      </p:sp>
      <p:sp>
        <p:nvSpPr>
          <p:cNvPr id="219" name="Google Shape;219;p16"/>
          <p:cNvSpPr/>
          <p:nvPr/>
        </p:nvSpPr>
        <p:spPr>
          <a:xfrm>
            <a:off x="320040" y="1060704"/>
            <a:ext cx="1554480" cy="877824"/>
          </a:xfrm>
          <a:prstGeom prst="rect">
            <a:avLst/>
          </a:prstGeom>
          <a:solidFill>
            <a:srgbClr val="0C182E"/>
          </a:solidFill>
          <a:ln cap="flat" cmpd="sng" w="10150">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p16"/>
          <p:cNvSpPr txBox="1"/>
          <p:nvPr/>
        </p:nvSpPr>
        <p:spPr>
          <a:xfrm>
            <a:off x="320040" y="1115568"/>
            <a:ext cx="15544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A0AAB8"/>
                </a:solidFill>
                <a:latin typeface="Calibri"/>
                <a:ea typeface="Calibri"/>
                <a:cs typeface="Calibri"/>
                <a:sym typeface="Calibri"/>
              </a:rPr>
              <a:t>OPERATOR</a:t>
            </a:r>
            <a:endParaRPr b="0" i="0" sz="1400" u="none" cap="none" strike="noStrike">
              <a:solidFill>
                <a:srgbClr val="000000"/>
              </a:solidFill>
              <a:latin typeface="Arial"/>
              <a:ea typeface="Arial"/>
              <a:cs typeface="Arial"/>
              <a:sym typeface="Arial"/>
            </a:endParaRPr>
          </a:p>
        </p:txBody>
      </p:sp>
      <p:sp>
        <p:nvSpPr>
          <p:cNvPr id="221" name="Google Shape;221;p16"/>
          <p:cNvSpPr txBox="1"/>
          <p:nvPr/>
        </p:nvSpPr>
        <p:spPr>
          <a:xfrm>
            <a:off x="320040" y="1371600"/>
            <a:ext cx="1554480"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Target · Scope · Mode</a:t>
            </a:r>
            <a:endParaRPr b="0" i="0" sz="1400" u="none" cap="none" strike="noStrike">
              <a:solidFill>
                <a:srgbClr val="000000"/>
              </a:solidFill>
              <a:latin typeface="Arial"/>
              <a:ea typeface="Arial"/>
              <a:cs typeface="Arial"/>
              <a:sym typeface="Arial"/>
            </a:endParaRPr>
          </a:p>
        </p:txBody>
      </p:sp>
      <p:cxnSp>
        <p:nvCxnSpPr>
          <p:cNvPr id="222" name="Google Shape;222;p16"/>
          <p:cNvCxnSpPr/>
          <p:nvPr/>
        </p:nvCxnSpPr>
        <p:spPr>
          <a:xfrm>
            <a:off x="1874520" y="0"/>
            <a:ext cx="210311"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223" name="Google Shape;223;p16"/>
          <p:cNvSpPr txBox="1"/>
          <p:nvPr/>
        </p:nvSpPr>
        <p:spPr>
          <a:xfrm>
            <a:off x="1901952" y="1225296"/>
            <a:ext cx="82296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303848"/>
                </a:solidFill>
                <a:latin typeface="Calibri"/>
                <a:ea typeface="Calibri"/>
                <a:cs typeface="Calibri"/>
                <a:sym typeface="Calibri"/>
              </a:rPr>
              <a:t>mission config</a:t>
            </a:r>
            <a:endParaRPr b="0" i="0" sz="1400" u="none" cap="none" strike="noStrike">
              <a:solidFill>
                <a:srgbClr val="000000"/>
              </a:solidFill>
              <a:latin typeface="Arial"/>
              <a:ea typeface="Arial"/>
              <a:cs typeface="Arial"/>
              <a:sym typeface="Arial"/>
            </a:endParaRPr>
          </a:p>
        </p:txBody>
      </p:sp>
      <p:sp>
        <p:nvSpPr>
          <p:cNvPr id="224" name="Google Shape;224;p16"/>
          <p:cNvSpPr/>
          <p:nvPr/>
        </p:nvSpPr>
        <p:spPr>
          <a:xfrm>
            <a:off x="2084831" y="941832"/>
            <a:ext cx="2834640" cy="1005840"/>
          </a:xfrm>
          <a:prstGeom prst="rect">
            <a:avLst/>
          </a:prstGeom>
          <a:solidFill>
            <a:srgbClr val="04162E"/>
          </a:solidFill>
          <a:ln cap="flat" cmpd="sng" w="254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5" name="Google Shape;225;p16"/>
          <p:cNvSpPr/>
          <p:nvPr/>
        </p:nvSpPr>
        <p:spPr>
          <a:xfrm>
            <a:off x="2084831" y="941832"/>
            <a:ext cx="2834640" cy="27432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6" name="Google Shape;226;p16"/>
          <p:cNvSpPr txBox="1"/>
          <p:nvPr/>
        </p:nvSpPr>
        <p:spPr>
          <a:xfrm>
            <a:off x="2084831" y="969264"/>
            <a:ext cx="283464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227" name="Google Shape;227;p16"/>
          <p:cNvSpPr txBox="1"/>
          <p:nvPr/>
        </p:nvSpPr>
        <p:spPr>
          <a:xfrm>
            <a:off x="2176271" y="1261872"/>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Reads ASG + APG state</a:t>
            </a:r>
            <a:endParaRPr b="0" i="0" sz="1400" u="none" cap="none" strike="noStrike">
              <a:solidFill>
                <a:srgbClr val="000000"/>
              </a:solidFill>
              <a:latin typeface="Arial"/>
              <a:ea typeface="Arial"/>
              <a:cs typeface="Arial"/>
              <a:sym typeface="Arial"/>
            </a:endParaRPr>
          </a:p>
        </p:txBody>
      </p:sp>
      <p:sp>
        <p:nvSpPr>
          <p:cNvPr id="228" name="Google Shape;228;p16"/>
          <p:cNvSpPr txBox="1"/>
          <p:nvPr/>
        </p:nvSpPr>
        <p:spPr>
          <a:xfrm>
            <a:off x="2176271" y="1426464"/>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Plans &amp; delegates tasks</a:t>
            </a:r>
            <a:endParaRPr b="0" i="0" sz="1400" u="none" cap="none" strike="noStrike">
              <a:solidFill>
                <a:srgbClr val="000000"/>
              </a:solidFill>
              <a:latin typeface="Arial"/>
              <a:ea typeface="Arial"/>
              <a:cs typeface="Arial"/>
              <a:sym typeface="Arial"/>
            </a:endParaRPr>
          </a:p>
        </p:txBody>
      </p:sp>
      <p:sp>
        <p:nvSpPr>
          <p:cNvPr id="229" name="Google Shape;229;p16"/>
          <p:cNvSpPr txBox="1"/>
          <p:nvPr/>
        </p:nvSpPr>
        <p:spPr>
          <a:xfrm>
            <a:off x="2176271" y="1591056"/>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Approves High-risk ops</a:t>
            </a:r>
            <a:endParaRPr b="0" i="0" sz="1400" u="none" cap="none" strike="noStrike">
              <a:solidFill>
                <a:srgbClr val="000000"/>
              </a:solidFill>
              <a:latin typeface="Arial"/>
              <a:ea typeface="Arial"/>
              <a:cs typeface="Arial"/>
              <a:sym typeface="Arial"/>
            </a:endParaRPr>
          </a:p>
        </p:txBody>
      </p:sp>
      <p:sp>
        <p:nvSpPr>
          <p:cNvPr id="230" name="Google Shape;230;p16"/>
          <p:cNvSpPr txBox="1"/>
          <p:nvPr/>
        </p:nvSpPr>
        <p:spPr>
          <a:xfrm>
            <a:off x="2176271" y="1755648"/>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Writes to APG only</a:t>
            </a:r>
            <a:endParaRPr b="0" i="0" sz="1400" u="none" cap="none" strike="noStrike">
              <a:solidFill>
                <a:srgbClr val="000000"/>
              </a:solidFill>
              <a:latin typeface="Arial"/>
              <a:ea typeface="Arial"/>
              <a:cs typeface="Arial"/>
              <a:sym typeface="Arial"/>
            </a:endParaRPr>
          </a:p>
        </p:txBody>
      </p:sp>
      <p:sp>
        <p:nvSpPr>
          <p:cNvPr id="231" name="Google Shape;231;p16"/>
          <p:cNvSpPr/>
          <p:nvPr/>
        </p:nvSpPr>
        <p:spPr>
          <a:xfrm>
            <a:off x="5120640" y="1060704"/>
            <a:ext cx="2103120" cy="877824"/>
          </a:xfrm>
          <a:prstGeom prst="rect">
            <a:avLst/>
          </a:prstGeom>
          <a:solidFill>
            <a:srgbClr val="100C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2" name="Google Shape;232;p16"/>
          <p:cNvSpPr txBox="1"/>
          <p:nvPr/>
        </p:nvSpPr>
        <p:spPr>
          <a:xfrm>
            <a:off x="5120640" y="1115568"/>
            <a:ext cx="210312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VAPT PROTOCOL PROMPT</a:t>
            </a:r>
            <a:endParaRPr b="0" i="0" sz="1400" u="none" cap="none" strike="noStrike">
              <a:solidFill>
                <a:srgbClr val="000000"/>
              </a:solidFill>
              <a:latin typeface="Arial"/>
              <a:ea typeface="Arial"/>
              <a:cs typeface="Arial"/>
              <a:sym typeface="Arial"/>
            </a:endParaRPr>
          </a:p>
        </p:txBody>
      </p:sp>
      <p:sp>
        <p:nvSpPr>
          <p:cNvPr id="233" name="Google Shape;233;p16"/>
          <p:cNvSpPr txBox="1"/>
          <p:nvPr/>
        </p:nvSpPr>
        <p:spPr>
          <a:xfrm>
            <a:off x="5212080" y="1353312"/>
            <a:ext cx="1965960" cy="5303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Phase rules · Re-plan triggers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Termination conditions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Methodology-as-config</a:t>
            </a:r>
            <a:endParaRPr b="0" i="0" sz="1400" u="none" cap="none" strike="noStrike">
              <a:solidFill>
                <a:srgbClr val="000000"/>
              </a:solidFill>
              <a:latin typeface="Arial"/>
              <a:ea typeface="Arial"/>
              <a:cs typeface="Arial"/>
              <a:sym typeface="Arial"/>
            </a:endParaRPr>
          </a:p>
        </p:txBody>
      </p:sp>
      <p:cxnSp>
        <p:nvCxnSpPr>
          <p:cNvPr id="234" name="Google Shape;234;p16"/>
          <p:cNvCxnSpPr/>
          <p:nvPr/>
        </p:nvCxnSpPr>
        <p:spPr>
          <a:xfrm>
            <a:off x="4919471" y="0"/>
            <a:ext cx="201169" cy="0"/>
          </a:xfrm>
          <a:prstGeom prst="straightConnector1">
            <a:avLst/>
          </a:prstGeom>
          <a:noFill/>
          <a:ln cap="flat" cmpd="sng" w="12700">
            <a:solidFill>
              <a:srgbClr val="BD93F9"/>
            </a:solidFill>
            <a:prstDash val="solid"/>
            <a:round/>
            <a:headEnd len="med" w="med" type="stealth"/>
            <a:tailEnd len="med" w="med" type="stealth"/>
          </a:ln>
          <a:effectLst>
            <a:outerShdw blurRad="40000" rotWithShape="0" dir="5400000" dist="20000">
              <a:srgbClr val="000000">
                <a:alpha val="38039"/>
              </a:srgbClr>
            </a:outerShdw>
          </a:effectLst>
        </p:spPr>
      </p:cxnSp>
      <p:sp>
        <p:nvSpPr>
          <p:cNvPr id="235" name="Google Shape;235;p16"/>
          <p:cNvSpPr/>
          <p:nvPr/>
        </p:nvSpPr>
        <p:spPr>
          <a:xfrm>
            <a:off x="164592" y="2139696"/>
            <a:ext cx="11862511" cy="1682496"/>
          </a:xfrm>
          <a:prstGeom prst="rect">
            <a:avLst/>
          </a:prstGeom>
          <a:solidFill>
            <a:srgbClr val="0514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6" name="Google Shape;236;p16"/>
          <p:cNvSpPr txBox="1"/>
          <p:nvPr/>
        </p:nvSpPr>
        <p:spPr>
          <a:xfrm>
            <a:off x="201168" y="2185416"/>
            <a:ext cx="23774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② DUAL-GRAPH WORLD MODEL</a:t>
            </a:r>
            <a:endParaRPr b="0" i="0" sz="1400" u="none" cap="none" strike="noStrike">
              <a:solidFill>
                <a:srgbClr val="000000"/>
              </a:solidFill>
              <a:latin typeface="Arial"/>
              <a:ea typeface="Arial"/>
              <a:cs typeface="Arial"/>
              <a:sym typeface="Arial"/>
            </a:endParaRPr>
          </a:p>
        </p:txBody>
      </p:sp>
      <p:sp>
        <p:nvSpPr>
          <p:cNvPr id="237" name="Google Shape;237;p16"/>
          <p:cNvSpPr/>
          <p:nvPr/>
        </p:nvSpPr>
        <p:spPr>
          <a:xfrm>
            <a:off x="320040" y="2414016"/>
            <a:ext cx="4297680" cy="1298448"/>
          </a:xfrm>
          <a:prstGeom prst="rect">
            <a:avLst/>
          </a:prstGeom>
          <a:solidFill>
            <a:srgbClr val="04180C"/>
          </a:solidFill>
          <a:ln cap="flat" cmpd="sng" w="228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8" name="Google Shape;238;p16"/>
          <p:cNvSpPr/>
          <p:nvPr/>
        </p:nvSpPr>
        <p:spPr>
          <a:xfrm>
            <a:off x="320040" y="2414016"/>
            <a:ext cx="4297680" cy="27432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9" name="Google Shape;239;p16"/>
          <p:cNvSpPr txBox="1"/>
          <p:nvPr/>
        </p:nvSpPr>
        <p:spPr>
          <a:xfrm>
            <a:off x="320040" y="2450592"/>
            <a:ext cx="42976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SURFACE GRAPH  (ASG)</a:t>
            </a:r>
            <a:endParaRPr b="0" i="0" sz="1400" u="none" cap="none" strike="noStrike">
              <a:solidFill>
                <a:srgbClr val="000000"/>
              </a:solidFill>
              <a:latin typeface="Arial"/>
              <a:ea typeface="Arial"/>
              <a:cs typeface="Arial"/>
              <a:sym typeface="Arial"/>
            </a:endParaRPr>
          </a:p>
        </p:txBody>
      </p:sp>
      <p:sp>
        <p:nvSpPr>
          <p:cNvPr id="240" name="Google Shape;240;p16"/>
          <p:cNvSpPr/>
          <p:nvPr/>
        </p:nvSpPr>
        <p:spPr>
          <a:xfrm>
            <a:off x="457200"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p16"/>
          <p:cNvSpPr txBox="1"/>
          <p:nvPr/>
        </p:nvSpPr>
        <p:spPr>
          <a:xfrm>
            <a:off x="457200"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Domain</a:t>
            </a:r>
            <a:endParaRPr b="0" i="0" sz="1400" u="none" cap="none" strike="noStrike">
              <a:solidFill>
                <a:srgbClr val="000000"/>
              </a:solidFill>
              <a:latin typeface="Arial"/>
              <a:ea typeface="Arial"/>
              <a:cs typeface="Arial"/>
              <a:sym typeface="Arial"/>
            </a:endParaRPr>
          </a:p>
        </p:txBody>
      </p:sp>
      <p:sp>
        <p:nvSpPr>
          <p:cNvPr id="242" name="Google Shape;242;p16"/>
          <p:cNvSpPr/>
          <p:nvPr/>
        </p:nvSpPr>
        <p:spPr>
          <a:xfrm>
            <a:off x="1261872"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3" name="Google Shape;243;p16"/>
          <p:cNvSpPr txBox="1"/>
          <p:nvPr/>
        </p:nvSpPr>
        <p:spPr>
          <a:xfrm>
            <a:off x="1261872"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Host</a:t>
            </a:r>
            <a:endParaRPr b="0" i="0" sz="1400" u="none" cap="none" strike="noStrike">
              <a:solidFill>
                <a:srgbClr val="000000"/>
              </a:solidFill>
              <a:latin typeface="Arial"/>
              <a:ea typeface="Arial"/>
              <a:cs typeface="Arial"/>
              <a:sym typeface="Arial"/>
            </a:endParaRPr>
          </a:p>
        </p:txBody>
      </p:sp>
      <p:sp>
        <p:nvSpPr>
          <p:cNvPr id="244" name="Google Shape;244;p16"/>
          <p:cNvSpPr/>
          <p:nvPr/>
        </p:nvSpPr>
        <p:spPr>
          <a:xfrm>
            <a:off x="2066544"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16"/>
          <p:cNvSpPr txBox="1"/>
          <p:nvPr/>
        </p:nvSpPr>
        <p:spPr>
          <a:xfrm>
            <a:off x="2066544"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Port</a:t>
            </a:r>
            <a:endParaRPr b="0" i="0" sz="1400" u="none" cap="none" strike="noStrike">
              <a:solidFill>
                <a:srgbClr val="000000"/>
              </a:solidFill>
              <a:latin typeface="Arial"/>
              <a:ea typeface="Arial"/>
              <a:cs typeface="Arial"/>
              <a:sym typeface="Arial"/>
            </a:endParaRPr>
          </a:p>
        </p:txBody>
      </p:sp>
      <p:sp>
        <p:nvSpPr>
          <p:cNvPr id="246" name="Google Shape;246;p16"/>
          <p:cNvSpPr/>
          <p:nvPr/>
        </p:nvSpPr>
        <p:spPr>
          <a:xfrm>
            <a:off x="2871216"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7" name="Google Shape;247;p16"/>
          <p:cNvSpPr txBox="1"/>
          <p:nvPr/>
        </p:nvSpPr>
        <p:spPr>
          <a:xfrm>
            <a:off x="2871216"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Service</a:t>
            </a:r>
            <a:endParaRPr b="0" i="0" sz="1400" u="none" cap="none" strike="noStrike">
              <a:solidFill>
                <a:srgbClr val="000000"/>
              </a:solidFill>
              <a:latin typeface="Arial"/>
              <a:ea typeface="Arial"/>
              <a:cs typeface="Arial"/>
              <a:sym typeface="Arial"/>
            </a:endParaRPr>
          </a:p>
        </p:txBody>
      </p:sp>
      <p:sp>
        <p:nvSpPr>
          <p:cNvPr id="248" name="Google Shape;248;p16"/>
          <p:cNvSpPr/>
          <p:nvPr/>
        </p:nvSpPr>
        <p:spPr>
          <a:xfrm>
            <a:off x="3675888"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9" name="Google Shape;249;p16"/>
          <p:cNvSpPr txBox="1"/>
          <p:nvPr/>
        </p:nvSpPr>
        <p:spPr>
          <a:xfrm>
            <a:off x="3675888"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Technology</a:t>
            </a:r>
            <a:endParaRPr b="0" i="0" sz="1400" u="none" cap="none" strike="noStrike">
              <a:solidFill>
                <a:srgbClr val="000000"/>
              </a:solidFill>
              <a:latin typeface="Arial"/>
              <a:ea typeface="Arial"/>
              <a:cs typeface="Arial"/>
              <a:sym typeface="Arial"/>
            </a:endParaRPr>
          </a:p>
        </p:txBody>
      </p:sp>
      <p:sp>
        <p:nvSpPr>
          <p:cNvPr id="250" name="Google Shape;250;p16"/>
          <p:cNvSpPr/>
          <p:nvPr/>
        </p:nvSpPr>
        <p:spPr>
          <a:xfrm>
            <a:off x="45720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1" name="Google Shape;251;p16"/>
          <p:cNvSpPr txBox="1"/>
          <p:nvPr/>
        </p:nvSpPr>
        <p:spPr>
          <a:xfrm>
            <a:off x="45720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Endpoint</a:t>
            </a:r>
            <a:endParaRPr b="0" i="0" sz="1400" u="none" cap="none" strike="noStrike">
              <a:solidFill>
                <a:srgbClr val="000000"/>
              </a:solidFill>
              <a:latin typeface="Arial"/>
              <a:ea typeface="Arial"/>
              <a:cs typeface="Arial"/>
              <a:sym typeface="Arial"/>
            </a:endParaRPr>
          </a:p>
        </p:txBody>
      </p:sp>
      <p:sp>
        <p:nvSpPr>
          <p:cNvPr id="252" name="Google Shape;252;p16"/>
          <p:cNvSpPr/>
          <p:nvPr/>
        </p:nvSpPr>
        <p:spPr>
          <a:xfrm>
            <a:off x="146304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3" name="Google Shape;253;p16"/>
          <p:cNvSpPr txBox="1"/>
          <p:nvPr/>
        </p:nvSpPr>
        <p:spPr>
          <a:xfrm>
            <a:off x="146304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Parameter</a:t>
            </a:r>
            <a:endParaRPr b="0" i="0" sz="1400" u="none" cap="none" strike="noStrike">
              <a:solidFill>
                <a:srgbClr val="000000"/>
              </a:solidFill>
              <a:latin typeface="Arial"/>
              <a:ea typeface="Arial"/>
              <a:cs typeface="Arial"/>
              <a:sym typeface="Arial"/>
            </a:endParaRPr>
          </a:p>
        </p:txBody>
      </p:sp>
      <p:sp>
        <p:nvSpPr>
          <p:cNvPr id="254" name="Google Shape;254;p16"/>
          <p:cNvSpPr/>
          <p:nvPr/>
        </p:nvSpPr>
        <p:spPr>
          <a:xfrm>
            <a:off x="246888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 name="Google Shape;255;p16"/>
          <p:cNvSpPr txBox="1"/>
          <p:nvPr/>
        </p:nvSpPr>
        <p:spPr>
          <a:xfrm>
            <a:off x="246888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Vulnerability</a:t>
            </a:r>
            <a:endParaRPr b="0" i="0" sz="1400" u="none" cap="none" strike="noStrike">
              <a:solidFill>
                <a:srgbClr val="000000"/>
              </a:solidFill>
              <a:latin typeface="Arial"/>
              <a:ea typeface="Arial"/>
              <a:cs typeface="Arial"/>
              <a:sym typeface="Arial"/>
            </a:endParaRPr>
          </a:p>
        </p:txBody>
      </p:sp>
      <p:sp>
        <p:nvSpPr>
          <p:cNvPr id="256" name="Google Shape;256;p16"/>
          <p:cNvSpPr/>
          <p:nvPr/>
        </p:nvSpPr>
        <p:spPr>
          <a:xfrm>
            <a:off x="347472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7" name="Google Shape;257;p16"/>
          <p:cNvSpPr txBox="1"/>
          <p:nvPr/>
        </p:nvSpPr>
        <p:spPr>
          <a:xfrm>
            <a:off x="347472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258" name="Google Shape;258;p16"/>
          <p:cNvSpPr txBox="1"/>
          <p:nvPr/>
        </p:nvSpPr>
        <p:spPr>
          <a:xfrm>
            <a:off x="429768" y="3300984"/>
            <a:ext cx="41148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60C070"/>
                </a:solidFill>
                <a:latin typeface="Calibri"/>
                <a:ea typeface="Calibri"/>
                <a:cs typeface="Calibri"/>
                <a:sym typeface="Calibri"/>
              </a:rPr>
              <a:t>Discovered Reality — confirmed facts only. Never contains hypotheses.</a:t>
            </a:r>
            <a:endParaRPr b="0" i="0" sz="1400" u="none" cap="none" strike="noStrike">
              <a:solidFill>
                <a:srgbClr val="000000"/>
              </a:solidFill>
              <a:latin typeface="Arial"/>
              <a:ea typeface="Arial"/>
              <a:cs typeface="Arial"/>
              <a:sym typeface="Arial"/>
            </a:endParaRPr>
          </a:p>
        </p:txBody>
      </p:sp>
      <p:sp>
        <p:nvSpPr>
          <p:cNvPr id="259" name="Google Shape;259;p16"/>
          <p:cNvSpPr/>
          <p:nvPr/>
        </p:nvSpPr>
        <p:spPr>
          <a:xfrm>
            <a:off x="7589520" y="2414016"/>
            <a:ext cx="4389120" cy="1298448"/>
          </a:xfrm>
          <a:prstGeom prst="rect">
            <a:avLst/>
          </a:prstGeom>
          <a:solidFill>
            <a:srgbClr val="1E1004"/>
          </a:solidFill>
          <a:ln cap="flat" cmpd="sng" w="228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 name="Google Shape;260;p16"/>
          <p:cNvSpPr/>
          <p:nvPr/>
        </p:nvSpPr>
        <p:spPr>
          <a:xfrm>
            <a:off x="7589520" y="2414016"/>
            <a:ext cx="4389120" cy="27432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p16"/>
          <p:cNvSpPr txBox="1"/>
          <p:nvPr/>
        </p:nvSpPr>
        <p:spPr>
          <a:xfrm>
            <a:off x="7589520" y="2450592"/>
            <a:ext cx="438912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PATH GRAPH  (APG)</a:t>
            </a:r>
            <a:endParaRPr b="0" i="0" sz="1400" u="none" cap="none" strike="noStrike">
              <a:solidFill>
                <a:srgbClr val="000000"/>
              </a:solidFill>
              <a:latin typeface="Arial"/>
              <a:ea typeface="Arial"/>
              <a:cs typeface="Arial"/>
              <a:sym typeface="Arial"/>
            </a:endParaRPr>
          </a:p>
        </p:txBody>
      </p:sp>
      <p:sp>
        <p:nvSpPr>
          <p:cNvPr id="262" name="Google Shape;262;p16"/>
          <p:cNvSpPr/>
          <p:nvPr/>
        </p:nvSpPr>
        <p:spPr>
          <a:xfrm>
            <a:off x="772668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3" name="Google Shape;263;p16"/>
          <p:cNvSpPr txBox="1"/>
          <p:nvPr/>
        </p:nvSpPr>
        <p:spPr>
          <a:xfrm>
            <a:off x="772668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AttackChain</a:t>
            </a:r>
            <a:endParaRPr b="0" i="0" sz="1400" u="none" cap="none" strike="noStrike">
              <a:solidFill>
                <a:srgbClr val="000000"/>
              </a:solidFill>
              <a:latin typeface="Arial"/>
              <a:ea typeface="Arial"/>
              <a:cs typeface="Arial"/>
              <a:sym typeface="Arial"/>
            </a:endParaRPr>
          </a:p>
        </p:txBody>
      </p:sp>
      <p:sp>
        <p:nvSpPr>
          <p:cNvPr id="264" name="Google Shape;264;p16"/>
          <p:cNvSpPr/>
          <p:nvPr/>
        </p:nvSpPr>
        <p:spPr>
          <a:xfrm>
            <a:off x="909828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5" name="Google Shape;265;p16"/>
          <p:cNvSpPr txBox="1"/>
          <p:nvPr/>
        </p:nvSpPr>
        <p:spPr>
          <a:xfrm>
            <a:off x="909828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ChainStep</a:t>
            </a:r>
            <a:endParaRPr b="0" i="0" sz="1400" u="none" cap="none" strike="noStrike">
              <a:solidFill>
                <a:srgbClr val="000000"/>
              </a:solidFill>
              <a:latin typeface="Arial"/>
              <a:ea typeface="Arial"/>
              <a:cs typeface="Arial"/>
              <a:sym typeface="Arial"/>
            </a:endParaRPr>
          </a:p>
        </p:txBody>
      </p:sp>
      <p:sp>
        <p:nvSpPr>
          <p:cNvPr id="266" name="Google Shape;266;p16"/>
          <p:cNvSpPr/>
          <p:nvPr/>
        </p:nvSpPr>
        <p:spPr>
          <a:xfrm>
            <a:off x="1046988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p16"/>
          <p:cNvSpPr txBox="1"/>
          <p:nvPr/>
        </p:nvSpPr>
        <p:spPr>
          <a:xfrm>
            <a:off x="1046988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Impact</a:t>
            </a:r>
            <a:endParaRPr b="0" i="0" sz="1400" u="none" cap="none" strike="noStrike">
              <a:solidFill>
                <a:srgbClr val="000000"/>
              </a:solidFill>
              <a:latin typeface="Arial"/>
              <a:ea typeface="Arial"/>
              <a:cs typeface="Arial"/>
              <a:sym typeface="Arial"/>
            </a:endParaRPr>
          </a:p>
        </p:txBody>
      </p:sp>
      <p:sp>
        <p:nvSpPr>
          <p:cNvPr id="268" name="Google Shape;268;p16"/>
          <p:cNvSpPr txBox="1"/>
          <p:nvPr/>
        </p:nvSpPr>
        <p:spPr>
          <a:xfrm>
            <a:off x="7699248" y="3035808"/>
            <a:ext cx="42062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risk_score  ·  validation_status  ·  priority</a:t>
            </a:r>
            <a:endParaRPr b="0" i="0" sz="1400" u="none" cap="none" strike="noStrike">
              <a:solidFill>
                <a:srgbClr val="000000"/>
              </a:solidFill>
              <a:latin typeface="Arial"/>
              <a:ea typeface="Arial"/>
              <a:cs typeface="Arial"/>
              <a:sym typeface="Arial"/>
            </a:endParaRPr>
          </a:p>
        </p:txBody>
      </p:sp>
      <p:sp>
        <p:nvSpPr>
          <p:cNvPr id="269" name="Google Shape;269;p16"/>
          <p:cNvSpPr txBox="1"/>
          <p:nvPr/>
        </p:nvSpPr>
        <p:spPr>
          <a:xfrm>
            <a:off x="7699248" y="3282696"/>
            <a:ext cx="420624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C09020"/>
                </a:solidFill>
                <a:latin typeface="Calibri"/>
                <a:ea typeface="Calibri"/>
                <a:cs typeface="Calibri"/>
                <a:sym typeface="Calibri"/>
              </a:rPr>
              <a:t>Inferred Opportunity — attack reasoning only. Never contains raw scan data.</a:t>
            </a:r>
            <a:endParaRPr b="0" i="0" sz="1400" u="none" cap="none" strike="noStrike">
              <a:solidFill>
                <a:srgbClr val="000000"/>
              </a:solidFill>
              <a:latin typeface="Arial"/>
              <a:ea typeface="Arial"/>
              <a:cs typeface="Arial"/>
              <a:sym typeface="Arial"/>
            </a:endParaRPr>
          </a:p>
        </p:txBody>
      </p:sp>
      <p:sp>
        <p:nvSpPr>
          <p:cNvPr id="270" name="Google Shape;270;p16"/>
          <p:cNvSpPr/>
          <p:nvPr/>
        </p:nvSpPr>
        <p:spPr>
          <a:xfrm>
            <a:off x="4617720" y="2414016"/>
            <a:ext cx="2971800" cy="1298448"/>
          </a:xfrm>
          <a:prstGeom prst="rect">
            <a:avLst/>
          </a:prstGeom>
          <a:solidFill>
            <a:srgbClr val="0610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p16"/>
          <p:cNvSpPr txBox="1"/>
          <p:nvPr/>
        </p:nvSpPr>
        <p:spPr>
          <a:xfrm>
            <a:off x="4654296" y="2706624"/>
            <a:ext cx="2935224"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A0AAB8"/>
                </a:solidFill>
                <a:latin typeface="Calibri"/>
                <a:ea typeface="Calibri"/>
                <a:cs typeface="Calibri"/>
                <a:sym typeface="Calibri"/>
              </a:rPr>
              <a:t>STRICT</a:t>
            </a:r>
            <a:br>
              <a:rPr b="1" i="0" lang="en-US" sz="700" u="none" cap="none" strike="noStrike">
                <a:solidFill>
                  <a:srgbClr val="A0AAB8"/>
                </a:solidFill>
                <a:latin typeface="Calibri"/>
                <a:ea typeface="Calibri"/>
                <a:cs typeface="Calibri"/>
                <a:sym typeface="Calibri"/>
              </a:rPr>
            </a:br>
            <a:r>
              <a:rPr b="1" i="0" lang="en-US" sz="700" u="none" cap="none" strike="noStrike">
                <a:solidFill>
                  <a:srgbClr val="A0AAB8"/>
                </a:solidFill>
                <a:latin typeface="Calibri"/>
                <a:ea typeface="Calibri"/>
                <a:cs typeface="Calibri"/>
                <a:sym typeface="Calibri"/>
              </a:rPr>
              <a:t>SEPARATION</a:t>
            </a:r>
            <a:endParaRPr b="0" i="0" sz="1400" u="none" cap="none" strike="noStrike">
              <a:solidFill>
                <a:srgbClr val="000000"/>
              </a:solidFill>
              <a:latin typeface="Arial"/>
              <a:ea typeface="Arial"/>
              <a:cs typeface="Arial"/>
              <a:sym typeface="Arial"/>
            </a:endParaRPr>
          </a:p>
        </p:txBody>
      </p:sp>
      <p:sp>
        <p:nvSpPr>
          <p:cNvPr id="272" name="Google Shape;272;p16"/>
          <p:cNvSpPr/>
          <p:nvPr/>
        </p:nvSpPr>
        <p:spPr>
          <a:xfrm>
            <a:off x="6094476" y="2414016"/>
            <a:ext cx="18288" cy="1298448"/>
          </a:xfrm>
          <a:prstGeom prst="rect">
            <a:avLst/>
          </a:prstGeom>
          <a:solidFill>
            <a:srgbClr val="3038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73" name="Google Shape;273;p16"/>
          <p:cNvCxnSpPr/>
          <p:nvPr/>
        </p:nvCxnSpPr>
        <p:spPr>
          <a:xfrm>
            <a:off x="0" y="3712464"/>
            <a:ext cx="0" cy="201168"/>
          </a:xfrm>
          <a:prstGeom prst="straightConnector1">
            <a:avLst/>
          </a:prstGeom>
          <a:noFill/>
          <a:ln cap="flat" cmpd="sng" w="101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74" name="Google Shape;274;p16"/>
          <p:cNvCxnSpPr/>
          <p:nvPr/>
        </p:nvCxnSpPr>
        <p:spPr>
          <a:xfrm>
            <a:off x="0" y="2084832"/>
            <a:ext cx="0" cy="54864"/>
          </a:xfrm>
          <a:prstGeom prst="straightConnector1">
            <a:avLst/>
          </a:prstGeom>
          <a:noFill/>
          <a:ln cap="flat" cmpd="sng" w="152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75" name="Google Shape;275;p16"/>
          <p:cNvCxnSpPr/>
          <p:nvPr/>
        </p:nvCxnSpPr>
        <p:spPr>
          <a:xfrm rot="10800000">
            <a:off x="0" y="2084832"/>
            <a:ext cx="0" cy="54864"/>
          </a:xfrm>
          <a:prstGeom prst="straightConnector1">
            <a:avLst/>
          </a:prstGeom>
          <a:noFill/>
          <a:ln cap="flat" cmpd="sng" w="1270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276" name="Google Shape;276;p16"/>
          <p:cNvSpPr/>
          <p:nvPr/>
        </p:nvSpPr>
        <p:spPr>
          <a:xfrm>
            <a:off x="164592" y="3877056"/>
            <a:ext cx="11862511" cy="2724912"/>
          </a:xfrm>
          <a:prstGeom prst="rect">
            <a:avLst/>
          </a:prstGeom>
          <a:solidFill>
            <a:srgbClr val="0A08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p16"/>
          <p:cNvSpPr txBox="1"/>
          <p:nvPr/>
        </p:nvSpPr>
        <p:spPr>
          <a:xfrm>
            <a:off x="201168" y="3913632"/>
            <a:ext cx="45720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③ SPECIALIZED AGENTS  +  TOOL ADAPTER LAYER</a:t>
            </a:r>
            <a:endParaRPr b="0" i="0" sz="1400" u="none" cap="none" strike="noStrike">
              <a:solidFill>
                <a:srgbClr val="000000"/>
              </a:solidFill>
              <a:latin typeface="Arial"/>
              <a:ea typeface="Arial"/>
              <a:cs typeface="Arial"/>
              <a:sym typeface="Arial"/>
            </a:endParaRPr>
          </a:p>
        </p:txBody>
      </p:sp>
      <p:sp>
        <p:nvSpPr>
          <p:cNvPr id="278" name="Google Shape;278;p16"/>
          <p:cNvSpPr/>
          <p:nvPr/>
        </p:nvSpPr>
        <p:spPr>
          <a:xfrm>
            <a:off x="320040" y="4133088"/>
            <a:ext cx="1287780" cy="2404872"/>
          </a:xfrm>
          <a:prstGeom prst="rect">
            <a:avLst/>
          </a:prstGeom>
          <a:solidFill>
            <a:srgbClr val="0C0E22"/>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9" name="Google Shape;279;p16"/>
          <p:cNvSpPr/>
          <p:nvPr/>
        </p:nvSpPr>
        <p:spPr>
          <a:xfrm>
            <a:off x="320040" y="4133088"/>
            <a:ext cx="1287780" cy="21945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p16"/>
          <p:cNvSpPr txBox="1"/>
          <p:nvPr/>
        </p:nvSpPr>
        <p:spPr>
          <a:xfrm>
            <a:off x="32004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Recon</a:t>
            </a:r>
            <a:endParaRPr b="0" i="0" sz="1400" u="none" cap="none" strike="noStrike">
              <a:solidFill>
                <a:srgbClr val="000000"/>
              </a:solidFill>
              <a:latin typeface="Arial"/>
              <a:ea typeface="Arial"/>
              <a:cs typeface="Arial"/>
              <a:sym typeface="Arial"/>
            </a:endParaRPr>
          </a:p>
        </p:txBody>
      </p:sp>
      <p:sp>
        <p:nvSpPr>
          <p:cNvPr id="281" name="Google Shape;281;p16"/>
          <p:cNvSpPr txBox="1"/>
          <p:nvPr/>
        </p:nvSpPr>
        <p:spPr>
          <a:xfrm>
            <a:off x="374904"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cxnSp>
        <p:nvCxnSpPr>
          <p:cNvPr id="282" name="Google Shape;282;p16"/>
          <p:cNvCxnSpPr/>
          <p:nvPr/>
        </p:nvCxnSpPr>
        <p:spPr>
          <a:xfrm>
            <a:off x="0" y="2130552"/>
            <a:ext cx="0" cy="2002536"/>
          </a:xfrm>
          <a:prstGeom prst="straightConnector1">
            <a:avLst/>
          </a:prstGeom>
          <a:noFill/>
          <a:ln cap="flat" cmpd="sng" w="95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83" name="Google Shape;283;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284" name="Google Shape;284;p16"/>
          <p:cNvSpPr/>
          <p:nvPr/>
        </p:nvSpPr>
        <p:spPr>
          <a:xfrm>
            <a:off x="1662684" y="4133088"/>
            <a:ext cx="1287780" cy="2404872"/>
          </a:xfrm>
          <a:prstGeom prst="rect">
            <a:avLst/>
          </a:prstGeom>
          <a:solidFill>
            <a:srgbClr val="0C0E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5" name="Google Shape;285;p16"/>
          <p:cNvSpPr/>
          <p:nvPr/>
        </p:nvSpPr>
        <p:spPr>
          <a:xfrm>
            <a:off x="1662684" y="4133088"/>
            <a:ext cx="1287780" cy="2194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6" name="Google Shape;286;p16"/>
          <p:cNvSpPr txBox="1"/>
          <p:nvPr/>
        </p:nvSpPr>
        <p:spPr>
          <a:xfrm>
            <a:off x="1662684"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Analysis</a:t>
            </a:r>
            <a:endParaRPr b="0" i="0" sz="1400" u="none" cap="none" strike="noStrike">
              <a:solidFill>
                <a:srgbClr val="000000"/>
              </a:solidFill>
              <a:latin typeface="Arial"/>
              <a:ea typeface="Arial"/>
              <a:cs typeface="Arial"/>
              <a:sym typeface="Arial"/>
            </a:endParaRPr>
          </a:p>
        </p:txBody>
      </p:sp>
      <p:sp>
        <p:nvSpPr>
          <p:cNvPr id="287" name="Google Shape;287;p16"/>
          <p:cNvSpPr txBox="1"/>
          <p:nvPr/>
        </p:nvSpPr>
        <p:spPr>
          <a:xfrm>
            <a:off x="1717548"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cxnSp>
        <p:nvCxnSpPr>
          <p:cNvPr id="288" name="Google Shape;288;p16"/>
          <p:cNvCxnSpPr/>
          <p:nvPr/>
        </p:nvCxnSpPr>
        <p:spPr>
          <a:xfrm>
            <a:off x="0" y="2130552"/>
            <a:ext cx="0" cy="2002536"/>
          </a:xfrm>
          <a:prstGeom prst="straightConnector1">
            <a:avLst/>
          </a:prstGeom>
          <a:noFill/>
          <a:ln cap="flat" cmpd="sng" w="95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89" name="Google Shape;289;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290" name="Google Shape;290;p16"/>
          <p:cNvSpPr/>
          <p:nvPr/>
        </p:nvSpPr>
        <p:spPr>
          <a:xfrm>
            <a:off x="3005328" y="4133088"/>
            <a:ext cx="1287780" cy="2404872"/>
          </a:xfrm>
          <a:prstGeom prst="rect">
            <a:avLst/>
          </a:prstGeom>
          <a:solidFill>
            <a:srgbClr val="0C0E22"/>
          </a:solidFill>
          <a:ln cap="flat" cmpd="sng" w="152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p16"/>
          <p:cNvSpPr/>
          <p:nvPr/>
        </p:nvSpPr>
        <p:spPr>
          <a:xfrm>
            <a:off x="3005328" y="4133088"/>
            <a:ext cx="1287780"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p16"/>
          <p:cNvSpPr txBox="1"/>
          <p:nvPr/>
        </p:nvSpPr>
        <p:spPr>
          <a:xfrm>
            <a:off x="3005328"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Research</a:t>
            </a:r>
            <a:endParaRPr b="0" i="0" sz="1400" u="none" cap="none" strike="noStrike">
              <a:solidFill>
                <a:srgbClr val="000000"/>
              </a:solidFill>
              <a:latin typeface="Arial"/>
              <a:ea typeface="Arial"/>
              <a:cs typeface="Arial"/>
              <a:sym typeface="Arial"/>
            </a:endParaRPr>
          </a:p>
        </p:txBody>
      </p:sp>
      <p:sp>
        <p:nvSpPr>
          <p:cNvPr id="293" name="Google Shape;293;p16"/>
          <p:cNvSpPr txBox="1"/>
          <p:nvPr/>
        </p:nvSpPr>
        <p:spPr>
          <a:xfrm>
            <a:off x="3060192"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D700"/>
                </a:solidFill>
                <a:latin typeface="Calibri"/>
                <a:ea typeface="Calibri"/>
                <a:cs typeface="Calibri"/>
                <a:sym typeface="Calibri"/>
              </a:rPr>
              <a:t>NVD · Exploit-DB · GitHub</a:t>
            </a:r>
            <a:endParaRPr b="0" i="0" sz="1400" u="none" cap="none" strike="noStrike">
              <a:solidFill>
                <a:srgbClr val="000000"/>
              </a:solidFill>
              <a:latin typeface="Arial"/>
              <a:ea typeface="Arial"/>
              <a:cs typeface="Arial"/>
              <a:sym typeface="Arial"/>
            </a:endParaRPr>
          </a:p>
        </p:txBody>
      </p:sp>
      <p:cxnSp>
        <p:nvCxnSpPr>
          <p:cNvPr id="294" name="Google Shape;294;p16"/>
          <p:cNvCxnSpPr/>
          <p:nvPr/>
        </p:nvCxnSpPr>
        <p:spPr>
          <a:xfrm>
            <a:off x="0" y="2130552"/>
            <a:ext cx="0" cy="2002536"/>
          </a:xfrm>
          <a:prstGeom prst="straightConnector1">
            <a:avLst/>
          </a:prstGeom>
          <a:noFill/>
          <a:ln cap="flat" cmpd="sng" w="95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95" name="Google Shape;295;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296" name="Google Shape;296;p16"/>
          <p:cNvSpPr/>
          <p:nvPr/>
        </p:nvSpPr>
        <p:spPr>
          <a:xfrm>
            <a:off x="4347972" y="4133088"/>
            <a:ext cx="1287780" cy="2404872"/>
          </a:xfrm>
          <a:prstGeom prst="rect">
            <a:avLst/>
          </a:prstGeom>
          <a:solidFill>
            <a:srgbClr val="0C0E22"/>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7" name="Google Shape;297;p16"/>
          <p:cNvSpPr/>
          <p:nvPr/>
        </p:nvSpPr>
        <p:spPr>
          <a:xfrm>
            <a:off x="4347972" y="4133088"/>
            <a:ext cx="1287780" cy="21945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8" name="Google Shape;298;p16"/>
          <p:cNvSpPr txBox="1"/>
          <p:nvPr/>
        </p:nvSpPr>
        <p:spPr>
          <a:xfrm>
            <a:off x="4347972"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299" name="Google Shape;299;p16"/>
          <p:cNvSpPr txBox="1"/>
          <p:nvPr/>
        </p:nvSpPr>
        <p:spPr>
          <a:xfrm>
            <a:off x="4402836"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4545"/>
                </a:solidFill>
                <a:latin typeface="Calibri"/>
                <a:ea typeface="Calibri"/>
                <a:cs typeface="Calibri"/>
                <a:sym typeface="Calibri"/>
              </a:rPr>
              <a:t>SQLMap · Metasploit</a:t>
            </a:r>
            <a:endParaRPr b="0" i="0" sz="1400" u="none" cap="none" strike="noStrike">
              <a:solidFill>
                <a:srgbClr val="000000"/>
              </a:solidFill>
              <a:latin typeface="Arial"/>
              <a:ea typeface="Arial"/>
              <a:cs typeface="Arial"/>
              <a:sym typeface="Arial"/>
            </a:endParaRPr>
          </a:p>
        </p:txBody>
      </p:sp>
      <p:cxnSp>
        <p:nvCxnSpPr>
          <p:cNvPr id="300" name="Google Shape;300;p16"/>
          <p:cNvCxnSpPr/>
          <p:nvPr/>
        </p:nvCxnSpPr>
        <p:spPr>
          <a:xfrm>
            <a:off x="0" y="2130552"/>
            <a:ext cx="0" cy="2002536"/>
          </a:xfrm>
          <a:prstGeom prst="straightConnector1">
            <a:avLst/>
          </a:prstGeom>
          <a:noFill/>
          <a:ln cap="flat" cmpd="sng" w="9525">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01" name="Google Shape;301;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02" name="Google Shape;302;p16"/>
          <p:cNvSpPr/>
          <p:nvPr/>
        </p:nvSpPr>
        <p:spPr>
          <a:xfrm>
            <a:off x="5690616" y="4133088"/>
            <a:ext cx="1287780" cy="2404872"/>
          </a:xfrm>
          <a:prstGeom prst="rect">
            <a:avLst/>
          </a:prstGeom>
          <a:solidFill>
            <a:srgbClr val="0C0E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3" name="Google Shape;303;p16"/>
          <p:cNvSpPr/>
          <p:nvPr/>
        </p:nvSpPr>
        <p:spPr>
          <a:xfrm>
            <a:off x="5690616" y="4133088"/>
            <a:ext cx="1287780" cy="21945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4" name="Google Shape;304;p16"/>
          <p:cNvSpPr txBox="1"/>
          <p:nvPr/>
        </p:nvSpPr>
        <p:spPr>
          <a:xfrm>
            <a:off x="5690616"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305" name="Google Shape;305;p16"/>
          <p:cNvSpPr txBox="1"/>
          <p:nvPr/>
        </p:nvSpPr>
        <p:spPr>
          <a:xfrm>
            <a:off x="5745480"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cxnSp>
        <p:nvCxnSpPr>
          <p:cNvPr id="306" name="Google Shape;306;p16"/>
          <p:cNvCxnSpPr/>
          <p:nvPr/>
        </p:nvCxnSpPr>
        <p:spPr>
          <a:xfrm>
            <a:off x="0" y="2130552"/>
            <a:ext cx="0" cy="2002536"/>
          </a:xfrm>
          <a:prstGeom prst="straightConnector1">
            <a:avLst/>
          </a:prstGeom>
          <a:noFill/>
          <a:ln cap="flat" cmpd="sng" w="9525">
            <a:solidFill>
              <a:srgbClr val="BD93F9"/>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07" name="Google Shape;307;p16"/>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08" name="Google Shape;308;p16"/>
          <p:cNvSpPr/>
          <p:nvPr/>
        </p:nvSpPr>
        <p:spPr>
          <a:xfrm>
            <a:off x="7033260" y="4133088"/>
            <a:ext cx="1287780" cy="2404872"/>
          </a:xfrm>
          <a:prstGeom prst="rect">
            <a:avLst/>
          </a:prstGeom>
          <a:solidFill>
            <a:srgbClr val="0C0E22"/>
          </a:solidFill>
          <a:ln cap="flat" cmpd="sng" w="152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9" name="Google Shape;309;p16"/>
          <p:cNvSpPr/>
          <p:nvPr/>
        </p:nvSpPr>
        <p:spPr>
          <a:xfrm>
            <a:off x="7033260" y="4133088"/>
            <a:ext cx="1287780" cy="219456"/>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p16"/>
          <p:cNvSpPr txBox="1"/>
          <p:nvPr/>
        </p:nvSpPr>
        <p:spPr>
          <a:xfrm>
            <a:off x="703326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311" name="Google Shape;311;p16"/>
          <p:cNvSpPr txBox="1"/>
          <p:nvPr/>
        </p:nvSpPr>
        <p:spPr>
          <a:xfrm>
            <a:off x="7088124"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A0AAB8"/>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cxnSp>
        <p:nvCxnSpPr>
          <p:cNvPr id="312" name="Google Shape;312;p16"/>
          <p:cNvCxnSpPr/>
          <p:nvPr/>
        </p:nvCxnSpPr>
        <p:spPr>
          <a:xfrm>
            <a:off x="0" y="2130552"/>
            <a:ext cx="0" cy="2002536"/>
          </a:xfrm>
          <a:prstGeom prst="straightConnector1">
            <a:avLst/>
          </a:prstGeom>
          <a:noFill/>
          <a:ln cap="flat" cmpd="sng" w="9525">
            <a:solidFill>
              <a:srgbClr val="A0AAB8"/>
            </a:solidFill>
            <a:prstDash val="solid"/>
            <a:round/>
            <a:headEnd len="med" w="med" type="stealth"/>
            <a:tailEnd len="sm" w="sm" type="none"/>
          </a:ln>
          <a:effectLst>
            <a:outerShdw blurRad="40000" rotWithShape="0" dir="5400000" dist="20000">
              <a:srgbClr val="000000">
                <a:alpha val="38039"/>
              </a:srgbClr>
            </a:outerShdw>
          </a:effectLst>
        </p:spPr>
      </p:cxnSp>
      <p:sp>
        <p:nvSpPr>
          <p:cNvPr id="313" name="Google Shape;313;p16"/>
          <p:cNvSpPr/>
          <p:nvPr/>
        </p:nvSpPr>
        <p:spPr>
          <a:xfrm>
            <a:off x="8641075" y="4133100"/>
            <a:ext cx="3349500" cy="2404800"/>
          </a:xfrm>
          <a:prstGeom prst="rect">
            <a:avLst/>
          </a:prstGeom>
          <a:solidFill>
            <a:srgbClr val="0A081E"/>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4" name="Google Shape;314;p16"/>
          <p:cNvSpPr/>
          <p:nvPr/>
        </p:nvSpPr>
        <p:spPr>
          <a:xfrm>
            <a:off x="8641080" y="4133088"/>
            <a:ext cx="3349447" cy="237744"/>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16"/>
          <p:cNvSpPr txBox="1"/>
          <p:nvPr/>
        </p:nvSpPr>
        <p:spPr>
          <a:xfrm>
            <a:off x="8641080" y="4160520"/>
            <a:ext cx="3349500" cy="201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TOOL ADAPTER LAYER</a:t>
            </a:r>
            <a:endParaRPr b="0" i="0" sz="1400" u="none" cap="none" strike="noStrike">
              <a:solidFill>
                <a:srgbClr val="000000"/>
              </a:solidFill>
              <a:latin typeface="Arial"/>
              <a:ea typeface="Arial"/>
              <a:cs typeface="Arial"/>
              <a:sym typeface="Arial"/>
            </a:endParaRPr>
          </a:p>
        </p:txBody>
      </p:sp>
      <p:sp>
        <p:nvSpPr>
          <p:cNvPr id="316" name="Google Shape;316;p16"/>
          <p:cNvSpPr/>
          <p:nvPr/>
        </p:nvSpPr>
        <p:spPr>
          <a:xfrm>
            <a:off x="8732520" y="4407408"/>
            <a:ext cx="3166567" cy="649224"/>
          </a:xfrm>
          <a:prstGeom prst="rect">
            <a:avLst/>
          </a:prstGeom>
          <a:solidFill>
            <a:srgbClr val="100C24"/>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16"/>
          <p:cNvSpPr/>
          <p:nvPr/>
        </p:nvSpPr>
        <p:spPr>
          <a:xfrm>
            <a:off x="8732520" y="4407408"/>
            <a:ext cx="347472" cy="649224"/>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8" name="Google Shape;318;p16"/>
          <p:cNvSpPr txBox="1"/>
          <p:nvPr/>
        </p:nvSpPr>
        <p:spPr>
          <a:xfrm>
            <a:off x="8641076" y="4425700"/>
            <a:ext cx="438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LOW</a:t>
            </a:r>
            <a:endParaRPr b="0" i="0" sz="1400" u="none" cap="none" strike="noStrike">
              <a:solidFill>
                <a:srgbClr val="000000"/>
              </a:solidFill>
              <a:latin typeface="Arial"/>
              <a:ea typeface="Arial"/>
              <a:cs typeface="Arial"/>
              <a:sym typeface="Arial"/>
            </a:endParaRPr>
          </a:p>
        </p:txBody>
      </p:sp>
      <p:sp>
        <p:nvSpPr>
          <p:cNvPr id="319" name="Google Shape;319;p16"/>
          <p:cNvSpPr txBox="1"/>
          <p:nvPr/>
        </p:nvSpPr>
        <p:spPr>
          <a:xfrm>
            <a:off x="9116568" y="4425696"/>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Passive</a:t>
            </a:r>
            <a:endParaRPr b="0" i="0" sz="1400" u="none" cap="none" strike="noStrike">
              <a:solidFill>
                <a:srgbClr val="000000"/>
              </a:solidFill>
              <a:latin typeface="Arial"/>
              <a:ea typeface="Arial"/>
              <a:cs typeface="Arial"/>
              <a:sym typeface="Arial"/>
            </a:endParaRPr>
          </a:p>
        </p:txBody>
      </p:sp>
      <p:sp>
        <p:nvSpPr>
          <p:cNvPr id="320" name="Google Shape;320;p16"/>
          <p:cNvSpPr txBox="1"/>
          <p:nvPr/>
        </p:nvSpPr>
        <p:spPr>
          <a:xfrm>
            <a:off x="9116568" y="4608576"/>
            <a:ext cx="2755087"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Execute immediately</a:t>
            </a:r>
            <a:endParaRPr b="0" i="0" sz="1400" u="none" cap="none" strike="noStrike">
              <a:solidFill>
                <a:srgbClr val="000000"/>
              </a:solidFill>
              <a:latin typeface="Arial"/>
              <a:ea typeface="Arial"/>
              <a:cs typeface="Arial"/>
              <a:sym typeface="Arial"/>
            </a:endParaRPr>
          </a:p>
        </p:txBody>
      </p:sp>
      <p:sp>
        <p:nvSpPr>
          <p:cNvPr id="321" name="Google Shape;321;p16"/>
          <p:cNvSpPr/>
          <p:nvPr/>
        </p:nvSpPr>
        <p:spPr>
          <a:xfrm>
            <a:off x="8732520" y="5111496"/>
            <a:ext cx="3166567" cy="649224"/>
          </a:xfrm>
          <a:prstGeom prst="rect">
            <a:avLst/>
          </a:prstGeom>
          <a:solidFill>
            <a:srgbClr val="100C2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2" name="Google Shape;322;p16"/>
          <p:cNvSpPr/>
          <p:nvPr/>
        </p:nvSpPr>
        <p:spPr>
          <a:xfrm>
            <a:off x="8732520" y="5111496"/>
            <a:ext cx="347472" cy="64922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3" name="Google Shape;323;p16"/>
          <p:cNvSpPr txBox="1"/>
          <p:nvPr/>
        </p:nvSpPr>
        <p:spPr>
          <a:xfrm>
            <a:off x="8641102" y="5129775"/>
            <a:ext cx="438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MED</a:t>
            </a:r>
            <a:endParaRPr b="0" i="0" sz="1400" u="none" cap="none" strike="noStrike">
              <a:solidFill>
                <a:srgbClr val="000000"/>
              </a:solidFill>
              <a:latin typeface="Arial"/>
              <a:ea typeface="Arial"/>
              <a:cs typeface="Arial"/>
              <a:sym typeface="Arial"/>
            </a:endParaRPr>
          </a:p>
        </p:txBody>
      </p:sp>
      <p:sp>
        <p:nvSpPr>
          <p:cNvPr id="324" name="Google Shape;324;p16"/>
          <p:cNvSpPr txBox="1"/>
          <p:nvPr/>
        </p:nvSpPr>
        <p:spPr>
          <a:xfrm>
            <a:off x="9116568" y="5129784"/>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Active</a:t>
            </a:r>
            <a:endParaRPr b="0" i="0" sz="1400" u="none" cap="none" strike="noStrike">
              <a:solidFill>
                <a:srgbClr val="000000"/>
              </a:solidFill>
              <a:latin typeface="Arial"/>
              <a:ea typeface="Arial"/>
              <a:cs typeface="Arial"/>
              <a:sym typeface="Arial"/>
            </a:endParaRPr>
          </a:p>
        </p:txBody>
      </p:sp>
      <p:sp>
        <p:nvSpPr>
          <p:cNvPr id="325" name="Google Shape;325;p16"/>
          <p:cNvSpPr txBox="1"/>
          <p:nvPr/>
        </p:nvSpPr>
        <p:spPr>
          <a:xfrm>
            <a:off x="9116568" y="5312664"/>
            <a:ext cx="2755087"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LLM Classifier → exec/escalate</a:t>
            </a:r>
            <a:endParaRPr b="0" i="0" sz="1400" u="none" cap="none" strike="noStrike">
              <a:solidFill>
                <a:srgbClr val="000000"/>
              </a:solidFill>
              <a:latin typeface="Arial"/>
              <a:ea typeface="Arial"/>
              <a:cs typeface="Arial"/>
              <a:sym typeface="Arial"/>
            </a:endParaRPr>
          </a:p>
        </p:txBody>
      </p:sp>
      <p:sp>
        <p:nvSpPr>
          <p:cNvPr id="326" name="Google Shape;326;p16"/>
          <p:cNvSpPr/>
          <p:nvPr/>
        </p:nvSpPr>
        <p:spPr>
          <a:xfrm>
            <a:off x="8732520" y="5815584"/>
            <a:ext cx="3166567" cy="649224"/>
          </a:xfrm>
          <a:prstGeom prst="rect">
            <a:avLst/>
          </a:prstGeom>
          <a:solidFill>
            <a:srgbClr val="100C24"/>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7" name="Google Shape;327;p16"/>
          <p:cNvSpPr/>
          <p:nvPr/>
        </p:nvSpPr>
        <p:spPr>
          <a:xfrm>
            <a:off x="8732520" y="5815584"/>
            <a:ext cx="347472" cy="649224"/>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8" name="Google Shape;328;p16"/>
          <p:cNvSpPr txBox="1"/>
          <p:nvPr/>
        </p:nvSpPr>
        <p:spPr>
          <a:xfrm>
            <a:off x="8641101" y="5833875"/>
            <a:ext cx="438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HIGH</a:t>
            </a:r>
            <a:endParaRPr b="0" i="0" sz="1400" u="none" cap="none" strike="noStrike">
              <a:solidFill>
                <a:srgbClr val="000000"/>
              </a:solidFill>
              <a:latin typeface="Arial"/>
              <a:ea typeface="Arial"/>
              <a:cs typeface="Arial"/>
              <a:sym typeface="Arial"/>
            </a:endParaRPr>
          </a:p>
        </p:txBody>
      </p:sp>
      <p:sp>
        <p:nvSpPr>
          <p:cNvPr id="329" name="Google Shape;329;p16"/>
          <p:cNvSpPr txBox="1"/>
          <p:nvPr/>
        </p:nvSpPr>
        <p:spPr>
          <a:xfrm>
            <a:off x="9116568" y="5833872"/>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Exploit</a:t>
            </a:r>
            <a:endParaRPr b="0" i="0" sz="1400" u="none" cap="none" strike="noStrike">
              <a:solidFill>
                <a:srgbClr val="000000"/>
              </a:solidFill>
              <a:latin typeface="Arial"/>
              <a:ea typeface="Arial"/>
              <a:cs typeface="Arial"/>
              <a:sym typeface="Arial"/>
            </a:endParaRPr>
          </a:p>
        </p:txBody>
      </p:sp>
      <p:sp>
        <p:nvSpPr>
          <p:cNvPr id="330" name="Google Shape;330;p16"/>
          <p:cNvSpPr txBox="1"/>
          <p:nvPr/>
        </p:nvSpPr>
        <p:spPr>
          <a:xfrm>
            <a:off x="9116568" y="6016752"/>
            <a:ext cx="2755087"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Commander Mailbox approval</a:t>
            </a:r>
            <a:endParaRPr b="0" i="0" sz="1400" u="none" cap="none" strike="noStrike">
              <a:solidFill>
                <a:srgbClr val="000000"/>
              </a:solidFill>
              <a:latin typeface="Arial"/>
              <a:ea typeface="Arial"/>
              <a:cs typeface="Arial"/>
              <a:sym typeface="Arial"/>
            </a:endParaRPr>
          </a:p>
        </p:txBody>
      </p:sp>
      <p:sp>
        <p:nvSpPr>
          <p:cNvPr id="331" name="Google Shape;331;p16"/>
          <p:cNvSpPr txBox="1"/>
          <p:nvPr/>
        </p:nvSpPr>
        <p:spPr>
          <a:xfrm>
            <a:off x="11661650" y="109825"/>
            <a:ext cx="438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335" name="Shape 335"/>
        <p:cNvGrpSpPr/>
        <p:nvPr/>
      </p:nvGrpSpPr>
      <p:grpSpPr>
        <a:xfrm>
          <a:off x="0" y="0"/>
          <a:ext cx="0" cy="0"/>
          <a:chOff x="0" y="0"/>
          <a:chExt cx="0" cy="0"/>
        </a:xfrm>
      </p:grpSpPr>
      <p:sp>
        <p:nvSpPr>
          <p:cNvPr id="336" name="Google Shape;336;p17"/>
          <p:cNvSpPr/>
          <p:nvPr/>
        </p:nvSpPr>
        <p:spPr>
          <a:xfrm>
            <a:off x="0" y="0"/>
            <a:ext cx="54864" cy="68580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7" name="Google Shape;337;p17"/>
          <p:cNvSpPr/>
          <p:nvPr/>
        </p:nvSpPr>
        <p:spPr>
          <a:xfrm>
            <a:off x="54864" y="0"/>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8" name="Google Shape;338;p17"/>
          <p:cNvSpPr/>
          <p:nvPr/>
        </p:nvSpPr>
        <p:spPr>
          <a:xfrm>
            <a:off x="54864" y="6821424"/>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9" name="Google Shape;339;p17"/>
          <p:cNvSpPr txBox="1"/>
          <p:nvPr/>
        </p:nvSpPr>
        <p:spPr>
          <a:xfrm>
            <a:off x="274320" y="54864"/>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39FF14"/>
                </a:solidFill>
                <a:latin typeface="Calibri"/>
                <a:ea typeface="Calibri"/>
                <a:cs typeface="Calibri"/>
                <a:sym typeface="Calibri"/>
              </a:rPr>
              <a:t>DUAL-GRAPH WORLD MODEL</a:t>
            </a:r>
            <a:endParaRPr b="0" i="0" sz="1400" u="none" cap="none" strike="noStrike">
              <a:solidFill>
                <a:srgbClr val="000000"/>
              </a:solidFill>
              <a:latin typeface="Arial"/>
              <a:ea typeface="Arial"/>
              <a:cs typeface="Arial"/>
              <a:sym typeface="Arial"/>
            </a:endParaRPr>
          </a:p>
        </p:txBody>
      </p:sp>
      <p:sp>
        <p:nvSpPr>
          <p:cNvPr id="340" name="Google Shape;340;p17"/>
          <p:cNvSpPr txBox="1"/>
          <p:nvPr/>
        </p:nvSpPr>
        <p:spPr>
          <a:xfrm>
            <a:off x="274320" y="292608"/>
            <a:ext cx="1005840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Two Strictly Separated Knowledge Layers — Visualised</a:t>
            </a:r>
            <a:endParaRPr b="0" i="0" sz="1400" u="none" cap="none" strike="noStrike">
              <a:solidFill>
                <a:srgbClr val="000000"/>
              </a:solidFill>
              <a:latin typeface="Arial"/>
              <a:ea typeface="Arial"/>
              <a:cs typeface="Arial"/>
              <a:sym typeface="Arial"/>
            </a:endParaRPr>
          </a:p>
        </p:txBody>
      </p:sp>
      <p:sp>
        <p:nvSpPr>
          <p:cNvPr id="341" name="Google Shape;341;p17"/>
          <p:cNvSpPr/>
          <p:nvPr/>
        </p:nvSpPr>
        <p:spPr>
          <a:xfrm>
            <a:off x="164592" y="804672"/>
            <a:ext cx="5349240" cy="5138928"/>
          </a:xfrm>
          <a:prstGeom prst="rect">
            <a:avLst/>
          </a:prstGeom>
          <a:solidFill>
            <a:srgbClr val="04180A"/>
          </a:solidFill>
          <a:ln cap="flat" cmpd="sng" w="190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2" name="Google Shape;342;p17"/>
          <p:cNvSpPr txBox="1"/>
          <p:nvPr/>
        </p:nvSpPr>
        <p:spPr>
          <a:xfrm>
            <a:off x="201168" y="822960"/>
            <a:ext cx="3200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39FF14"/>
                </a:solidFill>
                <a:latin typeface="Calibri"/>
                <a:ea typeface="Calibri"/>
                <a:cs typeface="Calibri"/>
                <a:sym typeface="Calibri"/>
              </a:rPr>
              <a:t>ASG — Attack Surface Graph</a:t>
            </a:r>
            <a:endParaRPr b="0" i="0" sz="1400" u="none" cap="none" strike="noStrike">
              <a:solidFill>
                <a:srgbClr val="000000"/>
              </a:solidFill>
              <a:latin typeface="Arial"/>
              <a:ea typeface="Arial"/>
              <a:cs typeface="Arial"/>
              <a:sym typeface="Arial"/>
            </a:endParaRPr>
          </a:p>
        </p:txBody>
      </p:sp>
      <p:sp>
        <p:nvSpPr>
          <p:cNvPr id="343" name="Google Shape;343;p17"/>
          <p:cNvSpPr txBox="1"/>
          <p:nvPr/>
        </p:nvSpPr>
        <p:spPr>
          <a:xfrm>
            <a:off x="201168" y="1042415"/>
            <a:ext cx="5029200"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1" lang="en-US" sz="900" u="none" cap="none" strike="noStrike">
                <a:solidFill>
                  <a:srgbClr val="60C070"/>
                </a:solidFill>
                <a:latin typeface="Calibri"/>
                <a:ea typeface="Calibri"/>
                <a:cs typeface="Calibri"/>
                <a:sym typeface="Calibri"/>
              </a:rPr>
              <a:t>What does the target look like?  (Discovered Reality)</a:t>
            </a:r>
            <a:endParaRPr b="0" i="0" sz="1400" u="none" cap="none" strike="noStrike">
              <a:solidFill>
                <a:srgbClr val="000000"/>
              </a:solidFill>
              <a:latin typeface="Arial"/>
              <a:ea typeface="Arial"/>
              <a:cs typeface="Arial"/>
              <a:sym typeface="Arial"/>
            </a:endParaRPr>
          </a:p>
        </p:txBody>
      </p:sp>
      <p:sp>
        <p:nvSpPr>
          <p:cNvPr id="344" name="Google Shape;344;p17"/>
          <p:cNvSpPr/>
          <p:nvPr/>
        </p:nvSpPr>
        <p:spPr>
          <a:xfrm>
            <a:off x="6675120" y="804672"/>
            <a:ext cx="5349240" cy="5138928"/>
          </a:xfrm>
          <a:prstGeom prst="rect">
            <a:avLst/>
          </a:prstGeom>
          <a:solidFill>
            <a:srgbClr val="1C1004"/>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5" name="Google Shape;345;p17"/>
          <p:cNvSpPr txBox="1"/>
          <p:nvPr/>
        </p:nvSpPr>
        <p:spPr>
          <a:xfrm>
            <a:off x="6711696" y="822960"/>
            <a:ext cx="3200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APG — Attack Path Graph</a:t>
            </a:r>
            <a:endParaRPr b="0" i="0" sz="1400" u="none" cap="none" strike="noStrike">
              <a:solidFill>
                <a:srgbClr val="000000"/>
              </a:solidFill>
              <a:latin typeface="Arial"/>
              <a:ea typeface="Arial"/>
              <a:cs typeface="Arial"/>
              <a:sym typeface="Arial"/>
            </a:endParaRPr>
          </a:p>
        </p:txBody>
      </p:sp>
      <p:sp>
        <p:nvSpPr>
          <p:cNvPr id="346" name="Google Shape;346;p17"/>
          <p:cNvSpPr txBox="1"/>
          <p:nvPr/>
        </p:nvSpPr>
        <p:spPr>
          <a:xfrm>
            <a:off x="6711696" y="1042415"/>
            <a:ext cx="5029200"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1" lang="en-US" sz="900" u="none" cap="none" strike="noStrike">
                <a:solidFill>
                  <a:srgbClr val="C09020"/>
                </a:solidFill>
                <a:latin typeface="Calibri"/>
                <a:ea typeface="Calibri"/>
                <a:cs typeface="Calibri"/>
                <a:sym typeface="Calibri"/>
              </a:rPr>
              <a:t>What can be done to it?  (Inferred Opportunity)</a:t>
            </a:r>
            <a:endParaRPr b="0" i="0" sz="1400" u="none" cap="none" strike="noStrike">
              <a:solidFill>
                <a:srgbClr val="000000"/>
              </a:solidFill>
              <a:latin typeface="Arial"/>
              <a:ea typeface="Arial"/>
              <a:cs typeface="Arial"/>
              <a:sym typeface="Arial"/>
            </a:endParaRPr>
          </a:p>
        </p:txBody>
      </p:sp>
      <p:sp>
        <p:nvSpPr>
          <p:cNvPr id="347" name="Google Shape;347;p17"/>
          <p:cNvSpPr/>
          <p:nvPr/>
        </p:nvSpPr>
        <p:spPr>
          <a:xfrm>
            <a:off x="5593384" y="804672"/>
            <a:ext cx="1005840" cy="5138928"/>
          </a:xfrm>
          <a:prstGeom prst="rect">
            <a:avLst/>
          </a:prstGeom>
          <a:solidFill>
            <a:srgbClr val="081018"/>
          </a:solidFill>
          <a:ln cap="flat" cmpd="sng" w="10150">
            <a:solidFill>
              <a:srgbClr val="3038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8" name="Google Shape;348;p17"/>
          <p:cNvSpPr/>
          <p:nvPr/>
        </p:nvSpPr>
        <p:spPr>
          <a:xfrm>
            <a:off x="6087160" y="804672"/>
            <a:ext cx="18288" cy="5138928"/>
          </a:xfrm>
          <a:prstGeom prst="rect">
            <a:avLst/>
          </a:prstGeom>
          <a:solidFill>
            <a:srgbClr val="3038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9" name="Google Shape;349;p17"/>
          <p:cNvSpPr txBox="1"/>
          <p:nvPr/>
        </p:nvSpPr>
        <p:spPr>
          <a:xfrm>
            <a:off x="5620816" y="2286000"/>
            <a:ext cx="950976" cy="6400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A0AAB8"/>
                </a:solidFill>
                <a:latin typeface="Calibri"/>
                <a:ea typeface="Calibri"/>
                <a:cs typeface="Calibri"/>
                <a:sym typeface="Calibri"/>
              </a:rPr>
              <a:t>STRICT</a:t>
            </a:r>
            <a:br>
              <a:rPr b="1" i="0" lang="en-US" sz="800" u="none" cap="none" strike="noStrike">
                <a:solidFill>
                  <a:srgbClr val="A0AAB8"/>
                </a:solidFill>
                <a:latin typeface="Calibri"/>
                <a:ea typeface="Calibri"/>
                <a:cs typeface="Calibri"/>
                <a:sym typeface="Calibri"/>
              </a:rPr>
            </a:br>
            <a:r>
              <a:rPr b="1" i="0" lang="en-US" sz="800" u="none" cap="none" strike="noStrike">
                <a:solidFill>
                  <a:srgbClr val="A0AAB8"/>
                </a:solidFill>
                <a:latin typeface="Calibri"/>
                <a:ea typeface="Calibri"/>
                <a:cs typeface="Calibri"/>
                <a:sym typeface="Calibri"/>
              </a:rPr>
              <a:t>SEPARATION</a:t>
            </a:r>
            <a:endParaRPr b="0" i="0" sz="1400" u="none" cap="none" strike="noStrike">
              <a:solidFill>
                <a:srgbClr val="000000"/>
              </a:solidFill>
              <a:latin typeface="Arial"/>
              <a:ea typeface="Arial"/>
              <a:cs typeface="Arial"/>
              <a:sym typeface="Arial"/>
            </a:endParaRPr>
          </a:p>
        </p:txBody>
      </p:sp>
      <p:sp>
        <p:nvSpPr>
          <p:cNvPr id="350" name="Google Shape;350;p17"/>
          <p:cNvSpPr txBox="1"/>
          <p:nvPr/>
        </p:nvSpPr>
        <p:spPr>
          <a:xfrm>
            <a:off x="5639104" y="3017520"/>
            <a:ext cx="914400" cy="68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No agent</a:t>
            </a:r>
            <a:br>
              <a:rPr b="0" i="1" lang="en-US" sz="750" u="none" cap="none" strike="noStrike">
                <a:solidFill>
                  <a:srgbClr val="A0AAB8"/>
                </a:solidFill>
                <a:latin typeface="Calibri"/>
                <a:ea typeface="Calibri"/>
                <a:cs typeface="Calibri"/>
                <a:sym typeface="Calibri"/>
              </a:rPr>
            </a:br>
            <a:r>
              <a:rPr b="0" i="1" lang="en-US" sz="750" u="none" cap="none" strike="noStrike">
                <a:solidFill>
                  <a:srgbClr val="A0AAB8"/>
                </a:solidFill>
                <a:latin typeface="Calibri"/>
                <a:ea typeface="Calibri"/>
                <a:cs typeface="Calibri"/>
                <a:sym typeface="Calibri"/>
              </a:rPr>
              <a:t>crosses this</a:t>
            </a:r>
            <a:br>
              <a:rPr b="0" i="1" lang="en-US" sz="750" u="none" cap="none" strike="noStrike">
                <a:solidFill>
                  <a:srgbClr val="A0AAB8"/>
                </a:solidFill>
                <a:latin typeface="Calibri"/>
                <a:ea typeface="Calibri"/>
                <a:cs typeface="Calibri"/>
                <a:sym typeface="Calibri"/>
              </a:rPr>
            </a:br>
            <a:r>
              <a:rPr b="0" i="1" lang="en-US" sz="750" u="none" cap="none" strike="noStrike">
                <a:solidFill>
                  <a:srgbClr val="A0AAB8"/>
                </a:solidFill>
                <a:latin typeface="Calibri"/>
                <a:ea typeface="Calibri"/>
                <a:cs typeface="Calibri"/>
                <a:sym typeface="Calibri"/>
              </a:rPr>
              <a:t>boundary</a:t>
            </a:r>
            <a:endParaRPr b="0" i="0" sz="1400" u="none" cap="none" strike="noStrike">
              <a:solidFill>
                <a:srgbClr val="000000"/>
              </a:solidFill>
              <a:latin typeface="Arial"/>
              <a:ea typeface="Arial"/>
              <a:cs typeface="Arial"/>
              <a:sym typeface="Arial"/>
            </a:endParaRPr>
          </a:p>
        </p:txBody>
      </p:sp>
      <p:cxnSp>
        <p:nvCxnSpPr>
          <p:cNvPr id="351" name="Google Shape;351;p17"/>
          <p:cNvCxnSpPr/>
          <p:nvPr/>
        </p:nvCxnSpPr>
        <p:spPr>
          <a:xfrm rot="10800000">
            <a:off x="4114800" y="3886200"/>
            <a:ext cx="1944928" cy="0"/>
          </a:xfrm>
          <a:prstGeom prst="straightConnector1">
            <a:avLst/>
          </a:prstGeom>
          <a:noFill/>
          <a:ln cap="flat" cmpd="sng" w="152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52" name="Google Shape;352;p17"/>
          <p:cNvSpPr txBox="1"/>
          <p:nvPr/>
        </p:nvSpPr>
        <p:spPr>
          <a:xfrm>
            <a:off x="4585682" y="3512845"/>
            <a:ext cx="10059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Discovery</a:t>
            </a:r>
            <a:br>
              <a:rPr b="0" i="1" lang="en-US" sz="700" u="none" cap="none" strike="noStrike">
                <a:solidFill>
                  <a:srgbClr val="A0AAB8"/>
                </a:solidFill>
                <a:latin typeface="Calibri"/>
                <a:ea typeface="Calibri"/>
                <a:cs typeface="Calibri"/>
                <a:sym typeface="Calibri"/>
              </a:rPr>
            </a:br>
            <a:r>
              <a:rPr b="0" i="1" lang="en-US" sz="700" u="none" cap="none" strike="noStrike">
                <a:solidFill>
                  <a:srgbClr val="A0AAB8"/>
                </a:solidFill>
                <a:latin typeface="Calibri"/>
                <a:ea typeface="Calibri"/>
                <a:cs typeface="Calibri"/>
                <a:sym typeface="Calibri"/>
              </a:rPr>
              <a:t>Agents write</a:t>
            </a:r>
            <a:endParaRPr b="0" i="0" sz="1400" u="none" cap="none" strike="noStrike">
              <a:solidFill>
                <a:srgbClr val="000000"/>
              </a:solidFill>
              <a:latin typeface="Arial"/>
              <a:ea typeface="Arial"/>
              <a:cs typeface="Arial"/>
              <a:sym typeface="Arial"/>
            </a:endParaRPr>
          </a:p>
        </p:txBody>
      </p:sp>
      <p:cxnSp>
        <p:nvCxnSpPr>
          <p:cNvPr id="353" name="Google Shape;353;p17"/>
          <p:cNvCxnSpPr/>
          <p:nvPr/>
        </p:nvCxnSpPr>
        <p:spPr>
          <a:xfrm>
            <a:off x="6132880" y="4206240"/>
            <a:ext cx="1639520" cy="0"/>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354" name="Google Shape;354;p17"/>
          <p:cNvSpPr txBox="1"/>
          <p:nvPr/>
        </p:nvSpPr>
        <p:spPr>
          <a:xfrm>
            <a:off x="5760720" y="4244372"/>
            <a:ext cx="10059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Commander</a:t>
            </a:r>
            <a:br>
              <a:rPr b="0" i="1" lang="en-US" sz="700" u="none" cap="none" strike="noStrike">
                <a:solidFill>
                  <a:srgbClr val="A0AAB8"/>
                </a:solidFill>
                <a:latin typeface="Calibri"/>
                <a:ea typeface="Calibri"/>
                <a:cs typeface="Calibri"/>
                <a:sym typeface="Calibri"/>
              </a:rPr>
            </a:br>
            <a:r>
              <a:rPr b="0" i="1" lang="en-US" sz="700" u="none" cap="none" strike="noStrike">
                <a:solidFill>
                  <a:srgbClr val="A0AAB8"/>
                </a:solidFill>
                <a:latin typeface="Calibri"/>
                <a:ea typeface="Calibri"/>
                <a:cs typeface="Calibri"/>
                <a:sym typeface="Calibri"/>
              </a:rPr>
              <a:t>writes</a:t>
            </a:r>
            <a:endParaRPr b="0" i="0" sz="1400" u="none" cap="none" strike="noStrike">
              <a:solidFill>
                <a:srgbClr val="000000"/>
              </a:solidFill>
              <a:latin typeface="Arial"/>
              <a:ea typeface="Arial"/>
              <a:cs typeface="Arial"/>
              <a:sym typeface="Arial"/>
            </a:endParaRPr>
          </a:p>
        </p:txBody>
      </p:sp>
      <p:sp>
        <p:nvSpPr>
          <p:cNvPr id="355" name="Google Shape;355;p17"/>
          <p:cNvSpPr/>
          <p:nvPr/>
        </p:nvSpPr>
        <p:spPr>
          <a:xfrm>
            <a:off x="813825" y="1371600"/>
            <a:ext cx="1115700" cy="567000"/>
          </a:xfrm>
          <a:prstGeom prst="rect">
            <a:avLst/>
          </a:prstGeom>
          <a:solidFill>
            <a:srgbClr val="062212"/>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6" name="Google Shape;356;p17"/>
          <p:cNvSpPr txBox="1"/>
          <p:nvPr/>
        </p:nvSpPr>
        <p:spPr>
          <a:xfrm>
            <a:off x="813816" y="1408176"/>
            <a:ext cx="111556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Domain</a:t>
            </a:r>
            <a:endParaRPr b="0" i="0" sz="1400" u="none" cap="none" strike="noStrike">
              <a:solidFill>
                <a:srgbClr val="000000"/>
              </a:solidFill>
              <a:latin typeface="Arial"/>
              <a:ea typeface="Arial"/>
              <a:cs typeface="Arial"/>
              <a:sym typeface="Arial"/>
            </a:endParaRPr>
          </a:p>
        </p:txBody>
      </p:sp>
      <p:sp>
        <p:nvSpPr>
          <p:cNvPr id="357" name="Google Shape;357;p17"/>
          <p:cNvSpPr txBox="1"/>
          <p:nvPr/>
        </p:nvSpPr>
        <p:spPr>
          <a:xfrm>
            <a:off x="868675" y="1555001"/>
            <a:ext cx="1060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shopvault.io</a:t>
            </a:r>
            <a:endParaRPr b="0" i="0" sz="1400" u="none" cap="none" strike="noStrike">
              <a:solidFill>
                <a:srgbClr val="000000"/>
              </a:solidFill>
              <a:latin typeface="Arial"/>
              <a:ea typeface="Arial"/>
              <a:cs typeface="Arial"/>
              <a:sym typeface="Arial"/>
            </a:endParaRPr>
          </a:p>
        </p:txBody>
      </p:sp>
      <p:sp>
        <p:nvSpPr>
          <p:cNvPr id="358" name="Google Shape;358;p17"/>
          <p:cNvSpPr/>
          <p:nvPr/>
        </p:nvSpPr>
        <p:spPr>
          <a:xfrm>
            <a:off x="813825" y="2011673"/>
            <a:ext cx="1115700" cy="530400"/>
          </a:xfrm>
          <a:prstGeom prst="rect">
            <a:avLst/>
          </a:prstGeom>
          <a:solidFill>
            <a:srgbClr val="062212"/>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9" name="Google Shape;359;p17"/>
          <p:cNvSpPr txBox="1"/>
          <p:nvPr/>
        </p:nvSpPr>
        <p:spPr>
          <a:xfrm>
            <a:off x="813816" y="2048256"/>
            <a:ext cx="111556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Host</a:t>
            </a:r>
            <a:endParaRPr b="0" i="0" sz="1400" u="none" cap="none" strike="noStrike">
              <a:solidFill>
                <a:srgbClr val="000000"/>
              </a:solidFill>
              <a:latin typeface="Arial"/>
              <a:ea typeface="Arial"/>
              <a:cs typeface="Arial"/>
              <a:sym typeface="Arial"/>
            </a:endParaRPr>
          </a:p>
        </p:txBody>
      </p:sp>
      <p:sp>
        <p:nvSpPr>
          <p:cNvPr id="360" name="Google Shape;360;p17"/>
          <p:cNvSpPr txBox="1"/>
          <p:nvPr/>
        </p:nvSpPr>
        <p:spPr>
          <a:xfrm>
            <a:off x="841200" y="2195128"/>
            <a:ext cx="1060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192.168.1.10</a:t>
            </a:r>
            <a:endParaRPr b="0" i="0" sz="1400" u="none" cap="none" strike="noStrike">
              <a:solidFill>
                <a:srgbClr val="000000"/>
              </a:solidFill>
              <a:latin typeface="Arial"/>
              <a:ea typeface="Arial"/>
              <a:cs typeface="Arial"/>
              <a:sym typeface="Arial"/>
            </a:endParaRPr>
          </a:p>
        </p:txBody>
      </p:sp>
      <p:sp>
        <p:nvSpPr>
          <p:cNvPr id="361" name="Google Shape;361;p17"/>
          <p:cNvSpPr/>
          <p:nvPr/>
        </p:nvSpPr>
        <p:spPr>
          <a:xfrm>
            <a:off x="813825" y="2651746"/>
            <a:ext cx="1115700" cy="567000"/>
          </a:xfrm>
          <a:prstGeom prst="rect">
            <a:avLst/>
          </a:prstGeom>
          <a:solidFill>
            <a:srgbClr val="062212"/>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2" name="Google Shape;362;p17"/>
          <p:cNvSpPr txBox="1"/>
          <p:nvPr/>
        </p:nvSpPr>
        <p:spPr>
          <a:xfrm>
            <a:off x="813816" y="2688336"/>
            <a:ext cx="111556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Port</a:t>
            </a:r>
            <a:endParaRPr b="0" i="0" sz="1400" u="none" cap="none" strike="noStrike">
              <a:solidFill>
                <a:srgbClr val="000000"/>
              </a:solidFill>
              <a:latin typeface="Arial"/>
              <a:ea typeface="Arial"/>
              <a:cs typeface="Arial"/>
              <a:sym typeface="Arial"/>
            </a:endParaRPr>
          </a:p>
        </p:txBody>
      </p:sp>
      <p:sp>
        <p:nvSpPr>
          <p:cNvPr id="363" name="Google Shape;363;p17"/>
          <p:cNvSpPr txBox="1"/>
          <p:nvPr/>
        </p:nvSpPr>
        <p:spPr>
          <a:xfrm>
            <a:off x="841275" y="2839499"/>
            <a:ext cx="1060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:443 / :8080</a:t>
            </a:r>
            <a:endParaRPr b="0" i="0" sz="1400" u="none" cap="none" strike="noStrike">
              <a:solidFill>
                <a:srgbClr val="000000"/>
              </a:solidFill>
              <a:latin typeface="Arial"/>
              <a:ea typeface="Arial"/>
              <a:cs typeface="Arial"/>
              <a:sym typeface="Arial"/>
            </a:endParaRPr>
          </a:p>
        </p:txBody>
      </p:sp>
      <p:sp>
        <p:nvSpPr>
          <p:cNvPr id="364" name="Google Shape;364;p17"/>
          <p:cNvSpPr/>
          <p:nvPr/>
        </p:nvSpPr>
        <p:spPr>
          <a:xfrm>
            <a:off x="813825" y="3291854"/>
            <a:ext cx="1115700" cy="567000"/>
          </a:xfrm>
          <a:prstGeom prst="rect">
            <a:avLst/>
          </a:prstGeom>
          <a:solidFill>
            <a:srgbClr val="062212"/>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5" name="Google Shape;365;p17"/>
          <p:cNvSpPr txBox="1"/>
          <p:nvPr/>
        </p:nvSpPr>
        <p:spPr>
          <a:xfrm>
            <a:off x="830866" y="3321704"/>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Service</a:t>
            </a:r>
            <a:endParaRPr b="0" i="0" sz="1400" u="none" cap="none" strike="noStrike">
              <a:solidFill>
                <a:srgbClr val="000000"/>
              </a:solidFill>
              <a:latin typeface="Arial"/>
              <a:ea typeface="Arial"/>
              <a:cs typeface="Arial"/>
              <a:sym typeface="Arial"/>
            </a:endParaRPr>
          </a:p>
        </p:txBody>
      </p:sp>
      <p:sp>
        <p:nvSpPr>
          <p:cNvPr id="366" name="Google Shape;366;p17"/>
          <p:cNvSpPr txBox="1"/>
          <p:nvPr/>
        </p:nvSpPr>
        <p:spPr>
          <a:xfrm>
            <a:off x="830866" y="3486296"/>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Nginx 1.18.0</a:t>
            </a:r>
            <a:endParaRPr b="0" i="0" sz="1400" u="none" cap="none" strike="noStrike">
              <a:solidFill>
                <a:srgbClr val="000000"/>
              </a:solidFill>
              <a:latin typeface="Arial"/>
              <a:ea typeface="Arial"/>
              <a:cs typeface="Arial"/>
              <a:sym typeface="Arial"/>
            </a:endParaRPr>
          </a:p>
        </p:txBody>
      </p:sp>
      <p:sp>
        <p:nvSpPr>
          <p:cNvPr id="367" name="Google Shape;367;p17"/>
          <p:cNvSpPr/>
          <p:nvPr/>
        </p:nvSpPr>
        <p:spPr>
          <a:xfrm>
            <a:off x="2779700" y="2651797"/>
            <a:ext cx="1175100" cy="530400"/>
          </a:xfrm>
          <a:prstGeom prst="rect">
            <a:avLst/>
          </a:prstGeom>
          <a:solidFill>
            <a:srgbClr val="082018"/>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8" name="Google Shape;368;p17"/>
          <p:cNvSpPr txBox="1"/>
          <p:nvPr/>
        </p:nvSpPr>
        <p:spPr>
          <a:xfrm>
            <a:off x="2807143" y="2733386"/>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Technology</a:t>
            </a:r>
            <a:endParaRPr b="0" i="0" sz="1400" u="none" cap="none" strike="noStrike">
              <a:solidFill>
                <a:srgbClr val="000000"/>
              </a:solidFill>
              <a:latin typeface="Arial"/>
              <a:ea typeface="Arial"/>
              <a:cs typeface="Arial"/>
              <a:sym typeface="Arial"/>
            </a:endParaRPr>
          </a:p>
        </p:txBody>
      </p:sp>
      <p:sp>
        <p:nvSpPr>
          <p:cNvPr id="369" name="Google Shape;369;p17"/>
          <p:cNvSpPr txBox="1"/>
          <p:nvPr/>
        </p:nvSpPr>
        <p:spPr>
          <a:xfrm>
            <a:off x="2889475" y="2936963"/>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WordPress 5.9.3</a:t>
            </a:r>
            <a:endParaRPr b="0" i="0" sz="1400" u="none" cap="none" strike="noStrike">
              <a:solidFill>
                <a:srgbClr val="000000"/>
              </a:solidFill>
              <a:latin typeface="Arial"/>
              <a:ea typeface="Arial"/>
              <a:cs typeface="Arial"/>
              <a:sym typeface="Arial"/>
            </a:endParaRPr>
          </a:p>
        </p:txBody>
      </p:sp>
      <p:sp>
        <p:nvSpPr>
          <p:cNvPr id="370" name="Google Shape;370;p17"/>
          <p:cNvSpPr/>
          <p:nvPr/>
        </p:nvSpPr>
        <p:spPr>
          <a:xfrm>
            <a:off x="2777449" y="3328391"/>
            <a:ext cx="1175100" cy="530400"/>
          </a:xfrm>
          <a:prstGeom prst="rect">
            <a:avLst/>
          </a:prstGeom>
          <a:solidFill>
            <a:srgbClr val="082018"/>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1" name="Google Shape;371;p17"/>
          <p:cNvSpPr txBox="1"/>
          <p:nvPr/>
        </p:nvSpPr>
        <p:spPr>
          <a:xfrm>
            <a:off x="2807143" y="3322904"/>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Endpoint</a:t>
            </a:r>
            <a:endParaRPr b="0" i="0" sz="1400" u="none" cap="none" strike="noStrike">
              <a:solidFill>
                <a:srgbClr val="000000"/>
              </a:solidFill>
              <a:latin typeface="Arial"/>
              <a:ea typeface="Arial"/>
              <a:cs typeface="Arial"/>
              <a:sym typeface="Arial"/>
            </a:endParaRPr>
          </a:p>
        </p:txBody>
      </p:sp>
      <p:sp>
        <p:nvSpPr>
          <p:cNvPr id="372" name="Google Shape;372;p17"/>
          <p:cNvSpPr txBox="1"/>
          <p:nvPr/>
        </p:nvSpPr>
        <p:spPr>
          <a:xfrm>
            <a:off x="2807156" y="3506996"/>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/api/v1/orders</a:t>
            </a:r>
            <a:endParaRPr b="0" i="0" sz="1400" u="none" cap="none" strike="noStrike">
              <a:solidFill>
                <a:srgbClr val="000000"/>
              </a:solidFill>
              <a:latin typeface="Arial"/>
              <a:ea typeface="Arial"/>
              <a:cs typeface="Arial"/>
              <a:sym typeface="Arial"/>
            </a:endParaRPr>
          </a:p>
        </p:txBody>
      </p:sp>
      <p:sp>
        <p:nvSpPr>
          <p:cNvPr id="373" name="Google Shape;373;p17"/>
          <p:cNvSpPr/>
          <p:nvPr/>
        </p:nvSpPr>
        <p:spPr>
          <a:xfrm>
            <a:off x="2807300" y="4050125"/>
            <a:ext cx="1115400" cy="530400"/>
          </a:xfrm>
          <a:prstGeom prst="rect">
            <a:avLst/>
          </a:prstGeom>
          <a:solidFill>
            <a:srgbClr val="082018"/>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4" name="Google Shape;374;p17"/>
          <p:cNvSpPr txBox="1"/>
          <p:nvPr/>
        </p:nvSpPr>
        <p:spPr>
          <a:xfrm>
            <a:off x="2807143" y="4170383"/>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Parameter</a:t>
            </a:r>
            <a:endParaRPr b="0" i="0" sz="1400" u="none" cap="none" strike="noStrike">
              <a:solidFill>
                <a:srgbClr val="000000"/>
              </a:solidFill>
              <a:latin typeface="Arial"/>
              <a:ea typeface="Arial"/>
              <a:cs typeface="Arial"/>
              <a:sym typeface="Arial"/>
            </a:endParaRPr>
          </a:p>
        </p:txBody>
      </p:sp>
      <p:sp>
        <p:nvSpPr>
          <p:cNvPr id="375" name="Google Shape;375;p17"/>
          <p:cNvSpPr txBox="1"/>
          <p:nvPr/>
        </p:nvSpPr>
        <p:spPr>
          <a:xfrm>
            <a:off x="2807143" y="4405987"/>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user_id=?</a:t>
            </a:r>
            <a:endParaRPr b="0" i="0" sz="1400" u="none" cap="none" strike="noStrike">
              <a:solidFill>
                <a:srgbClr val="000000"/>
              </a:solidFill>
              <a:latin typeface="Arial"/>
              <a:ea typeface="Arial"/>
              <a:cs typeface="Arial"/>
              <a:sym typeface="Arial"/>
            </a:endParaRPr>
          </a:p>
        </p:txBody>
      </p:sp>
      <p:sp>
        <p:nvSpPr>
          <p:cNvPr id="376" name="Google Shape;376;p17"/>
          <p:cNvSpPr/>
          <p:nvPr/>
        </p:nvSpPr>
        <p:spPr>
          <a:xfrm>
            <a:off x="813825" y="4087376"/>
            <a:ext cx="1115400" cy="530400"/>
          </a:xfrm>
          <a:prstGeom prst="rect">
            <a:avLst/>
          </a:prstGeom>
          <a:solidFill>
            <a:srgbClr val="220606"/>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7" name="Google Shape;377;p17"/>
          <p:cNvSpPr txBox="1"/>
          <p:nvPr/>
        </p:nvSpPr>
        <p:spPr>
          <a:xfrm>
            <a:off x="813816" y="4120583"/>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Vulnerability</a:t>
            </a:r>
            <a:endParaRPr b="0" i="0" sz="1400" u="none" cap="none" strike="noStrike">
              <a:solidFill>
                <a:srgbClr val="000000"/>
              </a:solidFill>
              <a:latin typeface="Arial"/>
              <a:ea typeface="Arial"/>
              <a:cs typeface="Arial"/>
              <a:sym typeface="Arial"/>
            </a:endParaRPr>
          </a:p>
        </p:txBody>
      </p:sp>
      <p:sp>
        <p:nvSpPr>
          <p:cNvPr id="378" name="Google Shape;378;p17"/>
          <p:cNvSpPr txBox="1"/>
          <p:nvPr/>
        </p:nvSpPr>
        <p:spPr>
          <a:xfrm>
            <a:off x="813816" y="4285175"/>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CVE-2022-21661</a:t>
            </a:r>
            <a:endParaRPr b="0" i="0" sz="1400" u="none" cap="none" strike="noStrike">
              <a:solidFill>
                <a:srgbClr val="000000"/>
              </a:solidFill>
              <a:latin typeface="Arial"/>
              <a:ea typeface="Arial"/>
              <a:cs typeface="Arial"/>
              <a:sym typeface="Arial"/>
            </a:endParaRPr>
          </a:p>
        </p:txBody>
      </p:sp>
      <p:sp>
        <p:nvSpPr>
          <p:cNvPr id="379" name="Google Shape;379;p17"/>
          <p:cNvSpPr/>
          <p:nvPr/>
        </p:nvSpPr>
        <p:spPr>
          <a:xfrm>
            <a:off x="813825" y="4773200"/>
            <a:ext cx="1115700" cy="329100"/>
          </a:xfrm>
          <a:prstGeom prst="rect">
            <a:avLst/>
          </a:prstGeom>
          <a:solidFill>
            <a:srgbClr val="120820"/>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0" name="Google Shape;380;p17"/>
          <p:cNvSpPr txBox="1"/>
          <p:nvPr/>
        </p:nvSpPr>
        <p:spPr>
          <a:xfrm>
            <a:off x="813741" y="4748164"/>
            <a:ext cx="1115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381" name="Google Shape;381;p17"/>
          <p:cNvSpPr txBox="1"/>
          <p:nvPr/>
        </p:nvSpPr>
        <p:spPr>
          <a:xfrm>
            <a:off x="813741" y="4912756"/>
            <a:ext cx="1115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screenshot.png</a:t>
            </a:r>
            <a:endParaRPr b="0" i="0" sz="1400" u="none" cap="none" strike="noStrike">
              <a:solidFill>
                <a:srgbClr val="000000"/>
              </a:solidFill>
              <a:latin typeface="Arial"/>
              <a:ea typeface="Arial"/>
              <a:cs typeface="Arial"/>
              <a:sym typeface="Arial"/>
            </a:endParaRPr>
          </a:p>
        </p:txBody>
      </p:sp>
      <p:cxnSp>
        <p:nvCxnSpPr>
          <p:cNvPr id="382" name="Google Shape;382;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83" name="Google Shape;383;p17"/>
          <p:cNvSpPr txBox="1"/>
          <p:nvPr/>
        </p:nvSpPr>
        <p:spPr>
          <a:xfrm>
            <a:off x="919075" y="1710468"/>
            <a:ext cx="9600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has_host</a:t>
            </a:r>
            <a:endParaRPr b="0" i="0" sz="1400" u="none" cap="none" strike="noStrike">
              <a:solidFill>
                <a:srgbClr val="000000"/>
              </a:solidFill>
              <a:latin typeface="Arial"/>
              <a:ea typeface="Arial"/>
              <a:cs typeface="Arial"/>
              <a:sym typeface="Arial"/>
            </a:endParaRPr>
          </a:p>
        </p:txBody>
      </p:sp>
      <p:cxnSp>
        <p:nvCxnSpPr>
          <p:cNvPr id="384" name="Google Shape;384;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85" name="Google Shape;385;p17"/>
          <p:cNvSpPr txBox="1"/>
          <p:nvPr/>
        </p:nvSpPr>
        <p:spPr>
          <a:xfrm>
            <a:off x="896130" y="2350545"/>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has_port</a:t>
            </a:r>
            <a:endParaRPr b="0" i="0" sz="1400" u="none" cap="none" strike="noStrike">
              <a:solidFill>
                <a:srgbClr val="000000"/>
              </a:solidFill>
              <a:latin typeface="Arial"/>
              <a:ea typeface="Arial"/>
              <a:cs typeface="Arial"/>
              <a:sym typeface="Arial"/>
            </a:endParaRPr>
          </a:p>
        </p:txBody>
      </p:sp>
      <p:cxnSp>
        <p:nvCxnSpPr>
          <p:cNvPr id="386" name="Google Shape;386;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87" name="Google Shape;387;p17"/>
          <p:cNvSpPr txBox="1"/>
          <p:nvPr/>
        </p:nvSpPr>
        <p:spPr>
          <a:xfrm>
            <a:off x="896117" y="2972338"/>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runs</a:t>
            </a:r>
            <a:endParaRPr b="0" i="0" sz="1400" u="none" cap="none" strike="noStrike">
              <a:solidFill>
                <a:srgbClr val="000000"/>
              </a:solidFill>
              <a:latin typeface="Arial"/>
              <a:ea typeface="Arial"/>
              <a:cs typeface="Arial"/>
              <a:sym typeface="Arial"/>
            </a:endParaRPr>
          </a:p>
        </p:txBody>
      </p:sp>
      <p:cxnSp>
        <p:nvCxnSpPr>
          <p:cNvPr id="388" name="Google Shape;388;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89" name="Google Shape;389;p17"/>
          <p:cNvSpPr txBox="1"/>
          <p:nvPr/>
        </p:nvSpPr>
        <p:spPr>
          <a:xfrm>
            <a:off x="885730" y="3605167"/>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affected_by</a:t>
            </a:r>
            <a:endParaRPr b="0" i="0" sz="1400" u="none" cap="none" strike="noStrike">
              <a:solidFill>
                <a:srgbClr val="000000"/>
              </a:solidFill>
              <a:latin typeface="Arial"/>
              <a:ea typeface="Arial"/>
              <a:cs typeface="Arial"/>
              <a:sym typeface="Arial"/>
            </a:endParaRPr>
          </a:p>
        </p:txBody>
      </p:sp>
      <p:cxnSp>
        <p:nvCxnSpPr>
          <p:cNvPr id="390" name="Google Shape;390;p17"/>
          <p:cNvCxnSpPr/>
          <p:nvPr/>
        </p:nvCxnSpPr>
        <p:spPr>
          <a:xfrm>
            <a:off x="1371600" y="0"/>
            <a:ext cx="0" cy="0"/>
          </a:xfrm>
          <a:prstGeom prst="straightConnector1">
            <a:avLst/>
          </a:prstGeom>
          <a:noFill/>
          <a:ln cap="flat" cmpd="sng" w="114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391" name="Google Shape;391;p17"/>
          <p:cNvSpPr txBox="1"/>
          <p:nvPr/>
        </p:nvSpPr>
        <p:spPr>
          <a:xfrm>
            <a:off x="868680" y="4404047"/>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validated_by</a:t>
            </a:r>
            <a:endParaRPr b="0" i="0" sz="1400" u="none" cap="none" strike="noStrike">
              <a:solidFill>
                <a:srgbClr val="000000"/>
              </a:solidFill>
              <a:latin typeface="Arial"/>
              <a:ea typeface="Arial"/>
              <a:cs typeface="Arial"/>
              <a:sym typeface="Arial"/>
            </a:endParaRPr>
          </a:p>
        </p:txBody>
      </p:sp>
      <p:cxnSp>
        <p:nvCxnSpPr>
          <p:cNvPr id="392" name="Google Shape;392;p17"/>
          <p:cNvCxnSpPr/>
          <p:nvPr/>
        </p:nvCxnSpPr>
        <p:spPr>
          <a:xfrm>
            <a:off x="0" y="2852928"/>
            <a:ext cx="0" cy="0"/>
          </a:xfrm>
          <a:prstGeom prst="straightConnector1">
            <a:avLst/>
          </a:prstGeom>
          <a:noFill/>
          <a:ln cap="flat" cmpd="sng" w="101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393" name="Google Shape;393;p17"/>
          <p:cNvSpPr txBox="1"/>
          <p:nvPr/>
        </p:nvSpPr>
        <p:spPr>
          <a:xfrm>
            <a:off x="2016375" y="2793800"/>
            <a:ext cx="6765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uses</a:t>
            </a:r>
            <a:endParaRPr b="0" i="0" sz="1400" u="none" cap="none" strike="noStrike">
              <a:solidFill>
                <a:srgbClr val="000000"/>
              </a:solidFill>
              <a:latin typeface="Arial"/>
              <a:ea typeface="Arial"/>
              <a:cs typeface="Arial"/>
              <a:sym typeface="Arial"/>
            </a:endParaRPr>
          </a:p>
        </p:txBody>
      </p:sp>
      <p:cxnSp>
        <p:nvCxnSpPr>
          <p:cNvPr id="394" name="Google Shape;394;p17"/>
          <p:cNvCxnSpPr/>
          <p:nvPr/>
        </p:nvCxnSpPr>
        <p:spPr>
          <a:xfrm>
            <a:off x="0" y="3493008"/>
            <a:ext cx="0" cy="0"/>
          </a:xfrm>
          <a:prstGeom prst="straightConnector1">
            <a:avLst/>
          </a:prstGeom>
          <a:noFill/>
          <a:ln cap="flat" cmpd="sng" w="101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395" name="Google Shape;395;p17"/>
          <p:cNvSpPr txBox="1"/>
          <p:nvPr/>
        </p:nvSpPr>
        <p:spPr>
          <a:xfrm>
            <a:off x="1987700" y="3440613"/>
            <a:ext cx="7314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has_endpoint</a:t>
            </a:r>
            <a:endParaRPr b="0" i="0" sz="1400" u="none" cap="none" strike="noStrike">
              <a:solidFill>
                <a:srgbClr val="000000"/>
              </a:solidFill>
              <a:latin typeface="Arial"/>
              <a:ea typeface="Arial"/>
              <a:cs typeface="Arial"/>
              <a:sym typeface="Arial"/>
            </a:endParaRPr>
          </a:p>
        </p:txBody>
      </p:sp>
      <p:cxnSp>
        <p:nvCxnSpPr>
          <p:cNvPr id="396" name="Google Shape;396;p17"/>
          <p:cNvCxnSpPr/>
          <p:nvPr/>
        </p:nvCxnSpPr>
        <p:spPr>
          <a:xfrm>
            <a:off x="2834640" y="0"/>
            <a:ext cx="0" cy="0"/>
          </a:xfrm>
          <a:prstGeom prst="straightConnector1">
            <a:avLst/>
          </a:prstGeom>
          <a:noFill/>
          <a:ln cap="flat" cmpd="sng" w="101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397" name="Google Shape;397;p17"/>
          <p:cNvSpPr txBox="1"/>
          <p:nvPr/>
        </p:nvSpPr>
        <p:spPr>
          <a:xfrm>
            <a:off x="2862045" y="3629817"/>
            <a:ext cx="1005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has_parameter</a:t>
            </a:r>
            <a:endParaRPr b="0" i="0" sz="1400" u="none" cap="none" strike="noStrike">
              <a:solidFill>
                <a:srgbClr val="000000"/>
              </a:solidFill>
              <a:latin typeface="Arial"/>
              <a:ea typeface="Arial"/>
              <a:cs typeface="Arial"/>
              <a:sym typeface="Arial"/>
            </a:endParaRPr>
          </a:p>
        </p:txBody>
      </p:sp>
      <p:sp>
        <p:nvSpPr>
          <p:cNvPr id="398" name="Google Shape;398;p17"/>
          <p:cNvSpPr/>
          <p:nvPr/>
        </p:nvSpPr>
        <p:spPr>
          <a:xfrm>
            <a:off x="201168" y="5230368"/>
            <a:ext cx="5285232" cy="566928"/>
          </a:xfrm>
          <a:prstGeom prst="rect">
            <a:avLst/>
          </a:prstGeom>
          <a:solidFill>
            <a:srgbClr val="061C0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9" name="Google Shape;399;p17"/>
          <p:cNvSpPr txBox="1"/>
          <p:nvPr/>
        </p:nvSpPr>
        <p:spPr>
          <a:xfrm>
            <a:off x="274320" y="5285232"/>
            <a:ext cx="51206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EDGES:  has_host  ·  has_port  ·  runs  ·  uses  ·  has_endpoint  ·  has_parameter  ·  affected_by  ·  validated_by</a:t>
            </a:r>
            <a:endParaRPr b="0" i="0" sz="1400" u="none" cap="none" strike="noStrike">
              <a:solidFill>
                <a:srgbClr val="000000"/>
              </a:solidFill>
              <a:latin typeface="Arial"/>
              <a:ea typeface="Arial"/>
              <a:cs typeface="Arial"/>
              <a:sym typeface="Arial"/>
            </a:endParaRPr>
          </a:p>
        </p:txBody>
      </p:sp>
      <p:sp>
        <p:nvSpPr>
          <p:cNvPr id="400" name="Google Shape;400;p17"/>
          <p:cNvSpPr/>
          <p:nvPr/>
        </p:nvSpPr>
        <p:spPr>
          <a:xfrm>
            <a:off x="6784848" y="1316736"/>
            <a:ext cx="5029200" cy="4297680"/>
          </a:xfrm>
          <a:prstGeom prst="rect">
            <a:avLst/>
          </a:prstGeom>
          <a:solidFill>
            <a:srgbClr val="140C02"/>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1" name="Google Shape;401;p17"/>
          <p:cNvSpPr/>
          <p:nvPr/>
        </p:nvSpPr>
        <p:spPr>
          <a:xfrm>
            <a:off x="6784848" y="1316736"/>
            <a:ext cx="5029200" cy="256032"/>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2" name="Google Shape;402;p17"/>
          <p:cNvSpPr txBox="1"/>
          <p:nvPr/>
        </p:nvSpPr>
        <p:spPr>
          <a:xfrm>
            <a:off x="6784848" y="1353312"/>
            <a:ext cx="502920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AttackChain  ·  risk_score: 9.1  ·  status: VALIDATED</a:t>
            </a:r>
            <a:endParaRPr b="0" i="0" sz="1400" u="none" cap="none" strike="noStrike">
              <a:solidFill>
                <a:srgbClr val="000000"/>
              </a:solidFill>
              <a:latin typeface="Arial"/>
              <a:ea typeface="Arial"/>
              <a:cs typeface="Arial"/>
              <a:sym typeface="Arial"/>
            </a:endParaRPr>
          </a:p>
        </p:txBody>
      </p:sp>
      <p:sp>
        <p:nvSpPr>
          <p:cNvPr id="403" name="Google Shape;403;p17"/>
          <p:cNvSpPr txBox="1"/>
          <p:nvPr/>
        </p:nvSpPr>
        <p:spPr>
          <a:xfrm>
            <a:off x="6894576" y="1609344"/>
            <a:ext cx="484632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D700"/>
                </a:solidFill>
                <a:latin typeface="Calibri"/>
                <a:ea typeface="Calibri"/>
                <a:cs typeface="Calibri"/>
                <a:sym typeface="Calibri"/>
              </a:rPr>
              <a:t>Chain-01: CVE-2022-21661 → SQL Injection → RCE → Customer PII</a:t>
            </a:r>
            <a:endParaRPr b="0" i="0" sz="1400" u="none" cap="none" strike="noStrike">
              <a:solidFill>
                <a:srgbClr val="000000"/>
              </a:solidFill>
              <a:latin typeface="Arial"/>
              <a:ea typeface="Arial"/>
              <a:cs typeface="Arial"/>
              <a:sym typeface="Arial"/>
            </a:endParaRPr>
          </a:p>
        </p:txBody>
      </p:sp>
      <p:sp>
        <p:nvSpPr>
          <p:cNvPr id="404" name="Google Shape;404;p17"/>
          <p:cNvSpPr/>
          <p:nvPr/>
        </p:nvSpPr>
        <p:spPr>
          <a:xfrm>
            <a:off x="8339328" y="1911096"/>
            <a:ext cx="1920240" cy="594360"/>
          </a:xfrm>
          <a:prstGeom prst="rect">
            <a:avLst/>
          </a:prstGeom>
          <a:solidFill>
            <a:srgbClr val="1E1402"/>
          </a:solidFill>
          <a:ln cap="flat" cmpd="sng" w="203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5" name="Google Shape;405;p17"/>
          <p:cNvSpPr txBox="1"/>
          <p:nvPr/>
        </p:nvSpPr>
        <p:spPr>
          <a:xfrm>
            <a:off x="8430768" y="1947672"/>
            <a:ext cx="73152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D700"/>
                </a:solidFill>
                <a:latin typeface="Calibri"/>
                <a:ea typeface="Calibri"/>
                <a:cs typeface="Calibri"/>
                <a:sym typeface="Calibri"/>
              </a:rPr>
              <a:t>STEP 1</a:t>
            </a:r>
            <a:endParaRPr b="0" i="0" sz="1400" u="none" cap="none" strike="noStrike">
              <a:solidFill>
                <a:srgbClr val="000000"/>
              </a:solidFill>
              <a:latin typeface="Arial"/>
              <a:ea typeface="Arial"/>
              <a:cs typeface="Arial"/>
              <a:sym typeface="Arial"/>
            </a:endParaRPr>
          </a:p>
        </p:txBody>
      </p:sp>
      <p:sp>
        <p:nvSpPr>
          <p:cNvPr id="406" name="Google Shape;406;p17"/>
          <p:cNvSpPr/>
          <p:nvPr/>
        </p:nvSpPr>
        <p:spPr>
          <a:xfrm>
            <a:off x="9244584" y="1965960"/>
            <a:ext cx="960120" cy="18288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7" name="Google Shape;407;p17"/>
          <p:cNvSpPr txBox="1"/>
          <p:nvPr/>
        </p:nvSpPr>
        <p:spPr>
          <a:xfrm>
            <a:off x="9244584" y="1975104"/>
            <a:ext cx="96012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50"/>
              <a:buFont typeface="Arial"/>
              <a:buNone/>
            </a:pPr>
            <a:r>
              <a:rPr b="1" i="0" lang="en-US" sz="6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408" name="Google Shape;408;p17"/>
          <p:cNvSpPr txBox="1"/>
          <p:nvPr/>
        </p:nvSpPr>
        <p:spPr>
          <a:xfrm>
            <a:off x="8430768" y="2185416"/>
            <a:ext cx="1773936"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 WP_Query</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SQLi confirmed</a:t>
            </a:r>
            <a:endParaRPr b="0" i="0" sz="1400" u="none" cap="none" strike="noStrike">
              <a:solidFill>
                <a:srgbClr val="000000"/>
              </a:solidFill>
              <a:latin typeface="Arial"/>
              <a:ea typeface="Arial"/>
              <a:cs typeface="Arial"/>
              <a:sym typeface="Arial"/>
            </a:endParaRPr>
          </a:p>
        </p:txBody>
      </p:sp>
      <p:cxnSp>
        <p:nvCxnSpPr>
          <p:cNvPr id="409" name="Google Shape;409;p17"/>
          <p:cNvCxnSpPr/>
          <p:nvPr/>
        </p:nvCxnSpPr>
        <p:spPr>
          <a:xfrm>
            <a:off x="0" y="2505456"/>
            <a:ext cx="0" cy="201168"/>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410" name="Google Shape;410;p17"/>
          <p:cNvSpPr txBox="1"/>
          <p:nvPr/>
        </p:nvSpPr>
        <p:spPr>
          <a:xfrm>
            <a:off x="9354312" y="2523744"/>
            <a:ext cx="731520"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A0AAB8"/>
                </a:solidFill>
                <a:latin typeface="Calibri"/>
                <a:ea typeface="Calibri"/>
                <a:cs typeface="Calibri"/>
                <a:sym typeface="Calibri"/>
              </a:rPr>
              <a:t>next_step</a:t>
            </a:r>
            <a:endParaRPr b="0" i="0" sz="1400" u="none" cap="none" strike="noStrike">
              <a:solidFill>
                <a:srgbClr val="000000"/>
              </a:solidFill>
              <a:latin typeface="Arial"/>
              <a:ea typeface="Arial"/>
              <a:cs typeface="Arial"/>
              <a:sym typeface="Arial"/>
            </a:endParaRPr>
          </a:p>
        </p:txBody>
      </p:sp>
      <p:sp>
        <p:nvSpPr>
          <p:cNvPr id="411" name="Google Shape;411;p17"/>
          <p:cNvSpPr txBox="1"/>
          <p:nvPr/>
        </p:nvSpPr>
        <p:spPr>
          <a:xfrm>
            <a:off x="10332720" y="2048256"/>
            <a:ext cx="77724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BD93F9"/>
                </a:solidFill>
                <a:latin typeface="Calibri"/>
                <a:ea typeface="Calibri"/>
                <a:cs typeface="Calibri"/>
                <a:sym typeface="Calibri"/>
              </a:rPr>
              <a:t>↗ supported_by</a:t>
            </a:r>
            <a:br>
              <a:rPr b="0" i="1" lang="en-US" sz="650" u="none" cap="none" strike="noStrike">
                <a:solidFill>
                  <a:srgbClr val="BD93F9"/>
                </a:solidFill>
                <a:latin typeface="Calibri"/>
                <a:ea typeface="Calibri"/>
                <a:cs typeface="Calibri"/>
                <a:sym typeface="Calibri"/>
              </a:rPr>
            </a:br>
            <a:r>
              <a:rPr b="0" i="1" lang="en-US" sz="650" u="none" cap="none" strike="noStrike">
                <a:solidFill>
                  <a:srgbClr val="BD93F9"/>
                </a:solidFill>
                <a:latin typeface="Calibri"/>
                <a:ea typeface="Calibri"/>
                <a:cs typeface="Calibri"/>
                <a:sym typeface="Calibri"/>
              </a:rPr>
              <a:t>ASG Evidence</a:t>
            </a:r>
            <a:endParaRPr b="0" i="0" sz="1400" u="none" cap="none" strike="noStrike">
              <a:solidFill>
                <a:srgbClr val="000000"/>
              </a:solidFill>
              <a:latin typeface="Arial"/>
              <a:ea typeface="Arial"/>
              <a:cs typeface="Arial"/>
              <a:sym typeface="Arial"/>
            </a:endParaRPr>
          </a:p>
        </p:txBody>
      </p:sp>
      <p:sp>
        <p:nvSpPr>
          <p:cNvPr id="412" name="Google Shape;412;p17"/>
          <p:cNvSpPr/>
          <p:nvPr/>
        </p:nvSpPr>
        <p:spPr>
          <a:xfrm>
            <a:off x="8339328" y="2706624"/>
            <a:ext cx="1920240" cy="594360"/>
          </a:xfrm>
          <a:prstGeom prst="rect">
            <a:avLst/>
          </a:prstGeom>
          <a:solidFill>
            <a:srgbClr val="1E1402"/>
          </a:solidFill>
          <a:ln cap="flat" cmpd="sng" w="203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3" name="Google Shape;413;p17"/>
          <p:cNvSpPr txBox="1"/>
          <p:nvPr/>
        </p:nvSpPr>
        <p:spPr>
          <a:xfrm>
            <a:off x="8430768" y="2743200"/>
            <a:ext cx="73152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D700"/>
                </a:solidFill>
                <a:latin typeface="Calibri"/>
                <a:ea typeface="Calibri"/>
                <a:cs typeface="Calibri"/>
                <a:sym typeface="Calibri"/>
              </a:rPr>
              <a:t>STEP 2</a:t>
            </a:r>
            <a:endParaRPr b="0" i="0" sz="1400" u="none" cap="none" strike="noStrike">
              <a:solidFill>
                <a:srgbClr val="000000"/>
              </a:solidFill>
              <a:latin typeface="Arial"/>
              <a:ea typeface="Arial"/>
              <a:cs typeface="Arial"/>
              <a:sym typeface="Arial"/>
            </a:endParaRPr>
          </a:p>
        </p:txBody>
      </p:sp>
      <p:sp>
        <p:nvSpPr>
          <p:cNvPr id="414" name="Google Shape;414;p17"/>
          <p:cNvSpPr/>
          <p:nvPr/>
        </p:nvSpPr>
        <p:spPr>
          <a:xfrm>
            <a:off x="9244584" y="2761488"/>
            <a:ext cx="960120" cy="18288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5" name="Google Shape;415;p17"/>
          <p:cNvSpPr txBox="1"/>
          <p:nvPr/>
        </p:nvSpPr>
        <p:spPr>
          <a:xfrm>
            <a:off x="9244584" y="2770632"/>
            <a:ext cx="96012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50"/>
              <a:buFont typeface="Arial"/>
              <a:buNone/>
            </a:pPr>
            <a:r>
              <a:rPr b="1" i="0" lang="en-US" sz="6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416" name="Google Shape;416;p17"/>
          <p:cNvSpPr txBox="1"/>
          <p:nvPr/>
        </p:nvSpPr>
        <p:spPr>
          <a:xfrm>
            <a:off x="8430768" y="2980944"/>
            <a:ext cx="1773936"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Admin hash extracted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cracked offline</a:t>
            </a:r>
            <a:endParaRPr b="0" i="0" sz="1400" u="none" cap="none" strike="noStrike">
              <a:solidFill>
                <a:srgbClr val="000000"/>
              </a:solidFill>
              <a:latin typeface="Arial"/>
              <a:ea typeface="Arial"/>
              <a:cs typeface="Arial"/>
              <a:sym typeface="Arial"/>
            </a:endParaRPr>
          </a:p>
        </p:txBody>
      </p:sp>
      <p:cxnSp>
        <p:nvCxnSpPr>
          <p:cNvPr id="417" name="Google Shape;417;p17"/>
          <p:cNvCxnSpPr/>
          <p:nvPr/>
        </p:nvCxnSpPr>
        <p:spPr>
          <a:xfrm>
            <a:off x="0" y="3300984"/>
            <a:ext cx="0" cy="201168"/>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418" name="Google Shape;418;p17"/>
          <p:cNvSpPr txBox="1"/>
          <p:nvPr/>
        </p:nvSpPr>
        <p:spPr>
          <a:xfrm>
            <a:off x="9354312" y="3319272"/>
            <a:ext cx="731520"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A0AAB8"/>
                </a:solidFill>
                <a:latin typeface="Calibri"/>
                <a:ea typeface="Calibri"/>
                <a:cs typeface="Calibri"/>
                <a:sym typeface="Calibri"/>
              </a:rPr>
              <a:t>next_step</a:t>
            </a:r>
            <a:endParaRPr b="0" i="0" sz="1400" u="none" cap="none" strike="noStrike">
              <a:solidFill>
                <a:srgbClr val="000000"/>
              </a:solidFill>
              <a:latin typeface="Arial"/>
              <a:ea typeface="Arial"/>
              <a:cs typeface="Arial"/>
              <a:sym typeface="Arial"/>
            </a:endParaRPr>
          </a:p>
        </p:txBody>
      </p:sp>
      <p:sp>
        <p:nvSpPr>
          <p:cNvPr id="419" name="Google Shape;419;p17"/>
          <p:cNvSpPr txBox="1"/>
          <p:nvPr/>
        </p:nvSpPr>
        <p:spPr>
          <a:xfrm>
            <a:off x="10332720" y="2843784"/>
            <a:ext cx="77724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BD93F9"/>
                </a:solidFill>
                <a:latin typeface="Calibri"/>
                <a:ea typeface="Calibri"/>
                <a:cs typeface="Calibri"/>
                <a:sym typeface="Calibri"/>
              </a:rPr>
              <a:t>↗ supported_by</a:t>
            </a:r>
            <a:br>
              <a:rPr b="0" i="1" lang="en-US" sz="650" u="none" cap="none" strike="noStrike">
                <a:solidFill>
                  <a:srgbClr val="BD93F9"/>
                </a:solidFill>
                <a:latin typeface="Calibri"/>
                <a:ea typeface="Calibri"/>
                <a:cs typeface="Calibri"/>
                <a:sym typeface="Calibri"/>
              </a:rPr>
            </a:br>
            <a:r>
              <a:rPr b="0" i="1" lang="en-US" sz="650" u="none" cap="none" strike="noStrike">
                <a:solidFill>
                  <a:srgbClr val="BD93F9"/>
                </a:solidFill>
                <a:latin typeface="Calibri"/>
                <a:ea typeface="Calibri"/>
                <a:cs typeface="Calibri"/>
                <a:sym typeface="Calibri"/>
              </a:rPr>
              <a:t>ASG Evidence</a:t>
            </a:r>
            <a:endParaRPr b="0" i="0" sz="1400" u="none" cap="none" strike="noStrike">
              <a:solidFill>
                <a:srgbClr val="000000"/>
              </a:solidFill>
              <a:latin typeface="Arial"/>
              <a:ea typeface="Arial"/>
              <a:cs typeface="Arial"/>
              <a:sym typeface="Arial"/>
            </a:endParaRPr>
          </a:p>
        </p:txBody>
      </p:sp>
      <p:sp>
        <p:nvSpPr>
          <p:cNvPr id="420" name="Google Shape;420;p17"/>
          <p:cNvSpPr/>
          <p:nvPr/>
        </p:nvSpPr>
        <p:spPr>
          <a:xfrm>
            <a:off x="8339328" y="3502152"/>
            <a:ext cx="1920240" cy="594360"/>
          </a:xfrm>
          <a:prstGeom prst="rect">
            <a:avLst/>
          </a:prstGeom>
          <a:solidFill>
            <a:srgbClr val="1E1402"/>
          </a:solidFill>
          <a:ln cap="flat" cmpd="sng" w="203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1" name="Google Shape;421;p17"/>
          <p:cNvSpPr txBox="1"/>
          <p:nvPr/>
        </p:nvSpPr>
        <p:spPr>
          <a:xfrm>
            <a:off x="8430768" y="3538728"/>
            <a:ext cx="73152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STEP 3</a:t>
            </a:r>
            <a:endParaRPr b="0" i="0" sz="1400" u="none" cap="none" strike="noStrike">
              <a:solidFill>
                <a:srgbClr val="000000"/>
              </a:solidFill>
              <a:latin typeface="Arial"/>
              <a:ea typeface="Arial"/>
              <a:cs typeface="Arial"/>
              <a:sym typeface="Arial"/>
            </a:endParaRPr>
          </a:p>
        </p:txBody>
      </p:sp>
      <p:sp>
        <p:nvSpPr>
          <p:cNvPr id="422" name="Google Shape;422;p17"/>
          <p:cNvSpPr/>
          <p:nvPr/>
        </p:nvSpPr>
        <p:spPr>
          <a:xfrm>
            <a:off x="9244584" y="3557016"/>
            <a:ext cx="960120" cy="18288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3" name="Google Shape;423;p17"/>
          <p:cNvSpPr txBox="1"/>
          <p:nvPr/>
        </p:nvSpPr>
        <p:spPr>
          <a:xfrm>
            <a:off x="9244584" y="3566160"/>
            <a:ext cx="96012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50"/>
              <a:buFont typeface="Arial"/>
              <a:buNone/>
            </a:pPr>
            <a:r>
              <a:rPr b="1" i="0" lang="en-US" sz="6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424" name="Google Shape;424;p17"/>
          <p:cNvSpPr txBox="1"/>
          <p:nvPr/>
        </p:nvSpPr>
        <p:spPr>
          <a:xfrm>
            <a:off x="8430768" y="3776472"/>
            <a:ext cx="1773936"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Metasploit → Web shell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RCE achieved</a:t>
            </a:r>
            <a:endParaRPr b="0" i="0" sz="1400" u="none" cap="none" strike="noStrike">
              <a:solidFill>
                <a:srgbClr val="000000"/>
              </a:solidFill>
              <a:latin typeface="Arial"/>
              <a:ea typeface="Arial"/>
              <a:cs typeface="Arial"/>
              <a:sym typeface="Arial"/>
            </a:endParaRPr>
          </a:p>
        </p:txBody>
      </p:sp>
      <p:cxnSp>
        <p:nvCxnSpPr>
          <p:cNvPr id="425" name="Google Shape;425;p17"/>
          <p:cNvCxnSpPr/>
          <p:nvPr/>
        </p:nvCxnSpPr>
        <p:spPr>
          <a:xfrm>
            <a:off x="0" y="4096512"/>
            <a:ext cx="0" cy="201168"/>
          </a:xfrm>
          <a:prstGeom prst="straightConnector1">
            <a:avLst/>
          </a:prstGeom>
          <a:noFill/>
          <a:ln cap="flat" cmpd="sng" w="15225">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sp>
        <p:nvSpPr>
          <p:cNvPr id="426" name="Google Shape;426;p17"/>
          <p:cNvSpPr txBox="1"/>
          <p:nvPr/>
        </p:nvSpPr>
        <p:spPr>
          <a:xfrm>
            <a:off x="9354312" y="4114800"/>
            <a:ext cx="731520"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A0AAB8"/>
                </a:solidFill>
                <a:latin typeface="Calibri"/>
                <a:ea typeface="Calibri"/>
                <a:cs typeface="Calibri"/>
                <a:sym typeface="Calibri"/>
              </a:rPr>
              <a:t>next_step</a:t>
            </a:r>
            <a:endParaRPr b="0" i="0" sz="1400" u="none" cap="none" strike="noStrike">
              <a:solidFill>
                <a:srgbClr val="000000"/>
              </a:solidFill>
              <a:latin typeface="Arial"/>
              <a:ea typeface="Arial"/>
              <a:cs typeface="Arial"/>
              <a:sym typeface="Arial"/>
            </a:endParaRPr>
          </a:p>
        </p:txBody>
      </p:sp>
      <p:sp>
        <p:nvSpPr>
          <p:cNvPr id="427" name="Google Shape;427;p17"/>
          <p:cNvSpPr txBox="1"/>
          <p:nvPr/>
        </p:nvSpPr>
        <p:spPr>
          <a:xfrm>
            <a:off x="10332720" y="3639312"/>
            <a:ext cx="77724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BD93F9"/>
                </a:solidFill>
                <a:latin typeface="Calibri"/>
                <a:ea typeface="Calibri"/>
                <a:cs typeface="Calibri"/>
                <a:sym typeface="Calibri"/>
              </a:rPr>
              <a:t>↗ supported_by</a:t>
            </a:r>
            <a:br>
              <a:rPr b="0" i="1" lang="en-US" sz="650" u="none" cap="none" strike="noStrike">
                <a:solidFill>
                  <a:srgbClr val="BD93F9"/>
                </a:solidFill>
                <a:latin typeface="Calibri"/>
                <a:ea typeface="Calibri"/>
                <a:cs typeface="Calibri"/>
                <a:sym typeface="Calibri"/>
              </a:rPr>
            </a:br>
            <a:r>
              <a:rPr b="0" i="1" lang="en-US" sz="650" u="none" cap="none" strike="noStrike">
                <a:solidFill>
                  <a:srgbClr val="BD93F9"/>
                </a:solidFill>
                <a:latin typeface="Calibri"/>
                <a:ea typeface="Calibri"/>
                <a:cs typeface="Calibri"/>
                <a:sym typeface="Calibri"/>
              </a:rPr>
              <a:t>ASG Evidence</a:t>
            </a:r>
            <a:endParaRPr b="0" i="0" sz="1400" u="none" cap="none" strike="noStrike">
              <a:solidFill>
                <a:srgbClr val="000000"/>
              </a:solidFill>
              <a:latin typeface="Arial"/>
              <a:ea typeface="Arial"/>
              <a:cs typeface="Arial"/>
              <a:sym typeface="Arial"/>
            </a:endParaRPr>
          </a:p>
        </p:txBody>
      </p:sp>
      <p:sp>
        <p:nvSpPr>
          <p:cNvPr id="428" name="Google Shape;428;p17"/>
          <p:cNvSpPr/>
          <p:nvPr/>
        </p:nvSpPr>
        <p:spPr>
          <a:xfrm>
            <a:off x="8339328" y="4297680"/>
            <a:ext cx="1920240" cy="594360"/>
          </a:xfrm>
          <a:prstGeom prst="rect">
            <a:avLst/>
          </a:prstGeom>
          <a:solidFill>
            <a:srgbClr val="160820"/>
          </a:solidFill>
          <a:ln cap="flat" cmpd="sng" w="203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9" name="Google Shape;429;p17"/>
          <p:cNvSpPr txBox="1"/>
          <p:nvPr/>
        </p:nvSpPr>
        <p:spPr>
          <a:xfrm>
            <a:off x="8430768" y="4334256"/>
            <a:ext cx="73152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IMPACT</a:t>
            </a:r>
            <a:endParaRPr b="0" i="0" sz="1400" u="none" cap="none" strike="noStrike">
              <a:solidFill>
                <a:srgbClr val="000000"/>
              </a:solidFill>
              <a:latin typeface="Arial"/>
              <a:ea typeface="Arial"/>
              <a:cs typeface="Arial"/>
              <a:sym typeface="Arial"/>
            </a:endParaRPr>
          </a:p>
        </p:txBody>
      </p:sp>
      <p:sp>
        <p:nvSpPr>
          <p:cNvPr id="430" name="Google Shape;430;p17"/>
          <p:cNvSpPr/>
          <p:nvPr/>
        </p:nvSpPr>
        <p:spPr>
          <a:xfrm>
            <a:off x="9244584" y="4352544"/>
            <a:ext cx="960120" cy="18288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1" name="Google Shape;431;p17"/>
          <p:cNvSpPr txBox="1"/>
          <p:nvPr/>
        </p:nvSpPr>
        <p:spPr>
          <a:xfrm>
            <a:off x="9244584" y="4361688"/>
            <a:ext cx="96012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50"/>
              <a:buFont typeface="Arial"/>
              <a:buNone/>
            </a:pPr>
            <a:r>
              <a:rPr b="1" i="0" lang="en-US" sz="650" u="none" cap="none" strike="noStrike">
                <a:solidFill>
                  <a:srgbClr val="0A0D1A"/>
                </a:solidFill>
                <a:latin typeface="Calibri"/>
                <a:ea typeface="Calibri"/>
                <a:cs typeface="Calibri"/>
                <a:sym typeface="Calibri"/>
              </a:rPr>
              <a:t>DEMONSTRATED</a:t>
            </a:r>
            <a:endParaRPr b="0" i="0" sz="1400" u="none" cap="none" strike="noStrike">
              <a:solidFill>
                <a:srgbClr val="000000"/>
              </a:solidFill>
              <a:latin typeface="Arial"/>
              <a:ea typeface="Arial"/>
              <a:cs typeface="Arial"/>
              <a:sym typeface="Arial"/>
            </a:endParaRPr>
          </a:p>
        </p:txBody>
      </p:sp>
      <p:sp>
        <p:nvSpPr>
          <p:cNvPr id="432" name="Google Shape;432;p17"/>
          <p:cNvSpPr txBox="1"/>
          <p:nvPr/>
        </p:nvSpPr>
        <p:spPr>
          <a:xfrm>
            <a:off x="8430768" y="4572000"/>
            <a:ext cx="1773936"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Full server access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Customer PII exposed</a:t>
            </a:r>
            <a:endParaRPr b="0" i="0" sz="1400" u="none" cap="none" strike="noStrike">
              <a:solidFill>
                <a:srgbClr val="000000"/>
              </a:solidFill>
              <a:latin typeface="Arial"/>
              <a:ea typeface="Arial"/>
              <a:cs typeface="Arial"/>
              <a:sym typeface="Arial"/>
            </a:endParaRPr>
          </a:p>
        </p:txBody>
      </p:sp>
      <p:sp>
        <p:nvSpPr>
          <p:cNvPr id="433" name="Google Shape;433;p17"/>
          <p:cNvSpPr txBox="1"/>
          <p:nvPr/>
        </p:nvSpPr>
        <p:spPr>
          <a:xfrm>
            <a:off x="10332720" y="4434840"/>
            <a:ext cx="77724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50"/>
              <a:buFont typeface="Arial"/>
              <a:buNone/>
            </a:pPr>
            <a:r>
              <a:rPr b="0" i="1" lang="en-US" sz="650" u="none" cap="none" strike="noStrike">
                <a:solidFill>
                  <a:srgbClr val="BD93F9"/>
                </a:solidFill>
                <a:latin typeface="Calibri"/>
                <a:ea typeface="Calibri"/>
                <a:cs typeface="Calibri"/>
                <a:sym typeface="Calibri"/>
              </a:rPr>
              <a:t>↗ supported_by</a:t>
            </a:r>
            <a:br>
              <a:rPr b="0" i="1" lang="en-US" sz="650" u="none" cap="none" strike="noStrike">
                <a:solidFill>
                  <a:srgbClr val="BD93F9"/>
                </a:solidFill>
                <a:latin typeface="Calibri"/>
                <a:ea typeface="Calibri"/>
                <a:cs typeface="Calibri"/>
                <a:sym typeface="Calibri"/>
              </a:rPr>
            </a:br>
            <a:r>
              <a:rPr b="0" i="1" lang="en-US" sz="650" u="none" cap="none" strike="noStrike">
                <a:solidFill>
                  <a:srgbClr val="BD93F9"/>
                </a:solidFill>
                <a:latin typeface="Calibri"/>
                <a:ea typeface="Calibri"/>
                <a:cs typeface="Calibri"/>
                <a:sym typeface="Calibri"/>
              </a:rPr>
              <a:t>ASG Evidence</a:t>
            </a:r>
            <a:endParaRPr b="0" i="0" sz="1400" u="none" cap="none" strike="noStrike">
              <a:solidFill>
                <a:srgbClr val="000000"/>
              </a:solidFill>
              <a:latin typeface="Arial"/>
              <a:ea typeface="Arial"/>
              <a:cs typeface="Arial"/>
              <a:sym typeface="Arial"/>
            </a:endParaRPr>
          </a:p>
        </p:txBody>
      </p:sp>
      <p:sp>
        <p:nvSpPr>
          <p:cNvPr id="434" name="Google Shape;434;p17"/>
          <p:cNvSpPr txBox="1"/>
          <p:nvPr/>
        </p:nvSpPr>
        <p:spPr>
          <a:xfrm>
            <a:off x="6894576" y="1810512"/>
            <a:ext cx="4846320"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starts_at: ASG Vulnerability node</a:t>
            </a:r>
            <a:endParaRPr b="0" i="0" sz="1400" u="none" cap="none" strike="noStrike">
              <a:solidFill>
                <a:srgbClr val="000000"/>
              </a:solidFill>
              <a:latin typeface="Arial"/>
              <a:ea typeface="Arial"/>
              <a:cs typeface="Arial"/>
              <a:sym typeface="Arial"/>
            </a:endParaRPr>
          </a:p>
        </p:txBody>
      </p:sp>
      <p:sp>
        <p:nvSpPr>
          <p:cNvPr id="435" name="Google Shape;435;p17"/>
          <p:cNvSpPr/>
          <p:nvPr/>
        </p:nvSpPr>
        <p:spPr>
          <a:xfrm>
            <a:off x="6711696" y="5230368"/>
            <a:ext cx="5285232" cy="566928"/>
          </a:xfrm>
          <a:prstGeom prst="rect">
            <a:avLst/>
          </a:prstGeom>
          <a:solidFill>
            <a:srgbClr val="1C10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6" name="Google Shape;436;p17"/>
          <p:cNvSpPr txBox="1"/>
          <p:nvPr/>
        </p:nvSpPr>
        <p:spPr>
          <a:xfrm>
            <a:off x="6784848" y="5285232"/>
            <a:ext cx="51206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EDGES:  starts_at  ·  next_step  ·  achieves  ·  supported_by</a:t>
            </a:r>
            <a:br>
              <a:rPr b="0" i="1" lang="en-US" sz="750" u="none" cap="none" strike="noStrike">
                <a:solidFill>
                  <a:srgbClr val="A0AAB8"/>
                </a:solidFill>
                <a:latin typeface="Calibri"/>
                <a:ea typeface="Calibri"/>
                <a:cs typeface="Calibri"/>
                <a:sym typeface="Calibri"/>
              </a:rPr>
            </a:br>
            <a:r>
              <a:rPr b="0" i="1" lang="en-US" sz="750" u="none" cap="none" strike="noStrike">
                <a:solidFill>
                  <a:srgbClr val="A0AAB8"/>
                </a:solidFill>
                <a:latin typeface="Calibri"/>
                <a:ea typeface="Calibri"/>
                <a:cs typeface="Calibri"/>
                <a:sym typeface="Calibri"/>
              </a:rPr>
              <a:t>VALIDATION STATUS:  HYPOTHESIZED → PARTIALLY_VALIDATED → VALIDATED / RULED_OUT</a:t>
            </a:r>
            <a:endParaRPr b="0" i="0" sz="1400" u="none" cap="none" strike="noStrike">
              <a:solidFill>
                <a:srgbClr val="000000"/>
              </a:solidFill>
              <a:latin typeface="Arial"/>
              <a:ea typeface="Arial"/>
              <a:cs typeface="Arial"/>
              <a:sym typeface="Arial"/>
            </a:endParaRPr>
          </a:p>
        </p:txBody>
      </p:sp>
      <p:sp>
        <p:nvSpPr>
          <p:cNvPr id="437" name="Google Shape;437;p17"/>
          <p:cNvSpPr/>
          <p:nvPr/>
        </p:nvSpPr>
        <p:spPr>
          <a:xfrm>
            <a:off x="164592" y="5870448"/>
            <a:ext cx="11862511" cy="658368"/>
          </a:xfrm>
          <a:prstGeom prst="rect">
            <a:avLst/>
          </a:prstGeom>
          <a:solidFill>
            <a:srgbClr val="061422"/>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8" name="Google Shape;438;p17"/>
          <p:cNvSpPr txBox="1"/>
          <p:nvPr/>
        </p:nvSpPr>
        <p:spPr>
          <a:xfrm>
            <a:off x="457200" y="5943600"/>
            <a:ext cx="11368735" cy="5303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00E5FF"/>
                </a:solidFill>
                <a:latin typeface="Calibri"/>
                <a:ea typeface="Calibri"/>
                <a:cs typeface="Calibri"/>
                <a:sym typeface="Calibri"/>
              </a:rPr>
              <a:t>Separation Principle:  Discovery agents write only to the ASG — they never reason about chains.  The Commander writes only to the APG — it never runs tools.  No agent conflates discovered facts with hypothesised attack reasoning.</a:t>
            </a:r>
            <a:endParaRPr b="0" i="0" sz="1400" u="none" cap="none" strike="noStrike">
              <a:solidFill>
                <a:srgbClr val="000000"/>
              </a:solidFill>
              <a:latin typeface="Arial"/>
              <a:ea typeface="Arial"/>
              <a:cs typeface="Arial"/>
              <a:sym typeface="Arial"/>
            </a:endParaRPr>
          </a:p>
        </p:txBody>
      </p:sp>
      <p:sp>
        <p:nvSpPr>
          <p:cNvPr id="439" name="Google Shape;439;p17"/>
          <p:cNvSpPr txBox="1"/>
          <p:nvPr/>
        </p:nvSpPr>
        <p:spPr>
          <a:xfrm>
            <a:off x="11740890" y="82330"/>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443" name="Shape 443"/>
        <p:cNvGrpSpPr/>
        <p:nvPr/>
      </p:nvGrpSpPr>
      <p:grpSpPr>
        <a:xfrm>
          <a:off x="0" y="0"/>
          <a:ext cx="0" cy="0"/>
          <a:chOff x="0" y="0"/>
          <a:chExt cx="0" cy="0"/>
        </a:xfrm>
      </p:grpSpPr>
      <p:sp>
        <p:nvSpPr>
          <p:cNvPr id="444" name="Google Shape;444;p18"/>
          <p:cNvSpPr/>
          <p:nvPr/>
        </p:nvSpPr>
        <p:spPr>
          <a:xfrm>
            <a:off x="0" y="0"/>
            <a:ext cx="54864"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5" name="Google Shape;445;p18"/>
          <p:cNvSpPr/>
          <p:nvPr/>
        </p:nvSpPr>
        <p:spPr>
          <a:xfrm>
            <a:off x="54864" y="0"/>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6" name="Google Shape;446;p18"/>
          <p:cNvSpPr/>
          <p:nvPr/>
        </p:nvSpPr>
        <p:spPr>
          <a:xfrm>
            <a:off x="54864" y="6821424"/>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7" name="Google Shape;447;p18"/>
          <p:cNvSpPr txBox="1"/>
          <p:nvPr/>
        </p:nvSpPr>
        <p:spPr>
          <a:xfrm>
            <a:off x="274320" y="64008"/>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AGENT ARCHITECTURE</a:t>
            </a:r>
            <a:endParaRPr b="0" i="0" sz="1400" u="none" cap="none" strike="noStrike">
              <a:solidFill>
                <a:srgbClr val="000000"/>
              </a:solidFill>
              <a:latin typeface="Arial"/>
              <a:ea typeface="Arial"/>
              <a:cs typeface="Arial"/>
              <a:sym typeface="Arial"/>
            </a:endParaRPr>
          </a:p>
        </p:txBody>
      </p:sp>
      <p:sp>
        <p:nvSpPr>
          <p:cNvPr id="448" name="Google Shape;448;p18"/>
          <p:cNvSpPr txBox="1"/>
          <p:nvPr/>
        </p:nvSpPr>
        <p:spPr>
          <a:xfrm>
            <a:off x="274320" y="292608"/>
            <a:ext cx="1005840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Context-Isolated Agents — Spawn · Execute · Return · Discard</a:t>
            </a:r>
            <a:endParaRPr b="0" i="0" sz="1400" u="none" cap="none" strike="noStrike">
              <a:solidFill>
                <a:srgbClr val="000000"/>
              </a:solidFill>
              <a:latin typeface="Arial"/>
              <a:ea typeface="Arial"/>
              <a:cs typeface="Arial"/>
              <a:sym typeface="Arial"/>
            </a:endParaRPr>
          </a:p>
        </p:txBody>
      </p:sp>
      <p:sp>
        <p:nvSpPr>
          <p:cNvPr id="449" name="Google Shape;449;p18"/>
          <p:cNvSpPr/>
          <p:nvPr/>
        </p:nvSpPr>
        <p:spPr>
          <a:xfrm>
            <a:off x="164600" y="804675"/>
            <a:ext cx="4434900" cy="5888700"/>
          </a:xfrm>
          <a:prstGeom prst="rect">
            <a:avLst/>
          </a:prstGeom>
          <a:solidFill>
            <a:srgbClr val="080C20"/>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0" name="Google Shape;450;p18"/>
          <p:cNvSpPr txBox="1"/>
          <p:nvPr/>
        </p:nvSpPr>
        <p:spPr>
          <a:xfrm>
            <a:off x="164592" y="859536"/>
            <a:ext cx="44348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CONTEXT ISOLATION MODEL</a:t>
            </a:r>
            <a:endParaRPr b="0" i="0" sz="1400" u="none" cap="none" strike="noStrike">
              <a:solidFill>
                <a:srgbClr val="000000"/>
              </a:solidFill>
              <a:latin typeface="Arial"/>
              <a:ea typeface="Arial"/>
              <a:cs typeface="Arial"/>
              <a:sym typeface="Arial"/>
            </a:endParaRPr>
          </a:p>
        </p:txBody>
      </p:sp>
      <p:sp>
        <p:nvSpPr>
          <p:cNvPr id="451" name="Google Shape;451;p18"/>
          <p:cNvSpPr/>
          <p:nvPr/>
        </p:nvSpPr>
        <p:spPr>
          <a:xfrm>
            <a:off x="987552" y="1152144"/>
            <a:ext cx="2743200" cy="502920"/>
          </a:xfrm>
          <a:prstGeom prst="rect">
            <a:avLst/>
          </a:prstGeom>
          <a:solidFill>
            <a:srgbClr val="041832"/>
          </a:solidFill>
          <a:ln cap="flat" cmpd="sng" w="228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2" name="Google Shape;452;p18"/>
          <p:cNvSpPr/>
          <p:nvPr/>
        </p:nvSpPr>
        <p:spPr>
          <a:xfrm>
            <a:off x="987552" y="1152144"/>
            <a:ext cx="2743200" cy="18288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3" name="Google Shape;453;p18"/>
          <p:cNvSpPr txBox="1"/>
          <p:nvPr/>
        </p:nvSpPr>
        <p:spPr>
          <a:xfrm>
            <a:off x="987552" y="1170432"/>
            <a:ext cx="274320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454" name="Google Shape;454;p18"/>
          <p:cNvSpPr txBox="1"/>
          <p:nvPr/>
        </p:nvSpPr>
        <p:spPr>
          <a:xfrm>
            <a:off x="987552" y="1353312"/>
            <a:ext cx="27432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Reads ASG + APG → decides next action</a:t>
            </a:r>
            <a:endParaRPr b="0" i="0" sz="1400" u="none" cap="none" strike="noStrike">
              <a:solidFill>
                <a:srgbClr val="000000"/>
              </a:solidFill>
              <a:latin typeface="Arial"/>
              <a:ea typeface="Arial"/>
              <a:cs typeface="Arial"/>
              <a:sym typeface="Arial"/>
            </a:endParaRPr>
          </a:p>
        </p:txBody>
      </p:sp>
      <p:cxnSp>
        <p:nvCxnSpPr>
          <p:cNvPr id="455" name="Google Shape;455;p18"/>
          <p:cNvCxnSpPr/>
          <p:nvPr/>
        </p:nvCxnSpPr>
        <p:spPr>
          <a:xfrm>
            <a:off x="0" y="1655064"/>
            <a:ext cx="0" cy="228600"/>
          </a:xfrm>
          <a:prstGeom prst="straightConnector1">
            <a:avLst/>
          </a:prstGeom>
          <a:noFill/>
          <a:ln cap="flat" cmpd="sng" w="19050">
            <a:solidFill>
              <a:srgbClr val="BD93F9"/>
            </a:solidFill>
            <a:prstDash val="solid"/>
            <a:round/>
            <a:headEnd len="med" w="med" type="stealth"/>
            <a:tailEnd len="sm" w="sm" type="none"/>
          </a:ln>
          <a:effectLst>
            <a:outerShdw blurRad="40000" rotWithShape="0" dir="5400000" dist="20000">
              <a:srgbClr val="000000">
                <a:alpha val="38039"/>
              </a:srgbClr>
            </a:outerShdw>
          </a:effectLst>
        </p:spPr>
      </p:cxnSp>
      <p:sp>
        <p:nvSpPr>
          <p:cNvPr id="456" name="Google Shape;456;p18"/>
          <p:cNvSpPr txBox="1"/>
          <p:nvPr/>
        </p:nvSpPr>
        <p:spPr>
          <a:xfrm>
            <a:off x="2455164" y="1673352"/>
            <a:ext cx="164592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BD93F9"/>
                </a:solidFill>
                <a:latin typeface="Calibri"/>
                <a:ea typeface="Calibri"/>
                <a:cs typeface="Calibri"/>
                <a:sym typeface="Calibri"/>
              </a:rPr>
              <a:t>spawn with scoped context</a:t>
            </a:r>
            <a:endParaRPr b="0" i="0" sz="1400" u="none" cap="none" strike="noStrike">
              <a:solidFill>
                <a:srgbClr val="000000"/>
              </a:solidFill>
              <a:latin typeface="Arial"/>
              <a:ea typeface="Arial"/>
              <a:cs typeface="Arial"/>
              <a:sym typeface="Arial"/>
            </a:endParaRPr>
          </a:p>
        </p:txBody>
      </p:sp>
      <p:sp>
        <p:nvSpPr>
          <p:cNvPr id="457" name="Google Shape;457;p18"/>
          <p:cNvSpPr/>
          <p:nvPr/>
        </p:nvSpPr>
        <p:spPr>
          <a:xfrm>
            <a:off x="365750" y="1947675"/>
            <a:ext cx="4032600" cy="2758500"/>
          </a:xfrm>
          <a:prstGeom prst="rect">
            <a:avLst/>
          </a:prstGeom>
          <a:solidFill>
            <a:srgbClr val="0A102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8" name="Google Shape;458;p18"/>
          <p:cNvSpPr/>
          <p:nvPr/>
        </p:nvSpPr>
        <p:spPr>
          <a:xfrm>
            <a:off x="365760" y="1947672"/>
            <a:ext cx="4032504" cy="219456"/>
          </a:xfrm>
          <a:prstGeom prst="rect">
            <a:avLst/>
          </a:prstGeom>
          <a:solidFill>
            <a:srgbClr val="2010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9" name="Google Shape;459;p18"/>
          <p:cNvSpPr txBox="1"/>
          <p:nvPr/>
        </p:nvSpPr>
        <p:spPr>
          <a:xfrm>
            <a:off x="365760" y="1984248"/>
            <a:ext cx="4032504"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ISOLATED AGENT CONTEXT  (fresh per task)</a:t>
            </a:r>
            <a:endParaRPr b="0" i="0" sz="1400" u="none" cap="none" strike="noStrike">
              <a:solidFill>
                <a:srgbClr val="000000"/>
              </a:solidFill>
              <a:latin typeface="Arial"/>
              <a:ea typeface="Arial"/>
              <a:cs typeface="Arial"/>
              <a:sym typeface="Arial"/>
            </a:endParaRPr>
          </a:p>
        </p:txBody>
      </p:sp>
      <p:sp>
        <p:nvSpPr>
          <p:cNvPr id="460" name="Google Shape;460;p18"/>
          <p:cNvSpPr/>
          <p:nvPr/>
        </p:nvSpPr>
        <p:spPr>
          <a:xfrm>
            <a:off x="457200" y="2221998"/>
            <a:ext cx="3849600" cy="512100"/>
          </a:xfrm>
          <a:prstGeom prst="rect">
            <a:avLst/>
          </a:prstGeom>
          <a:solidFill>
            <a:srgbClr val="04160A"/>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1" name="Google Shape;461;p18"/>
          <p:cNvSpPr txBox="1"/>
          <p:nvPr/>
        </p:nvSpPr>
        <p:spPr>
          <a:xfrm>
            <a:off x="530352" y="2258568"/>
            <a:ext cx="1005840" cy="5920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ASG SLICE</a:t>
            </a:r>
            <a:endParaRPr b="0" i="0" sz="1400" u="none" cap="none" strike="noStrike">
              <a:solidFill>
                <a:srgbClr val="000000"/>
              </a:solidFill>
              <a:latin typeface="Arial"/>
              <a:ea typeface="Arial"/>
              <a:cs typeface="Arial"/>
              <a:sym typeface="Arial"/>
            </a:endParaRPr>
          </a:p>
        </p:txBody>
      </p:sp>
      <p:sp>
        <p:nvSpPr>
          <p:cNvPr id="462" name="Google Shape;462;p18"/>
          <p:cNvSpPr txBox="1"/>
          <p:nvPr/>
        </p:nvSpPr>
        <p:spPr>
          <a:xfrm>
            <a:off x="1572768" y="2258568"/>
            <a:ext cx="2660904" cy="5920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Only nodes relevant to this task</a:t>
            </a:r>
            <a:endParaRPr b="0" i="0" sz="1400" u="none" cap="none" strike="noStrike">
              <a:solidFill>
                <a:srgbClr val="000000"/>
              </a:solidFill>
              <a:latin typeface="Arial"/>
              <a:ea typeface="Arial"/>
              <a:cs typeface="Arial"/>
              <a:sym typeface="Arial"/>
            </a:endParaRPr>
          </a:p>
        </p:txBody>
      </p:sp>
      <p:sp>
        <p:nvSpPr>
          <p:cNvPr id="463" name="Google Shape;463;p18"/>
          <p:cNvSpPr/>
          <p:nvPr/>
        </p:nvSpPr>
        <p:spPr>
          <a:xfrm>
            <a:off x="457200" y="2814064"/>
            <a:ext cx="3849600" cy="502800"/>
          </a:xfrm>
          <a:prstGeom prst="rect">
            <a:avLst/>
          </a:prstGeom>
          <a:solidFill>
            <a:srgbClr val="1A1002"/>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4" name="Google Shape;464;p18"/>
          <p:cNvSpPr txBox="1"/>
          <p:nvPr/>
        </p:nvSpPr>
        <p:spPr>
          <a:xfrm>
            <a:off x="530352" y="2850646"/>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D700"/>
                </a:solidFill>
                <a:latin typeface="Calibri"/>
                <a:ea typeface="Calibri"/>
                <a:cs typeface="Calibri"/>
                <a:sym typeface="Calibri"/>
              </a:rPr>
              <a:t>APG SLICE</a:t>
            </a:r>
            <a:endParaRPr b="0" i="0" sz="1400" u="none" cap="none" strike="noStrike">
              <a:solidFill>
                <a:srgbClr val="000000"/>
              </a:solidFill>
              <a:latin typeface="Arial"/>
              <a:ea typeface="Arial"/>
              <a:cs typeface="Arial"/>
              <a:sym typeface="Arial"/>
            </a:endParaRPr>
          </a:p>
        </p:txBody>
      </p:sp>
      <p:sp>
        <p:nvSpPr>
          <p:cNvPr id="465" name="Google Shape;465;p18"/>
          <p:cNvSpPr txBox="1"/>
          <p:nvPr/>
        </p:nvSpPr>
        <p:spPr>
          <a:xfrm>
            <a:off x="1572768" y="2850646"/>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Relevant AttackChains (if any)</a:t>
            </a:r>
            <a:endParaRPr b="0" i="0" sz="1400" u="none" cap="none" strike="noStrike">
              <a:solidFill>
                <a:srgbClr val="000000"/>
              </a:solidFill>
              <a:latin typeface="Arial"/>
              <a:ea typeface="Arial"/>
              <a:cs typeface="Arial"/>
              <a:sym typeface="Arial"/>
            </a:endParaRPr>
          </a:p>
        </p:txBody>
      </p:sp>
      <p:sp>
        <p:nvSpPr>
          <p:cNvPr id="466" name="Google Shape;466;p18"/>
          <p:cNvSpPr/>
          <p:nvPr/>
        </p:nvSpPr>
        <p:spPr>
          <a:xfrm>
            <a:off x="434350" y="3409824"/>
            <a:ext cx="3849600" cy="502800"/>
          </a:xfrm>
          <a:prstGeom prst="rect">
            <a:avLst/>
          </a:prstGeom>
          <a:solidFill>
            <a:srgbClr val="180606"/>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7" name="Google Shape;467;p18"/>
          <p:cNvSpPr txBox="1"/>
          <p:nvPr/>
        </p:nvSpPr>
        <p:spPr>
          <a:xfrm>
            <a:off x="507502" y="344639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TOOL SET</a:t>
            </a:r>
            <a:endParaRPr b="0" i="0" sz="1400" u="none" cap="none" strike="noStrike">
              <a:solidFill>
                <a:srgbClr val="000000"/>
              </a:solidFill>
              <a:latin typeface="Arial"/>
              <a:ea typeface="Arial"/>
              <a:cs typeface="Arial"/>
              <a:sym typeface="Arial"/>
            </a:endParaRPr>
          </a:p>
        </p:txBody>
      </p:sp>
      <p:sp>
        <p:nvSpPr>
          <p:cNvPr id="468" name="Google Shape;468;p18"/>
          <p:cNvSpPr txBox="1"/>
          <p:nvPr/>
        </p:nvSpPr>
        <p:spPr>
          <a:xfrm>
            <a:off x="1549918" y="344639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Authorized tools only — no others</a:t>
            </a:r>
            <a:endParaRPr b="0" i="0" sz="1400" u="none" cap="none" strike="noStrike">
              <a:solidFill>
                <a:srgbClr val="000000"/>
              </a:solidFill>
              <a:latin typeface="Arial"/>
              <a:ea typeface="Arial"/>
              <a:cs typeface="Arial"/>
              <a:sym typeface="Arial"/>
            </a:endParaRPr>
          </a:p>
        </p:txBody>
      </p:sp>
      <p:sp>
        <p:nvSpPr>
          <p:cNvPr id="469" name="Google Shape;469;p18"/>
          <p:cNvSpPr/>
          <p:nvPr/>
        </p:nvSpPr>
        <p:spPr>
          <a:xfrm>
            <a:off x="434350" y="4009554"/>
            <a:ext cx="3849600" cy="438900"/>
          </a:xfrm>
          <a:prstGeom prst="rect">
            <a:avLst/>
          </a:prstGeom>
          <a:solidFill>
            <a:srgbClr val="04142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0" name="Google Shape;470;p18"/>
          <p:cNvSpPr txBox="1"/>
          <p:nvPr/>
        </p:nvSpPr>
        <p:spPr>
          <a:xfrm>
            <a:off x="507502" y="404613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TASK SPEC</a:t>
            </a:r>
            <a:endParaRPr b="0" i="0" sz="1400" u="none" cap="none" strike="noStrike">
              <a:solidFill>
                <a:srgbClr val="000000"/>
              </a:solidFill>
              <a:latin typeface="Arial"/>
              <a:ea typeface="Arial"/>
              <a:cs typeface="Arial"/>
              <a:sym typeface="Arial"/>
            </a:endParaRPr>
          </a:p>
        </p:txBody>
      </p:sp>
      <p:sp>
        <p:nvSpPr>
          <p:cNvPr id="471" name="Google Shape;471;p18"/>
          <p:cNvSpPr txBox="1"/>
          <p:nvPr/>
        </p:nvSpPr>
        <p:spPr>
          <a:xfrm>
            <a:off x="1549918" y="404613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Commander's current plan item</a:t>
            </a:r>
            <a:endParaRPr b="0" i="0" sz="1400" u="none" cap="none" strike="noStrike">
              <a:solidFill>
                <a:srgbClr val="000000"/>
              </a:solidFill>
              <a:latin typeface="Arial"/>
              <a:ea typeface="Arial"/>
              <a:cs typeface="Arial"/>
              <a:sym typeface="Arial"/>
            </a:endParaRPr>
          </a:p>
        </p:txBody>
      </p:sp>
      <p:cxnSp>
        <p:nvCxnSpPr>
          <p:cNvPr id="472" name="Google Shape;472;p18"/>
          <p:cNvCxnSpPr/>
          <p:nvPr/>
        </p:nvCxnSpPr>
        <p:spPr>
          <a:xfrm>
            <a:off x="0" y="5148072"/>
            <a:ext cx="0" cy="292608"/>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473" name="Google Shape;473;p18"/>
          <p:cNvSpPr/>
          <p:nvPr/>
        </p:nvSpPr>
        <p:spPr>
          <a:xfrm>
            <a:off x="397735" y="4907932"/>
            <a:ext cx="4032600" cy="512100"/>
          </a:xfrm>
          <a:prstGeom prst="rect">
            <a:avLst/>
          </a:prstGeom>
          <a:solidFill>
            <a:srgbClr val="041E0C"/>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4" name="Google Shape;474;p18"/>
          <p:cNvSpPr txBox="1"/>
          <p:nvPr/>
        </p:nvSpPr>
        <p:spPr>
          <a:xfrm>
            <a:off x="397735" y="4976546"/>
            <a:ext cx="4032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RETURNS: Structured ASG Delta (new nodes + edges only)</a:t>
            </a:r>
            <a:endParaRPr b="0" i="0" sz="1400" u="none" cap="none" strike="noStrike">
              <a:solidFill>
                <a:srgbClr val="000000"/>
              </a:solidFill>
              <a:latin typeface="Arial"/>
              <a:ea typeface="Arial"/>
              <a:cs typeface="Arial"/>
              <a:sym typeface="Arial"/>
            </a:endParaRPr>
          </a:p>
        </p:txBody>
      </p:sp>
      <p:sp>
        <p:nvSpPr>
          <p:cNvPr id="475" name="Google Shape;475;p18"/>
          <p:cNvSpPr txBox="1"/>
          <p:nvPr/>
        </p:nvSpPr>
        <p:spPr>
          <a:xfrm>
            <a:off x="397735" y="5202614"/>
            <a:ext cx="40326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Working context discarded — no raw history passes to Commander</a:t>
            </a:r>
            <a:endParaRPr b="0" i="0" sz="1400" u="none" cap="none" strike="noStrike">
              <a:solidFill>
                <a:srgbClr val="000000"/>
              </a:solidFill>
              <a:latin typeface="Arial"/>
              <a:ea typeface="Arial"/>
              <a:cs typeface="Arial"/>
              <a:sym typeface="Arial"/>
            </a:endParaRPr>
          </a:p>
        </p:txBody>
      </p:sp>
      <p:sp>
        <p:nvSpPr>
          <p:cNvPr id="476" name="Google Shape;476;p18"/>
          <p:cNvSpPr/>
          <p:nvPr/>
        </p:nvSpPr>
        <p:spPr>
          <a:xfrm>
            <a:off x="397735" y="5551486"/>
            <a:ext cx="4032600" cy="219600"/>
          </a:xfrm>
          <a:prstGeom prst="rect">
            <a:avLst/>
          </a:prstGeom>
          <a:solidFill>
            <a:srgbClr val="0C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7" name="Google Shape;477;p18"/>
          <p:cNvSpPr txBox="1"/>
          <p:nvPr/>
        </p:nvSpPr>
        <p:spPr>
          <a:xfrm>
            <a:off x="489175" y="5578918"/>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E5FF"/>
                </a:solidFill>
                <a:latin typeface="Calibri"/>
                <a:ea typeface="Calibri"/>
                <a:cs typeface="Calibri"/>
                <a:sym typeface="Calibri"/>
              </a:rPr>
              <a:t>✓  Commander context stays clean</a:t>
            </a:r>
            <a:endParaRPr b="0" i="0" sz="1400" u="none" cap="none" strike="noStrike">
              <a:solidFill>
                <a:srgbClr val="000000"/>
              </a:solidFill>
              <a:latin typeface="Arial"/>
              <a:ea typeface="Arial"/>
              <a:cs typeface="Arial"/>
              <a:sym typeface="Arial"/>
            </a:endParaRPr>
          </a:p>
        </p:txBody>
      </p:sp>
      <p:sp>
        <p:nvSpPr>
          <p:cNvPr id="478" name="Google Shape;478;p18"/>
          <p:cNvSpPr/>
          <p:nvPr/>
        </p:nvSpPr>
        <p:spPr>
          <a:xfrm>
            <a:off x="397735" y="5829211"/>
            <a:ext cx="4032600" cy="219600"/>
          </a:xfrm>
          <a:prstGeom prst="rect">
            <a:avLst/>
          </a:prstGeom>
          <a:solidFill>
            <a:srgbClr val="0C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9" name="Google Shape;479;p18"/>
          <p:cNvSpPr txBox="1"/>
          <p:nvPr/>
        </p:nvSpPr>
        <p:spPr>
          <a:xfrm>
            <a:off x="489175" y="5856643"/>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BD93F9"/>
                </a:solidFill>
                <a:latin typeface="Calibri"/>
                <a:ea typeface="Calibri"/>
                <a:cs typeface="Calibri"/>
                <a:sym typeface="Calibri"/>
              </a:rPr>
              <a:t>✓  Agents can't contaminate each other</a:t>
            </a:r>
            <a:endParaRPr b="0" i="0" sz="1400" u="none" cap="none" strike="noStrike">
              <a:solidFill>
                <a:srgbClr val="000000"/>
              </a:solidFill>
              <a:latin typeface="Arial"/>
              <a:ea typeface="Arial"/>
              <a:cs typeface="Arial"/>
              <a:sym typeface="Arial"/>
            </a:endParaRPr>
          </a:p>
        </p:txBody>
      </p:sp>
      <p:sp>
        <p:nvSpPr>
          <p:cNvPr id="480" name="Google Shape;480;p18"/>
          <p:cNvSpPr/>
          <p:nvPr/>
        </p:nvSpPr>
        <p:spPr>
          <a:xfrm>
            <a:off x="397735" y="6134374"/>
            <a:ext cx="4032600" cy="219600"/>
          </a:xfrm>
          <a:prstGeom prst="rect">
            <a:avLst/>
          </a:prstGeom>
          <a:solidFill>
            <a:srgbClr val="0C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1" name="Google Shape;481;p18"/>
          <p:cNvSpPr txBox="1"/>
          <p:nvPr/>
        </p:nvSpPr>
        <p:spPr>
          <a:xfrm>
            <a:off x="466425" y="6114981"/>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FF4545"/>
                </a:solidFill>
                <a:latin typeface="Calibri"/>
                <a:ea typeface="Calibri"/>
                <a:cs typeface="Calibri"/>
                <a:sym typeface="Calibri"/>
              </a:rPr>
              <a:t>✓  High-risk refusals don't bias planning</a:t>
            </a:r>
            <a:endParaRPr b="0" i="0" sz="1400" u="none" cap="none" strike="noStrike">
              <a:solidFill>
                <a:srgbClr val="000000"/>
              </a:solidFill>
              <a:latin typeface="Arial"/>
              <a:ea typeface="Arial"/>
              <a:cs typeface="Arial"/>
              <a:sym typeface="Arial"/>
            </a:endParaRPr>
          </a:p>
        </p:txBody>
      </p:sp>
      <p:sp>
        <p:nvSpPr>
          <p:cNvPr id="482" name="Google Shape;482;p18"/>
          <p:cNvSpPr/>
          <p:nvPr/>
        </p:nvSpPr>
        <p:spPr>
          <a:xfrm>
            <a:off x="4773168" y="822960"/>
            <a:ext cx="3572103" cy="1895856"/>
          </a:xfrm>
          <a:prstGeom prst="rect">
            <a:avLst/>
          </a:prstGeom>
          <a:solidFill>
            <a:srgbClr val="10162B"/>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3" name="Google Shape;483;p18"/>
          <p:cNvSpPr/>
          <p:nvPr/>
        </p:nvSpPr>
        <p:spPr>
          <a:xfrm>
            <a:off x="7339431" y="822960"/>
            <a:ext cx="1005840" cy="2194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4" name="Google Shape;484;p18"/>
          <p:cNvSpPr txBox="1"/>
          <p:nvPr/>
        </p:nvSpPr>
        <p:spPr>
          <a:xfrm>
            <a:off x="7339431" y="850392"/>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ORCHESTRATION</a:t>
            </a:r>
            <a:endParaRPr b="0" i="0" sz="1400" u="none" cap="none" strike="noStrike">
              <a:solidFill>
                <a:srgbClr val="000000"/>
              </a:solidFill>
              <a:latin typeface="Arial"/>
              <a:ea typeface="Arial"/>
              <a:cs typeface="Arial"/>
              <a:sym typeface="Arial"/>
            </a:endParaRPr>
          </a:p>
        </p:txBody>
      </p:sp>
      <p:sp>
        <p:nvSpPr>
          <p:cNvPr id="485" name="Google Shape;485;p18"/>
          <p:cNvSpPr txBox="1"/>
          <p:nvPr/>
        </p:nvSpPr>
        <p:spPr>
          <a:xfrm>
            <a:off x="4864608" y="859536"/>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E5FF"/>
                </a:solidFill>
                <a:latin typeface="Calibri"/>
                <a:ea typeface="Calibri"/>
                <a:cs typeface="Calibri"/>
                <a:sym typeface="Calibri"/>
              </a:rPr>
              <a:t>👑 Commander</a:t>
            </a:r>
            <a:endParaRPr b="0" i="0" sz="1400" u="none" cap="none" strike="noStrike">
              <a:solidFill>
                <a:srgbClr val="000000"/>
              </a:solidFill>
              <a:latin typeface="Arial"/>
              <a:ea typeface="Arial"/>
              <a:cs typeface="Arial"/>
              <a:sym typeface="Arial"/>
            </a:endParaRPr>
          </a:p>
        </p:txBody>
      </p:sp>
      <p:sp>
        <p:nvSpPr>
          <p:cNvPr id="486" name="Google Shape;486;p18"/>
          <p:cNvSpPr/>
          <p:nvPr/>
        </p:nvSpPr>
        <p:spPr>
          <a:xfrm>
            <a:off x="4864608" y="1133856"/>
            <a:ext cx="3389223" cy="18288"/>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7" name="Google Shape;487;p18"/>
          <p:cNvSpPr txBox="1"/>
          <p:nvPr/>
        </p:nvSpPr>
        <p:spPr>
          <a:xfrm>
            <a:off x="4864608" y="1170432"/>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Reads the dual graph. Plans. Delegates. Never runs tools.</a:t>
            </a:r>
            <a:endParaRPr b="0" i="0" sz="1400" u="none" cap="none" strike="noStrike">
              <a:solidFill>
                <a:srgbClr val="000000"/>
              </a:solidFill>
              <a:latin typeface="Arial"/>
              <a:ea typeface="Arial"/>
              <a:cs typeface="Arial"/>
              <a:sym typeface="Arial"/>
            </a:endParaRPr>
          </a:p>
        </p:txBody>
      </p:sp>
      <p:sp>
        <p:nvSpPr>
          <p:cNvPr id="488" name="Google Shape;488;p18"/>
          <p:cNvSpPr/>
          <p:nvPr/>
        </p:nvSpPr>
        <p:spPr>
          <a:xfrm>
            <a:off x="4864608" y="1417320"/>
            <a:ext cx="3389223" cy="219456"/>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9" name="Google Shape;489;p18"/>
          <p:cNvSpPr txBox="1"/>
          <p:nvPr/>
        </p:nvSpPr>
        <p:spPr>
          <a:xfrm>
            <a:off x="4937760" y="1435608"/>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No tools — reasons over ASG + APG</a:t>
            </a:r>
            <a:endParaRPr b="0" i="0" sz="1400" u="none" cap="none" strike="noStrike">
              <a:solidFill>
                <a:srgbClr val="000000"/>
              </a:solidFill>
              <a:latin typeface="Arial"/>
              <a:ea typeface="Arial"/>
              <a:cs typeface="Arial"/>
              <a:sym typeface="Arial"/>
            </a:endParaRPr>
          </a:p>
        </p:txBody>
      </p:sp>
      <p:sp>
        <p:nvSpPr>
          <p:cNvPr id="490" name="Google Shape;490;p18"/>
          <p:cNvSpPr txBox="1"/>
          <p:nvPr/>
        </p:nvSpPr>
        <p:spPr>
          <a:xfrm>
            <a:off x="4864608" y="1673352"/>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Only agent that writes to APG. Approves High-risk ops via mailbox.</a:t>
            </a:r>
            <a:endParaRPr b="0" i="0" sz="1400" u="none" cap="none" strike="noStrike">
              <a:solidFill>
                <a:srgbClr val="000000"/>
              </a:solidFill>
              <a:latin typeface="Arial"/>
              <a:ea typeface="Arial"/>
              <a:cs typeface="Arial"/>
              <a:sym typeface="Arial"/>
            </a:endParaRPr>
          </a:p>
        </p:txBody>
      </p:sp>
      <p:sp>
        <p:nvSpPr>
          <p:cNvPr id="491" name="Google Shape;491;p18"/>
          <p:cNvSpPr/>
          <p:nvPr/>
        </p:nvSpPr>
        <p:spPr>
          <a:xfrm>
            <a:off x="8454999" y="822960"/>
            <a:ext cx="3572103" cy="1895856"/>
          </a:xfrm>
          <a:prstGeom prst="rect">
            <a:avLst/>
          </a:prstGeom>
          <a:solidFill>
            <a:srgbClr val="10162B"/>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2" name="Google Shape;492;p18"/>
          <p:cNvSpPr/>
          <p:nvPr/>
        </p:nvSpPr>
        <p:spPr>
          <a:xfrm>
            <a:off x="11021263" y="822960"/>
            <a:ext cx="1005840" cy="21945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3" name="Google Shape;493;p18"/>
          <p:cNvSpPr txBox="1"/>
          <p:nvPr/>
        </p:nvSpPr>
        <p:spPr>
          <a:xfrm>
            <a:off x="11021263" y="850392"/>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1</a:t>
            </a:r>
            <a:endParaRPr b="0" i="0" sz="1400" u="none" cap="none" strike="noStrike">
              <a:solidFill>
                <a:srgbClr val="000000"/>
              </a:solidFill>
              <a:latin typeface="Arial"/>
              <a:ea typeface="Arial"/>
              <a:cs typeface="Arial"/>
              <a:sym typeface="Arial"/>
            </a:endParaRPr>
          </a:p>
        </p:txBody>
      </p:sp>
      <p:sp>
        <p:nvSpPr>
          <p:cNvPr id="494" name="Google Shape;494;p18"/>
          <p:cNvSpPr txBox="1"/>
          <p:nvPr/>
        </p:nvSpPr>
        <p:spPr>
          <a:xfrm>
            <a:off x="8546439" y="859536"/>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 Recon</a:t>
            </a:r>
            <a:endParaRPr b="0" i="0" sz="1400" u="none" cap="none" strike="noStrike">
              <a:solidFill>
                <a:srgbClr val="000000"/>
              </a:solidFill>
              <a:latin typeface="Arial"/>
              <a:ea typeface="Arial"/>
              <a:cs typeface="Arial"/>
              <a:sym typeface="Arial"/>
            </a:endParaRPr>
          </a:p>
        </p:txBody>
      </p:sp>
      <p:sp>
        <p:nvSpPr>
          <p:cNvPr id="495" name="Google Shape;495;p18"/>
          <p:cNvSpPr/>
          <p:nvPr/>
        </p:nvSpPr>
        <p:spPr>
          <a:xfrm>
            <a:off x="8546439" y="1133856"/>
            <a:ext cx="3389223" cy="1828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6" name="Google Shape;496;p18"/>
          <p:cNvSpPr txBox="1"/>
          <p:nvPr/>
        </p:nvSpPr>
        <p:spPr>
          <a:xfrm>
            <a:off x="8546439" y="1170432"/>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External reconnaissance and host discovery.</a:t>
            </a:r>
            <a:endParaRPr b="0" i="0" sz="1400" u="none" cap="none" strike="noStrike">
              <a:solidFill>
                <a:srgbClr val="000000"/>
              </a:solidFill>
              <a:latin typeface="Arial"/>
              <a:ea typeface="Arial"/>
              <a:cs typeface="Arial"/>
              <a:sym typeface="Arial"/>
            </a:endParaRPr>
          </a:p>
        </p:txBody>
      </p:sp>
      <p:sp>
        <p:nvSpPr>
          <p:cNvPr id="497" name="Google Shape;497;p18"/>
          <p:cNvSpPr/>
          <p:nvPr/>
        </p:nvSpPr>
        <p:spPr>
          <a:xfrm>
            <a:off x="8546439" y="1417320"/>
            <a:ext cx="3389223" cy="219456"/>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8" name="Google Shape;498;p18"/>
          <p:cNvSpPr txBox="1"/>
          <p:nvPr/>
        </p:nvSpPr>
        <p:spPr>
          <a:xfrm>
            <a:off x="8619591" y="1435608"/>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499" name="Google Shape;499;p18"/>
          <p:cNvSpPr txBox="1"/>
          <p:nvPr/>
        </p:nvSpPr>
        <p:spPr>
          <a:xfrm>
            <a:off x="8546439" y="1673352"/>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Domain, Host, Port, Service nodes to ASG.</a:t>
            </a:r>
            <a:endParaRPr b="0" i="0" sz="1400" u="none" cap="none" strike="noStrike">
              <a:solidFill>
                <a:srgbClr val="000000"/>
              </a:solidFill>
              <a:latin typeface="Arial"/>
              <a:ea typeface="Arial"/>
              <a:cs typeface="Arial"/>
              <a:sym typeface="Arial"/>
            </a:endParaRPr>
          </a:p>
        </p:txBody>
      </p:sp>
      <p:sp>
        <p:nvSpPr>
          <p:cNvPr id="500" name="Google Shape;500;p18"/>
          <p:cNvSpPr/>
          <p:nvPr/>
        </p:nvSpPr>
        <p:spPr>
          <a:xfrm>
            <a:off x="4773168" y="2810256"/>
            <a:ext cx="3572103" cy="1895856"/>
          </a:xfrm>
          <a:prstGeom prst="rect">
            <a:avLst/>
          </a:prstGeom>
          <a:solidFill>
            <a:srgbClr val="10162B"/>
          </a:solidFill>
          <a:ln cap="flat" cmpd="sng" w="1777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1" name="Google Shape;501;p18"/>
          <p:cNvSpPr/>
          <p:nvPr/>
        </p:nvSpPr>
        <p:spPr>
          <a:xfrm>
            <a:off x="7339431" y="2810256"/>
            <a:ext cx="1005840" cy="219456"/>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2" name="Google Shape;502;p18"/>
          <p:cNvSpPr txBox="1"/>
          <p:nvPr/>
        </p:nvSpPr>
        <p:spPr>
          <a:xfrm>
            <a:off x="7339431" y="2837688"/>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2</a:t>
            </a:r>
            <a:endParaRPr b="0" i="0" sz="1400" u="none" cap="none" strike="noStrike">
              <a:solidFill>
                <a:srgbClr val="000000"/>
              </a:solidFill>
              <a:latin typeface="Arial"/>
              <a:ea typeface="Arial"/>
              <a:cs typeface="Arial"/>
              <a:sym typeface="Arial"/>
            </a:endParaRPr>
          </a:p>
        </p:txBody>
      </p:sp>
      <p:sp>
        <p:nvSpPr>
          <p:cNvPr id="503" name="Google Shape;503;p18"/>
          <p:cNvSpPr txBox="1"/>
          <p:nvPr/>
        </p:nvSpPr>
        <p:spPr>
          <a:xfrm>
            <a:off x="4864608" y="2846832"/>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 Analysis</a:t>
            </a:r>
            <a:endParaRPr b="0" i="0" sz="1400" u="none" cap="none" strike="noStrike">
              <a:solidFill>
                <a:srgbClr val="000000"/>
              </a:solidFill>
              <a:latin typeface="Arial"/>
              <a:ea typeface="Arial"/>
              <a:cs typeface="Arial"/>
              <a:sym typeface="Arial"/>
            </a:endParaRPr>
          </a:p>
        </p:txBody>
      </p:sp>
      <p:sp>
        <p:nvSpPr>
          <p:cNvPr id="504" name="Google Shape;504;p18"/>
          <p:cNvSpPr/>
          <p:nvPr/>
        </p:nvSpPr>
        <p:spPr>
          <a:xfrm>
            <a:off x="4864608" y="3121152"/>
            <a:ext cx="3389223" cy="18288"/>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5" name="Google Shape;505;p18"/>
          <p:cNvSpPr txBox="1"/>
          <p:nvPr/>
        </p:nvSpPr>
        <p:spPr>
          <a:xfrm>
            <a:off x="4864608" y="3157728"/>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Deep enumeration and vulnerability discovery.</a:t>
            </a:r>
            <a:endParaRPr b="0" i="0" sz="1400" u="none" cap="none" strike="noStrike">
              <a:solidFill>
                <a:srgbClr val="000000"/>
              </a:solidFill>
              <a:latin typeface="Arial"/>
              <a:ea typeface="Arial"/>
              <a:cs typeface="Arial"/>
              <a:sym typeface="Arial"/>
            </a:endParaRPr>
          </a:p>
        </p:txBody>
      </p:sp>
      <p:sp>
        <p:nvSpPr>
          <p:cNvPr id="506" name="Google Shape;506;p18"/>
          <p:cNvSpPr/>
          <p:nvPr/>
        </p:nvSpPr>
        <p:spPr>
          <a:xfrm>
            <a:off x="4864608" y="3404616"/>
            <a:ext cx="3389223" cy="219456"/>
          </a:xfrm>
          <a:prstGeom prst="rect">
            <a:avLst/>
          </a:prstGeom>
          <a:solidFill>
            <a:srgbClr val="0810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7" name="Google Shape;507;p18"/>
          <p:cNvSpPr txBox="1"/>
          <p:nvPr/>
        </p:nvSpPr>
        <p:spPr>
          <a:xfrm>
            <a:off x="4937760" y="3422904"/>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BFD8"/>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508" name="Google Shape;508;p18"/>
          <p:cNvSpPr txBox="1"/>
          <p:nvPr/>
        </p:nvSpPr>
        <p:spPr>
          <a:xfrm>
            <a:off x="4864608" y="3660648"/>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Technology, Endpoint, Parameter, Vulnerability nodes.</a:t>
            </a:r>
            <a:endParaRPr b="0" i="0" sz="1400" u="none" cap="none" strike="noStrike">
              <a:solidFill>
                <a:srgbClr val="000000"/>
              </a:solidFill>
              <a:latin typeface="Arial"/>
              <a:ea typeface="Arial"/>
              <a:cs typeface="Arial"/>
              <a:sym typeface="Arial"/>
            </a:endParaRPr>
          </a:p>
        </p:txBody>
      </p:sp>
      <p:sp>
        <p:nvSpPr>
          <p:cNvPr id="509" name="Google Shape;509;p18"/>
          <p:cNvSpPr/>
          <p:nvPr/>
        </p:nvSpPr>
        <p:spPr>
          <a:xfrm>
            <a:off x="8454999" y="2810256"/>
            <a:ext cx="3572103" cy="1895856"/>
          </a:xfrm>
          <a:prstGeom prst="rect">
            <a:avLst/>
          </a:prstGeom>
          <a:solidFill>
            <a:srgbClr val="10162B"/>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0" name="Google Shape;510;p18"/>
          <p:cNvSpPr/>
          <p:nvPr/>
        </p:nvSpPr>
        <p:spPr>
          <a:xfrm>
            <a:off x="11021263" y="2810256"/>
            <a:ext cx="1005840"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1" name="Google Shape;511;p18"/>
          <p:cNvSpPr txBox="1"/>
          <p:nvPr/>
        </p:nvSpPr>
        <p:spPr>
          <a:xfrm>
            <a:off x="11021263" y="2837688"/>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INTELLIGENCE</a:t>
            </a:r>
            <a:endParaRPr b="0" i="0" sz="1400" u="none" cap="none" strike="noStrike">
              <a:solidFill>
                <a:srgbClr val="000000"/>
              </a:solidFill>
              <a:latin typeface="Arial"/>
              <a:ea typeface="Arial"/>
              <a:cs typeface="Arial"/>
              <a:sym typeface="Arial"/>
            </a:endParaRPr>
          </a:p>
        </p:txBody>
      </p:sp>
      <p:sp>
        <p:nvSpPr>
          <p:cNvPr id="512" name="Google Shape;512;p18"/>
          <p:cNvSpPr txBox="1"/>
          <p:nvPr/>
        </p:nvSpPr>
        <p:spPr>
          <a:xfrm>
            <a:off x="8546439" y="2846832"/>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 Research</a:t>
            </a:r>
            <a:endParaRPr b="0" i="0" sz="1400" u="none" cap="none" strike="noStrike">
              <a:solidFill>
                <a:srgbClr val="000000"/>
              </a:solidFill>
              <a:latin typeface="Arial"/>
              <a:ea typeface="Arial"/>
              <a:cs typeface="Arial"/>
              <a:sym typeface="Arial"/>
            </a:endParaRPr>
          </a:p>
        </p:txBody>
      </p:sp>
      <p:sp>
        <p:nvSpPr>
          <p:cNvPr id="513" name="Google Shape;513;p18"/>
          <p:cNvSpPr/>
          <p:nvPr/>
        </p:nvSpPr>
        <p:spPr>
          <a:xfrm>
            <a:off x="8546439" y="3121152"/>
            <a:ext cx="3389223" cy="18288"/>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4" name="Google Shape;514;p18"/>
          <p:cNvSpPr txBox="1"/>
          <p:nvPr/>
        </p:nvSpPr>
        <p:spPr>
          <a:xfrm>
            <a:off x="8546439" y="3157728"/>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Live CVE grounding — only agent with outbound internet access.</a:t>
            </a:r>
            <a:endParaRPr b="0" i="0" sz="1400" u="none" cap="none" strike="noStrike">
              <a:solidFill>
                <a:srgbClr val="000000"/>
              </a:solidFill>
              <a:latin typeface="Arial"/>
              <a:ea typeface="Arial"/>
              <a:cs typeface="Arial"/>
              <a:sym typeface="Arial"/>
            </a:endParaRPr>
          </a:p>
        </p:txBody>
      </p:sp>
      <p:sp>
        <p:nvSpPr>
          <p:cNvPr id="515" name="Google Shape;515;p18"/>
          <p:cNvSpPr/>
          <p:nvPr/>
        </p:nvSpPr>
        <p:spPr>
          <a:xfrm>
            <a:off x="8546439" y="3404616"/>
            <a:ext cx="3389223" cy="219456"/>
          </a:xfrm>
          <a:prstGeom prst="rect">
            <a:avLst/>
          </a:prstGeom>
          <a:solidFill>
            <a:srgbClr val="08102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6" name="Google Shape;516;p18"/>
          <p:cNvSpPr txBox="1"/>
          <p:nvPr/>
        </p:nvSpPr>
        <p:spPr>
          <a:xfrm>
            <a:off x="8619591" y="3422904"/>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NVD · Exploit-DB · GitHub · Vendor Advisories</a:t>
            </a:r>
            <a:endParaRPr b="0" i="0" sz="1400" u="none" cap="none" strike="noStrike">
              <a:solidFill>
                <a:srgbClr val="000000"/>
              </a:solidFill>
              <a:latin typeface="Arial"/>
              <a:ea typeface="Arial"/>
              <a:cs typeface="Arial"/>
              <a:sym typeface="Arial"/>
            </a:endParaRPr>
          </a:p>
        </p:txBody>
      </p:sp>
      <p:sp>
        <p:nvSpPr>
          <p:cNvPr id="517" name="Google Shape;517;p18"/>
          <p:cNvSpPr txBox="1"/>
          <p:nvPr/>
        </p:nvSpPr>
        <p:spPr>
          <a:xfrm>
            <a:off x="8546439" y="3660648"/>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Enriches ASG Vulnerability nodes with real-time CVSS + PoC data.</a:t>
            </a:r>
            <a:endParaRPr b="0" i="0" sz="1400" u="none" cap="none" strike="noStrike">
              <a:solidFill>
                <a:srgbClr val="000000"/>
              </a:solidFill>
              <a:latin typeface="Arial"/>
              <a:ea typeface="Arial"/>
              <a:cs typeface="Arial"/>
              <a:sym typeface="Arial"/>
            </a:endParaRPr>
          </a:p>
        </p:txBody>
      </p:sp>
      <p:sp>
        <p:nvSpPr>
          <p:cNvPr id="518" name="Google Shape;518;p18"/>
          <p:cNvSpPr/>
          <p:nvPr/>
        </p:nvSpPr>
        <p:spPr>
          <a:xfrm>
            <a:off x="4773168" y="4797552"/>
            <a:ext cx="3572103" cy="1895856"/>
          </a:xfrm>
          <a:prstGeom prst="rect">
            <a:avLst/>
          </a:prstGeom>
          <a:solidFill>
            <a:srgbClr val="10162B"/>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9" name="Google Shape;519;p18"/>
          <p:cNvSpPr/>
          <p:nvPr/>
        </p:nvSpPr>
        <p:spPr>
          <a:xfrm>
            <a:off x="7339431" y="4797552"/>
            <a:ext cx="1005840" cy="21945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0" name="Google Shape;520;p18"/>
          <p:cNvSpPr txBox="1"/>
          <p:nvPr/>
        </p:nvSpPr>
        <p:spPr>
          <a:xfrm>
            <a:off x="7339431" y="4824984"/>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521" name="Google Shape;521;p18"/>
          <p:cNvSpPr txBox="1"/>
          <p:nvPr/>
        </p:nvSpPr>
        <p:spPr>
          <a:xfrm>
            <a:off x="4864608" y="4834128"/>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4545"/>
                </a:solidFill>
                <a:latin typeface="Calibri"/>
                <a:ea typeface="Calibri"/>
                <a:cs typeface="Calibri"/>
                <a:sym typeface="Calibri"/>
              </a:rPr>
              <a:t>🎯 Validation</a:t>
            </a:r>
            <a:endParaRPr b="0" i="0" sz="1400" u="none" cap="none" strike="noStrike">
              <a:solidFill>
                <a:srgbClr val="000000"/>
              </a:solidFill>
              <a:latin typeface="Arial"/>
              <a:ea typeface="Arial"/>
              <a:cs typeface="Arial"/>
              <a:sym typeface="Arial"/>
            </a:endParaRPr>
          </a:p>
        </p:txBody>
      </p:sp>
      <p:sp>
        <p:nvSpPr>
          <p:cNvPr id="522" name="Google Shape;522;p18"/>
          <p:cNvSpPr/>
          <p:nvPr/>
        </p:nvSpPr>
        <p:spPr>
          <a:xfrm>
            <a:off x="4864608" y="5108448"/>
            <a:ext cx="3389223" cy="18288"/>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3" name="Google Shape;523;p18"/>
          <p:cNvSpPr txBox="1"/>
          <p:nvPr/>
        </p:nvSpPr>
        <p:spPr>
          <a:xfrm>
            <a:off x="4864608" y="5145024"/>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Proves vulnerabilities are real and exploitable.</a:t>
            </a:r>
            <a:endParaRPr b="0" i="0" sz="1400" u="none" cap="none" strike="noStrike">
              <a:solidFill>
                <a:srgbClr val="000000"/>
              </a:solidFill>
              <a:latin typeface="Arial"/>
              <a:ea typeface="Arial"/>
              <a:cs typeface="Arial"/>
              <a:sym typeface="Arial"/>
            </a:endParaRPr>
          </a:p>
        </p:txBody>
      </p:sp>
      <p:sp>
        <p:nvSpPr>
          <p:cNvPr id="524" name="Google Shape;524;p18"/>
          <p:cNvSpPr/>
          <p:nvPr/>
        </p:nvSpPr>
        <p:spPr>
          <a:xfrm>
            <a:off x="4864608" y="5391912"/>
            <a:ext cx="3389223" cy="219456"/>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5" name="Google Shape;525;p18"/>
          <p:cNvSpPr txBox="1"/>
          <p:nvPr/>
        </p:nvSpPr>
        <p:spPr>
          <a:xfrm>
            <a:off x="4937760" y="5410200"/>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SQLMap  ·  Metasploit</a:t>
            </a:r>
            <a:endParaRPr b="0" i="0" sz="1400" u="none" cap="none" strike="noStrike">
              <a:solidFill>
                <a:srgbClr val="000000"/>
              </a:solidFill>
              <a:latin typeface="Arial"/>
              <a:ea typeface="Arial"/>
              <a:cs typeface="Arial"/>
              <a:sym typeface="Arial"/>
            </a:endParaRPr>
          </a:p>
        </p:txBody>
      </p:sp>
      <p:sp>
        <p:nvSpPr>
          <p:cNvPr id="526" name="Google Shape;526;p18"/>
          <p:cNvSpPr txBox="1"/>
          <p:nvPr/>
        </p:nvSpPr>
        <p:spPr>
          <a:xfrm>
            <a:off x="4864608" y="5647944"/>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Self-debugging loop: Diagnose → Contextualize → Adapt → Cap (×3).</a:t>
            </a:r>
            <a:endParaRPr b="0" i="0" sz="1400" u="none" cap="none" strike="noStrike">
              <a:solidFill>
                <a:srgbClr val="000000"/>
              </a:solidFill>
              <a:latin typeface="Arial"/>
              <a:ea typeface="Arial"/>
              <a:cs typeface="Arial"/>
              <a:sym typeface="Arial"/>
            </a:endParaRPr>
          </a:p>
        </p:txBody>
      </p:sp>
      <p:sp>
        <p:nvSpPr>
          <p:cNvPr id="527" name="Google Shape;527;p18"/>
          <p:cNvSpPr/>
          <p:nvPr/>
        </p:nvSpPr>
        <p:spPr>
          <a:xfrm>
            <a:off x="8454999" y="4797552"/>
            <a:ext cx="3572103" cy="1895856"/>
          </a:xfrm>
          <a:prstGeom prst="rect">
            <a:avLst/>
          </a:prstGeom>
          <a:solidFill>
            <a:srgbClr val="10162B"/>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8" name="Google Shape;528;p18"/>
          <p:cNvSpPr/>
          <p:nvPr/>
        </p:nvSpPr>
        <p:spPr>
          <a:xfrm>
            <a:off x="11021263" y="4797552"/>
            <a:ext cx="1005840" cy="21945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9" name="Google Shape;529;p18"/>
          <p:cNvSpPr txBox="1"/>
          <p:nvPr/>
        </p:nvSpPr>
        <p:spPr>
          <a:xfrm>
            <a:off x="11021263" y="4824984"/>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530" name="Google Shape;530;p18"/>
          <p:cNvSpPr txBox="1"/>
          <p:nvPr/>
        </p:nvSpPr>
        <p:spPr>
          <a:xfrm>
            <a:off x="8546439" y="4834128"/>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D93F9"/>
                </a:solidFill>
                <a:latin typeface="Calibri"/>
                <a:ea typeface="Calibri"/>
                <a:cs typeface="Calibri"/>
                <a:sym typeface="Calibri"/>
              </a:rPr>
              <a:t>📸 Evidence</a:t>
            </a:r>
            <a:endParaRPr b="0" i="0" sz="1400" u="none" cap="none" strike="noStrike">
              <a:solidFill>
                <a:srgbClr val="000000"/>
              </a:solidFill>
              <a:latin typeface="Arial"/>
              <a:ea typeface="Arial"/>
              <a:cs typeface="Arial"/>
              <a:sym typeface="Arial"/>
            </a:endParaRPr>
          </a:p>
        </p:txBody>
      </p:sp>
      <p:sp>
        <p:nvSpPr>
          <p:cNvPr id="531" name="Google Shape;531;p18"/>
          <p:cNvSpPr/>
          <p:nvPr/>
        </p:nvSpPr>
        <p:spPr>
          <a:xfrm>
            <a:off x="8546439" y="5108448"/>
            <a:ext cx="3389223" cy="18288"/>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2" name="Google Shape;532;p18"/>
          <p:cNvSpPr txBox="1"/>
          <p:nvPr/>
        </p:nvSpPr>
        <p:spPr>
          <a:xfrm>
            <a:off x="8546439" y="5145024"/>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Captures proof artifacts for every validated finding.</a:t>
            </a:r>
            <a:endParaRPr b="0" i="0" sz="1400" u="none" cap="none" strike="noStrike">
              <a:solidFill>
                <a:srgbClr val="000000"/>
              </a:solidFill>
              <a:latin typeface="Arial"/>
              <a:ea typeface="Arial"/>
              <a:cs typeface="Arial"/>
              <a:sym typeface="Arial"/>
            </a:endParaRPr>
          </a:p>
        </p:txBody>
      </p:sp>
      <p:sp>
        <p:nvSpPr>
          <p:cNvPr id="533" name="Google Shape;533;p18"/>
          <p:cNvSpPr/>
          <p:nvPr/>
        </p:nvSpPr>
        <p:spPr>
          <a:xfrm>
            <a:off x="8546439" y="5391912"/>
            <a:ext cx="3389223" cy="219456"/>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4" name="Google Shape;534;p18"/>
          <p:cNvSpPr txBox="1"/>
          <p:nvPr/>
        </p:nvSpPr>
        <p:spPr>
          <a:xfrm>
            <a:off x="8619591" y="5410200"/>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sp>
        <p:nvSpPr>
          <p:cNvPr id="535" name="Google Shape;535;p18"/>
          <p:cNvSpPr txBox="1"/>
          <p:nvPr/>
        </p:nvSpPr>
        <p:spPr>
          <a:xfrm>
            <a:off x="8546439" y="5647944"/>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Links Evidence nodes to ASG findings via validated_by edges.</a:t>
            </a:r>
            <a:endParaRPr b="0" i="0" sz="1400" u="none" cap="none" strike="noStrike">
              <a:solidFill>
                <a:srgbClr val="000000"/>
              </a:solidFill>
              <a:latin typeface="Arial"/>
              <a:ea typeface="Arial"/>
              <a:cs typeface="Arial"/>
              <a:sym typeface="Arial"/>
            </a:endParaRPr>
          </a:p>
        </p:txBody>
      </p:sp>
      <p:sp>
        <p:nvSpPr>
          <p:cNvPr id="536" name="Google Shape;536;p18"/>
          <p:cNvSpPr txBox="1"/>
          <p:nvPr/>
        </p:nvSpPr>
        <p:spPr>
          <a:xfrm>
            <a:off x="11617897" y="128125"/>
            <a:ext cx="4092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06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540" name="Shape 540"/>
        <p:cNvGrpSpPr/>
        <p:nvPr/>
      </p:nvGrpSpPr>
      <p:grpSpPr>
        <a:xfrm>
          <a:off x="0" y="0"/>
          <a:ext cx="0" cy="0"/>
          <a:chOff x="0" y="0"/>
          <a:chExt cx="0" cy="0"/>
        </a:xfrm>
      </p:grpSpPr>
      <p:sp>
        <p:nvSpPr>
          <p:cNvPr id="541" name="Google Shape;541;p19"/>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2" name="Google Shape;542;p19"/>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3" name="Google Shape;543;p19"/>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4" name="Google Shape;544;p19"/>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4545"/>
                </a:solidFill>
                <a:latin typeface="Calibri"/>
                <a:ea typeface="Calibri"/>
                <a:cs typeface="Calibri"/>
                <a:sym typeface="Calibri"/>
              </a:rPr>
              <a:t>OFFENSIVE TOOL CATALOGUE</a:t>
            </a:r>
            <a:endParaRPr b="0" i="0" sz="1400" u="none" cap="none" strike="noStrike">
              <a:solidFill>
                <a:srgbClr val="000000"/>
              </a:solidFill>
              <a:latin typeface="Arial"/>
              <a:ea typeface="Arial"/>
              <a:cs typeface="Arial"/>
              <a:sym typeface="Arial"/>
            </a:endParaRPr>
          </a:p>
        </p:txBody>
      </p:sp>
      <p:sp>
        <p:nvSpPr>
          <p:cNvPr id="545" name="Google Shape;545;p19"/>
          <p:cNvSpPr txBox="1"/>
          <p:nvPr/>
        </p:nvSpPr>
        <p:spPr>
          <a:xfrm>
            <a:off x="274320" y="347472"/>
            <a:ext cx="10972800" cy="5669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11 Industry-Standard Security Tools — AI Agent Operated</a:t>
            </a:r>
            <a:endParaRPr b="0" i="0" sz="1400" u="none" cap="none" strike="noStrike">
              <a:solidFill>
                <a:srgbClr val="000000"/>
              </a:solidFill>
              <a:latin typeface="Arial"/>
              <a:ea typeface="Arial"/>
              <a:cs typeface="Arial"/>
              <a:sym typeface="Arial"/>
            </a:endParaRPr>
          </a:p>
        </p:txBody>
      </p:sp>
      <p:sp>
        <p:nvSpPr>
          <p:cNvPr id="546" name="Google Shape;546;p19"/>
          <p:cNvSpPr/>
          <p:nvPr/>
        </p:nvSpPr>
        <p:spPr>
          <a:xfrm>
            <a:off x="274320" y="987552"/>
            <a:ext cx="3657600" cy="347472"/>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7" name="Google Shape;547;p19"/>
          <p:cNvSpPr txBox="1"/>
          <p:nvPr/>
        </p:nvSpPr>
        <p:spPr>
          <a:xfrm>
            <a:off x="3657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39FF14"/>
                </a:solidFill>
                <a:latin typeface="Calibri"/>
                <a:ea typeface="Calibri"/>
                <a:cs typeface="Calibri"/>
                <a:sym typeface="Calibri"/>
              </a:rPr>
              <a:t>PHASE 1  ·  RECONNAISSANCE</a:t>
            </a:r>
            <a:endParaRPr b="0" i="0" sz="1400" u="none" cap="none" strike="noStrike">
              <a:solidFill>
                <a:srgbClr val="000000"/>
              </a:solidFill>
              <a:latin typeface="Arial"/>
              <a:ea typeface="Arial"/>
              <a:cs typeface="Arial"/>
              <a:sym typeface="Arial"/>
            </a:endParaRPr>
          </a:p>
        </p:txBody>
      </p:sp>
      <p:sp>
        <p:nvSpPr>
          <p:cNvPr id="548" name="Google Shape;548;p19"/>
          <p:cNvSpPr/>
          <p:nvPr/>
        </p:nvSpPr>
        <p:spPr>
          <a:xfrm>
            <a:off x="4160520" y="987552"/>
            <a:ext cx="3657600" cy="347472"/>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9" name="Google Shape;549;p19"/>
          <p:cNvSpPr txBox="1"/>
          <p:nvPr/>
        </p:nvSpPr>
        <p:spPr>
          <a:xfrm>
            <a:off x="42519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0E5FF"/>
                </a:solidFill>
                <a:latin typeface="Calibri"/>
                <a:ea typeface="Calibri"/>
                <a:cs typeface="Calibri"/>
                <a:sym typeface="Calibri"/>
              </a:rPr>
              <a:t>PHASE 2  ·  ANALYSIS</a:t>
            </a:r>
            <a:endParaRPr b="0" i="0" sz="1400" u="none" cap="none" strike="noStrike">
              <a:solidFill>
                <a:srgbClr val="000000"/>
              </a:solidFill>
              <a:latin typeface="Arial"/>
              <a:ea typeface="Arial"/>
              <a:cs typeface="Arial"/>
              <a:sym typeface="Arial"/>
            </a:endParaRPr>
          </a:p>
        </p:txBody>
      </p:sp>
      <p:sp>
        <p:nvSpPr>
          <p:cNvPr id="550" name="Google Shape;550;p19"/>
          <p:cNvSpPr/>
          <p:nvPr/>
        </p:nvSpPr>
        <p:spPr>
          <a:xfrm>
            <a:off x="8412480" y="987552"/>
            <a:ext cx="1828800" cy="347472"/>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1" name="Google Shape;551;p19"/>
          <p:cNvSpPr txBox="1"/>
          <p:nvPr/>
        </p:nvSpPr>
        <p:spPr>
          <a:xfrm>
            <a:off x="8503920" y="1042416"/>
            <a:ext cx="169164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FF4545"/>
                </a:solidFill>
                <a:latin typeface="Calibri"/>
                <a:ea typeface="Calibri"/>
                <a:cs typeface="Calibri"/>
                <a:sym typeface="Calibri"/>
              </a:rPr>
              <a:t>PHASE 3  ·  VALIDATION</a:t>
            </a:r>
            <a:endParaRPr b="0" i="0" sz="1400" u="none" cap="none" strike="noStrike">
              <a:solidFill>
                <a:srgbClr val="000000"/>
              </a:solidFill>
              <a:latin typeface="Arial"/>
              <a:ea typeface="Arial"/>
              <a:cs typeface="Arial"/>
              <a:sym typeface="Arial"/>
            </a:endParaRPr>
          </a:p>
        </p:txBody>
      </p:sp>
      <p:sp>
        <p:nvSpPr>
          <p:cNvPr id="552" name="Google Shape;552;p19"/>
          <p:cNvSpPr/>
          <p:nvPr/>
        </p:nvSpPr>
        <p:spPr>
          <a:xfrm>
            <a:off x="10469880" y="987552"/>
            <a:ext cx="1554480" cy="347472"/>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3" name="Google Shape;553;p19"/>
          <p:cNvSpPr txBox="1"/>
          <p:nvPr/>
        </p:nvSpPr>
        <p:spPr>
          <a:xfrm>
            <a:off x="10561320" y="1042416"/>
            <a:ext cx="141732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BD93F9"/>
                </a:solidFill>
                <a:latin typeface="Calibri"/>
                <a:ea typeface="Calibri"/>
                <a:cs typeface="Calibri"/>
                <a:sym typeface="Calibri"/>
              </a:rPr>
              <a:t>PHASE 3  ·  EVIDENCE</a:t>
            </a:r>
            <a:endParaRPr b="0" i="0" sz="1400" u="none" cap="none" strike="noStrike">
              <a:solidFill>
                <a:srgbClr val="000000"/>
              </a:solidFill>
              <a:latin typeface="Arial"/>
              <a:ea typeface="Arial"/>
              <a:cs typeface="Arial"/>
              <a:sym typeface="Arial"/>
            </a:endParaRPr>
          </a:p>
        </p:txBody>
      </p:sp>
      <p:sp>
        <p:nvSpPr>
          <p:cNvPr id="554" name="Google Shape;554;p19"/>
          <p:cNvSpPr/>
          <p:nvPr/>
        </p:nvSpPr>
        <p:spPr>
          <a:xfrm>
            <a:off x="274320" y="141732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5" name="Google Shape;555;p19"/>
          <p:cNvSpPr/>
          <p:nvPr/>
        </p:nvSpPr>
        <p:spPr>
          <a:xfrm>
            <a:off x="274320" y="141732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6" name="Google Shape;556;p19"/>
          <p:cNvSpPr txBox="1"/>
          <p:nvPr/>
        </p:nvSpPr>
        <p:spPr>
          <a:xfrm>
            <a:off x="292608" y="203149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557" name="Google Shape;557;p19"/>
          <p:cNvSpPr txBox="1"/>
          <p:nvPr/>
        </p:nvSpPr>
        <p:spPr>
          <a:xfrm>
            <a:off x="731520" y="1472184"/>
            <a:ext cx="3154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Amass</a:t>
            </a:r>
            <a:endParaRPr b="0" i="0" sz="1400" u="none" cap="none" strike="noStrike">
              <a:solidFill>
                <a:srgbClr val="000000"/>
              </a:solidFill>
              <a:latin typeface="Arial"/>
              <a:ea typeface="Arial"/>
              <a:cs typeface="Arial"/>
              <a:sym typeface="Arial"/>
            </a:endParaRPr>
          </a:p>
        </p:txBody>
      </p:sp>
      <p:sp>
        <p:nvSpPr>
          <p:cNvPr id="558" name="Google Shape;558;p19"/>
          <p:cNvSpPr txBox="1"/>
          <p:nvPr/>
        </p:nvSpPr>
        <p:spPr>
          <a:xfrm>
            <a:off x="731520" y="1737360"/>
            <a:ext cx="31546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Subdomain Enumeration  ·  Recon Agent</a:t>
            </a:r>
            <a:endParaRPr b="0" i="0" sz="1400" u="none" cap="none" strike="noStrike">
              <a:solidFill>
                <a:srgbClr val="000000"/>
              </a:solidFill>
              <a:latin typeface="Arial"/>
              <a:ea typeface="Arial"/>
              <a:cs typeface="Arial"/>
              <a:sym typeface="Arial"/>
            </a:endParaRPr>
          </a:p>
        </p:txBody>
      </p:sp>
      <p:sp>
        <p:nvSpPr>
          <p:cNvPr id="559" name="Google Shape;559;p19"/>
          <p:cNvSpPr txBox="1"/>
          <p:nvPr/>
        </p:nvSpPr>
        <p:spPr>
          <a:xfrm>
            <a:off x="731520" y="1947672"/>
            <a:ext cx="315468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DNS brute-force · certificate transparency logs · passive OSINT. Discovers all external subdomains and maps attack surface entry points.</a:t>
            </a:r>
            <a:endParaRPr b="0" i="0" sz="1400" u="none" cap="none" strike="noStrike">
              <a:solidFill>
                <a:srgbClr val="000000"/>
              </a:solidFill>
              <a:latin typeface="Arial"/>
              <a:ea typeface="Arial"/>
              <a:cs typeface="Arial"/>
              <a:sym typeface="Arial"/>
            </a:endParaRPr>
          </a:p>
        </p:txBody>
      </p:sp>
      <p:sp>
        <p:nvSpPr>
          <p:cNvPr id="560" name="Google Shape;560;p19"/>
          <p:cNvSpPr/>
          <p:nvPr/>
        </p:nvSpPr>
        <p:spPr>
          <a:xfrm>
            <a:off x="274320" y="304800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1" name="Google Shape;561;p19"/>
          <p:cNvSpPr/>
          <p:nvPr/>
        </p:nvSpPr>
        <p:spPr>
          <a:xfrm>
            <a:off x="274320" y="304800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2" name="Google Shape;562;p19"/>
          <p:cNvSpPr txBox="1"/>
          <p:nvPr/>
        </p:nvSpPr>
        <p:spPr>
          <a:xfrm>
            <a:off x="2926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563" name="Google Shape;563;p19"/>
          <p:cNvSpPr txBox="1"/>
          <p:nvPr/>
        </p:nvSpPr>
        <p:spPr>
          <a:xfrm>
            <a:off x="731520" y="3102864"/>
            <a:ext cx="3154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httpx</a:t>
            </a:r>
            <a:endParaRPr b="0" i="0" sz="1400" u="none" cap="none" strike="noStrike">
              <a:solidFill>
                <a:srgbClr val="000000"/>
              </a:solidFill>
              <a:latin typeface="Arial"/>
              <a:ea typeface="Arial"/>
              <a:cs typeface="Arial"/>
              <a:sym typeface="Arial"/>
            </a:endParaRPr>
          </a:p>
        </p:txBody>
      </p:sp>
      <p:sp>
        <p:nvSpPr>
          <p:cNvPr id="564" name="Google Shape;564;p19"/>
          <p:cNvSpPr txBox="1"/>
          <p:nvPr/>
        </p:nvSpPr>
        <p:spPr>
          <a:xfrm>
            <a:off x="731520" y="3368040"/>
            <a:ext cx="31546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Live Host Probing  ·  Recon Agent</a:t>
            </a:r>
            <a:endParaRPr b="0" i="0" sz="1400" u="none" cap="none" strike="noStrike">
              <a:solidFill>
                <a:srgbClr val="000000"/>
              </a:solidFill>
              <a:latin typeface="Arial"/>
              <a:ea typeface="Arial"/>
              <a:cs typeface="Arial"/>
              <a:sym typeface="Arial"/>
            </a:endParaRPr>
          </a:p>
        </p:txBody>
      </p:sp>
      <p:sp>
        <p:nvSpPr>
          <p:cNvPr id="565" name="Google Shape;565;p19"/>
          <p:cNvSpPr txBox="1"/>
          <p:nvPr/>
        </p:nvSpPr>
        <p:spPr>
          <a:xfrm>
            <a:off x="731520" y="3578352"/>
            <a:ext cx="315468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Validates which discovered hosts respond over HTTP/HTTPS. Identifies web servers, status codes, redirects, TLS details.</a:t>
            </a:r>
            <a:endParaRPr b="0" i="0" sz="1400" u="none" cap="none" strike="noStrike">
              <a:solidFill>
                <a:srgbClr val="000000"/>
              </a:solidFill>
              <a:latin typeface="Arial"/>
              <a:ea typeface="Arial"/>
              <a:cs typeface="Arial"/>
              <a:sym typeface="Arial"/>
            </a:endParaRPr>
          </a:p>
        </p:txBody>
      </p:sp>
      <p:sp>
        <p:nvSpPr>
          <p:cNvPr id="566" name="Google Shape;566;p19"/>
          <p:cNvSpPr/>
          <p:nvPr/>
        </p:nvSpPr>
        <p:spPr>
          <a:xfrm>
            <a:off x="274320" y="467868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7" name="Google Shape;567;p19"/>
          <p:cNvSpPr/>
          <p:nvPr/>
        </p:nvSpPr>
        <p:spPr>
          <a:xfrm>
            <a:off x="274320" y="467868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8" name="Google Shape;568;p19"/>
          <p:cNvSpPr txBox="1"/>
          <p:nvPr/>
        </p:nvSpPr>
        <p:spPr>
          <a:xfrm>
            <a:off x="292608" y="529285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569" name="Google Shape;569;p19"/>
          <p:cNvSpPr txBox="1"/>
          <p:nvPr/>
        </p:nvSpPr>
        <p:spPr>
          <a:xfrm>
            <a:off x="731520" y="4733544"/>
            <a:ext cx="3154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Nmap</a:t>
            </a:r>
            <a:endParaRPr b="0" i="0" sz="1400" u="none" cap="none" strike="noStrike">
              <a:solidFill>
                <a:srgbClr val="000000"/>
              </a:solidFill>
              <a:latin typeface="Arial"/>
              <a:ea typeface="Arial"/>
              <a:cs typeface="Arial"/>
              <a:sym typeface="Arial"/>
            </a:endParaRPr>
          </a:p>
        </p:txBody>
      </p:sp>
      <p:sp>
        <p:nvSpPr>
          <p:cNvPr id="570" name="Google Shape;570;p19"/>
          <p:cNvSpPr txBox="1"/>
          <p:nvPr/>
        </p:nvSpPr>
        <p:spPr>
          <a:xfrm>
            <a:off x="731520" y="4998720"/>
            <a:ext cx="31546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Port + Service Scan  ·  Recon Agent</a:t>
            </a:r>
            <a:endParaRPr b="0" i="0" sz="1400" u="none" cap="none" strike="noStrike">
              <a:solidFill>
                <a:srgbClr val="000000"/>
              </a:solidFill>
              <a:latin typeface="Arial"/>
              <a:ea typeface="Arial"/>
              <a:cs typeface="Arial"/>
              <a:sym typeface="Arial"/>
            </a:endParaRPr>
          </a:p>
        </p:txBody>
      </p:sp>
      <p:sp>
        <p:nvSpPr>
          <p:cNvPr id="571" name="Google Shape;571;p19"/>
          <p:cNvSpPr txBox="1"/>
          <p:nvPr/>
        </p:nvSpPr>
        <p:spPr>
          <a:xfrm>
            <a:off x="731520" y="5209032"/>
            <a:ext cx="315468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Port scanning, service fingerprinting, OS detection. Optional NSE script execution for vuln detection on open services.</a:t>
            </a:r>
            <a:endParaRPr b="0" i="0" sz="1400" u="none" cap="none" strike="noStrike">
              <a:solidFill>
                <a:srgbClr val="000000"/>
              </a:solidFill>
              <a:latin typeface="Arial"/>
              <a:ea typeface="Arial"/>
              <a:cs typeface="Arial"/>
              <a:sym typeface="Arial"/>
            </a:endParaRPr>
          </a:p>
        </p:txBody>
      </p:sp>
      <p:sp>
        <p:nvSpPr>
          <p:cNvPr id="572" name="Google Shape;572;p19"/>
          <p:cNvSpPr/>
          <p:nvPr/>
        </p:nvSpPr>
        <p:spPr>
          <a:xfrm>
            <a:off x="4160520" y="1417320"/>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3" name="Google Shape;573;p19"/>
          <p:cNvSpPr/>
          <p:nvPr/>
        </p:nvSpPr>
        <p:spPr>
          <a:xfrm>
            <a:off x="4160520" y="1417320"/>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4" name="Google Shape;574;p19"/>
          <p:cNvSpPr txBox="1"/>
          <p:nvPr/>
        </p:nvSpPr>
        <p:spPr>
          <a:xfrm>
            <a:off x="4178808" y="1705356"/>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575" name="Google Shape;575;p19"/>
          <p:cNvSpPr txBox="1"/>
          <p:nvPr/>
        </p:nvSpPr>
        <p:spPr>
          <a:xfrm>
            <a:off x="4617720" y="1472184"/>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WhatWeb</a:t>
            </a:r>
            <a:endParaRPr b="0" i="0" sz="1400" u="none" cap="none" strike="noStrike">
              <a:solidFill>
                <a:srgbClr val="000000"/>
              </a:solidFill>
              <a:latin typeface="Arial"/>
              <a:ea typeface="Arial"/>
              <a:cs typeface="Arial"/>
              <a:sym typeface="Arial"/>
            </a:endParaRPr>
          </a:p>
        </p:txBody>
      </p:sp>
      <p:sp>
        <p:nvSpPr>
          <p:cNvPr id="576" name="Google Shape;576;p19"/>
          <p:cNvSpPr txBox="1"/>
          <p:nvPr/>
        </p:nvSpPr>
        <p:spPr>
          <a:xfrm>
            <a:off x="4617720" y="1737360"/>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Technology Fingerprinting  ·  Analysis Agent</a:t>
            </a:r>
            <a:endParaRPr b="0" i="0" sz="1400" u="none" cap="none" strike="noStrike">
              <a:solidFill>
                <a:srgbClr val="000000"/>
              </a:solidFill>
              <a:latin typeface="Arial"/>
              <a:ea typeface="Arial"/>
              <a:cs typeface="Arial"/>
              <a:sym typeface="Arial"/>
            </a:endParaRPr>
          </a:p>
        </p:txBody>
      </p:sp>
      <p:sp>
        <p:nvSpPr>
          <p:cNvPr id="577" name="Google Shape;577;p19"/>
          <p:cNvSpPr txBox="1"/>
          <p:nvPr/>
        </p:nvSpPr>
        <p:spPr>
          <a:xfrm>
            <a:off x="4617720" y="1947672"/>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Identifies CMS, frameworks, server software, JS libraries, and versions from HTTP responses. Seeds Technology nodes for the ASG.</a:t>
            </a:r>
            <a:endParaRPr b="0" i="0" sz="1400" u="none" cap="none" strike="noStrike">
              <a:solidFill>
                <a:srgbClr val="000000"/>
              </a:solidFill>
              <a:latin typeface="Arial"/>
              <a:ea typeface="Arial"/>
              <a:cs typeface="Arial"/>
              <a:sym typeface="Arial"/>
            </a:endParaRPr>
          </a:p>
        </p:txBody>
      </p:sp>
      <p:sp>
        <p:nvSpPr>
          <p:cNvPr id="578" name="Google Shape;578;p19"/>
          <p:cNvSpPr/>
          <p:nvPr/>
        </p:nvSpPr>
        <p:spPr>
          <a:xfrm>
            <a:off x="4160520" y="2395728"/>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9" name="Google Shape;579;p19"/>
          <p:cNvSpPr/>
          <p:nvPr/>
        </p:nvSpPr>
        <p:spPr>
          <a:xfrm>
            <a:off x="4160520" y="2395728"/>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0" name="Google Shape;580;p19"/>
          <p:cNvSpPr txBox="1"/>
          <p:nvPr/>
        </p:nvSpPr>
        <p:spPr>
          <a:xfrm>
            <a:off x="4178808" y="2683764"/>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581" name="Google Shape;581;p19"/>
          <p:cNvSpPr txBox="1"/>
          <p:nvPr/>
        </p:nvSpPr>
        <p:spPr>
          <a:xfrm>
            <a:off x="4617720" y="2450592"/>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Gobuster</a:t>
            </a:r>
            <a:endParaRPr b="0" i="0" sz="1400" u="none" cap="none" strike="noStrike">
              <a:solidFill>
                <a:srgbClr val="000000"/>
              </a:solidFill>
              <a:latin typeface="Arial"/>
              <a:ea typeface="Arial"/>
              <a:cs typeface="Arial"/>
              <a:sym typeface="Arial"/>
            </a:endParaRPr>
          </a:p>
        </p:txBody>
      </p:sp>
      <p:sp>
        <p:nvSpPr>
          <p:cNvPr id="582" name="Google Shape;582;p19"/>
          <p:cNvSpPr txBox="1"/>
          <p:nvPr/>
        </p:nvSpPr>
        <p:spPr>
          <a:xfrm>
            <a:off x="4617720" y="2715768"/>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Directory Brute-Force  ·  Analysis Agent</a:t>
            </a:r>
            <a:endParaRPr b="0" i="0" sz="1400" u="none" cap="none" strike="noStrike">
              <a:solidFill>
                <a:srgbClr val="000000"/>
              </a:solidFill>
              <a:latin typeface="Arial"/>
              <a:ea typeface="Arial"/>
              <a:cs typeface="Arial"/>
              <a:sym typeface="Arial"/>
            </a:endParaRPr>
          </a:p>
        </p:txBody>
      </p:sp>
      <p:sp>
        <p:nvSpPr>
          <p:cNvPr id="583" name="Google Shape;583;p19"/>
          <p:cNvSpPr txBox="1"/>
          <p:nvPr/>
        </p:nvSpPr>
        <p:spPr>
          <a:xfrm>
            <a:off x="4617720" y="2926080"/>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Discovers hidden paths, admin panels, backup files, and exposed resources via wordlist-based HTTP path enumeration.</a:t>
            </a:r>
            <a:endParaRPr b="0" i="0" sz="1400" u="none" cap="none" strike="noStrike">
              <a:solidFill>
                <a:srgbClr val="000000"/>
              </a:solidFill>
              <a:latin typeface="Arial"/>
              <a:ea typeface="Arial"/>
              <a:cs typeface="Arial"/>
              <a:sym typeface="Arial"/>
            </a:endParaRPr>
          </a:p>
        </p:txBody>
      </p:sp>
      <p:sp>
        <p:nvSpPr>
          <p:cNvPr id="584" name="Google Shape;584;p19"/>
          <p:cNvSpPr/>
          <p:nvPr/>
        </p:nvSpPr>
        <p:spPr>
          <a:xfrm>
            <a:off x="4160520" y="3374136"/>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5" name="Google Shape;585;p19"/>
          <p:cNvSpPr/>
          <p:nvPr/>
        </p:nvSpPr>
        <p:spPr>
          <a:xfrm>
            <a:off x="4160520" y="3374136"/>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6" name="Google Shape;586;p19"/>
          <p:cNvSpPr txBox="1"/>
          <p:nvPr/>
        </p:nvSpPr>
        <p:spPr>
          <a:xfrm>
            <a:off x="41788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587" name="Google Shape;587;p19"/>
          <p:cNvSpPr txBox="1"/>
          <p:nvPr/>
        </p:nvSpPr>
        <p:spPr>
          <a:xfrm>
            <a:off x="4617720" y="3429000"/>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ffuf</a:t>
            </a:r>
            <a:endParaRPr b="0" i="0" sz="1400" u="none" cap="none" strike="noStrike">
              <a:solidFill>
                <a:srgbClr val="000000"/>
              </a:solidFill>
              <a:latin typeface="Arial"/>
              <a:ea typeface="Arial"/>
              <a:cs typeface="Arial"/>
              <a:sym typeface="Arial"/>
            </a:endParaRPr>
          </a:p>
        </p:txBody>
      </p:sp>
      <p:sp>
        <p:nvSpPr>
          <p:cNvPr id="588" name="Google Shape;588;p19"/>
          <p:cNvSpPr txBox="1"/>
          <p:nvPr/>
        </p:nvSpPr>
        <p:spPr>
          <a:xfrm>
            <a:off x="4617720" y="3694176"/>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API + Parameter Fuzzing  ·  Analysis Agent</a:t>
            </a:r>
            <a:endParaRPr b="0" i="0" sz="1400" u="none" cap="none" strike="noStrike">
              <a:solidFill>
                <a:srgbClr val="000000"/>
              </a:solidFill>
              <a:latin typeface="Arial"/>
              <a:ea typeface="Arial"/>
              <a:cs typeface="Arial"/>
              <a:sym typeface="Arial"/>
            </a:endParaRPr>
          </a:p>
        </p:txBody>
      </p:sp>
      <p:sp>
        <p:nvSpPr>
          <p:cNvPr id="589" name="Google Shape;589;p19"/>
          <p:cNvSpPr txBox="1"/>
          <p:nvPr/>
        </p:nvSpPr>
        <p:spPr>
          <a:xfrm>
            <a:off x="4617720" y="3904488"/>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Fast web fuzzer for API route discovery, parameter fuzzing, virtual host enumeration, and undocumented endpoint identification.</a:t>
            </a:r>
            <a:endParaRPr b="0" i="0" sz="1400" u="none" cap="none" strike="noStrike">
              <a:solidFill>
                <a:srgbClr val="000000"/>
              </a:solidFill>
              <a:latin typeface="Arial"/>
              <a:ea typeface="Arial"/>
              <a:cs typeface="Arial"/>
              <a:sym typeface="Arial"/>
            </a:endParaRPr>
          </a:p>
        </p:txBody>
      </p:sp>
      <p:sp>
        <p:nvSpPr>
          <p:cNvPr id="590" name="Google Shape;590;p19"/>
          <p:cNvSpPr/>
          <p:nvPr/>
        </p:nvSpPr>
        <p:spPr>
          <a:xfrm>
            <a:off x="4160520" y="4352544"/>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1" name="Google Shape;591;p19"/>
          <p:cNvSpPr/>
          <p:nvPr/>
        </p:nvSpPr>
        <p:spPr>
          <a:xfrm>
            <a:off x="4160520" y="4352544"/>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2" name="Google Shape;592;p19"/>
          <p:cNvSpPr txBox="1"/>
          <p:nvPr/>
        </p:nvSpPr>
        <p:spPr>
          <a:xfrm>
            <a:off x="4178808" y="4640580"/>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p:txBody>
      </p:sp>
      <p:sp>
        <p:nvSpPr>
          <p:cNvPr id="593" name="Google Shape;593;p19"/>
          <p:cNvSpPr txBox="1"/>
          <p:nvPr/>
        </p:nvSpPr>
        <p:spPr>
          <a:xfrm>
            <a:off x="4617720" y="4407408"/>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Nuclei</a:t>
            </a:r>
            <a:endParaRPr b="0" i="0" sz="1400" u="none" cap="none" strike="noStrike">
              <a:solidFill>
                <a:srgbClr val="000000"/>
              </a:solidFill>
              <a:latin typeface="Arial"/>
              <a:ea typeface="Arial"/>
              <a:cs typeface="Arial"/>
              <a:sym typeface="Arial"/>
            </a:endParaRPr>
          </a:p>
        </p:txBody>
      </p:sp>
      <p:sp>
        <p:nvSpPr>
          <p:cNvPr id="594" name="Google Shape;594;p19"/>
          <p:cNvSpPr txBox="1"/>
          <p:nvPr/>
        </p:nvSpPr>
        <p:spPr>
          <a:xfrm>
            <a:off x="4617720" y="4672584"/>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Template-Based Vuln Scan  ·  Analysis Agent</a:t>
            </a:r>
            <a:endParaRPr b="0" i="0" sz="1400" u="none" cap="none" strike="noStrike">
              <a:solidFill>
                <a:srgbClr val="000000"/>
              </a:solidFill>
              <a:latin typeface="Arial"/>
              <a:ea typeface="Arial"/>
              <a:cs typeface="Arial"/>
              <a:sym typeface="Arial"/>
            </a:endParaRPr>
          </a:p>
        </p:txBody>
      </p:sp>
      <p:sp>
        <p:nvSpPr>
          <p:cNvPr id="595" name="Google Shape;595;p19"/>
          <p:cNvSpPr txBox="1"/>
          <p:nvPr/>
        </p:nvSpPr>
        <p:spPr>
          <a:xfrm>
            <a:off x="4617720" y="4882896"/>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Matches discovered services and technologies against a library of CVE and misconfiguration templates for automated vulnerability detection.</a:t>
            </a:r>
            <a:endParaRPr b="0" i="0" sz="1400" u="none" cap="none" strike="noStrike">
              <a:solidFill>
                <a:srgbClr val="000000"/>
              </a:solidFill>
              <a:latin typeface="Arial"/>
              <a:ea typeface="Arial"/>
              <a:cs typeface="Arial"/>
              <a:sym typeface="Arial"/>
            </a:endParaRPr>
          </a:p>
        </p:txBody>
      </p:sp>
      <p:sp>
        <p:nvSpPr>
          <p:cNvPr id="596" name="Google Shape;596;p19"/>
          <p:cNvSpPr/>
          <p:nvPr/>
        </p:nvSpPr>
        <p:spPr>
          <a:xfrm>
            <a:off x="4160520" y="5330952"/>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19"/>
          <p:cNvSpPr/>
          <p:nvPr/>
        </p:nvSpPr>
        <p:spPr>
          <a:xfrm>
            <a:off x="4160520" y="5330952"/>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8" name="Google Shape;598;p19"/>
          <p:cNvSpPr txBox="1"/>
          <p:nvPr/>
        </p:nvSpPr>
        <p:spPr>
          <a:xfrm>
            <a:off x="4178808" y="5618988"/>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599" name="Google Shape;599;p19"/>
          <p:cNvSpPr txBox="1"/>
          <p:nvPr/>
        </p:nvSpPr>
        <p:spPr>
          <a:xfrm>
            <a:off x="4617720" y="5385816"/>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OWASP ZAP</a:t>
            </a:r>
            <a:endParaRPr b="0" i="0" sz="1400" u="none" cap="none" strike="noStrike">
              <a:solidFill>
                <a:srgbClr val="000000"/>
              </a:solidFill>
              <a:latin typeface="Arial"/>
              <a:ea typeface="Arial"/>
              <a:cs typeface="Arial"/>
              <a:sym typeface="Arial"/>
            </a:endParaRPr>
          </a:p>
        </p:txBody>
      </p:sp>
      <p:sp>
        <p:nvSpPr>
          <p:cNvPr id="600" name="Google Shape;600;p19"/>
          <p:cNvSpPr txBox="1"/>
          <p:nvPr/>
        </p:nvSpPr>
        <p:spPr>
          <a:xfrm>
            <a:off x="4617720" y="5650992"/>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Active Web App Scan  ·  Analysis Agent</a:t>
            </a:r>
            <a:endParaRPr b="0" i="0" sz="1400" u="none" cap="none" strike="noStrike">
              <a:solidFill>
                <a:srgbClr val="000000"/>
              </a:solidFill>
              <a:latin typeface="Arial"/>
              <a:ea typeface="Arial"/>
              <a:cs typeface="Arial"/>
              <a:sym typeface="Arial"/>
            </a:endParaRPr>
          </a:p>
        </p:txBody>
      </p:sp>
      <p:sp>
        <p:nvSpPr>
          <p:cNvPr id="601" name="Google Shape;601;p19"/>
          <p:cNvSpPr txBox="1"/>
          <p:nvPr/>
        </p:nvSpPr>
        <p:spPr>
          <a:xfrm>
            <a:off x="4617720" y="5861304"/>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Crawls and actively tests for OWASP Top 10: XSS, CSRF, injection flaws, authentication weaknesses, and insecure direct object references.</a:t>
            </a:r>
            <a:endParaRPr b="0" i="0" sz="1400" u="none" cap="none" strike="noStrike">
              <a:solidFill>
                <a:srgbClr val="000000"/>
              </a:solidFill>
              <a:latin typeface="Arial"/>
              <a:ea typeface="Arial"/>
              <a:cs typeface="Arial"/>
              <a:sym typeface="Arial"/>
            </a:endParaRPr>
          </a:p>
        </p:txBody>
      </p:sp>
      <p:sp>
        <p:nvSpPr>
          <p:cNvPr id="602" name="Google Shape;602;p19"/>
          <p:cNvSpPr/>
          <p:nvPr/>
        </p:nvSpPr>
        <p:spPr>
          <a:xfrm>
            <a:off x="8412480" y="141732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3" name="Google Shape;603;p19"/>
          <p:cNvSpPr/>
          <p:nvPr/>
        </p:nvSpPr>
        <p:spPr>
          <a:xfrm>
            <a:off x="8412475" y="1417325"/>
            <a:ext cx="4116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4" name="Google Shape;604;p19"/>
          <p:cNvSpPr txBox="1"/>
          <p:nvPr/>
        </p:nvSpPr>
        <p:spPr>
          <a:xfrm>
            <a:off x="8430768" y="203149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9</a:t>
            </a:r>
            <a:endParaRPr b="0" i="0" sz="1400" u="none" cap="none" strike="noStrike">
              <a:solidFill>
                <a:srgbClr val="000000"/>
              </a:solidFill>
              <a:latin typeface="Arial"/>
              <a:ea typeface="Arial"/>
              <a:cs typeface="Arial"/>
              <a:sym typeface="Arial"/>
            </a:endParaRPr>
          </a:p>
        </p:txBody>
      </p:sp>
      <p:sp>
        <p:nvSpPr>
          <p:cNvPr id="605" name="Google Shape;605;p19"/>
          <p:cNvSpPr txBox="1"/>
          <p:nvPr/>
        </p:nvSpPr>
        <p:spPr>
          <a:xfrm>
            <a:off x="8869680" y="1472184"/>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SQLMap</a:t>
            </a:r>
            <a:endParaRPr b="0" i="0" sz="1400" u="none" cap="none" strike="noStrike">
              <a:solidFill>
                <a:srgbClr val="000000"/>
              </a:solidFill>
              <a:latin typeface="Arial"/>
              <a:ea typeface="Arial"/>
              <a:cs typeface="Arial"/>
              <a:sym typeface="Arial"/>
            </a:endParaRPr>
          </a:p>
        </p:txBody>
      </p:sp>
      <p:sp>
        <p:nvSpPr>
          <p:cNvPr id="606" name="Google Shape;606;p19"/>
          <p:cNvSpPr txBox="1"/>
          <p:nvPr/>
        </p:nvSpPr>
        <p:spPr>
          <a:xfrm>
            <a:off x="8869680" y="1737360"/>
            <a:ext cx="30632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SQL Injection Validation  ·  Validation Agent</a:t>
            </a:r>
            <a:endParaRPr b="0" i="0" sz="1400" u="none" cap="none" strike="noStrike">
              <a:solidFill>
                <a:srgbClr val="000000"/>
              </a:solidFill>
              <a:latin typeface="Arial"/>
              <a:ea typeface="Arial"/>
              <a:cs typeface="Arial"/>
              <a:sym typeface="Arial"/>
            </a:endParaRPr>
          </a:p>
        </p:txBody>
      </p:sp>
      <p:sp>
        <p:nvSpPr>
          <p:cNvPr id="607" name="Google Shape;607;p19"/>
          <p:cNvSpPr txBox="1"/>
          <p:nvPr/>
        </p:nvSpPr>
        <p:spPr>
          <a:xfrm>
            <a:off x="8869680" y="1947672"/>
            <a:ext cx="306324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Automated SQLi detection and exploitation. Confirms injection points, extracts database data, tests for OS-level access escalation.</a:t>
            </a:r>
            <a:endParaRPr b="0" i="0" sz="1400" u="none" cap="none" strike="noStrike">
              <a:solidFill>
                <a:srgbClr val="000000"/>
              </a:solidFill>
              <a:latin typeface="Arial"/>
              <a:ea typeface="Arial"/>
              <a:cs typeface="Arial"/>
              <a:sym typeface="Arial"/>
            </a:endParaRPr>
          </a:p>
        </p:txBody>
      </p:sp>
      <p:sp>
        <p:nvSpPr>
          <p:cNvPr id="608" name="Google Shape;608;p19"/>
          <p:cNvSpPr/>
          <p:nvPr/>
        </p:nvSpPr>
        <p:spPr>
          <a:xfrm>
            <a:off x="8412480" y="304800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19"/>
          <p:cNvSpPr/>
          <p:nvPr/>
        </p:nvSpPr>
        <p:spPr>
          <a:xfrm>
            <a:off x="8412475" y="3048000"/>
            <a:ext cx="4116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0" name="Google Shape;610;p19"/>
          <p:cNvSpPr txBox="1"/>
          <p:nvPr/>
        </p:nvSpPr>
        <p:spPr>
          <a:xfrm>
            <a:off x="8430777" y="3662175"/>
            <a:ext cx="4116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611" name="Google Shape;611;p19"/>
          <p:cNvSpPr txBox="1"/>
          <p:nvPr/>
        </p:nvSpPr>
        <p:spPr>
          <a:xfrm>
            <a:off x="8869680" y="3102864"/>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Metasploit</a:t>
            </a:r>
            <a:endParaRPr b="0" i="0" sz="1400" u="none" cap="none" strike="noStrike">
              <a:solidFill>
                <a:srgbClr val="000000"/>
              </a:solidFill>
              <a:latin typeface="Arial"/>
              <a:ea typeface="Arial"/>
              <a:cs typeface="Arial"/>
              <a:sym typeface="Arial"/>
            </a:endParaRPr>
          </a:p>
        </p:txBody>
      </p:sp>
      <p:sp>
        <p:nvSpPr>
          <p:cNvPr id="612" name="Google Shape;612;p19"/>
          <p:cNvSpPr txBox="1"/>
          <p:nvPr/>
        </p:nvSpPr>
        <p:spPr>
          <a:xfrm>
            <a:off x="8869680" y="3368040"/>
            <a:ext cx="30632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Exploit + RCE Demo  ·  Validation Agent</a:t>
            </a:r>
            <a:endParaRPr b="0" i="0" sz="1400" u="none" cap="none" strike="noStrike">
              <a:solidFill>
                <a:srgbClr val="000000"/>
              </a:solidFill>
              <a:latin typeface="Arial"/>
              <a:ea typeface="Arial"/>
              <a:cs typeface="Arial"/>
              <a:sym typeface="Arial"/>
            </a:endParaRPr>
          </a:p>
        </p:txBody>
      </p:sp>
      <p:sp>
        <p:nvSpPr>
          <p:cNvPr id="613" name="Google Shape;613;p19"/>
          <p:cNvSpPr txBox="1"/>
          <p:nvPr/>
        </p:nvSpPr>
        <p:spPr>
          <a:xfrm>
            <a:off x="8869680" y="3578352"/>
            <a:ext cx="306324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Executes known exploits against identified vulnerabilities. Validates APG ChainSteps, demonstrates impact, achieves proof of exploitation.</a:t>
            </a:r>
            <a:endParaRPr b="0" i="0" sz="1400" u="none" cap="none" strike="noStrike">
              <a:solidFill>
                <a:srgbClr val="000000"/>
              </a:solidFill>
              <a:latin typeface="Arial"/>
              <a:ea typeface="Arial"/>
              <a:cs typeface="Arial"/>
              <a:sym typeface="Arial"/>
            </a:endParaRPr>
          </a:p>
        </p:txBody>
      </p:sp>
      <p:sp>
        <p:nvSpPr>
          <p:cNvPr id="614" name="Google Shape;614;p19"/>
          <p:cNvSpPr/>
          <p:nvPr/>
        </p:nvSpPr>
        <p:spPr>
          <a:xfrm>
            <a:off x="8412480" y="4678680"/>
            <a:ext cx="3566160" cy="1557528"/>
          </a:xfrm>
          <a:prstGeom prst="rect">
            <a:avLst/>
          </a:prstGeom>
          <a:solidFill>
            <a:srgbClr val="10162B"/>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19"/>
          <p:cNvSpPr/>
          <p:nvPr/>
        </p:nvSpPr>
        <p:spPr>
          <a:xfrm>
            <a:off x="8412475" y="4678675"/>
            <a:ext cx="411600" cy="1557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19"/>
          <p:cNvSpPr txBox="1"/>
          <p:nvPr/>
        </p:nvSpPr>
        <p:spPr>
          <a:xfrm>
            <a:off x="8430776" y="5292850"/>
            <a:ext cx="365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617" name="Google Shape;617;p19"/>
          <p:cNvSpPr txBox="1"/>
          <p:nvPr/>
        </p:nvSpPr>
        <p:spPr>
          <a:xfrm>
            <a:off x="8869680" y="4733544"/>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sp>
        <p:nvSpPr>
          <p:cNvPr id="618" name="Google Shape;618;p19"/>
          <p:cNvSpPr txBox="1"/>
          <p:nvPr/>
        </p:nvSpPr>
        <p:spPr>
          <a:xfrm>
            <a:off x="8869680" y="4998720"/>
            <a:ext cx="30632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Screenshot Evidence  ·  Evidence Agent</a:t>
            </a:r>
            <a:endParaRPr b="0" i="0" sz="1400" u="none" cap="none" strike="noStrike">
              <a:solidFill>
                <a:srgbClr val="000000"/>
              </a:solidFill>
              <a:latin typeface="Arial"/>
              <a:ea typeface="Arial"/>
              <a:cs typeface="Arial"/>
              <a:sym typeface="Arial"/>
            </a:endParaRPr>
          </a:p>
        </p:txBody>
      </p:sp>
      <p:sp>
        <p:nvSpPr>
          <p:cNvPr id="619" name="Google Shape;619;p19"/>
          <p:cNvSpPr txBox="1"/>
          <p:nvPr/>
        </p:nvSpPr>
        <p:spPr>
          <a:xfrm>
            <a:off x="8869680" y="5209032"/>
            <a:ext cx="306324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Headless screenshot capture of web pages, exposed panels, and API responses. Produces visual proof artifacts linked to ASG Evidence nodes.</a:t>
            </a:r>
            <a:endParaRPr b="0" i="0" sz="1400" u="none" cap="none" strike="noStrike">
              <a:solidFill>
                <a:srgbClr val="000000"/>
              </a:solidFill>
              <a:latin typeface="Arial"/>
              <a:ea typeface="Arial"/>
              <a:cs typeface="Arial"/>
              <a:sym typeface="Arial"/>
            </a:endParaRPr>
          </a:p>
        </p:txBody>
      </p:sp>
      <p:sp>
        <p:nvSpPr>
          <p:cNvPr id="620" name="Google Shape;620;p19"/>
          <p:cNvSpPr/>
          <p:nvPr/>
        </p:nvSpPr>
        <p:spPr>
          <a:xfrm>
            <a:off x="274320" y="6291072"/>
            <a:ext cx="11643055" cy="438912"/>
          </a:xfrm>
          <a:prstGeom prst="rect">
            <a:avLst/>
          </a:prstGeom>
          <a:solidFill>
            <a:srgbClr val="0E081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19"/>
          <p:cNvSpPr txBox="1"/>
          <p:nvPr/>
        </p:nvSpPr>
        <p:spPr>
          <a:xfrm>
            <a:off x="457200" y="6327648"/>
            <a:ext cx="11368735"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BD93F9"/>
                </a:solidFill>
                <a:latin typeface="Calibri"/>
                <a:ea typeface="Calibri"/>
                <a:cs typeface="Calibri"/>
                <a:sym typeface="Calibri"/>
              </a:rPr>
              <a:t>🔒  Every tool is wrapped in a Tool Adapter — agents reason about targets, not command syntax.  No irreversible offensive operation executes without Commander-level scope validation.</a:t>
            </a:r>
            <a:endParaRPr b="0" i="0" sz="1400" u="none" cap="none" strike="noStrike">
              <a:solidFill>
                <a:srgbClr val="000000"/>
              </a:solidFill>
              <a:latin typeface="Arial"/>
              <a:ea typeface="Arial"/>
              <a:cs typeface="Arial"/>
              <a:sym typeface="Arial"/>
            </a:endParaRPr>
          </a:p>
        </p:txBody>
      </p:sp>
      <p:sp>
        <p:nvSpPr>
          <p:cNvPr id="622" name="Google Shape;622;p19"/>
          <p:cNvSpPr txBox="1"/>
          <p:nvPr/>
        </p:nvSpPr>
        <p:spPr>
          <a:xfrm>
            <a:off x="11612747" y="82400"/>
            <a:ext cx="411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07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626" name="Shape 626"/>
        <p:cNvGrpSpPr/>
        <p:nvPr/>
      </p:nvGrpSpPr>
      <p:grpSpPr>
        <a:xfrm>
          <a:off x="0" y="0"/>
          <a:ext cx="0" cy="0"/>
          <a:chOff x="0" y="0"/>
          <a:chExt cx="0" cy="0"/>
        </a:xfrm>
      </p:grpSpPr>
      <p:sp>
        <p:nvSpPr>
          <p:cNvPr id="627" name="Google Shape;627;p20"/>
          <p:cNvSpPr/>
          <p:nvPr/>
        </p:nvSpPr>
        <p:spPr>
          <a:xfrm>
            <a:off x="0" y="0"/>
            <a:ext cx="54900"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8" name="Google Shape;628;p20"/>
          <p:cNvSpPr/>
          <p:nvPr/>
        </p:nvSpPr>
        <p:spPr>
          <a:xfrm>
            <a:off x="54864" y="0"/>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9" name="Google Shape;629;p20"/>
          <p:cNvSpPr/>
          <p:nvPr/>
        </p:nvSpPr>
        <p:spPr>
          <a:xfrm>
            <a:off x="54864" y="682142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0" name="Google Shape;630;p20"/>
          <p:cNvSpPr txBox="1"/>
          <p:nvPr/>
        </p:nvSpPr>
        <p:spPr>
          <a:xfrm>
            <a:off x="274320" y="64008"/>
            <a:ext cx="4572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REAL-WORLD SCENARIO</a:t>
            </a:r>
            <a:endParaRPr b="0" i="0" sz="1400" u="none" cap="none" strike="noStrike">
              <a:solidFill>
                <a:srgbClr val="000000"/>
              </a:solidFill>
              <a:latin typeface="Arial"/>
              <a:ea typeface="Arial"/>
              <a:cs typeface="Arial"/>
              <a:sym typeface="Arial"/>
            </a:endParaRPr>
          </a:p>
        </p:txBody>
      </p:sp>
      <p:sp>
        <p:nvSpPr>
          <p:cNvPr id="631" name="Google Shape;631;p20"/>
          <p:cNvSpPr txBox="1"/>
          <p:nvPr/>
        </p:nvSpPr>
        <p:spPr>
          <a:xfrm>
            <a:off x="274320" y="283464"/>
            <a:ext cx="11430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Mission: shopvault.io — Black-Box Assessment — Zero Manual Commands</a:t>
            </a:r>
            <a:endParaRPr b="0" i="0" sz="1400" u="none" cap="none" strike="noStrike">
              <a:solidFill>
                <a:srgbClr val="000000"/>
              </a:solidFill>
              <a:latin typeface="Arial"/>
              <a:ea typeface="Arial"/>
              <a:cs typeface="Arial"/>
              <a:sym typeface="Arial"/>
            </a:endParaRPr>
          </a:p>
        </p:txBody>
      </p:sp>
      <p:sp>
        <p:nvSpPr>
          <p:cNvPr id="632" name="Google Shape;632;p20"/>
          <p:cNvSpPr/>
          <p:nvPr/>
        </p:nvSpPr>
        <p:spPr>
          <a:xfrm>
            <a:off x="164592" y="768096"/>
            <a:ext cx="11862600" cy="347400"/>
          </a:xfrm>
          <a:prstGeom prst="rect">
            <a:avLst/>
          </a:prstGeom>
          <a:solidFill>
            <a:srgbClr val="101004"/>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3" name="Google Shape;633;p20"/>
          <p:cNvSpPr txBox="1"/>
          <p:nvPr/>
        </p:nvSpPr>
        <p:spPr>
          <a:xfrm>
            <a:off x="320040" y="822960"/>
            <a:ext cx="115974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FFD700"/>
                </a:solidFill>
                <a:latin typeface="Calibri"/>
                <a:ea typeface="Calibri"/>
                <a:cs typeface="Calibri"/>
                <a:sym typeface="Calibri"/>
              </a:rPr>
              <a:t>Scope: all subdomains · web applications · REST APIs of shopvault.io  ·  Mode: Black-Box (zero prior knowledge)  ·  Operator configures root domain + scope → presses start.</a:t>
            </a:r>
            <a:endParaRPr b="0" i="0" sz="1400" u="none" cap="none" strike="noStrike">
              <a:solidFill>
                <a:srgbClr val="000000"/>
              </a:solidFill>
              <a:latin typeface="Arial"/>
              <a:ea typeface="Arial"/>
              <a:cs typeface="Arial"/>
              <a:sym typeface="Arial"/>
            </a:endParaRPr>
          </a:p>
        </p:txBody>
      </p:sp>
      <p:sp>
        <p:nvSpPr>
          <p:cNvPr id="634" name="Google Shape;634;p20"/>
          <p:cNvSpPr/>
          <p:nvPr/>
        </p:nvSpPr>
        <p:spPr>
          <a:xfrm>
            <a:off x="164592" y="1188720"/>
            <a:ext cx="2395800" cy="5010900"/>
          </a:xfrm>
          <a:prstGeom prst="rect">
            <a:avLst/>
          </a:prstGeom>
          <a:solidFill>
            <a:srgbClr val="041408"/>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5" name="Google Shape;635;p20"/>
          <p:cNvSpPr/>
          <p:nvPr/>
        </p:nvSpPr>
        <p:spPr>
          <a:xfrm>
            <a:off x="164592" y="1188720"/>
            <a:ext cx="2395800" cy="457200"/>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6" name="Google Shape;636;p20"/>
          <p:cNvSpPr txBox="1"/>
          <p:nvPr/>
        </p:nvSpPr>
        <p:spPr>
          <a:xfrm>
            <a:off x="237744" y="1243584"/>
            <a:ext cx="2286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39FF14"/>
                </a:solidFill>
                <a:latin typeface="Calibri"/>
                <a:ea typeface="Calibri"/>
                <a:cs typeface="Calibri"/>
                <a:sym typeface="Calibri"/>
              </a:rPr>
              <a:t>PHASE 1</a:t>
            </a:r>
            <a:br>
              <a:rPr b="1" i="0" lang="en-US" sz="1000" u="none" cap="none" strike="noStrike">
                <a:solidFill>
                  <a:srgbClr val="39FF14"/>
                </a:solidFill>
                <a:latin typeface="Calibri"/>
                <a:ea typeface="Calibri"/>
                <a:cs typeface="Calibri"/>
                <a:sym typeface="Calibri"/>
              </a:rPr>
            </a:br>
            <a:r>
              <a:rPr b="1" i="0" lang="en-US" sz="1000" u="none" cap="none" strike="noStrike">
                <a:solidFill>
                  <a:srgbClr val="39FF14"/>
                </a:solidFill>
                <a:latin typeface="Calibri"/>
                <a:ea typeface="Calibri"/>
                <a:cs typeface="Calibri"/>
                <a:sym typeface="Calibri"/>
              </a:rPr>
              <a:t>Reconnaissance</a:t>
            </a:r>
            <a:endParaRPr b="0" i="0" sz="1400" u="none" cap="none" strike="noStrike">
              <a:solidFill>
                <a:srgbClr val="000000"/>
              </a:solidFill>
              <a:latin typeface="Arial"/>
              <a:ea typeface="Arial"/>
              <a:cs typeface="Arial"/>
              <a:sym typeface="Arial"/>
            </a:endParaRPr>
          </a:p>
        </p:txBody>
      </p:sp>
      <p:sp>
        <p:nvSpPr>
          <p:cNvPr id="637" name="Google Shape;637;p20"/>
          <p:cNvSpPr txBox="1"/>
          <p:nvPr/>
        </p:nvSpPr>
        <p:spPr>
          <a:xfrm>
            <a:off x="237744" y="1700784"/>
            <a:ext cx="2286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 Recon Agent</a:t>
            </a:r>
            <a:endParaRPr b="0" i="0" sz="1400" u="none" cap="none" strike="noStrike">
              <a:solidFill>
                <a:srgbClr val="000000"/>
              </a:solidFill>
              <a:latin typeface="Arial"/>
              <a:ea typeface="Arial"/>
              <a:cs typeface="Arial"/>
              <a:sym typeface="Arial"/>
            </a:endParaRPr>
          </a:p>
        </p:txBody>
      </p:sp>
      <p:sp>
        <p:nvSpPr>
          <p:cNvPr id="638" name="Google Shape;638;p20"/>
          <p:cNvSpPr/>
          <p:nvPr/>
        </p:nvSpPr>
        <p:spPr>
          <a:xfrm>
            <a:off x="237744" y="1920240"/>
            <a:ext cx="2249400" cy="183000"/>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9" name="Google Shape;639;p20"/>
          <p:cNvSpPr txBox="1"/>
          <p:nvPr/>
        </p:nvSpPr>
        <p:spPr>
          <a:xfrm>
            <a:off x="274320" y="1929384"/>
            <a:ext cx="2212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640" name="Google Shape;640;p20"/>
          <p:cNvSpPr/>
          <p:nvPr/>
        </p:nvSpPr>
        <p:spPr>
          <a:xfrm>
            <a:off x="237744" y="2157984"/>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1" name="Google Shape;641;p20"/>
          <p:cNvSpPr/>
          <p:nvPr/>
        </p:nvSpPr>
        <p:spPr>
          <a:xfrm>
            <a:off x="237744" y="2157984"/>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2" name="Google Shape;642;p20"/>
          <p:cNvSpPr txBox="1"/>
          <p:nvPr/>
        </p:nvSpPr>
        <p:spPr>
          <a:xfrm>
            <a:off x="310896" y="2194560"/>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Amass</a:t>
            </a:r>
            <a:endParaRPr b="0" i="0" sz="1400" u="none" cap="none" strike="noStrike">
              <a:solidFill>
                <a:srgbClr val="000000"/>
              </a:solidFill>
              <a:latin typeface="Arial"/>
              <a:ea typeface="Arial"/>
              <a:cs typeface="Arial"/>
              <a:sym typeface="Arial"/>
            </a:endParaRPr>
          </a:p>
        </p:txBody>
      </p:sp>
      <p:sp>
        <p:nvSpPr>
          <p:cNvPr id="643" name="Google Shape;643;p20"/>
          <p:cNvSpPr txBox="1"/>
          <p:nvPr/>
        </p:nvSpPr>
        <p:spPr>
          <a:xfrm>
            <a:off x="310896" y="2432304"/>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14 subdomains discovered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 · admin · staging · pay · ...</a:t>
            </a:r>
            <a:endParaRPr b="0" i="0" sz="1400" u="none" cap="none" strike="noStrike">
              <a:solidFill>
                <a:srgbClr val="000000"/>
              </a:solidFill>
              <a:latin typeface="Arial"/>
              <a:ea typeface="Arial"/>
              <a:cs typeface="Arial"/>
              <a:sym typeface="Arial"/>
            </a:endParaRPr>
          </a:p>
        </p:txBody>
      </p:sp>
      <p:sp>
        <p:nvSpPr>
          <p:cNvPr id="644" name="Google Shape;644;p20"/>
          <p:cNvSpPr/>
          <p:nvPr/>
        </p:nvSpPr>
        <p:spPr>
          <a:xfrm>
            <a:off x="237744" y="3340608"/>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5" name="Google Shape;645;p20"/>
          <p:cNvSpPr/>
          <p:nvPr/>
        </p:nvSpPr>
        <p:spPr>
          <a:xfrm>
            <a:off x="237744" y="3340608"/>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6" name="Google Shape;646;p20"/>
          <p:cNvSpPr txBox="1"/>
          <p:nvPr/>
        </p:nvSpPr>
        <p:spPr>
          <a:xfrm>
            <a:off x="310896" y="3377184"/>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httpx</a:t>
            </a:r>
            <a:endParaRPr b="0" i="0" sz="1400" u="none" cap="none" strike="noStrike">
              <a:solidFill>
                <a:srgbClr val="000000"/>
              </a:solidFill>
              <a:latin typeface="Arial"/>
              <a:ea typeface="Arial"/>
              <a:cs typeface="Arial"/>
              <a:sym typeface="Arial"/>
            </a:endParaRPr>
          </a:p>
        </p:txBody>
      </p:sp>
      <p:sp>
        <p:nvSpPr>
          <p:cNvPr id="647" name="Google Shape;647;p20"/>
          <p:cNvSpPr txBox="1"/>
          <p:nvPr/>
        </p:nvSpPr>
        <p:spPr>
          <a:xfrm>
            <a:off x="310896" y="3614928"/>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11 live hosts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staging returns unexpected 200</a:t>
            </a:r>
            <a:endParaRPr b="0" i="0" sz="1400" u="none" cap="none" strike="noStrike">
              <a:solidFill>
                <a:srgbClr val="000000"/>
              </a:solidFill>
              <a:latin typeface="Arial"/>
              <a:ea typeface="Arial"/>
              <a:cs typeface="Arial"/>
              <a:sym typeface="Arial"/>
            </a:endParaRPr>
          </a:p>
        </p:txBody>
      </p:sp>
      <p:sp>
        <p:nvSpPr>
          <p:cNvPr id="648" name="Google Shape;648;p20"/>
          <p:cNvSpPr/>
          <p:nvPr/>
        </p:nvSpPr>
        <p:spPr>
          <a:xfrm>
            <a:off x="237744" y="4523232"/>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9" name="Google Shape;649;p20"/>
          <p:cNvSpPr/>
          <p:nvPr/>
        </p:nvSpPr>
        <p:spPr>
          <a:xfrm>
            <a:off x="237744" y="4523232"/>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0" name="Google Shape;650;p20"/>
          <p:cNvSpPr txBox="1"/>
          <p:nvPr/>
        </p:nvSpPr>
        <p:spPr>
          <a:xfrm>
            <a:off x="310896" y="4559808"/>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Nmap</a:t>
            </a:r>
            <a:endParaRPr b="0" i="0" sz="1400" u="none" cap="none" strike="noStrike">
              <a:solidFill>
                <a:srgbClr val="000000"/>
              </a:solidFill>
              <a:latin typeface="Arial"/>
              <a:ea typeface="Arial"/>
              <a:cs typeface="Arial"/>
              <a:sym typeface="Arial"/>
            </a:endParaRPr>
          </a:p>
        </p:txBody>
      </p:sp>
      <p:sp>
        <p:nvSpPr>
          <p:cNvPr id="651" name="Google Shape;651;p20"/>
          <p:cNvSpPr txBox="1"/>
          <p:nvPr/>
        </p:nvSpPr>
        <p:spPr>
          <a:xfrm>
            <a:off x="310896" y="4797552"/>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Ports 80, 443, 8080, 8443 open</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pay.shopvault.io: expired TLS</a:t>
            </a:r>
            <a:endParaRPr b="0" i="0" sz="1400" u="none" cap="none" strike="noStrike">
              <a:solidFill>
                <a:srgbClr val="000000"/>
              </a:solidFill>
              <a:latin typeface="Arial"/>
              <a:ea typeface="Arial"/>
              <a:cs typeface="Arial"/>
              <a:sym typeface="Arial"/>
            </a:endParaRPr>
          </a:p>
        </p:txBody>
      </p:sp>
      <p:sp>
        <p:nvSpPr>
          <p:cNvPr id="652" name="Google Shape;652;p20"/>
          <p:cNvSpPr/>
          <p:nvPr/>
        </p:nvSpPr>
        <p:spPr>
          <a:xfrm>
            <a:off x="164592" y="5797296"/>
            <a:ext cx="2395800" cy="402300"/>
          </a:xfrm>
          <a:prstGeom prst="rect">
            <a:avLst/>
          </a:prstGeom>
          <a:solidFill>
            <a:srgbClr val="060C18"/>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3" name="Google Shape;653;p20"/>
          <p:cNvSpPr txBox="1"/>
          <p:nvPr/>
        </p:nvSpPr>
        <p:spPr>
          <a:xfrm>
            <a:off x="256032" y="5852160"/>
            <a:ext cx="2258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ASG ← 37 new nodes</a:t>
            </a:r>
            <a:endParaRPr b="0" i="0" sz="1400" u="none" cap="none" strike="noStrike">
              <a:solidFill>
                <a:srgbClr val="000000"/>
              </a:solidFill>
              <a:latin typeface="Arial"/>
              <a:ea typeface="Arial"/>
              <a:cs typeface="Arial"/>
              <a:sym typeface="Arial"/>
            </a:endParaRPr>
          </a:p>
        </p:txBody>
      </p:sp>
      <p:cxnSp>
        <p:nvCxnSpPr>
          <p:cNvPr id="654" name="Google Shape;654;p20"/>
          <p:cNvCxnSpPr/>
          <p:nvPr/>
        </p:nvCxnSpPr>
        <p:spPr>
          <a:xfrm>
            <a:off x="2560320" y="1417320"/>
            <a:ext cx="54900" cy="0"/>
          </a:xfrm>
          <a:prstGeom prst="straightConnector1">
            <a:avLst/>
          </a:prstGeom>
          <a:noFill/>
          <a:ln cap="flat" cmpd="sng" w="22850">
            <a:solidFill>
              <a:srgbClr val="00E5FF"/>
            </a:solidFill>
            <a:prstDash val="solid"/>
            <a:round/>
            <a:headEnd len="med" w="med" type="stealth"/>
            <a:tailEnd len="sm" w="sm" type="none"/>
          </a:ln>
          <a:effectLst>
            <a:outerShdw blurRad="40000" rotWithShape="0" dir="5400000" dist="20000">
              <a:srgbClr val="000000">
                <a:alpha val="38040"/>
              </a:srgbClr>
            </a:outerShdw>
          </a:effectLst>
        </p:spPr>
      </p:cxnSp>
      <p:sp>
        <p:nvSpPr>
          <p:cNvPr id="655" name="Google Shape;655;p20"/>
          <p:cNvSpPr/>
          <p:nvPr/>
        </p:nvSpPr>
        <p:spPr>
          <a:xfrm>
            <a:off x="2615184" y="1188720"/>
            <a:ext cx="3474600" cy="5010900"/>
          </a:xfrm>
          <a:prstGeom prst="rect">
            <a:avLst/>
          </a:prstGeom>
          <a:solidFill>
            <a:srgbClr val="041018"/>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6" name="Google Shape;656;p20"/>
          <p:cNvSpPr/>
          <p:nvPr/>
        </p:nvSpPr>
        <p:spPr>
          <a:xfrm>
            <a:off x="2615184" y="1188720"/>
            <a:ext cx="3474600" cy="457200"/>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7" name="Google Shape;657;p20"/>
          <p:cNvSpPr txBox="1"/>
          <p:nvPr/>
        </p:nvSpPr>
        <p:spPr>
          <a:xfrm>
            <a:off x="2688336" y="1243584"/>
            <a:ext cx="33651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PHASE 2</a:t>
            </a:r>
            <a:br>
              <a:rPr b="1" i="0" lang="en-US" sz="1000" u="none" cap="none" strike="noStrike">
                <a:solidFill>
                  <a:srgbClr val="00E5FF"/>
                </a:solidFill>
                <a:latin typeface="Calibri"/>
                <a:ea typeface="Calibri"/>
                <a:cs typeface="Calibri"/>
                <a:sym typeface="Calibri"/>
              </a:rPr>
            </a:br>
            <a:r>
              <a:rPr b="1" i="0" lang="en-US" sz="1000" u="none" cap="none" strike="noStrike">
                <a:solidFill>
                  <a:srgbClr val="00E5FF"/>
                </a:solidFill>
                <a:latin typeface="Calibri"/>
                <a:ea typeface="Calibri"/>
                <a:cs typeface="Calibri"/>
                <a:sym typeface="Calibri"/>
              </a:rPr>
              <a:t>Analysis + Intel</a:t>
            </a:r>
            <a:endParaRPr b="0" i="0" sz="1400" u="none" cap="none" strike="noStrike">
              <a:solidFill>
                <a:srgbClr val="000000"/>
              </a:solidFill>
              <a:latin typeface="Arial"/>
              <a:ea typeface="Arial"/>
              <a:cs typeface="Arial"/>
              <a:sym typeface="Arial"/>
            </a:endParaRPr>
          </a:p>
        </p:txBody>
      </p:sp>
      <p:sp>
        <p:nvSpPr>
          <p:cNvPr id="658" name="Google Shape;658;p20"/>
          <p:cNvSpPr txBox="1"/>
          <p:nvPr/>
        </p:nvSpPr>
        <p:spPr>
          <a:xfrm>
            <a:off x="2688336" y="1700784"/>
            <a:ext cx="33651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 Analysis + 🔍 Research</a:t>
            </a:r>
            <a:endParaRPr b="0" i="0" sz="1400" u="none" cap="none" strike="noStrike">
              <a:solidFill>
                <a:srgbClr val="000000"/>
              </a:solidFill>
              <a:latin typeface="Arial"/>
              <a:ea typeface="Arial"/>
              <a:cs typeface="Arial"/>
              <a:sym typeface="Arial"/>
            </a:endParaRPr>
          </a:p>
        </p:txBody>
      </p:sp>
      <p:sp>
        <p:nvSpPr>
          <p:cNvPr id="659" name="Google Shape;659;p20"/>
          <p:cNvSpPr/>
          <p:nvPr/>
        </p:nvSpPr>
        <p:spPr>
          <a:xfrm>
            <a:off x="2688336" y="1920240"/>
            <a:ext cx="3328500" cy="183000"/>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0" name="Google Shape;660;p20"/>
          <p:cNvSpPr txBox="1"/>
          <p:nvPr/>
        </p:nvSpPr>
        <p:spPr>
          <a:xfrm>
            <a:off x="2724912" y="1929384"/>
            <a:ext cx="3291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0E5FF"/>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661" name="Google Shape;661;p20"/>
          <p:cNvSpPr/>
          <p:nvPr/>
        </p:nvSpPr>
        <p:spPr>
          <a:xfrm>
            <a:off x="2688336" y="2157984"/>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2" name="Google Shape;662;p20"/>
          <p:cNvSpPr/>
          <p:nvPr/>
        </p:nvSpPr>
        <p:spPr>
          <a:xfrm>
            <a:off x="2688336" y="2157984"/>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3" name="Google Shape;663;p20"/>
          <p:cNvSpPr txBox="1"/>
          <p:nvPr/>
        </p:nvSpPr>
        <p:spPr>
          <a:xfrm>
            <a:off x="2761488" y="2194560"/>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WhatWeb</a:t>
            </a:r>
            <a:endParaRPr b="0" i="0" sz="1400" u="none" cap="none" strike="noStrike">
              <a:solidFill>
                <a:srgbClr val="000000"/>
              </a:solidFill>
              <a:latin typeface="Arial"/>
              <a:ea typeface="Arial"/>
              <a:cs typeface="Arial"/>
              <a:sym typeface="Arial"/>
            </a:endParaRPr>
          </a:p>
        </p:txBody>
      </p:sp>
      <p:sp>
        <p:nvSpPr>
          <p:cNvPr id="664" name="Google Shape;664;p20"/>
          <p:cNvSpPr txBox="1"/>
          <p:nvPr/>
        </p:nvSpPr>
        <p:spPr>
          <a:xfrm>
            <a:off x="2761488" y="2432304"/>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WordPress 5.9.3 · Django API</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Research: CVE-2022-21661 (CVSS 8.8)</a:t>
            </a:r>
            <a:endParaRPr b="0" i="0" sz="1400" u="none" cap="none" strike="noStrike">
              <a:solidFill>
                <a:srgbClr val="000000"/>
              </a:solidFill>
              <a:latin typeface="Arial"/>
              <a:ea typeface="Arial"/>
              <a:cs typeface="Arial"/>
              <a:sym typeface="Arial"/>
            </a:endParaRPr>
          </a:p>
        </p:txBody>
      </p:sp>
      <p:sp>
        <p:nvSpPr>
          <p:cNvPr id="665" name="Google Shape;665;p20"/>
          <p:cNvSpPr/>
          <p:nvPr/>
        </p:nvSpPr>
        <p:spPr>
          <a:xfrm>
            <a:off x="2688336" y="3044952"/>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6" name="Google Shape;666;p20"/>
          <p:cNvSpPr/>
          <p:nvPr/>
        </p:nvSpPr>
        <p:spPr>
          <a:xfrm>
            <a:off x="2688336" y="3044952"/>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7" name="Google Shape;667;p20"/>
          <p:cNvSpPr txBox="1"/>
          <p:nvPr/>
        </p:nvSpPr>
        <p:spPr>
          <a:xfrm>
            <a:off x="2761488" y="3081528"/>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Gobuster</a:t>
            </a:r>
            <a:endParaRPr b="0" i="0" sz="1400" u="none" cap="none" strike="noStrike">
              <a:solidFill>
                <a:srgbClr val="000000"/>
              </a:solidFill>
              <a:latin typeface="Arial"/>
              <a:ea typeface="Arial"/>
              <a:cs typeface="Arial"/>
              <a:sym typeface="Arial"/>
            </a:endParaRPr>
          </a:p>
        </p:txBody>
      </p:sp>
      <p:sp>
        <p:nvSpPr>
          <p:cNvPr id="668" name="Google Shape;668;p20"/>
          <p:cNvSpPr txBox="1"/>
          <p:nvPr/>
        </p:nvSpPr>
        <p:spPr>
          <a:xfrm>
            <a:off x="2761488" y="3319272"/>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/backup/db_export_2023.sql EXPOSED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/admin/users · /admin/login</a:t>
            </a:r>
            <a:endParaRPr b="0" i="0" sz="1400" u="none" cap="none" strike="noStrike">
              <a:solidFill>
                <a:srgbClr val="000000"/>
              </a:solidFill>
              <a:latin typeface="Arial"/>
              <a:ea typeface="Arial"/>
              <a:cs typeface="Arial"/>
              <a:sym typeface="Arial"/>
            </a:endParaRPr>
          </a:p>
        </p:txBody>
      </p:sp>
      <p:sp>
        <p:nvSpPr>
          <p:cNvPr id="669" name="Google Shape;669;p20"/>
          <p:cNvSpPr/>
          <p:nvPr/>
        </p:nvSpPr>
        <p:spPr>
          <a:xfrm>
            <a:off x="2688336" y="3931920"/>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0" name="Google Shape;670;p20"/>
          <p:cNvSpPr/>
          <p:nvPr/>
        </p:nvSpPr>
        <p:spPr>
          <a:xfrm>
            <a:off x="2688336" y="3931920"/>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1" name="Google Shape;671;p20"/>
          <p:cNvSpPr txBox="1"/>
          <p:nvPr/>
        </p:nvSpPr>
        <p:spPr>
          <a:xfrm>
            <a:off x="2761488" y="3968496"/>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ffuf</a:t>
            </a:r>
            <a:endParaRPr b="0" i="0" sz="1400" u="none" cap="none" strike="noStrike">
              <a:solidFill>
                <a:srgbClr val="000000"/>
              </a:solidFill>
              <a:latin typeface="Arial"/>
              <a:ea typeface="Arial"/>
              <a:cs typeface="Arial"/>
              <a:sym typeface="Arial"/>
            </a:endParaRPr>
          </a:p>
        </p:txBody>
      </p:sp>
      <p:sp>
        <p:nvSpPr>
          <p:cNvPr id="672" name="Google Shape;672;p20"/>
          <p:cNvSpPr txBox="1"/>
          <p:nvPr/>
        </p:nvSpPr>
        <p:spPr>
          <a:xfrm>
            <a:off x="2761488" y="4206240"/>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IDOR: user_id param unsanitized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/api/v1/internal/users found</a:t>
            </a:r>
            <a:endParaRPr b="0" i="0" sz="1400" u="none" cap="none" strike="noStrike">
              <a:solidFill>
                <a:srgbClr val="000000"/>
              </a:solidFill>
              <a:latin typeface="Arial"/>
              <a:ea typeface="Arial"/>
              <a:cs typeface="Arial"/>
              <a:sym typeface="Arial"/>
            </a:endParaRPr>
          </a:p>
        </p:txBody>
      </p:sp>
      <p:sp>
        <p:nvSpPr>
          <p:cNvPr id="673" name="Google Shape;673;p20"/>
          <p:cNvSpPr/>
          <p:nvPr/>
        </p:nvSpPr>
        <p:spPr>
          <a:xfrm>
            <a:off x="2688336" y="4818888"/>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4" name="Google Shape;674;p20"/>
          <p:cNvSpPr/>
          <p:nvPr/>
        </p:nvSpPr>
        <p:spPr>
          <a:xfrm>
            <a:off x="2688336" y="4818888"/>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5" name="Google Shape;675;p20"/>
          <p:cNvSpPr txBox="1"/>
          <p:nvPr/>
        </p:nvSpPr>
        <p:spPr>
          <a:xfrm>
            <a:off x="2761488" y="4855464"/>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ZAP</a:t>
            </a:r>
            <a:endParaRPr b="0" i="0" sz="1400" u="none" cap="none" strike="noStrike">
              <a:solidFill>
                <a:srgbClr val="000000"/>
              </a:solidFill>
              <a:latin typeface="Arial"/>
              <a:ea typeface="Arial"/>
              <a:cs typeface="Arial"/>
              <a:sym typeface="Arial"/>
            </a:endParaRPr>
          </a:p>
        </p:txBody>
      </p:sp>
      <p:sp>
        <p:nvSpPr>
          <p:cNvPr id="676" name="Google Shape;676;p20"/>
          <p:cNvSpPr txBox="1"/>
          <p:nvPr/>
        </p:nvSpPr>
        <p:spPr>
          <a:xfrm>
            <a:off x="2761488" y="5093208"/>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XSS on /search?q=</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SQL error on staging login</a:t>
            </a:r>
            <a:endParaRPr b="0" i="0" sz="1400" u="none" cap="none" strike="noStrike">
              <a:solidFill>
                <a:srgbClr val="000000"/>
              </a:solidFill>
              <a:latin typeface="Arial"/>
              <a:ea typeface="Arial"/>
              <a:cs typeface="Arial"/>
              <a:sym typeface="Arial"/>
            </a:endParaRPr>
          </a:p>
        </p:txBody>
      </p:sp>
      <p:sp>
        <p:nvSpPr>
          <p:cNvPr id="677" name="Google Shape;677;p20"/>
          <p:cNvSpPr/>
          <p:nvPr/>
        </p:nvSpPr>
        <p:spPr>
          <a:xfrm>
            <a:off x="2615184" y="5797296"/>
            <a:ext cx="3474600" cy="402300"/>
          </a:xfrm>
          <a:prstGeom prst="rect">
            <a:avLst/>
          </a:prstGeom>
          <a:solidFill>
            <a:srgbClr val="060C18"/>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8" name="Google Shape;678;p20"/>
          <p:cNvSpPr txBox="1"/>
          <p:nvPr/>
        </p:nvSpPr>
        <p:spPr>
          <a:xfrm>
            <a:off x="2706624" y="5852160"/>
            <a:ext cx="33375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ASG ← 61 nodes</a:t>
            </a:r>
            <a:br>
              <a:rPr b="1" i="0" lang="en-US" sz="850" u="none" cap="none" strike="noStrike">
                <a:solidFill>
                  <a:srgbClr val="00E5FF"/>
                </a:solidFill>
                <a:latin typeface="Calibri"/>
                <a:ea typeface="Calibri"/>
                <a:cs typeface="Calibri"/>
                <a:sym typeface="Calibri"/>
              </a:rPr>
            </a:br>
            <a:r>
              <a:rPr b="1" i="0" lang="en-US" sz="850" u="none" cap="none" strike="noStrike">
                <a:solidFill>
                  <a:srgbClr val="00E5FF"/>
                </a:solidFill>
                <a:latin typeface="Calibri"/>
                <a:ea typeface="Calibri"/>
                <a:cs typeface="Calibri"/>
                <a:sym typeface="Calibri"/>
              </a:rPr>
              <a:t>APG ← 3 chains seeded</a:t>
            </a:r>
            <a:endParaRPr b="0" i="0" sz="1400" u="none" cap="none" strike="noStrike">
              <a:solidFill>
                <a:srgbClr val="000000"/>
              </a:solidFill>
              <a:latin typeface="Arial"/>
              <a:ea typeface="Arial"/>
              <a:cs typeface="Arial"/>
              <a:sym typeface="Arial"/>
            </a:endParaRPr>
          </a:p>
        </p:txBody>
      </p:sp>
      <p:cxnSp>
        <p:nvCxnSpPr>
          <p:cNvPr id="679" name="Google Shape;679;p20"/>
          <p:cNvCxnSpPr/>
          <p:nvPr/>
        </p:nvCxnSpPr>
        <p:spPr>
          <a:xfrm>
            <a:off x="6089904" y="1417320"/>
            <a:ext cx="54900" cy="0"/>
          </a:xfrm>
          <a:prstGeom prst="straightConnector1">
            <a:avLst/>
          </a:prstGeom>
          <a:noFill/>
          <a:ln cap="flat" cmpd="sng" w="22850">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680" name="Google Shape;680;p20"/>
          <p:cNvSpPr/>
          <p:nvPr/>
        </p:nvSpPr>
        <p:spPr>
          <a:xfrm>
            <a:off x="6144768" y="1188720"/>
            <a:ext cx="3639300" cy="5010900"/>
          </a:xfrm>
          <a:prstGeom prst="rect">
            <a:avLst/>
          </a:prstGeom>
          <a:solidFill>
            <a:srgbClr val="180606"/>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1" name="Google Shape;681;p20"/>
          <p:cNvSpPr/>
          <p:nvPr/>
        </p:nvSpPr>
        <p:spPr>
          <a:xfrm>
            <a:off x="6144768" y="1188720"/>
            <a:ext cx="3639300" cy="457200"/>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2" name="Google Shape;682;p20"/>
          <p:cNvSpPr txBox="1"/>
          <p:nvPr/>
        </p:nvSpPr>
        <p:spPr>
          <a:xfrm>
            <a:off x="6217920" y="1243584"/>
            <a:ext cx="35295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4545"/>
                </a:solidFill>
                <a:latin typeface="Calibri"/>
                <a:ea typeface="Calibri"/>
                <a:cs typeface="Calibri"/>
                <a:sym typeface="Calibri"/>
              </a:rPr>
              <a:t>PHASE 3</a:t>
            </a:r>
            <a:br>
              <a:rPr b="1" i="0" lang="en-US" sz="1000" u="none" cap="none" strike="noStrike">
                <a:solidFill>
                  <a:srgbClr val="FF4545"/>
                </a:solidFill>
                <a:latin typeface="Calibri"/>
                <a:ea typeface="Calibri"/>
                <a:cs typeface="Calibri"/>
                <a:sym typeface="Calibri"/>
              </a:rPr>
            </a:br>
            <a:r>
              <a:rPr b="1" i="0" lang="en-US" sz="1000" u="none" cap="none" strike="noStrike">
                <a:solidFill>
                  <a:srgbClr val="FF4545"/>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683" name="Google Shape;683;p20"/>
          <p:cNvSpPr txBox="1"/>
          <p:nvPr/>
        </p:nvSpPr>
        <p:spPr>
          <a:xfrm>
            <a:off x="6217920" y="1700784"/>
            <a:ext cx="35295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 Validation + 📸 Evidence</a:t>
            </a:r>
            <a:endParaRPr b="0" i="0" sz="1400" u="none" cap="none" strike="noStrike">
              <a:solidFill>
                <a:srgbClr val="000000"/>
              </a:solidFill>
              <a:latin typeface="Arial"/>
              <a:ea typeface="Arial"/>
              <a:cs typeface="Arial"/>
              <a:sym typeface="Arial"/>
            </a:endParaRPr>
          </a:p>
        </p:txBody>
      </p:sp>
      <p:sp>
        <p:nvSpPr>
          <p:cNvPr id="684" name="Google Shape;684;p20"/>
          <p:cNvSpPr/>
          <p:nvPr/>
        </p:nvSpPr>
        <p:spPr>
          <a:xfrm>
            <a:off x="6217920" y="1920240"/>
            <a:ext cx="3492900" cy="183000"/>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5" name="Google Shape;685;p20"/>
          <p:cNvSpPr txBox="1"/>
          <p:nvPr/>
        </p:nvSpPr>
        <p:spPr>
          <a:xfrm>
            <a:off x="6254496" y="1929384"/>
            <a:ext cx="34563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4545"/>
                </a:solidFill>
                <a:latin typeface="Calibri"/>
                <a:ea typeface="Calibri"/>
                <a:cs typeface="Calibri"/>
                <a:sym typeface="Calibri"/>
              </a:rPr>
              <a:t>SQLMap  ·  Metasploit  ·  EyeWitness</a:t>
            </a:r>
            <a:endParaRPr b="0" i="0" sz="1400" u="none" cap="none" strike="noStrike">
              <a:solidFill>
                <a:srgbClr val="000000"/>
              </a:solidFill>
              <a:latin typeface="Arial"/>
              <a:ea typeface="Arial"/>
              <a:cs typeface="Arial"/>
              <a:sym typeface="Arial"/>
            </a:endParaRPr>
          </a:p>
        </p:txBody>
      </p:sp>
      <p:sp>
        <p:nvSpPr>
          <p:cNvPr id="686" name="Google Shape;686;p20"/>
          <p:cNvSpPr/>
          <p:nvPr/>
        </p:nvSpPr>
        <p:spPr>
          <a:xfrm>
            <a:off x="6217920" y="2157984"/>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7" name="Google Shape;687;p20"/>
          <p:cNvSpPr/>
          <p:nvPr/>
        </p:nvSpPr>
        <p:spPr>
          <a:xfrm>
            <a:off x="6217920" y="2157984"/>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8" name="Google Shape;688;p20"/>
          <p:cNvSpPr txBox="1"/>
          <p:nvPr/>
        </p:nvSpPr>
        <p:spPr>
          <a:xfrm>
            <a:off x="6291072" y="2194560"/>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Chain-01</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8.8)</a:t>
            </a:r>
            <a:endParaRPr b="0" i="0" sz="1400" u="none" cap="none" strike="noStrike">
              <a:solidFill>
                <a:srgbClr val="000000"/>
              </a:solidFill>
              <a:latin typeface="Arial"/>
              <a:ea typeface="Arial"/>
              <a:cs typeface="Arial"/>
              <a:sym typeface="Arial"/>
            </a:endParaRPr>
          </a:p>
        </p:txBody>
      </p:sp>
      <p:sp>
        <p:nvSpPr>
          <p:cNvPr id="689" name="Google Shape;689;p20"/>
          <p:cNvSpPr txBox="1"/>
          <p:nvPr/>
        </p:nvSpPr>
        <p:spPr>
          <a:xfrm>
            <a:off x="6291072" y="2432304"/>
            <a:ext cx="3365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 SQLi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 hash cracked → Metasploit → RCE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Status: VALIDATED (escalated 9.1)</a:t>
            </a:r>
            <a:endParaRPr b="0" i="0" sz="1400" u="none" cap="none" strike="noStrike">
              <a:solidFill>
                <a:srgbClr val="000000"/>
              </a:solidFill>
              <a:latin typeface="Arial"/>
              <a:ea typeface="Arial"/>
              <a:cs typeface="Arial"/>
              <a:sym typeface="Arial"/>
            </a:endParaRPr>
          </a:p>
        </p:txBody>
      </p:sp>
      <p:sp>
        <p:nvSpPr>
          <p:cNvPr id="690" name="Google Shape;690;p20"/>
          <p:cNvSpPr/>
          <p:nvPr/>
        </p:nvSpPr>
        <p:spPr>
          <a:xfrm>
            <a:off x="6217920" y="3067812"/>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1" name="Google Shape;691;p20"/>
          <p:cNvSpPr/>
          <p:nvPr/>
        </p:nvSpPr>
        <p:spPr>
          <a:xfrm>
            <a:off x="6217920" y="3067812"/>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2" name="Google Shape;692;p20"/>
          <p:cNvSpPr txBox="1"/>
          <p:nvPr/>
        </p:nvSpPr>
        <p:spPr>
          <a:xfrm>
            <a:off x="6291072" y="3104388"/>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Chain-02</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7.5)</a:t>
            </a:r>
            <a:endParaRPr b="0" i="0" sz="1400" u="none" cap="none" strike="noStrike">
              <a:solidFill>
                <a:srgbClr val="000000"/>
              </a:solidFill>
              <a:latin typeface="Arial"/>
              <a:ea typeface="Arial"/>
              <a:cs typeface="Arial"/>
              <a:sym typeface="Arial"/>
            </a:endParaRPr>
          </a:p>
        </p:txBody>
      </p:sp>
      <p:sp>
        <p:nvSpPr>
          <p:cNvPr id="693" name="Google Shape;693;p20"/>
          <p:cNvSpPr txBox="1"/>
          <p:nvPr/>
        </p:nvSpPr>
        <p:spPr>
          <a:xfrm>
            <a:off x="6291072" y="3342132"/>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on user_id → IDOR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Any customer orders accessible</a:t>
            </a:r>
            <a:endParaRPr b="0" i="0" sz="1400" u="none" cap="none" strike="noStrike">
              <a:solidFill>
                <a:srgbClr val="000000"/>
              </a:solidFill>
              <a:latin typeface="Arial"/>
              <a:ea typeface="Arial"/>
              <a:cs typeface="Arial"/>
              <a:sym typeface="Arial"/>
            </a:endParaRPr>
          </a:p>
        </p:txBody>
      </p:sp>
      <p:sp>
        <p:nvSpPr>
          <p:cNvPr id="694" name="Google Shape;694;p20"/>
          <p:cNvSpPr/>
          <p:nvPr/>
        </p:nvSpPr>
        <p:spPr>
          <a:xfrm>
            <a:off x="6217920" y="3977640"/>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5" name="Google Shape;695;p20"/>
          <p:cNvSpPr/>
          <p:nvPr/>
        </p:nvSpPr>
        <p:spPr>
          <a:xfrm>
            <a:off x="6217920" y="3977640"/>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6" name="Google Shape;696;p20"/>
          <p:cNvSpPr txBox="1"/>
          <p:nvPr/>
        </p:nvSpPr>
        <p:spPr>
          <a:xfrm>
            <a:off x="6291072" y="4014216"/>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Chain-03</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8.1)</a:t>
            </a:r>
            <a:endParaRPr b="0" i="0" sz="1400" u="none" cap="none" strike="noStrike">
              <a:solidFill>
                <a:srgbClr val="000000"/>
              </a:solidFill>
              <a:latin typeface="Arial"/>
              <a:ea typeface="Arial"/>
              <a:cs typeface="Arial"/>
              <a:sym typeface="Arial"/>
            </a:endParaRPr>
          </a:p>
        </p:txBody>
      </p:sp>
      <p:sp>
        <p:nvSpPr>
          <p:cNvPr id="697" name="Google Shape;697;p20"/>
          <p:cNvSpPr txBox="1"/>
          <p:nvPr/>
        </p:nvSpPr>
        <p:spPr>
          <a:xfrm>
            <a:off x="6291072" y="4251960"/>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Blind SQLi on staging → DB creds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Credential reuse risk flagged</a:t>
            </a:r>
            <a:endParaRPr b="0" i="0" sz="1400" u="none" cap="none" strike="noStrike">
              <a:solidFill>
                <a:srgbClr val="000000"/>
              </a:solidFill>
              <a:latin typeface="Arial"/>
              <a:ea typeface="Arial"/>
              <a:cs typeface="Arial"/>
              <a:sym typeface="Arial"/>
            </a:endParaRPr>
          </a:p>
        </p:txBody>
      </p:sp>
      <p:sp>
        <p:nvSpPr>
          <p:cNvPr id="698" name="Google Shape;698;p20"/>
          <p:cNvSpPr/>
          <p:nvPr/>
        </p:nvSpPr>
        <p:spPr>
          <a:xfrm>
            <a:off x="6217920" y="4887468"/>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9" name="Google Shape;699;p20"/>
          <p:cNvSpPr/>
          <p:nvPr/>
        </p:nvSpPr>
        <p:spPr>
          <a:xfrm>
            <a:off x="6217920" y="4887468"/>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0" name="Google Shape;700;p20"/>
          <p:cNvSpPr txBox="1"/>
          <p:nvPr/>
        </p:nvSpPr>
        <p:spPr>
          <a:xfrm>
            <a:off x="6291072" y="4924044"/>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Chain-04</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(validated instantly)</a:t>
            </a:r>
            <a:endParaRPr b="0" i="0" sz="1400" u="none" cap="none" strike="noStrike">
              <a:solidFill>
                <a:srgbClr val="000000"/>
              </a:solidFill>
              <a:latin typeface="Arial"/>
              <a:ea typeface="Arial"/>
              <a:cs typeface="Arial"/>
              <a:sym typeface="Arial"/>
            </a:endParaRPr>
          </a:p>
        </p:txBody>
      </p:sp>
      <p:sp>
        <p:nvSpPr>
          <p:cNvPr id="701" name="Google Shape;701;p20"/>
          <p:cNvSpPr txBox="1"/>
          <p:nvPr/>
        </p:nvSpPr>
        <p:spPr>
          <a:xfrm>
            <a:off x="6291072" y="5161788"/>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Direct GET on exposed DB backup file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Misconfiguration → full PII exposure, no agent needed</a:t>
            </a:r>
            <a:endParaRPr b="0" i="0" sz="1400" u="none" cap="none" strike="noStrike">
              <a:solidFill>
                <a:srgbClr val="000000"/>
              </a:solidFill>
              <a:latin typeface="Arial"/>
              <a:ea typeface="Arial"/>
              <a:cs typeface="Arial"/>
              <a:sym typeface="Arial"/>
            </a:endParaRPr>
          </a:p>
        </p:txBody>
      </p:sp>
      <p:sp>
        <p:nvSpPr>
          <p:cNvPr id="702" name="Google Shape;702;p20"/>
          <p:cNvSpPr/>
          <p:nvPr/>
        </p:nvSpPr>
        <p:spPr>
          <a:xfrm>
            <a:off x="6144768" y="5797296"/>
            <a:ext cx="3639300" cy="402300"/>
          </a:xfrm>
          <a:prstGeom prst="rect">
            <a:avLst/>
          </a:prstGeom>
          <a:solidFill>
            <a:srgbClr val="060C18"/>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3" name="Google Shape;703;p20"/>
          <p:cNvSpPr txBox="1"/>
          <p:nvPr/>
        </p:nvSpPr>
        <p:spPr>
          <a:xfrm>
            <a:off x="6236208" y="5852160"/>
            <a:ext cx="3502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APG ← 4 chains VALIDATED</a:t>
            </a:r>
            <a:br>
              <a:rPr b="1" i="0" lang="en-US" sz="850" u="none" cap="none" strike="noStrike">
                <a:solidFill>
                  <a:srgbClr val="FF4545"/>
                </a:solidFill>
                <a:latin typeface="Calibri"/>
                <a:ea typeface="Calibri"/>
                <a:cs typeface="Calibri"/>
                <a:sym typeface="Calibri"/>
              </a:rPr>
            </a:br>
            <a:r>
              <a:rPr b="1" i="0" lang="en-US" sz="850" u="none" cap="none" strike="noStrike">
                <a:solidFill>
                  <a:srgbClr val="FF4545"/>
                </a:solidFill>
                <a:latin typeface="Calibri"/>
                <a:ea typeface="Calibri"/>
                <a:cs typeface="Calibri"/>
                <a:sym typeface="Calibri"/>
              </a:rPr>
              <a:t>ASG ← Evidence nodes linked</a:t>
            </a:r>
            <a:endParaRPr b="0" i="0" sz="1400" u="none" cap="none" strike="noStrike">
              <a:solidFill>
                <a:srgbClr val="000000"/>
              </a:solidFill>
              <a:latin typeface="Arial"/>
              <a:ea typeface="Arial"/>
              <a:cs typeface="Arial"/>
              <a:sym typeface="Arial"/>
            </a:endParaRPr>
          </a:p>
        </p:txBody>
      </p:sp>
      <p:cxnSp>
        <p:nvCxnSpPr>
          <p:cNvPr id="704" name="Google Shape;704;p20"/>
          <p:cNvCxnSpPr/>
          <p:nvPr/>
        </p:nvCxnSpPr>
        <p:spPr>
          <a:xfrm>
            <a:off x="9784080" y="1417320"/>
            <a:ext cx="54900" cy="0"/>
          </a:xfrm>
          <a:prstGeom prst="straightConnector1">
            <a:avLst/>
          </a:prstGeom>
          <a:noFill/>
          <a:ln cap="flat" cmpd="sng" w="22850">
            <a:solidFill>
              <a:srgbClr val="BD93F9"/>
            </a:solidFill>
            <a:prstDash val="solid"/>
            <a:round/>
            <a:headEnd len="med" w="med" type="stealth"/>
            <a:tailEnd len="sm" w="sm" type="none"/>
          </a:ln>
          <a:effectLst>
            <a:outerShdw blurRad="40000" rotWithShape="0" dir="5400000" dist="20000">
              <a:srgbClr val="000000">
                <a:alpha val="38040"/>
              </a:srgbClr>
            </a:outerShdw>
          </a:effectLst>
        </p:spPr>
      </p:cxnSp>
      <p:sp>
        <p:nvSpPr>
          <p:cNvPr id="705" name="Google Shape;705;p20"/>
          <p:cNvSpPr/>
          <p:nvPr/>
        </p:nvSpPr>
        <p:spPr>
          <a:xfrm>
            <a:off x="9838950" y="1188725"/>
            <a:ext cx="2212800" cy="5010900"/>
          </a:xfrm>
          <a:prstGeom prst="rect">
            <a:avLst/>
          </a:prstGeom>
          <a:solidFill>
            <a:srgbClr val="1008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6" name="Google Shape;706;p20"/>
          <p:cNvSpPr/>
          <p:nvPr/>
        </p:nvSpPr>
        <p:spPr>
          <a:xfrm>
            <a:off x="9838950" y="1188725"/>
            <a:ext cx="2212800" cy="457200"/>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7" name="Google Shape;707;p20"/>
          <p:cNvSpPr txBox="1"/>
          <p:nvPr/>
        </p:nvSpPr>
        <p:spPr>
          <a:xfrm>
            <a:off x="9912100" y="1243575"/>
            <a:ext cx="21213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PHASE 4</a:t>
            </a:r>
            <a:br>
              <a:rPr b="1" i="0" lang="en-US" sz="1000" u="none" cap="none" strike="noStrike">
                <a:solidFill>
                  <a:srgbClr val="BD93F9"/>
                </a:solidFill>
                <a:latin typeface="Calibri"/>
                <a:ea typeface="Calibri"/>
                <a:cs typeface="Calibri"/>
                <a:sym typeface="Calibri"/>
              </a:rPr>
            </a:br>
            <a:r>
              <a:rPr b="1" i="0" lang="en-US" sz="1000" u="none" cap="none" strike="noStrike">
                <a:solidFill>
                  <a:srgbClr val="BD93F9"/>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708" name="Google Shape;708;p20"/>
          <p:cNvSpPr txBox="1"/>
          <p:nvPr/>
        </p:nvSpPr>
        <p:spPr>
          <a:xfrm>
            <a:off x="9912100" y="1700775"/>
            <a:ext cx="21213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 Report Agent</a:t>
            </a:r>
            <a:endParaRPr b="0" i="0" sz="1400" u="none" cap="none" strike="noStrike">
              <a:solidFill>
                <a:srgbClr val="000000"/>
              </a:solidFill>
              <a:latin typeface="Arial"/>
              <a:ea typeface="Arial"/>
              <a:cs typeface="Arial"/>
              <a:sym typeface="Arial"/>
            </a:endParaRPr>
          </a:p>
        </p:txBody>
      </p:sp>
      <p:sp>
        <p:nvSpPr>
          <p:cNvPr id="709" name="Google Shape;709;p20"/>
          <p:cNvSpPr/>
          <p:nvPr/>
        </p:nvSpPr>
        <p:spPr>
          <a:xfrm>
            <a:off x="9912100" y="1920250"/>
            <a:ext cx="2060700" cy="183000"/>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0" name="Google Shape;710;p20"/>
          <p:cNvSpPr txBox="1"/>
          <p:nvPr/>
        </p:nvSpPr>
        <p:spPr>
          <a:xfrm>
            <a:off x="9948675" y="1929375"/>
            <a:ext cx="20241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BD93F9"/>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sp>
        <p:nvSpPr>
          <p:cNvPr id="711" name="Google Shape;711;p20"/>
          <p:cNvSpPr/>
          <p:nvPr/>
        </p:nvSpPr>
        <p:spPr>
          <a:xfrm>
            <a:off x="9912100" y="2157975"/>
            <a:ext cx="2060700" cy="3492900"/>
          </a:xfrm>
          <a:prstGeom prst="rect">
            <a:avLst/>
          </a:prstGeom>
          <a:solidFill>
            <a:srgbClr val="080E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2" name="Google Shape;712;p20"/>
          <p:cNvSpPr/>
          <p:nvPr/>
        </p:nvSpPr>
        <p:spPr>
          <a:xfrm>
            <a:off x="9912096" y="2157984"/>
            <a:ext cx="45600" cy="34929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3" name="Google Shape;713;p20"/>
          <p:cNvSpPr txBox="1"/>
          <p:nvPr/>
        </p:nvSpPr>
        <p:spPr>
          <a:xfrm>
            <a:off x="9985250" y="2194550"/>
            <a:ext cx="20241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sp>
        <p:nvSpPr>
          <p:cNvPr id="714" name="Google Shape;714;p20"/>
          <p:cNvSpPr txBox="1"/>
          <p:nvPr/>
        </p:nvSpPr>
        <p:spPr>
          <a:xfrm>
            <a:off x="9985250" y="2432300"/>
            <a:ext cx="2024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Executive summary · 4 validated chains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RCE + IDOR + SQLi + exposed DB backup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11 vuln entries · full attack surface map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Evidence at every ChainStep</a:t>
            </a:r>
            <a:endParaRPr b="0" i="0" sz="1400" u="none" cap="none" strike="noStrike">
              <a:solidFill>
                <a:srgbClr val="000000"/>
              </a:solidFill>
              <a:latin typeface="Arial"/>
              <a:ea typeface="Arial"/>
              <a:cs typeface="Arial"/>
              <a:sym typeface="Arial"/>
            </a:endParaRPr>
          </a:p>
        </p:txBody>
      </p:sp>
      <p:sp>
        <p:nvSpPr>
          <p:cNvPr id="715" name="Google Shape;715;p20"/>
          <p:cNvSpPr/>
          <p:nvPr/>
        </p:nvSpPr>
        <p:spPr>
          <a:xfrm>
            <a:off x="9838949" y="5797300"/>
            <a:ext cx="2212800" cy="402300"/>
          </a:xfrm>
          <a:prstGeom prst="rect">
            <a:avLst/>
          </a:prstGeom>
          <a:solidFill>
            <a:srgbClr val="060C18"/>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6" name="Google Shape;716;p20"/>
          <p:cNvSpPr txBox="1"/>
          <p:nvPr/>
        </p:nvSpPr>
        <p:spPr>
          <a:xfrm>
            <a:off x="9930376" y="5852150"/>
            <a:ext cx="2060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ZERO manual commands</a:t>
            </a:r>
            <a:endParaRPr b="0" i="0" sz="1400" u="none" cap="none" strike="noStrike">
              <a:solidFill>
                <a:srgbClr val="000000"/>
              </a:solidFill>
              <a:latin typeface="Arial"/>
              <a:ea typeface="Arial"/>
              <a:cs typeface="Arial"/>
              <a:sym typeface="Arial"/>
            </a:endParaRPr>
          </a:p>
        </p:txBody>
      </p:sp>
      <p:sp>
        <p:nvSpPr>
          <p:cNvPr id="717" name="Google Shape;717;p20"/>
          <p:cNvSpPr/>
          <p:nvPr/>
        </p:nvSpPr>
        <p:spPr>
          <a:xfrm>
            <a:off x="164592" y="6236208"/>
            <a:ext cx="11862600" cy="493800"/>
          </a:xfrm>
          <a:prstGeom prst="rect">
            <a:avLst/>
          </a:prstGeom>
          <a:solidFill>
            <a:srgbClr val="0810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8" name="Google Shape;718;p20"/>
          <p:cNvSpPr txBox="1"/>
          <p:nvPr/>
        </p:nvSpPr>
        <p:spPr>
          <a:xfrm>
            <a:off x="201168"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14</a:t>
            </a:r>
            <a:endParaRPr b="0" i="0" sz="1400" u="none" cap="none" strike="noStrike">
              <a:solidFill>
                <a:srgbClr val="000000"/>
              </a:solidFill>
              <a:latin typeface="Arial"/>
              <a:ea typeface="Arial"/>
              <a:cs typeface="Arial"/>
              <a:sym typeface="Arial"/>
            </a:endParaRPr>
          </a:p>
        </p:txBody>
      </p:sp>
      <p:sp>
        <p:nvSpPr>
          <p:cNvPr id="719" name="Google Shape;719;p20"/>
          <p:cNvSpPr txBox="1"/>
          <p:nvPr/>
        </p:nvSpPr>
        <p:spPr>
          <a:xfrm>
            <a:off x="201168"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subdomains</a:t>
            </a:r>
            <a:endParaRPr b="0" i="0" sz="1400" u="none" cap="none" strike="noStrike">
              <a:solidFill>
                <a:srgbClr val="000000"/>
              </a:solidFill>
              <a:latin typeface="Arial"/>
              <a:ea typeface="Arial"/>
              <a:cs typeface="Arial"/>
              <a:sym typeface="Arial"/>
            </a:endParaRPr>
          </a:p>
        </p:txBody>
      </p:sp>
      <p:sp>
        <p:nvSpPr>
          <p:cNvPr id="720" name="Google Shape;720;p20"/>
          <p:cNvSpPr txBox="1"/>
          <p:nvPr/>
        </p:nvSpPr>
        <p:spPr>
          <a:xfrm>
            <a:off x="1864461"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721" name="Google Shape;721;p20"/>
          <p:cNvSpPr txBox="1"/>
          <p:nvPr/>
        </p:nvSpPr>
        <p:spPr>
          <a:xfrm>
            <a:off x="1864461"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live hosts</a:t>
            </a:r>
            <a:endParaRPr b="0" i="0" sz="1400" u="none" cap="none" strike="noStrike">
              <a:solidFill>
                <a:srgbClr val="000000"/>
              </a:solidFill>
              <a:latin typeface="Arial"/>
              <a:ea typeface="Arial"/>
              <a:cs typeface="Arial"/>
              <a:sym typeface="Arial"/>
            </a:endParaRPr>
          </a:p>
        </p:txBody>
      </p:sp>
      <p:sp>
        <p:nvSpPr>
          <p:cNvPr id="722" name="Google Shape;722;p20"/>
          <p:cNvSpPr txBox="1"/>
          <p:nvPr/>
        </p:nvSpPr>
        <p:spPr>
          <a:xfrm>
            <a:off x="3527755"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28</a:t>
            </a:r>
            <a:endParaRPr b="0" i="0" sz="1400" u="none" cap="none" strike="noStrike">
              <a:solidFill>
                <a:srgbClr val="000000"/>
              </a:solidFill>
              <a:latin typeface="Arial"/>
              <a:ea typeface="Arial"/>
              <a:cs typeface="Arial"/>
              <a:sym typeface="Arial"/>
            </a:endParaRPr>
          </a:p>
        </p:txBody>
      </p:sp>
      <p:sp>
        <p:nvSpPr>
          <p:cNvPr id="723" name="Google Shape;723;p20"/>
          <p:cNvSpPr txBox="1"/>
          <p:nvPr/>
        </p:nvSpPr>
        <p:spPr>
          <a:xfrm>
            <a:off x="3527755"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open ports</a:t>
            </a:r>
            <a:endParaRPr b="0" i="0" sz="1400" u="none" cap="none" strike="noStrike">
              <a:solidFill>
                <a:srgbClr val="000000"/>
              </a:solidFill>
              <a:latin typeface="Arial"/>
              <a:ea typeface="Arial"/>
              <a:cs typeface="Arial"/>
              <a:sym typeface="Arial"/>
            </a:endParaRPr>
          </a:p>
        </p:txBody>
      </p:sp>
      <p:sp>
        <p:nvSpPr>
          <p:cNvPr id="724" name="Google Shape;724;p20"/>
          <p:cNvSpPr txBox="1"/>
          <p:nvPr/>
        </p:nvSpPr>
        <p:spPr>
          <a:xfrm>
            <a:off x="5191048"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19</a:t>
            </a:r>
            <a:endParaRPr b="0" i="0" sz="1400" u="none" cap="none" strike="noStrike">
              <a:solidFill>
                <a:srgbClr val="000000"/>
              </a:solidFill>
              <a:latin typeface="Arial"/>
              <a:ea typeface="Arial"/>
              <a:cs typeface="Arial"/>
              <a:sym typeface="Arial"/>
            </a:endParaRPr>
          </a:p>
        </p:txBody>
      </p:sp>
      <p:sp>
        <p:nvSpPr>
          <p:cNvPr id="725" name="Google Shape;725;p20"/>
          <p:cNvSpPr txBox="1"/>
          <p:nvPr/>
        </p:nvSpPr>
        <p:spPr>
          <a:xfrm>
            <a:off x="5191048"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endpoints</a:t>
            </a:r>
            <a:endParaRPr b="0" i="0" sz="1400" u="none" cap="none" strike="noStrike">
              <a:solidFill>
                <a:srgbClr val="000000"/>
              </a:solidFill>
              <a:latin typeface="Arial"/>
              <a:ea typeface="Arial"/>
              <a:cs typeface="Arial"/>
              <a:sym typeface="Arial"/>
            </a:endParaRPr>
          </a:p>
        </p:txBody>
      </p:sp>
      <p:sp>
        <p:nvSpPr>
          <p:cNvPr id="726" name="Google Shape;726;p20"/>
          <p:cNvSpPr txBox="1"/>
          <p:nvPr/>
        </p:nvSpPr>
        <p:spPr>
          <a:xfrm>
            <a:off x="6854342"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D700"/>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727" name="Google Shape;727;p20"/>
          <p:cNvSpPr txBox="1"/>
          <p:nvPr/>
        </p:nvSpPr>
        <p:spPr>
          <a:xfrm>
            <a:off x="6854342"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vulnerabilities</a:t>
            </a:r>
            <a:endParaRPr b="0" i="0" sz="1400" u="none" cap="none" strike="noStrike">
              <a:solidFill>
                <a:srgbClr val="000000"/>
              </a:solidFill>
              <a:latin typeface="Arial"/>
              <a:ea typeface="Arial"/>
              <a:cs typeface="Arial"/>
              <a:sym typeface="Arial"/>
            </a:endParaRPr>
          </a:p>
        </p:txBody>
      </p:sp>
      <p:sp>
        <p:nvSpPr>
          <p:cNvPr id="728" name="Google Shape;728;p20"/>
          <p:cNvSpPr txBox="1"/>
          <p:nvPr/>
        </p:nvSpPr>
        <p:spPr>
          <a:xfrm>
            <a:off x="8517635"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4545"/>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729" name="Google Shape;729;p20"/>
          <p:cNvSpPr txBox="1"/>
          <p:nvPr/>
        </p:nvSpPr>
        <p:spPr>
          <a:xfrm>
            <a:off x="8517635"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730" name="Google Shape;730;p20"/>
          <p:cNvSpPr txBox="1"/>
          <p:nvPr/>
        </p:nvSpPr>
        <p:spPr>
          <a:xfrm>
            <a:off x="10180929"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BD93F9"/>
                </a:solidFill>
                <a:latin typeface="Calibri"/>
                <a:ea typeface="Calibri"/>
                <a:cs typeface="Calibri"/>
                <a:sym typeface="Calibri"/>
              </a:rPr>
              <a:t>0</a:t>
            </a:r>
            <a:endParaRPr b="0" i="0" sz="1400" u="none" cap="none" strike="noStrike">
              <a:solidFill>
                <a:srgbClr val="000000"/>
              </a:solidFill>
              <a:latin typeface="Arial"/>
              <a:ea typeface="Arial"/>
              <a:cs typeface="Arial"/>
              <a:sym typeface="Arial"/>
            </a:endParaRPr>
          </a:p>
        </p:txBody>
      </p:sp>
      <p:sp>
        <p:nvSpPr>
          <p:cNvPr id="731" name="Google Shape;731;p20"/>
          <p:cNvSpPr txBox="1"/>
          <p:nvPr/>
        </p:nvSpPr>
        <p:spPr>
          <a:xfrm>
            <a:off x="10180929"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manual commands</a:t>
            </a:r>
            <a:endParaRPr b="0" i="0" sz="1400" u="none" cap="none" strike="noStrike">
              <a:solidFill>
                <a:srgbClr val="000000"/>
              </a:solidFill>
              <a:latin typeface="Arial"/>
              <a:ea typeface="Arial"/>
              <a:cs typeface="Arial"/>
              <a:sym typeface="Arial"/>
            </a:endParaRPr>
          </a:p>
        </p:txBody>
      </p:sp>
      <p:sp>
        <p:nvSpPr>
          <p:cNvPr id="732" name="Google Shape;732;p20"/>
          <p:cNvSpPr txBox="1"/>
          <p:nvPr/>
        </p:nvSpPr>
        <p:spPr>
          <a:xfrm>
            <a:off x="11704321" y="54850"/>
            <a:ext cx="4023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08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736" name="Shape 736"/>
        <p:cNvGrpSpPr/>
        <p:nvPr/>
      </p:nvGrpSpPr>
      <p:grpSpPr>
        <a:xfrm>
          <a:off x="0" y="0"/>
          <a:ext cx="0" cy="0"/>
          <a:chOff x="0" y="0"/>
          <a:chExt cx="0" cy="0"/>
        </a:xfrm>
      </p:grpSpPr>
      <p:sp>
        <p:nvSpPr>
          <p:cNvPr id="737" name="Google Shape;737;p21"/>
          <p:cNvSpPr/>
          <p:nvPr/>
        </p:nvSpPr>
        <p:spPr>
          <a:xfrm>
            <a:off x="0" y="0"/>
            <a:ext cx="54900"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8" name="Google Shape;738;p21"/>
          <p:cNvSpPr/>
          <p:nvPr/>
        </p:nvSpPr>
        <p:spPr>
          <a:xfrm>
            <a:off x="54864" y="0"/>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9" name="Google Shape;739;p21"/>
          <p:cNvSpPr/>
          <p:nvPr/>
        </p:nvSpPr>
        <p:spPr>
          <a:xfrm>
            <a:off x="54876" y="684887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0" name="Google Shape;740;p21"/>
          <p:cNvSpPr txBox="1"/>
          <p:nvPr/>
        </p:nvSpPr>
        <p:spPr>
          <a:xfrm>
            <a:off x="274320" y="64008"/>
            <a:ext cx="54864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ATTACK CHAIN LIFECYCLE</a:t>
            </a:r>
            <a:endParaRPr b="0" i="0" sz="1400" u="none" cap="none" strike="noStrike">
              <a:solidFill>
                <a:srgbClr val="000000"/>
              </a:solidFill>
              <a:latin typeface="Arial"/>
              <a:ea typeface="Arial"/>
              <a:cs typeface="Arial"/>
              <a:sym typeface="Arial"/>
            </a:endParaRPr>
          </a:p>
        </p:txBody>
      </p:sp>
      <p:sp>
        <p:nvSpPr>
          <p:cNvPr id="741" name="Google Shape;741;p21"/>
          <p:cNvSpPr txBox="1"/>
          <p:nvPr/>
        </p:nvSpPr>
        <p:spPr>
          <a:xfrm>
            <a:off x="274320" y="283464"/>
            <a:ext cx="10972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APG Chain State Machine + Validation Agent Self-Debugging Loop</a:t>
            </a:r>
            <a:endParaRPr b="0" i="0" sz="1400" u="none" cap="none" strike="noStrike">
              <a:solidFill>
                <a:srgbClr val="000000"/>
              </a:solidFill>
              <a:latin typeface="Arial"/>
              <a:ea typeface="Arial"/>
              <a:cs typeface="Arial"/>
              <a:sym typeface="Arial"/>
            </a:endParaRPr>
          </a:p>
        </p:txBody>
      </p:sp>
      <p:sp>
        <p:nvSpPr>
          <p:cNvPr id="742" name="Google Shape;742;p21"/>
          <p:cNvSpPr/>
          <p:nvPr/>
        </p:nvSpPr>
        <p:spPr>
          <a:xfrm>
            <a:off x="228600" y="804672"/>
            <a:ext cx="2331600" cy="1783200"/>
          </a:xfrm>
          <a:prstGeom prst="rect">
            <a:avLst/>
          </a:prstGeom>
          <a:solidFill>
            <a:srgbClr val="504000"/>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3" name="Google Shape;743;p21"/>
          <p:cNvSpPr/>
          <p:nvPr/>
        </p:nvSpPr>
        <p:spPr>
          <a:xfrm>
            <a:off x="228600" y="804672"/>
            <a:ext cx="2331600" cy="274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4" name="Google Shape;744;p21"/>
          <p:cNvSpPr txBox="1"/>
          <p:nvPr/>
        </p:nvSpPr>
        <p:spPr>
          <a:xfrm>
            <a:off x="228600" y="841248"/>
            <a:ext cx="23316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HYPOTHESIZED</a:t>
            </a:r>
            <a:endParaRPr b="0" i="0" sz="1400" u="none" cap="none" strike="noStrike">
              <a:solidFill>
                <a:srgbClr val="000000"/>
              </a:solidFill>
              <a:latin typeface="Arial"/>
              <a:ea typeface="Arial"/>
              <a:cs typeface="Arial"/>
              <a:sym typeface="Arial"/>
            </a:endParaRPr>
          </a:p>
        </p:txBody>
      </p:sp>
      <p:sp>
        <p:nvSpPr>
          <p:cNvPr id="745" name="Google Shape;745;p21"/>
          <p:cNvSpPr txBox="1"/>
          <p:nvPr/>
        </p:nvSpPr>
        <p:spPr>
          <a:xfrm>
            <a:off x="320040" y="1152144"/>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Commander inferred a possible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from ASG Vulnerability nodes.</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Not yet tested.</a:t>
            </a:r>
            <a:endParaRPr b="0" i="0" sz="1400" u="none" cap="none" strike="noStrike">
              <a:solidFill>
                <a:srgbClr val="000000"/>
              </a:solidFill>
              <a:latin typeface="Arial"/>
              <a:ea typeface="Arial"/>
              <a:cs typeface="Arial"/>
              <a:sym typeface="Arial"/>
            </a:endParaRPr>
          </a:p>
        </p:txBody>
      </p:sp>
      <p:cxnSp>
        <p:nvCxnSpPr>
          <p:cNvPr id="746" name="Google Shape;746;p21"/>
          <p:cNvCxnSpPr/>
          <p:nvPr/>
        </p:nvCxnSpPr>
        <p:spPr>
          <a:xfrm>
            <a:off x="2560320" y="0"/>
            <a:ext cx="237600" cy="0"/>
          </a:xfrm>
          <a:prstGeom prst="straightConnector1">
            <a:avLst/>
          </a:prstGeom>
          <a:noFill/>
          <a:ln cap="flat" cmpd="sng" w="22850">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747" name="Google Shape;747;p21"/>
          <p:cNvSpPr/>
          <p:nvPr/>
        </p:nvSpPr>
        <p:spPr>
          <a:xfrm>
            <a:off x="2798064" y="804672"/>
            <a:ext cx="2331600" cy="1783200"/>
          </a:xfrm>
          <a:prstGeom prst="rect">
            <a:avLst/>
          </a:prstGeom>
          <a:solidFill>
            <a:srgbClr val="284008"/>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8" name="Google Shape;748;p21"/>
          <p:cNvSpPr/>
          <p:nvPr/>
        </p:nvSpPr>
        <p:spPr>
          <a:xfrm>
            <a:off x="2798064" y="804672"/>
            <a:ext cx="2331600" cy="27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9" name="Google Shape;749;p21"/>
          <p:cNvSpPr txBox="1"/>
          <p:nvPr/>
        </p:nvSpPr>
        <p:spPr>
          <a:xfrm>
            <a:off x="2798075" y="841249"/>
            <a:ext cx="2331600" cy="453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PARTIALLY VALIDATED</a:t>
            </a:r>
            <a:br>
              <a:rPr b="1" i="0" lang="en-US" sz="950" u="none" cap="none" strike="noStrike">
                <a:solidFill>
                  <a:srgbClr val="0A0D1A"/>
                </a:solidFill>
                <a:latin typeface="Calibri"/>
                <a:ea typeface="Calibri"/>
                <a:cs typeface="Calibri"/>
                <a:sym typeface="Calibri"/>
              </a:rPr>
            </a:br>
            <a:endParaRPr b="0" i="0" sz="1400" u="none" cap="none" strike="noStrike">
              <a:solidFill>
                <a:srgbClr val="000000"/>
              </a:solidFill>
              <a:latin typeface="Arial"/>
              <a:ea typeface="Arial"/>
              <a:cs typeface="Arial"/>
              <a:sym typeface="Arial"/>
            </a:endParaRPr>
          </a:p>
        </p:txBody>
      </p:sp>
      <p:sp>
        <p:nvSpPr>
          <p:cNvPr id="750" name="Google Shape;750;p21"/>
          <p:cNvSpPr txBox="1"/>
          <p:nvPr/>
        </p:nvSpPr>
        <p:spPr>
          <a:xfrm>
            <a:off x="2889504" y="1152144"/>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One or more ChainSteps confirmed.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not complete end-to-end.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Validation in progress.</a:t>
            </a:r>
            <a:endParaRPr b="0" i="0" sz="1400" u="none" cap="none" strike="noStrike">
              <a:solidFill>
                <a:srgbClr val="000000"/>
              </a:solidFill>
              <a:latin typeface="Arial"/>
              <a:ea typeface="Arial"/>
              <a:cs typeface="Arial"/>
              <a:sym typeface="Arial"/>
            </a:endParaRPr>
          </a:p>
        </p:txBody>
      </p:sp>
      <p:sp>
        <p:nvSpPr>
          <p:cNvPr id="751" name="Google Shape;751;p21"/>
          <p:cNvSpPr/>
          <p:nvPr/>
        </p:nvSpPr>
        <p:spPr>
          <a:xfrm>
            <a:off x="5038344" y="1531620"/>
            <a:ext cx="329100" cy="329100"/>
          </a:xfrm>
          <a:prstGeom prst="rect">
            <a:avLst/>
          </a:prstGeom>
          <a:solidFill>
            <a:srgbClr val="FFD700"/>
          </a:solidFill>
          <a:ln cap="flat" cmpd="sng" w="95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752" name="Google Shape;752;p21"/>
          <p:cNvCxnSpPr/>
          <p:nvPr/>
        </p:nvCxnSpPr>
        <p:spPr>
          <a:xfrm rot="10800000">
            <a:off x="5038284" y="0"/>
            <a:ext cx="91500" cy="0"/>
          </a:xfrm>
          <a:prstGeom prst="straightConnector1">
            <a:avLst/>
          </a:prstGeom>
          <a:noFill/>
          <a:ln cap="flat" cmpd="sng" w="22850">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753" name="Google Shape;753;p21"/>
          <p:cNvSpPr/>
          <p:nvPr/>
        </p:nvSpPr>
        <p:spPr>
          <a:xfrm>
            <a:off x="7024155" y="804610"/>
            <a:ext cx="2331600" cy="1783200"/>
          </a:xfrm>
          <a:prstGeom prst="rect">
            <a:avLst/>
          </a:prstGeom>
          <a:solidFill>
            <a:srgbClr val="06280E"/>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4" name="Google Shape;754;p21"/>
          <p:cNvSpPr/>
          <p:nvPr/>
        </p:nvSpPr>
        <p:spPr>
          <a:xfrm>
            <a:off x="7024155" y="804610"/>
            <a:ext cx="2331600" cy="27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5" name="Google Shape;755;p21"/>
          <p:cNvSpPr txBox="1"/>
          <p:nvPr/>
        </p:nvSpPr>
        <p:spPr>
          <a:xfrm>
            <a:off x="7024155" y="841186"/>
            <a:ext cx="23316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756" name="Google Shape;756;p21"/>
          <p:cNvSpPr txBox="1"/>
          <p:nvPr/>
        </p:nvSpPr>
        <p:spPr>
          <a:xfrm>
            <a:off x="7115595" y="115208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All ChainSteps confirmed with</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linked Evidence. Impact demonstrated.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Mission success for this chain.</a:t>
            </a:r>
            <a:endParaRPr b="0" i="0" sz="1400" u="none" cap="none" strike="noStrike">
              <a:solidFill>
                <a:srgbClr val="000000"/>
              </a:solidFill>
              <a:latin typeface="Arial"/>
              <a:ea typeface="Arial"/>
              <a:cs typeface="Arial"/>
              <a:sym typeface="Arial"/>
            </a:endParaRPr>
          </a:p>
        </p:txBody>
      </p:sp>
      <p:cxnSp>
        <p:nvCxnSpPr>
          <p:cNvPr id="757" name="Google Shape;757;p21"/>
          <p:cNvCxnSpPr/>
          <p:nvPr/>
        </p:nvCxnSpPr>
        <p:spPr>
          <a:xfrm>
            <a:off x="5367528" y="0"/>
            <a:ext cx="73200" cy="0"/>
          </a:xfrm>
          <a:prstGeom prst="straightConnector1">
            <a:avLst/>
          </a:prstGeom>
          <a:noFill/>
          <a:ln cap="flat" cmpd="sng" w="2285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758" name="Google Shape;758;p21"/>
          <p:cNvSpPr txBox="1"/>
          <p:nvPr/>
        </p:nvSpPr>
        <p:spPr>
          <a:xfrm>
            <a:off x="5528266" y="1395403"/>
            <a:ext cx="109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39FF14"/>
                </a:solidFill>
                <a:latin typeface="Calibri"/>
                <a:ea typeface="Calibri"/>
                <a:cs typeface="Calibri"/>
                <a:sym typeface="Calibri"/>
              </a:rPr>
              <a:t>chain succeeds</a:t>
            </a:r>
            <a:endParaRPr b="0" i="0" sz="1400" u="none" cap="none" strike="noStrike">
              <a:solidFill>
                <a:srgbClr val="000000"/>
              </a:solidFill>
              <a:latin typeface="Arial"/>
              <a:ea typeface="Arial"/>
              <a:cs typeface="Arial"/>
              <a:sym typeface="Arial"/>
            </a:endParaRPr>
          </a:p>
        </p:txBody>
      </p:sp>
      <p:sp>
        <p:nvSpPr>
          <p:cNvPr id="759" name="Google Shape;759;p21"/>
          <p:cNvSpPr/>
          <p:nvPr/>
        </p:nvSpPr>
        <p:spPr>
          <a:xfrm>
            <a:off x="9558355" y="804609"/>
            <a:ext cx="2331600" cy="1783200"/>
          </a:xfrm>
          <a:prstGeom prst="rect">
            <a:avLst/>
          </a:prstGeom>
          <a:solidFill>
            <a:srgbClr val="280808"/>
          </a:solidFill>
          <a:ln cap="flat" cmpd="sng" w="254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0" name="Google Shape;760;p21"/>
          <p:cNvSpPr/>
          <p:nvPr/>
        </p:nvSpPr>
        <p:spPr>
          <a:xfrm>
            <a:off x="9558350" y="813913"/>
            <a:ext cx="2331600" cy="274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1" name="Google Shape;761;p21"/>
          <p:cNvSpPr txBox="1"/>
          <p:nvPr/>
        </p:nvSpPr>
        <p:spPr>
          <a:xfrm>
            <a:off x="9893950" y="804613"/>
            <a:ext cx="15543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RULED_OUT</a:t>
            </a:r>
            <a:endParaRPr b="0" i="0" sz="1400" u="none" cap="none" strike="noStrike">
              <a:solidFill>
                <a:srgbClr val="000000"/>
              </a:solidFill>
              <a:latin typeface="Arial"/>
              <a:ea typeface="Arial"/>
              <a:cs typeface="Arial"/>
              <a:sym typeface="Arial"/>
            </a:endParaRPr>
          </a:p>
        </p:txBody>
      </p:sp>
      <p:sp>
        <p:nvSpPr>
          <p:cNvPr id="762" name="Google Shape;762;p21"/>
          <p:cNvSpPr txBox="1"/>
          <p:nvPr/>
        </p:nvSpPr>
        <p:spPr>
          <a:xfrm>
            <a:off x="9640545" y="118873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 required ChainStep failed after</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max retries. Chain not exploitable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as hypothesized. Commander re-plans.</a:t>
            </a:r>
            <a:endParaRPr b="0" i="0" sz="1400" u="none" cap="none" strike="noStrike">
              <a:solidFill>
                <a:srgbClr val="000000"/>
              </a:solidFill>
              <a:latin typeface="Arial"/>
              <a:ea typeface="Arial"/>
              <a:cs typeface="Arial"/>
              <a:sym typeface="Arial"/>
            </a:endParaRPr>
          </a:p>
        </p:txBody>
      </p:sp>
      <p:cxnSp>
        <p:nvCxnSpPr>
          <p:cNvPr id="763" name="Google Shape;763;p21"/>
          <p:cNvCxnSpPr/>
          <p:nvPr/>
        </p:nvCxnSpPr>
        <p:spPr>
          <a:xfrm>
            <a:off x="5367528" y="0"/>
            <a:ext cx="73200" cy="0"/>
          </a:xfrm>
          <a:prstGeom prst="straightConnector1">
            <a:avLst/>
          </a:prstGeom>
          <a:noFill/>
          <a:ln cap="flat" cmpd="sng" w="22850">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764" name="Google Shape;764;p21"/>
          <p:cNvSpPr txBox="1"/>
          <p:nvPr/>
        </p:nvSpPr>
        <p:spPr>
          <a:xfrm>
            <a:off x="7834529" y="2775468"/>
            <a:ext cx="12345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FF4545"/>
                </a:solidFill>
                <a:latin typeface="Calibri"/>
                <a:ea typeface="Calibri"/>
                <a:cs typeface="Calibri"/>
                <a:sym typeface="Calibri"/>
              </a:rPr>
              <a:t>step fails after cap</a:t>
            </a:r>
            <a:endParaRPr b="0" i="0" sz="1400" u="none" cap="none" strike="noStrike">
              <a:solidFill>
                <a:srgbClr val="000000"/>
              </a:solidFill>
              <a:latin typeface="Arial"/>
              <a:ea typeface="Arial"/>
              <a:cs typeface="Arial"/>
              <a:sym typeface="Arial"/>
            </a:endParaRPr>
          </a:p>
        </p:txBody>
      </p:sp>
      <p:sp>
        <p:nvSpPr>
          <p:cNvPr id="765" name="Google Shape;765;p21"/>
          <p:cNvSpPr/>
          <p:nvPr/>
        </p:nvSpPr>
        <p:spPr>
          <a:xfrm>
            <a:off x="211779" y="3630170"/>
            <a:ext cx="7132200" cy="1755600"/>
          </a:xfrm>
          <a:prstGeom prst="rect">
            <a:avLst/>
          </a:prstGeom>
          <a:solidFill>
            <a:srgbClr val="080C1E"/>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6" name="Google Shape;766;p21"/>
          <p:cNvSpPr/>
          <p:nvPr/>
        </p:nvSpPr>
        <p:spPr>
          <a:xfrm>
            <a:off x="211779" y="3630170"/>
            <a:ext cx="7132200" cy="2559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7" name="Google Shape;767;p21"/>
          <p:cNvSpPr txBox="1"/>
          <p:nvPr/>
        </p:nvSpPr>
        <p:spPr>
          <a:xfrm>
            <a:off x="211779" y="3666746"/>
            <a:ext cx="71322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  Validation Agent — Self-Debugging Loop  (on ChainStep failure)</a:t>
            </a:r>
            <a:endParaRPr b="0" i="0" sz="1400" u="none" cap="none" strike="noStrike">
              <a:solidFill>
                <a:srgbClr val="000000"/>
              </a:solidFill>
              <a:latin typeface="Arial"/>
              <a:ea typeface="Arial"/>
              <a:cs typeface="Arial"/>
              <a:sym typeface="Arial"/>
            </a:endParaRPr>
          </a:p>
        </p:txBody>
      </p:sp>
      <p:sp>
        <p:nvSpPr>
          <p:cNvPr id="768" name="Google Shape;768;p21"/>
          <p:cNvSpPr/>
          <p:nvPr/>
        </p:nvSpPr>
        <p:spPr>
          <a:xfrm>
            <a:off x="348940"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9" name="Google Shape;769;p21"/>
          <p:cNvSpPr/>
          <p:nvPr/>
        </p:nvSpPr>
        <p:spPr>
          <a:xfrm>
            <a:off x="348940"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0" name="Google Shape;770;p21"/>
          <p:cNvSpPr txBox="1"/>
          <p:nvPr/>
        </p:nvSpPr>
        <p:spPr>
          <a:xfrm>
            <a:off x="348940"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ATTEMPT</a:t>
            </a:r>
            <a:endParaRPr b="0" i="0" sz="1400" u="none" cap="none" strike="noStrike">
              <a:solidFill>
                <a:srgbClr val="000000"/>
              </a:solidFill>
              <a:latin typeface="Arial"/>
              <a:ea typeface="Arial"/>
              <a:cs typeface="Arial"/>
              <a:sym typeface="Arial"/>
            </a:endParaRPr>
          </a:p>
        </p:txBody>
      </p:sp>
      <p:sp>
        <p:nvSpPr>
          <p:cNvPr id="771" name="Google Shape;771;p21"/>
          <p:cNvSpPr txBox="1"/>
          <p:nvPr/>
        </p:nvSpPr>
        <p:spPr>
          <a:xfrm>
            <a:off x="403804" y="4206242"/>
            <a:ext cx="1337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Execute tool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against target</a:t>
            </a:r>
            <a:endParaRPr b="0" i="0" sz="1400" u="none" cap="none" strike="noStrike">
              <a:solidFill>
                <a:srgbClr val="000000"/>
              </a:solidFill>
              <a:latin typeface="Arial"/>
              <a:ea typeface="Arial"/>
              <a:cs typeface="Arial"/>
              <a:sym typeface="Arial"/>
            </a:endParaRPr>
          </a:p>
        </p:txBody>
      </p:sp>
      <p:sp>
        <p:nvSpPr>
          <p:cNvPr id="772" name="Google Shape;772;p21"/>
          <p:cNvSpPr/>
          <p:nvPr/>
        </p:nvSpPr>
        <p:spPr>
          <a:xfrm>
            <a:off x="1850842"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3" name="Google Shape;773;p21"/>
          <p:cNvSpPr/>
          <p:nvPr/>
        </p:nvSpPr>
        <p:spPr>
          <a:xfrm>
            <a:off x="1850842"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4" name="Google Shape;774;p21"/>
          <p:cNvSpPr txBox="1"/>
          <p:nvPr/>
        </p:nvSpPr>
        <p:spPr>
          <a:xfrm>
            <a:off x="1850842"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DIAGNOSE</a:t>
            </a:r>
            <a:endParaRPr b="0" i="0" sz="1400" u="none" cap="none" strike="noStrike">
              <a:solidFill>
                <a:srgbClr val="000000"/>
              </a:solidFill>
              <a:latin typeface="Arial"/>
              <a:ea typeface="Arial"/>
              <a:cs typeface="Arial"/>
              <a:sym typeface="Arial"/>
            </a:endParaRPr>
          </a:p>
        </p:txBody>
      </p:sp>
      <p:sp>
        <p:nvSpPr>
          <p:cNvPr id="775" name="Google Shape;775;p21"/>
          <p:cNvSpPr txBox="1"/>
          <p:nvPr/>
        </p:nvSpPr>
        <p:spPr>
          <a:xfrm>
            <a:off x="1905706"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Analyze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wrong param · auth</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version mismatch</a:t>
            </a:r>
            <a:endParaRPr b="0" i="0" sz="1400" u="none" cap="none" strike="noStrike">
              <a:solidFill>
                <a:srgbClr val="000000"/>
              </a:solidFill>
              <a:latin typeface="Arial"/>
              <a:ea typeface="Arial"/>
              <a:cs typeface="Arial"/>
              <a:sym typeface="Arial"/>
            </a:endParaRPr>
          </a:p>
        </p:txBody>
      </p:sp>
      <p:cxnSp>
        <p:nvCxnSpPr>
          <p:cNvPr id="776" name="Google Shape;776;p21"/>
          <p:cNvCxnSpPr/>
          <p:nvPr/>
        </p:nvCxnSpPr>
        <p:spPr>
          <a:xfrm>
            <a:off x="0" y="0"/>
            <a:ext cx="0" cy="0"/>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777" name="Google Shape;777;p21"/>
          <p:cNvSpPr/>
          <p:nvPr/>
        </p:nvSpPr>
        <p:spPr>
          <a:xfrm>
            <a:off x="3352743" y="3950210"/>
            <a:ext cx="1428900" cy="1371600"/>
          </a:xfrm>
          <a:prstGeom prst="rect">
            <a:avLst/>
          </a:prstGeom>
          <a:solidFill>
            <a:srgbClr val="101428"/>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8" name="Google Shape;778;p21"/>
          <p:cNvSpPr/>
          <p:nvPr/>
        </p:nvSpPr>
        <p:spPr>
          <a:xfrm>
            <a:off x="3352743" y="3950210"/>
            <a:ext cx="1428900" cy="2196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9" name="Google Shape;779;p21"/>
          <p:cNvSpPr txBox="1"/>
          <p:nvPr/>
        </p:nvSpPr>
        <p:spPr>
          <a:xfrm>
            <a:off x="3352743"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CONTEXTUALIZE</a:t>
            </a:r>
            <a:endParaRPr b="0" i="0" sz="1400" u="none" cap="none" strike="noStrike">
              <a:solidFill>
                <a:srgbClr val="000000"/>
              </a:solidFill>
              <a:latin typeface="Arial"/>
              <a:ea typeface="Arial"/>
              <a:cs typeface="Arial"/>
              <a:sym typeface="Arial"/>
            </a:endParaRPr>
          </a:p>
        </p:txBody>
      </p:sp>
      <p:sp>
        <p:nvSpPr>
          <p:cNvPr id="780" name="Google Shape;780;p21"/>
          <p:cNvSpPr txBox="1"/>
          <p:nvPr/>
        </p:nvSpPr>
        <p:spPr>
          <a:xfrm>
            <a:off x="3407607"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Query ASG for</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additional node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attributes</a:t>
            </a:r>
            <a:endParaRPr b="0" i="0" sz="1400" u="none" cap="none" strike="noStrike">
              <a:solidFill>
                <a:srgbClr val="000000"/>
              </a:solidFill>
              <a:latin typeface="Arial"/>
              <a:ea typeface="Arial"/>
              <a:cs typeface="Arial"/>
              <a:sym typeface="Arial"/>
            </a:endParaRPr>
          </a:p>
        </p:txBody>
      </p:sp>
      <p:cxnSp>
        <p:nvCxnSpPr>
          <p:cNvPr id="781" name="Google Shape;781;p21"/>
          <p:cNvCxnSpPr/>
          <p:nvPr/>
        </p:nvCxnSpPr>
        <p:spPr>
          <a:xfrm>
            <a:off x="0" y="0"/>
            <a:ext cx="0" cy="0"/>
          </a:xfrm>
          <a:prstGeom prst="straightConnector1">
            <a:avLst/>
          </a:prstGeom>
          <a:noFill/>
          <a:ln cap="flat" cmpd="sng" w="15225">
            <a:solidFill>
              <a:srgbClr val="00E5FF"/>
            </a:solidFill>
            <a:prstDash val="solid"/>
            <a:round/>
            <a:headEnd len="med" w="med" type="stealth"/>
            <a:tailEnd len="sm" w="sm" type="none"/>
          </a:ln>
          <a:effectLst>
            <a:outerShdw blurRad="40000" rotWithShape="0" dir="5400000" dist="20000">
              <a:srgbClr val="000000">
                <a:alpha val="38040"/>
              </a:srgbClr>
            </a:outerShdw>
          </a:effectLst>
        </p:spPr>
      </p:cxnSp>
      <p:sp>
        <p:nvSpPr>
          <p:cNvPr id="782" name="Google Shape;782;p21"/>
          <p:cNvSpPr/>
          <p:nvPr/>
        </p:nvSpPr>
        <p:spPr>
          <a:xfrm>
            <a:off x="4854646" y="3950210"/>
            <a:ext cx="1428900" cy="1371600"/>
          </a:xfrm>
          <a:prstGeom prst="rect">
            <a:avLst/>
          </a:prstGeom>
          <a:solidFill>
            <a:srgbClr val="101428"/>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3" name="Google Shape;783;p21"/>
          <p:cNvSpPr/>
          <p:nvPr/>
        </p:nvSpPr>
        <p:spPr>
          <a:xfrm>
            <a:off x="4854646" y="3950210"/>
            <a:ext cx="1428900" cy="2196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4" name="Google Shape;784;p21"/>
          <p:cNvSpPr txBox="1"/>
          <p:nvPr/>
        </p:nvSpPr>
        <p:spPr>
          <a:xfrm>
            <a:off x="4854646"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ADAPT</a:t>
            </a:r>
            <a:endParaRPr b="0" i="0" sz="1400" u="none" cap="none" strike="noStrike">
              <a:solidFill>
                <a:srgbClr val="000000"/>
              </a:solidFill>
              <a:latin typeface="Arial"/>
              <a:ea typeface="Arial"/>
              <a:cs typeface="Arial"/>
              <a:sym typeface="Arial"/>
            </a:endParaRPr>
          </a:p>
        </p:txBody>
      </p:sp>
      <p:sp>
        <p:nvSpPr>
          <p:cNvPr id="785" name="Google Shape;785;p21"/>
          <p:cNvSpPr txBox="1"/>
          <p:nvPr/>
        </p:nvSpPr>
        <p:spPr>
          <a:xfrm>
            <a:off x="4909510"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Modify tool call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based on diagnosis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context</a:t>
            </a:r>
            <a:endParaRPr b="0" i="0" sz="1400" u="none" cap="none" strike="noStrike">
              <a:solidFill>
                <a:srgbClr val="000000"/>
              </a:solidFill>
              <a:latin typeface="Arial"/>
              <a:ea typeface="Arial"/>
              <a:cs typeface="Arial"/>
              <a:sym typeface="Arial"/>
            </a:endParaRPr>
          </a:p>
        </p:txBody>
      </p:sp>
      <p:cxnSp>
        <p:nvCxnSpPr>
          <p:cNvPr id="786" name="Google Shape;786;p21"/>
          <p:cNvCxnSpPr/>
          <p:nvPr/>
        </p:nvCxnSpPr>
        <p:spPr>
          <a:xfrm>
            <a:off x="0" y="0"/>
            <a:ext cx="0" cy="0"/>
          </a:xfrm>
          <a:prstGeom prst="straightConnector1">
            <a:avLst/>
          </a:prstGeom>
          <a:noFill/>
          <a:ln cap="flat" cmpd="sng" w="15225">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787" name="Google Shape;787;p21"/>
          <p:cNvSpPr/>
          <p:nvPr/>
        </p:nvSpPr>
        <p:spPr>
          <a:xfrm>
            <a:off x="6356548" y="3950210"/>
            <a:ext cx="850500" cy="1371600"/>
          </a:xfrm>
          <a:prstGeom prst="rect">
            <a:avLst/>
          </a:prstGeom>
          <a:solidFill>
            <a:srgbClr val="220808"/>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8" name="Google Shape;788;p21"/>
          <p:cNvSpPr/>
          <p:nvPr/>
        </p:nvSpPr>
        <p:spPr>
          <a:xfrm>
            <a:off x="6356548" y="3950210"/>
            <a:ext cx="850500" cy="219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9" name="Google Shape;789;p21"/>
          <p:cNvSpPr txBox="1"/>
          <p:nvPr/>
        </p:nvSpPr>
        <p:spPr>
          <a:xfrm>
            <a:off x="6356548" y="3977642"/>
            <a:ext cx="8505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CAP  (×3 max)</a:t>
            </a:r>
            <a:endParaRPr b="0" i="0" sz="1400" u="none" cap="none" strike="noStrike">
              <a:solidFill>
                <a:srgbClr val="000000"/>
              </a:solidFill>
              <a:latin typeface="Arial"/>
              <a:ea typeface="Arial"/>
              <a:cs typeface="Arial"/>
              <a:sym typeface="Arial"/>
            </a:endParaRPr>
          </a:p>
        </p:txBody>
      </p:sp>
      <p:cxnSp>
        <p:nvCxnSpPr>
          <p:cNvPr id="790" name="Google Shape;790;p21"/>
          <p:cNvCxnSpPr/>
          <p:nvPr/>
        </p:nvCxnSpPr>
        <p:spPr>
          <a:xfrm>
            <a:off x="0" y="0"/>
            <a:ext cx="0" cy="0"/>
          </a:xfrm>
          <a:prstGeom prst="straightConnector1">
            <a:avLst/>
          </a:prstGeom>
          <a:noFill/>
          <a:ln cap="flat" cmpd="sng" w="15225">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791" name="Google Shape;791;p21"/>
          <p:cNvSpPr txBox="1"/>
          <p:nvPr/>
        </p:nvSpPr>
        <p:spPr>
          <a:xfrm>
            <a:off x="6411411" y="4206242"/>
            <a:ext cx="7590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Mark ChainStep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RULED_OUT</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Write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to ASG node</a:t>
            </a:r>
            <a:endParaRPr b="0" i="0" sz="1400" u="none" cap="none" strike="noStrike">
              <a:solidFill>
                <a:srgbClr val="000000"/>
              </a:solidFill>
              <a:latin typeface="Arial"/>
              <a:ea typeface="Arial"/>
              <a:cs typeface="Arial"/>
              <a:sym typeface="Arial"/>
            </a:endParaRPr>
          </a:p>
        </p:txBody>
      </p:sp>
      <p:cxnSp>
        <p:nvCxnSpPr>
          <p:cNvPr id="792" name="Google Shape;792;p21"/>
          <p:cNvCxnSpPr/>
          <p:nvPr/>
        </p:nvCxnSpPr>
        <p:spPr>
          <a:xfrm>
            <a:off x="0" y="6537960"/>
            <a:ext cx="0" cy="0"/>
          </a:xfrm>
          <a:prstGeom prst="straightConnector1">
            <a:avLst/>
          </a:prstGeom>
          <a:noFill/>
          <a:ln cap="flat" cmpd="sng" w="1270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793" name="Google Shape;793;p21"/>
          <p:cNvSpPr txBox="1"/>
          <p:nvPr/>
        </p:nvSpPr>
        <p:spPr>
          <a:xfrm>
            <a:off x="1777839" y="5417023"/>
            <a:ext cx="22860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39FF14"/>
                </a:solidFill>
                <a:latin typeface="Calibri"/>
                <a:ea typeface="Calibri"/>
                <a:cs typeface="Calibri"/>
                <a:sym typeface="Calibri"/>
              </a:rPr>
              <a:t>retry (up to cap)</a:t>
            </a:r>
            <a:endParaRPr b="0" i="0" sz="1400" u="none" cap="none" strike="noStrike">
              <a:solidFill>
                <a:srgbClr val="000000"/>
              </a:solidFill>
              <a:latin typeface="Arial"/>
              <a:ea typeface="Arial"/>
              <a:cs typeface="Arial"/>
              <a:sym typeface="Arial"/>
            </a:endParaRPr>
          </a:p>
        </p:txBody>
      </p:sp>
      <p:sp>
        <p:nvSpPr>
          <p:cNvPr id="794" name="Google Shape;794;p21"/>
          <p:cNvSpPr/>
          <p:nvPr/>
        </p:nvSpPr>
        <p:spPr>
          <a:xfrm>
            <a:off x="7435475" y="3630175"/>
            <a:ext cx="4620600" cy="2965200"/>
          </a:xfrm>
          <a:prstGeom prst="rect">
            <a:avLst/>
          </a:prstGeom>
          <a:solidFill>
            <a:srgbClr val="0E0C04"/>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5" name="Google Shape;795;p21"/>
          <p:cNvSpPr/>
          <p:nvPr/>
        </p:nvSpPr>
        <p:spPr>
          <a:xfrm>
            <a:off x="7435540" y="3630170"/>
            <a:ext cx="4620600" cy="2559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6" name="Google Shape;796;p21"/>
          <p:cNvSpPr txBox="1"/>
          <p:nvPr/>
        </p:nvSpPr>
        <p:spPr>
          <a:xfrm>
            <a:off x="7435540" y="3666746"/>
            <a:ext cx="46206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Risk Score + Chain Priority</a:t>
            </a:r>
            <a:endParaRPr b="0" i="0" sz="1400" u="none" cap="none" strike="noStrike">
              <a:solidFill>
                <a:srgbClr val="000000"/>
              </a:solidFill>
              <a:latin typeface="Arial"/>
              <a:ea typeface="Arial"/>
              <a:cs typeface="Arial"/>
              <a:sym typeface="Arial"/>
            </a:endParaRPr>
          </a:p>
        </p:txBody>
      </p:sp>
      <p:sp>
        <p:nvSpPr>
          <p:cNvPr id="797" name="Google Shape;797;p21"/>
          <p:cNvSpPr txBox="1"/>
          <p:nvPr/>
        </p:nvSpPr>
        <p:spPr>
          <a:xfrm>
            <a:off x="7526980" y="3941066"/>
            <a:ext cx="44559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risk_score = CVSS × Exploitability × Impact</a:t>
            </a:r>
            <a:endParaRPr b="0" i="0" sz="1400" u="none" cap="none" strike="noStrike">
              <a:solidFill>
                <a:srgbClr val="000000"/>
              </a:solidFill>
              <a:latin typeface="Arial"/>
              <a:ea typeface="Arial"/>
              <a:cs typeface="Arial"/>
              <a:sym typeface="Arial"/>
            </a:endParaRPr>
          </a:p>
        </p:txBody>
      </p:sp>
      <p:sp>
        <p:nvSpPr>
          <p:cNvPr id="798" name="Google Shape;798;p21"/>
          <p:cNvSpPr txBox="1"/>
          <p:nvPr/>
        </p:nvSpPr>
        <p:spPr>
          <a:xfrm>
            <a:off x="7526980" y="4215386"/>
            <a:ext cx="44559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Priority = rank across all HYPOTHESIZED + PARTIALLY_VALIDATED chains.</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Commander pursues highest-priority chain first — re-ranks on every status change.</a:t>
            </a:r>
            <a:endParaRPr b="0" i="0" sz="1400" u="none" cap="none" strike="noStrike">
              <a:solidFill>
                <a:srgbClr val="000000"/>
              </a:solidFill>
              <a:latin typeface="Arial"/>
              <a:ea typeface="Arial"/>
              <a:cs typeface="Arial"/>
              <a:sym typeface="Arial"/>
            </a:endParaRPr>
          </a:p>
        </p:txBody>
      </p:sp>
      <p:sp>
        <p:nvSpPr>
          <p:cNvPr id="799" name="Google Shape;799;p21"/>
          <p:cNvSpPr/>
          <p:nvPr/>
        </p:nvSpPr>
        <p:spPr>
          <a:xfrm>
            <a:off x="7526980" y="4745738"/>
            <a:ext cx="4455900" cy="237600"/>
          </a:xfrm>
          <a:prstGeom prst="rect">
            <a:avLst/>
          </a:prstGeom>
          <a:solidFill>
            <a:srgbClr val="22180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0" name="Google Shape;800;p21"/>
          <p:cNvSpPr txBox="1"/>
          <p:nvPr/>
        </p:nvSpPr>
        <p:spPr>
          <a:xfrm>
            <a:off x="7563556" y="4773170"/>
            <a:ext cx="43920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D700"/>
                </a:solidFill>
                <a:latin typeface="Calibri"/>
                <a:ea typeface="Calibri"/>
                <a:cs typeface="Calibri"/>
                <a:sym typeface="Calibri"/>
              </a:rPr>
              <a:t>shopvault.io  —  APG Chain Priority Order</a:t>
            </a:r>
            <a:endParaRPr b="0" i="0" sz="1400" u="none" cap="none" strike="noStrike">
              <a:solidFill>
                <a:srgbClr val="000000"/>
              </a:solidFill>
              <a:latin typeface="Arial"/>
              <a:ea typeface="Arial"/>
              <a:cs typeface="Arial"/>
              <a:sym typeface="Arial"/>
            </a:endParaRPr>
          </a:p>
        </p:txBody>
      </p:sp>
      <p:sp>
        <p:nvSpPr>
          <p:cNvPr id="801" name="Google Shape;801;p21"/>
          <p:cNvSpPr/>
          <p:nvPr/>
        </p:nvSpPr>
        <p:spPr>
          <a:xfrm>
            <a:off x="7526980" y="5020058"/>
            <a:ext cx="4455900" cy="347400"/>
          </a:xfrm>
          <a:prstGeom prst="rect">
            <a:avLst/>
          </a:prstGeom>
          <a:solidFill>
            <a:srgbClr val="18120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2" name="Google Shape;802;p21"/>
          <p:cNvSpPr txBox="1"/>
          <p:nvPr/>
        </p:nvSpPr>
        <p:spPr>
          <a:xfrm>
            <a:off x="7563556" y="507492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4545"/>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803" name="Google Shape;803;p21"/>
          <p:cNvSpPr txBox="1"/>
          <p:nvPr/>
        </p:nvSpPr>
        <p:spPr>
          <a:xfrm>
            <a:off x="7783012" y="507492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Chain-01  —  CVE-2022-21661 SQLi → RCE</a:t>
            </a:r>
            <a:endParaRPr b="0" i="0" sz="1400" u="none" cap="none" strike="noStrike">
              <a:solidFill>
                <a:srgbClr val="000000"/>
              </a:solidFill>
              <a:latin typeface="Arial"/>
              <a:ea typeface="Arial"/>
              <a:cs typeface="Arial"/>
              <a:sym typeface="Arial"/>
            </a:endParaRPr>
          </a:p>
        </p:txBody>
      </p:sp>
      <p:sp>
        <p:nvSpPr>
          <p:cNvPr id="804" name="Google Shape;804;p21"/>
          <p:cNvSpPr txBox="1"/>
          <p:nvPr/>
        </p:nvSpPr>
        <p:spPr>
          <a:xfrm>
            <a:off x="11553083" y="507492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4545"/>
                </a:solidFill>
                <a:latin typeface="Calibri"/>
                <a:ea typeface="Calibri"/>
                <a:cs typeface="Calibri"/>
                <a:sym typeface="Calibri"/>
              </a:rPr>
              <a:t>9.1</a:t>
            </a:r>
            <a:endParaRPr b="0" i="0" sz="1400" u="none" cap="none" strike="noStrike">
              <a:solidFill>
                <a:srgbClr val="000000"/>
              </a:solidFill>
              <a:latin typeface="Arial"/>
              <a:ea typeface="Arial"/>
              <a:cs typeface="Arial"/>
              <a:sym typeface="Arial"/>
            </a:endParaRPr>
          </a:p>
        </p:txBody>
      </p:sp>
      <p:sp>
        <p:nvSpPr>
          <p:cNvPr id="805" name="Google Shape;805;p21"/>
          <p:cNvSpPr/>
          <p:nvPr/>
        </p:nvSpPr>
        <p:spPr>
          <a:xfrm>
            <a:off x="7526980" y="5385818"/>
            <a:ext cx="4455900" cy="347400"/>
          </a:xfrm>
          <a:prstGeom prst="rect">
            <a:avLst/>
          </a:prstGeom>
          <a:solidFill>
            <a:srgbClr val="120C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6" name="Google Shape;806;p21"/>
          <p:cNvSpPr txBox="1"/>
          <p:nvPr/>
        </p:nvSpPr>
        <p:spPr>
          <a:xfrm>
            <a:off x="7563556" y="544068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807" name="Google Shape;807;p21"/>
          <p:cNvSpPr txBox="1"/>
          <p:nvPr/>
        </p:nvSpPr>
        <p:spPr>
          <a:xfrm>
            <a:off x="7783012" y="544068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Chain-03  —  Blind SQLi on staging → DB creds</a:t>
            </a:r>
            <a:endParaRPr b="0" i="0" sz="1400" u="none" cap="none" strike="noStrike">
              <a:solidFill>
                <a:srgbClr val="000000"/>
              </a:solidFill>
              <a:latin typeface="Arial"/>
              <a:ea typeface="Arial"/>
              <a:cs typeface="Arial"/>
              <a:sym typeface="Arial"/>
            </a:endParaRPr>
          </a:p>
        </p:txBody>
      </p:sp>
      <p:sp>
        <p:nvSpPr>
          <p:cNvPr id="808" name="Google Shape;808;p21"/>
          <p:cNvSpPr txBox="1"/>
          <p:nvPr/>
        </p:nvSpPr>
        <p:spPr>
          <a:xfrm>
            <a:off x="11553083" y="544068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8.1</a:t>
            </a:r>
            <a:endParaRPr b="0" i="0" sz="1400" u="none" cap="none" strike="noStrike">
              <a:solidFill>
                <a:srgbClr val="000000"/>
              </a:solidFill>
              <a:latin typeface="Arial"/>
              <a:ea typeface="Arial"/>
              <a:cs typeface="Arial"/>
              <a:sym typeface="Arial"/>
            </a:endParaRPr>
          </a:p>
        </p:txBody>
      </p:sp>
      <p:sp>
        <p:nvSpPr>
          <p:cNvPr id="809" name="Google Shape;809;p21"/>
          <p:cNvSpPr/>
          <p:nvPr/>
        </p:nvSpPr>
        <p:spPr>
          <a:xfrm>
            <a:off x="7526980" y="5751578"/>
            <a:ext cx="4455900" cy="347400"/>
          </a:xfrm>
          <a:prstGeom prst="rect">
            <a:avLst/>
          </a:prstGeom>
          <a:solidFill>
            <a:srgbClr val="1812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0" name="Google Shape;810;p21"/>
          <p:cNvSpPr txBox="1"/>
          <p:nvPr/>
        </p:nvSpPr>
        <p:spPr>
          <a:xfrm>
            <a:off x="7563556" y="580644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811" name="Google Shape;811;p21"/>
          <p:cNvSpPr txBox="1"/>
          <p:nvPr/>
        </p:nvSpPr>
        <p:spPr>
          <a:xfrm>
            <a:off x="7783012" y="580644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Chain-02  —  IDOR on /api/v1/orders → PII</a:t>
            </a:r>
            <a:endParaRPr b="0" i="0" sz="1400" u="none" cap="none" strike="noStrike">
              <a:solidFill>
                <a:srgbClr val="000000"/>
              </a:solidFill>
              <a:latin typeface="Arial"/>
              <a:ea typeface="Arial"/>
              <a:cs typeface="Arial"/>
              <a:sym typeface="Arial"/>
            </a:endParaRPr>
          </a:p>
        </p:txBody>
      </p:sp>
      <p:sp>
        <p:nvSpPr>
          <p:cNvPr id="812" name="Google Shape;812;p21"/>
          <p:cNvSpPr txBox="1"/>
          <p:nvPr/>
        </p:nvSpPr>
        <p:spPr>
          <a:xfrm>
            <a:off x="11553083" y="580644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7.5</a:t>
            </a:r>
            <a:endParaRPr b="0" i="0" sz="1400" u="none" cap="none" strike="noStrike">
              <a:solidFill>
                <a:srgbClr val="000000"/>
              </a:solidFill>
              <a:latin typeface="Arial"/>
              <a:ea typeface="Arial"/>
              <a:cs typeface="Arial"/>
              <a:sym typeface="Arial"/>
            </a:endParaRPr>
          </a:p>
        </p:txBody>
      </p:sp>
      <p:sp>
        <p:nvSpPr>
          <p:cNvPr id="813" name="Google Shape;813;p21"/>
          <p:cNvSpPr/>
          <p:nvPr/>
        </p:nvSpPr>
        <p:spPr>
          <a:xfrm>
            <a:off x="7526980" y="6117338"/>
            <a:ext cx="4455900" cy="347400"/>
          </a:xfrm>
          <a:prstGeom prst="rect">
            <a:avLst/>
          </a:prstGeom>
          <a:solidFill>
            <a:srgbClr val="120C0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4" name="Google Shape;814;p21"/>
          <p:cNvSpPr txBox="1"/>
          <p:nvPr/>
        </p:nvSpPr>
        <p:spPr>
          <a:xfrm>
            <a:off x="7563556" y="617220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815" name="Google Shape;815;p21"/>
          <p:cNvSpPr txBox="1"/>
          <p:nvPr/>
        </p:nvSpPr>
        <p:spPr>
          <a:xfrm>
            <a:off x="7783012" y="617220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Chain-04  —  Direct DB backup download → PII</a:t>
            </a:r>
            <a:endParaRPr b="0" i="0" sz="1400" u="none" cap="none" strike="noStrike">
              <a:solidFill>
                <a:srgbClr val="000000"/>
              </a:solidFill>
              <a:latin typeface="Arial"/>
              <a:ea typeface="Arial"/>
              <a:cs typeface="Arial"/>
              <a:sym typeface="Arial"/>
            </a:endParaRPr>
          </a:p>
        </p:txBody>
      </p:sp>
      <p:sp>
        <p:nvSpPr>
          <p:cNvPr id="816" name="Google Shape;816;p21"/>
          <p:cNvSpPr txBox="1"/>
          <p:nvPr/>
        </p:nvSpPr>
        <p:spPr>
          <a:xfrm>
            <a:off x="11553083" y="617220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BD93F9"/>
                </a:solidFill>
                <a:latin typeface="Calibri"/>
                <a:ea typeface="Calibri"/>
                <a:cs typeface="Calibri"/>
                <a:sym typeface="Calibri"/>
              </a:rPr>
              <a:t>N/A</a:t>
            </a:r>
            <a:endParaRPr b="0" i="0" sz="1400" u="none" cap="none" strike="noStrike">
              <a:solidFill>
                <a:srgbClr val="000000"/>
              </a:solidFill>
              <a:latin typeface="Arial"/>
              <a:ea typeface="Arial"/>
              <a:cs typeface="Arial"/>
              <a:sym typeface="Arial"/>
            </a:endParaRPr>
          </a:p>
        </p:txBody>
      </p:sp>
      <p:sp>
        <p:nvSpPr>
          <p:cNvPr id="817" name="Google Shape;817;p21"/>
          <p:cNvSpPr txBox="1"/>
          <p:nvPr/>
        </p:nvSpPr>
        <p:spPr>
          <a:xfrm>
            <a:off x="11524920" y="139675"/>
            <a:ext cx="483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09</a:t>
            </a:r>
            <a:endParaRPr b="0" i="0" sz="1400" u="none" cap="none" strike="noStrike">
              <a:solidFill>
                <a:srgbClr val="000000"/>
              </a:solidFill>
              <a:latin typeface="Arial"/>
              <a:ea typeface="Arial"/>
              <a:cs typeface="Arial"/>
              <a:sym typeface="Arial"/>
            </a:endParaRPr>
          </a:p>
        </p:txBody>
      </p:sp>
      <p:cxnSp>
        <p:nvCxnSpPr>
          <p:cNvPr id="818" name="Google Shape;818;p21"/>
          <p:cNvCxnSpPr>
            <a:stCxn id="751" idx="3"/>
          </p:cNvCxnSpPr>
          <p:nvPr/>
        </p:nvCxnSpPr>
        <p:spPr>
          <a:xfrm flipH="1" rot="10800000">
            <a:off x="5367444" y="1669770"/>
            <a:ext cx="1605900" cy="26400"/>
          </a:xfrm>
          <a:prstGeom prst="straightConnector1">
            <a:avLst/>
          </a:prstGeom>
          <a:noFill/>
          <a:ln cap="flat" cmpd="sng" w="9525">
            <a:solidFill>
              <a:srgbClr val="00FF00"/>
            </a:solidFill>
            <a:prstDash val="solid"/>
            <a:round/>
            <a:headEnd len="sm" w="sm" type="none"/>
            <a:tailEnd len="med" w="med" type="triangle"/>
          </a:ln>
        </p:spPr>
      </p:cxnSp>
      <p:cxnSp>
        <p:nvCxnSpPr>
          <p:cNvPr id="819" name="Google Shape;819;p21"/>
          <p:cNvCxnSpPr>
            <a:endCxn id="759" idx="2"/>
          </p:cNvCxnSpPr>
          <p:nvPr/>
        </p:nvCxnSpPr>
        <p:spPr>
          <a:xfrm>
            <a:off x="5202955" y="1860909"/>
            <a:ext cx="5521200" cy="726900"/>
          </a:xfrm>
          <a:prstGeom prst="curvedConnector4">
            <a:avLst>
              <a:gd fmla="val 14188" name="adj1"/>
              <a:gd fmla="val 162989" name="adj2"/>
            </a:avLst>
          </a:prstGeom>
          <a:noFill/>
          <a:ln cap="flat" cmpd="sng" w="9525">
            <a:solidFill>
              <a:srgbClr val="FF0000"/>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823" name="Shape 823"/>
        <p:cNvGrpSpPr/>
        <p:nvPr/>
      </p:nvGrpSpPr>
      <p:grpSpPr>
        <a:xfrm>
          <a:off x="0" y="0"/>
          <a:ext cx="0" cy="0"/>
          <a:chOff x="0" y="0"/>
          <a:chExt cx="0" cy="0"/>
        </a:xfrm>
      </p:grpSpPr>
      <p:sp>
        <p:nvSpPr>
          <p:cNvPr id="824" name="Google Shape;824;p22"/>
          <p:cNvSpPr/>
          <p:nvPr/>
        </p:nvSpPr>
        <p:spPr>
          <a:xfrm>
            <a:off x="0" y="0"/>
            <a:ext cx="54864" cy="68580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5" name="Google Shape;825;p22"/>
          <p:cNvSpPr/>
          <p:nvPr/>
        </p:nvSpPr>
        <p:spPr>
          <a:xfrm>
            <a:off x="54864" y="0"/>
            <a:ext cx="12136831" cy="36576"/>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6" name="Google Shape;826;p22"/>
          <p:cNvSpPr/>
          <p:nvPr/>
        </p:nvSpPr>
        <p:spPr>
          <a:xfrm>
            <a:off x="54864" y="6821424"/>
            <a:ext cx="12136831" cy="36576"/>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7" name="Google Shape;827;p22"/>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CROSS-MISSION LEARNING</a:t>
            </a:r>
            <a:endParaRPr b="0" i="0" sz="1400" u="none" cap="none" strike="noStrike">
              <a:solidFill>
                <a:srgbClr val="000000"/>
              </a:solidFill>
              <a:latin typeface="Arial"/>
              <a:ea typeface="Arial"/>
              <a:cs typeface="Arial"/>
              <a:sym typeface="Arial"/>
            </a:endParaRPr>
          </a:p>
        </p:txBody>
      </p:sp>
      <p:sp>
        <p:nvSpPr>
          <p:cNvPr id="828" name="Google Shape;828;p22"/>
          <p:cNvSpPr txBox="1"/>
          <p:nvPr/>
        </p:nvSpPr>
        <p:spPr>
          <a:xfrm>
            <a:off x="274320" y="347472"/>
            <a:ext cx="11430000" cy="5669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Experience Store + Attack Strategy Library — CMatrix Gets Smarter Each Mission</a:t>
            </a:r>
            <a:endParaRPr b="0" i="0" sz="1400" u="none" cap="none" strike="noStrike">
              <a:solidFill>
                <a:srgbClr val="000000"/>
              </a:solidFill>
              <a:latin typeface="Arial"/>
              <a:ea typeface="Arial"/>
              <a:cs typeface="Arial"/>
              <a:sym typeface="Arial"/>
            </a:endParaRPr>
          </a:p>
        </p:txBody>
      </p:sp>
      <p:sp>
        <p:nvSpPr>
          <p:cNvPr id="829" name="Google Shape;829;p22"/>
          <p:cNvSpPr/>
          <p:nvPr/>
        </p:nvSpPr>
        <p:spPr>
          <a:xfrm>
            <a:off x="274320" y="1005840"/>
            <a:ext cx="2286000" cy="914400"/>
          </a:xfrm>
          <a:prstGeom prst="rect">
            <a:avLst/>
          </a:prstGeom>
          <a:solidFill>
            <a:srgbClr val="061420"/>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0" name="Google Shape;830;p22"/>
          <p:cNvSpPr txBox="1"/>
          <p:nvPr/>
        </p:nvSpPr>
        <p:spPr>
          <a:xfrm>
            <a:off x="411480" y="1143000"/>
            <a:ext cx="2011680" cy="6400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Mission N</a:t>
            </a:r>
            <a:br>
              <a:rPr b="1" i="0" lang="en-US" sz="1300" u="none" cap="none" strike="noStrike">
                <a:solidFill>
                  <a:srgbClr val="00E5FF"/>
                </a:solidFill>
                <a:latin typeface="Calibri"/>
                <a:ea typeface="Calibri"/>
                <a:cs typeface="Calibri"/>
                <a:sym typeface="Calibri"/>
              </a:rPr>
            </a:br>
            <a:r>
              <a:rPr b="1" i="0" lang="en-US" sz="1300" u="none" cap="none" strike="noStrike">
                <a:solidFill>
                  <a:srgbClr val="00E5FF"/>
                </a:solidFill>
                <a:latin typeface="Calibri"/>
                <a:ea typeface="Calibri"/>
                <a:cs typeface="Calibri"/>
                <a:sym typeface="Calibri"/>
              </a:rPr>
              <a:t>(completed)</a:t>
            </a:r>
            <a:endParaRPr b="0" i="0" sz="1400" u="none" cap="none" strike="noStrike">
              <a:solidFill>
                <a:srgbClr val="000000"/>
              </a:solidFill>
              <a:latin typeface="Arial"/>
              <a:ea typeface="Arial"/>
              <a:cs typeface="Arial"/>
              <a:sym typeface="Arial"/>
            </a:endParaRPr>
          </a:p>
        </p:txBody>
      </p:sp>
      <p:cxnSp>
        <p:nvCxnSpPr>
          <p:cNvPr id="831" name="Google Shape;831;p22"/>
          <p:cNvCxnSpPr/>
          <p:nvPr/>
        </p:nvCxnSpPr>
        <p:spPr>
          <a:xfrm>
            <a:off x="2560320" y="0"/>
            <a:ext cx="1097280"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832" name="Google Shape;832;p22"/>
          <p:cNvSpPr txBox="1"/>
          <p:nvPr/>
        </p:nvSpPr>
        <p:spPr>
          <a:xfrm>
            <a:off x="2578608" y="1097280"/>
            <a:ext cx="1024128" cy="68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Report Agent writes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833" name="Google Shape;833;p22"/>
          <p:cNvSpPr/>
          <p:nvPr/>
        </p:nvSpPr>
        <p:spPr>
          <a:xfrm>
            <a:off x="3749050" y="1005725"/>
            <a:ext cx="2286000" cy="914400"/>
          </a:xfrm>
          <a:prstGeom prst="rect">
            <a:avLst/>
          </a:prstGeom>
          <a:solidFill>
            <a:srgbClr val="04201E"/>
          </a:solidFill>
          <a:ln cap="flat" cmpd="sng" w="254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4" name="Google Shape;834;p22"/>
          <p:cNvSpPr txBox="1"/>
          <p:nvPr/>
        </p:nvSpPr>
        <p:spPr>
          <a:xfrm>
            <a:off x="3799293" y="1042961"/>
            <a:ext cx="2148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Cross-Mission</a:t>
            </a:r>
            <a:br>
              <a:rPr b="1" i="0" lang="en-US" sz="1200" u="none" cap="none" strike="noStrike">
                <a:solidFill>
                  <a:srgbClr val="00BFD8"/>
                </a:solidFill>
                <a:latin typeface="Calibri"/>
                <a:ea typeface="Calibri"/>
                <a:cs typeface="Calibri"/>
                <a:sym typeface="Calibri"/>
              </a:rPr>
            </a:br>
            <a:r>
              <a:rPr b="1" i="0" lang="en-US" sz="1200" u="none" cap="none" strike="noStrike">
                <a:solidFill>
                  <a:srgbClr val="00BFD8"/>
                </a:solidFill>
                <a:latin typeface="Calibri"/>
                <a:ea typeface="Calibri"/>
                <a:cs typeface="Calibri"/>
                <a:sym typeface="Calibri"/>
              </a:rPr>
              <a:t>Experience Store</a:t>
            </a:r>
            <a:endParaRPr b="0" i="0" sz="1400" u="none" cap="none" strike="noStrike">
              <a:solidFill>
                <a:srgbClr val="000000"/>
              </a:solidFill>
              <a:latin typeface="Arial"/>
              <a:ea typeface="Arial"/>
              <a:cs typeface="Arial"/>
              <a:sym typeface="Arial"/>
            </a:endParaRPr>
          </a:p>
        </p:txBody>
      </p:sp>
      <p:sp>
        <p:nvSpPr>
          <p:cNvPr id="835" name="Google Shape;835;p22"/>
          <p:cNvSpPr txBox="1"/>
          <p:nvPr/>
        </p:nvSpPr>
        <p:spPr>
          <a:xfrm>
            <a:off x="3799293" y="1473205"/>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RAG-backed · persistent</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across all missions</a:t>
            </a:r>
            <a:endParaRPr b="0" i="0" sz="1400" u="none" cap="none" strike="noStrike">
              <a:solidFill>
                <a:srgbClr val="000000"/>
              </a:solidFill>
              <a:latin typeface="Arial"/>
              <a:ea typeface="Arial"/>
              <a:cs typeface="Arial"/>
              <a:sym typeface="Arial"/>
            </a:endParaRPr>
          </a:p>
        </p:txBody>
      </p:sp>
      <p:cxnSp>
        <p:nvCxnSpPr>
          <p:cNvPr id="836" name="Google Shape;836;p22"/>
          <p:cNvCxnSpPr/>
          <p:nvPr/>
        </p:nvCxnSpPr>
        <p:spPr>
          <a:xfrm>
            <a:off x="6126480" y="0"/>
            <a:ext cx="1097280" cy="0"/>
          </a:xfrm>
          <a:prstGeom prst="straightConnector1">
            <a:avLst/>
          </a:prstGeom>
          <a:noFill/>
          <a:ln cap="flat" cmpd="sng" w="190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837" name="Google Shape;837;p22"/>
          <p:cNvSpPr txBox="1"/>
          <p:nvPr/>
        </p:nvSpPr>
        <p:spPr>
          <a:xfrm>
            <a:off x="6144768" y="1051560"/>
            <a:ext cx="1024128" cy="68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FFD700"/>
                </a:solidFill>
                <a:latin typeface="Calibri"/>
                <a:ea typeface="Calibri"/>
                <a:cs typeface="Calibri"/>
                <a:sym typeface="Calibri"/>
              </a:rPr>
              <a:t>Crystallize</a:t>
            </a:r>
            <a:br>
              <a:rPr b="0" i="1" lang="en-US" sz="850" u="none" cap="none" strike="noStrike">
                <a:solidFill>
                  <a:srgbClr val="FFD700"/>
                </a:solidFill>
                <a:latin typeface="Calibri"/>
                <a:ea typeface="Calibri"/>
                <a:cs typeface="Calibri"/>
                <a:sym typeface="Calibri"/>
              </a:rPr>
            </a:br>
            <a:r>
              <a:rPr b="0" i="1" lang="en-US" sz="850" u="none" cap="none" strike="noStrike">
                <a:solidFill>
                  <a:srgbClr val="FFD700"/>
                </a:solidFill>
                <a:latin typeface="Calibri"/>
                <a:ea typeface="Calibri"/>
                <a:cs typeface="Calibri"/>
                <a:sym typeface="Calibri"/>
              </a:rPr>
              <a:t>(&gt;=2 missions)</a:t>
            </a:r>
            <a:endParaRPr b="0" i="0" sz="1400" u="none" cap="none" strike="noStrike">
              <a:solidFill>
                <a:srgbClr val="000000"/>
              </a:solidFill>
              <a:latin typeface="Arial"/>
              <a:ea typeface="Arial"/>
              <a:cs typeface="Arial"/>
              <a:sym typeface="Arial"/>
            </a:endParaRPr>
          </a:p>
        </p:txBody>
      </p:sp>
      <p:sp>
        <p:nvSpPr>
          <p:cNvPr id="838" name="Google Shape;838;p22"/>
          <p:cNvSpPr/>
          <p:nvPr/>
        </p:nvSpPr>
        <p:spPr>
          <a:xfrm>
            <a:off x="7315200" y="983100"/>
            <a:ext cx="2148900" cy="859500"/>
          </a:xfrm>
          <a:prstGeom prst="rect">
            <a:avLst/>
          </a:prstGeom>
          <a:solidFill>
            <a:srgbClr val="201804"/>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9" name="Google Shape;839;p22"/>
          <p:cNvSpPr txBox="1"/>
          <p:nvPr/>
        </p:nvSpPr>
        <p:spPr>
          <a:xfrm>
            <a:off x="7424925" y="1005949"/>
            <a:ext cx="1950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Attack Strategy</a:t>
            </a:r>
            <a:br>
              <a:rPr b="1" i="0" lang="en-US" sz="1200" u="none" cap="none" strike="noStrike">
                <a:solidFill>
                  <a:srgbClr val="FFD700"/>
                </a:solidFill>
                <a:latin typeface="Calibri"/>
                <a:ea typeface="Calibri"/>
                <a:cs typeface="Calibri"/>
                <a:sym typeface="Calibri"/>
              </a:rPr>
            </a:br>
            <a:r>
              <a:rPr b="1" i="0" lang="en-US" sz="1200" u="none" cap="none" strike="noStrike">
                <a:solidFill>
                  <a:srgbClr val="FFD700"/>
                </a:solidFill>
                <a:latin typeface="Calibri"/>
                <a:ea typeface="Calibri"/>
                <a:cs typeface="Calibri"/>
                <a:sym typeface="Calibri"/>
              </a:rPr>
              <a:t>Library</a:t>
            </a:r>
            <a:endParaRPr b="0" i="0" sz="1400" u="none" cap="none" strike="noStrike">
              <a:solidFill>
                <a:srgbClr val="000000"/>
              </a:solidFill>
              <a:latin typeface="Arial"/>
              <a:ea typeface="Arial"/>
              <a:cs typeface="Arial"/>
              <a:sym typeface="Arial"/>
            </a:endParaRPr>
          </a:p>
        </p:txBody>
      </p:sp>
      <p:sp>
        <p:nvSpPr>
          <p:cNvPr id="840" name="Google Shape;840;p22"/>
          <p:cNvSpPr txBox="1"/>
          <p:nvPr/>
        </p:nvSpPr>
        <p:spPr>
          <a:xfrm>
            <a:off x="7406640" y="1380743"/>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Named strategies · confidence scores</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technology-fingerprint indexed</a:t>
            </a:r>
            <a:endParaRPr b="0" i="0" sz="1400" u="none" cap="none" strike="noStrike">
              <a:solidFill>
                <a:srgbClr val="000000"/>
              </a:solidFill>
              <a:latin typeface="Arial"/>
              <a:ea typeface="Arial"/>
              <a:cs typeface="Arial"/>
              <a:sym typeface="Arial"/>
            </a:endParaRPr>
          </a:p>
        </p:txBody>
      </p:sp>
      <p:cxnSp>
        <p:nvCxnSpPr>
          <p:cNvPr id="841" name="Google Shape;841;p22"/>
          <p:cNvCxnSpPr/>
          <p:nvPr/>
        </p:nvCxnSpPr>
        <p:spPr>
          <a:xfrm>
            <a:off x="9692640" y="0"/>
            <a:ext cx="1097280" cy="0"/>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842" name="Google Shape;842;p22"/>
          <p:cNvSpPr txBox="1"/>
          <p:nvPr/>
        </p:nvSpPr>
        <p:spPr>
          <a:xfrm>
            <a:off x="9660666" y="1147580"/>
            <a:ext cx="1024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Pre-ranked seeds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at mission start</a:t>
            </a:r>
            <a:endParaRPr b="0" i="0" sz="1400" u="none" cap="none" strike="noStrike">
              <a:solidFill>
                <a:srgbClr val="000000"/>
              </a:solidFill>
              <a:latin typeface="Arial"/>
              <a:ea typeface="Arial"/>
              <a:cs typeface="Arial"/>
              <a:sym typeface="Arial"/>
            </a:endParaRPr>
          </a:p>
        </p:txBody>
      </p:sp>
      <p:sp>
        <p:nvSpPr>
          <p:cNvPr id="843" name="Google Shape;843;p22"/>
          <p:cNvSpPr/>
          <p:nvPr/>
        </p:nvSpPr>
        <p:spPr>
          <a:xfrm>
            <a:off x="10790010" y="923527"/>
            <a:ext cx="1143000" cy="914400"/>
          </a:xfrm>
          <a:prstGeom prst="rect">
            <a:avLst/>
          </a:prstGeom>
          <a:solidFill>
            <a:srgbClr val="062010"/>
          </a:solidFill>
          <a:ln cap="flat" cmpd="sng" w="190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4" name="Google Shape;844;p22"/>
          <p:cNvSpPr txBox="1"/>
          <p:nvPr/>
        </p:nvSpPr>
        <p:spPr>
          <a:xfrm>
            <a:off x="10831105" y="1010406"/>
            <a:ext cx="10515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Mission</a:t>
            </a:r>
            <a:br>
              <a:rPr b="1" i="0" lang="en-US" sz="1200" u="none" cap="none" strike="noStrike">
                <a:solidFill>
                  <a:srgbClr val="39FF14"/>
                </a:solidFill>
                <a:latin typeface="Calibri"/>
                <a:ea typeface="Calibri"/>
                <a:cs typeface="Calibri"/>
                <a:sym typeface="Calibri"/>
              </a:rPr>
            </a:br>
            <a:r>
              <a:rPr b="1" i="0" lang="en-US" sz="1200" u="none" cap="none" strike="noStrike">
                <a:solidFill>
                  <a:srgbClr val="39FF14"/>
                </a:solidFill>
                <a:latin typeface="Calibri"/>
                <a:ea typeface="Calibri"/>
                <a:cs typeface="Calibri"/>
                <a:sym typeface="Calibri"/>
              </a:rPr>
              <a:t>N+1</a:t>
            </a:r>
            <a:endParaRPr b="0" i="0" sz="1400" u="none" cap="none" strike="noStrike">
              <a:solidFill>
                <a:srgbClr val="000000"/>
              </a:solidFill>
              <a:latin typeface="Arial"/>
              <a:ea typeface="Arial"/>
              <a:cs typeface="Arial"/>
              <a:sym typeface="Arial"/>
            </a:endParaRPr>
          </a:p>
        </p:txBody>
      </p:sp>
      <p:cxnSp>
        <p:nvCxnSpPr>
          <p:cNvPr id="845" name="Google Shape;845;p22"/>
          <p:cNvCxnSpPr/>
          <p:nvPr/>
        </p:nvCxnSpPr>
        <p:spPr>
          <a:xfrm>
            <a:off x="4937760" y="0"/>
            <a:ext cx="5943600" cy="0"/>
          </a:xfrm>
          <a:prstGeom prst="straightConnector1">
            <a:avLst/>
          </a:prstGeom>
          <a:noFill/>
          <a:ln cap="flat" cmpd="sng" w="19050">
            <a:solidFill>
              <a:srgbClr val="00BFD8"/>
            </a:solidFill>
            <a:prstDash val="solid"/>
            <a:round/>
            <a:headEnd len="med" w="med" type="stealth"/>
            <a:tailEnd len="sm" w="sm" type="none"/>
          </a:ln>
          <a:effectLst>
            <a:outerShdw blurRad="40000" rotWithShape="0" dir="5400000" dist="20000">
              <a:srgbClr val="000000">
                <a:alpha val="38039"/>
              </a:srgbClr>
            </a:outerShdw>
          </a:effectLst>
        </p:spPr>
      </p:cxnSp>
      <p:sp>
        <p:nvSpPr>
          <p:cNvPr id="846" name="Google Shape;846;p22"/>
          <p:cNvSpPr txBox="1"/>
          <p:nvPr/>
        </p:nvSpPr>
        <p:spPr>
          <a:xfrm>
            <a:off x="6518140" y="1863501"/>
            <a:ext cx="3657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Candidate chain hypotheses injected into Commander context</a:t>
            </a:r>
            <a:endParaRPr b="0" i="0" sz="1400" u="none" cap="none" strike="noStrike">
              <a:solidFill>
                <a:srgbClr val="000000"/>
              </a:solidFill>
              <a:latin typeface="Arial"/>
              <a:ea typeface="Arial"/>
              <a:cs typeface="Arial"/>
              <a:sym typeface="Arial"/>
            </a:endParaRPr>
          </a:p>
        </p:txBody>
      </p:sp>
      <p:sp>
        <p:nvSpPr>
          <p:cNvPr id="847" name="Google Shape;847;p22"/>
          <p:cNvSpPr/>
          <p:nvPr/>
        </p:nvSpPr>
        <p:spPr>
          <a:xfrm>
            <a:off x="274320" y="2212848"/>
            <a:ext cx="5669280" cy="4160520"/>
          </a:xfrm>
          <a:prstGeom prst="rect">
            <a:avLst/>
          </a:prstGeom>
          <a:solidFill>
            <a:srgbClr val="041818"/>
          </a:solidFill>
          <a:ln cap="flat" cmpd="sng" w="1905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8" name="Google Shape;848;p22"/>
          <p:cNvSpPr/>
          <p:nvPr/>
        </p:nvSpPr>
        <p:spPr>
          <a:xfrm>
            <a:off x="274320" y="2212848"/>
            <a:ext cx="5669280" cy="36576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9" name="Google Shape;849;p22"/>
          <p:cNvSpPr txBox="1"/>
          <p:nvPr/>
        </p:nvSpPr>
        <p:spPr>
          <a:xfrm>
            <a:off x="384048" y="2267712"/>
            <a:ext cx="548640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C10  ·  Cross-Mission Experience Store</a:t>
            </a:r>
            <a:endParaRPr b="0" i="0" sz="1400" u="none" cap="none" strike="noStrike">
              <a:solidFill>
                <a:srgbClr val="000000"/>
              </a:solidFill>
              <a:latin typeface="Arial"/>
              <a:ea typeface="Arial"/>
              <a:cs typeface="Arial"/>
              <a:sym typeface="Arial"/>
            </a:endParaRPr>
          </a:p>
        </p:txBody>
      </p:sp>
      <p:sp>
        <p:nvSpPr>
          <p:cNvPr id="850" name="Google Shape;850;p22"/>
          <p:cNvSpPr/>
          <p:nvPr/>
        </p:nvSpPr>
        <p:spPr>
          <a:xfrm>
            <a:off x="384048" y="2670048"/>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1" name="Google Shape;851;p22"/>
          <p:cNvSpPr txBox="1"/>
          <p:nvPr/>
        </p:nvSpPr>
        <p:spPr>
          <a:xfrm>
            <a:off x="475488" y="2724912"/>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852" name="Google Shape;852;p22"/>
          <p:cNvSpPr txBox="1"/>
          <p:nvPr/>
        </p:nvSpPr>
        <p:spPr>
          <a:xfrm>
            <a:off x="475488" y="2980944"/>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Per-mission · per-chain raw records of validated exploitation outcomes.</a:t>
            </a:r>
            <a:br>
              <a:rPr b="0" i="0" lang="en-US" sz="950" u="none" cap="none" strike="noStrike">
                <a:solidFill>
                  <a:srgbClr val="A0AAB8"/>
                </a:solidFill>
                <a:latin typeface="Calibri"/>
                <a:ea typeface="Calibri"/>
                <a:cs typeface="Calibri"/>
                <a:sym typeface="Calibri"/>
              </a:rPr>
            </a:br>
            <a:r>
              <a:rPr b="0" i="0" lang="en-US" sz="950" u="none" cap="none" strike="noStrike">
                <a:solidFill>
                  <a:srgbClr val="A0AAB8"/>
                </a:solidFill>
                <a:latin typeface="Calibri"/>
                <a:ea typeface="Calibri"/>
                <a:cs typeface="Calibri"/>
                <a:sym typeface="Calibri"/>
              </a:rPr>
              <a:t>Target technology fingerprint · CVE · successful tool invocation · ChainStep sequence · mission outcome.</a:t>
            </a:r>
            <a:endParaRPr b="0" i="0" sz="1400" u="none" cap="none" strike="noStrike">
              <a:solidFill>
                <a:srgbClr val="000000"/>
              </a:solidFill>
              <a:latin typeface="Arial"/>
              <a:ea typeface="Arial"/>
              <a:cs typeface="Arial"/>
              <a:sym typeface="Arial"/>
            </a:endParaRPr>
          </a:p>
        </p:txBody>
      </p:sp>
      <p:sp>
        <p:nvSpPr>
          <p:cNvPr id="853" name="Google Shape;853;p22"/>
          <p:cNvSpPr/>
          <p:nvPr/>
        </p:nvSpPr>
        <p:spPr>
          <a:xfrm>
            <a:off x="384048" y="3566160"/>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4" name="Google Shape;854;p22"/>
          <p:cNvSpPr txBox="1"/>
          <p:nvPr/>
        </p:nvSpPr>
        <p:spPr>
          <a:xfrm>
            <a:off x="475488" y="3621024"/>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written</a:t>
            </a:r>
            <a:endParaRPr b="0" i="0" sz="1400" u="none" cap="none" strike="noStrike">
              <a:solidFill>
                <a:srgbClr val="000000"/>
              </a:solidFill>
              <a:latin typeface="Arial"/>
              <a:ea typeface="Arial"/>
              <a:cs typeface="Arial"/>
              <a:sym typeface="Arial"/>
            </a:endParaRPr>
          </a:p>
        </p:txBody>
      </p:sp>
      <p:sp>
        <p:nvSpPr>
          <p:cNvPr id="855" name="Google Shape;855;p22"/>
          <p:cNvSpPr txBox="1"/>
          <p:nvPr/>
        </p:nvSpPr>
        <p:spPr>
          <a:xfrm>
            <a:off x="475488" y="3877056"/>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Report Agent writes one entry for every chain with terminal status VALIDATED at mission close.</a:t>
            </a:r>
            <a:endParaRPr b="0" i="0" sz="1400" u="none" cap="none" strike="noStrike">
              <a:solidFill>
                <a:srgbClr val="000000"/>
              </a:solidFill>
              <a:latin typeface="Arial"/>
              <a:ea typeface="Arial"/>
              <a:cs typeface="Arial"/>
              <a:sym typeface="Arial"/>
            </a:endParaRPr>
          </a:p>
        </p:txBody>
      </p:sp>
      <p:sp>
        <p:nvSpPr>
          <p:cNvPr id="856" name="Google Shape;856;p22"/>
          <p:cNvSpPr/>
          <p:nvPr/>
        </p:nvSpPr>
        <p:spPr>
          <a:xfrm>
            <a:off x="384048" y="4462272"/>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7" name="Google Shape;857;p22"/>
          <p:cNvSpPr txBox="1"/>
          <p:nvPr/>
        </p:nvSpPr>
        <p:spPr>
          <a:xfrm>
            <a:off x="475488" y="4517136"/>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read</a:t>
            </a:r>
            <a:endParaRPr b="0" i="0" sz="1400" u="none" cap="none" strike="noStrike">
              <a:solidFill>
                <a:srgbClr val="000000"/>
              </a:solidFill>
              <a:latin typeface="Arial"/>
              <a:ea typeface="Arial"/>
              <a:cs typeface="Arial"/>
              <a:sym typeface="Arial"/>
            </a:endParaRPr>
          </a:p>
        </p:txBody>
      </p:sp>
      <p:sp>
        <p:nvSpPr>
          <p:cNvPr id="858" name="Google Shape;858;p22"/>
          <p:cNvSpPr txBox="1"/>
          <p:nvPr/>
        </p:nvSpPr>
        <p:spPr>
          <a:xfrm>
            <a:off x="475488" y="4773168"/>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Commander queries immediately after Recon Agent writes first Technology nodes to ASG — before Analysis begins. Retrieved records become candidate chain hypotheses.</a:t>
            </a:r>
            <a:endParaRPr b="0" i="0" sz="1400" u="none" cap="none" strike="noStrike">
              <a:solidFill>
                <a:srgbClr val="000000"/>
              </a:solidFill>
              <a:latin typeface="Arial"/>
              <a:ea typeface="Arial"/>
              <a:cs typeface="Arial"/>
              <a:sym typeface="Arial"/>
            </a:endParaRPr>
          </a:p>
        </p:txBody>
      </p:sp>
      <p:sp>
        <p:nvSpPr>
          <p:cNvPr id="859" name="Google Shape;859;p22"/>
          <p:cNvSpPr/>
          <p:nvPr/>
        </p:nvSpPr>
        <p:spPr>
          <a:xfrm>
            <a:off x="384048" y="5358384"/>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0" name="Google Shape;860;p22"/>
          <p:cNvSpPr txBox="1"/>
          <p:nvPr/>
        </p:nvSpPr>
        <p:spPr>
          <a:xfrm>
            <a:off x="475488" y="5413248"/>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Research origin</a:t>
            </a:r>
            <a:endParaRPr b="0" i="0" sz="1400" u="none" cap="none" strike="noStrike">
              <a:solidFill>
                <a:srgbClr val="000000"/>
              </a:solidFill>
              <a:latin typeface="Arial"/>
              <a:ea typeface="Arial"/>
              <a:cs typeface="Arial"/>
              <a:sym typeface="Arial"/>
            </a:endParaRPr>
          </a:p>
        </p:txBody>
      </p:sp>
      <p:sp>
        <p:nvSpPr>
          <p:cNvPr id="861" name="Google Shape;861;p22"/>
          <p:cNvSpPr txBox="1"/>
          <p:nvPr/>
        </p:nvSpPr>
        <p:spPr>
          <a:xfrm>
            <a:off x="475488" y="5669280"/>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Generalizes AutoAttacker's within-mission experience-reuse mechanism to cross-mission scope. AutoAttacker reuses subtasks within one session; CMatrix accumulates across every mission ever run.</a:t>
            </a:r>
            <a:endParaRPr b="0" i="0" sz="1400" u="none" cap="none" strike="noStrike">
              <a:solidFill>
                <a:srgbClr val="000000"/>
              </a:solidFill>
              <a:latin typeface="Arial"/>
              <a:ea typeface="Arial"/>
              <a:cs typeface="Arial"/>
              <a:sym typeface="Arial"/>
            </a:endParaRPr>
          </a:p>
        </p:txBody>
      </p:sp>
      <p:sp>
        <p:nvSpPr>
          <p:cNvPr id="862" name="Google Shape;862;p22"/>
          <p:cNvSpPr/>
          <p:nvPr/>
        </p:nvSpPr>
        <p:spPr>
          <a:xfrm>
            <a:off x="6172200" y="2212848"/>
            <a:ext cx="5833872" cy="4160520"/>
          </a:xfrm>
          <a:prstGeom prst="rect">
            <a:avLst/>
          </a:prstGeom>
          <a:solidFill>
            <a:srgbClr val="1C1404"/>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3" name="Google Shape;863;p22"/>
          <p:cNvSpPr/>
          <p:nvPr/>
        </p:nvSpPr>
        <p:spPr>
          <a:xfrm>
            <a:off x="6172200" y="2212848"/>
            <a:ext cx="5833872" cy="36576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4" name="Google Shape;864;p22"/>
          <p:cNvSpPr txBox="1"/>
          <p:nvPr/>
        </p:nvSpPr>
        <p:spPr>
          <a:xfrm>
            <a:off x="6281928" y="2267712"/>
            <a:ext cx="5650992"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C11  ·  Attack Strategy Library</a:t>
            </a:r>
            <a:endParaRPr b="0" i="0" sz="1400" u="none" cap="none" strike="noStrike">
              <a:solidFill>
                <a:srgbClr val="000000"/>
              </a:solidFill>
              <a:latin typeface="Arial"/>
              <a:ea typeface="Arial"/>
              <a:cs typeface="Arial"/>
              <a:sym typeface="Arial"/>
            </a:endParaRPr>
          </a:p>
        </p:txBody>
      </p:sp>
      <p:sp>
        <p:nvSpPr>
          <p:cNvPr id="865" name="Google Shape;865;p22"/>
          <p:cNvSpPr/>
          <p:nvPr/>
        </p:nvSpPr>
        <p:spPr>
          <a:xfrm>
            <a:off x="6281928" y="2670048"/>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6" name="Google Shape;866;p22"/>
          <p:cNvSpPr txBox="1"/>
          <p:nvPr/>
        </p:nvSpPr>
        <p:spPr>
          <a:xfrm>
            <a:off x="6373368" y="2724912"/>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867" name="Google Shape;867;p22"/>
          <p:cNvSpPr txBox="1"/>
          <p:nvPr/>
        </p:nvSpPr>
        <p:spPr>
          <a:xfrm>
            <a:off x="6373368" y="2980944"/>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Generalized attack procedures distilled from multiple validated outcomes against the same target technology class. Named strategies (e.g. STRAT-WP-SQLI-001) with confidence scores.</a:t>
            </a:r>
            <a:endParaRPr b="0" i="0" sz="1400" u="none" cap="none" strike="noStrike">
              <a:solidFill>
                <a:srgbClr val="000000"/>
              </a:solidFill>
              <a:latin typeface="Arial"/>
              <a:ea typeface="Arial"/>
              <a:cs typeface="Arial"/>
              <a:sym typeface="Arial"/>
            </a:endParaRPr>
          </a:p>
        </p:txBody>
      </p:sp>
      <p:sp>
        <p:nvSpPr>
          <p:cNvPr id="868" name="Google Shape;868;p22"/>
          <p:cNvSpPr/>
          <p:nvPr/>
        </p:nvSpPr>
        <p:spPr>
          <a:xfrm>
            <a:off x="6281928" y="3566160"/>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9" name="Google Shape;869;p22"/>
          <p:cNvSpPr txBox="1"/>
          <p:nvPr/>
        </p:nvSpPr>
        <p:spPr>
          <a:xfrm>
            <a:off x="6373368" y="3621024"/>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Crystallization threshold</a:t>
            </a:r>
            <a:endParaRPr b="0" i="0" sz="1400" u="none" cap="none" strike="noStrike">
              <a:solidFill>
                <a:srgbClr val="000000"/>
              </a:solidFill>
              <a:latin typeface="Arial"/>
              <a:ea typeface="Arial"/>
              <a:cs typeface="Arial"/>
              <a:sym typeface="Arial"/>
            </a:endParaRPr>
          </a:p>
        </p:txBody>
      </p:sp>
      <p:sp>
        <p:nvSpPr>
          <p:cNvPr id="870" name="Google Shape;870;p22"/>
          <p:cNvSpPr txBox="1"/>
          <p:nvPr/>
        </p:nvSpPr>
        <p:spPr>
          <a:xfrm>
            <a:off x="6373368" y="3877056"/>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Same technology fingerprint (e.g. WordPress 5.x + WooCommerce + Nginx) produces validated AttackChain in 2 or more independent missions → Commander triggers crystallization.</a:t>
            </a:r>
            <a:endParaRPr b="0" i="0" sz="1400" u="none" cap="none" strike="noStrike">
              <a:solidFill>
                <a:srgbClr val="000000"/>
              </a:solidFill>
              <a:latin typeface="Arial"/>
              <a:ea typeface="Arial"/>
              <a:cs typeface="Arial"/>
              <a:sym typeface="Arial"/>
            </a:endParaRPr>
          </a:p>
        </p:txBody>
      </p:sp>
      <p:sp>
        <p:nvSpPr>
          <p:cNvPr id="871" name="Google Shape;871;p22"/>
          <p:cNvSpPr/>
          <p:nvPr/>
        </p:nvSpPr>
        <p:spPr>
          <a:xfrm>
            <a:off x="6281928" y="4462272"/>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2" name="Google Shape;872;p22"/>
          <p:cNvSpPr txBox="1"/>
          <p:nvPr/>
        </p:nvSpPr>
        <p:spPr>
          <a:xfrm>
            <a:off x="6373368" y="4517136"/>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When it's used</a:t>
            </a:r>
            <a:endParaRPr b="0" i="0" sz="1400" u="none" cap="none" strike="noStrike">
              <a:solidFill>
                <a:srgbClr val="000000"/>
              </a:solidFill>
              <a:latin typeface="Arial"/>
              <a:ea typeface="Arial"/>
              <a:cs typeface="Arial"/>
              <a:sym typeface="Arial"/>
            </a:endParaRPr>
          </a:p>
        </p:txBody>
      </p:sp>
      <p:sp>
        <p:nvSpPr>
          <p:cNvPr id="873" name="Google Shape;873;p22"/>
          <p:cNvSpPr txBox="1"/>
          <p:nvPr/>
        </p:nvSpPr>
        <p:spPr>
          <a:xfrm>
            <a:off x="6373368" y="4773168"/>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Retrieved at mission start. Strategies are injected as pre-ranked APG AttackChain seeds — prioritized above zero-prior chains because they carry validated track record.</a:t>
            </a:r>
            <a:endParaRPr b="0" i="0" sz="1400" u="none" cap="none" strike="noStrike">
              <a:solidFill>
                <a:srgbClr val="000000"/>
              </a:solidFill>
              <a:latin typeface="Arial"/>
              <a:ea typeface="Arial"/>
              <a:cs typeface="Arial"/>
              <a:sym typeface="Arial"/>
            </a:endParaRPr>
          </a:p>
        </p:txBody>
      </p:sp>
      <p:sp>
        <p:nvSpPr>
          <p:cNvPr id="874" name="Google Shape;874;p22"/>
          <p:cNvSpPr/>
          <p:nvPr/>
        </p:nvSpPr>
        <p:spPr>
          <a:xfrm>
            <a:off x="6281928" y="5358384"/>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5" name="Google Shape;875;p22"/>
          <p:cNvSpPr txBox="1"/>
          <p:nvPr/>
        </p:nvSpPr>
        <p:spPr>
          <a:xfrm>
            <a:off x="6373368" y="5413248"/>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Why it matters</a:t>
            </a:r>
            <a:endParaRPr b="0" i="0" sz="1400" u="none" cap="none" strike="noStrike">
              <a:solidFill>
                <a:srgbClr val="000000"/>
              </a:solidFill>
              <a:latin typeface="Arial"/>
              <a:ea typeface="Arial"/>
              <a:cs typeface="Arial"/>
              <a:sym typeface="Arial"/>
            </a:endParaRPr>
          </a:p>
        </p:txBody>
      </p:sp>
      <p:sp>
        <p:nvSpPr>
          <p:cNvPr id="876" name="Google Shape;876;p22"/>
          <p:cNvSpPr txBox="1"/>
          <p:nvPr/>
        </p:nvSpPr>
        <p:spPr>
          <a:xfrm>
            <a:off x="6373368" y="5669280"/>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endParaRPr b="0" i="0" sz="1400" u="none" cap="none" strike="noStrike">
              <a:solidFill>
                <a:srgbClr val="000000"/>
              </a:solidFill>
              <a:latin typeface="Arial"/>
              <a:ea typeface="Arial"/>
              <a:cs typeface="Arial"/>
              <a:sym typeface="Arial"/>
            </a:endParaRPr>
          </a:p>
        </p:txBody>
      </p:sp>
      <p:sp>
        <p:nvSpPr>
          <p:cNvPr id="877" name="Google Shape;877;p22"/>
          <p:cNvSpPr txBox="1"/>
          <p:nvPr/>
        </p:nvSpPr>
        <p:spPr>
          <a:xfrm>
            <a:off x="11585450" y="73150"/>
            <a:ext cx="438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BFD8"/>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881" name="Shape 881"/>
        <p:cNvGrpSpPr/>
        <p:nvPr/>
      </p:nvGrpSpPr>
      <p:grpSpPr>
        <a:xfrm>
          <a:off x="0" y="0"/>
          <a:ext cx="0" cy="0"/>
          <a:chOff x="0" y="0"/>
          <a:chExt cx="0" cy="0"/>
        </a:xfrm>
      </p:grpSpPr>
      <p:sp>
        <p:nvSpPr>
          <p:cNvPr id="882" name="Google Shape;882;p23"/>
          <p:cNvSpPr/>
          <p:nvPr/>
        </p:nvSpPr>
        <p:spPr>
          <a:xfrm>
            <a:off x="0" y="0"/>
            <a:ext cx="54900"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3" name="Google Shape;883;p23"/>
          <p:cNvSpPr/>
          <p:nvPr/>
        </p:nvSpPr>
        <p:spPr>
          <a:xfrm>
            <a:off x="54864" y="0"/>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4" name="Google Shape;884;p23"/>
          <p:cNvSpPr/>
          <p:nvPr/>
        </p:nvSpPr>
        <p:spPr>
          <a:xfrm>
            <a:off x="54864" y="6821424"/>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5" name="Google Shape;885;p23"/>
          <p:cNvSpPr txBox="1"/>
          <p:nvPr/>
        </p:nvSpPr>
        <p:spPr>
          <a:xfrm>
            <a:off x="274320" y="54864"/>
            <a:ext cx="7315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BD93F9"/>
                </a:solidFill>
                <a:latin typeface="Calibri"/>
                <a:ea typeface="Calibri"/>
                <a:cs typeface="Calibri"/>
                <a:sym typeface="Calibri"/>
              </a:rPr>
              <a:t>INSPIRATIONS &amp; REFERENCES</a:t>
            </a:r>
            <a:endParaRPr b="0" i="0" sz="1400" u="none" cap="none" strike="noStrike">
              <a:solidFill>
                <a:srgbClr val="000000"/>
              </a:solidFill>
              <a:latin typeface="Arial"/>
              <a:ea typeface="Arial"/>
              <a:cs typeface="Arial"/>
              <a:sym typeface="Arial"/>
            </a:endParaRPr>
          </a:p>
        </p:txBody>
      </p:sp>
      <p:sp>
        <p:nvSpPr>
          <p:cNvPr id="886" name="Google Shape;886;p23"/>
          <p:cNvSpPr txBox="1"/>
          <p:nvPr/>
        </p:nvSpPr>
        <p:spPr>
          <a:xfrm>
            <a:off x="274320" y="329184"/>
            <a:ext cx="114300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Academic Papers + Open-Source Repositories That Shaped CMatrix</a:t>
            </a:r>
            <a:endParaRPr b="0" i="0" sz="1400" u="none" cap="none" strike="noStrike">
              <a:solidFill>
                <a:srgbClr val="000000"/>
              </a:solidFill>
              <a:latin typeface="Arial"/>
              <a:ea typeface="Arial"/>
              <a:cs typeface="Arial"/>
              <a:sym typeface="Arial"/>
            </a:endParaRPr>
          </a:p>
        </p:txBody>
      </p:sp>
      <p:sp>
        <p:nvSpPr>
          <p:cNvPr id="887" name="Google Shape;887;p23"/>
          <p:cNvSpPr/>
          <p:nvPr/>
        </p:nvSpPr>
        <p:spPr>
          <a:xfrm>
            <a:off x="274320" y="987552"/>
            <a:ext cx="5898000" cy="274200"/>
          </a:xfrm>
          <a:prstGeom prst="rect">
            <a:avLst/>
          </a:prstGeom>
          <a:solidFill>
            <a:srgbClr val="08142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8" name="Google Shape;888;p23"/>
          <p:cNvSpPr txBox="1"/>
          <p:nvPr/>
        </p:nvSpPr>
        <p:spPr>
          <a:xfrm>
            <a:off x="384048" y="1005840"/>
            <a:ext cx="57150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  ACADEMIC PAPERS</a:t>
            </a:r>
            <a:endParaRPr b="0" i="0" sz="1400" u="none" cap="none" strike="noStrike">
              <a:solidFill>
                <a:srgbClr val="000000"/>
              </a:solidFill>
              <a:latin typeface="Arial"/>
              <a:ea typeface="Arial"/>
              <a:cs typeface="Arial"/>
              <a:sym typeface="Arial"/>
            </a:endParaRPr>
          </a:p>
        </p:txBody>
      </p:sp>
      <p:sp>
        <p:nvSpPr>
          <p:cNvPr id="889" name="Google Shape;889;p23"/>
          <p:cNvSpPr/>
          <p:nvPr/>
        </p:nvSpPr>
        <p:spPr>
          <a:xfrm>
            <a:off x="6236208" y="960120"/>
            <a:ext cx="27300" cy="5349300"/>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0" name="Google Shape;890;p23"/>
          <p:cNvSpPr/>
          <p:nvPr/>
        </p:nvSpPr>
        <p:spPr>
          <a:xfrm>
            <a:off x="274320" y="1307592"/>
            <a:ext cx="5898000" cy="1024200"/>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1" name="Google Shape;891;p23"/>
          <p:cNvSpPr/>
          <p:nvPr/>
        </p:nvSpPr>
        <p:spPr>
          <a:xfrm>
            <a:off x="274320" y="1307592"/>
            <a:ext cx="347400" cy="1024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2" name="Google Shape;892;p23"/>
          <p:cNvSpPr txBox="1"/>
          <p:nvPr/>
        </p:nvSpPr>
        <p:spPr>
          <a:xfrm>
            <a:off x="292608" y="1682496"/>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893" name="Google Shape;893;p23"/>
          <p:cNvSpPr txBox="1"/>
          <p:nvPr/>
        </p:nvSpPr>
        <p:spPr>
          <a:xfrm>
            <a:off x="713232" y="1362456"/>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00E5FF"/>
                </a:solidFill>
                <a:latin typeface="Calibri"/>
                <a:ea typeface="Calibri"/>
                <a:cs typeface="Calibri"/>
                <a:sym typeface="Calibri"/>
              </a:rPr>
              <a:t>PentestGPT</a:t>
            </a:r>
            <a:endParaRPr b="0" i="0" sz="1400" u="none" cap="none" strike="noStrike">
              <a:solidFill>
                <a:srgbClr val="000000"/>
              </a:solidFill>
              <a:latin typeface="Arial"/>
              <a:ea typeface="Arial"/>
              <a:cs typeface="Arial"/>
              <a:sym typeface="Arial"/>
            </a:endParaRPr>
          </a:p>
        </p:txBody>
      </p:sp>
      <p:sp>
        <p:nvSpPr>
          <p:cNvPr id="894" name="Google Shape;894;p23"/>
          <p:cNvSpPr txBox="1"/>
          <p:nvPr/>
        </p:nvSpPr>
        <p:spPr>
          <a:xfrm>
            <a:off x="713232" y="1581912"/>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USENIX Security '24</a:t>
            </a:r>
            <a:endParaRPr b="0" i="0" sz="1400" u="none" cap="none" strike="noStrike">
              <a:solidFill>
                <a:srgbClr val="000000"/>
              </a:solidFill>
              <a:latin typeface="Arial"/>
              <a:ea typeface="Arial"/>
              <a:cs typeface="Arial"/>
              <a:sym typeface="Arial"/>
            </a:endParaRPr>
          </a:p>
        </p:txBody>
      </p:sp>
      <p:sp>
        <p:nvSpPr>
          <p:cNvPr id="895" name="Google Shape;895;p23"/>
          <p:cNvSpPr txBox="1"/>
          <p:nvPr/>
        </p:nvSpPr>
        <p:spPr>
          <a:xfrm>
            <a:off x="713232" y="1764792"/>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Tripartite Reasoning / Generation / Parsing architecture.</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Pentesting Task Tree memory for long-session context.</a:t>
            </a:r>
            <a:endParaRPr b="0" i="0" sz="1400" u="none" cap="none" strike="noStrike">
              <a:solidFill>
                <a:srgbClr val="000000"/>
              </a:solidFill>
              <a:latin typeface="Arial"/>
              <a:ea typeface="Arial"/>
              <a:cs typeface="Arial"/>
              <a:sym typeface="Arial"/>
            </a:endParaRPr>
          </a:p>
        </p:txBody>
      </p:sp>
      <p:sp>
        <p:nvSpPr>
          <p:cNvPr id="896" name="Google Shape;896;p23"/>
          <p:cNvSpPr/>
          <p:nvPr/>
        </p:nvSpPr>
        <p:spPr>
          <a:xfrm>
            <a:off x="694944" y="2130552"/>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7" name="Google Shape;897;p23"/>
          <p:cNvSpPr txBox="1"/>
          <p:nvPr/>
        </p:nvSpPr>
        <p:spPr>
          <a:xfrm>
            <a:off x="731520" y="2139696"/>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Tool Adapter Layer (parse before you reason) + MicroCompact permanent graph state.</a:t>
            </a:r>
            <a:endParaRPr b="0" i="0" sz="1400" u="none" cap="none" strike="noStrike">
              <a:solidFill>
                <a:srgbClr val="000000"/>
              </a:solidFill>
              <a:latin typeface="Arial"/>
              <a:ea typeface="Arial"/>
              <a:cs typeface="Arial"/>
              <a:sym typeface="Arial"/>
            </a:endParaRPr>
          </a:p>
        </p:txBody>
      </p:sp>
      <p:sp>
        <p:nvSpPr>
          <p:cNvPr id="898" name="Google Shape;898;p23"/>
          <p:cNvSpPr/>
          <p:nvPr/>
        </p:nvSpPr>
        <p:spPr>
          <a:xfrm>
            <a:off x="274320" y="2386584"/>
            <a:ext cx="5898000" cy="1024200"/>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9" name="Google Shape;899;p23"/>
          <p:cNvSpPr/>
          <p:nvPr/>
        </p:nvSpPr>
        <p:spPr>
          <a:xfrm>
            <a:off x="274320" y="2386584"/>
            <a:ext cx="347400" cy="102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0" name="Google Shape;900;p23"/>
          <p:cNvSpPr txBox="1"/>
          <p:nvPr/>
        </p:nvSpPr>
        <p:spPr>
          <a:xfrm>
            <a:off x="292608" y="2761488"/>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901" name="Google Shape;901;p23"/>
          <p:cNvSpPr txBox="1"/>
          <p:nvPr/>
        </p:nvSpPr>
        <p:spPr>
          <a:xfrm>
            <a:off x="713232" y="2441448"/>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39FF14"/>
                </a:solidFill>
                <a:latin typeface="Calibri"/>
                <a:ea typeface="Calibri"/>
                <a:cs typeface="Calibri"/>
                <a:sym typeface="Calibri"/>
              </a:rPr>
              <a:t>AutoAttacker</a:t>
            </a:r>
            <a:endParaRPr b="0" i="0" sz="1400" u="none" cap="none" strike="noStrike">
              <a:solidFill>
                <a:srgbClr val="000000"/>
              </a:solidFill>
              <a:latin typeface="Arial"/>
              <a:ea typeface="Arial"/>
              <a:cs typeface="Arial"/>
              <a:sym typeface="Arial"/>
            </a:endParaRPr>
          </a:p>
        </p:txBody>
      </p:sp>
      <p:sp>
        <p:nvSpPr>
          <p:cNvPr id="902" name="Google Shape;902;p23"/>
          <p:cNvSpPr txBox="1"/>
          <p:nvPr/>
        </p:nvSpPr>
        <p:spPr>
          <a:xfrm>
            <a:off x="713232" y="2660904"/>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'24  — Xu et al.</a:t>
            </a:r>
            <a:endParaRPr b="0" i="0" sz="1400" u="none" cap="none" strike="noStrike">
              <a:solidFill>
                <a:srgbClr val="000000"/>
              </a:solidFill>
              <a:latin typeface="Arial"/>
              <a:ea typeface="Arial"/>
              <a:cs typeface="Arial"/>
              <a:sym typeface="Arial"/>
            </a:endParaRPr>
          </a:p>
        </p:txBody>
      </p:sp>
      <p:sp>
        <p:nvSpPr>
          <p:cNvPr id="903" name="Google Shape;903;p23"/>
          <p:cNvSpPr txBox="1"/>
          <p:nvPr/>
        </p:nvSpPr>
        <p:spPr>
          <a:xfrm>
            <a:off x="713232" y="2843784"/>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Modular planner / summarizer / code-generator for post-breach automation.</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Experience manager stores + reuses attack subtasks within one mission.</a:t>
            </a:r>
            <a:endParaRPr b="0" i="0" sz="1400" u="none" cap="none" strike="noStrike">
              <a:solidFill>
                <a:srgbClr val="000000"/>
              </a:solidFill>
              <a:latin typeface="Arial"/>
              <a:ea typeface="Arial"/>
              <a:cs typeface="Arial"/>
              <a:sym typeface="Arial"/>
            </a:endParaRPr>
          </a:p>
        </p:txBody>
      </p:sp>
      <p:sp>
        <p:nvSpPr>
          <p:cNvPr id="904" name="Google Shape;904;p23"/>
          <p:cNvSpPr/>
          <p:nvPr/>
        </p:nvSpPr>
        <p:spPr>
          <a:xfrm>
            <a:off x="694944" y="3209544"/>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5" name="Google Shape;905;p23"/>
          <p:cNvSpPr txBox="1"/>
          <p:nvPr/>
        </p:nvSpPr>
        <p:spPr>
          <a:xfrm>
            <a:off x="731520" y="3218688"/>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Cross-Mission Experience Store (C10) — generalizes reuse to cross-mission scope.</a:t>
            </a:r>
            <a:endParaRPr b="0" i="0" sz="1400" u="none" cap="none" strike="noStrike">
              <a:solidFill>
                <a:srgbClr val="000000"/>
              </a:solidFill>
              <a:latin typeface="Arial"/>
              <a:ea typeface="Arial"/>
              <a:cs typeface="Arial"/>
              <a:sym typeface="Arial"/>
            </a:endParaRPr>
          </a:p>
        </p:txBody>
      </p:sp>
      <p:sp>
        <p:nvSpPr>
          <p:cNvPr id="906" name="Google Shape;906;p23"/>
          <p:cNvSpPr/>
          <p:nvPr/>
        </p:nvSpPr>
        <p:spPr>
          <a:xfrm>
            <a:off x="274320" y="3465576"/>
            <a:ext cx="5898000" cy="1024200"/>
          </a:xfrm>
          <a:prstGeom prst="rect">
            <a:avLst/>
          </a:prstGeom>
          <a:solidFill>
            <a:srgbClr val="10162B"/>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7" name="Google Shape;907;p23"/>
          <p:cNvSpPr/>
          <p:nvPr/>
        </p:nvSpPr>
        <p:spPr>
          <a:xfrm>
            <a:off x="274320" y="3465576"/>
            <a:ext cx="347400" cy="1024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8" name="Google Shape;908;p23"/>
          <p:cNvSpPr txBox="1"/>
          <p:nvPr/>
        </p:nvSpPr>
        <p:spPr>
          <a:xfrm>
            <a:off x="292608" y="3840480"/>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909" name="Google Shape;909;p23"/>
          <p:cNvSpPr txBox="1"/>
          <p:nvPr/>
        </p:nvSpPr>
        <p:spPr>
          <a:xfrm>
            <a:off x="713232" y="3520440"/>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D700"/>
                </a:solidFill>
                <a:latin typeface="Calibri"/>
                <a:ea typeface="Calibri"/>
                <a:cs typeface="Calibri"/>
                <a:sym typeface="Calibri"/>
              </a:rPr>
              <a:t>Teams of LLM Agents (HPTSA)</a:t>
            </a:r>
            <a:endParaRPr b="0" i="0" sz="1400" u="none" cap="none" strike="noStrike">
              <a:solidFill>
                <a:srgbClr val="000000"/>
              </a:solidFill>
              <a:latin typeface="Arial"/>
              <a:ea typeface="Arial"/>
              <a:cs typeface="Arial"/>
              <a:sym typeface="Arial"/>
            </a:endParaRPr>
          </a:p>
        </p:txBody>
      </p:sp>
      <p:sp>
        <p:nvSpPr>
          <p:cNvPr id="910" name="Google Shape;910;p23"/>
          <p:cNvSpPr txBox="1"/>
          <p:nvPr/>
        </p:nvSpPr>
        <p:spPr>
          <a:xfrm>
            <a:off x="713232" y="3739896"/>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'24  — Zhu et al.</a:t>
            </a:r>
            <a:endParaRPr b="0" i="0" sz="1400" u="none" cap="none" strike="noStrike">
              <a:solidFill>
                <a:srgbClr val="000000"/>
              </a:solidFill>
              <a:latin typeface="Arial"/>
              <a:ea typeface="Arial"/>
              <a:cs typeface="Arial"/>
              <a:sym typeface="Arial"/>
            </a:endParaRPr>
          </a:p>
        </p:txBody>
      </p:sp>
      <p:sp>
        <p:nvSpPr>
          <p:cNvPr id="911" name="Google Shape;911;p23"/>
          <p:cNvSpPr txBox="1"/>
          <p:nvPr/>
        </p:nvSpPr>
        <p:spPr>
          <a:xfrm>
            <a:off x="713232" y="3922776"/>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Hierarchical planner delegates to task-specific sub-agents.</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Task-specific document injection improves zero-day exploitation by 2.1x.</a:t>
            </a:r>
            <a:endParaRPr b="0" i="0" sz="1400" u="none" cap="none" strike="noStrike">
              <a:solidFill>
                <a:srgbClr val="000000"/>
              </a:solidFill>
              <a:latin typeface="Arial"/>
              <a:ea typeface="Arial"/>
              <a:cs typeface="Arial"/>
              <a:sym typeface="Arial"/>
            </a:endParaRPr>
          </a:p>
        </p:txBody>
      </p:sp>
      <p:sp>
        <p:nvSpPr>
          <p:cNvPr id="912" name="Google Shape;912;p23"/>
          <p:cNvSpPr/>
          <p:nvPr/>
        </p:nvSpPr>
        <p:spPr>
          <a:xfrm>
            <a:off x="694944" y="4288536"/>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3" name="Google Shape;913;p23"/>
          <p:cNvSpPr txBox="1"/>
          <p:nvPr/>
        </p:nvSpPr>
        <p:spPr>
          <a:xfrm>
            <a:off x="731520" y="4297680"/>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Vulnerability-Class Knowledge Injection at agent spawn time (C3 / §7).</a:t>
            </a:r>
            <a:endParaRPr b="0" i="0" sz="1400" u="none" cap="none" strike="noStrike">
              <a:solidFill>
                <a:srgbClr val="000000"/>
              </a:solidFill>
              <a:latin typeface="Arial"/>
              <a:ea typeface="Arial"/>
              <a:cs typeface="Arial"/>
              <a:sym typeface="Arial"/>
            </a:endParaRPr>
          </a:p>
        </p:txBody>
      </p:sp>
      <p:sp>
        <p:nvSpPr>
          <p:cNvPr id="914" name="Google Shape;914;p23"/>
          <p:cNvSpPr/>
          <p:nvPr/>
        </p:nvSpPr>
        <p:spPr>
          <a:xfrm>
            <a:off x="274320" y="4544568"/>
            <a:ext cx="5898000" cy="1024200"/>
          </a:xfrm>
          <a:prstGeom prst="rect">
            <a:avLst/>
          </a:prstGeom>
          <a:solidFill>
            <a:srgbClr val="10162B"/>
          </a:solidFill>
          <a:ln cap="flat" cmpd="sng" w="127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5" name="Google Shape;915;p23"/>
          <p:cNvSpPr/>
          <p:nvPr/>
        </p:nvSpPr>
        <p:spPr>
          <a:xfrm>
            <a:off x="274320" y="4544568"/>
            <a:ext cx="347400" cy="10242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6" name="Google Shape;916;p23"/>
          <p:cNvSpPr txBox="1"/>
          <p:nvPr/>
        </p:nvSpPr>
        <p:spPr>
          <a:xfrm>
            <a:off x="292608" y="4919472"/>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917" name="Google Shape;917;p23"/>
          <p:cNvSpPr txBox="1"/>
          <p:nvPr/>
        </p:nvSpPr>
        <p:spPr>
          <a:xfrm>
            <a:off x="713232" y="4599432"/>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00BFD8"/>
                </a:solidFill>
                <a:latin typeface="Calibri"/>
                <a:ea typeface="Calibri"/>
                <a:cs typeface="Calibri"/>
                <a:sym typeface="Calibri"/>
              </a:rPr>
              <a:t>PentestAgent</a:t>
            </a:r>
            <a:endParaRPr b="0" i="0" sz="1400" u="none" cap="none" strike="noStrike">
              <a:solidFill>
                <a:srgbClr val="000000"/>
              </a:solidFill>
              <a:latin typeface="Arial"/>
              <a:ea typeface="Arial"/>
              <a:cs typeface="Arial"/>
              <a:sym typeface="Arial"/>
            </a:endParaRPr>
          </a:p>
        </p:txBody>
      </p:sp>
      <p:sp>
        <p:nvSpPr>
          <p:cNvPr id="918" name="Google Shape;918;p23"/>
          <p:cNvSpPr txBox="1"/>
          <p:nvPr/>
        </p:nvSpPr>
        <p:spPr>
          <a:xfrm>
            <a:off x="713232" y="4818888"/>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AsiaCCS '25  — Shen et al.</a:t>
            </a:r>
            <a:endParaRPr b="0" i="0" sz="1400" u="none" cap="none" strike="noStrike">
              <a:solidFill>
                <a:srgbClr val="000000"/>
              </a:solidFill>
              <a:latin typeface="Arial"/>
              <a:ea typeface="Arial"/>
              <a:cs typeface="Arial"/>
              <a:sym typeface="Arial"/>
            </a:endParaRPr>
          </a:p>
        </p:txBody>
      </p:sp>
      <p:sp>
        <p:nvSpPr>
          <p:cNvPr id="919" name="Google Shape;919;p23"/>
          <p:cNvSpPr txBox="1"/>
          <p:nvPr/>
        </p:nvSpPr>
        <p:spPr>
          <a:xfrm>
            <a:off x="713232" y="5001768"/>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Planning agent + RAG-backed shared memory.</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Execution agent self-diagnoses failed exploit attempts before abandoning.</a:t>
            </a:r>
            <a:endParaRPr b="0" i="0" sz="1400" u="none" cap="none" strike="noStrike">
              <a:solidFill>
                <a:srgbClr val="000000"/>
              </a:solidFill>
              <a:latin typeface="Arial"/>
              <a:ea typeface="Arial"/>
              <a:cs typeface="Arial"/>
              <a:sym typeface="Arial"/>
            </a:endParaRPr>
          </a:p>
        </p:txBody>
      </p:sp>
      <p:sp>
        <p:nvSpPr>
          <p:cNvPr id="920" name="Google Shape;920;p23"/>
          <p:cNvSpPr/>
          <p:nvPr/>
        </p:nvSpPr>
        <p:spPr>
          <a:xfrm>
            <a:off x="694944" y="5367528"/>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1" name="Google Shape;921;p23"/>
          <p:cNvSpPr txBox="1"/>
          <p:nvPr/>
        </p:nvSpPr>
        <p:spPr>
          <a:xfrm>
            <a:off x="731520" y="5376672"/>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Validation Agent self-debugging loop: Diagnose → Contextualize → Adapt → Cap.</a:t>
            </a:r>
            <a:endParaRPr b="0" i="0" sz="1400" u="none" cap="none" strike="noStrike">
              <a:solidFill>
                <a:srgbClr val="000000"/>
              </a:solidFill>
              <a:latin typeface="Arial"/>
              <a:ea typeface="Arial"/>
              <a:cs typeface="Arial"/>
              <a:sym typeface="Arial"/>
            </a:endParaRPr>
          </a:p>
        </p:txBody>
      </p:sp>
      <p:sp>
        <p:nvSpPr>
          <p:cNvPr id="922" name="Google Shape;922;p23"/>
          <p:cNvSpPr/>
          <p:nvPr/>
        </p:nvSpPr>
        <p:spPr>
          <a:xfrm>
            <a:off x="274320" y="5623560"/>
            <a:ext cx="5898000" cy="1024200"/>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3" name="Google Shape;923;p23"/>
          <p:cNvSpPr/>
          <p:nvPr/>
        </p:nvSpPr>
        <p:spPr>
          <a:xfrm>
            <a:off x="274320" y="5623560"/>
            <a:ext cx="347400" cy="1024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4" name="Google Shape;924;p23"/>
          <p:cNvSpPr txBox="1"/>
          <p:nvPr/>
        </p:nvSpPr>
        <p:spPr>
          <a:xfrm>
            <a:off x="292608" y="5998464"/>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925" name="Google Shape;925;p23"/>
          <p:cNvSpPr txBox="1"/>
          <p:nvPr/>
        </p:nvSpPr>
        <p:spPr>
          <a:xfrm>
            <a:off x="713232" y="5678424"/>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4545"/>
                </a:solidFill>
                <a:latin typeface="Calibri"/>
                <a:ea typeface="Calibri"/>
                <a:cs typeface="Calibri"/>
                <a:sym typeface="Calibri"/>
              </a:rPr>
              <a:t>VulnBot</a:t>
            </a:r>
            <a:endParaRPr b="0" i="0" sz="1400" u="none" cap="none" strike="noStrike">
              <a:solidFill>
                <a:srgbClr val="000000"/>
              </a:solidFill>
              <a:latin typeface="Arial"/>
              <a:ea typeface="Arial"/>
              <a:cs typeface="Arial"/>
              <a:sym typeface="Arial"/>
            </a:endParaRPr>
          </a:p>
        </p:txBody>
      </p:sp>
      <p:sp>
        <p:nvSpPr>
          <p:cNvPr id="926" name="Google Shape;926;p23"/>
          <p:cNvSpPr txBox="1"/>
          <p:nvPr/>
        </p:nvSpPr>
        <p:spPr>
          <a:xfrm>
            <a:off x="713232" y="5897880"/>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'25  — Kong et al.</a:t>
            </a:r>
            <a:endParaRPr b="0" i="0" sz="1400" u="none" cap="none" strike="noStrike">
              <a:solidFill>
                <a:srgbClr val="000000"/>
              </a:solidFill>
              <a:latin typeface="Arial"/>
              <a:ea typeface="Arial"/>
              <a:cs typeface="Arial"/>
              <a:sym typeface="Arial"/>
            </a:endParaRPr>
          </a:p>
        </p:txBody>
      </p:sp>
      <p:sp>
        <p:nvSpPr>
          <p:cNvPr id="927" name="Google Shape;927;p23"/>
          <p:cNvSpPr txBox="1"/>
          <p:nvPr/>
        </p:nvSpPr>
        <p:spPr>
          <a:xfrm>
            <a:off x="713232" y="6080760"/>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Five-module pipeline around a Penetration Task Graph.</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Summarizer condenses phase output — prevents raw history leaking between agents.</a:t>
            </a:r>
            <a:endParaRPr b="0" i="0" sz="1400" u="none" cap="none" strike="noStrike">
              <a:solidFill>
                <a:srgbClr val="000000"/>
              </a:solidFill>
              <a:latin typeface="Arial"/>
              <a:ea typeface="Arial"/>
              <a:cs typeface="Arial"/>
              <a:sym typeface="Arial"/>
            </a:endParaRPr>
          </a:p>
        </p:txBody>
      </p:sp>
      <p:sp>
        <p:nvSpPr>
          <p:cNvPr id="928" name="Google Shape;928;p23"/>
          <p:cNvSpPr/>
          <p:nvPr/>
        </p:nvSpPr>
        <p:spPr>
          <a:xfrm>
            <a:off x="694944" y="6446520"/>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9" name="Google Shape;929;p23"/>
          <p:cNvSpPr txBox="1"/>
          <p:nvPr/>
        </p:nvSpPr>
        <p:spPr>
          <a:xfrm>
            <a:off x="731520" y="6455664"/>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Context-Isolated Agent Spawning — agents return structured ASG delta, not raw history.</a:t>
            </a:r>
            <a:endParaRPr b="0" i="0" sz="1400" u="none" cap="none" strike="noStrike">
              <a:solidFill>
                <a:srgbClr val="000000"/>
              </a:solidFill>
              <a:latin typeface="Arial"/>
              <a:ea typeface="Arial"/>
              <a:cs typeface="Arial"/>
              <a:sym typeface="Arial"/>
            </a:endParaRPr>
          </a:p>
        </p:txBody>
      </p:sp>
      <p:sp>
        <p:nvSpPr>
          <p:cNvPr id="930" name="Google Shape;930;p23"/>
          <p:cNvSpPr/>
          <p:nvPr/>
        </p:nvSpPr>
        <p:spPr>
          <a:xfrm>
            <a:off x="6355080" y="987552"/>
            <a:ext cx="5669400" cy="274200"/>
          </a:xfrm>
          <a:prstGeom prst="rect">
            <a:avLst/>
          </a:prstGeom>
          <a:solidFill>
            <a:srgbClr val="120820"/>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1" name="Google Shape;931;p23"/>
          <p:cNvSpPr txBox="1"/>
          <p:nvPr/>
        </p:nvSpPr>
        <p:spPr>
          <a:xfrm>
            <a:off x="6464808" y="1005840"/>
            <a:ext cx="5486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  OPEN-SOURCE REPOSITORIES</a:t>
            </a:r>
            <a:endParaRPr b="0" i="0" sz="1400" u="none" cap="none" strike="noStrike">
              <a:solidFill>
                <a:srgbClr val="000000"/>
              </a:solidFill>
              <a:latin typeface="Arial"/>
              <a:ea typeface="Arial"/>
              <a:cs typeface="Arial"/>
              <a:sym typeface="Arial"/>
            </a:endParaRPr>
          </a:p>
        </p:txBody>
      </p:sp>
      <p:sp>
        <p:nvSpPr>
          <p:cNvPr id="932" name="Google Shape;932;p23"/>
          <p:cNvSpPr/>
          <p:nvPr/>
        </p:nvSpPr>
        <p:spPr>
          <a:xfrm>
            <a:off x="6355080" y="1307592"/>
            <a:ext cx="5669400" cy="1627500"/>
          </a:xfrm>
          <a:prstGeom prst="rect">
            <a:avLst/>
          </a:prstGeom>
          <a:solidFill>
            <a:srgbClr val="10162B"/>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3" name="Google Shape;933;p23"/>
          <p:cNvSpPr/>
          <p:nvPr/>
        </p:nvSpPr>
        <p:spPr>
          <a:xfrm>
            <a:off x="6355080" y="1307592"/>
            <a:ext cx="347400" cy="16275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4" name="Google Shape;934;p23"/>
          <p:cNvSpPr txBox="1"/>
          <p:nvPr/>
        </p:nvSpPr>
        <p:spPr>
          <a:xfrm>
            <a:off x="6373368" y="1984248"/>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935" name="Google Shape;935;p23"/>
          <p:cNvSpPr txBox="1"/>
          <p:nvPr/>
        </p:nvSpPr>
        <p:spPr>
          <a:xfrm>
            <a:off x="6793992" y="1380744"/>
            <a:ext cx="5184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PentAGI</a:t>
            </a:r>
            <a:endParaRPr b="0" i="0" sz="1400" u="none" cap="none" strike="noStrike">
              <a:solidFill>
                <a:srgbClr val="000000"/>
              </a:solidFill>
              <a:latin typeface="Arial"/>
              <a:ea typeface="Arial"/>
              <a:cs typeface="Arial"/>
              <a:sym typeface="Arial"/>
            </a:endParaRPr>
          </a:p>
        </p:txBody>
      </p:sp>
      <p:sp>
        <p:nvSpPr>
          <p:cNvPr id="936" name="Google Shape;936;p23"/>
          <p:cNvSpPr txBox="1"/>
          <p:nvPr/>
        </p:nvSpPr>
        <p:spPr>
          <a:xfrm>
            <a:off x="6793992" y="1645920"/>
            <a:ext cx="5184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vxcontrol/pentagi</a:t>
            </a:r>
            <a:endParaRPr b="0" i="0" sz="1400" u="none" cap="none" strike="noStrike">
              <a:solidFill>
                <a:srgbClr val="000000"/>
              </a:solidFill>
              <a:latin typeface="Arial"/>
              <a:ea typeface="Arial"/>
              <a:cs typeface="Arial"/>
              <a:sym typeface="Arial"/>
            </a:endParaRPr>
          </a:p>
        </p:txBody>
      </p:sp>
      <p:sp>
        <p:nvSpPr>
          <p:cNvPr id="937" name="Google Shape;937;p23"/>
          <p:cNvSpPr txBox="1"/>
          <p:nvPr/>
        </p:nvSpPr>
        <p:spPr>
          <a:xfrm>
            <a:off x="6793992" y="1837944"/>
            <a:ext cx="5184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Production multi-agent pentesting platform.</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Adviser detects fixation; Reflector nudges stuck agents.</a:t>
            </a:r>
            <a:endParaRPr b="0" i="0" sz="1400" u="none" cap="none" strike="noStrike">
              <a:solidFill>
                <a:srgbClr val="000000"/>
              </a:solidFill>
              <a:latin typeface="Arial"/>
              <a:ea typeface="Arial"/>
              <a:cs typeface="Arial"/>
              <a:sym typeface="Arial"/>
            </a:endParaRPr>
          </a:p>
        </p:txBody>
      </p:sp>
      <p:sp>
        <p:nvSpPr>
          <p:cNvPr id="938" name="Google Shape;938;p23"/>
          <p:cNvSpPr/>
          <p:nvPr/>
        </p:nvSpPr>
        <p:spPr>
          <a:xfrm>
            <a:off x="6775704" y="2642616"/>
            <a:ext cx="5175600" cy="2376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9" name="Google Shape;939;p23"/>
          <p:cNvSpPr txBox="1"/>
          <p:nvPr/>
        </p:nvSpPr>
        <p:spPr>
          <a:xfrm>
            <a:off x="6812280" y="2651760"/>
            <a:ext cx="51390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Cycle Guard (detects repeated identical tool calls) + Reflector (corrective guidance on repeated failures).</a:t>
            </a:r>
            <a:endParaRPr b="0" i="0" sz="1400" u="none" cap="none" strike="noStrike">
              <a:solidFill>
                <a:srgbClr val="000000"/>
              </a:solidFill>
              <a:latin typeface="Arial"/>
              <a:ea typeface="Arial"/>
              <a:cs typeface="Arial"/>
              <a:sym typeface="Arial"/>
            </a:endParaRPr>
          </a:p>
        </p:txBody>
      </p:sp>
      <p:sp>
        <p:nvSpPr>
          <p:cNvPr id="940" name="Google Shape;940;p23"/>
          <p:cNvSpPr/>
          <p:nvPr/>
        </p:nvSpPr>
        <p:spPr>
          <a:xfrm>
            <a:off x="6355080" y="3026664"/>
            <a:ext cx="5669400" cy="1627500"/>
          </a:xfrm>
          <a:prstGeom prst="rect">
            <a:avLst/>
          </a:prstGeom>
          <a:solidFill>
            <a:srgbClr val="10162B"/>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1" name="Google Shape;941;p23"/>
          <p:cNvSpPr/>
          <p:nvPr/>
        </p:nvSpPr>
        <p:spPr>
          <a:xfrm>
            <a:off x="6355080" y="3026664"/>
            <a:ext cx="347400" cy="16275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2" name="Google Shape;942;p23"/>
          <p:cNvSpPr txBox="1"/>
          <p:nvPr/>
        </p:nvSpPr>
        <p:spPr>
          <a:xfrm>
            <a:off x="6373368" y="3703320"/>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p:txBody>
      </p:sp>
      <p:sp>
        <p:nvSpPr>
          <p:cNvPr id="943" name="Google Shape;943;p23"/>
          <p:cNvSpPr txBox="1"/>
          <p:nvPr/>
        </p:nvSpPr>
        <p:spPr>
          <a:xfrm>
            <a:off x="6793992" y="3099816"/>
            <a:ext cx="5184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Claude Code</a:t>
            </a:r>
            <a:endParaRPr b="0" i="0" sz="1400" u="none" cap="none" strike="noStrike">
              <a:solidFill>
                <a:srgbClr val="000000"/>
              </a:solidFill>
              <a:latin typeface="Arial"/>
              <a:ea typeface="Arial"/>
              <a:cs typeface="Arial"/>
              <a:sym typeface="Arial"/>
            </a:endParaRPr>
          </a:p>
        </p:txBody>
      </p:sp>
      <p:sp>
        <p:nvSpPr>
          <p:cNvPr id="944" name="Google Shape;944;p23"/>
          <p:cNvSpPr txBox="1"/>
          <p:nvPr/>
        </p:nvSpPr>
        <p:spPr>
          <a:xfrm>
            <a:off x="6793992" y="3364992"/>
            <a:ext cx="5184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Anthropic pattern — yasasbanukaofficial/claude-code</a:t>
            </a:r>
            <a:endParaRPr b="0" i="0" sz="1400" u="none" cap="none" strike="noStrike">
              <a:solidFill>
                <a:srgbClr val="000000"/>
              </a:solidFill>
              <a:latin typeface="Arial"/>
              <a:ea typeface="Arial"/>
              <a:cs typeface="Arial"/>
              <a:sym typeface="Arial"/>
            </a:endParaRPr>
          </a:p>
        </p:txBody>
      </p:sp>
      <p:sp>
        <p:nvSpPr>
          <p:cNvPr id="945" name="Google Shape;945;p23"/>
          <p:cNvSpPr txBox="1"/>
          <p:nvPr/>
        </p:nvSpPr>
        <p:spPr>
          <a:xfrm>
            <a:off x="6793992" y="3557016"/>
            <a:ext cx="5184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yoloClassifier.ts: two-stage fast-filter + chain-of-thought tool-call auto-approval.</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27-event named hook architecture for operator intervention.</a:t>
            </a:r>
            <a:endParaRPr b="0" i="0" sz="1400" u="none" cap="none" strike="noStrike">
              <a:solidFill>
                <a:srgbClr val="000000"/>
              </a:solidFill>
              <a:latin typeface="Arial"/>
              <a:ea typeface="Arial"/>
              <a:cs typeface="Arial"/>
              <a:sym typeface="Arial"/>
            </a:endParaRPr>
          </a:p>
        </p:txBody>
      </p:sp>
      <p:sp>
        <p:nvSpPr>
          <p:cNvPr id="946" name="Google Shape;946;p23"/>
          <p:cNvSpPr/>
          <p:nvPr/>
        </p:nvSpPr>
        <p:spPr>
          <a:xfrm>
            <a:off x="6775704" y="4361688"/>
            <a:ext cx="5175600" cy="2376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7" name="Google Shape;947;p23"/>
          <p:cNvSpPr txBox="1"/>
          <p:nvPr/>
        </p:nvSpPr>
        <p:spPr>
          <a:xfrm>
            <a:off x="6812280" y="4370832"/>
            <a:ext cx="5139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LLM Permission Classifier (Medium-tier Risk Gate) + 6-event Agent Lifecycle Hook System.</a:t>
            </a:r>
            <a:endParaRPr b="0" i="0" sz="1400" u="none" cap="none" strike="noStrike">
              <a:solidFill>
                <a:srgbClr val="000000"/>
              </a:solidFill>
              <a:latin typeface="Arial"/>
              <a:ea typeface="Arial"/>
              <a:cs typeface="Arial"/>
              <a:sym typeface="Arial"/>
            </a:endParaRPr>
          </a:p>
        </p:txBody>
      </p:sp>
      <p:sp>
        <p:nvSpPr>
          <p:cNvPr id="948" name="Google Shape;948;p23"/>
          <p:cNvSpPr/>
          <p:nvPr/>
        </p:nvSpPr>
        <p:spPr>
          <a:xfrm>
            <a:off x="6355080" y="4745736"/>
            <a:ext cx="5669400" cy="1627500"/>
          </a:xfrm>
          <a:prstGeom prst="rect">
            <a:avLst/>
          </a:prstGeom>
          <a:solidFill>
            <a:srgbClr val="10162B"/>
          </a:solidFill>
          <a:ln cap="flat" cmpd="sng" w="152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9" name="Google Shape;949;p23"/>
          <p:cNvSpPr/>
          <p:nvPr/>
        </p:nvSpPr>
        <p:spPr>
          <a:xfrm>
            <a:off x="6355080" y="4745736"/>
            <a:ext cx="347400" cy="16275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0" name="Google Shape;950;p23"/>
          <p:cNvSpPr txBox="1"/>
          <p:nvPr/>
        </p:nvSpPr>
        <p:spPr>
          <a:xfrm>
            <a:off x="6373368" y="5422392"/>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951" name="Google Shape;951;p23"/>
          <p:cNvSpPr txBox="1"/>
          <p:nvPr/>
        </p:nvSpPr>
        <p:spPr>
          <a:xfrm>
            <a:off x="6793992" y="4818888"/>
            <a:ext cx="5184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Hermes Agent</a:t>
            </a:r>
            <a:endParaRPr b="0" i="0" sz="1400" u="none" cap="none" strike="noStrike">
              <a:solidFill>
                <a:srgbClr val="000000"/>
              </a:solidFill>
              <a:latin typeface="Arial"/>
              <a:ea typeface="Arial"/>
              <a:cs typeface="Arial"/>
              <a:sym typeface="Arial"/>
            </a:endParaRPr>
          </a:p>
        </p:txBody>
      </p:sp>
      <p:sp>
        <p:nvSpPr>
          <p:cNvPr id="952" name="Google Shape;952;p23"/>
          <p:cNvSpPr txBox="1"/>
          <p:nvPr/>
        </p:nvSpPr>
        <p:spPr>
          <a:xfrm>
            <a:off x="6793992" y="5084064"/>
            <a:ext cx="5184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NousResearch/hermes-agent</a:t>
            </a:r>
            <a:endParaRPr b="0" i="0" sz="1400" u="none" cap="none" strike="noStrike">
              <a:solidFill>
                <a:srgbClr val="000000"/>
              </a:solidFill>
              <a:latin typeface="Arial"/>
              <a:ea typeface="Arial"/>
              <a:cs typeface="Arial"/>
              <a:sym typeface="Arial"/>
            </a:endParaRPr>
          </a:p>
        </p:txBody>
      </p:sp>
      <p:sp>
        <p:nvSpPr>
          <p:cNvPr id="953" name="Google Shape;953;p23"/>
          <p:cNvSpPr txBox="1"/>
          <p:nvPr/>
        </p:nvSpPr>
        <p:spPr>
          <a:xfrm>
            <a:off x="6793992" y="5276088"/>
            <a:ext cx="5184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Closed learning loop: skill crystallization from completed tasks.</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Structured trajectory export for SFT/RL training via DSPy + Atropos.</a:t>
            </a:r>
            <a:endParaRPr b="0" i="0" sz="1400" u="none" cap="none" strike="noStrike">
              <a:solidFill>
                <a:srgbClr val="000000"/>
              </a:solidFill>
              <a:latin typeface="Arial"/>
              <a:ea typeface="Arial"/>
              <a:cs typeface="Arial"/>
              <a:sym typeface="Arial"/>
            </a:endParaRPr>
          </a:p>
        </p:txBody>
      </p:sp>
      <p:sp>
        <p:nvSpPr>
          <p:cNvPr id="954" name="Google Shape;954;p23"/>
          <p:cNvSpPr/>
          <p:nvPr/>
        </p:nvSpPr>
        <p:spPr>
          <a:xfrm>
            <a:off x="6775704" y="6080760"/>
            <a:ext cx="5175600" cy="2376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5" name="Google Shape;955;p23"/>
          <p:cNvSpPr txBox="1"/>
          <p:nvPr/>
        </p:nvSpPr>
        <p:spPr>
          <a:xfrm>
            <a:off x="6812280" y="6089904"/>
            <a:ext cx="5139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Attack Strategy Library crystallization (C11) + Engagement Trajectory Export dataset (C12).</a:t>
            </a:r>
            <a:endParaRPr b="0" i="0" sz="1400" u="none" cap="none" strike="noStrike">
              <a:solidFill>
                <a:srgbClr val="000000"/>
              </a:solidFill>
              <a:latin typeface="Arial"/>
              <a:ea typeface="Arial"/>
              <a:cs typeface="Arial"/>
              <a:sym typeface="Arial"/>
            </a:endParaRPr>
          </a:p>
        </p:txBody>
      </p:sp>
      <p:sp>
        <p:nvSpPr>
          <p:cNvPr id="956" name="Google Shape;956;p23"/>
          <p:cNvSpPr/>
          <p:nvPr/>
        </p:nvSpPr>
        <p:spPr>
          <a:xfrm>
            <a:off x="274320" y="987552"/>
            <a:ext cx="5898000" cy="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7" name="Google Shape;957;p23"/>
          <p:cNvSpPr txBox="1"/>
          <p:nvPr/>
        </p:nvSpPr>
        <p:spPr>
          <a:xfrm>
            <a:off x="11656597" y="82400"/>
            <a:ext cx="4278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