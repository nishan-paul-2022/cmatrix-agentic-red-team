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6" Type="http://schemas.openxmlformats.org/officeDocument/2006/relationships/slide" Target="slides/slide1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0" name="Google Shape;21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4" name="Google Shape;33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42" name="Google Shape;442;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39" name="Google Shape;53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g3f29c58e3b1_0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625" name="Google Shape;625;g3f29c58e3b1_0_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g3f29c58e3b1_0_1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735" name="Google Shape;735;g3f29c58e3b1_0_1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0" name="Shape 820"/>
        <p:cNvGrpSpPr/>
        <p:nvPr/>
      </p:nvGrpSpPr>
      <p:grpSpPr>
        <a:xfrm>
          <a:off x="0" y="0"/>
          <a:ext cx="0" cy="0"/>
          <a:chOff x="0" y="0"/>
          <a:chExt cx="0" cy="0"/>
        </a:xfrm>
      </p:grpSpPr>
      <p:sp>
        <p:nvSpPr>
          <p:cNvPr id="821" name="Google Shape;821;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2" name="Google Shape;822;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g3f29c58e3b1_0_3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80" name="Google Shape;880;g3f29c58e3b1_0_3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3" name="Shape 83"/>
        <p:cNvGrpSpPr/>
        <p:nvPr/>
      </p:nvGrpSpPr>
      <p:grpSpPr>
        <a:xfrm>
          <a:off x="0" y="0"/>
          <a:ext cx="0" cy="0"/>
          <a:chOff x="0" y="0"/>
          <a:chExt cx="0" cy="0"/>
        </a:xfrm>
      </p:grpSpPr>
      <p:sp>
        <p:nvSpPr>
          <p:cNvPr id="84" name="Google Shape;84;p13"/>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 name="Google Shape;85;p13"/>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 name="Google Shape;86;p13"/>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 name="Google Shape;87;p13"/>
          <p:cNvSpPr txBox="1"/>
          <p:nvPr/>
        </p:nvSpPr>
        <p:spPr>
          <a:xfrm>
            <a:off x="457200" y="777240"/>
            <a:ext cx="7315200" cy="4114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00E5FF"/>
                </a:solidFill>
                <a:latin typeface="Calibri"/>
                <a:ea typeface="Calibri"/>
                <a:cs typeface="Calibri"/>
                <a:sym typeface="Calibri"/>
              </a:rPr>
              <a:t>RESEARCH PRESENTATION</a:t>
            </a:r>
            <a:endParaRPr b="0" i="0" sz="1400" u="none" cap="none" strike="noStrike">
              <a:solidFill>
                <a:srgbClr val="000000"/>
              </a:solidFill>
              <a:latin typeface="Arial"/>
              <a:ea typeface="Arial"/>
              <a:cs typeface="Arial"/>
              <a:sym typeface="Arial"/>
            </a:endParaRPr>
          </a:p>
        </p:txBody>
      </p:sp>
      <p:sp>
        <p:nvSpPr>
          <p:cNvPr id="88" name="Google Shape;88;p13"/>
          <p:cNvSpPr txBox="1"/>
          <p:nvPr/>
        </p:nvSpPr>
        <p:spPr>
          <a:xfrm>
            <a:off x="457200" y="1234440"/>
            <a:ext cx="8046720" cy="17373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200"/>
              <a:buFont typeface="Arial"/>
              <a:buNone/>
            </a:pPr>
            <a:r>
              <a:rPr b="1" i="0" lang="en-US" sz="7200" u="none" cap="none" strike="noStrike">
                <a:solidFill>
                  <a:srgbClr val="FFFFFF"/>
                </a:solidFill>
                <a:latin typeface="Calibri"/>
                <a:ea typeface="Calibri"/>
                <a:cs typeface="Calibri"/>
                <a:sym typeface="Calibri"/>
              </a:rPr>
              <a:t>CMatrix</a:t>
            </a:r>
            <a:endParaRPr b="0" i="0" sz="1400" u="none" cap="none" strike="noStrike">
              <a:solidFill>
                <a:srgbClr val="000000"/>
              </a:solidFill>
              <a:latin typeface="Arial"/>
              <a:ea typeface="Arial"/>
              <a:cs typeface="Arial"/>
              <a:sym typeface="Arial"/>
            </a:endParaRPr>
          </a:p>
        </p:txBody>
      </p:sp>
      <p:sp>
        <p:nvSpPr>
          <p:cNvPr id="89" name="Google Shape;89;p13"/>
          <p:cNvSpPr txBox="1"/>
          <p:nvPr/>
        </p:nvSpPr>
        <p:spPr>
          <a:xfrm>
            <a:off x="457200" y="2788920"/>
            <a:ext cx="8686800" cy="10972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1" lang="en-US" sz="2200" u="none" cap="none" strike="noStrike">
                <a:solidFill>
                  <a:srgbClr val="00E5FF"/>
                </a:solidFill>
                <a:latin typeface="Calibri"/>
                <a:ea typeface="Calibri"/>
                <a:cs typeface="Calibri"/>
                <a:sym typeface="Calibri"/>
              </a:rPr>
              <a:t>Dual-Graph-Guided LLM-Orchestrated</a:t>
            </a:r>
            <a:br>
              <a:rPr b="0" i="1" lang="en-US" sz="2200" u="none" cap="none" strike="noStrike">
                <a:solidFill>
                  <a:srgbClr val="00E5FF"/>
                </a:solidFill>
                <a:latin typeface="Calibri"/>
                <a:ea typeface="Calibri"/>
                <a:cs typeface="Calibri"/>
                <a:sym typeface="Calibri"/>
              </a:rPr>
            </a:br>
            <a:r>
              <a:rPr b="0" i="1" lang="en-US" sz="2200" u="none" cap="none" strike="noStrike">
                <a:solidFill>
                  <a:srgbClr val="00E5FF"/>
                </a:solidFill>
                <a:latin typeface="Calibri"/>
                <a:ea typeface="Calibri"/>
                <a:cs typeface="Calibri"/>
                <a:sym typeface="Calibri"/>
              </a:rPr>
              <a:t>Multi-Agent Framework for Autonomous VAPT</a:t>
            </a:r>
            <a:endParaRPr b="0" i="0" sz="1400" u="none" cap="none" strike="noStrike">
              <a:solidFill>
                <a:srgbClr val="000000"/>
              </a:solidFill>
              <a:latin typeface="Arial"/>
              <a:ea typeface="Arial"/>
              <a:cs typeface="Arial"/>
              <a:sym typeface="Arial"/>
            </a:endParaRPr>
          </a:p>
        </p:txBody>
      </p:sp>
      <p:sp>
        <p:nvSpPr>
          <p:cNvPr id="90" name="Google Shape;90;p13"/>
          <p:cNvSpPr/>
          <p:nvPr/>
        </p:nvSpPr>
        <p:spPr>
          <a:xfrm>
            <a:off x="457200" y="3913632"/>
            <a:ext cx="5943600" cy="27432"/>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 name="Google Shape;91;p13"/>
          <p:cNvSpPr/>
          <p:nvPr/>
        </p:nvSpPr>
        <p:spPr>
          <a:xfrm>
            <a:off x="45720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 name="Google Shape;92;p13"/>
          <p:cNvSpPr txBox="1"/>
          <p:nvPr/>
        </p:nvSpPr>
        <p:spPr>
          <a:xfrm>
            <a:off x="54864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Autonomous Pentesting</a:t>
            </a:r>
            <a:endParaRPr b="0" i="0" sz="1400" u="none" cap="none" strike="noStrike">
              <a:solidFill>
                <a:srgbClr val="000000"/>
              </a:solidFill>
              <a:latin typeface="Arial"/>
              <a:ea typeface="Arial"/>
              <a:cs typeface="Arial"/>
              <a:sym typeface="Arial"/>
            </a:endParaRPr>
          </a:p>
        </p:txBody>
      </p:sp>
      <p:sp>
        <p:nvSpPr>
          <p:cNvPr id="93" name="Google Shape;93;p13"/>
          <p:cNvSpPr/>
          <p:nvPr/>
        </p:nvSpPr>
        <p:spPr>
          <a:xfrm>
            <a:off x="324612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 name="Google Shape;94;p13"/>
          <p:cNvSpPr txBox="1"/>
          <p:nvPr/>
        </p:nvSpPr>
        <p:spPr>
          <a:xfrm>
            <a:off x="333756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AI Agent Orchestration</a:t>
            </a:r>
            <a:endParaRPr b="0" i="0" sz="1400" u="none" cap="none" strike="noStrike">
              <a:solidFill>
                <a:srgbClr val="000000"/>
              </a:solidFill>
              <a:latin typeface="Arial"/>
              <a:ea typeface="Arial"/>
              <a:cs typeface="Arial"/>
              <a:sym typeface="Arial"/>
            </a:endParaRPr>
          </a:p>
        </p:txBody>
      </p:sp>
      <p:sp>
        <p:nvSpPr>
          <p:cNvPr id="95" name="Google Shape;95;p13"/>
          <p:cNvSpPr/>
          <p:nvPr/>
        </p:nvSpPr>
        <p:spPr>
          <a:xfrm>
            <a:off x="6035040" y="4069080"/>
            <a:ext cx="2514600" cy="384048"/>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6" name="Google Shape;96;p13"/>
          <p:cNvSpPr txBox="1"/>
          <p:nvPr/>
        </p:nvSpPr>
        <p:spPr>
          <a:xfrm>
            <a:off x="6126480" y="4096512"/>
            <a:ext cx="2377440"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Attack Graph Reasoning</a:t>
            </a:r>
            <a:endParaRPr b="0" i="0" sz="1400" u="none" cap="none" strike="noStrike">
              <a:solidFill>
                <a:srgbClr val="000000"/>
              </a:solidFill>
              <a:latin typeface="Arial"/>
              <a:ea typeface="Arial"/>
              <a:cs typeface="Arial"/>
              <a:sym typeface="Arial"/>
            </a:endParaRPr>
          </a:p>
        </p:txBody>
      </p:sp>
      <p:sp>
        <p:nvSpPr>
          <p:cNvPr id="97" name="Google Shape;97;p13"/>
          <p:cNvSpPr txBox="1"/>
          <p:nvPr/>
        </p:nvSpPr>
        <p:spPr>
          <a:xfrm>
            <a:off x="457200" y="4754880"/>
            <a:ext cx="73152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A0AAB8"/>
                </a:solidFill>
                <a:latin typeface="Calibri"/>
                <a:ea typeface="Calibri"/>
                <a:cs typeface="Calibri"/>
                <a:sym typeface="Calibri"/>
              </a:rPr>
              <a:t>Supervisor Meeting  ·  June 2026</a:t>
            </a:r>
            <a:endParaRPr b="0" i="0" sz="1400" u="none" cap="none" strike="noStrike">
              <a:solidFill>
                <a:srgbClr val="000000"/>
              </a:solidFill>
              <a:latin typeface="Arial"/>
              <a:ea typeface="Arial"/>
              <a:cs typeface="Arial"/>
              <a:sym typeface="Arial"/>
            </a:endParaRPr>
          </a:p>
        </p:txBody>
      </p:sp>
      <p:sp>
        <p:nvSpPr>
          <p:cNvPr id="98" name="Google Shape;98;p13"/>
          <p:cNvSpPr txBox="1"/>
          <p:nvPr/>
        </p:nvSpPr>
        <p:spPr>
          <a:xfrm>
            <a:off x="457200" y="5138928"/>
            <a:ext cx="91440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A0AAB8"/>
                </a:solidFill>
                <a:latin typeface="Calibri"/>
                <a:ea typeface="Calibri"/>
                <a:cs typeface="Calibri"/>
                <a:sym typeface="Calibri"/>
              </a:rPr>
              <a:t>Black-Box &amp; Grey-Box Assessment  ·  Network  ·  Web  ·  REST API</a:t>
            </a:r>
            <a:endParaRPr b="0" i="0" sz="1400" u="none" cap="none" strike="noStrike">
              <a:solidFill>
                <a:srgbClr val="000000"/>
              </a:solidFill>
              <a:latin typeface="Arial"/>
              <a:ea typeface="Arial"/>
              <a:cs typeface="Arial"/>
              <a:sym typeface="Arial"/>
            </a:endParaRPr>
          </a:p>
        </p:txBody>
      </p:sp>
      <p:sp>
        <p:nvSpPr>
          <p:cNvPr id="99" name="Google Shape;99;p13"/>
          <p:cNvSpPr txBox="1"/>
          <p:nvPr/>
        </p:nvSpPr>
        <p:spPr>
          <a:xfrm>
            <a:off x="11807690" y="85205"/>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03" name="Shape 103"/>
        <p:cNvGrpSpPr/>
        <p:nvPr/>
      </p:nvGrpSpPr>
      <p:grpSpPr>
        <a:xfrm>
          <a:off x="0" y="0"/>
          <a:ext cx="0" cy="0"/>
          <a:chOff x="0" y="0"/>
          <a:chExt cx="0" cy="0"/>
        </a:xfrm>
      </p:grpSpPr>
      <p:sp>
        <p:nvSpPr>
          <p:cNvPr id="104" name="Google Shape;104;p14"/>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5" name="Google Shape;105;p14"/>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6" name="Google Shape;106;p14"/>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 name="Google Shape;107;p14"/>
          <p:cNvSpPr txBox="1"/>
          <p:nvPr/>
        </p:nvSpPr>
        <p:spPr>
          <a:xfrm>
            <a:off x="274320" y="64008"/>
            <a:ext cx="73152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THE PROBLEM</a:t>
            </a:r>
            <a:endParaRPr b="0" i="0" sz="1400" u="none" cap="none" strike="noStrike">
              <a:solidFill>
                <a:srgbClr val="000000"/>
              </a:solidFill>
              <a:latin typeface="Arial"/>
              <a:ea typeface="Arial"/>
              <a:cs typeface="Arial"/>
              <a:sym typeface="Arial"/>
            </a:endParaRPr>
          </a:p>
        </p:txBody>
      </p:sp>
      <p:sp>
        <p:nvSpPr>
          <p:cNvPr id="108" name="Google Shape;108;p14"/>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400"/>
              <a:buFont typeface="Arial"/>
              <a:buNone/>
            </a:pPr>
            <a:r>
              <a:rPr b="1" i="0" lang="en-US" sz="3400" u="none" cap="none" strike="noStrike">
                <a:solidFill>
                  <a:srgbClr val="FFFFFF"/>
                </a:solidFill>
                <a:latin typeface="Calibri"/>
                <a:ea typeface="Calibri"/>
                <a:cs typeface="Calibri"/>
                <a:sym typeface="Calibri"/>
              </a:rPr>
              <a:t>What Existing VAPT Systems Get Wrong</a:t>
            </a:r>
            <a:endParaRPr b="0" i="0" sz="1400" u="none" cap="none" strike="noStrike">
              <a:solidFill>
                <a:srgbClr val="000000"/>
              </a:solidFill>
              <a:latin typeface="Arial"/>
              <a:ea typeface="Arial"/>
              <a:cs typeface="Arial"/>
              <a:sym typeface="Arial"/>
            </a:endParaRPr>
          </a:p>
        </p:txBody>
      </p:sp>
      <p:sp>
        <p:nvSpPr>
          <p:cNvPr id="109" name="Google Shape;109;p14"/>
          <p:cNvSpPr/>
          <p:nvPr/>
        </p:nvSpPr>
        <p:spPr>
          <a:xfrm>
            <a:off x="274325" y="120700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0" name="Google Shape;110;p14"/>
          <p:cNvSpPr txBox="1"/>
          <p:nvPr/>
        </p:nvSpPr>
        <p:spPr>
          <a:xfrm>
            <a:off x="384048" y="1298448"/>
            <a:ext cx="365760" cy="457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1" name="Google Shape;111;p14"/>
          <p:cNvSpPr txBox="1"/>
          <p:nvPr/>
        </p:nvSpPr>
        <p:spPr>
          <a:xfrm>
            <a:off x="713232" y="1280160"/>
            <a:ext cx="475488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Structured World Model</a:t>
            </a:r>
            <a:endParaRPr b="0" i="0" sz="1400" u="none" cap="none" strike="noStrike">
              <a:solidFill>
                <a:srgbClr val="000000"/>
              </a:solidFill>
              <a:latin typeface="Arial"/>
              <a:ea typeface="Arial"/>
              <a:cs typeface="Arial"/>
              <a:sym typeface="Arial"/>
            </a:endParaRPr>
          </a:p>
        </p:txBody>
      </p:sp>
      <p:sp>
        <p:nvSpPr>
          <p:cNvPr id="112" name="Google Shape;112;p14"/>
          <p:cNvSpPr txBox="1"/>
          <p:nvPr/>
        </p:nvSpPr>
        <p:spPr>
          <a:xfrm>
            <a:off x="713232" y="1609344"/>
            <a:ext cx="4754880" cy="6583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Systems reason from flat conversation history or task queues — no graph of what the target actually is.</a:t>
            </a:r>
            <a:endParaRPr b="0" i="0" sz="1400" u="none" cap="none" strike="noStrike">
              <a:solidFill>
                <a:srgbClr val="000000"/>
              </a:solidFill>
              <a:latin typeface="Arial"/>
              <a:ea typeface="Arial"/>
              <a:cs typeface="Arial"/>
              <a:sym typeface="Arial"/>
            </a:endParaRPr>
          </a:p>
        </p:txBody>
      </p:sp>
      <p:sp>
        <p:nvSpPr>
          <p:cNvPr id="113" name="Google Shape;113;p14"/>
          <p:cNvSpPr/>
          <p:nvPr/>
        </p:nvSpPr>
        <p:spPr>
          <a:xfrm>
            <a:off x="274400" y="2291687"/>
            <a:ext cx="5303400" cy="910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4" name="Google Shape;114;p14"/>
          <p:cNvSpPr txBox="1"/>
          <p:nvPr/>
        </p:nvSpPr>
        <p:spPr>
          <a:xfrm>
            <a:off x="384073" y="2433613"/>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5" name="Google Shape;115;p14"/>
          <p:cNvSpPr txBox="1"/>
          <p:nvPr/>
        </p:nvSpPr>
        <p:spPr>
          <a:xfrm>
            <a:off x="713257" y="2415325"/>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No Attack Path Reasoning</a:t>
            </a:r>
            <a:endParaRPr b="0" i="0" sz="1400" u="none" cap="none" strike="noStrike">
              <a:solidFill>
                <a:srgbClr val="000000"/>
              </a:solidFill>
              <a:latin typeface="Arial"/>
              <a:ea typeface="Arial"/>
              <a:cs typeface="Arial"/>
              <a:sym typeface="Arial"/>
            </a:endParaRPr>
          </a:p>
        </p:txBody>
      </p:sp>
      <p:sp>
        <p:nvSpPr>
          <p:cNvPr id="116" name="Google Shape;116;p14"/>
          <p:cNvSpPr txBox="1"/>
          <p:nvPr/>
        </p:nvSpPr>
        <p:spPr>
          <a:xfrm>
            <a:off x="713257" y="2744509"/>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Finished tasks are logged, not understood. Systems cannot represent which vulnerabilities chain together or why.</a:t>
            </a:r>
            <a:endParaRPr b="0" i="0" sz="1400" u="none" cap="none" strike="noStrike">
              <a:solidFill>
                <a:srgbClr val="000000"/>
              </a:solidFill>
              <a:latin typeface="Arial"/>
              <a:ea typeface="Arial"/>
              <a:cs typeface="Arial"/>
              <a:sym typeface="Arial"/>
            </a:endParaRPr>
          </a:p>
        </p:txBody>
      </p:sp>
      <p:sp>
        <p:nvSpPr>
          <p:cNvPr id="117" name="Google Shape;117;p14"/>
          <p:cNvSpPr/>
          <p:nvPr/>
        </p:nvSpPr>
        <p:spPr>
          <a:xfrm>
            <a:off x="274400" y="3307211"/>
            <a:ext cx="5303400" cy="9525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 name="Google Shape;118;p14"/>
          <p:cNvSpPr txBox="1"/>
          <p:nvPr/>
        </p:nvSpPr>
        <p:spPr>
          <a:xfrm>
            <a:off x="383998" y="341419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19" name="Google Shape;119;p14"/>
          <p:cNvSpPr txBox="1"/>
          <p:nvPr/>
        </p:nvSpPr>
        <p:spPr>
          <a:xfrm>
            <a:off x="713195" y="3403090"/>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Fragile Re-Planning</a:t>
            </a:r>
            <a:endParaRPr b="0" i="0" sz="1400" u="none" cap="none" strike="noStrike">
              <a:solidFill>
                <a:srgbClr val="000000"/>
              </a:solidFill>
              <a:latin typeface="Arial"/>
              <a:ea typeface="Arial"/>
              <a:cs typeface="Arial"/>
              <a:sym typeface="Arial"/>
            </a:endParaRPr>
          </a:p>
        </p:txBody>
      </p:sp>
      <p:sp>
        <p:nvSpPr>
          <p:cNvPr id="120" name="Google Shape;120;p14"/>
          <p:cNvSpPr txBox="1"/>
          <p:nvPr/>
        </p:nvSpPr>
        <p:spPr>
          <a:xfrm>
            <a:off x="713120" y="373712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Dynamic re-planning is ad-hoc. There is no formal trigger grounded in discovered evidence.</a:t>
            </a:r>
            <a:endParaRPr b="0" i="0" sz="1400" u="none" cap="none" strike="noStrike">
              <a:solidFill>
                <a:srgbClr val="000000"/>
              </a:solidFill>
              <a:latin typeface="Arial"/>
              <a:ea typeface="Arial"/>
              <a:cs typeface="Arial"/>
              <a:sym typeface="Arial"/>
            </a:endParaRPr>
          </a:p>
        </p:txBody>
      </p:sp>
      <p:sp>
        <p:nvSpPr>
          <p:cNvPr id="121" name="Google Shape;121;p14"/>
          <p:cNvSpPr/>
          <p:nvPr/>
        </p:nvSpPr>
        <p:spPr>
          <a:xfrm>
            <a:off x="274400" y="4372376"/>
            <a:ext cx="5303400" cy="1045800"/>
          </a:xfrm>
          <a:prstGeom prst="rect">
            <a:avLst/>
          </a:prstGeom>
          <a:solidFill>
            <a:srgbClr val="2A1010"/>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 name="Google Shape;122;p14"/>
          <p:cNvSpPr txBox="1"/>
          <p:nvPr/>
        </p:nvSpPr>
        <p:spPr>
          <a:xfrm>
            <a:off x="383973" y="4435131"/>
            <a:ext cx="3657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FF4545"/>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3" name="Google Shape;123;p14"/>
          <p:cNvSpPr txBox="1"/>
          <p:nvPr/>
        </p:nvSpPr>
        <p:spPr>
          <a:xfrm>
            <a:off x="713075" y="4481324"/>
            <a:ext cx="4755000" cy="30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Arbitrary Termination</a:t>
            </a:r>
            <a:endParaRPr b="0" i="0" sz="1400" u="none" cap="none" strike="noStrike">
              <a:solidFill>
                <a:srgbClr val="000000"/>
              </a:solidFill>
              <a:latin typeface="Arial"/>
              <a:ea typeface="Arial"/>
              <a:cs typeface="Arial"/>
              <a:sym typeface="Arial"/>
            </a:endParaRPr>
          </a:p>
        </p:txBody>
      </p:sp>
      <p:sp>
        <p:nvSpPr>
          <p:cNvPr id="124" name="Google Shape;124;p14"/>
          <p:cNvSpPr txBox="1"/>
          <p:nvPr/>
        </p:nvSpPr>
        <p:spPr>
          <a:xfrm>
            <a:off x="713070" y="4814764"/>
            <a:ext cx="4755000" cy="446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A0AAB8"/>
                </a:solidFill>
                <a:latin typeface="Calibri"/>
                <a:ea typeface="Calibri"/>
                <a:cs typeface="Calibri"/>
                <a:sym typeface="Calibri"/>
              </a:rPr>
              <a:t>Missions end on time-limits or empty queues — not because the attack surface and all chains are truly exhausted.</a:t>
            </a:r>
            <a:endParaRPr b="0" i="0" sz="1400" u="none" cap="none" strike="noStrike">
              <a:solidFill>
                <a:srgbClr val="000000"/>
              </a:solidFill>
              <a:latin typeface="Arial"/>
              <a:ea typeface="Arial"/>
              <a:cs typeface="Arial"/>
              <a:sym typeface="Arial"/>
            </a:endParaRPr>
          </a:p>
        </p:txBody>
      </p:sp>
      <p:sp>
        <p:nvSpPr>
          <p:cNvPr id="125" name="Google Shape;125;p14"/>
          <p:cNvSpPr/>
          <p:nvPr/>
        </p:nvSpPr>
        <p:spPr>
          <a:xfrm>
            <a:off x="5943600" y="1207008"/>
            <a:ext cx="5943600" cy="2331720"/>
          </a:xfrm>
          <a:prstGeom prst="rect">
            <a:avLst/>
          </a:prstGeom>
          <a:solidFill>
            <a:srgbClr val="10162B"/>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6" name="Google Shape;126;p14"/>
          <p:cNvSpPr txBox="1"/>
          <p:nvPr/>
        </p:nvSpPr>
        <p:spPr>
          <a:xfrm>
            <a:off x="6080760" y="1252728"/>
            <a:ext cx="54864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000"/>
              <a:buFont typeface="Arial"/>
              <a:buNone/>
            </a:pPr>
            <a:r>
              <a:rPr b="1" i="0" lang="en-US" sz="6000" u="none" cap="none" strike="noStrike">
                <a:solidFill>
                  <a:srgbClr val="00E5FF"/>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27" name="Google Shape;127;p14"/>
          <p:cNvSpPr txBox="1"/>
          <p:nvPr/>
        </p:nvSpPr>
        <p:spPr>
          <a:xfrm>
            <a:off x="6126480" y="1709928"/>
            <a:ext cx="5577840" cy="1463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1" lang="en-US" sz="2000" u="none" cap="none" strike="noStrike">
                <a:solidFill>
                  <a:srgbClr val="FFFFFF"/>
                </a:solidFill>
                <a:latin typeface="Calibri"/>
                <a:ea typeface="Calibri"/>
                <a:cs typeface="Calibri"/>
                <a:sym typeface="Calibri"/>
              </a:rPr>
              <a:t>They automate tool execution.</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CMatrix automates the reasoning</a:t>
            </a:r>
            <a:br>
              <a:rPr b="0" i="1" lang="en-US" sz="2000" u="none" cap="none" strike="noStrike">
                <a:solidFill>
                  <a:srgbClr val="FFFFFF"/>
                </a:solidFill>
                <a:latin typeface="Calibri"/>
                <a:ea typeface="Calibri"/>
                <a:cs typeface="Calibri"/>
                <a:sym typeface="Calibri"/>
              </a:rPr>
            </a:br>
            <a:r>
              <a:rPr b="0" i="1" lang="en-US" sz="2000" u="none" cap="none" strike="noStrike">
                <a:solidFill>
                  <a:srgbClr val="FFFFFF"/>
                </a:solidFill>
                <a:latin typeface="Calibri"/>
                <a:ea typeface="Calibri"/>
                <a:cs typeface="Calibri"/>
                <a:sym typeface="Calibri"/>
              </a:rPr>
              <a:t>of a professional penetration tester.</a:t>
            </a:r>
            <a:endParaRPr b="0" i="0" sz="1400" u="none" cap="none" strike="noStrike">
              <a:solidFill>
                <a:srgbClr val="000000"/>
              </a:solidFill>
              <a:latin typeface="Arial"/>
              <a:ea typeface="Arial"/>
              <a:cs typeface="Arial"/>
              <a:sym typeface="Arial"/>
            </a:endParaRPr>
          </a:p>
        </p:txBody>
      </p:sp>
      <p:sp>
        <p:nvSpPr>
          <p:cNvPr id="128" name="Google Shape;128;p14"/>
          <p:cNvSpPr txBox="1"/>
          <p:nvPr/>
        </p:nvSpPr>
        <p:spPr>
          <a:xfrm>
            <a:off x="6126480" y="3218688"/>
            <a:ext cx="5577840" cy="32004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A0AAB8"/>
                </a:solidFill>
                <a:latin typeface="Calibri"/>
                <a:ea typeface="Calibri"/>
                <a:cs typeface="Calibri"/>
                <a:sym typeface="Calibri"/>
              </a:rPr>
              <a:t>— CMatrix Design Philosophy</a:t>
            </a:r>
            <a:endParaRPr b="0" i="0" sz="1400" u="none" cap="none" strike="noStrike">
              <a:solidFill>
                <a:srgbClr val="000000"/>
              </a:solidFill>
              <a:latin typeface="Arial"/>
              <a:ea typeface="Arial"/>
              <a:cs typeface="Arial"/>
              <a:sym typeface="Arial"/>
            </a:endParaRPr>
          </a:p>
        </p:txBody>
      </p:sp>
      <p:sp>
        <p:nvSpPr>
          <p:cNvPr id="129" name="Google Shape;129;p14"/>
          <p:cNvSpPr/>
          <p:nvPr/>
        </p:nvSpPr>
        <p:spPr>
          <a:xfrm>
            <a:off x="5943600" y="3675887"/>
            <a:ext cx="5943600" cy="347472"/>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0" name="Google Shape;130;p14"/>
          <p:cNvSpPr txBox="1"/>
          <p:nvPr/>
        </p:nvSpPr>
        <p:spPr>
          <a:xfrm>
            <a:off x="6126480" y="3703320"/>
            <a:ext cx="5669280" cy="3017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Calibri"/>
                <a:ea typeface="Calibri"/>
                <a:cs typeface="Calibri"/>
                <a:sym typeface="Calibri"/>
              </a:rPr>
              <a:t>⚠  ROOT CAUSE</a:t>
            </a:r>
            <a:endParaRPr b="0" i="0" sz="1400" u="none" cap="none" strike="noStrike">
              <a:solidFill>
                <a:srgbClr val="000000"/>
              </a:solidFill>
              <a:latin typeface="Arial"/>
              <a:ea typeface="Arial"/>
              <a:cs typeface="Arial"/>
              <a:sym typeface="Arial"/>
            </a:endParaRPr>
          </a:p>
        </p:txBody>
      </p:sp>
      <p:sp>
        <p:nvSpPr>
          <p:cNvPr id="131" name="Google Shape;131;p14"/>
          <p:cNvSpPr/>
          <p:nvPr/>
        </p:nvSpPr>
        <p:spPr>
          <a:xfrm>
            <a:off x="5943600" y="4041648"/>
            <a:ext cx="5943600" cy="129844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 name="Google Shape;132;p14"/>
          <p:cNvSpPr txBox="1"/>
          <p:nvPr/>
        </p:nvSpPr>
        <p:spPr>
          <a:xfrm>
            <a:off x="6126480" y="4114800"/>
            <a:ext cx="5623560" cy="11521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50"/>
              <a:buFont typeface="Arial"/>
              <a:buNone/>
            </a:pPr>
            <a:r>
              <a:rPr b="0" i="0" lang="en-US" sz="1250" u="none" cap="none" strike="noStrike">
                <a:solidFill>
                  <a:srgbClr val="A0AAB8"/>
                </a:solidFill>
                <a:latin typeface="Calibri"/>
                <a:ea typeface="Calibri"/>
                <a:cs typeface="Calibri"/>
                <a:sym typeface="Calibri"/>
              </a:rPr>
              <a:t>Existing systems have no structured model of the target environment and no structured model of what attack paths are possible.</a:t>
            </a:r>
            <a:br>
              <a:rPr b="0" i="0" lang="en-US" sz="1250" u="none" cap="none" strike="noStrike">
                <a:solidFill>
                  <a:srgbClr val="A0AAB8"/>
                </a:solidFill>
                <a:latin typeface="Calibri"/>
                <a:ea typeface="Calibri"/>
                <a:cs typeface="Calibri"/>
                <a:sym typeface="Calibri"/>
              </a:rPr>
            </a:br>
            <a:br>
              <a:rPr b="0" i="0" lang="en-US" sz="1250" u="none" cap="none" strike="noStrike">
                <a:solidFill>
                  <a:srgbClr val="A0AAB8"/>
                </a:solidFill>
                <a:latin typeface="Calibri"/>
                <a:ea typeface="Calibri"/>
                <a:cs typeface="Calibri"/>
                <a:sym typeface="Calibri"/>
              </a:rPr>
            </a:br>
            <a:r>
              <a:rPr b="0" i="0" lang="en-US" sz="1250" u="none" cap="none" strike="noStrike">
                <a:solidFill>
                  <a:srgbClr val="A0AAB8"/>
                </a:solidFill>
                <a:latin typeface="Calibri"/>
                <a:ea typeface="Calibri"/>
                <a:cs typeface="Calibri"/>
                <a:sym typeface="Calibri"/>
              </a:rPr>
              <a:t>They know what they did — not what the target is, or what can be done to it.</a:t>
            </a:r>
            <a:endParaRPr b="0" i="0" sz="1400" u="none" cap="none" strike="noStrike">
              <a:solidFill>
                <a:srgbClr val="000000"/>
              </a:solidFill>
              <a:latin typeface="Arial"/>
              <a:ea typeface="Arial"/>
              <a:cs typeface="Arial"/>
              <a:sym typeface="Arial"/>
            </a:endParaRPr>
          </a:p>
        </p:txBody>
      </p:sp>
      <p:sp>
        <p:nvSpPr>
          <p:cNvPr id="133" name="Google Shape;133;p14"/>
          <p:cNvSpPr/>
          <p:nvPr/>
        </p:nvSpPr>
        <p:spPr>
          <a:xfrm>
            <a:off x="274320" y="5559552"/>
            <a:ext cx="11643055" cy="777240"/>
          </a:xfrm>
          <a:prstGeom prst="rect">
            <a:avLst/>
          </a:prstGeom>
          <a:solidFill>
            <a:srgbClr val="051420"/>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 name="Google Shape;134;p14"/>
          <p:cNvSpPr txBox="1"/>
          <p:nvPr/>
        </p:nvSpPr>
        <p:spPr>
          <a:xfrm>
            <a:off x="457200" y="5650992"/>
            <a:ext cx="11277295" cy="56692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0E5FF"/>
                </a:solidFill>
                <a:latin typeface="Calibri"/>
                <a:ea typeface="Calibri"/>
                <a:cs typeface="Calibri"/>
                <a:sym typeface="Calibri"/>
              </a:rPr>
              <a:t>CMatrix Solution →  Dual-graph world model: ASG captures discovered reality  ·  APG captures inferred attack opportunity</a:t>
            </a:r>
            <a:endParaRPr b="0" i="0" sz="1400" u="none" cap="none" strike="noStrike">
              <a:solidFill>
                <a:srgbClr val="000000"/>
              </a:solidFill>
              <a:latin typeface="Arial"/>
              <a:ea typeface="Arial"/>
              <a:cs typeface="Arial"/>
              <a:sym typeface="Arial"/>
            </a:endParaRPr>
          </a:p>
        </p:txBody>
      </p:sp>
      <p:sp>
        <p:nvSpPr>
          <p:cNvPr id="135" name="Google Shape;135;p14"/>
          <p:cNvSpPr txBox="1"/>
          <p:nvPr/>
        </p:nvSpPr>
        <p:spPr>
          <a:xfrm>
            <a:off x="11795740" y="36580"/>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139" name="Shape 139"/>
        <p:cNvGrpSpPr/>
        <p:nvPr/>
      </p:nvGrpSpPr>
      <p:grpSpPr>
        <a:xfrm>
          <a:off x="0" y="0"/>
          <a:ext cx="0" cy="0"/>
          <a:chOff x="0" y="0"/>
          <a:chExt cx="0" cy="0"/>
        </a:xfrm>
      </p:grpSpPr>
      <p:sp>
        <p:nvSpPr>
          <p:cNvPr id="140" name="Google Shape;140;p15"/>
          <p:cNvSpPr/>
          <p:nvPr/>
        </p:nvSpPr>
        <p:spPr>
          <a:xfrm>
            <a:off x="0" y="0"/>
            <a:ext cx="54864"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1" name="Google Shape;141;p15"/>
          <p:cNvSpPr/>
          <p:nvPr/>
        </p:nvSpPr>
        <p:spPr>
          <a:xfrm>
            <a:off x="54864" y="0"/>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2" name="Google Shape;142;p15"/>
          <p:cNvSpPr/>
          <p:nvPr/>
        </p:nvSpPr>
        <p:spPr>
          <a:xfrm>
            <a:off x="54864" y="6821424"/>
            <a:ext cx="12136831" cy="3657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3" name="Google Shape;143;p15"/>
          <p:cNvSpPr txBox="1"/>
          <p:nvPr/>
        </p:nvSpPr>
        <p:spPr>
          <a:xfrm>
            <a:off x="274320" y="64008"/>
            <a:ext cx="7315200" cy="246221"/>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000" u="none" cap="none" strike="noStrike">
                <a:solidFill>
                  <a:srgbClr val="FFD700"/>
                </a:solidFill>
                <a:latin typeface="Calibri"/>
                <a:ea typeface="Calibri"/>
                <a:cs typeface="Calibri"/>
                <a:sym typeface="Calibri"/>
              </a:rPr>
              <a:t>NOVEL CONTRIBUTION</a:t>
            </a:r>
            <a:endParaRPr/>
          </a:p>
        </p:txBody>
      </p:sp>
      <p:sp>
        <p:nvSpPr>
          <p:cNvPr id="144" name="Google Shape;144;p15"/>
          <p:cNvSpPr txBox="1"/>
          <p:nvPr/>
        </p:nvSpPr>
        <p:spPr>
          <a:xfrm>
            <a:off x="274320" y="292608"/>
            <a:ext cx="11430000" cy="4754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3200" u="none" cap="none" strike="noStrike">
                <a:solidFill>
                  <a:srgbClr val="FFFFFF"/>
                </a:solidFill>
                <a:latin typeface="Calibri"/>
                <a:ea typeface="Calibri"/>
                <a:cs typeface="Calibri"/>
                <a:sym typeface="Calibri"/>
              </a:rPr>
              <a:t>What Makes CMatrix a Research Contribution</a:t>
            </a:r>
            <a:endParaRPr/>
          </a:p>
        </p:txBody>
      </p:sp>
      <p:sp>
        <p:nvSpPr>
          <p:cNvPr id="145" name="Google Shape;145;p15"/>
          <p:cNvSpPr/>
          <p:nvPr/>
        </p:nvSpPr>
        <p:spPr>
          <a:xfrm>
            <a:off x="296091" y="923108"/>
            <a:ext cx="11679340" cy="497550"/>
          </a:xfrm>
          <a:prstGeom prst="rect">
            <a:avLst/>
          </a:prstGeom>
          <a:solidFill>
            <a:srgbClr val="121002"/>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6" name="Google Shape;146;p15"/>
          <p:cNvSpPr txBox="1"/>
          <p:nvPr/>
        </p:nvSpPr>
        <p:spPr>
          <a:xfrm>
            <a:off x="372291" y="1025289"/>
            <a:ext cx="11516781" cy="29238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1" lang="en-US" sz="1300" u="none" cap="none" strike="noStrike">
                <a:solidFill>
                  <a:srgbClr val="FFD700"/>
                </a:solidFill>
                <a:latin typeface="Calibri"/>
                <a:ea typeface="Calibri"/>
                <a:cs typeface="Calibri"/>
                <a:sym typeface="Calibri"/>
              </a:rPr>
              <a:t>First autonomous VAPT system to maintain two strictly separated, continuously evolving graph structures - one for discovered reality, one for inferred attack opportunity.</a:t>
            </a:r>
            <a:endParaRPr/>
          </a:p>
        </p:txBody>
      </p:sp>
      <p:sp>
        <p:nvSpPr>
          <p:cNvPr id="147" name="Google Shape;147;p15"/>
          <p:cNvSpPr/>
          <p:nvPr/>
        </p:nvSpPr>
        <p:spPr>
          <a:xfrm>
            <a:off x="296091"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8" name="Google Shape;148;p15"/>
          <p:cNvSpPr/>
          <p:nvPr/>
        </p:nvSpPr>
        <p:spPr>
          <a:xfrm>
            <a:off x="296091"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9" name="Google Shape;149;p15"/>
          <p:cNvSpPr txBox="1"/>
          <p:nvPr/>
        </p:nvSpPr>
        <p:spPr>
          <a:xfrm>
            <a:off x="314379"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a:t>
            </a:r>
            <a:endParaRPr/>
          </a:p>
        </p:txBody>
      </p:sp>
      <p:sp>
        <p:nvSpPr>
          <p:cNvPr id="150" name="Google Shape;150;p15"/>
          <p:cNvSpPr txBox="1"/>
          <p:nvPr/>
        </p:nvSpPr>
        <p:spPr>
          <a:xfrm>
            <a:off x="863019"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World Model</a:t>
            </a:r>
            <a:endParaRPr/>
          </a:p>
        </p:txBody>
      </p:sp>
      <p:sp>
        <p:nvSpPr>
          <p:cNvPr id="151" name="Google Shape;151;p15"/>
          <p:cNvSpPr txBox="1"/>
          <p:nvPr/>
        </p:nvSpPr>
        <p:spPr>
          <a:xfrm>
            <a:off x="405819"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 (discovered reality) &amp; APG (inferred opportunity) are strictly separated with enforced write ownership.</a:t>
            </a:r>
            <a:endParaRPr/>
          </a:p>
        </p:txBody>
      </p:sp>
      <p:sp>
        <p:nvSpPr>
          <p:cNvPr id="152" name="Google Shape;152;p15"/>
          <p:cNvSpPr/>
          <p:nvPr/>
        </p:nvSpPr>
        <p:spPr>
          <a:xfrm>
            <a:off x="4209723"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3" name="Google Shape;153;p15"/>
          <p:cNvSpPr/>
          <p:nvPr/>
        </p:nvSpPr>
        <p:spPr>
          <a:xfrm>
            <a:off x="4209723"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4" name="Google Shape;154;p15"/>
          <p:cNvSpPr txBox="1"/>
          <p:nvPr/>
        </p:nvSpPr>
        <p:spPr>
          <a:xfrm>
            <a:off x="4228011"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C2</a:t>
            </a:r>
            <a:endParaRPr/>
          </a:p>
        </p:txBody>
      </p:sp>
      <p:sp>
        <p:nvSpPr>
          <p:cNvPr id="155" name="Google Shape;155;p15"/>
          <p:cNvSpPr txBox="1"/>
          <p:nvPr/>
        </p:nvSpPr>
        <p:spPr>
          <a:xfrm>
            <a:off x="4776651"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Graph-Driven Re-Planning</a:t>
            </a:r>
            <a:endParaRPr/>
          </a:p>
        </p:txBody>
      </p:sp>
      <p:sp>
        <p:nvSpPr>
          <p:cNvPr id="156" name="Google Shape;156;p15"/>
          <p:cNvSpPr txBox="1"/>
          <p:nvPr/>
        </p:nvSpPr>
        <p:spPr>
          <a:xfrm>
            <a:off x="4319451"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Re-planning fires on explicit graph triggers (e.g., new vuln node seeds a chain) rather than arbitrary schedules.</a:t>
            </a:r>
            <a:endParaRPr/>
          </a:p>
        </p:txBody>
      </p:sp>
      <p:sp>
        <p:nvSpPr>
          <p:cNvPr id="157" name="Google Shape;157;p15"/>
          <p:cNvSpPr/>
          <p:nvPr/>
        </p:nvSpPr>
        <p:spPr>
          <a:xfrm>
            <a:off x="8123355" y="1572623"/>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8" name="Google Shape;158;p15"/>
          <p:cNvSpPr/>
          <p:nvPr/>
        </p:nvSpPr>
        <p:spPr>
          <a:xfrm>
            <a:off x="8123355" y="1572623"/>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9" name="Google Shape;159;p15"/>
          <p:cNvSpPr txBox="1"/>
          <p:nvPr/>
        </p:nvSpPr>
        <p:spPr>
          <a:xfrm>
            <a:off x="8141643" y="1590911"/>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C3</a:t>
            </a:r>
            <a:endParaRPr/>
          </a:p>
        </p:txBody>
      </p:sp>
      <p:sp>
        <p:nvSpPr>
          <p:cNvPr id="160" name="Google Shape;160;p15"/>
          <p:cNvSpPr txBox="1"/>
          <p:nvPr/>
        </p:nvSpPr>
        <p:spPr>
          <a:xfrm>
            <a:off x="8690283" y="1609199"/>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APG Attack Chain Lifecycle</a:t>
            </a:r>
            <a:endParaRPr/>
          </a:p>
        </p:txBody>
      </p:sp>
      <p:sp>
        <p:nvSpPr>
          <p:cNvPr id="161" name="Google Shape;161;p15"/>
          <p:cNvSpPr txBox="1"/>
          <p:nvPr/>
        </p:nvSpPr>
        <p:spPr>
          <a:xfrm>
            <a:off x="8233083" y="1956671"/>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Attack chains are first-class entities: risk-scored, prioritized, and lifecycle-tracked with evidence-linked ChainSteps.</a:t>
            </a:r>
            <a:endParaRPr/>
          </a:p>
        </p:txBody>
      </p:sp>
      <p:sp>
        <p:nvSpPr>
          <p:cNvPr id="162" name="Google Shape;162;p15"/>
          <p:cNvSpPr/>
          <p:nvPr/>
        </p:nvSpPr>
        <p:spPr>
          <a:xfrm>
            <a:off x="296091"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3" name="Google Shape;163;p15"/>
          <p:cNvSpPr/>
          <p:nvPr/>
        </p:nvSpPr>
        <p:spPr>
          <a:xfrm>
            <a:off x="296091"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4" name="Google Shape;164;p15"/>
          <p:cNvSpPr txBox="1"/>
          <p:nvPr/>
        </p:nvSpPr>
        <p:spPr>
          <a:xfrm>
            <a:off x="314379"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C4</a:t>
            </a:r>
            <a:endParaRPr/>
          </a:p>
        </p:txBody>
      </p:sp>
      <p:sp>
        <p:nvSpPr>
          <p:cNvPr id="165" name="Google Shape;165;p15"/>
          <p:cNvSpPr txBox="1"/>
          <p:nvPr/>
        </p:nvSpPr>
        <p:spPr>
          <a:xfrm>
            <a:off x="863019"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ASG-Aware Parallel Dispatch</a:t>
            </a:r>
            <a:endParaRPr/>
          </a:p>
        </p:txBody>
      </p:sp>
      <p:sp>
        <p:nvSpPr>
          <p:cNvPr id="166" name="Google Shape;166;p15"/>
          <p:cNvSpPr txBox="1"/>
          <p:nvPr/>
        </p:nvSpPr>
        <p:spPr>
          <a:xfrm>
            <a:off x="405819"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Dependency-safe concurrent tool execution using the ASG itself as the dependency graph, instead of a task scheduler.</a:t>
            </a:r>
            <a:endParaRPr/>
          </a:p>
        </p:txBody>
      </p:sp>
      <p:sp>
        <p:nvSpPr>
          <p:cNvPr id="167" name="Google Shape;167;p15"/>
          <p:cNvSpPr/>
          <p:nvPr/>
        </p:nvSpPr>
        <p:spPr>
          <a:xfrm>
            <a:off x="4209723"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8" name="Google Shape;168;p15"/>
          <p:cNvSpPr/>
          <p:nvPr/>
        </p:nvSpPr>
        <p:spPr>
          <a:xfrm>
            <a:off x="4209723"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9" name="Google Shape;169;p15"/>
          <p:cNvSpPr txBox="1"/>
          <p:nvPr/>
        </p:nvSpPr>
        <p:spPr>
          <a:xfrm>
            <a:off x="4228011"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C5</a:t>
            </a:r>
            <a:endParaRPr/>
          </a:p>
        </p:txBody>
      </p:sp>
      <p:sp>
        <p:nvSpPr>
          <p:cNvPr id="170" name="Google Shape;170;p15"/>
          <p:cNvSpPr txBox="1"/>
          <p:nvPr/>
        </p:nvSpPr>
        <p:spPr>
          <a:xfrm>
            <a:off x="4776651"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Tool Risk Gate + Mailbox</a:t>
            </a:r>
            <a:endParaRPr/>
          </a:p>
        </p:txBody>
      </p:sp>
      <p:sp>
        <p:nvSpPr>
          <p:cNvPr id="171" name="Google Shape;171;p15"/>
          <p:cNvSpPr txBox="1"/>
          <p:nvPr/>
        </p:nvSpPr>
        <p:spPr>
          <a:xfrm>
            <a:off x="4319451"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tool call is risk-classified before execution. High-risk ops route to Commander for human-in-the-loop approval.</a:t>
            </a:r>
            <a:endParaRPr/>
          </a:p>
        </p:txBody>
      </p:sp>
      <p:sp>
        <p:nvSpPr>
          <p:cNvPr id="172" name="Google Shape;172;p15"/>
          <p:cNvSpPr/>
          <p:nvPr/>
        </p:nvSpPr>
        <p:spPr>
          <a:xfrm>
            <a:off x="8123355" y="2825351"/>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3" name="Google Shape;173;p15"/>
          <p:cNvSpPr/>
          <p:nvPr/>
        </p:nvSpPr>
        <p:spPr>
          <a:xfrm>
            <a:off x="8123355" y="2825351"/>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4" name="Google Shape;174;p15"/>
          <p:cNvSpPr txBox="1"/>
          <p:nvPr/>
        </p:nvSpPr>
        <p:spPr>
          <a:xfrm>
            <a:off x="8141643" y="2843639"/>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C6</a:t>
            </a:r>
            <a:endParaRPr/>
          </a:p>
        </p:txBody>
      </p:sp>
      <p:sp>
        <p:nvSpPr>
          <p:cNvPr id="175" name="Google Shape;175;p15"/>
          <p:cNvSpPr txBox="1"/>
          <p:nvPr/>
        </p:nvSpPr>
        <p:spPr>
          <a:xfrm>
            <a:off x="8690283" y="2861927"/>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Lossless Context Compaction</a:t>
            </a:r>
            <a:endParaRPr/>
          </a:p>
        </p:txBody>
      </p:sp>
      <p:sp>
        <p:nvSpPr>
          <p:cNvPr id="176" name="Google Shape;176;p15"/>
          <p:cNvSpPr txBox="1"/>
          <p:nvPr/>
        </p:nvSpPr>
        <p:spPr>
          <a:xfrm>
            <a:off x="8233083" y="3209399"/>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ASG-backed three-layer compaction scheme reduces conversation history to near-zero without losing discovered findings.</a:t>
            </a:r>
            <a:endParaRPr/>
          </a:p>
        </p:txBody>
      </p:sp>
      <p:sp>
        <p:nvSpPr>
          <p:cNvPr id="177" name="Google Shape;177;p15"/>
          <p:cNvSpPr/>
          <p:nvPr/>
        </p:nvSpPr>
        <p:spPr>
          <a:xfrm>
            <a:off x="296091"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8" name="Google Shape;178;p15"/>
          <p:cNvSpPr/>
          <p:nvPr/>
        </p:nvSpPr>
        <p:spPr>
          <a:xfrm>
            <a:off x="296091"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9" name="Google Shape;179;p15"/>
          <p:cNvSpPr txBox="1"/>
          <p:nvPr/>
        </p:nvSpPr>
        <p:spPr>
          <a:xfrm>
            <a:off x="314379"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C7</a:t>
            </a:r>
            <a:endParaRPr/>
          </a:p>
        </p:txBody>
      </p:sp>
      <p:sp>
        <p:nvSpPr>
          <p:cNvPr id="180" name="Google Shape;180;p15"/>
          <p:cNvSpPr txBox="1"/>
          <p:nvPr/>
        </p:nvSpPr>
        <p:spPr>
          <a:xfrm>
            <a:off x="863019"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Methodology-as-Config</a:t>
            </a:r>
            <a:endParaRPr/>
          </a:p>
        </p:txBody>
      </p:sp>
      <p:sp>
        <p:nvSpPr>
          <p:cNvPr id="181" name="Google Shape;181;p15"/>
          <p:cNvSpPr txBox="1"/>
          <p:nvPr/>
        </p:nvSpPr>
        <p:spPr>
          <a:xfrm>
            <a:off x="405819"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Commander's planning policy is encoded as a versioned natural-language document, allowing methodology benchmarking.</a:t>
            </a:r>
            <a:endParaRPr/>
          </a:p>
        </p:txBody>
      </p:sp>
      <p:sp>
        <p:nvSpPr>
          <p:cNvPr id="182" name="Google Shape;182;p15"/>
          <p:cNvSpPr/>
          <p:nvPr/>
        </p:nvSpPr>
        <p:spPr>
          <a:xfrm>
            <a:off x="4209723"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3" name="Google Shape;183;p15"/>
          <p:cNvSpPr/>
          <p:nvPr/>
        </p:nvSpPr>
        <p:spPr>
          <a:xfrm>
            <a:off x="4209723"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4" name="Google Shape;184;p15"/>
          <p:cNvSpPr txBox="1"/>
          <p:nvPr/>
        </p:nvSpPr>
        <p:spPr>
          <a:xfrm>
            <a:off x="4228011"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C8</a:t>
            </a:r>
            <a:endParaRPr/>
          </a:p>
        </p:txBody>
      </p:sp>
      <p:sp>
        <p:nvSpPr>
          <p:cNvPr id="185" name="Google Shape;185;p15"/>
          <p:cNvSpPr txBox="1"/>
          <p:nvPr/>
        </p:nvSpPr>
        <p:spPr>
          <a:xfrm>
            <a:off x="4776651"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Dual-Graph Termination</a:t>
            </a:r>
            <a:endParaRPr/>
          </a:p>
        </p:txBody>
      </p:sp>
      <p:sp>
        <p:nvSpPr>
          <p:cNvPr id="186" name="Google Shape;186;p15"/>
          <p:cNvSpPr txBox="1"/>
          <p:nvPr/>
        </p:nvSpPr>
        <p:spPr>
          <a:xfrm>
            <a:off x="4319451"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Mission completion is formally defined as the conjunction of ASG exhaustion (no unexplored nodes) and APG resolution.</a:t>
            </a:r>
            <a:endParaRPr/>
          </a:p>
        </p:txBody>
      </p:sp>
      <p:sp>
        <p:nvSpPr>
          <p:cNvPr id="187" name="Google Shape;187;p15"/>
          <p:cNvSpPr/>
          <p:nvPr/>
        </p:nvSpPr>
        <p:spPr>
          <a:xfrm>
            <a:off x="8123355" y="4078079"/>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8" name="Google Shape;188;p15"/>
          <p:cNvSpPr/>
          <p:nvPr/>
        </p:nvSpPr>
        <p:spPr>
          <a:xfrm>
            <a:off x="8123355" y="4078079"/>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89" name="Google Shape;189;p15"/>
          <p:cNvSpPr txBox="1"/>
          <p:nvPr/>
        </p:nvSpPr>
        <p:spPr>
          <a:xfrm>
            <a:off x="8141643" y="4096367"/>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C9</a:t>
            </a:r>
            <a:endParaRPr/>
          </a:p>
        </p:txBody>
      </p:sp>
      <p:sp>
        <p:nvSpPr>
          <p:cNvPr id="190" name="Google Shape;190;p15"/>
          <p:cNvSpPr txBox="1"/>
          <p:nvPr/>
        </p:nvSpPr>
        <p:spPr>
          <a:xfrm>
            <a:off x="8690283" y="4114655"/>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Live CVE Grounding</a:t>
            </a:r>
            <a:endParaRPr/>
          </a:p>
        </p:txBody>
      </p:sp>
      <p:sp>
        <p:nvSpPr>
          <p:cNvPr id="191" name="Google Shape;191;p15"/>
          <p:cNvSpPr txBox="1"/>
          <p:nvPr/>
        </p:nvSpPr>
        <p:spPr>
          <a:xfrm>
            <a:off x="8233083" y="4462127"/>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Real-time vulnerability enrichment and exploit feasibility research via a scoped agent, written back into the ASG.</a:t>
            </a:r>
            <a:endParaRPr/>
          </a:p>
        </p:txBody>
      </p:sp>
      <p:sp>
        <p:nvSpPr>
          <p:cNvPr id="192" name="Google Shape;192;p15"/>
          <p:cNvSpPr/>
          <p:nvPr/>
        </p:nvSpPr>
        <p:spPr>
          <a:xfrm>
            <a:off x="296091"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3" name="Google Shape;193;p15"/>
          <p:cNvSpPr/>
          <p:nvPr/>
        </p:nvSpPr>
        <p:spPr>
          <a:xfrm>
            <a:off x="296091"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4" name="Google Shape;194;p15"/>
          <p:cNvSpPr txBox="1"/>
          <p:nvPr/>
        </p:nvSpPr>
        <p:spPr>
          <a:xfrm>
            <a:off x="314379"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C10</a:t>
            </a:r>
            <a:endParaRPr/>
          </a:p>
        </p:txBody>
      </p:sp>
      <p:sp>
        <p:nvSpPr>
          <p:cNvPr id="195" name="Google Shape;195;p15"/>
          <p:cNvSpPr txBox="1"/>
          <p:nvPr/>
        </p:nvSpPr>
        <p:spPr>
          <a:xfrm>
            <a:off x="863019"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Cross-Mission Experience</a:t>
            </a:r>
            <a:endParaRPr/>
          </a:p>
        </p:txBody>
      </p:sp>
      <p:sp>
        <p:nvSpPr>
          <p:cNvPr id="196" name="Google Shape;196;p15"/>
          <p:cNvSpPr txBox="1"/>
          <p:nvPr/>
        </p:nvSpPr>
        <p:spPr>
          <a:xfrm>
            <a:off x="405819"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Persistent RAG-backed store of validated exploitation outcomes across missions to seed APG hypotheses at mission start.</a:t>
            </a:r>
            <a:endParaRPr/>
          </a:p>
        </p:txBody>
      </p:sp>
      <p:sp>
        <p:nvSpPr>
          <p:cNvPr id="197" name="Google Shape;197;p15"/>
          <p:cNvSpPr/>
          <p:nvPr/>
        </p:nvSpPr>
        <p:spPr>
          <a:xfrm>
            <a:off x="4209723"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8" name="Google Shape;198;p15"/>
          <p:cNvSpPr/>
          <p:nvPr/>
        </p:nvSpPr>
        <p:spPr>
          <a:xfrm>
            <a:off x="4209723"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99" name="Google Shape;199;p15"/>
          <p:cNvSpPr txBox="1"/>
          <p:nvPr/>
        </p:nvSpPr>
        <p:spPr>
          <a:xfrm>
            <a:off x="4228011"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C11</a:t>
            </a:r>
            <a:endParaRPr/>
          </a:p>
        </p:txBody>
      </p:sp>
      <p:sp>
        <p:nvSpPr>
          <p:cNvPr id="200" name="Google Shape;200;p15"/>
          <p:cNvSpPr txBox="1"/>
          <p:nvPr/>
        </p:nvSpPr>
        <p:spPr>
          <a:xfrm>
            <a:off x="4776651"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Attack Strategy Library</a:t>
            </a:r>
            <a:endParaRPr/>
          </a:p>
        </p:txBody>
      </p:sp>
      <p:sp>
        <p:nvSpPr>
          <p:cNvPr id="201" name="Google Shape;201;p15"/>
          <p:cNvSpPr txBox="1"/>
          <p:nvPr/>
        </p:nvSpPr>
        <p:spPr>
          <a:xfrm>
            <a:off x="4319451"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Crystallizes validated chains into parameterized strategies when the same target fingerprint succeeds across missions.</a:t>
            </a:r>
            <a:endParaRPr/>
          </a:p>
        </p:txBody>
      </p:sp>
      <p:sp>
        <p:nvSpPr>
          <p:cNvPr id="202" name="Google Shape;202;p15"/>
          <p:cNvSpPr/>
          <p:nvPr/>
        </p:nvSpPr>
        <p:spPr>
          <a:xfrm>
            <a:off x="8123355" y="5330807"/>
            <a:ext cx="3794760" cy="1143000"/>
          </a:xfrm>
          <a:prstGeom prst="rect">
            <a:avLst/>
          </a:prstGeom>
          <a:solidFill>
            <a:srgbClr val="10162B"/>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3" name="Google Shape;203;p15"/>
          <p:cNvSpPr/>
          <p:nvPr/>
        </p:nvSpPr>
        <p:spPr>
          <a:xfrm>
            <a:off x="8123355" y="5330807"/>
            <a:ext cx="502920" cy="32918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204" name="Google Shape;204;p15"/>
          <p:cNvSpPr txBox="1"/>
          <p:nvPr/>
        </p:nvSpPr>
        <p:spPr>
          <a:xfrm>
            <a:off x="8141643" y="5349095"/>
            <a:ext cx="475488" cy="29260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1" i="0" lang="en-US" sz="1100" u="none" cap="none" strike="noStrike">
                <a:solidFill>
                  <a:srgbClr val="0A0D1A"/>
                </a:solidFill>
                <a:latin typeface="Calibri"/>
                <a:ea typeface="Calibri"/>
                <a:cs typeface="Calibri"/>
                <a:sym typeface="Calibri"/>
              </a:rPr>
              <a:t>C12</a:t>
            </a:r>
            <a:endParaRPr/>
          </a:p>
        </p:txBody>
      </p:sp>
      <p:sp>
        <p:nvSpPr>
          <p:cNvPr id="205" name="Google Shape;205;p15"/>
          <p:cNvSpPr txBox="1"/>
          <p:nvPr/>
        </p:nvSpPr>
        <p:spPr>
          <a:xfrm>
            <a:off x="8690283" y="5367383"/>
            <a:ext cx="3154680" cy="29260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Trajectory Export Dataset</a:t>
            </a:r>
            <a:endParaRPr/>
          </a:p>
        </p:txBody>
      </p:sp>
      <p:sp>
        <p:nvSpPr>
          <p:cNvPr id="206" name="Google Shape;206;p15"/>
          <p:cNvSpPr txBox="1"/>
          <p:nvPr/>
        </p:nvSpPr>
        <p:spPr>
          <a:xfrm>
            <a:off x="8233083" y="5714855"/>
            <a:ext cx="3611880" cy="68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0" i="0" lang="en-US" sz="1050" u="none" cap="none" strike="noStrike">
                <a:solidFill>
                  <a:srgbClr val="A0AAB8"/>
                </a:solidFill>
                <a:latin typeface="Calibri"/>
                <a:ea typeface="Calibri"/>
                <a:cs typeface="Calibri"/>
                <a:sym typeface="Calibri"/>
              </a:rPr>
              <a:t>Every mission produces a machine-readable decision log capturing ASG/APG triggers, rationale, and actions taken.</a:t>
            </a:r>
            <a:endParaRPr/>
          </a:p>
        </p:txBody>
      </p:sp>
      <p:sp>
        <p:nvSpPr>
          <p:cNvPr id="207" name="Google Shape;207;p15"/>
          <p:cNvSpPr txBox="1"/>
          <p:nvPr/>
        </p:nvSpPr>
        <p:spPr>
          <a:xfrm>
            <a:off x="11807661" y="94694"/>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r>
              <a:rPr b="1" i="0" lang="en-US" sz="1300" u="none" cap="none" strike="noStrike">
                <a:solidFill>
                  <a:srgbClr val="FFD700"/>
                </a:solidFill>
                <a:latin typeface="Calibri"/>
                <a:ea typeface="Calibri"/>
                <a:cs typeface="Calibri"/>
                <a:sym typeface="Calibri"/>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211" name="Shape 211"/>
        <p:cNvGrpSpPr/>
        <p:nvPr/>
      </p:nvGrpSpPr>
      <p:grpSpPr>
        <a:xfrm>
          <a:off x="0" y="0"/>
          <a:ext cx="0" cy="0"/>
          <a:chOff x="0" y="0"/>
          <a:chExt cx="0" cy="0"/>
        </a:xfrm>
      </p:grpSpPr>
      <p:sp>
        <p:nvSpPr>
          <p:cNvPr id="212" name="Google Shape;212;p16"/>
          <p:cNvSpPr/>
          <p:nvPr/>
        </p:nvSpPr>
        <p:spPr>
          <a:xfrm>
            <a:off x="0" y="0"/>
            <a:ext cx="54864" cy="68580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3" name="Google Shape;213;p16"/>
          <p:cNvSpPr/>
          <p:nvPr/>
        </p:nvSpPr>
        <p:spPr>
          <a:xfrm>
            <a:off x="54864" y="0"/>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4" name="Google Shape;214;p16"/>
          <p:cNvSpPr/>
          <p:nvPr/>
        </p:nvSpPr>
        <p:spPr>
          <a:xfrm>
            <a:off x="54864" y="6821424"/>
            <a:ext cx="12136831" cy="3657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5" name="Google Shape;215;p16"/>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SYSTEM ARCHITECTURE</a:t>
            </a:r>
            <a:endParaRPr b="0" i="0" sz="1400" u="none" cap="none" strike="noStrike">
              <a:solidFill>
                <a:srgbClr val="000000"/>
              </a:solidFill>
              <a:latin typeface="Arial"/>
              <a:ea typeface="Arial"/>
              <a:cs typeface="Arial"/>
              <a:sym typeface="Arial"/>
            </a:endParaRPr>
          </a:p>
        </p:txBody>
      </p:sp>
      <p:sp>
        <p:nvSpPr>
          <p:cNvPr id="216" name="Google Shape;216;p16"/>
          <p:cNvSpPr txBox="1"/>
          <p:nvPr/>
        </p:nvSpPr>
        <p:spPr>
          <a:xfrm>
            <a:off x="274320" y="301752"/>
            <a:ext cx="10058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CMatrix — Three-Tier Architecture Overview</a:t>
            </a:r>
            <a:endParaRPr b="0" i="0" sz="1400" u="none" cap="none" strike="noStrike">
              <a:solidFill>
                <a:srgbClr val="000000"/>
              </a:solidFill>
              <a:latin typeface="Arial"/>
              <a:ea typeface="Arial"/>
              <a:cs typeface="Arial"/>
              <a:sym typeface="Arial"/>
            </a:endParaRPr>
          </a:p>
        </p:txBody>
      </p:sp>
      <p:sp>
        <p:nvSpPr>
          <p:cNvPr id="217" name="Google Shape;217;p16"/>
          <p:cNvSpPr/>
          <p:nvPr/>
        </p:nvSpPr>
        <p:spPr>
          <a:xfrm>
            <a:off x="164592" y="804672"/>
            <a:ext cx="11862511" cy="1280160"/>
          </a:xfrm>
          <a:prstGeom prst="rect">
            <a:avLst/>
          </a:prstGeom>
          <a:solidFill>
            <a:srgbClr val="061020"/>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18" name="Google Shape;218;p16"/>
          <p:cNvSpPr txBox="1"/>
          <p:nvPr/>
        </p:nvSpPr>
        <p:spPr>
          <a:xfrm>
            <a:off x="201168" y="850392"/>
            <a:ext cx="14630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① ORCHESTRATION</a:t>
            </a:r>
            <a:endParaRPr b="0" i="0" sz="1400" u="none" cap="none" strike="noStrike">
              <a:solidFill>
                <a:srgbClr val="000000"/>
              </a:solidFill>
              <a:latin typeface="Arial"/>
              <a:ea typeface="Arial"/>
              <a:cs typeface="Arial"/>
              <a:sym typeface="Arial"/>
            </a:endParaRPr>
          </a:p>
        </p:txBody>
      </p:sp>
      <p:sp>
        <p:nvSpPr>
          <p:cNvPr id="219" name="Google Shape;219;p16"/>
          <p:cNvSpPr/>
          <p:nvPr/>
        </p:nvSpPr>
        <p:spPr>
          <a:xfrm>
            <a:off x="320040" y="1060704"/>
            <a:ext cx="1554480" cy="877824"/>
          </a:xfrm>
          <a:prstGeom prst="rect">
            <a:avLst/>
          </a:prstGeom>
          <a:solidFill>
            <a:srgbClr val="0C182E"/>
          </a:solidFill>
          <a:ln cap="flat" cmpd="sng" w="10150">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0" name="Google Shape;220;p16"/>
          <p:cNvSpPr txBox="1"/>
          <p:nvPr/>
        </p:nvSpPr>
        <p:spPr>
          <a:xfrm>
            <a:off x="320040" y="1115568"/>
            <a:ext cx="15544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A0AAB8"/>
                </a:solidFill>
                <a:latin typeface="Calibri"/>
                <a:ea typeface="Calibri"/>
                <a:cs typeface="Calibri"/>
                <a:sym typeface="Calibri"/>
              </a:rPr>
              <a:t>OPERATOR</a:t>
            </a:r>
            <a:endParaRPr b="0" i="0" sz="1400" u="none" cap="none" strike="noStrike">
              <a:solidFill>
                <a:srgbClr val="000000"/>
              </a:solidFill>
              <a:latin typeface="Arial"/>
              <a:ea typeface="Arial"/>
              <a:cs typeface="Arial"/>
              <a:sym typeface="Arial"/>
            </a:endParaRPr>
          </a:p>
        </p:txBody>
      </p:sp>
      <p:sp>
        <p:nvSpPr>
          <p:cNvPr id="221" name="Google Shape;221;p16"/>
          <p:cNvSpPr txBox="1"/>
          <p:nvPr/>
        </p:nvSpPr>
        <p:spPr>
          <a:xfrm>
            <a:off x="320040" y="1371600"/>
            <a:ext cx="1554480"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Target · Scope · Mode</a:t>
            </a:r>
            <a:endParaRPr b="0" i="0" sz="1400" u="none" cap="none" strike="noStrike">
              <a:solidFill>
                <a:srgbClr val="000000"/>
              </a:solidFill>
              <a:latin typeface="Arial"/>
              <a:ea typeface="Arial"/>
              <a:cs typeface="Arial"/>
              <a:sym typeface="Arial"/>
            </a:endParaRPr>
          </a:p>
        </p:txBody>
      </p:sp>
      <p:cxnSp>
        <p:nvCxnSpPr>
          <p:cNvPr id="222" name="Google Shape;222;p16"/>
          <p:cNvCxnSpPr/>
          <p:nvPr/>
        </p:nvCxnSpPr>
        <p:spPr>
          <a:xfrm>
            <a:off x="1874520" y="0"/>
            <a:ext cx="210311"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223" name="Google Shape;223;p16"/>
          <p:cNvSpPr txBox="1"/>
          <p:nvPr/>
        </p:nvSpPr>
        <p:spPr>
          <a:xfrm>
            <a:off x="1901952" y="1225296"/>
            <a:ext cx="82296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303848"/>
                </a:solidFill>
                <a:latin typeface="Calibri"/>
                <a:ea typeface="Calibri"/>
                <a:cs typeface="Calibri"/>
                <a:sym typeface="Calibri"/>
              </a:rPr>
              <a:t>mission config</a:t>
            </a:r>
            <a:endParaRPr b="0" i="0" sz="1400" u="none" cap="none" strike="noStrike">
              <a:solidFill>
                <a:srgbClr val="000000"/>
              </a:solidFill>
              <a:latin typeface="Arial"/>
              <a:ea typeface="Arial"/>
              <a:cs typeface="Arial"/>
              <a:sym typeface="Arial"/>
            </a:endParaRPr>
          </a:p>
        </p:txBody>
      </p:sp>
      <p:sp>
        <p:nvSpPr>
          <p:cNvPr id="224" name="Google Shape;224;p16"/>
          <p:cNvSpPr/>
          <p:nvPr/>
        </p:nvSpPr>
        <p:spPr>
          <a:xfrm>
            <a:off x="2084831" y="941832"/>
            <a:ext cx="2834640" cy="1005840"/>
          </a:xfrm>
          <a:prstGeom prst="rect">
            <a:avLst/>
          </a:prstGeom>
          <a:solidFill>
            <a:srgbClr val="04162E"/>
          </a:solidFill>
          <a:ln cap="flat" cmpd="sng" w="254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5" name="Google Shape;225;p16"/>
          <p:cNvSpPr/>
          <p:nvPr/>
        </p:nvSpPr>
        <p:spPr>
          <a:xfrm>
            <a:off x="2084831" y="941832"/>
            <a:ext cx="2834640" cy="27432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26" name="Google Shape;226;p16"/>
          <p:cNvSpPr txBox="1"/>
          <p:nvPr/>
        </p:nvSpPr>
        <p:spPr>
          <a:xfrm>
            <a:off x="2084831" y="969264"/>
            <a:ext cx="283464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227" name="Google Shape;227;p16"/>
          <p:cNvSpPr txBox="1"/>
          <p:nvPr/>
        </p:nvSpPr>
        <p:spPr>
          <a:xfrm>
            <a:off x="2176271" y="1261872"/>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Reads ASG + APG state</a:t>
            </a:r>
            <a:endParaRPr b="0" i="0" sz="1400" u="none" cap="none" strike="noStrike">
              <a:solidFill>
                <a:srgbClr val="000000"/>
              </a:solidFill>
              <a:latin typeface="Arial"/>
              <a:ea typeface="Arial"/>
              <a:cs typeface="Arial"/>
              <a:sym typeface="Arial"/>
            </a:endParaRPr>
          </a:p>
        </p:txBody>
      </p:sp>
      <p:sp>
        <p:nvSpPr>
          <p:cNvPr id="228" name="Google Shape;228;p16"/>
          <p:cNvSpPr txBox="1"/>
          <p:nvPr/>
        </p:nvSpPr>
        <p:spPr>
          <a:xfrm>
            <a:off x="2176271" y="1426464"/>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Plans &amp; delegates tasks</a:t>
            </a:r>
            <a:endParaRPr b="0" i="0" sz="1400" u="none" cap="none" strike="noStrike">
              <a:solidFill>
                <a:srgbClr val="000000"/>
              </a:solidFill>
              <a:latin typeface="Arial"/>
              <a:ea typeface="Arial"/>
              <a:cs typeface="Arial"/>
              <a:sym typeface="Arial"/>
            </a:endParaRPr>
          </a:p>
        </p:txBody>
      </p:sp>
      <p:sp>
        <p:nvSpPr>
          <p:cNvPr id="229" name="Google Shape;229;p16"/>
          <p:cNvSpPr txBox="1"/>
          <p:nvPr/>
        </p:nvSpPr>
        <p:spPr>
          <a:xfrm>
            <a:off x="2176271" y="1591056"/>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Approves High-risk ops</a:t>
            </a:r>
            <a:endParaRPr b="0" i="0" sz="1400" u="none" cap="none" strike="noStrike">
              <a:solidFill>
                <a:srgbClr val="000000"/>
              </a:solidFill>
              <a:latin typeface="Arial"/>
              <a:ea typeface="Arial"/>
              <a:cs typeface="Arial"/>
              <a:sym typeface="Arial"/>
            </a:endParaRPr>
          </a:p>
        </p:txBody>
      </p:sp>
      <p:sp>
        <p:nvSpPr>
          <p:cNvPr id="230" name="Google Shape;230;p16"/>
          <p:cNvSpPr txBox="1"/>
          <p:nvPr/>
        </p:nvSpPr>
        <p:spPr>
          <a:xfrm>
            <a:off x="2176271" y="1755648"/>
            <a:ext cx="2697480" cy="16459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Writes to APG only</a:t>
            </a:r>
            <a:endParaRPr b="0" i="0" sz="1400" u="none" cap="none" strike="noStrike">
              <a:solidFill>
                <a:srgbClr val="000000"/>
              </a:solidFill>
              <a:latin typeface="Arial"/>
              <a:ea typeface="Arial"/>
              <a:cs typeface="Arial"/>
              <a:sym typeface="Arial"/>
            </a:endParaRPr>
          </a:p>
        </p:txBody>
      </p:sp>
      <p:sp>
        <p:nvSpPr>
          <p:cNvPr id="231" name="Google Shape;231;p16"/>
          <p:cNvSpPr/>
          <p:nvPr/>
        </p:nvSpPr>
        <p:spPr>
          <a:xfrm>
            <a:off x="5120640" y="1060704"/>
            <a:ext cx="2103120" cy="877824"/>
          </a:xfrm>
          <a:prstGeom prst="rect">
            <a:avLst/>
          </a:prstGeom>
          <a:solidFill>
            <a:srgbClr val="100C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2" name="Google Shape;232;p16"/>
          <p:cNvSpPr txBox="1"/>
          <p:nvPr/>
        </p:nvSpPr>
        <p:spPr>
          <a:xfrm>
            <a:off x="5120640" y="1115568"/>
            <a:ext cx="210312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VAPT PROTOCOL PROMPT</a:t>
            </a:r>
            <a:endParaRPr b="0" i="0" sz="1400" u="none" cap="none" strike="noStrike">
              <a:solidFill>
                <a:srgbClr val="000000"/>
              </a:solidFill>
              <a:latin typeface="Arial"/>
              <a:ea typeface="Arial"/>
              <a:cs typeface="Arial"/>
              <a:sym typeface="Arial"/>
            </a:endParaRPr>
          </a:p>
        </p:txBody>
      </p:sp>
      <p:sp>
        <p:nvSpPr>
          <p:cNvPr id="233" name="Google Shape;233;p16"/>
          <p:cNvSpPr txBox="1"/>
          <p:nvPr/>
        </p:nvSpPr>
        <p:spPr>
          <a:xfrm>
            <a:off x="5212080" y="1353312"/>
            <a:ext cx="1965960"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Phase rules · Re-plan triggers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Termination conditions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Methodology-as-config</a:t>
            </a:r>
            <a:endParaRPr b="0" i="0" sz="1400" u="none" cap="none" strike="noStrike">
              <a:solidFill>
                <a:srgbClr val="000000"/>
              </a:solidFill>
              <a:latin typeface="Arial"/>
              <a:ea typeface="Arial"/>
              <a:cs typeface="Arial"/>
              <a:sym typeface="Arial"/>
            </a:endParaRPr>
          </a:p>
        </p:txBody>
      </p:sp>
      <p:cxnSp>
        <p:nvCxnSpPr>
          <p:cNvPr id="234" name="Google Shape;234;p16"/>
          <p:cNvCxnSpPr/>
          <p:nvPr/>
        </p:nvCxnSpPr>
        <p:spPr>
          <a:xfrm>
            <a:off x="4919471" y="0"/>
            <a:ext cx="201169" cy="0"/>
          </a:xfrm>
          <a:prstGeom prst="straightConnector1">
            <a:avLst/>
          </a:prstGeom>
          <a:noFill/>
          <a:ln cap="flat" cmpd="sng" w="12700">
            <a:solidFill>
              <a:srgbClr val="BD93F9"/>
            </a:solidFill>
            <a:prstDash val="solid"/>
            <a:round/>
            <a:headEnd len="med" w="med" type="stealth"/>
            <a:tailEnd len="med" w="med" type="stealth"/>
          </a:ln>
          <a:effectLst>
            <a:outerShdw blurRad="40000" rotWithShape="0" dir="5400000" dist="20000">
              <a:srgbClr val="000000">
                <a:alpha val="38039"/>
              </a:srgbClr>
            </a:outerShdw>
          </a:effectLst>
        </p:spPr>
      </p:cxnSp>
      <p:sp>
        <p:nvSpPr>
          <p:cNvPr id="235" name="Google Shape;235;p16"/>
          <p:cNvSpPr/>
          <p:nvPr/>
        </p:nvSpPr>
        <p:spPr>
          <a:xfrm>
            <a:off x="164592" y="2139696"/>
            <a:ext cx="11862511" cy="1682496"/>
          </a:xfrm>
          <a:prstGeom prst="rect">
            <a:avLst/>
          </a:prstGeom>
          <a:solidFill>
            <a:srgbClr val="05140A"/>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6" name="Google Shape;236;p16"/>
          <p:cNvSpPr txBox="1"/>
          <p:nvPr/>
        </p:nvSpPr>
        <p:spPr>
          <a:xfrm>
            <a:off x="201168" y="2185416"/>
            <a:ext cx="23774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② DUAL-GRAPH WORLD MODEL</a:t>
            </a:r>
            <a:endParaRPr b="0" i="0" sz="1400" u="none" cap="none" strike="noStrike">
              <a:solidFill>
                <a:srgbClr val="000000"/>
              </a:solidFill>
              <a:latin typeface="Arial"/>
              <a:ea typeface="Arial"/>
              <a:cs typeface="Arial"/>
              <a:sym typeface="Arial"/>
            </a:endParaRPr>
          </a:p>
        </p:txBody>
      </p:sp>
      <p:sp>
        <p:nvSpPr>
          <p:cNvPr id="237" name="Google Shape;237;p16"/>
          <p:cNvSpPr/>
          <p:nvPr/>
        </p:nvSpPr>
        <p:spPr>
          <a:xfrm>
            <a:off x="320040" y="2414016"/>
            <a:ext cx="4297680" cy="1298448"/>
          </a:xfrm>
          <a:prstGeom prst="rect">
            <a:avLst/>
          </a:prstGeom>
          <a:solidFill>
            <a:srgbClr val="04180C"/>
          </a:solidFill>
          <a:ln cap="flat" cmpd="sng" w="228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8" name="Google Shape;238;p16"/>
          <p:cNvSpPr/>
          <p:nvPr/>
        </p:nvSpPr>
        <p:spPr>
          <a:xfrm>
            <a:off x="320040" y="2414016"/>
            <a:ext cx="4297680" cy="27432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39" name="Google Shape;239;p16"/>
          <p:cNvSpPr txBox="1"/>
          <p:nvPr/>
        </p:nvSpPr>
        <p:spPr>
          <a:xfrm>
            <a:off x="320040" y="2450592"/>
            <a:ext cx="429768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SURFACE GRAPH  (ASG)</a:t>
            </a:r>
            <a:endParaRPr b="0" i="0" sz="1400" u="none" cap="none" strike="noStrike">
              <a:solidFill>
                <a:srgbClr val="000000"/>
              </a:solidFill>
              <a:latin typeface="Arial"/>
              <a:ea typeface="Arial"/>
              <a:cs typeface="Arial"/>
              <a:sym typeface="Arial"/>
            </a:endParaRPr>
          </a:p>
        </p:txBody>
      </p:sp>
      <p:sp>
        <p:nvSpPr>
          <p:cNvPr id="240" name="Google Shape;240;p16"/>
          <p:cNvSpPr/>
          <p:nvPr/>
        </p:nvSpPr>
        <p:spPr>
          <a:xfrm>
            <a:off x="457200"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1" name="Google Shape;241;p16"/>
          <p:cNvSpPr txBox="1"/>
          <p:nvPr/>
        </p:nvSpPr>
        <p:spPr>
          <a:xfrm>
            <a:off x="457200"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242" name="Google Shape;242;p16"/>
          <p:cNvSpPr/>
          <p:nvPr/>
        </p:nvSpPr>
        <p:spPr>
          <a:xfrm>
            <a:off x="1261872"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3" name="Google Shape;243;p16"/>
          <p:cNvSpPr txBox="1"/>
          <p:nvPr/>
        </p:nvSpPr>
        <p:spPr>
          <a:xfrm>
            <a:off x="1261872"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244" name="Google Shape;244;p16"/>
          <p:cNvSpPr/>
          <p:nvPr/>
        </p:nvSpPr>
        <p:spPr>
          <a:xfrm>
            <a:off x="2066544"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5" name="Google Shape;245;p16"/>
          <p:cNvSpPr txBox="1"/>
          <p:nvPr/>
        </p:nvSpPr>
        <p:spPr>
          <a:xfrm>
            <a:off x="2066544"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246" name="Google Shape;246;p16"/>
          <p:cNvSpPr/>
          <p:nvPr/>
        </p:nvSpPr>
        <p:spPr>
          <a:xfrm>
            <a:off x="2871216"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7" name="Google Shape;247;p16"/>
          <p:cNvSpPr txBox="1"/>
          <p:nvPr/>
        </p:nvSpPr>
        <p:spPr>
          <a:xfrm>
            <a:off x="2871216"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248" name="Google Shape;248;p16"/>
          <p:cNvSpPr/>
          <p:nvPr/>
        </p:nvSpPr>
        <p:spPr>
          <a:xfrm>
            <a:off x="3675888" y="2743200"/>
            <a:ext cx="749808"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9" name="Google Shape;249;p16"/>
          <p:cNvSpPr txBox="1"/>
          <p:nvPr/>
        </p:nvSpPr>
        <p:spPr>
          <a:xfrm>
            <a:off x="3675888" y="2761488"/>
            <a:ext cx="74980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250" name="Google Shape;250;p16"/>
          <p:cNvSpPr/>
          <p:nvPr/>
        </p:nvSpPr>
        <p:spPr>
          <a:xfrm>
            <a:off x="45720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1" name="Google Shape;251;p16"/>
          <p:cNvSpPr txBox="1"/>
          <p:nvPr/>
        </p:nvSpPr>
        <p:spPr>
          <a:xfrm>
            <a:off x="45720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252" name="Google Shape;252;p16"/>
          <p:cNvSpPr/>
          <p:nvPr/>
        </p:nvSpPr>
        <p:spPr>
          <a:xfrm>
            <a:off x="146304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3" name="Google Shape;253;p16"/>
          <p:cNvSpPr txBox="1"/>
          <p:nvPr/>
        </p:nvSpPr>
        <p:spPr>
          <a:xfrm>
            <a:off x="146304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254" name="Google Shape;254;p16"/>
          <p:cNvSpPr/>
          <p:nvPr/>
        </p:nvSpPr>
        <p:spPr>
          <a:xfrm>
            <a:off x="246888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5" name="Google Shape;255;p16"/>
          <p:cNvSpPr txBox="1"/>
          <p:nvPr/>
        </p:nvSpPr>
        <p:spPr>
          <a:xfrm>
            <a:off x="246888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256" name="Google Shape;256;p16"/>
          <p:cNvSpPr/>
          <p:nvPr/>
        </p:nvSpPr>
        <p:spPr>
          <a:xfrm>
            <a:off x="3474720" y="3017520"/>
            <a:ext cx="950976" cy="228600"/>
          </a:xfrm>
          <a:prstGeom prst="rect">
            <a:avLst/>
          </a:prstGeom>
          <a:solidFill>
            <a:srgbClr val="08281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57" name="Google Shape;257;p16"/>
          <p:cNvSpPr txBox="1"/>
          <p:nvPr/>
        </p:nvSpPr>
        <p:spPr>
          <a:xfrm>
            <a:off x="3474720" y="3035808"/>
            <a:ext cx="950976"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258" name="Google Shape;258;p16"/>
          <p:cNvSpPr txBox="1"/>
          <p:nvPr/>
        </p:nvSpPr>
        <p:spPr>
          <a:xfrm>
            <a:off x="429768" y="3300984"/>
            <a:ext cx="411480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60C070"/>
                </a:solidFill>
                <a:latin typeface="Calibri"/>
                <a:ea typeface="Calibri"/>
                <a:cs typeface="Calibri"/>
                <a:sym typeface="Calibri"/>
              </a:rPr>
              <a:t>Discovered Reality — confirmed facts only. Never contains hypotheses.</a:t>
            </a:r>
            <a:endParaRPr b="0" i="0" sz="1400" u="none" cap="none" strike="noStrike">
              <a:solidFill>
                <a:srgbClr val="000000"/>
              </a:solidFill>
              <a:latin typeface="Arial"/>
              <a:ea typeface="Arial"/>
              <a:cs typeface="Arial"/>
              <a:sym typeface="Arial"/>
            </a:endParaRPr>
          </a:p>
        </p:txBody>
      </p:sp>
      <p:sp>
        <p:nvSpPr>
          <p:cNvPr id="259" name="Google Shape;259;p16"/>
          <p:cNvSpPr/>
          <p:nvPr/>
        </p:nvSpPr>
        <p:spPr>
          <a:xfrm>
            <a:off x="7589520" y="2414016"/>
            <a:ext cx="4389120" cy="1298448"/>
          </a:xfrm>
          <a:prstGeom prst="rect">
            <a:avLst/>
          </a:prstGeom>
          <a:solidFill>
            <a:srgbClr val="1E1004"/>
          </a:solidFill>
          <a:ln cap="flat" cmpd="sng" w="228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0" name="Google Shape;260;p16"/>
          <p:cNvSpPr/>
          <p:nvPr/>
        </p:nvSpPr>
        <p:spPr>
          <a:xfrm>
            <a:off x="7589520" y="2414016"/>
            <a:ext cx="4389120" cy="27432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1" name="Google Shape;261;p16"/>
          <p:cNvSpPr txBox="1"/>
          <p:nvPr/>
        </p:nvSpPr>
        <p:spPr>
          <a:xfrm>
            <a:off x="7589520" y="2450592"/>
            <a:ext cx="4389120" cy="21945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ATTACK PATH GRAPH  (APG)</a:t>
            </a:r>
            <a:endParaRPr b="0" i="0" sz="1400" u="none" cap="none" strike="noStrike">
              <a:solidFill>
                <a:srgbClr val="000000"/>
              </a:solidFill>
              <a:latin typeface="Arial"/>
              <a:ea typeface="Arial"/>
              <a:cs typeface="Arial"/>
              <a:sym typeface="Arial"/>
            </a:endParaRPr>
          </a:p>
        </p:txBody>
      </p:sp>
      <p:sp>
        <p:nvSpPr>
          <p:cNvPr id="262" name="Google Shape;262;p16"/>
          <p:cNvSpPr/>
          <p:nvPr/>
        </p:nvSpPr>
        <p:spPr>
          <a:xfrm>
            <a:off x="77266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3" name="Google Shape;263;p16"/>
          <p:cNvSpPr txBox="1"/>
          <p:nvPr/>
        </p:nvSpPr>
        <p:spPr>
          <a:xfrm>
            <a:off x="77266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AttackChain</a:t>
            </a:r>
            <a:endParaRPr b="0" i="0" sz="1400" u="none" cap="none" strike="noStrike">
              <a:solidFill>
                <a:srgbClr val="000000"/>
              </a:solidFill>
              <a:latin typeface="Arial"/>
              <a:ea typeface="Arial"/>
              <a:cs typeface="Arial"/>
              <a:sym typeface="Arial"/>
            </a:endParaRPr>
          </a:p>
        </p:txBody>
      </p:sp>
      <p:sp>
        <p:nvSpPr>
          <p:cNvPr id="264" name="Google Shape;264;p16"/>
          <p:cNvSpPr/>
          <p:nvPr/>
        </p:nvSpPr>
        <p:spPr>
          <a:xfrm>
            <a:off x="90982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5" name="Google Shape;265;p16"/>
          <p:cNvSpPr txBox="1"/>
          <p:nvPr/>
        </p:nvSpPr>
        <p:spPr>
          <a:xfrm>
            <a:off x="90982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ChainStep</a:t>
            </a:r>
            <a:endParaRPr b="0" i="0" sz="1400" u="none" cap="none" strike="noStrike">
              <a:solidFill>
                <a:srgbClr val="000000"/>
              </a:solidFill>
              <a:latin typeface="Arial"/>
              <a:ea typeface="Arial"/>
              <a:cs typeface="Arial"/>
              <a:sym typeface="Arial"/>
            </a:endParaRPr>
          </a:p>
        </p:txBody>
      </p:sp>
      <p:sp>
        <p:nvSpPr>
          <p:cNvPr id="266" name="Google Shape;266;p16"/>
          <p:cNvSpPr/>
          <p:nvPr/>
        </p:nvSpPr>
        <p:spPr>
          <a:xfrm>
            <a:off x="10469880" y="2743200"/>
            <a:ext cx="1280160" cy="228600"/>
          </a:xfrm>
          <a:prstGeom prst="rect">
            <a:avLst/>
          </a:prstGeom>
          <a:solidFill>
            <a:srgbClr val="2E180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67" name="Google Shape;267;p16"/>
          <p:cNvSpPr txBox="1"/>
          <p:nvPr/>
        </p:nvSpPr>
        <p:spPr>
          <a:xfrm>
            <a:off x="10469880" y="2761488"/>
            <a:ext cx="128016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268" name="Google Shape;268;p16"/>
          <p:cNvSpPr txBox="1"/>
          <p:nvPr/>
        </p:nvSpPr>
        <p:spPr>
          <a:xfrm>
            <a:off x="7699248" y="3035808"/>
            <a:ext cx="420624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risk_score  ·  validation_status  ·  priority</a:t>
            </a:r>
            <a:endParaRPr b="0" i="0" sz="1400" u="none" cap="none" strike="noStrike">
              <a:solidFill>
                <a:srgbClr val="000000"/>
              </a:solidFill>
              <a:latin typeface="Arial"/>
              <a:ea typeface="Arial"/>
              <a:cs typeface="Arial"/>
              <a:sym typeface="Arial"/>
            </a:endParaRPr>
          </a:p>
        </p:txBody>
      </p:sp>
      <p:sp>
        <p:nvSpPr>
          <p:cNvPr id="269" name="Google Shape;269;p16"/>
          <p:cNvSpPr txBox="1"/>
          <p:nvPr/>
        </p:nvSpPr>
        <p:spPr>
          <a:xfrm>
            <a:off x="7699248" y="3282696"/>
            <a:ext cx="4206240" cy="34747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C09020"/>
                </a:solidFill>
                <a:latin typeface="Calibri"/>
                <a:ea typeface="Calibri"/>
                <a:cs typeface="Calibri"/>
                <a:sym typeface="Calibri"/>
              </a:rPr>
              <a:t>Inferred Opportunity — attack reasoning only. Never contains raw scan data.</a:t>
            </a:r>
            <a:endParaRPr b="0" i="0" sz="1400" u="none" cap="none" strike="noStrike">
              <a:solidFill>
                <a:srgbClr val="000000"/>
              </a:solidFill>
              <a:latin typeface="Arial"/>
              <a:ea typeface="Arial"/>
              <a:cs typeface="Arial"/>
              <a:sym typeface="Arial"/>
            </a:endParaRPr>
          </a:p>
        </p:txBody>
      </p:sp>
      <p:sp>
        <p:nvSpPr>
          <p:cNvPr id="270" name="Google Shape;270;p16"/>
          <p:cNvSpPr/>
          <p:nvPr/>
        </p:nvSpPr>
        <p:spPr>
          <a:xfrm>
            <a:off x="4617720" y="2414016"/>
            <a:ext cx="2971800" cy="1298448"/>
          </a:xfrm>
          <a:prstGeom prst="rect">
            <a:avLst/>
          </a:prstGeom>
          <a:solidFill>
            <a:srgbClr val="0610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1" name="Google Shape;271;p16"/>
          <p:cNvSpPr txBox="1"/>
          <p:nvPr/>
        </p:nvSpPr>
        <p:spPr>
          <a:xfrm>
            <a:off x="4654296" y="2706624"/>
            <a:ext cx="2935224" cy="5029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A0AAB8"/>
                </a:solidFill>
                <a:latin typeface="Calibri"/>
                <a:ea typeface="Calibri"/>
                <a:cs typeface="Calibri"/>
                <a:sym typeface="Calibri"/>
              </a:rPr>
              <a:t>STRICT</a:t>
            </a:r>
            <a:br>
              <a:rPr b="1" i="0" lang="en-US" sz="700" u="none" cap="none" strike="noStrike">
                <a:solidFill>
                  <a:srgbClr val="A0AAB8"/>
                </a:solidFill>
                <a:latin typeface="Calibri"/>
                <a:ea typeface="Calibri"/>
                <a:cs typeface="Calibri"/>
                <a:sym typeface="Calibri"/>
              </a:rPr>
            </a:br>
            <a:r>
              <a:rPr b="1" i="0" lang="en-US" sz="700" u="none" cap="none" strike="noStrike">
                <a:solidFill>
                  <a:srgbClr val="A0AAB8"/>
                </a:solidFill>
                <a:latin typeface="Calibri"/>
                <a:ea typeface="Calibri"/>
                <a:cs typeface="Calibri"/>
                <a:sym typeface="Calibri"/>
              </a:rPr>
              <a:t>SEPARATION</a:t>
            </a:r>
            <a:endParaRPr b="0" i="0" sz="1400" u="none" cap="none" strike="noStrike">
              <a:solidFill>
                <a:srgbClr val="000000"/>
              </a:solidFill>
              <a:latin typeface="Arial"/>
              <a:ea typeface="Arial"/>
              <a:cs typeface="Arial"/>
              <a:sym typeface="Arial"/>
            </a:endParaRPr>
          </a:p>
        </p:txBody>
      </p:sp>
      <p:sp>
        <p:nvSpPr>
          <p:cNvPr id="272" name="Google Shape;272;p16"/>
          <p:cNvSpPr/>
          <p:nvPr/>
        </p:nvSpPr>
        <p:spPr>
          <a:xfrm>
            <a:off x="6094476" y="2414016"/>
            <a:ext cx="18288" cy="129844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73" name="Google Shape;273;p16"/>
          <p:cNvCxnSpPr/>
          <p:nvPr/>
        </p:nvCxnSpPr>
        <p:spPr>
          <a:xfrm>
            <a:off x="0" y="3712464"/>
            <a:ext cx="0" cy="201168"/>
          </a:xfrm>
          <a:prstGeom prst="straightConnector1">
            <a:avLst/>
          </a:prstGeom>
          <a:noFill/>
          <a:ln cap="flat" cmpd="sng" w="101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4" name="Google Shape;274;p16"/>
          <p:cNvCxnSpPr/>
          <p:nvPr/>
        </p:nvCxnSpPr>
        <p:spPr>
          <a:xfrm>
            <a:off x="0" y="2084832"/>
            <a:ext cx="0" cy="54864"/>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75" name="Google Shape;275;p16"/>
          <p:cNvCxnSpPr/>
          <p:nvPr/>
        </p:nvCxnSpPr>
        <p:spPr>
          <a:xfrm rot="10800000">
            <a:off x="0" y="2084832"/>
            <a:ext cx="0" cy="54864"/>
          </a:xfrm>
          <a:prstGeom prst="straightConnector1">
            <a:avLst/>
          </a:prstGeom>
          <a:noFill/>
          <a:ln cap="flat" cmpd="sng" w="1270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276" name="Google Shape;276;p16"/>
          <p:cNvSpPr/>
          <p:nvPr/>
        </p:nvSpPr>
        <p:spPr>
          <a:xfrm>
            <a:off x="164592" y="3877056"/>
            <a:ext cx="11862511" cy="2724912"/>
          </a:xfrm>
          <a:prstGeom prst="rect">
            <a:avLst/>
          </a:prstGeom>
          <a:solidFill>
            <a:srgbClr val="0A08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7" name="Google Shape;277;p16"/>
          <p:cNvSpPr txBox="1"/>
          <p:nvPr/>
        </p:nvSpPr>
        <p:spPr>
          <a:xfrm>
            <a:off x="201168" y="3913632"/>
            <a:ext cx="457200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③ SPECIALIZED AGENTS  +  TOOL ADAPTER LAYER</a:t>
            </a:r>
            <a:endParaRPr b="0" i="0" sz="1400" u="none" cap="none" strike="noStrike">
              <a:solidFill>
                <a:srgbClr val="000000"/>
              </a:solidFill>
              <a:latin typeface="Arial"/>
              <a:ea typeface="Arial"/>
              <a:cs typeface="Arial"/>
              <a:sym typeface="Arial"/>
            </a:endParaRPr>
          </a:p>
        </p:txBody>
      </p:sp>
      <p:sp>
        <p:nvSpPr>
          <p:cNvPr id="278" name="Google Shape;278;p16"/>
          <p:cNvSpPr/>
          <p:nvPr/>
        </p:nvSpPr>
        <p:spPr>
          <a:xfrm>
            <a:off x="320040" y="4133088"/>
            <a:ext cx="1287780" cy="2404872"/>
          </a:xfrm>
          <a:prstGeom prst="rect">
            <a:avLst/>
          </a:prstGeom>
          <a:solidFill>
            <a:srgbClr val="0C0E22"/>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79" name="Google Shape;279;p16"/>
          <p:cNvSpPr/>
          <p:nvPr/>
        </p:nvSpPr>
        <p:spPr>
          <a:xfrm>
            <a:off x="320040" y="4133088"/>
            <a:ext cx="128778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0" name="Google Shape;280;p16"/>
          <p:cNvSpPr txBox="1"/>
          <p:nvPr/>
        </p:nvSpPr>
        <p:spPr>
          <a:xfrm>
            <a:off x="32004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Recon</a:t>
            </a:r>
            <a:endParaRPr b="0" i="0" sz="1400" u="none" cap="none" strike="noStrike">
              <a:solidFill>
                <a:srgbClr val="000000"/>
              </a:solidFill>
              <a:latin typeface="Arial"/>
              <a:ea typeface="Arial"/>
              <a:cs typeface="Arial"/>
              <a:sym typeface="Arial"/>
            </a:endParaRPr>
          </a:p>
        </p:txBody>
      </p:sp>
      <p:sp>
        <p:nvSpPr>
          <p:cNvPr id="281" name="Google Shape;281;p16"/>
          <p:cNvSpPr txBox="1"/>
          <p:nvPr/>
        </p:nvSpPr>
        <p:spPr>
          <a:xfrm>
            <a:off x="37490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cxnSp>
        <p:nvCxnSpPr>
          <p:cNvPr id="282" name="Google Shape;282;p16"/>
          <p:cNvCxnSpPr/>
          <p:nvPr/>
        </p:nvCxnSpPr>
        <p:spPr>
          <a:xfrm>
            <a:off x="0" y="2130552"/>
            <a:ext cx="0" cy="2002536"/>
          </a:xfrm>
          <a:prstGeom prst="straightConnector1">
            <a:avLst/>
          </a:prstGeom>
          <a:noFill/>
          <a:ln cap="flat" cmpd="sng" w="95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83" name="Google Shape;283;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84" name="Google Shape;284;p16"/>
          <p:cNvSpPr/>
          <p:nvPr/>
        </p:nvSpPr>
        <p:spPr>
          <a:xfrm>
            <a:off x="1662684" y="4133088"/>
            <a:ext cx="1287780" cy="2404872"/>
          </a:xfrm>
          <a:prstGeom prst="rect">
            <a:avLst/>
          </a:prstGeom>
          <a:solidFill>
            <a:srgbClr val="0C0E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5" name="Google Shape;285;p16"/>
          <p:cNvSpPr/>
          <p:nvPr/>
        </p:nvSpPr>
        <p:spPr>
          <a:xfrm>
            <a:off x="1662684" y="4133088"/>
            <a:ext cx="128778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86" name="Google Shape;286;p16"/>
          <p:cNvSpPr txBox="1"/>
          <p:nvPr/>
        </p:nvSpPr>
        <p:spPr>
          <a:xfrm>
            <a:off x="1662684"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Analysis</a:t>
            </a:r>
            <a:endParaRPr b="0" i="0" sz="1400" u="none" cap="none" strike="noStrike">
              <a:solidFill>
                <a:srgbClr val="000000"/>
              </a:solidFill>
              <a:latin typeface="Arial"/>
              <a:ea typeface="Arial"/>
              <a:cs typeface="Arial"/>
              <a:sym typeface="Arial"/>
            </a:endParaRPr>
          </a:p>
        </p:txBody>
      </p:sp>
      <p:sp>
        <p:nvSpPr>
          <p:cNvPr id="287" name="Google Shape;287;p16"/>
          <p:cNvSpPr txBox="1"/>
          <p:nvPr/>
        </p:nvSpPr>
        <p:spPr>
          <a:xfrm>
            <a:off x="1717548"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cxnSp>
        <p:nvCxnSpPr>
          <p:cNvPr id="288" name="Google Shape;288;p16"/>
          <p:cNvCxnSpPr/>
          <p:nvPr/>
        </p:nvCxnSpPr>
        <p:spPr>
          <a:xfrm>
            <a:off x="0" y="2130552"/>
            <a:ext cx="0" cy="2002536"/>
          </a:xfrm>
          <a:prstGeom prst="straightConnector1">
            <a:avLst/>
          </a:prstGeom>
          <a:noFill/>
          <a:ln cap="flat" cmpd="sng" w="9525">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89" name="Google Shape;289;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0" name="Google Shape;290;p16"/>
          <p:cNvSpPr/>
          <p:nvPr/>
        </p:nvSpPr>
        <p:spPr>
          <a:xfrm>
            <a:off x="3005328" y="4133088"/>
            <a:ext cx="1287780" cy="2404872"/>
          </a:xfrm>
          <a:prstGeom prst="rect">
            <a:avLst/>
          </a:prstGeom>
          <a:solidFill>
            <a:srgbClr val="0C0E22"/>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1" name="Google Shape;291;p16"/>
          <p:cNvSpPr/>
          <p:nvPr/>
        </p:nvSpPr>
        <p:spPr>
          <a:xfrm>
            <a:off x="3005328" y="4133088"/>
            <a:ext cx="128778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2" name="Google Shape;292;p16"/>
          <p:cNvSpPr txBox="1"/>
          <p:nvPr/>
        </p:nvSpPr>
        <p:spPr>
          <a:xfrm>
            <a:off x="3005328"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Research</a:t>
            </a:r>
            <a:endParaRPr b="0" i="0" sz="1400" u="none" cap="none" strike="noStrike">
              <a:solidFill>
                <a:srgbClr val="000000"/>
              </a:solidFill>
              <a:latin typeface="Arial"/>
              <a:ea typeface="Arial"/>
              <a:cs typeface="Arial"/>
              <a:sym typeface="Arial"/>
            </a:endParaRPr>
          </a:p>
        </p:txBody>
      </p:sp>
      <p:sp>
        <p:nvSpPr>
          <p:cNvPr id="293" name="Google Shape;293;p16"/>
          <p:cNvSpPr txBox="1"/>
          <p:nvPr/>
        </p:nvSpPr>
        <p:spPr>
          <a:xfrm>
            <a:off x="3060192"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D700"/>
                </a:solidFill>
                <a:latin typeface="Calibri"/>
                <a:ea typeface="Calibri"/>
                <a:cs typeface="Calibri"/>
                <a:sym typeface="Calibri"/>
              </a:rPr>
              <a:t>NVD · Exploit-DB · GitHub</a:t>
            </a:r>
            <a:endParaRPr b="0" i="0" sz="1400" u="none" cap="none" strike="noStrike">
              <a:solidFill>
                <a:srgbClr val="000000"/>
              </a:solidFill>
              <a:latin typeface="Arial"/>
              <a:ea typeface="Arial"/>
              <a:cs typeface="Arial"/>
              <a:sym typeface="Arial"/>
            </a:endParaRPr>
          </a:p>
        </p:txBody>
      </p:sp>
      <p:cxnSp>
        <p:nvCxnSpPr>
          <p:cNvPr id="294" name="Google Shape;294;p16"/>
          <p:cNvCxnSpPr/>
          <p:nvPr/>
        </p:nvCxnSpPr>
        <p:spPr>
          <a:xfrm>
            <a:off x="0" y="2130552"/>
            <a:ext cx="0" cy="2002536"/>
          </a:xfrm>
          <a:prstGeom prst="straightConnector1">
            <a:avLst/>
          </a:prstGeom>
          <a:noFill/>
          <a:ln cap="flat" cmpd="sng" w="95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cxnSp>
        <p:nvCxnSpPr>
          <p:cNvPr id="295" name="Google Shape;295;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296" name="Google Shape;296;p16"/>
          <p:cNvSpPr/>
          <p:nvPr/>
        </p:nvSpPr>
        <p:spPr>
          <a:xfrm>
            <a:off x="4347972" y="4133088"/>
            <a:ext cx="1287780" cy="2404872"/>
          </a:xfrm>
          <a:prstGeom prst="rect">
            <a:avLst/>
          </a:prstGeom>
          <a:solidFill>
            <a:srgbClr val="0C0E22"/>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7" name="Google Shape;297;p16"/>
          <p:cNvSpPr/>
          <p:nvPr/>
        </p:nvSpPr>
        <p:spPr>
          <a:xfrm>
            <a:off x="4347972" y="4133088"/>
            <a:ext cx="128778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98" name="Google Shape;298;p16"/>
          <p:cNvSpPr txBox="1"/>
          <p:nvPr/>
        </p:nvSpPr>
        <p:spPr>
          <a:xfrm>
            <a:off x="4347972"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299" name="Google Shape;299;p16"/>
          <p:cNvSpPr txBox="1"/>
          <p:nvPr/>
        </p:nvSpPr>
        <p:spPr>
          <a:xfrm>
            <a:off x="4402836"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cxnSp>
        <p:nvCxnSpPr>
          <p:cNvPr id="300" name="Google Shape;300;p16"/>
          <p:cNvCxnSpPr/>
          <p:nvPr/>
        </p:nvCxnSpPr>
        <p:spPr>
          <a:xfrm>
            <a:off x="0" y="2130552"/>
            <a:ext cx="0" cy="2002536"/>
          </a:xfrm>
          <a:prstGeom prst="straightConnector1">
            <a:avLst/>
          </a:prstGeom>
          <a:noFill/>
          <a:ln cap="flat" cmpd="sng" w="95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1" name="Google Shape;301;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2" name="Google Shape;302;p16"/>
          <p:cNvSpPr/>
          <p:nvPr/>
        </p:nvSpPr>
        <p:spPr>
          <a:xfrm>
            <a:off x="5690616" y="4133088"/>
            <a:ext cx="1287780" cy="2404872"/>
          </a:xfrm>
          <a:prstGeom prst="rect">
            <a:avLst/>
          </a:prstGeom>
          <a:solidFill>
            <a:srgbClr val="0C0E22"/>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3" name="Google Shape;303;p16"/>
          <p:cNvSpPr/>
          <p:nvPr/>
        </p:nvSpPr>
        <p:spPr>
          <a:xfrm>
            <a:off x="5690616" y="4133088"/>
            <a:ext cx="128778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4" name="Google Shape;304;p16"/>
          <p:cNvSpPr txBox="1"/>
          <p:nvPr/>
        </p:nvSpPr>
        <p:spPr>
          <a:xfrm>
            <a:off x="5690616"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05" name="Google Shape;305;p16"/>
          <p:cNvSpPr txBox="1"/>
          <p:nvPr/>
        </p:nvSpPr>
        <p:spPr>
          <a:xfrm>
            <a:off x="5745480"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cxnSp>
        <p:nvCxnSpPr>
          <p:cNvPr id="306" name="Google Shape;306;p16"/>
          <p:cNvCxnSpPr/>
          <p:nvPr/>
        </p:nvCxnSpPr>
        <p:spPr>
          <a:xfrm>
            <a:off x="0" y="2130552"/>
            <a:ext cx="0" cy="2002536"/>
          </a:xfrm>
          <a:prstGeom prst="straightConnector1">
            <a:avLst/>
          </a:prstGeom>
          <a:noFill/>
          <a:ln cap="flat" cmpd="sng" w="9525">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cxnSp>
        <p:nvCxnSpPr>
          <p:cNvPr id="307" name="Google Shape;307;p16"/>
          <p:cNvCxnSpPr/>
          <p:nvPr/>
        </p:nvCxnSpPr>
        <p:spPr>
          <a:xfrm rot="10800000">
            <a:off x="0" y="3822192"/>
            <a:ext cx="0" cy="310896"/>
          </a:xfrm>
          <a:prstGeom prst="straightConnector1">
            <a:avLst/>
          </a:prstGeom>
          <a:noFill/>
          <a:ln cap="flat" cmpd="sng" w="9525">
            <a:solidFill>
              <a:srgbClr val="205028"/>
            </a:solidFill>
            <a:prstDash val="solid"/>
            <a:round/>
            <a:headEnd len="med" w="med" type="stealth"/>
            <a:tailEnd len="sm" w="sm" type="none"/>
          </a:ln>
          <a:effectLst>
            <a:outerShdw blurRad="40000" rotWithShape="0" dir="5400000" dist="20000">
              <a:srgbClr val="000000">
                <a:alpha val="38039"/>
              </a:srgbClr>
            </a:outerShdw>
          </a:effectLst>
        </p:spPr>
      </p:cxnSp>
      <p:sp>
        <p:nvSpPr>
          <p:cNvPr id="308" name="Google Shape;308;p16"/>
          <p:cNvSpPr/>
          <p:nvPr/>
        </p:nvSpPr>
        <p:spPr>
          <a:xfrm>
            <a:off x="7033260" y="4133088"/>
            <a:ext cx="1287780" cy="2404872"/>
          </a:xfrm>
          <a:prstGeom prst="rect">
            <a:avLst/>
          </a:prstGeom>
          <a:solidFill>
            <a:srgbClr val="0C0E22"/>
          </a:solidFill>
          <a:ln cap="flat" cmpd="sng" w="152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9" name="Google Shape;309;p16"/>
          <p:cNvSpPr/>
          <p:nvPr/>
        </p:nvSpPr>
        <p:spPr>
          <a:xfrm>
            <a:off x="7033260" y="4133088"/>
            <a:ext cx="1287780" cy="219456"/>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0" name="Google Shape;310;p16"/>
          <p:cNvSpPr txBox="1"/>
          <p:nvPr/>
        </p:nvSpPr>
        <p:spPr>
          <a:xfrm>
            <a:off x="7033260" y="4151376"/>
            <a:ext cx="12877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311" name="Google Shape;311;p16"/>
          <p:cNvSpPr txBox="1"/>
          <p:nvPr/>
        </p:nvSpPr>
        <p:spPr>
          <a:xfrm>
            <a:off x="7088124" y="4407408"/>
            <a:ext cx="1196340" cy="21305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0" lang="en-US" sz="700" u="none" cap="none" strike="noStrike">
                <a:solidFill>
                  <a:srgbClr val="A0AAB8"/>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cxnSp>
        <p:nvCxnSpPr>
          <p:cNvPr id="312" name="Google Shape;312;p16"/>
          <p:cNvCxnSpPr/>
          <p:nvPr/>
        </p:nvCxnSpPr>
        <p:spPr>
          <a:xfrm>
            <a:off x="0" y="2130552"/>
            <a:ext cx="0" cy="2002536"/>
          </a:xfrm>
          <a:prstGeom prst="straightConnector1">
            <a:avLst/>
          </a:prstGeom>
          <a:noFill/>
          <a:ln cap="flat" cmpd="sng" w="9525">
            <a:solidFill>
              <a:srgbClr val="A0AAB8"/>
            </a:solidFill>
            <a:prstDash val="solid"/>
            <a:round/>
            <a:headEnd len="med" w="med" type="stealth"/>
            <a:tailEnd len="sm" w="sm" type="none"/>
          </a:ln>
          <a:effectLst>
            <a:outerShdw blurRad="40000" rotWithShape="0" dir="5400000" dist="20000">
              <a:srgbClr val="000000">
                <a:alpha val="38039"/>
              </a:srgbClr>
            </a:outerShdw>
          </a:effectLst>
        </p:spPr>
      </p:cxnSp>
      <p:sp>
        <p:nvSpPr>
          <p:cNvPr id="313" name="Google Shape;313;p16"/>
          <p:cNvSpPr/>
          <p:nvPr/>
        </p:nvSpPr>
        <p:spPr>
          <a:xfrm>
            <a:off x="8641075" y="4133100"/>
            <a:ext cx="3349500" cy="2404800"/>
          </a:xfrm>
          <a:prstGeom prst="rect">
            <a:avLst/>
          </a:prstGeom>
          <a:solidFill>
            <a:srgbClr val="0A081E"/>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4" name="Google Shape;314;p16"/>
          <p:cNvSpPr/>
          <p:nvPr/>
        </p:nvSpPr>
        <p:spPr>
          <a:xfrm>
            <a:off x="8641080" y="4133088"/>
            <a:ext cx="3349447" cy="237744"/>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5" name="Google Shape;315;p16"/>
          <p:cNvSpPr txBox="1"/>
          <p:nvPr/>
        </p:nvSpPr>
        <p:spPr>
          <a:xfrm>
            <a:off x="8641080" y="4160520"/>
            <a:ext cx="3349500" cy="201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TOOL ADAPTER LAYER</a:t>
            </a:r>
            <a:endParaRPr b="0" i="0" sz="1400" u="none" cap="none" strike="noStrike">
              <a:solidFill>
                <a:srgbClr val="000000"/>
              </a:solidFill>
              <a:latin typeface="Arial"/>
              <a:ea typeface="Arial"/>
              <a:cs typeface="Arial"/>
              <a:sym typeface="Arial"/>
            </a:endParaRPr>
          </a:p>
        </p:txBody>
      </p:sp>
      <p:sp>
        <p:nvSpPr>
          <p:cNvPr id="316" name="Google Shape;316;p16"/>
          <p:cNvSpPr/>
          <p:nvPr/>
        </p:nvSpPr>
        <p:spPr>
          <a:xfrm>
            <a:off x="8732520" y="4407408"/>
            <a:ext cx="3166567" cy="649224"/>
          </a:xfrm>
          <a:prstGeom prst="rect">
            <a:avLst/>
          </a:prstGeom>
          <a:solidFill>
            <a:srgbClr val="100C24"/>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7" name="Google Shape;317;p16"/>
          <p:cNvSpPr/>
          <p:nvPr/>
        </p:nvSpPr>
        <p:spPr>
          <a:xfrm>
            <a:off x="8732520" y="4407408"/>
            <a:ext cx="347472" cy="649224"/>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18" name="Google Shape;318;p16"/>
          <p:cNvSpPr txBox="1"/>
          <p:nvPr/>
        </p:nvSpPr>
        <p:spPr>
          <a:xfrm>
            <a:off x="8641076" y="4425700"/>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LOW</a:t>
            </a:r>
            <a:endParaRPr b="0" i="0" sz="1400" u="none" cap="none" strike="noStrike">
              <a:solidFill>
                <a:srgbClr val="000000"/>
              </a:solidFill>
              <a:latin typeface="Arial"/>
              <a:ea typeface="Arial"/>
              <a:cs typeface="Arial"/>
              <a:sym typeface="Arial"/>
            </a:endParaRPr>
          </a:p>
        </p:txBody>
      </p:sp>
      <p:sp>
        <p:nvSpPr>
          <p:cNvPr id="319" name="Google Shape;319;p16"/>
          <p:cNvSpPr txBox="1"/>
          <p:nvPr/>
        </p:nvSpPr>
        <p:spPr>
          <a:xfrm>
            <a:off x="9116568" y="4425696"/>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Passive</a:t>
            </a:r>
            <a:endParaRPr b="0" i="0" sz="1400" u="none" cap="none" strike="noStrike">
              <a:solidFill>
                <a:srgbClr val="000000"/>
              </a:solidFill>
              <a:latin typeface="Arial"/>
              <a:ea typeface="Arial"/>
              <a:cs typeface="Arial"/>
              <a:sym typeface="Arial"/>
            </a:endParaRPr>
          </a:p>
        </p:txBody>
      </p:sp>
      <p:sp>
        <p:nvSpPr>
          <p:cNvPr id="320" name="Google Shape;320;p16"/>
          <p:cNvSpPr txBox="1"/>
          <p:nvPr/>
        </p:nvSpPr>
        <p:spPr>
          <a:xfrm>
            <a:off x="9116568" y="4608576"/>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Execute immediately</a:t>
            </a:r>
            <a:endParaRPr b="0" i="0" sz="1400" u="none" cap="none" strike="noStrike">
              <a:solidFill>
                <a:srgbClr val="000000"/>
              </a:solidFill>
              <a:latin typeface="Arial"/>
              <a:ea typeface="Arial"/>
              <a:cs typeface="Arial"/>
              <a:sym typeface="Arial"/>
            </a:endParaRPr>
          </a:p>
        </p:txBody>
      </p:sp>
      <p:sp>
        <p:nvSpPr>
          <p:cNvPr id="321" name="Google Shape;321;p16"/>
          <p:cNvSpPr/>
          <p:nvPr/>
        </p:nvSpPr>
        <p:spPr>
          <a:xfrm>
            <a:off x="8732520" y="5111496"/>
            <a:ext cx="3166567" cy="649224"/>
          </a:xfrm>
          <a:prstGeom prst="rect">
            <a:avLst/>
          </a:prstGeom>
          <a:solidFill>
            <a:srgbClr val="100C24"/>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2" name="Google Shape;322;p16"/>
          <p:cNvSpPr/>
          <p:nvPr/>
        </p:nvSpPr>
        <p:spPr>
          <a:xfrm>
            <a:off x="8732520" y="5111496"/>
            <a:ext cx="347472" cy="649224"/>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3" name="Google Shape;323;p16"/>
          <p:cNvSpPr txBox="1"/>
          <p:nvPr/>
        </p:nvSpPr>
        <p:spPr>
          <a:xfrm>
            <a:off x="8641102" y="51297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MED</a:t>
            </a:r>
            <a:endParaRPr b="0" i="0" sz="1400" u="none" cap="none" strike="noStrike">
              <a:solidFill>
                <a:srgbClr val="000000"/>
              </a:solidFill>
              <a:latin typeface="Arial"/>
              <a:ea typeface="Arial"/>
              <a:cs typeface="Arial"/>
              <a:sym typeface="Arial"/>
            </a:endParaRPr>
          </a:p>
        </p:txBody>
      </p:sp>
      <p:sp>
        <p:nvSpPr>
          <p:cNvPr id="324" name="Google Shape;324;p16"/>
          <p:cNvSpPr txBox="1"/>
          <p:nvPr/>
        </p:nvSpPr>
        <p:spPr>
          <a:xfrm>
            <a:off x="9116568" y="5129784"/>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Active</a:t>
            </a:r>
            <a:endParaRPr b="0" i="0" sz="1400" u="none" cap="none" strike="noStrike">
              <a:solidFill>
                <a:srgbClr val="000000"/>
              </a:solidFill>
              <a:latin typeface="Arial"/>
              <a:ea typeface="Arial"/>
              <a:cs typeface="Arial"/>
              <a:sym typeface="Arial"/>
            </a:endParaRPr>
          </a:p>
        </p:txBody>
      </p:sp>
      <p:sp>
        <p:nvSpPr>
          <p:cNvPr id="325" name="Google Shape;325;p16"/>
          <p:cNvSpPr txBox="1"/>
          <p:nvPr/>
        </p:nvSpPr>
        <p:spPr>
          <a:xfrm>
            <a:off x="9116568" y="5312664"/>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LLM Classifier → exec/escalate</a:t>
            </a:r>
            <a:endParaRPr b="0" i="0" sz="1400" u="none" cap="none" strike="noStrike">
              <a:solidFill>
                <a:srgbClr val="000000"/>
              </a:solidFill>
              <a:latin typeface="Arial"/>
              <a:ea typeface="Arial"/>
              <a:cs typeface="Arial"/>
              <a:sym typeface="Arial"/>
            </a:endParaRPr>
          </a:p>
        </p:txBody>
      </p:sp>
      <p:sp>
        <p:nvSpPr>
          <p:cNvPr id="326" name="Google Shape;326;p16"/>
          <p:cNvSpPr/>
          <p:nvPr/>
        </p:nvSpPr>
        <p:spPr>
          <a:xfrm>
            <a:off x="8732520" y="5815584"/>
            <a:ext cx="3166567" cy="649224"/>
          </a:xfrm>
          <a:prstGeom prst="rect">
            <a:avLst/>
          </a:prstGeom>
          <a:solidFill>
            <a:srgbClr val="100C24"/>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7" name="Google Shape;327;p16"/>
          <p:cNvSpPr/>
          <p:nvPr/>
        </p:nvSpPr>
        <p:spPr>
          <a:xfrm>
            <a:off x="8732520" y="5815584"/>
            <a:ext cx="347472" cy="649224"/>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28" name="Google Shape;328;p16"/>
          <p:cNvSpPr txBox="1"/>
          <p:nvPr/>
        </p:nvSpPr>
        <p:spPr>
          <a:xfrm>
            <a:off x="8641101" y="5833875"/>
            <a:ext cx="438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A0D1A"/>
                </a:solidFill>
                <a:latin typeface="Calibri"/>
                <a:ea typeface="Calibri"/>
                <a:cs typeface="Calibri"/>
                <a:sym typeface="Calibri"/>
              </a:rPr>
              <a:t>HIGH</a:t>
            </a:r>
            <a:endParaRPr b="0" i="0" sz="1400" u="none" cap="none" strike="noStrike">
              <a:solidFill>
                <a:srgbClr val="000000"/>
              </a:solidFill>
              <a:latin typeface="Arial"/>
              <a:ea typeface="Arial"/>
              <a:cs typeface="Arial"/>
              <a:sym typeface="Arial"/>
            </a:endParaRPr>
          </a:p>
        </p:txBody>
      </p:sp>
      <p:sp>
        <p:nvSpPr>
          <p:cNvPr id="329" name="Google Shape;329;p16"/>
          <p:cNvSpPr txBox="1"/>
          <p:nvPr/>
        </p:nvSpPr>
        <p:spPr>
          <a:xfrm>
            <a:off x="9116568" y="5833872"/>
            <a:ext cx="2755087"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Exploit</a:t>
            </a:r>
            <a:endParaRPr b="0" i="0" sz="1400" u="none" cap="none" strike="noStrike">
              <a:solidFill>
                <a:srgbClr val="000000"/>
              </a:solidFill>
              <a:latin typeface="Arial"/>
              <a:ea typeface="Arial"/>
              <a:cs typeface="Arial"/>
              <a:sym typeface="Arial"/>
            </a:endParaRPr>
          </a:p>
        </p:txBody>
      </p:sp>
      <p:sp>
        <p:nvSpPr>
          <p:cNvPr id="330" name="Google Shape;330;p16"/>
          <p:cNvSpPr txBox="1"/>
          <p:nvPr/>
        </p:nvSpPr>
        <p:spPr>
          <a:xfrm>
            <a:off x="9116568" y="6016752"/>
            <a:ext cx="2755087" cy="2743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 Mailbox approval</a:t>
            </a:r>
            <a:endParaRPr b="0" i="0" sz="1400" u="none" cap="none" strike="noStrike">
              <a:solidFill>
                <a:srgbClr val="000000"/>
              </a:solidFill>
              <a:latin typeface="Arial"/>
              <a:ea typeface="Arial"/>
              <a:cs typeface="Arial"/>
              <a:sym typeface="Arial"/>
            </a:endParaRPr>
          </a:p>
        </p:txBody>
      </p:sp>
      <p:sp>
        <p:nvSpPr>
          <p:cNvPr id="331" name="Google Shape;331;p16"/>
          <p:cNvSpPr txBox="1"/>
          <p:nvPr/>
        </p:nvSpPr>
        <p:spPr>
          <a:xfrm>
            <a:off x="11661650" y="109825"/>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04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335" name="Shape 335"/>
        <p:cNvGrpSpPr/>
        <p:nvPr/>
      </p:nvGrpSpPr>
      <p:grpSpPr>
        <a:xfrm>
          <a:off x="0" y="0"/>
          <a:ext cx="0" cy="0"/>
          <a:chOff x="0" y="0"/>
          <a:chExt cx="0" cy="0"/>
        </a:xfrm>
      </p:grpSpPr>
      <p:sp>
        <p:nvSpPr>
          <p:cNvPr id="336" name="Google Shape;336;p17"/>
          <p:cNvSpPr/>
          <p:nvPr/>
        </p:nvSpPr>
        <p:spPr>
          <a:xfrm>
            <a:off x="0" y="0"/>
            <a:ext cx="54864" cy="68580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7" name="Google Shape;337;p17"/>
          <p:cNvSpPr/>
          <p:nvPr/>
        </p:nvSpPr>
        <p:spPr>
          <a:xfrm>
            <a:off x="54864" y="0"/>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8" name="Google Shape;338;p17"/>
          <p:cNvSpPr/>
          <p:nvPr/>
        </p:nvSpPr>
        <p:spPr>
          <a:xfrm>
            <a:off x="54864" y="6821424"/>
            <a:ext cx="12136831" cy="3657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39" name="Google Shape;339;p17"/>
          <p:cNvSpPr txBox="1"/>
          <p:nvPr/>
        </p:nvSpPr>
        <p:spPr>
          <a:xfrm>
            <a:off x="274320" y="54864"/>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DUAL-GRAPH WORLD MODEL</a:t>
            </a:r>
            <a:endParaRPr b="0" i="0" sz="1400" u="none" cap="none" strike="noStrike">
              <a:solidFill>
                <a:srgbClr val="000000"/>
              </a:solidFill>
              <a:latin typeface="Arial"/>
              <a:ea typeface="Arial"/>
              <a:cs typeface="Arial"/>
              <a:sym typeface="Arial"/>
            </a:endParaRPr>
          </a:p>
        </p:txBody>
      </p:sp>
      <p:sp>
        <p:nvSpPr>
          <p:cNvPr id="340" name="Google Shape;340;p17"/>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Two Strictly Separated Knowledge Layers — Visualised</a:t>
            </a:r>
            <a:endParaRPr b="0" i="0" sz="1400" u="none" cap="none" strike="noStrike">
              <a:solidFill>
                <a:srgbClr val="000000"/>
              </a:solidFill>
              <a:latin typeface="Arial"/>
              <a:ea typeface="Arial"/>
              <a:cs typeface="Arial"/>
              <a:sym typeface="Arial"/>
            </a:endParaRPr>
          </a:p>
        </p:txBody>
      </p:sp>
      <p:sp>
        <p:nvSpPr>
          <p:cNvPr id="341" name="Google Shape;341;p17"/>
          <p:cNvSpPr/>
          <p:nvPr/>
        </p:nvSpPr>
        <p:spPr>
          <a:xfrm>
            <a:off x="164592" y="804672"/>
            <a:ext cx="5349240" cy="5138928"/>
          </a:xfrm>
          <a:prstGeom prst="rect">
            <a:avLst/>
          </a:prstGeom>
          <a:solidFill>
            <a:srgbClr val="04180A"/>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2" name="Google Shape;342;p17"/>
          <p:cNvSpPr txBox="1"/>
          <p:nvPr/>
        </p:nvSpPr>
        <p:spPr>
          <a:xfrm>
            <a:off x="201168"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39FF14"/>
                </a:solidFill>
                <a:latin typeface="Calibri"/>
                <a:ea typeface="Calibri"/>
                <a:cs typeface="Calibri"/>
                <a:sym typeface="Calibri"/>
              </a:rPr>
              <a:t>ASG — Attack Surface Graph</a:t>
            </a:r>
            <a:endParaRPr b="0" i="0" sz="1400" u="none" cap="none" strike="noStrike">
              <a:solidFill>
                <a:srgbClr val="000000"/>
              </a:solidFill>
              <a:latin typeface="Arial"/>
              <a:ea typeface="Arial"/>
              <a:cs typeface="Arial"/>
              <a:sym typeface="Arial"/>
            </a:endParaRPr>
          </a:p>
        </p:txBody>
      </p:sp>
      <p:sp>
        <p:nvSpPr>
          <p:cNvPr id="343" name="Google Shape;343;p17"/>
          <p:cNvSpPr txBox="1"/>
          <p:nvPr/>
        </p:nvSpPr>
        <p:spPr>
          <a:xfrm>
            <a:off x="201168"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1" lang="en-US" sz="900" u="none" cap="none" strike="noStrike">
                <a:solidFill>
                  <a:srgbClr val="60C070"/>
                </a:solidFill>
                <a:latin typeface="Calibri"/>
                <a:ea typeface="Calibri"/>
                <a:cs typeface="Calibri"/>
                <a:sym typeface="Calibri"/>
              </a:rPr>
              <a:t>What does the target look like?  (Discovered Reality)</a:t>
            </a:r>
            <a:endParaRPr b="0" i="0" sz="1400" u="none" cap="none" strike="noStrike">
              <a:solidFill>
                <a:srgbClr val="000000"/>
              </a:solidFill>
              <a:latin typeface="Arial"/>
              <a:ea typeface="Arial"/>
              <a:cs typeface="Arial"/>
              <a:sym typeface="Arial"/>
            </a:endParaRPr>
          </a:p>
        </p:txBody>
      </p:sp>
      <p:sp>
        <p:nvSpPr>
          <p:cNvPr id="344" name="Google Shape;344;p17"/>
          <p:cNvSpPr/>
          <p:nvPr/>
        </p:nvSpPr>
        <p:spPr>
          <a:xfrm>
            <a:off x="6675120" y="804672"/>
            <a:ext cx="5349240" cy="5138928"/>
          </a:xfrm>
          <a:prstGeom prst="rect">
            <a:avLst/>
          </a:prstGeom>
          <a:solidFill>
            <a:srgbClr val="1C10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5" name="Google Shape;345;p17"/>
          <p:cNvSpPr txBox="1"/>
          <p:nvPr/>
        </p:nvSpPr>
        <p:spPr>
          <a:xfrm>
            <a:off x="6711696" y="822960"/>
            <a:ext cx="3200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APG — Attack Path Graph</a:t>
            </a:r>
            <a:endParaRPr b="0" i="0" sz="1400" u="none" cap="none" strike="noStrike">
              <a:solidFill>
                <a:srgbClr val="000000"/>
              </a:solidFill>
              <a:latin typeface="Arial"/>
              <a:ea typeface="Arial"/>
              <a:cs typeface="Arial"/>
              <a:sym typeface="Arial"/>
            </a:endParaRPr>
          </a:p>
        </p:txBody>
      </p:sp>
      <p:sp>
        <p:nvSpPr>
          <p:cNvPr id="346" name="Google Shape;346;p17"/>
          <p:cNvSpPr txBox="1"/>
          <p:nvPr/>
        </p:nvSpPr>
        <p:spPr>
          <a:xfrm>
            <a:off x="6711696" y="1042415"/>
            <a:ext cx="5029200"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1" lang="en-US" sz="900" u="none" cap="none" strike="noStrike">
                <a:solidFill>
                  <a:srgbClr val="C09020"/>
                </a:solidFill>
                <a:latin typeface="Calibri"/>
                <a:ea typeface="Calibri"/>
                <a:cs typeface="Calibri"/>
                <a:sym typeface="Calibri"/>
              </a:rPr>
              <a:t>What can be done to it?  (Inferred Opportunity)</a:t>
            </a:r>
            <a:endParaRPr b="0" i="0" sz="1400" u="none" cap="none" strike="noStrike">
              <a:solidFill>
                <a:srgbClr val="000000"/>
              </a:solidFill>
              <a:latin typeface="Arial"/>
              <a:ea typeface="Arial"/>
              <a:cs typeface="Arial"/>
              <a:sym typeface="Arial"/>
            </a:endParaRPr>
          </a:p>
        </p:txBody>
      </p:sp>
      <p:sp>
        <p:nvSpPr>
          <p:cNvPr id="347" name="Google Shape;347;p17"/>
          <p:cNvSpPr/>
          <p:nvPr/>
        </p:nvSpPr>
        <p:spPr>
          <a:xfrm>
            <a:off x="5593384" y="804672"/>
            <a:ext cx="1005840" cy="5138928"/>
          </a:xfrm>
          <a:prstGeom prst="rect">
            <a:avLst/>
          </a:prstGeom>
          <a:solidFill>
            <a:srgbClr val="081018"/>
          </a:solidFill>
          <a:ln cap="flat" cmpd="sng" w="10150">
            <a:solidFill>
              <a:srgbClr val="30384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8" name="Google Shape;348;p17"/>
          <p:cNvSpPr/>
          <p:nvPr/>
        </p:nvSpPr>
        <p:spPr>
          <a:xfrm>
            <a:off x="6087160" y="804672"/>
            <a:ext cx="18288" cy="5138928"/>
          </a:xfrm>
          <a:prstGeom prst="rect">
            <a:avLst/>
          </a:prstGeom>
          <a:solidFill>
            <a:srgbClr val="30384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49" name="Google Shape;349;p17"/>
          <p:cNvSpPr txBox="1"/>
          <p:nvPr/>
        </p:nvSpPr>
        <p:spPr>
          <a:xfrm>
            <a:off x="5620816" y="2286000"/>
            <a:ext cx="950976"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A0AAB8"/>
                </a:solidFill>
                <a:latin typeface="Calibri"/>
                <a:ea typeface="Calibri"/>
                <a:cs typeface="Calibri"/>
                <a:sym typeface="Calibri"/>
              </a:rPr>
              <a:t>STRICT</a:t>
            </a:r>
            <a:br>
              <a:rPr b="1" i="0" lang="en-US" sz="800" u="none" cap="none" strike="noStrike">
                <a:solidFill>
                  <a:srgbClr val="A0AAB8"/>
                </a:solidFill>
                <a:latin typeface="Calibri"/>
                <a:ea typeface="Calibri"/>
                <a:cs typeface="Calibri"/>
                <a:sym typeface="Calibri"/>
              </a:rPr>
            </a:br>
            <a:r>
              <a:rPr b="1" i="0" lang="en-US" sz="800" u="none" cap="none" strike="noStrike">
                <a:solidFill>
                  <a:srgbClr val="A0AAB8"/>
                </a:solidFill>
                <a:latin typeface="Calibri"/>
                <a:ea typeface="Calibri"/>
                <a:cs typeface="Calibri"/>
                <a:sym typeface="Calibri"/>
              </a:rPr>
              <a:t>SEPARATION</a:t>
            </a:r>
            <a:endParaRPr b="0" i="0" sz="1400" u="none" cap="none" strike="noStrike">
              <a:solidFill>
                <a:srgbClr val="000000"/>
              </a:solidFill>
              <a:latin typeface="Arial"/>
              <a:ea typeface="Arial"/>
              <a:cs typeface="Arial"/>
              <a:sym typeface="Arial"/>
            </a:endParaRPr>
          </a:p>
        </p:txBody>
      </p:sp>
      <p:sp>
        <p:nvSpPr>
          <p:cNvPr id="350" name="Google Shape;350;p17"/>
          <p:cNvSpPr txBox="1"/>
          <p:nvPr/>
        </p:nvSpPr>
        <p:spPr>
          <a:xfrm>
            <a:off x="5639104" y="3017520"/>
            <a:ext cx="914400"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No agent</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crosses this</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boundary</a:t>
            </a:r>
            <a:endParaRPr b="0" i="0" sz="1400" u="none" cap="none" strike="noStrike">
              <a:solidFill>
                <a:srgbClr val="000000"/>
              </a:solidFill>
              <a:latin typeface="Arial"/>
              <a:ea typeface="Arial"/>
              <a:cs typeface="Arial"/>
              <a:sym typeface="Arial"/>
            </a:endParaRPr>
          </a:p>
        </p:txBody>
      </p:sp>
      <p:cxnSp>
        <p:nvCxnSpPr>
          <p:cNvPr id="351" name="Google Shape;351;p17"/>
          <p:cNvCxnSpPr/>
          <p:nvPr/>
        </p:nvCxnSpPr>
        <p:spPr>
          <a:xfrm rot="10800000">
            <a:off x="4114800" y="3886200"/>
            <a:ext cx="1944928"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52" name="Google Shape;352;p17"/>
          <p:cNvSpPr txBox="1"/>
          <p:nvPr/>
        </p:nvSpPr>
        <p:spPr>
          <a:xfrm>
            <a:off x="4585682" y="3512845"/>
            <a:ext cx="10059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Discovery</a:t>
            </a:r>
            <a:br>
              <a:rPr b="0" i="1" lang="en-US" sz="700" u="none" cap="none" strike="noStrike">
                <a:solidFill>
                  <a:srgbClr val="A0AAB8"/>
                </a:solidFill>
                <a:latin typeface="Calibri"/>
                <a:ea typeface="Calibri"/>
                <a:cs typeface="Calibri"/>
                <a:sym typeface="Calibri"/>
              </a:rPr>
            </a:br>
            <a:r>
              <a:rPr b="0" i="1" lang="en-US" sz="700" u="none" cap="none" strike="noStrike">
                <a:solidFill>
                  <a:srgbClr val="A0AAB8"/>
                </a:solidFill>
                <a:latin typeface="Calibri"/>
                <a:ea typeface="Calibri"/>
                <a:cs typeface="Calibri"/>
                <a:sym typeface="Calibri"/>
              </a:rPr>
              <a:t>Agents write</a:t>
            </a:r>
            <a:endParaRPr b="0" i="0" sz="1400" u="none" cap="none" strike="noStrike">
              <a:solidFill>
                <a:srgbClr val="000000"/>
              </a:solidFill>
              <a:latin typeface="Arial"/>
              <a:ea typeface="Arial"/>
              <a:cs typeface="Arial"/>
              <a:sym typeface="Arial"/>
            </a:endParaRPr>
          </a:p>
        </p:txBody>
      </p:sp>
      <p:cxnSp>
        <p:nvCxnSpPr>
          <p:cNvPr id="353" name="Google Shape;353;p17"/>
          <p:cNvCxnSpPr/>
          <p:nvPr/>
        </p:nvCxnSpPr>
        <p:spPr>
          <a:xfrm>
            <a:off x="6132880" y="4206240"/>
            <a:ext cx="163952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354" name="Google Shape;354;p17"/>
          <p:cNvSpPr txBox="1"/>
          <p:nvPr/>
        </p:nvSpPr>
        <p:spPr>
          <a:xfrm>
            <a:off x="5760720" y="4244372"/>
            <a:ext cx="10059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Commander</a:t>
            </a:r>
            <a:br>
              <a:rPr b="0" i="1" lang="en-US" sz="700" u="none" cap="none" strike="noStrike">
                <a:solidFill>
                  <a:srgbClr val="A0AAB8"/>
                </a:solidFill>
                <a:latin typeface="Calibri"/>
                <a:ea typeface="Calibri"/>
                <a:cs typeface="Calibri"/>
                <a:sym typeface="Calibri"/>
              </a:rPr>
            </a:br>
            <a:r>
              <a:rPr b="0" i="1" lang="en-US" sz="700" u="none" cap="none" strike="noStrike">
                <a:solidFill>
                  <a:srgbClr val="A0AAB8"/>
                </a:solidFill>
                <a:latin typeface="Calibri"/>
                <a:ea typeface="Calibri"/>
                <a:cs typeface="Calibri"/>
                <a:sym typeface="Calibri"/>
              </a:rPr>
              <a:t>writes</a:t>
            </a:r>
            <a:endParaRPr b="0" i="0" sz="1400" u="none" cap="none" strike="noStrike">
              <a:solidFill>
                <a:srgbClr val="000000"/>
              </a:solidFill>
              <a:latin typeface="Arial"/>
              <a:ea typeface="Arial"/>
              <a:cs typeface="Arial"/>
              <a:sym typeface="Arial"/>
            </a:endParaRPr>
          </a:p>
        </p:txBody>
      </p:sp>
      <p:sp>
        <p:nvSpPr>
          <p:cNvPr id="355" name="Google Shape;355;p17"/>
          <p:cNvSpPr/>
          <p:nvPr/>
        </p:nvSpPr>
        <p:spPr>
          <a:xfrm>
            <a:off x="813825" y="1371600"/>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6" name="Google Shape;356;p17"/>
          <p:cNvSpPr txBox="1"/>
          <p:nvPr/>
        </p:nvSpPr>
        <p:spPr>
          <a:xfrm>
            <a:off x="813816" y="140817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Domain</a:t>
            </a:r>
            <a:endParaRPr b="0" i="0" sz="1400" u="none" cap="none" strike="noStrike">
              <a:solidFill>
                <a:srgbClr val="000000"/>
              </a:solidFill>
              <a:latin typeface="Arial"/>
              <a:ea typeface="Arial"/>
              <a:cs typeface="Arial"/>
              <a:sym typeface="Arial"/>
            </a:endParaRPr>
          </a:p>
        </p:txBody>
      </p:sp>
      <p:sp>
        <p:nvSpPr>
          <p:cNvPr id="357" name="Google Shape;357;p17"/>
          <p:cNvSpPr txBox="1"/>
          <p:nvPr/>
        </p:nvSpPr>
        <p:spPr>
          <a:xfrm>
            <a:off x="868675" y="1555001"/>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shopvault.io</a:t>
            </a:r>
            <a:endParaRPr b="0" i="0" sz="1400" u="none" cap="none" strike="noStrike">
              <a:solidFill>
                <a:srgbClr val="000000"/>
              </a:solidFill>
              <a:latin typeface="Arial"/>
              <a:ea typeface="Arial"/>
              <a:cs typeface="Arial"/>
              <a:sym typeface="Arial"/>
            </a:endParaRPr>
          </a:p>
        </p:txBody>
      </p:sp>
      <p:sp>
        <p:nvSpPr>
          <p:cNvPr id="358" name="Google Shape;358;p17"/>
          <p:cNvSpPr/>
          <p:nvPr/>
        </p:nvSpPr>
        <p:spPr>
          <a:xfrm>
            <a:off x="813825" y="2011673"/>
            <a:ext cx="1115700" cy="5304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59" name="Google Shape;359;p17"/>
          <p:cNvSpPr txBox="1"/>
          <p:nvPr/>
        </p:nvSpPr>
        <p:spPr>
          <a:xfrm>
            <a:off x="813816" y="204825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Host</a:t>
            </a:r>
            <a:endParaRPr b="0" i="0" sz="1400" u="none" cap="none" strike="noStrike">
              <a:solidFill>
                <a:srgbClr val="000000"/>
              </a:solidFill>
              <a:latin typeface="Arial"/>
              <a:ea typeface="Arial"/>
              <a:cs typeface="Arial"/>
              <a:sym typeface="Arial"/>
            </a:endParaRPr>
          </a:p>
        </p:txBody>
      </p:sp>
      <p:sp>
        <p:nvSpPr>
          <p:cNvPr id="360" name="Google Shape;360;p17"/>
          <p:cNvSpPr txBox="1"/>
          <p:nvPr/>
        </p:nvSpPr>
        <p:spPr>
          <a:xfrm>
            <a:off x="841200" y="2195128"/>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192.168.1.10</a:t>
            </a:r>
            <a:endParaRPr b="0" i="0" sz="1400" u="none" cap="none" strike="noStrike">
              <a:solidFill>
                <a:srgbClr val="000000"/>
              </a:solidFill>
              <a:latin typeface="Arial"/>
              <a:ea typeface="Arial"/>
              <a:cs typeface="Arial"/>
              <a:sym typeface="Arial"/>
            </a:endParaRPr>
          </a:p>
        </p:txBody>
      </p:sp>
      <p:sp>
        <p:nvSpPr>
          <p:cNvPr id="361" name="Google Shape;361;p17"/>
          <p:cNvSpPr/>
          <p:nvPr/>
        </p:nvSpPr>
        <p:spPr>
          <a:xfrm>
            <a:off x="813825" y="2651746"/>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2" name="Google Shape;362;p17"/>
          <p:cNvSpPr txBox="1"/>
          <p:nvPr/>
        </p:nvSpPr>
        <p:spPr>
          <a:xfrm>
            <a:off x="813816" y="2688336"/>
            <a:ext cx="1115568"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Port</a:t>
            </a:r>
            <a:endParaRPr b="0" i="0" sz="1400" u="none" cap="none" strike="noStrike">
              <a:solidFill>
                <a:srgbClr val="000000"/>
              </a:solidFill>
              <a:latin typeface="Arial"/>
              <a:ea typeface="Arial"/>
              <a:cs typeface="Arial"/>
              <a:sym typeface="Arial"/>
            </a:endParaRPr>
          </a:p>
        </p:txBody>
      </p:sp>
      <p:sp>
        <p:nvSpPr>
          <p:cNvPr id="363" name="Google Shape;363;p17"/>
          <p:cNvSpPr txBox="1"/>
          <p:nvPr/>
        </p:nvSpPr>
        <p:spPr>
          <a:xfrm>
            <a:off x="841275" y="2839499"/>
            <a:ext cx="1060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:443 / :8080</a:t>
            </a:r>
            <a:endParaRPr b="0" i="0" sz="1400" u="none" cap="none" strike="noStrike">
              <a:solidFill>
                <a:srgbClr val="000000"/>
              </a:solidFill>
              <a:latin typeface="Arial"/>
              <a:ea typeface="Arial"/>
              <a:cs typeface="Arial"/>
              <a:sym typeface="Arial"/>
            </a:endParaRPr>
          </a:p>
        </p:txBody>
      </p:sp>
      <p:sp>
        <p:nvSpPr>
          <p:cNvPr id="364" name="Google Shape;364;p17"/>
          <p:cNvSpPr/>
          <p:nvPr/>
        </p:nvSpPr>
        <p:spPr>
          <a:xfrm>
            <a:off x="813825" y="3291854"/>
            <a:ext cx="1115700" cy="567000"/>
          </a:xfrm>
          <a:prstGeom prst="rect">
            <a:avLst/>
          </a:prstGeom>
          <a:solidFill>
            <a:srgbClr val="062212"/>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5" name="Google Shape;365;p17"/>
          <p:cNvSpPr txBox="1"/>
          <p:nvPr/>
        </p:nvSpPr>
        <p:spPr>
          <a:xfrm>
            <a:off x="830866" y="332170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Service</a:t>
            </a:r>
            <a:endParaRPr b="0" i="0" sz="1400" u="none" cap="none" strike="noStrike">
              <a:solidFill>
                <a:srgbClr val="000000"/>
              </a:solidFill>
              <a:latin typeface="Arial"/>
              <a:ea typeface="Arial"/>
              <a:cs typeface="Arial"/>
              <a:sym typeface="Arial"/>
            </a:endParaRPr>
          </a:p>
        </p:txBody>
      </p:sp>
      <p:sp>
        <p:nvSpPr>
          <p:cNvPr id="366" name="Google Shape;366;p17"/>
          <p:cNvSpPr txBox="1"/>
          <p:nvPr/>
        </p:nvSpPr>
        <p:spPr>
          <a:xfrm>
            <a:off x="830866" y="348629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Nginx 1.18.0</a:t>
            </a:r>
            <a:endParaRPr b="0" i="0" sz="1400" u="none" cap="none" strike="noStrike">
              <a:solidFill>
                <a:srgbClr val="000000"/>
              </a:solidFill>
              <a:latin typeface="Arial"/>
              <a:ea typeface="Arial"/>
              <a:cs typeface="Arial"/>
              <a:sym typeface="Arial"/>
            </a:endParaRPr>
          </a:p>
        </p:txBody>
      </p:sp>
      <p:sp>
        <p:nvSpPr>
          <p:cNvPr id="367" name="Google Shape;367;p17"/>
          <p:cNvSpPr/>
          <p:nvPr/>
        </p:nvSpPr>
        <p:spPr>
          <a:xfrm>
            <a:off x="2779700" y="2651797"/>
            <a:ext cx="11751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8" name="Google Shape;368;p17"/>
          <p:cNvSpPr txBox="1"/>
          <p:nvPr/>
        </p:nvSpPr>
        <p:spPr>
          <a:xfrm>
            <a:off x="2807143" y="2733386"/>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Technology</a:t>
            </a:r>
            <a:endParaRPr b="0" i="0" sz="1400" u="none" cap="none" strike="noStrike">
              <a:solidFill>
                <a:srgbClr val="000000"/>
              </a:solidFill>
              <a:latin typeface="Arial"/>
              <a:ea typeface="Arial"/>
              <a:cs typeface="Arial"/>
              <a:sym typeface="Arial"/>
            </a:endParaRPr>
          </a:p>
        </p:txBody>
      </p:sp>
      <p:sp>
        <p:nvSpPr>
          <p:cNvPr id="369" name="Google Shape;369;p17"/>
          <p:cNvSpPr txBox="1"/>
          <p:nvPr/>
        </p:nvSpPr>
        <p:spPr>
          <a:xfrm>
            <a:off x="2889475" y="2936963"/>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WordPress 5.9.3</a:t>
            </a:r>
            <a:endParaRPr b="0" i="0" sz="1400" u="none" cap="none" strike="noStrike">
              <a:solidFill>
                <a:srgbClr val="000000"/>
              </a:solidFill>
              <a:latin typeface="Arial"/>
              <a:ea typeface="Arial"/>
              <a:cs typeface="Arial"/>
              <a:sym typeface="Arial"/>
            </a:endParaRPr>
          </a:p>
        </p:txBody>
      </p:sp>
      <p:sp>
        <p:nvSpPr>
          <p:cNvPr id="370" name="Google Shape;370;p17"/>
          <p:cNvSpPr/>
          <p:nvPr/>
        </p:nvSpPr>
        <p:spPr>
          <a:xfrm>
            <a:off x="2777449" y="3328391"/>
            <a:ext cx="11751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1" name="Google Shape;371;p17"/>
          <p:cNvSpPr txBox="1"/>
          <p:nvPr/>
        </p:nvSpPr>
        <p:spPr>
          <a:xfrm>
            <a:off x="2807143" y="332290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Endpoint</a:t>
            </a:r>
            <a:endParaRPr b="0" i="0" sz="1400" u="none" cap="none" strike="noStrike">
              <a:solidFill>
                <a:srgbClr val="000000"/>
              </a:solidFill>
              <a:latin typeface="Arial"/>
              <a:ea typeface="Arial"/>
              <a:cs typeface="Arial"/>
              <a:sym typeface="Arial"/>
            </a:endParaRPr>
          </a:p>
        </p:txBody>
      </p:sp>
      <p:sp>
        <p:nvSpPr>
          <p:cNvPr id="372" name="Google Shape;372;p17"/>
          <p:cNvSpPr txBox="1"/>
          <p:nvPr/>
        </p:nvSpPr>
        <p:spPr>
          <a:xfrm>
            <a:off x="2807156" y="350699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/api/v1/orders</a:t>
            </a:r>
            <a:endParaRPr b="0" i="0" sz="1400" u="none" cap="none" strike="noStrike">
              <a:solidFill>
                <a:srgbClr val="000000"/>
              </a:solidFill>
              <a:latin typeface="Arial"/>
              <a:ea typeface="Arial"/>
              <a:cs typeface="Arial"/>
              <a:sym typeface="Arial"/>
            </a:endParaRPr>
          </a:p>
        </p:txBody>
      </p:sp>
      <p:sp>
        <p:nvSpPr>
          <p:cNvPr id="373" name="Google Shape;373;p17"/>
          <p:cNvSpPr/>
          <p:nvPr/>
        </p:nvSpPr>
        <p:spPr>
          <a:xfrm>
            <a:off x="2807300" y="4050125"/>
            <a:ext cx="1115400" cy="530400"/>
          </a:xfrm>
          <a:prstGeom prst="rect">
            <a:avLst/>
          </a:prstGeom>
          <a:solidFill>
            <a:srgbClr val="082018"/>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4" name="Google Shape;374;p17"/>
          <p:cNvSpPr txBox="1"/>
          <p:nvPr/>
        </p:nvSpPr>
        <p:spPr>
          <a:xfrm>
            <a:off x="2807143" y="4170383"/>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Parameter</a:t>
            </a:r>
            <a:endParaRPr b="0" i="0" sz="1400" u="none" cap="none" strike="noStrike">
              <a:solidFill>
                <a:srgbClr val="000000"/>
              </a:solidFill>
              <a:latin typeface="Arial"/>
              <a:ea typeface="Arial"/>
              <a:cs typeface="Arial"/>
              <a:sym typeface="Arial"/>
            </a:endParaRPr>
          </a:p>
        </p:txBody>
      </p:sp>
      <p:sp>
        <p:nvSpPr>
          <p:cNvPr id="375" name="Google Shape;375;p17"/>
          <p:cNvSpPr txBox="1"/>
          <p:nvPr/>
        </p:nvSpPr>
        <p:spPr>
          <a:xfrm>
            <a:off x="2807143" y="4405987"/>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user_id=?</a:t>
            </a:r>
            <a:endParaRPr b="0" i="0" sz="1400" u="none" cap="none" strike="noStrike">
              <a:solidFill>
                <a:srgbClr val="000000"/>
              </a:solidFill>
              <a:latin typeface="Arial"/>
              <a:ea typeface="Arial"/>
              <a:cs typeface="Arial"/>
              <a:sym typeface="Arial"/>
            </a:endParaRPr>
          </a:p>
        </p:txBody>
      </p:sp>
      <p:sp>
        <p:nvSpPr>
          <p:cNvPr id="376" name="Google Shape;376;p17"/>
          <p:cNvSpPr/>
          <p:nvPr/>
        </p:nvSpPr>
        <p:spPr>
          <a:xfrm>
            <a:off x="813825" y="4087376"/>
            <a:ext cx="1115400" cy="530400"/>
          </a:xfrm>
          <a:prstGeom prst="rect">
            <a:avLst/>
          </a:prstGeom>
          <a:solidFill>
            <a:srgbClr val="220606"/>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77" name="Google Shape;377;p17"/>
          <p:cNvSpPr txBox="1"/>
          <p:nvPr/>
        </p:nvSpPr>
        <p:spPr>
          <a:xfrm>
            <a:off x="813816" y="4120583"/>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Vulnerability</a:t>
            </a:r>
            <a:endParaRPr b="0" i="0" sz="1400" u="none" cap="none" strike="noStrike">
              <a:solidFill>
                <a:srgbClr val="000000"/>
              </a:solidFill>
              <a:latin typeface="Arial"/>
              <a:ea typeface="Arial"/>
              <a:cs typeface="Arial"/>
              <a:sym typeface="Arial"/>
            </a:endParaRPr>
          </a:p>
        </p:txBody>
      </p:sp>
      <p:sp>
        <p:nvSpPr>
          <p:cNvPr id="378" name="Google Shape;378;p17"/>
          <p:cNvSpPr txBox="1"/>
          <p:nvPr/>
        </p:nvSpPr>
        <p:spPr>
          <a:xfrm>
            <a:off x="813816" y="4285175"/>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CVE-2022-21661</a:t>
            </a:r>
            <a:endParaRPr b="0" i="0" sz="1400" u="none" cap="none" strike="noStrike">
              <a:solidFill>
                <a:srgbClr val="000000"/>
              </a:solidFill>
              <a:latin typeface="Arial"/>
              <a:ea typeface="Arial"/>
              <a:cs typeface="Arial"/>
              <a:sym typeface="Arial"/>
            </a:endParaRPr>
          </a:p>
        </p:txBody>
      </p:sp>
      <p:sp>
        <p:nvSpPr>
          <p:cNvPr id="379" name="Google Shape;379;p17"/>
          <p:cNvSpPr/>
          <p:nvPr/>
        </p:nvSpPr>
        <p:spPr>
          <a:xfrm>
            <a:off x="813825" y="4773200"/>
            <a:ext cx="1115700" cy="329100"/>
          </a:xfrm>
          <a:prstGeom prst="rect">
            <a:avLst/>
          </a:prstGeom>
          <a:solidFill>
            <a:srgbClr val="120820"/>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80" name="Google Shape;380;p17"/>
          <p:cNvSpPr txBox="1"/>
          <p:nvPr/>
        </p:nvSpPr>
        <p:spPr>
          <a:xfrm>
            <a:off x="813741" y="4748164"/>
            <a:ext cx="1115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Evidence</a:t>
            </a:r>
            <a:endParaRPr b="0" i="0" sz="1400" u="none" cap="none" strike="noStrike">
              <a:solidFill>
                <a:srgbClr val="000000"/>
              </a:solidFill>
              <a:latin typeface="Arial"/>
              <a:ea typeface="Arial"/>
              <a:cs typeface="Arial"/>
              <a:sym typeface="Arial"/>
            </a:endParaRPr>
          </a:p>
        </p:txBody>
      </p:sp>
      <p:sp>
        <p:nvSpPr>
          <p:cNvPr id="381" name="Google Shape;381;p17"/>
          <p:cNvSpPr txBox="1"/>
          <p:nvPr/>
        </p:nvSpPr>
        <p:spPr>
          <a:xfrm>
            <a:off x="813741" y="4912756"/>
            <a:ext cx="11157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screenshot.png</a:t>
            </a:r>
            <a:endParaRPr b="0" i="0" sz="1400" u="none" cap="none" strike="noStrike">
              <a:solidFill>
                <a:srgbClr val="000000"/>
              </a:solidFill>
              <a:latin typeface="Arial"/>
              <a:ea typeface="Arial"/>
              <a:cs typeface="Arial"/>
              <a:sym typeface="Arial"/>
            </a:endParaRPr>
          </a:p>
        </p:txBody>
      </p:sp>
      <p:cxnSp>
        <p:nvCxnSpPr>
          <p:cNvPr id="382" name="Google Shape;382;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3" name="Google Shape;383;p17"/>
          <p:cNvSpPr txBox="1"/>
          <p:nvPr/>
        </p:nvSpPr>
        <p:spPr>
          <a:xfrm>
            <a:off x="919075" y="1710468"/>
            <a:ext cx="9600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has_host</a:t>
            </a:r>
            <a:endParaRPr b="0" i="0" sz="1400" u="none" cap="none" strike="noStrike">
              <a:solidFill>
                <a:srgbClr val="000000"/>
              </a:solidFill>
              <a:latin typeface="Arial"/>
              <a:ea typeface="Arial"/>
              <a:cs typeface="Arial"/>
              <a:sym typeface="Arial"/>
            </a:endParaRPr>
          </a:p>
        </p:txBody>
      </p:sp>
      <p:cxnSp>
        <p:nvCxnSpPr>
          <p:cNvPr id="384" name="Google Shape;384;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5" name="Google Shape;385;p17"/>
          <p:cNvSpPr txBox="1"/>
          <p:nvPr/>
        </p:nvSpPr>
        <p:spPr>
          <a:xfrm>
            <a:off x="896130" y="2350545"/>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has_port</a:t>
            </a:r>
            <a:endParaRPr b="0" i="0" sz="1400" u="none" cap="none" strike="noStrike">
              <a:solidFill>
                <a:srgbClr val="000000"/>
              </a:solidFill>
              <a:latin typeface="Arial"/>
              <a:ea typeface="Arial"/>
              <a:cs typeface="Arial"/>
              <a:sym typeface="Arial"/>
            </a:endParaRPr>
          </a:p>
        </p:txBody>
      </p:sp>
      <p:cxnSp>
        <p:nvCxnSpPr>
          <p:cNvPr id="386" name="Google Shape;386;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7" name="Google Shape;387;p17"/>
          <p:cNvSpPr txBox="1"/>
          <p:nvPr/>
        </p:nvSpPr>
        <p:spPr>
          <a:xfrm>
            <a:off x="896117" y="2972338"/>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runs</a:t>
            </a:r>
            <a:endParaRPr b="0" i="0" sz="1400" u="none" cap="none" strike="noStrike">
              <a:solidFill>
                <a:srgbClr val="000000"/>
              </a:solidFill>
              <a:latin typeface="Arial"/>
              <a:ea typeface="Arial"/>
              <a:cs typeface="Arial"/>
              <a:sym typeface="Arial"/>
            </a:endParaRPr>
          </a:p>
        </p:txBody>
      </p:sp>
      <p:cxnSp>
        <p:nvCxnSpPr>
          <p:cNvPr id="388" name="Google Shape;388;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89" name="Google Shape;389;p17"/>
          <p:cNvSpPr txBox="1"/>
          <p:nvPr/>
        </p:nvSpPr>
        <p:spPr>
          <a:xfrm>
            <a:off x="885730" y="360516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affected_by</a:t>
            </a:r>
            <a:endParaRPr b="0" i="0" sz="1400" u="none" cap="none" strike="noStrike">
              <a:solidFill>
                <a:srgbClr val="000000"/>
              </a:solidFill>
              <a:latin typeface="Arial"/>
              <a:ea typeface="Arial"/>
              <a:cs typeface="Arial"/>
              <a:sym typeface="Arial"/>
            </a:endParaRPr>
          </a:p>
        </p:txBody>
      </p:sp>
      <p:cxnSp>
        <p:nvCxnSpPr>
          <p:cNvPr id="390" name="Google Shape;390;p17"/>
          <p:cNvCxnSpPr/>
          <p:nvPr/>
        </p:nvCxnSpPr>
        <p:spPr>
          <a:xfrm>
            <a:off x="1371600" y="0"/>
            <a:ext cx="0" cy="0"/>
          </a:xfrm>
          <a:prstGeom prst="straightConnector1">
            <a:avLst/>
          </a:prstGeom>
          <a:noFill/>
          <a:ln cap="flat" cmpd="sng" w="11425">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391" name="Google Shape;391;p17"/>
          <p:cNvSpPr txBox="1"/>
          <p:nvPr/>
        </p:nvSpPr>
        <p:spPr>
          <a:xfrm>
            <a:off x="868680" y="440404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validated_by</a:t>
            </a:r>
            <a:endParaRPr b="0" i="0" sz="1400" u="none" cap="none" strike="noStrike">
              <a:solidFill>
                <a:srgbClr val="000000"/>
              </a:solidFill>
              <a:latin typeface="Arial"/>
              <a:ea typeface="Arial"/>
              <a:cs typeface="Arial"/>
              <a:sym typeface="Arial"/>
            </a:endParaRPr>
          </a:p>
        </p:txBody>
      </p:sp>
      <p:cxnSp>
        <p:nvCxnSpPr>
          <p:cNvPr id="392" name="Google Shape;392;p17"/>
          <p:cNvCxnSpPr/>
          <p:nvPr/>
        </p:nvCxnSpPr>
        <p:spPr>
          <a:xfrm>
            <a:off x="0" y="285292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3" name="Google Shape;393;p17"/>
          <p:cNvSpPr txBox="1"/>
          <p:nvPr/>
        </p:nvSpPr>
        <p:spPr>
          <a:xfrm>
            <a:off x="2016375" y="2793800"/>
            <a:ext cx="6765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uses</a:t>
            </a:r>
            <a:endParaRPr b="0" i="0" sz="1400" u="none" cap="none" strike="noStrike">
              <a:solidFill>
                <a:srgbClr val="000000"/>
              </a:solidFill>
              <a:latin typeface="Arial"/>
              <a:ea typeface="Arial"/>
              <a:cs typeface="Arial"/>
              <a:sym typeface="Arial"/>
            </a:endParaRPr>
          </a:p>
        </p:txBody>
      </p:sp>
      <p:cxnSp>
        <p:nvCxnSpPr>
          <p:cNvPr id="394" name="Google Shape;394;p17"/>
          <p:cNvCxnSpPr/>
          <p:nvPr/>
        </p:nvCxnSpPr>
        <p:spPr>
          <a:xfrm>
            <a:off x="0" y="3493008"/>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5" name="Google Shape;395;p17"/>
          <p:cNvSpPr txBox="1"/>
          <p:nvPr/>
        </p:nvSpPr>
        <p:spPr>
          <a:xfrm>
            <a:off x="1987700" y="3440613"/>
            <a:ext cx="7314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has_endpoint</a:t>
            </a:r>
            <a:endParaRPr b="0" i="0" sz="1400" u="none" cap="none" strike="noStrike">
              <a:solidFill>
                <a:srgbClr val="000000"/>
              </a:solidFill>
              <a:latin typeface="Arial"/>
              <a:ea typeface="Arial"/>
              <a:cs typeface="Arial"/>
              <a:sym typeface="Arial"/>
            </a:endParaRPr>
          </a:p>
        </p:txBody>
      </p:sp>
      <p:cxnSp>
        <p:nvCxnSpPr>
          <p:cNvPr id="396" name="Google Shape;396;p17"/>
          <p:cNvCxnSpPr/>
          <p:nvPr/>
        </p:nvCxnSpPr>
        <p:spPr>
          <a:xfrm>
            <a:off x="2834640" y="0"/>
            <a:ext cx="0" cy="0"/>
          </a:xfrm>
          <a:prstGeom prst="straightConnector1">
            <a:avLst/>
          </a:prstGeom>
          <a:noFill/>
          <a:ln cap="flat" cmpd="sng" w="101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397" name="Google Shape;397;p17"/>
          <p:cNvSpPr txBox="1"/>
          <p:nvPr/>
        </p:nvSpPr>
        <p:spPr>
          <a:xfrm>
            <a:off x="2862045" y="3629817"/>
            <a:ext cx="1005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0" i="1" lang="en-US" sz="700" u="none" cap="none" strike="noStrike">
                <a:solidFill>
                  <a:srgbClr val="A0AAB8"/>
                </a:solidFill>
                <a:latin typeface="Calibri"/>
                <a:ea typeface="Calibri"/>
                <a:cs typeface="Calibri"/>
                <a:sym typeface="Calibri"/>
              </a:rPr>
              <a:t>has_parameter</a:t>
            </a:r>
            <a:endParaRPr b="0" i="0" sz="1400" u="none" cap="none" strike="noStrike">
              <a:solidFill>
                <a:srgbClr val="000000"/>
              </a:solidFill>
              <a:latin typeface="Arial"/>
              <a:ea typeface="Arial"/>
              <a:cs typeface="Arial"/>
              <a:sym typeface="Arial"/>
            </a:endParaRPr>
          </a:p>
        </p:txBody>
      </p:sp>
      <p:sp>
        <p:nvSpPr>
          <p:cNvPr id="398" name="Google Shape;398;p17"/>
          <p:cNvSpPr/>
          <p:nvPr/>
        </p:nvSpPr>
        <p:spPr>
          <a:xfrm>
            <a:off x="201168" y="5230368"/>
            <a:ext cx="5285232" cy="566928"/>
          </a:xfrm>
          <a:prstGeom prst="rect">
            <a:avLst/>
          </a:prstGeom>
          <a:solidFill>
            <a:srgbClr val="061C0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99" name="Google Shape;399;p17"/>
          <p:cNvSpPr txBox="1"/>
          <p:nvPr/>
        </p:nvSpPr>
        <p:spPr>
          <a:xfrm>
            <a:off x="274320" y="5285232"/>
            <a:ext cx="5120640" cy="42062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EDGES:  has_host  ·  has_port  ·  runs  ·  uses  ·  has_endpoint  ·  has_parameter  ·  affected_by  ·  validated_by</a:t>
            </a:r>
            <a:endParaRPr b="0" i="0" sz="1400" u="none" cap="none" strike="noStrike">
              <a:solidFill>
                <a:srgbClr val="000000"/>
              </a:solidFill>
              <a:latin typeface="Arial"/>
              <a:ea typeface="Arial"/>
              <a:cs typeface="Arial"/>
              <a:sym typeface="Arial"/>
            </a:endParaRPr>
          </a:p>
        </p:txBody>
      </p:sp>
      <p:sp>
        <p:nvSpPr>
          <p:cNvPr id="400" name="Google Shape;400;p17"/>
          <p:cNvSpPr/>
          <p:nvPr/>
        </p:nvSpPr>
        <p:spPr>
          <a:xfrm>
            <a:off x="6784848" y="1316736"/>
            <a:ext cx="5029200" cy="4297680"/>
          </a:xfrm>
          <a:prstGeom prst="rect">
            <a:avLst/>
          </a:prstGeom>
          <a:solidFill>
            <a:srgbClr val="140C02"/>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1" name="Google Shape;401;p17"/>
          <p:cNvSpPr/>
          <p:nvPr/>
        </p:nvSpPr>
        <p:spPr>
          <a:xfrm>
            <a:off x="6784848" y="1316736"/>
            <a:ext cx="5029200" cy="256032"/>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2" name="Google Shape;402;p17"/>
          <p:cNvSpPr txBox="1"/>
          <p:nvPr/>
        </p:nvSpPr>
        <p:spPr>
          <a:xfrm>
            <a:off x="6784848" y="1353312"/>
            <a:ext cx="502920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AttackChain  ·  risk_score: 9.1  ·  status: VALIDATED</a:t>
            </a:r>
            <a:endParaRPr b="0" i="0" sz="1400" u="none" cap="none" strike="noStrike">
              <a:solidFill>
                <a:srgbClr val="000000"/>
              </a:solidFill>
              <a:latin typeface="Arial"/>
              <a:ea typeface="Arial"/>
              <a:cs typeface="Arial"/>
              <a:sym typeface="Arial"/>
            </a:endParaRPr>
          </a:p>
        </p:txBody>
      </p:sp>
      <p:sp>
        <p:nvSpPr>
          <p:cNvPr id="403" name="Google Shape;403;p17"/>
          <p:cNvSpPr txBox="1"/>
          <p:nvPr/>
        </p:nvSpPr>
        <p:spPr>
          <a:xfrm>
            <a:off x="6894576" y="1609344"/>
            <a:ext cx="484632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Chain-01: CVE-2022-21661 → SQL Injection → RCE → Customer PII</a:t>
            </a:r>
            <a:endParaRPr b="0" i="0" sz="1400" u="none" cap="none" strike="noStrike">
              <a:solidFill>
                <a:srgbClr val="000000"/>
              </a:solidFill>
              <a:latin typeface="Arial"/>
              <a:ea typeface="Arial"/>
              <a:cs typeface="Arial"/>
              <a:sym typeface="Arial"/>
            </a:endParaRPr>
          </a:p>
        </p:txBody>
      </p:sp>
      <p:sp>
        <p:nvSpPr>
          <p:cNvPr id="404" name="Google Shape;404;p17"/>
          <p:cNvSpPr/>
          <p:nvPr/>
        </p:nvSpPr>
        <p:spPr>
          <a:xfrm>
            <a:off x="8339328" y="1911096"/>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5" name="Google Shape;405;p17"/>
          <p:cNvSpPr txBox="1"/>
          <p:nvPr/>
        </p:nvSpPr>
        <p:spPr>
          <a:xfrm>
            <a:off x="8430768" y="1947672"/>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STEP 1</a:t>
            </a:r>
            <a:endParaRPr b="0" i="0" sz="1400" u="none" cap="none" strike="noStrike">
              <a:solidFill>
                <a:srgbClr val="000000"/>
              </a:solidFill>
              <a:latin typeface="Arial"/>
              <a:ea typeface="Arial"/>
              <a:cs typeface="Arial"/>
              <a:sym typeface="Arial"/>
            </a:endParaRPr>
          </a:p>
        </p:txBody>
      </p:sp>
      <p:sp>
        <p:nvSpPr>
          <p:cNvPr id="406" name="Google Shape;406;p17"/>
          <p:cNvSpPr/>
          <p:nvPr/>
        </p:nvSpPr>
        <p:spPr>
          <a:xfrm>
            <a:off x="9244584" y="1965960"/>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07" name="Google Shape;407;p17"/>
          <p:cNvSpPr txBox="1"/>
          <p:nvPr/>
        </p:nvSpPr>
        <p:spPr>
          <a:xfrm>
            <a:off x="9244584" y="1975104"/>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08" name="Google Shape;408;p17"/>
          <p:cNvSpPr txBox="1"/>
          <p:nvPr/>
        </p:nvSpPr>
        <p:spPr>
          <a:xfrm>
            <a:off x="8430768" y="2185416"/>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WP_Query</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SQLi confirmed</a:t>
            </a:r>
            <a:endParaRPr b="0" i="0" sz="1400" u="none" cap="none" strike="noStrike">
              <a:solidFill>
                <a:srgbClr val="000000"/>
              </a:solidFill>
              <a:latin typeface="Arial"/>
              <a:ea typeface="Arial"/>
              <a:cs typeface="Arial"/>
              <a:sym typeface="Arial"/>
            </a:endParaRPr>
          </a:p>
        </p:txBody>
      </p:sp>
      <p:cxnSp>
        <p:nvCxnSpPr>
          <p:cNvPr id="409" name="Google Shape;409;p17"/>
          <p:cNvCxnSpPr/>
          <p:nvPr/>
        </p:nvCxnSpPr>
        <p:spPr>
          <a:xfrm>
            <a:off x="0" y="2505456"/>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10" name="Google Shape;410;p17"/>
          <p:cNvSpPr txBox="1"/>
          <p:nvPr/>
        </p:nvSpPr>
        <p:spPr>
          <a:xfrm>
            <a:off x="9354312" y="2523744"/>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11" name="Google Shape;411;p17"/>
          <p:cNvSpPr txBox="1"/>
          <p:nvPr/>
        </p:nvSpPr>
        <p:spPr>
          <a:xfrm>
            <a:off x="10332720" y="2048256"/>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12" name="Google Shape;412;p17"/>
          <p:cNvSpPr/>
          <p:nvPr/>
        </p:nvSpPr>
        <p:spPr>
          <a:xfrm>
            <a:off x="8339328" y="2706624"/>
            <a:ext cx="1920240" cy="594360"/>
          </a:xfrm>
          <a:prstGeom prst="rect">
            <a:avLst/>
          </a:prstGeom>
          <a:solidFill>
            <a:srgbClr val="1E1402"/>
          </a:solidFill>
          <a:ln cap="flat" cmpd="sng" w="203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3" name="Google Shape;413;p17"/>
          <p:cNvSpPr txBox="1"/>
          <p:nvPr/>
        </p:nvSpPr>
        <p:spPr>
          <a:xfrm>
            <a:off x="8430768" y="2743200"/>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STEP 2</a:t>
            </a:r>
            <a:endParaRPr b="0" i="0" sz="1400" u="none" cap="none" strike="noStrike">
              <a:solidFill>
                <a:srgbClr val="000000"/>
              </a:solidFill>
              <a:latin typeface="Arial"/>
              <a:ea typeface="Arial"/>
              <a:cs typeface="Arial"/>
              <a:sym typeface="Arial"/>
            </a:endParaRPr>
          </a:p>
        </p:txBody>
      </p:sp>
      <p:sp>
        <p:nvSpPr>
          <p:cNvPr id="414" name="Google Shape;414;p17"/>
          <p:cNvSpPr/>
          <p:nvPr/>
        </p:nvSpPr>
        <p:spPr>
          <a:xfrm>
            <a:off x="9244584" y="2761488"/>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5" name="Google Shape;415;p17"/>
          <p:cNvSpPr txBox="1"/>
          <p:nvPr/>
        </p:nvSpPr>
        <p:spPr>
          <a:xfrm>
            <a:off x="9244584" y="2770632"/>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16" name="Google Shape;416;p17"/>
          <p:cNvSpPr txBox="1"/>
          <p:nvPr/>
        </p:nvSpPr>
        <p:spPr>
          <a:xfrm>
            <a:off x="8430768" y="2980944"/>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Admin hash extracted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cracked offline</a:t>
            </a:r>
            <a:endParaRPr b="0" i="0" sz="1400" u="none" cap="none" strike="noStrike">
              <a:solidFill>
                <a:srgbClr val="000000"/>
              </a:solidFill>
              <a:latin typeface="Arial"/>
              <a:ea typeface="Arial"/>
              <a:cs typeface="Arial"/>
              <a:sym typeface="Arial"/>
            </a:endParaRPr>
          </a:p>
        </p:txBody>
      </p:sp>
      <p:cxnSp>
        <p:nvCxnSpPr>
          <p:cNvPr id="417" name="Google Shape;417;p17"/>
          <p:cNvCxnSpPr/>
          <p:nvPr/>
        </p:nvCxnSpPr>
        <p:spPr>
          <a:xfrm>
            <a:off x="0" y="3300984"/>
            <a:ext cx="0" cy="201168"/>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418" name="Google Shape;418;p17"/>
          <p:cNvSpPr txBox="1"/>
          <p:nvPr/>
        </p:nvSpPr>
        <p:spPr>
          <a:xfrm>
            <a:off x="9354312" y="3319272"/>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19" name="Google Shape;419;p17"/>
          <p:cNvSpPr txBox="1"/>
          <p:nvPr/>
        </p:nvSpPr>
        <p:spPr>
          <a:xfrm>
            <a:off x="10332720" y="2843784"/>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20" name="Google Shape;420;p17"/>
          <p:cNvSpPr/>
          <p:nvPr/>
        </p:nvSpPr>
        <p:spPr>
          <a:xfrm>
            <a:off x="8339328" y="3502152"/>
            <a:ext cx="1920240" cy="594360"/>
          </a:xfrm>
          <a:prstGeom prst="rect">
            <a:avLst/>
          </a:prstGeom>
          <a:solidFill>
            <a:srgbClr val="1E1402"/>
          </a:solidFill>
          <a:ln cap="flat" cmpd="sng" w="203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1" name="Google Shape;421;p17"/>
          <p:cNvSpPr txBox="1"/>
          <p:nvPr/>
        </p:nvSpPr>
        <p:spPr>
          <a:xfrm>
            <a:off x="8430768" y="3538728"/>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STEP 3</a:t>
            </a:r>
            <a:endParaRPr b="0" i="0" sz="1400" u="none" cap="none" strike="noStrike">
              <a:solidFill>
                <a:srgbClr val="000000"/>
              </a:solidFill>
              <a:latin typeface="Arial"/>
              <a:ea typeface="Arial"/>
              <a:cs typeface="Arial"/>
              <a:sym typeface="Arial"/>
            </a:endParaRPr>
          </a:p>
        </p:txBody>
      </p:sp>
      <p:sp>
        <p:nvSpPr>
          <p:cNvPr id="422" name="Google Shape;422;p17"/>
          <p:cNvSpPr/>
          <p:nvPr/>
        </p:nvSpPr>
        <p:spPr>
          <a:xfrm>
            <a:off x="9244584" y="3557016"/>
            <a:ext cx="960120" cy="18288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3" name="Google Shape;423;p17"/>
          <p:cNvSpPr txBox="1"/>
          <p:nvPr/>
        </p:nvSpPr>
        <p:spPr>
          <a:xfrm>
            <a:off x="9244584" y="3566160"/>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424" name="Google Shape;424;p17"/>
          <p:cNvSpPr txBox="1"/>
          <p:nvPr/>
        </p:nvSpPr>
        <p:spPr>
          <a:xfrm>
            <a:off x="8430768" y="3776472"/>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Metasploit → Web shell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achieved</a:t>
            </a:r>
            <a:endParaRPr b="0" i="0" sz="1400" u="none" cap="none" strike="noStrike">
              <a:solidFill>
                <a:srgbClr val="000000"/>
              </a:solidFill>
              <a:latin typeface="Arial"/>
              <a:ea typeface="Arial"/>
              <a:cs typeface="Arial"/>
              <a:sym typeface="Arial"/>
            </a:endParaRPr>
          </a:p>
        </p:txBody>
      </p:sp>
      <p:cxnSp>
        <p:nvCxnSpPr>
          <p:cNvPr id="425" name="Google Shape;425;p17"/>
          <p:cNvCxnSpPr/>
          <p:nvPr/>
        </p:nvCxnSpPr>
        <p:spPr>
          <a:xfrm>
            <a:off x="0" y="4096512"/>
            <a:ext cx="0" cy="201168"/>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39"/>
              </a:srgbClr>
            </a:outerShdw>
          </a:effectLst>
        </p:spPr>
      </p:cxnSp>
      <p:sp>
        <p:nvSpPr>
          <p:cNvPr id="426" name="Google Shape;426;p17"/>
          <p:cNvSpPr txBox="1"/>
          <p:nvPr/>
        </p:nvSpPr>
        <p:spPr>
          <a:xfrm>
            <a:off x="9354312" y="4114800"/>
            <a:ext cx="7315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A0AAB8"/>
                </a:solidFill>
                <a:latin typeface="Calibri"/>
                <a:ea typeface="Calibri"/>
                <a:cs typeface="Calibri"/>
                <a:sym typeface="Calibri"/>
              </a:rPr>
              <a:t>next_step</a:t>
            </a:r>
            <a:endParaRPr b="0" i="0" sz="1400" u="none" cap="none" strike="noStrike">
              <a:solidFill>
                <a:srgbClr val="000000"/>
              </a:solidFill>
              <a:latin typeface="Arial"/>
              <a:ea typeface="Arial"/>
              <a:cs typeface="Arial"/>
              <a:sym typeface="Arial"/>
            </a:endParaRPr>
          </a:p>
        </p:txBody>
      </p:sp>
      <p:sp>
        <p:nvSpPr>
          <p:cNvPr id="427" name="Google Shape;427;p17"/>
          <p:cNvSpPr txBox="1"/>
          <p:nvPr/>
        </p:nvSpPr>
        <p:spPr>
          <a:xfrm>
            <a:off x="10332720" y="3639312"/>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28" name="Google Shape;428;p17"/>
          <p:cNvSpPr/>
          <p:nvPr/>
        </p:nvSpPr>
        <p:spPr>
          <a:xfrm>
            <a:off x="8339328" y="4297680"/>
            <a:ext cx="1920240" cy="594360"/>
          </a:xfrm>
          <a:prstGeom prst="rect">
            <a:avLst/>
          </a:prstGeom>
          <a:solidFill>
            <a:srgbClr val="160820"/>
          </a:solidFill>
          <a:ln cap="flat" cmpd="sng" w="203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29" name="Google Shape;429;p17"/>
          <p:cNvSpPr txBox="1"/>
          <p:nvPr/>
        </p:nvSpPr>
        <p:spPr>
          <a:xfrm>
            <a:off x="8430768" y="4334256"/>
            <a:ext cx="73152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IMPACT</a:t>
            </a:r>
            <a:endParaRPr b="0" i="0" sz="1400" u="none" cap="none" strike="noStrike">
              <a:solidFill>
                <a:srgbClr val="000000"/>
              </a:solidFill>
              <a:latin typeface="Arial"/>
              <a:ea typeface="Arial"/>
              <a:cs typeface="Arial"/>
              <a:sym typeface="Arial"/>
            </a:endParaRPr>
          </a:p>
        </p:txBody>
      </p:sp>
      <p:sp>
        <p:nvSpPr>
          <p:cNvPr id="430" name="Google Shape;430;p17"/>
          <p:cNvSpPr/>
          <p:nvPr/>
        </p:nvSpPr>
        <p:spPr>
          <a:xfrm>
            <a:off x="9244584" y="4352544"/>
            <a:ext cx="960120" cy="18288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1" name="Google Shape;431;p17"/>
          <p:cNvSpPr txBox="1"/>
          <p:nvPr/>
        </p:nvSpPr>
        <p:spPr>
          <a:xfrm>
            <a:off x="9244584" y="4361688"/>
            <a:ext cx="96012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650"/>
              <a:buFont typeface="Arial"/>
              <a:buNone/>
            </a:pPr>
            <a:r>
              <a:rPr b="1" i="0" lang="en-US" sz="650" u="none" cap="none" strike="noStrike">
                <a:solidFill>
                  <a:srgbClr val="0A0D1A"/>
                </a:solidFill>
                <a:latin typeface="Calibri"/>
                <a:ea typeface="Calibri"/>
                <a:cs typeface="Calibri"/>
                <a:sym typeface="Calibri"/>
              </a:rPr>
              <a:t>DEMONSTRATED</a:t>
            </a:r>
            <a:endParaRPr b="0" i="0" sz="1400" u="none" cap="none" strike="noStrike">
              <a:solidFill>
                <a:srgbClr val="000000"/>
              </a:solidFill>
              <a:latin typeface="Arial"/>
              <a:ea typeface="Arial"/>
              <a:cs typeface="Arial"/>
              <a:sym typeface="Arial"/>
            </a:endParaRPr>
          </a:p>
        </p:txBody>
      </p:sp>
      <p:sp>
        <p:nvSpPr>
          <p:cNvPr id="432" name="Google Shape;432;p17"/>
          <p:cNvSpPr txBox="1"/>
          <p:nvPr/>
        </p:nvSpPr>
        <p:spPr>
          <a:xfrm>
            <a:off x="8430768" y="4572000"/>
            <a:ext cx="1773936" cy="31089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Full server access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Customer PII exposed</a:t>
            </a:r>
            <a:endParaRPr b="0" i="0" sz="1400" u="none" cap="none" strike="noStrike">
              <a:solidFill>
                <a:srgbClr val="000000"/>
              </a:solidFill>
              <a:latin typeface="Arial"/>
              <a:ea typeface="Arial"/>
              <a:cs typeface="Arial"/>
              <a:sym typeface="Arial"/>
            </a:endParaRPr>
          </a:p>
        </p:txBody>
      </p:sp>
      <p:sp>
        <p:nvSpPr>
          <p:cNvPr id="433" name="Google Shape;433;p17"/>
          <p:cNvSpPr txBox="1"/>
          <p:nvPr/>
        </p:nvSpPr>
        <p:spPr>
          <a:xfrm>
            <a:off x="10332720" y="4434840"/>
            <a:ext cx="777240" cy="32918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650"/>
              <a:buFont typeface="Arial"/>
              <a:buNone/>
            </a:pPr>
            <a:r>
              <a:rPr b="0" i="1" lang="en-US" sz="650" u="none" cap="none" strike="noStrike">
                <a:solidFill>
                  <a:srgbClr val="BD93F9"/>
                </a:solidFill>
                <a:latin typeface="Calibri"/>
                <a:ea typeface="Calibri"/>
                <a:cs typeface="Calibri"/>
                <a:sym typeface="Calibri"/>
              </a:rPr>
              <a:t>↗ supported_by</a:t>
            </a:r>
            <a:br>
              <a:rPr b="0" i="1" lang="en-US" sz="650" u="none" cap="none" strike="noStrike">
                <a:solidFill>
                  <a:srgbClr val="BD93F9"/>
                </a:solidFill>
                <a:latin typeface="Calibri"/>
                <a:ea typeface="Calibri"/>
                <a:cs typeface="Calibri"/>
                <a:sym typeface="Calibri"/>
              </a:rPr>
            </a:br>
            <a:r>
              <a:rPr b="0" i="1" lang="en-US" sz="650" u="none" cap="none" strike="noStrike">
                <a:solidFill>
                  <a:srgbClr val="BD93F9"/>
                </a:solidFill>
                <a:latin typeface="Calibri"/>
                <a:ea typeface="Calibri"/>
                <a:cs typeface="Calibri"/>
                <a:sym typeface="Calibri"/>
              </a:rPr>
              <a:t>ASG Evidence</a:t>
            </a:r>
            <a:endParaRPr b="0" i="0" sz="1400" u="none" cap="none" strike="noStrike">
              <a:solidFill>
                <a:srgbClr val="000000"/>
              </a:solidFill>
              <a:latin typeface="Arial"/>
              <a:ea typeface="Arial"/>
              <a:cs typeface="Arial"/>
              <a:sym typeface="Arial"/>
            </a:endParaRPr>
          </a:p>
        </p:txBody>
      </p:sp>
      <p:sp>
        <p:nvSpPr>
          <p:cNvPr id="434" name="Google Shape;434;p17"/>
          <p:cNvSpPr txBox="1"/>
          <p:nvPr/>
        </p:nvSpPr>
        <p:spPr>
          <a:xfrm>
            <a:off x="6894576" y="1810512"/>
            <a:ext cx="4846320"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starts_at: ASG Vulnerability node</a:t>
            </a:r>
            <a:endParaRPr b="0" i="0" sz="1400" u="none" cap="none" strike="noStrike">
              <a:solidFill>
                <a:srgbClr val="000000"/>
              </a:solidFill>
              <a:latin typeface="Arial"/>
              <a:ea typeface="Arial"/>
              <a:cs typeface="Arial"/>
              <a:sym typeface="Arial"/>
            </a:endParaRPr>
          </a:p>
        </p:txBody>
      </p:sp>
      <p:sp>
        <p:nvSpPr>
          <p:cNvPr id="435" name="Google Shape;435;p17"/>
          <p:cNvSpPr/>
          <p:nvPr/>
        </p:nvSpPr>
        <p:spPr>
          <a:xfrm>
            <a:off x="6711696" y="5230368"/>
            <a:ext cx="5285232" cy="566928"/>
          </a:xfrm>
          <a:prstGeom prst="rect">
            <a:avLst/>
          </a:prstGeom>
          <a:solidFill>
            <a:srgbClr val="1C10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6" name="Google Shape;436;p17"/>
          <p:cNvSpPr txBox="1"/>
          <p:nvPr/>
        </p:nvSpPr>
        <p:spPr>
          <a:xfrm>
            <a:off x="6784848" y="5285232"/>
            <a:ext cx="512064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EDGES:  starts_at  ·  next_step  ·  achieves  ·  supported_by</a:t>
            </a:r>
            <a:br>
              <a:rPr b="0" i="1" lang="en-US" sz="750" u="none" cap="none" strike="noStrike">
                <a:solidFill>
                  <a:srgbClr val="A0AAB8"/>
                </a:solidFill>
                <a:latin typeface="Calibri"/>
                <a:ea typeface="Calibri"/>
                <a:cs typeface="Calibri"/>
                <a:sym typeface="Calibri"/>
              </a:rPr>
            </a:br>
            <a:r>
              <a:rPr b="0" i="1" lang="en-US" sz="750" u="none" cap="none" strike="noStrike">
                <a:solidFill>
                  <a:srgbClr val="A0AAB8"/>
                </a:solidFill>
                <a:latin typeface="Calibri"/>
                <a:ea typeface="Calibri"/>
                <a:cs typeface="Calibri"/>
                <a:sym typeface="Calibri"/>
              </a:rPr>
              <a:t>VALIDATION STATUS:  HYPOTHESIZED → PARTIALLY_VALIDATED → VALIDATED / RULED_OUT</a:t>
            </a:r>
            <a:endParaRPr b="0" i="0" sz="1400" u="none" cap="none" strike="noStrike">
              <a:solidFill>
                <a:srgbClr val="000000"/>
              </a:solidFill>
              <a:latin typeface="Arial"/>
              <a:ea typeface="Arial"/>
              <a:cs typeface="Arial"/>
              <a:sym typeface="Arial"/>
            </a:endParaRPr>
          </a:p>
        </p:txBody>
      </p:sp>
      <p:sp>
        <p:nvSpPr>
          <p:cNvPr id="437" name="Google Shape;437;p17"/>
          <p:cNvSpPr/>
          <p:nvPr/>
        </p:nvSpPr>
        <p:spPr>
          <a:xfrm>
            <a:off x="164592" y="5870448"/>
            <a:ext cx="11862511" cy="658368"/>
          </a:xfrm>
          <a:prstGeom prst="rect">
            <a:avLst/>
          </a:prstGeom>
          <a:solidFill>
            <a:srgbClr val="061422"/>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38" name="Google Shape;438;p17"/>
          <p:cNvSpPr txBox="1"/>
          <p:nvPr/>
        </p:nvSpPr>
        <p:spPr>
          <a:xfrm>
            <a:off x="457200" y="5943600"/>
            <a:ext cx="11368735" cy="53035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00E5FF"/>
                </a:solidFill>
                <a:latin typeface="Calibri"/>
                <a:ea typeface="Calibri"/>
                <a:cs typeface="Calibri"/>
                <a:sym typeface="Calibri"/>
              </a:rPr>
              <a:t>Separation Principle:  Discovery agents write only to the ASG — they never reason about chains.  The Commander writes only to the APG — it never runs tools.  No agent conflates discovered facts with hypothesised attack reasoning.</a:t>
            </a:r>
            <a:endParaRPr b="0" i="0" sz="1400" u="none" cap="none" strike="noStrike">
              <a:solidFill>
                <a:srgbClr val="000000"/>
              </a:solidFill>
              <a:latin typeface="Arial"/>
              <a:ea typeface="Arial"/>
              <a:cs typeface="Arial"/>
              <a:sym typeface="Arial"/>
            </a:endParaRPr>
          </a:p>
        </p:txBody>
      </p:sp>
      <p:sp>
        <p:nvSpPr>
          <p:cNvPr id="439" name="Google Shape;439;p17"/>
          <p:cNvSpPr txBox="1"/>
          <p:nvPr/>
        </p:nvSpPr>
        <p:spPr>
          <a:xfrm>
            <a:off x="11740890" y="82330"/>
            <a:ext cx="3840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443" name="Shape 443"/>
        <p:cNvGrpSpPr/>
        <p:nvPr/>
      </p:nvGrpSpPr>
      <p:grpSpPr>
        <a:xfrm>
          <a:off x="0" y="0"/>
          <a:ext cx="0" cy="0"/>
          <a:chOff x="0" y="0"/>
          <a:chExt cx="0" cy="0"/>
        </a:xfrm>
      </p:grpSpPr>
      <p:sp>
        <p:nvSpPr>
          <p:cNvPr id="444" name="Google Shape;444;p18"/>
          <p:cNvSpPr/>
          <p:nvPr/>
        </p:nvSpPr>
        <p:spPr>
          <a:xfrm>
            <a:off x="0" y="0"/>
            <a:ext cx="54864"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5" name="Google Shape;445;p18"/>
          <p:cNvSpPr/>
          <p:nvPr/>
        </p:nvSpPr>
        <p:spPr>
          <a:xfrm>
            <a:off x="54864" y="0"/>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6" name="Google Shape;446;p18"/>
          <p:cNvSpPr/>
          <p:nvPr/>
        </p:nvSpPr>
        <p:spPr>
          <a:xfrm>
            <a:off x="54864" y="6821424"/>
            <a:ext cx="12136831" cy="3657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47" name="Google Shape;447;p18"/>
          <p:cNvSpPr txBox="1"/>
          <p:nvPr/>
        </p:nvSpPr>
        <p:spPr>
          <a:xfrm>
            <a:off x="274320" y="64008"/>
            <a:ext cx="5486400"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AGENT ARCHITECTURE</a:t>
            </a:r>
            <a:endParaRPr b="0" i="0" sz="1400" u="none" cap="none" strike="noStrike">
              <a:solidFill>
                <a:srgbClr val="000000"/>
              </a:solidFill>
              <a:latin typeface="Arial"/>
              <a:ea typeface="Arial"/>
              <a:cs typeface="Arial"/>
              <a:sym typeface="Arial"/>
            </a:endParaRPr>
          </a:p>
        </p:txBody>
      </p:sp>
      <p:sp>
        <p:nvSpPr>
          <p:cNvPr id="448" name="Google Shape;448;p18"/>
          <p:cNvSpPr txBox="1"/>
          <p:nvPr/>
        </p:nvSpPr>
        <p:spPr>
          <a:xfrm>
            <a:off x="274320" y="292608"/>
            <a:ext cx="10058400" cy="43891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Context-Isolated Agents — Spawn · Execute · Return · Discard</a:t>
            </a:r>
            <a:endParaRPr b="0" i="0" sz="1400" u="none" cap="none" strike="noStrike">
              <a:solidFill>
                <a:srgbClr val="000000"/>
              </a:solidFill>
              <a:latin typeface="Arial"/>
              <a:ea typeface="Arial"/>
              <a:cs typeface="Arial"/>
              <a:sym typeface="Arial"/>
            </a:endParaRPr>
          </a:p>
        </p:txBody>
      </p:sp>
      <p:sp>
        <p:nvSpPr>
          <p:cNvPr id="449" name="Google Shape;449;p18"/>
          <p:cNvSpPr/>
          <p:nvPr/>
        </p:nvSpPr>
        <p:spPr>
          <a:xfrm>
            <a:off x="164600" y="804675"/>
            <a:ext cx="4434900" cy="5888700"/>
          </a:xfrm>
          <a:prstGeom prst="rect">
            <a:avLst/>
          </a:prstGeom>
          <a:solidFill>
            <a:srgbClr val="080C20"/>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0" name="Google Shape;450;p18"/>
          <p:cNvSpPr txBox="1"/>
          <p:nvPr/>
        </p:nvSpPr>
        <p:spPr>
          <a:xfrm>
            <a:off x="164592" y="859536"/>
            <a:ext cx="44348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CONTEXT ISOLATION MODEL</a:t>
            </a:r>
            <a:endParaRPr b="0" i="0" sz="1400" u="none" cap="none" strike="noStrike">
              <a:solidFill>
                <a:srgbClr val="000000"/>
              </a:solidFill>
              <a:latin typeface="Arial"/>
              <a:ea typeface="Arial"/>
              <a:cs typeface="Arial"/>
              <a:sym typeface="Arial"/>
            </a:endParaRPr>
          </a:p>
        </p:txBody>
      </p:sp>
      <p:sp>
        <p:nvSpPr>
          <p:cNvPr id="451" name="Google Shape;451;p18"/>
          <p:cNvSpPr/>
          <p:nvPr/>
        </p:nvSpPr>
        <p:spPr>
          <a:xfrm>
            <a:off x="987552" y="1152144"/>
            <a:ext cx="2743200" cy="502920"/>
          </a:xfrm>
          <a:prstGeom prst="rect">
            <a:avLst/>
          </a:prstGeom>
          <a:solidFill>
            <a:srgbClr val="041832"/>
          </a:solidFill>
          <a:ln cap="flat" cmpd="sng" w="228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2" name="Google Shape;452;p18"/>
          <p:cNvSpPr/>
          <p:nvPr/>
        </p:nvSpPr>
        <p:spPr>
          <a:xfrm>
            <a:off x="987552" y="1152144"/>
            <a:ext cx="2743200" cy="18288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3" name="Google Shape;453;p18"/>
          <p:cNvSpPr txBox="1"/>
          <p:nvPr/>
        </p:nvSpPr>
        <p:spPr>
          <a:xfrm>
            <a:off x="987552" y="1170432"/>
            <a:ext cx="2743200"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COMMANDER AGENT</a:t>
            </a:r>
            <a:endParaRPr b="0" i="0" sz="1400" u="none" cap="none" strike="noStrike">
              <a:solidFill>
                <a:srgbClr val="000000"/>
              </a:solidFill>
              <a:latin typeface="Arial"/>
              <a:ea typeface="Arial"/>
              <a:cs typeface="Arial"/>
              <a:sym typeface="Arial"/>
            </a:endParaRPr>
          </a:p>
        </p:txBody>
      </p:sp>
      <p:sp>
        <p:nvSpPr>
          <p:cNvPr id="454" name="Google Shape;454;p18"/>
          <p:cNvSpPr txBox="1"/>
          <p:nvPr/>
        </p:nvSpPr>
        <p:spPr>
          <a:xfrm>
            <a:off x="987552" y="1353312"/>
            <a:ext cx="27432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Reads ASG + APG → decides next action</a:t>
            </a:r>
            <a:endParaRPr b="0" i="0" sz="1400" u="none" cap="none" strike="noStrike">
              <a:solidFill>
                <a:srgbClr val="000000"/>
              </a:solidFill>
              <a:latin typeface="Arial"/>
              <a:ea typeface="Arial"/>
              <a:cs typeface="Arial"/>
              <a:sym typeface="Arial"/>
            </a:endParaRPr>
          </a:p>
        </p:txBody>
      </p:sp>
      <p:cxnSp>
        <p:nvCxnSpPr>
          <p:cNvPr id="455" name="Google Shape;455;p18"/>
          <p:cNvCxnSpPr/>
          <p:nvPr/>
        </p:nvCxnSpPr>
        <p:spPr>
          <a:xfrm>
            <a:off x="0" y="1655064"/>
            <a:ext cx="0" cy="228600"/>
          </a:xfrm>
          <a:prstGeom prst="straightConnector1">
            <a:avLst/>
          </a:prstGeom>
          <a:noFill/>
          <a:ln cap="flat" cmpd="sng" w="19050">
            <a:solidFill>
              <a:srgbClr val="BD93F9"/>
            </a:solidFill>
            <a:prstDash val="solid"/>
            <a:round/>
            <a:headEnd len="med" w="med" type="stealth"/>
            <a:tailEnd len="sm" w="sm" type="none"/>
          </a:ln>
          <a:effectLst>
            <a:outerShdw blurRad="40000" rotWithShape="0" dir="5400000" dist="20000">
              <a:srgbClr val="000000">
                <a:alpha val="38039"/>
              </a:srgbClr>
            </a:outerShdw>
          </a:effectLst>
        </p:spPr>
      </p:cxnSp>
      <p:sp>
        <p:nvSpPr>
          <p:cNvPr id="456" name="Google Shape;456;p18"/>
          <p:cNvSpPr txBox="1"/>
          <p:nvPr/>
        </p:nvSpPr>
        <p:spPr>
          <a:xfrm>
            <a:off x="2455164" y="1673352"/>
            <a:ext cx="1645920" cy="201168"/>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0" i="1" lang="en-US" sz="750" u="none" cap="none" strike="noStrike">
                <a:solidFill>
                  <a:srgbClr val="BD93F9"/>
                </a:solidFill>
                <a:latin typeface="Calibri"/>
                <a:ea typeface="Calibri"/>
                <a:cs typeface="Calibri"/>
                <a:sym typeface="Calibri"/>
              </a:rPr>
              <a:t>spawn with scoped context</a:t>
            </a:r>
            <a:endParaRPr b="0" i="0" sz="1400" u="none" cap="none" strike="noStrike">
              <a:solidFill>
                <a:srgbClr val="000000"/>
              </a:solidFill>
              <a:latin typeface="Arial"/>
              <a:ea typeface="Arial"/>
              <a:cs typeface="Arial"/>
              <a:sym typeface="Arial"/>
            </a:endParaRPr>
          </a:p>
        </p:txBody>
      </p:sp>
      <p:sp>
        <p:nvSpPr>
          <p:cNvPr id="457" name="Google Shape;457;p18"/>
          <p:cNvSpPr/>
          <p:nvPr/>
        </p:nvSpPr>
        <p:spPr>
          <a:xfrm>
            <a:off x="365750" y="1947675"/>
            <a:ext cx="4032600" cy="2758500"/>
          </a:xfrm>
          <a:prstGeom prst="rect">
            <a:avLst/>
          </a:prstGeom>
          <a:solidFill>
            <a:srgbClr val="0A102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8" name="Google Shape;458;p18"/>
          <p:cNvSpPr/>
          <p:nvPr/>
        </p:nvSpPr>
        <p:spPr>
          <a:xfrm>
            <a:off x="365760" y="1947672"/>
            <a:ext cx="4032504" cy="219456"/>
          </a:xfrm>
          <a:prstGeom prst="rect">
            <a:avLst/>
          </a:prstGeom>
          <a:solidFill>
            <a:srgbClr val="20103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59" name="Google Shape;459;p18"/>
          <p:cNvSpPr txBox="1"/>
          <p:nvPr/>
        </p:nvSpPr>
        <p:spPr>
          <a:xfrm>
            <a:off x="365760" y="1984248"/>
            <a:ext cx="4032504" cy="16459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ISOLATED AGENT CONTEXT  (fresh per task)</a:t>
            </a:r>
            <a:endParaRPr b="0" i="0" sz="1400" u="none" cap="none" strike="noStrike">
              <a:solidFill>
                <a:srgbClr val="000000"/>
              </a:solidFill>
              <a:latin typeface="Arial"/>
              <a:ea typeface="Arial"/>
              <a:cs typeface="Arial"/>
              <a:sym typeface="Arial"/>
            </a:endParaRPr>
          </a:p>
        </p:txBody>
      </p:sp>
      <p:sp>
        <p:nvSpPr>
          <p:cNvPr id="460" name="Google Shape;460;p18"/>
          <p:cNvSpPr/>
          <p:nvPr/>
        </p:nvSpPr>
        <p:spPr>
          <a:xfrm>
            <a:off x="457200" y="2221998"/>
            <a:ext cx="3849600" cy="512100"/>
          </a:xfrm>
          <a:prstGeom prst="rect">
            <a:avLst/>
          </a:prstGeom>
          <a:solidFill>
            <a:srgbClr val="04160A"/>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1" name="Google Shape;461;p18"/>
          <p:cNvSpPr txBox="1"/>
          <p:nvPr/>
        </p:nvSpPr>
        <p:spPr>
          <a:xfrm>
            <a:off x="530352" y="2258568"/>
            <a:ext cx="1005840"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ASG SLICE</a:t>
            </a:r>
            <a:endParaRPr b="0" i="0" sz="1400" u="none" cap="none" strike="noStrike">
              <a:solidFill>
                <a:srgbClr val="000000"/>
              </a:solidFill>
              <a:latin typeface="Arial"/>
              <a:ea typeface="Arial"/>
              <a:cs typeface="Arial"/>
              <a:sym typeface="Arial"/>
            </a:endParaRPr>
          </a:p>
        </p:txBody>
      </p:sp>
      <p:sp>
        <p:nvSpPr>
          <p:cNvPr id="462" name="Google Shape;462;p18"/>
          <p:cNvSpPr txBox="1"/>
          <p:nvPr/>
        </p:nvSpPr>
        <p:spPr>
          <a:xfrm>
            <a:off x="1572768" y="2258568"/>
            <a:ext cx="2660904" cy="59207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Only nodes relevant to this task</a:t>
            </a:r>
            <a:endParaRPr b="0" i="0" sz="1400" u="none" cap="none" strike="noStrike">
              <a:solidFill>
                <a:srgbClr val="000000"/>
              </a:solidFill>
              <a:latin typeface="Arial"/>
              <a:ea typeface="Arial"/>
              <a:cs typeface="Arial"/>
              <a:sym typeface="Arial"/>
            </a:endParaRPr>
          </a:p>
        </p:txBody>
      </p:sp>
      <p:sp>
        <p:nvSpPr>
          <p:cNvPr id="463" name="Google Shape;463;p18"/>
          <p:cNvSpPr/>
          <p:nvPr/>
        </p:nvSpPr>
        <p:spPr>
          <a:xfrm>
            <a:off x="457200" y="2814064"/>
            <a:ext cx="3849600" cy="502800"/>
          </a:xfrm>
          <a:prstGeom prst="rect">
            <a:avLst/>
          </a:prstGeom>
          <a:solidFill>
            <a:srgbClr val="1A1002"/>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4" name="Google Shape;464;p18"/>
          <p:cNvSpPr txBox="1"/>
          <p:nvPr/>
        </p:nvSpPr>
        <p:spPr>
          <a:xfrm>
            <a:off x="530352" y="2850646"/>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D700"/>
                </a:solidFill>
                <a:latin typeface="Calibri"/>
                <a:ea typeface="Calibri"/>
                <a:cs typeface="Calibri"/>
                <a:sym typeface="Calibri"/>
              </a:rPr>
              <a:t>APG SLICE</a:t>
            </a:r>
            <a:endParaRPr b="0" i="0" sz="1400" u="none" cap="none" strike="noStrike">
              <a:solidFill>
                <a:srgbClr val="000000"/>
              </a:solidFill>
              <a:latin typeface="Arial"/>
              <a:ea typeface="Arial"/>
              <a:cs typeface="Arial"/>
              <a:sym typeface="Arial"/>
            </a:endParaRPr>
          </a:p>
        </p:txBody>
      </p:sp>
      <p:sp>
        <p:nvSpPr>
          <p:cNvPr id="465" name="Google Shape;465;p18"/>
          <p:cNvSpPr txBox="1"/>
          <p:nvPr/>
        </p:nvSpPr>
        <p:spPr>
          <a:xfrm>
            <a:off x="1572768" y="2850646"/>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Relevant AttackChains (if any)</a:t>
            </a:r>
            <a:endParaRPr b="0" i="0" sz="1400" u="none" cap="none" strike="noStrike">
              <a:solidFill>
                <a:srgbClr val="000000"/>
              </a:solidFill>
              <a:latin typeface="Arial"/>
              <a:ea typeface="Arial"/>
              <a:cs typeface="Arial"/>
              <a:sym typeface="Arial"/>
            </a:endParaRPr>
          </a:p>
        </p:txBody>
      </p:sp>
      <p:sp>
        <p:nvSpPr>
          <p:cNvPr id="466" name="Google Shape;466;p18"/>
          <p:cNvSpPr/>
          <p:nvPr/>
        </p:nvSpPr>
        <p:spPr>
          <a:xfrm>
            <a:off x="434350" y="3409824"/>
            <a:ext cx="3849600" cy="502800"/>
          </a:xfrm>
          <a:prstGeom prst="rect">
            <a:avLst/>
          </a:prstGeom>
          <a:solidFill>
            <a:srgbClr val="180606"/>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67" name="Google Shape;467;p18"/>
          <p:cNvSpPr txBox="1"/>
          <p:nvPr/>
        </p:nvSpPr>
        <p:spPr>
          <a:xfrm>
            <a:off x="507502" y="344639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TOOL SET</a:t>
            </a:r>
            <a:endParaRPr b="0" i="0" sz="1400" u="none" cap="none" strike="noStrike">
              <a:solidFill>
                <a:srgbClr val="000000"/>
              </a:solidFill>
              <a:latin typeface="Arial"/>
              <a:ea typeface="Arial"/>
              <a:cs typeface="Arial"/>
              <a:sym typeface="Arial"/>
            </a:endParaRPr>
          </a:p>
        </p:txBody>
      </p:sp>
      <p:sp>
        <p:nvSpPr>
          <p:cNvPr id="468" name="Google Shape;468;p18"/>
          <p:cNvSpPr txBox="1"/>
          <p:nvPr/>
        </p:nvSpPr>
        <p:spPr>
          <a:xfrm>
            <a:off x="1549918" y="344639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Authorized tools only — no others</a:t>
            </a:r>
            <a:endParaRPr b="0" i="0" sz="1400" u="none" cap="none" strike="noStrike">
              <a:solidFill>
                <a:srgbClr val="000000"/>
              </a:solidFill>
              <a:latin typeface="Arial"/>
              <a:ea typeface="Arial"/>
              <a:cs typeface="Arial"/>
              <a:sym typeface="Arial"/>
            </a:endParaRPr>
          </a:p>
        </p:txBody>
      </p:sp>
      <p:sp>
        <p:nvSpPr>
          <p:cNvPr id="469" name="Google Shape;469;p18"/>
          <p:cNvSpPr/>
          <p:nvPr/>
        </p:nvSpPr>
        <p:spPr>
          <a:xfrm>
            <a:off x="434350" y="4009554"/>
            <a:ext cx="3849600" cy="438900"/>
          </a:xfrm>
          <a:prstGeom prst="rect">
            <a:avLst/>
          </a:prstGeom>
          <a:solidFill>
            <a:srgbClr val="04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0" name="Google Shape;470;p18"/>
          <p:cNvSpPr txBox="1"/>
          <p:nvPr/>
        </p:nvSpPr>
        <p:spPr>
          <a:xfrm>
            <a:off x="507502" y="4046138"/>
            <a:ext cx="10059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TASK SPEC</a:t>
            </a:r>
            <a:endParaRPr b="0" i="0" sz="1400" u="none" cap="none" strike="noStrike">
              <a:solidFill>
                <a:srgbClr val="000000"/>
              </a:solidFill>
              <a:latin typeface="Arial"/>
              <a:ea typeface="Arial"/>
              <a:cs typeface="Arial"/>
              <a:sym typeface="Arial"/>
            </a:endParaRPr>
          </a:p>
        </p:txBody>
      </p:sp>
      <p:sp>
        <p:nvSpPr>
          <p:cNvPr id="471" name="Google Shape;471;p18"/>
          <p:cNvSpPr txBox="1"/>
          <p:nvPr/>
        </p:nvSpPr>
        <p:spPr>
          <a:xfrm>
            <a:off x="1549918" y="4046138"/>
            <a:ext cx="26610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A0AAB8"/>
                </a:solidFill>
                <a:latin typeface="Calibri"/>
                <a:ea typeface="Calibri"/>
                <a:cs typeface="Calibri"/>
                <a:sym typeface="Calibri"/>
              </a:rPr>
              <a:t>Commander's current plan item</a:t>
            </a:r>
            <a:endParaRPr b="0" i="0" sz="1400" u="none" cap="none" strike="noStrike">
              <a:solidFill>
                <a:srgbClr val="000000"/>
              </a:solidFill>
              <a:latin typeface="Arial"/>
              <a:ea typeface="Arial"/>
              <a:cs typeface="Arial"/>
              <a:sym typeface="Arial"/>
            </a:endParaRPr>
          </a:p>
        </p:txBody>
      </p:sp>
      <p:cxnSp>
        <p:nvCxnSpPr>
          <p:cNvPr id="472" name="Google Shape;472;p18"/>
          <p:cNvCxnSpPr/>
          <p:nvPr/>
        </p:nvCxnSpPr>
        <p:spPr>
          <a:xfrm>
            <a:off x="0" y="5148072"/>
            <a:ext cx="0" cy="292608"/>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473" name="Google Shape;473;p18"/>
          <p:cNvSpPr/>
          <p:nvPr/>
        </p:nvSpPr>
        <p:spPr>
          <a:xfrm>
            <a:off x="397735" y="4907932"/>
            <a:ext cx="4032600" cy="512100"/>
          </a:xfrm>
          <a:prstGeom prst="rect">
            <a:avLst/>
          </a:prstGeom>
          <a:solidFill>
            <a:srgbClr val="041E0C"/>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4" name="Google Shape;474;p18"/>
          <p:cNvSpPr txBox="1"/>
          <p:nvPr/>
        </p:nvSpPr>
        <p:spPr>
          <a:xfrm>
            <a:off x="397735" y="4976546"/>
            <a:ext cx="4032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RETURNS: Structured ASG Delta (new nodes + edges only)</a:t>
            </a:r>
            <a:endParaRPr b="0" i="0" sz="1400" u="none" cap="none" strike="noStrike">
              <a:solidFill>
                <a:srgbClr val="000000"/>
              </a:solidFill>
              <a:latin typeface="Arial"/>
              <a:ea typeface="Arial"/>
              <a:cs typeface="Arial"/>
              <a:sym typeface="Arial"/>
            </a:endParaRPr>
          </a:p>
        </p:txBody>
      </p:sp>
      <p:sp>
        <p:nvSpPr>
          <p:cNvPr id="475" name="Google Shape;475;p18"/>
          <p:cNvSpPr txBox="1"/>
          <p:nvPr/>
        </p:nvSpPr>
        <p:spPr>
          <a:xfrm>
            <a:off x="397735" y="5202614"/>
            <a:ext cx="40326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A0AAB8"/>
                </a:solidFill>
                <a:latin typeface="Calibri"/>
                <a:ea typeface="Calibri"/>
                <a:cs typeface="Calibri"/>
                <a:sym typeface="Calibri"/>
              </a:rPr>
              <a:t>Working context discarded — no raw history passes to Commander</a:t>
            </a:r>
            <a:endParaRPr b="0" i="0" sz="1400" u="none" cap="none" strike="noStrike">
              <a:solidFill>
                <a:srgbClr val="000000"/>
              </a:solidFill>
              <a:latin typeface="Arial"/>
              <a:ea typeface="Arial"/>
              <a:cs typeface="Arial"/>
              <a:sym typeface="Arial"/>
            </a:endParaRPr>
          </a:p>
        </p:txBody>
      </p:sp>
      <p:sp>
        <p:nvSpPr>
          <p:cNvPr id="476" name="Google Shape;476;p18"/>
          <p:cNvSpPr/>
          <p:nvPr/>
        </p:nvSpPr>
        <p:spPr>
          <a:xfrm>
            <a:off x="397735" y="5551486"/>
            <a:ext cx="4032600" cy="219600"/>
          </a:xfrm>
          <a:prstGeom prst="rect">
            <a:avLst/>
          </a:prstGeom>
          <a:solidFill>
            <a:srgbClr val="0C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7" name="Google Shape;477;p18"/>
          <p:cNvSpPr txBox="1"/>
          <p:nvPr/>
        </p:nvSpPr>
        <p:spPr>
          <a:xfrm>
            <a:off x="489175" y="5578918"/>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00E5FF"/>
                </a:solidFill>
                <a:latin typeface="Calibri"/>
                <a:ea typeface="Calibri"/>
                <a:cs typeface="Calibri"/>
                <a:sym typeface="Calibri"/>
              </a:rPr>
              <a:t>✓  Commander context stays clean</a:t>
            </a:r>
            <a:endParaRPr b="0" i="0" sz="1400" u="none" cap="none" strike="noStrike">
              <a:solidFill>
                <a:srgbClr val="000000"/>
              </a:solidFill>
              <a:latin typeface="Arial"/>
              <a:ea typeface="Arial"/>
              <a:cs typeface="Arial"/>
              <a:sym typeface="Arial"/>
            </a:endParaRPr>
          </a:p>
        </p:txBody>
      </p:sp>
      <p:sp>
        <p:nvSpPr>
          <p:cNvPr id="478" name="Google Shape;478;p18"/>
          <p:cNvSpPr/>
          <p:nvPr/>
        </p:nvSpPr>
        <p:spPr>
          <a:xfrm>
            <a:off x="397735" y="5829211"/>
            <a:ext cx="4032600" cy="219600"/>
          </a:xfrm>
          <a:prstGeom prst="rect">
            <a:avLst/>
          </a:prstGeom>
          <a:solidFill>
            <a:srgbClr val="0C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79" name="Google Shape;479;p18"/>
          <p:cNvSpPr txBox="1"/>
          <p:nvPr/>
        </p:nvSpPr>
        <p:spPr>
          <a:xfrm>
            <a:off x="489175" y="5856643"/>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BD93F9"/>
                </a:solidFill>
                <a:latin typeface="Calibri"/>
                <a:ea typeface="Calibri"/>
                <a:cs typeface="Calibri"/>
                <a:sym typeface="Calibri"/>
              </a:rPr>
              <a:t>✓  Agents can't contaminate each other</a:t>
            </a:r>
            <a:endParaRPr b="0" i="0" sz="1400" u="none" cap="none" strike="noStrike">
              <a:solidFill>
                <a:srgbClr val="000000"/>
              </a:solidFill>
              <a:latin typeface="Arial"/>
              <a:ea typeface="Arial"/>
              <a:cs typeface="Arial"/>
              <a:sym typeface="Arial"/>
            </a:endParaRPr>
          </a:p>
        </p:txBody>
      </p:sp>
      <p:sp>
        <p:nvSpPr>
          <p:cNvPr id="480" name="Google Shape;480;p18"/>
          <p:cNvSpPr/>
          <p:nvPr/>
        </p:nvSpPr>
        <p:spPr>
          <a:xfrm>
            <a:off x="397735" y="6134374"/>
            <a:ext cx="4032600" cy="219600"/>
          </a:xfrm>
          <a:prstGeom prst="rect">
            <a:avLst/>
          </a:prstGeom>
          <a:solidFill>
            <a:srgbClr val="0C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1" name="Google Shape;481;p18"/>
          <p:cNvSpPr txBox="1"/>
          <p:nvPr/>
        </p:nvSpPr>
        <p:spPr>
          <a:xfrm>
            <a:off x="466425" y="6114981"/>
            <a:ext cx="38952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FF4545"/>
                </a:solidFill>
                <a:latin typeface="Calibri"/>
                <a:ea typeface="Calibri"/>
                <a:cs typeface="Calibri"/>
                <a:sym typeface="Calibri"/>
              </a:rPr>
              <a:t>✓  High-risk refusals don't bias planning</a:t>
            </a:r>
            <a:endParaRPr b="0" i="0" sz="1400" u="none" cap="none" strike="noStrike">
              <a:solidFill>
                <a:srgbClr val="000000"/>
              </a:solidFill>
              <a:latin typeface="Arial"/>
              <a:ea typeface="Arial"/>
              <a:cs typeface="Arial"/>
              <a:sym typeface="Arial"/>
            </a:endParaRPr>
          </a:p>
        </p:txBody>
      </p:sp>
      <p:sp>
        <p:nvSpPr>
          <p:cNvPr id="482" name="Google Shape;482;p18"/>
          <p:cNvSpPr/>
          <p:nvPr/>
        </p:nvSpPr>
        <p:spPr>
          <a:xfrm>
            <a:off x="4773168" y="822960"/>
            <a:ext cx="3572103" cy="1895856"/>
          </a:xfrm>
          <a:prstGeom prst="rect">
            <a:avLst/>
          </a:prstGeom>
          <a:solidFill>
            <a:srgbClr val="10162B"/>
          </a:solidFill>
          <a:ln cap="flat" cmpd="sng" w="1777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3" name="Google Shape;483;p18"/>
          <p:cNvSpPr/>
          <p:nvPr/>
        </p:nvSpPr>
        <p:spPr>
          <a:xfrm>
            <a:off x="7339431" y="822960"/>
            <a:ext cx="1005840" cy="2194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4" name="Google Shape;484;p18"/>
          <p:cNvSpPr txBox="1"/>
          <p:nvPr/>
        </p:nvSpPr>
        <p:spPr>
          <a:xfrm>
            <a:off x="7339431"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ORCHESTRATION</a:t>
            </a:r>
            <a:endParaRPr b="0" i="0" sz="1400" u="none" cap="none" strike="noStrike">
              <a:solidFill>
                <a:srgbClr val="000000"/>
              </a:solidFill>
              <a:latin typeface="Arial"/>
              <a:ea typeface="Arial"/>
              <a:cs typeface="Arial"/>
              <a:sym typeface="Arial"/>
            </a:endParaRPr>
          </a:p>
        </p:txBody>
      </p:sp>
      <p:sp>
        <p:nvSpPr>
          <p:cNvPr id="485" name="Google Shape;485;p18"/>
          <p:cNvSpPr txBox="1"/>
          <p:nvPr/>
        </p:nvSpPr>
        <p:spPr>
          <a:xfrm>
            <a:off x="4864608"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E5FF"/>
                </a:solidFill>
                <a:latin typeface="Calibri"/>
                <a:ea typeface="Calibri"/>
                <a:cs typeface="Calibri"/>
                <a:sym typeface="Calibri"/>
              </a:rPr>
              <a:t>👑 Commander</a:t>
            </a:r>
            <a:endParaRPr b="0" i="0" sz="1400" u="none" cap="none" strike="noStrike">
              <a:solidFill>
                <a:srgbClr val="000000"/>
              </a:solidFill>
              <a:latin typeface="Arial"/>
              <a:ea typeface="Arial"/>
              <a:cs typeface="Arial"/>
              <a:sym typeface="Arial"/>
            </a:endParaRPr>
          </a:p>
        </p:txBody>
      </p:sp>
      <p:sp>
        <p:nvSpPr>
          <p:cNvPr id="486" name="Google Shape;486;p18"/>
          <p:cNvSpPr/>
          <p:nvPr/>
        </p:nvSpPr>
        <p:spPr>
          <a:xfrm>
            <a:off x="4864608" y="1133856"/>
            <a:ext cx="3389223" cy="18288"/>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7" name="Google Shape;487;p18"/>
          <p:cNvSpPr txBox="1"/>
          <p:nvPr/>
        </p:nvSpPr>
        <p:spPr>
          <a:xfrm>
            <a:off x="4864608"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Reads the dual graph. Plans. Delegates. Never runs tools.</a:t>
            </a:r>
            <a:endParaRPr b="0" i="0" sz="1400" u="none" cap="none" strike="noStrike">
              <a:solidFill>
                <a:srgbClr val="000000"/>
              </a:solidFill>
              <a:latin typeface="Arial"/>
              <a:ea typeface="Arial"/>
              <a:cs typeface="Arial"/>
              <a:sym typeface="Arial"/>
            </a:endParaRPr>
          </a:p>
        </p:txBody>
      </p:sp>
      <p:sp>
        <p:nvSpPr>
          <p:cNvPr id="488" name="Google Shape;488;p18"/>
          <p:cNvSpPr/>
          <p:nvPr/>
        </p:nvSpPr>
        <p:spPr>
          <a:xfrm>
            <a:off x="4864608" y="1417320"/>
            <a:ext cx="3389223" cy="219456"/>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89" name="Google Shape;489;p18"/>
          <p:cNvSpPr txBox="1"/>
          <p:nvPr/>
        </p:nvSpPr>
        <p:spPr>
          <a:xfrm>
            <a:off x="4937760"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E5FF"/>
                </a:solidFill>
                <a:latin typeface="Calibri"/>
                <a:ea typeface="Calibri"/>
                <a:cs typeface="Calibri"/>
                <a:sym typeface="Calibri"/>
              </a:rPr>
              <a:t>No tools — reasons over ASG + APG</a:t>
            </a:r>
            <a:endParaRPr b="0" i="0" sz="1400" u="none" cap="none" strike="noStrike">
              <a:solidFill>
                <a:srgbClr val="000000"/>
              </a:solidFill>
              <a:latin typeface="Arial"/>
              <a:ea typeface="Arial"/>
              <a:cs typeface="Arial"/>
              <a:sym typeface="Arial"/>
            </a:endParaRPr>
          </a:p>
        </p:txBody>
      </p:sp>
      <p:sp>
        <p:nvSpPr>
          <p:cNvPr id="490" name="Google Shape;490;p18"/>
          <p:cNvSpPr txBox="1"/>
          <p:nvPr/>
        </p:nvSpPr>
        <p:spPr>
          <a:xfrm>
            <a:off x="4864608"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Only agent that writes to APG. Approves High-risk ops via mailbox.</a:t>
            </a:r>
            <a:endParaRPr b="0" i="0" sz="1400" u="none" cap="none" strike="noStrike">
              <a:solidFill>
                <a:srgbClr val="000000"/>
              </a:solidFill>
              <a:latin typeface="Arial"/>
              <a:ea typeface="Arial"/>
              <a:cs typeface="Arial"/>
              <a:sym typeface="Arial"/>
            </a:endParaRPr>
          </a:p>
        </p:txBody>
      </p:sp>
      <p:sp>
        <p:nvSpPr>
          <p:cNvPr id="491" name="Google Shape;491;p18"/>
          <p:cNvSpPr/>
          <p:nvPr/>
        </p:nvSpPr>
        <p:spPr>
          <a:xfrm>
            <a:off x="8454999" y="822960"/>
            <a:ext cx="3572103" cy="1895856"/>
          </a:xfrm>
          <a:prstGeom prst="rect">
            <a:avLst/>
          </a:prstGeom>
          <a:solidFill>
            <a:srgbClr val="10162B"/>
          </a:solidFill>
          <a:ln cap="flat" cmpd="sng" w="1777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2" name="Google Shape;492;p18"/>
          <p:cNvSpPr/>
          <p:nvPr/>
        </p:nvSpPr>
        <p:spPr>
          <a:xfrm>
            <a:off x="11021263" y="822960"/>
            <a:ext cx="1005840" cy="219456"/>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3" name="Google Shape;493;p18"/>
          <p:cNvSpPr txBox="1"/>
          <p:nvPr/>
        </p:nvSpPr>
        <p:spPr>
          <a:xfrm>
            <a:off x="11021263" y="850392"/>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1</a:t>
            </a:r>
            <a:endParaRPr b="0" i="0" sz="1400" u="none" cap="none" strike="noStrike">
              <a:solidFill>
                <a:srgbClr val="000000"/>
              </a:solidFill>
              <a:latin typeface="Arial"/>
              <a:ea typeface="Arial"/>
              <a:cs typeface="Arial"/>
              <a:sym typeface="Arial"/>
            </a:endParaRPr>
          </a:p>
        </p:txBody>
      </p:sp>
      <p:sp>
        <p:nvSpPr>
          <p:cNvPr id="494" name="Google Shape;494;p18"/>
          <p:cNvSpPr txBox="1"/>
          <p:nvPr/>
        </p:nvSpPr>
        <p:spPr>
          <a:xfrm>
            <a:off x="8546439" y="859536"/>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 Recon</a:t>
            </a:r>
            <a:endParaRPr b="0" i="0" sz="1400" u="none" cap="none" strike="noStrike">
              <a:solidFill>
                <a:srgbClr val="000000"/>
              </a:solidFill>
              <a:latin typeface="Arial"/>
              <a:ea typeface="Arial"/>
              <a:cs typeface="Arial"/>
              <a:sym typeface="Arial"/>
            </a:endParaRPr>
          </a:p>
        </p:txBody>
      </p:sp>
      <p:sp>
        <p:nvSpPr>
          <p:cNvPr id="495" name="Google Shape;495;p18"/>
          <p:cNvSpPr/>
          <p:nvPr/>
        </p:nvSpPr>
        <p:spPr>
          <a:xfrm>
            <a:off x="8546439" y="1133856"/>
            <a:ext cx="3389223" cy="1828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6" name="Google Shape;496;p18"/>
          <p:cNvSpPr txBox="1"/>
          <p:nvPr/>
        </p:nvSpPr>
        <p:spPr>
          <a:xfrm>
            <a:off x="8546439" y="1170432"/>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External reconnaissance and host discovery.</a:t>
            </a:r>
            <a:endParaRPr b="0" i="0" sz="1400" u="none" cap="none" strike="noStrike">
              <a:solidFill>
                <a:srgbClr val="000000"/>
              </a:solidFill>
              <a:latin typeface="Arial"/>
              <a:ea typeface="Arial"/>
              <a:cs typeface="Arial"/>
              <a:sym typeface="Arial"/>
            </a:endParaRPr>
          </a:p>
        </p:txBody>
      </p:sp>
      <p:sp>
        <p:nvSpPr>
          <p:cNvPr id="497" name="Google Shape;497;p18"/>
          <p:cNvSpPr/>
          <p:nvPr/>
        </p:nvSpPr>
        <p:spPr>
          <a:xfrm>
            <a:off x="8546439" y="1417320"/>
            <a:ext cx="3389223" cy="219456"/>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98" name="Google Shape;498;p18"/>
          <p:cNvSpPr txBox="1"/>
          <p:nvPr/>
        </p:nvSpPr>
        <p:spPr>
          <a:xfrm>
            <a:off x="8619591" y="1435608"/>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499" name="Google Shape;499;p18"/>
          <p:cNvSpPr txBox="1"/>
          <p:nvPr/>
        </p:nvSpPr>
        <p:spPr>
          <a:xfrm>
            <a:off x="8546439" y="1673352"/>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Domain, Host, Port, Service nodes to ASG.</a:t>
            </a:r>
            <a:endParaRPr b="0" i="0" sz="1400" u="none" cap="none" strike="noStrike">
              <a:solidFill>
                <a:srgbClr val="000000"/>
              </a:solidFill>
              <a:latin typeface="Arial"/>
              <a:ea typeface="Arial"/>
              <a:cs typeface="Arial"/>
              <a:sym typeface="Arial"/>
            </a:endParaRPr>
          </a:p>
        </p:txBody>
      </p:sp>
      <p:sp>
        <p:nvSpPr>
          <p:cNvPr id="500" name="Google Shape;500;p18"/>
          <p:cNvSpPr/>
          <p:nvPr/>
        </p:nvSpPr>
        <p:spPr>
          <a:xfrm>
            <a:off x="4773168" y="2810256"/>
            <a:ext cx="3572103" cy="1895856"/>
          </a:xfrm>
          <a:prstGeom prst="rect">
            <a:avLst/>
          </a:prstGeom>
          <a:solidFill>
            <a:srgbClr val="10162B"/>
          </a:solidFill>
          <a:ln cap="flat" cmpd="sng" w="1777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1" name="Google Shape;501;p18"/>
          <p:cNvSpPr/>
          <p:nvPr/>
        </p:nvSpPr>
        <p:spPr>
          <a:xfrm>
            <a:off x="7339431" y="2810256"/>
            <a:ext cx="1005840" cy="21945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2" name="Google Shape;502;p18"/>
          <p:cNvSpPr txBox="1"/>
          <p:nvPr/>
        </p:nvSpPr>
        <p:spPr>
          <a:xfrm>
            <a:off x="7339431"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2</a:t>
            </a:r>
            <a:endParaRPr b="0" i="0" sz="1400" u="none" cap="none" strike="noStrike">
              <a:solidFill>
                <a:srgbClr val="000000"/>
              </a:solidFill>
              <a:latin typeface="Arial"/>
              <a:ea typeface="Arial"/>
              <a:cs typeface="Arial"/>
              <a:sym typeface="Arial"/>
            </a:endParaRPr>
          </a:p>
        </p:txBody>
      </p:sp>
      <p:sp>
        <p:nvSpPr>
          <p:cNvPr id="503" name="Google Shape;503;p18"/>
          <p:cNvSpPr txBox="1"/>
          <p:nvPr/>
        </p:nvSpPr>
        <p:spPr>
          <a:xfrm>
            <a:off x="4864608"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 Analysis</a:t>
            </a:r>
            <a:endParaRPr b="0" i="0" sz="1400" u="none" cap="none" strike="noStrike">
              <a:solidFill>
                <a:srgbClr val="000000"/>
              </a:solidFill>
              <a:latin typeface="Arial"/>
              <a:ea typeface="Arial"/>
              <a:cs typeface="Arial"/>
              <a:sym typeface="Arial"/>
            </a:endParaRPr>
          </a:p>
        </p:txBody>
      </p:sp>
      <p:sp>
        <p:nvSpPr>
          <p:cNvPr id="504" name="Google Shape;504;p18"/>
          <p:cNvSpPr/>
          <p:nvPr/>
        </p:nvSpPr>
        <p:spPr>
          <a:xfrm>
            <a:off x="4864608" y="3121152"/>
            <a:ext cx="3389223" cy="18288"/>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5" name="Google Shape;505;p18"/>
          <p:cNvSpPr txBox="1"/>
          <p:nvPr/>
        </p:nvSpPr>
        <p:spPr>
          <a:xfrm>
            <a:off x="4864608"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Deep enumeration and vulnerability discovery.</a:t>
            </a:r>
            <a:endParaRPr b="0" i="0" sz="1400" u="none" cap="none" strike="noStrike">
              <a:solidFill>
                <a:srgbClr val="000000"/>
              </a:solidFill>
              <a:latin typeface="Arial"/>
              <a:ea typeface="Arial"/>
              <a:cs typeface="Arial"/>
              <a:sym typeface="Arial"/>
            </a:endParaRPr>
          </a:p>
        </p:txBody>
      </p:sp>
      <p:sp>
        <p:nvSpPr>
          <p:cNvPr id="506" name="Google Shape;506;p18"/>
          <p:cNvSpPr/>
          <p:nvPr/>
        </p:nvSpPr>
        <p:spPr>
          <a:xfrm>
            <a:off x="4864608" y="3404616"/>
            <a:ext cx="3389223" cy="219456"/>
          </a:xfrm>
          <a:prstGeom prst="rect">
            <a:avLst/>
          </a:prstGeom>
          <a:solidFill>
            <a:srgbClr val="0810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07" name="Google Shape;507;p18"/>
          <p:cNvSpPr txBox="1"/>
          <p:nvPr/>
        </p:nvSpPr>
        <p:spPr>
          <a:xfrm>
            <a:off x="4937760"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00BFD8"/>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508" name="Google Shape;508;p18"/>
          <p:cNvSpPr txBox="1"/>
          <p:nvPr/>
        </p:nvSpPr>
        <p:spPr>
          <a:xfrm>
            <a:off x="4864608"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Writes Technology, Endpoint, Parameter, Vulnerability nodes.</a:t>
            </a:r>
            <a:endParaRPr b="0" i="0" sz="1400" u="none" cap="none" strike="noStrike">
              <a:solidFill>
                <a:srgbClr val="000000"/>
              </a:solidFill>
              <a:latin typeface="Arial"/>
              <a:ea typeface="Arial"/>
              <a:cs typeface="Arial"/>
              <a:sym typeface="Arial"/>
            </a:endParaRPr>
          </a:p>
        </p:txBody>
      </p:sp>
      <p:sp>
        <p:nvSpPr>
          <p:cNvPr id="509" name="Google Shape;509;p18"/>
          <p:cNvSpPr/>
          <p:nvPr/>
        </p:nvSpPr>
        <p:spPr>
          <a:xfrm>
            <a:off x="8454999" y="2810256"/>
            <a:ext cx="3572103" cy="1895856"/>
          </a:xfrm>
          <a:prstGeom prst="rect">
            <a:avLst/>
          </a:prstGeom>
          <a:solidFill>
            <a:srgbClr val="10162B"/>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0" name="Google Shape;510;p18"/>
          <p:cNvSpPr/>
          <p:nvPr/>
        </p:nvSpPr>
        <p:spPr>
          <a:xfrm>
            <a:off x="11021263" y="2810256"/>
            <a:ext cx="1005840" cy="219456"/>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1" name="Google Shape;511;p18"/>
          <p:cNvSpPr txBox="1"/>
          <p:nvPr/>
        </p:nvSpPr>
        <p:spPr>
          <a:xfrm>
            <a:off x="11021263" y="2837688"/>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INTELLIGENCE</a:t>
            </a:r>
            <a:endParaRPr b="0" i="0" sz="1400" u="none" cap="none" strike="noStrike">
              <a:solidFill>
                <a:srgbClr val="000000"/>
              </a:solidFill>
              <a:latin typeface="Arial"/>
              <a:ea typeface="Arial"/>
              <a:cs typeface="Arial"/>
              <a:sym typeface="Arial"/>
            </a:endParaRPr>
          </a:p>
        </p:txBody>
      </p:sp>
      <p:sp>
        <p:nvSpPr>
          <p:cNvPr id="512" name="Google Shape;512;p18"/>
          <p:cNvSpPr txBox="1"/>
          <p:nvPr/>
        </p:nvSpPr>
        <p:spPr>
          <a:xfrm>
            <a:off x="8546439" y="2846832"/>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 Research</a:t>
            </a:r>
            <a:endParaRPr b="0" i="0" sz="1400" u="none" cap="none" strike="noStrike">
              <a:solidFill>
                <a:srgbClr val="000000"/>
              </a:solidFill>
              <a:latin typeface="Arial"/>
              <a:ea typeface="Arial"/>
              <a:cs typeface="Arial"/>
              <a:sym typeface="Arial"/>
            </a:endParaRPr>
          </a:p>
        </p:txBody>
      </p:sp>
      <p:sp>
        <p:nvSpPr>
          <p:cNvPr id="513" name="Google Shape;513;p18"/>
          <p:cNvSpPr/>
          <p:nvPr/>
        </p:nvSpPr>
        <p:spPr>
          <a:xfrm>
            <a:off x="8546439" y="3121152"/>
            <a:ext cx="3389223" cy="18288"/>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4" name="Google Shape;514;p18"/>
          <p:cNvSpPr txBox="1"/>
          <p:nvPr/>
        </p:nvSpPr>
        <p:spPr>
          <a:xfrm>
            <a:off x="8546439" y="3157728"/>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Live CVE grounding — only agent with outbound internet access.</a:t>
            </a:r>
            <a:endParaRPr b="0" i="0" sz="1400" u="none" cap="none" strike="noStrike">
              <a:solidFill>
                <a:srgbClr val="000000"/>
              </a:solidFill>
              <a:latin typeface="Arial"/>
              <a:ea typeface="Arial"/>
              <a:cs typeface="Arial"/>
              <a:sym typeface="Arial"/>
            </a:endParaRPr>
          </a:p>
        </p:txBody>
      </p:sp>
      <p:sp>
        <p:nvSpPr>
          <p:cNvPr id="515" name="Google Shape;515;p18"/>
          <p:cNvSpPr/>
          <p:nvPr/>
        </p:nvSpPr>
        <p:spPr>
          <a:xfrm>
            <a:off x="8546439" y="3404616"/>
            <a:ext cx="3389223" cy="219456"/>
          </a:xfrm>
          <a:prstGeom prst="rect">
            <a:avLst/>
          </a:prstGeom>
          <a:solidFill>
            <a:srgbClr val="08102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6" name="Google Shape;516;p18"/>
          <p:cNvSpPr txBox="1"/>
          <p:nvPr/>
        </p:nvSpPr>
        <p:spPr>
          <a:xfrm>
            <a:off x="8619591" y="3422904"/>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D700"/>
                </a:solidFill>
                <a:latin typeface="Calibri"/>
                <a:ea typeface="Calibri"/>
                <a:cs typeface="Calibri"/>
                <a:sym typeface="Calibri"/>
              </a:rPr>
              <a:t>NVD · Exploit-DB · GitHub · Vendor Advisories</a:t>
            </a:r>
            <a:endParaRPr b="0" i="0" sz="1400" u="none" cap="none" strike="noStrike">
              <a:solidFill>
                <a:srgbClr val="000000"/>
              </a:solidFill>
              <a:latin typeface="Arial"/>
              <a:ea typeface="Arial"/>
              <a:cs typeface="Arial"/>
              <a:sym typeface="Arial"/>
            </a:endParaRPr>
          </a:p>
        </p:txBody>
      </p:sp>
      <p:sp>
        <p:nvSpPr>
          <p:cNvPr id="517" name="Google Shape;517;p18"/>
          <p:cNvSpPr txBox="1"/>
          <p:nvPr/>
        </p:nvSpPr>
        <p:spPr>
          <a:xfrm>
            <a:off x="8546439" y="3660648"/>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Enriches ASG Vulnerability nodes with real-time CVSS + PoC data.</a:t>
            </a:r>
            <a:endParaRPr b="0" i="0" sz="1400" u="none" cap="none" strike="noStrike">
              <a:solidFill>
                <a:srgbClr val="000000"/>
              </a:solidFill>
              <a:latin typeface="Arial"/>
              <a:ea typeface="Arial"/>
              <a:cs typeface="Arial"/>
              <a:sym typeface="Arial"/>
            </a:endParaRPr>
          </a:p>
        </p:txBody>
      </p:sp>
      <p:sp>
        <p:nvSpPr>
          <p:cNvPr id="518" name="Google Shape;518;p18"/>
          <p:cNvSpPr/>
          <p:nvPr/>
        </p:nvSpPr>
        <p:spPr>
          <a:xfrm>
            <a:off x="4773168" y="4797552"/>
            <a:ext cx="3572103" cy="1895856"/>
          </a:xfrm>
          <a:prstGeom prst="rect">
            <a:avLst/>
          </a:prstGeom>
          <a:solidFill>
            <a:srgbClr val="10162B"/>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19" name="Google Shape;519;p18"/>
          <p:cNvSpPr/>
          <p:nvPr/>
        </p:nvSpPr>
        <p:spPr>
          <a:xfrm>
            <a:off x="7339431" y="4797552"/>
            <a:ext cx="1005840" cy="21945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0" name="Google Shape;520;p18"/>
          <p:cNvSpPr txBox="1"/>
          <p:nvPr/>
        </p:nvSpPr>
        <p:spPr>
          <a:xfrm>
            <a:off x="7339431"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21" name="Google Shape;521;p18"/>
          <p:cNvSpPr txBox="1"/>
          <p:nvPr/>
        </p:nvSpPr>
        <p:spPr>
          <a:xfrm>
            <a:off x="4864608"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F4545"/>
                </a:solidFill>
                <a:latin typeface="Calibri"/>
                <a:ea typeface="Calibri"/>
                <a:cs typeface="Calibri"/>
                <a:sym typeface="Calibri"/>
              </a:rPr>
              <a:t>🎯 Validation</a:t>
            </a:r>
            <a:endParaRPr b="0" i="0" sz="1400" u="none" cap="none" strike="noStrike">
              <a:solidFill>
                <a:srgbClr val="000000"/>
              </a:solidFill>
              <a:latin typeface="Arial"/>
              <a:ea typeface="Arial"/>
              <a:cs typeface="Arial"/>
              <a:sym typeface="Arial"/>
            </a:endParaRPr>
          </a:p>
        </p:txBody>
      </p:sp>
      <p:sp>
        <p:nvSpPr>
          <p:cNvPr id="522" name="Google Shape;522;p18"/>
          <p:cNvSpPr/>
          <p:nvPr/>
        </p:nvSpPr>
        <p:spPr>
          <a:xfrm>
            <a:off x="4864608" y="5108448"/>
            <a:ext cx="3389223" cy="18288"/>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3" name="Google Shape;523;p18"/>
          <p:cNvSpPr txBox="1"/>
          <p:nvPr/>
        </p:nvSpPr>
        <p:spPr>
          <a:xfrm>
            <a:off x="4864608"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Proves vulnerabilities are real and exploitable.</a:t>
            </a:r>
            <a:endParaRPr b="0" i="0" sz="1400" u="none" cap="none" strike="noStrike">
              <a:solidFill>
                <a:srgbClr val="000000"/>
              </a:solidFill>
              <a:latin typeface="Arial"/>
              <a:ea typeface="Arial"/>
              <a:cs typeface="Arial"/>
              <a:sym typeface="Arial"/>
            </a:endParaRPr>
          </a:p>
        </p:txBody>
      </p:sp>
      <p:sp>
        <p:nvSpPr>
          <p:cNvPr id="524" name="Google Shape;524;p18"/>
          <p:cNvSpPr/>
          <p:nvPr/>
        </p:nvSpPr>
        <p:spPr>
          <a:xfrm>
            <a:off x="4864608" y="5391912"/>
            <a:ext cx="3389223" cy="219456"/>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5" name="Google Shape;525;p18"/>
          <p:cNvSpPr txBox="1"/>
          <p:nvPr/>
        </p:nvSpPr>
        <p:spPr>
          <a:xfrm>
            <a:off x="4937760"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FF4545"/>
                </a:solidFill>
                <a:latin typeface="Calibri"/>
                <a:ea typeface="Calibri"/>
                <a:cs typeface="Calibri"/>
                <a:sym typeface="Calibri"/>
              </a:rPr>
              <a:t>SQLMap  ·  Metasploit</a:t>
            </a:r>
            <a:endParaRPr b="0" i="0" sz="1400" u="none" cap="none" strike="noStrike">
              <a:solidFill>
                <a:srgbClr val="000000"/>
              </a:solidFill>
              <a:latin typeface="Arial"/>
              <a:ea typeface="Arial"/>
              <a:cs typeface="Arial"/>
              <a:sym typeface="Arial"/>
            </a:endParaRPr>
          </a:p>
        </p:txBody>
      </p:sp>
      <p:sp>
        <p:nvSpPr>
          <p:cNvPr id="526" name="Google Shape;526;p18"/>
          <p:cNvSpPr txBox="1"/>
          <p:nvPr/>
        </p:nvSpPr>
        <p:spPr>
          <a:xfrm>
            <a:off x="4864608"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Self-debugging loop: Diagnose → Contextualize → Adapt → Cap (×3).</a:t>
            </a:r>
            <a:endParaRPr b="0" i="0" sz="1400" u="none" cap="none" strike="noStrike">
              <a:solidFill>
                <a:srgbClr val="000000"/>
              </a:solidFill>
              <a:latin typeface="Arial"/>
              <a:ea typeface="Arial"/>
              <a:cs typeface="Arial"/>
              <a:sym typeface="Arial"/>
            </a:endParaRPr>
          </a:p>
        </p:txBody>
      </p:sp>
      <p:sp>
        <p:nvSpPr>
          <p:cNvPr id="527" name="Google Shape;527;p18"/>
          <p:cNvSpPr/>
          <p:nvPr/>
        </p:nvSpPr>
        <p:spPr>
          <a:xfrm>
            <a:off x="8454999" y="4797552"/>
            <a:ext cx="3572103" cy="1895856"/>
          </a:xfrm>
          <a:prstGeom prst="rect">
            <a:avLst/>
          </a:prstGeom>
          <a:solidFill>
            <a:srgbClr val="10162B"/>
          </a:solidFill>
          <a:ln cap="flat" cmpd="sng" w="1777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8" name="Google Shape;528;p18"/>
          <p:cNvSpPr/>
          <p:nvPr/>
        </p:nvSpPr>
        <p:spPr>
          <a:xfrm>
            <a:off x="11021263" y="4797552"/>
            <a:ext cx="1005840" cy="219456"/>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29" name="Google Shape;529;p18"/>
          <p:cNvSpPr txBox="1"/>
          <p:nvPr/>
        </p:nvSpPr>
        <p:spPr>
          <a:xfrm>
            <a:off x="11021263" y="4824984"/>
            <a:ext cx="1005840" cy="1828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1" i="0" lang="en-US" sz="750" u="none" cap="none" strike="noStrike">
                <a:solidFill>
                  <a:srgbClr val="0A0D1A"/>
                </a:solidFill>
                <a:latin typeface="Calibri"/>
                <a:ea typeface="Calibri"/>
                <a:cs typeface="Calibri"/>
                <a:sym typeface="Calibri"/>
              </a:rPr>
              <a:t>PHASE 3</a:t>
            </a:r>
            <a:endParaRPr b="0" i="0" sz="1400" u="none" cap="none" strike="noStrike">
              <a:solidFill>
                <a:srgbClr val="000000"/>
              </a:solidFill>
              <a:latin typeface="Arial"/>
              <a:ea typeface="Arial"/>
              <a:cs typeface="Arial"/>
              <a:sym typeface="Arial"/>
            </a:endParaRPr>
          </a:p>
        </p:txBody>
      </p:sp>
      <p:sp>
        <p:nvSpPr>
          <p:cNvPr id="530" name="Google Shape;530;p18"/>
          <p:cNvSpPr txBox="1"/>
          <p:nvPr/>
        </p:nvSpPr>
        <p:spPr>
          <a:xfrm>
            <a:off x="8546439" y="4834128"/>
            <a:ext cx="2429103" cy="23774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D93F9"/>
                </a:solidFill>
                <a:latin typeface="Calibri"/>
                <a:ea typeface="Calibri"/>
                <a:cs typeface="Calibri"/>
                <a:sym typeface="Calibri"/>
              </a:rPr>
              <a:t>📸 Evidence</a:t>
            </a:r>
            <a:endParaRPr b="0" i="0" sz="1400" u="none" cap="none" strike="noStrike">
              <a:solidFill>
                <a:srgbClr val="000000"/>
              </a:solidFill>
              <a:latin typeface="Arial"/>
              <a:ea typeface="Arial"/>
              <a:cs typeface="Arial"/>
              <a:sym typeface="Arial"/>
            </a:endParaRPr>
          </a:p>
        </p:txBody>
      </p:sp>
      <p:sp>
        <p:nvSpPr>
          <p:cNvPr id="531" name="Google Shape;531;p18"/>
          <p:cNvSpPr/>
          <p:nvPr/>
        </p:nvSpPr>
        <p:spPr>
          <a:xfrm>
            <a:off x="8546439" y="5108448"/>
            <a:ext cx="3389223" cy="18288"/>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2" name="Google Shape;532;p18"/>
          <p:cNvSpPr txBox="1"/>
          <p:nvPr/>
        </p:nvSpPr>
        <p:spPr>
          <a:xfrm>
            <a:off x="8546439" y="5145024"/>
            <a:ext cx="3407511" cy="219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1" lang="en-US" sz="850" u="none" cap="none" strike="noStrike">
                <a:solidFill>
                  <a:srgbClr val="FFFFFF"/>
                </a:solidFill>
                <a:latin typeface="Calibri"/>
                <a:ea typeface="Calibri"/>
                <a:cs typeface="Calibri"/>
                <a:sym typeface="Calibri"/>
              </a:rPr>
              <a:t>Captures proof artifacts for every validated finding.</a:t>
            </a:r>
            <a:endParaRPr b="0" i="0" sz="1400" u="none" cap="none" strike="noStrike">
              <a:solidFill>
                <a:srgbClr val="000000"/>
              </a:solidFill>
              <a:latin typeface="Arial"/>
              <a:ea typeface="Arial"/>
              <a:cs typeface="Arial"/>
              <a:sym typeface="Arial"/>
            </a:endParaRPr>
          </a:p>
        </p:txBody>
      </p:sp>
      <p:sp>
        <p:nvSpPr>
          <p:cNvPr id="533" name="Google Shape;533;p18"/>
          <p:cNvSpPr/>
          <p:nvPr/>
        </p:nvSpPr>
        <p:spPr>
          <a:xfrm>
            <a:off x="8546439" y="5391912"/>
            <a:ext cx="3389223" cy="219456"/>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4" name="Google Shape;534;p18"/>
          <p:cNvSpPr txBox="1"/>
          <p:nvPr/>
        </p:nvSpPr>
        <p:spPr>
          <a:xfrm>
            <a:off x="8619591" y="5410200"/>
            <a:ext cx="3297783" cy="182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750"/>
              <a:buFont typeface="Arial"/>
              <a:buNone/>
            </a:pPr>
            <a:r>
              <a:rPr b="1" i="0" lang="en-US" sz="75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535" name="Google Shape;535;p18"/>
          <p:cNvSpPr txBox="1"/>
          <p:nvPr/>
        </p:nvSpPr>
        <p:spPr>
          <a:xfrm>
            <a:off x="8546439" y="5647944"/>
            <a:ext cx="3407511" cy="98145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Links Evidence nodes to ASG findings via validated_by edges.</a:t>
            </a:r>
            <a:endParaRPr b="0" i="0" sz="1400" u="none" cap="none" strike="noStrike">
              <a:solidFill>
                <a:srgbClr val="000000"/>
              </a:solidFill>
              <a:latin typeface="Arial"/>
              <a:ea typeface="Arial"/>
              <a:cs typeface="Arial"/>
              <a:sym typeface="Arial"/>
            </a:endParaRPr>
          </a:p>
        </p:txBody>
      </p:sp>
      <p:sp>
        <p:nvSpPr>
          <p:cNvPr id="536" name="Google Shape;536;p18"/>
          <p:cNvSpPr txBox="1"/>
          <p:nvPr/>
        </p:nvSpPr>
        <p:spPr>
          <a:xfrm>
            <a:off x="11617897" y="128125"/>
            <a:ext cx="4092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06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540" name="Shape 540"/>
        <p:cNvGrpSpPr/>
        <p:nvPr/>
      </p:nvGrpSpPr>
      <p:grpSpPr>
        <a:xfrm>
          <a:off x="0" y="0"/>
          <a:ext cx="0" cy="0"/>
          <a:chOff x="0" y="0"/>
          <a:chExt cx="0" cy="0"/>
        </a:xfrm>
      </p:grpSpPr>
      <p:sp>
        <p:nvSpPr>
          <p:cNvPr id="541" name="Google Shape;541;p19"/>
          <p:cNvSpPr/>
          <p:nvPr/>
        </p:nvSpPr>
        <p:spPr>
          <a:xfrm>
            <a:off x="0" y="0"/>
            <a:ext cx="54864" cy="6858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2" name="Google Shape;542;p19"/>
          <p:cNvSpPr/>
          <p:nvPr/>
        </p:nvSpPr>
        <p:spPr>
          <a:xfrm>
            <a:off x="54864" y="0"/>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3" name="Google Shape;543;p19"/>
          <p:cNvSpPr/>
          <p:nvPr/>
        </p:nvSpPr>
        <p:spPr>
          <a:xfrm>
            <a:off x="54864" y="6821424"/>
            <a:ext cx="12136831" cy="36576"/>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4" name="Google Shape;544;p19"/>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FF4545"/>
                </a:solidFill>
                <a:latin typeface="Calibri"/>
                <a:ea typeface="Calibri"/>
                <a:cs typeface="Calibri"/>
                <a:sym typeface="Calibri"/>
              </a:rPr>
              <a:t>OFFENSIVE TOOL CATALOGUE</a:t>
            </a:r>
            <a:endParaRPr b="0" i="0" sz="1400" u="none" cap="none" strike="noStrike">
              <a:solidFill>
                <a:srgbClr val="000000"/>
              </a:solidFill>
              <a:latin typeface="Arial"/>
              <a:ea typeface="Arial"/>
              <a:cs typeface="Arial"/>
              <a:sym typeface="Arial"/>
            </a:endParaRPr>
          </a:p>
        </p:txBody>
      </p:sp>
      <p:sp>
        <p:nvSpPr>
          <p:cNvPr id="545" name="Google Shape;545;p19"/>
          <p:cNvSpPr txBox="1"/>
          <p:nvPr/>
        </p:nvSpPr>
        <p:spPr>
          <a:xfrm>
            <a:off x="274320" y="347472"/>
            <a:ext cx="109728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FFFFFF"/>
                </a:solidFill>
                <a:latin typeface="Calibri"/>
                <a:ea typeface="Calibri"/>
                <a:cs typeface="Calibri"/>
                <a:sym typeface="Calibri"/>
              </a:rPr>
              <a:t>11 Industry-Standard Security Tools — AI Agent Operated</a:t>
            </a:r>
            <a:endParaRPr b="0" i="0" sz="1400" u="none" cap="none" strike="noStrike">
              <a:solidFill>
                <a:srgbClr val="000000"/>
              </a:solidFill>
              <a:latin typeface="Arial"/>
              <a:ea typeface="Arial"/>
              <a:cs typeface="Arial"/>
              <a:sym typeface="Arial"/>
            </a:endParaRPr>
          </a:p>
        </p:txBody>
      </p:sp>
      <p:sp>
        <p:nvSpPr>
          <p:cNvPr id="546" name="Google Shape;546;p19"/>
          <p:cNvSpPr/>
          <p:nvPr/>
        </p:nvSpPr>
        <p:spPr>
          <a:xfrm>
            <a:off x="274320" y="987552"/>
            <a:ext cx="3657600" cy="347472"/>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7" name="Google Shape;547;p19"/>
          <p:cNvSpPr txBox="1"/>
          <p:nvPr/>
        </p:nvSpPr>
        <p:spPr>
          <a:xfrm>
            <a:off x="3657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39FF14"/>
                </a:solidFill>
                <a:latin typeface="Calibri"/>
                <a:ea typeface="Calibri"/>
                <a:cs typeface="Calibri"/>
                <a:sym typeface="Calibri"/>
              </a:rPr>
              <a:t>PHASE 1  ·  RECONNAISSANCE</a:t>
            </a:r>
            <a:endParaRPr b="0" i="0" sz="1400" u="none" cap="none" strike="noStrike">
              <a:solidFill>
                <a:srgbClr val="000000"/>
              </a:solidFill>
              <a:latin typeface="Arial"/>
              <a:ea typeface="Arial"/>
              <a:cs typeface="Arial"/>
              <a:sym typeface="Arial"/>
            </a:endParaRPr>
          </a:p>
        </p:txBody>
      </p:sp>
      <p:sp>
        <p:nvSpPr>
          <p:cNvPr id="548" name="Google Shape;548;p19"/>
          <p:cNvSpPr/>
          <p:nvPr/>
        </p:nvSpPr>
        <p:spPr>
          <a:xfrm>
            <a:off x="4160520" y="987552"/>
            <a:ext cx="3657600" cy="347472"/>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49" name="Google Shape;549;p19"/>
          <p:cNvSpPr txBox="1"/>
          <p:nvPr/>
        </p:nvSpPr>
        <p:spPr>
          <a:xfrm>
            <a:off x="4251960" y="1042416"/>
            <a:ext cx="35204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0E5FF"/>
                </a:solidFill>
                <a:latin typeface="Calibri"/>
                <a:ea typeface="Calibri"/>
                <a:cs typeface="Calibri"/>
                <a:sym typeface="Calibri"/>
              </a:rPr>
              <a:t>PHASE 2  ·  ANALYSIS</a:t>
            </a:r>
            <a:endParaRPr b="0" i="0" sz="1400" u="none" cap="none" strike="noStrike">
              <a:solidFill>
                <a:srgbClr val="000000"/>
              </a:solidFill>
              <a:latin typeface="Arial"/>
              <a:ea typeface="Arial"/>
              <a:cs typeface="Arial"/>
              <a:sym typeface="Arial"/>
            </a:endParaRPr>
          </a:p>
        </p:txBody>
      </p:sp>
      <p:sp>
        <p:nvSpPr>
          <p:cNvPr id="550" name="Google Shape;550;p19"/>
          <p:cNvSpPr/>
          <p:nvPr/>
        </p:nvSpPr>
        <p:spPr>
          <a:xfrm>
            <a:off x="8412480" y="987552"/>
            <a:ext cx="1828800" cy="347472"/>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1" name="Google Shape;551;p19"/>
          <p:cNvSpPr txBox="1"/>
          <p:nvPr/>
        </p:nvSpPr>
        <p:spPr>
          <a:xfrm>
            <a:off x="8503920" y="1042416"/>
            <a:ext cx="169164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PHASE 3  ·  VALIDATION</a:t>
            </a:r>
            <a:endParaRPr b="0" i="0" sz="1400" u="none" cap="none" strike="noStrike">
              <a:solidFill>
                <a:srgbClr val="000000"/>
              </a:solidFill>
              <a:latin typeface="Arial"/>
              <a:ea typeface="Arial"/>
              <a:cs typeface="Arial"/>
              <a:sym typeface="Arial"/>
            </a:endParaRPr>
          </a:p>
        </p:txBody>
      </p:sp>
      <p:sp>
        <p:nvSpPr>
          <p:cNvPr id="552" name="Google Shape;552;p19"/>
          <p:cNvSpPr/>
          <p:nvPr/>
        </p:nvSpPr>
        <p:spPr>
          <a:xfrm>
            <a:off x="10469880" y="987552"/>
            <a:ext cx="1554480" cy="347472"/>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3" name="Google Shape;553;p19"/>
          <p:cNvSpPr txBox="1"/>
          <p:nvPr/>
        </p:nvSpPr>
        <p:spPr>
          <a:xfrm>
            <a:off x="10561320" y="1042416"/>
            <a:ext cx="1417320"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PHASE 3  ·  EVIDENCE</a:t>
            </a:r>
            <a:endParaRPr b="0" i="0" sz="1400" u="none" cap="none" strike="noStrike">
              <a:solidFill>
                <a:srgbClr val="000000"/>
              </a:solidFill>
              <a:latin typeface="Arial"/>
              <a:ea typeface="Arial"/>
              <a:cs typeface="Arial"/>
              <a:sym typeface="Arial"/>
            </a:endParaRPr>
          </a:p>
        </p:txBody>
      </p:sp>
      <p:sp>
        <p:nvSpPr>
          <p:cNvPr id="554" name="Google Shape;554;p19"/>
          <p:cNvSpPr/>
          <p:nvPr/>
        </p:nvSpPr>
        <p:spPr>
          <a:xfrm>
            <a:off x="274320" y="141732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5" name="Google Shape;555;p19"/>
          <p:cNvSpPr/>
          <p:nvPr/>
        </p:nvSpPr>
        <p:spPr>
          <a:xfrm>
            <a:off x="274320" y="141732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56" name="Google Shape;556;p19"/>
          <p:cNvSpPr txBox="1"/>
          <p:nvPr/>
        </p:nvSpPr>
        <p:spPr>
          <a:xfrm>
            <a:off x="29260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557" name="Google Shape;557;p19"/>
          <p:cNvSpPr txBox="1"/>
          <p:nvPr/>
        </p:nvSpPr>
        <p:spPr>
          <a:xfrm>
            <a:off x="731520" y="147218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558" name="Google Shape;558;p19"/>
          <p:cNvSpPr txBox="1"/>
          <p:nvPr/>
        </p:nvSpPr>
        <p:spPr>
          <a:xfrm>
            <a:off x="731520" y="173736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Subdomain Enumeration  ·  Recon Agent</a:t>
            </a:r>
            <a:endParaRPr b="0" i="0" sz="1400" u="none" cap="none" strike="noStrike">
              <a:solidFill>
                <a:srgbClr val="000000"/>
              </a:solidFill>
              <a:latin typeface="Arial"/>
              <a:ea typeface="Arial"/>
              <a:cs typeface="Arial"/>
              <a:sym typeface="Arial"/>
            </a:endParaRPr>
          </a:p>
        </p:txBody>
      </p:sp>
      <p:sp>
        <p:nvSpPr>
          <p:cNvPr id="559" name="Google Shape;559;p19"/>
          <p:cNvSpPr txBox="1"/>
          <p:nvPr/>
        </p:nvSpPr>
        <p:spPr>
          <a:xfrm>
            <a:off x="731520" y="194767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DNS brute-force · certificate transparency logs · passive OSINT. Discovers all external subdomains and maps attack surface entry points.</a:t>
            </a:r>
            <a:endParaRPr b="0" i="0" sz="1400" u="none" cap="none" strike="noStrike">
              <a:solidFill>
                <a:srgbClr val="000000"/>
              </a:solidFill>
              <a:latin typeface="Arial"/>
              <a:ea typeface="Arial"/>
              <a:cs typeface="Arial"/>
              <a:sym typeface="Arial"/>
            </a:endParaRPr>
          </a:p>
        </p:txBody>
      </p:sp>
      <p:sp>
        <p:nvSpPr>
          <p:cNvPr id="560" name="Google Shape;560;p19"/>
          <p:cNvSpPr/>
          <p:nvPr/>
        </p:nvSpPr>
        <p:spPr>
          <a:xfrm>
            <a:off x="274320" y="304800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1" name="Google Shape;561;p19"/>
          <p:cNvSpPr/>
          <p:nvPr/>
        </p:nvSpPr>
        <p:spPr>
          <a:xfrm>
            <a:off x="274320" y="304800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2" name="Google Shape;562;p19"/>
          <p:cNvSpPr txBox="1"/>
          <p:nvPr/>
        </p:nvSpPr>
        <p:spPr>
          <a:xfrm>
            <a:off x="2926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563" name="Google Shape;563;p19"/>
          <p:cNvSpPr txBox="1"/>
          <p:nvPr/>
        </p:nvSpPr>
        <p:spPr>
          <a:xfrm>
            <a:off x="731520" y="310286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564" name="Google Shape;564;p19"/>
          <p:cNvSpPr txBox="1"/>
          <p:nvPr/>
        </p:nvSpPr>
        <p:spPr>
          <a:xfrm>
            <a:off x="731520" y="336804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Live Host Probing  ·  Recon Agent</a:t>
            </a:r>
            <a:endParaRPr b="0" i="0" sz="1400" u="none" cap="none" strike="noStrike">
              <a:solidFill>
                <a:srgbClr val="000000"/>
              </a:solidFill>
              <a:latin typeface="Arial"/>
              <a:ea typeface="Arial"/>
              <a:cs typeface="Arial"/>
              <a:sym typeface="Arial"/>
            </a:endParaRPr>
          </a:p>
        </p:txBody>
      </p:sp>
      <p:sp>
        <p:nvSpPr>
          <p:cNvPr id="565" name="Google Shape;565;p19"/>
          <p:cNvSpPr txBox="1"/>
          <p:nvPr/>
        </p:nvSpPr>
        <p:spPr>
          <a:xfrm>
            <a:off x="731520" y="357835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Validates which discovered hosts respond over HTTP/HTTPS. Identifies web servers, status codes, redirects, TLS details.</a:t>
            </a:r>
            <a:endParaRPr b="0" i="0" sz="1400" u="none" cap="none" strike="noStrike">
              <a:solidFill>
                <a:srgbClr val="000000"/>
              </a:solidFill>
              <a:latin typeface="Arial"/>
              <a:ea typeface="Arial"/>
              <a:cs typeface="Arial"/>
              <a:sym typeface="Arial"/>
            </a:endParaRPr>
          </a:p>
        </p:txBody>
      </p:sp>
      <p:sp>
        <p:nvSpPr>
          <p:cNvPr id="566" name="Google Shape;566;p19"/>
          <p:cNvSpPr/>
          <p:nvPr/>
        </p:nvSpPr>
        <p:spPr>
          <a:xfrm>
            <a:off x="274320" y="4678680"/>
            <a:ext cx="3657600" cy="1557528"/>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7" name="Google Shape;567;p19"/>
          <p:cNvSpPr/>
          <p:nvPr/>
        </p:nvSpPr>
        <p:spPr>
          <a:xfrm>
            <a:off x="274320" y="4678680"/>
            <a:ext cx="365760" cy="1557528"/>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68" name="Google Shape;568;p19"/>
          <p:cNvSpPr txBox="1"/>
          <p:nvPr/>
        </p:nvSpPr>
        <p:spPr>
          <a:xfrm>
            <a:off x="292608" y="529285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569" name="Google Shape;569;p19"/>
          <p:cNvSpPr txBox="1"/>
          <p:nvPr/>
        </p:nvSpPr>
        <p:spPr>
          <a:xfrm>
            <a:off x="731520" y="4733544"/>
            <a:ext cx="31546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570" name="Google Shape;570;p19"/>
          <p:cNvSpPr txBox="1"/>
          <p:nvPr/>
        </p:nvSpPr>
        <p:spPr>
          <a:xfrm>
            <a:off x="731520" y="4998720"/>
            <a:ext cx="31546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Port + Service Scan  ·  Recon Agent</a:t>
            </a:r>
            <a:endParaRPr b="0" i="0" sz="1400" u="none" cap="none" strike="noStrike">
              <a:solidFill>
                <a:srgbClr val="000000"/>
              </a:solidFill>
              <a:latin typeface="Arial"/>
              <a:ea typeface="Arial"/>
              <a:cs typeface="Arial"/>
              <a:sym typeface="Arial"/>
            </a:endParaRPr>
          </a:p>
        </p:txBody>
      </p:sp>
      <p:sp>
        <p:nvSpPr>
          <p:cNvPr id="571" name="Google Shape;571;p19"/>
          <p:cNvSpPr txBox="1"/>
          <p:nvPr/>
        </p:nvSpPr>
        <p:spPr>
          <a:xfrm>
            <a:off x="731520" y="5209032"/>
            <a:ext cx="315468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Port scanning, service fingerprinting, OS detection. Optional NSE script execution for vuln detection on open services.</a:t>
            </a:r>
            <a:endParaRPr b="0" i="0" sz="1400" u="none" cap="none" strike="noStrike">
              <a:solidFill>
                <a:srgbClr val="000000"/>
              </a:solidFill>
              <a:latin typeface="Arial"/>
              <a:ea typeface="Arial"/>
              <a:cs typeface="Arial"/>
              <a:sym typeface="Arial"/>
            </a:endParaRPr>
          </a:p>
        </p:txBody>
      </p:sp>
      <p:sp>
        <p:nvSpPr>
          <p:cNvPr id="572" name="Google Shape;572;p19"/>
          <p:cNvSpPr/>
          <p:nvPr/>
        </p:nvSpPr>
        <p:spPr>
          <a:xfrm>
            <a:off x="4160520" y="1417320"/>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3" name="Google Shape;573;p19"/>
          <p:cNvSpPr/>
          <p:nvPr/>
        </p:nvSpPr>
        <p:spPr>
          <a:xfrm>
            <a:off x="4160520" y="1417320"/>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4" name="Google Shape;574;p19"/>
          <p:cNvSpPr txBox="1"/>
          <p:nvPr/>
        </p:nvSpPr>
        <p:spPr>
          <a:xfrm>
            <a:off x="4178808" y="1705356"/>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575" name="Google Shape;575;p19"/>
          <p:cNvSpPr txBox="1"/>
          <p:nvPr/>
        </p:nvSpPr>
        <p:spPr>
          <a:xfrm>
            <a:off x="4617720" y="1472184"/>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576" name="Google Shape;576;p19"/>
          <p:cNvSpPr txBox="1"/>
          <p:nvPr/>
        </p:nvSpPr>
        <p:spPr>
          <a:xfrm>
            <a:off x="4617720" y="1737360"/>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Technology Fingerprinting  ·  Analysis Agent</a:t>
            </a:r>
            <a:endParaRPr b="0" i="0" sz="1400" u="none" cap="none" strike="noStrike">
              <a:solidFill>
                <a:srgbClr val="000000"/>
              </a:solidFill>
              <a:latin typeface="Arial"/>
              <a:ea typeface="Arial"/>
              <a:cs typeface="Arial"/>
              <a:sym typeface="Arial"/>
            </a:endParaRPr>
          </a:p>
        </p:txBody>
      </p:sp>
      <p:sp>
        <p:nvSpPr>
          <p:cNvPr id="577" name="Google Shape;577;p19"/>
          <p:cNvSpPr txBox="1"/>
          <p:nvPr/>
        </p:nvSpPr>
        <p:spPr>
          <a:xfrm>
            <a:off x="4617720" y="1947672"/>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Identifies CMS, frameworks, server software, JS libraries, and versions from HTTP responses. Seeds Technology nodes for the ASG.</a:t>
            </a:r>
            <a:endParaRPr b="0" i="0" sz="1400" u="none" cap="none" strike="noStrike">
              <a:solidFill>
                <a:srgbClr val="000000"/>
              </a:solidFill>
              <a:latin typeface="Arial"/>
              <a:ea typeface="Arial"/>
              <a:cs typeface="Arial"/>
              <a:sym typeface="Arial"/>
            </a:endParaRPr>
          </a:p>
        </p:txBody>
      </p:sp>
      <p:sp>
        <p:nvSpPr>
          <p:cNvPr id="578" name="Google Shape;578;p19"/>
          <p:cNvSpPr/>
          <p:nvPr/>
        </p:nvSpPr>
        <p:spPr>
          <a:xfrm>
            <a:off x="4160520" y="2395728"/>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79" name="Google Shape;579;p19"/>
          <p:cNvSpPr/>
          <p:nvPr/>
        </p:nvSpPr>
        <p:spPr>
          <a:xfrm>
            <a:off x="4160520" y="2395728"/>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0" name="Google Shape;580;p19"/>
          <p:cNvSpPr txBox="1"/>
          <p:nvPr/>
        </p:nvSpPr>
        <p:spPr>
          <a:xfrm>
            <a:off x="4178808" y="2683764"/>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4617720" y="2450592"/>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582" name="Google Shape;582;p19"/>
          <p:cNvSpPr txBox="1"/>
          <p:nvPr/>
        </p:nvSpPr>
        <p:spPr>
          <a:xfrm>
            <a:off x="4617720" y="2715768"/>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Directory Brute-Force  ·  Analysis Agent</a:t>
            </a:r>
            <a:endParaRPr b="0" i="0" sz="1400" u="none" cap="none" strike="noStrike">
              <a:solidFill>
                <a:srgbClr val="000000"/>
              </a:solidFill>
              <a:latin typeface="Arial"/>
              <a:ea typeface="Arial"/>
              <a:cs typeface="Arial"/>
              <a:sym typeface="Arial"/>
            </a:endParaRPr>
          </a:p>
        </p:txBody>
      </p:sp>
      <p:sp>
        <p:nvSpPr>
          <p:cNvPr id="583" name="Google Shape;583;p19"/>
          <p:cNvSpPr txBox="1"/>
          <p:nvPr/>
        </p:nvSpPr>
        <p:spPr>
          <a:xfrm>
            <a:off x="4617720" y="2926080"/>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Discovers hidden paths, admin panels, backup files, and exposed resources via wordlist-based HTTP path enumeration.</a:t>
            </a:r>
            <a:endParaRPr b="0" i="0" sz="1400" u="none" cap="none" strike="noStrike">
              <a:solidFill>
                <a:srgbClr val="000000"/>
              </a:solidFill>
              <a:latin typeface="Arial"/>
              <a:ea typeface="Arial"/>
              <a:cs typeface="Arial"/>
              <a:sym typeface="Arial"/>
            </a:endParaRPr>
          </a:p>
        </p:txBody>
      </p:sp>
      <p:sp>
        <p:nvSpPr>
          <p:cNvPr id="584" name="Google Shape;584;p19"/>
          <p:cNvSpPr/>
          <p:nvPr/>
        </p:nvSpPr>
        <p:spPr>
          <a:xfrm>
            <a:off x="4160520" y="3374136"/>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5" name="Google Shape;585;p19"/>
          <p:cNvSpPr/>
          <p:nvPr/>
        </p:nvSpPr>
        <p:spPr>
          <a:xfrm>
            <a:off x="4160520" y="3374136"/>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86" name="Google Shape;586;p19"/>
          <p:cNvSpPr txBox="1"/>
          <p:nvPr/>
        </p:nvSpPr>
        <p:spPr>
          <a:xfrm>
            <a:off x="4178808" y="366217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587" name="Google Shape;587;p19"/>
          <p:cNvSpPr txBox="1"/>
          <p:nvPr/>
        </p:nvSpPr>
        <p:spPr>
          <a:xfrm>
            <a:off x="4617720" y="3429000"/>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588" name="Google Shape;588;p19"/>
          <p:cNvSpPr txBox="1"/>
          <p:nvPr/>
        </p:nvSpPr>
        <p:spPr>
          <a:xfrm>
            <a:off x="4617720" y="3694176"/>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API + Parameter Fuzzing  ·  Analysis Agent</a:t>
            </a:r>
            <a:endParaRPr b="0" i="0" sz="1400" u="none" cap="none" strike="noStrike">
              <a:solidFill>
                <a:srgbClr val="000000"/>
              </a:solidFill>
              <a:latin typeface="Arial"/>
              <a:ea typeface="Arial"/>
              <a:cs typeface="Arial"/>
              <a:sym typeface="Arial"/>
            </a:endParaRPr>
          </a:p>
        </p:txBody>
      </p:sp>
      <p:sp>
        <p:nvSpPr>
          <p:cNvPr id="589" name="Google Shape;589;p19"/>
          <p:cNvSpPr txBox="1"/>
          <p:nvPr/>
        </p:nvSpPr>
        <p:spPr>
          <a:xfrm>
            <a:off x="4617720" y="3904488"/>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Fast web fuzzer for API route discovery, parameter fuzzing, virtual host enumeration, and undocumented endpoint identification.</a:t>
            </a:r>
            <a:endParaRPr b="0" i="0" sz="1400" u="none" cap="none" strike="noStrike">
              <a:solidFill>
                <a:srgbClr val="000000"/>
              </a:solidFill>
              <a:latin typeface="Arial"/>
              <a:ea typeface="Arial"/>
              <a:cs typeface="Arial"/>
              <a:sym typeface="Arial"/>
            </a:endParaRPr>
          </a:p>
        </p:txBody>
      </p:sp>
      <p:sp>
        <p:nvSpPr>
          <p:cNvPr id="590" name="Google Shape;590;p19"/>
          <p:cNvSpPr/>
          <p:nvPr/>
        </p:nvSpPr>
        <p:spPr>
          <a:xfrm>
            <a:off x="4160520" y="4352544"/>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1" name="Google Shape;591;p19"/>
          <p:cNvSpPr/>
          <p:nvPr/>
        </p:nvSpPr>
        <p:spPr>
          <a:xfrm>
            <a:off x="4160520" y="4352544"/>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2" name="Google Shape;592;p19"/>
          <p:cNvSpPr txBox="1"/>
          <p:nvPr/>
        </p:nvSpPr>
        <p:spPr>
          <a:xfrm>
            <a:off x="4178808" y="4640580"/>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593" name="Google Shape;593;p19"/>
          <p:cNvSpPr txBox="1"/>
          <p:nvPr/>
        </p:nvSpPr>
        <p:spPr>
          <a:xfrm>
            <a:off x="4617720" y="4407408"/>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Nuclei</a:t>
            </a:r>
            <a:endParaRPr b="0" i="0" sz="1400" u="none" cap="none" strike="noStrike">
              <a:solidFill>
                <a:srgbClr val="000000"/>
              </a:solidFill>
              <a:latin typeface="Arial"/>
              <a:ea typeface="Arial"/>
              <a:cs typeface="Arial"/>
              <a:sym typeface="Arial"/>
            </a:endParaRPr>
          </a:p>
        </p:txBody>
      </p:sp>
      <p:sp>
        <p:nvSpPr>
          <p:cNvPr id="594" name="Google Shape;594;p19"/>
          <p:cNvSpPr txBox="1"/>
          <p:nvPr/>
        </p:nvSpPr>
        <p:spPr>
          <a:xfrm>
            <a:off x="4617720" y="4672584"/>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Template-Based Vuln Scan  ·  Analysis Agent</a:t>
            </a:r>
            <a:endParaRPr b="0" i="0" sz="1400" u="none" cap="none" strike="noStrike">
              <a:solidFill>
                <a:srgbClr val="000000"/>
              </a:solidFill>
              <a:latin typeface="Arial"/>
              <a:ea typeface="Arial"/>
              <a:cs typeface="Arial"/>
              <a:sym typeface="Arial"/>
            </a:endParaRPr>
          </a:p>
        </p:txBody>
      </p:sp>
      <p:sp>
        <p:nvSpPr>
          <p:cNvPr id="595" name="Google Shape;595;p19"/>
          <p:cNvSpPr txBox="1"/>
          <p:nvPr/>
        </p:nvSpPr>
        <p:spPr>
          <a:xfrm>
            <a:off x="4617720" y="4882896"/>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Matches discovered services and technologies against a library of CVE and misconfiguration templates for automated vulnerability detection.</a:t>
            </a:r>
            <a:endParaRPr b="0" i="0" sz="1400" u="none" cap="none" strike="noStrike">
              <a:solidFill>
                <a:srgbClr val="000000"/>
              </a:solidFill>
              <a:latin typeface="Arial"/>
              <a:ea typeface="Arial"/>
              <a:cs typeface="Arial"/>
              <a:sym typeface="Arial"/>
            </a:endParaRPr>
          </a:p>
        </p:txBody>
      </p:sp>
      <p:sp>
        <p:nvSpPr>
          <p:cNvPr id="596" name="Google Shape;596;p19"/>
          <p:cNvSpPr/>
          <p:nvPr/>
        </p:nvSpPr>
        <p:spPr>
          <a:xfrm>
            <a:off x="4160520" y="5330952"/>
            <a:ext cx="4114800" cy="905256"/>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7" name="Google Shape;597;p19"/>
          <p:cNvSpPr/>
          <p:nvPr/>
        </p:nvSpPr>
        <p:spPr>
          <a:xfrm>
            <a:off x="4160520" y="5330952"/>
            <a:ext cx="365760" cy="905256"/>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98" name="Google Shape;598;p19"/>
          <p:cNvSpPr txBox="1"/>
          <p:nvPr/>
        </p:nvSpPr>
        <p:spPr>
          <a:xfrm>
            <a:off x="4178808" y="5618988"/>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599" name="Google Shape;599;p19"/>
          <p:cNvSpPr txBox="1"/>
          <p:nvPr/>
        </p:nvSpPr>
        <p:spPr>
          <a:xfrm>
            <a:off x="4617720" y="5385816"/>
            <a:ext cx="361188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OWASP ZAP</a:t>
            </a:r>
            <a:endParaRPr b="0" i="0" sz="1400" u="none" cap="none" strike="noStrike">
              <a:solidFill>
                <a:srgbClr val="000000"/>
              </a:solidFill>
              <a:latin typeface="Arial"/>
              <a:ea typeface="Arial"/>
              <a:cs typeface="Arial"/>
              <a:sym typeface="Arial"/>
            </a:endParaRPr>
          </a:p>
        </p:txBody>
      </p:sp>
      <p:sp>
        <p:nvSpPr>
          <p:cNvPr id="600" name="Google Shape;600;p19"/>
          <p:cNvSpPr txBox="1"/>
          <p:nvPr/>
        </p:nvSpPr>
        <p:spPr>
          <a:xfrm>
            <a:off x="4617720" y="5650992"/>
            <a:ext cx="361188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Active Web App Scan  ·  Analysis Agent</a:t>
            </a:r>
            <a:endParaRPr b="0" i="0" sz="1400" u="none" cap="none" strike="noStrike">
              <a:solidFill>
                <a:srgbClr val="000000"/>
              </a:solidFill>
              <a:latin typeface="Arial"/>
              <a:ea typeface="Arial"/>
              <a:cs typeface="Arial"/>
              <a:sym typeface="Arial"/>
            </a:endParaRPr>
          </a:p>
        </p:txBody>
      </p:sp>
      <p:sp>
        <p:nvSpPr>
          <p:cNvPr id="601" name="Google Shape;601;p19"/>
          <p:cNvSpPr txBox="1"/>
          <p:nvPr/>
        </p:nvSpPr>
        <p:spPr>
          <a:xfrm>
            <a:off x="4617720" y="5861304"/>
            <a:ext cx="3611880" cy="310896"/>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Crawls and actively tests for OWASP Top 10: XSS, CSRF, injection flaws, authentication weaknesses, and insecure direct object references.</a:t>
            </a:r>
            <a:endParaRPr b="0" i="0" sz="1400" u="none" cap="none" strike="noStrike">
              <a:solidFill>
                <a:srgbClr val="000000"/>
              </a:solidFill>
              <a:latin typeface="Arial"/>
              <a:ea typeface="Arial"/>
              <a:cs typeface="Arial"/>
              <a:sym typeface="Arial"/>
            </a:endParaRPr>
          </a:p>
        </p:txBody>
      </p:sp>
      <p:sp>
        <p:nvSpPr>
          <p:cNvPr id="602" name="Google Shape;602;p19"/>
          <p:cNvSpPr/>
          <p:nvPr/>
        </p:nvSpPr>
        <p:spPr>
          <a:xfrm>
            <a:off x="8412480" y="141732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3" name="Google Shape;603;p19"/>
          <p:cNvSpPr/>
          <p:nvPr/>
        </p:nvSpPr>
        <p:spPr>
          <a:xfrm>
            <a:off x="8412475" y="1417325"/>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4" name="Google Shape;604;p19"/>
          <p:cNvSpPr txBox="1"/>
          <p:nvPr/>
        </p:nvSpPr>
        <p:spPr>
          <a:xfrm>
            <a:off x="8430768" y="2031492"/>
            <a:ext cx="329184" cy="32918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sp>
        <p:nvSpPr>
          <p:cNvPr id="605" name="Google Shape;605;p19"/>
          <p:cNvSpPr txBox="1"/>
          <p:nvPr/>
        </p:nvSpPr>
        <p:spPr>
          <a:xfrm>
            <a:off x="8869680" y="147218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SQLMap</a:t>
            </a:r>
            <a:endParaRPr b="0" i="0" sz="1400" u="none" cap="none" strike="noStrike">
              <a:solidFill>
                <a:srgbClr val="000000"/>
              </a:solidFill>
              <a:latin typeface="Arial"/>
              <a:ea typeface="Arial"/>
              <a:cs typeface="Arial"/>
              <a:sym typeface="Arial"/>
            </a:endParaRPr>
          </a:p>
        </p:txBody>
      </p:sp>
      <p:sp>
        <p:nvSpPr>
          <p:cNvPr id="606" name="Google Shape;606;p19"/>
          <p:cNvSpPr txBox="1"/>
          <p:nvPr/>
        </p:nvSpPr>
        <p:spPr>
          <a:xfrm>
            <a:off x="8869680" y="173736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SQL Injection Validation  ·  Validation Agent</a:t>
            </a:r>
            <a:endParaRPr b="0" i="0" sz="1400" u="none" cap="none" strike="noStrike">
              <a:solidFill>
                <a:srgbClr val="000000"/>
              </a:solidFill>
              <a:latin typeface="Arial"/>
              <a:ea typeface="Arial"/>
              <a:cs typeface="Arial"/>
              <a:sym typeface="Arial"/>
            </a:endParaRPr>
          </a:p>
        </p:txBody>
      </p:sp>
      <p:sp>
        <p:nvSpPr>
          <p:cNvPr id="607" name="Google Shape;607;p19"/>
          <p:cNvSpPr txBox="1"/>
          <p:nvPr/>
        </p:nvSpPr>
        <p:spPr>
          <a:xfrm>
            <a:off x="8869680" y="194767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Automated SQLi detection and exploitation. Confirms injection points, extracts database data, tests for OS-level access escalation.</a:t>
            </a:r>
            <a:endParaRPr b="0" i="0" sz="1400" u="none" cap="none" strike="noStrike">
              <a:solidFill>
                <a:srgbClr val="000000"/>
              </a:solidFill>
              <a:latin typeface="Arial"/>
              <a:ea typeface="Arial"/>
              <a:cs typeface="Arial"/>
              <a:sym typeface="Arial"/>
            </a:endParaRPr>
          </a:p>
        </p:txBody>
      </p:sp>
      <p:sp>
        <p:nvSpPr>
          <p:cNvPr id="608" name="Google Shape;608;p19"/>
          <p:cNvSpPr/>
          <p:nvPr/>
        </p:nvSpPr>
        <p:spPr>
          <a:xfrm>
            <a:off x="8412480" y="3048000"/>
            <a:ext cx="3566160" cy="1557528"/>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09" name="Google Shape;609;p19"/>
          <p:cNvSpPr/>
          <p:nvPr/>
        </p:nvSpPr>
        <p:spPr>
          <a:xfrm>
            <a:off x="8412475" y="3048000"/>
            <a:ext cx="411600" cy="1557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0" name="Google Shape;610;p19"/>
          <p:cNvSpPr txBox="1"/>
          <p:nvPr/>
        </p:nvSpPr>
        <p:spPr>
          <a:xfrm>
            <a:off x="8430777" y="3662175"/>
            <a:ext cx="4116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
        <p:nvSpPr>
          <p:cNvPr id="611" name="Google Shape;611;p19"/>
          <p:cNvSpPr txBox="1"/>
          <p:nvPr/>
        </p:nvSpPr>
        <p:spPr>
          <a:xfrm>
            <a:off x="8869680" y="310286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Metasploit</a:t>
            </a:r>
            <a:endParaRPr b="0" i="0" sz="1400" u="none" cap="none" strike="noStrike">
              <a:solidFill>
                <a:srgbClr val="000000"/>
              </a:solidFill>
              <a:latin typeface="Arial"/>
              <a:ea typeface="Arial"/>
              <a:cs typeface="Arial"/>
              <a:sym typeface="Arial"/>
            </a:endParaRPr>
          </a:p>
        </p:txBody>
      </p:sp>
      <p:sp>
        <p:nvSpPr>
          <p:cNvPr id="612" name="Google Shape;612;p19"/>
          <p:cNvSpPr txBox="1"/>
          <p:nvPr/>
        </p:nvSpPr>
        <p:spPr>
          <a:xfrm>
            <a:off x="8869680" y="336804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Exploit + RCE Demo  ·  Validation Agent</a:t>
            </a:r>
            <a:endParaRPr b="0" i="0" sz="1400" u="none" cap="none" strike="noStrike">
              <a:solidFill>
                <a:srgbClr val="000000"/>
              </a:solidFill>
              <a:latin typeface="Arial"/>
              <a:ea typeface="Arial"/>
              <a:cs typeface="Arial"/>
              <a:sym typeface="Arial"/>
            </a:endParaRPr>
          </a:p>
        </p:txBody>
      </p:sp>
      <p:sp>
        <p:nvSpPr>
          <p:cNvPr id="613" name="Google Shape;613;p19"/>
          <p:cNvSpPr txBox="1"/>
          <p:nvPr/>
        </p:nvSpPr>
        <p:spPr>
          <a:xfrm>
            <a:off x="8869680" y="357835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Executes known exploits against identified vulnerabilities. Validates APG ChainSteps, demonstrates impact, achieves proof of exploitation.</a:t>
            </a:r>
            <a:endParaRPr b="0" i="0" sz="1400" u="none" cap="none" strike="noStrike">
              <a:solidFill>
                <a:srgbClr val="000000"/>
              </a:solidFill>
              <a:latin typeface="Arial"/>
              <a:ea typeface="Arial"/>
              <a:cs typeface="Arial"/>
              <a:sym typeface="Arial"/>
            </a:endParaRPr>
          </a:p>
        </p:txBody>
      </p:sp>
      <p:sp>
        <p:nvSpPr>
          <p:cNvPr id="614" name="Google Shape;614;p19"/>
          <p:cNvSpPr/>
          <p:nvPr/>
        </p:nvSpPr>
        <p:spPr>
          <a:xfrm>
            <a:off x="8412480" y="4678680"/>
            <a:ext cx="3566160" cy="1557528"/>
          </a:xfrm>
          <a:prstGeom prst="rect">
            <a:avLst/>
          </a:prstGeom>
          <a:solidFill>
            <a:srgbClr val="10162B"/>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5" name="Google Shape;615;p19"/>
          <p:cNvSpPr/>
          <p:nvPr/>
        </p:nvSpPr>
        <p:spPr>
          <a:xfrm>
            <a:off x="8412475" y="4678675"/>
            <a:ext cx="411600" cy="1557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16" name="Google Shape;616;p19"/>
          <p:cNvSpPr txBox="1"/>
          <p:nvPr/>
        </p:nvSpPr>
        <p:spPr>
          <a:xfrm>
            <a:off x="8430776" y="5292850"/>
            <a:ext cx="365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0A0D1A"/>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617" name="Google Shape;617;p19"/>
          <p:cNvSpPr txBox="1"/>
          <p:nvPr/>
        </p:nvSpPr>
        <p:spPr>
          <a:xfrm>
            <a:off x="8869680" y="4733544"/>
            <a:ext cx="3063240" cy="27432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EyeWitness</a:t>
            </a:r>
            <a:endParaRPr b="0" i="0" sz="1400" u="none" cap="none" strike="noStrike">
              <a:solidFill>
                <a:srgbClr val="000000"/>
              </a:solidFill>
              <a:latin typeface="Arial"/>
              <a:ea typeface="Arial"/>
              <a:cs typeface="Arial"/>
              <a:sym typeface="Arial"/>
            </a:endParaRPr>
          </a:p>
        </p:txBody>
      </p:sp>
      <p:sp>
        <p:nvSpPr>
          <p:cNvPr id="618" name="Google Shape;618;p19"/>
          <p:cNvSpPr txBox="1"/>
          <p:nvPr/>
        </p:nvSpPr>
        <p:spPr>
          <a:xfrm>
            <a:off x="8869680" y="4998720"/>
            <a:ext cx="3063240" cy="201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Screenshot Evidence  ·  Evidence Agent</a:t>
            </a:r>
            <a:endParaRPr b="0" i="0" sz="1400" u="none" cap="none" strike="noStrike">
              <a:solidFill>
                <a:srgbClr val="000000"/>
              </a:solidFill>
              <a:latin typeface="Arial"/>
              <a:ea typeface="Arial"/>
              <a:cs typeface="Arial"/>
              <a:sym typeface="Arial"/>
            </a:endParaRPr>
          </a:p>
        </p:txBody>
      </p:sp>
      <p:sp>
        <p:nvSpPr>
          <p:cNvPr id="619" name="Google Shape;619;p19"/>
          <p:cNvSpPr txBox="1"/>
          <p:nvPr/>
        </p:nvSpPr>
        <p:spPr>
          <a:xfrm>
            <a:off x="8869680" y="5209032"/>
            <a:ext cx="3063240" cy="96316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Headless screenshot capture of web pages, exposed panels, and API responses. Produces visual proof artifacts linked to ASG Evidence nodes.</a:t>
            </a:r>
            <a:endParaRPr b="0" i="0" sz="1400" u="none" cap="none" strike="noStrike">
              <a:solidFill>
                <a:srgbClr val="000000"/>
              </a:solidFill>
              <a:latin typeface="Arial"/>
              <a:ea typeface="Arial"/>
              <a:cs typeface="Arial"/>
              <a:sym typeface="Arial"/>
            </a:endParaRPr>
          </a:p>
        </p:txBody>
      </p:sp>
      <p:sp>
        <p:nvSpPr>
          <p:cNvPr id="620" name="Google Shape;620;p19"/>
          <p:cNvSpPr/>
          <p:nvPr/>
        </p:nvSpPr>
        <p:spPr>
          <a:xfrm>
            <a:off x="274320" y="6291072"/>
            <a:ext cx="11643055" cy="438912"/>
          </a:xfrm>
          <a:prstGeom prst="rect">
            <a:avLst/>
          </a:prstGeom>
          <a:solidFill>
            <a:srgbClr val="0E0818"/>
          </a:solidFill>
          <a:ln cap="flat" cmpd="sng" w="1270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1" name="Google Shape;621;p19"/>
          <p:cNvSpPr txBox="1"/>
          <p:nvPr/>
        </p:nvSpPr>
        <p:spPr>
          <a:xfrm>
            <a:off x="457200" y="6327648"/>
            <a:ext cx="11368735"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50"/>
              <a:buFont typeface="Arial"/>
              <a:buNone/>
            </a:pPr>
            <a:r>
              <a:rPr b="0" i="0" lang="en-US" sz="1050" u="none" cap="none" strike="noStrike">
                <a:solidFill>
                  <a:srgbClr val="BD93F9"/>
                </a:solidFill>
                <a:latin typeface="Calibri"/>
                <a:ea typeface="Calibri"/>
                <a:cs typeface="Calibri"/>
                <a:sym typeface="Calibri"/>
              </a:rPr>
              <a:t>🔒  Every tool is wrapped in a Tool Adapter — agents reason about targets, not command syntax.  No irreversible offensive operation executes without Commander-level scope validation.</a:t>
            </a:r>
            <a:endParaRPr b="0" i="0" sz="1400" u="none" cap="none" strike="noStrike">
              <a:solidFill>
                <a:srgbClr val="000000"/>
              </a:solidFill>
              <a:latin typeface="Arial"/>
              <a:ea typeface="Arial"/>
              <a:cs typeface="Arial"/>
              <a:sym typeface="Arial"/>
            </a:endParaRPr>
          </a:p>
        </p:txBody>
      </p:sp>
      <p:sp>
        <p:nvSpPr>
          <p:cNvPr id="622" name="Google Shape;622;p19"/>
          <p:cNvSpPr txBox="1"/>
          <p:nvPr/>
        </p:nvSpPr>
        <p:spPr>
          <a:xfrm>
            <a:off x="11612747" y="82400"/>
            <a:ext cx="4116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4545"/>
                </a:solidFill>
                <a:latin typeface="Calibri"/>
                <a:ea typeface="Calibri"/>
                <a:cs typeface="Calibri"/>
                <a:sym typeface="Calibri"/>
              </a:rPr>
              <a:t>07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626" name="Shape 626"/>
        <p:cNvGrpSpPr/>
        <p:nvPr/>
      </p:nvGrpSpPr>
      <p:grpSpPr>
        <a:xfrm>
          <a:off x="0" y="0"/>
          <a:ext cx="0" cy="0"/>
          <a:chOff x="0" y="0"/>
          <a:chExt cx="0" cy="0"/>
        </a:xfrm>
      </p:grpSpPr>
      <p:sp>
        <p:nvSpPr>
          <p:cNvPr id="627" name="Google Shape;627;p20"/>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8" name="Google Shape;628;p20"/>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29" name="Google Shape;629;p20"/>
          <p:cNvSpPr/>
          <p:nvPr/>
        </p:nvSpPr>
        <p:spPr>
          <a:xfrm>
            <a:off x="54864" y="682142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0" name="Google Shape;630;p20"/>
          <p:cNvSpPr txBox="1"/>
          <p:nvPr/>
        </p:nvSpPr>
        <p:spPr>
          <a:xfrm>
            <a:off x="274320" y="64008"/>
            <a:ext cx="45720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REAL-WORLD SCENARIO</a:t>
            </a:r>
            <a:endParaRPr b="0" i="0" sz="1400" u="none" cap="none" strike="noStrike">
              <a:solidFill>
                <a:srgbClr val="000000"/>
              </a:solidFill>
              <a:latin typeface="Arial"/>
              <a:ea typeface="Arial"/>
              <a:cs typeface="Arial"/>
              <a:sym typeface="Arial"/>
            </a:endParaRPr>
          </a:p>
        </p:txBody>
      </p:sp>
      <p:sp>
        <p:nvSpPr>
          <p:cNvPr id="631" name="Google Shape;631;p20"/>
          <p:cNvSpPr txBox="1"/>
          <p:nvPr/>
        </p:nvSpPr>
        <p:spPr>
          <a:xfrm>
            <a:off x="274320" y="283464"/>
            <a:ext cx="11430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Mission: shopvault.io — Black-Box Assessment — Zero Manual Commands</a:t>
            </a:r>
            <a:endParaRPr b="0" i="0" sz="1400" u="none" cap="none" strike="noStrike">
              <a:solidFill>
                <a:srgbClr val="000000"/>
              </a:solidFill>
              <a:latin typeface="Arial"/>
              <a:ea typeface="Arial"/>
              <a:cs typeface="Arial"/>
              <a:sym typeface="Arial"/>
            </a:endParaRPr>
          </a:p>
        </p:txBody>
      </p:sp>
      <p:sp>
        <p:nvSpPr>
          <p:cNvPr id="632" name="Google Shape;632;p20"/>
          <p:cNvSpPr/>
          <p:nvPr/>
        </p:nvSpPr>
        <p:spPr>
          <a:xfrm>
            <a:off x="164592" y="768096"/>
            <a:ext cx="11862600" cy="347400"/>
          </a:xfrm>
          <a:prstGeom prst="rect">
            <a:avLst/>
          </a:prstGeom>
          <a:solidFill>
            <a:srgbClr val="101004"/>
          </a:solidFill>
          <a:ln cap="flat" cmpd="sng" w="101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3" name="Google Shape;633;p20"/>
          <p:cNvSpPr txBox="1"/>
          <p:nvPr/>
        </p:nvSpPr>
        <p:spPr>
          <a:xfrm>
            <a:off x="320040" y="822960"/>
            <a:ext cx="115974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FFD700"/>
                </a:solidFill>
                <a:latin typeface="Calibri"/>
                <a:ea typeface="Calibri"/>
                <a:cs typeface="Calibri"/>
                <a:sym typeface="Calibri"/>
              </a:rPr>
              <a:t>Scope: all subdomains · web applications · REST APIs of shopvault.io  ·  Mode: Black-Box (zero prior knowledge)  ·  Operator configures root domain + scope → presses start.</a:t>
            </a:r>
            <a:endParaRPr b="0" i="0" sz="1400" u="none" cap="none" strike="noStrike">
              <a:solidFill>
                <a:srgbClr val="000000"/>
              </a:solidFill>
              <a:latin typeface="Arial"/>
              <a:ea typeface="Arial"/>
              <a:cs typeface="Arial"/>
              <a:sym typeface="Arial"/>
            </a:endParaRPr>
          </a:p>
        </p:txBody>
      </p:sp>
      <p:sp>
        <p:nvSpPr>
          <p:cNvPr id="634" name="Google Shape;634;p20"/>
          <p:cNvSpPr/>
          <p:nvPr/>
        </p:nvSpPr>
        <p:spPr>
          <a:xfrm>
            <a:off x="164592" y="1188720"/>
            <a:ext cx="2395800" cy="5010900"/>
          </a:xfrm>
          <a:prstGeom prst="rect">
            <a:avLst/>
          </a:prstGeom>
          <a:solidFill>
            <a:srgbClr val="041408"/>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5" name="Google Shape;635;p20"/>
          <p:cNvSpPr/>
          <p:nvPr/>
        </p:nvSpPr>
        <p:spPr>
          <a:xfrm>
            <a:off x="164592" y="1188720"/>
            <a:ext cx="2395800" cy="457200"/>
          </a:xfrm>
          <a:prstGeom prst="rect">
            <a:avLst/>
          </a:prstGeom>
          <a:solidFill>
            <a:srgbClr val="08101C"/>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6" name="Google Shape;636;p20"/>
          <p:cNvSpPr txBox="1"/>
          <p:nvPr/>
        </p:nvSpPr>
        <p:spPr>
          <a:xfrm>
            <a:off x="237744" y="1243584"/>
            <a:ext cx="2286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39FF14"/>
                </a:solidFill>
                <a:latin typeface="Calibri"/>
                <a:ea typeface="Calibri"/>
                <a:cs typeface="Calibri"/>
                <a:sym typeface="Calibri"/>
              </a:rPr>
              <a:t>PHASE 1</a:t>
            </a:r>
            <a:br>
              <a:rPr b="1" i="0" lang="en-US" sz="1000" u="none" cap="none" strike="noStrike">
                <a:solidFill>
                  <a:srgbClr val="39FF14"/>
                </a:solidFill>
                <a:latin typeface="Calibri"/>
                <a:ea typeface="Calibri"/>
                <a:cs typeface="Calibri"/>
                <a:sym typeface="Calibri"/>
              </a:rPr>
            </a:br>
            <a:r>
              <a:rPr b="1" i="0" lang="en-US" sz="1000" u="none" cap="none" strike="noStrike">
                <a:solidFill>
                  <a:srgbClr val="39FF14"/>
                </a:solidFill>
                <a:latin typeface="Calibri"/>
                <a:ea typeface="Calibri"/>
                <a:cs typeface="Calibri"/>
                <a:sym typeface="Calibri"/>
              </a:rPr>
              <a:t>Reconnaissance</a:t>
            </a:r>
            <a:endParaRPr b="0" i="0" sz="1400" u="none" cap="none" strike="noStrike">
              <a:solidFill>
                <a:srgbClr val="000000"/>
              </a:solidFill>
              <a:latin typeface="Arial"/>
              <a:ea typeface="Arial"/>
              <a:cs typeface="Arial"/>
              <a:sym typeface="Arial"/>
            </a:endParaRPr>
          </a:p>
        </p:txBody>
      </p:sp>
      <p:sp>
        <p:nvSpPr>
          <p:cNvPr id="637" name="Google Shape;637;p20"/>
          <p:cNvSpPr txBox="1"/>
          <p:nvPr/>
        </p:nvSpPr>
        <p:spPr>
          <a:xfrm>
            <a:off x="237744" y="1700784"/>
            <a:ext cx="2286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 Recon Agent</a:t>
            </a:r>
            <a:endParaRPr b="0" i="0" sz="1400" u="none" cap="none" strike="noStrike">
              <a:solidFill>
                <a:srgbClr val="000000"/>
              </a:solidFill>
              <a:latin typeface="Arial"/>
              <a:ea typeface="Arial"/>
              <a:cs typeface="Arial"/>
              <a:sym typeface="Arial"/>
            </a:endParaRPr>
          </a:p>
        </p:txBody>
      </p:sp>
      <p:sp>
        <p:nvSpPr>
          <p:cNvPr id="638" name="Google Shape;638;p20"/>
          <p:cNvSpPr/>
          <p:nvPr/>
        </p:nvSpPr>
        <p:spPr>
          <a:xfrm>
            <a:off x="237744" y="1920240"/>
            <a:ext cx="2249400" cy="183000"/>
          </a:xfrm>
          <a:prstGeom prst="rect">
            <a:avLst/>
          </a:prstGeom>
          <a:solidFill>
            <a:srgbClr val="081022"/>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39" name="Google Shape;639;p20"/>
          <p:cNvSpPr txBox="1"/>
          <p:nvPr/>
        </p:nvSpPr>
        <p:spPr>
          <a:xfrm>
            <a:off x="274320" y="1929384"/>
            <a:ext cx="22128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39FF14"/>
                </a:solidFill>
                <a:latin typeface="Calibri"/>
                <a:ea typeface="Calibri"/>
                <a:cs typeface="Calibri"/>
                <a:sym typeface="Calibri"/>
              </a:rPr>
              <a:t>Amass  ·  httpx  ·  Nmap</a:t>
            </a:r>
            <a:endParaRPr b="0" i="0" sz="1400" u="none" cap="none" strike="noStrike">
              <a:solidFill>
                <a:srgbClr val="000000"/>
              </a:solidFill>
              <a:latin typeface="Arial"/>
              <a:ea typeface="Arial"/>
              <a:cs typeface="Arial"/>
              <a:sym typeface="Arial"/>
            </a:endParaRPr>
          </a:p>
        </p:txBody>
      </p:sp>
      <p:sp>
        <p:nvSpPr>
          <p:cNvPr id="640" name="Google Shape;640;p20"/>
          <p:cNvSpPr/>
          <p:nvPr/>
        </p:nvSpPr>
        <p:spPr>
          <a:xfrm>
            <a:off x="237744" y="2157984"/>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1" name="Google Shape;641;p20"/>
          <p:cNvSpPr/>
          <p:nvPr/>
        </p:nvSpPr>
        <p:spPr>
          <a:xfrm>
            <a:off x="237744" y="2157984"/>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2" name="Google Shape;642;p20"/>
          <p:cNvSpPr txBox="1"/>
          <p:nvPr/>
        </p:nvSpPr>
        <p:spPr>
          <a:xfrm>
            <a:off x="310896" y="2194560"/>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Amass</a:t>
            </a:r>
            <a:endParaRPr b="0" i="0" sz="1400" u="none" cap="none" strike="noStrike">
              <a:solidFill>
                <a:srgbClr val="000000"/>
              </a:solidFill>
              <a:latin typeface="Arial"/>
              <a:ea typeface="Arial"/>
              <a:cs typeface="Arial"/>
              <a:sym typeface="Arial"/>
            </a:endParaRPr>
          </a:p>
        </p:txBody>
      </p:sp>
      <p:sp>
        <p:nvSpPr>
          <p:cNvPr id="643" name="Google Shape;643;p20"/>
          <p:cNvSpPr txBox="1"/>
          <p:nvPr/>
        </p:nvSpPr>
        <p:spPr>
          <a:xfrm>
            <a:off x="310896" y="2432304"/>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14 subdomains discovered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 · admin · staging · pay · ...</a:t>
            </a:r>
            <a:endParaRPr b="0" i="0" sz="1400" u="none" cap="none" strike="noStrike">
              <a:solidFill>
                <a:srgbClr val="000000"/>
              </a:solidFill>
              <a:latin typeface="Arial"/>
              <a:ea typeface="Arial"/>
              <a:cs typeface="Arial"/>
              <a:sym typeface="Arial"/>
            </a:endParaRPr>
          </a:p>
        </p:txBody>
      </p:sp>
      <p:sp>
        <p:nvSpPr>
          <p:cNvPr id="644" name="Google Shape;644;p20"/>
          <p:cNvSpPr/>
          <p:nvPr/>
        </p:nvSpPr>
        <p:spPr>
          <a:xfrm>
            <a:off x="237744" y="3340608"/>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5" name="Google Shape;645;p20"/>
          <p:cNvSpPr/>
          <p:nvPr/>
        </p:nvSpPr>
        <p:spPr>
          <a:xfrm>
            <a:off x="237744" y="3340608"/>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6" name="Google Shape;646;p20"/>
          <p:cNvSpPr txBox="1"/>
          <p:nvPr/>
        </p:nvSpPr>
        <p:spPr>
          <a:xfrm>
            <a:off x="310896" y="3377184"/>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httpx</a:t>
            </a:r>
            <a:endParaRPr b="0" i="0" sz="1400" u="none" cap="none" strike="noStrike">
              <a:solidFill>
                <a:srgbClr val="000000"/>
              </a:solidFill>
              <a:latin typeface="Arial"/>
              <a:ea typeface="Arial"/>
              <a:cs typeface="Arial"/>
              <a:sym typeface="Arial"/>
            </a:endParaRPr>
          </a:p>
        </p:txBody>
      </p:sp>
      <p:sp>
        <p:nvSpPr>
          <p:cNvPr id="647" name="Google Shape;647;p20"/>
          <p:cNvSpPr txBox="1"/>
          <p:nvPr/>
        </p:nvSpPr>
        <p:spPr>
          <a:xfrm>
            <a:off x="310896" y="3614928"/>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11 live hosts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staging returns unexpected 200</a:t>
            </a:r>
            <a:endParaRPr b="0" i="0" sz="1400" u="none" cap="none" strike="noStrike">
              <a:solidFill>
                <a:srgbClr val="000000"/>
              </a:solidFill>
              <a:latin typeface="Arial"/>
              <a:ea typeface="Arial"/>
              <a:cs typeface="Arial"/>
              <a:sym typeface="Arial"/>
            </a:endParaRPr>
          </a:p>
        </p:txBody>
      </p:sp>
      <p:sp>
        <p:nvSpPr>
          <p:cNvPr id="648" name="Google Shape;648;p20"/>
          <p:cNvSpPr/>
          <p:nvPr/>
        </p:nvSpPr>
        <p:spPr>
          <a:xfrm>
            <a:off x="237744" y="4523232"/>
            <a:ext cx="2249400" cy="1127700"/>
          </a:xfrm>
          <a:prstGeom prst="rect">
            <a:avLst/>
          </a:prstGeom>
          <a:solidFill>
            <a:srgbClr val="080E1C"/>
          </a:solidFill>
          <a:ln cap="flat" cmpd="sng" w="95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49" name="Google Shape;649;p20"/>
          <p:cNvSpPr/>
          <p:nvPr/>
        </p:nvSpPr>
        <p:spPr>
          <a:xfrm>
            <a:off x="237744" y="4523232"/>
            <a:ext cx="45600" cy="11277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0" name="Google Shape;650;p20"/>
          <p:cNvSpPr txBox="1"/>
          <p:nvPr/>
        </p:nvSpPr>
        <p:spPr>
          <a:xfrm>
            <a:off x="310896" y="4559808"/>
            <a:ext cx="21213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Nmap</a:t>
            </a:r>
            <a:endParaRPr b="0" i="0" sz="1400" u="none" cap="none" strike="noStrike">
              <a:solidFill>
                <a:srgbClr val="000000"/>
              </a:solidFill>
              <a:latin typeface="Arial"/>
              <a:ea typeface="Arial"/>
              <a:cs typeface="Arial"/>
              <a:sym typeface="Arial"/>
            </a:endParaRPr>
          </a:p>
        </p:txBody>
      </p:sp>
      <p:sp>
        <p:nvSpPr>
          <p:cNvPr id="651" name="Google Shape;651;p20"/>
          <p:cNvSpPr txBox="1"/>
          <p:nvPr/>
        </p:nvSpPr>
        <p:spPr>
          <a:xfrm>
            <a:off x="310896" y="4797552"/>
            <a:ext cx="2121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Ports 80, 443, 8080, 8443 open</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pay.shopvault.io: expired TLS</a:t>
            </a:r>
            <a:endParaRPr b="0" i="0" sz="1400" u="none" cap="none" strike="noStrike">
              <a:solidFill>
                <a:srgbClr val="000000"/>
              </a:solidFill>
              <a:latin typeface="Arial"/>
              <a:ea typeface="Arial"/>
              <a:cs typeface="Arial"/>
              <a:sym typeface="Arial"/>
            </a:endParaRPr>
          </a:p>
        </p:txBody>
      </p:sp>
      <p:sp>
        <p:nvSpPr>
          <p:cNvPr id="652" name="Google Shape;652;p20"/>
          <p:cNvSpPr/>
          <p:nvPr/>
        </p:nvSpPr>
        <p:spPr>
          <a:xfrm>
            <a:off x="164592" y="5797296"/>
            <a:ext cx="2395800" cy="402300"/>
          </a:xfrm>
          <a:prstGeom prst="rect">
            <a:avLst/>
          </a:prstGeom>
          <a:solidFill>
            <a:srgbClr val="060C18"/>
          </a:solidFill>
          <a:ln cap="flat" cmpd="sng" w="101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3" name="Google Shape;653;p20"/>
          <p:cNvSpPr txBox="1"/>
          <p:nvPr/>
        </p:nvSpPr>
        <p:spPr>
          <a:xfrm>
            <a:off x="256032" y="5852160"/>
            <a:ext cx="2258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ASG ← 37 new nodes</a:t>
            </a:r>
            <a:endParaRPr b="0" i="0" sz="1400" u="none" cap="none" strike="noStrike">
              <a:solidFill>
                <a:srgbClr val="000000"/>
              </a:solidFill>
              <a:latin typeface="Arial"/>
              <a:ea typeface="Arial"/>
              <a:cs typeface="Arial"/>
              <a:sym typeface="Arial"/>
            </a:endParaRPr>
          </a:p>
        </p:txBody>
      </p:sp>
      <p:cxnSp>
        <p:nvCxnSpPr>
          <p:cNvPr id="654" name="Google Shape;654;p20"/>
          <p:cNvCxnSpPr/>
          <p:nvPr/>
        </p:nvCxnSpPr>
        <p:spPr>
          <a:xfrm>
            <a:off x="2560320" y="1417320"/>
            <a:ext cx="54900" cy="0"/>
          </a:xfrm>
          <a:prstGeom prst="straightConnector1">
            <a:avLst/>
          </a:prstGeom>
          <a:noFill/>
          <a:ln cap="flat" cmpd="sng" w="22850">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655" name="Google Shape;655;p20"/>
          <p:cNvSpPr/>
          <p:nvPr/>
        </p:nvSpPr>
        <p:spPr>
          <a:xfrm>
            <a:off x="2615184" y="1188720"/>
            <a:ext cx="3474600" cy="5010900"/>
          </a:xfrm>
          <a:prstGeom prst="rect">
            <a:avLst/>
          </a:prstGeom>
          <a:solidFill>
            <a:srgbClr val="041018"/>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6" name="Google Shape;656;p20"/>
          <p:cNvSpPr/>
          <p:nvPr/>
        </p:nvSpPr>
        <p:spPr>
          <a:xfrm>
            <a:off x="2615184" y="1188720"/>
            <a:ext cx="3474600" cy="457200"/>
          </a:xfrm>
          <a:prstGeom prst="rect">
            <a:avLst/>
          </a:prstGeom>
          <a:solidFill>
            <a:srgbClr val="08101C"/>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57" name="Google Shape;657;p20"/>
          <p:cNvSpPr txBox="1"/>
          <p:nvPr/>
        </p:nvSpPr>
        <p:spPr>
          <a:xfrm>
            <a:off x="2688336" y="1243584"/>
            <a:ext cx="33651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PHASE 2</a:t>
            </a:r>
            <a:br>
              <a:rPr b="1" i="0" lang="en-US" sz="1000" u="none" cap="none" strike="noStrike">
                <a:solidFill>
                  <a:srgbClr val="00E5FF"/>
                </a:solidFill>
                <a:latin typeface="Calibri"/>
                <a:ea typeface="Calibri"/>
                <a:cs typeface="Calibri"/>
                <a:sym typeface="Calibri"/>
              </a:rPr>
            </a:br>
            <a:r>
              <a:rPr b="1" i="0" lang="en-US" sz="1000" u="none" cap="none" strike="noStrike">
                <a:solidFill>
                  <a:srgbClr val="00E5FF"/>
                </a:solidFill>
                <a:latin typeface="Calibri"/>
                <a:ea typeface="Calibri"/>
                <a:cs typeface="Calibri"/>
                <a:sym typeface="Calibri"/>
              </a:rPr>
              <a:t>Analysis + Intel</a:t>
            </a:r>
            <a:endParaRPr b="0" i="0" sz="1400" u="none" cap="none" strike="noStrike">
              <a:solidFill>
                <a:srgbClr val="000000"/>
              </a:solidFill>
              <a:latin typeface="Arial"/>
              <a:ea typeface="Arial"/>
              <a:cs typeface="Arial"/>
              <a:sym typeface="Arial"/>
            </a:endParaRPr>
          </a:p>
        </p:txBody>
      </p:sp>
      <p:sp>
        <p:nvSpPr>
          <p:cNvPr id="658" name="Google Shape;658;p20"/>
          <p:cNvSpPr txBox="1"/>
          <p:nvPr/>
        </p:nvSpPr>
        <p:spPr>
          <a:xfrm>
            <a:off x="2688336" y="1700784"/>
            <a:ext cx="33651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 Analysis + 🔍 Research</a:t>
            </a:r>
            <a:endParaRPr b="0" i="0" sz="1400" u="none" cap="none" strike="noStrike">
              <a:solidFill>
                <a:srgbClr val="000000"/>
              </a:solidFill>
              <a:latin typeface="Arial"/>
              <a:ea typeface="Arial"/>
              <a:cs typeface="Arial"/>
              <a:sym typeface="Arial"/>
            </a:endParaRPr>
          </a:p>
        </p:txBody>
      </p:sp>
      <p:sp>
        <p:nvSpPr>
          <p:cNvPr id="659" name="Google Shape;659;p20"/>
          <p:cNvSpPr/>
          <p:nvPr/>
        </p:nvSpPr>
        <p:spPr>
          <a:xfrm>
            <a:off x="2688336" y="1920240"/>
            <a:ext cx="3328500" cy="183000"/>
          </a:xfrm>
          <a:prstGeom prst="rect">
            <a:avLst/>
          </a:prstGeom>
          <a:solidFill>
            <a:srgbClr val="081022"/>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0" name="Google Shape;660;p20"/>
          <p:cNvSpPr txBox="1"/>
          <p:nvPr/>
        </p:nvSpPr>
        <p:spPr>
          <a:xfrm>
            <a:off x="2724912" y="1929384"/>
            <a:ext cx="32919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00E5FF"/>
                </a:solidFill>
                <a:latin typeface="Calibri"/>
                <a:ea typeface="Calibri"/>
                <a:cs typeface="Calibri"/>
                <a:sym typeface="Calibri"/>
              </a:rPr>
              <a:t>WhatWeb  ·  Gobuster  ·  ffuf  ·  Nuclei  ·  ZAP</a:t>
            </a:r>
            <a:endParaRPr b="0" i="0" sz="1400" u="none" cap="none" strike="noStrike">
              <a:solidFill>
                <a:srgbClr val="000000"/>
              </a:solidFill>
              <a:latin typeface="Arial"/>
              <a:ea typeface="Arial"/>
              <a:cs typeface="Arial"/>
              <a:sym typeface="Arial"/>
            </a:endParaRPr>
          </a:p>
        </p:txBody>
      </p:sp>
      <p:sp>
        <p:nvSpPr>
          <p:cNvPr id="661" name="Google Shape;661;p20"/>
          <p:cNvSpPr/>
          <p:nvPr/>
        </p:nvSpPr>
        <p:spPr>
          <a:xfrm>
            <a:off x="2688336" y="2157984"/>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2" name="Google Shape;662;p20"/>
          <p:cNvSpPr/>
          <p:nvPr/>
        </p:nvSpPr>
        <p:spPr>
          <a:xfrm>
            <a:off x="2688336" y="2157984"/>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3" name="Google Shape;663;p20"/>
          <p:cNvSpPr txBox="1"/>
          <p:nvPr/>
        </p:nvSpPr>
        <p:spPr>
          <a:xfrm>
            <a:off x="2761488" y="2194560"/>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WhatWeb</a:t>
            </a:r>
            <a:endParaRPr b="0" i="0" sz="1400" u="none" cap="none" strike="noStrike">
              <a:solidFill>
                <a:srgbClr val="000000"/>
              </a:solidFill>
              <a:latin typeface="Arial"/>
              <a:ea typeface="Arial"/>
              <a:cs typeface="Arial"/>
              <a:sym typeface="Arial"/>
            </a:endParaRPr>
          </a:p>
        </p:txBody>
      </p:sp>
      <p:sp>
        <p:nvSpPr>
          <p:cNvPr id="664" name="Google Shape;664;p20"/>
          <p:cNvSpPr txBox="1"/>
          <p:nvPr/>
        </p:nvSpPr>
        <p:spPr>
          <a:xfrm>
            <a:off x="2761488" y="2432304"/>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WordPress 5.9.3 · Django API</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Research: CVE-2022-21661 (CVSS 8.8)</a:t>
            </a:r>
            <a:endParaRPr b="0" i="0" sz="1400" u="none" cap="none" strike="noStrike">
              <a:solidFill>
                <a:srgbClr val="000000"/>
              </a:solidFill>
              <a:latin typeface="Arial"/>
              <a:ea typeface="Arial"/>
              <a:cs typeface="Arial"/>
              <a:sym typeface="Arial"/>
            </a:endParaRPr>
          </a:p>
        </p:txBody>
      </p:sp>
      <p:sp>
        <p:nvSpPr>
          <p:cNvPr id="665" name="Google Shape;665;p20"/>
          <p:cNvSpPr/>
          <p:nvPr/>
        </p:nvSpPr>
        <p:spPr>
          <a:xfrm>
            <a:off x="2688336" y="3044952"/>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6" name="Google Shape;666;p20"/>
          <p:cNvSpPr/>
          <p:nvPr/>
        </p:nvSpPr>
        <p:spPr>
          <a:xfrm>
            <a:off x="2688336" y="3044952"/>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67" name="Google Shape;667;p20"/>
          <p:cNvSpPr txBox="1"/>
          <p:nvPr/>
        </p:nvSpPr>
        <p:spPr>
          <a:xfrm>
            <a:off x="2761488" y="3081528"/>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Gobuster</a:t>
            </a:r>
            <a:endParaRPr b="0" i="0" sz="1400" u="none" cap="none" strike="noStrike">
              <a:solidFill>
                <a:srgbClr val="000000"/>
              </a:solidFill>
              <a:latin typeface="Arial"/>
              <a:ea typeface="Arial"/>
              <a:cs typeface="Arial"/>
              <a:sym typeface="Arial"/>
            </a:endParaRPr>
          </a:p>
        </p:txBody>
      </p:sp>
      <p:sp>
        <p:nvSpPr>
          <p:cNvPr id="668" name="Google Shape;668;p20"/>
          <p:cNvSpPr txBox="1"/>
          <p:nvPr/>
        </p:nvSpPr>
        <p:spPr>
          <a:xfrm>
            <a:off x="2761488" y="3319272"/>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/backup/db_export_2023.sql EXPOSED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/admin/users · /admin/login</a:t>
            </a:r>
            <a:endParaRPr b="0" i="0" sz="1400" u="none" cap="none" strike="noStrike">
              <a:solidFill>
                <a:srgbClr val="000000"/>
              </a:solidFill>
              <a:latin typeface="Arial"/>
              <a:ea typeface="Arial"/>
              <a:cs typeface="Arial"/>
              <a:sym typeface="Arial"/>
            </a:endParaRPr>
          </a:p>
        </p:txBody>
      </p:sp>
      <p:sp>
        <p:nvSpPr>
          <p:cNvPr id="669" name="Google Shape;669;p20"/>
          <p:cNvSpPr/>
          <p:nvPr/>
        </p:nvSpPr>
        <p:spPr>
          <a:xfrm>
            <a:off x="2688336" y="3931920"/>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0" name="Google Shape;670;p20"/>
          <p:cNvSpPr/>
          <p:nvPr/>
        </p:nvSpPr>
        <p:spPr>
          <a:xfrm>
            <a:off x="2688336" y="3931920"/>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1" name="Google Shape;671;p20"/>
          <p:cNvSpPr txBox="1"/>
          <p:nvPr/>
        </p:nvSpPr>
        <p:spPr>
          <a:xfrm>
            <a:off x="2761488" y="3968496"/>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ffuf</a:t>
            </a:r>
            <a:endParaRPr b="0" i="0" sz="1400" u="none" cap="none" strike="noStrike">
              <a:solidFill>
                <a:srgbClr val="000000"/>
              </a:solidFill>
              <a:latin typeface="Arial"/>
              <a:ea typeface="Arial"/>
              <a:cs typeface="Arial"/>
              <a:sym typeface="Arial"/>
            </a:endParaRPr>
          </a:p>
        </p:txBody>
      </p:sp>
      <p:sp>
        <p:nvSpPr>
          <p:cNvPr id="672" name="Google Shape;672;p20"/>
          <p:cNvSpPr txBox="1"/>
          <p:nvPr/>
        </p:nvSpPr>
        <p:spPr>
          <a:xfrm>
            <a:off x="2761488" y="4206240"/>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IDOR: user_id param unsanitized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/api/v1/internal/users found</a:t>
            </a:r>
            <a:endParaRPr b="0" i="0" sz="1400" u="none" cap="none" strike="noStrike">
              <a:solidFill>
                <a:srgbClr val="000000"/>
              </a:solidFill>
              <a:latin typeface="Arial"/>
              <a:ea typeface="Arial"/>
              <a:cs typeface="Arial"/>
              <a:sym typeface="Arial"/>
            </a:endParaRPr>
          </a:p>
        </p:txBody>
      </p:sp>
      <p:sp>
        <p:nvSpPr>
          <p:cNvPr id="673" name="Google Shape;673;p20"/>
          <p:cNvSpPr/>
          <p:nvPr/>
        </p:nvSpPr>
        <p:spPr>
          <a:xfrm>
            <a:off x="2688336" y="4818888"/>
            <a:ext cx="3328500" cy="832200"/>
          </a:xfrm>
          <a:prstGeom prst="rect">
            <a:avLst/>
          </a:prstGeom>
          <a:solidFill>
            <a:srgbClr val="080E1C"/>
          </a:solidFill>
          <a:ln cap="flat" cmpd="sng" w="95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4" name="Google Shape;674;p20"/>
          <p:cNvSpPr/>
          <p:nvPr/>
        </p:nvSpPr>
        <p:spPr>
          <a:xfrm>
            <a:off x="2688336" y="4818888"/>
            <a:ext cx="45600" cy="832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5" name="Google Shape;675;p20"/>
          <p:cNvSpPr txBox="1"/>
          <p:nvPr/>
        </p:nvSpPr>
        <p:spPr>
          <a:xfrm>
            <a:off x="2761488" y="4855464"/>
            <a:ext cx="32004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0E5FF"/>
                </a:solidFill>
                <a:latin typeface="Calibri"/>
                <a:ea typeface="Calibri"/>
                <a:cs typeface="Calibri"/>
                <a:sym typeface="Calibri"/>
              </a:rPr>
              <a:t>ZAP</a:t>
            </a:r>
            <a:endParaRPr b="0" i="0" sz="1400" u="none" cap="none" strike="noStrike">
              <a:solidFill>
                <a:srgbClr val="000000"/>
              </a:solidFill>
              <a:latin typeface="Arial"/>
              <a:ea typeface="Arial"/>
              <a:cs typeface="Arial"/>
              <a:sym typeface="Arial"/>
            </a:endParaRPr>
          </a:p>
        </p:txBody>
      </p:sp>
      <p:sp>
        <p:nvSpPr>
          <p:cNvPr id="676" name="Google Shape;676;p20"/>
          <p:cNvSpPr txBox="1"/>
          <p:nvPr/>
        </p:nvSpPr>
        <p:spPr>
          <a:xfrm>
            <a:off x="2761488" y="5093208"/>
            <a:ext cx="3200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XSS on /search?q=</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SQL error on staging login</a:t>
            </a:r>
            <a:endParaRPr b="0" i="0" sz="1400" u="none" cap="none" strike="noStrike">
              <a:solidFill>
                <a:srgbClr val="000000"/>
              </a:solidFill>
              <a:latin typeface="Arial"/>
              <a:ea typeface="Arial"/>
              <a:cs typeface="Arial"/>
              <a:sym typeface="Arial"/>
            </a:endParaRPr>
          </a:p>
        </p:txBody>
      </p:sp>
      <p:sp>
        <p:nvSpPr>
          <p:cNvPr id="677" name="Google Shape;677;p20"/>
          <p:cNvSpPr/>
          <p:nvPr/>
        </p:nvSpPr>
        <p:spPr>
          <a:xfrm>
            <a:off x="2615184" y="5797296"/>
            <a:ext cx="3474600" cy="402300"/>
          </a:xfrm>
          <a:prstGeom prst="rect">
            <a:avLst/>
          </a:prstGeom>
          <a:solidFill>
            <a:srgbClr val="060C18"/>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78" name="Google Shape;678;p20"/>
          <p:cNvSpPr txBox="1"/>
          <p:nvPr/>
        </p:nvSpPr>
        <p:spPr>
          <a:xfrm>
            <a:off x="2706624" y="5852160"/>
            <a:ext cx="33375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00E5FF"/>
                </a:solidFill>
                <a:latin typeface="Calibri"/>
                <a:ea typeface="Calibri"/>
                <a:cs typeface="Calibri"/>
                <a:sym typeface="Calibri"/>
              </a:rPr>
              <a:t>ASG ← 61 nodes</a:t>
            </a:r>
            <a:br>
              <a:rPr b="1" i="0" lang="en-US" sz="850" u="none" cap="none" strike="noStrike">
                <a:solidFill>
                  <a:srgbClr val="00E5FF"/>
                </a:solidFill>
                <a:latin typeface="Calibri"/>
                <a:ea typeface="Calibri"/>
                <a:cs typeface="Calibri"/>
                <a:sym typeface="Calibri"/>
              </a:rPr>
            </a:br>
            <a:r>
              <a:rPr b="1" i="0" lang="en-US" sz="850" u="none" cap="none" strike="noStrike">
                <a:solidFill>
                  <a:srgbClr val="00E5FF"/>
                </a:solidFill>
                <a:latin typeface="Calibri"/>
                <a:ea typeface="Calibri"/>
                <a:cs typeface="Calibri"/>
                <a:sym typeface="Calibri"/>
              </a:rPr>
              <a:t>APG ← 3 chains seeded</a:t>
            </a:r>
            <a:endParaRPr b="0" i="0" sz="1400" u="none" cap="none" strike="noStrike">
              <a:solidFill>
                <a:srgbClr val="000000"/>
              </a:solidFill>
              <a:latin typeface="Arial"/>
              <a:ea typeface="Arial"/>
              <a:cs typeface="Arial"/>
              <a:sym typeface="Arial"/>
            </a:endParaRPr>
          </a:p>
        </p:txBody>
      </p:sp>
      <p:cxnSp>
        <p:nvCxnSpPr>
          <p:cNvPr id="679" name="Google Shape;679;p20"/>
          <p:cNvCxnSpPr/>
          <p:nvPr/>
        </p:nvCxnSpPr>
        <p:spPr>
          <a:xfrm>
            <a:off x="6089904" y="1417320"/>
            <a:ext cx="549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680" name="Google Shape;680;p20"/>
          <p:cNvSpPr/>
          <p:nvPr/>
        </p:nvSpPr>
        <p:spPr>
          <a:xfrm>
            <a:off x="6144768" y="1188720"/>
            <a:ext cx="3639300" cy="5010900"/>
          </a:xfrm>
          <a:prstGeom prst="rect">
            <a:avLst/>
          </a:prstGeom>
          <a:solidFill>
            <a:srgbClr val="180606"/>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1" name="Google Shape;681;p20"/>
          <p:cNvSpPr/>
          <p:nvPr/>
        </p:nvSpPr>
        <p:spPr>
          <a:xfrm>
            <a:off x="6144768" y="1188720"/>
            <a:ext cx="3639300" cy="457200"/>
          </a:xfrm>
          <a:prstGeom prst="rect">
            <a:avLst/>
          </a:prstGeom>
          <a:solidFill>
            <a:srgbClr val="08101C"/>
          </a:solidFill>
          <a:ln cap="flat" cmpd="sng" w="152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2" name="Google Shape;682;p20"/>
          <p:cNvSpPr txBox="1"/>
          <p:nvPr/>
        </p:nvSpPr>
        <p:spPr>
          <a:xfrm>
            <a:off x="6217920" y="1243584"/>
            <a:ext cx="35295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FF4545"/>
                </a:solidFill>
                <a:latin typeface="Calibri"/>
                <a:ea typeface="Calibri"/>
                <a:cs typeface="Calibri"/>
                <a:sym typeface="Calibri"/>
              </a:rPr>
              <a:t>PHASE 3</a:t>
            </a:r>
            <a:br>
              <a:rPr b="1" i="0" lang="en-US" sz="1000" u="none" cap="none" strike="noStrike">
                <a:solidFill>
                  <a:srgbClr val="FF4545"/>
                </a:solidFill>
                <a:latin typeface="Calibri"/>
                <a:ea typeface="Calibri"/>
                <a:cs typeface="Calibri"/>
                <a:sym typeface="Calibri"/>
              </a:rPr>
            </a:br>
            <a:r>
              <a:rPr b="1" i="0" lang="en-US" sz="1000" u="none" cap="none" strike="noStrike">
                <a:solidFill>
                  <a:srgbClr val="FF4545"/>
                </a:solidFill>
                <a:latin typeface="Calibri"/>
                <a:ea typeface="Calibri"/>
                <a:cs typeface="Calibri"/>
                <a:sym typeface="Calibri"/>
              </a:rPr>
              <a:t>Validation</a:t>
            </a:r>
            <a:endParaRPr b="0" i="0" sz="1400" u="none" cap="none" strike="noStrike">
              <a:solidFill>
                <a:srgbClr val="000000"/>
              </a:solidFill>
              <a:latin typeface="Arial"/>
              <a:ea typeface="Arial"/>
              <a:cs typeface="Arial"/>
              <a:sym typeface="Arial"/>
            </a:endParaRPr>
          </a:p>
        </p:txBody>
      </p:sp>
      <p:sp>
        <p:nvSpPr>
          <p:cNvPr id="683" name="Google Shape;683;p20"/>
          <p:cNvSpPr txBox="1"/>
          <p:nvPr/>
        </p:nvSpPr>
        <p:spPr>
          <a:xfrm>
            <a:off x="6217920" y="1700784"/>
            <a:ext cx="35295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 Validation + 📸 Evidence</a:t>
            </a:r>
            <a:endParaRPr b="0" i="0" sz="1400" u="none" cap="none" strike="noStrike">
              <a:solidFill>
                <a:srgbClr val="000000"/>
              </a:solidFill>
              <a:latin typeface="Arial"/>
              <a:ea typeface="Arial"/>
              <a:cs typeface="Arial"/>
              <a:sym typeface="Arial"/>
            </a:endParaRPr>
          </a:p>
        </p:txBody>
      </p:sp>
      <p:sp>
        <p:nvSpPr>
          <p:cNvPr id="684" name="Google Shape;684;p20"/>
          <p:cNvSpPr/>
          <p:nvPr/>
        </p:nvSpPr>
        <p:spPr>
          <a:xfrm>
            <a:off x="6217920" y="1920240"/>
            <a:ext cx="3492900" cy="183000"/>
          </a:xfrm>
          <a:prstGeom prst="rect">
            <a:avLst/>
          </a:prstGeom>
          <a:solidFill>
            <a:srgbClr val="08102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5" name="Google Shape;685;p20"/>
          <p:cNvSpPr txBox="1"/>
          <p:nvPr/>
        </p:nvSpPr>
        <p:spPr>
          <a:xfrm>
            <a:off x="6254496" y="1929384"/>
            <a:ext cx="34563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FF4545"/>
                </a:solidFill>
                <a:latin typeface="Calibri"/>
                <a:ea typeface="Calibri"/>
                <a:cs typeface="Calibri"/>
                <a:sym typeface="Calibri"/>
              </a:rPr>
              <a:t>SQLMap  ·  Metasploit  ·  EyeWitness</a:t>
            </a:r>
            <a:endParaRPr b="0" i="0" sz="1400" u="none" cap="none" strike="noStrike">
              <a:solidFill>
                <a:srgbClr val="000000"/>
              </a:solidFill>
              <a:latin typeface="Arial"/>
              <a:ea typeface="Arial"/>
              <a:cs typeface="Arial"/>
              <a:sym typeface="Arial"/>
            </a:endParaRPr>
          </a:p>
        </p:txBody>
      </p:sp>
      <p:sp>
        <p:nvSpPr>
          <p:cNvPr id="686" name="Google Shape;686;p20"/>
          <p:cNvSpPr/>
          <p:nvPr/>
        </p:nvSpPr>
        <p:spPr>
          <a:xfrm>
            <a:off x="6217920" y="2157984"/>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7" name="Google Shape;687;p20"/>
          <p:cNvSpPr/>
          <p:nvPr/>
        </p:nvSpPr>
        <p:spPr>
          <a:xfrm>
            <a:off x="6217920" y="2157984"/>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88" name="Google Shape;688;p20"/>
          <p:cNvSpPr txBox="1"/>
          <p:nvPr/>
        </p:nvSpPr>
        <p:spPr>
          <a:xfrm>
            <a:off x="6291072" y="21945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Chain-01</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8.8)</a:t>
            </a:r>
            <a:endParaRPr b="0" i="0" sz="1400" u="none" cap="none" strike="noStrike">
              <a:solidFill>
                <a:srgbClr val="000000"/>
              </a:solidFill>
              <a:latin typeface="Arial"/>
              <a:ea typeface="Arial"/>
              <a:cs typeface="Arial"/>
              <a:sym typeface="Arial"/>
            </a:endParaRPr>
          </a:p>
        </p:txBody>
      </p:sp>
      <p:sp>
        <p:nvSpPr>
          <p:cNvPr id="689" name="Google Shape;689;p20"/>
          <p:cNvSpPr txBox="1"/>
          <p:nvPr/>
        </p:nvSpPr>
        <p:spPr>
          <a:xfrm>
            <a:off x="6291072" y="2432304"/>
            <a:ext cx="3365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 SQLi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Admin hash cracked → Metasploit → RCE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Status: VALIDATED (escalated 9.1)</a:t>
            </a:r>
            <a:endParaRPr b="0" i="0" sz="1400" u="none" cap="none" strike="noStrike">
              <a:solidFill>
                <a:srgbClr val="000000"/>
              </a:solidFill>
              <a:latin typeface="Arial"/>
              <a:ea typeface="Arial"/>
              <a:cs typeface="Arial"/>
              <a:sym typeface="Arial"/>
            </a:endParaRPr>
          </a:p>
        </p:txBody>
      </p:sp>
      <p:sp>
        <p:nvSpPr>
          <p:cNvPr id="690" name="Google Shape;690;p20"/>
          <p:cNvSpPr/>
          <p:nvPr/>
        </p:nvSpPr>
        <p:spPr>
          <a:xfrm>
            <a:off x="6217920" y="3067812"/>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1" name="Google Shape;691;p20"/>
          <p:cNvSpPr/>
          <p:nvPr/>
        </p:nvSpPr>
        <p:spPr>
          <a:xfrm>
            <a:off x="6217920" y="3067812"/>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2" name="Google Shape;692;p20"/>
          <p:cNvSpPr txBox="1"/>
          <p:nvPr/>
        </p:nvSpPr>
        <p:spPr>
          <a:xfrm>
            <a:off x="6291072" y="31043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Chain-02</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7.5)</a:t>
            </a:r>
            <a:endParaRPr b="0" i="0" sz="1400" u="none" cap="none" strike="noStrike">
              <a:solidFill>
                <a:srgbClr val="000000"/>
              </a:solidFill>
              <a:latin typeface="Arial"/>
              <a:ea typeface="Arial"/>
              <a:cs typeface="Arial"/>
              <a:sym typeface="Arial"/>
            </a:endParaRPr>
          </a:p>
        </p:txBody>
      </p:sp>
      <p:sp>
        <p:nvSpPr>
          <p:cNvPr id="693" name="Google Shape;693;p20"/>
          <p:cNvSpPr txBox="1"/>
          <p:nvPr/>
        </p:nvSpPr>
        <p:spPr>
          <a:xfrm>
            <a:off x="6291072" y="3342132"/>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SQLMap on user_id → IDOR confirmed</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Any customer orders accessible</a:t>
            </a:r>
            <a:endParaRPr b="0" i="0" sz="1400" u="none" cap="none" strike="noStrike">
              <a:solidFill>
                <a:srgbClr val="000000"/>
              </a:solidFill>
              <a:latin typeface="Arial"/>
              <a:ea typeface="Arial"/>
              <a:cs typeface="Arial"/>
              <a:sym typeface="Arial"/>
            </a:endParaRPr>
          </a:p>
        </p:txBody>
      </p:sp>
      <p:sp>
        <p:nvSpPr>
          <p:cNvPr id="694" name="Google Shape;694;p20"/>
          <p:cNvSpPr/>
          <p:nvPr/>
        </p:nvSpPr>
        <p:spPr>
          <a:xfrm>
            <a:off x="6217920" y="3977640"/>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5" name="Google Shape;695;p20"/>
          <p:cNvSpPr/>
          <p:nvPr/>
        </p:nvSpPr>
        <p:spPr>
          <a:xfrm>
            <a:off x="6217920" y="3977640"/>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6" name="Google Shape;696;p20"/>
          <p:cNvSpPr txBox="1"/>
          <p:nvPr/>
        </p:nvSpPr>
        <p:spPr>
          <a:xfrm>
            <a:off x="6291072" y="4014216"/>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Chain-03</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(risk 8.1)</a:t>
            </a:r>
            <a:endParaRPr b="0" i="0" sz="1400" u="none" cap="none" strike="noStrike">
              <a:solidFill>
                <a:srgbClr val="000000"/>
              </a:solidFill>
              <a:latin typeface="Arial"/>
              <a:ea typeface="Arial"/>
              <a:cs typeface="Arial"/>
              <a:sym typeface="Arial"/>
            </a:endParaRPr>
          </a:p>
        </p:txBody>
      </p:sp>
      <p:sp>
        <p:nvSpPr>
          <p:cNvPr id="697" name="Google Shape;697;p20"/>
          <p:cNvSpPr txBox="1"/>
          <p:nvPr/>
        </p:nvSpPr>
        <p:spPr>
          <a:xfrm>
            <a:off x="6291072" y="4251960"/>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Blind SQLi on staging → DB creds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Credential reuse risk flagged</a:t>
            </a:r>
            <a:endParaRPr b="0" i="0" sz="1400" u="none" cap="none" strike="noStrike">
              <a:solidFill>
                <a:srgbClr val="000000"/>
              </a:solidFill>
              <a:latin typeface="Arial"/>
              <a:ea typeface="Arial"/>
              <a:cs typeface="Arial"/>
              <a:sym typeface="Arial"/>
            </a:endParaRPr>
          </a:p>
        </p:txBody>
      </p:sp>
      <p:sp>
        <p:nvSpPr>
          <p:cNvPr id="698" name="Google Shape;698;p20"/>
          <p:cNvSpPr/>
          <p:nvPr/>
        </p:nvSpPr>
        <p:spPr>
          <a:xfrm>
            <a:off x="6217920" y="4887468"/>
            <a:ext cx="3492900" cy="855000"/>
          </a:xfrm>
          <a:prstGeom prst="rect">
            <a:avLst/>
          </a:prstGeom>
          <a:solidFill>
            <a:srgbClr val="080E1C"/>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699" name="Google Shape;699;p20"/>
          <p:cNvSpPr/>
          <p:nvPr/>
        </p:nvSpPr>
        <p:spPr>
          <a:xfrm>
            <a:off x="6217920" y="4887468"/>
            <a:ext cx="45600" cy="8550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0" name="Google Shape;700;p20"/>
          <p:cNvSpPr txBox="1"/>
          <p:nvPr/>
        </p:nvSpPr>
        <p:spPr>
          <a:xfrm>
            <a:off x="6291072" y="4924044"/>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FF4545"/>
                </a:solidFill>
                <a:latin typeface="Calibri"/>
                <a:ea typeface="Calibri"/>
                <a:cs typeface="Calibri"/>
                <a:sym typeface="Calibri"/>
              </a:rPr>
              <a:t>Chain-04</a:t>
            </a:r>
            <a:br>
              <a:rPr b="1" i="0" lang="en-US" sz="800" u="none" cap="none" strike="noStrike">
                <a:solidFill>
                  <a:srgbClr val="FF4545"/>
                </a:solidFill>
                <a:latin typeface="Calibri"/>
                <a:ea typeface="Calibri"/>
                <a:cs typeface="Calibri"/>
                <a:sym typeface="Calibri"/>
              </a:rPr>
            </a:br>
            <a:r>
              <a:rPr b="1" i="0" lang="en-US" sz="800" u="none" cap="none" strike="noStrike">
                <a:solidFill>
                  <a:srgbClr val="FF4545"/>
                </a:solidFill>
                <a:latin typeface="Calibri"/>
                <a:ea typeface="Calibri"/>
                <a:cs typeface="Calibri"/>
                <a:sym typeface="Calibri"/>
              </a:rPr>
              <a:t>(validated instantly)</a:t>
            </a:r>
            <a:endParaRPr b="0" i="0" sz="1400" u="none" cap="none" strike="noStrike">
              <a:solidFill>
                <a:srgbClr val="000000"/>
              </a:solidFill>
              <a:latin typeface="Arial"/>
              <a:ea typeface="Arial"/>
              <a:cs typeface="Arial"/>
              <a:sym typeface="Arial"/>
            </a:endParaRPr>
          </a:p>
        </p:txBody>
      </p:sp>
      <p:sp>
        <p:nvSpPr>
          <p:cNvPr id="701" name="Google Shape;701;p20"/>
          <p:cNvSpPr txBox="1"/>
          <p:nvPr/>
        </p:nvSpPr>
        <p:spPr>
          <a:xfrm>
            <a:off x="6291072" y="5161788"/>
            <a:ext cx="33651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Direct GET on exposed DB backup file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Misconfiguration → full PII exposure, no agent needed</a:t>
            </a:r>
            <a:endParaRPr b="0" i="0" sz="1400" u="none" cap="none" strike="noStrike">
              <a:solidFill>
                <a:srgbClr val="000000"/>
              </a:solidFill>
              <a:latin typeface="Arial"/>
              <a:ea typeface="Arial"/>
              <a:cs typeface="Arial"/>
              <a:sym typeface="Arial"/>
            </a:endParaRPr>
          </a:p>
        </p:txBody>
      </p:sp>
      <p:sp>
        <p:nvSpPr>
          <p:cNvPr id="702" name="Google Shape;702;p20"/>
          <p:cNvSpPr/>
          <p:nvPr/>
        </p:nvSpPr>
        <p:spPr>
          <a:xfrm>
            <a:off x="6144768" y="5797296"/>
            <a:ext cx="3639300" cy="402300"/>
          </a:xfrm>
          <a:prstGeom prst="rect">
            <a:avLst/>
          </a:prstGeom>
          <a:solidFill>
            <a:srgbClr val="060C18"/>
          </a:solidFill>
          <a:ln cap="flat" cmpd="sng" w="1015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3" name="Google Shape;703;p20"/>
          <p:cNvSpPr txBox="1"/>
          <p:nvPr/>
        </p:nvSpPr>
        <p:spPr>
          <a:xfrm>
            <a:off x="6236208" y="5852160"/>
            <a:ext cx="3502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FF4545"/>
                </a:solidFill>
                <a:latin typeface="Calibri"/>
                <a:ea typeface="Calibri"/>
                <a:cs typeface="Calibri"/>
                <a:sym typeface="Calibri"/>
              </a:rPr>
              <a:t>APG ← 4 chains VALIDATED</a:t>
            </a:r>
            <a:br>
              <a:rPr b="1" i="0" lang="en-US" sz="850" u="none" cap="none" strike="noStrike">
                <a:solidFill>
                  <a:srgbClr val="FF4545"/>
                </a:solidFill>
                <a:latin typeface="Calibri"/>
                <a:ea typeface="Calibri"/>
                <a:cs typeface="Calibri"/>
                <a:sym typeface="Calibri"/>
              </a:rPr>
            </a:br>
            <a:r>
              <a:rPr b="1" i="0" lang="en-US" sz="850" u="none" cap="none" strike="noStrike">
                <a:solidFill>
                  <a:srgbClr val="FF4545"/>
                </a:solidFill>
                <a:latin typeface="Calibri"/>
                <a:ea typeface="Calibri"/>
                <a:cs typeface="Calibri"/>
                <a:sym typeface="Calibri"/>
              </a:rPr>
              <a:t>ASG ← Evidence nodes linked</a:t>
            </a:r>
            <a:endParaRPr b="0" i="0" sz="1400" u="none" cap="none" strike="noStrike">
              <a:solidFill>
                <a:srgbClr val="000000"/>
              </a:solidFill>
              <a:latin typeface="Arial"/>
              <a:ea typeface="Arial"/>
              <a:cs typeface="Arial"/>
              <a:sym typeface="Arial"/>
            </a:endParaRPr>
          </a:p>
        </p:txBody>
      </p:sp>
      <p:cxnSp>
        <p:nvCxnSpPr>
          <p:cNvPr id="704" name="Google Shape;704;p20"/>
          <p:cNvCxnSpPr/>
          <p:nvPr/>
        </p:nvCxnSpPr>
        <p:spPr>
          <a:xfrm>
            <a:off x="9784080" y="1417320"/>
            <a:ext cx="54900" cy="0"/>
          </a:xfrm>
          <a:prstGeom prst="straightConnector1">
            <a:avLst/>
          </a:prstGeom>
          <a:noFill/>
          <a:ln cap="flat" cmpd="sng" w="22850">
            <a:solidFill>
              <a:srgbClr val="BD93F9"/>
            </a:solidFill>
            <a:prstDash val="solid"/>
            <a:round/>
            <a:headEnd len="med" w="med" type="stealth"/>
            <a:tailEnd len="sm" w="sm" type="none"/>
          </a:ln>
          <a:effectLst>
            <a:outerShdw blurRad="40000" rotWithShape="0" dir="5400000" dist="20000">
              <a:srgbClr val="000000">
                <a:alpha val="38040"/>
              </a:srgbClr>
            </a:outerShdw>
          </a:effectLst>
        </p:spPr>
      </p:cxnSp>
      <p:sp>
        <p:nvSpPr>
          <p:cNvPr id="705" name="Google Shape;705;p20"/>
          <p:cNvSpPr/>
          <p:nvPr/>
        </p:nvSpPr>
        <p:spPr>
          <a:xfrm>
            <a:off x="9838950" y="1188725"/>
            <a:ext cx="2212800" cy="5010900"/>
          </a:xfrm>
          <a:prstGeom prst="rect">
            <a:avLst/>
          </a:prstGeom>
          <a:solidFill>
            <a:srgbClr val="1008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6" name="Google Shape;706;p20"/>
          <p:cNvSpPr/>
          <p:nvPr/>
        </p:nvSpPr>
        <p:spPr>
          <a:xfrm>
            <a:off x="9838950" y="1188725"/>
            <a:ext cx="2212800" cy="457200"/>
          </a:xfrm>
          <a:prstGeom prst="rect">
            <a:avLst/>
          </a:prstGeom>
          <a:solidFill>
            <a:srgbClr val="08101C"/>
          </a:solidFill>
          <a:ln cap="flat" cmpd="sng" w="152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07" name="Google Shape;707;p20"/>
          <p:cNvSpPr txBox="1"/>
          <p:nvPr/>
        </p:nvSpPr>
        <p:spPr>
          <a:xfrm>
            <a:off x="9912100" y="1243575"/>
            <a:ext cx="21213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PHASE 4</a:t>
            </a:r>
            <a:br>
              <a:rPr b="1" i="0" lang="en-US" sz="1000" u="none" cap="none" strike="noStrike">
                <a:solidFill>
                  <a:srgbClr val="BD93F9"/>
                </a:solidFill>
                <a:latin typeface="Calibri"/>
                <a:ea typeface="Calibri"/>
                <a:cs typeface="Calibri"/>
                <a:sym typeface="Calibri"/>
              </a:rPr>
            </a:br>
            <a:r>
              <a:rPr b="1" i="0" lang="en-US" sz="1000" u="none" cap="none" strike="noStrike">
                <a:solidFill>
                  <a:srgbClr val="BD93F9"/>
                </a:solidFill>
                <a:latin typeface="Calibri"/>
                <a:ea typeface="Calibri"/>
                <a:cs typeface="Calibri"/>
                <a:sym typeface="Calibri"/>
              </a:rPr>
              <a:t>Report</a:t>
            </a:r>
            <a:endParaRPr b="0" i="0" sz="1400" u="none" cap="none" strike="noStrike">
              <a:solidFill>
                <a:srgbClr val="000000"/>
              </a:solidFill>
              <a:latin typeface="Arial"/>
              <a:ea typeface="Arial"/>
              <a:cs typeface="Arial"/>
              <a:sym typeface="Arial"/>
            </a:endParaRPr>
          </a:p>
        </p:txBody>
      </p:sp>
      <p:sp>
        <p:nvSpPr>
          <p:cNvPr id="708" name="Google Shape;708;p20"/>
          <p:cNvSpPr txBox="1"/>
          <p:nvPr/>
        </p:nvSpPr>
        <p:spPr>
          <a:xfrm>
            <a:off x="9912100" y="1700775"/>
            <a:ext cx="21213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 Report Agent</a:t>
            </a:r>
            <a:endParaRPr b="0" i="0" sz="1400" u="none" cap="none" strike="noStrike">
              <a:solidFill>
                <a:srgbClr val="000000"/>
              </a:solidFill>
              <a:latin typeface="Arial"/>
              <a:ea typeface="Arial"/>
              <a:cs typeface="Arial"/>
              <a:sym typeface="Arial"/>
            </a:endParaRPr>
          </a:p>
        </p:txBody>
      </p:sp>
      <p:sp>
        <p:nvSpPr>
          <p:cNvPr id="709" name="Google Shape;709;p20"/>
          <p:cNvSpPr/>
          <p:nvPr/>
        </p:nvSpPr>
        <p:spPr>
          <a:xfrm>
            <a:off x="9912100" y="1920250"/>
            <a:ext cx="2060700" cy="183000"/>
          </a:xfrm>
          <a:prstGeom prst="rect">
            <a:avLst/>
          </a:prstGeom>
          <a:solidFill>
            <a:srgbClr val="08102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0" name="Google Shape;710;p20"/>
          <p:cNvSpPr txBox="1"/>
          <p:nvPr/>
        </p:nvSpPr>
        <p:spPr>
          <a:xfrm>
            <a:off x="9948675" y="1929375"/>
            <a:ext cx="2024100" cy="200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00"/>
              <a:buFont typeface="Arial"/>
              <a:buNone/>
            </a:pPr>
            <a:r>
              <a:rPr b="1" i="0" lang="en-US" sz="700" u="none" cap="none" strike="noStrike">
                <a:solidFill>
                  <a:srgbClr val="BD93F9"/>
                </a:solidFill>
                <a:latin typeface="Calibri"/>
                <a:ea typeface="Calibri"/>
                <a:cs typeface="Calibri"/>
                <a:sym typeface="Calibri"/>
              </a:rPr>
              <a:t>Reads ASG + APG</a:t>
            </a:r>
            <a:endParaRPr b="0" i="0" sz="1400" u="none" cap="none" strike="noStrike">
              <a:solidFill>
                <a:srgbClr val="000000"/>
              </a:solidFill>
              <a:latin typeface="Arial"/>
              <a:ea typeface="Arial"/>
              <a:cs typeface="Arial"/>
              <a:sym typeface="Arial"/>
            </a:endParaRPr>
          </a:p>
        </p:txBody>
      </p:sp>
      <p:sp>
        <p:nvSpPr>
          <p:cNvPr id="711" name="Google Shape;711;p20"/>
          <p:cNvSpPr/>
          <p:nvPr/>
        </p:nvSpPr>
        <p:spPr>
          <a:xfrm>
            <a:off x="9912100" y="2157975"/>
            <a:ext cx="2060700" cy="3492900"/>
          </a:xfrm>
          <a:prstGeom prst="rect">
            <a:avLst/>
          </a:prstGeom>
          <a:solidFill>
            <a:srgbClr val="080E1C"/>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2" name="Google Shape;712;p20"/>
          <p:cNvSpPr/>
          <p:nvPr/>
        </p:nvSpPr>
        <p:spPr>
          <a:xfrm>
            <a:off x="9912096" y="2157984"/>
            <a:ext cx="45600" cy="34929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3" name="Google Shape;713;p20"/>
          <p:cNvSpPr txBox="1"/>
          <p:nvPr/>
        </p:nvSpPr>
        <p:spPr>
          <a:xfrm>
            <a:off x="9985250" y="2194550"/>
            <a:ext cx="20241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BD93F9"/>
                </a:solidFill>
                <a:latin typeface="Calibri"/>
                <a:ea typeface="Calibri"/>
                <a:cs typeface="Calibri"/>
                <a:sym typeface="Calibri"/>
              </a:rPr>
              <a:t>Output</a:t>
            </a:r>
            <a:endParaRPr b="0" i="0" sz="1400" u="none" cap="none" strike="noStrike">
              <a:solidFill>
                <a:srgbClr val="000000"/>
              </a:solidFill>
              <a:latin typeface="Arial"/>
              <a:ea typeface="Arial"/>
              <a:cs typeface="Arial"/>
              <a:sym typeface="Arial"/>
            </a:endParaRPr>
          </a:p>
        </p:txBody>
      </p:sp>
      <p:sp>
        <p:nvSpPr>
          <p:cNvPr id="714" name="Google Shape;714;p20"/>
          <p:cNvSpPr txBox="1"/>
          <p:nvPr/>
        </p:nvSpPr>
        <p:spPr>
          <a:xfrm>
            <a:off x="9985250" y="2432300"/>
            <a:ext cx="2024100" cy="585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Executive summary · 4 validated chains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RCE + IDOR + SQLi + exposed DB backup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11 vuln entries · full attack surface map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Evidence at every ChainStep</a:t>
            </a:r>
            <a:endParaRPr b="0" i="0" sz="1400" u="none" cap="none" strike="noStrike">
              <a:solidFill>
                <a:srgbClr val="000000"/>
              </a:solidFill>
              <a:latin typeface="Arial"/>
              <a:ea typeface="Arial"/>
              <a:cs typeface="Arial"/>
              <a:sym typeface="Arial"/>
            </a:endParaRPr>
          </a:p>
        </p:txBody>
      </p:sp>
      <p:sp>
        <p:nvSpPr>
          <p:cNvPr id="715" name="Google Shape;715;p20"/>
          <p:cNvSpPr/>
          <p:nvPr/>
        </p:nvSpPr>
        <p:spPr>
          <a:xfrm>
            <a:off x="9838949" y="5797300"/>
            <a:ext cx="2212800" cy="402300"/>
          </a:xfrm>
          <a:prstGeom prst="rect">
            <a:avLst/>
          </a:prstGeom>
          <a:solidFill>
            <a:srgbClr val="060C18"/>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6" name="Google Shape;716;p20"/>
          <p:cNvSpPr txBox="1"/>
          <p:nvPr/>
        </p:nvSpPr>
        <p:spPr>
          <a:xfrm>
            <a:off x="9930376" y="5852150"/>
            <a:ext cx="20607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BD93F9"/>
                </a:solidFill>
                <a:latin typeface="Calibri"/>
                <a:ea typeface="Calibri"/>
                <a:cs typeface="Calibri"/>
                <a:sym typeface="Calibri"/>
              </a:rPr>
              <a:t>ZERO manual commands</a:t>
            </a:r>
            <a:endParaRPr b="0" i="0" sz="1400" u="none" cap="none" strike="noStrike">
              <a:solidFill>
                <a:srgbClr val="000000"/>
              </a:solidFill>
              <a:latin typeface="Arial"/>
              <a:ea typeface="Arial"/>
              <a:cs typeface="Arial"/>
              <a:sym typeface="Arial"/>
            </a:endParaRPr>
          </a:p>
        </p:txBody>
      </p:sp>
      <p:sp>
        <p:nvSpPr>
          <p:cNvPr id="717" name="Google Shape;717;p20"/>
          <p:cNvSpPr/>
          <p:nvPr/>
        </p:nvSpPr>
        <p:spPr>
          <a:xfrm>
            <a:off x="164592" y="6236208"/>
            <a:ext cx="11862600" cy="493800"/>
          </a:xfrm>
          <a:prstGeom prst="rect">
            <a:avLst/>
          </a:prstGeom>
          <a:solidFill>
            <a:srgbClr val="081022"/>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18" name="Google Shape;718;p20"/>
          <p:cNvSpPr txBox="1"/>
          <p:nvPr/>
        </p:nvSpPr>
        <p:spPr>
          <a:xfrm>
            <a:off x="20116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sp>
        <p:nvSpPr>
          <p:cNvPr id="719" name="Google Shape;719;p20"/>
          <p:cNvSpPr txBox="1"/>
          <p:nvPr/>
        </p:nvSpPr>
        <p:spPr>
          <a:xfrm>
            <a:off x="20116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subdomains</a:t>
            </a:r>
            <a:endParaRPr b="0" i="0" sz="1400" u="none" cap="none" strike="noStrike">
              <a:solidFill>
                <a:srgbClr val="000000"/>
              </a:solidFill>
              <a:latin typeface="Arial"/>
              <a:ea typeface="Arial"/>
              <a:cs typeface="Arial"/>
              <a:sym typeface="Arial"/>
            </a:endParaRPr>
          </a:p>
        </p:txBody>
      </p:sp>
      <p:sp>
        <p:nvSpPr>
          <p:cNvPr id="720" name="Google Shape;720;p20"/>
          <p:cNvSpPr txBox="1"/>
          <p:nvPr/>
        </p:nvSpPr>
        <p:spPr>
          <a:xfrm>
            <a:off x="1864461"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39FF14"/>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721" name="Google Shape;721;p20"/>
          <p:cNvSpPr txBox="1"/>
          <p:nvPr/>
        </p:nvSpPr>
        <p:spPr>
          <a:xfrm>
            <a:off x="1864461"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live hosts</a:t>
            </a:r>
            <a:endParaRPr b="0" i="0" sz="1400" u="none" cap="none" strike="noStrike">
              <a:solidFill>
                <a:srgbClr val="000000"/>
              </a:solidFill>
              <a:latin typeface="Arial"/>
              <a:ea typeface="Arial"/>
              <a:cs typeface="Arial"/>
              <a:sym typeface="Arial"/>
            </a:endParaRPr>
          </a:p>
        </p:txBody>
      </p:sp>
      <p:sp>
        <p:nvSpPr>
          <p:cNvPr id="722" name="Google Shape;722;p20"/>
          <p:cNvSpPr txBox="1"/>
          <p:nvPr/>
        </p:nvSpPr>
        <p:spPr>
          <a:xfrm>
            <a:off x="352775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28</a:t>
            </a:r>
            <a:endParaRPr b="0" i="0" sz="1400" u="none" cap="none" strike="noStrike">
              <a:solidFill>
                <a:srgbClr val="000000"/>
              </a:solidFill>
              <a:latin typeface="Arial"/>
              <a:ea typeface="Arial"/>
              <a:cs typeface="Arial"/>
              <a:sym typeface="Arial"/>
            </a:endParaRPr>
          </a:p>
        </p:txBody>
      </p:sp>
      <p:sp>
        <p:nvSpPr>
          <p:cNvPr id="723" name="Google Shape;723;p20"/>
          <p:cNvSpPr txBox="1"/>
          <p:nvPr/>
        </p:nvSpPr>
        <p:spPr>
          <a:xfrm>
            <a:off x="352775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open ports</a:t>
            </a:r>
            <a:endParaRPr b="0" i="0" sz="1400" u="none" cap="none" strike="noStrike">
              <a:solidFill>
                <a:srgbClr val="000000"/>
              </a:solidFill>
              <a:latin typeface="Arial"/>
              <a:ea typeface="Arial"/>
              <a:cs typeface="Arial"/>
              <a:sym typeface="Arial"/>
            </a:endParaRPr>
          </a:p>
        </p:txBody>
      </p:sp>
      <p:sp>
        <p:nvSpPr>
          <p:cNvPr id="724" name="Google Shape;724;p20"/>
          <p:cNvSpPr txBox="1"/>
          <p:nvPr/>
        </p:nvSpPr>
        <p:spPr>
          <a:xfrm>
            <a:off x="5191048"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0E5FF"/>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sp>
        <p:nvSpPr>
          <p:cNvPr id="725" name="Google Shape;725;p20"/>
          <p:cNvSpPr txBox="1"/>
          <p:nvPr/>
        </p:nvSpPr>
        <p:spPr>
          <a:xfrm>
            <a:off x="5191048"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endpoints</a:t>
            </a:r>
            <a:endParaRPr b="0" i="0" sz="1400" u="none" cap="none" strike="noStrike">
              <a:solidFill>
                <a:srgbClr val="000000"/>
              </a:solidFill>
              <a:latin typeface="Arial"/>
              <a:ea typeface="Arial"/>
              <a:cs typeface="Arial"/>
              <a:sym typeface="Arial"/>
            </a:endParaRPr>
          </a:p>
        </p:txBody>
      </p:sp>
      <p:sp>
        <p:nvSpPr>
          <p:cNvPr id="726" name="Google Shape;726;p20"/>
          <p:cNvSpPr txBox="1"/>
          <p:nvPr/>
        </p:nvSpPr>
        <p:spPr>
          <a:xfrm>
            <a:off x="6854342"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D7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
        <p:nvSpPr>
          <p:cNvPr id="727" name="Google Shape;727;p20"/>
          <p:cNvSpPr txBox="1"/>
          <p:nvPr/>
        </p:nvSpPr>
        <p:spPr>
          <a:xfrm>
            <a:off x="6854342"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vulnerabilities</a:t>
            </a:r>
            <a:endParaRPr b="0" i="0" sz="1400" u="none" cap="none" strike="noStrike">
              <a:solidFill>
                <a:srgbClr val="000000"/>
              </a:solidFill>
              <a:latin typeface="Arial"/>
              <a:ea typeface="Arial"/>
              <a:cs typeface="Arial"/>
              <a:sym typeface="Arial"/>
            </a:endParaRPr>
          </a:p>
        </p:txBody>
      </p:sp>
      <p:sp>
        <p:nvSpPr>
          <p:cNvPr id="728" name="Google Shape;728;p20"/>
          <p:cNvSpPr txBox="1"/>
          <p:nvPr/>
        </p:nvSpPr>
        <p:spPr>
          <a:xfrm>
            <a:off x="8517635"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4545"/>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729" name="Google Shape;729;p20"/>
          <p:cNvSpPr txBox="1"/>
          <p:nvPr/>
        </p:nvSpPr>
        <p:spPr>
          <a:xfrm>
            <a:off x="8517635"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730" name="Google Shape;730;p20"/>
          <p:cNvSpPr txBox="1"/>
          <p:nvPr/>
        </p:nvSpPr>
        <p:spPr>
          <a:xfrm>
            <a:off x="10180929" y="6263640"/>
            <a:ext cx="16632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D93F9"/>
                </a:solidFill>
                <a:latin typeface="Calibri"/>
                <a:ea typeface="Calibri"/>
                <a:cs typeface="Calibri"/>
                <a:sym typeface="Calibri"/>
              </a:rPr>
              <a:t>0</a:t>
            </a:r>
            <a:endParaRPr b="0" i="0" sz="1400" u="none" cap="none" strike="noStrike">
              <a:solidFill>
                <a:srgbClr val="000000"/>
              </a:solidFill>
              <a:latin typeface="Arial"/>
              <a:ea typeface="Arial"/>
              <a:cs typeface="Arial"/>
              <a:sym typeface="Arial"/>
            </a:endParaRPr>
          </a:p>
        </p:txBody>
      </p:sp>
      <p:sp>
        <p:nvSpPr>
          <p:cNvPr id="731" name="Google Shape;731;p20"/>
          <p:cNvSpPr txBox="1"/>
          <p:nvPr/>
        </p:nvSpPr>
        <p:spPr>
          <a:xfrm>
            <a:off x="10180929" y="6483096"/>
            <a:ext cx="16632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0" lang="en-US" sz="750" u="none" cap="none" strike="noStrike">
                <a:solidFill>
                  <a:srgbClr val="A0AAB8"/>
                </a:solidFill>
                <a:latin typeface="Calibri"/>
                <a:ea typeface="Calibri"/>
                <a:cs typeface="Calibri"/>
                <a:sym typeface="Calibri"/>
              </a:rPr>
              <a:t>manual commands</a:t>
            </a:r>
            <a:endParaRPr b="0" i="0" sz="1400" u="none" cap="none" strike="noStrike">
              <a:solidFill>
                <a:srgbClr val="000000"/>
              </a:solidFill>
              <a:latin typeface="Arial"/>
              <a:ea typeface="Arial"/>
              <a:cs typeface="Arial"/>
              <a:sym typeface="Arial"/>
            </a:endParaRPr>
          </a:p>
        </p:txBody>
      </p:sp>
      <p:sp>
        <p:nvSpPr>
          <p:cNvPr id="732" name="Google Shape;732;p20"/>
          <p:cNvSpPr txBox="1"/>
          <p:nvPr/>
        </p:nvSpPr>
        <p:spPr>
          <a:xfrm>
            <a:off x="11704321" y="54850"/>
            <a:ext cx="4023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08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736" name="Shape 736"/>
        <p:cNvGrpSpPr/>
        <p:nvPr/>
      </p:nvGrpSpPr>
      <p:grpSpPr>
        <a:xfrm>
          <a:off x="0" y="0"/>
          <a:ext cx="0" cy="0"/>
          <a:chOff x="0" y="0"/>
          <a:chExt cx="0" cy="0"/>
        </a:xfrm>
      </p:grpSpPr>
      <p:sp>
        <p:nvSpPr>
          <p:cNvPr id="737" name="Google Shape;737;p21"/>
          <p:cNvSpPr/>
          <p:nvPr/>
        </p:nvSpPr>
        <p:spPr>
          <a:xfrm>
            <a:off x="0" y="0"/>
            <a:ext cx="54900" cy="68580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8" name="Google Shape;738;p21"/>
          <p:cNvSpPr/>
          <p:nvPr/>
        </p:nvSpPr>
        <p:spPr>
          <a:xfrm>
            <a:off x="54864" y="0"/>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39" name="Google Shape;739;p21"/>
          <p:cNvSpPr/>
          <p:nvPr/>
        </p:nvSpPr>
        <p:spPr>
          <a:xfrm>
            <a:off x="54876" y="6848874"/>
            <a:ext cx="12136800" cy="36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0" name="Google Shape;740;p21"/>
          <p:cNvSpPr txBox="1"/>
          <p:nvPr/>
        </p:nvSpPr>
        <p:spPr>
          <a:xfrm>
            <a:off x="274320" y="64008"/>
            <a:ext cx="54864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ATTACK CHAIN LIFECYCLE</a:t>
            </a:r>
            <a:endParaRPr b="0" i="0" sz="1400" u="none" cap="none" strike="noStrike">
              <a:solidFill>
                <a:srgbClr val="000000"/>
              </a:solidFill>
              <a:latin typeface="Arial"/>
              <a:ea typeface="Arial"/>
              <a:cs typeface="Arial"/>
              <a:sym typeface="Arial"/>
            </a:endParaRPr>
          </a:p>
        </p:txBody>
      </p:sp>
      <p:sp>
        <p:nvSpPr>
          <p:cNvPr id="741" name="Google Shape;741;p21"/>
          <p:cNvSpPr txBox="1"/>
          <p:nvPr/>
        </p:nvSpPr>
        <p:spPr>
          <a:xfrm>
            <a:off x="274320" y="283464"/>
            <a:ext cx="10972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FFFFFF"/>
                </a:solidFill>
                <a:latin typeface="Calibri"/>
                <a:ea typeface="Calibri"/>
                <a:cs typeface="Calibri"/>
                <a:sym typeface="Calibri"/>
              </a:rPr>
              <a:t>APG Chain State Machine + Validation Agent Self-Debugging Loop</a:t>
            </a:r>
            <a:endParaRPr b="0" i="0" sz="1400" u="none" cap="none" strike="noStrike">
              <a:solidFill>
                <a:srgbClr val="000000"/>
              </a:solidFill>
              <a:latin typeface="Arial"/>
              <a:ea typeface="Arial"/>
              <a:cs typeface="Arial"/>
              <a:sym typeface="Arial"/>
            </a:endParaRPr>
          </a:p>
        </p:txBody>
      </p:sp>
      <p:sp>
        <p:nvSpPr>
          <p:cNvPr id="742" name="Google Shape;742;p21"/>
          <p:cNvSpPr/>
          <p:nvPr/>
        </p:nvSpPr>
        <p:spPr>
          <a:xfrm>
            <a:off x="228600" y="804672"/>
            <a:ext cx="2331600" cy="1783200"/>
          </a:xfrm>
          <a:prstGeom prst="rect">
            <a:avLst/>
          </a:prstGeom>
          <a:solidFill>
            <a:srgbClr val="504000"/>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3" name="Google Shape;743;p21"/>
          <p:cNvSpPr/>
          <p:nvPr/>
        </p:nvSpPr>
        <p:spPr>
          <a:xfrm>
            <a:off x="228600" y="804672"/>
            <a:ext cx="2331600" cy="27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4" name="Google Shape;744;p21"/>
          <p:cNvSpPr txBox="1"/>
          <p:nvPr/>
        </p:nvSpPr>
        <p:spPr>
          <a:xfrm>
            <a:off x="228600" y="841248"/>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HYPOTHESIZED</a:t>
            </a:r>
            <a:endParaRPr b="0" i="0" sz="1400" u="none" cap="none" strike="noStrike">
              <a:solidFill>
                <a:srgbClr val="000000"/>
              </a:solidFill>
              <a:latin typeface="Arial"/>
              <a:ea typeface="Arial"/>
              <a:cs typeface="Arial"/>
              <a:sym typeface="Arial"/>
            </a:endParaRPr>
          </a:p>
        </p:txBody>
      </p:sp>
      <p:sp>
        <p:nvSpPr>
          <p:cNvPr id="745" name="Google Shape;745;p21"/>
          <p:cNvSpPr txBox="1"/>
          <p:nvPr/>
        </p:nvSpPr>
        <p:spPr>
          <a:xfrm>
            <a:off x="320040"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Commander inferred a possible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from ASG Vulnerability nodes.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Not yet tested.</a:t>
            </a:r>
            <a:endParaRPr b="0" i="0" sz="1400" u="none" cap="none" strike="noStrike">
              <a:solidFill>
                <a:srgbClr val="000000"/>
              </a:solidFill>
              <a:latin typeface="Arial"/>
              <a:ea typeface="Arial"/>
              <a:cs typeface="Arial"/>
              <a:sym typeface="Arial"/>
            </a:endParaRPr>
          </a:p>
        </p:txBody>
      </p:sp>
      <p:cxnSp>
        <p:nvCxnSpPr>
          <p:cNvPr id="746" name="Google Shape;746;p21"/>
          <p:cNvCxnSpPr/>
          <p:nvPr/>
        </p:nvCxnSpPr>
        <p:spPr>
          <a:xfrm>
            <a:off x="2560320" y="0"/>
            <a:ext cx="2376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747" name="Google Shape;747;p21"/>
          <p:cNvSpPr/>
          <p:nvPr/>
        </p:nvSpPr>
        <p:spPr>
          <a:xfrm>
            <a:off x="2798064" y="804672"/>
            <a:ext cx="2331600" cy="1783200"/>
          </a:xfrm>
          <a:prstGeom prst="rect">
            <a:avLst/>
          </a:prstGeom>
          <a:solidFill>
            <a:srgbClr val="284008"/>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8" name="Google Shape;748;p21"/>
          <p:cNvSpPr/>
          <p:nvPr/>
        </p:nvSpPr>
        <p:spPr>
          <a:xfrm>
            <a:off x="2798064" y="804672"/>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49" name="Google Shape;749;p21"/>
          <p:cNvSpPr txBox="1"/>
          <p:nvPr/>
        </p:nvSpPr>
        <p:spPr>
          <a:xfrm>
            <a:off x="2798075" y="841249"/>
            <a:ext cx="2331600" cy="453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PARTIALLY VALIDATED</a:t>
            </a:r>
            <a:br>
              <a:rPr b="1" i="0" lang="en-US" sz="950" u="none" cap="none" strike="noStrike">
                <a:solidFill>
                  <a:srgbClr val="0A0D1A"/>
                </a:solidFill>
                <a:latin typeface="Calibri"/>
                <a:ea typeface="Calibri"/>
                <a:cs typeface="Calibri"/>
                <a:sym typeface="Calibri"/>
              </a:rPr>
            </a:br>
            <a:endParaRPr b="0" i="0" sz="1400" u="none" cap="none" strike="noStrike">
              <a:solidFill>
                <a:srgbClr val="000000"/>
              </a:solidFill>
              <a:latin typeface="Arial"/>
              <a:ea typeface="Arial"/>
              <a:cs typeface="Arial"/>
              <a:sym typeface="Arial"/>
            </a:endParaRPr>
          </a:p>
        </p:txBody>
      </p:sp>
      <p:sp>
        <p:nvSpPr>
          <p:cNvPr id="750" name="Google Shape;750;p21"/>
          <p:cNvSpPr txBox="1"/>
          <p:nvPr/>
        </p:nvSpPr>
        <p:spPr>
          <a:xfrm>
            <a:off x="2889504" y="1152144"/>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One or more ChainSteps confirmed.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Chain not complete end-to-end.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Validation in progress.</a:t>
            </a:r>
            <a:endParaRPr b="0" i="0" sz="1400" u="none" cap="none" strike="noStrike">
              <a:solidFill>
                <a:srgbClr val="000000"/>
              </a:solidFill>
              <a:latin typeface="Arial"/>
              <a:ea typeface="Arial"/>
              <a:cs typeface="Arial"/>
              <a:sym typeface="Arial"/>
            </a:endParaRPr>
          </a:p>
        </p:txBody>
      </p:sp>
      <p:sp>
        <p:nvSpPr>
          <p:cNvPr id="751" name="Google Shape;751;p21"/>
          <p:cNvSpPr/>
          <p:nvPr/>
        </p:nvSpPr>
        <p:spPr>
          <a:xfrm>
            <a:off x="5038344" y="1531620"/>
            <a:ext cx="329100" cy="329100"/>
          </a:xfrm>
          <a:prstGeom prst="rect">
            <a:avLst/>
          </a:prstGeom>
          <a:solidFill>
            <a:srgbClr val="FFD700"/>
          </a:solidFill>
          <a:ln cap="flat" cmpd="sng" w="9525">
            <a:solidFill>
              <a:srgbClr val="A0AAB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752" name="Google Shape;752;p21"/>
          <p:cNvCxnSpPr/>
          <p:nvPr/>
        </p:nvCxnSpPr>
        <p:spPr>
          <a:xfrm rot="10800000">
            <a:off x="5038284" y="0"/>
            <a:ext cx="91500" cy="0"/>
          </a:xfrm>
          <a:prstGeom prst="straightConnector1">
            <a:avLst/>
          </a:prstGeom>
          <a:noFill/>
          <a:ln cap="flat" cmpd="sng" w="22850">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753" name="Google Shape;753;p21"/>
          <p:cNvSpPr/>
          <p:nvPr/>
        </p:nvSpPr>
        <p:spPr>
          <a:xfrm>
            <a:off x="7024155" y="804610"/>
            <a:ext cx="2331600" cy="1783200"/>
          </a:xfrm>
          <a:prstGeom prst="rect">
            <a:avLst/>
          </a:prstGeom>
          <a:solidFill>
            <a:srgbClr val="06280E"/>
          </a:solidFill>
          <a:ln cap="flat" cmpd="sng" w="254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4" name="Google Shape;754;p21"/>
          <p:cNvSpPr/>
          <p:nvPr/>
        </p:nvSpPr>
        <p:spPr>
          <a:xfrm>
            <a:off x="7024155" y="804610"/>
            <a:ext cx="2331600" cy="27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55" name="Google Shape;755;p21"/>
          <p:cNvSpPr txBox="1"/>
          <p:nvPr/>
        </p:nvSpPr>
        <p:spPr>
          <a:xfrm>
            <a:off x="7024155" y="841186"/>
            <a:ext cx="23316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VALIDATED</a:t>
            </a:r>
            <a:endParaRPr b="0" i="0" sz="1400" u="none" cap="none" strike="noStrike">
              <a:solidFill>
                <a:srgbClr val="000000"/>
              </a:solidFill>
              <a:latin typeface="Arial"/>
              <a:ea typeface="Arial"/>
              <a:cs typeface="Arial"/>
              <a:sym typeface="Arial"/>
            </a:endParaRPr>
          </a:p>
        </p:txBody>
      </p:sp>
      <p:sp>
        <p:nvSpPr>
          <p:cNvPr id="756" name="Google Shape;756;p21"/>
          <p:cNvSpPr txBox="1"/>
          <p:nvPr/>
        </p:nvSpPr>
        <p:spPr>
          <a:xfrm>
            <a:off x="7115595" y="115208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All ChainSteps confirmed with</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linked Evidence. Impact demonstrated.</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Mission success for this chain.</a:t>
            </a:r>
            <a:endParaRPr b="0" i="0" sz="1400" u="none" cap="none" strike="noStrike">
              <a:solidFill>
                <a:srgbClr val="000000"/>
              </a:solidFill>
              <a:latin typeface="Arial"/>
              <a:ea typeface="Arial"/>
              <a:cs typeface="Arial"/>
              <a:sym typeface="Arial"/>
            </a:endParaRPr>
          </a:p>
        </p:txBody>
      </p:sp>
      <p:cxnSp>
        <p:nvCxnSpPr>
          <p:cNvPr id="757" name="Google Shape;757;p21"/>
          <p:cNvCxnSpPr/>
          <p:nvPr/>
        </p:nvCxnSpPr>
        <p:spPr>
          <a:xfrm>
            <a:off x="5367528" y="0"/>
            <a:ext cx="73200" cy="0"/>
          </a:xfrm>
          <a:prstGeom prst="straightConnector1">
            <a:avLst/>
          </a:prstGeom>
          <a:noFill/>
          <a:ln cap="flat" cmpd="sng" w="2285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758" name="Google Shape;758;p21"/>
          <p:cNvSpPr txBox="1"/>
          <p:nvPr/>
        </p:nvSpPr>
        <p:spPr>
          <a:xfrm>
            <a:off x="5528266" y="1395403"/>
            <a:ext cx="10974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39FF14"/>
                </a:solidFill>
                <a:latin typeface="Calibri"/>
                <a:ea typeface="Calibri"/>
                <a:cs typeface="Calibri"/>
                <a:sym typeface="Calibri"/>
              </a:rPr>
              <a:t>chain succeeds</a:t>
            </a:r>
            <a:endParaRPr b="0" i="0" sz="1400" u="none" cap="none" strike="noStrike">
              <a:solidFill>
                <a:srgbClr val="000000"/>
              </a:solidFill>
              <a:latin typeface="Arial"/>
              <a:ea typeface="Arial"/>
              <a:cs typeface="Arial"/>
              <a:sym typeface="Arial"/>
            </a:endParaRPr>
          </a:p>
        </p:txBody>
      </p:sp>
      <p:sp>
        <p:nvSpPr>
          <p:cNvPr id="759" name="Google Shape;759;p21"/>
          <p:cNvSpPr/>
          <p:nvPr/>
        </p:nvSpPr>
        <p:spPr>
          <a:xfrm>
            <a:off x="9558355" y="804609"/>
            <a:ext cx="2331600" cy="1783200"/>
          </a:xfrm>
          <a:prstGeom prst="rect">
            <a:avLst/>
          </a:prstGeom>
          <a:solidFill>
            <a:srgbClr val="280808"/>
          </a:solidFill>
          <a:ln cap="flat" cmpd="sng" w="254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0" name="Google Shape;760;p21"/>
          <p:cNvSpPr/>
          <p:nvPr/>
        </p:nvSpPr>
        <p:spPr>
          <a:xfrm>
            <a:off x="9558350" y="813913"/>
            <a:ext cx="2331600" cy="27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1" name="Google Shape;761;p21"/>
          <p:cNvSpPr txBox="1"/>
          <p:nvPr/>
        </p:nvSpPr>
        <p:spPr>
          <a:xfrm>
            <a:off x="9893950" y="804613"/>
            <a:ext cx="1554300" cy="238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1" i="0" lang="en-US" sz="950" u="none" cap="none" strike="noStrike">
                <a:solidFill>
                  <a:srgbClr val="0A0D1A"/>
                </a:solidFill>
                <a:latin typeface="Calibri"/>
                <a:ea typeface="Calibri"/>
                <a:cs typeface="Calibri"/>
                <a:sym typeface="Calibri"/>
              </a:rPr>
              <a:t>RULED_OUT</a:t>
            </a:r>
            <a:endParaRPr b="0" i="0" sz="1400" u="none" cap="none" strike="noStrike">
              <a:solidFill>
                <a:srgbClr val="000000"/>
              </a:solidFill>
              <a:latin typeface="Arial"/>
              <a:ea typeface="Arial"/>
              <a:cs typeface="Arial"/>
              <a:sym typeface="Arial"/>
            </a:endParaRPr>
          </a:p>
        </p:txBody>
      </p:sp>
      <p:sp>
        <p:nvSpPr>
          <p:cNvPr id="762" name="Google Shape;762;p21"/>
          <p:cNvSpPr txBox="1"/>
          <p:nvPr/>
        </p:nvSpPr>
        <p:spPr>
          <a:xfrm>
            <a:off x="9640545" y="1188731"/>
            <a:ext cx="2167200" cy="5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A required ChainStep failed after</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max retries. Chain not exploitable</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as hypothesized. Commander re-plans.</a:t>
            </a:r>
            <a:endParaRPr b="0" i="0" sz="1400" u="none" cap="none" strike="noStrike">
              <a:solidFill>
                <a:srgbClr val="000000"/>
              </a:solidFill>
              <a:latin typeface="Arial"/>
              <a:ea typeface="Arial"/>
              <a:cs typeface="Arial"/>
              <a:sym typeface="Arial"/>
            </a:endParaRPr>
          </a:p>
        </p:txBody>
      </p:sp>
      <p:cxnSp>
        <p:nvCxnSpPr>
          <p:cNvPr id="763" name="Google Shape;763;p21"/>
          <p:cNvCxnSpPr/>
          <p:nvPr/>
        </p:nvCxnSpPr>
        <p:spPr>
          <a:xfrm>
            <a:off x="5367528" y="0"/>
            <a:ext cx="73200" cy="0"/>
          </a:xfrm>
          <a:prstGeom prst="straightConnector1">
            <a:avLst/>
          </a:prstGeom>
          <a:noFill/>
          <a:ln cap="flat" cmpd="sng" w="22850">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764" name="Google Shape;764;p21"/>
          <p:cNvSpPr txBox="1"/>
          <p:nvPr/>
        </p:nvSpPr>
        <p:spPr>
          <a:xfrm>
            <a:off x="7834529" y="2775468"/>
            <a:ext cx="1234500" cy="21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1" lang="en-US" sz="800" u="none" cap="none" strike="noStrike">
                <a:solidFill>
                  <a:srgbClr val="FF4545"/>
                </a:solidFill>
                <a:latin typeface="Calibri"/>
                <a:ea typeface="Calibri"/>
                <a:cs typeface="Calibri"/>
                <a:sym typeface="Calibri"/>
              </a:rPr>
              <a:t>step fails after cap</a:t>
            </a:r>
            <a:endParaRPr b="0" i="0" sz="1400" u="none" cap="none" strike="noStrike">
              <a:solidFill>
                <a:srgbClr val="000000"/>
              </a:solidFill>
              <a:latin typeface="Arial"/>
              <a:ea typeface="Arial"/>
              <a:cs typeface="Arial"/>
              <a:sym typeface="Arial"/>
            </a:endParaRPr>
          </a:p>
        </p:txBody>
      </p:sp>
      <p:sp>
        <p:nvSpPr>
          <p:cNvPr id="765" name="Google Shape;765;p21"/>
          <p:cNvSpPr/>
          <p:nvPr/>
        </p:nvSpPr>
        <p:spPr>
          <a:xfrm>
            <a:off x="211779" y="3630170"/>
            <a:ext cx="7132200" cy="1755600"/>
          </a:xfrm>
          <a:prstGeom prst="rect">
            <a:avLst/>
          </a:prstGeom>
          <a:solidFill>
            <a:srgbClr val="080C1E"/>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6" name="Google Shape;766;p21"/>
          <p:cNvSpPr/>
          <p:nvPr/>
        </p:nvSpPr>
        <p:spPr>
          <a:xfrm>
            <a:off x="211779" y="3630170"/>
            <a:ext cx="7132200" cy="2559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7" name="Google Shape;767;p21"/>
          <p:cNvSpPr txBox="1"/>
          <p:nvPr/>
        </p:nvSpPr>
        <p:spPr>
          <a:xfrm>
            <a:off x="211779" y="3666746"/>
            <a:ext cx="71322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  Validation Agent — Self-Debugging Loop  (on ChainStep failure)</a:t>
            </a:r>
            <a:endParaRPr b="0" i="0" sz="1400" u="none" cap="none" strike="noStrike">
              <a:solidFill>
                <a:srgbClr val="000000"/>
              </a:solidFill>
              <a:latin typeface="Arial"/>
              <a:ea typeface="Arial"/>
              <a:cs typeface="Arial"/>
              <a:sym typeface="Arial"/>
            </a:endParaRPr>
          </a:p>
        </p:txBody>
      </p:sp>
      <p:sp>
        <p:nvSpPr>
          <p:cNvPr id="768" name="Google Shape;768;p21"/>
          <p:cNvSpPr/>
          <p:nvPr/>
        </p:nvSpPr>
        <p:spPr>
          <a:xfrm>
            <a:off x="348940"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69" name="Google Shape;769;p21"/>
          <p:cNvSpPr/>
          <p:nvPr/>
        </p:nvSpPr>
        <p:spPr>
          <a:xfrm>
            <a:off x="348940"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0" name="Google Shape;770;p21"/>
          <p:cNvSpPr txBox="1"/>
          <p:nvPr/>
        </p:nvSpPr>
        <p:spPr>
          <a:xfrm>
            <a:off x="348940"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ATTEMPT</a:t>
            </a:r>
            <a:endParaRPr b="0" i="0" sz="1400" u="none" cap="none" strike="noStrike">
              <a:solidFill>
                <a:srgbClr val="000000"/>
              </a:solidFill>
              <a:latin typeface="Arial"/>
              <a:ea typeface="Arial"/>
              <a:cs typeface="Arial"/>
              <a:sym typeface="Arial"/>
            </a:endParaRPr>
          </a:p>
        </p:txBody>
      </p:sp>
      <p:sp>
        <p:nvSpPr>
          <p:cNvPr id="771" name="Google Shape;771;p21"/>
          <p:cNvSpPr txBox="1"/>
          <p:nvPr/>
        </p:nvSpPr>
        <p:spPr>
          <a:xfrm>
            <a:off x="403804" y="4206242"/>
            <a:ext cx="13374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Execute tool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against target</a:t>
            </a:r>
            <a:endParaRPr b="0" i="0" sz="1400" u="none" cap="none" strike="noStrike">
              <a:solidFill>
                <a:srgbClr val="000000"/>
              </a:solidFill>
              <a:latin typeface="Arial"/>
              <a:ea typeface="Arial"/>
              <a:cs typeface="Arial"/>
              <a:sym typeface="Arial"/>
            </a:endParaRPr>
          </a:p>
        </p:txBody>
      </p:sp>
      <p:sp>
        <p:nvSpPr>
          <p:cNvPr id="772" name="Google Shape;772;p21"/>
          <p:cNvSpPr/>
          <p:nvPr/>
        </p:nvSpPr>
        <p:spPr>
          <a:xfrm>
            <a:off x="1850842" y="3950210"/>
            <a:ext cx="1428900" cy="1371600"/>
          </a:xfrm>
          <a:prstGeom prst="rect">
            <a:avLst/>
          </a:prstGeom>
          <a:solidFill>
            <a:srgbClr val="101428"/>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3" name="Google Shape;773;p21"/>
          <p:cNvSpPr/>
          <p:nvPr/>
        </p:nvSpPr>
        <p:spPr>
          <a:xfrm>
            <a:off x="1850842" y="3950210"/>
            <a:ext cx="1428900" cy="2196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4" name="Google Shape;774;p21"/>
          <p:cNvSpPr txBox="1"/>
          <p:nvPr/>
        </p:nvSpPr>
        <p:spPr>
          <a:xfrm>
            <a:off x="1850842"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DIAGNOSE</a:t>
            </a:r>
            <a:endParaRPr b="0" i="0" sz="1400" u="none" cap="none" strike="noStrike">
              <a:solidFill>
                <a:srgbClr val="000000"/>
              </a:solidFill>
              <a:latin typeface="Arial"/>
              <a:ea typeface="Arial"/>
              <a:cs typeface="Arial"/>
              <a:sym typeface="Arial"/>
            </a:endParaRPr>
          </a:p>
        </p:txBody>
      </p:sp>
      <p:sp>
        <p:nvSpPr>
          <p:cNvPr id="775" name="Google Shape;775;p21"/>
          <p:cNvSpPr txBox="1"/>
          <p:nvPr/>
        </p:nvSpPr>
        <p:spPr>
          <a:xfrm>
            <a:off x="1905706"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Analyze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wrong param · auth</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version mismatch</a:t>
            </a:r>
            <a:endParaRPr b="0" i="0" sz="1400" u="none" cap="none" strike="noStrike">
              <a:solidFill>
                <a:srgbClr val="000000"/>
              </a:solidFill>
              <a:latin typeface="Arial"/>
              <a:ea typeface="Arial"/>
              <a:cs typeface="Arial"/>
              <a:sym typeface="Arial"/>
            </a:endParaRPr>
          </a:p>
        </p:txBody>
      </p:sp>
      <p:cxnSp>
        <p:nvCxnSpPr>
          <p:cNvPr id="776" name="Google Shape;776;p21"/>
          <p:cNvCxnSpPr/>
          <p:nvPr/>
        </p:nvCxnSpPr>
        <p:spPr>
          <a:xfrm>
            <a:off x="0" y="0"/>
            <a:ext cx="0" cy="0"/>
          </a:xfrm>
          <a:prstGeom prst="straightConnector1">
            <a:avLst/>
          </a:prstGeom>
          <a:noFill/>
          <a:ln cap="flat" cmpd="sng" w="15225">
            <a:solidFill>
              <a:srgbClr val="FFD700"/>
            </a:solidFill>
            <a:prstDash val="solid"/>
            <a:round/>
            <a:headEnd len="med" w="med" type="stealth"/>
            <a:tailEnd len="sm" w="sm" type="none"/>
          </a:ln>
          <a:effectLst>
            <a:outerShdw blurRad="40000" rotWithShape="0" dir="5400000" dist="20000">
              <a:srgbClr val="000000">
                <a:alpha val="38040"/>
              </a:srgbClr>
            </a:outerShdw>
          </a:effectLst>
        </p:spPr>
      </p:cxnSp>
      <p:sp>
        <p:nvSpPr>
          <p:cNvPr id="777" name="Google Shape;777;p21"/>
          <p:cNvSpPr/>
          <p:nvPr/>
        </p:nvSpPr>
        <p:spPr>
          <a:xfrm>
            <a:off x="3352743" y="3950210"/>
            <a:ext cx="1428900" cy="1371600"/>
          </a:xfrm>
          <a:prstGeom prst="rect">
            <a:avLst/>
          </a:prstGeom>
          <a:solidFill>
            <a:srgbClr val="101428"/>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8" name="Google Shape;778;p21"/>
          <p:cNvSpPr/>
          <p:nvPr/>
        </p:nvSpPr>
        <p:spPr>
          <a:xfrm>
            <a:off x="3352743" y="3950210"/>
            <a:ext cx="1428900" cy="2196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79" name="Google Shape;779;p21"/>
          <p:cNvSpPr txBox="1"/>
          <p:nvPr/>
        </p:nvSpPr>
        <p:spPr>
          <a:xfrm>
            <a:off x="3352743"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CONTEXTUALIZE</a:t>
            </a:r>
            <a:endParaRPr b="0" i="0" sz="1400" u="none" cap="none" strike="noStrike">
              <a:solidFill>
                <a:srgbClr val="000000"/>
              </a:solidFill>
              <a:latin typeface="Arial"/>
              <a:ea typeface="Arial"/>
              <a:cs typeface="Arial"/>
              <a:sym typeface="Arial"/>
            </a:endParaRPr>
          </a:p>
        </p:txBody>
      </p:sp>
      <p:sp>
        <p:nvSpPr>
          <p:cNvPr id="780" name="Google Shape;780;p21"/>
          <p:cNvSpPr txBox="1"/>
          <p:nvPr/>
        </p:nvSpPr>
        <p:spPr>
          <a:xfrm>
            <a:off x="3407607"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Query ASG for</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additional node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attributes</a:t>
            </a:r>
            <a:endParaRPr b="0" i="0" sz="1400" u="none" cap="none" strike="noStrike">
              <a:solidFill>
                <a:srgbClr val="000000"/>
              </a:solidFill>
              <a:latin typeface="Arial"/>
              <a:ea typeface="Arial"/>
              <a:cs typeface="Arial"/>
              <a:sym typeface="Arial"/>
            </a:endParaRPr>
          </a:p>
        </p:txBody>
      </p:sp>
      <p:cxnSp>
        <p:nvCxnSpPr>
          <p:cNvPr id="781" name="Google Shape;781;p21"/>
          <p:cNvCxnSpPr/>
          <p:nvPr/>
        </p:nvCxnSpPr>
        <p:spPr>
          <a:xfrm>
            <a:off x="0" y="0"/>
            <a:ext cx="0" cy="0"/>
          </a:xfrm>
          <a:prstGeom prst="straightConnector1">
            <a:avLst/>
          </a:prstGeom>
          <a:noFill/>
          <a:ln cap="flat" cmpd="sng" w="15225">
            <a:solidFill>
              <a:srgbClr val="00E5FF"/>
            </a:solidFill>
            <a:prstDash val="solid"/>
            <a:round/>
            <a:headEnd len="med" w="med" type="stealth"/>
            <a:tailEnd len="sm" w="sm" type="none"/>
          </a:ln>
          <a:effectLst>
            <a:outerShdw blurRad="40000" rotWithShape="0" dir="5400000" dist="20000">
              <a:srgbClr val="000000">
                <a:alpha val="38040"/>
              </a:srgbClr>
            </a:outerShdw>
          </a:effectLst>
        </p:spPr>
      </p:cxnSp>
      <p:sp>
        <p:nvSpPr>
          <p:cNvPr id="782" name="Google Shape;782;p21"/>
          <p:cNvSpPr/>
          <p:nvPr/>
        </p:nvSpPr>
        <p:spPr>
          <a:xfrm>
            <a:off x="4854646" y="3950210"/>
            <a:ext cx="1428900" cy="1371600"/>
          </a:xfrm>
          <a:prstGeom prst="rect">
            <a:avLst/>
          </a:prstGeom>
          <a:solidFill>
            <a:srgbClr val="101428"/>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3" name="Google Shape;783;p21"/>
          <p:cNvSpPr/>
          <p:nvPr/>
        </p:nvSpPr>
        <p:spPr>
          <a:xfrm>
            <a:off x="4854646" y="3950210"/>
            <a:ext cx="1428900" cy="2196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4" name="Google Shape;784;p21"/>
          <p:cNvSpPr txBox="1"/>
          <p:nvPr/>
        </p:nvSpPr>
        <p:spPr>
          <a:xfrm>
            <a:off x="4854646" y="3977642"/>
            <a:ext cx="14289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ADAPT</a:t>
            </a:r>
            <a:endParaRPr b="0" i="0" sz="1400" u="none" cap="none" strike="noStrike">
              <a:solidFill>
                <a:srgbClr val="000000"/>
              </a:solidFill>
              <a:latin typeface="Arial"/>
              <a:ea typeface="Arial"/>
              <a:cs typeface="Arial"/>
              <a:sym typeface="Arial"/>
            </a:endParaRPr>
          </a:p>
        </p:txBody>
      </p:sp>
      <p:sp>
        <p:nvSpPr>
          <p:cNvPr id="785" name="Google Shape;785;p21"/>
          <p:cNvSpPr txBox="1"/>
          <p:nvPr/>
        </p:nvSpPr>
        <p:spPr>
          <a:xfrm>
            <a:off x="4909510" y="4206242"/>
            <a:ext cx="1337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Modify tool call</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based on diagnosis</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context</a:t>
            </a:r>
            <a:endParaRPr b="0" i="0" sz="1400" u="none" cap="none" strike="noStrike">
              <a:solidFill>
                <a:srgbClr val="000000"/>
              </a:solidFill>
              <a:latin typeface="Arial"/>
              <a:ea typeface="Arial"/>
              <a:cs typeface="Arial"/>
              <a:sym typeface="Arial"/>
            </a:endParaRPr>
          </a:p>
        </p:txBody>
      </p:sp>
      <p:cxnSp>
        <p:nvCxnSpPr>
          <p:cNvPr id="786" name="Google Shape;786;p21"/>
          <p:cNvCxnSpPr/>
          <p:nvPr/>
        </p:nvCxnSpPr>
        <p:spPr>
          <a:xfrm>
            <a:off x="0" y="0"/>
            <a:ext cx="0" cy="0"/>
          </a:xfrm>
          <a:prstGeom prst="straightConnector1">
            <a:avLst/>
          </a:prstGeom>
          <a:noFill/>
          <a:ln cap="flat" cmpd="sng" w="15225">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787" name="Google Shape;787;p21"/>
          <p:cNvSpPr/>
          <p:nvPr/>
        </p:nvSpPr>
        <p:spPr>
          <a:xfrm>
            <a:off x="6356548" y="3950210"/>
            <a:ext cx="850500" cy="1371600"/>
          </a:xfrm>
          <a:prstGeom prst="rect">
            <a:avLst/>
          </a:prstGeom>
          <a:solidFill>
            <a:srgbClr val="220808"/>
          </a:solidFill>
          <a:ln cap="flat" cmpd="sng" w="1777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8" name="Google Shape;788;p21"/>
          <p:cNvSpPr/>
          <p:nvPr/>
        </p:nvSpPr>
        <p:spPr>
          <a:xfrm>
            <a:off x="6356548" y="3950210"/>
            <a:ext cx="850500" cy="2196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89" name="Google Shape;789;p21"/>
          <p:cNvSpPr txBox="1"/>
          <p:nvPr/>
        </p:nvSpPr>
        <p:spPr>
          <a:xfrm>
            <a:off x="6356548" y="3977642"/>
            <a:ext cx="8505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0A0D1A"/>
                </a:solidFill>
                <a:latin typeface="Calibri"/>
                <a:ea typeface="Calibri"/>
                <a:cs typeface="Calibri"/>
                <a:sym typeface="Calibri"/>
              </a:rPr>
              <a:t>CAP  (×3 max)</a:t>
            </a:r>
            <a:endParaRPr b="0" i="0" sz="1400" u="none" cap="none" strike="noStrike">
              <a:solidFill>
                <a:srgbClr val="000000"/>
              </a:solidFill>
              <a:latin typeface="Arial"/>
              <a:ea typeface="Arial"/>
              <a:cs typeface="Arial"/>
              <a:sym typeface="Arial"/>
            </a:endParaRPr>
          </a:p>
        </p:txBody>
      </p:sp>
      <p:cxnSp>
        <p:nvCxnSpPr>
          <p:cNvPr id="790" name="Google Shape;790;p21"/>
          <p:cNvCxnSpPr/>
          <p:nvPr/>
        </p:nvCxnSpPr>
        <p:spPr>
          <a:xfrm>
            <a:off x="0" y="0"/>
            <a:ext cx="0" cy="0"/>
          </a:xfrm>
          <a:prstGeom prst="straightConnector1">
            <a:avLst/>
          </a:prstGeom>
          <a:noFill/>
          <a:ln cap="flat" cmpd="sng" w="15225">
            <a:solidFill>
              <a:srgbClr val="FF4545"/>
            </a:solidFill>
            <a:prstDash val="solid"/>
            <a:round/>
            <a:headEnd len="med" w="med" type="stealth"/>
            <a:tailEnd len="sm" w="sm" type="none"/>
          </a:ln>
          <a:effectLst>
            <a:outerShdw blurRad="40000" rotWithShape="0" dir="5400000" dist="20000">
              <a:srgbClr val="000000">
                <a:alpha val="38040"/>
              </a:srgbClr>
            </a:outerShdw>
          </a:effectLst>
        </p:spPr>
      </p:cxnSp>
      <p:sp>
        <p:nvSpPr>
          <p:cNvPr id="791" name="Google Shape;791;p21"/>
          <p:cNvSpPr txBox="1"/>
          <p:nvPr/>
        </p:nvSpPr>
        <p:spPr>
          <a:xfrm>
            <a:off x="6411411" y="4206242"/>
            <a:ext cx="759000" cy="107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00"/>
              <a:buFont typeface="Arial"/>
              <a:buNone/>
            </a:pPr>
            <a:r>
              <a:rPr b="0" i="0" lang="en-US" sz="800" u="none" cap="none" strike="noStrike">
                <a:solidFill>
                  <a:srgbClr val="A0AAB8"/>
                </a:solidFill>
                <a:latin typeface="Calibri"/>
                <a:ea typeface="Calibri"/>
                <a:cs typeface="Calibri"/>
                <a:sym typeface="Calibri"/>
              </a:rPr>
              <a:t>→ Mark ChainStep</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RULED_OUT</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Write failure</a:t>
            </a:r>
            <a:br>
              <a:rPr b="0" i="0" lang="en-US" sz="800" u="none" cap="none" strike="noStrike">
                <a:solidFill>
                  <a:srgbClr val="A0AAB8"/>
                </a:solidFill>
                <a:latin typeface="Calibri"/>
                <a:ea typeface="Calibri"/>
                <a:cs typeface="Calibri"/>
                <a:sym typeface="Calibri"/>
              </a:rPr>
            </a:br>
            <a:r>
              <a:rPr b="0" i="0" lang="en-US" sz="800" u="none" cap="none" strike="noStrike">
                <a:solidFill>
                  <a:srgbClr val="A0AAB8"/>
                </a:solidFill>
                <a:latin typeface="Calibri"/>
                <a:ea typeface="Calibri"/>
                <a:cs typeface="Calibri"/>
                <a:sym typeface="Calibri"/>
              </a:rPr>
              <a:t>   to ASG node</a:t>
            </a:r>
            <a:endParaRPr b="0" i="0" sz="1400" u="none" cap="none" strike="noStrike">
              <a:solidFill>
                <a:srgbClr val="000000"/>
              </a:solidFill>
              <a:latin typeface="Arial"/>
              <a:ea typeface="Arial"/>
              <a:cs typeface="Arial"/>
              <a:sym typeface="Arial"/>
            </a:endParaRPr>
          </a:p>
        </p:txBody>
      </p:sp>
      <p:cxnSp>
        <p:nvCxnSpPr>
          <p:cNvPr id="792" name="Google Shape;792;p21"/>
          <p:cNvCxnSpPr/>
          <p:nvPr/>
        </p:nvCxnSpPr>
        <p:spPr>
          <a:xfrm>
            <a:off x="0" y="6537960"/>
            <a:ext cx="0" cy="0"/>
          </a:xfrm>
          <a:prstGeom prst="straightConnector1">
            <a:avLst/>
          </a:prstGeom>
          <a:noFill/>
          <a:ln cap="flat" cmpd="sng" w="12700">
            <a:solidFill>
              <a:srgbClr val="39FF14"/>
            </a:solidFill>
            <a:prstDash val="solid"/>
            <a:round/>
            <a:headEnd len="med" w="med" type="stealth"/>
            <a:tailEnd len="sm" w="sm" type="none"/>
          </a:ln>
          <a:effectLst>
            <a:outerShdw blurRad="40000" rotWithShape="0" dir="5400000" dist="20000">
              <a:srgbClr val="000000">
                <a:alpha val="38040"/>
              </a:srgbClr>
            </a:outerShdw>
          </a:effectLst>
        </p:spPr>
      </p:cxnSp>
      <p:sp>
        <p:nvSpPr>
          <p:cNvPr id="793" name="Google Shape;793;p21"/>
          <p:cNvSpPr txBox="1"/>
          <p:nvPr/>
        </p:nvSpPr>
        <p:spPr>
          <a:xfrm>
            <a:off x="1777839" y="5417023"/>
            <a:ext cx="2286000" cy="207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750"/>
              <a:buFont typeface="Arial"/>
              <a:buNone/>
            </a:pPr>
            <a:r>
              <a:rPr b="0" i="1" lang="en-US" sz="750" u="none" cap="none" strike="noStrike">
                <a:solidFill>
                  <a:srgbClr val="39FF14"/>
                </a:solidFill>
                <a:latin typeface="Calibri"/>
                <a:ea typeface="Calibri"/>
                <a:cs typeface="Calibri"/>
                <a:sym typeface="Calibri"/>
              </a:rPr>
              <a:t>retry (up to cap)</a:t>
            </a:r>
            <a:endParaRPr b="0" i="0" sz="1400" u="none" cap="none" strike="noStrike">
              <a:solidFill>
                <a:srgbClr val="000000"/>
              </a:solidFill>
              <a:latin typeface="Arial"/>
              <a:ea typeface="Arial"/>
              <a:cs typeface="Arial"/>
              <a:sym typeface="Arial"/>
            </a:endParaRPr>
          </a:p>
        </p:txBody>
      </p:sp>
      <p:sp>
        <p:nvSpPr>
          <p:cNvPr id="794" name="Google Shape;794;p21"/>
          <p:cNvSpPr/>
          <p:nvPr/>
        </p:nvSpPr>
        <p:spPr>
          <a:xfrm>
            <a:off x="7435475" y="3630175"/>
            <a:ext cx="4620600" cy="2965200"/>
          </a:xfrm>
          <a:prstGeom prst="rect">
            <a:avLst/>
          </a:prstGeom>
          <a:solidFill>
            <a:srgbClr val="0E0C04"/>
          </a:solidFill>
          <a:ln cap="flat" cmpd="sng" w="1777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5" name="Google Shape;795;p21"/>
          <p:cNvSpPr/>
          <p:nvPr/>
        </p:nvSpPr>
        <p:spPr>
          <a:xfrm>
            <a:off x="7435540" y="3630170"/>
            <a:ext cx="4620600" cy="2559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796" name="Google Shape;796;p21"/>
          <p:cNvSpPr txBox="1"/>
          <p:nvPr/>
        </p:nvSpPr>
        <p:spPr>
          <a:xfrm>
            <a:off x="7435540" y="3666746"/>
            <a:ext cx="46206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0A0D1A"/>
                </a:solidFill>
                <a:latin typeface="Calibri"/>
                <a:ea typeface="Calibri"/>
                <a:cs typeface="Calibri"/>
                <a:sym typeface="Calibri"/>
              </a:rPr>
              <a:t>Risk Score + Chain Priority</a:t>
            </a:r>
            <a:endParaRPr b="0" i="0" sz="1400" u="none" cap="none" strike="noStrike">
              <a:solidFill>
                <a:srgbClr val="000000"/>
              </a:solidFill>
              <a:latin typeface="Arial"/>
              <a:ea typeface="Arial"/>
              <a:cs typeface="Arial"/>
              <a:sym typeface="Arial"/>
            </a:endParaRPr>
          </a:p>
        </p:txBody>
      </p:sp>
      <p:sp>
        <p:nvSpPr>
          <p:cNvPr id="797" name="Google Shape;797;p21"/>
          <p:cNvSpPr txBox="1"/>
          <p:nvPr/>
        </p:nvSpPr>
        <p:spPr>
          <a:xfrm>
            <a:off x="7526980" y="3941066"/>
            <a:ext cx="44559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000"/>
              <a:buFont typeface="Arial"/>
              <a:buNone/>
            </a:pPr>
            <a:r>
              <a:rPr b="1" i="0" lang="en-US" sz="1000" u="none" cap="none" strike="noStrike">
                <a:solidFill>
                  <a:srgbClr val="FFD700"/>
                </a:solidFill>
                <a:latin typeface="Calibri"/>
                <a:ea typeface="Calibri"/>
                <a:cs typeface="Calibri"/>
                <a:sym typeface="Calibri"/>
              </a:rPr>
              <a:t>risk_score = CVSS × Exploitability × Impact</a:t>
            </a:r>
            <a:endParaRPr b="0" i="0" sz="1400" u="none" cap="none" strike="noStrike">
              <a:solidFill>
                <a:srgbClr val="000000"/>
              </a:solidFill>
              <a:latin typeface="Arial"/>
              <a:ea typeface="Arial"/>
              <a:cs typeface="Arial"/>
              <a:sym typeface="Arial"/>
            </a:endParaRPr>
          </a:p>
        </p:txBody>
      </p:sp>
      <p:sp>
        <p:nvSpPr>
          <p:cNvPr id="798" name="Google Shape;798;p21"/>
          <p:cNvSpPr txBox="1"/>
          <p:nvPr/>
        </p:nvSpPr>
        <p:spPr>
          <a:xfrm>
            <a:off x="7526980" y="4215386"/>
            <a:ext cx="44559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Priority = rank across all HYPOTHESIZED + PARTIALLY_VALIDATED chains.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Commander pursues highest-priority chain first — re-ranks on every status change.</a:t>
            </a:r>
            <a:endParaRPr b="0" i="0" sz="1400" u="none" cap="none" strike="noStrike">
              <a:solidFill>
                <a:srgbClr val="000000"/>
              </a:solidFill>
              <a:latin typeface="Arial"/>
              <a:ea typeface="Arial"/>
              <a:cs typeface="Arial"/>
              <a:sym typeface="Arial"/>
            </a:endParaRPr>
          </a:p>
        </p:txBody>
      </p:sp>
      <p:sp>
        <p:nvSpPr>
          <p:cNvPr id="799" name="Google Shape;799;p21"/>
          <p:cNvSpPr/>
          <p:nvPr/>
        </p:nvSpPr>
        <p:spPr>
          <a:xfrm>
            <a:off x="7526980" y="4745738"/>
            <a:ext cx="4455900" cy="237600"/>
          </a:xfrm>
          <a:prstGeom prst="rect">
            <a:avLst/>
          </a:prstGeom>
          <a:solidFill>
            <a:srgbClr val="22180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00" name="Google Shape;800;p21"/>
          <p:cNvSpPr txBox="1"/>
          <p:nvPr/>
        </p:nvSpPr>
        <p:spPr>
          <a:xfrm>
            <a:off x="7563556" y="4773170"/>
            <a:ext cx="43920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1" i="0" lang="en-US" sz="850" u="none" cap="none" strike="noStrike">
                <a:solidFill>
                  <a:srgbClr val="FFD700"/>
                </a:solidFill>
                <a:latin typeface="Calibri"/>
                <a:ea typeface="Calibri"/>
                <a:cs typeface="Calibri"/>
                <a:sym typeface="Calibri"/>
              </a:rPr>
              <a:t>shopvault.io  —  APG Chain Priority Order</a:t>
            </a:r>
            <a:endParaRPr b="0" i="0" sz="1400" u="none" cap="none" strike="noStrike">
              <a:solidFill>
                <a:srgbClr val="000000"/>
              </a:solidFill>
              <a:latin typeface="Arial"/>
              <a:ea typeface="Arial"/>
              <a:cs typeface="Arial"/>
              <a:sym typeface="Arial"/>
            </a:endParaRPr>
          </a:p>
        </p:txBody>
      </p:sp>
      <p:sp>
        <p:nvSpPr>
          <p:cNvPr id="801" name="Google Shape;801;p21"/>
          <p:cNvSpPr/>
          <p:nvPr/>
        </p:nvSpPr>
        <p:spPr>
          <a:xfrm>
            <a:off x="7526980" y="5020058"/>
            <a:ext cx="4455900" cy="347400"/>
          </a:xfrm>
          <a:prstGeom prst="rect">
            <a:avLst/>
          </a:prstGeom>
          <a:solidFill>
            <a:srgbClr val="181202"/>
          </a:solidFill>
          <a:ln cap="flat" cmpd="sng" w="9525">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02" name="Google Shape;802;p21"/>
          <p:cNvSpPr txBox="1"/>
          <p:nvPr/>
        </p:nvSpPr>
        <p:spPr>
          <a:xfrm>
            <a:off x="7563556" y="507492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4545"/>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803" name="Google Shape;803;p21"/>
          <p:cNvSpPr txBox="1"/>
          <p:nvPr/>
        </p:nvSpPr>
        <p:spPr>
          <a:xfrm>
            <a:off x="7783012" y="507492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Chain-01  —  CVE-2022-21661 SQLi → RCE</a:t>
            </a:r>
            <a:endParaRPr b="0" i="0" sz="1400" u="none" cap="none" strike="noStrike">
              <a:solidFill>
                <a:srgbClr val="000000"/>
              </a:solidFill>
              <a:latin typeface="Arial"/>
              <a:ea typeface="Arial"/>
              <a:cs typeface="Arial"/>
              <a:sym typeface="Arial"/>
            </a:endParaRPr>
          </a:p>
        </p:txBody>
      </p:sp>
      <p:sp>
        <p:nvSpPr>
          <p:cNvPr id="804" name="Google Shape;804;p21"/>
          <p:cNvSpPr txBox="1"/>
          <p:nvPr/>
        </p:nvSpPr>
        <p:spPr>
          <a:xfrm>
            <a:off x="11553083" y="507492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4545"/>
                </a:solidFill>
                <a:latin typeface="Calibri"/>
                <a:ea typeface="Calibri"/>
                <a:cs typeface="Calibri"/>
                <a:sym typeface="Calibri"/>
              </a:rPr>
              <a:t>9.1</a:t>
            </a:r>
            <a:endParaRPr b="0" i="0" sz="1400" u="none" cap="none" strike="noStrike">
              <a:solidFill>
                <a:srgbClr val="000000"/>
              </a:solidFill>
              <a:latin typeface="Arial"/>
              <a:ea typeface="Arial"/>
              <a:cs typeface="Arial"/>
              <a:sym typeface="Arial"/>
            </a:endParaRPr>
          </a:p>
        </p:txBody>
      </p:sp>
      <p:sp>
        <p:nvSpPr>
          <p:cNvPr id="805" name="Google Shape;805;p21"/>
          <p:cNvSpPr/>
          <p:nvPr/>
        </p:nvSpPr>
        <p:spPr>
          <a:xfrm>
            <a:off x="7526980" y="5385818"/>
            <a:ext cx="4455900" cy="347400"/>
          </a:xfrm>
          <a:prstGeom prst="rect">
            <a:avLst/>
          </a:prstGeom>
          <a:solidFill>
            <a:srgbClr val="120C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06" name="Google Shape;806;p21"/>
          <p:cNvSpPr txBox="1"/>
          <p:nvPr/>
        </p:nvSpPr>
        <p:spPr>
          <a:xfrm>
            <a:off x="7563556" y="544068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807" name="Google Shape;807;p21"/>
          <p:cNvSpPr txBox="1"/>
          <p:nvPr/>
        </p:nvSpPr>
        <p:spPr>
          <a:xfrm>
            <a:off x="7783012" y="544068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Chain-03  —  Blind SQLi on staging → DB creds</a:t>
            </a:r>
            <a:endParaRPr b="0" i="0" sz="1400" u="none" cap="none" strike="noStrike">
              <a:solidFill>
                <a:srgbClr val="000000"/>
              </a:solidFill>
              <a:latin typeface="Arial"/>
              <a:ea typeface="Arial"/>
              <a:cs typeface="Arial"/>
              <a:sym typeface="Arial"/>
            </a:endParaRPr>
          </a:p>
        </p:txBody>
      </p:sp>
      <p:sp>
        <p:nvSpPr>
          <p:cNvPr id="808" name="Google Shape;808;p21"/>
          <p:cNvSpPr txBox="1"/>
          <p:nvPr/>
        </p:nvSpPr>
        <p:spPr>
          <a:xfrm>
            <a:off x="11553083" y="544068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8.1</a:t>
            </a:r>
            <a:endParaRPr b="0" i="0" sz="1400" u="none" cap="none" strike="noStrike">
              <a:solidFill>
                <a:srgbClr val="000000"/>
              </a:solidFill>
              <a:latin typeface="Arial"/>
              <a:ea typeface="Arial"/>
              <a:cs typeface="Arial"/>
              <a:sym typeface="Arial"/>
            </a:endParaRPr>
          </a:p>
        </p:txBody>
      </p:sp>
      <p:sp>
        <p:nvSpPr>
          <p:cNvPr id="809" name="Google Shape;809;p21"/>
          <p:cNvSpPr/>
          <p:nvPr/>
        </p:nvSpPr>
        <p:spPr>
          <a:xfrm>
            <a:off x="7526980" y="5751578"/>
            <a:ext cx="4455900" cy="347400"/>
          </a:xfrm>
          <a:prstGeom prst="rect">
            <a:avLst/>
          </a:prstGeom>
          <a:solidFill>
            <a:srgbClr val="181202"/>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10" name="Google Shape;810;p21"/>
          <p:cNvSpPr txBox="1"/>
          <p:nvPr/>
        </p:nvSpPr>
        <p:spPr>
          <a:xfrm>
            <a:off x="7563556" y="580644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FFD700"/>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811" name="Google Shape;811;p21"/>
          <p:cNvSpPr txBox="1"/>
          <p:nvPr/>
        </p:nvSpPr>
        <p:spPr>
          <a:xfrm>
            <a:off x="7783012" y="580644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Chain-02  —  IDOR on /api/v1/orders → PII</a:t>
            </a:r>
            <a:endParaRPr b="0" i="0" sz="1400" u="none" cap="none" strike="noStrike">
              <a:solidFill>
                <a:srgbClr val="000000"/>
              </a:solidFill>
              <a:latin typeface="Arial"/>
              <a:ea typeface="Arial"/>
              <a:cs typeface="Arial"/>
              <a:sym typeface="Arial"/>
            </a:endParaRPr>
          </a:p>
        </p:txBody>
      </p:sp>
      <p:sp>
        <p:nvSpPr>
          <p:cNvPr id="812" name="Google Shape;812;p21"/>
          <p:cNvSpPr txBox="1"/>
          <p:nvPr/>
        </p:nvSpPr>
        <p:spPr>
          <a:xfrm>
            <a:off x="11553083" y="580644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FFD700"/>
                </a:solidFill>
                <a:latin typeface="Calibri"/>
                <a:ea typeface="Calibri"/>
                <a:cs typeface="Calibri"/>
                <a:sym typeface="Calibri"/>
              </a:rPr>
              <a:t>7.5</a:t>
            </a:r>
            <a:endParaRPr b="0" i="0" sz="1400" u="none" cap="none" strike="noStrike">
              <a:solidFill>
                <a:srgbClr val="000000"/>
              </a:solidFill>
              <a:latin typeface="Arial"/>
              <a:ea typeface="Arial"/>
              <a:cs typeface="Arial"/>
              <a:sym typeface="Arial"/>
            </a:endParaRPr>
          </a:p>
        </p:txBody>
      </p:sp>
      <p:sp>
        <p:nvSpPr>
          <p:cNvPr id="813" name="Google Shape;813;p21"/>
          <p:cNvSpPr/>
          <p:nvPr/>
        </p:nvSpPr>
        <p:spPr>
          <a:xfrm>
            <a:off x="7526980" y="6117338"/>
            <a:ext cx="4455900" cy="347400"/>
          </a:xfrm>
          <a:prstGeom prst="rect">
            <a:avLst/>
          </a:prstGeom>
          <a:solidFill>
            <a:srgbClr val="120C02"/>
          </a:solidFill>
          <a:ln cap="flat" cmpd="sng" w="9525">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14" name="Google Shape;814;p21"/>
          <p:cNvSpPr txBox="1"/>
          <p:nvPr/>
        </p:nvSpPr>
        <p:spPr>
          <a:xfrm>
            <a:off x="7563556" y="6172202"/>
            <a:ext cx="201300" cy="230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1" i="0" lang="en-US" sz="900" u="none" cap="none" strike="noStrike">
                <a:solidFill>
                  <a:srgbClr val="BD93F9"/>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815" name="Google Shape;815;p21"/>
          <p:cNvSpPr txBox="1"/>
          <p:nvPr/>
        </p:nvSpPr>
        <p:spPr>
          <a:xfrm>
            <a:off x="7783012" y="6172202"/>
            <a:ext cx="3934800" cy="2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Chain-04  —  Direct DB backup download → PII</a:t>
            </a:r>
            <a:endParaRPr b="0" i="0" sz="1400" u="none" cap="none" strike="noStrike">
              <a:solidFill>
                <a:srgbClr val="000000"/>
              </a:solidFill>
              <a:latin typeface="Arial"/>
              <a:ea typeface="Arial"/>
              <a:cs typeface="Arial"/>
              <a:sym typeface="Arial"/>
            </a:endParaRPr>
          </a:p>
        </p:txBody>
      </p:sp>
      <p:sp>
        <p:nvSpPr>
          <p:cNvPr id="816" name="Google Shape;816;p21"/>
          <p:cNvSpPr txBox="1"/>
          <p:nvPr/>
        </p:nvSpPr>
        <p:spPr>
          <a:xfrm>
            <a:off x="11553083" y="6172202"/>
            <a:ext cx="384000" cy="238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950"/>
              <a:buFont typeface="Arial"/>
              <a:buNone/>
            </a:pPr>
            <a:r>
              <a:rPr b="1" i="0" lang="en-US" sz="950" u="none" cap="none" strike="noStrike">
                <a:solidFill>
                  <a:srgbClr val="BD93F9"/>
                </a:solidFill>
                <a:latin typeface="Calibri"/>
                <a:ea typeface="Calibri"/>
                <a:cs typeface="Calibri"/>
                <a:sym typeface="Calibri"/>
              </a:rPr>
              <a:t>N/A</a:t>
            </a:r>
            <a:endParaRPr b="0" i="0" sz="1400" u="none" cap="none" strike="noStrike">
              <a:solidFill>
                <a:srgbClr val="000000"/>
              </a:solidFill>
              <a:latin typeface="Arial"/>
              <a:ea typeface="Arial"/>
              <a:cs typeface="Arial"/>
              <a:sym typeface="Arial"/>
            </a:endParaRPr>
          </a:p>
        </p:txBody>
      </p:sp>
      <p:sp>
        <p:nvSpPr>
          <p:cNvPr id="817" name="Google Shape;817;p21"/>
          <p:cNvSpPr txBox="1"/>
          <p:nvPr/>
        </p:nvSpPr>
        <p:spPr>
          <a:xfrm>
            <a:off x="11524920" y="139675"/>
            <a:ext cx="483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09</a:t>
            </a:r>
            <a:endParaRPr b="0" i="0" sz="1400" u="none" cap="none" strike="noStrike">
              <a:solidFill>
                <a:srgbClr val="000000"/>
              </a:solidFill>
              <a:latin typeface="Arial"/>
              <a:ea typeface="Arial"/>
              <a:cs typeface="Arial"/>
              <a:sym typeface="Arial"/>
            </a:endParaRPr>
          </a:p>
        </p:txBody>
      </p:sp>
      <p:cxnSp>
        <p:nvCxnSpPr>
          <p:cNvPr id="818" name="Google Shape;818;p21"/>
          <p:cNvCxnSpPr>
            <a:stCxn id="751" idx="3"/>
          </p:cNvCxnSpPr>
          <p:nvPr/>
        </p:nvCxnSpPr>
        <p:spPr>
          <a:xfrm flipH="1" rot="10800000">
            <a:off x="5367444" y="1669770"/>
            <a:ext cx="1605900" cy="26400"/>
          </a:xfrm>
          <a:prstGeom prst="straightConnector1">
            <a:avLst/>
          </a:prstGeom>
          <a:noFill/>
          <a:ln cap="flat" cmpd="sng" w="9525">
            <a:solidFill>
              <a:srgbClr val="00FF00"/>
            </a:solidFill>
            <a:prstDash val="solid"/>
            <a:round/>
            <a:headEnd len="sm" w="sm" type="none"/>
            <a:tailEnd len="med" w="med" type="triangle"/>
          </a:ln>
        </p:spPr>
      </p:cxnSp>
      <p:cxnSp>
        <p:nvCxnSpPr>
          <p:cNvPr id="819" name="Google Shape;819;p21"/>
          <p:cNvCxnSpPr>
            <a:endCxn id="759" idx="2"/>
          </p:cNvCxnSpPr>
          <p:nvPr/>
        </p:nvCxnSpPr>
        <p:spPr>
          <a:xfrm>
            <a:off x="5202955" y="1860909"/>
            <a:ext cx="5521200" cy="726900"/>
          </a:xfrm>
          <a:prstGeom prst="curvedConnector4">
            <a:avLst>
              <a:gd fmla="val 14188" name="adj1"/>
              <a:gd fmla="val 162989" name="adj2"/>
            </a:avLst>
          </a:prstGeom>
          <a:noFill/>
          <a:ln cap="flat" cmpd="sng" w="9525">
            <a:solidFill>
              <a:srgbClr val="FF0000"/>
            </a:solidFill>
            <a:prstDash val="solid"/>
            <a:round/>
            <a:headEnd len="sm" w="sm" type="none"/>
            <a:tailEnd len="sm" w="sm" type="non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23" name="Shape 823"/>
        <p:cNvGrpSpPr/>
        <p:nvPr/>
      </p:nvGrpSpPr>
      <p:grpSpPr>
        <a:xfrm>
          <a:off x="0" y="0"/>
          <a:ext cx="0" cy="0"/>
          <a:chOff x="0" y="0"/>
          <a:chExt cx="0" cy="0"/>
        </a:xfrm>
      </p:grpSpPr>
      <p:sp>
        <p:nvSpPr>
          <p:cNvPr id="824" name="Google Shape;824;p22"/>
          <p:cNvSpPr/>
          <p:nvPr/>
        </p:nvSpPr>
        <p:spPr>
          <a:xfrm>
            <a:off x="0" y="0"/>
            <a:ext cx="54864" cy="68580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5" name="Google Shape;825;p22"/>
          <p:cNvSpPr/>
          <p:nvPr/>
        </p:nvSpPr>
        <p:spPr>
          <a:xfrm>
            <a:off x="54864" y="0"/>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6" name="Google Shape;826;p22"/>
          <p:cNvSpPr/>
          <p:nvPr/>
        </p:nvSpPr>
        <p:spPr>
          <a:xfrm>
            <a:off x="54864" y="6821424"/>
            <a:ext cx="12136831" cy="36576"/>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27" name="Google Shape;827;p22"/>
          <p:cNvSpPr txBox="1"/>
          <p:nvPr/>
        </p:nvSpPr>
        <p:spPr>
          <a:xfrm>
            <a:off x="274320" y="73152"/>
            <a:ext cx="7315200" cy="261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CROSS-MISSION LEARNING</a:t>
            </a:r>
            <a:endParaRPr b="0" i="0" sz="1400" u="none" cap="none" strike="noStrike">
              <a:solidFill>
                <a:srgbClr val="000000"/>
              </a:solidFill>
              <a:latin typeface="Arial"/>
              <a:ea typeface="Arial"/>
              <a:cs typeface="Arial"/>
              <a:sym typeface="Arial"/>
            </a:endParaRPr>
          </a:p>
        </p:txBody>
      </p:sp>
      <p:sp>
        <p:nvSpPr>
          <p:cNvPr id="828" name="Google Shape;828;p22"/>
          <p:cNvSpPr txBox="1"/>
          <p:nvPr/>
        </p:nvSpPr>
        <p:spPr>
          <a:xfrm>
            <a:off x="274320" y="347472"/>
            <a:ext cx="11430000" cy="566928"/>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Experience Store + Attack Strategy Library — CMatrix Gets Smarter Each Mission</a:t>
            </a:r>
            <a:endParaRPr b="0" i="0" sz="1400" u="none" cap="none" strike="noStrike">
              <a:solidFill>
                <a:srgbClr val="000000"/>
              </a:solidFill>
              <a:latin typeface="Arial"/>
              <a:ea typeface="Arial"/>
              <a:cs typeface="Arial"/>
              <a:sym typeface="Arial"/>
            </a:endParaRPr>
          </a:p>
        </p:txBody>
      </p:sp>
      <p:sp>
        <p:nvSpPr>
          <p:cNvPr id="829" name="Google Shape;829;p22"/>
          <p:cNvSpPr/>
          <p:nvPr/>
        </p:nvSpPr>
        <p:spPr>
          <a:xfrm>
            <a:off x="274320" y="1005840"/>
            <a:ext cx="2286000" cy="914400"/>
          </a:xfrm>
          <a:prstGeom prst="rect">
            <a:avLst/>
          </a:prstGeom>
          <a:solidFill>
            <a:srgbClr val="061420"/>
          </a:solidFill>
          <a:ln cap="flat" cmpd="sng" w="190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0" name="Google Shape;830;p22"/>
          <p:cNvSpPr txBox="1"/>
          <p:nvPr/>
        </p:nvSpPr>
        <p:spPr>
          <a:xfrm>
            <a:off x="411480" y="1143000"/>
            <a:ext cx="2011680" cy="64008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Mission N</a:t>
            </a:r>
            <a:br>
              <a:rPr b="1" i="0" lang="en-US" sz="1300" u="none" cap="none" strike="noStrike">
                <a:solidFill>
                  <a:srgbClr val="00E5FF"/>
                </a:solidFill>
                <a:latin typeface="Calibri"/>
                <a:ea typeface="Calibri"/>
                <a:cs typeface="Calibri"/>
                <a:sym typeface="Calibri"/>
              </a:rPr>
            </a:br>
            <a:r>
              <a:rPr b="1" i="0" lang="en-US" sz="1300" u="none" cap="none" strike="noStrike">
                <a:solidFill>
                  <a:srgbClr val="00E5FF"/>
                </a:solidFill>
                <a:latin typeface="Calibri"/>
                <a:ea typeface="Calibri"/>
                <a:cs typeface="Calibri"/>
                <a:sym typeface="Calibri"/>
              </a:rPr>
              <a:t>(completed)</a:t>
            </a:r>
            <a:endParaRPr b="0" i="0" sz="1400" u="none" cap="none" strike="noStrike">
              <a:solidFill>
                <a:srgbClr val="000000"/>
              </a:solidFill>
              <a:latin typeface="Arial"/>
              <a:ea typeface="Arial"/>
              <a:cs typeface="Arial"/>
              <a:sym typeface="Arial"/>
            </a:endParaRPr>
          </a:p>
        </p:txBody>
      </p:sp>
      <p:cxnSp>
        <p:nvCxnSpPr>
          <p:cNvPr id="831" name="Google Shape;831;p22"/>
          <p:cNvCxnSpPr/>
          <p:nvPr/>
        </p:nvCxnSpPr>
        <p:spPr>
          <a:xfrm>
            <a:off x="2560320" y="0"/>
            <a:ext cx="1097280" cy="0"/>
          </a:xfrm>
          <a:prstGeom prst="straightConnector1">
            <a:avLst/>
          </a:prstGeom>
          <a:noFill/>
          <a:ln cap="flat" cmpd="sng" w="19050">
            <a:solidFill>
              <a:srgbClr val="00E5FF"/>
            </a:solidFill>
            <a:prstDash val="solid"/>
            <a:round/>
            <a:headEnd len="med" w="med" type="stealth"/>
            <a:tailEnd len="sm" w="sm" type="none"/>
          </a:ln>
          <a:effectLst>
            <a:outerShdw blurRad="40000" rotWithShape="0" dir="5400000" dist="20000">
              <a:srgbClr val="000000">
                <a:alpha val="38039"/>
              </a:srgbClr>
            </a:outerShdw>
          </a:effectLst>
        </p:spPr>
      </p:cxnSp>
      <p:sp>
        <p:nvSpPr>
          <p:cNvPr id="832" name="Google Shape;832;p22"/>
          <p:cNvSpPr txBox="1"/>
          <p:nvPr/>
        </p:nvSpPr>
        <p:spPr>
          <a:xfrm>
            <a:off x="2578608" y="109728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Report Agent writes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validated chains</a:t>
            </a:r>
            <a:endParaRPr b="0" i="0" sz="1400" u="none" cap="none" strike="noStrike">
              <a:solidFill>
                <a:srgbClr val="000000"/>
              </a:solidFill>
              <a:latin typeface="Arial"/>
              <a:ea typeface="Arial"/>
              <a:cs typeface="Arial"/>
              <a:sym typeface="Arial"/>
            </a:endParaRPr>
          </a:p>
        </p:txBody>
      </p:sp>
      <p:sp>
        <p:nvSpPr>
          <p:cNvPr id="833" name="Google Shape;833;p22"/>
          <p:cNvSpPr/>
          <p:nvPr/>
        </p:nvSpPr>
        <p:spPr>
          <a:xfrm>
            <a:off x="3749050" y="1005725"/>
            <a:ext cx="2286000" cy="914400"/>
          </a:xfrm>
          <a:prstGeom prst="rect">
            <a:avLst/>
          </a:prstGeom>
          <a:solidFill>
            <a:srgbClr val="04201E"/>
          </a:solidFill>
          <a:ln cap="flat" cmpd="sng" w="254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4" name="Google Shape;834;p22"/>
          <p:cNvSpPr txBox="1"/>
          <p:nvPr/>
        </p:nvSpPr>
        <p:spPr>
          <a:xfrm>
            <a:off x="3799293" y="1042961"/>
            <a:ext cx="2148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0BFD8"/>
                </a:solidFill>
                <a:latin typeface="Calibri"/>
                <a:ea typeface="Calibri"/>
                <a:cs typeface="Calibri"/>
                <a:sym typeface="Calibri"/>
              </a:rPr>
              <a:t>Cross-Mission</a:t>
            </a:r>
            <a:br>
              <a:rPr b="1" i="0" lang="en-US" sz="1200" u="none" cap="none" strike="noStrike">
                <a:solidFill>
                  <a:srgbClr val="00BFD8"/>
                </a:solidFill>
                <a:latin typeface="Calibri"/>
                <a:ea typeface="Calibri"/>
                <a:cs typeface="Calibri"/>
                <a:sym typeface="Calibri"/>
              </a:rPr>
            </a:br>
            <a:r>
              <a:rPr b="1" i="0" lang="en-US" sz="1200" u="none" cap="none" strike="noStrike">
                <a:solidFill>
                  <a:srgbClr val="00BFD8"/>
                </a:solidFill>
                <a:latin typeface="Calibri"/>
                <a:ea typeface="Calibri"/>
                <a:cs typeface="Calibri"/>
                <a:sym typeface="Calibri"/>
              </a:rPr>
              <a:t>Experience Store</a:t>
            </a:r>
            <a:endParaRPr b="0" i="0" sz="1400" u="none" cap="none" strike="noStrike">
              <a:solidFill>
                <a:srgbClr val="000000"/>
              </a:solidFill>
              <a:latin typeface="Arial"/>
              <a:ea typeface="Arial"/>
              <a:cs typeface="Arial"/>
              <a:sym typeface="Arial"/>
            </a:endParaRPr>
          </a:p>
        </p:txBody>
      </p:sp>
      <p:sp>
        <p:nvSpPr>
          <p:cNvPr id="835" name="Google Shape;835;p22"/>
          <p:cNvSpPr txBox="1"/>
          <p:nvPr/>
        </p:nvSpPr>
        <p:spPr>
          <a:xfrm>
            <a:off x="3799293" y="1473205"/>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RAG-backed · persistent</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across all missions</a:t>
            </a:r>
            <a:endParaRPr b="0" i="0" sz="1400" u="none" cap="none" strike="noStrike">
              <a:solidFill>
                <a:srgbClr val="000000"/>
              </a:solidFill>
              <a:latin typeface="Arial"/>
              <a:ea typeface="Arial"/>
              <a:cs typeface="Arial"/>
              <a:sym typeface="Arial"/>
            </a:endParaRPr>
          </a:p>
        </p:txBody>
      </p:sp>
      <p:cxnSp>
        <p:nvCxnSpPr>
          <p:cNvPr id="836" name="Google Shape;836;p22"/>
          <p:cNvCxnSpPr/>
          <p:nvPr/>
        </p:nvCxnSpPr>
        <p:spPr>
          <a:xfrm>
            <a:off x="6126480" y="0"/>
            <a:ext cx="1097280" cy="0"/>
          </a:xfrm>
          <a:prstGeom prst="straightConnector1">
            <a:avLst/>
          </a:prstGeom>
          <a:noFill/>
          <a:ln cap="flat" cmpd="sng" w="19050">
            <a:solidFill>
              <a:srgbClr val="FFD700"/>
            </a:solidFill>
            <a:prstDash val="solid"/>
            <a:round/>
            <a:headEnd len="med" w="med" type="stealth"/>
            <a:tailEnd len="sm" w="sm" type="none"/>
          </a:ln>
          <a:effectLst>
            <a:outerShdw blurRad="40000" rotWithShape="0" dir="5400000" dist="20000">
              <a:srgbClr val="000000">
                <a:alpha val="38039"/>
              </a:srgbClr>
            </a:outerShdw>
          </a:effectLst>
        </p:spPr>
      </p:cxnSp>
      <p:sp>
        <p:nvSpPr>
          <p:cNvPr id="837" name="Google Shape;837;p22"/>
          <p:cNvSpPr txBox="1"/>
          <p:nvPr/>
        </p:nvSpPr>
        <p:spPr>
          <a:xfrm>
            <a:off x="6144768" y="1051560"/>
            <a:ext cx="1024128" cy="685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FFD700"/>
                </a:solidFill>
                <a:latin typeface="Calibri"/>
                <a:ea typeface="Calibri"/>
                <a:cs typeface="Calibri"/>
                <a:sym typeface="Calibri"/>
              </a:rPr>
              <a:t>Crystallize</a:t>
            </a:r>
            <a:br>
              <a:rPr b="0" i="1" lang="en-US" sz="850" u="none" cap="none" strike="noStrike">
                <a:solidFill>
                  <a:srgbClr val="FFD700"/>
                </a:solidFill>
                <a:latin typeface="Calibri"/>
                <a:ea typeface="Calibri"/>
                <a:cs typeface="Calibri"/>
                <a:sym typeface="Calibri"/>
              </a:rPr>
            </a:br>
            <a:r>
              <a:rPr b="0" i="1" lang="en-US" sz="850" u="none" cap="none" strike="noStrike">
                <a:solidFill>
                  <a:srgbClr val="FFD700"/>
                </a:solidFill>
                <a:latin typeface="Calibri"/>
                <a:ea typeface="Calibri"/>
                <a:cs typeface="Calibri"/>
                <a:sym typeface="Calibri"/>
              </a:rPr>
              <a:t>(&gt;=2 missions)</a:t>
            </a:r>
            <a:endParaRPr b="0" i="0" sz="1400" u="none" cap="none" strike="noStrike">
              <a:solidFill>
                <a:srgbClr val="000000"/>
              </a:solidFill>
              <a:latin typeface="Arial"/>
              <a:ea typeface="Arial"/>
              <a:cs typeface="Arial"/>
              <a:sym typeface="Arial"/>
            </a:endParaRPr>
          </a:p>
        </p:txBody>
      </p:sp>
      <p:sp>
        <p:nvSpPr>
          <p:cNvPr id="838" name="Google Shape;838;p22"/>
          <p:cNvSpPr/>
          <p:nvPr/>
        </p:nvSpPr>
        <p:spPr>
          <a:xfrm>
            <a:off x="7315200" y="983100"/>
            <a:ext cx="2148900" cy="859500"/>
          </a:xfrm>
          <a:prstGeom prst="rect">
            <a:avLst/>
          </a:prstGeom>
          <a:solidFill>
            <a:srgbClr val="201804"/>
          </a:solidFill>
          <a:ln cap="flat" cmpd="sng" w="254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39" name="Google Shape;839;p22"/>
          <p:cNvSpPr txBox="1"/>
          <p:nvPr/>
        </p:nvSpPr>
        <p:spPr>
          <a:xfrm>
            <a:off x="7424925" y="1005949"/>
            <a:ext cx="1950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D700"/>
                </a:solidFill>
                <a:latin typeface="Calibri"/>
                <a:ea typeface="Calibri"/>
                <a:cs typeface="Calibri"/>
                <a:sym typeface="Calibri"/>
              </a:rPr>
              <a:t>Attack Strategy</a:t>
            </a:r>
            <a:br>
              <a:rPr b="1" i="0" lang="en-US" sz="1200" u="none" cap="none" strike="noStrike">
                <a:solidFill>
                  <a:srgbClr val="FFD700"/>
                </a:solidFill>
                <a:latin typeface="Calibri"/>
                <a:ea typeface="Calibri"/>
                <a:cs typeface="Calibri"/>
                <a:sym typeface="Calibri"/>
              </a:rPr>
            </a:br>
            <a:r>
              <a:rPr b="1" i="0" lang="en-US" sz="1200" u="none" cap="none" strike="noStrike">
                <a:solidFill>
                  <a:srgbClr val="FFD700"/>
                </a:solidFill>
                <a:latin typeface="Calibri"/>
                <a:ea typeface="Calibri"/>
                <a:cs typeface="Calibri"/>
                <a:sym typeface="Calibri"/>
              </a:rPr>
              <a:t>Library</a:t>
            </a:r>
            <a:endParaRPr b="0" i="0" sz="1400" u="none" cap="none" strike="noStrike">
              <a:solidFill>
                <a:srgbClr val="000000"/>
              </a:solidFill>
              <a:latin typeface="Arial"/>
              <a:ea typeface="Arial"/>
              <a:cs typeface="Arial"/>
              <a:sym typeface="Arial"/>
            </a:endParaRPr>
          </a:p>
        </p:txBody>
      </p:sp>
      <p:sp>
        <p:nvSpPr>
          <p:cNvPr id="840" name="Google Shape;840;p22"/>
          <p:cNvSpPr txBox="1"/>
          <p:nvPr/>
        </p:nvSpPr>
        <p:spPr>
          <a:xfrm>
            <a:off x="7406640" y="1380743"/>
            <a:ext cx="21489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1" lang="en-US" sz="900" u="none" cap="none" strike="noStrike">
                <a:solidFill>
                  <a:srgbClr val="A0AAB8"/>
                </a:solidFill>
                <a:latin typeface="Calibri"/>
                <a:ea typeface="Calibri"/>
                <a:cs typeface="Calibri"/>
                <a:sym typeface="Calibri"/>
              </a:rPr>
              <a:t>Named strategies · confidence scores</a:t>
            </a:r>
            <a:br>
              <a:rPr b="0" i="1" lang="en-US" sz="900" u="none" cap="none" strike="noStrike">
                <a:solidFill>
                  <a:srgbClr val="A0AAB8"/>
                </a:solidFill>
                <a:latin typeface="Calibri"/>
                <a:ea typeface="Calibri"/>
                <a:cs typeface="Calibri"/>
                <a:sym typeface="Calibri"/>
              </a:rPr>
            </a:br>
            <a:r>
              <a:rPr b="0" i="1" lang="en-US" sz="900" u="none" cap="none" strike="noStrike">
                <a:solidFill>
                  <a:srgbClr val="A0AAB8"/>
                </a:solidFill>
                <a:latin typeface="Calibri"/>
                <a:ea typeface="Calibri"/>
                <a:cs typeface="Calibri"/>
                <a:sym typeface="Calibri"/>
              </a:rPr>
              <a:t>technology-fingerprint indexed</a:t>
            </a:r>
            <a:endParaRPr b="0" i="0" sz="1400" u="none" cap="none" strike="noStrike">
              <a:solidFill>
                <a:srgbClr val="000000"/>
              </a:solidFill>
              <a:latin typeface="Arial"/>
              <a:ea typeface="Arial"/>
              <a:cs typeface="Arial"/>
              <a:sym typeface="Arial"/>
            </a:endParaRPr>
          </a:p>
        </p:txBody>
      </p:sp>
      <p:cxnSp>
        <p:nvCxnSpPr>
          <p:cNvPr id="841" name="Google Shape;841;p22"/>
          <p:cNvCxnSpPr/>
          <p:nvPr/>
        </p:nvCxnSpPr>
        <p:spPr>
          <a:xfrm>
            <a:off x="9692640" y="0"/>
            <a:ext cx="1097280" cy="0"/>
          </a:xfrm>
          <a:prstGeom prst="straightConnector1">
            <a:avLst/>
          </a:prstGeom>
          <a:noFill/>
          <a:ln cap="flat" cmpd="sng" w="19050">
            <a:solidFill>
              <a:srgbClr val="39FF14"/>
            </a:solidFill>
            <a:prstDash val="solid"/>
            <a:round/>
            <a:headEnd len="med" w="med" type="stealth"/>
            <a:tailEnd len="sm" w="sm" type="none"/>
          </a:ln>
          <a:effectLst>
            <a:outerShdw blurRad="40000" rotWithShape="0" dir="5400000" dist="20000">
              <a:srgbClr val="000000">
                <a:alpha val="38039"/>
              </a:srgbClr>
            </a:outerShdw>
          </a:effectLst>
        </p:spPr>
      </p:cxnSp>
      <p:sp>
        <p:nvSpPr>
          <p:cNvPr id="842" name="Google Shape;842;p22"/>
          <p:cNvSpPr txBox="1"/>
          <p:nvPr/>
        </p:nvSpPr>
        <p:spPr>
          <a:xfrm>
            <a:off x="9660666" y="1147580"/>
            <a:ext cx="1024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Pre-ranked seeds</a:t>
            </a:r>
            <a:br>
              <a:rPr b="0" i="1" lang="en-US" sz="850" u="none" cap="none" strike="noStrike">
                <a:solidFill>
                  <a:srgbClr val="A0AAB8"/>
                </a:solidFill>
                <a:latin typeface="Calibri"/>
                <a:ea typeface="Calibri"/>
                <a:cs typeface="Calibri"/>
                <a:sym typeface="Calibri"/>
              </a:rPr>
            </a:br>
            <a:r>
              <a:rPr b="0" i="1" lang="en-US" sz="850" u="none" cap="none" strike="noStrike">
                <a:solidFill>
                  <a:srgbClr val="A0AAB8"/>
                </a:solidFill>
                <a:latin typeface="Calibri"/>
                <a:ea typeface="Calibri"/>
                <a:cs typeface="Calibri"/>
                <a:sym typeface="Calibri"/>
              </a:rPr>
              <a:t>at mission start</a:t>
            </a:r>
            <a:endParaRPr b="0" i="0" sz="1400" u="none" cap="none" strike="noStrike">
              <a:solidFill>
                <a:srgbClr val="000000"/>
              </a:solidFill>
              <a:latin typeface="Arial"/>
              <a:ea typeface="Arial"/>
              <a:cs typeface="Arial"/>
              <a:sym typeface="Arial"/>
            </a:endParaRPr>
          </a:p>
        </p:txBody>
      </p:sp>
      <p:sp>
        <p:nvSpPr>
          <p:cNvPr id="843" name="Google Shape;843;p22"/>
          <p:cNvSpPr/>
          <p:nvPr/>
        </p:nvSpPr>
        <p:spPr>
          <a:xfrm>
            <a:off x="10790010" y="923527"/>
            <a:ext cx="1143000" cy="914400"/>
          </a:xfrm>
          <a:prstGeom prst="rect">
            <a:avLst/>
          </a:prstGeom>
          <a:solidFill>
            <a:srgbClr val="062010"/>
          </a:solidFill>
          <a:ln cap="flat" cmpd="sng" w="1905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4" name="Google Shape;844;p22"/>
          <p:cNvSpPr txBox="1"/>
          <p:nvPr/>
        </p:nvSpPr>
        <p:spPr>
          <a:xfrm>
            <a:off x="10831105" y="1010406"/>
            <a:ext cx="10515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39FF14"/>
                </a:solidFill>
                <a:latin typeface="Calibri"/>
                <a:ea typeface="Calibri"/>
                <a:cs typeface="Calibri"/>
                <a:sym typeface="Calibri"/>
              </a:rPr>
              <a:t>Mission</a:t>
            </a:r>
            <a:br>
              <a:rPr b="1" i="0" lang="en-US" sz="1200" u="none" cap="none" strike="noStrike">
                <a:solidFill>
                  <a:srgbClr val="39FF14"/>
                </a:solidFill>
                <a:latin typeface="Calibri"/>
                <a:ea typeface="Calibri"/>
                <a:cs typeface="Calibri"/>
                <a:sym typeface="Calibri"/>
              </a:rPr>
            </a:br>
            <a:r>
              <a:rPr b="1" i="0" lang="en-US" sz="1200" u="none" cap="none" strike="noStrike">
                <a:solidFill>
                  <a:srgbClr val="39FF14"/>
                </a:solidFill>
                <a:latin typeface="Calibri"/>
                <a:ea typeface="Calibri"/>
                <a:cs typeface="Calibri"/>
                <a:sym typeface="Calibri"/>
              </a:rPr>
              <a:t>N+1</a:t>
            </a:r>
            <a:endParaRPr b="0" i="0" sz="1400" u="none" cap="none" strike="noStrike">
              <a:solidFill>
                <a:srgbClr val="000000"/>
              </a:solidFill>
              <a:latin typeface="Arial"/>
              <a:ea typeface="Arial"/>
              <a:cs typeface="Arial"/>
              <a:sym typeface="Arial"/>
            </a:endParaRPr>
          </a:p>
        </p:txBody>
      </p:sp>
      <p:cxnSp>
        <p:nvCxnSpPr>
          <p:cNvPr id="845" name="Google Shape;845;p22"/>
          <p:cNvCxnSpPr/>
          <p:nvPr/>
        </p:nvCxnSpPr>
        <p:spPr>
          <a:xfrm>
            <a:off x="4937760" y="0"/>
            <a:ext cx="5943600" cy="0"/>
          </a:xfrm>
          <a:prstGeom prst="straightConnector1">
            <a:avLst/>
          </a:prstGeom>
          <a:noFill/>
          <a:ln cap="flat" cmpd="sng" w="19050">
            <a:solidFill>
              <a:srgbClr val="00BFD8"/>
            </a:solidFill>
            <a:prstDash val="solid"/>
            <a:round/>
            <a:headEnd len="med" w="med" type="stealth"/>
            <a:tailEnd len="sm" w="sm" type="none"/>
          </a:ln>
          <a:effectLst>
            <a:outerShdw blurRad="40000" rotWithShape="0" dir="5400000" dist="20000">
              <a:srgbClr val="000000">
                <a:alpha val="38039"/>
              </a:srgbClr>
            </a:outerShdw>
          </a:effectLst>
        </p:spPr>
      </p:cxnSp>
      <p:sp>
        <p:nvSpPr>
          <p:cNvPr id="846" name="Google Shape;846;p22"/>
          <p:cNvSpPr txBox="1"/>
          <p:nvPr/>
        </p:nvSpPr>
        <p:spPr>
          <a:xfrm>
            <a:off x="6518140" y="1863501"/>
            <a:ext cx="3657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Candidate chain hypotheses injected into Commander context</a:t>
            </a:r>
            <a:endParaRPr b="0" i="0" sz="1400" u="none" cap="none" strike="noStrike">
              <a:solidFill>
                <a:srgbClr val="000000"/>
              </a:solidFill>
              <a:latin typeface="Arial"/>
              <a:ea typeface="Arial"/>
              <a:cs typeface="Arial"/>
              <a:sym typeface="Arial"/>
            </a:endParaRPr>
          </a:p>
        </p:txBody>
      </p:sp>
      <p:sp>
        <p:nvSpPr>
          <p:cNvPr id="847" name="Google Shape;847;p22"/>
          <p:cNvSpPr/>
          <p:nvPr/>
        </p:nvSpPr>
        <p:spPr>
          <a:xfrm>
            <a:off x="274320" y="2212848"/>
            <a:ext cx="5669280" cy="4160520"/>
          </a:xfrm>
          <a:prstGeom prst="rect">
            <a:avLst/>
          </a:prstGeom>
          <a:solidFill>
            <a:srgbClr val="041818"/>
          </a:solidFill>
          <a:ln cap="flat" cmpd="sng" w="1905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8" name="Google Shape;848;p22"/>
          <p:cNvSpPr/>
          <p:nvPr/>
        </p:nvSpPr>
        <p:spPr>
          <a:xfrm>
            <a:off x="274320" y="2212848"/>
            <a:ext cx="5669280" cy="36576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49" name="Google Shape;849;p22"/>
          <p:cNvSpPr txBox="1"/>
          <p:nvPr/>
        </p:nvSpPr>
        <p:spPr>
          <a:xfrm>
            <a:off x="384048" y="2267712"/>
            <a:ext cx="5486400" cy="2560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C10  ·  Cross-Mission Experience Store</a:t>
            </a:r>
            <a:endParaRPr b="0" i="0" sz="1400" u="none" cap="none" strike="noStrike">
              <a:solidFill>
                <a:srgbClr val="000000"/>
              </a:solidFill>
              <a:latin typeface="Arial"/>
              <a:ea typeface="Arial"/>
              <a:cs typeface="Arial"/>
              <a:sym typeface="Arial"/>
            </a:endParaRPr>
          </a:p>
        </p:txBody>
      </p:sp>
      <p:sp>
        <p:nvSpPr>
          <p:cNvPr id="850" name="Google Shape;850;p22"/>
          <p:cNvSpPr/>
          <p:nvPr/>
        </p:nvSpPr>
        <p:spPr>
          <a:xfrm>
            <a:off x="384048" y="2670048"/>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1" name="Google Shape;851;p22"/>
          <p:cNvSpPr txBox="1"/>
          <p:nvPr/>
        </p:nvSpPr>
        <p:spPr>
          <a:xfrm>
            <a:off x="475488" y="2724912"/>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852" name="Google Shape;852;p22"/>
          <p:cNvSpPr txBox="1"/>
          <p:nvPr/>
        </p:nvSpPr>
        <p:spPr>
          <a:xfrm>
            <a:off x="475488" y="2980944"/>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Per-mission · per-chain raw records of validated exploitation outcomes.</a:t>
            </a:r>
            <a:br>
              <a:rPr b="0" i="0" lang="en-US" sz="950" u="none" cap="none" strike="noStrike">
                <a:solidFill>
                  <a:srgbClr val="A0AAB8"/>
                </a:solidFill>
                <a:latin typeface="Calibri"/>
                <a:ea typeface="Calibri"/>
                <a:cs typeface="Calibri"/>
                <a:sym typeface="Calibri"/>
              </a:rPr>
            </a:br>
            <a:r>
              <a:rPr b="0" i="0" lang="en-US" sz="950" u="none" cap="none" strike="noStrike">
                <a:solidFill>
                  <a:srgbClr val="A0AAB8"/>
                </a:solidFill>
                <a:latin typeface="Calibri"/>
                <a:ea typeface="Calibri"/>
                <a:cs typeface="Calibri"/>
                <a:sym typeface="Calibri"/>
              </a:rPr>
              <a:t>Target technology fingerprint · CVE · successful tool invocation · ChainStep sequence · mission outcome.</a:t>
            </a:r>
            <a:endParaRPr b="0" i="0" sz="1400" u="none" cap="none" strike="noStrike">
              <a:solidFill>
                <a:srgbClr val="000000"/>
              </a:solidFill>
              <a:latin typeface="Arial"/>
              <a:ea typeface="Arial"/>
              <a:cs typeface="Arial"/>
              <a:sym typeface="Arial"/>
            </a:endParaRPr>
          </a:p>
        </p:txBody>
      </p:sp>
      <p:sp>
        <p:nvSpPr>
          <p:cNvPr id="853" name="Google Shape;853;p22"/>
          <p:cNvSpPr/>
          <p:nvPr/>
        </p:nvSpPr>
        <p:spPr>
          <a:xfrm>
            <a:off x="384048" y="3566160"/>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4" name="Google Shape;854;p22"/>
          <p:cNvSpPr txBox="1"/>
          <p:nvPr/>
        </p:nvSpPr>
        <p:spPr>
          <a:xfrm>
            <a:off x="475488" y="3621024"/>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written</a:t>
            </a:r>
            <a:endParaRPr b="0" i="0" sz="1400" u="none" cap="none" strike="noStrike">
              <a:solidFill>
                <a:srgbClr val="000000"/>
              </a:solidFill>
              <a:latin typeface="Arial"/>
              <a:ea typeface="Arial"/>
              <a:cs typeface="Arial"/>
              <a:sym typeface="Arial"/>
            </a:endParaRPr>
          </a:p>
        </p:txBody>
      </p:sp>
      <p:sp>
        <p:nvSpPr>
          <p:cNvPr id="855" name="Google Shape;855;p22"/>
          <p:cNvSpPr txBox="1"/>
          <p:nvPr/>
        </p:nvSpPr>
        <p:spPr>
          <a:xfrm>
            <a:off x="475488" y="3877056"/>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Report Agent writes one entry for every chain with terminal status VALIDATED at mission close.</a:t>
            </a:r>
            <a:endParaRPr b="0" i="0" sz="1400" u="none" cap="none" strike="noStrike">
              <a:solidFill>
                <a:srgbClr val="000000"/>
              </a:solidFill>
              <a:latin typeface="Arial"/>
              <a:ea typeface="Arial"/>
              <a:cs typeface="Arial"/>
              <a:sym typeface="Arial"/>
            </a:endParaRPr>
          </a:p>
        </p:txBody>
      </p:sp>
      <p:sp>
        <p:nvSpPr>
          <p:cNvPr id="856" name="Google Shape;856;p22"/>
          <p:cNvSpPr/>
          <p:nvPr/>
        </p:nvSpPr>
        <p:spPr>
          <a:xfrm>
            <a:off x="384048" y="4462272"/>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57" name="Google Shape;857;p22"/>
          <p:cNvSpPr txBox="1"/>
          <p:nvPr/>
        </p:nvSpPr>
        <p:spPr>
          <a:xfrm>
            <a:off x="475488" y="4517136"/>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When it's read</a:t>
            </a:r>
            <a:endParaRPr b="0" i="0" sz="1400" u="none" cap="none" strike="noStrike">
              <a:solidFill>
                <a:srgbClr val="000000"/>
              </a:solidFill>
              <a:latin typeface="Arial"/>
              <a:ea typeface="Arial"/>
              <a:cs typeface="Arial"/>
              <a:sym typeface="Arial"/>
            </a:endParaRPr>
          </a:p>
        </p:txBody>
      </p:sp>
      <p:sp>
        <p:nvSpPr>
          <p:cNvPr id="858" name="Google Shape;858;p22"/>
          <p:cNvSpPr txBox="1"/>
          <p:nvPr/>
        </p:nvSpPr>
        <p:spPr>
          <a:xfrm>
            <a:off x="475488" y="4773168"/>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Commander queries immediately after Recon Agent writes first Technology nodes to ASG — before Analysis begins. Retrieved records become candidate chain hypotheses.</a:t>
            </a:r>
            <a:endParaRPr b="0" i="0" sz="1400" u="none" cap="none" strike="noStrike">
              <a:solidFill>
                <a:srgbClr val="000000"/>
              </a:solidFill>
              <a:latin typeface="Arial"/>
              <a:ea typeface="Arial"/>
              <a:cs typeface="Arial"/>
              <a:sym typeface="Arial"/>
            </a:endParaRPr>
          </a:p>
        </p:txBody>
      </p:sp>
      <p:sp>
        <p:nvSpPr>
          <p:cNvPr id="859" name="Google Shape;859;p22"/>
          <p:cNvSpPr/>
          <p:nvPr/>
        </p:nvSpPr>
        <p:spPr>
          <a:xfrm>
            <a:off x="384048" y="5358384"/>
            <a:ext cx="5449824" cy="859536"/>
          </a:xfrm>
          <a:prstGeom prst="rect">
            <a:avLst/>
          </a:prstGeom>
          <a:solidFill>
            <a:srgbClr val="062222"/>
          </a:solidFill>
          <a:ln cap="flat" cmpd="sng" w="9525">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0" name="Google Shape;860;p22"/>
          <p:cNvSpPr txBox="1"/>
          <p:nvPr/>
        </p:nvSpPr>
        <p:spPr>
          <a:xfrm>
            <a:off x="475488" y="5413248"/>
            <a:ext cx="5321808"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0BFD8"/>
                </a:solidFill>
                <a:latin typeface="Calibri"/>
                <a:ea typeface="Calibri"/>
                <a:cs typeface="Calibri"/>
                <a:sym typeface="Calibri"/>
              </a:rPr>
              <a:t>Research origin</a:t>
            </a:r>
            <a:endParaRPr b="0" i="0" sz="1400" u="none" cap="none" strike="noStrike">
              <a:solidFill>
                <a:srgbClr val="000000"/>
              </a:solidFill>
              <a:latin typeface="Arial"/>
              <a:ea typeface="Arial"/>
              <a:cs typeface="Arial"/>
              <a:sym typeface="Arial"/>
            </a:endParaRPr>
          </a:p>
        </p:txBody>
      </p:sp>
      <p:sp>
        <p:nvSpPr>
          <p:cNvPr id="861" name="Google Shape;861;p22"/>
          <p:cNvSpPr txBox="1"/>
          <p:nvPr/>
        </p:nvSpPr>
        <p:spPr>
          <a:xfrm>
            <a:off x="475488" y="5669280"/>
            <a:ext cx="5321808"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Generalizes AutoAttacker's within-mission experience-reuse mechanism to cross-mission scope. AutoAttacker reuses subtasks within one session; CMatrix accumulates across every mission ever run.</a:t>
            </a:r>
            <a:endParaRPr b="0" i="0" sz="1400" u="none" cap="none" strike="noStrike">
              <a:solidFill>
                <a:srgbClr val="000000"/>
              </a:solidFill>
              <a:latin typeface="Arial"/>
              <a:ea typeface="Arial"/>
              <a:cs typeface="Arial"/>
              <a:sym typeface="Arial"/>
            </a:endParaRPr>
          </a:p>
        </p:txBody>
      </p:sp>
      <p:sp>
        <p:nvSpPr>
          <p:cNvPr id="862" name="Google Shape;862;p22"/>
          <p:cNvSpPr/>
          <p:nvPr/>
        </p:nvSpPr>
        <p:spPr>
          <a:xfrm>
            <a:off x="6172200" y="2212848"/>
            <a:ext cx="5833872" cy="4160520"/>
          </a:xfrm>
          <a:prstGeom prst="rect">
            <a:avLst/>
          </a:prstGeom>
          <a:solidFill>
            <a:srgbClr val="1C1404"/>
          </a:solidFill>
          <a:ln cap="flat" cmpd="sng" w="1905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3" name="Google Shape;863;p22"/>
          <p:cNvSpPr/>
          <p:nvPr/>
        </p:nvSpPr>
        <p:spPr>
          <a:xfrm>
            <a:off x="6172200" y="2212848"/>
            <a:ext cx="5833872" cy="36576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4" name="Google Shape;864;p22"/>
          <p:cNvSpPr txBox="1"/>
          <p:nvPr/>
        </p:nvSpPr>
        <p:spPr>
          <a:xfrm>
            <a:off x="6281928" y="2267712"/>
            <a:ext cx="5650992" cy="256032"/>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A0D1A"/>
                </a:solidFill>
                <a:latin typeface="Calibri"/>
                <a:ea typeface="Calibri"/>
                <a:cs typeface="Calibri"/>
                <a:sym typeface="Calibri"/>
              </a:rPr>
              <a:t>C11  ·  Attack Strategy Library</a:t>
            </a:r>
            <a:endParaRPr b="0" i="0" sz="1400" u="none" cap="none" strike="noStrike">
              <a:solidFill>
                <a:srgbClr val="000000"/>
              </a:solidFill>
              <a:latin typeface="Arial"/>
              <a:ea typeface="Arial"/>
              <a:cs typeface="Arial"/>
              <a:sym typeface="Arial"/>
            </a:endParaRPr>
          </a:p>
        </p:txBody>
      </p:sp>
      <p:sp>
        <p:nvSpPr>
          <p:cNvPr id="865" name="Google Shape;865;p22"/>
          <p:cNvSpPr/>
          <p:nvPr/>
        </p:nvSpPr>
        <p:spPr>
          <a:xfrm>
            <a:off x="6281928" y="2670048"/>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6" name="Google Shape;866;p22"/>
          <p:cNvSpPr txBox="1"/>
          <p:nvPr/>
        </p:nvSpPr>
        <p:spPr>
          <a:xfrm>
            <a:off x="6373368" y="2724912"/>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What it stores</a:t>
            </a:r>
            <a:endParaRPr b="0" i="0" sz="1400" u="none" cap="none" strike="noStrike">
              <a:solidFill>
                <a:srgbClr val="000000"/>
              </a:solidFill>
              <a:latin typeface="Arial"/>
              <a:ea typeface="Arial"/>
              <a:cs typeface="Arial"/>
              <a:sym typeface="Arial"/>
            </a:endParaRPr>
          </a:p>
        </p:txBody>
      </p:sp>
      <p:sp>
        <p:nvSpPr>
          <p:cNvPr id="867" name="Google Shape;867;p22"/>
          <p:cNvSpPr txBox="1"/>
          <p:nvPr/>
        </p:nvSpPr>
        <p:spPr>
          <a:xfrm>
            <a:off x="6373368" y="2980944"/>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Generalized attack procedures distilled from multiple validated outcomes against the same target technology class. Named strategies (e.g. STRAT-WP-SQLI-001) with confidence scores.</a:t>
            </a:r>
            <a:endParaRPr b="0" i="0" sz="1400" u="none" cap="none" strike="noStrike">
              <a:solidFill>
                <a:srgbClr val="000000"/>
              </a:solidFill>
              <a:latin typeface="Arial"/>
              <a:ea typeface="Arial"/>
              <a:cs typeface="Arial"/>
              <a:sym typeface="Arial"/>
            </a:endParaRPr>
          </a:p>
        </p:txBody>
      </p:sp>
      <p:sp>
        <p:nvSpPr>
          <p:cNvPr id="868" name="Google Shape;868;p22"/>
          <p:cNvSpPr/>
          <p:nvPr/>
        </p:nvSpPr>
        <p:spPr>
          <a:xfrm>
            <a:off x="6281928" y="3566160"/>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69" name="Google Shape;869;p22"/>
          <p:cNvSpPr txBox="1"/>
          <p:nvPr/>
        </p:nvSpPr>
        <p:spPr>
          <a:xfrm>
            <a:off x="6373368" y="3621024"/>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Crystallization threshold</a:t>
            </a:r>
            <a:endParaRPr b="0" i="0" sz="1400" u="none" cap="none" strike="noStrike">
              <a:solidFill>
                <a:srgbClr val="000000"/>
              </a:solidFill>
              <a:latin typeface="Arial"/>
              <a:ea typeface="Arial"/>
              <a:cs typeface="Arial"/>
              <a:sym typeface="Arial"/>
            </a:endParaRPr>
          </a:p>
        </p:txBody>
      </p:sp>
      <p:sp>
        <p:nvSpPr>
          <p:cNvPr id="870" name="Google Shape;870;p22"/>
          <p:cNvSpPr txBox="1"/>
          <p:nvPr/>
        </p:nvSpPr>
        <p:spPr>
          <a:xfrm>
            <a:off x="6373368" y="3877056"/>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Same technology fingerprint (e.g. WordPress 5.x + WooCommerce + Nginx) produces validated AttackChain in 2 or more independent missions → Commander triggers crystallization.</a:t>
            </a:r>
            <a:endParaRPr b="0" i="0" sz="1400" u="none" cap="none" strike="noStrike">
              <a:solidFill>
                <a:srgbClr val="000000"/>
              </a:solidFill>
              <a:latin typeface="Arial"/>
              <a:ea typeface="Arial"/>
              <a:cs typeface="Arial"/>
              <a:sym typeface="Arial"/>
            </a:endParaRPr>
          </a:p>
        </p:txBody>
      </p:sp>
      <p:sp>
        <p:nvSpPr>
          <p:cNvPr id="871" name="Google Shape;871;p22"/>
          <p:cNvSpPr/>
          <p:nvPr/>
        </p:nvSpPr>
        <p:spPr>
          <a:xfrm>
            <a:off x="6281928" y="4462272"/>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2" name="Google Shape;872;p22"/>
          <p:cNvSpPr txBox="1"/>
          <p:nvPr/>
        </p:nvSpPr>
        <p:spPr>
          <a:xfrm>
            <a:off x="6373368" y="4517136"/>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When it's used</a:t>
            </a:r>
            <a:endParaRPr b="0" i="0" sz="1400" u="none" cap="none" strike="noStrike">
              <a:solidFill>
                <a:srgbClr val="000000"/>
              </a:solidFill>
              <a:latin typeface="Arial"/>
              <a:ea typeface="Arial"/>
              <a:cs typeface="Arial"/>
              <a:sym typeface="Arial"/>
            </a:endParaRPr>
          </a:p>
        </p:txBody>
      </p:sp>
      <p:sp>
        <p:nvSpPr>
          <p:cNvPr id="873" name="Google Shape;873;p22"/>
          <p:cNvSpPr txBox="1"/>
          <p:nvPr/>
        </p:nvSpPr>
        <p:spPr>
          <a:xfrm>
            <a:off x="6373368" y="4773168"/>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Retrieved at mission start. Strategies are injected as pre-ranked APG AttackChain seeds — prioritized above zero-prior chains because they carry validated track record.</a:t>
            </a:r>
            <a:endParaRPr b="0" i="0" sz="1400" u="none" cap="none" strike="noStrike">
              <a:solidFill>
                <a:srgbClr val="000000"/>
              </a:solidFill>
              <a:latin typeface="Arial"/>
              <a:ea typeface="Arial"/>
              <a:cs typeface="Arial"/>
              <a:sym typeface="Arial"/>
            </a:endParaRPr>
          </a:p>
        </p:txBody>
      </p:sp>
      <p:sp>
        <p:nvSpPr>
          <p:cNvPr id="874" name="Google Shape;874;p22"/>
          <p:cNvSpPr/>
          <p:nvPr/>
        </p:nvSpPr>
        <p:spPr>
          <a:xfrm>
            <a:off x="6281928" y="5358384"/>
            <a:ext cx="5614416" cy="859536"/>
          </a:xfrm>
          <a:prstGeom prst="rect">
            <a:avLst/>
          </a:prstGeom>
          <a:solidFill>
            <a:srgbClr val="221806"/>
          </a:solidFill>
          <a:ln cap="flat" cmpd="sng" w="95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75" name="Google Shape;875;p22"/>
          <p:cNvSpPr txBox="1"/>
          <p:nvPr/>
        </p:nvSpPr>
        <p:spPr>
          <a:xfrm>
            <a:off x="6373368" y="5413248"/>
            <a:ext cx="5486400" cy="23774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FFD700"/>
                </a:solidFill>
                <a:latin typeface="Calibri"/>
                <a:ea typeface="Calibri"/>
                <a:cs typeface="Calibri"/>
                <a:sym typeface="Calibri"/>
              </a:rPr>
              <a:t>Why it matters</a:t>
            </a:r>
            <a:endParaRPr b="0" i="0" sz="1400" u="none" cap="none" strike="noStrike">
              <a:solidFill>
                <a:srgbClr val="000000"/>
              </a:solidFill>
              <a:latin typeface="Arial"/>
              <a:ea typeface="Arial"/>
              <a:cs typeface="Arial"/>
              <a:sym typeface="Arial"/>
            </a:endParaRPr>
          </a:p>
        </p:txBody>
      </p:sp>
      <p:sp>
        <p:nvSpPr>
          <p:cNvPr id="876" name="Google Shape;876;p22"/>
          <p:cNvSpPr txBox="1"/>
          <p:nvPr/>
        </p:nvSpPr>
        <p:spPr>
          <a:xfrm>
            <a:off x="6373368" y="5669280"/>
            <a:ext cx="5486400" cy="51206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50"/>
              <a:buFont typeface="Arial"/>
              <a:buNone/>
            </a:pPr>
            <a:r>
              <a:rPr b="0" i="0" lang="en-US" sz="950" u="none" cap="none" strike="noStrike">
                <a:solidFill>
                  <a:srgbClr val="A0AAB8"/>
                </a:solidFill>
                <a:latin typeface="Calibri"/>
                <a:ea typeface="Calibri"/>
                <a:cs typeface="Calibri"/>
                <a:sym typeface="Calibri"/>
              </a:rPr>
              <a:t>No existing autonomous VAPT system accumulates and generalizes validated exploitation procedures across sessions. Every prior system resets to zero knowledge on each mission. CMatrix's library makes it measurably more efficient on repeat target-type engagements.</a:t>
            </a:r>
            <a:endParaRPr b="0" i="0" sz="1400" u="none" cap="none" strike="noStrike">
              <a:solidFill>
                <a:srgbClr val="000000"/>
              </a:solidFill>
              <a:latin typeface="Arial"/>
              <a:ea typeface="Arial"/>
              <a:cs typeface="Arial"/>
              <a:sym typeface="Arial"/>
            </a:endParaRPr>
          </a:p>
        </p:txBody>
      </p:sp>
      <p:sp>
        <p:nvSpPr>
          <p:cNvPr id="877" name="Google Shape;877;p22"/>
          <p:cNvSpPr txBox="1"/>
          <p:nvPr/>
        </p:nvSpPr>
        <p:spPr>
          <a:xfrm>
            <a:off x="11585450" y="73150"/>
            <a:ext cx="4389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00BFD8"/>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0D1A"/>
        </a:solidFill>
      </p:bgPr>
    </p:bg>
    <p:spTree>
      <p:nvGrpSpPr>
        <p:cNvPr id="881" name="Shape 881"/>
        <p:cNvGrpSpPr/>
        <p:nvPr/>
      </p:nvGrpSpPr>
      <p:grpSpPr>
        <a:xfrm>
          <a:off x="0" y="0"/>
          <a:ext cx="0" cy="0"/>
          <a:chOff x="0" y="0"/>
          <a:chExt cx="0" cy="0"/>
        </a:xfrm>
      </p:grpSpPr>
      <p:sp>
        <p:nvSpPr>
          <p:cNvPr id="882" name="Google Shape;882;p23"/>
          <p:cNvSpPr/>
          <p:nvPr/>
        </p:nvSpPr>
        <p:spPr>
          <a:xfrm>
            <a:off x="0" y="0"/>
            <a:ext cx="54900" cy="68580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3" name="Google Shape;883;p23"/>
          <p:cNvSpPr/>
          <p:nvPr/>
        </p:nvSpPr>
        <p:spPr>
          <a:xfrm>
            <a:off x="54864" y="0"/>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4" name="Google Shape;884;p23"/>
          <p:cNvSpPr/>
          <p:nvPr/>
        </p:nvSpPr>
        <p:spPr>
          <a:xfrm>
            <a:off x="54864" y="6821424"/>
            <a:ext cx="12136800" cy="36600"/>
          </a:xfrm>
          <a:prstGeom prst="rect">
            <a:avLst/>
          </a:prstGeom>
          <a:solidFill>
            <a:srgbClr val="BD93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5" name="Google Shape;885;p23"/>
          <p:cNvSpPr txBox="1"/>
          <p:nvPr/>
        </p:nvSpPr>
        <p:spPr>
          <a:xfrm>
            <a:off x="274320" y="54864"/>
            <a:ext cx="73152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BD93F9"/>
                </a:solidFill>
                <a:latin typeface="Calibri"/>
                <a:ea typeface="Calibri"/>
                <a:cs typeface="Calibri"/>
                <a:sym typeface="Calibri"/>
              </a:rPr>
              <a:t>INSPIRATIONS &amp; REFERENCES</a:t>
            </a:r>
            <a:endParaRPr b="0" i="0" sz="1400" u="none" cap="none" strike="noStrike">
              <a:solidFill>
                <a:srgbClr val="000000"/>
              </a:solidFill>
              <a:latin typeface="Arial"/>
              <a:ea typeface="Arial"/>
              <a:cs typeface="Arial"/>
              <a:sym typeface="Arial"/>
            </a:endParaRPr>
          </a:p>
        </p:txBody>
      </p:sp>
      <p:sp>
        <p:nvSpPr>
          <p:cNvPr id="886" name="Google Shape;886;p23"/>
          <p:cNvSpPr txBox="1"/>
          <p:nvPr/>
        </p:nvSpPr>
        <p:spPr>
          <a:xfrm>
            <a:off x="274320" y="329184"/>
            <a:ext cx="11430000" cy="49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Academic Papers + Open-Source Repositories That Shaped CMatrix</a:t>
            </a:r>
            <a:endParaRPr b="0" i="0" sz="1400" u="none" cap="none" strike="noStrike">
              <a:solidFill>
                <a:srgbClr val="000000"/>
              </a:solidFill>
              <a:latin typeface="Arial"/>
              <a:ea typeface="Arial"/>
              <a:cs typeface="Arial"/>
              <a:sym typeface="Arial"/>
            </a:endParaRPr>
          </a:p>
        </p:txBody>
      </p:sp>
      <p:sp>
        <p:nvSpPr>
          <p:cNvPr id="887" name="Google Shape;887;p23"/>
          <p:cNvSpPr/>
          <p:nvPr/>
        </p:nvSpPr>
        <p:spPr>
          <a:xfrm>
            <a:off x="274320" y="987552"/>
            <a:ext cx="5898000" cy="274200"/>
          </a:xfrm>
          <a:prstGeom prst="rect">
            <a:avLst/>
          </a:prstGeom>
          <a:solidFill>
            <a:srgbClr val="081420"/>
          </a:solidFill>
          <a:ln cap="flat" cmpd="sng" w="1015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88" name="Google Shape;888;p23"/>
          <p:cNvSpPr txBox="1"/>
          <p:nvPr/>
        </p:nvSpPr>
        <p:spPr>
          <a:xfrm>
            <a:off x="384048" y="1005840"/>
            <a:ext cx="57150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00E5FF"/>
                </a:solidFill>
                <a:latin typeface="Calibri"/>
                <a:ea typeface="Calibri"/>
                <a:cs typeface="Calibri"/>
                <a:sym typeface="Calibri"/>
              </a:rPr>
              <a:t>📄  ACADEMIC PAPERS</a:t>
            </a:r>
            <a:endParaRPr b="0" i="0" sz="1400" u="none" cap="none" strike="noStrike">
              <a:solidFill>
                <a:srgbClr val="000000"/>
              </a:solidFill>
              <a:latin typeface="Arial"/>
              <a:ea typeface="Arial"/>
              <a:cs typeface="Arial"/>
              <a:sym typeface="Arial"/>
            </a:endParaRPr>
          </a:p>
        </p:txBody>
      </p:sp>
      <p:sp>
        <p:nvSpPr>
          <p:cNvPr id="889" name="Google Shape;889;p23"/>
          <p:cNvSpPr/>
          <p:nvPr/>
        </p:nvSpPr>
        <p:spPr>
          <a:xfrm>
            <a:off x="6236208" y="960120"/>
            <a:ext cx="27300" cy="5349300"/>
          </a:xfrm>
          <a:prstGeom prst="rect">
            <a:avLst/>
          </a:prstGeom>
          <a:solidFill>
            <a:srgbClr val="A0AAB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0" name="Google Shape;890;p23"/>
          <p:cNvSpPr/>
          <p:nvPr/>
        </p:nvSpPr>
        <p:spPr>
          <a:xfrm>
            <a:off x="274320" y="1307592"/>
            <a:ext cx="5898000" cy="1024200"/>
          </a:xfrm>
          <a:prstGeom prst="rect">
            <a:avLst/>
          </a:prstGeom>
          <a:solidFill>
            <a:srgbClr val="10162B"/>
          </a:solidFill>
          <a:ln cap="flat" cmpd="sng" w="12700">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1" name="Google Shape;891;p23"/>
          <p:cNvSpPr/>
          <p:nvPr/>
        </p:nvSpPr>
        <p:spPr>
          <a:xfrm>
            <a:off x="274320" y="1307592"/>
            <a:ext cx="347400" cy="10242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2" name="Google Shape;892;p23"/>
          <p:cNvSpPr txBox="1"/>
          <p:nvPr/>
        </p:nvSpPr>
        <p:spPr>
          <a:xfrm>
            <a:off x="292608" y="1682496"/>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1</a:t>
            </a:r>
            <a:endParaRPr b="0" i="0" sz="1400" u="none" cap="none" strike="noStrike">
              <a:solidFill>
                <a:srgbClr val="000000"/>
              </a:solidFill>
              <a:latin typeface="Arial"/>
              <a:ea typeface="Arial"/>
              <a:cs typeface="Arial"/>
              <a:sym typeface="Arial"/>
            </a:endParaRPr>
          </a:p>
        </p:txBody>
      </p:sp>
      <p:sp>
        <p:nvSpPr>
          <p:cNvPr id="893" name="Google Shape;893;p23"/>
          <p:cNvSpPr txBox="1"/>
          <p:nvPr/>
        </p:nvSpPr>
        <p:spPr>
          <a:xfrm>
            <a:off x="713232" y="1362456"/>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E5FF"/>
                </a:solidFill>
                <a:latin typeface="Calibri"/>
                <a:ea typeface="Calibri"/>
                <a:cs typeface="Calibri"/>
                <a:sym typeface="Calibri"/>
              </a:rPr>
              <a:t>PentestGPT</a:t>
            </a:r>
            <a:endParaRPr b="0" i="0" sz="1400" u="none" cap="none" strike="noStrike">
              <a:solidFill>
                <a:srgbClr val="000000"/>
              </a:solidFill>
              <a:latin typeface="Arial"/>
              <a:ea typeface="Arial"/>
              <a:cs typeface="Arial"/>
              <a:sym typeface="Arial"/>
            </a:endParaRPr>
          </a:p>
        </p:txBody>
      </p:sp>
      <p:sp>
        <p:nvSpPr>
          <p:cNvPr id="894" name="Google Shape;894;p23"/>
          <p:cNvSpPr txBox="1"/>
          <p:nvPr/>
        </p:nvSpPr>
        <p:spPr>
          <a:xfrm>
            <a:off x="713232" y="1581912"/>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USENIX Security '24</a:t>
            </a:r>
            <a:endParaRPr b="0" i="0" sz="1400" u="none" cap="none" strike="noStrike">
              <a:solidFill>
                <a:srgbClr val="000000"/>
              </a:solidFill>
              <a:latin typeface="Arial"/>
              <a:ea typeface="Arial"/>
              <a:cs typeface="Arial"/>
              <a:sym typeface="Arial"/>
            </a:endParaRPr>
          </a:p>
        </p:txBody>
      </p:sp>
      <p:sp>
        <p:nvSpPr>
          <p:cNvPr id="895" name="Google Shape;895;p23"/>
          <p:cNvSpPr txBox="1"/>
          <p:nvPr/>
        </p:nvSpPr>
        <p:spPr>
          <a:xfrm>
            <a:off x="713232" y="1764792"/>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Tripartite Reasoning / Generation / Parsing architecture.</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Pentesting Task Tree memory for long-session context.</a:t>
            </a:r>
            <a:endParaRPr b="0" i="0" sz="1400" u="none" cap="none" strike="noStrike">
              <a:solidFill>
                <a:srgbClr val="000000"/>
              </a:solidFill>
              <a:latin typeface="Arial"/>
              <a:ea typeface="Arial"/>
              <a:cs typeface="Arial"/>
              <a:sym typeface="Arial"/>
            </a:endParaRPr>
          </a:p>
        </p:txBody>
      </p:sp>
      <p:sp>
        <p:nvSpPr>
          <p:cNvPr id="896" name="Google Shape;896;p23"/>
          <p:cNvSpPr/>
          <p:nvPr/>
        </p:nvSpPr>
        <p:spPr>
          <a:xfrm>
            <a:off x="694944" y="2130552"/>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7" name="Google Shape;897;p23"/>
          <p:cNvSpPr txBox="1"/>
          <p:nvPr/>
        </p:nvSpPr>
        <p:spPr>
          <a:xfrm>
            <a:off x="731520" y="2139696"/>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Tool Adapter Layer (parse before you reason) + MicroCompact permanent graph state.</a:t>
            </a:r>
            <a:endParaRPr b="0" i="0" sz="1400" u="none" cap="none" strike="noStrike">
              <a:solidFill>
                <a:srgbClr val="000000"/>
              </a:solidFill>
              <a:latin typeface="Arial"/>
              <a:ea typeface="Arial"/>
              <a:cs typeface="Arial"/>
              <a:sym typeface="Arial"/>
            </a:endParaRPr>
          </a:p>
        </p:txBody>
      </p:sp>
      <p:sp>
        <p:nvSpPr>
          <p:cNvPr id="898" name="Google Shape;898;p23"/>
          <p:cNvSpPr/>
          <p:nvPr/>
        </p:nvSpPr>
        <p:spPr>
          <a:xfrm>
            <a:off x="274320" y="2386584"/>
            <a:ext cx="5898000" cy="1024200"/>
          </a:xfrm>
          <a:prstGeom prst="rect">
            <a:avLst/>
          </a:prstGeom>
          <a:solidFill>
            <a:srgbClr val="10162B"/>
          </a:solidFill>
          <a:ln cap="flat" cmpd="sng" w="12700">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899" name="Google Shape;899;p23"/>
          <p:cNvSpPr/>
          <p:nvPr/>
        </p:nvSpPr>
        <p:spPr>
          <a:xfrm>
            <a:off x="274320" y="2386584"/>
            <a:ext cx="347400" cy="10242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0" name="Google Shape;900;p23"/>
          <p:cNvSpPr txBox="1"/>
          <p:nvPr/>
        </p:nvSpPr>
        <p:spPr>
          <a:xfrm>
            <a:off x="292608" y="276148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2</a:t>
            </a:r>
            <a:endParaRPr b="0" i="0" sz="1400" u="none" cap="none" strike="noStrike">
              <a:solidFill>
                <a:srgbClr val="000000"/>
              </a:solidFill>
              <a:latin typeface="Arial"/>
              <a:ea typeface="Arial"/>
              <a:cs typeface="Arial"/>
              <a:sym typeface="Arial"/>
            </a:endParaRPr>
          </a:p>
        </p:txBody>
      </p:sp>
      <p:sp>
        <p:nvSpPr>
          <p:cNvPr id="901" name="Google Shape;901;p23"/>
          <p:cNvSpPr txBox="1"/>
          <p:nvPr/>
        </p:nvSpPr>
        <p:spPr>
          <a:xfrm>
            <a:off x="713232" y="2441448"/>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39FF14"/>
                </a:solidFill>
                <a:latin typeface="Calibri"/>
                <a:ea typeface="Calibri"/>
                <a:cs typeface="Calibri"/>
                <a:sym typeface="Calibri"/>
              </a:rPr>
              <a:t>AutoAttacker</a:t>
            </a:r>
            <a:endParaRPr b="0" i="0" sz="1400" u="none" cap="none" strike="noStrike">
              <a:solidFill>
                <a:srgbClr val="000000"/>
              </a:solidFill>
              <a:latin typeface="Arial"/>
              <a:ea typeface="Arial"/>
              <a:cs typeface="Arial"/>
              <a:sym typeface="Arial"/>
            </a:endParaRPr>
          </a:p>
        </p:txBody>
      </p:sp>
      <p:sp>
        <p:nvSpPr>
          <p:cNvPr id="902" name="Google Shape;902;p23"/>
          <p:cNvSpPr txBox="1"/>
          <p:nvPr/>
        </p:nvSpPr>
        <p:spPr>
          <a:xfrm>
            <a:off x="713232" y="2660904"/>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Xu et al.</a:t>
            </a:r>
            <a:endParaRPr b="0" i="0" sz="1400" u="none" cap="none" strike="noStrike">
              <a:solidFill>
                <a:srgbClr val="000000"/>
              </a:solidFill>
              <a:latin typeface="Arial"/>
              <a:ea typeface="Arial"/>
              <a:cs typeface="Arial"/>
              <a:sym typeface="Arial"/>
            </a:endParaRPr>
          </a:p>
        </p:txBody>
      </p:sp>
      <p:sp>
        <p:nvSpPr>
          <p:cNvPr id="903" name="Google Shape;903;p23"/>
          <p:cNvSpPr txBox="1"/>
          <p:nvPr/>
        </p:nvSpPr>
        <p:spPr>
          <a:xfrm>
            <a:off x="713232" y="2843784"/>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Modular planner / summarizer / code-generator for post-breach automation.</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Experience manager stores + reuses attack subtasks within one mission.</a:t>
            </a:r>
            <a:endParaRPr b="0" i="0" sz="1400" u="none" cap="none" strike="noStrike">
              <a:solidFill>
                <a:srgbClr val="000000"/>
              </a:solidFill>
              <a:latin typeface="Arial"/>
              <a:ea typeface="Arial"/>
              <a:cs typeface="Arial"/>
              <a:sym typeface="Arial"/>
            </a:endParaRPr>
          </a:p>
        </p:txBody>
      </p:sp>
      <p:sp>
        <p:nvSpPr>
          <p:cNvPr id="904" name="Google Shape;904;p23"/>
          <p:cNvSpPr/>
          <p:nvPr/>
        </p:nvSpPr>
        <p:spPr>
          <a:xfrm>
            <a:off x="694944" y="3209544"/>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5" name="Google Shape;905;p23"/>
          <p:cNvSpPr txBox="1"/>
          <p:nvPr/>
        </p:nvSpPr>
        <p:spPr>
          <a:xfrm>
            <a:off x="731520" y="3218688"/>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Cross-Mission Experience Store (C10) — generalizes reuse to cross-mission scope.</a:t>
            </a:r>
            <a:endParaRPr b="0" i="0" sz="1400" u="none" cap="none" strike="noStrike">
              <a:solidFill>
                <a:srgbClr val="000000"/>
              </a:solidFill>
              <a:latin typeface="Arial"/>
              <a:ea typeface="Arial"/>
              <a:cs typeface="Arial"/>
              <a:sym typeface="Arial"/>
            </a:endParaRPr>
          </a:p>
        </p:txBody>
      </p:sp>
      <p:sp>
        <p:nvSpPr>
          <p:cNvPr id="906" name="Google Shape;906;p23"/>
          <p:cNvSpPr/>
          <p:nvPr/>
        </p:nvSpPr>
        <p:spPr>
          <a:xfrm>
            <a:off x="274320" y="3465576"/>
            <a:ext cx="5898000" cy="1024200"/>
          </a:xfrm>
          <a:prstGeom prst="rect">
            <a:avLst/>
          </a:prstGeom>
          <a:solidFill>
            <a:srgbClr val="10162B"/>
          </a:solidFill>
          <a:ln cap="flat" cmpd="sng" w="12700">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7" name="Google Shape;907;p23"/>
          <p:cNvSpPr/>
          <p:nvPr/>
        </p:nvSpPr>
        <p:spPr>
          <a:xfrm>
            <a:off x="274320" y="3465576"/>
            <a:ext cx="347400" cy="10242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08" name="Google Shape;908;p23"/>
          <p:cNvSpPr txBox="1"/>
          <p:nvPr/>
        </p:nvSpPr>
        <p:spPr>
          <a:xfrm>
            <a:off x="292608" y="384048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3</a:t>
            </a:r>
            <a:endParaRPr b="0" i="0" sz="1400" u="none" cap="none" strike="noStrike">
              <a:solidFill>
                <a:srgbClr val="000000"/>
              </a:solidFill>
              <a:latin typeface="Arial"/>
              <a:ea typeface="Arial"/>
              <a:cs typeface="Arial"/>
              <a:sym typeface="Arial"/>
            </a:endParaRPr>
          </a:p>
        </p:txBody>
      </p:sp>
      <p:sp>
        <p:nvSpPr>
          <p:cNvPr id="909" name="Google Shape;909;p23"/>
          <p:cNvSpPr txBox="1"/>
          <p:nvPr/>
        </p:nvSpPr>
        <p:spPr>
          <a:xfrm>
            <a:off x="713232" y="3520440"/>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D700"/>
                </a:solidFill>
                <a:latin typeface="Calibri"/>
                <a:ea typeface="Calibri"/>
                <a:cs typeface="Calibri"/>
                <a:sym typeface="Calibri"/>
              </a:rPr>
              <a:t>Teams of LLM Agents (HPTSA)</a:t>
            </a:r>
            <a:endParaRPr b="0" i="0" sz="1400" u="none" cap="none" strike="noStrike">
              <a:solidFill>
                <a:srgbClr val="000000"/>
              </a:solidFill>
              <a:latin typeface="Arial"/>
              <a:ea typeface="Arial"/>
              <a:cs typeface="Arial"/>
              <a:sym typeface="Arial"/>
            </a:endParaRPr>
          </a:p>
        </p:txBody>
      </p:sp>
      <p:sp>
        <p:nvSpPr>
          <p:cNvPr id="910" name="Google Shape;910;p23"/>
          <p:cNvSpPr txBox="1"/>
          <p:nvPr/>
        </p:nvSpPr>
        <p:spPr>
          <a:xfrm>
            <a:off x="713232" y="3739896"/>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'24  — Zhu et al.</a:t>
            </a:r>
            <a:endParaRPr b="0" i="0" sz="1400" u="none" cap="none" strike="noStrike">
              <a:solidFill>
                <a:srgbClr val="000000"/>
              </a:solidFill>
              <a:latin typeface="Arial"/>
              <a:ea typeface="Arial"/>
              <a:cs typeface="Arial"/>
              <a:sym typeface="Arial"/>
            </a:endParaRPr>
          </a:p>
        </p:txBody>
      </p:sp>
      <p:sp>
        <p:nvSpPr>
          <p:cNvPr id="911" name="Google Shape;911;p23"/>
          <p:cNvSpPr txBox="1"/>
          <p:nvPr/>
        </p:nvSpPr>
        <p:spPr>
          <a:xfrm>
            <a:off x="713232" y="3922776"/>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Hierarchical planner delegates to task-specific sub-agents.</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Task-specific document injection improves zero-day exploitation by 2.1x.</a:t>
            </a:r>
            <a:endParaRPr b="0" i="0" sz="1400" u="none" cap="none" strike="noStrike">
              <a:solidFill>
                <a:srgbClr val="000000"/>
              </a:solidFill>
              <a:latin typeface="Arial"/>
              <a:ea typeface="Arial"/>
              <a:cs typeface="Arial"/>
              <a:sym typeface="Arial"/>
            </a:endParaRPr>
          </a:p>
        </p:txBody>
      </p:sp>
      <p:sp>
        <p:nvSpPr>
          <p:cNvPr id="912" name="Google Shape;912;p23"/>
          <p:cNvSpPr/>
          <p:nvPr/>
        </p:nvSpPr>
        <p:spPr>
          <a:xfrm>
            <a:off x="694944" y="4288536"/>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3" name="Google Shape;913;p23"/>
          <p:cNvSpPr txBox="1"/>
          <p:nvPr/>
        </p:nvSpPr>
        <p:spPr>
          <a:xfrm>
            <a:off x="731520" y="4297680"/>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Vulnerability-Class Knowledge Injection at agent spawn time (C3 / §7).</a:t>
            </a:r>
            <a:endParaRPr b="0" i="0" sz="1400" u="none" cap="none" strike="noStrike">
              <a:solidFill>
                <a:srgbClr val="000000"/>
              </a:solidFill>
              <a:latin typeface="Arial"/>
              <a:ea typeface="Arial"/>
              <a:cs typeface="Arial"/>
              <a:sym typeface="Arial"/>
            </a:endParaRPr>
          </a:p>
        </p:txBody>
      </p:sp>
      <p:sp>
        <p:nvSpPr>
          <p:cNvPr id="914" name="Google Shape;914;p23"/>
          <p:cNvSpPr/>
          <p:nvPr/>
        </p:nvSpPr>
        <p:spPr>
          <a:xfrm>
            <a:off x="274320" y="4544568"/>
            <a:ext cx="5898000" cy="1024200"/>
          </a:xfrm>
          <a:prstGeom prst="rect">
            <a:avLst/>
          </a:prstGeom>
          <a:solidFill>
            <a:srgbClr val="10162B"/>
          </a:solidFill>
          <a:ln cap="flat" cmpd="sng" w="12700">
            <a:solidFill>
              <a:srgbClr val="00BFD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5" name="Google Shape;915;p23"/>
          <p:cNvSpPr/>
          <p:nvPr/>
        </p:nvSpPr>
        <p:spPr>
          <a:xfrm>
            <a:off x="274320" y="4544568"/>
            <a:ext cx="347400" cy="1024200"/>
          </a:xfrm>
          <a:prstGeom prst="rect">
            <a:avLst/>
          </a:prstGeom>
          <a:solidFill>
            <a:srgbClr val="00BF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16" name="Google Shape;916;p23"/>
          <p:cNvSpPr txBox="1"/>
          <p:nvPr/>
        </p:nvSpPr>
        <p:spPr>
          <a:xfrm>
            <a:off x="292608" y="491947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4</a:t>
            </a:r>
            <a:endParaRPr b="0" i="0" sz="1400" u="none" cap="none" strike="noStrike">
              <a:solidFill>
                <a:srgbClr val="000000"/>
              </a:solidFill>
              <a:latin typeface="Arial"/>
              <a:ea typeface="Arial"/>
              <a:cs typeface="Arial"/>
              <a:sym typeface="Arial"/>
            </a:endParaRPr>
          </a:p>
        </p:txBody>
      </p:sp>
      <p:sp>
        <p:nvSpPr>
          <p:cNvPr id="917" name="Google Shape;917;p23"/>
          <p:cNvSpPr txBox="1"/>
          <p:nvPr/>
        </p:nvSpPr>
        <p:spPr>
          <a:xfrm>
            <a:off x="713232" y="4599432"/>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00BFD8"/>
                </a:solidFill>
                <a:latin typeface="Calibri"/>
                <a:ea typeface="Calibri"/>
                <a:cs typeface="Calibri"/>
                <a:sym typeface="Calibri"/>
              </a:rPr>
              <a:t>PentestAgent</a:t>
            </a:r>
            <a:endParaRPr b="0" i="0" sz="1400" u="none" cap="none" strike="noStrike">
              <a:solidFill>
                <a:srgbClr val="000000"/>
              </a:solidFill>
              <a:latin typeface="Arial"/>
              <a:ea typeface="Arial"/>
              <a:cs typeface="Arial"/>
              <a:sym typeface="Arial"/>
            </a:endParaRPr>
          </a:p>
        </p:txBody>
      </p:sp>
      <p:sp>
        <p:nvSpPr>
          <p:cNvPr id="918" name="Google Shape;918;p23"/>
          <p:cNvSpPr txBox="1"/>
          <p:nvPr/>
        </p:nvSpPr>
        <p:spPr>
          <a:xfrm>
            <a:off x="713232" y="4818888"/>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AsiaCCS '25  — Shen et al.</a:t>
            </a:r>
            <a:endParaRPr b="0" i="0" sz="1400" u="none" cap="none" strike="noStrike">
              <a:solidFill>
                <a:srgbClr val="000000"/>
              </a:solidFill>
              <a:latin typeface="Arial"/>
              <a:ea typeface="Arial"/>
              <a:cs typeface="Arial"/>
              <a:sym typeface="Arial"/>
            </a:endParaRPr>
          </a:p>
        </p:txBody>
      </p:sp>
      <p:sp>
        <p:nvSpPr>
          <p:cNvPr id="919" name="Google Shape;919;p23"/>
          <p:cNvSpPr txBox="1"/>
          <p:nvPr/>
        </p:nvSpPr>
        <p:spPr>
          <a:xfrm>
            <a:off x="713232" y="5001768"/>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Planning agent + RAG-backed shared memory.</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Execution agent self-diagnoses failed exploit attempts before abandoning.</a:t>
            </a:r>
            <a:endParaRPr b="0" i="0" sz="1400" u="none" cap="none" strike="noStrike">
              <a:solidFill>
                <a:srgbClr val="000000"/>
              </a:solidFill>
              <a:latin typeface="Arial"/>
              <a:ea typeface="Arial"/>
              <a:cs typeface="Arial"/>
              <a:sym typeface="Arial"/>
            </a:endParaRPr>
          </a:p>
        </p:txBody>
      </p:sp>
      <p:sp>
        <p:nvSpPr>
          <p:cNvPr id="920" name="Google Shape;920;p23"/>
          <p:cNvSpPr/>
          <p:nvPr/>
        </p:nvSpPr>
        <p:spPr>
          <a:xfrm>
            <a:off x="694944" y="5367528"/>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1" name="Google Shape;921;p23"/>
          <p:cNvSpPr txBox="1"/>
          <p:nvPr/>
        </p:nvSpPr>
        <p:spPr>
          <a:xfrm>
            <a:off x="731520" y="5376672"/>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Validation Agent self-debugging loop: Diagnose → Contextualize → Adapt → Cap.</a:t>
            </a:r>
            <a:endParaRPr b="0" i="0" sz="1400" u="none" cap="none" strike="noStrike">
              <a:solidFill>
                <a:srgbClr val="000000"/>
              </a:solidFill>
              <a:latin typeface="Arial"/>
              <a:ea typeface="Arial"/>
              <a:cs typeface="Arial"/>
              <a:sym typeface="Arial"/>
            </a:endParaRPr>
          </a:p>
        </p:txBody>
      </p:sp>
      <p:sp>
        <p:nvSpPr>
          <p:cNvPr id="922" name="Google Shape;922;p23"/>
          <p:cNvSpPr/>
          <p:nvPr/>
        </p:nvSpPr>
        <p:spPr>
          <a:xfrm>
            <a:off x="274320" y="5623560"/>
            <a:ext cx="5898000" cy="1024200"/>
          </a:xfrm>
          <a:prstGeom prst="rect">
            <a:avLst/>
          </a:prstGeom>
          <a:solidFill>
            <a:srgbClr val="10162B"/>
          </a:solidFill>
          <a:ln cap="flat" cmpd="sng" w="12700">
            <a:solidFill>
              <a:srgbClr val="FF454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3" name="Google Shape;923;p23"/>
          <p:cNvSpPr/>
          <p:nvPr/>
        </p:nvSpPr>
        <p:spPr>
          <a:xfrm>
            <a:off x="274320" y="5623560"/>
            <a:ext cx="347400" cy="1024200"/>
          </a:xfrm>
          <a:prstGeom prst="rect">
            <a:avLst/>
          </a:prstGeom>
          <a:solidFill>
            <a:srgbClr val="FF454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4" name="Google Shape;924;p23"/>
          <p:cNvSpPr txBox="1"/>
          <p:nvPr/>
        </p:nvSpPr>
        <p:spPr>
          <a:xfrm>
            <a:off x="292608" y="5998464"/>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
        <p:nvSpPr>
          <p:cNvPr id="925" name="Google Shape;925;p23"/>
          <p:cNvSpPr txBox="1"/>
          <p:nvPr/>
        </p:nvSpPr>
        <p:spPr>
          <a:xfrm>
            <a:off x="713232" y="5678424"/>
            <a:ext cx="5413200" cy="269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FF4545"/>
                </a:solidFill>
                <a:latin typeface="Calibri"/>
                <a:ea typeface="Calibri"/>
                <a:cs typeface="Calibri"/>
                <a:sym typeface="Calibri"/>
              </a:rPr>
              <a:t>VulnBot</a:t>
            </a:r>
            <a:endParaRPr b="0" i="0" sz="1400" u="none" cap="none" strike="noStrike">
              <a:solidFill>
                <a:srgbClr val="000000"/>
              </a:solidFill>
              <a:latin typeface="Arial"/>
              <a:ea typeface="Arial"/>
              <a:cs typeface="Arial"/>
              <a:sym typeface="Arial"/>
            </a:endParaRPr>
          </a:p>
        </p:txBody>
      </p:sp>
      <p:sp>
        <p:nvSpPr>
          <p:cNvPr id="926" name="Google Shape;926;p23"/>
          <p:cNvSpPr txBox="1"/>
          <p:nvPr/>
        </p:nvSpPr>
        <p:spPr>
          <a:xfrm>
            <a:off x="713232" y="5897880"/>
            <a:ext cx="54132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arXiv '25  — Kong et al.</a:t>
            </a:r>
            <a:endParaRPr b="0" i="0" sz="1400" u="none" cap="none" strike="noStrike">
              <a:solidFill>
                <a:srgbClr val="000000"/>
              </a:solidFill>
              <a:latin typeface="Arial"/>
              <a:ea typeface="Arial"/>
              <a:cs typeface="Arial"/>
              <a:sym typeface="Arial"/>
            </a:endParaRPr>
          </a:p>
        </p:txBody>
      </p:sp>
      <p:sp>
        <p:nvSpPr>
          <p:cNvPr id="927" name="Google Shape;927;p23"/>
          <p:cNvSpPr txBox="1"/>
          <p:nvPr/>
        </p:nvSpPr>
        <p:spPr>
          <a:xfrm>
            <a:off x="713232" y="6080760"/>
            <a:ext cx="54132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0" lang="en-US" sz="850" u="none" cap="none" strike="noStrike">
                <a:solidFill>
                  <a:srgbClr val="A0AAB8"/>
                </a:solidFill>
                <a:latin typeface="Calibri"/>
                <a:ea typeface="Calibri"/>
                <a:cs typeface="Calibri"/>
                <a:sym typeface="Calibri"/>
              </a:rPr>
              <a:t>Five-module pipeline around a Penetration Task Graph.</a:t>
            </a:r>
            <a:br>
              <a:rPr b="0" i="0" lang="en-US" sz="850" u="none" cap="none" strike="noStrike">
                <a:solidFill>
                  <a:srgbClr val="A0AAB8"/>
                </a:solidFill>
                <a:latin typeface="Calibri"/>
                <a:ea typeface="Calibri"/>
                <a:cs typeface="Calibri"/>
                <a:sym typeface="Calibri"/>
              </a:rPr>
            </a:br>
            <a:r>
              <a:rPr b="0" i="0" lang="en-US" sz="850" u="none" cap="none" strike="noStrike">
                <a:solidFill>
                  <a:srgbClr val="A0AAB8"/>
                </a:solidFill>
                <a:latin typeface="Calibri"/>
                <a:ea typeface="Calibri"/>
                <a:cs typeface="Calibri"/>
                <a:sym typeface="Calibri"/>
              </a:rPr>
              <a:t>Summarizer condenses phase output — prevents raw history leaking between agents.</a:t>
            </a:r>
            <a:endParaRPr b="0" i="0" sz="1400" u="none" cap="none" strike="noStrike">
              <a:solidFill>
                <a:srgbClr val="000000"/>
              </a:solidFill>
              <a:latin typeface="Arial"/>
              <a:ea typeface="Arial"/>
              <a:cs typeface="Arial"/>
              <a:sym typeface="Arial"/>
            </a:endParaRPr>
          </a:p>
        </p:txBody>
      </p:sp>
      <p:sp>
        <p:nvSpPr>
          <p:cNvPr id="928" name="Google Shape;928;p23"/>
          <p:cNvSpPr/>
          <p:nvPr/>
        </p:nvSpPr>
        <p:spPr>
          <a:xfrm>
            <a:off x="694944" y="6446520"/>
            <a:ext cx="5404200" cy="1647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29" name="Google Shape;929;p23"/>
          <p:cNvSpPr txBox="1"/>
          <p:nvPr/>
        </p:nvSpPr>
        <p:spPr>
          <a:xfrm>
            <a:off x="731520" y="6455664"/>
            <a:ext cx="5367600" cy="2154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39FF14"/>
                </a:solidFill>
                <a:latin typeface="Calibri"/>
                <a:ea typeface="Calibri"/>
                <a:cs typeface="Calibri"/>
                <a:sym typeface="Calibri"/>
              </a:rPr>
              <a:t>CMatrix:  Context-Isolated Agent Spawning — agents return structured ASG delta, not raw history.</a:t>
            </a:r>
            <a:endParaRPr b="0" i="0" sz="1400" u="none" cap="none" strike="noStrike">
              <a:solidFill>
                <a:srgbClr val="000000"/>
              </a:solidFill>
              <a:latin typeface="Arial"/>
              <a:ea typeface="Arial"/>
              <a:cs typeface="Arial"/>
              <a:sym typeface="Arial"/>
            </a:endParaRPr>
          </a:p>
        </p:txBody>
      </p:sp>
      <p:sp>
        <p:nvSpPr>
          <p:cNvPr id="930" name="Google Shape;930;p23"/>
          <p:cNvSpPr/>
          <p:nvPr/>
        </p:nvSpPr>
        <p:spPr>
          <a:xfrm>
            <a:off x="6355080" y="987552"/>
            <a:ext cx="5669400" cy="274200"/>
          </a:xfrm>
          <a:prstGeom prst="rect">
            <a:avLst/>
          </a:prstGeom>
          <a:solidFill>
            <a:srgbClr val="120820"/>
          </a:solidFill>
          <a:ln cap="flat" cmpd="sng" w="10150">
            <a:solidFill>
              <a:srgbClr val="BD93F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1" name="Google Shape;931;p23"/>
          <p:cNvSpPr txBox="1"/>
          <p:nvPr/>
        </p:nvSpPr>
        <p:spPr>
          <a:xfrm>
            <a:off x="6464808" y="1005840"/>
            <a:ext cx="5486400" cy="246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rgbClr val="BD93F9"/>
                </a:solidFill>
                <a:latin typeface="Calibri"/>
                <a:ea typeface="Calibri"/>
                <a:cs typeface="Calibri"/>
                <a:sym typeface="Calibri"/>
              </a:rPr>
              <a:t>💻  OPEN-SOURCE REPOSITORIES</a:t>
            </a:r>
            <a:endParaRPr b="0" i="0" sz="1400" u="none" cap="none" strike="noStrike">
              <a:solidFill>
                <a:srgbClr val="000000"/>
              </a:solidFill>
              <a:latin typeface="Arial"/>
              <a:ea typeface="Arial"/>
              <a:cs typeface="Arial"/>
              <a:sym typeface="Arial"/>
            </a:endParaRPr>
          </a:p>
        </p:txBody>
      </p:sp>
      <p:sp>
        <p:nvSpPr>
          <p:cNvPr id="932" name="Google Shape;932;p23"/>
          <p:cNvSpPr/>
          <p:nvPr/>
        </p:nvSpPr>
        <p:spPr>
          <a:xfrm>
            <a:off x="6355080" y="1307592"/>
            <a:ext cx="5669400" cy="1627500"/>
          </a:xfrm>
          <a:prstGeom prst="rect">
            <a:avLst/>
          </a:prstGeom>
          <a:solidFill>
            <a:srgbClr val="10162B"/>
          </a:solidFill>
          <a:ln cap="flat" cmpd="sng" w="15225">
            <a:solidFill>
              <a:srgbClr val="39FF1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3" name="Google Shape;933;p23"/>
          <p:cNvSpPr/>
          <p:nvPr/>
        </p:nvSpPr>
        <p:spPr>
          <a:xfrm>
            <a:off x="6355080" y="1307592"/>
            <a:ext cx="347400" cy="1627500"/>
          </a:xfrm>
          <a:prstGeom prst="rect">
            <a:avLst/>
          </a:prstGeom>
          <a:solidFill>
            <a:srgbClr val="39FF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4" name="Google Shape;934;p23"/>
          <p:cNvSpPr txBox="1"/>
          <p:nvPr/>
        </p:nvSpPr>
        <p:spPr>
          <a:xfrm>
            <a:off x="6373368" y="1984248"/>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sp>
        <p:nvSpPr>
          <p:cNvPr id="935" name="Google Shape;935;p23"/>
          <p:cNvSpPr txBox="1"/>
          <p:nvPr/>
        </p:nvSpPr>
        <p:spPr>
          <a:xfrm>
            <a:off x="6793992" y="1380744"/>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39FF14"/>
                </a:solidFill>
                <a:latin typeface="Calibri"/>
                <a:ea typeface="Calibri"/>
                <a:cs typeface="Calibri"/>
                <a:sym typeface="Calibri"/>
              </a:rPr>
              <a:t>PentAGI</a:t>
            </a:r>
            <a:endParaRPr b="0" i="0" sz="1400" u="none" cap="none" strike="noStrike">
              <a:solidFill>
                <a:srgbClr val="000000"/>
              </a:solidFill>
              <a:latin typeface="Arial"/>
              <a:ea typeface="Arial"/>
              <a:cs typeface="Arial"/>
              <a:sym typeface="Arial"/>
            </a:endParaRPr>
          </a:p>
        </p:txBody>
      </p:sp>
      <p:sp>
        <p:nvSpPr>
          <p:cNvPr id="936" name="Google Shape;936;p23"/>
          <p:cNvSpPr txBox="1"/>
          <p:nvPr/>
        </p:nvSpPr>
        <p:spPr>
          <a:xfrm>
            <a:off x="6793992" y="1645920"/>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vxcontrol/pentagi</a:t>
            </a:r>
            <a:endParaRPr b="0" i="0" sz="1400" u="none" cap="none" strike="noStrike">
              <a:solidFill>
                <a:srgbClr val="000000"/>
              </a:solidFill>
              <a:latin typeface="Arial"/>
              <a:ea typeface="Arial"/>
              <a:cs typeface="Arial"/>
              <a:sym typeface="Arial"/>
            </a:endParaRPr>
          </a:p>
        </p:txBody>
      </p:sp>
      <p:sp>
        <p:nvSpPr>
          <p:cNvPr id="937" name="Google Shape;937;p23"/>
          <p:cNvSpPr txBox="1"/>
          <p:nvPr/>
        </p:nvSpPr>
        <p:spPr>
          <a:xfrm>
            <a:off x="6793992" y="1837944"/>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Production multi-agent pentesting platform.</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Adviser detects fixation; Reflector nudges stuck agents.</a:t>
            </a:r>
            <a:endParaRPr b="0" i="0" sz="1400" u="none" cap="none" strike="noStrike">
              <a:solidFill>
                <a:srgbClr val="000000"/>
              </a:solidFill>
              <a:latin typeface="Arial"/>
              <a:ea typeface="Arial"/>
              <a:cs typeface="Arial"/>
              <a:sym typeface="Arial"/>
            </a:endParaRPr>
          </a:p>
        </p:txBody>
      </p:sp>
      <p:sp>
        <p:nvSpPr>
          <p:cNvPr id="938" name="Google Shape;938;p23"/>
          <p:cNvSpPr/>
          <p:nvPr/>
        </p:nvSpPr>
        <p:spPr>
          <a:xfrm>
            <a:off x="6775704" y="2642616"/>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39" name="Google Shape;939;p23"/>
          <p:cNvSpPr txBox="1"/>
          <p:nvPr/>
        </p:nvSpPr>
        <p:spPr>
          <a:xfrm>
            <a:off x="6812280" y="2651760"/>
            <a:ext cx="5139000" cy="35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Cycle Guard (detects repeated identical tool calls) + Reflector (corrective guidance on repeated failures).</a:t>
            </a:r>
            <a:endParaRPr b="0" i="0" sz="1400" u="none" cap="none" strike="noStrike">
              <a:solidFill>
                <a:srgbClr val="000000"/>
              </a:solidFill>
              <a:latin typeface="Arial"/>
              <a:ea typeface="Arial"/>
              <a:cs typeface="Arial"/>
              <a:sym typeface="Arial"/>
            </a:endParaRPr>
          </a:p>
        </p:txBody>
      </p:sp>
      <p:sp>
        <p:nvSpPr>
          <p:cNvPr id="940" name="Google Shape;940;p23"/>
          <p:cNvSpPr/>
          <p:nvPr/>
        </p:nvSpPr>
        <p:spPr>
          <a:xfrm>
            <a:off x="6355080" y="3026664"/>
            <a:ext cx="5669400" cy="1627500"/>
          </a:xfrm>
          <a:prstGeom prst="rect">
            <a:avLst/>
          </a:prstGeom>
          <a:solidFill>
            <a:srgbClr val="10162B"/>
          </a:solidFill>
          <a:ln cap="flat" cmpd="sng" w="15225">
            <a:solidFill>
              <a:srgbClr val="00E5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1" name="Google Shape;941;p23"/>
          <p:cNvSpPr/>
          <p:nvPr/>
        </p:nvSpPr>
        <p:spPr>
          <a:xfrm>
            <a:off x="6355080" y="3026664"/>
            <a:ext cx="347400" cy="1627500"/>
          </a:xfrm>
          <a:prstGeom prst="rect">
            <a:avLst/>
          </a:prstGeom>
          <a:solidFill>
            <a:srgbClr val="00E5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2" name="Google Shape;942;p23"/>
          <p:cNvSpPr txBox="1"/>
          <p:nvPr/>
        </p:nvSpPr>
        <p:spPr>
          <a:xfrm>
            <a:off x="6373368" y="3703320"/>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
        <p:nvSpPr>
          <p:cNvPr id="943" name="Google Shape;943;p23"/>
          <p:cNvSpPr txBox="1"/>
          <p:nvPr/>
        </p:nvSpPr>
        <p:spPr>
          <a:xfrm>
            <a:off x="6793992" y="3099816"/>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0E5FF"/>
                </a:solidFill>
                <a:latin typeface="Calibri"/>
                <a:ea typeface="Calibri"/>
                <a:cs typeface="Calibri"/>
                <a:sym typeface="Calibri"/>
              </a:rPr>
              <a:t>Claude Code</a:t>
            </a:r>
            <a:endParaRPr b="0" i="0" sz="1400" u="none" cap="none" strike="noStrike">
              <a:solidFill>
                <a:srgbClr val="000000"/>
              </a:solidFill>
              <a:latin typeface="Arial"/>
              <a:ea typeface="Arial"/>
              <a:cs typeface="Arial"/>
              <a:sym typeface="Arial"/>
            </a:endParaRPr>
          </a:p>
        </p:txBody>
      </p:sp>
      <p:sp>
        <p:nvSpPr>
          <p:cNvPr id="944" name="Google Shape;944;p23"/>
          <p:cNvSpPr txBox="1"/>
          <p:nvPr/>
        </p:nvSpPr>
        <p:spPr>
          <a:xfrm>
            <a:off x="6793992" y="3364992"/>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Anthropic pattern — yasasbanukaofficial/claude-code</a:t>
            </a:r>
            <a:endParaRPr b="0" i="0" sz="1400" u="none" cap="none" strike="noStrike">
              <a:solidFill>
                <a:srgbClr val="000000"/>
              </a:solidFill>
              <a:latin typeface="Arial"/>
              <a:ea typeface="Arial"/>
              <a:cs typeface="Arial"/>
              <a:sym typeface="Arial"/>
            </a:endParaRPr>
          </a:p>
        </p:txBody>
      </p:sp>
      <p:sp>
        <p:nvSpPr>
          <p:cNvPr id="945" name="Google Shape;945;p23"/>
          <p:cNvSpPr txBox="1"/>
          <p:nvPr/>
        </p:nvSpPr>
        <p:spPr>
          <a:xfrm>
            <a:off x="6793992" y="3557016"/>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yoloClassifier.ts: two-stage fast-filter + chain-of-thought tool-call auto-approval.</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27-event named hook architecture for operator intervention.</a:t>
            </a:r>
            <a:endParaRPr b="0" i="0" sz="1400" u="none" cap="none" strike="noStrike">
              <a:solidFill>
                <a:srgbClr val="000000"/>
              </a:solidFill>
              <a:latin typeface="Arial"/>
              <a:ea typeface="Arial"/>
              <a:cs typeface="Arial"/>
              <a:sym typeface="Arial"/>
            </a:endParaRPr>
          </a:p>
        </p:txBody>
      </p:sp>
      <p:sp>
        <p:nvSpPr>
          <p:cNvPr id="946" name="Google Shape;946;p23"/>
          <p:cNvSpPr/>
          <p:nvPr/>
        </p:nvSpPr>
        <p:spPr>
          <a:xfrm>
            <a:off x="6775704" y="4361688"/>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7" name="Google Shape;947;p23"/>
          <p:cNvSpPr txBox="1"/>
          <p:nvPr/>
        </p:nvSpPr>
        <p:spPr>
          <a:xfrm>
            <a:off x="6812280" y="4370832"/>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LLM Permission Classifier (Medium-tier Risk Gate) + 6-event Agent Lifecycle Hook System.</a:t>
            </a:r>
            <a:endParaRPr b="0" i="0" sz="1400" u="none" cap="none" strike="noStrike">
              <a:solidFill>
                <a:srgbClr val="000000"/>
              </a:solidFill>
              <a:latin typeface="Arial"/>
              <a:ea typeface="Arial"/>
              <a:cs typeface="Arial"/>
              <a:sym typeface="Arial"/>
            </a:endParaRPr>
          </a:p>
        </p:txBody>
      </p:sp>
      <p:sp>
        <p:nvSpPr>
          <p:cNvPr id="948" name="Google Shape;948;p23"/>
          <p:cNvSpPr/>
          <p:nvPr/>
        </p:nvSpPr>
        <p:spPr>
          <a:xfrm>
            <a:off x="6355080" y="4745736"/>
            <a:ext cx="5669400" cy="1627500"/>
          </a:xfrm>
          <a:prstGeom prst="rect">
            <a:avLst/>
          </a:prstGeom>
          <a:solidFill>
            <a:srgbClr val="10162B"/>
          </a:solidFill>
          <a:ln cap="flat" cmpd="sng" w="15225">
            <a:solidFill>
              <a:srgbClr val="FFD7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49" name="Google Shape;949;p23"/>
          <p:cNvSpPr/>
          <p:nvPr/>
        </p:nvSpPr>
        <p:spPr>
          <a:xfrm>
            <a:off x="6355080" y="4745736"/>
            <a:ext cx="347400" cy="1627500"/>
          </a:xfrm>
          <a:prstGeom prst="rect">
            <a:avLst/>
          </a:prstGeom>
          <a:solidFill>
            <a:srgbClr val="FFD7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0" name="Google Shape;950;p23"/>
          <p:cNvSpPr txBox="1"/>
          <p:nvPr/>
        </p:nvSpPr>
        <p:spPr>
          <a:xfrm>
            <a:off x="6373368" y="5422392"/>
            <a:ext cx="310800" cy="261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100"/>
              <a:buFont typeface="Arial"/>
              <a:buNone/>
            </a:pPr>
            <a:r>
              <a:rPr b="1" i="0" lang="en-US" sz="1100" u="none" cap="none" strike="noStrike">
                <a:solidFill>
                  <a:srgbClr val="0A0D1A"/>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sp>
        <p:nvSpPr>
          <p:cNvPr id="951" name="Google Shape;951;p23"/>
          <p:cNvSpPr txBox="1"/>
          <p:nvPr/>
        </p:nvSpPr>
        <p:spPr>
          <a:xfrm>
            <a:off x="6793992" y="4818888"/>
            <a:ext cx="5184600" cy="2925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D700"/>
                </a:solidFill>
                <a:latin typeface="Calibri"/>
                <a:ea typeface="Calibri"/>
                <a:cs typeface="Calibri"/>
                <a:sym typeface="Calibri"/>
              </a:rPr>
              <a:t>Hermes Agent</a:t>
            </a:r>
            <a:endParaRPr b="0" i="0" sz="1400" u="none" cap="none" strike="noStrike">
              <a:solidFill>
                <a:srgbClr val="000000"/>
              </a:solidFill>
              <a:latin typeface="Arial"/>
              <a:ea typeface="Arial"/>
              <a:cs typeface="Arial"/>
              <a:sym typeface="Arial"/>
            </a:endParaRPr>
          </a:p>
        </p:txBody>
      </p:sp>
      <p:sp>
        <p:nvSpPr>
          <p:cNvPr id="952" name="Google Shape;952;p23"/>
          <p:cNvSpPr txBox="1"/>
          <p:nvPr/>
        </p:nvSpPr>
        <p:spPr>
          <a:xfrm>
            <a:off x="6793992" y="5084064"/>
            <a:ext cx="51846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0" i="1" lang="en-US" sz="850" u="none" cap="none" strike="noStrike">
                <a:solidFill>
                  <a:srgbClr val="A0AAB8"/>
                </a:solidFill>
                <a:latin typeface="Calibri"/>
                <a:ea typeface="Calibri"/>
                <a:cs typeface="Calibri"/>
                <a:sym typeface="Calibri"/>
              </a:rPr>
              <a:t>NousResearch/hermes-agent</a:t>
            </a:r>
            <a:endParaRPr b="0" i="0" sz="1400" u="none" cap="none" strike="noStrike">
              <a:solidFill>
                <a:srgbClr val="000000"/>
              </a:solidFill>
              <a:latin typeface="Arial"/>
              <a:ea typeface="Arial"/>
              <a:cs typeface="Arial"/>
              <a:sym typeface="Arial"/>
            </a:endParaRPr>
          </a:p>
        </p:txBody>
      </p:sp>
      <p:sp>
        <p:nvSpPr>
          <p:cNvPr id="953" name="Google Shape;953;p23"/>
          <p:cNvSpPr txBox="1"/>
          <p:nvPr/>
        </p:nvSpPr>
        <p:spPr>
          <a:xfrm>
            <a:off x="6793992" y="5276088"/>
            <a:ext cx="51846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900"/>
              <a:buFont typeface="Arial"/>
              <a:buNone/>
            </a:pPr>
            <a:r>
              <a:rPr b="0" i="0" lang="en-US" sz="900" u="none" cap="none" strike="noStrike">
                <a:solidFill>
                  <a:srgbClr val="A0AAB8"/>
                </a:solidFill>
                <a:latin typeface="Calibri"/>
                <a:ea typeface="Calibri"/>
                <a:cs typeface="Calibri"/>
                <a:sym typeface="Calibri"/>
              </a:rPr>
              <a:t>Closed learning loop: skill crystallization from completed tasks.</a:t>
            </a:r>
            <a:br>
              <a:rPr b="0" i="0" lang="en-US" sz="900" u="none" cap="none" strike="noStrike">
                <a:solidFill>
                  <a:srgbClr val="A0AAB8"/>
                </a:solidFill>
                <a:latin typeface="Calibri"/>
                <a:ea typeface="Calibri"/>
                <a:cs typeface="Calibri"/>
                <a:sym typeface="Calibri"/>
              </a:rPr>
            </a:br>
            <a:r>
              <a:rPr b="0" i="0" lang="en-US" sz="900" u="none" cap="none" strike="noStrike">
                <a:solidFill>
                  <a:srgbClr val="A0AAB8"/>
                </a:solidFill>
                <a:latin typeface="Calibri"/>
                <a:ea typeface="Calibri"/>
                <a:cs typeface="Calibri"/>
                <a:sym typeface="Calibri"/>
              </a:rPr>
              <a:t>Structured trajectory export for SFT/RL training via DSPy + Atropos.</a:t>
            </a:r>
            <a:endParaRPr b="0" i="0" sz="1400" u="none" cap="none" strike="noStrike">
              <a:solidFill>
                <a:srgbClr val="000000"/>
              </a:solidFill>
              <a:latin typeface="Arial"/>
              <a:ea typeface="Arial"/>
              <a:cs typeface="Arial"/>
              <a:sym typeface="Arial"/>
            </a:endParaRPr>
          </a:p>
        </p:txBody>
      </p:sp>
      <p:sp>
        <p:nvSpPr>
          <p:cNvPr id="954" name="Google Shape;954;p23"/>
          <p:cNvSpPr/>
          <p:nvPr/>
        </p:nvSpPr>
        <p:spPr>
          <a:xfrm>
            <a:off x="6775704" y="6080760"/>
            <a:ext cx="5175600" cy="237600"/>
          </a:xfrm>
          <a:prstGeom prst="rect">
            <a:avLst/>
          </a:prstGeom>
          <a:solidFill>
            <a:srgbClr val="06180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5" name="Google Shape;955;p23"/>
          <p:cNvSpPr txBox="1"/>
          <p:nvPr/>
        </p:nvSpPr>
        <p:spPr>
          <a:xfrm>
            <a:off x="6812280" y="6089904"/>
            <a:ext cx="5139000" cy="2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850"/>
              <a:buFont typeface="Arial"/>
              <a:buNone/>
            </a:pPr>
            <a:r>
              <a:rPr b="1" i="0" lang="en-US" sz="850" u="none" cap="none" strike="noStrike">
                <a:solidFill>
                  <a:srgbClr val="39FF14"/>
                </a:solidFill>
                <a:latin typeface="Calibri"/>
                <a:ea typeface="Calibri"/>
                <a:cs typeface="Calibri"/>
                <a:sym typeface="Calibri"/>
              </a:rPr>
              <a:t>CMatrix:  Attack Strategy Library crystallization (C11) + Engagement Trajectory Export dataset (C12).</a:t>
            </a:r>
            <a:endParaRPr b="0" i="0" sz="1400" u="none" cap="none" strike="noStrike">
              <a:solidFill>
                <a:srgbClr val="000000"/>
              </a:solidFill>
              <a:latin typeface="Arial"/>
              <a:ea typeface="Arial"/>
              <a:cs typeface="Arial"/>
              <a:sym typeface="Arial"/>
            </a:endParaRPr>
          </a:p>
        </p:txBody>
      </p:sp>
      <p:sp>
        <p:nvSpPr>
          <p:cNvPr id="956" name="Google Shape;956;p23"/>
          <p:cNvSpPr/>
          <p:nvPr/>
        </p:nvSpPr>
        <p:spPr>
          <a:xfrm>
            <a:off x="274320" y="987552"/>
            <a:ext cx="5898000" cy="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7" name="Google Shape;957;p23"/>
          <p:cNvSpPr txBox="1"/>
          <p:nvPr/>
        </p:nvSpPr>
        <p:spPr>
          <a:xfrm>
            <a:off x="11656597" y="82400"/>
            <a:ext cx="427800" cy="2925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300"/>
              <a:buFont typeface="Arial"/>
              <a:buNone/>
            </a:pPr>
            <a:r>
              <a:rPr b="1" i="0" lang="en-US" sz="1300" u="none" cap="none" strike="noStrike">
                <a:solidFill>
                  <a:srgbClr val="BD93F9"/>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