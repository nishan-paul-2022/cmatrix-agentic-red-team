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2a2a21669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3f2a2a21669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g3f2a2a21669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9" name="Google Shape;46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2a2a21669_4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g3f2a2a21669_4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g3f2a2a21669_4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9" name="Google Shape;64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f2a2a21669_6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g3f2a2a21669_6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g3f2a2a21669_6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f29c58e3b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8" name="Google Shape;828;g3f29c58e3b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f2a2a21669_12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8" name="Google Shape;938;g3f2a2a21669_12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 name="Google Shape;939;g3f2a2a21669_12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29c58e3b1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0" name="Google Shape;1010;g3f29c58e3b1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3f2a2a21669_8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7" name="Google Shape;1097;g3f2a2a21669_8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8" name="Google Shape;1098;g3f2a2a21669_8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3f2a2a21669_10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7" name="Google Shape;1187;g3f2a2a21669_10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8" name="Google Shape;1188;g3f2a2a21669_10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7" name="Google Shape;12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3f29c58e3b1_0_3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5" name="Google Shape;1295;g3f29c58e3b1_0_3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1" name="Shape 8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85" name="Shape 85"/>
        <p:cNvGrpSpPr/>
        <p:nvPr/>
      </p:nvGrpSpPr>
      <p:grpSpPr>
        <a:xfrm>
          <a:off x="0" y="0"/>
          <a:ext cx="0" cy="0"/>
          <a:chOff x="0" y="0"/>
          <a:chExt cx="0" cy="0"/>
        </a:xfrm>
      </p:grpSpPr>
      <p:sp>
        <p:nvSpPr>
          <p:cNvPr id="86" name="Google Shape;86;p15"/>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p15"/>
          <p:cNvSpPr/>
          <p:nvPr/>
        </p:nvSpPr>
        <p:spPr>
          <a:xfrm>
            <a:off x="54864" y="0"/>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 name="Google Shape;88;p15"/>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 name="Google Shape;89;p15"/>
          <p:cNvSpPr txBox="1"/>
          <p:nvPr/>
        </p:nvSpPr>
        <p:spPr>
          <a:xfrm>
            <a:off x="457200" y="777240"/>
            <a:ext cx="73152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E5FF"/>
                </a:solidFill>
                <a:latin typeface="Calibri"/>
                <a:ea typeface="Calibri"/>
                <a:cs typeface="Calibri"/>
                <a:sym typeface="Calibri"/>
              </a:rPr>
              <a:t>RESEARCH PRESENTATION</a:t>
            </a:r>
            <a:endParaRPr b="0" i="0" sz="1400" u="none" cap="none" strike="noStrike">
              <a:solidFill>
                <a:srgbClr val="000000"/>
              </a:solidFill>
              <a:latin typeface="Arial"/>
              <a:ea typeface="Arial"/>
              <a:cs typeface="Arial"/>
              <a:sym typeface="Arial"/>
            </a:endParaRPr>
          </a:p>
        </p:txBody>
      </p:sp>
      <p:sp>
        <p:nvSpPr>
          <p:cNvPr id="90" name="Google Shape;90;p15"/>
          <p:cNvSpPr txBox="1"/>
          <p:nvPr/>
        </p:nvSpPr>
        <p:spPr>
          <a:xfrm>
            <a:off x="457200" y="1234448"/>
            <a:ext cx="80466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rgbClr val="FFFFFF"/>
                </a:solidFill>
                <a:latin typeface="Calibri"/>
                <a:ea typeface="Calibri"/>
                <a:cs typeface="Calibri"/>
                <a:sym typeface="Calibri"/>
              </a:rPr>
              <a:t>CMatrix</a:t>
            </a:r>
            <a:endParaRPr b="0" i="0" sz="1400" u="none" cap="none" strike="noStrike">
              <a:solidFill>
                <a:srgbClr val="000000"/>
              </a:solidFill>
              <a:latin typeface="Arial"/>
              <a:ea typeface="Arial"/>
              <a:cs typeface="Arial"/>
              <a:sym typeface="Arial"/>
            </a:endParaRPr>
          </a:p>
        </p:txBody>
      </p:sp>
      <p:sp>
        <p:nvSpPr>
          <p:cNvPr id="91" name="Google Shape;91;p15"/>
          <p:cNvSpPr txBox="1"/>
          <p:nvPr/>
        </p:nvSpPr>
        <p:spPr>
          <a:xfrm>
            <a:off x="457200" y="2609733"/>
            <a:ext cx="86868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E5FF"/>
                </a:solidFill>
                <a:latin typeface="Calibri"/>
                <a:ea typeface="Calibri"/>
                <a:cs typeface="Calibri"/>
                <a:sym typeface="Calibri"/>
              </a:rPr>
              <a:t>Dual-Graph-Guided LLM-Orchestrated</a:t>
            </a:r>
            <a:br>
              <a:rPr b="0" i="1" lang="en-US" sz="2200" u="none" cap="none" strike="noStrike">
                <a:solidFill>
                  <a:srgbClr val="00E5FF"/>
                </a:solidFill>
                <a:latin typeface="Calibri"/>
                <a:ea typeface="Calibri"/>
                <a:cs typeface="Calibri"/>
                <a:sym typeface="Calibri"/>
              </a:rPr>
            </a:br>
            <a:r>
              <a:rPr b="0" i="1" lang="en-US" sz="2200" u="none" cap="none" strike="noStrike">
                <a:solidFill>
                  <a:srgbClr val="00E5FF"/>
                </a:solidFill>
                <a:latin typeface="Calibri"/>
                <a:ea typeface="Calibri"/>
                <a:cs typeface="Calibri"/>
                <a:sym typeface="Calibri"/>
              </a:rPr>
              <a:t>Multi-Agent Framework for Autonomous</a:t>
            </a:r>
            <a:endParaRPr i="1" sz="2200">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i="1" lang="en-US" sz="2200">
                <a:solidFill>
                  <a:srgbClr val="00E5FF"/>
                </a:solidFill>
                <a:latin typeface="Calibri"/>
                <a:ea typeface="Calibri"/>
                <a:cs typeface="Calibri"/>
                <a:sym typeface="Calibri"/>
              </a:rPr>
              <a:t>Vulnerability Assessment and Penetration Testing (VAPT)</a:t>
            </a:r>
            <a:endParaRPr i="1" sz="2200">
              <a:solidFill>
                <a:srgbClr val="00E5FF"/>
              </a:solidFill>
              <a:latin typeface="Calibri"/>
              <a:ea typeface="Calibri"/>
              <a:cs typeface="Calibri"/>
              <a:sym typeface="Calibri"/>
            </a:endParaRPr>
          </a:p>
        </p:txBody>
      </p:sp>
      <p:sp>
        <p:nvSpPr>
          <p:cNvPr id="92" name="Google Shape;92;p15"/>
          <p:cNvSpPr/>
          <p:nvPr/>
        </p:nvSpPr>
        <p:spPr>
          <a:xfrm>
            <a:off x="45720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15"/>
          <p:cNvSpPr txBox="1"/>
          <p:nvPr/>
        </p:nvSpPr>
        <p:spPr>
          <a:xfrm>
            <a:off x="54864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Autonomous Pentesting</a:t>
            </a:r>
            <a:endParaRPr b="0" i="0" sz="1400" u="none" cap="none" strike="noStrike">
              <a:solidFill>
                <a:srgbClr val="000000"/>
              </a:solidFill>
              <a:latin typeface="Arial"/>
              <a:ea typeface="Arial"/>
              <a:cs typeface="Arial"/>
              <a:sym typeface="Arial"/>
            </a:endParaRPr>
          </a:p>
        </p:txBody>
      </p:sp>
      <p:sp>
        <p:nvSpPr>
          <p:cNvPr id="94" name="Google Shape;94;p15"/>
          <p:cNvSpPr/>
          <p:nvPr/>
        </p:nvSpPr>
        <p:spPr>
          <a:xfrm>
            <a:off x="324612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 name="Google Shape;95;p15"/>
          <p:cNvSpPr txBox="1"/>
          <p:nvPr/>
        </p:nvSpPr>
        <p:spPr>
          <a:xfrm>
            <a:off x="333756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AI Agent Orchestration</a:t>
            </a:r>
            <a:endParaRPr b="0" i="0" sz="1400" u="none" cap="none" strike="noStrike">
              <a:solidFill>
                <a:srgbClr val="000000"/>
              </a:solidFill>
              <a:latin typeface="Arial"/>
              <a:ea typeface="Arial"/>
              <a:cs typeface="Arial"/>
              <a:sym typeface="Arial"/>
            </a:endParaRPr>
          </a:p>
        </p:txBody>
      </p:sp>
      <p:sp>
        <p:nvSpPr>
          <p:cNvPr id="96" name="Google Shape;96;p15"/>
          <p:cNvSpPr/>
          <p:nvPr/>
        </p:nvSpPr>
        <p:spPr>
          <a:xfrm>
            <a:off x="603504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p15"/>
          <p:cNvSpPr txBox="1"/>
          <p:nvPr/>
        </p:nvSpPr>
        <p:spPr>
          <a:xfrm>
            <a:off x="612648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Attack Graph Reasoning</a:t>
            </a:r>
            <a:endParaRPr b="0" i="0" sz="1400" u="none" cap="none" strike="noStrike">
              <a:solidFill>
                <a:srgbClr val="000000"/>
              </a:solidFill>
              <a:latin typeface="Arial"/>
              <a:ea typeface="Arial"/>
              <a:cs typeface="Arial"/>
              <a:sym typeface="Arial"/>
            </a:endParaRPr>
          </a:p>
        </p:txBody>
      </p:sp>
      <p:sp>
        <p:nvSpPr>
          <p:cNvPr id="98" name="Google Shape;98;p15"/>
          <p:cNvSpPr txBox="1"/>
          <p:nvPr/>
        </p:nvSpPr>
        <p:spPr>
          <a:xfrm>
            <a:off x="457200" y="4754880"/>
            <a:ext cx="73152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0AAB8"/>
                </a:solidFill>
                <a:latin typeface="Calibri"/>
                <a:ea typeface="Calibri"/>
                <a:cs typeface="Calibri"/>
                <a:sym typeface="Calibri"/>
              </a:rPr>
              <a:t>Supervisor Meeting  ·  June 2026</a:t>
            </a:r>
            <a:endParaRPr b="0" i="0" sz="1400" u="none" cap="none" strike="noStrike">
              <a:solidFill>
                <a:srgbClr val="000000"/>
              </a:solidFill>
              <a:latin typeface="Arial"/>
              <a:ea typeface="Arial"/>
              <a:cs typeface="Arial"/>
              <a:sym typeface="Arial"/>
            </a:endParaRPr>
          </a:p>
        </p:txBody>
      </p:sp>
      <p:sp>
        <p:nvSpPr>
          <p:cNvPr id="99" name="Google Shape;99;p15"/>
          <p:cNvSpPr txBox="1"/>
          <p:nvPr/>
        </p:nvSpPr>
        <p:spPr>
          <a:xfrm>
            <a:off x="457200" y="5138928"/>
            <a:ext cx="91440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0AAB8"/>
                </a:solidFill>
                <a:latin typeface="Calibri"/>
                <a:ea typeface="Calibri"/>
                <a:cs typeface="Calibri"/>
                <a:sym typeface="Calibri"/>
              </a:rPr>
              <a:t>Black-Box &amp; Grey-Box Assessment  ·  Network  ·  Web  ·  REST API</a:t>
            </a:r>
            <a:endParaRPr b="0" i="0" sz="1400" u="none" cap="none" strike="noStrike">
              <a:solidFill>
                <a:srgbClr val="000000"/>
              </a:solidFill>
              <a:latin typeface="Arial"/>
              <a:ea typeface="Arial"/>
              <a:cs typeface="Arial"/>
              <a:sym typeface="Arial"/>
            </a:endParaRPr>
          </a:p>
        </p:txBody>
      </p:sp>
      <p:sp>
        <p:nvSpPr>
          <p:cNvPr id="100" name="Google Shape;100;p15"/>
          <p:cNvSpPr txBox="1"/>
          <p:nvPr/>
        </p:nvSpPr>
        <p:spPr>
          <a:xfrm>
            <a:off x="11807690" y="85205"/>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04" name="Shape 104"/>
        <p:cNvGrpSpPr/>
        <p:nvPr/>
      </p:nvGrpSpPr>
      <p:grpSpPr>
        <a:xfrm>
          <a:off x="0" y="0"/>
          <a:ext cx="0" cy="0"/>
          <a:chOff x="0" y="0"/>
          <a:chExt cx="0" cy="0"/>
        </a:xfrm>
      </p:grpSpPr>
      <p:sp>
        <p:nvSpPr>
          <p:cNvPr id="105" name="Google Shape;105;p16"/>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16"/>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 name="Google Shape;107;p16"/>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 name="Google Shape;108;p16"/>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4545"/>
                </a:solidFill>
                <a:latin typeface="Calibri"/>
                <a:ea typeface="Calibri"/>
                <a:cs typeface="Calibri"/>
                <a:sym typeface="Calibri"/>
              </a:rPr>
              <a:t>THE PROBLEM</a:t>
            </a:r>
            <a:endParaRPr b="0" i="0" sz="1400" u="none" cap="none" strike="noStrike">
              <a:solidFill>
                <a:srgbClr val="000000"/>
              </a:solidFill>
              <a:latin typeface="Arial"/>
              <a:ea typeface="Arial"/>
              <a:cs typeface="Arial"/>
              <a:sym typeface="Arial"/>
            </a:endParaRPr>
          </a:p>
        </p:txBody>
      </p:sp>
      <p:sp>
        <p:nvSpPr>
          <p:cNvPr id="109" name="Google Shape;109;p16"/>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Calibri"/>
                <a:ea typeface="Calibri"/>
                <a:cs typeface="Calibri"/>
                <a:sym typeface="Calibri"/>
              </a:rPr>
              <a:t>What Existing VAPT Systems Get Wrong</a:t>
            </a:r>
            <a:endParaRPr b="0" i="0" sz="1400" u="none" cap="none" strike="noStrike">
              <a:solidFill>
                <a:srgbClr val="000000"/>
              </a:solidFill>
              <a:latin typeface="Arial"/>
              <a:ea typeface="Arial"/>
              <a:cs typeface="Arial"/>
              <a:sym typeface="Arial"/>
            </a:endParaRPr>
          </a:p>
        </p:txBody>
      </p:sp>
      <p:sp>
        <p:nvSpPr>
          <p:cNvPr id="110" name="Google Shape;110;p16"/>
          <p:cNvSpPr/>
          <p:nvPr/>
        </p:nvSpPr>
        <p:spPr>
          <a:xfrm>
            <a:off x="274325" y="1207001"/>
            <a:ext cx="5303400" cy="9525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 name="Google Shape;111;p16"/>
          <p:cNvSpPr txBox="1"/>
          <p:nvPr/>
        </p:nvSpPr>
        <p:spPr>
          <a:xfrm>
            <a:off x="384048" y="1298448"/>
            <a:ext cx="36576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2" name="Google Shape;112;p16"/>
          <p:cNvSpPr txBox="1"/>
          <p:nvPr/>
        </p:nvSpPr>
        <p:spPr>
          <a:xfrm>
            <a:off x="713232" y="1280160"/>
            <a:ext cx="475488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No Structured World Model</a:t>
            </a:r>
            <a:endParaRPr b="0" i="0" sz="1400" u="none" cap="none" strike="noStrike">
              <a:solidFill>
                <a:srgbClr val="000000"/>
              </a:solidFill>
              <a:latin typeface="Arial"/>
              <a:ea typeface="Arial"/>
              <a:cs typeface="Arial"/>
              <a:sym typeface="Arial"/>
            </a:endParaRPr>
          </a:p>
        </p:txBody>
      </p:sp>
      <p:sp>
        <p:nvSpPr>
          <p:cNvPr id="113" name="Google Shape;113;p16"/>
          <p:cNvSpPr txBox="1"/>
          <p:nvPr/>
        </p:nvSpPr>
        <p:spPr>
          <a:xfrm>
            <a:off x="713232" y="1609344"/>
            <a:ext cx="4754880" cy="658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Systems reason from flat conversation history or task queues — no graph of what the target actually is.</a:t>
            </a:r>
            <a:endParaRPr b="0" i="0" sz="1400" u="none" cap="none" strike="noStrike">
              <a:solidFill>
                <a:srgbClr val="000000"/>
              </a:solidFill>
              <a:latin typeface="Arial"/>
              <a:ea typeface="Arial"/>
              <a:cs typeface="Arial"/>
              <a:sym typeface="Arial"/>
            </a:endParaRPr>
          </a:p>
        </p:txBody>
      </p:sp>
      <p:sp>
        <p:nvSpPr>
          <p:cNvPr id="114" name="Google Shape;114;p16"/>
          <p:cNvSpPr/>
          <p:nvPr/>
        </p:nvSpPr>
        <p:spPr>
          <a:xfrm>
            <a:off x="274400" y="2291687"/>
            <a:ext cx="5303400" cy="9105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16"/>
          <p:cNvSpPr txBox="1"/>
          <p:nvPr/>
        </p:nvSpPr>
        <p:spPr>
          <a:xfrm>
            <a:off x="384073" y="2433613"/>
            <a:ext cx="3657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6" name="Google Shape;116;p16"/>
          <p:cNvSpPr txBox="1"/>
          <p:nvPr/>
        </p:nvSpPr>
        <p:spPr>
          <a:xfrm>
            <a:off x="713257" y="2415325"/>
            <a:ext cx="475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No Attack Path Reasoning</a:t>
            </a:r>
            <a:endParaRPr b="0" i="0" sz="1400" u="none" cap="none" strike="noStrike">
              <a:solidFill>
                <a:srgbClr val="000000"/>
              </a:solidFill>
              <a:latin typeface="Arial"/>
              <a:ea typeface="Arial"/>
              <a:cs typeface="Arial"/>
              <a:sym typeface="Arial"/>
            </a:endParaRPr>
          </a:p>
        </p:txBody>
      </p:sp>
      <p:sp>
        <p:nvSpPr>
          <p:cNvPr id="117" name="Google Shape;117;p16"/>
          <p:cNvSpPr txBox="1"/>
          <p:nvPr/>
        </p:nvSpPr>
        <p:spPr>
          <a:xfrm>
            <a:off x="713257" y="2744509"/>
            <a:ext cx="47550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Finished tasks are logged, not understood. Systems cannot represent which vulnerabilities chain together or why.</a:t>
            </a:r>
            <a:endParaRPr b="0" i="0" sz="1400" u="none" cap="none" strike="noStrike">
              <a:solidFill>
                <a:srgbClr val="000000"/>
              </a:solidFill>
              <a:latin typeface="Arial"/>
              <a:ea typeface="Arial"/>
              <a:cs typeface="Arial"/>
              <a:sym typeface="Arial"/>
            </a:endParaRPr>
          </a:p>
        </p:txBody>
      </p:sp>
      <p:sp>
        <p:nvSpPr>
          <p:cNvPr id="118" name="Google Shape;118;p16"/>
          <p:cNvSpPr/>
          <p:nvPr/>
        </p:nvSpPr>
        <p:spPr>
          <a:xfrm>
            <a:off x="274400" y="3307211"/>
            <a:ext cx="5303400" cy="9525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 name="Google Shape;119;p16"/>
          <p:cNvSpPr txBox="1"/>
          <p:nvPr/>
        </p:nvSpPr>
        <p:spPr>
          <a:xfrm>
            <a:off x="383998" y="3414191"/>
            <a:ext cx="3657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0" name="Google Shape;120;p16"/>
          <p:cNvSpPr txBox="1"/>
          <p:nvPr/>
        </p:nvSpPr>
        <p:spPr>
          <a:xfrm>
            <a:off x="713195" y="3403090"/>
            <a:ext cx="475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Fragile Re-Planning</a:t>
            </a:r>
            <a:endParaRPr b="0" i="0" sz="1400" u="none" cap="none" strike="noStrike">
              <a:solidFill>
                <a:srgbClr val="000000"/>
              </a:solidFill>
              <a:latin typeface="Arial"/>
              <a:ea typeface="Arial"/>
              <a:cs typeface="Arial"/>
              <a:sym typeface="Arial"/>
            </a:endParaRPr>
          </a:p>
        </p:txBody>
      </p:sp>
      <p:sp>
        <p:nvSpPr>
          <p:cNvPr id="121" name="Google Shape;121;p16"/>
          <p:cNvSpPr txBox="1"/>
          <p:nvPr/>
        </p:nvSpPr>
        <p:spPr>
          <a:xfrm>
            <a:off x="713120" y="3737124"/>
            <a:ext cx="47550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Dynamic re-planning is ad-hoc. There is no formal trigger grounded in discovered evidence.</a:t>
            </a:r>
            <a:endParaRPr b="0" i="0" sz="1400" u="none" cap="none" strike="noStrike">
              <a:solidFill>
                <a:srgbClr val="000000"/>
              </a:solidFill>
              <a:latin typeface="Arial"/>
              <a:ea typeface="Arial"/>
              <a:cs typeface="Arial"/>
              <a:sym typeface="Arial"/>
            </a:endParaRPr>
          </a:p>
        </p:txBody>
      </p:sp>
      <p:sp>
        <p:nvSpPr>
          <p:cNvPr id="122" name="Google Shape;122;p16"/>
          <p:cNvSpPr/>
          <p:nvPr/>
        </p:nvSpPr>
        <p:spPr>
          <a:xfrm>
            <a:off x="274400" y="4372376"/>
            <a:ext cx="5303400" cy="10458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 name="Google Shape;123;p16"/>
          <p:cNvSpPr txBox="1"/>
          <p:nvPr/>
        </p:nvSpPr>
        <p:spPr>
          <a:xfrm>
            <a:off x="383973" y="4435131"/>
            <a:ext cx="3657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4545"/>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4" name="Google Shape;124;p16"/>
          <p:cNvSpPr txBox="1"/>
          <p:nvPr/>
        </p:nvSpPr>
        <p:spPr>
          <a:xfrm>
            <a:off x="713075" y="4481324"/>
            <a:ext cx="475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Arbitrary Termination</a:t>
            </a:r>
            <a:endParaRPr b="0" i="0" sz="1400" u="none" cap="none" strike="noStrike">
              <a:solidFill>
                <a:srgbClr val="000000"/>
              </a:solidFill>
              <a:latin typeface="Arial"/>
              <a:ea typeface="Arial"/>
              <a:cs typeface="Arial"/>
              <a:sym typeface="Arial"/>
            </a:endParaRPr>
          </a:p>
        </p:txBody>
      </p:sp>
      <p:sp>
        <p:nvSpPr>
          <p:cNvPr id="125" name="Google Shape;125;p16"/>
          <p:cNvSpPr txBox="1"/>
          <p:nvPr/>
        </p:nvSpPr>
        <p:spPr>
          <a:xfrm>
            <a:off x="713070" y="4814764"/>
            <a:ext cx="47550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A0AAB8"/>
                </a:solidFill>
                <a:latin typeface="Calibri"/>
                <a:ea typeface="Calibri"/>
                <a:cs typeface="Calibri"/>
                <a:sym typeface="Calibri"/>
              </a:rPr>
              <a:t>Missions end on time-limits or empty queues — not because the attack surface and all chains are truly exhausted.</a:t>
            </a:r>
            <a:endParaRPr b="0" i="0" sz="1400" u="none" cap="none" strike="noStrike">
              <a:solidFill>
                <a:srgbClr val="000000"/>
              </a:solidFill>
              <a:latin typeface="Arial"/>
              <a:ea typeface="Arial"/>
              <a:cs typeface="Arial"/>
              <a:sym typeface="Arial"/>
            </a:endParaRPr>
          </a:p>
        </p:txBody>
      </p:sp>
      <p:sp>
        <p:nvSpPr>
          <p:cNvPr id="126" name="Google Shape;126;p16"/>
          <p:cNvSpPr/>
          <p:nvPr/>
        </p:nvSpPr>
        <p:spPr>
          <a:xfrm>
            <a:off x="5943600" y="1207008"/>
            <a:ext cx="5943600" cy="2331720"/>
          </a:xfrm>
          <a:prstGeom prst="rect">
            <a:avLst/>
          </a:prstGeom>
          <a:solidFill>
            <a:srgbClr val="10162B"/>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 name="Google Shape;127;p16"/>
          <p:cNvSpPr txBox="1"/>
          <p:nvPr/>
        </p:nvSpPr>
        <p:spPr>
          <a:xfrm>
            <a:off x="6080760" y="1252728"/>
            <a:ext cx="548640" cy="6400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rgbClr val="00E5FF"/>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8" name="Google Shape;128;p16"/>
          <p:cNvSpPr txBox="1"/>
          <p:nvPr/>
        </p:nvSpPr>
        <p:spPr>
          <a:xfrm>
            <a:off x="6126480" y="1709928"/>
            <a:ext cx="5577840" cy="1463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FFFFFF"/>
                </a:solidFill>
                <a:latin typeface="Calibri"/>
                <a:ea typeface="Calibri"/>
                <a:cs typeface="Calibri"/>
                <a:sym typeface="Calibri"/>
              </a:rPr>
              <a:t>They automate tool execution.</a:t>
            </a:r>
            <a:br>
              <a:rPr b="0" i="1" lang="en-US" sz="2000" u="none" cap="none" strike="noStrike">
                <a:solidFill>
                  <a:srgbClr val="FFFFFF"/>
                </a:solidFill>
                <a:latin typeface="Calibri"/>
                <a:ea typeface="Calibri"/>
                <a:cs typeface="Calibri"/>
                <a:sym typeface="Calibri"/>
              </a:rPr>
            </a:br>
            <a:r>
              <a:rPr b="0" i="1" lang="en-US" sz="2000" u="none" cap="none" strike="noStrike">
                <a:solidFill>
                  <a:srgbClr val="FFFFFF"/>
                </a:solidFill>
                <a:latin typeface="Calibri"/>
                <a:ea typeface="Calibri"/>
                <a:cs typeface="Calibri"/>
                <a:sym typeface="Calibri"/>
              </a:rPr>
              <a:t>CMatrix automates the reasoning</a:t>
            </a:r>
            <a:br>
              <a:rPr b="0" i="1" lang="en-US" sz="2000" u="none" cap="none" strike="noStrike">
                <a:solidFill>
                  <a:srgbClr val="FFFFFF"/>
                </a:solidFill>
                <a:latin typeface="Calibri"/>
                <a:ea typeface="Calibri"/>
                <a:cs typeface="Calibri"/>
                <a:sym typeface="Calibri"/>
              </a:rPr>
            </a:br>
            <a:r>
              <a:rPr b="0" i="1" lang="en-US" sz="2000" u="none" cap="none" strike="noStrike">
                <a:solidFill>
                  <a:srgbClr val="FFFFFF"/>
                </a:solidFill>
                <a:latin typeface="Calibri"/>
                <a:ea typeface="Calibri"/>
                <a:cs typeface="Calibri"/>
                <a:sym typeface="Calibri"/>
              </a:rPr>
              <a:t>of a professional penetration tester.</a:t>
            </a:r>
            <a:endParaRPr b="0" i="0" sz="1400" u="none" cap="none" strike="noStrike">
              <a:solidFill>
                <a:srgbClr val="000000"/>
              </a:solidFill>
              <a:latin typeface="Arial"/>
              <a:ea typeface="Arial"/>
              <a:cs typeface="Arial"/>
              <a:sym typeface="Arial"/>
            </a:endParaRPr>
          </a:p>
        </p:txBody>
      </p:sp>
      <p:sp>
        <p:nvSpPr>
          <p:cNvPr id="129" name="Google Shape;129;p16"/>
          <p:cNvSpPr txBox="1"/>
          <p:nvPr/>
        </p:nvSpPr>
        <p:spPr>
          <a:xfrm>
            <a:off x="6126480" y="3218688"/>
            <a:ext cx="5577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AB8"/>
                </a:solidFill>
                <a:latin typeface="Calibri"/>
                <a:ea typeface="Calibri"/>
                <a:cs typeface="Calibri"/>
                <a:sym typeface="Calibri"/>
              </a:rPr>
              <a:t>— CMatrix Design Philosophy</a:t>
            </a:r>
            <a:endParaRPr b="0" i="0" sz="1400" u="none" cap="none" strike="noStrike">
              <a:solidFill>
                <a:srgbClr val="000000"/>
              </a:solidFill>
              <a:latin typeface="Arial"/>
              <a:ea typeface="Arial"/>
              <a:cs typeface="Arial"/>
              <a:sym typeface="Arial"/>
            </a:endParaRPr>
          </a:p>
        </p:txBody>
      </p:sp>
      <p:sp>
        <p:nvSpPr>
          <p:cNvPr id="130" name="Google Shape;130;p16"/>
          <p:cNvSpPr/>
          <p:nvPr/>
        </p:nvSpPr>
        <p:spPr>
          <a:xfrm>
            <a:off x="5943600" y="3675887"/>
            <a:ext cx="5943600" cy="347472"/>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p16"/>
          <p:cNvSpPr txBox="1"/>
          <p:nvPr/>
        </p:nvSpPr>
        <p:spPr>
          <a:xfrm>
            <a:off x="6126480" y="3703320"/>
            <a:ext cx="5669280" cy="301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  ROOT CAUSE</a:t>
            </a:r>
            <a:endParaRPr b="0" i="0" sz="1400" u="none" cap="none" strike="noStrike">
              <a:solidFill>
                <a:srgbClr val="000000"/>
              </a:solidFill>
              <a:latin typeface="Arial"/>
              <a:ea typeface="Arial"/>
              <a:cs typeface="Arial"/>
              <a:sym typeface="Arial"/>
            </a:endParaRPr>
          </a:p>
        </p:txBody>
      </p:sp>
      <p:sp>
        <p:nvSpPr>
          <p:cNvPr id="132" name="Google Shape;132;p16"/>
          <p:cNvSpPr/>
          <p:nvPr/>
        </p:nvSpPr>
        <p:spPr>
          <a:xfrm>
            <a:off x="5943600" y="4041648"/>
            <a:ext cx="5943600" cy="129844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16"/>
          <p:cNvSpPr txBox="1"/>
          <p:nvPr/>
        </p:nvSpPr>
        <p:spPr>
          <a:xfrm>
            <a:off x="6126480" y="4114800"/>
            <a:ext cx="5623560" cy="11521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A0AAB8"/>
                </a:solidFill>
                <a:latin typeface="Calibri"/>
                <a:ea typeface="Calibri"/>
                <a:cs typeface="Calibri"/>
                <a:sym typeface="Calibri"/>
              </a:rPr>
              <a:t>Existing systems have no structured model of the target environment and no structured model of what attack paths are possible.</a:t>
            </a:r>
            <a:br>
              <a:rPr b="0" i="0" lang="en-US" sz="1250" u="none" cap="none" strike="noStrike">
                <a:solidFill>
                  <a:srgbClr val="A0AAB8"/>
                </a:solidFill>
                <a:latin typeface="Calibri"/>
                <a:ea typeface="Calibri"/>
                <a:cs typeface="Calibri"/>
                <a:sym typeface="Calibri"/>
              </a:rPr>
            </a:br>
            <a:br>
              <a:rPr b="0" i="0" lang="en-US" sz="1250" u="none" cap="none" strike="noStrike">
                <a:solidFill>
                  <a:srgbClr val="A0AAB8"/>
                </a:solidFill>
                <a:latin typeface="Calibri"/>
                <a:ea typeface="Calibri"/>
                <a:cs typeface="Calibri"/>
                <a:sym typeface="Calibri"/>
              </a:rPr>
            </a:br>
            <a:r>
              <a:rPr b="0" i="0" lang="en-US" sz="1250" u="none" cap="none" strike="noStrike">
                <a:solidFill>
                  <a:srgbClr val="A0AAB8"/>
                </a:solidFill>
                <a:latin typeface="Calibri"/>
                <a:ea typeface="Calibri"/>
                <a:cs typeface="Calibri"/>
                <a:sym typeface="Calibri"/>
              </a:rPr>
              <a:t>They know what they did — not what the target is, or what can be done to it.</a:t>
            </a:r>
            <a:endParaRPr b="0" i="0" sz="1400" u="none" cap="none" strike="noStrike">
              <a:solidFill>
                <a:srgbClr val="000000"/>
              </a:solidFill>
              <a:latin typeface="Arial"/>
              <a:ea typeface="Arial"/>
              <a:cs typeface="Arial"/>
              <a:sym typeface="Arial"/>
            </a:endParaRPr>
          </a:p>
        </p:txBody>
      </p:sp>
      <p:sp>
        <p:nvSpPr>
          <p:cNvPr id="134" name="Google Shape;134;p16"/>
          <p:cNvSpPr/>
          <p:nvPr/>
        </p:nvSpPr>
        <p:spPr>
          <a:xfrm>
            <a:off x="274320" y="5559552"/>
            <a:ext cx="11643055" cy="777240"/>
          </a:xfrm>
          <a:prstGeom prst="rect">
            <a:avLst/>
          </a:prstGeom>
          <a:solidFill>
            <a:srgbClr val="051420"/>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16"/>
          <p:cNvSpPr txBox="1"/>
          <p:nvPr/>
        </p:nvSpPr>
        <p:spPr>
          <a:xfrm>
            <a:off x="457200" y="5650992"/>
            <a:ext cx="11277295" cy="5669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E5FF"/>
                </a:solidFill>
                <a:latin typeface="Calibri"/>
                <a:ea typeface="Calibri"/>
                <a:cs typeface="Calibri"/>
                <a:sym typeface="Calibri"/>
              </a:rPr>
              <a:t>CMatrix Solution →  Dual-graph world model: ASG captures discovered reality  ·  APG captures inferred attack opportunity</a:t>
            </a:r>
            <a:endParaRPr b="0" i="0" sz="1400" u="none" cap="none" strike="noStrike">
              <a:solidFill>
                <a:srgbClr val="000000"/>
              </a:solidFill>
              <a:latin typeface="Arial"/>
              <a:ea typeface="Arial"/>
              <a:cs typeface="Arial"/>
              <a:sym typeface="Arial"/>
            </a:endParaRPr>
          </a:p>
        </p:txBody>
      </p:sp>
      <p:sp>
        <p:nvSpPr>
          <p:cNvPr id="136" name="Google Shape;136;p16"/>
          <p:cNvSpPr txBox="1"/>
          <p:nvPr/>
        </p:nvSpPr>
        <p:spPr>
          <a:xfrm>
            <a:off x="11795740" y="36580"/>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02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40" name="Shape 140"/>
        <p:cNvGrpSpPr/>
        <p:nvPr/>
      </p:nvGrpSpPr>
      <p:grpSpPr>
        <a:xfrm>
          <a:off x="0" y="0"/>
          <a:ext cx="0" cy="0"/>
          <a:chOff x="0" y="0"/>
          <a:chExt cx="0" cy="0"/>
        </a:xfrm>
      </p:grpSpPr>
      <p:sp>
        <p:nvSpPr>
          <p:cNvPr id="141" name="Google Shape;141;p17"/>
          <p:cNvSpPr/>
          <p:nvPr/>
        </p:nvSpPr>
        <p:spPr>
          <a:xfrm>
            <a:off x="0" y="0"/>
            <a:ext cx="54864"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2" name="Google Shape;142;p17"/>
          <p:cNvSpPr/>
          <p:nvPr/>
        </p:nvSpPr>
        <p:spPr>
          <a:xfrm>
            <a:off x="54864" y="0"/>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17"/>
          <p:cNvSpPr/>
          <p:nvPr/>
        </p:nvSpPr>
        <p:spPr>
          <a:xfrm>
            <a:off x="54864" y="6821424"/>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4" name="Google Shape;144;p17"/>
          <p:cNvSpPr txBox="1"/>
          <p:nvPr/>
        </p:nvSpPr>
        <p:spPr>
          <a:xfrm>
            <a:off x="274320" y="64008"/>
            <a:ext cx="731520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000" u="none" cap="none" strike="noStrike">
                <a:solidFill>
                  <a:srgbClr val="FFD700"/>
                </a:solidFill>
                <a:latin typeface="Calibri"/>
                <a:ea typeface="Calibri"/>
                <a:cs typeface="Calibri"/>
                <a:sym typeface="Calibri"/>
              </a:rPr>
              <a:t>NOVEL CONTRIBUTION</a:t>
            </a:r>
            <a:endParaRPr/>
          </a:p>
        </p:txBody>
      </p:sp>
      <p:sp>
        <p:nvSpPr>
          <p:cNvPr id="145" name="Google Shape;145;p17"/>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FFFFFF"/>
                </a:solidFill>
                <a:latin typeface="Calibri"/>
                <a:ea typeface="Calibri"/>
                <a:cs typeface="Calibri"/>
                <a:sym typeface="Calibri"/>
              </a:rPr>
              <a:t>What Makes CMatrix a Research Contribution</a:t>
            </a:r>
            <a:endParaRPr/>
          </a:p>
        </p:txBody>
      </p:sp>
      <p:sp>
        <p:nvSpPr>
          <p:cNvPr id="146" name="Google Shape;146;p17"/>
          <p:cNvSpPr/>
          <p:nvPr/>
        </p:nvSpPr>
        <p:spPr>
          <a:xfrm>
            <a:off x="296091" y="923108"/>
            <a:ext cx="11679340" cy="497550"/>
          </a:xfrm>
          <a:prstGeom prst="rect">
            <a:avLst/>
          </a:prstGeom>
          <a:solidFill>
            <a:srgbClr val="121002"/>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7" name="Google Shape;147;p17"/>
          <p:cNvSpPr txBox="1"/>
          <p:nvPr/>
        </p:nvSpPr>
        <p:spPr>
          <a:xfrm>
            <a:off x="372291" y="1025289"/>
            <a:ext cx="11516781" cy="292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300" u="none" cap="none" strike="noStrike">
                <a:solidFill>
                  <a:srgbClr val="FFD700"/>
                </a:solidFill>
                <a:latin typeface="Calibri"/>
                <a:ea typeface="Calibri"/>
                <a:cs typeface="Calibri"/>
                <a:sym typeface="Calibri"/>
              </a:rPr>
              <a:t>First autonomous VAPT system to maintain two strictly separated, continuously evolving graph structures - one for discovered reality, one for inferred attack opportunity.</a:t>
            </a:r>
            <a:endParaRPr/>
          </a:p>
        </p:txBody>
      </p:sp>
      <p:sp>
        <p:nvSpPr>
          <p:cNvPr id="148" name="Google Shape;148;p17"/>
          <p:cNvSpPr/>
          <p:nvPr/>
        </p:nvSpPr>
        <p:spPr>
          <a:xfrm>
            <a:off x="296091" y="1572623"/>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9" name="Google Shape;149;p17"/>
          <p:cNvSpPr/>
          <p:nvPr/>
        </p:nvSpPr>
        <p:spPr>
          <a:xfrm>
            <a:off x="296091" y="1572623"/>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 name="Google Shape;150;p17"/>
          <p:cNvSpPr txBox="1"/>
          <p:nvPr/>
        </p:nvSpPr>
        <p:spPr>
          <a:xfrm>
            <a:off x="314379" y="1590911"/>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a:t>
            </a:r>
            <a:endParaRPr/>
          </a:p>
        </p:txBody>
      </p:sp>
      <p:sp>
        <p:nvSpPr>
          <p:cNvPr id="151" name="Google Shape;151;p17"/>
          <p:cNvSpPr txBox="1"/>
          <p:nvPr/>
        </p:nvSpPr>
        <p:spPr>
          <a:xfrm>
            <a:off x="863019" y="1609199"/>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Dual-Graph World Model</a:t>
            </a:r>
            <a:endParaRPr/>
          </a:p>
        </p:txBody>
      </p:sp>
      <p:sp>
        <p:nvSpPr>
          <p:cNvPr id="152" name="Google Shape;152;p17"/>
          <p:cNvSpPr txBox="1"/>
          <p:nvPr/>
        </p:nvSpPr>
        <p:spPr>
          <a:xfrm>
            <a:off x="405819" y="1956671"/>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ASG (discovered reality) &amp; APG (inferred opportunity) are strictly separated with enforced write ownership.</a:t>
            </a:r>
            <a:endParaRPr/>
          </a:p>
        </p:txBody>
      </p:sp>
      <p:sp>
        <p:nvSpPr>
          <p:cNvPr id="153" name="Google Shape;153;p17"/>
          <p:cNvSpPr/>
          <p:nvPr/>
        </p:nvSpPr>
        <p:spPr>
          <a:xfrm>
            <a:off x="4209723" y="1572623"/>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4" name="Google Shape;154;p17"/>
          <p:cNvSpPr/>
          <p:nvPr/>
        </p:nvSpPr>
        <p:spPr>
          <a:xfrm>
            <a:off x="4209723" y="1572623"/>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5" name="Google Shape;155;p17"/>
          <p:cNvSpPr txBox="1"/>
          <p:nvPr/>
        </p:nvSpPr>
        <p:spPr>
          <a:xfrm>
            <a:off x="4228011" y="1590911"/>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C2</a:t>
            </a:r>
            <a:endParaRPr/>
          </a:p>
        </p:txBody>
      </p:sp>
      <p:sp>
        <p:nvSpPr>
          <p:cNvPr id="156" name="Google Shape;156;p17"/>
          <p:cNvSpPr txBox="1"/>
          <p:nvPr/>
        </p:nvSpPr>
        <p:spPr>
          <a:xfrm>
            <a:off x="4776651" y="1609199"/>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Graph-Driven Re-Planning</a:t>
            </a:r>
            <a:endParaRPr/>
          </a:p>
        </p:txBody>
      </p:sp>
      <p:sp>
        <p:nvSpPr>
          <p:cNvPr id="157" name="Google Shape;157;p17"/>
          <p:cNvSpPr txBox="1"/>
          <p:nvPr/>
        </p:nvSpPr>
        <p:spPr>
          <a:xfrm>
            <a:off x="4319451" y="1956671"/>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Re-planning fires on explicit graph triggers (e.g., new vuln node seeds a chain) rather than arbitrary schedules.</a:t>
            </a:r>
            <a:endParaRPr/>
          </a:p>
        </p:txBody>
      </p:sp>
      <p:sp>
        <p:nvSpPr>
          <p:cNvPr id="158" name="Google Shape;158;p17"/>
          <p:cNvSpPr/>
          <p:nvPr/>
        </p:nvSpPr>
        <p:spPr>
          <a:xfrm>
            <a:off x="8123355" y="1572623"/>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9" name="Google Shape;159;p17"/>
          <p:cNvSpPr/>
          <p:nvPr/>
        </p:nvSpPr>
        <p:spPr>
          <a:xfrm>
            <a:off x="8123355" y="1572623"/>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0" name="Google Shape;160;p17"/>
          <p:cNvSpPr txBox="1"/>
          <p:nvPr/>
        </p:nvSpPr>
        <p:spPr>
          <a:xfrm>
            <a:off x="8141643" y="1590911"/>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C3</a:t>
            </a:r>
            <a:endParaRPr/>
          </a:p>
        </p:txBody>
      </p:sp>
      <p:sp>
        <p:nvSpPr>
          <p:cNvPr id="161" name="Google Shape;161;p17"/>
          <p:cNvSpPr txBox="1"/>
          <p:nvPr/>
        </p:nvSpPr>
        <p:spPr>
          <a:xfrm>
            <a:off x="8690283" y="1609199"/>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APG Attack Chain Lifecycle</a:t>
            </a:r>
            <a:endParaRPr/>
          </a:p>
        </p:txBody>
      </p:sp>
      <p:sp>
        <p:nvSpPr>
          <p:cNvPr id="162" name="Google Shape;162;p17"/>
          <p:cNvSpPr txBox="1"/>
          <p:nvPr/>
        </p:nvSpPr>
        <p:spPr>
          <a:xfrm>
            <a:off x="8233083" y="1956671"/>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Attack chains are first-class entities: risk-scored, prioritized, and lifecycle-tracked with evidence-linked ChainSteps.</a:t>
            </a:r>
            <a:endParaRPr/>
          </a:p>
        </p:txBody>
      </p:sp>
      <p:sp>
        <p:nvSpPr>
          <p:cNvPr id="163" name="Google Shape;163;p17"/>
          <p:cNvSpPr/>
          <p:nvPr/>
        </p:nvSpPr>
        <p:spPr>
          <a:xfrm>
            <a:off x="296091" y="2825351"/>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4" name="Google Shape;164;p17"/>
          <p:cNvSpPr/>
          <p:nvPr/>
        </p:nvSpPr>
        <p:spPr>
          <a:xfrm>
            <a:off x="296091" y="2825351"/>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5" name="Google Shape;165;p17"/>
          <p:cNvSpPr txBox="1"/>
          <p:nvPr/>
        </p:nvSpPr>
        <p:spPr>
          <a:xfrm>
            <a:off x="314379" y="2843639"/>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C4</a:t>
            </a:r>
            <a:endParaRPr/>
          </a:p>
        </p:txBody>
      </p:sp>
      <p:sp>
        <p:nvSpPr>
          <p:cNvPr id="166" name="Google Shape;166;p17"/>
          <p:cNvSpPr txBox="1"/>
          <p:nvPr/>
        </p:nvSpPr>
        <p:spPr>
          <a:xfrm>
            <a:off x="863019" y="2861927"/>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ASG-Aware Parallel Dispatch</a:t>
            </a:r>
            <a:endParaRPr/>
          </a:p>
        </p:txBody>
      </p:sp>
      <p:sp>
        <p:nvSpPr>
          <p:cNvPr id="167" name="Google Shape;167;p17"/>
          <p:cNvSpPr txBox="1"/>
          <p:nvPr/>
        </p:nvSpPr>
        <p:spPr>
          <a:xfrm>
            <a:off x="405819" y="3209399"/>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Dependency-safe concurrent tool execution using the ASG itself as the dependency graph, instead of a task scheduler.</a:t>
            </a:r>
            <a:endParaRPr/>
          </a:p>
        </p:txBody>
      </p:sp>
      <p:sp>
        <p:nvSpPr>
          <p:cNvPr id="168" name="Google Shape;168;p17"/>
          <p:cNvSpPr/>
          <p:nvPr/>
        </p:nvSpPr>
        <p:spPr>
          <a:xfrm>
            <a:off x="4209723" y="2825351"/>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9" name="Google Shape;169;p17"/>
          <p:cNvSpPr/>
          <p:nvPr/>
        </p:nvSpPr>
        <p:spPr>
          <a:xfrm>
            <a:off x="4209723" y="2825351"/>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0" name="Google Shape;170;p17"/>
          <p:cNvSpPr txBox="1"/>
          <p:nvPr/>
        </p:nvSpPr>
        <p:spPr>
          <a:xfrm>
            <a:off x="4228011" y="2843639"/>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C5</a:t>
            </a:r>
            <a:endParaRPr/>
          </a:p>
        </p:txBody>
      </p:sp>
      <p:sp>
        <p:nvSpPr>
          <p:cNvPr id="171" name="Google Shape;171;p17"/>
          <p:cNvSpPr txBox="1"/>
          <p:nvPr/>
        </p:nvSpPr>
        <p:spPr>
          <a:xfrm>
            <a:off x="4776651" y="2861927"/>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Tool Risk Gate + Mailbox</a:t>
            </a:r>
            <a:endParaRPr/>
          </a:p>
        </p:txBody>
      </p:sp>
      <p:sp>
        <p:nvSpPr>
          <p:cNvPr id="172" name="Google Shape;172;p17"/>
          <p:cNvSpPr txBox="1"/>
          <p:nvPr/>
        </p:nvSpPr>
        <p:spPr>
          <a:xfrm>
            <a:off x="4319451" y="3209399"/>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Every tool call is risk-classified before execution. High-risk ops route to Commander for human-in-the-loop approval.</a:t>
            </a:r>
            <a:endParaRPr/>
          </a:p>
        </p:txBody>
      </p:sp>
      <p:sp>
        <p:nvSpPr>
          <p:cNvPr id="173" name="Google Shape;173;p17"/>
          <p:cNvSpPr/>
          <p:nvPr/>
        </p:nvSpPr>
        <p:spPr>
          <a:xfrm>
            <a:off x="8123355" y="2825351"/>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4" name="Google Shape;174;p17"/>
          <p:cNvSpPr/>
          <p:nvPr/>
        </p:nvSpPr>
        <p:spPr>
          <a:xfrm>
            <a:off x="8123355" y="2825351"/>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5" name="Google Shape;175;p17"/>
          <p:cNvSpPr txBox="1"/>
          <p:nvPr/>
        </p:nvSpPr>
        <p:spPr>
          <a:xfrm>
            <a:off x="8141643" y="2843639"/>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C6</a:t>
            </a:r>
            <a:endParaRPr/>
          </a:p>
        </p:txBody>
      </p:sp>
      <p:sp>
        <p:nvSpPr>
          <p:cNvPr id="176" name="Google Shape;176;p17"/>
          <p:cNvSpPr txBox="1"/>
          <p:nvPr/>
        </p:nvSpPr>
        <p:spPr>
          <a:xfrm>
            <a:off x="8690283" y="2861927"/>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Lossless Context Compaction</a:t>
            </a:r>
            <a:endParaRPr/>
          </a:p>
        </p:txBody>
      </p:sp>
      <p:sp>
        <p:nvSpPr>
          <p:cNvPr id="177" name="Google Shape;177;p17"/>
          <p:cNvSpPr txBox="1"/>
          <p:nvPr/>
        </p:nvSpPr>
        <p:spPr>
          <a:xfrm>
            <a:off x="8233083" y="3209399"/>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ASG-backed three-layer compaction scheme reduces conversation history to near-zero without losing discovered findings.</a:t>
            </a:r>
            <a:endParaRPr/>
          </a:p>
        </p:txBody>
      </p:sp>
      <p:sp>
        <p:nvSpPr>
          <p:cNvPr id="178" name="Google Shape;178;p17"/>
          <p:cNvSpPr/>
          <p:nvPr/>
        </p:nvSpPr>
        <p:spPr>
          <a:xfrm>
            <a:off x="296091" y="4078079"/>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9" name="Google Shape;179;p17"/>
          <p:cNvSpPr/>
          <p:nvPr/>
        </p:nvSpPr>
        <p:spPr>
          <a:xfrm>
            <a:off x="296091" y="4078079"/>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0" name="Google Shape;180;p17"/>
          <p:cNvSpPr txBox="1"/>
          <p:nvPr/>
        </p:nvSpPr>
        <p:spPr>
          <a:xfrm>
            <a:off x="314379" y="4096367"/>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C7</a:t>
            </a:r>
            <a:endParaRPr/>
          </a:p>
        </p:txBody>
      </p:sp>
      <p:sp>
        <p:nvSpPr>
          <p:cNvPr id="181" name="Google Shape;181;p17"/>
          <p:cNvSpPr txBox="1"/>
          <p:nvPr/>
        </p:nvSpPr>
        <p:spPr>
          <a:xfrm>
            <a:off x="863019" y="4114655"/>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Methodology-as-Config</a:t>
            </a:r>
            <a:endParaRPr/>
          </a:p>
        </p:txBody>
      </p:sp>
      <p:sp>
        <p:nvSpPr>
          <p:cNvPr id="182" name="Google Shape;182;p17"/>
          <p:cNvSpPr txBox="1"/>
          <p:nvPr/>
        </p:nvSpPr>
        <p:spPr>
          <a:xfrm>
            <a:off x="405819" y="4462127"/>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Commander's planning policy is encoded as a versioned natural-language document, allowing methodology benchmarking.</a:t>
            </a:r>
            <a:endParaRPr/>
          </a:p>
        </p:txBody>
      </p:sp>
      <p:sp>
        <p:nvSpPr>
          <p:cNvPr id="183" name="Google Shape;183;p17"/>
          <p:cNvSpPr/>
          <p:nvPr/>
        </p:nvSpPr>
        <p:spPr>
          <a:xfrm>
            <a:off x="4209723" y="4078079"/>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4" name="Google Shape;184;p17"/>
          <p:cNvSpPr/>
          <p:nvPr/>
        </p:nvSpPr>
        <p:spPr>
          <a:xfrm>
            <a:off x="4209723" y="4078079"/>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5" name="Google Shape;185;p17"/>
          <p:cNvSpPr txBox="1"/>
          <p:nvPr/>
        </p:nvSpPr>
        <p:spPr>
          <a:xfrm>
            <a:off x="4228011" y="4096367"/>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C8</a:t>
            </a:r>
            <a:endParaRPr/>
          </a:p>
        </p:txBody>
      </p:sp>
      <p:sp>
        <p:nvSpPr>
          <p:cNvPr id="186" name="Google Shape;186;p17"/>
          <p:cNvSpPr txBox="1"/>
          <p:nvPr/>
        </p:nvSpPr>
        <p:spPr>
          <a:xfrm>
            <a:off x="4776651" y="4114655"/>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Dual-Graph Termination</a:t>
            </a:r>
            <a:endParaRPr/>
          </a:p>
        </p:txBody>
      </p:sp>
      <p:sp>
        <p:nvSpPr>
          <p:cNvPr id="187" name="Google Shape;187;p17"/>
          <p:cNvSpPr txBox="1"/>
          <p:nvPr/>
        </p:nvSpPr>
        <p:spPr>
          <a:xfrm>
            <a:off x="4319451" y="4462127"/>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Mission completion is formally defined as the conjunction of ASG exhaustion (no unexplored nodes) and APG resolution.</a:t>
            </a:r>
            <a:endParaRPr/>
          </a:p>
        </p:txBody>
      </p:sp>
      <p:sp>
        <p:nvSpPr>
          <p:cNvPr id="188" name="Google Shape;188;p17"/>
          <p:cNvSpPr/>
          <p:nvPr/>
        </p:nvSpPr>
        <p:spPr>
          <a:xfrm>
            <a:off x="8123355" y="4078079"/>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9" name="Google Shape;189;p17"/>
          <p:cNvSpPr/>
          <p:nvPr/>
        </p:nvSpPr>
        <p:spPr>
          <a:xfrm>
            <a:off x="8123355" y="4078079"/>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0" name="Google Shape;190;p17"/>
          <p:cNvSpPr txBox="1"/>
          <p:nvPr/>
        </p:nvSpPr>
        <p:spPr>
          <a:xfrm>
            <a:off x="8141643" y="4096367"/>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C9</a:t>
            </a:r>
            <a:endParaRPr/>
          </a:p>
        </p:txBody>
      </p:sp>
      <p:sp>
        <p:nvSpPr>
          <p:cNvPr id="191" name="Google Shape;191;p17"/>
          <p:cNvSpPr txBox="1"/>
          <p:nvPr/>
        </p:nvSpPr>
        <p:spPr>
          <a:xfrm>
            <a:off x="8690283" y="4114655"/>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Live CVE Grounding</a:t>
            </a:r>
            <a:endParaRPr/>
          </a:p>
        </p:txBody>
      </p:sp>
      <p:sp>
        <p:nvSpPr>
          <p:cNvPr id="192" name="Google Shape;192;p17"/>
          <p:cNvSpPr txBox="1"/>
          <p:nvPr/>
        </p:nvSpPr>
        <p:spPr>
          <a:xfrm>
            <a:off x="8233083" y="4462127"/>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Real-time vulnerability enrichment and exploit feasibility research via a scoped agent, written back into the ASG.</a:t>
            </a:r>
            <a:endParaRPr/>
          </a:p>
        </p:txBody>
      </p:sp>
      <p:sp>
        <p:nvSpPr>
          <p:cNvPr id="193" name="Google Shape;193;p17"/>
          <p:cNvSpPr/>
          <p:nvPr/>
        </p:nvSpPr>
        <p:spPr>
          <a:xfrm>
            <a:off x="296091" y="5330807"/>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 name="Google Shape;194;p17"/>
          <p:cNvSpPr/>
          <p:nvPr/>
        </p:nvSpPr>
        <p:spPr>
          <a:xfrm>
            <a:off x="296091" y="5330807"/>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 name="Google Shape;195;p17"/>
          <p:cNvSpPr txBox="1"/>
          <p:nvPr/>
        </p:nvSpPr>
        <p:spPr>
          <a:xfrm>
            <a:off x="314379" y="5349095"/>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C10</a:t>
            </a:r>
            <a:endParaRPr/>
          </a:p>
        </p:txBody>
      </p:sp>
      <p:sp>
        <p:nvSpPr>
          <p:cNvPr id="196" name="Google Shape;196;p17"/>
          <p:cNvSpPr txBox="1"/>
          <p:nvPr/>
        </p:nvSpPr>
        <p:spPr>
          <a:xfrm>
            <a:off x="863019" y="5367383"/>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Cross-Mission Experience</a:t>
            </a:r>
            <a:endParaRPr/>
          </a:p>
        </p:txBody>
      </p:sp>
      <p:sp>
        <p:nvSpPr>
          <p:cNvPr id="197" name="Google Shape;197;p17"/>
          <p:cNvSpPr txBox="1"/>
          <p:nvPr/>
        </p:nvSpPr>
        <p:spPr>
          <a:xfrm>
            <a:off x="405819" y="5714855"/>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Persistent RAG-backed store of validated exploitation outcomes across missions to seed APG hypotheses at mission start.</a:t>
            </a:r>
            <a:endParaRPr/>
          </a:p>
        </p:txBody>
      </p:sp>
      <p:sp>
        <p:nvSpPr>
          <p:cNvPr id="198" name="Google Shape;198;p17"/>
          <p:cNvSpPr/>
          <p:nvPr/>
        </p:nvSpPr>
        <p:spPr>
          <a:xfrm>
            <a:off x="4209723" y="5330807"/>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 name="Google Shape;199;p17"/>
          <p:cNvSpPr/>
          <p:nvPr/>
        </p:nvSpPr>
        <p:spPr>
          <a:xfrm>
            <a:off x="4209723" y="5330807"/>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0" name="Google Shape;200;p17"/>
          <p:cNvSpPr txBox="1"/>
          <p:nvPr/>
        </p:nvSpPr>
        <p:spPr>
          <a:xfrm>
            <a:off x="4228011" y="5349095"/>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C11</a:t>
            </a:r>
            <a:endParaRPr/>
          </a:p>
        </p:txBody>
      </p:sp>
      <p:sp>
        <p:nvSpPr>
          <p:cNvPr id="201" name="Google Shape;201;p17"/>
          <p:cNvSpPr txBox="1"/>
          <p:nvPr/>
        </p:nvSpPr>
        <p:spPr>
          <a:xfrm>
            <a:off x="4776651" y="5367383"/>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Attack Strategy Library</a:t>
            </a:r>
            <a:endParaRPr/>
          </a:p>
        </p:txBody>
      </p:sp>
      <p:sp>
        <p:nvSpPr>
          <p:cNvPr id="202" name="Google Shape;202;p17"/>
          <p:cNvSpPr txBox="1"/>
          <p:nvPr/>
        </p:nvSpPr>
        <p:spPr>
          <a:xfrm>
            <a:off x="4319451" y="5714855"/>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Crystallizes validated chains into parameterized strategies when the same target fingerprint succeeds across missions.</a:t>
            </a:r>
            <a:endParaRPr/>
          </a:p>
        </p:txBody>
      </p:sp>
      <p:sp>
        <p:nvSpPr>
          <p:cNvPr id="203" name="Google Shape;203;p17"/>
          <p:cNvSpPr/>
          <p:nvPr/>
        </p:nvSpPr>
        <p:spPr>
          <a:xfrm>
            <a:off x="8123355" y="5330807"/>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4" name="Google Shape;204;p17"/>
          <p:cNvSpPr/>
          <p:nvPr/>
        </p:nvSpPr>
        <p:spPr>
          <a:xfrm>
            <a:off x="8123355" y="5330807"/>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5" name="Google Shape;205;p17"/>
          <p:cNvSpPr txBox="1"/>
          <p:nvPr/>
        </p:nvSpPr>
        <p:spPr>
          <a:xfrm>
            <a:off x="8141643" y="5349095"/>
            <a:ext cx="475488"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0A0D1A"/>
                </a:solidFill>
                <a:latin typeface="Calibri"/>
                <a:ea typeface="Calibri"/>
                <a:cs typeface="Calibri"/>
                <a:sym typeface="Calibri"/>
              </a:rPr>
              <a:t>C12</a:t>
            </a:r>
            <a:endParaRPr/>
          </a:p>
        </p:txBody>
      </p:sp>
      <p:sp>
        <p:nvSpPr>
          <p:cNvPr id="206" name="Google Shape;206;p17"/>
          <p:cNvSpPr txBox="1"/>
          <p:nvPr/>
        </p:nvSpPr>
        <p:spPr>
          <a:xfrm>
            <a:off x="8690283" y="5367383"/>
            <a:ext cx="315468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Trajectory Export Dataset</a:t>
            </a:r>
            <a:endParaRPr/>
          </a:p>
        </p:txBody>
      </p:sp>
      <p:sp>
        <p:nvSpPr>
          <p:cNvPr id="207" name="Google Shape;207;p17"/>
          <p:cNvSpPr txBox="1"/>
          <p:nvPr/>
        </p:nvSpPr>
        <p:spPr>
          <a:xfrm>
            <a:off x="8233083" y="5714855"/>
            <a:ext cx="361188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A0AAB8"/>
                </a:solidFill>
                <a:latin typeface="Calibri"/>
                <a:ea typeface="Calibri"/>
                <a:cs typeface="Calibri"/>
                <a:sym typeface="Calibri"/>
              </a:rPr>
              <a:t>Every mission produces a machine-readable decision log capturing ASG/APG triggers, rationale, and actions taken.</a:t>
            </a:r>
            <a:endParaRPr/>
          </a:p>
        </p:txBody>
      </p:sp>
      <p:sp>
        <p:nvSpPr>
          <p:cNvPr id="208" name="Google Shape;208;p17"/>
          <p:cNvSpPr txBox="1"/>
          <p:nvPr/>
        </p:nvSpPr>
        <p:spPr>
          <a:xfrm>
            <a:off x="11807661" y="94694"/>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300" u="none" cap="none" strike="noStrike">
                <a:solidFill>
                  <a:srgbClr val="FFD700"/>
                </a:solidFill>
                <a:latin typeface="Calibri"/>
                <a:ea typeface="Calibri"/>
                <a:cs typeface="Calibri"/>
                <a:sym typeface="Calibri"/>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212" name="Shape 212"/>
        <p:cNvGrpSpPr/>
        <p:nvPr/>
      </p:nvGrpSpPr>
      <p:grpSpPr>
        <a:xfrm>
          <a:off x="0" y="0"/>
          <a:ext cx="0" cy="0"/>
          <a:chOff x="0" y="0"/>
          <a:chExt cx="0" cy="0"/>
        </a:xfrm>
      </p:grpSpPr>
      <p:sp>
        <p:nvSpPr>
          <p:cNvPr id="213" name="Google Shape;213;p18"/>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4" name="Google Shape;214;p18"/>
          <p:cNvSpPr/>
          <p:nvPr/>
        </p:nvSpPr>
        <p:spPr>
          <a:xfrm>
            <a:off x="54864" y="0"/>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p18"/>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6" name="Google Shape;216;p18"/>
          <p:cNvSpPr txBox="1"/>
          <p:nvPr/>
        </p:nvSpPr>
        <p:spPr>
          <a:xfrm>
            <a:off x="274320" y="64008"/>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SYSTEM ARCHITECTURE</a:t>
            </a:r>
            <a:endParaRPr b="0" i="0" sz="1400" u="none" cap="none" strike="noStrike">
              <a:solidFill>
                <a:srgbClr val="000000"/>
              </a:solidFill>
              <a:latin typeface="Arial"/>
              <a:ea typeface="Arial"/>
              <a:cs typeface="Arial"/>
              <a:sym typeface="Arial"/>
            </a:endParaRPr>
          </a:p>
        </p:txBody>
      </p:sp>
      <p:sp>
        <p:nvSpPr>
          <p:cNvPr id="217" name="Google Shape;217;p18"/>
          <p:cNvSpPr txBox="1"/>
          <p:nvPr/>
        </p:nvSpPr>
        <p:spPr>
          <a:xfrm>
            <a:off x="274320" y="301752"/>
            <a:ext cx="10058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CMatrix — Three-Tier Architecture Overview</a:t>
            </a:r>
            <a:endParaRPr b="0" i="0" sz="1400" u="none" cap="none" strike="noStrike">
              <a:solidFill>
                <a:srgbClr val="000000"/>
              </a:solidFill>
              <a:latin typeface="Arial"/>
              <a:ea typeface="Arial"/>
              <a:cs typeface="Arial"/>
              <a:sym typeface="Arial"/>
            </a:endParaRPr>
          </a:p>
        </p:txBody>
      </p:sp>
      <p:sp>
        <p:nvSpPr>
          <p:cNvPr id="218" name="Google Shape;218;p18"/>
          <p:cNvSpPr/>
          <p:nvPr/>
        </p:nvSpPr>
        <p:spPr>
          <a:xfrm>
            <a:off x="164592" y="804672"/>
            <a:ext cx="11862511" cy="1280160"/>
          </a:xfrm>
          <a:prstGeom prst="rect">
            <a:avLst/>
          </a:prstGeom>
          <a:solidFill>
            <a:srgbClr val="061020"/>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p18"/>
          <p:cNvSpPr txBox="1"/>
          <p:nvPr/>
        </p:nvSpPr>
        <p:spPr>
          <a:xfrm>
            <a:off x="201168" y="850392"/>
            <a:ext cx="14630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① ORCHESTRATION</a:t>
            </a:r>
            <a:endParaRPr b="0" i="0" sz="1400" u="none" cap="none" strike="noStrike">
              <a:solidFill>
                <a:srgbClr val="000000"/>
              </a:solidFill>
              <a:latin typeface="Arial"/>
              <a:ea typeface="Arial"/>
              <a:cs typeface="Arial"/>
              <a:sym typeface="Arial"/>
            </a:endParaRPr>
          </a:p>
        </p:txBody>
      </p:sp>
      <p:sp>
        <p:nvSpPr>
          <p:cNvPr id="220" name="Google Shape;220;p18"/>
          <p:cNvSpPr/>
          <p:nvPr/>
        </p:nvSpPr>
        <p:spPr>
          <a:xfrm>
            <a:off x="320040" y="1060704"/>
            <a:ext cx="1554480" cy="877824"/>
          </a:xfrm>
          <a:prstGeom prst="rect">
            <a:avLst/>
          </a:prstGeom>
          <a:solidFill>
            <a:srgbClr val="0C182E"/>
          </a:solidFill>
          <a:ln cap="flat" cmpd="sng" w="10150">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 name="Google Shape;221;p18"/>
          <p:cNvSpPr txBox="1"/>
          <p:nvPr/>
        </p:nvSpPr>
        <p:spPr>
          <a:xfrm>
            <a:off x="320040" y="1115568"/>
            <a:ext cx="15544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A0AAB8"/>
                </a:solidFill>
                <a:latin typeface="Calibri"/>
                <a:ea typeface="Calibri"/>
                <a:cs typeface="Calibri"/>
                <a:sym typeface="Calibri"/>
              </a:rPr>
              <a:t>OPERATOR</a:t>
            </a:r>
            <a:endParaRPr b="0" i="0" sz="1400" u="none" cap="none" strike="noStrike">
              <a:solidFill>
                <a:srgbClr val="000000"/>
              </a:solidFill>
              <a:latin typeface="Arial"/>
              <a:ea typeface="Arial"/>
              <a:cs typeface="Arial"/>
              <a:sym typeface="Arial"/>
            </a:endParaRPr>
          </a:p>
        </p:txBody>
      </p:sp>
      <p:sp>
        <p:nvSpPr>
          <p:cNvPr id="222" name="Google Shape;222;p18"/>
          <p:cNvSpPr txBox="1"/>
          <p:nvPr/>
        </p:nvSpPr>
        <p:spPr>
          <a:xfrm>
            <a:off x="320040" y="1371600"/>
            <a:ext cx="1554480"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Target · Scope · Mode</a:t>
            </a:r>
            <a:endParaRPr b="0" i="0" sz="1400" u="none" cap="none" strike="noStrike">
              <a:solidFill>
                <a:srgbClr val="000000"/>
              </a:solidFill>
              <a:latin typeface="Arial"/>
              <a:ea typeface="Arial"/>
              <a:cs typeface="Arial"/>
              <a:sym typeface="Arial"/>
            </a:endParaRPr>
          </a:p>
        </p:txBody>
      </p:sp>
      <p:cxnSp>
        <p:nvCxnSpPr>
          <p:cNvPr id="223" name="Google Shape;223;p18"/>
          <p:cNvCxnSpPr/>
          <p:nvPr/>
        </p:nvCxnSpPr>
        <p:spPr>
          <a:xfrm>
            <a:off x="1874520" y="0"/>
            <a:ext cx="210311"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224" name="Google Shape;224;p18"/>
          <p:cNvSpPr txBox="1"/>
          <p:nvPr/>
        </p:nvSpPr>
        <p:spPr>
          <a:xfrm>
            <a:off x="1901952" y="1225296"/>
            <a:ext cx="82296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303848"/>
                </a:solidFill>
                <a:latin typeface="Calibri"/>
                <a:ea typeface="Calibri"/>
                <a:cs typeface="Calibri"/>
                <a:sym typeface="Calibri"/>
              </a:rPr>
              <a:t>mission config</a:t>
            </a:r>
            <a:endParaRPr b="0" i="0" sz="1400" u="none" cap="none" strike="noStrike">
              <a:solidFill>
                <a:srgbClr val="000000"/>
              </a:solidFill>
              <a:latin typeface="Arial"/>
              <a:ea typeface="Arial"/>
              <a:cs typeface="Arial"/>
              <a:sym typeface="Arial"/>
            </a:endParaRPr>
          </a:p>
        </p:txBody>
      </p:sp>
      <p:sp>
        <p:nvSpPr>
          <p:cNvPr id="225" name="Google Shape;225;p18"/>
          <p:cNvSpPr/>
          <p:nvPr/>
        </p:nvSpPr>
        <p:spPr>
          <a:xfrm>
            <a:off x="2084831" y="941832"/>
            <a:ext cx="2834640" cy="1005840"/>
          </a:xfrm>
          <a:prstGeom prst="rect">
            <a:avLst/>
          </a:prstGeom>
          <a:solidFill>
            <a:srgbClr val="04162E"/>
          </a:solidFill>
          <a:ln cap="flat" cmpd="sng" w="254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6" name="Google Shape;226;p18"/>
          <p:cNvSpPr/>
          <p:nvPr/>
        </p:nvSpPr>
        <p:spPr>
          <a:xfrm>
            <a:off x="2084831" y="941832"/>
            <a:ext cx="2834640" cy="27432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7" name="Google Shape;227;p18"/>
          <p:cNvSpPr txBox="1"/>
          <p:nvPr/>
        </p:nvSpPr>
        <p:spPr>
          <a:xfrm>
            <a:off x="2084831" y="969264"/>
            <a:ext cx="283464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228" name="Google Shape;228;p18"/>
          <p:cNvSpPr txBox="1"/>
          <p:nvPr/>
        </p:nvSpPr>
        <p:spPr>
          <a:xfrm>
            <a:off x="2176271" y="1261872"/>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Reads ASG + APG state</a:t>
            </a:r>
            <a:endParaRPr b="0" i="0" sz="1400" u="none" cap="none" strike="noStrike">
              <a:solidFill>
                <a:srgbClr val="000000"/>
              </a:solidFill>
              <a:latin typeface="Arial"/>
              <a:ea typeface="Arial"/>
              <a:cs typeface="Arial"/>
              <a:sym typeface="Arial"/>
            </a:endParaRPr>
          </a:p>
        </p:txBody>
      </p:sp>
      <p:sp>
        <p:nvSpPr>
          <p:cNvPr id="229" name="Google Shape;229;p18"/>
          <p:cNvSpPr txBox="1"/>
          <p:nvPr/>
        </p:nvSpPr>
        <p:spPr>
          <a:xfrm>
            <a:off x="2176271" y="1426464"/>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Plans &amp; delegates tasks</a:t>
            </a:r>
            <a:endParaRPr b="0" i="0" sz="1400" u="none" cap="none" strike="noStrike">
              <a:solidFill>
                <a:srgbClr val="000000"/>
              </a:solidFill>
              <a:latin typeface="Arial"/>
              <a:ea typeface="Arial"/>
              <a:cs typeface="Arial"/>
              <a:sym typeface="Arial"/>
            </a:endParaRPr>
          </a:p>
        </p:txBody>
      </p:sp>
      <p:sp>
        <p:nvSpPr>
          <p:cNvPr id="230" name="Google Shape;230;p18"/>
          <p:cNvSpPr txBox="1"/>
          <p:nvPr/>
        </p:nvSpPr>
        <p:spPr>
          <a:xfrm>
            <a:off x="2176271" y="1591056"/>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Approves High-risk ops</a:t>
            </a:r>
            <a:endParaRPr b="0" i="0" sz="1400" u="none" cap="none" strike="noStrike">
              <a:solidFill>
                <a:srgbClr val="000000"/>
              </a:solidFill>
              <a:latin typeface="Arial"/>
              <a:ea typeface="Arial"/>
              <a:cs typeface="Arial"/>
              <a:sym typeface="Arial"/>
            </a:endParaRPr>
          </a:p>
        </p:txBody>
      </p:sp>
      <p:sp>
        <p:nvSpPr>
          <p:cNvPr id="231" name="Google Shape;231;p18"/>
          <p:cNvSpPr txBox="1"/>
          <p:nvPr/>
        </p:nvSpPr>
        <p:spPr>
          <a:xfrm>
            <a:off x="2176271" y="1755648"/>
            <a:ext cx="269748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Writes to APG only</a:t>
            </a:r>
            <a:endParaRPr b="0" i="0" sz="1400" u="none" cap="none" strike="noStrike">
              <a:solidFill>
                <a:srgbClr val="000000"/>
              </a:solidFill>
              <a:latin typeface="Arial"/>
              <a:ea typeface="Arial"/>
              <a:cs typeface="Arial"/>
              <a:sym typeface="Arial"/>
            </a:endParaRPr>
          </a:p>
        </p:txBody>
      </p:sp>
      <p:sp>
        <p:nvSpPr>
          <p:cNvPr id="232" name="Google Shape;232;p18"/>
          <p:cNvSpPr/>
          <p:nvPr/>
        </p:nvSpPr>
        <p:spPr>
          <a:xfrm>
            <a:off x="5120640" y="1060704"/>
            <a:ext cx="2103120" cy="877824"/>
          </a:xfrm>
          <a:prstGeom prst="rect">
            <a:avLst/>
          </a:prstGeom>
          <a:solidFill>
            <a:srgbClr val="100C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3" name="Google Shape;233;p18"/>
          <p:cNvSpPr txBox="1"/>
          <p:nvPr/>
        </p:nvSpPr>
        <p:spPr>
          <a:xfrm>
            <a:off x="5120640" y="1115568"/>
            <a:ext cx="210312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VAPT PROTOCOL PROMPT</a:t>
            </a:r>
            <a:endParaRPr b="0" i="0" sz="1400" u="none" cap="none" strike="noStrike">
              <a:solidFill>
                <a:srgbClr val="000000"/>
              </a:solidFill>
              <a:latin typeface="Arial"/>
              <a:ea typeface="Arial"/>
              <a:cs typeface="Arial"/>
              <a:sym typeface="Arial"/>
            </a:endParaRPr>
          </a:p>
        </p:txBody>
      </p:sp>
      <p:sp>
        <p:nvSpPr>
          <p:cNvPr id="234" name="Google Shape;234;p18"/>
          <p:cNvSpPr txBox="1"/>
          <p:nvPr/>
        </p:nvSpPr>
        <p:spPr>
          <a:xfrm>
            <a:off x="5212080" y="1353312"/>
            <a:ext cx="1965960" cy="5303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Phase rules · Re-plan triggers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Termination conditions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Methodology-as-config</a:t>
            </a:r>
            <a:endParaRPr b="0" i="0" sz="1400" u="none" cap="none" strike="noStrike">
              <a:solidFill>
                <a:srgbClr val="000000"/>
              </a:solidFill>
              <a:latin typeface="Arial"/>
              <a:ea typeface="Arial"/>
              <a:cs typeface="Arial"/>
              <a:sym typeface="Arial"/>
            </a:endParaRPr>
          </a:p>
        </p:txBody>
      </p:sp>
      <p:cxnSp>
        <p:nvCxnSpPr>
          <p:cNvPr id="235" name="Google Shape;235;p18"/>
          <p:cNvCxnSpPr/>
          <p:nvPr/>
        </p:nvCxnSpPr>
        <p:spPr>
          <a:xfrm>
            <a:off x="4919471" y="0"/>
            <a:ext cx="201169" cy="0"/>
          </a:xfrm>
          <a:prstGeom prst="straightConnector1">
            <a:avLst/>
          </a:prstGeom>
          <a:noFill/>
          <a:ln cap="flat" cmpd="sng" w="12700">
            <a:solidFill>
              <a:srgbClr val="BD93F9"/>
            </a:solidFill>
            <a:prstDash val="solid"/>
            <a:round/>
            <a:headEnd len="med" w="med" type="stealth"/>
            <a:tailEnd len="med" w="med" type="stealth"/>
          </a:ln>
          <a:effectLst>
            <a:outerShdw blurRad="40000" rotWithShape="0" dir="5400000" dist="20000">
              <a:srgbClr val="000000">
                <a:alpha val="38039"/>
              </a:srgbClr>
            </a:outerShdw>
          </a:effectLst>
        </p:spPr>
      </p:cxnSp>
      <p:sp>
        <p:nvSpPr>
          <p:cNvPr id="236" name="Google Shape;236;p18"/>
          <p:cNvSpPr/>
          <p:nvPr/>
        </p:nvSpPr>
        <p:spPr>
          <a:xfrm>
            <a:off x="164592" y="2139696"/>
            <a:ext cx="11862511" cy="1682496"/>
          </a:xfrm>
          <a:prstGeom prst="rect">
            <a:avLst/>
          </a:prstGeom>
          <a:solidFill>
            <a:srgbClr val="0514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7" name="Google Shape;237;p18"/>
          <p:cNvSpPr txBox="1"/>
          <p:nvPr/>
        </p:nvSpPr>
        <p:spPr>
          <a:xfrm>
            <a:off x="201168" y="2185416"/>
            <a:ext cx="23774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② DUAL-GRAPH WORLD MODEL</a:t>
            </a:r>
            <a:endParaRPr b="0" i="0" sz="1400" u="none" cap="none" strike="noStrike">
              <a:solidFill>
                <a:srgbClr val="000000"/>
              </a:solidFill>
              <a:latin typeface="Arial"/>
              <a:ea typeface="Arial"/>
              <a:cs typeface="Arial"/>
              <a:sym typeface="Arial"/>
            </a:endParaRPr>
          </a:p>
        </p:txBody>
      </p:sp>
      <p:sp>
        <p:nvSpPr>
          <p:cNvPr id="238" name="Google Shape;238;p18"/>
          <p:cNvSpPr/>
          <p:nvPr/>
        </p:nvSpPr>
        <p:spPr>
          <a:xfrm>
            <a:off x="320040" y="2414016"/>
            <a:ext cx="4297680" cy="1298448"/>
          </a:xfrm>
          <a:prstGeom prst="rect">
            <a:avLst/>
          </a:prstGeom>
          <a:solidFill>
            <a:srgbClr val="04180C"/>
          </a:solidFill>
          <a:ln cap="flat" cmpd="sng" w="228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9" name="Google Shape;239;p18"/>
          <p:cNvSpPr/>
          <p:nvPr/>
        </p:nvSpPr>
        <p:spPr>
          <a:xfrm>
            <a:off x="320040" y="2414016"/>
            <a:ext cx="4297680" cy="27432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0" name="Google Shape;240;p18"/>
          <p:cNvSpPr txBox="1"/>
          <p:nvPr/>
        </p:nvSpPr>
        <p:spPr>
          <a:xfrm>
            <a:off x="320040" y="2450592"/>
            <a:ext cx="42976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SURFACE GRAPH  (ASG)</a:t>
            </a:r>
            <a:endParaRPr b="0" i="0" sz="1400" u="none" cap="none" strike="noStrike">
              <a:solidFill>
                <a:srgbClr val="000000"/>
              </a:solidFill>
              <a:latin typeface="Arial"/>
              <a:ea typeface="Arial"/>
              <a:cs typeface="Arial"/>
              <a:sym typeface="Arial"/>
            </a:endParaRPr>
          </a:p>
        </p:txBody>
      </p:sp>
      <p:sp>
        <p:nvSpPr>
          <p:cNvPr id="241" name="Google Shape;241;p18"/>
          <p:cNvSpPr/>
          <p:nvPr/>
        </p:nvSpPr>
        <p:spPr>
          <a:xfrm>
            <a:off x="457200"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2" name="Google Shape;242;p18"/>
          <p:cNvSpPr txBox="1"/>
          <p:nvPr/>
        </p:nvSpPr>
        <p:spPr>
          <a:xfrm>
            <a:off x="457200"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Domain</a:t>
            </a:r>
            <a:endParaRPr b="0" i="0" sz="1400" u="none" cap="none" strike="noStrike">
              <a:solidFill>
                <a:srgbClr val="000000"/>
              </a:solidFill>
              <a:latin typeface="Arial"/>
              <a:ea typeface="Arial"/>
              <a:cs typeface="Arial"/>
              <a:sym typeface="Arial"/>
            </a:endParaRPr>
          </a:p>
        </p:txBody>
      </p:sp>
      <p:sp>
        <p:nvSpPr>
          <p:cNvPr id="243" name="Google Shape;243;p18"/>
          <p:cNvSpPr/>
          <p:nvPr/>
        </p:nvSpPr>
        <p:spPr>
          <a:xfrm>
            <a:off x="1261872"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4" name="Google Shape;244;p18"/>
          <p:cNvSpPr txBox="1"/>
          <p:nvPr/>
        </p:nvSpPr>
        <p:spPr>
          <a:xfrm>
            <a:off x="1261872"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Host</a:t>
            </a:r>
            <a:endParaRPr b="0" i="0" sz="1400" u="none" cap="none" strike="noStrike">
              <a:solidFill>
                <a:srgbClr val="000000"/>
              </a:solidFill>
              <a:latin typeface="Arial"/>
              <a:ea typeface="Arial"/>
              <a:cs typeface="Arial"/>
              <a:sym typeface="Arial"/>
            </a:endParaRPr>
          </a:p>
        </p:txBody>
      </p:sp>
      <p:sp>
        <p:nvSpPr>
          <p:cNvPr id="245" name="Google Shape;245;p18"/>
          <p:cNvSpPr/>
          <p:nvPr/>
        </p:nvSpPr>
        <p:spPr>
          <a:xfrm>
            <a:off x="2066544"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6" name="Google Shape;246;p18"/>
          <p:cNvSpPr txBox="1"/>
          <p:nvPr/>
        </p:nvSpPr>
        <p:spPr>
          <a:xfrm>
            <a:off x="2066544"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Port</a:t>
            </a:r>
            <a:endParaRPr b="0" i="0" sz="1400" u="none" cap="none" strike="noStrike">
              <a:solidFill>
                <a:srgbClr val="000000"/>
              </a:solidFill>
              <a:latin typeface="Arial"/>
              <a:ea typeface="Arial"/>
              <a:cs typeface="Arial"/>
              <a:sym typeface="Arial"/>
            </a:endParaRPr>
          </a:p>
        </p:txBody>
      </p:sp>
      <p:sp>
        <p:nvSpPr>
          <p:cNvPr id="247" name="Google Shape;247;p18"/>
          <p:cNvSpPr/>
          <p:nvPr/>
        </p:nvSpPr>
        <p:spPr>
          <a:xfrm>
            <a:off x="2871216"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8" name="Google Shape;248;p18"/>
          <p:cNvSpPr txBox="1"/>
          <p:nvPr/>
        </p:nvSpPr>
        <p:spPr>
          <a:xfrm>
            <a:off x="2871216"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Service</a:t>
            </a:r>
            <a:endParaRPr b="0" i="0" sz="1400" u="none" cap="none" strike="noStrike">
              <a:solidFill>
                <a:srgbClr val="000000"/>
              </a:solidFill>
              <a:latin typeface="Arial"/>
              <a:ea typeface="Arial"/>
              <a:cs typeface="Arial"/>
              <a:sym typeface="Arial"/>
            </a:endParaRPr>
          </a:p>
        </p:txBody>
      </p:sp>
      <p:sp>
        <p:nvSpPr>
          <p:cNvPr id="249" name="Google Shape;249;p18"/>
          <p:cNvSpPr/>
          <p:nvPr/>
        </p:nvSpPr>
        <p:spPr>
          <a:xfrm>
            <a:off x="3675888"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 name="Google Shape;250;p18"/>
          <p:cNvSpPr txBox="1"/>
          <p:nvPr/>
        </p:nvSpPr>
        <p:spPr>
          <a:xfrm>
            <a:off x="3675888"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Technology</a:t>
            </a:r>
            <a:endParaRPr b="0" i="0" sz="1400" u="none" cap="none" strike="noStrike">
              <a:solidFill>
                <a:srgbClr val="000000"/>
              </a:solidFill>
              <a:latin typeface="Arial"/>
              <a:ea typeface="Arial"/>
              <a:cs typeface="Arial"/>
              <a:sym typeface="Arial"/>
            </a:endParaRPr>
          </a:p>
        </p:txBody>
      </p:sp>
      <p:sp>
        <p:nvSpPr>
          <p:cNvPr id="251" name="Google Shape;251;p18"/>
          <p:cNvSpPr/>
          <p:nvPr/>
        </p:nvSpPr>
        <p:spPr>
          <a:xfrm>
            <a:off x="45720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 name="Google Shape;252;p18"/>
          <p:cNvSpPr txBox="1"/>
          <p:nvPr/>
        </p:nvSpPr>
        <p:spPr>
          <a:xfrm>
            <a:off x="45720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Endpoint</a:t>
            </a:r>
            <a:endParaRPr b="0" i="0" sz="1400" u="none" cap="none" strike="noStrike">
              <a:solidFill>
                <a:srgbClr val="000000"/>
              </a:solidFill>
              <a:latin typeface="Arial"/>
              <a:ea typeface="Arial"/>
              <a:cs typeface="Arial"/>
              <a:sym typeface="Arial"/>
            </a:endParaRPr>
          </a:p>
        </p:txBody>
      </p:sp>
      <p:sp>
        <p:nvSpPr>
          <p:cNvPr id="253" name="Google Shape;253;p18"/>
          <p:cNvSpPr/>
          <p:nvPr/>
        </p:nvSpPr>
        <p:spPr>
          <a:xfrm>
            <a:off x="146304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4" name="Google Shape;254;p18"/>
          <p:cNvSpPr txBox="1"/>
          <p:nvPr/>
        </p:nvSpPr>
        <p:spPr>
          <a:xfrm>
            <a:off x="146304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Parameter</a:t>
            </a:r>
            <a:endParaRPr b="0" i="0" sz="1400" u="none" cap="none" strike="noStrike">
              <a:solidFill>
                <a:srgbClr val="000000"/>
              </a:solidFill>
              <a:latin typeface="Arial"/>
              <a:ea typeface="Arial"/>
              <a:cs typeface="Arial"/>
              <a:sym typeface="Arial"/>
            </a:endParaRPr>
          </a:p>
        </p:txBody>
      </p:sp>
      <p:sp>
        <p:nvSpPr>
          <p:cNvPr id="255" name="Google Shape;255;p18"/>
          <p:cNvSpPr/>
          <p:nvPr/>
        </p:nvSpPr>
        <p:spPr>
          <a:xfrm>
            <a:off x="246888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6" name="Google Shape;256;p18"/>
          <p:cNvSpPr txBox="1"/>
          <p:nvPr/>
        </p:nvSpPr>
        <p:spPr>
          <a:xfrm>
            <a:off x="246888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Vulnerability</a:t>
            </a:r>
            <a:endParaRPr b="0" i="0" sz="1400" u="none" cap="none" strike="noStrike">
              <a:solidFill>
                <a:srgbClr val="000000"/>
              </a:solidFill>
              <a:latin typeface="Arial"/>
              <a:ea typeface="Arial"/>
              <a:cs typeface="Arial"/>
              <a:sym typeface="Arial"/>
            </a:endParaRPr>
          </a:p>
        </p:txBody>
      </p:sp>
      <p:sp>
        <p:nvSpPr>
          <p:cNvPr id="257" name="Google Shape;257;p18"/>
          <p:cNvSpPr/>
          <p:nvPr/>
        </p:nvSpPr>
        <p:spPr>
          <a:xfrm>
            <a:off x="347472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8" name="Google Shape;258;p18"/>
          <p:cNvSpPr txBox="1"/>
          <p:nvPr/>
        </p:nvSpPr>
        <p:spPr>
          <a:xfrm>
            <a:off x="347472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259" name="Google Shape;259;p18"/>
          <p:cNvSpPr txBox="1"/>
          <p:nvPr/>
        </p:nvSpPr>
        <p:spPr>
          <a:xfrm>
            <a:off x="429768" y="3300984"/>
            <a:ext cx="41148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60C070"/>
                </a:solidFill>
                <a:latin typeface="Calibri"/>
                <a:ea typeface="Calibri"/>
                <a:cs typeface="Calibri"/>
                <a:sym typeface="Calibri"/>
              </a:rPr>
              <a:t>Discovered Reality — confirmed facts only. Never contains hypotheses.</a:t>
            </a:r>
            <a:endParaRPr b="0" i="0" sz="1400" u="none" cap="none" strike="noStrike">
              <a:solidFill>
                <a:srgbClr val="000000"/>
              </a:solidFill>
              <a:latin typeface="Arial"/>
              <a:ea typeface="Arial"/>
              <a:cs typeface="Arial"/>
              <a:sym typeface="Arial"/>
            </a:endParaRPr>
          </a:p>
        </p:txBody>
      </p:sp>
      <p:sp>
        <p:nvSpPr>
          <p:cNvPr id="260" name="Google Shape;260;p18"/>
          <p:cNvSpPr/>
          <p:nvPr/>
        </p:nvSpPr>
        <p:spPr>
          <a:xfrm>
            <a:off x="7589520" y="2414016"/>
            <a:ext cx="4389120" cy="1298448"/>
          </a:xfrm>
          <a:prstGeom prst="rect">
            <a:avLst/>
          </a:prstGeom>
          <a:solidFill>
            <a:srgbClr val="1E1004"/>
          </a:solidFill>
          <a:ln cap="flat" cmpd="sng" w="228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p18"/>
          <p:cNvSpPr/>
          <p:nvPr/>
        </p:nvSpPr>
        <p:spPr>
          <a:xfrm>
            <a:off x="7589520" y="2414016"/>
            <a:ext cx="4389120" cy="27432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2" name="Google Shape;262;p18"/>
          <p:cNvSpPr txBox="1"/>
          <p:nvPr/>
        </p:nvSpPr>
        <p:spPr>
          <a:xfrm>
            <a:off x="7589520" y="2450592"/>
            <a:ext cx="438912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PATH GRAPH  (APG)</a:t>
            </a:r>
            <a:endParaRPr b="0" i="0" sz="1400" u="none" cap="none" strike="noStrike">
              <a:solidFill>
                <a:srgbClr val="000000"/>
              </a:solidFill>
              <a:latin typeface="Arial"/>
              <a:ea typeface="Arial"/>
              <a:cs typeface="Arial"/>
              <a:sym typeface="Arial"/>
            </a:endParaRPr>
          </a:p>
        </p:txBody>
      </p:sp>
      <p:sp>
        <p:nvSpPr>
          <p:cNvPr id="263" name="Google Shape;263;p18"/>
          <p:cNvSpPr/>
          <p:nvPr/>
        </p:nvSpPr>
        <p:spPr>
          <a:xfrm>
            <a:off x="772668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p18"/>
          <p:cNvSpPr txBox="1"/>
          <p:nvPr/>
        </p:nvSpPr>
        <p:spPr>
          <a:xfrm>
            <a:off x="772668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AttackChain</a:t>
            </a:r>
            <a:endParaRPr b="0" i="0" sz="1400" u="none" cap="none" strike="noStrike">
              <a:solidFill>
                <a:srgbClr val="000000"/>
              </a:solidFill>
              <a:latin typeface="Arial"/>
              <a:ea typeface="Arial"/>
              <a:cs typeface="Arial"/>
              <a:sym typeface="Arial"/>
            </a:endParaRPr>
          </a:p>
        </p:txBody>
      </p:sp>
      <p:sp>
        <p:nvSpPr>
          <p:cNvPr id="265" name="Google Shape;265;p18"/>
          <p:cNvSpPr/>
          <p:nvPr/>
        </p:nvSpPr>
        <p:spPr>
          <a:xfrm>
            <a:off x="909828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6" name="Google Shape;266;p18"/>
          <p:cNvSpPr txBox="1"/>
          <p:nvPr/>
        </p:nvSpPr>
        <p:spPr>
          <a:xfrm>
            <a:off x="909828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ChainStep</a:t>
            </a:r>
            <a:endParaRPr b="0" i="0" sz="1400" u="none" cap="none" strike="noStrike">
              <a:solidFill>
                <a:srgbClr val="000000"/>
              </a:solidFill>
              <a:latin typeface="Arial"/>
              <a:ea typeface="Arial"/>
              <a:cs typeface="Arial"/>
              <a:sym typeface="Arial"/>
            </a:endParaRPr>
          </a:p>
        </p:txBody>
      </p:sp>
      <p:sp>
        <p:nvSpPr>
          <p:cNvPr id="267" name="Google Shape;267;p18"/>
          <p:cNvSpPr/>
          <p:nvPr/>
        </p:nvSpPr>
        <p:spPr>
          <a:xfrm>
            <a:off x="1046988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8" name="Google Shape;268;p18"/>
          <p:cNvSpPr txBox="1"/>
          <p:nvPr/>
        </p:nvSpPr>
        <p:spPr>
          <a:xfrm>
            <a:off x="1046988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Impact</a:t>
            </a:r>
            <a:endParaRPr b="0" i="0" sz="1400" u="none" cap="none" strike="noStrike">
              <a:solidFill>
                <a:srgbClr val="000000"/>
              </a:solidFill>
              <a:latin typeface="Arial"/>
              <a:ea typeface="Arial"/>
              <a:cs typeface="Arial"/>
              <a:sym typeface="Arial"/>
            </a:endParaRPr>
          </a:p>
        </p:txBody>
      </p:sp>
      <p:sp>
        <p:nvSpPr>
          <p:cNvPr id="269" name="Google Shape;269;p18"/>
          <p:cNvSpPr txBox="1"/>
          <p:nvPr/>
        </p:nvSpPr>
        <p:spPr>
          <a:xfrm>
            <a:off x="7699248" y="3035808"/>
            <a:ext cx="42062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risk_score  ·  validation_status  ·  priority</a:t>
            </a:r>
            <a:endParaRPr b="0" i="0" sz="1400" u="none" cap="none" strike="noStrike">
              <a:solidFill>
                <a:srgbClr val="000000"/>
              </a:solidFill>
              <a:latin typeface="Arial"/>
              <a:ea typeface="Arial"/>
              <a:cs typeface="Arial"/>
              <a:sym typeface="Arial"/>
            </a:endParaRPr>
          </a:p>
        </p:txBody>
      </p:sp>
      <p:sp>
        <p:nvSpPr>
          <p:cNvPr id="270" name="Google Shape;270;p18"/>
          <p:cNvSpPr txBox="1"/>
          <p:nvPr/>
        </p:nvSpPr>
        <p:spPr>
          <a:xfrm>
            <a:off x="7699248" y="3282696"/>
            <a:ext cx="420624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C09020"/>
                </a:solidFill>
                <a:latin typeface="Calibri"/>
                <a:ea typeface="Calibri"/>
                <a:cs typeface="Calibri"/>
                <a:sym typeface="Calibri"/>
              </a:rPr>
              <a:t>Inferred Opportunity — attack reasoning only. Never contains raw scan data.</a:t>
            </a:r>
            <a:endParaRPr b="0" i="0" sz="1400" u="none" cap="none" strike="noStrike">
              <a:solidFill>
                <a:srgbClr val="000000"/>
              </a:solidFill>
              <a:latin typeface="Arial"/>
              <a:ea typeface="Arial"/>
              <a:cs typeface="Arial"/>
              <a:sym typeface="Arial"/>
            </a:endParaRPr>
          </a:p>
        </p:txBody>
      </p:sp>
      <p:sp>
        <p:nvSpPr>
          <p:cNvPr id="271" name="Google Shape;271;p18"/>
          <p:cNvSpPr/>
          <p:nvPr/>
        </p:nvSpPr>
        <p:spPr>
          <a:xfrm>
            <a:off x="4617720" y="2414016"/>
            <a:ext cx="2971800" cy="1298448"/>
          </a:xfrm>
          <a:prstGeom prst="rect">
            <a:avLst/>
          </a:prstGeom>
          <a:solidFill>
            <a:srgbClr val="0610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2" name="Google Shape;272;p18"/>
          <p:cNvSpPr txBox="1"/>
          <p:nvPr/>
        </p:nvSpPr>
        <p:spPr>
          <a:xfrm>
            <a:off x="4654296" y="2706624"/>
            <a:ext cx="2935224"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A0AAB8"/>
                </a:solidFill>
                <a:latin typeface="Calibri"/>
                <a:ea typeface="Calibri"/>
                <a:cs typeface="Calibri"/>
                <a:sym typeface="Calibri"/>
              </a:rPr>
              <a:t>STRICT</a:t>
            </a:r>
            <a:br>
              <a:rPr b="1" i="0" lang="en-US" sz="700" u="none" cap="none" strike="noStrike">
                <a:solidFill>
                  <a:srgbClr val="A0AAB8"/>
                </a:solidFill>
                <a:latin typeface="Calibri"/>
                <a:ea typeface="Calibri"/>
                <a:cs typeface="Calibri"/>
                <a:sym typeface="Calibri"/>
              </a:rPr>
            </a:br>
            <a:r>
              <a:rPr b="1" i="0" lang="en-US" sz="700" u="none" cap="none" strike="noStrike">
                <a:solidFill>
                  <a:srgbClr val="A0AAB8"/>
                </a:solidFill>
                <a:latin typeface="Calibri"/>
                <a:ea typeface="Calibri"/>
                <a:cs typeface="Calibri"/>
                <a:sym typeface="Calibri"/>
              </a:rPr>
              <a:t>SEPARATION</a:t>
            </a:r>
            <a:endParaRPr b="0" i="0" sz="1400" u="none" cap="none" strike="noStrike">
              <a:solidFill>
                <a:srgbClr val="000000"/>
              </a:solidFill>
              <a:latin typeface="Arial"/>
              <a:ea typeface="Arial"/>
              <a:cs typeface="Arial"/>
              <a:sym typeface="Arial"/>
            </a:endParaRPr>
          </a:p>
        </p:txBody>
      </p:sp>
      <p:sp>
        <p:nvSpPr>
          <p:cNvPr id="273" name="Google Shape;273;p18"/>
          <p:cNvSpPr/>
          <p:nvPr/>
        </p:nvSpPr>
        <p:spPr>
          <a:xfrm>
            <a:off x="6094476" y="2414016"/>
            <a:ext cx="18288" cy="1298448"/>
          </a:xfrm>
          <a:prstGeom prst="rect">
            <a:avLst/>
          </a:prstGeom>
          <a:solidFill>
            <a:srgbClr val="3038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74" name="Google Shape;274;p18"/>
          <p:cNvCxnSpPr/>
          <p:nvPr/>
        </p:nvCxnSpPr>
        <p:spPr>
          <a:xfrm>
            <a:off x="0" y="3712464"/>
            <a:ext cx="0" cy="201168"/>
          </a:xfrm>
          <a:prstGeom prst="straightConnector1">
            <a:avLst/>
          </a:prstGeom>
          <a:noFill/>
          <a:ln cap="flat" cmpd="sng" w="101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75" name="Google Shape;275;p18"/>
          <p:cNvCxnSpPr/>
          <p:nvPr/>
        </p:nvCxnSpPr>
        <p:spPr>
          <a:xfrm>
            <a:off x="0" y="2084832"/>
            <a:ext cx="0" cy="54864"/>
          </a:xfrm>
          <a:prstGeom prst="straightConnector1">
            <a:avLst/>
          </a:prstGeom>
          <a:noFill/>
          <a:ln cap="flat" cmpd="sng" w="152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76" name="Google Shape;276;p18"/>
          <p:cNvCxnSpPr/>
          <p:nvPr/>
        </p:nvCxnSpPr>
        <p:spPr>
          <a:xfrm rot="10800000">
            <a:off x="0" y="2084832"/>
            <a:ext cx="0" cy="54864"/>
          </a:xfrm>
          <a:prstGeom prst="straightConnector1">
            <a:avLst/>
          </a:prstGeom>
          <a:noFill/>
          <a:ln cap="flat" cmpd="sng" w="1270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277" name="Google Shape;277;p18"/>
          <p:cNvSpPr/>
          <p:nvPr/>
        </p:nvSpPr>
        <p:spPr>
          <a:xfrm>
            <a:off x="164592" y="3877056"/>
            <a:ext cx="11862511" cy="2724912"/>
          </a:xfrm>
          <a:prstGeom prst="rect">
            <a:avLst/>
          </a:prstGeom>
          <a:solidFill>
            <a:srgbClr val="0A08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p18"/>
          <p:cNvSpPr txBox="1"/>
          <p:nvPr/>
        </p:nvSpPr>
        <p:spPr>
          <a:xfrm>
            <a:off x="201168" y="3913632"/>
            <a:ext cx="45720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③ SPECIALIZED AGENTS  +  TOOL ADAPTER LAYER</a:t>
            </a:r>
            <a:endParaRPr b="0" i="0" sz="1400" u="none" cap="none" strike="noStrike">
              <a:solidFill>
                <a:srgbClr val="000000"/>
              </a:solidFill>
              <a:latin typeface="Arial"/>
              <a:ea typeface="Arial"/>
              <a:cs typeface="Arial"/>
              <a:sym typeface="Arial"/>
            </a:endParaRPr>
          </a:p>
        </p:txBody>
      </p:sp>
      <p:sp>
        <p:nvSpPr>
          <p:cNvPr id="279" name="Google Shape;279;p18"/>
          <p:cNvSpPr/>
          <p:nvPr/>
        </p:nvSpPr>
        <p:spPr>
          <a:xfrm>
            <a:off x="320040" y="4133088"/>
            <a:ext cx="1287780" cy="2404872"/>
          </a:xfrm>
          <a:prstGeom prst="rect">
            <a:avLst/>
          </a:prstGeom>
          <a:solidFill>
            <a:srgbClr val="0C0E22"/>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p18"/>
          <p:cNvSpPr/>
          <p:nvPr/>
        </p:nvSpPr>
        <p:spPr>
          <a:xfrm>
            <a:off x="320040" y="4133088"/>
            <a:ext cx="1287780" cy="21945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1" name="Google Shape;281;p18"/>
          <p:cNvSpPr txBox="1"/>
          <p:nvPr/>
        </p:nvSpPr>
        <p:spPr>
          <a:xfrm>
            <a:off x="32004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Recon</a:t>
            </a:r>
            <a:endParaRPr b="0" i="0" sz="1400" u="none" cap="none" strike="noStrike">
              <a:solidFill>
                <a:srgbClr val="000000"/>
              </a:solidFill>
              <a:latin typeface="Arial"/>
              <a:ea typeface="Arial"/>
              <a:cs typeface="Arial"/>
              <a:sym typeface="Arial"/>
            </a:endParaRPr>
          </a:p>
        </p:txBody>
      </p:sp>
      <p:sp>
        <p:nvSpPr>
          <p:cNvPr id="282" name="Google Shape;282;p18"/>
          <p:cNvSpPr txBox="1"/>
          <p:nvPr/>
        </p:nvSpPr>
        <p:spPr>
          <a:xfrm>
            <a:off x="374904"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cxnSp>
        <p:nvCxnSpPr>
          <p:cNvPr id="283" name="Google Shape;283;p18"/>
          <p:cNvCxnSpPr/>
          <p:nvPr/>
        </p:nvCxnSpPr>
        <p:spPr>
          <a:xfrm>
            <a:off x="0" y="2130552"/>
            <a:ext cx="0" cy="2002536"/>
          </a:xfrm>
          <a:prstGeom prst="straightConnector1">
            <a:avLst/>
          </a:prstGeom>
          <a:noFill/>
          <a:ln cap="flat" cmpd="sng" w="95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84" name="Google Shape;284;p18"/>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285" name="Google Shape;285;p18"/>
          <p:cNvSpPr/>
          <p:nvPr/>
        </p:nvSpPr>
        <p:spPr>
          <a:xfrm>
            <a:off x="1662684" y="4133088"/>
            <a:ext cx="1287780" cy="2404872"/>
          </a:xfrm>
          <a:prstGeom prst="rect">
            <a:avLst/>
          </a:prstGeom>
          <a:solidFill>
            <a:srgbClr val="0C0E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6" name="Google Shape;286;p18"/>
          <p:cNvSpPr/>
          <p:nvPr/>
        </p:nvSpPr>
        <p:spPr>
          <a:xfrm>
            <a:off x="1662684" y="4133088"/>
            <a:ext cx="1287780" cy="2194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7" name="Google Shape;287;p18"/>
          <p:cNvSpPr txBox="1"/>
          <p:nvPr/>
        </p:nvSpPr>
        <p:spPr>
          <a:xfrm>
            <a:off x="1662684"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Analysis</a:t>
            </a:r>
            <a:endParaRPr b="0" i="0" sz="1400" u="none" cap="none" strike="noStrike">
              <a:solidFill>
                <a:srgbClr val="000000"/>
              </a:solidFill>
              <a:latin typeface="Arial"/>
              <a:ea typeface="Arial"/>
              <a:cs typeface="Arial"/>
              <a:sym typeface="Arial"/>
            </a:endParaRPr>
          </a:p>
        </p:txBody>
      </p:sp>
      <p:sp>
        <p:nvSpPr>
          <p:cNvPr id="288" name="Google Shape;288;p18"/>
          <p:cNvSpPr txBox="1"/>
          <p:nvPr/>
        </p:nvSpPr>
        <p:spPr>
          <a:xfrm>
            <a:off x="1717548"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cxnSp>
        <p:nvCxnSpPr>
          <p:cNvPr id="289" name="Google Shape;289;p18"/>
          <p:cNvCxnSpPr/>
          <p:nvPr/>
        </p:nvCxnSpPr>
        <p:spPr>
          <a:xfrm>
            <a:off x="0" y="2130552"/>
            <a:ext cx="0" cy="2002536"/>
          </a:xfrm>
          <a:prstGeom prst="straightConnector1">
            <a:avLst/>
          </a:prstGeom>
          <a:noFill/>
          <a:ln cap="flat" cmpd="sng" w="95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90" name="Google Shape;290;p18"/>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291" name="Google Shape;291;p18"/>
          <p:cNvSpPr/>
          <p:nvPr/>
        </p:nvSpPr>
        <p:spPr>
          <a:xfrm>
            <a:off x="3005328" y="4133088"/>
            <a:ext cx="1287780" cy="2404872"/>
          </a:xfrm>
          <a:prstGeom prst="rect">
            <a:avLst/>
          </a:prstGeom>
          <a:solidFill>
            <a:srgbClr val="0C0E22"/>
          </a:solidFill>
          <a:ln cap="flat" cmpd="sng" w="152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p18"/>
          <p:cNvSpPr/>
          <p:nvPr/>
        </p:nvSpPr>
        <p:spPr>
          <a:xfrm>
            <a:off x="3005328" y="4133088"/>
            <a:ext cx="1287780"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3" name="Google Shape;293;p18"/>
          <p:cNvSpPr txBox="1"/>
          <p:nvPr/>
        </p:nvSpPr>
        <p:spPr>
          <a:xfrm>
            <a:off x="3005328"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Research</a:t>
            </a:r>
            <a:endParaRPr b="0" i="0" sz="1400" u="none" cap="none" strike="noStrike">
              <a:solidFill>
                <a:srgbClr val="000000"/>
              </a:solidFill>
              <a:latin typeface="Arial"/>
              <a:ea typeface="Arial"/>
              <a:cs typeface="Arial"/>
              <a:sym typeface="Arial"/>
            </a:endParaRPr>
          </a:p>
        </p:txBody>
      </p:sp>
      <p:sp>
        <p:nvSpPr>
          <p:cNvPr id="294" name="Google Shape;294;p18"/>
          <p:cNvSpPr txBox="1"/>
          <p:nvPr/>
        </p:nvSpPr>
        <p:spPr>
          <a:xfrm>
            <a:off x="3060192"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D700"/>
                </a:solidFill>
                <a:latin typeface="Calibri"/>
                <a:ea typeface="Calibri"/>
                <a:cs typeface="Calibri"/>
                <a:sym typeface="Calibri"/>
              </a:rPr>
              <a:t>NVD · Exploit-DB · GitHub</a:t>
            </a:r>
            <a:endParaRPr b="0" i="0" sz="1400" u="none" cap="none" strike="noStrike">
              <a:solidFill>
                <a:srgbClr val="000000"/>
              </a:solidFill>
              <a:latin typeface="Arial"/>
              <a:ea typeface="Arial"/>
              <a:cs typeface="Arial"/>
              <a:sym typeface="Arial"/>
            </a:endParaRPr>
          </a:p>
        </p:txBody>
      </p:sp>
      <p:cxnSp>
        <p:nvCxnSpPr>
          <p:cNvPr id="295" name="Google Shape;295;p18"/>
          <p:cNvCxnSpPr/>
          <p:nvPr/>
        </p:nvCxnSpPr>
        <p:spPr>
          <a:xfrm>
            <a:off x="0" y="2130552"/>
            <a:ext cx="0" cy="2002536"/>
          </a:xfrm>
          <a:prstGeom prst="straightConnector1">
            <a:avLst/>
          </a:prstGeom>
          <a:noFill/>
          <a:ln cap="flat" cmpd="sng" w="95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296" name="Google Shape;296;p18"/>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297" name="Google Shape;297;p18"/>
          <p:cNvSpPr/>
          <p:nvPr/>
        </p:nvSpPr>
        <p:spPr>
          <a:xfrm>
            <a:off x="4347972" y="4133088"/>
            <a:ext cx="1287780" cy="2404872"/>
          </a:xfrm>
          <a:prstGeom prst="rect">
            <a:avLst/>
          </a:prstGeom>
          <a:solidFill>
            <a:srgbClr val="0C0E22"/>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8" name="Google Shape;298;p18"/>
          <p:cNvSpPr/>
          <p:nvPr/>
        </p:nvSpPr>
        <p:spPr>
          <a:xfrm>
            <a:off x="4347972" y="4133088"/>
            <a:ext cx="1287780" cy="21945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9" name="Google Shape;299;p18"/>
          <p:cNvSpPr txBox="1"/>
          <p:nvPr/>
        </p:nvSpPr>
        <p:spPr>
          <a:xfrm>
            <a:off x="4347972"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300" name="Google Shape;300;p18"/>
          <p:cNvSpPr txBox="1"/>
          <p:nvPr/>
        </p:nvSpPr>
        <p:spPr>
          <a:xfrm>
            <a:off x="4402836"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4545"/>
                </a:solidFill>
                <a:latin typeface="Calibri"/>
                <a:ea typeface="Calibri"/>
                <a:cs typeface="Calibri"/>
                <a:sym typeface="Calibri"/>
              </a:rPr>
              <a:t>SQLMap · Metasploit</a:t>
            </a:r>
            <a:endParaRPr b="0" i="0" sz="1400" u="none" cap="none" strike="noStrike">
              <a:solidFill>
                <a:srgbClr val="000000"/>
              </a:solidFill>
              <a:latin typeface="Arial"/>
              <a:ea typeface="Arial"/>
              <a:cs typeface="Arial"/>
              <a:sym typeface="Arial"/>
            </a:endParaRPr>
          </a:p>
        </p:txBody>
      </p:sp>
      <p:cxnSp>
        <p:nvCxnSpPr>
          <p:cNvPr id="301" name="Google Shape;301;p18"/>
          <p:cNvCxnSpPr/>
          <p:nvPr/>
        </p:nvCxnSpPr>
        <p:spPr>
          <a:xfrm>
            <a:off x="0" y="2130552"/>
            <a:ext cx="0" cy="2002536"/>
          </a:xfrm>
          <a:prstGeom prst="straightConnector1">
            <a:avLst/>
          </a:prstGeom>
          <a:noFill/>
          <a:ln cap="flat" cmpd="sng" w="9525">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02" name="Google Shape;302;p18"/>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03" name="Google Shape;303;p18"/>
          <p:cNvSpPr/>
          <p:nvPr/>
        </p:nvSpPr>
        <p:spPr>
          <a:xfrm>
            <a:off x="5690616" y="4133088"/>
            <a:ext cx="1287780" cy="2404872"/>
          </a:xfrm>
          <a:prstGeom prst="rect">
            <a:avLst/>
          </a:prstGeom>
          <a:solidFill>
            <a:srgbClr val="0C0E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4" name="Google Shape;304;p18"/>
          <p:cNvSpPr/>
          <p:nvPr/>
        </p:nvSpPr>
        <p:spPr>
          <a:xfrm>
            <a:off x="5690616" y="4133088"/>
            <a:ext cx="1287780" cy="21945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5" name="Google Shape;305;p18"/>
          <p:cNvSpPr txBox="1"/>
          <p:nvPr/>
        </p:nvSpPr>
        <p:spPr>
          <a:xfrm>
            <a:off x="5690616"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306" name="Google Shape;306;p18"/>
          <p:cNvSpPr txBox="1"/>
          <p:nvPr/>
        </p:nvSpPr>
        <p:spPr>
          <a:xfrm>
            <a:off x="5745480"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cxnSp>
        <p:nvCxnSpPr>
          <p:cNvPr id="307" name="Google Shape;307;p18"/>
          <p:cNvCxnSpPr/>
          <p:nvPr/>
        </p:nvCxnSpPr>
        <p:spPr>
          <a:xfrm>
            <a:off x="0" y="2130552"/>
            <a:ext cx="0" cy="2002536"/>
          </a:xfrm>
          <a:prstGeom prst="straightConnector1">
            <a:avLst/>
          </a:prstGeom>
          <a:noFill/>
          <a:ln cap="flat" cmpd="sng" w="9525">
            <a:solidFill>
              <a:srgbClr val="BD93F9"/>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08" name="Google Shape;308;p18"/>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09" name="Google Shape;309;p18"/>
          <p:cNvSpPr/>
          <p:nvPr/>
        </p:nvSpPr>
        <p:spPr>
          <a:xfrm>
            <a:off x="7033260" y="4133088"/>
            <a:ext cx="1287780" cy="2404872"/>
          </a:xfrm>
          <a:prstGeom prst="rect">
            <a:avLst/>
          </a:prstGeom>
          <a:solidFill>
            <a:srgbClr val="0C0E22"/>
          </a:solidFill>
          <a:ln cap="flat" cmpd="sng" w="152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p18"/>
          <p:cNvSpPr/>
          <p:nvPr/>
        </p:nvSpPr>
        <p:spPr>
          <a:xfrm>
            <a:off x="7033260" y="4133088"/>
            <a:ext cx="1287780" cy="219456"/>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1" name="Google Shape;311;p18"/>
          <p:cNvSpPr txBox="1"/>
          <p:nvPr/>
        </p:nvSpPr>
        <p:spPr>
          <a:xfrm>
            <a:off x="703326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312" name="Google Shape;312;p18"/>
          <p:cNvSpPr txBox="1"/>
          <p:nvPr/>
        </p:nvSpPr>
        <p:spPr>
          <a:xfrm>
            <a:off x="7088124"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A0AAB8"/>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cxnSp>
        <p:nvCxnSpPr>
          <p:cNvPr id="313" name="Google Shape;313;p18"/>
          <p:cNvCxnSpPr/>
          <p:nvPr/>
        </p:nvCxnSpPr>
        <p:spPr>
          <a:xfrm>
            <a:off x="0" y="2130552"/>
            <a:ext cx="0" cy="2002536"/>
          </a:xfrm>
          <a:prstGeom prst="straightConnector1">
            <a:avLst/>
          </a:prstGeom>
          <a:noFill/>
          <a:ln cap="flat" cmpd="sng" w="9525">
            <a:solidFill>
              <a:srgbClr val="A0AAB8"/>
            </a:solidFill>
            <a:prstDash val="solid"/>
            <a:round/>
            <a:headEnd len="med" w="med" type="stealth"/>
            <a:tailEnd len="sm" w="sm" type="none"/>
          </a:ln>
          <a:effectLst>
            <a:outerShdw blurRad="40000" rotWithShape="0" dir="5400000" dist="20000">
              <a:srgbClr val="000000">
                <a:alpha val="38039"/>
              </a:srgbClr>
            </a:outerShdw>
          </a:effectLst>
        </p:spPr>
      </p:cxnSp>
      <p:sp>
        <p:nvSpPr>
          <p:cNvPr id="314" name="Google Shape;314;p18"/>
          <p:cNvSpPr/>
          <p:nvPr/>
        </p:nvSpPr>
        <p:spPr>
          <a:xfrm>
            <a:off x="8641075" y="4133100"/>
            <a:ext cx="3349500" cy="2404800"/>
          </a:xfrm>
          <a:prstGeom prst="rect">
            <a:avLst/>
          </a:prstGeom>
          <a:solidFill>
            <a:srgbClr val="0A081E"/>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18"/>
          <p:cNvSpPr/>
          <p:nvPr/>
        </p:nvSpPr>
        <p:spPr>
          <a:xfrm>
            <a:off x="8641080" y="4133088"/>
            <a:ext cx="3349447" cy="237744"/>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p18"/>
          <p:cNvSpPr txBox="1"/>
          <p:nvPr/>
        </p:nvSpPr>
        <p:spPr>
          <a:xfrm>
            <a:off x="8641080" y="4160520"/>
            <a:ext cx="3349500" cy="201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TOOL ADAPTER LAYER</a:t>
            </a:r>
            <a:endParaRPr b="0" i="0" sz="1400" u="none" cap="none" strike="noStrike">
              <a:solidFill>
                <a:srgbClr val="000000"/>
              </a:solidFill>
              <a:latin typeface="Arial"/>
              <a:ea typeface="Arial"/>
              <a:cs typeface="Arial"/>
              <a:sym typeface="Arial"/>
            </a:endParaRPr>
          </a:p>
        </p:txBody>
      </p:sp>
      <p:sp>
        <p:nvSpPr>
          <p:cNvPr id="317" name="Google Shape;317;p18"/>
          <p:cNvSpPr/>
          <p:nvPr/>
        </p:nvSpPr>
        <p:spPr>
          <a:xfrm>
            <a:off x="8732520" y="4407408"/>
            <a:ext cx="3166567" cy="649224"/>
          </a:xfrm>
          <a:prstGeom prst="rect">
            <a:avLst/>
          </a:prstGeom>
          <a:solidFill>
            <a:srgbClr val="100C24"/>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8" name="Google Shape;318;p18"/>
          <p:cNvSpPr/>
          <p:nvPr/>
        </p:nvSpPr>
        <p:spPr>
          <a:xfrm>
            <a:off x="8732520" y="4407408"/>
            <a:ext cx="347472" cy="649224"/>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9" name="Google Shape;319;p18"/>
          <p:cNvSpPr txBox="1"/>
          <p:nvPr/>
        </p:nvSpPr>
        <p:spPr>
          <a:xfrm>
            <a:off x="8641076" y="4425700"/>
            <a:ext cx="438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LOW</a:t>
            </a:r>
            <a:endParaRPr b="0" i="0" sz="1400" u="none" cap="none" strike="noStrike">
              <a:solidFill>
                <a:srgbClr val="000000"/>
              </a:solidFill>
              <a:latin typeface="Arial"/>
              <a:ea typeface="Arial"/>
              <a:cs typeface="Arial"/>
              <a:sym typeface="Arial"/>
            </a:endParaRPr>
          </a:p>
        </p:txBody>
      </p:sp>
      <p:sp>
        <p:nvSpPr>
          <p:cNvPr id="320" name="Google Shape;320;p18"/>
          <p:cNvSpPr txBox="1"/>
          <p:nvPr/>
        </p:nvSpPr>
        <p:spPr>
          <a:xfrm>
            <a:off x="9116568" y="4425696"/>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Passive</a:t>
            </a:r>
            <a:endParaRPr b="0" i="0" sz="1400" u="none" cap="none" strike="noStrike">
              <a:solidFill>
                <a:srgbClr val="000000"/>
              </a:solidFill>
              <a:latin typeface="Arial"/>
              <a:ea typeface="Arial"/>
              <a:cs typeface="Arial"/>
              <a:sym typeface="Arial"/>
            </a:endParaRPr>
          </a:p>
        </p:txBody>
      </p:sp>
      <p:sp>
        <p:nvSpPr>
          <p:cNvPr id="321" name="Google Shape;321;p18"/>
          <p:cNvSpPr txBox="1"/>
          <p:nvPr/>
        </p:nvSpPr>
        <p:spPr>
          <a:xfrm>
            <a:off x="9116568" y="4608576"/>
            <a:ext cx="2755087"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Execute immediately</a:t>
            </a:r>
            <a:endParaRPr b="0" i="0" sz="1400" u="none" cap="none" strike="noStrike">
              <a:solidFill>
                <a:srgbClr val="000000"/>
              </a:solidFill>
              <a:latin typeface="Arial"/>
              <a:ea typeface="Arial"/>
              <a:cs typeface="Arial"/>
              <a:sym typeface="Arial"/>
            </a:endParaRPr>
          </a:p>
        </p:txBody>
      </p:sp>
      <p:sp>
        <p:nvSpPr>
          <p:cNvPr id="322" name="Google Shape;322;p18"/>
          <p:cNvSpPr/>
          <p:nvPr/>
        </p:nvSpPr>
        <p:spPr>
          <a:xfrm>
            <a:off x="8732520" y="5111496"/>
            <a:ext cx="3166567" cy="649224"/>
          </a:xfrm>
          <a:prstGeom prst="rect">
            <a:avLst/>
          </a:prstGeom>
          <a:solidFill>
            <a:srgbClr val="100C2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3" name="Google Shape;323;p18"/>
          <p:cNvSpPr/>
          <p:nvPr/>
        </p:nvSpPr>
        <p:spPr>
          <a:xfrm>
            <a:off x="8732520" y="5111496"/>
            <a:ext cx="347472" cy="64922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4" name="Google Shape;324;p18"/>
          <p:cNvSpPr txBox="1"/>
          <p:nvPr/>
        </p:nvSpPr>
        <p:spPr>
          <a:xfrm>
            <a:off x="8641102" y="5129775"/>
            <a:ext cx="438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MED</a:t>
            </a:r>
            <a:endParaRPr b="0" i="0" sz="1400" u="none" cap="none" strike="noStrike">
              <a:solidFill>
                <a:srgbClr val="000000"/>
              </a:solidFill>
              <a:latin typeface="Arial"/>
              <a:ea typeface="Arial"/>
              <a:cs typeface="Arial"/>
              <a:sym typeface="Arial"/>
            </a:endParaRPr>
          </a:p>
        </p:txBody>
      </p:sp>
      <p:sp>
        <p:nvSpPr>
          <p:cNvPr id="325" name="Google Shape;325;p18"/>
          <p:cNvSpPr txBox="1"/>
          <p:nvPr/>
        </p:nvSpPr>
        <p:spPr>
          <a:xfrm>
            <a:off x="9116568" y="5129784"/>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Active</a:t>
            </a:r>
            <a:endParaRPr b="0" i="0" sz="1400" u="none" cap="none" strike="noStrike">
              <a:solidFill>
                <a:srgbClr val="000000"/>
              </a:solidFill>
              <a:latin typeface="Arial"/>
              <a:ea typeface="Arial"/>
              <a:cs typeface="Arial"/>
              <a:sym typeface="Arial"/>
            </a:endParaRPr>
          </a:p>
        </p:txBody>
      </p:sp>
      <p:sp>
        <p:nvSpPr>
          <p:cNvPr id="326" name="Google Shape;326;p18"/>
          <p:cNvSpPr txBox="1"/>
          <p:nvPr/>
        </p:nvSpPr>
        <p:spPr>
          <a:xfrm>
            <a:off x="9116568" y="5312664"/>
            <a:ext cx="2755087"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LLM Classifier → exec/escalate</a:t>
            </a:r>
            <a:endParaRPr b="0" i="0" sz="1400" u="none" cap="none" strike="noStrike">
              <a:solidFill>
                <a:srgbClr val="000000"/>
              </a:solidFill>
              <a:latin typeface="Arial"/>
              <a:ea typeface="Arial"/>
              <a:cs typeface="Arial"/>
              <a:sym typeface="Arial"/>
            </a:endParaRPr>
          </a:p>
        </p:txBody>
      </p:sp>
      <p:sp>
        <p:nvSpPr>
          <p:cNvPr id="327" name="Google Shape;327;p18"/>
          <p:cNvSpPr/>
          <p:nvPr/>
        </p:nvSpPr>
        <p:spPr>
          <a:xfrm>
            <a:off x="8732520" y="5815584"/>
            <a:ext cx="3166567" cy="649224"/>
          </a:xfrm>
          <a:prstGeom prst="rect">
            <a:avLst/>
          </a:prstGeom>
          <a:solidFill>
            <a:srgbClr val="100C24"/>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8" name="Google Shape;328;p18"/>
          <p:cNvSpPr/>
          <p:nvPr/>
        </p:nvSpPr>
        <p:spPr>
          <a:xfrm>
            <a:off x="8732520" y="5815584"/>
            <a:ext cx="347472" cy="649224"/>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9" name="Google Shape;329;p18"/>
          <p:cNvSpPr txBox="1"/>
          <p:nvPr/>
        </p:nvSpPr>
        <p:spPr>
          <a:xfrm>
            <a:off x="8641101" y="5833875"/>
            <a:ext cx="438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HIGH</a:t>
            </a:r>
            <a:endParaRPr b="0" i="0" sz="1400" u="none" cap="none" strike="noStrike">
              <a:solidFill>
                <a:srgbClr val="000000"/>
              </a:solidFill>
              <a:latin typeface="Arial"/>
              <a:ea typeface="Arial"/>
              <a:cs typeface="Arial"/>
              <a:sym typeface="Arial"/>
            </a:endParaRPr>
          </a:p>
        </p:txBody>
      </p:sp>
      <p:sp>
        <p:nvSpPr>
          <p:cNvPr id="330" name="Google Shape;330;p18"/>
          <p:cNvSpPr txBox="1"/>
          <p:nvPr/>
        </p:nvSpPr>
        <p:spPr>
          <a:xfrm>
            <a:off x="9116568" y="5833872"/>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Exploit</a:t>
            </a:r>
            <a:endParaRPr b="0" i="0" sz="1400" u="none" cap="none" strike="noStrike">
              <a:solidFill>
                <a:srgbClr val="000000"/>
              </a:solidFill>
              <a:latin typeface="Arial"/>
              <a:ea typeface="Arial"/>
              <a:cs typeface="Arial"/>
              <a:sym typeface="Arial"/>
            </a:endParaRPr>
          </a:p>
        </p:txBody>
      </p:sp>
      <p:sp>
        <p:nvSpPr>
          <p:cNvPr id="331" name="Google Shape;331;p18"/>
          <p:cNvSpPr txBox="1"/>
          <p:nvPr/>
        </p:nvSpPr>
        <p:spPr>
          <a:xfrm>
            <a:off x="9116568" y="6016752"/>
            <a:ext cx="2755087"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Commander Mailbox approval</a:t>
            </a:r>
            <a:endParaRPr b="0" i="0" sz="1400" u="none" cap="none" strike="noStrike">
              <a:solidFill>
                <a:srgbClr val="000000"/>
              </a:solidFill>
              <a:latin typeface="Arial"/>
              <a:ea typeface="Arial"/>
              <a:cs typeface="Arial"/>
              <a:sym typeface="Arial"/>
            </a:endParaRPr>
          </a:p>
        </p:txBody>
      </p:sp>
      <p:sp>
        <p:nvSpPr>
          <p:cNvPr id="332" name="Google Shape;332;p18"/>
          <p:cNvSpPr txBox="1"/>
          <p:nvPr/>
        </p:nvSpPr>
        <p:spPr>
          <a:xfrm>
            <a:off x="11661650" y="109825"/>
            <a:ext cx="438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37" name="Shape 337"/>
        <p:cNvGrpSpPr/>
        <p:nvPr/>
      </p:nvGrpSpPr>
      <p:grpSpPr>
        <a:xfrm>
          <a:off x="0" y="0"/>
          <a:ext cx="0" cy="0"/>
          <a:chOff x="0" y="0"/>
          <a:chExt cx="0" cy="0"/>
        </a:xfrm>
      </p:grpSpPr>
      <p:sp>
        <p:nvSpPr>
          <p:cNvPr id="338" name="Google Shape;338;p19"/>
          <p:cNvSpPr/>
          <p:nvPr/>
        </p:nvSpPr>
        <p:spPr>
          <a:xfrm>
            <a:off x="365760" y="73152"/>
            <a:ext cx="1097280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7FFF00"/>
              </a:buClr>
              <a:buSzPts val="1100"/>
              <a:buFont typeface="Arial"/>
              <a:buNone/>
            </a:pPr>
            <a:r>
              <a:rPr b="1" i="0" lang="en-US" sz="1100" u="none" cap="none" strike="noStrike">
                <a:solidFill>
                  <a:srgbClr val="7FFF00"/>
                </a:solidFill>
                <a:latin typeface="Arial"/>
                <a:ea typeface="Arial"/>
                <a:cs typeface="Arial"/>
                <a:sym typeface="Arial"/>
              </a:rPr>
              <a:t>DUAL-GRAPH WORLD MODEL</a:t>
            </a:r>
            <a:endParaRPr b="0" i="0" sz="1100" u="none" cap="none" strike="noStrike">
              <a:solidFill>
                <a:schemeClr val="dk1"/>
              </a:solidFill>
              <a:latin typeface="Calibri"/>
              <a:ea typeface="Calibri"/>
              <a:cs typeface="Calibri"/>
              <a:sym typeface="Calibri"/>
            </a:endParaRPr>
          </a:p>
        </p:txBody>
      </p:sp>
      <p:sp>
        <p:nvSpPr>
          <p:cNvPr id="339" name="Google Shape;339;p19"/>
          <p:cNvSpPr/>
          <p:nvPr/>
        </p:nvSpPr>
        <p:spPr>
          <a:xfrm>
            <a:off x="365760" y="292608"/>
            <a:ext cx="11216640" cy="438912"/>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Two Strictly Separated Knowledge Layers</a:t>
            </a:r>
            <a:endParaRPr b="0" i="0" sz="2800" u="none" cap="none" strike="noStrike">
              <a:solidFill>
                <a:schemeClr val="dk1"/>
              </a:solidFill>
              <a:latin typeface="Calibri"/>
              <a:ea typeface="Calibri"/>
              <a:cs typeface="Calibri"/>
              <a:sym typeface="Calibri"/>
            </a:endParaRPr>
          </a:p>
        </p:txBody>
      </p:sp>
      <p:sp>
        <p:nvSpPr>
          <p:cNvPr id="340" name="Google Shape;340;p19"/>
          <p:cNvSpPr/>
          <p:nvPr/>
        </p:nvSpPr>
        <p:spPr>
          <a:xfrm>
            <a:off x="11582520" y="186952"/>
            <a:ext cx="426600" cy="243900"/>
          </a:xfrm>
          <a:prstGeom prst="rect">
            <a:avLst/>
          </a:prstGeom>
          <a:noFill/>
          <a:ln>
            <a:noFill/>
          </a:ln>
        </p:spPr>
        <p:txBody>
          <a:bodyPr anchorCtr="0" anchor="ctr" bIns="60925" lIns="121900" spcFirstLastPara="1" rIns="121900" wrap="square" tIns="60925">
            <a:noAutofit/>
          </a:bodyPr>
          <a:lstStyle/>
          <a:p>
            <a:pPr indent="0" lvl="0" marL="0" rtl="0" algn="r">
              <a:spcBef>
                <a:spcPts val="0"/>
              </a:spcBef>
              <a:spcAft>
                <a:spcPts val="0"/>
              </a:spcAft>
              <a:buClr>
                <a:schemeClr val="dk1"/>
              </a:buClr>
              <a:buSzPts val="1300"/>
              <a:buFont typeface="Arial"/>
              <a:buNone/>
            </a:pPr>
            <a:r>
              <a:rPr b="1" lang="en-US" sz="1300">
                <a:solidFill>
                  <a:srgbClr val="39FF14"/>
                </a:solidFill>
                <a:latin typeface="Calibri"/>
                <a:ea typeface="Calibri"/>
                <a:cs typeface="Calibri"/>
                <a:sym typeface="Calibri"/>
              </a:rPr>
              <a:t>05</a:t>
            </a:r>
            <a:endParaRPr>
              <a:solidFill>
                <a:schemeClr val="dk1"/>
              </a:solidFill>
            </a:endParaRPr>
          </a:p>
          <a:p>
            <a:pPr indent="0" lvl="0" marL="0" marR="0" rtl="0" algn="r">
              <a:spcBef>
                <a:spcPts val="0"/>
              </a:spcBef>
              <a:spcAft>
                <a:spcPts val="0"/>
              </a:spcAft>
              <a:buClr>
                <a:srgbClr val="444444"/>
              </a:buClr>
              <a:buSzPts val="1100"/>
              <a:buFont typeface="Arial"/>
              <a:buNone/>
            </a:pPr>
            <a:r>
              <a:t/>
            </a:r>
            <a:endParaRPr sz="1100">
              <a:solidFill>
                <a:srgbClr val="444444"/>
              </a:solidFill>
            </a:endParaRPr>
          </a:p>
        </p:txBody>
      </p:sp>
      <p:sp>
        <p:nvSpPr>
          <p:cNvPr id="341" name="Google Shape;341;p19"/>
          <p:cNvSpPr/>
          <p:nvPr/>
        </p:nvSpPr>
        <p:spPr>
          <a:xfrm>
            <a:off x="182880" y="804672"/>
            <a:ext cx="5547360" cy="5632704"/>
          </a:xfrm>
          <a:prstGeom prst="rect">
            <a:avLst/>
          </a:prstGeom>
          <a:solidFill>
            <a:srgbClr val="0D1A0D"/>
          </a:solidFill>
          <a:ln cap="flat" cmpd="sng" w="1905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2" name="Google Shape;342;p19"/>
          <p:cNvSpPr/>
          <p:nvPr/>
        </p:nvSpPr>
        <p:spPr>
          <a:xfrm>
            <a:off x="304800" y="853440"/>
            <a:ext cx="524256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7FFF00"/>
              </a:buClr>
              <a:buSzPts val="1400"/>
              <a:buFont typeface="Arial"/>
              <a:buNone/>
            </a:pPr>
            <a:r>
              <a:rPr b="1" i="0" lang="en-US" sz="1400" u="none" cap="none" strike="noStrike">
                <a:solidFill>
                  <a:srgbClr val="7FFF00"/>
                </a:solidFill>
                <a:latin typeface="Arial"/>
                <a:ea typeface="Arial"/>
                <a:cs typeface="Arial"/>
                <a:sym typeface="Arial"/>
              </a:rPr>
              <a:t>ASG — Attack Surface Graph</a:t>
            </a:r>
            <a:endParaRPr b="0" i="0" sz="1400" u="none" cap="none" strike="noStrike">
              <a:solidFill>
                <a:schemeClr val="dk1"/>
              </a:solidFill>
              <a:latin typeface="Calibri"/>
              <a:ea typeface="Calibri"/>
              <a:cs typeface="Calibri"/>
              <a:sym typeface="Calibri"/>
            </a:endParaRPr>
          </a:p>
        </p:txBody>
      </p:sp>
      <p:sp>
        <p:nvSpPr>
          <p:cNvPr id="343" name="Google Shape;343;p19"/>
          <p:cNvSpPr/>
          <p:nvPr/>
        </p:nvSpPr>
        <p:spPr>
          <a:xfrm>
            <a:off x="304800" y="1097280"/>
            <a:ext cx="5242560" cy="18288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7FFF00"/>
              </a:buClr>
              <a:buSzPts val="900"/>
              <a:buFont typeface="Arial"/>
              <a:buNone/>
            </a:pPr>
            <a:r>
              <a:rPr b="0" i="1" lang="en-US" sz="900" u="none" cap="none" strike="noStrike">
                <a:solidFill>
                  <a:srgbClr val="7FFF00"/>
                </a:solidFill>
                <a:latin typeface="Arial"/>
                <a:ea typeface="Arial"/>
                <a:cs typeface="Arial"/>
                <a:sym typeface="Arial"/>
              </a:rPr>
              <a:t>Discovered Reality  ·  Every node = confirmed by tool  ·  Every edge = confirmed relationship</a:t>
            </a:r>
            <a:endParaRPr b="0" i="0" sz="900" u="none" cap="none" strike="noStrike">
              <a:solidFill>
                <a:schemeClr val="dk1"/>
              </a:solidFill>
              <a:latin typeface="Calibri"/>
              <a:ea typeface="Calibri"/>
              <a:cs typeface="Calibri"/>
              <a:sym typeface="Calibri"/>
            </a:endParaRPr>
          </a:p>
        </p:txBody>
      </p:sp>
      <p:sp>
        <p:nvSpPr>
          <p:cNvPr id="344" name="Google Shape;344;p19"/>
          <p:cNvSpPr/>
          <p:nvPr/>
        </p:nvSpPr>
        <p:spPr>
          <a:xfrm>
            <a:off x="268224" y="1341120"/>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5" name="Google Shape;345;p19"/>
          <p:cNvSpPr/>
          <p:nvPr/>
        </p:nvSpPr>
        <p:spPr>
          <a:xfrm>
            <a:off x="292608" y="1341120"/>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Domain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shopvault.io</a:t>
            </a:r>
            <a:endParaRPr b="0" i="0" sz="800" u="none" cap="none" strike="noStrike">
              <a:solidFill>
                <a:schemeClr val="dk1"/>
              </a:solidFill>
              <a:latin typeface="Calibri"/>
              <a:ea typeface="Calibri"/>
              <a:cs typeface="Calibri"/>
              <a:sym typeface="Calibri"/>
            </a:endParaRPr>
          </a:p>
        </p:txBody>
      </p:sp>
      <p:sp>
        <p:nvSpPr>
          <p:cNvPr id="346" name="Google Shape;346;p19"/>
          <p:cNvSpPr/>
          <p:nvPr/>
        </p:nvSpPr>
        <p:spPr>
          <a:xfrm>
            <a:off x="268224" y="2003145"/>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7" name="Google Shape;347;p19"/>
          <p:cNvSpPr/>
          <p:nvPr/>
        </p:nvSpPr>
        <p:spPr>
          <a:xfrm>
            <a:off x="292608" y="2003145"/>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Host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10.0.0.1</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Ubuntu 22</a:t>
            </a:r>
            <a:endParaRPr b="0" i="0" sz="800" u="none" cap="none" strike="noStrike">
              <a:solidFill>
                <a:schemeClr val="dk1"/>
              </a:solidFill>
              <a:latin typeface="Calibri"/>
              <a:ea typeface="Calibri"/>
              <a:cs typeface="Calibri"/>
              <a:sym typeface="Calibri"/>
            </a:endParaRPr>
          </a:p>
        </p:txBody>
      </p:sp>
      <p:sp>
        <p:nvSpPr>
          <p:cNvPr id="348" name="Google Shape;348;p19"/>
          <p:cNvSpPr/>
          <p:nvPr/>
        </p:nvSpPr>
        <p:spPr>
          <a:xfrm>
            <a:off x="268224" y="2665171"/>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9" name="Google Shape;349;p19"/>
          <p:cNvSpPr/>
          <p:nvPr/>
        </p:nvSpPr>
        <p:spPr>
          <a:xfrm>
            <a:off x="292608" y="2665171"/>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Host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10.0.0.2</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Debian 11</a:t>
            </a:r>
            <a:endParaRPr b="0" i="0" sz="800" u="none" cap="none" strike="noStrike">
              <a:solidFill>
                <a:schemeClr val="dk1"/>
              </a:solidFill>
              <a:latin typeface="Calibri"/>
              <a:ea typeface="Calibri"/>
              <a:cs typeface="Calibri"/>
              <a:sym typeface="Calibri"/>
            </a:endParaRPr>
          </a:p>
        </p:txBody>
      </p:sp>
      <p:sp>
        <p:nvSpPr>
          <p:cNvPr id="350" name="Google Shape;350;p19"/>
          <p:cNvSpPr/>
          <p:nvPr/>
        </p:nvSpPr>
        <p:spPr>
          <a:xfrm>
            <a:off x="268224" y="3327197"/>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1" name="Google Shape;351;p19"/>
          <p:cNvSpPr/>
          <p:nvPr/>
        </p:nvSpPr>
        <p:spPr>
          <a:xfrm>
            <a:off x="292608" y="3327197"/>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Host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api.shopvault</a:t>
            </a:r>
            <a:endParaRPr b="0" i="0" sz="800" u="none" cap="none" strike="noStrike">
              <a:solidFill>
                <a:schemeClr val="dk1"/>
              </a:solidFill>
              <a:latin typeface="Calibri"/>
              <a:ea typeface="Calibri"/>
              <a:cs typeface="Calibri"/>
              <a:sym typeface="Calibri"/>
            </a:endParaRPr>
          </a:p>
        </p:txBody>
      </p:sp>
      <p:sp>
        <p:nvSpPr>
          <p:cNvPr id="352" name="Google Shape;352;p19"/>
          <p:cNvSpPr/>
          <p:nvPr/>
        </p:nvSpPr>
        <p:spPr>
          <a:xfrm>
            <a:off x="1280160" y="1672133"/>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3" name="Google Shape;353;p19"/>
          <p:cNvSpPr/>
          <p:nvPr/>
        </p:nvSpPr>
        <p:spPr>
          <a:xfrm>
            <a:off x="1304544" y="167213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:443</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tcp open</a:t>
            </a:r>
            <a:endParaRPr b="0" i="0" sz="800" u="none" cap="none" strike="noStrike">
              <a:solidFill>
                <a:schemeClr val="dk1"/>
              </a:solidFill>
              <a:latin typeface="Calibri"/>
              <a:ea typeface="Calibri"/>
              <a:cs typeface="Calibri"/>
              <a:sym typeface="Calibri"/>
            </a:endParaRPr>
          </a:p>
        </p:txBody>
      </p:sp>
      <p:sp>
        <p:nvSpPr>
          <p:cNvPr id="354" name="Google Shape;354;p19"/>
          <p:cNvSpPr/>
          <p:nvPr/>
        </p:nvSpPr>
        <p:spPr>
          <a:xfrm>
            <a:off x="1280160" y="2334159"/>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5" name="Google Shape;355;p19"/>
          <p:cNvSpPr/>
          <p:nvPr/>
        </p:nvSpPr>
        <p:spPr>
          <a:xfrm>
            <a:off x="1304544" y="233415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:22</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tcp open</a:t>
            </a:r>
            <a:endParaRPr b="0" i="0" sz="800" u="none" cap="none" strike="noStrike">
              <a:solidFill>
                <a:schemeClr val="dk1"/>
              </a:solidFill>
              <a:latin typeface="Calibri"/>
              <a:ea typeface="Calibri"/>
              <a:cs typeface="Calibri"/>
              <a:sym typeface="Calibri"/>
            </a:endParaRPr>
          </a:p>
        </p:txBody>
      </p:sp>
      <p:sp>
        <p:nvSpPr>
          <p:cNvPr id="356" name="Google Shape;356;p19"/>
          <p:cNvSpPr/>
          <p:nvPr/>
        </p:nvSpPr>
        <p:spPr>
          <a:xfrm>
            <a:off x="1280160" y="2996184"/>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7" name="Google Shape;357;p19"/>
          <p:cNvSpPr/>
          <p:nvPr/>
        </p:nvSpPr>
        <p:spPr>
          <a:xfrm>
            <a:off x="1304544" y="2996184"/>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:8080</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unenc</a:t>
            </a:r>
            <a:endParaRPr b="0" i="0" sz="800" u="none" cap="none" strike="noStrike">
              <a:solidFill>
                <a:schemeClr val="dk1"/>
              </a:solidFill>
              <a:latin typeface="Calibri"/>
              <a:ea typeface="Calibri"/>
              <a:cs typeface="Calibri"/>
              <a:sym typeface="Calibri"/>
            </a:endParaRPr>
          </a:p>
        </p:txBody>
      </p:sp>
      <p:sp>
        <p:nvSpPr>
          <p:cNvPr id="358" name="Google Shape;358;p19"/>
          <p:cNvSpPr/>
          <p:nvPr/>
        </p:nvSpPr>
        <p:spPr>
          <a:xfrm>
            <a:off x="1280160" y="3658209"/>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9" name="Google Shape;359;p19"/>
          <p:cNvSpPr/>
          <p:nvPr/>
        </p:nvSpPr>
        <p:spPr>
          <a:xfrm>
            <a:off x="1304544" y="365820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:80</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tcp open</a:t>
            </a:r>
            <a:endParaRPr b="0" i="0" sz="800" u="none" cap="none" strike="noStrike">
              <a:solidFill>
                <a:schemeClr val="dk1"/>
              </a:solidFill>
              <a:latin typeface="Calibri"/>
              <a:ea typeface="Calibri"/>
              <a:cs typeface="Calibri"/>
              <a:sym typeface="Calibri"/>
            </a:endParaRPr>
          </a:p>
        </p:txBody>
      </p:sp>
      <p:sp>
        <p:nvSpPr>
          <p:cNvPr id="360" name="Google Shape;360;p19"/>
          <p:cNvSpPr/>
          <p:nvPr/>
        </p:nvSpPr>
        <p:spPr>
          <a:xfrm>
            <a:off x="2292096" y="1672133"/>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1" name="Google Shape;361;p19"/>
          <p:cNvSpPr/>
          <p:nvPr/>
        </p:nvSpPr>
        <p:spPr>
          <a:xfrm>
            <a:off x="2316480" y="167213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Service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Nginx 1.18</a:t>
            </a:r>
            <a:endParaRPr b="0" i="0" sz="800" u="none" cap="none" strike="noStrike">
              <a:solidFill>
                <a:schemeClr val="dk1"/>
              </a:solidFill>
              <a:latin typeface="Calibri"/>
              <a:ea typeface="Calibri"/>
              <a:cs typeface="Calibri"/>
              <a:sym typeface="Calibri"/>
            </a:endParaRPr>
          </a:p>
        </p:txBody>
      </p:sp>
      <p:sp>
        <p:nvSpPr>
          <p:cNvPr id="362" name="Google Shape;362;p19"/>
          <p:cNvSpPr/>
          <p:nvPr/>
        </p:nvSpPr>
        <p:spPr>
          <a:xfrm>
            <a:off x="2292096" y="2334159"/>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3" name="Google Shape;363;p19"/>
          <p:cNvSpPr/>
          <p:nvPr/>
        </p:nvSpPr>
        <p:spPr>
          <a:xfrm>
            <a:off x="2316480" y="233415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Service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OpenSSH 8.9</a:t>
            </a:r>
            <a:endParaRPr b="0" i="0" sz="800" u="none" cap="none" strike="noStrike">
              <a:solidFill>
                <a:schemeClr val="dk1"/>
              </a:solidFill>
              <a:latin typeface="Calibri"/>
              <a:ea typeface="Calibri"/>
              <a:cs typeface="Calibri"/>
              <a:sym typeface="Calibri"/>
            </a:endParaRPr>
          </a:p>
        </p:txBody>
      </p:sp>
      <p:sp>
        <p:nvSpPr>
          <p:cNvPr id="364" name="Google Shape;364;p19"/>
          <p:cNvSpPr/>
          <p:nvPr/>
        </p:nvSpPr>
        <p:spPr>
          <a:xfrm>
            <a:off x="2292096" y="2996184"/>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5" name="Google Shape;365;p19"/>
          <p:cNvSpPr/>
          <p:nvPr/>
        </p:nvSpPr>
        <p:spPr>
          <a:xfrm>
            <a:off x="2316480" y="2996184"/>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Service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HTTP plain</a:t>
            </a:r>
            <a:endParaRPr b="0" i="0" sz="800" u="none" cap="none" strike="noStrike">
              <a:solidFill>
                <a:schemeClr val="dk1"/>
              </a:solidFill>
              <a:latin typeface="Calibri"/>
              <a:ea typeface="Calibri"/>
              <a:cs typeface="Calibri"/>
              <a:sym typeface="Calibri"/>
            </a:endParaRPr>
          </a:p>
        </p:txBody>
      </p:sp>
      <p:sp>
        <p:nvSpPr>
          <p:cNvPr id="366" name="Google Shape;366;p19"/>
          <p:cNvSpPr/>
          <p:nvPr/>
        </p:nvSpPr>
        <p:spPr>
          <a:xfrm>
            <a:off x="2292096" y="3658209"/>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7" name="Google Shape;367;p19"/>
          <p:cNvSpPr/>
          <p:nvPr/>
        </p:nvSpPr>
        <p:spPr>
          <a:xfrm>
            <a:off x="2316480" y="365820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Tech</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WordPress 5.9</a:t>
            </a:r>
            <a:endParaRPr b="0" i="0" sz="800" u="none" cap="none" strike="noStrike">
              <a:solidFill>
                <a:schemeClr val="dk1"/>
              </a:solidFill>
              <a:latin typeface="Calibri"/>
              <a:ea typeface="Calibri"/>
              <a:cs typeface="Calibri"/>
              <a:sym typeface="Calibri"/>
            </a:endParaRPr>
          </a:p>
        </p:txBody>
      </p:sp>
      <p:sp>
        <p:nvSpPr>
          <p:cNvPr id="368" name="Google Shape;368;p19"/>
          <p:cNvSpPr/>
          <p:nvPr/>
        </p:nvSpPr>
        <p:spPr>
          <a:xfrm>
            <a:off x="2292096" y="4320235"/>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9" name="Google Shape;369;p19"/>
          <p:cNvSpPr/>
          <p:nvPr/>
        </p:nvSpPr>
        <p:spPr>
          <a:xfrm>
            <a:off x="2316480" y="4320235"/>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Tech</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WooCommerce</a:t>
            </a:r>
            <a:endParaRPr b="0" i="0" sz="800" u="none" cap="none" strike="noStrike">
              <a:solidFill>
                <a:schemeClr val="dk1"/>
              </a:solidFill>
              <a:latin typeface="Calibri"/>
              <a:ea typeface="Calibri"/>
              <a:cs typeface="Calibri"/>
              <a:sym typeface="Calibri"/>
            </a:endParaRPr>
          </a:p>
        </p:txBody>
      </p:sp>
      <p:sp>
        <p:nvSpPr>
          <p:cNvPr id="370" name="Google Shape;370;p19"/>
          <p:cNvSpPr/>
          <p:nvPr/>
        </p:nvSpPr>
        <p:spPr>
          <a:xfrm>
            <a:off x="2292096" y="4982261"/>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1" name="Google Shape;371;p19"/>
          <p:cNvSpPr/>
          <p:nvPr/>
        </p:nvSpPr>
        <p:spPr>
          <a:xfrm>
            <a:off x="2316480" y="4982261"/>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Tech</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Django 4.1</a:t>
            </a:r>
            <a:endParaRPr b="0" i="0" sz="800" u="none" cap="none" strike="noStrike">
              <a:solidFill>
                <a:schemeClr val="dk1"/>
              </a:solidFill>
              <a:latin typeface="Calibri"/>
              <a:ea typeface="Calibri"/>
              <a:cs typeface="Calibri"/>
              <a:sym typeface="Calibri"/>
            </a:endParaRPr>
          </a:p>
        </p:txBody>
      </p:sp>
      <p:sp>
        <p:nvSpPr>
          <p:cNvPr id="372" name="Google Shape;372;p19"/>
          <p:cNvSpPr/>
          <p:nvPr/>
        </p:nvSpPr>
        <p:spPr>
          <a:xfrm>
            <a:off x="3304032" y="1341120"/>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3" name="Google Shape;373;p19"/>
          <p:cNvSpPr/>
          <p:nvPr/>
        </p:nvSpPr>
        <p:spPr>
          <a:xfrm>
            <a:off x="3328416" y="1341120"/>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Endpoint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/wp-admin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HIGH</a:t>
            </a:r>
            <a:endParaRPr b="0" i="0" sz="800" u="none" cap="none" strike="noStrike">
              <a:solidFill>
                <a:schemeClr val="dk1"/>
              </a:solidFill>
              <a:latin typeface="Calibri"/>
              <a:ea typeface="Calibri"/>
              <a:cs typeface="Calibri"/>
              <a:sym typeface="Calibri"/>
            </a:endParaRPr>
          </a:p>
        </p:txBody>
      </p:sp>
      <p:sp>
        <p:nvSpPr>
          <p:cNvPr id="374" name="Google Shape;374;p19"/>
          <p:cNvSpPr/>
          <p:nvPr/>
        </p:nvSpPr>
        <p:spPr>
          <a:xfrm>
            <a:off x="3304032" y="2003145"/>
            <a:ext cx="877824" cy="414528"/>
          </a:xfrm>
          <a:prstGeom prst="rect">
            <a:avLst/>
          </a:prstGeom>
          <a:solidFill>
            <a:srgbClr val="1A0404"/>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5" name="Google Shape;375;p19"/>
          <p:cNvSpPr/>
          <p:nvPr/>
        </p:nvSpPr>
        <p:spPr>
          <a:xfrm>
            <a:off x="3328416" y="2003145"/>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/backup/</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db_export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CRITICAL</a:t>
            </a:r>
            <a:endParaRPr b="0" i="0" sz="800" u="none" cap="none" strike="noStrike">
              <a:solidFill>
                <a:schemeClr val="dk1"/>
              </a:solidFill>
              <a:latin typeface="Calibri"/>
              <a:ea typeface="Calibri"/>
              <a:cs typeface="Calibri"/>
              <a:sym typeface="Calibri"/>
            </a:endParaRPr>
          </a:p>
        </p:txBody>
      </p:sp>
      <p:sp>
        <p:nvSpPr>
          <p:cNvPr id="376" name="Google Shape;376;p19"/>
          <p:cNvSpPr/>
          <p:nvPr/>
        </p:nvSpPr>
        <p:spPr>
          <a:xfrm>
            <a:off x="3304032" y="2665171"/>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7" name="Google Shape;377;p19"/>
          <p:cNvSpPr/>
          <p:nvPr/>
        </p:nvSpPr>
        <p:spPr>
          <a:xfrm>
            <a:off x="3328416" y="2665171"/>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Endpoint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/api/orders</a:t>
            </a:r>
            <a:endParaRPr b="0" i="0" sz="800" u="none" cap="none" strike="noStrike">
              <a:solidFill>
                <a:schemeClr val="dk1"/>
              </a:solidFill>
              <a:latin typeface="Calibri"/>
              <a:ea typeface="Calibri"/>
              <a:cs typeface="Calibri"/>
              <a:sym typeface="Calibri"/>
            </a:endParaRPr>
          </a:p>
        </p:txBody>
      </p:sp>
      <p:sp>
        <p:nvSpPr>
          <p:cNvPr id="378" name="Google Shape;378;p19"/>
          <p:cNvSpPr/>
          <p:nvPr/>
        </p:nvSpPr>
        <p:spPr>
          <a:xfrm>
            <a:off x="3304032" y="3327197"/>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9" name="Google Shape;379;p19"/>
          <p:cNvSpPr/>
          <p:nvPr/>
        </p:nvSpPr>
        <p:spPr>
          <a:xfrm>
            <a:off x="3328416" y="3327197"/>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Endpoint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/api/users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undocumented</a:t>
            </a:r>
            <a:endParaRPr b="0" i="0" sz="800" u="none" cap="none" strike="noStrike">
              <a:solidFill>
                <a:schemeClr val="dk1"/>
              </a:solidFill>
              <a:latin typeface="Calibri"/>
              <a:ea typeface="Calibri"/>
              <a:cs typeface="Calibri"/>
              <a:sym typeface="Calibri"/>
            </a:endParaRPr>
          </a:p>
        </p:txBody>
      </p:sp>
      <p:sp>
        <p:nvSpPr>
          <p:cNvPr id="380" name="Google Shape;380;p19"/>
          <p:cNvSpPr/>
          <p:nvPr/>
        </p:nvSpPr>
        <p:spPr>
          <a:xfrm>
            <a:off x="3304032" y="3989223"/>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1" name="Google Shape;381;p19"/>
          <p:cNvSpPr/>
          <p:nvPr/>
        </p:nvSpPr>
        <p:spPr>
          <a:xfrm>
            <a:off x="3328416" y="398922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Param</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user_id=?</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injectable</a:t>
            </a:r>
            <a:endParaRPr b="0" i="0" sz="800" u="none" cap="none" strike="noStrike">
              <a:solidFill>
                <a:schemeClr val="dk1"/>
              </a:solidFill>
              <a:latin typeface="Calibri"/>
              <a:ea typeface="Calibri"/>
              <a:cs typeface="Calibri"/>
              <a:sym typeface="Calibri"/>
            </a:endParaRPr>
          </a:p>
        </p:txBody>
      </p:sp>
      <p:sp>
        <p:nvSpPr>
          <p:cNvPr id="382" name="Google Shape;382;p19"/>
          <p:cNvSpPr/>
          <p:nvPr/>
        </p:nvSpPr>
        <p:spPr>
          <a:xfrm>
            <a:off x="3304032" y="4651248"/>
            <a:ext cx="877824" cy="414528"/>
          </a:xfrm>
          <a:prstGeom prst="rect">
            <a:avLst/>
          </a:prstGeom>
          <a:solidFill>
            <a:srgbClr val="1A0404"/>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3" name="Google Shape;383;p19"/>
          <p:cNvSpPr/>
          <p:nvPr/>
        </p:nvSpPr>
        <p:spPr>
          <a:xfrm>
            <a:off x="3328416" y="4651248"/>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CVE-2022-21661</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SQLi CVSS 8.8</a:t>
            </a:r>
            <a:endParaRPr b="0" i="0" sz="800" u="none" cap="none" strike="noStrike">
              <a:solidFill>
                <a:schemeClr val="dk1"/>
              </a:solidFill>
              <a:latin typeface="Calibri"/>
              <a:ea typeface="Calibri"/>
              <a:cs typeface="Calibri"/>
              <a:sym typeface="Calibri"/>
            </a:endParaRPr>
          </a:p>
        </p:txBody>
      </p:sp>
      <p:sp>
        <p:nvSpPr>
          <p:cNvPr id="384" name="Google Shape;384;p19"/>
          <p:cNvSpPr/>
          <p:nvPr/>
        </p:nvSpPr>
        <p:spPr>
          <a:xfrm>
            <a:off x="3304032" y="5313273"/>
            <a:ext cx="877824" cy="414528"/>
          </a:xfrm>
          <a:prstGeom prst="rect">
            <a:avLst/>
          </a:prstGeom>
          <a:solidFill>
            <a:srgbClr val="1A0404"/>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5" name="Google Shape;385;p19"/>
          <p:cNvSpPr/>
          <p:nvPr/>
        </p:nvSpPr>
        <p:spPr>
          <a:xfrm>
            <a:off x="3328416" y="531327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IDOR /orders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Severity:HIGH</a:t>
            </a:r>
            <a:endParaRPr b="0" i="0" sz="800" u="none" cap="none" strike="noStrike">
              <a:solidFill>
                <a:schemeClr val="dk1"/>
              </a:solidFill>
              <a:latin typeface="Calibri"/>
              <a:ea typeface="Calibri"/>
              <a:cs typeface="Calibri"/>
              <a:sym typeface="Calibri"/>
            </a:endParaRPr>
          </a:p>
        </p:txBody>
      </p:sp>
      <p:sp>
        <p:nvSpPr>
          <p:cNvPr id="386" name="Google Shape;386;p19"/>
          <p:cNvSpPr/>
          <p:nvPr/>
        </p:nvSpPr>
        <p:spPr>
          <a:xfrm>
            <a:off x="4315968" y="4651248"/>
            <a:ext cx="877824" cy="414528"/>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7" name="Google Shape;387;p19"/>
          <p:cNvSpPr/>
          <p:nvPr/>
        </p:nvSpPr>
        <p:spPr>
          <a:xfrm>
            <a:off x="4340352" y="4651248"/>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sqli-extract.txt</a:t>
            </a:r>
            <a:endParaRPr b="0" i="0" sz="800" u="none" cap="none" strike="noStrike">
              <a:solidFill>
                <a:schemeClr val="dk1"/>
              </a:solidFill>
              <a:latin typeface="Calibri"/>
              <a:ea typeface="Calibri"/>
              <a:cs typeface="Calibri"/>
              <a:sym typeface="Calibri"/>
            </a:endParaRPr>
          </a:p>
        </p:txBody>
      </p:sp>
      <p:sp>
        <p:nvSpPr>
          <p:cNvPr id="388" name="Google Shape;388;p19"/>
          <p:cNvSpPr/>
          <p:nvPr/>
        </p:nvSpPr>
        <p:spPr>
          <a:xfrm>
            <a:off x="4315968" y="5313273"/>
            <a:ext cx="877824" cy="414528"/>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9" name="Google Shape;389;p19"/>
          <p:cNvSpPr/>
          <p:nvPr/>
        </p:nvSpPr>
        <p:spPr>
          <a:xfrm>
            <a:off x="4340352" y="531327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admin-panel.png</a:t>
            </a:r>
            <a:endParaRPr b="0" i="0" sz="800" u="none" cap="none" strike="noStrike">
              <a:solidFill>
                <a:schemeClr val="dk1"/>
              </a:solidFill>
              <a:latin typeface="Calibri"/>
              <a:ea typeface="Calibri"/>
              <a:cs typeface="Calibri"/>
              <a:sym typeface="Calibri"/>
            </a:endParaRPr>
          </a:p>
        </p:txBody>
      </p:sp>
      <p:sp>
        <p:nvSpPr>
          <p:cNvPr id="390" name="Google Shape;390;p19"/>
          <p:cNvSpPr/>
          <p:nvPr/>
        </p:nvSpPr>
        <p:spPr>
          <a:xfrm>
            <a:off x="4315968" y="5754624"/>
            <a:ext cx="877824" cy="414528"/>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1" name="Google Shape;391;p19"/>
          <p:cNvSpPr/>
          <p:nvPr/>
        </p:nvSpPr>
        <p:spPr>
          <a:xfrm>
            <a:off x="4340352" y="5754624"/>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webshell-rce.png</a:t>
            </a:r>
            <a:endParaRPr b="0" i="0" sz="800" u="none" cap="none" strike="noStrike">
              <a:solidFill>
                <a:schemeClr val="dk1"/>
              </a:solidFill>
              <a:latin typeface="Calibri"/>
              <a:ea typeface="Calibri"/>
              <a:cs typeface="Calibri"/>
              <a:sym typeface="Calibri"/>
            </a:endParaRPr>
          </a:p>
        </p:txBody>
      </p:sp>
      <p:cxnSp>
        <p:nvCxnSpPr>
          <p:cNvPr id="392" name="Google Shape;392;p19"/>
          <p:cNvCxnSpPr/>
          <p:nvPr/>
        </p:nvCxnSpPr>
        <p:spPr>
          <a:xfrm>
            <a:off x="1146048" y="1548384"/>
            <a:ext cx="134112" cy="331013"/>
          </a:xfrm>
          <a:prstGeom prst="straightConnector1">
            <a:avLst/>
          </a:prstGeom>
          <a:noFill/>
          <a:ln cap="flat" cmpd="sng" w="9525">
            <a:solidFill>
              <a:srgbClr val="7FFF00"/>
            </a:solidFill>
            <a:prstDash val="solid"/>
            <a:round/>
            <a:headEnd len="sm" w="sm" type="none"/>
            <a:tailEnd len="med" w="med" type="stealth"/>
          </a:ln>
        </p:spPr>
      </p:cxnSp>
      <p:sp>
        <p:nvSpPr>
          <p:cNvPr id="393" name="Google Shape;393;p19"/>
          <p:cNvSpPr/>
          <p:nvPr/>
        </p:nvSpPr>
        <p:spPr>
          <a:xfrm>
            <a:off x="969264" y="1604163"/>
            <a:ext cx="487680" cy="15849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77777"/>
              </a:buClr>
              <a:buSzPts val="600"/>
              <a:buFont typeface="Arial"/>
              <a:buNone/>
            </a:pPr>
            <a:r>
              <a:rPr b="0" i="0" lang="en-US" sz="600" u="none" cap="none" strike="noStrike">
                <a:solidFill>
                  <a:srgbClr val="777777"/>
                </a:solidFill>
                <a:latin typeface="Arial"/>
                <a:ea typeface="Arial"/>
                <a:cs typeface="Arial"/>
                <a:sym typeface="Arial"/>
              </a:rPr>
              <a:t>has_host</a:t>
            </a:r>
            <a:endParaRPr b="0" i="0" sz="600" u="none" cap="none" strike="noStrike">
              <a:solidFill>
                <a:schemeClr val="dk1"/>
              </a:solidFill>
              <a:latin typeface="Calibri"/>
              <a:ea typeface="Calibri"/>
              <a:cs typeface="Calibri"/>
              <a:sym typeface="Calibri"/>
            </a:endParaRPr>
          </a:p>
        </p:txBody>
      </p:sp>
      <p:cxnSp>
        <p:nvCxnSpPr>
          <p:cNvPr id="394" name="Google Shape;394;p19"/>
          <p:cNvCxnSpPr/>
          <p:nvPr/>
        </p:nvCxnSpPr>
        <p:spPr>
          <a:xfrm>
            <a:off x="1146048" y="2210409"/>
            <a:ext cx="134112" cy="331013"/>
          </a:xfrm>
          <a:prstGeom prst="straightConnector1">
            <a:avLst/>
          </a:prstGeom>
          <a:noFill/>
          <a:ln cap="flat" cmpd="sng" w="9525">
            <a:solidFill>
              <a:srgbClr val="7FFF00"/>
            </a:solidFill>
            <a:prstDash val="solid"/>
            <a:round/>
            <a:headEnd len="sm" w="sm" type="none"/>
            <a:tailEnd len="med" w="med" type="stealth"/>
          </a:ln>
        </p:spPr>
      </p:cxnSp>
      <p:cxnSp>
        <p:nvCxnSpPr>
          <p:cNvPr id="395" name="Google Shape;395;p19"/>
          <p:cNvCxnSpPr/>
          <p:nvPr/>
        </p:nvCxnSpPr>
        <p:spPr>
          <a:xfrm>
            <a:off x="1146048" y="2872435"/>
            <a:ext cx="134112" cy="331013"/>
          </a:xfrm>
          <a:prstGeom prst="straightConnector1">
            <a:avLst/>
          </a:prstGeom>
          <a:noFill/>
          <a:ln cap="flat" cmpd="sng" w="9525">
            <a:solidFill>
              <a:srgbClr val="7FFF00"/>
            </a:solidFill>
            <a:prstDash val="solid"/>
            <a:round/>
            <a:headEnd len="sm" w="sm" type="none"/>
            <a:tailEnd len="med" w="med" type="stealth"/>
          </a:ln>
        </p:spPr>
      </p:cxnSp>
      <p:cxnSp>
        <p:nvCxnSpPr>
          <p:cNvPr id="396" name="Google Shape;396;p19"/>
          <p:cNvCxnSpPr/>
          <p:nvPr/>
        </p:nvCxnSpPr>
        <p:spPr>
          <a:xfrm>
            <a:off x="1146048" y="3534461"/>
            <a:ext cx="134112" cy="331013"/>
          </a:xfrm>
          <a:prstGeom prst="straightConnector1">
            <a:avLst/>
          </a:prstGeom>
          <a:noFill/>
          <a:ln cap="flat" cmpd="sng" w="9525">
            <a:solidFill>
              <a:srgbClr val="7FFF00"/>
            </a:solidFill>
            <a:prstDash val="solid"/>
            <a:round/>
            <a:headEnd len="sm" w="sm" type="none"/>
            <a:tailEnd len="med" w="med" type="stealth"/>
          </a:ln>
        </p:spPr>
      </p:cxnSp>
      <p:cxnSp>
        <p:nvCxnSpPr>
          <p:cNvPr id="397" name="Google Shape;397;p19"/>
          <p:cNvCxnSpPr/>
          <p:nvPr/>
        </p:nvCxnSpPr>
        <p:spPr>
          <a:xfrm>
            <a:off x="2157984" y="1879397"/>
            <a:ext cx="134112" cy="12192"/>
          </a:xfrm>
          <a:prstGeom prst="straightConnector1">
            <a:avLst/>
          </a:prstGeom>
          <a:noFill/>
          <a:ln cap="flat" cmpd="sng" w="9525">
            <a:solidFill>
              <a:srgbClr val="7FFF00"/>
            </a:solidFill>
            <a:prstDash val="solid"/>
            <a:round/>
            <a:headEnd len="sm" w="sm" type="none"/>
            <a:tailEnd len="med" w="med" type="stealth"/>
          </a:ln>
        </p:spPr>
      </p:cxnSp>
      <p:sp>
        <p:nvSpPr>
          <p:cNvPr id="398" name="Google Shape;398;p19"/>
          <p:cNvSpPr/>
          <p:nvPr/>
        </p:nvSpPr>
        <p:spPr>
          <a:xfrm>
            <a:off x="1981200" y="1769669"/>
            <a:ext cx="487680" cy="15849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77777"/>
              </a:buClr>
              <a:buSzPts val="600"/>
              <a:buFont typeface="Arial"/>
              <a:buNone/>
            </a:pPr>
            <a:r>
              <a:rPr b="0" i="0" lang="en-US" sz="600" u="none" cap="none" strike="noStrike">
                <a:solidFill>
                  <a:srgbClr val="777777"/>
                </a:solidFill>
                <a:latin typeface="Arial"/>
                <a:ea typeface="Arial"/>
                <a:cs typeface="Arial"/>
                <a:sym typeface="Arial"/>
              </a:rPr>
              <a:t>runs</a:t>
            </a:r>
            <a:endParaRPr b="0" i="0" sz="600" u="none" cap="none" strike="noStrike">
              <a:solidFill>
                <a:schemeClr val="dk1"/>
              </a:solidFill>
              <a:latin typeface="Calibri"/>
              <a:ea typeface="Calibri"/>
              <a:cs typeface="Calibri"/>
              <a:sym typeface="Calibri"/>
            </a:endParaRPr>
          </a:p>
        </p:txBody>
      </p:sp>
      <p:cxnSp>
        <p:nvCxnSpPr>
          <p:cNvPr id="399" name="Google Shape;399;p19"/>
          <p:cNvCxnSpPr/>
          <p:nvPr/>
        </p:nvCxnSpPr>
        <p:spPr>
          <a:xfrm>
            <a:off x="2157984" y="2541423"/>
            <a:ext cx="134112" cy="12192"/>
          </a:xfrm>
          <a:prstGeom prst="straightConnector1">
            <a:avLst/>
          </a:prstGeom>
          <a:noFill/>
          <a:ln cap="flat" cmpd="sng" w="9525">
            <a:solidFill>
              <a:srgbClr val="7FFF00"/>
            </a:solidFill>
            <a:prstDash val="solid"/>
            <a:round/>
            <a:headEnd len="sm" w="sm" type="none"/>
            <a:tailEnd len="med" w="med" type="stealth"/>
          </a:ln>
        </p:spPr>
      </p:cxnSp>
      <p:cxnSp>
        <p:nvCxnSpPr>
          <p:cNvPr id="400" name="Google Shape;400;p19"/>
          <p:cNvCxnSpPr/>
          <p:nvPr/>
        </p:nvCxnSpPr>
        <p:spPr>
          <a:xfrm>
            <a:off x="2157984" y="3203448"/>
            <a:ext cx="134112" cy="12192"/>
          </a:xfrm>
          <a:prstGeom prst="straightConnector1">
            <a:avLst/>
          </a:prstGeom>
          <a:noFill/>
          <a:ln cap="flat" cmpd="sng" w="9525">
            <a:solidFill>
              <a:srgbClr val="7FFF00"/>
            </a:solidFill>
            <a:prstDash val="solid"/>
            <a:round/>
            <a:headEnd len="sm" w="sm" type="none"/>
            <a:tailEnd len="med" w="med" type="stealth"/>
          </a:ln>
        </p:spPr>
      </p:cxnSp>
      <p:cxnSp>
        <p:nvCxnSpPr>
          <p:cNvPr id="401" name="Google Shape;401;p19"/>
          <p:cNvCxnSpPr/>
          <p:nvPr/>
        </p:nvCxnSpPr>
        <p:spPr>
          <a:xfrm>
            <a:off x="2157984" y="3865473"/>
            <a:ext cx="134112" cy="12192"/>
          </a:xfrm>
          <a:prstGeom prst="straightConnector1">
            <a:avLst/>
          </a:prstGeom>
          <a:noFill/>
          <a:ln cap="flat" cmpd="sng" w="9525">
            <a:solidFill>
              <a:srgbClr val="00D4FF"/>
            </a:solidFill>
            <a:prstDash val="solid"/>
            <a:round/>
            <a:headEnd len="sm" w="sm" type="none"/>
            <a:tailEnd len="med" w="med" type="stealth"/>
          </a:ln>
        </p:spPr>
      </p:cxnSp>
      <p:sp>
        <p:nvSpPr>
          <p:cNvPr id="402" name="Google Shape;402;p19"/>
          <p:cNvSpPr/>
          <p:nvPr/>
        </p:nvSpPr>
        <p:spPr>
          <a:xfrm>
            <a:off x="1981200" y="3755745"/>
            <a:ext cx="487680" cy="15849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77777"/>
              </a:buClr>
              <a:buSzPts val="600"/>
              <a:buFont typeface="Arial"/>
              <a:buNone/>
            </a:pPr>
            <a:r>
              <a:rPr b="0" i="0" lang="en-US" sz="600" u="none" cap="none" strike="noStrike">
                <a:solidFill>
                  <a:srgbClr val="777777"/>
                </a:solidFill>
                <a:latin typeface="Arial"/>
                <a:ea typeface="Arial"/>
                <a:cs typeface="Arial"/>
                <a:sym typeface="Arial"/>
              </a:rPr>
              <a:t>uses</a:t>
            </a:r>
            <a:endParaRPr b="0" i="0" sz="600" u="none" cap="none" strike="noStrike">
              <a:solidFill>
                <a:schemeClr val="dk1"/>
              </a:solidFill>
              <a:latin typeface="Calibri"/>
              <a:ea typeface="Calibri"/>
              <a:cs typeface="Calibri"/>
              <a:sym typeface="Calibri"/>
            </a:endParaRPr>
          </a:p>
        </p:txBody>
      </p:sp>
      <p:cxnSp>
        <p:nvCxnSpPr>
          <p:cNvPr id="403" name="Google Shape;403;p19"/>
          <p:cNvCxnSpPr/>
          <p:nvPr/>
        </p:nvCxnSpPr>
        <p:spPr>
          <a:xfrm>
            <a:off x="3169920" y="1548384"/>
            <a:ext cx="134112" cy="331013"/>
          </a:xfrm>
          <a:prstGeom prst="straightConnector1">
            <a:avLst/>
          </a:prstGeom>
          <a:noFill/>
          <a:ln cap="flat" cmpd="sng" w="9525">
            <a:solidFill>
              <a:srgbClr val="00D4FF"/>
            </a:solidFill>
            <a:prstDash val="solid"/>
            <a:round/>
            <a:headEnd len="sm" w="sm" type="none"/>
            <a:tailEnd len="med" w="med" type="stealth"/>
          </a:ln>
        </p:spPr>
      </p:cxnSp>
      <p:sp>
        <p:nvSpPr>
          <p:cNvPr id="404" name="Google Shape;404;p19"/>
          <p:cNvSpPr/>
          <p:nvPr/>
        </p:nvSpPr>
        <p:spPr>
          <a:xfrm>
            <a:off x="2993136" y="1604163"/>
            <a:ext cx="487680" cy="15849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77777"/>
              </a:buClr>
              <a:buSzPts val="600"/>
              <a:buFont typeface="Arial"/>
              <a:buNone/>
            </a:pPr>
            <a:r>
              <a:rPr b="0" i="0" lang="en-US" sz="600" u="none" cap="none" strike="noStrike">
                <a:solidFill>
                  <a:srgbClr val="777777"/>
                </a:solidFill>
                <a:latin typeface="Arial"/>
                <a:ea typeface="Arial"/>
                <a:cs typeface="Arial"/>
                <a:sym typeface="Arial"/>
              </a:rPr>
              <a:t>has_ep</a:t>
            </a:r>
            <a:endParaRPr b="0" i="0" sz="600" u="none" cap="none" strike="noStrike">
              <a:solidFill>
                <a:schemeClr val="dk1"/>
              </a:solidFill>
              <a:latin typeface="Calibri"/>
              <a:ea typeface="Calibri"/>
              <a:cs typeface="Calibri"/>
              <a:sym typeface="Calibri"/>
            </a:endParaRPr>
          </a:p>
        </p:txBody>
      </p:sp>
      <p:cxnSp>
        <p:nvCxnSpPr>
          <p:cNvPr id="405" name="Google Shape;405;p19"/>
          <p:cNvCxnSpPr/>
          <p:nvPr/>
        </p:nvCxnSpPr>
        <p:spPr>
          <a:xfrm>
            <a:off x="3169920" y="1879397"/>
            <a:ext cx="134112" cy="331013"/>
          </a:xfrm>
          <a:prstGeom prst="straightConnector1">
            <a:avLst/>
          </a:prstGeom>
          <a:noFill/>
          <a:ln cap="flat" cmpd="sng" w="9525">
            <a:solidFill>
              <a:srgbClr val="FF5252"/>
            </a:solidFill>
            <a:prstDash val="solid"/>
            <a:round/>
            <a:headEnd len="sm" w="sm" type="none"/>
            <a:tailEnd len="med" w="med" type="stealth"/>
          </a:ln>
        </p:spPr>
      </p:cxnSp>
      <p:cxnSp>
        <p:nvCxnSpPr>
          <p:cNvPr id="406" name="Google Shape;406;p19"/>
          <p:cNvCxnSpPr/>
          <p:nvPr/>
        </p:nvCxnSpPr>
        <p:spPr>
          <a:xfrm>
            <a:off x="3169920" y="3865473"/>
            <a:ext cx="134112" cy="993039"/>
          </a:xfrm>
          <a:prstGeom prst="straightConnector1">
            <a:avLst/>
          </a:prstGeom>
          <a:noFill/>
          <a:ln cap="flat" cmpd="sng" w="9525">
            <a:solidFill>
              <a:srgbClr val="FF5252"/>
            </a:solidFill>
            <a:prstDash val="solid"/>
            <a:round/>
            <a:headEnd len="sm" w="sm" type="none"/>
            <a:tailEnd len="med" w="med" type="stealth"/>
          </a:ln>
        </p:spPr>
      </p:cxnSp>
      <p:sp>
        <p:nvSpPr>
          <p:cNvPr id="407" name="Google Shape;407;p19"/>
          <p:cNvSpPr/>
          <p:nvPr/>
        </p:nvSpPr>
        <p:spPr>
          <a:xfrm>
            <a:off x="2993136" y="4252265"/>
            <a:ext cx="487680" cy="15849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77777"/>
              </a:buClr>
              <a:buSzPts val="600"/>
              <a:buFont typeface="Arial"/>
              <a:buNone/>
            </a:pPr>
            <a:r>
              <a:rPr b="0" i="0" lang="en-US" sz="600" u="none" cap="none" strike="noStrike">
                <a:solidFill>
                  <a:srgbClr val="777777"/>
                </a:solidFill>
                <a:latin typeface="Arial"/>
                <a:ea typeface="Arial"/>
                <a:cs typeface="Arial"/>
                <a:sym typeface="Arial"/>
              </a:rPr>
              <a:t>affected_by</a:t>
            </a:r>
            <a:endParaRPr b="0" i="0" sz="600" u="none" cap="none" strike="noStrike">
              <a:solidFill>
                <a:schemeClr val="dk1"/>
              </a:solidFill>
              <a:latin typeface="Calibri"/>
              <a:ea typeface="Calibri"/>
              <a:cs typeface="Calibri"/>
              <a:sym typeface="Calibri"/>
            </a:endParaRPr>
          </a:p>
        </p:txBody>
      </p:sp>
      <p:cxnSp>
        <p:nvCxnSpPr>
          <p:cNvPr id="408" name="Google Shape;408;p19"/>
          <p:cNvCxnSpPr/>
          <p:nvPr/>
        </p:nvCxnSpPr>
        <p:spPr>
          <a:xfrm>
            <a:off x="4181856" y="2872435"/>
            <a:ext cx="24384" cy="1324051"/>
          </a:xfrm>
          <a:prstGeom prst="straightConnector1">
            <a:avLst/>
          </a:prstGeom>
          <a:noFill/>
          <a:ln cap="flat" cmpd="sng" w="9525">
            <a:solidFill>
              <a:srgbClr val="00D4FF"/>
            </a:solidFill>
            <a:prstDash val="solid"/>
            <a:round/>
            <a:headEnd len="sm" w="sm" type="none"/>
            <a:tailEnd len="med" w="med" type="stealth"/>
          </a:ln>
        </p:spPr>
      </p:cxnSp>
      <p:sp>
        <p:nvSpPr>
          <p:cNvPr id="409" name="Google Shape;409;p19"/>
          <p:cNvSpPr/>
          <p:nvPr/>
        </p:nvSpPr>
        <p:spPr>
          <a:xfrm>
            <a:off x="3950208" y="3424733"/>
            <a:ext cx="487680" cy="15849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77777"/>
              </a:buClr>
              <a:buSzPts val="600"/>
              <a:buFont typeface="Arial"/>
              <a:buNone/>
            </a:pPr>
            <a:r>
              <a:rPr b="0" i="0" lang="en-US" sz="600" u="none" cap="none" strike="noStrike">
                <a:solidFill>
                  <a:srgbClr val="777777"/>
                </a:solidFill>
                <a:latin typeface="Arial"/>
                <a:ea typeface="Arial"/>
                <a:cs typeface="Arial"/>
                <a:sym typeface="Arial"/>
              </a:rPr>
              <a:t>has_param</a:t>
            </a:r>
            <a:endParaRPr b="0" i="0" sz="600" u="none" cap="none" strike="noStrike">
              <a:solidFill>
                <a:schemeClr val="dk1"/>
              </a:solidFill>
              <a:latin typeface="Calibri"/>
              <a:ea typeface="Calibri"/>
              <a:cs typeface="Calibri"/>
              <a:sym typeface="Calibri"/>
            </a:endParaRPr>
          </a:p>
        </p:txBody>
      </p:sp>
      <p:cxnSp>
        <p:nvCxnSpPr>
          <p:cNvPr id="410" name="Google Shape;410;p19"/>
          <p:cNvCxnSpPr/>
          <p:nvPr/>
        </p:nvCxnSpPr>
        <p:spPr>
          <a:xfrm>
            <a:off x="4181856" y="4196487"/>
            <a:ext cx="24384" cy="1324051"/>
          </a:xfrm>
          <a:prstGeom prst="straightConnector1">
            <a:avLst/>
          </a:prstGeom>
          <a:noFill/>
          <a:ln cap="flat" cmpd="sng" w="9525">
            <a:solidFill>
              <a:srgbClr val="FF5252"/>
            </a:solidFill>
            <a:prstDash val="solid"/>
            <a:round/>
            <a:headEnd len="sm" w="sm" type="none"/>
            <a:tailEnd len="med" w="med" type="stealth"/>
          </a:ln>
        </p:spPr>
      </p:cxnSp>
      <p:sp>
        <p:nvSpPr>
          <p:cNvPr id="411" name="Google Shape;411;p19"/>
          <p:cNvSpPr/>
          <p:nvPr/>
        </p:nvSpPr>
        <p:spPr>
          <a:xfrm>
            <a:off x="3950208" y="4748784"/>
            <a:ext cx="487680" cy="15849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77777"/>
              </a:buClr>
              <a:buSzPts val="600"/>
              <a:buFont typeface="Arial"/>
              <a:buNone/>
            </a:pPr>
            <a:r>
              <a:rPr b="0" i="0" lang="en-US" sz="600" u="none" cap="none" strike="noStrike">
                <a:solidFill>
                  <a:srgbClr val="777777"/>
                </a:solidFill>
                <a:latin typeface="Arial"/>
                <a:ea typeface="Arial"/>
                <a:cs typeface="Arial"/>
                <a:sym typeface="Arial"/>
              </a:rPr>
              <a:t>affected_by</a:t>
            </a:r>
            <a:endParaRPr b="0" i="0" sz="600" u="none" cap="none" strike="noStrike">
              <a:solidFill>
                <a:schemeClr val="dk1"/>
              </a:solidFill>
              <a:latin typeface="Calibri"/>
              <a:ea typeface="Calibri"/>
              <a:cs typeface="Calibri"/>
              <a:sym typeface="Calibri"/>
            </a:endParaRPr>
          </a:p>
        </p:txBody>
      </p:sp>
      <p:cxnSp>
        <p:nvCxnSpPr>
          <p:cNvPr id="412" name="Google Shape;412;p19"/>
          <p:cNvCxnSpPr/>
          <p:nvPr/>
        </p:nvCxnSpPr>
        <p:spPr>
          <a:xfrm>
            <a:off x="4181856" y="4858512"/>
            <a:ext cx="134112" cy="12192"/>
          </a:xfrm>
          <a:prstGeom prst="straightConnector1">
            <a:avLst/>
          </a:prstGeom>
          <a:noFill/>
          <a:ln cap="flat" cmpd="sng" w="9525">
            <a:solidFill>
              <a:srgbClr val="9C27B0"/>
            </a:solidFill>
            <a:prstDash val="solid"/>
            <a:round/>
            <a:headEnd len="sm" w="sm" type="none"/>
            <a:tailEnd len="med" w="med" type="stealth"/>
          </a:ln>
        </p:spPr>
      </p:cxnSp>
      <p:sp>
        <p:nvSpPr>
          <p:cNvPr id="413" name="Google Shape;413;p19"/>
          <p:cNvSpPr/>
          <p:nvPr/>
        </p:nvSpPr>
        <p:spPr>
          <a:xfrm>
            <a:off x="4005072" y="4748784"/>
            <a:ext cx="487680" cy="15849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77777"/>
              </a:buClr>
              <a:buSzPts val="600"/>
              <a:buFont typeface="Arial"/>
              <a:buNone/>
            </a:pPr>
            <a:r>
              <a:rPr b="0" i="0" lang="en-US" sz="600" u="none" cap="none" strike="noStrike">
                <a:solidFill>
                  <a:srgbClr val="777777"/>
                </a:solidFill>
                <a:latin typeface="Arial"/>
                <a:ea typeface="Arial"/>
                <a:cs typeface="Arial"/>
                <a:sym typeface="Arial"/>
              </a:rPr>
              <a:t>validated_by</a:t>
            </a:r>
            <a:endParaRPr b="0" i="0" sz="600" u="none" cap="none" strike="noStrike">
              <a:solidFill>
                <a:schemeClr val="dk1"/>
              </a:solidFill>
              <a:latin typeface="Calibri"/>
              <a:ea typeface="Calibri"/>
              <a:cs typeface="Calibri"/>
              <a:sym typeface="Calibri"/>
            </a:endParaRPr>
          </a:p>
        </p:txBody>
      </p:sp>
      <p:cxnSp>
        <p:nvCxnSpPr>
          <p:cNvPr id="414" name="Google Shape;414;p19"/>
          <p:cNvCxnSpPr/>
          <p:nvPr/>
        </p:nvCxnSpPr>
        <p:spPr>
          <a:xfrm>
            <a:off x="4181856" y="4858512"/>
            <a:ext cx="134112" cy="662025"/>
          </a:xfrm>
          <a:prstGeom prst="straightConnector1">
            <a:avLst/>
          </a:prstGeom>
          <a:noFill/>
          <a:ln cap="flat" cmpd="sng" w="9525">
            <a:solidFill>
              <a:srgbClr val="9C27B0"/>
            </a:solidFill>
            <a:prstDash val="solid"/>
            <a:round/>
            <a:headEnd len="sm" w="sm" type="none"/>
            <a:tailEnd len="med" w="med" type="stealth"/>
          </a:ln>
        </p:spPr>
      </p:cxnSp>
      <p:cxnSp>
        <p:nvCxnSpPr>
          <p:cNvPr id="415" name="Google Shape;415;p19"/>
          <p:cNvCxnSpPr/>
          <p:nvPr/>
        </p:nvCxnSpPr>
        <p:spPr>
          <a:xfrm>
            <a:off x="4181856" y="4858512"/>
            <a:ext cx="134112" cy="1103376"/>
          </a:xfrm>
          <a:prstGeom prst="straightConnector1">
            <a:avLst/>
          </a:prstGeom>
          <a:noFill/>
          <a:ln cap="flat" cmpd="sng" w="9525">
            <a:solidFill>
              <a:srgbClr val="9C27B0"/>
            </a:solidFill>
            <a:prstDash val="solid"/>
            <a:round/>
            <a:headEnd len="sm" w="sm" type="none"/>
            <a:tailEnd len="med" w="med" type="stealth"/>
          </a:ln>
        </p:spPr>
      </p:cxnSp>
      <p:sp>
        <p:nvSpPr>
          <p:cNvPr id="416" name="Google Shape;416;p19"/>
          <p:cNvSpPr/>
          <p:nvPr/>
        </p:nvSpPr>
        <p:spPr>
          <a:xfrm>
            <a:off x="182880" y="6193536"/>
            <a:ext cx="5547360" cy="243840"/>
          </a:xfrm>
          <a:prstGeom prst="rect">
            <a:avLst/>
          </a:prstGeom>
          <a:solidFill>
            <a:srgbClr val="0D1A0D"/>
          </a:solidFill>
          <a:ln cap="flat" cmpd="sng" w="9525">
            <a:solidFill>
              <a:srgbClr val="333333"/>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7" name="Google Shape;417;p19"/>
          <p:cNvSpPr/>
          <p:nvPr/>
        </p:nvSpPr>
        <p:spPr>
          <a:xfrm>
            <a:off x="304800" y="6205728"/>
            <a:ext cx="5242560" cy="20726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Infrastructure  </a:t>
            </a:r>
            <a:r>
              <a:rPr b="0" i="0" lang="en-US" sz="800" u="none" cap="none" strike="noStrike">
                <a:solidFill>
                  <a:srgbClr val="00D4FF"/>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Application  </a:t>
            </a:r>
            <a:r>
              <a:rPr b="0" i="0" lang="en-US" sz="800" u="none" cap="none" strike="noStrike">
                <a:solidFill>
                  <a:srgbClr val="FF5252"/>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Vulnerability  </a:t>
            </a:r>
            <a:r>
              <a:rPr b="0" i="0" lang="en-US" sz="800" u="none" cap="none" strike="noStrike">
                <a:solidFill>
                  <a:srgbClr val="9C27B0"/>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p:txBody>
      </p:sp>
      <p:cxnSp>
        <p:nvCxnSpPr>
          <p:cNvPr id="418" name="Google Shape;418;p19"/>
          <p:cNvCxnSpPr/>
          <p:nvPr/>
        </p:nvCxnSpPr>
        <p:spPr>
          <a:xfrm>
            <a:off x="5839968" y="804672"/>
            <a:ext cx="12192" cy="5632704"/>
          </a:xfrm>
          <a:prstGeom prst="straightConnector1">
            <a:avLst/>
          </a:prstGeom>
          <a:noFill/>
          <a:ln cap="flat" cmpd="sng" w="12700">
            <a:solidFill>
              <a:srgbClr val="00FFFF"/>
            </a:solidFill>
            <a:prstDash val="dash"/>
            <a:round/>
            <a:headEnd len="sm" w="sm" type="none"/>
            <a:tailEnd len="sm" w="sm" type="none"/>
          </a:ln>
        </p:spPr>
      </p:cxnSp>
      <p:sp>
        <p:nvSpPr>
          <p:cNvPr id="419" name="Google Shape;419;p19"/>
          <p:cNvSpPr/>
          <p:nvPr/>
        </p:nvSpPr>
        <p:spPr>
          <a:xfrm>
            <a:off x="5547360" y="3474720"/>
            <a:ext cx="585216" cy="36576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FFFF"/>
              </a:buClr>
              <a:buSzPts val="700"/>
              <a:buFont typeface="Arial"/>
              <a:buNone/>
            </a:pPr>
            <a:r>
              <a:rPr b="1" i="0" lang="en-US" sz="700" u="none" cap="none" strike="noStrike">
                <a:solidFill>
                  <a:srgbClr val="00FFFF"/>
                </a:solidFill>
                <a:latin typeface="Arial"/>
                <a:ea typeface="Arial"/>
                <a:cs typeface="Arial"/>
                <a:sym typeface="Arial"/>
              </a:rPr>
              <a:t>STRICT</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FFFF"/>
              </a:buClr>
              <a:buSzPts val="700"/>
              <a:buFont typeface="Arial"/>
              <a:buNone/>
            </a:pPr>
            <a:r>
              <a:rPr b="1" i="0" lang="en-US" sz="700" u="none" cap="none" strike="noStrike">
                <a:solidFill>
                  <a:srgbClr val="00FFFF"/>
                </a:solidFill>
                <a:latin typeface="Arial"/>
                <a:ea typeface="Arial"/>
                <a:cs typeface="Arial"/>
                <a:sym typeface="Arial"/>
              </a:rPr>
              <a:t>SEPARATION</a:t>
            </a:r>
            <a:endParaRPr b="0" i="0" sz="700" u="none" cap="none" strike="noStrike">
              <a:solidFill>
                <a:schemeClr val="dk1"/>
              </a:solidFill>
              <a:latin typeface="Calibri"/>
              <a:ea typeface="Calibri"/>
              <a:cs typeface="Calibri"/>
              <a:sym typeface="Calibri"/>
            </a:endParaRPr>
          </a:p>
        </p:txBody>
      </p:sp>
      <p:sp>
        <p:nvSpPr>
          <p:cNvPr id="420" name="Google Shape;420;p19"/>
          <p:cNvSpPr/>
          <p:nvPr/>
        </p:nvSpPr>
        <p:spPr>
          <a:xfrm>
            <a:off x="6156960" y="804672"/>
            <a:ext cx="5852160" cy="5632704"/>
          </a:xfrm>
          <a:prstGeom prst="rect">
            <a:avLst/>
          </a:prstGeom>
          <a:solidFill>
            <a:srgbClr val="1A0E00"/>
          </a:solidFill>
          <a:ln cap="flat" cmpd="sng" w="190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1" name="Google Shape;421;p19"/>
          <p:cNvSpPr/>
          <p:nvPr/>
        </p:nvSpPr>
        <p:spPr>
          <a:xfrm>
            <a:off x="6278880" y="853440"/>
            <a:ext cx="56083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1400"/>
              <a:buFont typeface="Arial"/>
              <a:buNone/>
            </a:pPr>
            <a:r>
              <a:rPr b="1" i="0" lang="en-US" sz="1400" u="none" cap="none" strike="noStrike">
                <a:solidFill>
                  <a:srgbClr val="FFC107"/>
                </a:solidFill>
                <a:latin typeface="Arial"/>
                <a:ea typeface="Arial"/>
                <a:cs typeface="Arial"/>
                <a:sym typeface="Arial"/>
              </a:rPr>
              <a:t>APG — Attack Path Graph</a:t>
            </a:r>
            <a:endParaRPr b="0" i="0" sz="1400" u="none" cap="none" strike="noStrike">
              <a:solidFill>
                <a:schemeClr val="dk1"/>
              </a:solidFill>
              <a:latin typeface="Calibri"/>
              <a:ea typeface="Calibri"/>
              <a:cs typeface="Calibri"/>
              <a:sym typeface="Calibri"/>
            </a:endParaRPr>
          </a:p>
        </p:txBody>
      </p:sp>
      <p:sp>
        <p:nvSpPr>
          <p:cNvPr id="422" name="Google Shape;422;p19"/>
          <p:cNvSpPr/>
          <p:nvPr/>
        </p:nvSpPr>
        <p:spPr>
          <a:xfrm>
            <a:off x="6278880" y="1097280"/>
            <a:ext cx="5608320" cy="18288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900"/>
              <a:buFont typeface="Arial"/>
              <a:buNone/>
            </a:pPr>
            <a:r>
              <a:rPr b="0" i="1" lang="en-US" sz="900" u="none" cap="none" strike="noStrike">
                <a:solidFill>
                  <a:srgbClr val="FFC107"/>
                </a:solidFill>
                <a:latin typeface="Arial"/>
                <a:ea typeface="Arial"/>
                <a:cs typeface="Arial"/>
                <a:sym typeface="Arial"/>
              </a:rPr>
              <a:t>Inferred Opportunity  ·  Commander reasons from ASG vulnerabilities — no raw scan data</a:t>
            </a:r>
            <a:endParaRPr b="0" i="0" sz="900" u="none" cap="none" strike="noStrike">
              <a:solidFill>
                <a:schemeClr val="dk1"/>
              </a:solidFill>
              <a:latin typeface="Calibri"/>
              <a:ea typeface="Calibri"/>
              <a:cs typeface="Calibri"/>
              <a:sym typeface="Calibri"/>
            </a:endParaRPr>
          </a:p>
        </p:txBody>
      </p:sp>
      <p:sp>
        <p:nvSpPr>
          <p:cNvPr id="423" name="Google Shape;423;p19"/>
          <p:cNvSpPr/>
          <p:nvPr/>
        </p:nvSpPr>
        <p:spPr>
          <a:xfrm>
            <a:off x="6254496" y="1341120"/>
            <a:ext cx="2731008" cy="234696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4" name="Google Shape;424;p19"/>
          <p:cNvSpPr/>
          <p:nvPr/>
        </p:nvSpPr>
        <p:spPr>
          <a:xfrm>
            <a:off x="6339840" y="1402080"/>
            <a:ext cx="256032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Chain-01: SQLi → RCE</a:t>
            </a:r>
            <a:r>
              <a:rPr b="1" i="0" lang="en-US" sz="900" u="none" cap="none" strike="noStrike">
                <a:solidFill>
                  <a:srgbClr val="FF5252"/>
                </a:solidFill>
                <a:latin typeface="Arial"/>
                <a:ea typeface="Arial"/>
                <a:cs typeface="Arial"/>
                <a:sym typeface="Arial"/>
              </a:rPr>
              <a:t>  risk: 9.1↑</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cxnSp>
        <p:nvCxnSpPr>
          <p:cNvPr id="425" name="Google Shape;425;p19"/>
          <p:cNvCxnSpPr/>
          <p:nvPr/>
        </p:nvCxnSpPr>
        <p:spPr>
          <a:xfrm>
            <a:off x="6339840" y="1670304"/>
            <a:ext cx="2560320" cy="12192"/>
          </a:xfrm>
          <a:prstGeom prst="straightConnector1">
            <a:avLst/>
          </a:prstGeom>
          <a:noFill/>
          <a:ln cap="flat" cmpd="sng" w="9525">
            <a:solidFill>
              <a:srgbClr val="FFC107"/>
            </a:solidFill>
            <a:prstDash val="solid"/>
            <a:round/>
            <a:headEnd len="sm" w="sm" type="none"/>
            <a:tailEnd len="sm" w="sm" type="none"/>
          </a:ln>
        </p:spPr>
      </p:cxnSp>
      <p:sp>
        <p:nvSpPr>
          <p:cNvPr id="426" name="Google Shape;426;p19"/>
          <p:cNvSpPr/>
          <p:nvPr/>
        </p:nvSpPr>
        <p:spPr>
          <a:xfrm>
            <a:off x="6339840" y="1706880"/>
            <a:ext cx="747776" cy="1274064"/>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7" name="Google Shape;427;p19"/>
          <p:cNvSpPr/>
          <p:nvPr/>
        </p:nvSpPr>
        <p:spPr>
          <a:xfrm>
            <a:off x="6364224" y="1706880"/>
            <a:ext cx="699008" cy="1274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WP_Query</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SQLi confirmed</a:t>
            </a:r>
            <a:endParaRPr b="0" i="0" sz="800" u="none" cap="none" strike="noStrike">
              <a:solidFill>
                <a:schemeClr val="dk1"/>
              </a:solidFill>
              <a:latin typeface="Calibri"/>
              <a:ea typeface="Calibri"/>
              <a:cs typeface="Calibri"/>
              <a:sym typeface="Calibri"/>
            </a:endParaRPr>
          </a:p>
        </p:txBody>
      </p:sp>
      <p:sp>
        <p:nvSpPr>
          <p:cNvPr id="428" name="Google Shape;428;p19"/>
          <p:cNvSpPr/>
          <p:nvPr/>
        </p:nvSpPr>
        <p:spPr>
          <a:xfrm>
            <a:off x="7087616" y="2221992"/>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29" name="Google Shape;429;p19"/>
          <p:cNvSpPr/>
          <p:nvPr/>
        </p:nvSpPr>
        <p:spPr>
          <a:xfrm>
            <a:off x="7246112" y="1706880"/>
            <a:ext cx="747776" cy="1274064"/>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0" name="Google Shape;430;p19"/>
          <p:cNvSpPr/>
          <p:nvPr/>
        </p:nvSpPr>
        <p:spPr>
          <a:xfrm>
            <a:off x="7270496" y="1706880"/>
            <a:ext cx="699008" cy="1274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dump users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hash cracked</a:t>
            </a:r>
            <a:endParaRPr b="0" i="0" sz="800" u="none" cap="none" strike="noStrike">
              <a:solidFill>
                <a:schemeClr val="dk1"/>
              </a:solidFill>
              <a:latin typeface="Calibri"/>
              <a:ea typeface="Calibri"/>
              <a:cs typeface="Calibri"/>
              <a:sym typeface="Calibri"/>
            </a:endParaRPr>
          </a:p>
        </p:txBody>
      </p:sp>
      <p:sp>
        <p:nvSpPr>
          <p:cNvPr id="431" name="Google Shape;431;p19"/>
          <p:cNvSpPr/>
          <p:nvPr/>
        </p:nvSpPr>
        <p:spPr>
          <a:xfrm>
            <a:off x="7993888" y="2221992"/>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32" name="Google Shape;432;p19"/>
          <p:cNvSpPr/>
          <p:nvPr/>
        </p:nvSpPr>
        <p:spPr>
          <a:xfrm>
            <a:off x="8152384" y="1706880"/>
            <a:ext cx="747776" cy="1274064"/>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3" name="Google Shape;433;p19"/>
          <p:cNvSpPr/>
          <p:nvPr/>
        </p:nvSpPr>
        <p:spPr>
          <a:xfrm>
            <a:off x="8176768" y="1706880"/>
            <a:ext cx="699008" cy="1274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Metasploit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webshell</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Full RCE</a:t>
            </a:r>
            <a:endParaRPr b="0" i="0" sz="800" u="none" cap="none" strike="noStrike">
              <a:solidFill>
                <a:schemeClr val="dk1"/>
              </a:solidFill>
              <a:latin typeface="Calibri"/>
              <a:ea typeface="Calibri"/>
              <a:cs typeface="Calibri"/>
              <a:sym typeface="Calibri"/>
            </a:endParaRPr>
          </a:p>
        </p:txBody>
      </p:sp>
      <p:sp>
        <p:nvSpPr>
          <p:cNvPr id="434" name="Google Shape;434;p19"/>
          <p:cNvSpPr/>
          <p:nvPr/>
        </p:nvSpPr>
        <p:spPr>
          <a:xfrm>
            <a:off x="6339840" y="3054096"/>
            <a:ext cx="2560320" cy="609600"/>
          </a:xfrm>
          <a:prstGeom prst="rect">
            <a:avLst/>
          </a:prstGeom>
          <a:solidFill>
            <a:srgbClr val="1A0404"/>
          </a:solidFill>
          <a:ln cap="flat" cmpd="sng" w="10150">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5" name="Google Shape;435;p19"/>
          <p:cNvSpPr/>
          <p:nvPr/>
        </p:nvSpPr>
        <p:spPr>
          <a:xfrm>
            <a:off x="6376416" y="3054096"/>
            <a:ext cx="2487168" cy="609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5252"/>
              </a:buClr>
              <a:buSzPts val="800"/>
              <a:buFont typeface="Arial"/>
              <a:buNone/>
            </a:pPr>
            <a:r>
              <a:rPr b="1" i="0" lang="en-US" sz="800" u="none" cap="none" strike="noStrike">
                <a:solidFill>
                  <a:srgbClr val="FF5252"/>
                </a:solidFill>
                <a:latin typeface="Arial"/>
                <a:ea typeface="Arial"/>
                <a:cs typeface="Arial"/>
                <a:sym typeface="Arial"/>
              </a:rPr>
              <a:t>IMPACT  CRITICAL  ·  </a:t>
            </a:r>
            <a:r>
              <a:rPr b="0" i="0" lang="en-US" sz="800" u="none" cap="none" strike="noStrike">
                <a:solidFill>
                  <a:srgbClr val="DDDDDD"/>
                </a:solidFill>
                <a:latin typeface="Arial"/>
                <a:ea typeface="Arial"/>
                <a:cs typeface="Arial"/>
                <a:sym typeface="Arial"/>
              </a:rPr>
              <a:t>Full RCE · Customer PII exposed</a:t>
            </a:r>
            <a:endParaRPr b="0" i="0" sz="800" u="none" cap="none" strike="noStrike">
              <a:solidFill>
                <a:schemeClr val="dk1"/>
              </a:solidFill>
              <a:latin typeface="Calibri"/>
              <a:ea typeface="Calibri"/>
              <a:cs typeface="Calibri"/>
              <a:sym typeface="Calibri"/>
            </a:endParaRPr>
          </a:p>
        </p:txBody>
      </p:sp>
      <p:sp>
        <p:nvSpPr>
          <p:cNvPr id="436" name="Google Shape;436;p19"/>
          <p:cNvSpPr/>
          <p:nvPr/>
        </p:nvSpPr>
        <p:spPr>
          <a:xfrm>
            <a:off x="9180576" y="1341120"/>
            <a:ext cx="2731008" cy="234696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7" name="Google Shape;437;p19"/>
          <p:cNvSpPr/>
          <p:nvPr/>
        </p:nvSpPr>
        <p:spPr>
          <a:xfrm>
            <a:off x="9265920" y="1402080"/>
            <a:ext cx="256032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Chain-02: IDOR → Orders</a:t>
            </a:r>
            <a:r>
              <a:rPr b="1" i="0" lang="en-US" sz="900" u="none" cap="none" strike="noStrike">
                <a:solidFill>
                  <a:srgbClr val="FF5252"/>
                </a:solidFill>
                <a:latin typeface="Arial"/>
                <a:ea typeface="Arial"/>
                <a:cs typeface="Arial"/>
                <a:sym typeface="Arial"/>
              </a:rPr>
              <a:t>  risk: 7.5</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cxnSp>
        <p:nvCxnSpPr>
          <p:cNvPr id="438" name="Google Shape;438;p19"/>
          <p:cNvCxnSpPr/>
          <p:nvPr/>
        </p:nvCxnSpPr>
        <p:spPr>
          <a:xfrm>
            <a:off x="9265920" y="1670304"/>
            <a:ext cx="2560320" cy="12192"/>
          </a:xfrm>
          <a:prstGeom prst="straightConnector1">
            <a:avLst/>
          </a:prstGeom>
          <a:noFill/>
          <a:ln cap="flat" cmpd="sng" w="9525">
            <a:solidFill>
              <a:srgbClr val="FFC107"/>
            </a:solidFill>
            <a:prstDash val="solid"/>
            <a:round/>
            <a:headEnd len="sm" w="sm" type="none"/>
            <a:tailEnd len="sm" w="sm" type="none"/>
          </a:ln>
        </p:spPr>
      </p:cxnSp>
      <p:sp>
        <p:nvSpPr>
          <p:cNvPr id="439" name="Google Shape;439;p19"/>
          <p:cNvSpPr/>
          <p:nvPr/>
        </p:nvSpPr>
        <p:spPr>
          <a:xfrm>
            <a:off x="9265920" y="1706880"/>
            <a:ext cx="1200912" cy="1274064"/>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0" name="Google Shape;440;p19"/>
          <p:cNvSpPr/>
          <p:nvPr/>
        </p:nvSpPr>
        <p:spPr>
          <a:xfrm>
            <a:off x="9290304" y="1706880"/>
            <a:ext cx="1152144" cy="1274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IDOR param</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confirmed</a:t>
            </a:r>
            <a:endParaRPr b="0" i="0" sz="800" u="none" cap="none" strike="noStrike">
              <a:solidFill>
                <a:schemeClr val="dk1"/>
              </a:solidFill>
              <a:latin typeface="Calibri"/>
              <a:ea typeface="Calibri"/>
              <a:cs typeface="Calibri"/>
              <a:sym typeface="Calibri"/>
            </a:endParaRPr>
          </a:p>
        </p:txBody>
      </p:sp>
      <p:sp>
        <p:nvSpPr>
          <p:cNvPr id="441" name="Google Shape;441;p19"/>
          <p:cNvSpPr/>
          <p:nvPr/>
        </p:nvSpPr>
        <p:spPr>
          <a:xfrm>
            <a:off x="10466832" y="2221992"/>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42" name="Google Shape;442;p19"/>
          <p:cNvSpPr/>
          <p:nvPr/>
        </p:nvSpPr>
        <p:spPr>
          <a:xfrm>
            <a:off x="10625328" y="1706880"/>
            <a:ext cx="1200912" cy="1274064"/>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3" name="Google Shape;443;p19"/>
          <p:cNvSpPr/>
          <p:nvPr/>
        </p:nvSpPr>
        <p:spPr>
          <a:xfrm>
            <a:off x="10649712" y="1706880"/>
            <a:ext cx="1152144" cy="1274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HTTP GET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all orders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PII exposed</a:t>
            </a:r>
            <a:endParaRPr b="0" i="0" sz="800" u="none" cap="none" strike="noStrike">
              <a:solidFill>
                <a:schemeClr val="dk1"/>
              </a:solidFill>
              <a:latin typeface="Calibri"/>
              <a:ea typeface="Calibri"/>
              <a:cs typeface="Calibri"/>
              <a:sym typeface="Calibri"/>
            </a:endParaRPr>
          </a:p>
        </p:txBody>
      </p:sp>
      <p:sp>
        <p:nvSpPr>
          <p:cNvPr id="444" name="Google Shape;444;p19"/>
          <p:cNvSpPr/>
          <p:nvPr/>
        </p:nvSpPr>
        <p:spPr>
          <a:xfrm>
            <a:off x="9265920" y="3054096"/>
            <a:ext cx="2560320" cy="609600"/>
          </a:xfrm>
          <a:prstGeom prst="rect">
            <a:avLst/>
          </a:prstGeom>
          <a:solidFill>
            <a:srgbClr val="1A04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5" name="Google Shape;445;p19"/>
          <p:cNvSpPr/>
          <p:nvPr/>
        </p:nvSpPr>
        <p:spPr>
          <a:xfrm>
            <a:off x="9302496" y="3054096"/>
            <a:ext cx="2487168" cy="609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800"/>
              <a:buFont typeface="Arial"/>
              <a:buNone/>
            </a:pPr>
            <a:r>
              <a:rPr b="1" i="0" lang="en-US" sz="800" u="none" cap="none" strike="noStrike">
                <a:solidFill>
                  <a:srgbClr val="FFC107"/>
                </a:solidFill>
                <a:latin typeface="Arial"/>
                <a:ea typeface="Arial"/>
                <a:cs typeface="Arial"/>
                <a:sym typeface="Arial"/>
              </a:rPr>
              <a:t>IMPACT  HIGH  ·  </a:t>
            </a:r>
            <a:r>
              <a:rPr b="0" i="0" lang="en-US" sz="800" u="none" cap="none" strike="noStrike">
                <a:solidFill>
                  <a:srgbClr val="DDDDDD"/>
                </a:solidFill>
                <a:latin typeface="Arial"/>
                <a:ea typeface="Arial"/>
                <a:cs typeface="Arial"/>
                <a:sym typeface="Arial"/>
              </a:rPr>
              <a:t>All orders + PII exposed</a:t>
            </a:r>
            <a:endParaRPr b="0" i="0" sz="800" u="none" cap="none" strike="noStrike">
              <a:solidFill>
                <a:schemeClr val="dk1"/>
              </a:solidFill>
              <a:latin typeface="Calibri"/>
              <a:ea typeface="Calibri"/>
              <a:cs typeface="Calibri"/>
              <a:sym typeface="Calibri"/>
            </a:endParaRPr>
          </a:p>
        </p:txBody>
      </p:sp>
      <p:sp>
        <p:nvSpPr>
          <p:cNvPr id="446" name="Google Shape;446;p19"/>
          <p:cNvSpPr/>
          <p:nvPr/>
        </p:nvSpPr>
        <p:spPr>
          <a:xfrm>
            <a:off x="6254496" y="3785616"/>
            <a:ext cx="2731008" cy="234696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7" name="Google Shape;447;p19"/>
          <p:cNvSpPr/>
          <p:nvPr/>
        </p:nvSpPr>
        <p:spPr>
          <a:xfrm>
            <a:off x="6339840" y="3846576"/>
            <a:ext cx="256032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Chain-03: Blind SQLi → Creds</a:t>
            </a:r>
            <a:r>
              <a:rPr b="1" i="0" lang="en-US" sz="900" u="none" cap="none" strike="noStrike">
                <a:solidFill>
                  <a:srgbClr val="FF5252"/>
                </a:solidFill>
                <a:latin typeface="Arial"/>
                <a:ea typeface="Arial"/>
                <a:cs typeface="Arial"/>
                <a:sym typeface="Arial"/>
              </a:rPr>
              <a:t>  risk: 8.1</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cxnSp>
        <p:nvCxnSpPr>
          <p:cNvPr id="448" name="Google Shape;448;p19"/>
          <p:cNvCxnSpPr/>
          <p:nvPr/>
        </p:nvCxnSpPr>
        <p:spPr>
          <a:xfrm>
            <a:off x="6339840" y="4114800"/>
            <a:ext cx="2560320" cy="12192"/>
          </a:xfrm>
          <a:prstGeom prst="straightConnector1">
            <a:avLst/>
          </a:prstGeom>
          <a:noFill/>
          <a:ln cap="flat" cmpd="sng" w="9525">
            <a:solidFill>
              <a:srgbClr val="FFC107"/>
            </a:solidFill>
            <a:prstDash val="solid"/>
            <a:round/>
            <a:headEnd len="sm" w="sm" type="none"/>
            <a:tailEnd len="sm" w="sm" type="none"/>
          </a:ln>
        </p:spPr>
      </p:cxnSp>
      <p:sp>
        <p:nvSpPr>
          <p:cNvPr id="449" name="Google Shape;449;p19"/>
          <p:cNvSpPr/>
          <p:nvPr/>
        </p:nvSpPr>
        <p:spPr>
          <a:xfrm>
            <a:off x="6339840" y="4151376"/>
            <a:ext cx="1200912" cy="1274064"/>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0" name="Google Shape;450;p19"/>
          <p:cNvSpPr/>
          <p:nvPr/>
        </p:nvSpPr>
        <p:spPr>
          <a:xfrm>
            <a:off x="6364224" y="4151376"/>
            <a:ext cx="1152144" cy="1274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blind SQLi</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staging login</a:t>
            </a:r>
            <a:endParaRPr b="0" i="0" sz="800" u="none" cap="none" strike="noStrike">
              <a:solidFill>
                <a:schemeClr val="dk1"/>
              </a:solidFill>
              <a:latin typeface="Calibri"/>
              <a:ea typeface="Calibri"/>
              <a:cs typeface="Calibri"/>
              <a:sym typeface="Calibri"/>
            </a:endParaRPr>
          </a:p>
        </p:txBody>
      </p:sp>
      <p:sp>
        <p:nvSpPr>
          <p:cNvPr id="451" name="Google Shape;451;p19"/>
          <p:cNvSpPr/>
          <p:nvPr/>
        </p:nvSpPr>
        <p:spPr>
          <a:xfrm>
            <a:off x="7540752" y="4666488"/>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52" name="Google Shape;452;p19"/>
          <p:cNvSpPr/>
          <p:nvPr/>
        </p:nvSpPr>
        <p:spPr>
          <a:xfrm>
            <a:off x="7699248" y="4151376"/>
            <a:ext cx="1200912" cy="1274064"/>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3" name="Google Shape;453;p19"/>
          <p:cNvSpPr/>
          <p:nvPr/>
        </p:nvSpPr>
        <p:spPr>
          <a:xfrm>
            <a:off x="7723632" y="4151376"/>
            <a:ext cx="1152144" cy="1274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Extract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DB creds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reuse risk</a:t>
            </a:r>
            <a:endParaRPr b="0" i="0" sz="800" u="none" cap="none" strike="noStrike">
              <a:solidFill>
                <a:schemeClr val="dk1"/>
              </a:solidFill>
              <a:latin typeface="Calibri"/>
              <a:ea typeface="Calibri"/>
              <a:cs typeface="Calibri"/>
              <a:sym typeface="Calibri"/>
            </a:endParaRPr>
          </a:p>
        </p:txBody>
      </p:sp>
      <p:sp>
        <p:nvSpPr>
          <p:cNvPr id="454" name="Google Shape;454;p19"/>
          <p:cNvSpPr/>
          <p:nvPr/>
        </p:nvSpPr>
        <p:spPr>
          <a:xfrm>
            <a:off x="6339840" y="5498592"/>
            <a:ext cx="2560320" cy="609600"/>
          </a:xfrm>
          <a:prstGeom prst="rect">
            <a:avLst/>
          </a:prstGeom>
          <a:solidFill>
            <a:srgbClr val="1A04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5" name="Google Shape;455;p19"/>
          <p:cNvSpPr/>
          <p:nvPr/>
        </p:nvSpPr>
        <p:spPr>
          <a:xfrm>
            <a:off x="6376416" y="5498592"/>
            <a:ext cx="2487168" cy="609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800"/>
              <a:buFont typeface="Arial"/>
              <a:buNone/>
            </a:pPr>
            <a:r>
              <a:rPr b="1" i="0" lang="en-US" sz="800" u="none" cap="none" strike="noStrike">
                <a:solidFill>
                  <a:srgbClr val="FFC107"/>
                </a:solidFill>
                <a:latin typeface="Arial"/>
                <a:ea typeface="Arial"/>
                <a:cs typeface="Arial"/>
                <a:sym typeface="Arial"/>
              </a:rPr>
              <a:t>IMPACT  HIGH  ·  </a:t>
            </a:r>
            <a:r>
              <a:rPr b="0" i="0" lang="en-US" sz="800" u="none" cap="none" strike="noStrike">
                <a:solidFill>
                  <a:srgbClr val="DDDDDD"/>
                </a:solidFill>
                <a:latin typeface="Arial"/>
                <a:ea typeface="Arial"/>
                <a:cs typeface="Arial"/>
                <a:sym typeface="Arial"/>
              </a:rPr>
              <a:t>DB credentials extracted · reuse risk</a:t>
            </a:r>
            <a:endParaRPr b="0" i="0" sz="800" u="none" cap="none" strike="noStrike">
              <a:solidFill>
                <a:schemeClr val="dk1"/>
              </a:solidFill>
              <a:latin typeface="Calibri"/>
              <a:ea typeface="Calibri"/>
              <a:cs typeface="Calibri"/>
              <a:sym typeface="Calibri"/>
            </a:endParaRPr>
          </a:p>
        </p:txBody>
      </p:sp>
      <p:sp>
        <p:nvSpPr>
          <p:cNvPr id="456" name="Google Shape;456;p19"/>
          <p:cNvSpPr/>
          <p:nvPr/>
        </p:nvSpPr>
        <p:spPr>
          <a:xfrm>
            <a:off x="9180576" y="3785616"/>
            <a:ext cx="2731008" cy="234696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7" name="Google Shape;457;p19"/>
          <p:cNvSpPr/>
          <p:nvPr/>
        </p:nvSpPr>
        <p:spPr>
          <a:xfrm>
            <a:off x="9265920" y="3846576"/>
            <a:ext cx="256032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Chain-04: Exposed Backup</a:t>
            </a:r>
            <a:r>
              <a:rPr b="1" i="0" lang="en-US" sz="900" u="none" cap="none" strike="noStrike">
                <a:solidFill>
                  <a:srgbClr val="FF5252"/>
                </a:solidFill>
                <a:latin typeface="Arial"/>
                <a:ea typeface="Arial"/>
                <a:cs typeface="Arial"/>
                <a:sym typeface="Arial"/>
              </a:rPr>
              <a:t>  risk: 7.0</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cxnSp>
        <p:nvCxnSpPr>
          <p:cNvPr id="458" name="Google Shape;458;p19"/>
          <p:cNvCxnSpPr/>
          <p:nvPr/>
        </p:nvCxnSpPr>
        <p:spPr>
          <a:xfrm>
            <a:off x="9265920" y="4114800"/>
            <a:ext cx="2560320" cy="12192"/>
          </a:xfrm>
          <a:prstGeom prst="straightConnector1">
            <a:avLst/>
          </a:prstGeom>
          <a:noFill/>
          <a:ln cap="flat" cmpd="sng" w="9525">
            <a:solidFill>
              <a:srgbClr val="FFC107"/>
            </a:solidFill>
            <a:prstDash val="solid"/>
            <a:round/>
            <a:headEnd len="sm" w="sm" type="none"/>
            <a:tailEnd len="sm" w="sm" type="none"/>
          </a:ln>
        </p:spPr>
      </p:cxnSp>
      <p:sp>
        <p:nvSpPr>
          <p:cNvPr id="459" name="Google Shape;459;p19"/>
          <p:cNvSpPr/>
          <p:nvPr/>
        </p:nvSpPr>
        <p:spPr>
          <a:xfrm>
            <a:off x="9265920" y="4151376"/>
            <a:ext cx="2560320" cy="1274064"/>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0" name="Google Shape;460;p19"/>
          <p:cNvSpPr/>
          <p:nvPr/>
        </p:nvSpPr>
        <p:spPr>
          <a:xfrm>
            <a:off x="9290304" y="4151376"/>
            <a:ext cx="2511552" cy="1274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HTTP GET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/backup/*.sql</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public file · no auth</a:t>
            </a:r>
            <a:endParaRPr b="0" i="0" sz="800" u="none" cap="none" strike="noStrike">
              <a:solidFill>
                <a:schemeClr val="dk1"/>
              </a:solidFill>
              <a:latin typeface="Calibri"/>
              <a:ea typeface="Calibri"/>
              <a:cs typeface="Calibri"/>
              <a:sym typeface="Calibri"/>
            </a:endParaRPr>
          </a:p>
        </p:txBody>
      </p:sp>
      <p:sp>
        <p:nvSpPr>
          <p:cNvPr id="461" name="Google Shape;461;p19"/>
          <p:cNvSpPr/>
          <p:nvPr/>
        </p:nvSpPr>
        <p:spPr>
          <a:xfrm>
            <a:off x="9265920" y="5498592"/>
            <a:ext cx="2560320" cy="609600"/>
          </a:xfrm>
          <a:prstGeom prst="rect">
            <a:avLst/>
          </a:prstGeom>
          <a:solidFill>
            <a:srgbClr val="1A0404"/>
          </a:solidFill>
          <a:ln cap="flat" cmpd="sng" w="10150">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2" name="Google Shape;462;p19"/>
          <p:cNvSpPr/>
          <p:nvPr/>
        </p:nvSpPr>
        <p:spPr>
          <a:xfrm>
            <a:off x="9302496" y="5498592"/>
            <a:ext cx="2487168" cy="6096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5252"/>
              </a:buClr>
              <a:buSzPts val="800"/>
              <a:buFont typeface="Arial"/>
              <a:buNone/>
            </a:pPr>
            <a:r>
              <a:rPr b="1" i="0" lang="en-US" sz="800" u="none" cap="none" strike="noStrike">
                <a:solidFill>
                  <a:srgbClr val="FF5252"/>
                </a:solidFill>
                <a:latin typeface="Arial"/>
                <a:ea typeface="Arial"/>
                <a:cs typeface="Arial"/>
                <a:sym typeface="Arial"/>
              </a:rPr>
              <a:t>IMPACT  CRITICAL  ·  </a:t>
            </a:r>
            <a:r>
              <a:rPr b="0" i="0" lang="en-US" sz="800" u="none" cap="none" strike="noStrike">
                <a:solidFill>
                  <a:srgbClr val="DDDDDD"/>
                </a:solidFill>
                <a:latin typeface="Arial"/>
                <a:ea typeface="Arial"/>
                <a:cs typeface="Arial"/>
                <a:sym typeface="Arial"/>
              </a:rPr>
              <a:t>Full PII DB download · no exploit needed</a:t>
            </a:r>
            <a:endParaRPr b="0" i="0" sz="800" u="none" cap="none" strike="noStrike">
              <a:solidFill>
                <a:schemeClr val="dk1"/>
              </a:solidFill>
              <a:latin typeface="Calibri"/>
              <a:ea typeface="Calibri"/>
              <a:cs typeface="Calibri"/>
              <a:sym typeface="Calibri"/>
            </a:endParaRPr>
          </a:p>
        </p:txBody>
      </p:sp>
      <p:sp>
        <p:nvSpPr>
          <p:cNvPr id="463" name="Google Shape;463;p19"/>
          <p:cNvSpPr/>
          <p:nvPr/>
        </p:nvSpPr>
        <p:spPr>
          <a:xfrm>
            <a:off x="6156960" y="6193536"/>
            <a:ext cx="5852160" cy="243840"/>
          </a:xfrm>
          <a:prstGeom prst="rect">
            <a:avLst/>
          </a:prstGeom>
          <a:solidFill>
            <a:srgbClr val="1A1000"/>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4" name="Google Shape;464;p19"/>
          <p:cNvSpPr/>
          <p:nvPr/>
        </p:nvSpPr>
        <p:spPr>
          <a:xfrm>
            <a:off x="6278880" y="6205728"/>
            <a:ext cx="5669280" cy="20726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800"/>
              <a:buFont typeface="Arial"/>
              <a:buNone/>
            </a:pPr>
            <a:r>
              <a:rPr b="1" i="0" lang="en-US" sz="800" u="none" cap="none" strike="noStrike">
                <a:solidFill>
                  <a:srgbClr val="FFC107"/>
                </a:solidFill>
                <a:latin typeface="Arial"/>
                <a:ea typeface="Arial"/>
                <a:cs typeface="Arial"/>
                <a:sym typeface="Arial"/>
              </a:rPr>
              <a:t>APG Priority Queue:  </a:t>
            </a:r>
            <a:r>
              <a:rPr b="0" i="0" lang="en-US" sz="800" u="none" cap="none" strike="noStrike">
                <a:solidFill>
                  <a:srgbClr val="BBBBBB"/>
                </a:solidFill>
                <a:latin typeface="Arial"/>
                <a:ea typeface="Arial"/>
                <a:cs typeface="Arial"/>
                <a:sym typeface="Arial"/>
              </a:rPr>
              <a:t>#1 Chain-01 · 9.1  ·  #2 Chain-03 · 8.1  ·  #3 Chain-02 · 7.5  ·  #4 Chain-04 · 7.0  ·  Commander re-ranks on every status change</a:t>
            </a:r>
            <a:endParaRPr b="0" i="0" sz="800" u="none" cap="none" strike="noStrike">
              <a:solidFill>
                <a:schemeClr val="dk1"/>
              </a:solidFill>
              <a:latin typeface="Calibri"/>
              <a:ea typeface="Calibri"/>
              <a:cs typeface="Calibri"/>
              <a:sym typeface="Calibri"/>
            </a:endParaRPr>
          </a:p>
        </p:txBody>
      </p:sp>
      <p:sp>
        <p:nvSpPr>
          <p:cNvPr id="465" name="Google Shape;465;p19"/>
          <p:cNvSpPr/>
          <p:nvPr/>
        </p:nvSpPr>
        <p:spPr>
          <a:xfrm>
            <a:off x="182880" y="6473952"/>
            <a:ext cx="11826240" cy="304800"/>
          </a:xfrm>
          <a:prstGeom prst="rect">
            <a:avLst/>
          </a:prstGeom>
          <a:solidFill>
            <a:srgbClr val="04101A"/>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6" name="Google Shape;466;p19"/>
          <p:cNvSpPr/>
          <p:nvPr/>
        </p:nvSpPr>
        <p:spPr>
          <a:xfrm>
            <a:off x="304800" y="6486144"/>
            <a:ext cx="1158240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0D4FF"/>
              </a:buClr>
              <a:buSzPts val="800"/>
              <a:buFont typeface="Arial"/>
              <a:buNone/>
            </a:pPr>
            <a:r>
              <a:rPr b="0" i="1" lang="en-US" sz="800" u="none" cap="none" strike="noStrike">
                <a:solidFill>
                  <a:srgbClr val="00D4FF"/>
                </a:solidFill>
                <a:latin typeface="Arial"/>
                <a:ea typeface="Arial"/>
                <a:cs typeface="Arial"/>
                <a:sym typeface="Arial"/>
              </a:rPr>
              <a:t>Separation Principle:  Discovery agents write only to the ASG — they never reason about chains.  The Commander writes only to the APG — it never runs tools.  No agent conflates discovered facts with hypothesised attack reasoning.</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470" name="Shape 470"/>
        <p:cNvGrpSpPr/>
        <p:nvPr/>
      </p:nvGrpSpPr>
      <p:grpSpPr>
        <a:xfrm>
          <a:off x="0" y="0"/>
          <a:ext cx="0" cy="0"/>
          <a:chOff x="0" y="0"/>
          <a:chExt cx="0" cy="0"/>
        </a:xfrm>
      </p:grpSpPr>
      <p:sp>
        <p:nvSpPr>
          <p:cNvPr id="471" name="Google Shape;471;p20"/>
          <p:cNvSpPr/>
          <p:nvPr/>
        </p:nvSpPr>
        <p:spPr>
          <a:xfrm>
            <a:off x="0" y="0"/>
            <a:ext cx="54864"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2" name="Google Shape;472;p20"/>
          <p:cNvSpPr/>
          <p:nvPr/>
        </p:nvSpPr>
        <p:spPr>
          <a:xfrm>
            <a:off x="54864" y="0"/>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3" name="Google Shape;473;p20"/>
          <p:cNvSpPr/>
          <p:nvPr/>
        </p:nvSpPr>
        <p:spPr>
          <a:xfrm>
            <a:off x="54864" y="6821424"/>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4" name="Google Shape;474;p20"/>
          <p:cNvSpPr txBox="1"/>
          <p:nvPr/>
        </p:nvSpPr>
        <p:spPr>
          <a:xfrm>
            <a:off x="274320" y="64008"/>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AGENT ARCHITECTURE</a:t>
            </a:r>
            <a:endParaRPr b="0" i="0" sz="1400" u="none" cap="none" strike="noStrike">
              <a:solidFill>
                <a:srgbClr val="000000"/>
              </a:solidFill>
              <a:latin typeface="Arial"/>
              <a:ea typeface="Arial"/>
              <a:cs typeface="Arial"/>
              <a:sym typeface="Arial"/>
            </a:endParaRPr>
          </a:p>
        </p:txBody>
      </p:sp>
      <p:sp>
        <p:nvSpPr>
          <p:cNvPr id="475" name="Google Shape;475;p20"/>
          <p:cNvSpPr txBox="1"/>
          <p:nvPr/>
        </p:nvSpPr>
        <p:spPr>
          <a:xfrm>
            <a:off x="274320" y="292608"/>
            <a:ext cx="1005840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Context-Isolated Agents — Spawn · Execute · Return · Discard</a:t>
            </a:r>
            <a:endParaRPr b="0" i="0" sz="1400" u="none" cap="none" strike="noStrike">
              <a:solidFill>
                <a:srgbClr val="000000"/>
              </a:solidFill>
              <a:latin typeface="Arial"/>
              <a:ea typeface="Arial"/>
              <a:cs typeface="Arial"/>
              <a:sym typeface="Arial"/>
            </a:endParaRPr>
          </a:p>
        </p:txBody>
      </p:sp>
      <p:sp>
        <p:nvSpPr>
          <p:cNvPr id="476" name="Google Shape;476;p20"/>
          <p:cNvSpPr/>
          <p:nvPr/>
        </p:nvSpPr>
        <p:spPr>
          <a:xfrm>
            <a:off x="164600" y="804675"/>
            <a:ext cx="4434900" cy="5888700"/>
          </a:xfrm>
          <a:prstGeom prst="rect">
            <a:avLst/>
          </a:prstGeom>
          <a:solidFill>
            <a:srgbClr val="080C20"/>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7" name="Google Shape;477;p20"/>
          <p:cNvSpPr txBox="1"/>
          <p:nvPr/>
        </p:nvSpPr>
        <p:spPr>
          <a:xfrm>
            <a:off x="164592" y="859536"/>
            <a:ext cx="44348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CONTEXT ISOLATION MODEL</a:t>
            </a:r>
            <a:endParaRPr b="0" i="0" sz="1400" u="none" cap="none" strike="noStrike">
              <a:solidFill>
                <a:srgbClr val="000000"/>
              </a:solidFill>
              <a:latin typeface="Arial"/>
              <a:ea typeface="Arial"/>
              <a:cs typeface="Arial"/>
              <a:sym typeface="Arial"/>
            </a:endParaRPr>
          </a:p>
        </p:txBody>
      </p:sp>
      <p:sp>
        <p:nvSpPr>
          <p:cNvPr id="478" name="Google Shape;478;p20"/>
          <p:cNvSpPr/>
          <p:nvPr/>
        </p:nvSpPr>
        <p:spPr>
          <a:xfrm>
            <a:off x="987552" y="1152144"/>
            <a:ext cx="2743200" cy="502920"/>
          </a:xfrm>
          <a:prstGeom prst="rect">
            <a:avLst/>
          </a:prstGeom>
          <a:solidFill>
            <a:srgbClr val="041832"/>
          </a:solidFill>
          <a:ln cap="flat" cmpd="sng" w="228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9" name="Google Shape;479;p20"/>
          <p:cNvSpPr/>
          <p:nvPr/>
        </p:nvSpPr>
        <p:spPr>
          <a:xfrm>
            <a:off x="987552" y="1152144"/>
            <a:ext cx="2743200" cy="18288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0" name="Google Shape;480;p20"/>
          <p:cNvSpPr txBox="1"/>
          <p:nvPr/>
        </p:nvSpPr>
        <p:spPr>
          <a:xfrm>
            <a:off x="987552" y="1170432"/>
            <a:ext cx="2743200"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481" name="Google Shape;481;p20"/>
          <p:cNvSpPr txBox="1"/>
          <p:nvPr/>
        </p:nvSpPr>
        <p:spPr>
          <a:xfrm>
            <a:off x="987552" y="1353312"/>
            <a:ext cx="27432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Reads ASG + APG → decides next action</a:t>
            </a:r>
            <a:endParaRPr b="0" i="0" sz="1400" u="none" cap="none" strike="noStrike">
              <a:solidFill>
                <a:srgbClr val="000000"/>
              </a:solidFill>
              <a:latin typeface="Arial"/>
              <a:ea typeface="Arial"/>
              <a:cs typeface="Arial"/>
              <a:sym typeface="Arial"/>
            </a:endParaRPr>
          </a:p>
        </p:txBody>
      </p:sp>
      <p:cxnSp>
        <p:nvCxnSpPr>
          <p:cNvPr id="482" name="Google Shape;482;p20"/>
          <p:cNvCxnSpPr/>
          <p:nvPr/>
        </p:nvCxnSpPr>
        <p:spPr>
          <a:xfrm>
            <a:off x="0" y="1655064"/>
            <a:ext cx="0" cy="228600"/>
          </a:xfrm>
          <a:prstGeom prst="straightConnector1">
            <a:avLst/>
          </a:prstGeom>
          <a:noFill/>
          <a:ln cap="flat" cmpd="sng" w="19050">
            <a:solidFill>
              <a:srgbClr val="BD93F9"/>
            </a:solidFill>
            <a:prstDash val="solid"/>
            <a:round/>
            <a:headEnd len="med" w="med" type="stealth"/>
            <a:tailEnd len="sm" w="sm" type="none"/>
          </a:ln>
          <a:effectLst>
            <a:outerShdw blurRad="40000" rotWithShape="0" dir="5400000" dist="20000">
              <a:srgbClr val="000000">
                <a:alpha val="38039"/>
              </a:srgbClr>
            </a:outerShdw>
          </a:effectLst>
        </p:spPr>
      </p:cxnSp>
      <p:sp>
        <p:nvSpPr>
          <p:cNvPr id="483" name="Google Shape;483;p20"/>
          <p:cNvSpPr txBox="1"/>
          <p:nvPr/>
        </p:nvSpPr>
        <p:spPr>
          <a:xfrm>
            <a:off x="2455164" y="1673352"/>
            <a:ext cx="164592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BD93F9"/>
                </a:solidFill>
                <a:latin typeface="Calibri"/>
                <a:ea typeface="Calibri"/>
                <a:cs typeface="Calibri"/>
                <a:sym typeface="Calibri"/>
              </a:rPr>
              <a:t>spawn with scoped context</a:t>
            </a:r>
            <a:endParaRPr b="0" i="0" sz="1400" u="none" cap="none" strike="noStrike">
              <a:solidFill>
                <a:srgbClr val="000000"/>
              </a:solidFill>
              <a:latin typeface="Arial"/>
              <a:ea typeface="Arial"/>
              <a:cs typeface="Arial"/>
              <a:sym typeface="Arial"/>
            </a:endParaRPr>
          </a:p>
        </p:txBody>
      </p:sp>
      <p:sp>
        <p:nvSpPr>
          <p:cNvPr id="484" name="Google Shape;484;p20"/>
          <p:cNvSpPr/>
          <p:nvPr/>
        </p:nvSpPr>
        <p:spPr>
          <a:xfrm>
            <a:off x="365750" y="1947675"/>
            <a:ext cx="4032600" cy="2758500"/>
          </a:xfrm>
          <a:prstGeom prst="rect">
            <a:avLst/>
          </a:prstGeom>
          <a:solidFill>
            <a:srgbClr val="0A102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5" name="Google Shape;485;p20"/>
          <p:cNvSpPr/>
          <p:nvPr/>
        </p:nvSpPr>
        <p:spPr>
          <a:xfrm>
            <a:off x="365760" y="1947672"/>
            <a:ext cx="4032504" cy="219456"/>
          </a:xfrm>
          <a:prstGeom prst="rect">
            <a:avLst/>
          </a:prstGeom>
          <a:solidFill>
            <a:srgbClr val="2010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6" name="Google Shape;486;p20"/>
          <p:cNvSpPr txBox="1"/>
          <p:nvPr/>
        </p:nvSpPr>
        <p:spPr>
          <a:xfrm>
            <a:off x="365760" y="1984248"/>
            <a:ext cx="4032504" cy="1645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ISOLATED AGENT CONTEXT  (fresh per task)</a:t>
            </a:r>
            <a:endParaRPr b="0" i="0" sz="1400" u="none" cap="none" strike="noStrike">
              <a:solidFill>
                <a:srgbClr val="000000"/>
              </a:solidFill>
              <a:latin typeface="Arial"/>
              <a:ea typeface="Arial"/>
              <a:cs typeface="Arial"/>
              <a:sym typeface="Arial"/>
            </a:endParaRPr>
          </a:p>
        </p:txBody>
      </p:sp>
      <p:sp>
        <p:nvSpPr>
          <p:cNvPr id="487" name="Google Shape;487;p20"/>
          <p:cNvSpPr/>
          <p:nvPr/>
        </p:nvSpPr>
        <p:spPr>
          <a:xfrm>
            <a:off x="457200" y="2221998"/>
            <a:ext cx="3849600" cy="512100"/>
          </a:xfrm>
          <a:prstGeom prst="rect">
            <a:avLst/>
          </a:prstGeom>
          <a:solidFill>
            <a:srgbClr val="04160A"/>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8" name="Google Shape;488;p20"/>
          <p:cNvSpPr txBox="1"/>
          <p:nvPr/>
        </p:nvSpPr>
        <p:spPr>
          <a:xfrm>
            <a:off x="530352" y="2258568"/>
            <a:ext cx="1005840" cy="5920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ASG SLICE</a:t>
            </a:r>
            <a:endParaRPr b="0" i="0" sz="1400" u="none" cap="none" strike="noStrike">
              <a:solidFill>
                <a:srgbClr val="000000"/>
              </a:solidFill>
              <a:latin typeface="Arial"/>
              <a:ea typeface="Arial"/>
              <a:cs typeface="Arial"/>
              <a:sym typeface="Arial"/>
            </a:endParaRPr>
          </a:p>
        </p:txBody>
      </p:sp>
      <p:sp>
        <p:nvSpPr>
          <p:cNvPr id="489" name="Google Shape;489;p20"/>
          <p:cNvSpPr txBox="1"/>
          <p:nvPr/>
        </p:nvSpPr>
        <p:spPr>
          <a:xfrm>
            <a:off x="1572768" y="2258568"/>
            <a:ext cx="2660904" cy="5920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Only nodes relevant to this task</a:t>
            </a:r>
            <a:endParaRPr b="0" i="0" sz="1400" u="none" cap="none" strike="noStrike">
              <a:solidFill>
                <a:srgbClr val="000000"/>
              </a:solidFill>
              <a:latin typeface="Arial"/>
              <a:ea typeface="Arial"/>
              <a:cs typeface="Arial"/>
              <a:sym typeface="Arial"/>
            </a:endParaRPr>
          </a:p>
        </p:txBody>
      </p:sp>
      <p:sp>
        <p:nvSpPr>
          <p:cNvPr id="490" name="Google Shape;490;p20"/>
          <p:cNvSpPr/>
          <p:nvPr/>
        </p:nvSpPr>
        <p:spPr>
          <a:xfrm>
            <a:off x="457200" y="2814064"/>
            <a:ext cx="3849600" cy="502800"/>
          </a:xfrm>
          <a:prstGeom prst="rect">
            <a:avLst/>
          </a:prstGeom>
          <a:solidFill>
            <a:srgbClr val="1A1002"/>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1" name="Google Shape;491;p20"/>
          <p:cNvSpPr txBox="1"/>
          <p:nvPr/>
        </p:nvSpPr>
        <p:spPr>
          <a:xfrm>
            <a:off x="530352" y="2850646"/>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D700"/>
                </a:solidFill>
                <a:latin typeface="Calibri"/>
                <a:ea typeface="Calibri"/>
                <a:cs typeface="Calibri"/>
                <a:sym typeface="Calibri"/>
              </a:rPr>
              <a:t>APG SLICE</a:t>
            </a:r>
            <a:endParaRPr b="0" i="0" sz="1400" u="none" cap="none" strike="noStrike">
              <a:solidFill>
                <a:srgbClr val="000000"/>
              </a:solidFill>
              <a:latin typeface="Arial"/>
              <a:ea typeface="Arial"/>
              <a:cs typeface="Arial"/>
              <a:sym typeface="Arial"/>
            </a:endParaRPr>
          </a:p>
        </p:txBody>
      </p:sp>
      <p:sp>
        <p:nvSpPr>
          <p:cNvPr id="492" name="Google Shape;492;p20"/>
          <p:cNvSpPr txBox="1"/>
          <p:nvPr/>
        </p:nvSpPr>
        <p:spPr>
          <a:xfrm>
            <a:off x="1572768" y="2850646"/>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Relevant AttackChains (if any)</a:t>
            </a:r>
            <a:endParaRPr b="0" i="0" sz="1400" u="none" cap="none" strike="noStrike">
              <a:solidFill>
                <a:srgbClr val="000000"/>
              </a:solidFill>
              <a:latin typeface="Arial"/>
              <a:ea typeface="Arial"/>
              <a:cs typeface="Arial"/>
              <a:sym typeface="Arial"/>
            </a:endParaRPr>
          </a:p>
        </p:txBody>
      </p:sp>
      <p:sp>
        <p:nvSpPr>
          <p:cNvPr id="493" name="Google Shape;493;p20"/>
          <p:cNvSpPr/>
          <p:nvPr/>
        </p:nvSpPr>
        <p:spPr>
          <a:xfrm>
            <a:off x="434350" y="3409824"/>
            <a:ext cx="3849600" cy="502800"/>
          </a:xfrm>
          <a:prstGeom prst="rect">
            <a:avLst/>
          </a:prstGeom>
          <a:solidFill>
            <a:srgbClr val="180606"/>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4" name="Google Shape;494;p20"/>
          <p:cNvSpPr txBox="1"/>
          <p:nvPr/>
        </p:nvSpPr>
        <p:spPr>
          <a:xfrm>
            <a:off x="507502" y="344639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TOOL SET</a:t>
            </a:r>
            <a:endParaRPr b="0" i="0" sz="1400" u="none" cap="none" strike="noStrike">
              <a:solidFill>
                <a:srgbClr val="000000"/>
              </a:solidFill>
              <a:latin typeface="Arial"/>
              <a:ea typeface="Arial"/>
              <a:cs typeface="Arial"/>
              <a:sym typeface="Arial"/>
            </a:endParaRPr>
          </a:p>
        </p:txBody>
      </p:sp>
      <p:sp>
        <p:nvSpPr>
          <p:cNvPr id="495" name="Google Shape;495;p20"/>
          <p:cNvSpPr txBox="1"/>
          <p:nvPr/>
        </p:nvSpPr>
        <p:spPr>
          <a:xfrm>
            <a:off x="1549918" y="344639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Authorized tools only — no others</a:t>
            </a:r>
            <a:endParaRPr b="0" i="0" sz="1400" u="none" cap="none" strike="noStrike">
              <a:solidFill>
                <a:srgbClr val="000000"/>
              </a:solidFill>
              <a:latin typeface="Arial"/>
              <a:ea typeface="Arial"/>
              <a:cs typeface="Arial"/>
              <a:sym typeface="Arial"/>
            </a:endParaRPr>
          </a:p>
        </p:txBody>
      </p:sp>
      <p:sp>
        <p:nvSpPr>
          <p:cNvPr id="496" name="Google Shape;496;p20"/>
          <p:cNvSpPr/>
          <p:nvPr/>
        </p:nvSpPr>
        <p:spPr>
          <a:xfrm>
            <a:off x="434350" y="4009554"/>
            <a:ext cx="3849600" cy="438900"/>
          </a:xfrm>
          <a:prstGeom prst="rect">
            <a:avLst/>
          </a:prstGeom>
          <a:solidFill>
            <a:srgbClr val="04142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7" name="Google Shape;497;p20"/>
          <p:cNvSpPr txBox="1"/>
          <p:nvPr/>
        </p:nvSpPr>
        <p:spPr>
          <a:xfrm>
            <a:off x="507502" y="404613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TASK SPEC</a:t>
            </a:r>
            <a:endParaRPr b="0" i="0" sz="1400" u="none" cap="none" strike="noStrike">
              <a:solidFill>
                <a:srgbClr val="000000"/>
              </a:solidFill>
              <a:latin typeface="Arial"/>
              <a:ea typeface="Arial"/>
              <a:cs typeface="Arial"/>
              <a:sym typeface="Arial"/>
            </a:endParaRPr>
          </a:p>
        </p:txBody>
      </p:sp>
      <p:sp>
        <p:nvSpPr>
          <p:cNvPr id="498" name="Google Shape;498;p20"/>
          <p:cNvSpPr txBox="1"/>
          <p:nvPr/>
        </p:nvSpPr>
        <p:spPr>
          <a:xfrm>
            <a:off x="1549918" y="404613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Commander's current plan item</a:t>
            </a:r>
            <a:endParaRPr b="0" i="0" sz="1400" u="none" cap="none" strike="noStrike">
              <a:solidFill>
                <a:srgbClr val="000000"/>
              </a:solidFill>
              <a:latin typeface="Arial"/>
              <a:ea typeface="Arial"/>
              <a:cs typeface="Arial"/>
              <a:sym typeface="Arial"/>
            </a:endParaRPr>
          </a:p>
        </p:txBody>
      </p:sp>
      <p:cxnSp>
        <p:nvCxnSpPr>
          <p:cNvPr id="499" name="Google Shape;499;p20"/>
          <p:cNvCxnSpPr/>
          <p:nvPr/>
        </p:nvCxnSpPr>
        <p:spPr>
          <a:xfrm>
            <a:off x="0" y="5148072"/>
            <a:ext cx="0" cy="292608"/>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500" name="Google Shape;500;p20"/>
          <p:cNvSpPr/>
          <p:nvPr/>
        </p:nvSpPr>
        <p:spPr>
          <a:xfrm>
            <a:off x="397735" y="4907932"/>
            <a:ext cx="4032600" cy="512100"/>
          </a:xfrm>
          <a:prstGeom prst="rect">
            <a:avLst/>
          </a:prstGeom>
          <a:solidFill>
            <a:srgbClr val="041E0C"/>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1" name="Google Shape;501;p20"/>
          <p:cNvSpPr txBox="1"/>
          <p:nvPr/>
        </p:nvSpPr>
        <p:spPr>
          <a:xfrm>
            <a:off x="397735" y="4976546"/>
            <a:ext cx="4032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RETURNS: Structured ASG Delta (new nodes + edges only)</a:t>
            </a:r>
            <a:endParaRPr b="0" i="0" sz="1400" u="none" cap="none" strike="noStrike">
              <a:solidFill>
                <a:srgbClr val="000000"/>
              </a:solidFill>
              <a:latin typeface="Arial"/>
              <a:ea typeface="Arial"/>
              <a:cs typeface="Arial"/>
              <a:sym typeface="Arial"/>
            </a:endParaRPr>
          </a:p>
        </p:txBody>
      </p:sp>
      <p:sp>
        <p:nvSpPr>
          <p:cNvPr id="502" name="Google Shape;502;p20"/>
          <p:cNvSpPr txBox="1"/>
          <p:nvPr/>
        </p:nvSpPr>
        <p:spPr>
          <a:xfrm>
            <a:off x="397735" y="5202614"/>
            <a:ext cx="40326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Working context discarded — no raw history passes to Commander</a:t>
            </a:r>
            <a:endParaRPr b="0" i="0" sz="1400" u="none" cap="none" strike="noStrike">
              <a:solidFill>
                <a:srgbClr val="000000"/>
              </a:solidFill>
              <a:latin typeface="Arial"/>
              <a:ea typeface="Arial"/>
              <a:cs typeface="Arial"/>
              <a:sym typeface="Arial"/>
            </a:endParaRPr>
          </a:p>
        </p:txBody>
      </p:sp>
      <p:sp>
        <p:nvSpPr>
          <p:cNvPr id="503" name="Google Shape;503;p20"/>
          <p:cNvSpPr/>
          <p:nvPr/>
        </p:nvSpPr>
        <p:spPr>
          <a:xfrm>
            <a:off x="397735" y="5551486"/>
            <a:ext cx="4032600" cy="219600"/>
          </a:xfrm>
          <a:prstGeom prst="rect">
            <a:avLst/>
          </a:prstGeom>
          <a:solidFill>
            <a:srgbClr val="0C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4" name="Google Shape;504;p20"/>
          <p:cNvSpPr txBox="1"/>
          <p:nvPr/>
        </p:nvSpPr>
        <p:spPr>
          <a:xfrm>
            <a:off x="489175" y="5578918"/>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E5FF"/>
                </a:solidFill>
                <a:latin typeface="Calibri"/>
                <a:ea typeface="Calibri"/>
                <a:cs typeface="Calibri"/>
                <a:sym typeface="Calibri"/>
              </a:rPr>
              <a:t>✓  Commander context stays clean</a:t>
            </a:r>
            <a:endParaRPr b="0" i="0" sz="1400" u="none" cap="none" strike="noStrike">
              <a:solidFill>
                <a:srgbClr val="000000"/>
              </a:solidFill>
              <a:latin typeface="Arial"/>
              <a:ea typeface="Arial"/>
              <a:cs typeface="Arial"/>
              <a:sym typeface="Arial"/>
            </a:endParaRPr>
          </a:p>
        </p:txBody>
      </p:sp>
      <p:sp>
        <p:nvSpPr>
          <p:cNvPr id="505" name="Google Shape;505;p20"/>
          <p:cNvSpPr/>
          <p:nvPr/>
        </p:nvSpPr>
        <p:spPr>
          <a:xfrm>
            <a:off x="397735" y="5829211"/>
            <a:ext cx="4032600" cy="219600"/>
          </a:xfrm>
          <a:prstGeom prst="rect">
            <a:avLst/>
          </a:prstGeom>
          <a:solidFill>
            <a:srgbClr val="0C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6" name="Google Shape;506;p20"/>
          <p:cNvSpPr txBox="1"/>
          <p:nvPr/>
        </p:nvSpPr>
        <p:spPr>
          <a:xfrm>
            <a:off x="489175" y="5856643"/>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BD93F9"/>
                </a:solidFill>
                <a:latin typeface="Calibri"/>
                <a:ea typeface="Calibri"/>
                <a:cs typeface="Calibri"/>
                <a:sym typeface="Calibri"/>
              </a:rPr>
              <a:t>✓  Agents can't contaminate each other</a:t>
            </a:r>
            <a:endParaRPr b="0" i="0" sz="1400" u="none" cap="none" strike="noStrike">
              <a:solidFill>
                <a:srgbClr val="000000"/>
              </a:solidFill>
              <a:latin typeface="Arial"/>
              <a:ea typeface="Arial"/>
              <a:cs typeface="Arial"/>
              <a:sym typeface="Arial"/>
            </a:endParaRPr>
          </a:p>
        </p:txBody>
      </p:sp>
      <p:sp>
        <p:nvSpPr>
          <p:cNvPr id="507" name="Google Shape;507;p20"/>
          <p:cNvSpPr/>
          <p:nvPr/>
        </p:nvSpPr>
        <p:spPr>
          <a:xfrm>
            <a:off x="397735" y="6134374"/>
            <a:ext cx="4032600" cy="219600"/>
          </a:xfrm>
          <a:prstGeom prst="rect">
            <a:avLst/>
          </a:prstGeom>
          <a:solidFill>
            <a:srgbClr val="0C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8" name="Google Shape;508;p20"/>
          <p:cNvSpPr txBox="1"/>
          <p:nvPr/>
        </p:nvSpPr>
        <p:spPr>
          <a:xfrm>
            <a:off x="466425" y="6114981"/>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FF4545"/>
                </a:solidFill>
                <a:latin typeface="Calibri"/>
                <a:ea typeface="Calibri"/>
                <a:cs typeface="Calibri"/>
                <a:sym typeface="Calibri"/>
              </a:rPr>
              <a:t>✓  High-risk refusals don't bias planning</a:t>
            </a:r>
            <a:endParaRPr b="0" i="0" sz="1400" u="none" cap="none" strike="noStrike">
              <a:solidFill>
                <a:srgbClr val="000000"/>
              </a:solidFill>
              <a:latin typeface="Arial"/>
              <a:ea typeface="Arial"/>
              <a:cs typeface="Arial"/>
              <a:sym typeface="Arial"/>
            </a:endParaRPr>
          </a:p>
        </p:txBody>
      </p:sp>
      <p:sp>
        <p:nvSpPr>
          <p:cNvPr id="509" name="Google Shape;509;p20"/>
          <p:cNvSpPr/>
          <p:nvPr/>
        </p:nvSpPr>
        <p:spPr>
          <a:xfrm>
            <a:off x="4773168" y="822960"/>
            <a:ext cx="3572103" cy="1895856"/>
          </a:xfrm>
          <a:prstGeom prst="rect">
            <a:avLst/>
          </a:prstGeom>
          <a:solidFill>
            <a:srgbClr val="10162B"/>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0" name="Google Shape;510;p20"/>
          <p:cNvSpPr/>
          <p:nvPr/>
        </p:nvSpPr>
        <p:spPr>
          <a:xfrm>
            <a:off x="7339431" y="822960"/>
            <a:ext cx="1005840" cy="2194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1" name="Google Shape;511;p20"/>
          <p:cNvSpPr txBox="1"/>
          <p:nvPr/>
        </p:nvSpPr>
        <p:spPr>
          <a:xfrm>
            <a:off x="7339431" y="850392"/>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ORCHESTRATION</a:t>
            </a:r>
            <a:endParaRPr b="0" i="0" sz="1400" u="none" cap="none" strike="noStrike">
              <a:solidFill>
                <a:srgbClr val="000000"/>
              </a:solidFill>
              <a:latin typeface="Arial"/>
              <a:ea typeface="Arial"/>
              <a:cs typeface="Arial"/>
              <a:sym typeface="Arial"/>
            </a:endParaRPr>
          </a:p>
        </p:txBody>
      </p:sp>
      <p:sp>
        <p:nvSpPr>
          <p:cNvPr id="512" name="Google Shape;512;p20"/>
          <p:cNvSpPr txBox="1"/>
          <p:nvPr/>
        </p:nvSpPr>
        <p:spPr>
          <a:xfrm>
            <a:off x="4864608" y="859536"/>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E5FF"/>
                </a:solidFill>
                <a:latin typeface="Calibri"/>
                <a:ea typeface="Calibri"/>
                <a:cs typeface="Calibri"/>
                <a:sym typeface="Calibri"/>
              </a:rPr>
              <a:t>👑 Commander</a:t>
            </a:r>
            <a:endParaRPr b="0" i="0" sz="1400" u="none" cap="none" strike="noStrike">
              <a:solidFill>
                <a:srgbClr val="000000"/>
              </a:solidFill>
              <a:latin typeface="Arial"/>
              <a:ea typeface="Arial"/>
              <a:cs typeface="Arial"/>
              <a:sym typeface="Arial"/>
            </a:endParaRPr>
          </a:p>
        </p:txBody>
      </p:sp>
      <p:sp>
        <p:nvSpPr>
          <p:cNvPr id="513" name="Google Shape;513;p20"/>
          <p:cNvSpPr/>
          <p:nvPr/>
        </p:nvSpPr>
        <p:spPr>
          <a:xfrm>
            <a:off x="4864608" y="1133856"/>
            <a:ext cx="3389223" cy="18288"/>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4" name="Google Shape;514;p20"/>
          <p:cNvSpPr txBox="1"/>
          <p:nvPr/>
        </p:nvSpPr>
        <p:spPr>
          <a:xfrm>
            <a:off x="4864608" y="1170432"/>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Reads the dual graph. Plans. Delegates. Never runs tools.</a:t>
            </a:r>
            <a:endParaRPr b="0" i="0" sz="1400" u="none" cap="none" strike="noStrike">
              <a:solidFill>
                <a:srgbClr val="000000"/>
              </a:solidFill>
              <a:latin typeface="Arial"/>
              <a:ea typeface="Arial"/>
              <a:cs typeface="Arial"/>
              <a:sym typeface="Arial"/>
            </a:endParaRPr>
          </a:p>
        </p:txBody>
      </p:sp>
      <p:sp>
        <p:nvSpPr>
          <p:cNvPr id="515" name="Google Shape;515;p20"/>
          <p:cNvSpPr/>
          <p:nvPr/>
        </p:nvSpPr>
        <p:spPr>
          <a:xfrm>
            <a:off x="4864608" y="1417320"/>
            <a:ext cx="3389223" cy="219456"/>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6" name="Google Shape;516;p20"/>
          <p:cNvSpPr txBox="1"/>
          <p:nvPr/>
        </p:nvSpPr>
        <p:spPr>
          <a:xfrm>
            <a:off x="4937760" y="1435608"/>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No tools — reasons over ASG + APG</a:t>
            </a:r>
            <a:endParaRPr b="0" i="0" sz="1400" u="none" cap="none" strike="noStrike">
              <a:solidFill>
                <a:srgbClr val="000000"/>
              </a:solidFill>
              <a:latin typeface="Arial"/>
              <a:ea typeface="Arial"/>
              <a:cs typeface="Arial"/>
              <a:sym typeface="Arial"/>
            </a:endParaRPr>
          </a:p>
        </p:txBody>
      </p:sp>
      <p:sp>
        <p:nvSpPr>
          <p:cNvPr id="517" name="Google Shape;517;p20"/>
          <p:cNvSpPr txBox="1"/>
          <p:nvPr/>
        </p:nvSpPr>
        <p:spPr>
          <a:xfrm>
            <a:off x="4864608" y="1673352"/>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Only agent that writes to APG. Approves High-risk ops via mailbox.</a:t>
            </a:r>
            <a:endParaRPr b="0" i="0" sz="1400" u="none" cap="none" strike="noStrike">
              <a:solidFill>
                <a:srgbClr val="000000"/>
              </a:solidFill>
              <a:latin typeface="Arial"/>
              <a:ea typeface="Arial"/>
              <a:cs typeface="Arial"/>
              <a:sym typeface="Arial"/>
            </a:endParaRPr>
          </a:p>
        </p:txBody>
      </p:sp>
      <p:sp>
        <p:nvSpPr>
          <p:cNvPr id="518" name="Google Shape;518;p20"/>
          <p:cNvSpPr/>
          <p:nvPr/>
        </p:nvSpPr>
        <p:spPr>
          <a:xfrm>
            <a:off x="8454999" y="822960"/>
            <a:ext cx="3572103" cy="1895856"/>
          </a:xfrm>
          <a:prstGeom prst="rect">
            <a:avLst/>
          </a:prstGeom>
          <a:solidFill>
            <a:srgbClr val="10162B"/>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9" name="Google Shape;519;p20"/>
          <p:cNvSpPr/>
          <p:nvPr/>
        </p:nvSpPr>
        <p:spPr>
          <a:xfrm>
            <a:off x="11021263" y="822960"/>
            <a:ext cx="1005840" cy="21945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0" name="Google Shape;520;p20"/>
          <p:cNvSpPr txBox="1"/>
          <p:nvPr/>
        </p:nvSpPr>
        <p:spPr>
          <a:xfrm>
            <a:off x="11021263" y="850392"/>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1</a:t>
            </a:r>
            <a:endParaRPr b="0" i="0" sz="1400" u="none" cap="none" strike="noStrike">
              <a:solidFill>
                <a:srgbClr val="000000"/>
              </a:solidFill>
              <a:latin typeface="Arial"/>
              <a:ea typeface="Arial"/>
              <a:cs typeface="Arial"/>
              <a:sym typeface="Arial"/>
            </a:endParaRPr>
          </a:p>
        </p:txBody>
      </p:sp>
      <p:sp>
        <p:nvSpPr>
          <p:cNvPr id="521" name="Google Shape;521;p20"/>
          <p:cNvSpPr txBox="1"/>
          <p:nvPr/>
        </p:nvSpPr>
        <p:spPr>
          <a:xfrm>
            <a:off x="8546439" y="859536"/>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 Recon</a:t>
            </a:r>
            <a:endParaRPr b="0" i="0" sz="1400" u="none" cap="none" strike="noStrike">
              <a:solidFill>
                <a:srgbClr val="000000"/>
              </a:solidFill>
              <a:latin typeface="Arial"/>
              <a:ea typeface="Arial"/>
              <a:cs typeface="Arial"/>
              <a:sym typeface="Arial"/>
            </a:endParaRPr>
          </a:p>
        </p:txBody>
      </p:sp>
      <p:sp>
        <p:nvSpPr>
          <p:cNvPr id="522" name="Google Shape;522;p20"/>
          <p:cNvSpPr/>
          <p:nvPr/>
        </p:nvSpPr>
        <p:spPr>
          <a:xfrm>
            <a:off x="8546439" y="1133856"/>
            <a:ext cx="3389223" cy="1828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3" name="Google Shape;523;p20"/>
          <p:cNvSpPr txBox="1"/>
          <p:nvPr/>
        </p:nvSpPr>
        <p:spPr>
          <a:xfrm>
            <a:off x="8546439" y="1170432"/>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External reconnaissance and host discovery.</a:t>
            </a:r>
            <a:endParaRPr b="0" i="0" sz="1400" u="none" cap="none" strike="noStrike">
              <a:solidFill>
                <a:srgbClr val="000000"/>
              </a:solidFill>
              <a:latin typeface="Arial"/>
              <a:ea typeface="Arial"/>
              <a:cs typeface="Arial"/>
              <a:sym typeface="Arial"/>
            </a:endParaRPr>
          </a:p>
        </p:txBody>
      </p:sp>
      <p:sp>
        <p:nvSpPr>
          <p:cNvPr id="524" name="Google Shape;524;p20"/>
          <p:cNvSpPr/>
          <p:nvPr/>
        </p:nvSpPr>
        <p:spPr>
          <a:xfrm>
            <a:off x="8546439" y="1417320"/>
            <a:ext cx="3389223" cy="219456"/>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5" name="Google Shape;525;p20"/>
          <p:cNvSpPr txBox="1"/>
          <p:nvPr/>
        </p:nvSpPr>
        <p:spPr>
          <a:xfrm>
            <a:off x="8619591" y="1435608"/>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526" name="Google Shape;526;p20"/>
          <p:cNvSpPr txBox="1"/>
          <p:nvPr/>
        </p:nvSpPr>
        <p:spPr>
          <a:xfrm>
            <a:off x="8546439" y="1673352"/>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Domain, Host, Port, Service nodes to ASG.</a:t>
            </a:r>
            <a:endParaRPr b="0" i="0" sz="1400" u="none" cap="none" strike="noStrike">
              <a:solidFill>
                <a:srgbClr val="000000"/>
              </a:solidFill>
              <a:latin typeface="Arial"/>
              <a:ea typeface="Arial"/>
              <a:cs typeface="Arial"/>
              <a:sym typeface="Arial"/>
            </a:endParaRPr>
          </a:p>
        </p:txBody>
      </p:sp>
      <p:sp>
        <p:nvSpPr>
          <p:cNvPr id="527" name="Google Shape;527;p20"/>
          <p:cNvSpPr/>
          <p:nvPr/>
        </p:nvSpPr>
        <p:spPr>
          <a:xfrm>
            <a:off x="4773168" y="2810256"/>
            <a:ext cx="3572103" cy="1895856"/>
          </a:xfrm>
          <a:prstGeom prst="rect">
            <a:avLst/>
          </a:prstGeom>
          <a:solidFill>
            <a:srgbClr val="10162B"/>
          </a:solidFill>
          <a:ln cap="flat" cmpd="sng" w="1777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8" name="Google Shape;528;p20"/>
          <p:cNvSpPr/>
          <p:nvPr/>
        </p:nvSpPr>
        <p:spPr>
          <a:xfrm>
            <a:off x="7339431" y="2810256"/>
            <a:ext cx="1005840" cy="219456"/>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9" name="Google Shape;529;p20"/>
          <p:cNvSpPr txBox="1"/>
          <p:nvPr/>
        </p:nvSpPr>
        <p:spPr>
          <a:xfrm>
            <a:off x="7339431" y="2837688"/>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2</a:t>
            </a:r>
            <a:endParaRPr b="0" i="0" sz="1400" u="none" cap="none" strike="noStrike">
              <a:solidFill>
                <a:srgbClr val="000000"/>
              </a:solidFill>
              <a:latin typeface="Arial"/>
              <a:ea typeface="Arial"/>
              <a:cs typeface="Arial"/>
              <a:sym typeface="Arial"/>
            </a:endParaRPr>
          </a:p>
        </p:txBody>
      </p:sp>
      <p:sp>
        <p:nvSpPr>
          <p:cNvPr id="530" name="Google Shape;530;p20"/>
          <p:cNvSpPr txBox="1"/>
          <p:nvPr/>
        </p:nvSpPr>
        <p:spPr>
          <a:xfrm>
            <a:off x="4864608" y="2846832"/>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 Analysis</a:t>
            </a:r>
            <a:endParaRPr b="0" i="0" sz="1400" u="none" cap="none" strike="noStrike">
              <a:solidFill>
                <a:srgbClr val="000000"/>
              </a:solidFill>
              <a:latin typeface="Arial"/>
              <a:ea typeface="Arial"/>
              <a:cs typeface="Arial"/>
              <a:sym typeface="Arial"/>
            </a:endParaRPr>
          </a:p>
        </p:txBody>
      </p:sp>
      <p:sp>
        <p:nvSpPr>
          <p:cNvPr id="531" name="Google Shape;531;p20"/>
          <p:cNvSpPr/>
          <p:nvPr/>
        </p:nvSpPr>
        <p:spPr>
          <a:xfrm>
            <a:off x="4864608" y="3121152"/>
            <a:ext cx="3389223" cy="18288"/>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2" name="Google Shape;532;p20"/>
          <p:cNvSpPr txBox="1"/>
          <p:nvPr/>
        </p:nvSpPr>
        <p:spPr>
          <a:xfrm>
            <a:off x="4864608" y="3157728"/>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Deep enumeration and vulnerability discovery.</a:t>
            </a:r>
            <a:endParaRPr b="0" i="0" sz="1400" u="none" cap="none" strike="noStrike">
              <a:solidFill>
                <a:srgbClr val="000000"/>
              </a:solidFill>
              <a:latin typeface="Arial"/>
              <a:ea typeface="Arial"/>
              <a:cs typeface="Arial"/>
              <a:sym typeface="Arial"/>
            </a:endParaRPr>
          </a:p>
        </p:txBody>
      </p:sp>
      <p:sp>
        <p:nvSpPr>
          <p:cNvPr id="533" name="Google Shape;533;p20"/>
          <p:cNvSpPr/>
          <p:nvPr/>
        </p:nvSpPr>
        <p:spPr>
          <a:xfrm>
            <a:off x="4864608" y="3404616"/>
            <a:ext cx="3389223" cy="219456"/>
          </a:xfrm>
          <a:prstGeom prst="rect">
            <a:avLst/>
          </a:prstGeom>
          <a:solidFill>
            <a:srgbClr val="0810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4" name="Google Shape;534;p20"/>
          <p:cNvSpPr txBox="1"/>
          <p:nvPr/>
        </p:nvSpPr>
        <p:spPr>
          <a:xfrm>
            <a:off x="4937760" y="3422904"/>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BFD8"/>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535" name="Google Shape;535;p20"/>
          <p:cNvSpPr txBox="1"/>
          <p:nvPr/>
        </p:nvSpPr>
        <p:spPr>
          <a:xfrm>
            <a:off x="4864608" y="3660648"/>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Technology, Endpoint, Parameter, Vulnerability nodes.</a:t>
            </a:r>
            <a:endParaRPr b="0" i="0" sz="1400" u="none" cap="none" strike="noStrike">
              <a:solidFill>
                <a:srgbClr val="000000"/>
              </a:solidFill>
              <a:latin typeface="Arial"/>
              <a:ea typeface="Arial"/>
              <a:cs typeface="Arial"/>
              <a:sym typeface="Arial"/>
            </a:endParaRPr>
          </a:p>
        </p:txBody>
      </p:sp>
      <p:sp>
        <p:nvSpPr>
          <p:cNvPr id="536" name="Google Shape;536;p20"/>
          <p:cNvSpPr/>
          <p:nvPr/>
        </p:nvSpPr>
        <p:spPr>
          <a:xfrm>
            <a:off x="8454999" y="2810256"/>
            <a:ext cx="3572103" cy="1895856"/>
          </a:xfrm>
          <a:prstGeom prst="rect">
            <a:avLst/>
          </a:prstGeom>
          <a:solidFill>
            <a:srgbClr val="10162B"/>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7" name="Google Shape;537;p20"/>
          <p:cNvSpPr/>
          <p:nvPr/>
        </p:nvSpPr>
        <p:spPr>
          <a:xfrm>
            <a:off x="11021263" y="2810256"/>
            <a:ext cx="1005840"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8" name="Google Shape;538;p20"/>
          <p:cNvSpPr txBox="1"/>
          <p:nvPr/>
        </p:nvSpPr>
        <p:spPr>
          <a:xfrm>
            <a:off x="11021263" y="2837688"/>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INTELLIGENCE</a:t>
            </a:r>
            <a:endParaRPr b="0" i="0" sz="1400" u="none" cap="none" strike="noStrike">
              <a:solidFill>
                <a:srgbClr val="000000"/>
              </a:solidFill>
              <a:latin typeface="Arial"/>
              <a:ea typeface="Arial"/>
              <a:cs typeface="Arial"/>
              <a:sym typeface="Arial"/>
            </a:endParaRPr>
          </a:p>
        </p:txBody>
      </p:sp>
      <p:sp>
        <p:nvSpPr>
          <p:cNvPr id="539" name="Google Shape;539;p20"/>
          <p:cNvSpPr txBox="1"/>
          <p:nvPr/>
        </p:nvSpPr>
        <p:spPr>
          <a:xfrm>
            <a:off x="8546439" y="2846832"/>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 Research</a:t>
            </a:r>
            <a:endParaRPr b="0" i="0" sz="1400" u="none" cap="none" strike="noStrike">
              <a:solidFill>
                <a:srgbClr val="000000"/>
              </a:solidFill>
              <a:latin typeface="Arial"/>
              <a:ea typeface="Arial"/>
              <a:cs typeface="Arial"/>
              <a:sym typeface="Arial"/>
            </a:endParaRPr>
          </a:p>
        </p:txBody>
      </p:sp>
      <p:sp>
        <p:nvSpPr>
          <p:cNvPr id="540" name="Google Shape;540;p20"/>
          <p:cNvSpPr/>
          <p:nvPr/>
        </p:nvSpPr>
        <p:spPr>
          <a:xfrm>
            <a:off x="8546439" y="3121152"/>
            <a:ext cx="3389223" cy="18288"/>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1" name="Google Shape;541;p20"/>
          <p:cNvSpPr txBox="1"/>
          <p:nvPr/>
        </p:nvSpPr>
        <p:spPr>
          <a:xfrm>
            <a:off x="8546439" y="3157728"/>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Live CVE grounding — only agent with outbound internet access.</a:t>
            </a:r>
            <a:endParaRPr b="0" i="0" sz="1400" u="none" cap="none" strike="noStrike">
              <a:solidFill>
                <a:srgbClr val="000000"/>
              </a:solidFill>
              <a:latin typeface="Arial"/>
              <a:ea typeface="Arial"/>
              <a:cs typeface="Arial"/>
              <a:sym typeface="Arial"/>
            </a:endParaRPr>
          </a:p>
        </p:txBody>
      </p:sp>
      <p:sp>
        <p:nvSpPr>
          <p:cNvPr id="542" name="Google Shape;542;p20"/>
          <p:cNvSpPr/>
          <p:nvPr/>
        </p:nvSpPr>
        <p:spPr>
          <a:xfrm>
            <a:off x="8546439" y="3404616"/>
            <a:ext cx="3389223" cy="219456"/>
          </a:xfrm>
          <a:prstGeom prst="rect">
            <a:avLst/>
          </a:prstGeom>
          <a:solidFill>
            <a:srgbClr val="08102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3" name="Google Shape;543;p20"/>
          <p:cNvSpPr txBox="1"/>
          <p:nvPr/>
        </p:nvSpPr>
        <p:spPr>
          <a:xfrm>
            <a:off x="8619591" y="3422904"/>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NVD · Exploit-DB · GitHub · Vendor Advisories</a:t>
            </a:r>
            <a:endParaRPr b="0" i="0" sz="1400" u="none" cap="none" strike="noStrike">
              <a:solidFill>
                <a:srgbClr val="000000"/>
              </a:solidFill>
              <a:latin typeface="Arial"/>
              <a:ea typeface="Arial"/>
              <a:cs typeface="Arial"/>
              <a:sym typeface="Arial"/>
            </a:endParaRPr>
          </a:p>
        </p:txBody>
      </p:sp>
      <p:sp>
        <p:nvSpPr>
          <p:cNvPr id="544" name="Google Shape;544;p20"/>
          <p:cNvSpPr txBox="1"/>
          <p:nvPr/>
        </p:nvSpPr>
        <p:spPr>
          <a:xfrm>
            <a:off x="8546439" y="3660648"/>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Enriches ASG Vulnerability nodes with real-time CVSS + PoC data.</a:t>
            </a:r>
            <a:endParaRPr b="0" i="0" sz="1400" u="none" cap="none" strike="noStrike">
              <a:solidFill>
                <a:srgbClr val="000000"/>
              </a:solidFill>
              <a:latin typeface="Arial"/>
              <a:ea typeface="Arial"/>
              <a:cs typeface="Arial"/>
              <a:sym typeface="Arial"/>
            </a:endParaRPr>
          </a:p>
        </p:txBody>
      </p:sp>
      <p:sp>
        <p:nvSpPr>
          <p:cNvPr id="545" name="Google Shape;545;p20"/>
          <p:cNvSpPr/>
          <p:nvPr/>
        </p:nvSpPr>
        <p:spPr>
          <a:xfrm>
            <a:off x="4773168" y="4797552"/>
            <a:ext cx="3572103" cy="1895856"/>
          </a:xfrm>
          <a:prstGeom prst="rect">
            <a:avLst/>
          </a:prstGeom>
          <a:solidFill>
            <a:srgbClr val="10162B"/>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6" name="Google Shape;546;p20"/>
          <p:cNvSpPr/>
          <p:nvPr/>
        </p:nvSpPr>
        <p:spPr>
          <a:xfrm>
            <a:off x="7339431" y="4797552"/>
            <a:ext cx="1005840" cy="21945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7" name="Google Shape;547;p20"/>
          <p:cNvSpPr txBox="1"/>
          <p:nvPr/>
        </p:nvSpPr>
        <p:spPr>
          <a:xfrm>
            <a:off x="7339431" y="4824984"/>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548" name="Google Shape;548;p20"/>
          <p:cNvSpPr txBox="1"/>
          <p:nvPr/>
        </p:nvSpPr>
        <p:spPr>
          <a:xfrm>
            <a:off x="4864608" y="4834128"/>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4545"/>
                </a:solidFill>
                <a:latin typeface="Calibri"/>
                <a:ea typeface="Calibri"/>
                <a:cs typeface="Calibri"/>
                <a:sym typeface="Calibri"/>
              </a:rPr>
              <a:t>🎯 Validation</a:t>
            </a:r>
            <a:endParaRPr b="0" i="0" sz="1400" u="none" cap="none" strike="noStrike">
              <a:solidFill>
                <a:srgbClr val="000000"/>
              </a:solidFill>
              <a:latin typeface="Arial"/>
              <a:ea typeface="Arial"/>
              <a:cs typeface="Arial"/>
              <a:sym typeface="Arial"/>
            </a:endParaRPr>
          </a:p>
        </p:txBody>
      </p:sp>
      <p:sp>
        <p:nvSpPr>
          <p:cNvPr id="549" name="Google Shape;549;p20"/>
          <p:cNvSpPr/>
          <p:nvPr/>
        </p:nvSpPr>
        <p:spPr>
          <a:xfrm>
            <a:off x="4864608" y="5108448"/>
            <a:ext cx="3389223" cy="18288"/>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0" name="Google Shape;550;p20"/>
          <p:cNvSpPr txBox="1"/>
          <p:nvPr/>
        </p:nvSpPr>
        <p:spPr>
          <a:xfrm>
            <a:off x="4864608" y="5145024"/>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Proves vulnerabilities are real and exploitable.</a:t>
            </a:r>
            <a:endParaRPr b="0" i="0" sz="1400" u="none" cap="none" strike="noStrike">
              <a:solidFill>
                <a:srgbClr val="000000"/>
              </a:solidFill>
              <a:latin typeface="Arial"/>
              <a:ea typeface="Arial"/>
              <a:cs typeface="Arial"/>
              <a:sym typeface="Arial"/>
            </a:endParaRPr>
          </a:p>
        </p:txBody>
      </p:sp>
      <p:sp>
        <p:nvSpPr>
          <p:cNvPr id="551" name="Google Shape;551;p20"/>
          <p:cNvSpPr/>
          <p:nvPr/>
        </p:nvSpPr>
        <p:spPr>
          <a:xfrm>
            <a:off x="4864608" y="5391912"/>
            <a:ext cx="3389223" cy="219456"/>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2" name="Google Shape;552;p20"/>
          <p:cNvSpPr txBox="1"/>
          <p:nvPr/>
        </p:nvSpPr>
        <p:spPr>
          <a:xfrm>
            <a:off x="4937760" y="5410200"/>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SQLMap  ·  Metasploit</a:t>
            </a:r>
            <a:endParaRPr b="0" i="0" sz="1400" u="none" cap="none" strike="noStrike">
              <a:solidFill>
                <a:srgbClr val="000000"/>
              </a:solidFill>
              <a:latin typeface="Arial"/>
              <a:ea typeface="Arial"/>
              <a:cs typeface="Arial"/>
              <a:sym typeface="Arial"/>
            </a:endParaRPr>
          </a:p>
        </p:txBody>
      </p:sp>
      <p:sp>
        <p:nvSpPr>
          <p:cNvPr id="553" name="Google Shape;553;p20"/>
          <p:cNvSpPr txBox="1"/>
          <p:nvPr/>
        </p:nvSpPr>
        <p:spPr>
          <a:xfrm>
            <a:off x="4864608" y="5647944"/>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Self-debugging loop: Diagnose → Contextualize → Adapt → Cap (×3).</a:t>
            </a:r>
            <a:endParaRPr b="0" i="0" sz="1400" u="none" cap="none" strike="noStrike">
              <a:solidFill>
                <a:srgbClr val="000000"/>
              </a:solidFill>
              <a:latin typeface="Arial"/>
              <a:ea typeface="Arial"/>
              <a:cs typeface="Arial"/>
              <a:sym typeface="Arial"/>
            </a:endParaRPr>
          </a:p>
        </p:txBody>
      </p:sp>
      <p:sp>
        <p:nvSpPr>
          <p:cNvPr id="554" name="Google Shape;554;p20"/>
          <p:cNvSpPr/>
          <p:nvPr/>
        </p:nvSpPr>
        <p:spPr>
          <a:xfrm>
            <a:off x="8454999" y="4797552"/>
            <a:ext cx="3572103" cy="1895856"/>
          </a:xfrm>
          <a:prstGeom prst="rect">
            <a:avLst/>
          </a:prstGeom>
          <a:solidFill>
            <a:srgbClr val="10162B"/>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5" name="Google Shape;555;p20"/>
          <p:cNvSpPr/>
          <p:nvPr/>
        </p:nvSpPr>
        <p:spPr>
          <a:xfrm>
            <a:off x="11021263" y="4797552"/>
            <a:ext cx="1005840" cy="21945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6" name="Google Shape;556;p20"/>
          <p:cNvSpPr txBox="1"/>
          <p:nvPr/>
        </p:nvSpPr>
        <p:spPr>
          <a:xfrm>
            <a:off x="11021263" y="4824984"/>
            <a:ext cx="100584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557" name="Google Shape;557;p20"/>
          <p:cNvSpPr txBox="1"/>
          <p:nvPr/>
        </p:nvSpPr>
        <p:spPr>
          <a:xfrm>
            <a:off x="8546439" y="4834128"/>
            <a:ext cx="2429103"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D93F9"/>
                </a:solidFill>
                <a:latin typeface="Calibri"/>
                <a:ea typeface="Calibri"/>
                <a:cs typeface="Calibri"/>
                <a:sym typeface="Calibri"/>
              </a:rPr>
              <a:t>📸 Evidence</a:t>
            </a:r>
            <a:endParaRPr b="0" i="0" sz="1400" u="none" cap="none" strike="noStrike">
              <a:solidFill>
                <a:srgbClr val="000000"/>
              </a:solidFill>
              <a:latin typeface="Arial"/>
              <a:ea typeface="Arial"/>
              <a:cs typeface="Arial"/>
              <a:sym typeface="Arial"/>
            </a:endParaRPr>
          </a:p>
        </p:txBody>
      </p:sp>
      <p:sp>
        <p:nvSpPr>
          <p:cNvPr id="558" name="Google Shape;558;p20"/>
          <p:cNvSpPr/>
          <p:nvPr/>
        </p:nvSpPr>
        <p:spPr>
          <a:xfrm>
            <a:off x="8546439" y="5108448"/>
            <a:ext cx="3389223" cy="18288"/>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9" name="Google Shape;559;p20"/>
          <p:cNvSpPr txBox="1"/>
          <p:nvPr/>
        </p:nvSpPr>
        <p:spPr>
          <a:xfrm>
            <a:off x="8546439" y="5145024"/>
            <a:ext cx="3407511"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Captures proof artifacts for every validated finding.</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a:off x="8546439" y="5391912"/>
            <a:ext cx="3389223" cy="219456"/>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1" name="Google Shape;561;p20"/>
          <p:cNvSpPr txBox="1"/>
          <p:nvPr/>
        </p:nvSpPr>
        <p:spPr>
          <a:xfrm>
            <a:off x="8619591" y="5410200"/>
            <a:ext cx="3297783"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sp>
        <p:nvSpPr>
          <p:cNvPr id="562" name="Google Shape;562;p20"/>
          <p:cNvSpPr txBox="1"/>
          <p:nvPr/>
        </p:nvSpPr>
        <p:spPr>
          <a:xfrm>
            <a:off x="8546439" y="5647944"/>
            <a:ext cx="3407511" cy="981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Links Evidence nodes to ASG findings via validated_by edges.</a:t>
            </a:r>
            <a:endParaRPr b="0" i="0" sz="1400" u="none" cap="none" strike="noStrike">
              <a:solidFill>
                <a:srgbClr val="000000"/>
              </a:solidFill>
              <a:latin typeface="Arial"/>
              <a:ea typeface="Arial"/>
              <a:cs typeface="Arial"/>
              <a:sym typeface="Arial"/>
            </a:endParaRPr>
          </a:p>
        </p:txBody>
      </p:sp>
      <p:sp>
        <p:nvSpPr>
          <p:cNvPr id="563" name="Google Shape;563;p20"/>
          <p:cNvSpPr txBox="1"/>
          <p:nvPr/>
        </p:nvSpPr>
        <p:spPr>
          <a:xfrm>
            <a:off x="11617897" y="128125"/>
            <a:ext cx="4092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06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568" name="Shape 568"/>
        <p:cNvGrpSpPr/>
        <p:nvPr/>
      </p:nvGrpSpPr>
      <p:grpSpPr>
        <a:xfrm>
          <a:off x="0" y="0"/>
          <a:ext cx="0" cy="0"/>
          <a:chOff x="0" y="0"/>
          <a:chExt cx="0" cy="0"/>
        </a:xfrm>
      </p:grpSpPr>
      <p:sp>
        <p:nvSpPr>
          <p:cNvPr id="569" name="Google Shape;569;p21"/>
          <p:cNvSpPr/>
          <p:nvPr/>
        </p:nvSpPr>
        <p:spPr>
          <a:xfrm>
            <a:off x="365760" y="121920"/>
            <a:ext cx="609600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AGENT ARCHITECTURE</a:t>
            </a:r>
            <a:endParaRPr b="0" i="0" sz="1100" u="none" cap="none" strike="noStrike">
              <a:solidFill>
                <a:schemeClr val="dk1"/>
              </a:solidFill>
              <a:latin typeface="Calibri"/>
              <a:ea typeface="Calibri"/>
              <a:cs typeface="Calibri"/>
              <a:sym typeface="Calibri"/>
            </a:endParaRPr>
          </a:p>
        </p:txBody>
      </p:sp>
      <p:sp>
        <p:nvSpPr>
          <p:cNvPr id="570" name="Google Shape;570;p21"/>
          <p:cNvSpPr/>
          <p:nvPr/>
        </p:nvSpPr>
        <p:spPr>
          <a:xfrm>
            <a:off x="365760" y="341376"/>
            <a:ext cx="114604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US" sz="2300" u="none" cap="none" strike="noStrike">
                <a:solidFill>
                  <a:srgbClr val="FFFFFF"/>
                </a:solidFill>
                <a:latin typeface="Calibri"/>
                <a:ea typeface="Calibri"/>
                <a:cs typeface="Calibri"/>
                <a:sym typeface="Calibri"/>
              </a:rPr>
              <a:t>Context-Isolated Agent Spawn Lifecycle</a:t>
            </a:r>
            <a:endParaRPr b="0" i="0" sz="2300" u="none" cap="none" strike="noStrike">
              <a:solidFill>
                <a:schemeClr val="dk1"/>
              </a:solidFill>
              <a:latin typeface="Calibri"/>
              <a:ea typeface="Calibri"/>
              <a:cs typeface="Calibri"/>
              <a:sym typeface="Calibri"/>
            </a:endParaRPr>
          </a:p>
        </p:txBody>
      </p:sp>
      <p:sp>
        <p:nvSpPr>
          <p:cNvPr id="571" name="Google Shape;571;p21"/>
          <p:cNvSpPr/>
          <p:nvPr/>
        </p:nvSpPr>
        <p:spPr>
          <a:xfrm>
            <a:off x="365760" y="755904"/>
            <a:ext cx="1146048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Every agent is born fresh · does exactly one job · dies clean · leaves only structured graph state behind</a:t>
            </a:r>
            <a:endParaRPr b="0" i="0" sz="1000" u="none" cap="none" strike="noStrike">
              <a:solidFill>
                <a:schemeClr val="dk1"/>
              </a:solidFill>
              <a:latin typeface="Calibri"/>
              <a:ea typeface="Calibri"/>
              <a:cs typeface="Calibri"/>
              <a:sym typeface="Calibri"/>
            </a:endParaRPr>
          </a:p>
        </p:txBody>
      </p:sp>
      <p:sp>
        <p:nvSpPr>
          <p:cNvPr id="572" name="Google Shape;572;p21"/>
          <p:cNvSpPr/>
          <p:nvPr/>
        </p:nvSpPr>
        <p:spPr>
          <a:xfrm>
            <a:off x="341376" y="1048512"/>
            <a:ext cx="7315200" cy="5486400"/>
          </a:xfrm>
          <a:prstGeom prst="roundRect">
            <a:avLst>
              <a:gd fmla="val 1778" name="adj"/>
            </a:avLst>
          </a:prstGeom>
          <a:solidFill>
            <a:srgbClr val="060E1C"/>
          </a:solidFill>
          <a:ln cap="flat" cmpd="sng" w="10150">
            <a:solidFill>
              <a:srgbClr val="1E2D4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3" name="Google Shape;573;p21"/>
          <p:cNvSpPr/>
          <p:nvPr/>
        </p:nvSpPr>
        <p:spPr>
          <a:xfrm>
            <a:off x="548640" y="1097280"/>
            <a:ext cx="1097280" cy="390144"/>
          </a:xfrm>
          <a:prstGeom prst="roundRect">
            <a:avLst>
              <a:gd fmla="val 15625" name="adj"/>
            </a:avLst>
          </a:prstGeom>
          <a:solidFill>
            <a:srgbClr val="0D1A2E"/>
          </a:solidFill>
          <a:ln cap="flat" cmpd="sng" w="12700">
            <a:solidFill>
              <a:srgbClr val="00D4FF"/>
            </a:solidFill>
            <a:prstDash val="solid"/>
            <a:round/>
            <a:headEnd len="sm" w="sm" type="none"/>
            <a:tailEnd len="sm" w="sm" type="none"/>
          </a:ln>
          <a:effectLst>
            <a:outerShdw blurRad="101600" rotWithShape="0" algn="bl" dir="2700000" dist="25400">
              <a:srgbClr val="000000">
                <a:alpha val="34901"/>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4" name="Google Shape;574;p21"/>
          <p:cNvSpPr/>
          <p:nvPr/>
        </p:nvSpPr>
        <p:spPr>
          <a:xfrm>
            <a:off x="548640" y="1097280"/>
            <a:ext cx="1097280" cy="390144"/>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Commander</a:t>
            </a:r>
            <a:endParaRPr b="0" i="0" sz="800" u="none" cap="none" strike="noStrike">
              <a:solidFill>
                <a:schemeClr val="dk1"/>
              </a:solidFill>
              <a:latin typeface="Calibri"/>
              <a:ea typeface="Calibri"/>
              <a:cs typeface="Calibri"/>
              <a:sym typeface="Calibri"/>
            </a:endParaRPr>
          </a:p>
        </p:txBody>
      </p:sp>
      <p:cxnSp>
        <p:nvCxnSpPr>
          <p:cNvPr id="575" name="Google Shape;575;p21"/>
          <p:cNvCxnSpPr/>
          <p:nvPr/>
        </p:nvCxnSpPr>
        <p:spPr>
          <a:xfrm>
            <a:off x="1097280" y="1487424"/>
            <a:ext cx="0" cy="4828032"/>
          </a:xfrm>
          <a:prstGeom prst="straightConnector1">
            <a:avLst/>
          </a:prstGeom>
          <a:noFill/>
          <a:ln cap="flat" cmpd="sng" w="9525">
            <a:solidFill>
              <a:srgbClr val="1E2D45"/>
            </a:solidFill>
            <a:prstDash val="dash"/>
            <a:round/>
            <a:headEnd len="sm" w="sm" type="none"/>
            <a:tailEnd len="sm" w="sm" type="none"/>
          </a:ln>
        </p:spPr>
      </p:cxnSp>
      <p:sp>
        <p:nvSpPr>
          <p:cNvPr id="576" name="Google Shape;576;p21"/>
          <p:cNvSpPr/>
          <p:nvPr/>
        </p:nvSpPr>
        <p:spPr>
          <a:xfrm>
            <a:off x="2097024" y="1097280"/>
            <a:ext cx="1097280" cy="390144"/>
          </a:xfrm>
          <a:prstGeom prst="roundRect">
            <a:avLst>
              <a:gd fmla="val 15625" name="adj"/>
            </a:avLst>
          </a:prstGeom>
          <a:solidFill>
            <a:srgbClr val="0D1A2E"/>
          </a:solidFill>
          <a:ln cap="flat" cmpd="sng" w="12700">
            <a:solidFill>
              <a:srgbClr val="CE93D8"/>
            </a:solidFill>
            <a:prstDash val="solid"/>
            <a:round/>
            <a:headEnd len="sm" w="sm" type="none"/>
            <a:tailEnd len="sm" w="sm" type="none"/>
          </a:ln>
          <a:effectLst>
            <a:outerShdw blurRad="101600" rotWithShape="0" algn="bl" dir="2700000" dist="25400">
              <a:srgbClr val="000000">
                <a:alpha val="34901"/>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7" name="Google Shape;577;p21"/>
          <p:cNvSpPr/>
          <p:nvPr/>
        </p:nvSpPr>
        <p:spPr>
          <a:xfrm>
            <a:off x="2097024" y="1097280"/>
            <a:ext cx="1097280" cy="390144"/>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Agent</a:t>
            </a:r>
            <a:endParaRPr b="0" i="0" sz="800" u="none" cap="none" strike="noStrike">
              <a:solidFill>
                <a:schemeClr val="dk1"/>
              </a:solidFill>
              <a:latin typeface="Calibri"/>
              <a:ea typeface="Calibri"/>
              <a:cs typeface="Calibri"/>
              <a:sym typeface="Calibri"/>
            </a:endParaRPr>
          </a:p>
        </p:txBody>
      </p:sp>
      <p:cxnSp>
        <p:nvCxnSpPr>
          <p:cNvPr id="578" name="Google Shape;578;p21"/>
          <p:cNvCxnSpPr/>
          <p:nvPr/>
        </p:nvCxnSpPr>
        <p:spPr>
          <a:xfrm>
            <a:off x="2645664" y="1487424"/>
            <a:ext cx="0" cy="4828032"/>
          </a:xfrm>
          <a:prstGeom prst="straightConnector1">
            <a:avLst/>
          </a:prstGeom>
          <a:noFill/>
          <a:ln cap="flat" cmpd="sng" w="9525">
            <a:solidFill>
              <a:srgbClr val="1E2D45"/>
            </a:solidFill>
            <a:prstDash val="dash"/>
            <a:round/>
            <a:headEnd len="sm" w="sm" type="none"/>
            <a:tailEnd len="sm" w="sm" type="none"/>
          </a:ln>
        </p:spPr>
      </p:cxnSp>
      <p:sp>
        <p:nvSpPr>
          <p:cNvPr id="579" name="Google Shape;579;p21"/>
          <p:cNvSpPr/>
          <p:nvPr/>
        </p:nvSpPr>
        <p:spPr>
          <a:xfrm>
            <a:off x="3645408" y="1097280"/>
            <a:ext cx="1097280" cy="390144"/>
          </a:xfrm>
          <a:prstGeom prst="roundRect">
            <a:avLst>
              <a:gd fmla="val 15625" name="adj"/>
            </a:avLst>
          </a:prstGeom>
          <a:solidFill>
            <a:srgbClr val="0D1A2E"/>
          </a:solidFill>
          <a:ln cap="flat" cmpd="sng" w="12700">
            <a:solidFill>
              <a:srgbClr val="FFC107"/>
            </a:solidFill>
            <a:prstDash val="solid"/>
            <a:round/>
            <a:headEnd len="sm" w="sm" type="none"/>
            <a:tailEnd len="sm" w="sm" type="none"/>
          </a:ln>
          <a:effectLst>
            <a:outerShdw blurRad="101600" rotWithShape="0" algn="bl" dir="2700000" dist="25400">
              <a:srgbClr val="000000">
                <a:alpha val="34901"/>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0" name="Google Shape;580;p21"/>
          <p:cNvSpPr/>
          <p:nvPr/>
        </p:nvSpPr>
        <p:spPr>
          <a:xfrm>
            <a:off x="3645408" y="1097280"/>
            <a:ext cx="1097280" cy="390144"/>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 Risk Gate</a:t>
            </a:r>
            <a:endParaRPr b="0" i="0" sz="800" u="none" cap="none" strike="noStrike">
              <a:solidFill>
                <a:schemeClr val="dk1"/>
              </a:solidFill>
              <a:latin typeface="Calibri"/>
              <a:ea typeface="Calibri"/>
              <a:cs typeface="Calibri"/>
              <a:sym typeface="Calibri"/>
            </a:endParaRPr>
          </a:p>
        </p:txBody>
      </p:sp>
      <p:cxnSp>
        <p:nvCxnSpPr>
          <p:cNvPr id="581" name="Google Shape;581;p21"/>
          <p:cNvCxnSpPr/>
          <p:nvPr/>
        </p:nvCxnSpPr>
        <p:spPr>
          <a:xfrm>
            <a:off x="4194048" y="1487424"/>
            <a:ext cx="0" cy="4828032"/>
          </a:xfrm>
          <a:prstGeom prst="straightConnector1">
            <a:avLst/>
          </a:prstGeom>
          <a:noFill/>
          <a:ln cap="flat" cmpd="sng" w="9525">
            <a:solidFill>
              <a:srgbClr val="1E2D45"/>
            </a:solidFill>
            <a:prstDash val="dash"/>
            <a:round/>
            <a:headEnd len="sm" w="sm" type="none"/>
            <a:tailEnd len="sm" w="sm" type="none"/>
          </a:ln>
        </p:spPr>
      </p:cxnSp>
      <p:sp>
        <p:nvSpPr>
          <p:cNvPr id="582" name="Google Shape;582;p21"/>
          <p:cNvSpPr/>
          <p:nvPr/>
        </p:nvSpPr>
        <p:spPr>
          <a:xfrm>
            <a:off x="5193792" y="1097280"/>
            <a:ext cx="1097280" cy="390144"/>
          </a:xfrm>
          <a:prstGeom prst="roundRect">
            <a:avLst>
              <a:gd fmla="val 15625" name="adj"/>
            </a:avLst>
          </a:prstGeom>
          <a:solidFill>
            <a:srgbClr val="0D1A2E"/>
          </a:solidFill>
          <a:ln cap="flat" cmpd="sng" w="12700">
            <a:solidFill>
              <a:srgbClr val="888888"/>
            </a:solidFill>
            <a:prstDash val="solid"/>
            <a:round/>
            <a:headEnd len="sm" w="sm" type="none"/>
            <a:tailEnd len="sm" w="sm" type="none"/>
          </a:ln>
          <a:effectLst>
            <a:outerShdw blurRad="101600" rotWithShape="0" algn="bl" dir="2700000" dist="25400">
              <a:srgbClr val="000000">
                <a:alpha val="34901"/>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3" name="Google Shape;583;p21"/>
          <p:cNvSpPr/>
          <p:nvPr/>
        </p:nvSpPr>
        <p:spPr>
          <a:xfrm>
            <a:off x="5193792" y="1097280"/>
            <a:ext cx="1097280" cy="390144"/>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888888"/>
              </a:buClr>
              <a:buSzPts val="800"/>
              <a:buFont typeface="Calibri"/>
              <a:buNone/>
            </a:pPr>
            <a:r>
              <a:rPr b="1" i="0" lang="en-US" sz="800" u="none" cap="none" strike="noStrike">
                <a:solidFill>
                  <a:srgbClr val="888888"/>
                </a:solidFill>
                <a:latin typeface="Calibri"/>
                <a:ea typeface="Calibri"/>
                <a:cs typeface="Calibri"/>
                <a:sym typeface="Calibri"/>
              </a:rPr>
              <a:t>⚙️ Tool Adapter</a:t>
            </a:r>
            <a:endParaRPr b="0" i="0" sz="800" u="none" cap="none" strike="noStrike">
              <a:solidFill>
                <a:schemeClr val="dk1"/>
              </a:solidFill>
              <a:latin typeface="Calibri"/>
              <a:ea typeface="Calibri"/>
              <a:cs typeface="Calibri"/>
              <a:sym typeface="Calibri"/>
            </a:endParaRPr>
          </a:p>
        </p:txBody>
      </p:sp>
      <p:cxnSp>
        <p:nvCxnSpPr>
          <p:cNvPr id="584" name="Google Shape;584;p21"/>
          <p:cNvCxnSpPr/>
          <p:nvPr/>
        </p:nvCxnSpPr>
        <p:spPr>
          <a:xfrm>
            <a:off x="5742432" y="1487424"/>
            <a:ext cx="0" cy="4828032"/>
          </a:xfrm>
          <a:prstGeom prst="straightConnector1">
            <a:avLst/>
          </a:prstGeom>
          <a:noFill/>
          <a:ln cap="flat" cmpd="sng" w="9525">
            <a:solidFill>
              <a:srgbClr val="1E2D45"/>
            </a:solidFill>
            <a:prstDash val="dash"/>
            <a:round/>
            <a:headEnd len="sm" w="sm" type="none"/>
            <a:tailEnd len="sm" w="sm" type="none"/>
          </a:ln>
        </p:spPr>
      </p:cxnSp>
      <p:sp>
        <p:nvSpPr>
          <p:cNvPr id="585" name="Google Shape;585;p21"/>
          <p:cNvSpPr/>
          <p:nvPr/>
        </p:nvSpPr>
        <p:spPr>
          <a:xfrm>
            <a:off x="6742176" y="1097280"/>
            <a:ext cx="1097280" cy="390144"/>
          </a:xfrm>
          <a:prstGeom prst="roundRect">
            <a:avLst>
              <a:gd fmla="val 15625" name="adj"/>
            </a:avLst>
          </a:prstGeom>
          <a:solidFill>
            <a:srgbClr val="0D1A2E"/>
          </a:solidFill>
          <a:ln cap="flat" cmpd="sng" w="12700">
            <a:solidFill>
              <a:srgbClr val="7FFF00"/>
            </a:solidFill>
            <a:prstDash val="solid"/>
            <a:round/>
            <a:headEnd len="sm" w="sm" type="none"/>
            <a:tailEnd len="sm" w="sm" type="none"/>
          </a:ln>
          <a:effectLst>
            <a:outerShdw blurRad="101600" rotWithShape="0" algn="bl" dir="2700000" dist="25400">
              <a:srgbClr val="000000">
                <a:alpha val="34901"/>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6" name="Google Shape;586;p21"/>
          <p:cNvSpPr/>
          <p:nvPr/>
        </p:nvSpPr>
        <p:spPr>
          <a:xfrm>
            <a:off x="6742176" y="1097280"/>
            <a:ext cx="1097280" cy="390144"/>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 ASG</a:t>
            </a:r>
            <a:endParaRPr b="0" i="0" sz="800" u="none" cap="none" strike="noStrike">
              <a:solidFill>
                <a:schemeClr val="dk1"/>
              </a:solidFill>
              <a:latin typeface="Calibri"/>
              <a:ea typeface="Calibri"/>
              <a:cs typeface="Calibri"/>
              <a:sym typeface="Calibri"/>
            </a:endParaRPr>
          </a:p>
        </p:txBody>
      </p:sp>
      <p:cxnSp>
        <p:nvCxnSpPr>
          <p:cNvPr id="587" name="Google Shape;587;p21"/>
          <p:cNvCxnSpPr/>
          <p:nvPr/>
        </p:nvCxnSpPr>
        <p:spPr>
          <a:xfrm>
            <a:off x="7290816" y="1487424"/>
            <a:ext cx="0" cy="4828032"/>
          </a:xfrm>
          <a:prstGeom prst="straightConnector1">
            <a:avLst/>
          </a:prstGeom>
          <a:noFill/>
          <a:ln cap="flat" cmpd="sng" w="9525">
            <a:solidFill>
              <a:srgbClr val="1E2D45"/>
            </a:solidFill>
            <a:prstDash val="dash"/>
            <a:round/>
            <a:headEnd len="sm" w="sm" type="none"/>
            <a:tailEnd len="sm" w="sm" type="none"/>
          </a:ln>
        </p:spPr>
      </p:cxnSp>
      <p:cxnSp>
        <p:nvCxnSpPr>
          <p:cNvPr id="588" name="Google Shape;588;p21"/>
          <p:cNvCxnSpPr/>
          <p:nvPr/>
        </p:nvCxnSpPr>
        <p:spPr>
          <a:xfrm>
            <a:off x="1097280" y="1755648"/>
            <a:ext cx="1548384" cy="0"/>
          </a:xfrm>
          <a:prstGeom prst="straightConnector1">
            <a:avLst/>
          </a:prstGeom>
          <a:noFill/>
          <a:ln cap="flat" cmpd="sng" w="9525">
            <a:solidFill>
              <a:srgbClr val="00D4FF"/>
            </a:solidFill>
            <a:prstDash val="solid"/>
            <a:round/>
            <a:headEnd len="sm" w="sm" type="none"/>
            <a:tailEnd len="med" w="med" type="triangle"/>
          </a:ln>
        </p:spPr>
      </p:cxnSp>
      <p:sp>
        <p:nvSpPr>
          <p:cNvPr id="589" name="Google Shape;589;p21"/>
          <p:cNvSpPr/>
          <p:nvPr/>
        </p:nvSpPr>
        <p:spPr>
          <a:xfrm>
            <a:off x="1200912" y="1584960"/>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600"/>
              <a:buFont typeface="Calibri"/>
              <a:buNone/>
            </a:pPr>
            <a:r>
              <a:rPr b="0" i="0" lang="en-US" sz="600" u="none" cap="none" strike="noStrike">
                <a:solidFill>
                  <a:srgbClr val="00D4FF"/>
                </a:solidFill>
                <a:latin typeface="Calibri"/>
                <a:ea typeface="Calibri"/>
                <a:cs typeface="Calibri"/>
                <a:sym typeface="Calibri"/>
              </a:rPr>
              <a:t>spawn(ASG slice + task + toolset)</a:t>
            </a:r>
            <a:endParaRPr b="0" i="0" sz="600" u="none" cap="none" strike="noStrike">
              <a:solidFill>
                <a:schemeClr val="dk1"/>
              </a:solidFill>
              <a:latin typeface="Calibri"/>
              <a:ea typeface="Calibri"/>
              <a:cs typeface="Calibri"/>
              <a:sym typeface="Calibri"/>
            </a:endParaRPr>
          </a:p>
        </p:txBody>
      </p:sp>
      <p:cxnSp>
        <p:nvCxnSpPr>
          <p:cNvPr id="590" name="Google Shape;590;p21"/>
          <p:cNvCxnSpPr/>
          <p:nvPr/>
        </p:nvCxnSpPr>
        <p:spPr>
          <a:xfrm>
            <a:off x="2645664" y="2097024"/>
            <a:ext cx="1548384" cy="0"/>
          </a:xfrm>
          <a:prstGeom prst="straightConnector1">
            <a:avLst/>
          </a:prstGeom>
          <a:noFill/>
          <a:ln cap="flat" cmpd="sng" w="9525">
            <a:solidFill>
              <a:srgbClr val="CE93D8"/>
            </a:solidFill>
            <a:prstDash val="solid"/>
            <a:round/>
            <a:headEnd len="sm" w="sm" type="none"/>
            <a:tailEnd len="med" w="med" type="triangle"/>
          </a:ln>
        </p:spPr>
      </p:cxnSp>
      <p:sp>
        <p:nvSpPr>
          <p:cNvPr id="591" name="Google Shape;591;p21"/>
          <p:cNvSpPr/>
          <p:nvPr/>
        </p:nvSpPr>
        <p:spPr>
          <a:xfrm>
            <a:off x="2749296" y="1926336"/>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93D8"/>
              </a:buClr>
              <a:buSzPts val="600"/>
              <a:buFont typeface="Calibri"/>
              <a:buNone/>
            </a:pPr>
            <a:r>
              <a:rPr b="0" i="0" lang="en-US" sz="600" u="none" cap="none" strike="noStrike">
                <a:solidFill>
                  <a:srgbClr val="CE93D8"/>
                </a:solidFill>
                <a:latin typeface="Calibri"/>
                <a:ea typeface="Calibri"/>
                <a:cs typeface="Calibri"/>
                <a:sym typeface="Calibri"/>
              </a:rPr>
              <a:t>tool_call(WhatWeb) — LOW risk</a:t>
            </a:r>
            <a:endParaRPr b="0" i="0" sz="600" u="none" cap="none" strike="noStrike">
              <a:solidFill>
                <a:schemeClr val="dk1"/>
              </a:solidFill>
              <a:latin typeface="Calibri"/>
              <a:ea typeface="Calibri"/>
              <a:cs typeface="Calibri"/>
              <a:sym typeface="Calibri"/>
            </a:endParaRPr>
          </a:p>
        </p:txBody>
      </p:sp>
      <p:cxnSp>
        <p:nvCxnSpPr>
          <p:cNvPr id="592" name="Google Shape;592;p21"/>
          <p:cNvCxnSpPr/>
          <p:nvPr/>
        </p:nvCxnSpPr>
        <p:spPr>
          <a:xfrm>
            <a:off x="2645664" y="2316480"/>
            <a:ext cx="1548384" cy="0"/>
          </a:xfrm>
          <a:prstGeom prst="straightConnector1">
            <a:avLst/>
          </a:prstGeom>
          <a:noFill/>
          <a:ln cap="flat" cmpd="sng" w="9525">
            <a:solidFill>
              <a:srgbClr val="FFC107"/>
            </a:solidFill>
            <a:prstDash val="dash"/>
            <a:round/>
            <a:headEnd len="med" w="med" type="triangle"/>
            <a:tailEnd len="sm" w="sm" type="none"/>
          </a:ln>
        </p:spPr>
      </p:cxnSp>
      <p:sp>
        <p:nvSpPr>
          <p:cNvPr id="593" name="Google Shape;593;p21"/>
          <p:cNvSpPr/>
          <p:nvPr/>
        </p:nvSpPr>
        <p:spPr>
          <a:xfrm>
            <a:off x="2749296" y="2145792"/>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600" u="none" cap="none" strike="noStrike">
                <a:solidFill>
                  <a:srgbClr val="FFC107"/>
                </a:solidFill>
                <a:latin typeface="Calibri"/>
                <a:ea typeface="Calibri"/>
                <a:cs typeface="Calibri"/>
                <a:sym typeface="Calibri"/>
              </a:rPr>
              <a:t>→ execute immediately</a:t>
            </a:r>
            <a:endParaRPr b="0" i="0" sz="600" u="none" cap="none" strike="noStrike">
              <a:solidFill>
                <a:schemeClr val="dk1"/>
              </a:solidFill>
              <a:latin typeface="Calibri"/>
              <a:ea typeface="Calibri"/>
              <a:cs typeface="Calibri"/>
              <a:sym typeface="Calibri"/>
            </a:endParaRPr>
          </a:p>
        </p:txBody>
      </p:sp>
      <p:cxnSp>
        <p:nvCxnSpPr>
          <p:cNvPr id="594" name="Google Shape;594;p21"/>
          <p:cNvCxnSpPr/>
          <p:nvPr/>
        </p:nvCxnSpPr>
        <p:spPr>
          <a:xfrm>
            <a:off x="4194048" y="2535936"/>
            <a:ext cx="1548384" cy="0"/>
          </a:xfrm>
          <a:prstGeom prst="straightConnector1">
            <a:avLst/>
          </a:prstGeom>
          <a:noFill/>
          <a:ln cap="flat" cmpd="sng" w="9525">
            <a:solidFill>
              <a:srgbClr val="FFC107"/>
            </a:solidFill>
            <a:prstDash val="solid"/>
            <a:round/>
            <a:headEnd len="sm" w="sm" type="none"/>
            <a:tailEnd len="med" w="med" type="triangle"/>
          </a:ln>
        </p:spPr>
      </p:cxnSp>
      <p:sp>
        <p:nvSpPr>
          <p:cNvPr id="595" name="Google Shape;595;p21"/>
          <p:cNvSpPr/>
          <p:nvPr/>
        </p:nvSpPr>
        <p:spPr>
          <a:xfrm>
            <a:off x="4297680" y="2365248"/>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600" u="none" cap="none" strike="noStrike">
                <a:solidFill>
                  <a:srgbClr val="FFC107"/>
                </a:solidFill>
                <a:latin typeface="Calibri"/>
                <a:ea typeface="Calibri"/>
                <a:cs typeface="Calibri"/>
                <a:sym typeface="Calibri"/>
              </a:rPr>
              <a:t>execute(WhatWeb)</a:t>
            </a:r>
            <a:endParaRPr b="0" i="0" sz="600" u="none" cap="none" strike="noStrike">
              <a:solidFill>
                <a:schemeClr val="dk1"/>
              </a:solidFill>
              <a:latin typeface="Calibri"/>
              <a:ea typeface="Calibri"/>
              <a:cs typeface="Calibri"/>
              <a:sym typeface="Calibri"/>
            </a:endParaRPr>
          </a:p>
        </p:txBody>
      </p:sp>
      <p:cxnSp>
        <p:nvCxnSpPr>
          <p:cNvPr id="596" name="Google Shape;596;p21"/>
          <p:cNvCxnSpPr/>
          <p:nvPr/>
        </p:nvCxnSpPr>
        <p:spPr>
          <a:xfrm>
            <a:off x="2645664" y="2779776"/>
            <a:ext cx="3096768" cy="0"/>
          </a:xfrm>
          <a:prstGeom prst="straightConnector1">
            <a:avLst/>
          </a:prstGeom>
          <a:noFill/>
          <a:ln cap="flat" cmpd="sng" w="9525">
            <a:solidFill>
              <a:srgbClr val="888888"/>
            </a:solidFill>
            <a:prstDash val="dash"/>
            <a:round/>
            <a:headEnd len="med" w="med" type="triangle"/>
            <a:tailEnd len="sm" w="sm" type="none"/>
          </a:ln>
        </p:spPr>
      </p:cxnSp>
      <p:sp>
        <p:nvSpPr>
          <p:cNvPr id="597" name="Google Shape;597;p21"/>
          <p:cNvSpPr/>
          <p:nvPr/>
        </p:nvSpPr>
        <p:spPr>
          <a:xfrm>
            <a:off x="3523488" y="2609088"/>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600"/>
              <a:buFont typeface="Calibri"/>
              <a:buNone/>
            </a:pPr>
            <a:r>
              <a:rPr b="0" i="0" lang="en-US" sz="600" u="none" cap="none" strike="noStrike">
                <a:solidFill>
                  <a:srgbClr val="888888"/>
                </a:solidFill>
                <a:latin typeface="Calibri"/>
                <a:ea typeface="Calibri"/>
                <a:cs typeface="Calibri"/>
                <a:sym typeface="Calibri"/>
              </a:rPr>
              <a:t>structured findings {tech: WP 5.9.3}</a:t>
            </a:r>
            <a:endParaRPr b="0" i="0" sz="600" u="none" cap="none" strike="noStrike">
              <a:solidFill>
                <a:schemeClr val="dk1"/>
              </a:solidFill>
              <a:latin typeface="Calibri"/>
              <a:ea typeface="Calibri"/>
              <a:cs typeface="Calibri"/>
              <a:sym typeface="Calibri"/>
            </a:endParaRPr>
          </a:p>
        </p:txBody>
      </p:sp>
      <p:cxnSp>
        <p:nvCxnSpPr>
          <p:cNvPr id="598" name="Google Shape;598;p21"/>
          <p:cNvCxnSpPr/>
          <p:nvPr/>
        </p:nvCxnSpPr>
        <p:spPr>
          <a:xfrm>
            <a:off x="2645664" y="3169920"/>
            <a:ext cx="1548384" cy="0"/>
          </a:xfrm>
          <a:prstGeom prst="straightConnector1">
            <a:avLst/>
          </a:prstGeom>
          <a:noFill/>
          <a:ln cap="flat" cmpd="sng" w="9525">
            <a:solidFill>
              <a:srgbClr val="CE93D8"/>
            </a:solidFill>
            <a:prstDash val="solid"/>
            <a:round/>
            <a:headEnd len="sm" w="sm" type="none"/>
            <a:tailEnd len="med" w="med" type="triangle"/>
          </a:ln>
        </p:spPr>
      </p:cxnSp>
      <p:sp>
        <p:nvSpPr>
          <p:cNvPr id="599" name="Google Shape;599;p21"/>
          <p:cNvSpPr/>
          <p:nvPr/>
        </p:nvSpPr>
        <p:spPr>
          <a:xfrm>
            <a:off x="2749296" y="2999232"/>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93D8"/>
              </a:buClr>
              <a:buSzPts val="600"/>
              <a:buFont typeface="Calibri"/>
              <a:buNone/>
            </a:pPr>
            <a:r>
              <a:rPr b="0" i="0" lang="en-US" sz="600" u="none" cap="none" strike="noStrike">
                <a:solidFill>
                  <a:srgbClr val="CE93D8"/>
                </a:solidFill>
                <a:latin typeface="Calibri"/>
                <a:ea typeface="Calibri"/>
                <a:cs typeface="Calibri"/>
                <a:sym typeface="Calibri"/>
              </a:rPr>
              <a:t>tool_call(Gobuster) — MED risk</a:t>
            </a:r>
            <a:endParaRPr b="0" i="0" sz="600" u="none" cap="none" strike="noStrike">
              <a:solidFill>
                <a:schemeClr val="dk1"/>
              </a:solidFill>
              <a:latin typeface="Calibri"/>
              <a:ea typeface="Calibri"/>
              <a:cs typeface="Calibri"/>
              <a:sym typeface="Calibri"/>
            </a:endParaRPr>
          </a:p>
        </p:txBody>
      </p:sp>
      <p:cxnSp>
        <p:nvCxnSpPr>
          <p:cNvPr id="600" name="Google Shape;600;p21"/>
          <p:cNvCxnSpPr/>
          <p:nvPr/>
        </p:nvCxnSpPr>
        <p:spPr>
          <a:xfrm>
            <a:off x="1097280" y="3389376"/>
            <a:ext cx="3096768" cy="0"/>
          </a:xfrm>
          <a:prstGeom prst="straightConnector1">
            <a:avLst/>
          </a:prstGeom>
          <a:noFill/>
          <a:ln cap="flat" cmpd="sng" w="9525">
            <a:solidFill>
              <a:srgbClr val="FFC107"/>
            </a:solidFill>
            <a:prstDash val="solid"/>
            <a:round/>
            <a:headEnd len="sm" w="sm" type="none"/>
            <a:tailEnd len="med" w="med" type="triangle"/>
          </a:ln>
        </p:spPr>
      </p:cxnSp>
      <p:sp>
        <p:nvSpPr>
          <p:cNvPr id="601" name="Google Shape;601;p21"/>
          <p:cNvSpPr/>
          <p:nvPr/>
        </p:nvSpPr>
        <p:spPr>
          <a:xfrm>
            <a:off x="1975104" y="3218688"/>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600" u="none" cap="none" strike="noStrike">
                <a:solidFill>
                  <a:srgbClr val="FFC107"/>
                </a:solidFill>
                <a:latin typeface="Calibri"/>
                <a:ea typeface="Calibri"/>
                <a:cs typeface="Calibri"/>
                <a:sym typeface="Calibri"/>
              </a:rPr>
              <a:t>LLM Classifier → EXECUTE</a:t>
            </a:r>
            <a:endParaRPr b="0" i="0" sz="600" u="none" cap="none" strike="noStrike">
              <a:solidFill>
                <a:schemeClr val="dk1"/>
              </a:solidFill>
              <a:latin typeface="Calibri"/>
              <a:ea typeface="Calibri"/>
              <a:cs typeface="Calibri"/>
              <a:sym typeface="Calibri"/>
            </a:endParaRPr>
          </a:p>
        </p:txBody>
      </p:sp>
      <p:cxnSp>
        <p:nvCxnSpPr>
          <p:cNvPr id="602" name="Google Shape;602;p21"/>
          <p:cNvCxnSpPr/>
          <p:nvPr/>
        </p:nvCxnSpPr>
        <p:spPr>
          <a:xfrm>
            <a:off x="4194048" y="3608832"/>
            <a:ext cx="1548384" cy="0"/>
          </a:xfrm>
          <a:prstGeom prst="straightConnector1">
            <a:avLst/>
          </a:prstGeom>
          <a:noFill/>
          <a:ln cap="flat" cmpd="sng" w="9525">
            <a:solidFill>
              <a:srgbClr val="FFC107"/>
            </a:solidFill>
            <a:prstDash val="solid"/>
            <a:round/>
            <a:headEnd len="sm" w="sm" type="none"/>
            <a:tailEnd len="med" w="med" type="triangle"/>
          </a:ln>
        </p:spPr>
      </p:cxnSp>
      <p:sp>
        <p:nvSpPr>
          <p:cNvPr id="603" name="Google Shape;603;p21"/>
          <p:cNvSpPr/>
          <p:nvPr/>
        </p:nvSpPr>
        <p:spPr>
          <a:xfrm>
            <a:off x="4297680" y="3438144"/>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600" u="none" cap="none" strike="noStrike">
                <a:solidFill>
                  <a:srgbClr val="FFC107"/>
                </a:solidFill>
                <a:latin typeface="Calibri"/>
                <a:ea typeface="Calibri"/>
                <a:cs typeface="Calibri"/>
                <a:sym typeface="Calibri"/>
              </a:rPr>
              <a:t>execute(Gobuster)</a:t>
            </a:r>
            <a:endParaRPr b="0" i="0" sz="600" u="none" cap="none" strike="noStrike">
              <a:solidFill>
                <a:schemeClr val="dk1"/>
              </a:solidFill>
              <a:latin typeface="Calibri"/>
              <a:ea typeface="Calibri"/>
              <a:cs typeface="Calibri"/>
              <a:sym typeface="Calibri"/>
            </a:endParaRPr>
          </a:p>
        </p:txBody>
      </p:sp>
      <p:cxnSp>
        <p:nvCxnSpPr>
          <p:cNvPr id="604" name="Google Shape;604;p21"/>
          <p:cNvCxnSpPr/>
          <p:nvPr/>
        </p:nvCxnSpPr>
        <p:spPr>
          <a:xfrm>
            <a:off x="2645664" y="3852672"/>
            <a:ext cx="3096768" cy="0"/>
          </a:xfrm>
          <a:prstGeom prst="straightConnector1">
            <a:avLst/>
          </a:prstGeom>
          <a:noFill/>
          <a:ln cap="flat" cmpd="sng" w="9525">
            <a:solidFill>
              <a:srgbClr val="888888"/>
            </a:solidFill>
            <a:prstDash val="dash"/>
            <a:round/>
            <a:headEnd len="med" w="med" type="triangle"/>
            <a:tailEnd len="sm" w="sm" type="none"/>
          </a:ln>
        </p:spPr>
      </p:cxnSp>
      <p:sp>
        <p:nvSpPr>
          <p:cNvPr id="605" name="Google Shape;605;p21"/>
          <p:cNvSpPr/>
          <p:nvPr/>
        </p:nvSpPr>
        <p:spPr>
          <a:xfrm>
            <a:off x="3523488" y="3681984"/>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600"/>
              <a:buFont typeface="Calibri"/>
              <a:buNone/>
            </a:pPr>
            <a:r>
              <a:rPr b="0" i="0" lang="en-US" sz="600" u="none" cap="none" strike="noStrike">
                <a:solidFill>
                  <a:srgbClr val="888888"/>
                </a:solidFill>
                <a:latin typeface="Calibri"/>
                <a:ea typeface="Calibri"/>
                <a:cs typeface="Calibri"/>
                <a:sym typeface="Calibri"/>
              </a:rPr>
              <a:t>structured findings {endpoint: /backup/...}</a:t>
            </a:r>
            <a:endParaRPr b="0" i="0" sz="600" u="none" cap="none" strike="noStrike">
              <a:solidFill>
                <a:schemeClr val="dk1"/>
              </a:solidFill>
              <a:latin typeface="Calibri"/>
              <a:ea typeface="Calibri"/>
              <a:cs typeface="Calibri"/>
              <a:sym typeface="Calibri"/>
            </a:endParaRPr>
          </a:p>
        </p:txBody>
      </p:sp>
      <p:cxnSp>
        <p:nvCxnSpPr>
          <p:cNvPr id="606" name="Google Shape;606;p21"/>
          <p:cNvCxnSpPr/>
          <p:nvPr/>
        </p:nvCxnSpPr>
        <p:spPr>
          <a:xfrm>
            <a:off x="2645664" y="4242816"/>
            <a:ext cx="1548384" cy="0"/>
          </a:xfrm>
          <a:prstGeom prst="straightConnector1">
            <a:avLst/>
          </a:prstGeom>
          <a:noFill/>
          <a:ln cap="flat" cmpd="sng" w="9525">
            <a:solidFill>
              <a:srgbClr val="FF5252"/>
            </a:solidFill>
            <a:prstDash val="solid"/>
            <a:round/>
            <a:headEnd len="sm" w="sm" type="none"/>
            <a:tailEnd len="med" w="med" type="triangle"/>
          </a:ln>
        </p:spPr>
      </p:cxnSp>
      <p:sp>
        <p:nvSpPr>
          <p:cNvPr id="607" name="Google Shape;607;p21"/>
          <p:cNvSpPr/>
          <p:nvPr/>
        </p:nvSpPr>
        <p:spPr>
          <a:xfrm>
            <a:off x="2749296" y="4072128"/>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5252"/>
              </a:buClr>
              <a:buSzPts val="600"/>
              <a:buFont typeface="Calibri"/>
              <a:buNone/>
            </a:pPr>
            <a:r>
              <a:rPr b="0" i="0" lang="en-US" sz="600" u="none" cap="none" strike="noStrike">
                <a:solidFill>
                  <a:srgbClr val="FF5252"/>
                </a:solidFill>
                <a:latin typeface="Calibri"/>
                <a:ea typeface="Calibri"/>
                <a:cs typeface="Calibri"/>
                <a:sym typeface="Calibri"/>
              </a:rPr>
              <a:t>tool_call(SQLMap) — HIGH risk</a:t>
            </a:r>
            <a:endParaRPr b="0" i="0" sz="600" u="none" cap="none" strike="noStrike">
              <a:solidFill>
                <a:schemeClr val="dk1"/>
              </a:solidFill>
              <a:latin typeface="Calibri"/>
              <a:ea typeface="Calibri"/>
              <a:cs typeface="Calibri"/>
              <a:sym typeface="Calibri"/>
            </a:endParaRPr>
          </a:p>
        </p:txBody>
      </p:sp>
      <p:cxnSp>
        <p:nvCxnSpPr>
          <p:cNvPr id="608" name="Google Shape;608;p21"/>
          <p:cNvCxnSpPr/>
          <p:nvPr/>
        </p:nvCxnSpPr>
        <p:spPr>
          <a:xfrm>
            <a:off x="1097280" y="4462272"/>
            <a:ext cx="3096768" cy="0"/>
          </a:xfrm>
          <a:prstGeom prst="straightConnector1">
            <a:avLst/>
          </a:prstGeom>
          <a:noFill/>
          <a:ln cap="flat" cmpd="sng" w="9525">
            <a:solidFill>
              <a:srgbClr val="FF5252"/>
            </a:solidFill>
            <a:prstDash val="solid"/>
            <a:round/>
            <a:headEnd len="sm" w="sm" type="none"/>
            <a:tailEnd len="med" w="med" type="triangle"/>
          </a:ln>
        </p:spPr>
      </p:cxnSp>
      <p:sp>
        <p:nvSpPr>
          <p:cNvPr id="609" name="Google Shape;609;p21"/>
          <p:cNvSpPr/>
          <p:nvPr/>
        </p:nvSpPr>
        <p:spPr>
          <a:xfrm>
            <a:off x="1975104" y="4291584"/>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5252"/>
              </a:buClr>
              <a:buSzPts val="600"/>
              <a:buFont typeface="Calibri"/>
              <a:buNone/>
            </a:pPr>
            <a:r>
              <a:rPr b="0" i="0" lang="en-US" sz="600" u="none" cap="none" strike="noStrike">
                <a:solidFill>
                  <a:srgbClr val="FF5252"/>
                </a:solidFill>
                <a:latin typeface="Calibri"/>
                <a:ea typeface="Calibri"/>
                <a:cs typeface="Calibri"/>
                <a:sym typeface="Calibri"/>
              </a:rPr>
              <a:t>Commander Mailbox — approval request</a:t>
            </a:r>
            <a:endParaRPr b="0" i="0" sz="600" u="none" cap="none" strike="noStrike">
              <a:solidFill>
                <a:schemeClr val="dk1"/>
              </a:solidFill>
              <a:latin typeface="Calibri"/>
              <a:ea typeface="Calibri"/>
              <a:cs typeface="Calibri"/>
              <a:sym typeface="Calibri"/>
            </a:endParaRPr>
          </a:p>
        </p:txBody>
      </p:sp>
      <p:cxnSp>
        <p:nvCxnSpPr>
          <p:cNvPr id="610" name="Google Shape;610;p21"/>
          <p:cNvCxnSpPr/>
          <p:nvPr/>
        </p:nvCxnSpPr>
        <p:spPr>
          <a:xfrm>
            <a:off x="1097280" y="4681728"/>
            <a:ext cx="3096768" cy="0"/>
          </a:xfrm>
          <a:prstGeom prst="straightConnector1">
            <a:avLst/>
          </a:prstGeom>
          <a:noFill/>
          <a:ln cap="flat" cmpd="sng" w="9525">
            <a:solidFill>
              <a:srgbClr val="00D4FF"/>
            </a:solidFill>
            <a:prstDash val="dash"/>
            <a:round/>
            <a:headEnd len="med" w="med" type="triangle"/>
            <a:tailEnd len="sm" w="sm" type="none"/>
          </a:ln>
        </p:spPr>
      </p:cxnSp>
      <p:sp>
        <p:nvSpPr>
          <p:cNvPr id="611" name="Google Shape;611;p21"/>
          <p:cNvSpPr/>
          <p:nvPr/>
        </p:nvSpPr>
        <p:spPr>
          <a:xfrm>
            <a:off x="1975104" y="4511040"/>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600"/>
              <a:buFont typeface="Calibri"/>
              <a:buNone/>
            </a:pPr>
            <a:r>
              <a:rPr b="0" i="0" lang="en-US" sz="600" u="none" cap="none" strike="noStrike">
                <a:solidFill>
                  <a:srgbClr val="00D4FF"/>
                </a:solidFill>
                <a:latin typeface="Calibri"/>
                <a:ea typeface="Calibri"/>
                <a:cs typeface="Calibri"/>
                <a:sym typeface="Calibri"/>
              </a:rPr>
              <a:t>APPROVED (scope valid, chain intent ok)</a:t>
            </a:r>
            <a:endParaRPr b="0" i="0" sz="600" u="none" cap="none" strike="noStrike">
              <a:solidFill>
                <a:schemeClr val="dk1"/>
              </a:solidFill>
              <a:latin typeface="Calibri"/>
              <a:ea typeface="Calibri"/>
              <a:cs typeface="Calibri"/>
              <a:sym typeface="Calibri"/>
            </a:endParaRPr>
          </a:p>
        </p:txBody>
      </p:sp>
      <p:cxnSp>
        <p:nvCxnSpPr>
          <p:cNvPr id="612" name="Google Shape;612;p21"/>
          <p:cNvCxnSpPr/>
          <p:nvPr/>
        </p:nvCxnSpPr>
        <p:spPr>
          <a:xfrm>
            <a:off x="2645664" y="5071872"/>
            <a:ext cx="4645152" cy="0"/>
          </a:xfrm>
          <a:prstGeom prst="straightConnector1">
            <a:avLst/>
          </a:prstGeom>
          <a:noFill/>
          <a:ln cap="flat" cmpd="sng" w="9525">
            <a:solidFill>
              <a:srgbClr val="7FFF00"/>
            </a:solidFill>
            <a:prstDash val="solid"/>
            <a:round/>
            <a:headEnd len="sm" w="sm" type="none"/>
            <a:tailEnd len="med" w="med" type="triangle"/>
          </a:ln>
        </p:spPr>
      </p:cxnSp>
      <p:sp>
        <p:nvSpPr>
          <p:cNvPr id="613" name="Google Shape;613;p21"/>
          <p:cNvSpPr/>
          <p:nvPr/>
        </p:nvSpPr>
        <p:spPr>
          <a:xfrm>
            <a:off x="4297680" y="4901184"/>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600"/>
              <a:buFont typeface="Calibri"/>
              <a:buNone/>
            </a:pPr>
            <a:r>
              <a:rPr b="0" i="0" lang="en-US" sz="600" u="none" cap="none" strike="noStrike">
                <a:solidFill>
                  <a:srgbClr val="7FFF00"/>
                </a:solidFill>
                <a:latin typeface="Calibri"/>
                <a:ea typeface="Calibri"/>
                <a:cs typeface="Calibri"/>
                <a:sym typeface="Calibri"/>
              </a:rPr>
              <a:t>write delta [Tech node][Endpoint node][Vuln node]</a:t>
            </a:r>
            <a:endParaRPr b="0" i="0" sz="600" u="none" cap="none" strike="noStrike">
              <a:solidFill>
                <a:schemeClr val="dk1"/>
              </a:solidFill>
              <a:latin typeface="Calibri"/>
              <a:ea typeface="Calibri"/>
              <a:cs typeface="Calibri"/>
              <a:sym typeface="Calibri"/>
            </a:endParaRPr>
          </a:p>
        </p:txBody>
      </p:sp>
      <p:cxnSp>
        <p:nvCxnSpPr>
          <p:cNvPr id="614" name="Google Shape;614;p21"/>
          <p:cNvCxnSpPr/>
          <p:nvPr/>
        </p:nvCxnSpPr>
        <p:spPr>
          <a:xfrm>
            <a:off x="1097280" y="5413248"/>
            <a:ext cx="1548384" cy="0"/>
          </a:xfrm>
          <a:prstGeom prst="straightConnector1">
            <a:avLst/>
          </a:prstGeom>
          <a:noFill/>
          <a:ln cap="flat" cmpd="sng" w="9525">
            <a:solidFill>
              <a:srgbClr val="CE93D8"/>
            </a:solidFill>
            <a:prstDash val="solid"/>
            <a:round/>
            <a:headEnd len="sm" w="sm" type="none"/>
            <a:tailEnd len="med" w="med" type="triangle"/>
          </a:ln>
        </p:spPr>
      </p:cxnSp>
      <p:sp>
        <p:nvSpPr>
          <p:cNvPr id="615" name="Google Shape;615;p21"/>
          <p:cNvSpPr/>
          <p:nvPr/>
        </p:nvSpPr>
        <p:spPr>
          <a:xfrm>
            <a:off x="1200912" y="5242560"/>
            <a:ext cx="13411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93D8"/>
              </a:buClr>
              <a:buSzPts val="600"/>
              <a:buFont typeface="Calibri"/>
              <a:buNone/>
            </a:pPr>
            <a:r>
              <a:rPr b="0" i="0" lang="en-US" sz="600" u="none" cap="none" strike="noStrike">
                <a:solidFill>
                  <a:srgbClr val="CE93D8"/>
                </a:solidFill>
                <a:latin typeface="Calibri"/>
                <a:ea typeface="Calibri"/>
                <a:cs typeface="Calibri"/>
                <a:sym typeface="Calibri"/>
              </a:rPr>
              <a:t>return structured ASG delta</a:t>
            </a:r>
            <a:endParaRPr b="0" i="0" sz="600" u="none" cap="none" strike="noStrike">
              <a:solidFill>
                <a:schemeClr val="dk1"/>
              </a:solidFill>
              <a:latin typeface="Calibri"/>
              <a:ea typeface="Calibri"/>
              <a:cs typeface="Calibri"/>
              <a:sym typeface="Calibri"/>
            </a:endParaRPr>
          </a:p>
        </p:txBody>
      </p:sp>
      <p:sp>
        <p:nvSpPr>
          <p:cNvPr id="616" name="Google Shape;616;p21"/>
          <p:cNvSpPr/>
          <p:nvPr/>
        </p:nvSpPr>
        <p:spPr>
          <a:xfrm>
            <a:off x="2590800" y="1755648"/>
            <a:ext cx="109728" cy="3657600"/>
          </a:xfrm>
          <a:prstGeom prst="rect">
            <a:avLst/>
          </a:prstGeom>
          <a:solidFill>
            <a:srgbClr val="0D1A2E"/>
          </a:solidFill>
          <a:ln cap="flat" cmpd="sng" w="9525">
            <a:solidFill>
              <a:srgbClr val="CE93D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7" name="Google Shape;617;p21"/>
          <p:cNvSpPr/>
          <p:nvPr/>
        </p:nvSpPr>
        <p:spPr>
          <a:xfrm>
            <a:off x="1042416" y="4462272"/>
            <a:ext cx="109728" cy="341376"/>
          </a:xfrm>
          <a:prstGeom prst="rect">
            <a:avLst/>
          </a:prstGeom>
          <a:solidFill>
            <a:srgbClr val="0D1A2E"/>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8" name="Google Shape;618;p21"/>
          <p:cNvSpPr/>
          <p:nvPr/>
        </p:nvSpPr>
        <p:spPr>
          <a:xfrm>
            <a:off x="2097024" y="5547360"/>
            <a:ext cx="1828800" cy="341376"/>
          </a:xfrm>
          <a:prstGeom prst="roundRect">
            <a:avLst>
              <a:gd fmla="val 14286" name="adj"/>
            </a:avLst>
          </a:prstGeom>
          <a:solidFill>
            <a:srgbClr val="0A1A08"/>
          </a:solidFill>
          <a:ln cap="flat" cmpd="sng" w="1015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9" name="Google Shape;619;p21"/>
          <p:cNvSpPr/>
          <p:nvPr/>
        </p:nvSpPr>
        <p:spPr>
          <a:xfrm>
            <a:off x="2097024" y="5547360"/>
            <a:ext cx="1828800" cy="341376"/>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7FFF00"/>
              </a:buClr>
              <a:buSzPts val="600"/>
              <a:buFont typeface="Calibri"/>
              <a:buNone/>
            </a:pPr>
            <a:r>
              <a:rPr b="0" i="0" lang="en-US" sz="600" u="none" cap="none" strike="noStrike">
                <a:solidFill>
                  <a:srgbClr val="7FFF00"/>
                </a:solidFill>
                <a:latin typeface="Calibri"/>
                <a:ea typeface="Calibri"/>
                <a:cs typeface="Calibri"/>
                <a:sym typeface="Calibri"/>
              </a:rPr>
              <a:t>🗑️ Working context DISCARDED</a:t>
            </a:r>
            <a:endParaRPr b="0" i="0" sz="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600"/>
              <a:buFont typeface="Calibri"/>
              <a:buNone/>
            </a:pPr>
            <a:r>
              <a:rPr b="0" i="0" lang="en-US" sz="600" u="none" cap="none" strike="noStrike">
                <a:solidFill>
                  <a:srgbClr val="7FFF00"/>
                </a:solidFill>
                <a:latin typeface="Calibri"/>
                <a:ea typeface="Calibri"/>
                <a:cs typeface="Calibri"/>
                <a:sym typeface="Calibri"/>
              </a:rPr>
              <a:t>Raw tool output · history · reasoning → gone</a:t>
            </a:r>
            <a:endParaRPr b="0" i="0" sz="600" u="none" cap="none" strike="noStrike">
              <a:solidFill>
                <a:schemeClr val="dk1"/>
              </a:solidFill>
              <a:latin typeface="Calibri"/>
              <a:ea typeface="Calibri"/>
              <a:cs typeface="Calibri"/>
              <a:sym typeface="Calibri"/>
            </a:endParaRPr>
          </a:p>
        </p:txBody>
      </p:sp>
      <p:sp>
        <p:nvSpPr>
          <p:cNvPr id="620" name="Google Shape;620;p21"/>
          <p:cNvSpPr/>
          <p:nvPr/>
        </p:nvSpPr>
        <p:spPr>
          <a:xfrm>
            <a:off x="548640" y="5547360"/>
            <a:ext cx="1341120" cy="341376"/>
          </a:xfrm>
          <a:prstGeom prst="roundRect">
            <a:avLst>
              <a:gd fmla="val 14286" name="adj"/>
            </a:avLst>
          </a:prstGeom>
          <a:solidFill>
            <a:srgbClr val="1E10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1" name="Google Shape;621;p21"/>
          <p:cNvSpPr/>
          <p:nvPr/>
        </p:nvSpPr>
        <p:spPr>
          <a:xfrm>
            <a:off x="548640" y="5547360"/>
            <a:ext cx="1341120" cy="341376"/>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FFC107"/>
              </a:buClr>
              <a:buSzPts val="600"/>
              <a:buFont typeface="Calibri"/>
              <a:buNone/>
            </a:pPr>
            <a:r>
              <a:rPr b="0" i="0" lang="en-US" sz="600" u="none" cap="none" strike="noStrike">
                <a:solidFill>
                  <a:srgbClr val="FFC107"/>
                </a:solidFill>
                <a:latin typeface="Calibri"/>
                <a:ea typeface="Calibri"/>
                <a:cs typeface="Calibri"/>
                <a:sym typeface="Calibri"/>
              </a:rPr>
              <a:t>Commander reads new Vuln nodes → seeds APG Chain-01</a:t>
            </a:r>
            <a:endParaRPr b="0" i="0" sz="600" u="none" cap="none" strike="noStrike">
              <a:solidFill>
                <a:schemeClr val="dk1"/>
              </a:solidFill>
              <a:latin typeface="Calibri"/>
              <a:ea typeface="Calibri"/>
              <a:cs typeface="Calibri"/>
              <a:sym typeface="Calibri"/>
            </a:endParaRPr>
          </a:p>
        </p:txBody>
      </p:sp>
      <p:sp>
        <p:nvSpPr>
          <p:cNvPr id="622" name="Google Shape;622;p21"/>
          <p:cNvSpPr/>
          <p:nvPr/>
        </p:nvSpPr>
        <p:spPr>
          <a:xfrm>
            <a:off x="7851648" y="1048512"/>
            <a:ext cx="3950208" cy="2499360"/>
          </a:xfrm>
          <a:prstGeom prst="roundRect">
            <a:avLst>
              <a:gd fmla="val 3902" name="adj"/>
            </a:avLst>
          </a:prstGeom>
          <a:solidFill>
            <a:srgbClr val="0A0C1E"/>
          </a:solidFill>
          <a:ln cap="flat" cmpd="sng" w="11425">
            <a:solidFill>
              <a:srgbClr val="CE93D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3" name="Google Shape;623;p21"/>
          <p:cNvSpPr/>
          <p:nvPr/>
        </p:nvSpPr>
        <p:spPr>
          <a:xfrm>
            <a:off x="7997952" y="1072896"/>
            <a:ext cx="3657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E93D8"/>
              </a:buClr>
              <a:buSzPts val="1100"/>
              <a:buFont typeface="Calibri"/>
              <a:buNone/>
            </a:pPr>
            <a:r>
              <a:rPr b="1" i="0" lang="en-US" sz="1100" u="none" cap="none" strike="noStrike">
                <a:solidFill>
                  <a:srgbClr val="CE93D8"/>
                </a:solidFill>
                <a:latin typeface="Calibri"/>
                <a:ea typeface="Calibri"/>
                <a:cs typeface="Calibri"/>
                <a:sym typeface="Calibri"/>
              </a:rPr>
              <a:t>Agent Spawn Package</a:t>
            </a:r>
            <a:endParaRPr b="0" i="0" sz="1100" u="none" cap="none" strike="noStrike">
              <a:solidFill>
                <a:schemeClr val="dk1"/>
              </a:solidFill>
              <a:latin typeface="Calibri"/>
              <a:ea typeface="Calibri"/>
              <a:cs typeface="Calibri"/>
              <a:sym typeface="Calibri"/>
            </a:endParaRPr>
          </a:p>
        </p:txBody>
      </p:sp>
      <p:sp>
        <p:nvSpPr>
          <p:cNvPr id="624" name="Google Shape;624;p21"/>
          <p:cNvSpPr/>
          <p:nvPr/>
        </p:nvSpPr>
        <p:spPr>
          <a:xfrm>
            <a:off x="7997952" y="1414272"/>
            <a:ext cx="3657600" cy="316992"/>
          </a:xfrm>
          <a:prstGeom prst="roundRect">
            <a:avLst>
              <a:gd fmla="val 15385" name="adj"/>
            </a:avLst>
          </a:prstGeom>
          <a:solidFill>
            <a:srgbClr val="060816"/>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5" name="Google Shape;625;p21"/>
          <p:cNvSpPr/>
          <p:nvPr/>
        </p:nvSpPr>
        <p:spPr>
          <a:xfrm>
            <a:off x="8046720" y="1414272"/>
            <a:ext cx="3584448" cy="316992"/>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 ASG SLICE  </a:t>
            </a:r>
            <a:r>
              <a:rPr b="0" i="0" lang="en-US" sz="800" u="none" cap="none" strike="noStrike">
                <a:solidFill>
                  <a:srgbClr val="9CA3AF"/>
                </a:solidFill>
                <a:latin typeface="Calibri"/>
                <a:ea typeface="Calibri"/>
                <a:cs typeface="Calibri"/>
                <a:sym typeface="Calibri"/>
              </a:rPr>
              <a:t>Only nodes relevant to this task — not the full graph</a:t>
            </a:r>
            <a:endParaRPr b="0" i="0" sz="800" u="none" cap="none" strike="noStrike">
              <a:solidFill>
                <a:schemeClr val="dk1"/>
              </a:solidFill>
              <a:latin typeface="Calibri"/>
              <a:ea typeface="Calibri"/>
              <a:cs typeface="Calibri"/>
              <a:sym typeface="Calibri"/>
            </a:endParaRPr>
          </a:p>
        </p:txBody>
      </p:sp>
      <p:sp>
        <p:nvSpPr>
          <p:cNvPr id="626" name="Google Shape;626;p21"/>
          <p:cNvSpPr/>
          <p:nvPr/>
        </p:nvSpPr>
        <p:spPr>
          <a:xfrm>
            <a:off x="7997952" y="1780032"/>
            <a:ext cx="3657600" cy="316992"/>
          </a:xfrm>
          <a:prstGeom prst="roundRect">
            <a:avLst>
              <a:gd fmla="val 15385" name="adj"/>
            </a:avLst>
          </a:prstGeom>
          <a:solidFill>
            <a:srgbClr val="060816"/>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7" name="Google Shape;627;p21"/>
          <p:cNvSpPr/>
          <p:nvPr/>
        </p:nvSpPr>
        <p:spPr>
          <a:xfrm>
            <a:off x="8046720" y="1780032"/>
            <a:ext cx="3584448" cy="316992"/>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 APG SLICE  </a:t>
            </a:r>
            <a:r>
              <a:rPr b="0" i="0" lang="en-US" sz="800" u="none" cap="none" strike="noStrike">
                <a:solidFill>
                  <a:srgbClr val="9CA3AF"/>
                </a:solidFill>
                <a:latin typeface="Calibri"/>
                <a:ea typeface="Calibri"/>
                <a:cs typeface="Calibri"/>
                <a:sym typeface="Calibri"/>
              </a:rPr>
              <a:t>Relevant AttackChains only (Validation tasks)</a:t>
            </a:r>
            <a:endParaRPr b="0" i="0" sz="800" u="none" cap="none" strike="noStrike">
              <a:solidFill>
                <a:schemeClr val="dk1"/>
              </a:solidFill>
              <a:latin typeface="Calibri"/>
              <a:ea typeface="Calibri"/>
              <a:cs typeface="Calibri"/>
              <a:sym typeface="Calibri"/>
            </a:endParaRPr>
          </a:p>
        </p:txBody>
      </p:sp>
      <p:sp>
        <p:nvSpPr>
          <p:cNvPr id="628" name="Google Shape;628;p21"/>
          <p:cNvSpPr/>
          <p:nvPr/>
        </p:nvSpPr>
        <p:spPr>
          <a:xfrm>
            <a:off x="7997952" y="2145792"/>
            <a:ext cx="3657600" cy="316992"/>
          </a:xfrm>
          <a:prstGeom prst="roundRect">
            <a:avLst>
              <a:gd fmla="val 15385" name="adj"/>
            </a:avLst>
          </a:prstGeom>
          <a:solidFill>
            <a:srgbClr val="060816"/>
          </a:solidFill>
          <a:ln cap="flat" cmpd="sng" w="95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9" name="Google Shape;629;p21"/>
          <p:cNvSpPr/>
          <p:nvPr/>
        </p:nvSpPr>
        <p:spPr>
          <a:xfrm>
            <a:off x="8046720" y="2145792"/>
            <a:ext cx="3584448" cy="316992"/>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5252"/>
              </a:buClr>
              <a:buSzPts val="800"/>
              <a:buFont typeface="Calibri"/>
              <a:buNone/>
            </a:pPr>
            <a:r>
              <a:rPr b="1" i="0" lang="en-US" sz="800" u="none" cap="none" strike="noStrike">
                <a:solidFill>
                  <a:srgbClr val="FF5252"/>
                </a:solidFill>
                <a:latin typeface="Calibri"/>
                <a:ea typeface="Calibri"/>
                <a:cs typeface="Calibri"/>
                <a:sym typeface="Calibri"/>
              </a:rPr>
              <a:t>🔴 TOOL SET  </a:t>
            </a:r>
            <a:r>
              <a:rPr b="0" i="0" lang="en-US" sz="800" u="none" cap="none" strike="noStrike">
                <a:solidFill>
                  <a:srgbClr val="9CA3AF"/>
                </a:solidFill>
                <a:latin typeface="Calibri"/>
                <a:ea typeface="Calibri"/>
                <a:cs typeface="Calibri"/>
                <a:sym typeface="Calibri"/>
              </a:rPr>
              <a:t>Authorized tools only — no others available</a:t>
            </a:r>
            <a:endParaRPr b="0" i="0" sz="800" u="none" cap="none" strike="noStrike">
              <a:solidFill>
                <a:schemeClr val="dk1"/>
              </a:solidFill>
              <a:latin typeface="Calibri"/>
              <a:ea typeface="Calibri"/>
              <a:cs typeface="Calibri"/>
              <a:sym typeface="Calibri"/>
            </a:endParaRPr>
          </a:p>
        </p:txBody>
      </p:sp>
      <p:sp>
        <p:nvSpPr>
          <p:cNvPr id="630" name="Google Shape;630;p21"/>
          <p:cNvSpPr/>
          <p:nvPr/>
        </p:nvSpPr>
        <p:spPr>
          <a:xfrm>
            <a:off x="7997952" y="2511552"/>
            <a:ext cx="3657600" cy="316992"/>
          </a:xfrm>
          <a:prstGeom prst="roundRect">
            <a:avLst>
              <a:gd fmla="val 15385" name="adj"/>
            </a:avLst>
          </a:prstGeom>
          <a:solidFill>
            <a:srgbClr val="060816"/>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1" name="Google Shape;631;p21"/>
          <p:cNvSpPr/>
          <p:nvPr/>
        </p:nvSpPr>
        <p:spPr>
          <a:xfrm>
            <a:off x="8046720" y="2511552"/>
            <a:ext cx="3584448" cy="316992"/>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TASK SPEC  </a:t>
            </a:r>
            <a:r>
              <a:rPr b="0" i="0" lang="en-US" sz="800" u="none" cap="none" strike="noStrike">
                <a:solidFill>
                  <a:srgbClr val="9CA3AF"/>
                </a:solidFill>
                <a:latin typeface="Calibri"/>
                <a:ea typeface="Calibri"/>
                <a:cs typeface="Calibri"/>
                <a:sym typeface="Calibri"/>
              </a:rPr>
              <a:t>Commander's current plan item — exact objective</a:t>
            </a:r>
            <a:endParaRPr b="0" i="0" sz="800" u="none" cap="none" strike="noStrike">
              <a:solidFill>
                <a:schemeClr val="dk1"/>
              </a:solidFill>
              <a:latin typeface="Calibri"/>
              <a:ea typeface="Calibri"/>
              <a:cs typeface="Calibri"/>
              <a:sym typeface="Calibri"/>
            </a:endParaRPr>
          </a:p>
        </p:txBody>
      </p:sp>
      <p:sp>
        <p:nvSpPr>
          <p:cNvPr id="632" name="Google Shape;632;p21"/>
          <p:cNvSpPr/>
          <p:nvPr/>
        </p:nvSpPr>
        <p:spPr>
          <a:xfrm>
            <a:off x="7997952" y="2877312"/>
            <a:ext cx="3657600" cy="316992"/>
          </a:xfrm>
          <a:prstGeom prst="roundRect">
            <a:avLst>
              <a:gd fmla="val 15385" name="adj"/>
            </a:avLst>
          </a:prstGeom>
          <a:solidFill>
            <a:srgbClr val="060816"/>
          </a:solidFill>
          <a:ln cap="flat" cmpd="sng" w="9525">
            <a:solidFill>
              <a:srgbClr val="CE93D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3" name="Google Shape;633;p21"/>
          <p:cNvSpPr/>
          <p:nvPr/>
        </p:nvSpPr>
        <p:spPr>
          <a:xfrm>
            <a:off x="8046720" y="2877312"/>
            <a:ext cx="3584448" cy="316992"/>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KNOWLEDGE DOCS  </a:t>
            </a:r>
            <a:r>
              <a:rPr b="0" i="0" lang="en-US" sz="800" u="none" cap="none" strike="noStrike">
                <a:solidFill>
                  <a:srgbClr val="9CA3AF"/>
                </a:solidFill>
                <a:latin typeface="Calibri"/>
                <a:ea typeface="Calibri"/>
                <a:cs typeface="Calibri"/>
                <a:sym typeface="Calibri"/>
              </a:rPr>
              <a:t>Vuln-class expert docs (Analysis + Validation)</a:t>
            </a:r>
            <a:endParaRPr b="0" i="0" sz="800" u="none" cap="none" strike="noStrike">
              <a:solidFill>
                <a:schemeClr val="dk1"/>
              </a:solidFill>
              <a:latin typeface="Calibri"/>
              <a:ea typeface="Calibri"/>
              <a:cs typeface="Calibri"/>
              <a:sym typeface="Calibri"/>
            </a:endParaRPr>
          </a:p>
        </p:txBody>
      </p:sp>
      <p:cxnSp>
        <p:nvCxnSpPr>
          <p:cNvPr id="634" name="Google Shape;634;p21"/>
          <p:cNvCxnSpPr/>
          <p:nvPr/>
        </p:nvCxnSpPr>
        <p:spPr>
          <a:xfrm>
            <a:off x="8461248" y="3584448"/>
            <a:ext cx="2731008" cy="0"/>
          </a:xfrm>
          <a:prstGeom prst="straightConnector1">
            <a:avLst/>
          </a:prstGeom>
          <a:noFill/>
          <a:ln cap="flat" cmpd="sng" w="12700">
            <a:solidFill>
              <a:srgbClr val="7FFF00"/>
            </a:solidFill>
            <a:prstDash val="solid"/>
            <a:round/>
            <a:headEnd len="sm" w="sm" type="none"/>
            <a:tailEnd len="med" w="med" type="triangle"/>
          </a:ln>
        </p:spPr>
      </p:cxnSp>
      <p:sp>
        <p:nvSpPr>
          <p:cNvPr id="635" name="Google Shape;635;p21"/>
          <p:cNvSpPr/>
          <p:nvPr/>
        </p:nvSpPr>
        <p:spPr>
          <a:xfrm>
            <a:off x="7997952" y="3389376"/>
            <a:ext cx="3657600" cy="2072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Returns: Structured ASG Delta (new nodes + edges only)</a:t>
            </a:r>
            <a:endParaRPr b="0" i="0" sz="800" u="none" cap="none" strike="noStrike">
              <a:solidFill>
                <a:schemeClr val="dk1"/>
              </a:solidFill>
              <a:latin typeface="Calibri"/>
              <a:ea typeface="Calibri"/>
              <a:cs typeface="Calibri"/>
              <a:sym typeface="Calibri"/>
            </a:endParaRPr>
          </a:p>
        </p:txBody>
      </p:sp>
      <p:sp>
        <p:nvSpPr>
          <p:cNvPr id="636" name="Google Shape;636;p21"/>
          <p:cNvSpPr/>
          <p:nvPr/>
        </p:nvSpPr>
        <p:spPr>
          <a:xfrm>
            <a:off x="7997952" y="3608832"/>
            <a:ext cx="3657600"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700"/>
              <a:buFont typeface="Calibri"/>
              <a:buNone/>
            </a:pPr>
            <a:r>
              <a:rPr b="0" i="1" lang="en-US" sz="700" u="none" cap="none" strike="noStrike">
                <a:solidFill>
                  <a:srgbClr val="4B5563"/>
                </a:solidFill>
                <a:latin typeface="Calibri"/>
                <a:ea typeface="Calibri"/>
                <a:cs typeface="Calibri"/>
                <a:sym typeface="Calibri"/>
              </a:rPr>
              <a:t>Raw tool output · conversation history · intermediate reasoning → DISCARDED</a:t>
            </a:r>
            <a:endParaRPr b="0" i="0" sz="700" u="none" cap="none" strike="noStrike">
              <a:solidFill>
                <a:schemeClr val="dk1"/>
              </a:solidFill>
              <a:latin typeface="Calibri"/>
              <a:ea typeface="Calibri"/>
              <a:cs typeface="Calibri"/>
              <a:sym typeface="Calibri"/>
            </a:endParaRPr>
          </a:p>
        </p:txBody>
      </p:sp>
      <p:sp>
        <p:nvSpPr>
          <p:cNvPr id="637" name="Google Shape;637;p21"/>
          <p:cNvSpPr/>
          <p:nvPr/>
        </p:nvSpPr>
        <p:spPr>
          <a:xfrm>
            <a:off x="7851648" y="3852672"/>
            <a:ext cx="3950208" cy="633984"/>
          </a:xfrm>
          <a:prstGeom prst="roundRect">
            <a:avLst>
              <a:gd fmla="val 11538" name="adj"/>
            </a:avLst>
          </a:prstGeom>
          <a:solidFill>
            <a:srgbClr val="041A08"/>
          </a:solidFill>
          <a:ln cap="flat" cmpd="sng" w="11425">
            <a:solidFill>
              <a:srgbClr val="7FFF00"/>
            </a:solidFill>
            <a:prstDash val="solid"/>
            <a:round/>
            <a:headEnd len="sm" w="sm" type="none"/>
            <a:tailEnd len="sm" w="sm" type="none"/>
          </a:ln>
          <a:effectLst>
            <a:outerShdw blurRad="101600" rotWithShape="0" algn="bl" dir="2700000" dist="25400">
              <a:srgbClr val="000000">
                <a:alpha val="34901"/>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8" name="Google Shape;638;p21"/>
          <p:cNvSpPr/>
          <p:nvPr/>
        </p:nvSpPr>
        <p:spPr>
          <a:xfrm>
            <a:off x="7997952" y="3889248"/>
            <a:ext cx="3657600" cy="560832"/>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7FFF00"/>
              </a:buClr>
              <a:buSzPts val="900"/>
              <a:buFont typeface="Calibri"/>
              <a:buNone/>
            </a:pPr>
            <a:r>
              <a:rPr b="1" i="0" lang="en-US" sz="900" u="none" cap="none" strike="noStrike">
                <a:solidFill>
                  <a:srgbClr val="7FFF00"/>
                </a:solidFill>
                <a:latin typeface="Calibri"/>
                <a:ea typeface="Calibri"/>
                <a:cs typeface="Calibri"/>
                <a:sym typeface="Calibri"/>
              </a:rPr>
              <a:t>✅ Commander Stays Clean</a:t>
            </a:r>
            <a:br>
              <a:rPr b="1" i="0" lang="en-US" sz="900" u="none" cap="none" strike="noStrike">
                <a:solidFill>
                  <a:srgbClr val="7FFF00"/>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Commander only ever sees ASG/APG state — never thousands of lines of raw tool output. Reasoning context stays surgically focused.</a:t>
            </a:r>
            <a:endParaRPr b="0" i="0" sz="900" u="none" cap="none" strike="noStrike">
              <a:solidFill>
                <a:schemeClr val="dk1"/>
              </a:solidFill>
              <a:latin typeface="Calibri"/>
              <a:ea typeface="Calibri"/>
              <a:cs typeface="Calibri"/>
              <a:sym typeface="Calibri"/>
            </a:endParaRPr>
          </a:p>
        </p:txBody>
      </p:sp>
      <p:sp>
        <p:nvSpPr>
          <p:cNvPr id="639" name="Google Shape;639;p21"/>
          <p:cNvSpPr/>
          <p:nvPr/>
        </p:nvSpPr>
        <p:spPr>
          <a:xfrm>
            <a:off x="7851648" y="4559808"/>
            <a:ext cx="3950208" cy="633984"/>
          </a:xfrm>
          <a:prstGeom prst="roundRect">
            <a:avLst>
              <a:gd fmla="val 11538" name="adj"/>
            </a:avLst>
          </a:prstGeom>
          <a:solidFill>
            <a:srgbClr val="10081E"/>
          </a:solidFill>
          <a:ln cap="flat" cmpd="sng" w="11425">
            <a:solidFill>
              <a:srgbClr val="CE93D8"/>
            </a:solidFill>
            <a:prstDash val="solid"/>
            <a:round/>
            <a:headEnd len="sm" w="sm" type="none"/>
            <a:tailEnd len="sm" w="sm" type="none"/>
          </a:ln>
          <a:effectLst>
            <a:outerShdw blurRad="101600" rotWithShape="0" algn="bl" dir="2700000" dist="25400">
              <a:srgbClr val="000000">
                <a:alpha val="34901"/>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0" name="Google Shape;640;p21"/>
          <p:cNvSpPr/>
          <p:nvPr/>
        </p:nvSpPr>
        <p:spPr>
          <a:xfrm>
            <a:off x="7997952" y="4596384"/>
            <a:ext cx="3657600" cy="560832"/>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CE93D8"/>
              </a:buClr>
              <a:buSzPts val="900"/>
              <a:buFont typeface="Calibri"/>
              <a:buNone/>
            </a:pPr>
            <a:r>
              <a:rPr b="1" i="0" lang="en-US" sz="900" u="none" cap="none" strike="noStrike">
                <a:solidFill>
                  <a:srgbClr val="CE93D8"/>
                </a:solidFill>
                <a:latin typeface="Calibri"/>
                <a:ea typeface="Calibri"/>
                <a:cs typeface="Calibri"/>
                <a:sym typeface="Calibri"/>
              </a:rPr>
              <a:t>✅ Agents Can't Contaminate</a:t>
            </a:r>
            <a:br>
              <a:rPr b="1" i="0" lang="en-US" sz="900" u="none" cap="none" strike="noStrike">
                <a:solidFill>
                  <a:srgbClr val="CE93D8"/>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Agent A's verbose history never appears in Agent B's context. Knowledge passes only through the ASG. No shared memory. No cross-pollution.</a:t>
            </a:r>
            <a:endParaRPr b="0" i="0" sz="900" u="none" cap="none" strike="noStrike">
              <a:solidFill>
                <a:schemeClr val="dk1"/>
              </a:solidFill>
              <a:latin typeface="Calibri"/>
              <a:ea typeface="Calibri"/>
              <a:cs typeface="Calibri"/>
              <a:sym typeface="Calibri"/>
            </a:endParaRPr>
          </a:p>
        </p:txBody>
      </p:sp>
      <p:sp>
        <p:nvSpPr>
          <p:cNvPr id="641" name="Google Shape;641;p21"/>
          <p:cNvSpPr/>
          <p:nvPr/>
        </p:nvSpPr>
        <p:spPr>
          <a:xfrm>
            <a:off x="7851648" y="5266944"/>
            <a:ext cx="3950208" cy="633984"/>
          </a:xfrm>
          <a:prstGeom prst="roundRect">
            <a:avLst>
              <a:gd fmla="val 11538" name="adj"/>
            </a:avLst>
          </a:prstGeom>
          <a:solidFill>
            <a:srgbClr val="1A0606"/>
          </a:solidFill>
          <a:ln cap="flat" cmpd="sng" w="11425">
            <a:solidFill>
              <a:srgbClr val="FF5252"/>
            </a:solidFill>
            <a:prstDash val="solid"/>
            <a:round/>
            <a:headEnd len="sm" w="sm" type="none"/>
            <a:tailEnd len="sm" w="sm" type="none"/>
          </a:ln>
          <a:effectLst>
            <a:outerShdw blurRad="101600" rotWithShape="0" algn="bl" dir="2700000" dist="25400">
              <a:srgbClr val="000000">
                <a:alpha val="34901"/>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2" name="Google Shape;642;p21"/>
          <p:cNvSpPr/>
          <p:nvPr/>
        </p:nvSpPr>
        <p:spPr>
          <a:xfrm>
            <a:off x="7997952" y="5303520"/>
            <a:ext cx="3657600" cy="560832"/>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5252"/>
              </a:buClr>
              <a:buSzPts val="900"/>
              <a:buFont typeface="Calibri"/>
              <a:buNone/>
            </a:pPr>
            <a:r>
              <a:rPr b="1" i="0" lang="en-US" sz="900" u="none" cap="none" strike="noStrike">
                <a:solidFill>
                  <a:srgbClr val="FF5252"/>
                </a:solidFill>
                <a:latin typeface="Calibri"/>
                <a:ea typeface="Calibri"/>
                <a:cs typeface="Calibri"/>
                <a:sym typeface="Calibri"/>
              </a:rPr>
              <a:t>✅ Rejections Don't Bias Planning</a:t>
            </a:r>
            <a:br>
              <a:rPr b="1" i="0" lang="en-US" sz="900" u="none" cap="none" strike="noStrike">
                <a:solidFill>
                  <a:srgbClr val="FF5252"/>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When Commander rejects a High-risk tool call, that rejection never appears in the Commander's own context. Refusals don't accumulate and skew future decisions.</a:t>
            </a:r>
            <a:endParaRPr b="0" i="0" sz="900" u="none" cap="none" strike="noStrike">
              <a:solidFill>
                <a:schemeClr val="dk1"/>
              </a:solidFill>
              <a:latin typeface="Calibri"/>
              <a:ea typeface="Calibri"/>
              <a:cs typeface="Calibri"/>
              <a:sym typeface="Calibri"/>
            </a:endParaRPr>
          </a:p>
        </p:txBody>
      </p:sp>
      <p:sp>
        <p:nvSpPr>
          <p:cNvPr id="643" name="Google Shape;643;p21"/>
          <p:cNvSpPr/>
          <p:nvPr/>
        </p:nvSpPr>
        <p:spPr>
          <a:xfrm>
            <a:off x="7851648" y="6181344"/>
            <a:ext cx="3950208" cy="341376"/>
          </a:xfrm>
          <a:prstGeom prst="roundRect">
            <a:avLst>
              <a:gd fmla="val 17857" name="adj"/>
            </a:avLst>
          </a:prstGeom>
          <a:solidFill>
            <a:srgbClr val="1A1002"/>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4" name="Google Shape;644;p21"/>
          <p:cNvSpPr/>
          <p:nvPr/>
        </p:nvSpPr>
        <p:spPr>
          <a:xfrm>
            <a:off x="7997952" y="6181344"/>
            <a:ext cx="3657600" cy="341376"/>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C107"/>
              </a:buClr>
              <a:buSzPts val="800"/>
              <a:buFont typeface="Calibri"/>
              <a:buNone/>
            </a:pPr>
            <a:r>
              <a:rPr b="0" i="0" lang="en-US" sz="800" u="none" cap="none" strike="noStrike">
                <a:solidFill>
                  <a:srgbClr val="FFC107"/>
                </a:solidFill>
                <a:latin typeface="Calibri"/>
                <a:ea typeface="Calibri"/>
                <a:cs typeface="Calibri"/>
                <a:sym typeface="Calibri"/>
              </a:rPr>
              <a:t>🎯 Result: Long missions with many agents produce the same reasoning quality as single-agent tasks — context quality does not degrade with mission complexity.</a:t>
            </a:r>
            <a:endParaRPr b="0" i="0" sz="800" u="none" cap="none" strike="noStrike">
              <a:solidFill>
                <a:schemeClr val="dk1"/>
              </a:solidFill>
              <a:latin typeface="Calibri"/>
              <a:ea typeface="Calibri"/>
              <a:cs typeface="Calibri"/>
              <a:sym typeface="Calibri"/>
            </a:endParaRPr>
          </a:p>
        </p:txBody>
      </p:sp>
      <p:sp>
        <p:nvSpPr>
          <p:cNvPr id="645" name="Google Shape;645;p21"/>
          <p:cNvSpPr/>
          <p:nvPr/>
        </p:nvSpPr>
        <p:spPr>
          <a:xfrm>
            <a:off x="11643360" y="6608064"/>
            <a:ext cx="463296"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74151"/>
              </a:buClr>
              <a:buSzPts val="1100"/>
              <a:buFont typeface="Calibri"/>
              <a:buNone/>
            </a:pPr>
            <a:r>
              <a:rPr b="1" i="0" lang="en-US" sz="1100" u="none" cap="none" strike="noStrike">
                <a:solidFill>
                  <a:srgbClr val="374151"/>
                </a:solidFill>
                <a:latin typeface="Calibri"/>
                <a:ea typeface="Calibri"/>
                <a:cs typeface="Calibri"/>
                <a:sym typeface="Calibri"/>
              </a:rPr>
              <a:t>06b</a:t>
            </a:r>
            <a:endParaRPr b="0" i="0" sz="1100" u="none" cap="none" strike="noStrike">
              <a:solidFill>
                <a:schemeClr val="dk1"/>
              </a:solidFill>
              <a:latin typeface="Calibri"/>
              <a:ea typeface="Calibri"/>
              <a:cs typeface="Calibri"/>
              <a:sym typeface="Calibri"/>
            </a:endParaRPr>
          </a:p>
        </p:txBody>
      </p:sp>
      <p:sp>
        <p:nvSpPr>
          <p:cNvPr id="646" name="Google Shape;646;p21"/>
          <p:cNvSpPr txBox="1"/>
          <p:nvPr/>
        </p:nvSpPr>
        <p:spPr>
          <a:xfrm>
            <a:off x="11617897" y="128125"/>
            <a:ext cx="4092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D4FF"/>
                </a:solidFill>
                <a:latin typeface="Calibri"/>
                <a:ea typeface="Calibri"/>
                <a:cs typeface="Calibri"/>
                <a:sym typeface="Calibri"/>
              </a:rPr>
              <a:t>0</a:t>
            </a:r>
            <a:r>
              <a:rPr b="1" lang="en-US" sz="1300">
                <a:solidFill>
                  <a:srgbClr val="00D4FF"/>
                </a:solidFill>
                <a:latin typeface="Calibri"/>
                <a:ea typeface="Calibri"/>
                <a:cs typeface="Calibri"/>
                <a:sym typeface="Calibri"/>
              </a:rPr>
              <a:t>7</a:t>
            </a:r>
            <a:endParaRPr b="0" i="0" sz="1400" u="none" cap="none" strike="noStrike">
              <a:solidFill>
                <a:srgbClr val="00D4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650" name="Shape 650"/>
        <p:cNvGrpSpPr/>
        <p:nvPr/>
      </p:nvGrpSpPr>
      <p:grpSpPr>
        <a:xfrm>
          <a:off x="0" y="0"/>
          <a:ext cx="0" cy="0"/>
          <a:chOff x="0" y="0"/>
          <a:chExt cx="0" cy="0"/>
        </a:xfrm>
      </p:grpSpPr>
      <p:sp>
        <p:nvSpPr>
          <p:cNvPr id="651" name="Google Shape;651;p22"/>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2" name="Google Shape;652;p22"/>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3" name="Google Shape;653;p22"/>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4" name="Google Shape;654;p22"/>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4545"/>
                </a:solidFill>
                <a:latin typeface="Calibri"/>
                <a:ea typeface="Calibri"/>
                <a:cs typeface="Calibri"/>
                <a:sym typeface="Calibri"/>
              </a:rPr>
              <a:t>OFFENSIVE TOOL CATALOGUE</a:t>
            </a:r>
            <a:endParaRPr b="0" i="0" sz="1400" u="none" cap="none" strike="noStrike">
              <a:solidFill>
                <a:srgbClr val="000000"/>
              </a:solidFill>
              <a:latin typeface="Arial"/>
              <a:ea typeface="Arial"/>
              <a:cs typeface="Arial"/>
              <a:sym typeface="Arial"/>
            </a:endParaRPr>
          </a:p>
        </p:txBody>
      </p:sp>
      <p:sp>
        <p:nvSpPr>
          <p:cNvPr id="655" name="Google Shape;655;p22"/>
          <p:cNvSpPr txBox="1"/>
          <p:nvPr/>
        </p:nvSpPr>
        <p:spPr>
          <a:xfrm>
            <a:off x="274320" y="347472"/>
            <a:ext cx="10972800" cy="5669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Calibri"/>
                <a:ea typeface="Calibri"/>
                <a:cs typeface="Calibri"/>
                <a:sym typeface="Calibri"/>
              </a:rPr>
              <a:t>11 Industry-Standard Security Tools — AI Agent Operated</a:t>
            </a:r>
            <a:endParaRPr b="0" i="0" sz="1400" u="none" cap="none" strike="noStrike">
              <a:solidFill>
                <a:srgbClr val="000000"/>
              </a:solidFill>
              <a:latin typeface="Arial"/>
              <a:ea typeface="Arial"/>
              <a:cs typeface="Arial"/>
              <a:sym typeface="Arial"/>
            </a:endParaRPr>
          </a:p>
        </p:txBody>
      </p:sp>
      <p:sp>
        <p:nvSpPr>
          <p:cNvPr id="656" name="Google Shape;656;p22"/>
          <p:cNvSpPr/>
          <p:nvPr/>
        </p:nvSpPr>
        <p:spPr>
          <a:xfrm>
            <a:off x="274320" y="987552"/>
            <a:ext cx="3657600" cy="347472"/>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7" name="Google Shape;657;p22"/>
          <p:cNvSpPr txBox="1"/>
          <p:nvPr/>
        </p:nvSpPr>
        <p:spPr>
          <a:xfrm>
            <a:off x="3657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39FF14"/>
                </a:solidFill>
                <a:latin typeface="Calibri"/>
                <a:ea typeface="Calibri"/>
                <a:cs typeface="Calibri"/>
                <a:sym typeface="Calibri"/>
              </a:rPr>
              <a:t>PHASE 1  ·  RECONNAISSANCE</a:t>
            </a:r>
            <a:endParaRPr b="0" i="0" sz="1400" u="none" cap="none" strike="noStrike">
              <a:solidFill>
                <a:srgbClr val="000000"/>
              </a:solidFill>
              <a:latin typeface="Arial"/>
              <a:ea typeface="Arial"/>
              <a:cs typeface="Arial"/>
              <a:sym typeface="Arial"/>
            </a:endParaRPr>
          </a:p>
        </p:txBody>
      </p:sp>
      <p:sp>
        <p:nvSpPr>
          <p:cNvPr id="658" name="Google Shape;658;p22"/>
          <p:cNvSpPr/>
          <p:nvPr/>
        </p:nvSpPr>
        <p:spPr>
          <a:xfrm>
            <a:off x="4160520" y="987552"/>
            <a:ext cx="3657600" cy="347472"/>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9" name="Google Shape;659;p22"/>
          <p:cNvSpPr txBox="1"/>
          <p:nvPr/>
        </p:nvSpPr>
        <p:spPr>
          <a:xfrm>
            <a:off x="42519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0E5FF"/>
                </a:solidFill>
                <a:latin typeface="Calibri"/>
                <a:ea typeface="Calibri"/>
                <a:cs typeface="Calibri"/>
                <a:sym typeface="Calibri"/>
              </a:rPr>
              <a:t>PHASE 2  ·  ANALYSIS</a:t>
            </a:r>
            <a:endParaRPr b="0" i="0" sz="1400" u="none" cap="none" strike="noStrike">
              <a:solidFill>
                <a:srgbClr val="000000"/>
              </a:solidFill>
              <a:latin typeface="Arial"/>
              <a:ea typeface="Arial"/>
              <a:cs typeface="Arial"/>
              <a:sym typeface="Arial"/>
            </a:endParaRPr>
          </a:p>
        </p:txBody>
      </p:sp>
      <p:sp>
        <p:nvSpPr>
          <p:cNvPr id="660" name="Google Shape;660;p22"/>
          <p:cNvSpPr/>
          <p:nvPr/>
        </p:nvSpPr>
        <p:spPr>
          <a:xfrm>
            <a:off x="8412480" y="987552"/>
            <a:ext cx="1828800" cy="347472"/>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1" name="Google Shape;661;p22"/>
          <p:cNvSpPr txBox="1"/>
          <p:nvPr/>
        </p:nvSpPr>
        <p:spPr>
          <a:xfrm>
            <a:off x="8503920" y="1042416"/>
            <a:ext cx="169164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FF4545"/>
                </a:solidFill>
                <a:latin typeface="Calibri"/>
                <a:ea typeface="Calibri"/>
                <a:cs typeface="Calibri"/>
                <a:sym typeface="Calibri"/>
              </a:rPr>
              <a:t>PHASE 3  ·  VALIDATION</a:t>
            </a:r>
            <a:endParaRPr b="0" i="0" sz="1400" u="none" cap="none" strike="noStrike">
              <a:solidFill>
                <a:srgbClr val="000000"/>
              </a:solidFill>
              <a:latin typeface="Arial"/>
              <a:ea typeface="Arial"/>
              <a:cs typeface="Arial"/>
              <a:sym typeface="Arial"/>
            </a:endParaRPr>
          </a:p>
        </p:txBody>
      </p:sp>
      <p:sp>
        <p:nvSpPr>
          <p:cNvPr id="662" name="Google Shape;662;p22"/>
          <p:cNvSpPr/>
          <p:nvPr/>
        </p:nvSpPr>
        <p:spPr>
          <a:xfrm>
            <a:off x="10469880" y="987552"/>
            <a:ext cx="1554480" cy="347472"/>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3" name="Google Shape;663;p22"/>
          <p:cNvSpPr txBox="1"/>
          <p:nvPr/>
        </p:nvSpPr>
        <p:spPr>
          <a:xfrm>
            <a:off x="10561320" y="1042416"/>
            <a:ext cx="141732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BD93F9"/>
                </a:solidFill>
                <a:latin typeface="Calibri"/>
                <a:ea typeface="Calibri"/>
                <a:cs typeface="Calibri"/>
                <a:sym typeface="Calibri"/>
              </a:rPr>
              <a:t>PHASE 3  ·  EVIDENCE</a:t>
            </a:r>
            <a:endParaRPr b="0" i="0" sz="1400" u="none" cap="none" strike="noStrike">
              <a:solidFill>
                <a:srgbClr val="000000"/>
              </a:solidFill>
              <a:latin typeface="Arial"/>
              <a:ea typeface="Arial"/>
              <a:cs typeface="Arial"/>
              <a:sym typeface="Arial"/>
            </a:endParaRPr>
          </a:p>
        </p:txBody>
      </p:sp>
      <p:sp>
        <p:nvSpPr>
          <p:cNvPr id="664" name="Google Shape;664;p22"/>
          <p:cNvSpPr/>
          <p:nvPr/>
        </p:nvSpPr>
        <p:spPr>
          <a:xfrm>
            <a:off x="274320" y="141732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5" name="Google Shape;665;p22"/>
          <p:cNvSpPr/>
          <p:nvPr/>
        </p:nvSpPr>
        <p:spPr>
          <a:xfrm>
            <a:off x="274320" y="141732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6" name="Google Shape;666;p22"/>
          <p:cNvSpPr txBox="1"/>
          <p:nvPr/>
        </p:nvSpPr>
        <p:spPr>
          <a:xfrm>
            <a:off x="292608" y="203149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667" name="Google Shape;667;p22"/>
          <p:cNvSpPr txBox="1"/>
          <p:nvPr/>
        </p:nvSpPr>
        <p:spPr>
          <a:xfrm>
            <a:off x="731520" y="1472184"/>
            <a:ext cx="3154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Amass</a:t>
            </a:r>
            <a:endParaRPr b="0" i="0" sz="1400" u="none" cap="none" strike="noStrike">
              <a:solidFill>
                <a:srgbClr val="000000"/>
              </a:solidFill>
              <a:latin typeface="Arial"/>
              <a:ea typeface="Arial"/>
              <a:cs typeface="Arial"/>
              <a:sym typeface="Arial"/>
            </a:endParaRPr>
          </a:p>
        </p:txBody>
      </p:sp>
      <p:sp>
        <p:nvSpPr>
          <p:cNvPr id="668" name="Google Shape;668;p22"/>
          <p:cNvSpPr txBox="1"/>
          <p:nvPr/>
        </p:nvSpPr>
        <p:spPr>
          <a:xfrm>
            <a:off x="731520" y="1737360"/>
            <a:ext cx="31546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Subdomain Enumeration  ·  Recon Agent</a:t>
            </a:r>
            <a:endParaRPr b="0" i="0" sz="1400" u="none" cap="none" strike="noStrike">
              <a:solidFill>
                <a:srgbClr val="000000"/>
              </a:solidFill>
              <a:latin typeface="Arial"/>
              <a:ea typeface="Arial"/>
              <a:cs typeface="Arial"/>
              <a:sym typeface="Arial"/>
            </a:endParaRPr>
          </a:p>
        </p:txBody>
      </p:sp>
      <p:sp>
        <p:nvSpPr>
          <p:cNvPr id="669" name="Google Shape;669;p22"/>
          <p:cNvSpPr txBox="1"/>
          <p:nvPr/>
        </p:nvSpPr>
        <p:spPr>
          <a:xfrm>
            <a:off x="731520" y="1947672"/>
            <a:ext cx="315468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DNS brute-force · certificate transparency logs · passive OSINT. Discovers all external subdomains and maps attack surface entry points.</a:t>
            </a:r>
            <a:endParaRPr b="0" i="0" sz="1400" u="none" cap="none" strike="noStrike">
              <a:solidFill>
                <a:srgbClr val="000000"/>
              </a:solidFill>
              <a:latin typeface="Arial"/>
              <a:ea typeface="Arial"/>
              <a:cs typeface="Arial"/>
              <a:sym typeface="Arial"/>
            </a:endParaRPr>
          </a:p>
        </p:txBody>
      </p:sp>
      <p:sp>
        <p:nvSpPr>
          <p:cNvPr id="670" name="Google Shape;670;p22"/>
          <p:cNvSpPr/>
          <p:nvPr/>
        </p:nvSpPr>
        <p:spPr>
          <a:xfrm>
            <a:off x="274320" y="304800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1" name="Google Shape;671;p22"/>
          <p:cNvSpPr/>
          <p:nvPr/>
        </p:nvSpPr>
        <p:spPr>
          <a:xfrm>
            <a:off x="274320" y="304800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2" name="Google Shape;672;p22"/>
          <p:cNvSpPr txBox="1"/>
          <p:nvPr/>
        </p:nvSpPr>
        <p:spPr>
          <a:xfrm>
            <a:off x="2926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673" name="Google Shape;673;p22"/>
          <p:cNvSpPr txBox="1"/>
          <p:nvPr/>
        </p:nvSpPr>
        <p:spPr>
          <a:xfrm>
            <a:off x="731520" y="3102864"/>
            <a:ext cx="3154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httpx</a:t>
            </a:r>
            <a:endParaRPr b="0" i="0" sz="1400" u="none" cap="none" strike="noStrike">
              <a:solidFill>
                <a:srgbClr val="000000"/>
              </a:solidFill>
              <a:latin typeface="Arial"/>
              <a:ea typeface="Arial"/>
              <a:cs typeface="Arial"/>
              <a:sym typeface="Arial"/>
            </a:endParaRPr>
          </a:p>
        </p:txBody>
      </p:sp>
      <p:sp>
        <p:nvSpPr>
          <p:cNvPr id="674" name="Google Shape;674;p22"/>
          <p:cNvSpPr txBox="1"/>
          <p:nvPr/>
        </p:nvSpPr>
        <p:spPr>
          <a:xfrm>
            <a:off x="731520" y="3368040"/>
            <a:ext cx="31546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Live Host Probing  ·  Recon Agent</a:t>
            </a:r>
            <a:endParaRPr b="0" i="0" sz="1400" u="none" cap="none" strike="noStrike">
              <a:solidFill>
                <a:srgbClr val="000000"/>
              </a:solidFill>
              <a:latin typeface="Arial"/>
              <a:ea typeface="Arial"/>
              <a:cs typeface="Arial"/>
              <a:sym typeface="Arial"/>
            </a:endParaRPr>
          </a:p>
        </p:txBody>
      </p:sp>
      <p:sp>
        <p:nvSpPr>
          <p:cNvPr id="675" name="Google Shape;675;p22"/>
          <p:cNvSpPr txBox="1"/>
          <p:nvPr/>
        </p:nvSpPr>
        <p:spPr>
          <a:xfrm>
            <a:off x="731520" y="3578352"/>
            <a:ext cx="315468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Validates which discovered hosts respond over HTTP/HTTPS. Identifies web servers, status codes, redirects, TLS details.</a:t>
            </a:r>
            <a:endParaRPr b="0" i="0" sz="1400" u="none" cap="none" strike="noStrike">
              <a:solidFill>
                <a:srgbClr val="000000"/>
              </a:solidFill>
              <a:latin typeface="Arial"/>
              <a:ea typeface="Arial"/>
              <a:cs typeface="Arial"/>
              <a:sym typeface="Arial"/>
            </a:endParaRPr>
          </a:p>
        </p:txBody>
      </p:sp>
      <p:sp>
        <p:nvSpPr>
          <p:cNvPr id="676" name="Google Shape;676;p22"/>
          <p:cNvSpPr/>
          <p:nvPr/>
        </p:nvSpPr>
        <p:spPr>
          <a:xfrm>
            <a:off x="274320" y="467868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7" name="Google Shape;677;p22"/>
          <p:cNvSpPr/>
          <p:nvPr/>
        </p:nvSpPr>
        <p:spPr>
          <a:xfrm>
            <a:off x="274320" y="467868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8" name="Google Shape;678;p22"/>
          <p:cNvSpPr txBox="1"/>
          <p:nvPr/>
        </p:nvSpPr>
        <p:spPr>
          <a:xfrm>
            <a:off x="292608" y="529285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679" name="Google Shape;679;p22"/>
          <p:cNvSpPr txBox="1"/>
          <p:nvPr/>
        </p:nvSpPr>
        <p:spPr>
          <a:xfrm>
            <a:off x="731520" y="4733544"/>
            <a:ext cx="3154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Nmap</a:t>
            </a:r>
            <a:endParaRPr b="0" i="0" sz="1400" u="none" cap="none" strike="noStrike">
              <a:solidFill>
                <a:srgbClr val="000000"/>
              </a:solidFill>
              <a:latin typeface="Arial"/>
              <a:ea typeface="Arial"/>
              <a:cs typeface="Arial"/>
              <a:sym typeface="Arial"/>
            </a:endParaRPr>
          </a:p>
        </p:txBody>
      </p:sp>
      <p:sp>
        <p:nvSpPr>
          <p:cNvPr id="680" name="Google Shape;680;p22"/>
          <p:cNvSpPr txBox="1"/>
          <p:nvPr/>
        </p:nvSpPr>
        <p:spPr>
          <a:xfrm>
            <a:off x="731520" y="4998720"/>
            <a:ext cx="31546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Port + Service Scan  ·  Recon Agent</a:t>
            </a:r>
            <a:endParaRPr b="0" i="0" sz="1400" u="none" cap="none" strike="noStrike">
              <a:solidFill>
                <a:srgbClr val="000000"/>
              </a:solidFill>
              <a:latin typeface="Arial"/>
              <a:ea typeface="Arial"/>
              <a:cs typeface="Arial"/>
              <a:sym typeface="Arial"/>
            </a:endParaRPr>
          </a:p>
        </p:txBody>
      </p:sp>
      <p:sp>
        <p:nvSpPr>
          <p:cNvPr id="681" name="Google Shape;681;p22"/>
          <p:cNvSpPr txBox="1"/>
          <p:nvPr/>
        </p:nvSpPr>
        <p:spPr>
          <a:xfrm>
            <a:off x="731520" y="5209032"/>
            <a:ext cx="315468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Port scanning, service fingerprinting, OS detection. Optional NSE script execution for vuln detection on open services.</a:t>
            </a:r>
            <a:endParaRPr b="0" i="0" sz="1400" u="none" cap="none" strike="noStrike">
              <a:solidFill>
                <a:srgbClr val="000000"/>
              </a:solidFill>
              <a:latin typeface="Arial"/>
              <a:ea typeface="Arial"/>
              <a:cs typeface="Arial"/>
              <a:sym typeface="Arial"/>
            </a:endParaRPr>
          </a:p>
        </p:txBody>
      </p:sp>
      <p:sp>
        <p:nvSpPr>
          <p:cNvPr id="682" name="Google Shape;682;p22"/>
          <p:cNvSpPr/>
          <p:nvPr/>
        </p:nvSpPr>
        <p:spPr>
          <a:xfrm>
            <a:off x="4160520" y="1417320"/>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3" name="Google Shape;683;p22"/>
          <p:cNvSpPr/>
          <p:nvPr/>
        </p:nvSpPr>
        <p:spPr>
          <a:xfrm>
            <a:off x="4160520" y="1417320"/>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4" name="Google Shape;684;p22"/>
          <p:cNvSpPr txBox="1"/>
          <p:nvPr/>
        </p:nvSpPr>
        <p:spPr>
          <a:xfrm>
            <a:off x="4178808" y="1705356"/>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685" name="Google Shape;685;p22"/>
          <p:cNvSpPr txBox="1"/>
          <p:nvPr/>
        </p:nvSpPr>
        <p:spPr>
          <a:xfrm>
            <a:off x="4617720" y="1472184"/>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WhatWeb</a:t>
            </a:r>
            <a:endParaRPr b="0" i="0" sz="1400" u="none" cap="none" strike="noStrike">
              <a:solidFill>
                <a:srgbClr val="000000"/>
              </a:solidFill>
              <a:latin typeface="Arial"/>
              <a:ea typeface="Arial"/>
              <a:cs typeface="Arial"/>
              <a:sym typeface="Arial"/>
            </a:endParaRPr>
          </a:p>
        </p:txBody>
      </p:sp>
      <p:sp>
        <p:nvSpPr>
          <p:cNvPr id="686" name="Google Shape;686;p22"/>
          <p:cNvSpPr txBox="1"/>
          <p:nvPr/>
        </p:nvSpPr>
        <p:spPr>
          <a:xfrm>
            <a:off x="4617720" y="1737360"/>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Technology Fingerprinting  ·  Analysis Agent</a:t>
            </a:r>
            <a:endParaRPr b="0" i="0" sz="1400" u="none" cap="none" strike="noStrike">
              <a:solidFill>
                <a:srgbClr val="000000"/>
              </a:solidFill>
              <a:latin typeface="Arial"/>
              <a:ea typeface="Arial"/>
              <a:cs typeface="Arial"/>
              <a:sym typeface="Arial"/>
            </a:endParaRPr>
          </a:p>
        </p:txBody>
      </p:sp>
      <p:sp>
        <p:nvSpPr>
          <p:cNvPr id="687" name="Google Shape;687;p22"/>
          <p:cNvSpPr txBox="1"/>
          <p:nvPr/>
        </p:nvSpPr>
        <p:spPr>
          <a:xfrm>
            <a:off x="4617720" y="1947672"/>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Identifies CMS, frameworks, server software, JS libraries, and versions from HTTP responses. Seeds Technology nodes for the ASG.</a:t>
            </a:r>
            <a:endParaRPr b="0" i="0" sz="1400" u="none" cap="none" strike="noStrike">
              <a:solidFill>
                <a:srgbClr val="000000"/>
              </a:solidFill>
              <a:latin typeface="Arial"/>
              <a:ea typeface="Arial"/>
              <a:cs typeface="Arial"/>
              <a:sym typeface="Arial"/>
            </a:endParaRPr>
          </a:p>
        </p:txBody>
      </p:sp>
      <p:sp>
        <p:nvSpPr>
          <p:cNvPr id="688" name="Google Shape;688;p22"/>
          <p:cNvSpPr/>
          <p:nvPr/>
        </p:nvSpPr>
        <p:spPr>
          <a:xfrm>
            <a:off x="4160520" y="2395728"/>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9" name="Google Shape;689;p22"/>
          <p:cNvSpPr/>
          <p:nvPr/>
        </p:nvSpPr>
        <p:spPr>
          <a:xfrm>
            <a:off x="4160520" y="2395728"/>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0" name="Google Shape;690;p22"/>
          <p:cNvSpPr txBox="1"/>
          <p:nvPr/>
        </p:nvSpPr>
        <p:spPr>
          <a:xfrm>
            <a:off x="4178808" y="2683764"/>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691" name="Google Shape;691;p22"/>
          <p:cNvSpPr txBox="1"/>
          <p:nvPr/>
        </p:nvSpPr>
        <p:spPr>
          <a:xfrm>
            <a:off x="4617720" y="2450592"/>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Gobuster</a:t>
            </a:r>
            <a:endParaRPr b="0" i="0" sz="1400" u="none" cap="none" strike="noStrike">
              <a:solidFill>
                <a:srgbClr val="000000"/>
              </a:solidFill>
              <a:latin typeface="Arial"/>
              <a:ea typeface="Arial"/>
              <a:cs typeface="Arial"/>
              <a:sym typeface="Arial"/>
            </a:endParaRPr>
          </a:p>
        </p:txBody>
      </p:sp>
      <p:sp>
        <p:nvSpPr>
          <p:cNvPr id="692" name="Google Shape;692;p22"/>
          <p:cNvSpPr txBox="1"/>
          <p:nvPr/>
        </p:nvSpPr>
        <p:spPr>
          <a:xfrm>
            <a:off x="4617720" y="2715768"/>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Directory Brute-Force  ·  Analysis Agent</a:t>
            </a:r>
            <a:endParaRPr b="0" i="0" sz="1400" u="none" cap="none" strike="noStrike">
              <a:solidFill>
                <a:srgbClr val="000000"/>
              </a:solidFill>
              <a:latin typeface="Arial"/>
              <a:ea typeface="Arial"/>
              <a:cs typeface="Arial"/>
              <a:sym typeface="Arial"/>
            </a:endParaRPr>
          </a:p>
        </p:txBody>
      </p:sp>
      <p:sp>
        <p:nvSpPr>
          <p:cNvPr id="693" name="Google Shape;693;p22"/>
          <p:cNvSpPr txBox="1"/>
          <p:nvPr/>
        </p:nvSpPr>
        <p:spPr>
          <a:xfrm>
            <a:off x="4617720" y="2926080"/>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Discovers hidden paths, admin panels, backup files, and exposed resources via wordlist-based HTTP path enumeration.</a:t>
            </a:r>
            <a:endParaRPr b="0" i="0" sz="1400" u="none" cap="none" strike="noStrike">
              <a:solidFill>
                <a:srgbClr val="000000"/>
              </a:solidFill>
              <a:latin typeface="Arial"/>
              <a:ea typeface="Arial"/>
              <a:cs typeface="Arial"/>
              <a:sym typeface="Arial"/>
            </a:endParaRPr>
          </a:p>
        </p:txBody>
      </p:sp>
      <p:sp>
        <p:nvSpPr>
          <p:cNvPr id="694" name="Google Shape;694;p22"/>
          <p:cNvSpPr/>
          <p:nvPr/>
        </p:nvSpPr>
        <p:spPr>
          <a:xfrm>
            <a:off x="4160520" y="3374136"/>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5" name="Google Shape;695;p22"/>
          <p:cNvSpPr/>
          <p:nvPr/>
        </p:nvSpPr>
        <p:spPr>
          <a:xfrm>
            <a:off x="4160520" y="3374136"/>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6" name="Google Shape;696;p22"/>
          <p:cNvSpPr txBox="1"/>
          <p:nvPr/>
        </p:nvSpPr>
        <p:spPr>
          <a:xfrm>
            <a:off x="41788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697" name="Google Shape;697;p22"/>
          <p:cNvSpPr txBox="1"/>
          <p:nvPr/>
        </p:nvSpPr>
        <p:spPr>
          <a:xfrm>
            <a:off x="4617720" y="3429000"/>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ffuf</a:t>
            </a:r>
            <a:endParaRPr b="0" i="0" sz="1400" u="none" cap="none" strike="noStrike">
              <a:solidFill>
                <a:srgbClr val="000000"/>
              </a:solidFill>
              <a:latin typeface="Arial"/>
              <a:ea typeface="Arial"/>
              <a:cs typeface="Arial"/>
              <a:sym typeface="Arial"/>
            </a:endParaRPr>
          </a:p>
        </p:txBody>
      </p:sp>
      <p:sp>
        <p:nvSpPr>
          <p:cNvPr id="698" name="Google Shape;698;p22"/>
          <p:cNvSpPr txBox="1"/>
          <p:nvPr/>
        </p:nvSpPr>
        <p:spPr>
          <a:xfrm>
            <a:off x="4617720" y="3694176"/>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API + Parameter Fuzzing  ·  Analysis Agent</a:t>
            </a:r>
            <a:endParaRPr b="0" i="0" sz="1400" u="none" cap="none" strike="noStrike">
              <a:solidFill>
                <a:srgbClr val="000000"/>
              </a:solidFill>
              <a:latin typeface="Arial"/>
              <a:ea typeface="Arial"/>
              <a:cs typeface="Arial"/>
              <a:sym typeface="Arial"/>
            </a:endParaRPr>
          </a:p>
        </p:txBody>
      </p:sp>
      <p:sp>
        <p:nvSpPr>
          <p:cNvPr id="699" name="Google Shape;699;p22"/>
          <p:cNvSpPr txBox="1"/>
          <p:nvPr/>
        </p:nvSpPr>
        <p:spPr>
          <a:xfrm>
            <a:off x="4617720" y="3904488"/>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Fast web fuzzer for API route discovery, parameter fuzzing, virtual host enumeration, and undocumented endpoint identification.</a:t>
            </a:r>
            <a:endParaRPr b="0" i="0" sz="1400" u="none" cap="none" strike="noStrike">
              <a:solidFill>
                <a:srgbClr val="000000"/>
              </a:solidFill>
              <a:latin typeface="Arial"/>
              <a:ea typeface="Arial"/>
              <a:cs typeface="Arial"/>
              <a:sym typeface="Arial"/>
            </a:endParaRPr>
          </a:p>
        </p:txBody>
      </p:sp>
      <p:sp>
        <p:nvSpPr>
          <p:cNvPr id="700" name="Google Shape;700;p22"/>
          <p:cNvSpPr/>
          <p:nvPr/>
        </p:nvSpPr>
        <p:spPr>
          <a:xfrm>
            <a:off x="4160520" y="4352544"/>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1" name="Google Shape;701;p22"/>
          <p:cNvSpPr/>
          <p:nvPr/>
        </p:nvSpPr>
        <p:spPr>
          <a:xfrm>
            <a:off x="4160520" y="4352544"/>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2" name="Google Shape;702;p22"/>
          <p:cNvSpPr txBox="1"/>
          <p:nvPr/>
        </p:nvSpPr>
        <p:spPr>
          <a:xfrm>
            <a:off x="4178808" y="4640580"/>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p:txBody>
      </p:sp>
      <p:sp>
        <p:nvSpPr>
          <p:cNvPr id="703" name="Google Shape;703;p22"/>
          <p:cNvSpPr txBox="1"/>
          <p:nvPr/>
        </p:nvSpPr>
        <p:spPr>
          <a:xfrm>
            <a:off x="4617720" y="4407408"/>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Nuclei</a:t>
            </a:r>
            <a:endParaRPr b="0" i="0" sz="1400" u="none" cap="none" strike="noStrike">
              <a:solidFill>
                <a:srgbClr val="000000"/>
              </a:solidFill>
              <a:latin typeface="Arial"/>
              <a:ea typeface="Arial"/>
              <a:cs typeface="Arial"/>
              <a:sym typeface="Arial"/>
            </a:endParaRPr>
          </a:p>
        </p:txBody>
      </p:sp>
      <p:sp>
        <p:nvSpPr>
          <p:cNvPr id="704" name="Google Shape;704;p22"/>
          <p:cNvSpPr txBox="1"/>
          <p:nvPr/>
        </p:nvSpPr>
        <p:spPr>
          <a:xfrm>
            <a:off x="4617720" y="4672584"/>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Template-Based Vuln Scan  ·  Analysis Agent</a:t>
            </a:r>
            <a:endParaRPr b="0" i="0" sz="1400" u="none" cap="none" strike="noStrike">
              <a:solidFill>
                <a:srgbClr val="000000"/>
              </a:solidFill>
              <a:latin typeface="Arial"/>
              <a:ea typeface="Arial"/>
              <a:cs typeface="Arial"/>
              <a:sym typeface="Arial"/>
            </a:endParaRPr>
          </a:p>
        </p:txBody>
      </p:sp>
      <p:sp>
        <p:nvSpPr>
          <p:cNvPr id="705" name="Google Shape;705;p22"/>
          <p:cNvSpPr txBox="1"/>
          <p:nvPr/>
        </p:nvSpPr>
        <p:spPr>
          <a:xfrm>
            <a:off x="4617720" y="4882896"/>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Matches discovered services and technologies against a library of CVE and misconfiguration templates for automated vulnerability detection.</a:t>
            </a:r>
            <a:endParaRPr b="0" i="0" sz="1400" u="none" cap="none" strike="noStrike">
              <a:solidFill>
                <a:srgbClr val="000000"/>
              </a:solidFill>
              <a:latin typeface="Arial"/>
              <a:ea typeface="Arial"/>
              <a:cs typeface="Arial"/>
              <a:sym typeface="Arial"/>
            </a:endParaRPr>
          </a:p>
        </p:txBody>
      </p:sp>
      <p:sp>
        <p:nvSpPr>
          <p:cNvPr id="706" name="Google Shape;706;p22"/>
          <p:cNvSpPr/>
          <p:nvPr/>
        </p:nvSpPr>
        <p:spPr>
          <a:xfrm>
            <a:off x="4160520" y="5330952"/>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7" name="Google Shape;707;p22"/>
          <p:cNvSpPr/>
          <p:nvPr/>
        </p:nvSpPr>
        <p:spPr>
          <a:xfrm>
            <a:off x="4160520" y="5330952"/>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8" name="Google Shape;708;p22"/>
          <p:cNvSpPr txBox="1"/>
          <p:nvPr/>
        </p:nvSpPr>
        <p:spPr>
          <a:xfrm>
            <a:off x="4178808" y="5618988"/>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709" name="Google Shape;709;p22"/>
          <p:cNvSpPr txBox="1"/>
          <p:nvPr/>
        </p:nvSpPr>
        <p:spPr>
          <a:xfrm>
            <a:off x="4617720" y="5385816"/>
            <a:ext cx="36118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OWASP ZAP</a:t>
            </a:r>
            <a:endParaRPr b="0" i="0" sz="1400" u="none" cap="none" strike="noStrike">
              <a:solidFill>
                <a:srgbClr val="000000"/>
              </a:solidFill>
              <a:latin typeface="Arial"/>
              <a:ea typeface="Arial"/>
              <a:cs typeface="Arial"/>
              <a:sym typeface="Arial"/>
            </a:endParaRPr>
          </a:p>
        </p:txBody>
      </p:sp>
      <p:sp>
        <p:nvSpPr>
          <p:cNvPr id="710" name="Google Shape;710;p22"/>
          <p:cNvSpPr txBox="1"/>
          <p:nvPr/>
        </p:nvSpPr>
        <p:spPr>
          <a:xfrm>
            <a:off x="4617720" y="5650992"/>
            <a:ext cx="36118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Active Web App Scan  ·  Analysis Agent</a:t>
            </a:r>
            <a:endParaRPr b="0" i="0" sz="1400" u="none" cap="none" strike="noStrike">
              <a:solidFill>
                <a:srgbClr val="000000"/>
              </a:solidFill>
              <a:latin typeface="Arial"/>
              <a:ea typeface="Arial"/>
              <a:cs typeface="Arial"/>
              <a:sym typeface="Arial"/>
            </a:endParaRPr>
          </a:p>
        </p:txBody>
      </p:sp>
      <p:sp>
        <p:nvSpPr>
          <p:cNvPr id="711" name="Google Shape;711;p22"/>
          <p:cNvSpPr txBox="1"/>
          <p:nvPr/>
        </p:nvSpPr>
        <p:spPr>
          <a:xfrm>
            <a:off x="4617720" y="5861304"/>
            <a:ext cx="36118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Crawls and actively tests for OWASP Top 10: XSS, CSRF, injection flaws, authentication weaknesses, and insecure direct object references.</a:t>
            </a:r>
            <a:endParaRPr b="0" i="0" sz="1400" u="none" cap="none" strike="noStrike">
              <a:solidFill>
                <a:srgbClr val="000000"/>
              </a:solidFill>
              <a:latin typeface="Arial"/>
              <a:ea typeface="Arial"/>
              <a:cs typeface="Arial"/>
              <a:sym typeface="Arial"/>
            </a:endParaRPr>
          </a:p>
        </p:txBody>
      </p:sp>
      <p:sp>
        <p:nvSpPr>
          <p:cNvPr id="712" name="Google Shape;712;p22"/>
          <p:cNvSpPr/>
          <p:nvPr/>
        </p:nvSpPr>
        <p:spPr>
          <a:xfrm>
            <a:off x="8412480" y="141732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3" name="Google Shape;713;p22"/>
          <p:cNvSpPr/>
          <p:nvPr/>
        </p:nvSpPr>
        <p:spPr>
          <a:xfrm>
            <a:off x="8412475" y="1417325"/>
            <a:ext cx="4116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4" name="Google Shape;714;p22"/>
          <p:cNvSpPr txBox="1"/>
          <p:nvPr/>
        </p:nvSpPr>
        <p:spPr>
          <a:xfrm>
            <a:off x="8430768" y="2031492"/>
            <a:ext cx="329184"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9</a:t>
            </a:r>
            <a:endParaRPr b="0" i="0" sz="1400" u="none" cap="none" strike="noStrike">
              <a:solidFill>
                <a:srgbClr val="000000"/>
              </a:solidFill>
              <a:latin typeface="Arial"/>
              <a:ea typeface="Arial"/>
              <a:cs typeface="Arial"/>
              <a:sym typeface="Arial"/>
            </a:endParaRPr>
          </a:p>
        </p:txBody>
      </p:sp>
      <p:sp>
        <p:nvSpPr>
          <p:cNvPr id="715" name="Google Shape;715;p22"/>
          <p:cNvSpPr txBox="1"/>
          <p:nvPr/>
        </p:nvSpPr>
        <p:spPr>
          <a:xfrm>
            <a:off x="8869680" y="1472184"/>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SQLMap</a:t>
            </a:r>
            <a:endParaRPr b="0" i="0" sz="1400" u="none" cap="none" strike="noStrike">
              <a:solidFill>
                <a:srgbClr val="000000"/>
              </a:solidFill>
              <a:latin typeface="Arial"/>
              <a:ea typeface="Arial"/>
              <a:cs typeface="Arial"/>
              <a:sym typeface="Arial"/>
            </a:endParaRPr>
          </a:p>
        </p:txBody>
      </p:sp>
      <p:sp>
        <p:nvSpPr>
          <p:cNvPr id="716" name="Google Shape;716;p22"/>
          <p:cNvSpPr txBox="1"/>
          <p:nvPr/>
        </p:nvSpPr>
        <p:spPr>
          <a:xfrm>
            <a:off x="8869680" y="1737360"/>
            <a:ext cx="30632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SQL Injection Validation  ·  Validation Agent</a:t>
            </a:r>
            <a:endParaRPr b="0" i="0" sz="1400" u="none" cap="none" strike="noStrike">
              <a:solidFill>
                <a:srgbClr val="000000"/>
              </a:solidFill>
              <a:latin typeface="Arial"/>
              <a:ea typeface="Arial"/>
              <a:cs typeface="Arial"/>
              <a:sym typeface="Arial"/>
            </a:endParaRPr>
          </a:p>
        </p:txBody>
      </p:sp>
      <p:sp>
        <p:nvSpPr>
          <p:cNvPr id="717" name="Google Shape;717;p22"/>
          <p:cNvSpPr txBox="1"/>
          <p:nvPr/>
        </p:nvSpPr>
        <p:spPr>
          <a:xfrm>
            <a:off x="8869680" y="1947672"/>
            <a:ext cx="306324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Automated SQLi detection and exploitation. Confirms injection points, extracts database data, tests for OS-level access escalation.</a:t>
            </a:r>
            <a:endParaRPr b="0" i="0" sz="1400" u="none" cap="none" strike="noStrike">
              <a:solidFill>
                <a:srgbClr val="000000"/>
              </a:solidFill>
              <a:latin typeface="Arial"/>
              <a:ea typeface="Arial"/>
              <a:cs typeface="Arial"/>
              <a:sym typeface="Arial"/>
            </a:endParaRPr>
          </a:p>
        </p:txBody>
      </p:sp>
      <p:sp>
        <p:nvSpPr>
          <p:cNvPr id="718" name="Google Shape;718;p22"/>
          <p:cNvSpPr/>
          <p:nvPr/>
        </p:nvSpPr>
        <p:spPr>
          <a:xfrm>
            <a:off x="8412480" y="304800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9" name="Google Shape;719;p22"/>
          <p:cNvSpPr/>
          <p:nvPr/>
        </p:nvSpPr>
        <p:spPr>
          <a:xfrm>
            <a:off x="8412475" y="3048000"/>
            <a:ext cx="4116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0" name="Google Shape;720;p22"/>
          <p:cNvSpPr txBox="1"/>
          <p:nvPr/>
        </p:nvSpPr>
        <p:spPr>
          <a:xfrm>
            <a:off x="8430777" y="3662175"/>
            <a:ext cx="4116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721" name="Google Shape;721;p22"/>
          <p:cNvSpPr txBox="1"/>
          <p:nvPr/>
        </p:nvSpPr>
        <p:spPr>
          <a:xfrm>
            <a:off x="8869680" y="3102864"/>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Metasploit</a:t>
            </a:r>
            <a:endParaRPr b="0" i="0" sz="1400" u="none" cap="none" strike="noStrike">
              <a:solidFill>
                <a:srgbClr val="000000"/>
              </a:solidFill>
              <a:latin typeface="Arial"/>
              <a:ea typeface="Arial"/>
              <a:cs typeface="Arial"/>
              <a:sym typeface="Arial"/>
            </a:endParaRPr>
          </a:p>
        </p:txBody>
      </p:sp>
      <p:sp>
        <p:nvSpPr>
          <p:cNvPr id="722" name="Google Shape;722;p22"/>
          <p:cNvSpPr txBox="1"/>
          <p:nvPr/>
        </p:nvSpPr>
        <p:spPr>
          <a:xfrm>
            <a:off x="8869680" y="3368040"/>
            <a:ext cx="30632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Exploit + RCE Demo  ·  Validation Agent</a:t>
            </a:r>
            <a:endParaRPr b="0" i="0" sz="1400" u="none" cap="none" strike="noStrike">
              <a:solidFill>
                <a:srgbClr val="000000"/>
              </a:solidFill>
              <a:latin typeface="Arial"/>
              <a:ea typeface="Arial"/>
              <a:cs typeface="Arial"/>
              <a:sym typeface="Arial"/>
            </a:endParaRPr>
          </a:p>
        </p:txBody>
      </p:sp>
      <p:sp>
        <p:nvSpPr>
          <p:cNvPr id="723" name="Google Shape;723;p22"/>
          <p:cNvSpPr txBox="1"/>
          <p:nvPr/>
        </p:nvSpPr>
        <p:spPr>
          <a:xfrm>
            <a:off x="8869680" y="3578352"/>
            <a:ext cx="306324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Executes known exploits against identified vulnerabilities. Validates APG ChainSteps, demonstrates impact, achieves proof of exploitation.</a:t>
            </a:r>
            <a:endParaRPr b="0" i="0" sz="1400" u="none" cap="none" strike="noStrike">
              <a:solidFill>
                <a:srgbClr val="000000"/>
              </a:solidFill>
              <a:latin typeface="Arial"/>
              <a:ea typeface="Arial"/>
              <a:cs typeface="Arial"/>
              <a:sym typeface="Arial"/>
            </a:endParaRPr>
          </a:p>
        </p:txBody>
      </p:sp>
      <p:sp>
        <p:nvSpPr>
          <p:cNvPr id="724" name="Google Shape;724;p22"/>
          <p:cNvSpPr/>
          <p:nvPr/>
        </p:nvSpPr>
        <p:spPr>
          <a:xfrm>
            <a:off x="8412480" y="4678680"/>
            <a:ext cx="3566160" cy="1557528"/>
          </a:xfrm>
          <a:prstGeom prst="rect">
            <a:avLst/>
          </a:prstGeom>
          <a:solidFill>
            <a:srgbClr val="10162B"/>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5" name="Google Shape;725;p22"/>
          <p:cNvSpPr/>
          <p:nvPr/>
        </p:nvSpPr>
        <p:spPr>
          <a:xfrm>
            <a:off x="8412475" y="4678675"/>
            <a:ext cx="411600" cy="1557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6" name="Google Shape;726;p22"/>
          <p:cNvSpPr txBox="1"/>
          <p:nvPr/>
        </p:nvSpPr>
        <p:spPr>
          <a:xfrm>
            <a:off x="8430776" y="5292850"/>
            <a:ext cx="365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D1A"/>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727" name="Google Shape;727;p22"/>
          <p:cNvSpPr txBox="1"/>
          <p:nvPr/>
        </p:nvSpPr>
        <p:spPr>
          <a:xfrm>
            <a:off x="8869680" y="4733544"/>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sp>
        <p:nvSpPr>
          <p:cNvPr id="728" name="Google Shape;728;p22"/>
          <p:cNvSpPr txBox="1"/>
          <p:nvPr/>
        </p:nvSpPr>
        <p:spPr>
          <a:xfrm>
            <a:off x="8869680" y="4998720"/>
            <a:ext cx="306324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Screenshot Evidence  ·  Evidence Agent</a:t>
            </a:r>
            <a:endParaRPr b="0" i="0" sz="1400" u="none" cap="none" strike="noStrike">
              <a:solidFill>
                <a:srgbClr val="000000"/>
              </a:solidFill>
              <a:latin typeface="Arial"/>
              <a:ea typeface="Arial"/>
              <a:cs typeface="Arial"/>
              <a:sym typeface="Arial"/>
            </a:endParaRPr>
          </a:p>
        </p:txBody>
      </p:sp>
      <p:sp>
        <p:nvSpPr>
          <p:cNvPr id="729" name="Google Shape;729;p22"/>
          <p:cNvSpPr txBox="1"/>
          <p:nvPr/>
        </p:nvSpPr>
        <p:spPr>
          <a:xfrm>
            <a:off x="8869680" y="5209032"/>
            <a:ext cx="3063240" cy="963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Headless screenshot capture of web pages, exposed panels, and API responses. Produces visual proof artifacts linked to ASG Evidence nodes.</a:t>
            </a:r>
            <a:endParaRPr b="0" i="0" sz="1400" u="none" cap="none" strike="noStrike">
              <a:solidFill>
                <a:srgbClr val="000000"/>
              </a:solidFill>
              <a:latin typeface="Arial"/>
              <a:ea typeface="Arial"/>
              <a:cs typeface="Arial"/>
              <a:sym typeface="Arial"/>
            </a:endParaRPr>
          </a:p>
        </p:txBody>
      </p:sp>
      <p:sp>
        <p:nvSpPr>
          <p:cNvPr id="730" name="Google Shape;730;p22"/>
          <p:cNvSpPr/>
          <p:nvPr/>
        </p:nvSpPr>
        <p:spPr>
          <a:xfrm>
            <a:off x="274320" y="6291072"/>
            <a:ext cx="11643055" cy="438912"/>
          </a:xfrm>
          <a:prstGeom prst="rect">
            <a:avLst/>
          </a:prstGeom>
          <a:solidFill>
            <a:srgbClr val="0E081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1" name="Google Shape;731;p22"/>
          <p:cNvSpPr txBox="1"/>
          <p:nvPr/>
        </p:nvSpPr>
        <p:spPr>
          <a:xfrm>
            <a:off x="457200" y="6327648"/>
            <a:ext cx="11368735"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BD93F9"/>
                </a:solidFill>
                <a:latin typeface="Calibri"/>
                <a:ea typeface="Calibri"/>
                <a:cs typeface="Calibri"/>
                <a:sym typeface="Calibri"/>
              </a:rPr>
              <a:t>🔒  Every tool is wrapped in a Tool Adapter — agents reason about targets, not command syntax.  No irreversible offensive operation executes without Commander-level scope validation.</a:t>
            </a:r>
            <a:endParaRPr b="0" i="0" sz="1400" u="none" cap="none" strike="noStrike">
              <a:solidFill>
                <a:srgbClr val="000000"/>
              </a:solidFill>
              <a:latin typeface="Arial"/>
              <a:ea typeface="Arial"/>
              <a:cs typeface="Arial"/>
              <a:sym typeface="Arial"/>
            </a:endParaRPr>
          </a:p>
        </p:txBody>
      </p:sp>
      <p:sp>
        <p:nvSpPr>
          <p:cNvPr id="732" name="Google Shape;732;p22"/>
          <p:cNvSpPr txBox="1"/>
          <p:nvPr/>
        </p:nvSpPr>
        <p:spPr>
          <a:xfrm>
            <a:off x="11612747" y="82400"/>
            <a:ext cx="411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4545"/>
                </a:solidFill>
                <a:latin typeface="Calibri"/>
                <a:ea typeface="Calibri"/>
                <a:cs typeface="Calibri"/>
                <a:sym typeface="Calibri"/>
              </a:rPr>
              <a:t>07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737" name="Shape 737"/>
        <p:cNvGrpSpPr/>
        <p:nvPr/>
      </p:nvGrpSpPr>
      <p:grpSpPr>
        <a:xfrm>
          <a:off x="0" y="0"/>
          <a:ext cx="0" cy="0"/>
          <a:chOff x="0" y="0"/>
          <a:chExt cx="0" cy="0"/>
        </a:xfrm>
      </p:grpSpPr>
      <p:sp>
        <p:nvSpPr>
          <p:cNvPr id="738" name="Google Shape;738;p23"/>
          <p:cNvSpPr/>
          <p:nvPr/>
        </p:nvSpPr>
        <p:spPr>
          <a:xfrm>
            <a:off x="365760" y="121920"/>
            <a:ext cx="609600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TOOL ADAPTER LAYER</a:t>
            </a:r>
            <a:endParaRPr b="0" i="0" sz="1100" u="none" cap="none" strike="noStrike">
              <a:solidFill>
                <a:schemeClr val="dk1"/>
              </a:solidFill>
              <a:latin typeface="Calibri"/>
              <a:ea typeface="Calibri"/>
              <a:cs typeface="Calibri"/>
              <a:sym typeface="Calibri"/>
            </a:endParaRPr>
          </a:p>
        </p:txBody>
      </p:sp>
      <p:sp>
        <p:nvSpPr>
          <p:cNvPr id="739" name="Google Shape;739;p23"/>
          <p:cNvSpPr/>
          <p:nvPr/>
        </p:nvSpPr>
        <p:spPr>
          <a:xfrm>
            <a:off x="365760" y="341376"/>
            <a:ext cx="114604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US" sz="2300" u="none" cap="none" strike="noStrike">
                <a:solidFill>
                  <a:srgbClr val="FFFFFF"/>
                </a:solidFill>
                <a:latin typeface="Calibri"/>
                <a:ea typeface="Calibri"/>
                <a:cs typeface="Calibri"/>
                <a:sym typeface="Calibri"/>
              </a:rPr>
              <a:t>Tool Risk Gate — Every Tool Call's Journey</a:t>
            </a:r>
            <a:endParaRPr b="0" i="0" sz="2300" u="none" cap="none" strike="noStrike">
              <a:solidFill>
                <a:schemeClr val="dk1"/>
              </a:solidFill>
              <a:latin typeface="Calibri"/>
              <a:ea typeface="Calibri"/>
              <a:cs typeface="Calibri"/>
              <a:sym typeface="Calibri"/>
            </a:endParaRPr>
          </a:p>
        </p:txBody>
      </p:sp>
      <p:sp>
        <p:nvSpPr>
          <p:cNvPr id="740" name="Google Shape;740;p23"/>
          <p:cNvSpPr/>
          <p:nvPr/>
        </p:nvSpPr>
        <p:spPr>
          <a:xfrm>
            <a:off x="365760" y="755904"/>
            <a:ext cx="1146048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No tool executes without passing this gate  ·  No irreversible operation runs without Commander-level scope validation</a:t>
            </a:r>
            <a:endParaRPr b="0" i="0" sz="1000" u="none" cap="none" strike="noStrike">
              <a:solidFill>
                <a:schemeClr val="dk1"/>
              </a:solidFill>
              <a:latin typeface="Calibri"/>
              <a:ea typeface="Calibri"/>
              <a:cs typeface="Calibri"/>
              <a:sym typeface="Calibri"/>
            </a:endParaRPr>
          </a:p>
        </p:txBody>
      </p:sp>
      <p:sp>
        <p:nvSpPr>
          <p:cNvPr id="741" name="Google Shape;741;p23"/>
          <p:cNvSpPr/>
          <p:nvPr/>
        </p:nvSpPr>
        <p:spPr>
          <a:xfrm>
            <a:off x="3035808" y="1072896"/>
            <a:ext cx="1584960" cy="536448"/>
          </a:xfrm>
          <a:prstGeom prst="roundRect">
            <a:avLst>
              <a:gd fmla="val 11364" name="adj"/>
            </a:avLst>
          </a:prstGeom>
          <a:solidFill>
            <a:srgbClr val="04162E"/>
          </a:solidFill>
          <a:ln cap="flat" cmpd="sng" w="12700">
            <a:solidFill>
              <a:srgbClr val="00D4FF"/>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2" name="Google Shape;742;p23"/>
          <p:cNvSpPr/>
          <p:nvPr/>
        </p:nvSpPr>
        <p:spPr>
          <a:xfrm>
            <a:off x="3035808" y="1072896"/>
            <a:ext cx="1584960"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Agent requests tool call</a:t>
            </a:r>
            <a:br>
              <a:rPr b="1" i="0" lang="en-US" sz="800" u="none" cap="none" strike="noStrike">
                <a:solidFill>
                  <a:srgbClr val="00D4FF"/>
                </a:solidFill>
                <a:latin typeface="Calibri"/>
                <a:ea typeface="Calibri"/>
                <a:cs typeface="Calibri"/>
                <a:sym typeface="Calibri"/>
              </a:rPr>
            </a:br>
            <a:r>
              <a:rPr b="0" i="0" lang="en-US" sz="700" u="none" cap="none" strike="noStrike">
                <a:solidFill>
                  <a:srgbClr val="9CA3AF"/>
                </a:solidFill>
                <a:latin typeface="Calibri"/>
                <a:ea typeface="Calibri"/>
                <a:cs typeface="Calibri"/>
                <a:sym typeface="Calibri"/>
              </a:rPr>
              <a:t>Tool: Gobuster · Target: shopvault.io</a:t>
            </a:r>
            <a:endParaRPr b="0" i="0" sz="800" u="none" cap="none" strike="noStrike">
              <a:solidFill>
                <a:schemeClr val="dk1"/>
              </a:solidFill>
              <a:latin typeface="Calibri"/>
              <a:ea typeface="Calibri"/>
              <a:cs typeface="Calibri"/>
              <a:sym typeface="Calibri"/>
            </a:endParaRPr>
          </a:p>
        </p:txBody>
      </p:sp>
      <p:cxnSp>
        <p:nvCxnSpPr>
          <p:cNvPr id="743" name="Google Shape;743;p23"/>
          <p:cNvCxnSpPr/>
          <p:nvPr/>
        </p:nvCxnSpPr>
        <p:spPr>
          <a:xfrm>
            <a:off x="3828288" y="1609344"/>
            <a:ext cx="1219" cy="97536"/>
          </a:xfrm>
          <a:prstGeom prst="straightConnector1">
            <a:avLst/>
          </a:prstGeom>
          <a:noFill/>
          <a:ln cap="flat" cmpd="sng" w="9525">
            <a:solidFill>
              <a:srgbClr val="444444"/>
            </a:solidFill>
            <a:prstDash val="solid"/>
            <a:round/>
            <a:headEnd len="sm" w="sm" type="none"/>
            <a:tailEnd len="med" w="med" type="triangle"/>
          </a:ln>
        </p:spPr>
      </p:cxnSp>
      <p:sp>
        <p:nvSpPr>
          <p:cNvPr id="744" name="Google Shape;744;p23"/>
          <p:cNvSpPr/>
          <p:nvPr/>
        </p:nvSpPr>
        <p:spPr>
          <a:xfrm>
            <a:off x="3035808" y="1706880"/>
            <a:ext cx="1584960" cy="536448"/>
          </a:xfrm>
          <a:prstGeom prst="roundRect">
            <a:avLst>
              <a:gd fmla="val 11364" name="adj"/>
            </a:avLst>
          </a:prstGeom>
          <a:solidFill>
            <a:srgbClr val="0C0820"/>
          </a:solidFill>
          <a:ln cap="flat" cmpd="sng" w="12700">
            <a:solidFill>
              <a:srgbClr val="9C27B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5" name="Google Shape;745;p23"/>
          <p:cNvSpPr/>
          <p:nvPr/>
        </p:nvSpPr>
        <p:spPr>
          <a:xfrm>
            <a:off x="3035808" y="1706880"/>
            <a:ext cx="1584960"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PreToolUse Hook fires</a:t>
            </a:r>
            <a:br>
              <a:rPr b="1" i="0" lang="en-US" sz="800" u="none" cap="none" strike="noStrike">
                <a:solidFill>
                  <a:srgbClr val="CE93D8"/>
                </a:solidFill>
                <a:latin typeface="Calibri"/>
                <a:ea typeface="Calibri"/>
                <a:cs typeface="Calibri"/>
                <a:sym typeface="Calibri"/>
              </a:rPr>
            </a:br>
            <a:r>
              <a:rPr b="0" i="0" lang="en-US" sz="700" u="none" cap="none" strike="noStrike">
                <a:solidFill>
                  <a:srgbClr val="9C27B0"/>
                </a:solidFill>
                <a:latin typeface="Calibri"/>
                <a:ea typeface="Calibri"/>
                <a:cs typeface="Calibri"/>
                <a:sym typeface="Calibri"/>
              </a:rPr>
              <a:t>CONTINUE / BLOCK / MODIFY</a:t>
            </a:r>
            <a:endParaRPr b="0" i="0" sz="800" u="none" cap="none" strike="noStrike">
              <a:solidFill>
                <a:schemeClr val="dk1"/>
              </a:solidFill>
              <a:latin typeface="Calibri"/>
              <a:ea typeface="Calibri"/>
              <a:cs typeface="Calibri"/>
              <a:sym typeface="Calibri"/>
            </a:endParaRPr>
          </a:p>
        </p:txBody>
      </p:sp>
      <p:cxnSp>
        <p:nvCxnSpPr>
          <p:cNvPr id="746" name="Google Shape;746;p23"/>
          <p:cNvCxnSpPr/>
          <p:nvPr/>
        </p:nvCxnSpPr>
        <p:spPr>
          <a:xfrm>
            <a:off x="3828288" y="2243328"/>
            <a:ext cx="1219" cy="97536"/>
          </a:xfrm>
          <a:prstGeom prst="straightConnector1">
            <a:avLst/>
          </a:prstGeom>
          <a:noFill/>
          <a:ln cap="flat" cmpd="sng" w="9525">
            <a:solidFill>
              <a:srgbClr val="444444"/>
            </a:solidFill>
            <a:prstDash val="solid"/>
            <a:round/>
            <a:headEnd len="sm" w="sm" type="none"/>
            <a:tailEnd len="med" w="med" type="triangle"/>
          </a:ln>
        </p:spPr>
      </p:cxnSp>
      <p:sp>
        <p:nvSpPr>
          <p:cNvPr id="747" name="Google Shape;747;p23"/>
          <p:cNvSpPr/>
          <p:nvPr/>
        </p:nvSpPr>
        <p:spPr>
          <a:xfrm>
            <a:off x="3035808" y="2340864"/>
            <a:ext cx="1584960" cy="536448"/>
          </a:xfrm>
          <a:prstGeom prst="roundRect">
            <a:avLst>
              <a:gd fmla="val 11364" name="adj"/>
            </a:avLst>
          </a:prstGeom>
          <a:solidFill>
            <a:srgbClr val="0A0C1E"/>
          </a:solidFill>
          <a:ln cap="flat" cmpd="sng" w="12700">
            <a:solidFill>
              <a:srgbClr val="555555"/>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8" name="Google Shape;748;p23"/>
          <p:cNvSpPr/>
          <p:nvPr/>
        </p:nvSpPr>
        <p:spPr>
          <a:xfrm>
            <a:off x="3035808" y="2340864"/>
            <a:ext cx="1584960"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888888"/>
              </a:buClr>
              <a:buSzPts val="800"/>
              <a:buFont typeface="Calibri"/>
              <a:buNone/>
            </a:pPr>
            <a:r>
              <a:rPr b="1" i="0" lang="en-US" sz="800" u="none" cap="none" strike="noStrike">
                <a:solidFill>
                  <a:srgbClr val="888888"/>
                </a:solidFill>
                <a:latin typeface="Calibri"/>
                <a:ea typeface="Calibri"/>
                <a:cs typeface="Calibri"/>
                <a:sym typeface="Calibri"/>
              </a:rPr>
              <a:t>🔍 Scope Check</a:t>
            </a:r>
            <a:br>
              <a:rPr b="1" i="0" lang="en-US" sz="800" u="none" cap="none" strike="noStrike">
                <a:solidFill>
                  <a:srgbClr val="888888"/>
                </a:solidFill>
                <a:latin typeface="Calibri"/>
                <a:ea typeface="Calibri"/>
                <a:cs typeface="Calibri"/>
                <a:sym typeface="Calibri"/>
              </a:rPr>
            </a:br>
            <a:r>
              <a:rPr b="0" i="0" lang="en-US" sz="700" u="none" cap="none" strike="noStrike">
                <a:solidFill>
                  <a:srgbClr val="666666"/>
                </a:solidFill>
                <a:latin typeface="Calibri"/>
                <a:ea typeface="Calibri"/>
                <a:cs typeface="Calibri"/>
                <a:sym typeface="Calibri"/>
              </a:rPr>
              <a:t>Target in scope? Tool authorized?</a:t>
            </a:r>
            <a:endParaRPr b="0" i="0" sz="800" u="none" cap="none" strike="noStrike">
              <a:solidFill>
                <a:schemeClr val="dk1"/>
              </a:solidFill>
              <a:latin typeface="Calibri"/>
              <a:ea typeface="Calibri"/>
              <a:cs typeface="Calibri"/>
              <a:sym typeface="Calibri"/>
            </a:endParaRPr>
          </a:p>
        </p:txBody>
      </p:sp>
      <p:cxnSp>
        <p:nvCxnSpPr>
          <p:cNvPr id="749" name="Google Shape;749;p23"/>
          <p:cNvCxnSpPr/>
          <p:nvPr/>
        </p:nvCxnSpPr>
        <p:spPr>
          <a:xfrm>
            <a:off x="3828288" y="2877312"/>
            <a:ext cx="1219" cy="97536"/>
          </a:xfrm>
          <a:prstGeom prst="straightConnector1">
            <a:avLst/>
          </a:prstGeom>
          <a:noFill/>
          <a:ln cap="flat" cmpd="sng" w="9525">
            <a:solidFill>
              <a:srgbClr val="444444"/>
            </a:solidFill>
            <a:prstDash val="solid"/>
            <a:round/>
            <a:headEnd len="sm" w="sm" type="none"/>
            <a:tailEnd len="med" w="med" type="triangle"/>
          </a:ln>
        </p:spPr>
      </p:cxnSp>
      <p:sp>
        <p:nvSpPr>
          <p:cNvPr id="750" name="Google Shape;750;p23"/>
          <p:cNvSpPr/>
          <p:nvPr/>
        </p:nvSpPr>
        <p:spPr>
          <a:xfrm>
            <a:off x="3096768" y="2974848"/>
            <a:ext cx="1463040" cy="487680"/>
          </a:xfrm>
          <a:prstGeom prst="rect">
            <a:avLst/>
          </a:prstGeom>
          <a:solidFill>
            <a:srgbClr val="0A0F1E"/>
          </a:solidFill>
          <a:ln cap="flat" cmpd="sng" w="1270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1" name="Google Shape;751;p23"/>
          <p:cNvSpPr/>
          <p:nvPr/>
        </p:nvSpPr>
        <p:spPr>
          <a:xfrm>
            <a:off x="3096768" y="2974848"/>
            <a:ext cx="1463040" cy="487680"/>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 Risk Classification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LOW · MED · HIGH</a:t>
            </a:r>
            <a:endParaRPr b="0" i="0" sz="800" u="none" cap="none" strike="noStrike">
              <a:solidFill>
                <a:schemeClr val="dk1"/>
              </a:solidFill>
              <a:latin typeface="Calibri"/>
              <a:ea typeface="Calibri"/>
              <a:cs typeface="Calibri"/>
              <a:sym typeface="Calibri"/>
            </a:endParaRPr>
          </a:p>
        </p:txBody>
      </p:sp>
      <p:cxnSp>
        <p:nvCxnSpPr>
          <p:cNvPr id="752" name="Google Shape;752;p23"/>
          <p:cNvCxnSpPr/>
          <p:nvPr/>
        </p:nvCxnSpPr>
        <p:spPr>
          <a:xfrm>
            <a:off x="1255776" y="3462528"/>
            <a:ext cx="2206752" cy="73152"/>
          </a:xfrm>
          <a:prstGeom prst="straightConnector1">
            <a:avLst/>
          </a:prstGeom>
          <a:noFill/>
          <a:ln cap="flat" cmpd="sng" w="9525">
            <a:solidFill>
              <a:srgbClr val="7FFF00"/>
            </a:solidFill>
            <a:prstDash val="solid"/>
            <a:round/>
            <a:headEnd len="sm" w="sm" type="none"/>
            <a:tailEnd len="med" w="med" type="triangle"/>
          </a:ln>
        </p:spPr>
      </p:cxnSp>
      <p:sp>
        <p:nvSpPr>
          <p:cNvPr id="753" name="Google Shape;753;p23"/>
          <p:cNvSpPr/>
          <p:nvPr/>
        </p:nvSpPr>
        <p:spPr>
          <a:xfrm>
            <a:off x="2017776" y="3340608"/>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LOW</a:t>
            </a:r>
            <a:endParaRPr b="0" i="0" sz="700" u="none" cap="none" strike="noStrike">
              <a:solidFill>
                <a:schemeClr val="dk1"/>
              </a:solidFill>
              <a:latin typeface="Calibri"/>
              <a:ea typeface="Calibri"/>
              <a:cs typeface="Calibri"/>
              <a:sym typeface="Calibri"/>
            </a:endParaRPr>
          </a:p>
        </p:txBody>
      </p:sp>
      <p:cxnSp>
        <p:nvCxnSpPr>
          <p:cNvPr id="754" name="Google Shape;754;p23"/>
          <p:cNvCxnSpPr/>
          <p:nvPr/>
        </p:nvCxnSpPr>
        <p:spPr>
          <a:xfrm>
            <a:off x="3828288" y="3462528"/>
            <a:ext cx="1219" cy="73152"/>
          </a:xfrm>
          <a:prstGeom prst="straightConnector1">
            <a:avLst/>
          </a:prstGeom>
          <a:noFill/>
          <a:ln cap="flat" cmpd="sng" w="9525">
            <a:solidFill>
              <a:srgbClr val="FFC107"/>
            </a:solidFill>
            <a:prstDash val="solid"/>
            <a:round/>
            <a:headEnd len="sm" w="sm" type="none"/>
            <a:tailEnd len="med" w="med" type="triangle"/>
          </a:ln>
        </p:spPr>
      </p:cxnSp>
      <p:sp>
        <p:nvSpPr>
          <p:cNvPr id="755" name="Google Shape;755;p23"/>
          <p:cNvSpPr/>
          <p:nvPr/>
        </p:nvSpPr>
        <p:spPr>
          <a:xfrm>
            <a:off x="3486912" y="3340608"/>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MED</a:t>
            </a:r>
            <a:endParaRPr b="0" i="0" sz="700" u="none" cap="none" strike="noStrike">
              <a:solidFill>
                <a:schemeClr val="dk1"/>
              </a:solidFill>
              <a:latin typeface="Calibri"/>
              <a:ea typeface="Calibri"/>
              <a:cs typeface="Calibri"/>
              <a:sym typeface="Calibri"/>
            </a:endParaRPr>
          </a:p>
        </p:txBody>
      </p:sp>
      <p:cxnSp>
        <p:nvCxnSpPr>
          <p:cNvPr id="756" name="Google Shape;756;p23"/>
          <p:cNvCxnSpPr/>
          <p:nvPr/>
        </p:nvCxnSpPr>
        <p:spPr>
          <a:xfrm>
            <a:off x="4194048" y="3462528"/>
            <a:ext cx="2206752" cy="73152"/>
          </a:xfrm>
          <a:prstGeom prst="straightConnector1">
            <a:avLst/>
          </a:prstGeom>
          <a:noFill/>
          <a:ln cap="flat" cmpd="sng" w="9525">
            <a:solidFill>
              <a:srgbClr val="FF5252"/>
            </a:solidFill>
            <a:prstDash val="solid"/>
            <a:round/>
            <a:headEnd len="sm" w="sm" type="none"/>
            <a:tailEnd len="med" w="med" type="triangle"/>
          </a:ln>
        </p:spPr>
      </p:cxnSp>
      <p:sp>
        <p:nvSpPr>
          <p:cNvPr id="757" name="Google Shape;757;p23"/>
          <p:cNvSpPr/>
          <p:nvPr/>
        </p:nvSpPr>
        <p:spPr>
          <a:xfrm>
            <a:off x="4956048" y="3340608"/>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HIGH</a:t>
            </a:r>
            <a:endParaRPr b="0" i="0" sz="700" u="none" cap="none" strike="noStrike">
              <a:solidFill>
                <a:schemeClr val="dk1"/>
              </a:solidFill>
              <a:latin typeface="Calibri"/>
              <a:ea typeface="Calibri"/>
              <a:cs typeface="Calibri"/>
              <a:sym typeface="Calibri"/>
            </a:endParaRPr>
          </a:p>
        </p:txBody>
      </p:sp>
      <p:sp>
        <p:nvSpPr>
          <p:cNvPr id="758" name="Google Shape;758;p23"/>
          <p:cNvSpPr/>
          <p:nvPr/>
        </p:nvSpPr>
        <p:spPr>
          <a:xfrm>
            <a:off x="463296" y="3535680"/>
            <a:ext cx="1584960" cy="536448"/>
          </a:xfrm>
          <a:prstGeom prst="roundRect">
            <a:avLst>
              <a:gd fmla="val 11364"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9" name="Google Shape;759;p23"/>
          <p:cNvSpPr/>
          <p:nvPr/>
        </p:nvSpPr>
        <p:spPr>
          <a:xfrm>
            <a:off x="463296" y="3535680"/>
            <a:ext cx="1584960"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 Execute immediately</a:t>
            </a:r>
            <a:br>
              <a:rPr b="1" i="0" lang="en-US" sz="800" u="none" cap="none" strike="noStrike">
                <a:solidFill>
                  <a:srgbClr val="7FFF00"/>
                </a:solidFill>
                <a:latin typeface="Calibri"/>
                <a:ea typeface="Calibri"/>
                <a:cs typeface="Calibri"/>
                <a:sym typeface="Calibri"/>
              </a:rPr>
            </a:br>
            <a:r>
              <a:rPr b="0" i="0" lang="en-US" sz="700" u="none" cap="none" strike="noStrike">
                <a:solidFill>
                  <a:srgbClr val="7FFF00"/>
                </a:solidFill>
                <a:latin typeface="Calibri"/>
                <a:ea typeface="Calibri"/>
                <a:cs typeface="Calibri"/>
                <a:sym typeface="Calibri"/>
              </a:rPr>
              <a:t>Scope check only</a:t>
            </a:r>
            <a:endParaRPr b="0" i="0" sz="800" u="none" cap="none" strike="noStrike">
              <a:solidFill>
                <a:schemeClr val="dk1"/>
              </a:solidFill>
              <a:latin typeface="Calibri"/>
              <a:ea typeface="Calibri"/>
              <a:cs typeface="Calibri"/>
              <a:sym typeface="Calibri"/>
            </a:endParaRPr>
          </a:p>
        </p:txBody>
      </p:sp>
      <p:cxnSp>
        <p:nvCxnSpPr>
          <p:cNvPr id="760" name="Google Shape;760;p23"/>
          <p:cNvCxnSpPr/>
          <p:nvPr/>
        </p:nvCxnSpPr>
        <p:spPr>
          <a:xfrm>
            <a:off x="1255776" y="4072128"/>
            <a:ext cx="1219" cy="926592"/>
          </a:xfrm>
          <a:prstGeom prst="straightConnector1">
            <a:avLst/>
          </a:prstGeom>
          <a:noFill/>
          <a:ln cap="flat" cmpd="sng" w="9525">
            <a:solidFill>
              <a:srgbClr val="7FFF00"/>
            </a:solidFill>
            <a:prstDash val="solid"/>
            <a:round/>
            <a:headEnd len="sm" w="sm" type="none"/>
            <a:tailEnd len="med" w="med" type="triangle"/>
          </a:ln>
        </p:spPr>
      </p:cxnSp>
      <p:sp>
        <p:nvSpPr>
          <p:cNvPr id="761" name="Google Shape;761;p23"/>
          <p:cNvSpPr/>
          <p:nvPr/>
        </p:nvSpPr>
        <p:spPr>
          <a:xfrm>
            <a:off x="3035808" y="3535680"/>
            <a:ext cx="1584960" cy="536448"/>
          </a:xfrm>
          <a:prstGeom prst="roundRect">
            <a:avLst>
              <a:gd fmla="val 11364" name="adj"/>
            </a:avLst>
          </a:prstGeom>
          <a:solidFill>
            <a:srgbClr val="04162E"/>
          </a:solidFill>
          <a:ln cap="flat" cmpd="sng" w="12700">
            <a:solidFill>
              <a:srgbClr val="00D4FF"/>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2" name="Google Shape;762;p23"/>
          <p:cNvSpPr/>
          <p:nvPr/>
        </p:nvSpPr>
        <p:spPr>
          <a:xfrm>
            <a:off x="3035808" y="3535680"/>
            <a:ext cx="1584960"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LLM Classifier</a:t>
            </a:r>
            <a:br>
              <a:rPr b="1" i="0" lang="en-US" sz="800" u="none" cap="none" strike="noStrike">
                <a:solidFill>
                  <a:srgbClr val="00D4FF"/>
                </a:solidFill>
                <a:latin typeface="Calibri"/>
                <a:ea typeface="Calibri"/>
                <a:cs typeface="Calibri"/>
                <a:sym typeface="Calibri"/>
              </a:rPr>
            </a:br>
            <a:r>
              <a:rPr b="0" i="0" lang="en-US" sz="700" u="none" cap="none" strike="noStrike">
                <a:solidFill>
                  <a:srgbClr val="00D4FF"/>
                </a:solidFill>
                <a:latin typeface="Calibri"/>
                <a:ea typeface="Calibri"/>
                <a:cs typeface="Calibri"/>
                <a:sym typeface="Calibri"/>
              </a:rPr>
              <a:t>Fast filter → CoT pass</a:t>
            </a:r>
            <a:endParaRPr b="0" i="0" sz="800" u="none" cap="none" strike="noStrike">
              <a:solidFill>
                <a:schemeClr val="dk1"/>
              </a:solidFill>
              <a:latin typeface="Calibri"/>
              <a:ea typeface="Calibri"/>
              <a:cs typeface="Calibri"/>
              <a:sym typeface="Calibri"/>
            </a:endParaRPr>
          </a:p>
        </p:txBody>
      </p:sp>
      <p:cxnSp>
        <p:nvCxnSpPr>
          <p:cNvPr id="763" name="Google Shape;763;p23"/>
          <p:cNvCxnSpPr/>
          <p:nvPr/>
        </p:nvCxnSpPr>
        <p:spPr>
          <a:xfrm>
            <a:off x="3157728" y="4072128"/>
            <a:ext cx="426720" cy="146304"/>
          </a:xfrm>
          <a:prstGeom prst="straightConnector1">
            <a:avLst/>
          </a:prstGeom>
          <a:noFill/>
          <a:ln cap="flat" cmpd="sng" w="9525">
            <a:solidFill>
              <a:srgbClr val="7FFF00"/>
            </a:solidFill>
            <a:prstDash val="solid"/>
            <a:round/>
            <a:headEnd len="sm" w="sm" type="none"/>
            <a:tailEnd len="med" w="med" type="triangle"/>
          </a:ln>
        </p:spPr>
      </p:cxnSp>
      <p:sp>
        <p:nvSpPr>
          <p:cNvPr id="764" name="Google Shape;764;p23"/>
          <p:cNvSpPr/>
          <p:nvPr/>
        </p:nvSpPr>
        <p:spPr>
          <a:xfrm>
            <a:off x="3029712" y="3986784"/>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EXECUTE</a:t>
            </a:r>
            <a:endParaRPr b="0" i="0" sz="700" u="none" cap="none" strike="noStrike">
              <a:solidFill>
                <a:schemeClr val="dk1"/>
              </a:solidFill>
              <a:latin typeface="Calibri"/>
              <a:ea typeface="Calibri"/>
              <a:cs typeface="Calibri"/>
              <a:sym typeface="Calibri"/>
            </a:endParaRPr>
          </a:p>
        </p:txBody>
      </p:sp>
      <p:cxnSp>
        <p:nvCxnSpPr>
          <p:cNvPr id="765" name="Google Shape;765;p23"/>
          <p:cNvCxnSpPr/>
          <p:nvPr/>
        </p:nvCxnSpPr>
        <p:spPr>
          <a:xfrm>
            <a:off x="4072128" y="4072128"/>
            <a:ext cx="426720" cy="146304"/>
          </a:xfrm>
          <a:prstGeom prst="straightConnector1">
            <a:avLst/>
          </a:prstGeom>
          <a:noFill/>
          <a:ln cap="flat" cmpd="sng" w="9525">
            <a:solidFill>
              <a:srgbClr val="FFC107"/>
            </a:solidFill>
            <a:prstDash val="solid"/>
            <a:round/>
            <a:headEnd len="sm" w="sm" type="none"/>
            <a:tailEnd len="med" w="med" type="triangle"/>
          </a:ln>
        </p:spPr>
      </p:cxnSp>
      <p:sp>
        <p:nvSpPr>
          <p:cNvPr id="766" name="Google Shape;766;p23"/>
          <p:cNvSpPr/>
          <p:nvPr/>
        </p:nvSpPr>
        <p:spPr>
          <a:xfrm>
            <a:off x="3944112" y="3986784"/>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ESCALATE</a:t>
            </a:r>
            <a:endParaRPr b="0" i="0" sz="700" u="none" cap="none" strike="noStrike">
              <a:solidFill>
                <a:schemeClr val="dk1"/>
              </a:solidFill>
              <a:latin typeface="Calibri"/>
              <a:ea typeface="Calibri"/>
              <a:cs typeface="Calibri"/>
              <a:sym typeface="Calibri"/>
            </a:endParaRPr>
          </a:p>
        </p:txBody>
      </p:sp>
      <p:sp>
        <p:nvSpPr>
          <p:cNvPr id="767" name="Google Shape;767;p23"/>
          <p:cNvSpPr/>
          <p:nvPr/>
        </p:nvSpPr>
        <p:spPr>
          <a:xfrm>
            <a:off x="2548128" y="4218432"/>
            <a:ext cx="1219200" cy="536448"/>
          </a:xfrm>
          <a:prstGeom prst="roundRect">
            <a:avLst>
              <a:gd fmla="val 11364"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8" name="Google Shape;768;p23"/>
          <p:cNvSpPr/>
          <p:nvPr/>
        </p:nvSpPr>
        <p:spPr>
          <a:xfrm>
            <a:off x="2548128" y="4218432"/>
            <a:ext cx="1219200"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7FFF00"/>
              </a:buClr>
              <a:buSzPts val="800"/>
              <a:buFont typeface="Calibri"/>
              <a:buNone/>
            </a:pPr>
            <a:r>
              <a:rPr b="0" i="0" lang="en-US" sz="800" u="none" cap="none" strike="noStrike">
                <a:solidFill>
                  <a:srgbClr val="7FFF00"/>
                </a:solidFill>
                <a:latin typeface="Calibri"/>
                <a:ea typeface="Calibri"/>
                <a:cs typeface="Calibri"/>
                <a:sym typeface="Calibri"/>
              </a:rPr>
              <a:t>✅ Proceed to</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Calibri"/>
              <a:buNone/>
            </a:pPr>
            <a:r>
              <a:rPr b="0" i="0" lang="en-US" sz="800" u="none" cap="none" strike="noStrike">
                <a:solidFill>
                  <a:srgbClr val="7FFF00"/>
                </a:solidFill>
                <a:latin typeface="Calibri"/>
                <a:ea typeface="Calibri"/>
                <a:cs typeface="Calibri"/>
                <a:sym typeface="Calibri"/>
              </a:rPr>
              <a:t>Tool Adapter</a:t>
            </a:r>
            <a:endParaRPr b="0" i="0" sz="800" u="none" cap="none" strike="noStrike">
              <a:solidFill>
                <a:schemeClr val="dk1"/>
              </a:solidFill>
              <a:latin typeface="Calibri"/>
              <a:ea typeface="Calibri"/>
              <a:cs typeface="Calibri"/>
              <a:sym typeface="Calibri"/>
            </a:endParaRPr>
          </a:p>
        </p:txBody>
      </p:sp>
      <p:cxnSp>
        <p:nvCxnSpPr>
          <p:cNvPr id="769" name="Google Shape;769;p23"/>
          <p:cNvCxnSpPr/>
          <p:nvPr/>
        </p:nvCxnSpPr>
        <p:spPr>
          <a:xfrm>
            <a:off x="3157728" y="4754880"/>
            <a:ext cx="1219" cy="243840"/>
          </a:xfrm>
          <a:prstGeom prst="straightConnector1">
            <a:avLst/>
          </a:prstGeom>
          <a:noFill/>
          <a:ln cap="flat" cmpd="sng" w="9525">
            <a:solidFill>
              <a:srgbClr val="7FFF00"/>
            </a:solidFill>
            <a:prstDash val="solid"/>
            <a:round/>
            <a:headEnd len="sm" w="sm" type="none"/>
            <a:tailEnd len="med" w="med" type="triangle"/>
          </a:ln>
        </p:spPr>
      </p:cxnSp>
      <p:sp>
        <p:nvSpPr>
          <p:cNvPr id="770" name="Google Shape;770;p23"/>
          <p:cNvSpPr/>
          <p:nvPr/>
        </p:nvSpPr>
        <p:spPr>
          <a:xfrm>
            <a:off x="3889248" y="4218432"/>
            <a:ext cx="1219200" cy="536448"/>
          </a:xfrm>
          <a:prstGeom prst="roundRect">
            <a:avLst>
              <a:gd fmla="val 11364" name="adj"/>
            </a:avLst>
          </a:prstGeom>
          <a:solidFill>
            <a:srgbClr val="1A1002"/>
          </a:solidFill>
          <a:ln cap="flat" cmpd="sng" w="12700">
            <a:solidFill>
              <a:srgbClr val="FFC107"/>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1" name="Google Shape;771;p23"/>
          <p:cNvSpPr/>
          <p:nvPr/>
        </p:nvSpPr>
        <p:spPr>
          <a:xfrm>
            <a:off x="3889248" y="4218432"/>
            <a:ext cx="1219200"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FFC107"/>
              </a:buClr>
              <a:buSzPts val="800"/>
              <a:buFont typeface="Calibri"/>
              <a:buNone/>
            </a:pPr>
            <a:r>
              <a:rPr b="0" i="0" lang="en-US" sz="800" u="none" cap="none" strike="noStrike">
                <a:solidFill>
                  <a:srgbClr val="FFC107"/>
                </a:solidFill>
                <a:latin typeface="Calibri"/>
                <a:ea typeface="Calibri"/>
                <a:cs typeface="Calibri"/>
                <a:sym typeface="Calibri"/>
              </a:rPr>
              <a:t>⬆️ Route to</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C107"/>
              </a:buClr>
              <a:buSzPts val="800"/>
              <a:buFont typeface="Calibri"/>
              <a:buNone/>
            </a:pPr>
            <a:r>
              <a:rPr b="0" i="0" lang="en-US" sz="800" u="none" cap="none" strike="noStrike">
                <a:solidFill>
                  <a:srgbClr val="FFC107"/>
                </a:solidFill>
                <a:latin typeface="Calibri"/>
                <a:ea typeface="Calibri"/>
                <a:cs typeface="Calibri"/>
                <a:sym typeface="Calibri"/>
              </a:rPr>
              <a:t>Commander Mailbox</a:t>
            </a:r>
            <a:endParaRPr b="0" i="0" sz="800" u="none" cap="none" strike="noStrike">
              <a:solidFill>
                <a:schemeClr val="dk1"/>
              </a:solidFill>
              <a:latin typeface="Calibri"/>
              <a:ea typeface="Calibri"/>
              <a:cs typeface="Calibri"/>
              <a:sym typeface="Calibri"/>
            </a:endParaRPr>
          </a:p>
        </p:txBody>
      </p:sp>
      <p:cxnSp>
        <p:nvCxnSpPr>
          <p:cNvPr id="772" name="Google Shape;772;p23"/>
          <p:cNvCxnSpPr/>
          <p:nvPr/>
        </p:nvCxnSpPr>
        <p:spPr>
          <a:xfrm>
            <a:off x="4498848" y="4218432"/>
            <a:ext cx="1901952" cy="536448"/>
          </a:xfrm>
          <a:prstGeom prst="straightConnector1">
            <a:avLst/>
          </a:prstGeom>
          <a:noFill/>
          <a:ln cap="flat" cmpd="sng" w="9525">
            <a:solidFill>
              <a:srgbClr val="FFC107"/>
            </a:solidFill>
            <a:prstDash val="solid"/>
            <a:round/>
            <a:headEnd len="sm" w="sm" type="none"/>
            <a:tailEnd len="med" w="med" type="triangle"/>
          </a:ln>
        </p:spPr>
      </p:cxnSp>
      <p:sp>
        <p:nvSpPr>
          <p:cNvPr id="773" name="Google Shape;773;p23"/>
          <p:cNvSpPr/>
          <p:nvPr/>
        </p:nvSpPr>
        <p:spPr>
          <a:xfrm>
            <a:off x="5608320" y="3535680"/>
            <a:ext cx="1584960" cy="536448"/>
          </a:xfrm>
          <a:prstGeom prst="roundRect">
            <a:avLst>
              <a:gd fmla="val 11364" name="adj"/>
            </a:avLst>
          </a:prstGeom>
          <a:solidFill>
            <a:srgbClr val="1A0606"/>
          </a:solidFill>
          <a:ln cap="flat" cmpd="sng" w="12700">
            <a:solidFill>
              <a:srgbClr val="FF5252"/>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4" name="Google Shape;774;p23"/>
          <p:cNvSpPr/>
          <p:nvPr/>
        </p:nvSpPr>
        <p:spPr>
          <a:xfrm>
            <a:off x="5608320" y="3535680"/>
            <a:ext cx="1584960"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FF5252"/>
              </a:buClr>
              <a:buSzPts val="800"/>
              <a:buFont typeface="Calibri"/>
              <a:buNone/>
            </a:pPr>
            <a:r>
              <a:rPr b="1" i="0" lang="en-US" sz="800" u="none" cap="none" strike="noStrike">
                <a:solidFill>
                  <a:srgbClr val="FF5252"/>
                </a:solidFill>
                <a:latin typeface="Calibri"/>
                <a:ea typeface="Calibri"/>
                <a:cs typeface="Calibri"/>
                <a:sym typeface="Calibri"/>
              </a:rPr>
              <a:t>📬 Commander Mailbox</a:t>
            </a:r>
            <a:br>
              <a:rPr b="1" i="0" lang="en-US" sz="800" u="none" cap="none" strike="noStrike">
                <a:solidFill>
                  <a:srgbClr val="FF5252"/>
                </a:solidFill>
                <a:latin typeface="Calibri"/>
                <a:ea typeface="Calibri"/>
                <a:cs typeface="Calibri"/>
                <a:sym typeface="Calibri"/>
              </a:rPr>
            </a:br>
            <a:r>
              <a:rPr b="0" i="0" lang="en-US" sz="700" u="none" cap="none" strike="noStrike">
                <a:solidFill>
                  <a:srgbClr val="FF5252"/>
                </a:solidFill>
                <a:latin typeface="Calibri"/>
                <a:ea typeface="Calibri"/>
                <a:cs typeface="Calibri"/>
                <a:sym typeface="Calibri"/>
              </a:rPr>
              <a:t>Human-in-the-loop slot</a:t>
            </a:r>
            <a:endParaRPr b="0" i="0" sz="800" u="none" cap="none" strike="noStrike">
              <a:solidFill>
                <a:schemeClr val="dk1"/>
              </a:solidFill>
              <a:latin typeface="Calibri"/>
              <a:ea typeface="Calibri"/>
              <a:cs typeface="Calibri"/>
              <a:sym typeface="Calibri"/>
            </a:endParaRPr>
          </a:p>
        </p:txBody>
      </p:sp>
      <p:cxnSp>
        <p:nvCxnSpPr>
          <p:cNvPr id="775" name="Google Shape;775;p23"/>
          <p:cNvCxnSpPr/>
          <p:nvPr/>
        </p:nvCxnSpPr>
        <p:spPr>
          <a:xfrm>
            <a:off x="5766816" y="4072128"/>
            <a:ext cx="390144" cy="146304"/>
          </a:xfrm>
          <a:prstGeom prst="straightConnector1">
            <a:avLst/>
          </a:prstGeom>
          <a:noFill/>
          <a:ln cap="flat" cmpd="sng" w="9525">
            <a:solidFill>
              <a:srgbClr val="7FFF00"/>
            </a:solidFill>
            <a:prstDash val="solid"/>
            <a:round/>
            <a:headEnd len="sm" w="sm" type="none"/>
            <a:tailEnd len="med" w="med" type="triangle"/>
          </a:ln>
        </p:spPr>
      </p:cxnSp>
      <p:sp>
        <p:nvSpPr>
          <p:cNvPr id="776" name="Google Shape;776;p23"/>
          <p:cNvSpPr/>
          <p:nvPr/>
        </p:nvSpPr>
        <p:spPr>
          <a:xfrm>
            <a:off x="5620512" y="3986784"/>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 APPROVE</a:t>
            </a:r>
            <a:endParaRPr b="0" i="0" sz="700" u="none" cap="none" strike="noStrike">
              <a:solidFill>
                <a:schemeClr val="dk1"/>
              </a:solidFill>
              <a:latin typeface="Calibri"/>
              <a:ea typeface="Calibri"/>
              <a:cs typeface="Calibri"/>
              <a:sym typeface="Calibri"/>
            </a:endParaRPr>
          </a:p>
        </p:txBody>
      </p:sp>
      <p:cxnSp>
        <p:nvCxnSpPr>
          <p:cNvPr id="777" name="Google Shape;777;p23"/>
          <p:cNvCxnSpPr/>
          <p:nvPr/>
        </p:nvCxnSpPr>
        <p:spPr>
          <a:xfrm>
            <a:off x="6400800" y="4072128"/>
            <a:ext cx="1219" cy="207264"/>
          </a:xfrm>
          <a:prstGeom prst="straightConnector1">
            <a:avLst/>
          </a:prstGeom>
          <a:noFill/>
          <a:ln cap="flat" cmpd="sng" w="9525">
            <a:solidFill>
              <a:srgbClr val="FF5252"/>
            </a:solidFill>
            <a:prstDash val="solid"/>
            <a:round/>
            <a:headEnd len="sm" w="sm" type="none"/>
            <a:tailEnd len="med" w="med" type="triangle"/>
          </a:ln>
        </p:spPr>
      </p:cxnSp>
      <p:sp>
        <p:nvSpPr>
          <p:cNvPr id="778" name="Google Shape;778;p23"/>
          <p:cNvSpPr/>
          <p:nvPr/>
        </p:nvSpPr>
        <p:spPr>
          <a:xfrm>
            <a:off x="6059424" y="4017264"/>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 REJECT</a:t>
            </a:r>
            <a:endParaRPr b="0" i="0" sz="700" u="none" cap="none" strike="noStrike">
              <a:solidFill>
                <a:schemeClr val="dk1"/>
              </a:solidFill>
              <a:latin typeface="Calibri"/>
              <a:ea typeface="Calibri"/>
              <a:cs typeface="Calibri"/>
              <a:sym typeface="Calibri"/>
            </a:endParaRPr>
          </a:p>
        </p:txBody>
      </p:sp>
      <p:cxnSp>
        <p:nvCxnSpPr>
          <p:cNvPr id="779" name="Google Shape;779;p23"/>
          <p:cNvCxnSpPr/>
          <p:nvPr/>
        </p:nvCxnSpPr>
        <p:spPr>
          <a:xfrm>
            <a:off x="6644640" y="4072128"/>
            <a:ext cx="390144" cy="146304"/>
          </a:xfrm>
          <a:prstGeom prst="straightConnector1">
            <a:avLst/>
          </a:prstGeom>
          <a:noFill/>
          <a:ln cap="flat" cmpd="sng" w="9525">
            <a:solidFill>
              <a:srgbClr val="FFC107"/>
            </a:solidFill>
            <a:prstDash val="solid"/>
            <a:round/>
            <a:headEnd len="sm" w="sm" type="none"/>
            <a:tailEnd len="med" w="med" type="triangle"/>
          </a:ln>
        </p:spPr>
      </p:cxnSp>
      <p:sp>
        <p:nvSpPr>
          <p:cNvPr id="780" name="Google Shape;780;p23"/>
          <p:cNvSpPr/>
          <p:nvPr/>
        </p:nvSpPr>
        <p:spPr>
          <a:xfrm>
            <a:off x="6498336" y="3986784"/>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 MODIFY</a:t>
            </a:r>
            <a:endParaRPr b="0" i="0" sz="700" u="none" cap="none" strike="noStrike">
              <a:solidFill>
                <a:schemeClr val="dk1"/>
              </a:solidFill>
              <a:latin typeface="Calibri"/>
              <a:ea typeface="Calibri"/>
              <a:cs typeface="Calibri"/>
              <a:sym typeface="Calibri"/>
            </a:endParaRPr>
          </a:p>
        </p:txBody>
      </p:sp>
      <p:sp>
        <p:nvSpPr>
          <p:cNvPr id="781" name="Google Shape;781;p23"/>
          <p:cNvSpPr/>
          <p:nvPr/>
        </p:nvSpPr>
        <p:spPr>
          <a:xfrm>
            <a:off x="5205984" y="4218432"/>
            <a:ext cx="1121664" cy="536448"/>
          </a:xfrm>
          <a:prstGeom prst="roundRect">
            <a:avLst>
              <a:gd fmla="val 11364"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2" name="Google Shape;782;p23"/>
          <p:cNvSpPr/>
          <p:nvPr/>
        </p:nvSpPr>
        <p:spPr>
          <a:xfrm>
            <a:off x="5205984" y="4218432"/>
            <a:ext cx="1121664"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Proceed to</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Tool Adapter</a:t>
            </a:r>
            <a:endParaRPr b="0" i="0" sz="700" u="none" cap="none" strike="noStrike">
              <a:solidFill>
                <a:schemeClr val="dk1"/>
              </a:solidFill>
              <a:latin typeface="Calibri"/>
              <a:ea typeface="Calibri"/>
              <a:cs typeface="Calibri"/>
              <a:sym typeface="Calibri"/>
            </a:endParaRPr>
          </a:p>
        </p:txBody>
      </p:sp>
      <p:cxnSp>
        <p:nvCxnSpPr>
          <p:cNvPr id="783" name="Google Shape;783;p23"/>
          <p:cNvCxnSpPr/>
          <p:nvPr/>
        </p:nvCxnSpPr>
        <p:spPr>
          <a:xfrm>
            <a:off x="5766816" y="4754880"/>
            <a:ext cx="1219" cy="243840"/>
          </a:xfrm>
          <a:prstGeom prst="straightConnector1">
            <a:avLst/>
          </a:prstGeom>
          <a:noFill/>
          <a:ln cap="flat" cmpd="sng" w="9525">
            <a:solidFill>
              <a:srgbClr val="7FFF00"/>
            </a:solidFill>
            <a:prstDash val="solid"/>
            <a:round/>
            <a:headEnd len="sm" w="sm" type="none"/>
            <a:tailEnd len="med" w="med" type="triangle"/>
          </a:ln>
        </p:spPr>
      </p:cxnSp>
      <p:sp>
        <p:nvSpPr>
          <p:cNvPr id="784" name="Google Shape;784;p23"/>
          <p:cNvSpPr/>
          <p:nvPr/>
        </p:nvSpPr>
        <p:spPr>
          <a:xfrm>
            <a:off x="5839968" y="4218432"/>
            <a:ext cx="1121664" cy="536448"/>
          </a:xfrm>
          <a:prstGeom prst="roundRect">
            <a:avLst>
              <a:gd fmla="val 11364" name="adj"/>
            </a:avLst>
          </a:prstGeom>
          <a:solidFill>
            <a:srgbClr val="1A0606"/>
          </a:solidFill>
          <a:ln cap="flat" cmpd="sng" w="12700">
            <a:solidFill>
              <a:srgbClr val="FF5252"/>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5" name="Google Shape;785;p23"/>
          <p:cNvSpPr/>
          <p:nvPr/>
        </p:nvSpPr>
        <p:spPr>
          <a:xfrm>
            <a:off x="5839968" y="4218432"/>
            <a:ext cx="1121664"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Cancelled</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Annotated to APG</a:t>
            </a:r>
            <a:endParaRPr b="0" i="0" sz="700" u="none" cap="none" strike="noStrike">
              <a:solidFill>
                <a:schemeClr val="dk1"/>
              </a:solidFill>
              <a:latin typeface="Calibri"/>
              <a:ea typeface="Calibri"/>
              <a:cs typeface="Calibri"/>
              <a:sym typeface="Calibri"/>
            </a:endParaRPr>
          </a:p>
        </p:txBody>
      </p:sp>
      <p:sp>
        <p:nvSpPr>
          <p:cNvPr id="786" name="Google Shape;786;p23"/>
          <p:cNvSpPr/>
          <p:nvPr/>
        </p:nvSpPr>
        <p:spPr>
          <a:xfrm>
            <a:off x="6473952" y="4218432"/>
            <a:ext cx="1121664" cy="536448"/>
          </a:xfrm>
          <a:prstGeom prst="roundRect">
            <a:avLst>
              <a:gd fmla="val 11364" name="adj"/>
            </a:avLst>
          </a:prstGeom>
          <a:solidFill>
            <a:srgbClr val="1A1002"/>
          </a:solidFill>
          <a:ln cap="flat" cmpd="sng" w="12700">
            <a:solidFill>
              <a:srgbClr val="FFC107"/>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7" name="Google Shape;787;p23"/>
          <p:cNvSpPr/>
          <p:nvPr/>
        </p:nvSpPr>
        <p:spPr>
          <a:xfrm>
            <a:off x="6473952" y="4218432"/>
            <a:ext cx="1121664"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Params adjusted</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then approved</a:t>
            </a:r>
            <a:endParaRPr b="0" i="0" sz="700" u="none" cap="none" strike="noStrike">
              <a:solidFill>
                <a:schemeClr val="dk1"/>
              </a:solidFill>
              <a:latin typeface="Calibri"/>
              <a:ea typeface="Calibri"/>
              <a:cs typeface="Calibri"/>
              <a:sym typeface="Calibri"/>
            </a:endParaRPr>
          </a:p>
        </p:txBody>
      </p:sp>
      <p:cxnSp>
        <p:nvCxnSpPr>
          <p:cNvPr id="788" name="Google Shape;788;p23"/>
          <p:cNvCxnSpPr/>
          <p:nvPr/>
        </p:nvCxnSpPr>
        <p:spPr>
          <a:xfrm>
            <a:off x="5766816" y="4754880"/>
            <a:ext cx="1267968" cy="243840"/>
          </a:xfrm>
          <a:prstGeom prst="straightConnector1">
            <a:avLst/>
          </a:prstGeom>
          <a:noFill/>
          <a:ln cap="flat" cmpd="sng" w="9525">
            <a:solidFill>
              <a:srgbClr val="FFC107"/>
            </a:solidFill>
            <a:prstDash val="solid"/>
            <a:round/>
            <a:headEnd len="sm" w="sm" type="none"/>
            <a:tailEnd len="med" w="med" type="triangle"/>
          </a:ln>
        </p:spPr>
      </p:cxnSp>
      <p:sp>
        <p:nvSpPr>
          <p:cNvPr id="789" name="Google Shape;789;p23"/>
          <p:cNvSpPr/>
          <p:nvPr/>
        </p:nvSpPr>
        <p:spPr>
          <a:xfrm>
            <a:off x="2877312" y="4998720"/>
            <a:ext cx="1901952" cy="536448"/>
          </a:xfrm>
          <a:prstGeom prst="roundRect">
            <a:avLst>
              <a:gd fmla="val 11364" name="adj"/>
            </a:avLst>
          </a:prstGeom>
          <a:solidFill>
            <a:srgbClr val="0C0820"/>
          </a:solidFill>
          <a:ln cap="flat" cmpd="sng" w="12700">
            <a:solidFill>
              <a:srgbClr val="9C27B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0" name="Google Shape;790;p23"/>
          <p:cNvSpPr/>
          <p:nvPr/>
        </p:nvSpPr>
        <p:spPr>
          <a:xfrm>
            <a:off x="2877312" y="4998720"/>
            <a:ext cx="1901952" cy="536448"/>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Tool Adapter executes</a:t>
            </a:r>
            <a:br>
              <a:rPr b="1" i="0" lang="en-US" sz="800" u="none" cap="none" strike="noStrike">
                <a:solidFill>
                  <a:srgbClr val="CE93D8"/>
                </a:solidFill>
                <a:latin typeface="Calibri"/>
                <a:ea typeface="Calibri"/>
                <a:cs typeface="Calibri"/>
                <a:sym typeface="Calibri"/>
              </a:rPr>
            </a:br>
            <a:r>
              <a:rPr b="0" i="0" lang="en-US" sz="700" u="none" cap="none" strike="noStrike">
                <a:solidFill>
                  <a:srgbClr val="9C27B0"/>
                </a:solidFill>
                <a:latin typeface="Calibri"/>
                <a:ea typeface="Calibri"/>
                <a:cs typeface="Calibri"/>
                <a:sym typeface="Calibri"/>
              </a:rPr>
              <a:t>Run tool → parse raw output → structured JSON → discard raw</a:t>
            </a:r>
            <a:endParaRPr b="0" i="0" sz="800" u="none" cap="none" strike="noStrike">
              <a:solidFill>
                <a:schemeClr val="dk1"/>
              </a:solidFill>
              <a:latin typeface="Calibri"/>
              <a:ea typeface="Calibri"/>
              <a:cs typeface="Calibri"/>
              <a:sym typeface="Calibri"/>
            </a:endParaRPr>
          </a:p>
        </p:txBody>
      </p:sp>
      <p:cxnSp>
        <p:nvCxnSpPr>
          <p:cNvPr id="791" name="Google Shape;791;p23"/>
          <p:cNvCxnSpPr/>
          <p:nvPr/>
        </p:nvCxnSpPr>
        <p:spPr>
          <a:xfrm>
            <a:off x="3828288" y="5535168"/>
            <a:ext cx="1219" cy="97536"/>
          </a:xfrm>
          <a:prstGeom prst="straightConnector1">
            <a:avLst/>
          </a:prstGeom>
          <a:noFill/>
          <a:ln cap="flat" cmpd="sng" w="9525">
            <a:solidFill>
              <a:srgbClr val="444444"/>
            </a:solidFill>
            <a:prstDash val="solid"/>
            <a:round/>
            <a:headEnd len="sm" w="sm" type="none"/>
            <a:tailEnd len="med" w="med" type="triangle"/>
          </a:ln>
        </p:spPr>
      </p:cxnSp>
      <p:sp>
        <p:nvSpPr>
          <p:cNvPr id="792" name="Google Shape;792;p23"/>
          <p:cNvSpPr/>
          <p:nvPr/>
        </p:nvSpPr>
        <p:spPr>
          <a:xfrm>
            <a:off x="3035808" y="5632704"/>
            <a:ext cx="1584960" cy="438912"/>
          </a:xfrm>
          <a:prstGeom prst="roundRect">
            <a:avLst>
              <a:gd fmla="val 13889" name="adj"/>
            </a:avLst>
          </a:prstGeom>
          <a:solidFill>
            <a:srgbClr val="0C0820"/>
          </a:solidFill>
          <a:ln cap="flat" cmpd="sng" w="12700">
            <a:solidFill>
              <a:srgbClr val="9C27B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3" name="Google Shape;793;p23"/>
          <p:cNvSpPr/>
          <p:nvPr/>
        </p:nvSpPr>
        <p:spPr>
          <a:xfrm>
            <a:off x="3035808" y="5632704"/>
            <a:ext cx="1584960" cy="438912"/>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PostToolUse Hook fires</a:t>
            </a:r>
            <a:br>
              <a:rPr b="1" i="0" lang="en-US" sz="800" u="none" cap="none" strike="noStrike">
                <a:solidFill>
                  <a:srgbClr val="CE93D8"/>
                </a:solidFill>
                <a:latin typeface="Calibri"/>
                <a:ea typeface="Calibri"/>
                <a:cs typeface="Calibri"/>
                <a:sym typeface="Calibri"/>
              </a:rPr>
            </a:br>
            <a:r>
              <a:rPr b="0" i="0" lang="en-US" sz="700" u="none" cap="none" strike="noStrike">
                <a:solidFill>
                  <a:srgbClr val="9C27B0"/>
                </a:solidFill>
                <a:latin typeface="Calibri"/>
                <a:ea typeface="Calibri"/>
                <a:cs typeface="Calibri"/>
                <a:sym typeface="Calibri"/>
              </a:rPr>
              <a:t>log · alert · validate · block write</a:t>
            </a:r>
            <a:endParaRPr b="0" i="0" sz="800" u="none" cap="none" strike="noStrike">
              <a:solidFill>
                <a:schemeClr val="dk1"/>
              </a:solidFill>
              <a:latin typeface="Calibri"/>
              <a:ea typeface="Calibri"/>
              <a:cs typeface="Calibri"/>
              <a:sym typeface="Calibri"/>
            </a:endParaRPr>
          </a:p>
        </p:txBody>
      </p:sp>
      <p:cxnSp>
        <p:nvCxnSpPr>
          <p:cNvPr id="794" name="Google Shape;794;p23"/>
          <p:cNvCxnSpPr/>
          <p:nvPr/>
        </p:nvCxnSpPr>
        <p:spPr>
          <a:xfrm>
            <a:off x="2609088" y="6071616"/>
            <a:ext cx="975360" cy="146304"/>
          </a:xfrm>
          <a:prstGeom prst="straightConnector1">
            <a:avLst/>
          </a:prstGeom>
          <a:noFill/>
          <a:ln cap="flat" cmpd="sng" w="9525">
            <a:solidFill>
              <a:srgbClr val="7FFF00"/>
            </a:solidFill>
            <a:prstDash val="solid"/>
            <a:round/>
            <a:headEnd len="sm" w="sm" type="none"/>
            <a:tailEnd len="med" w="med" type="triangle"/>
          </a:ln>
        </p:spPr>
      </p:cxnSp>
      <p:sp>
        <p:nvSpPr>
          <p:cNvPr id="795" name="Google Shape;795;p23"/>
          <p:cNvSpPr/>
          <p:nvPr/>
        </p:nvSpPr>
        <p:spPr>
          <a:xfrm>
            <a:off x="2755392" y="5986272"/>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 ASG</a:t>
            </a:r>
            <a:endParaRPr b="0" i="0" sz="700" u="none" cap="none" strike="noStrike">
              <a:solidFill>
                <a:schemeClr val="dk1"/>
              </a:solidFill>
              <a:latin typeface="Calibri"/>
              <a:ea typeface="Calibri"/>
              <a:cs typeface="Calibri"/>
              <a:sym typeface="Calibri"/>
            </a:endParaRPr>
          </a:p>
        </p:txBody>
      </p:sp>
      <p:cxnSp>
        <p:nvCxnSpPr>
          <p:cNvPr id="796" name="Google Shape;796;p23"/>
          <p:cNvCxnSpPr/>
          <p:nvPr/>
        </p:nvCxnSpPr>
        <p:spPr>
          <a:xfrm>
            <a:off x="4072128" y="6071616"/>
            <a:ext cx="853440" cy="146304"/>
          </a:xfrm>
          <a:prstGeom prst="straightConnector1">
            <a:avLst/>
          </a:prstGeom>
          <a:noFill/>
          <a:ln cap="flat" cmpd="sng" w="9525">
            <a:solidFill>
              <a:srgbClr val="00D4FF"/>
            </a:solidFill>
            <a:prstDash val="solid"/>
            <a:round/>
            <a:headEnd len="sm" w="sm" type="none"/>
            <a:tailEnd len="med" w="med" type="triangle"/>
          </a:ln>
        </p:spPr>
      </p:cxnSp>
      <p:sp>
        <p:nvSpPr>
          <p:cNvPr id="797" name="Google Shape;797;p23"/>
          <p:cNvSpPr/>
          <p:nvPr/>
        </p:nvSpPr>
        <p:spPr>
          <a:xfrm>
            <a:off x="4157472" y="5986272"/>
            <a:ext cx="682752" cy="170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700"/>
              <a:buFont typeface="Calibri"/>
              <a:buNone/>
            </a:pPr>
            <a:r>
              <a:rPr b="0" i="0" lang="en-US" sz="700" u="none" cap="none" strike="noStrike">
                <a:solidFill>
                  <a:srgbClr val="00D4FF"/>
                </a:solidFill>
                <a:latin typeface="Calibri"/>
                <a:ea typeface="Calibri"/>
                <a:cs typeface="Calibri"/>
                <a:sym typeface="Calibri"/>
              </a:rPr>
              <a:t>→ Agent</a:t>
            </a:r>
            <a:endParaRPr b="0" i="0" sz="700" u="none" cap="none" strike="noStrike">
              <a:solidFill>
                <a:schemeClr val="dk1"/>
              </a:solidFill>
              <a:latin typeface="Calibri"/>
              <a:ea typeface="Calibri"/>
              <a:cs typeface="Calibri"/>
              <a:sym typeface="Calibri"/>
            </a:endParaRPr>
          </a:p>
        </p:txBody>
      </p:sp>
      <p:sp>
        <p:nvSpPr>
          <p:cNvPr id="798" name="Google Shape;798;p23"/>
          <p:cNvSpPr/>
          <p:nvPr/>
        </p:nvSpPr>
        <p:spPr>
          <a:xfrm>
            <a:off x="1755648" y="6217920"/>
            <a:ext cx="1341120" cy="438912"/>
          </a:xfrm>
          <a:prstGeom prst="roundRect">
            <a:avLst>
              <a:gd fmla="val 13889"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9" name="Google Shape;799;p23"/>
          <p:cNvSpPr/>
          <p:nvPr/>
        </p:nvSpPr>
        <p:spPr>
          <a:xfrm>
            <a:off x="1755648" y="6217920"/>
            <a:ext cx="1341120" cy="438912"/>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 Nodes + edges</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written to ASG</a:t>
            </a:r>
            <a:endParaRPr b="0" i="0" sz="700" u="none" cap="none" strike="noStrike">
              <a:solidFill>
                <a:schemeClr val="dk1"/>
              </a:solidFill>
              <a:latin typeface="Calibri"/>
              <a:ea typeface="Calibri"/>
              <a:cs typeface="Calibri"/>
              <a:sym typeface="Calibri"/>
            </a:endParaRPr>
          </a:p>
        </p:txBody>
      </p:sp>
      <p:sp>
        <p:nvSpPr>
          <p:cNvPr id="800" name="Google Shape;800;p23"/>
          <p:cNvSpPr/>
          <p:nvPr/>
        </p:nvSpPr>
        <p:spPr>
          <a:xfrm>
            <a:off x="4437888" y="6217920"/>
            <a:ext cx="1463040" cy="438912"/>
          </a:xfrm>
          <a:prstGeom prst="roundRect">
            <a:avLst>
              <a:gd fmla="val 13889" name="adj"/>
            </a:avLst>
          </a:prstGeom>
          <a:solidFill>
            <a:srgbClr val="04162E"/>
          </a:solidFill>
          <a:ln cap="flat" cmpd="sng" w="12700">
            <a:solidFill>
              <a:srgbClr val="00D4FF"/>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1" name="Google Shape;801;p23"/>
          <p:cNvSpPr/>
          <p:nvPr/>
        </p:nvSpPr>
        <p:spPr>
          <a:xfrm>
            <a:off x="4437888" y="6217920"/>
            <a:ext cx="1463040" cy="438912"/>
          </a:xfrm>
          <a:prstGeom prst="rect">
            <a:avLst/>
          </a:prstGeom>
          <a:noFill/>
          <a:ln>
            <a:noFill/>
          </a:ln>
        </p:spPr>
        <p:txBody>
          <a:bodyPr anchorCtr="0" anchor="ctr" bIns="33875" lIns="33875" spcFirstLastPara="1" rIns="33875" wrap="square" tIns="33875">
            <a:noAutofit/>
          </a:bodyPr>
          <a:lstStyle/>
          <a:p>
            <a:pPr indent="0" lvl="0" marL="0" marR="0" rtl="0" algn="ctr">
              <a:spcBef>
                <a:spcPts val="0"/>
              </a:spcBef>
              <a:spcAft>
                <a:spcPts val="0"/>
              </a:spcAft>
              <a:buClr>
                <a:srgbClr val="00D4FF"/>
              </a:buClr>
              <a:buSzPts val="700"/>
              <a:buFont typeface="Calibri"/>
              <a:buNone/>
            </a:pPr>
            <a:r>
              <a:rPr b="0" i="0" lang="en-US" sz="700" u="none" cap="none" strike="noStrike">
                <a:solidFill>
                  <a:srgbClr val="00D4FF"/>
                </a:solidFill>
                <a:latin typeface="Calibri"/>
                <a:ea typeface="Calibri"/>
                <a:cs typeface="Calibri"/>
                <a:sym typeface="Calibri"/>
              </a:rPr>
              <a:t>🤖 Agent receives</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700"/>
              <a:buFont typeface="Calibri"/>
              <a:buNone/>
            </a:pPr>
            <a:r>
              <a:rPr b="0" i="0" lang="en-US" sz="700" u="none" cap="none" strike="noStrike">
                <a:solidFill>
                  <a:srgbClr val="00D4FF"/>
                </a:solidFill>
                <a:latin typeface="Calibri"/>
                <a:ea typeface="Calibri"/>
                <a:cs typeface="Calibri"/>
                <a:sym typeface="Calibri"/>
              </a:rPr>
              <a:t>compact summary only</a:t>
            </a:r>
            <a:endParaRPr b="0" i="0" sz="700" u="none" cap="none" strike="noStrike">
              <a:solidFill>
                <a:schemeClr val="dk1"/>
              </a:solidFill>
              <a:latin typeface="Calibri"/>
              <a:ea typeface="Calibri"/>
              <a:cs typeface="Calibri"/>
              <a:sym typeface="Calibri"/>
            </a:endParaRPr>
          </a:p>
        </p:txBody>
      </p:sp>
      <p:sp>
        <p:nvSpPr>
          <p:cNvPr id="802" name="Google Shape;802;p23"/>
          <p:cNvSpPr/>
          <p:nvPr/>
        </p:nvSpPr>
        <p:spPr>
          <a:xfrm>
            <a:off x="7485888" y="1036320"/>
            <a:ext cx="4315968" cy="2682240"/>
          </a:xfrm>
          <a:prstGeom prst="roundRect">
            <a:avLst>
              <a:gd fmla="val 3636" name="adj"/>
            </a:avLst>
          </a:prstGeom>
          <a:solidFill>
            <a:srgbClr val="04162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3" name="Google Shape;803;p23"/>
          <p:cNvSpPr/>
          <p:nvPr/>
        </p:nvSpPr>
        <p:spPr>
          <a:xfrm>
            <a:off x="7632192" y="1072896"/>
            <a:ext cx="4023360"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000"/>
              <a:buFont typeface="Calibri"/>
              <a:buNone/>
            </a:pPr>
            <a:r>
              <a:rPr b="1" i="0" lang="en-US" sz="1000" u="none" cap="none" strike="noStrike">
                <a:solidFill>
                  <a:srgbClr val="00D4FF"/>
                </a:solidFill>
                <a:latin typeface="Calibri"/>
                <a:ea typeface="Calibri"/>
                <a:cs typeface="Calibri"/>
                <a:sym typeface="Calibri"/>
              </a:rPr>
              <a:t>🧠 LLM Permission Classifier — Medium-Risk Calls</a:t>
            </a:r>
            <a:endParaRPr b="0" i="0" sz="1000" u="none" cap="none" strike="noStrike">
              <a:solidFill>
                <a:schemeClr val="dk1"/>
              </a:solidFill>
              <a:latin typeface="Calibri"/>
              <a:ea typeface="Calibri"/>
              <a:cs typeface="Calibri"/>
              <a:sym typeface="Calibri"/>
            </a:endParaRPr>
          </a:p>
        </p:txBody>
      </p:sp>
      <p:sp>
        <p:nvSpPr>
          <p:cNvPr id="804" name="Google Shape;804;p23"/>
          <p:cNvSpPr/>
          <p:nvPr/>
        </p:nvSpPr>
        <p:spPr>
          <a:xfrm>
            <a:off x="7632192" y="1377696"/>
            <a:ext cx="4023360" cy="487680"/>
          </a:xfrm>
          <a:prstGeom prst="roundRect">
            <a:avLst>
              <a:gd fmla="val 10000" name="adj"/>
            </a:avLst>
          </a:prstGeom>
          <a:solidFill>
            <a:srgbClr val="04100C"/>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5" name="Google Shape;805;p23"/>
          <p:cNvSpPr/>
          <p:nvPr/>
        </p:nvSpPr>
        <p:spPr>
          <a:xfrm>
            <a:off x="7680960" y="1377696"/>
            <a:ext cx="3950208" cy="48768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Fast Filter (instant)</a:t>
            </a:r>
            <a:br>
              <a:rPr b="1" i="0" lang="en-US" sz="800" u="none" cap="none" strike="noStrike">
                <a:solidFill>
                  <a:srgbClr val="7FFF00"/>
                </a:solidFill>
                <a:latin typeface="Calibri"/>
                <a:ea typeface="Calibri"/>
                <a:cs typeface="Calibri"/>
                <a:sym typeface="Calibri"/>
              </a:rPr>
            </a:b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700"/>
              <a:buFont typeface="Calibri"/>
              <a:buNone/>
            </a:pPr>
            <a:r>
              <a:rPr b="0" i="0" lang="en-US" sz="700" u="none" cap="none" strike="noStrike">
                <a:solidFill>
                  <a:srgbClr val="9CA3AF"/>
                </a:solidFill>
                <a:latin typeface="Calibri"/>
                <a:ea typeface="Calibri"/>
                <a:cs typeface="Calibri"/>
                <a:sym typeface="Calibri"/>
              </a:rPr>
              <a:t>Obviously safe? → EXECUTE immediately</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700"/>
              <a:buFont typeface="Calibri"/>
              <a:buNone/>
            </a:pPr>
            <a:r>
              <a:rPr b="0" i="0" lang="en-US" sz="700" u="none" cap="none" strike="noStrike">
                <a:solidFill>
                  <a:srgbClr val="9CA3AF"/>
                </a:solidFill>
                <a:latin typeface="Calibri"/>
                <a:ea typeface="Calibri"/>
                <a:cs typeface="Calibri"/>
                <a:sym typeface="Calibri"/>
              </a:rPr>
              <a:t>Obviously risky? → ESCALATE immediately</a:t>
            </a:r>
            <a:endParaRPr b="0" i="0" sz="800" u="none" cap="none" strike="noStrike">
              <a:solidFill>
                <a:schemeClr val="dk1"/>
              </a:solidFill>
              <a:latin typeface="Calibri"/>
              <a:ea typeface="Calibri"/>
              <a:cs typeface="Calibri"/>
              <a:sym typeface="Calibri"/>
            </a:endParaRPr>
          </a:p>
        </p:txBody>
      </p:sp>
      <p:sp>
        <p:nvSpPr>
          <p:cNvPr id="806" name="Google Shape;806;p23"/>
          <p:cNvSpPr/>
          <p:nvPr/>
        </p:nvSpPr>
        <p:spPr>
          <a:xfrm>
            <a:off x="7632192" y="1914144"/>
            <a:ext cx="4023360" cy="390144"/>
          </a:xfrm>
          <a:prstGeom prst="roundRect">
            <a:avLst>
              <a:gd fmla="val 12500" name="adj"/>
            </a:avLst>
          </a:prstGeom>
          <a:solidFill>
            <a:srgbClr val="060816"/>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7" name="Google Shape;807;p23"/>
          <p:cNvSpPr/>
          <p:nvPr/>
        </p:nvSpPr>
        <p:spPr>
          <a:xfrm>
            <a:off x="7680960" y="1914144"/>
            <a:ext cx="3950208" cy="390144"/>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Axis 1: SCOPE ALIGNMENT  </a:t>
            </a:r>
            <a:r>
              <a:rPr b="0" i="0" lang="en-US" sz="700" u="none" cap="none" strike="noStrike">
                <a:solidFill>
                  <a:srgbClr val="9CA3AF"/>
                </a:solidFill>
                <a:latin typeface="Calibri"/>
                <a:ea typeface="Calibri"/>
                <a:cs typeface="Calibri"/>
                <a:sym typeface="Calibri"/>
              </a:rPr>
              <a:t>Is the target in declared assessment scope?</a:t>
            </a:r>
            <a:endParaRPr b="0" i="0" sz="800" u="none" cap="none" strike="noStrike">
              <a:solidFill>
                <a:schemeClr val="dk1"/>
              </a:solidFill>
              <a:latin typeface="Calibri"/>
              <a:ea typeface="Calibri"/>
              <a:cs typeface="Calibri"/>
              <a:sym typeface="Calibri"/>
            </a:endParaRPr>
          </a:p>
        </p:txBody>
      </p:sp>
      <p:sp>
        <p:nvSpPr>
          <p:cNvPr id="808" name="Google Shape;808;p23"/>
          <p:cNvSpPr/>
          <p:nvPr/>
        </p:nvSpPr>
        <p:spPr>
          <a:xfrm>
            <a:off x="7632192" y="2353056"/>
            <a:ext cx="4023360" cy="390144"/>
          </a:xfrm>
          <a:prstGeom prst="roundRect">
            <a:avLst>
              <a:gd fmla="val 12500" name="adj"/>
            </a:avLst>
          </a:prstGeom>
          <a:solidFill>
            <a:srgbClr val="060816"/>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9" name="Google Shape;809;p23"/>
          <p:cNvSpPr/>
          <p:nvPr/>
        </p:nvSpPr>
        <p:spPr>
          <a:xfrm>
            <a:off x="7680960" y="2353056"/>
            <a:ext cx="3950208" cy="390144"/>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Axis 2: CHAIN INTENT  </a:t>
            </a:r>
            <a:r>
              <a:rPr b="0" i="0" lang="en-US" sz="700" u="none" cap="none" strike="noStrike">
                <a:solidFill>
                  <a:srgbClr val="9CA3AF"/>
                </a:solidFill>
                <a:latin typeface="Calibri"/>
                <a:ea typeface="Calibri"/>
                <a:cs typeface="Calibri"/>
                <a:sym typeface="Calibri"/>
              </a:rPr>
              <a:t>Is this call consistent with the active APG AttackChain?</a:t>
            </a:r>
            <a:endParaRPr b="0" i="0" sz="800" u="none" cap="none" strike="noStrike">
              <a:solidFill>
                <a:schemeClr val="dk1"/>
              </a:solidFill>
              <a:latin typeface="Calibri"/>
              <a:ea typeface="Calibri"/>
              <a:cs typeface="Calibri"/>
              <a:sym typeface="Calibri"/>
            </a:endParaRPr>
          </a:p>
        </p:txBody>
      </p:sp>
      <p:sp>
        <p:nvSpPr>
          <p:cNvPr id="810" name="Google Shape;810;p23"/>
          <p:cNvSpPr/>
          <p:nvPr/>
        </p:nvSpPr>
        <p:spPr>
          <a:xfrm>
            <a:off x="7632192" y="2791968"/>
            <a:ext cx="4023360" cy="390144"/>
          </a:xfrm>
          <a:prstGeom prst="roundRect">
            <a:avLst>
              <a:gd fmla="val 12500" name="adj"/>
            </a:avLst>
          </a:prstGeom>
          <a:solidFill>
            <a:srgbClr val="060816"/>
          </a:solidFill>
          <a:ln cap="flat" cmpd="sng" w="95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1" name="Google Shape;811;p23"/>
          <p:cNvSpPr/>
          <p:nvPr/>
        </p:nvSpPr>
        <p:spPr>
          <a:xfrm>
            <a:off x="7680960" y="2791968"/>
            <a:ext cx="3950208" cy="390144"/>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5252"/>
              </a:buClr>
              <a:buSzPts val="800"/>
              <a:buFont typeface="Calibri"/>
              <a:buNone/>
            </a:pPr>
            <a:r>
              <a:rPr b="1" i="0" lang="en-US" sz="800" u="none" cap="none" strike="noStrike">
                <a:solidFill>
                  <a:srgbClr val="FF5252"/>
                </a:solidFill>
                <a:latin typeface="Calibri"/>
                <a:ea typeface="Calibri"/>
                <a:cs typeface="Calibri"/>
                <a:sym typeface="Calibri"/>
              </a:rPr>
              <a:t>Axis 3: PARAMETER SAFETY  </a:t>
            </a:r>
            <a:r>
              <a:rPr b="0" i="0" lang="en-US" sz="700" u="none" cap="none" strike="noStrike">
                <a:solidFill>
                  <a:srgbClr val="9CA3AF"/>
                </a:solidFill>
                <a:latin typeface="Calibri"/>
                <a:ea typeface="Calibri"/>
                <a:cs typeface="Calibri"/>
                <a:sym typeface="Calibri"/>
              </a:rPr>
              <a:t>Do params exhibit prompt injection patterns or scope drift?</a:t>
            </a:r>
            <a:endParaRPr b="0" i="0" sz="800" u="none" cap="none" strike="noStrike">
              <a:solidFill>
                <a:schemeClr val="dk1"/>
              </a:solidFill>
              <a:latin typeface="Calibri"/>
              <a:ea typeface="Calibri"/>
              <a:cs typeface="Calibri"/>
              <a:sym typeface="Calibri"/>
            </a:endParaRPr>
          </a:p>
        </p:txBody>
      </p:sp>
      <p:sp>
        <p:nvSpPr>
          <p:cNvPr id="812" name="Google Shape;812;p23"/>
          <p:cNvSpPr/>
          <p:nvPr/>
        </p:nvSpPr>
        <p:spPr>
          <a:xfrm>
            <a:off x="7632192" y="3255264"/>
            <a:ext cx="1975104" cy="341376"/>
          </a:xfrm>
          <a:prstGeom prst="roundRect">
            <a:avLst>
              <a:gd fmla="val 14286" name="adj"/>
            </a:avLst>
          </a:prstGeom>
          <a:solidFill>
            <a:srgbClr val="041A08"/>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3" name="Google Shape;813;p23"/>
          <p:cNvSpPr/>
          <p:nvPr/>
        </p:nvSpPr>
        <p:spPr>
          <a:xfrm>
            <a:off x="7632192" y="3255264"/>
            <a:ext cx="1975104"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900"/>
              <a:buFont typeface="Calibri"/>
              <a:buNone/>
            </a:pPr>
            <a:r>
              <a:rPr b="1" i="0" lang="en-US" sz="900" u="none" cap="none" strike="noStrike">
                <a:solidFill>
                  <a:srgbClr val="7FFF00"/>
                </a:solidFill>
                <a:latin typeface="Calibri"/>
                <a:ea typeface="Calibri"/>
                <a:cs typeface="Calibri"/>
                <a:sym typeface="Calibri"/>
              </a:rPr>
              <a:t>✅ EXECUTE</a:t>
            </a:r>
            <a:endParaRPr b="0" i="0" sz="900" u="none" cap="none" strike="noStrike">
              <a:solidFill>
                <a:schemeClr val="dk1"/>
              </a:solidFill>
              <a:latin typeface="Calibri"/>
              <a:ea typeface="Calibri"/>
              <a:cs typeface="Calibri"/>
              <a:sym typeface="Calibri"/>
            </a:endParaRPr>
          </a:p>
        </p:txBody>
      </p:sp>
      <p:sp>
        <p:nvSpPr>
          <p:cNvPr id="814" name="Google Shape;814;p23"/>
          <p:cNvSpPr/>
          <p:nvPr/>
        </p:nvSpPr>
        <p:spPr>
          <a:xfrm>
            <a:off x="9680448" y="3255264"/>
            <a:ext cx="1975104" cy="341376"/>
          </a:xfrm>
          <a:prstGeom prst="roundRect">
            <a:avLst>
              <a:gd fmla="val 14286" name="adj"/>
            </a:avLst>
          </a:prstGeom>
          <a:solidFill>
            <a:srgbClr val="1A1002"/>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5" name="Google Shape;815;p23"/>
          <p:cNvSpPr/>
          <p:nvPr/>
        </p:nvSpPr>
        <p:spPr>
          <a:xfrm>
            <a:off x="9680448" y="3255264"/>
            <a:ext cx="1975104"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900"/>
              <a:buFont typeface="Calibri"/>
              <a:buNone/>
            </a:pPr>
            <a:r>
              <a:rPr b="1" i="0" lang="en-US" sz="900" u="none" cap="none" strike="noStrike">
                <a:solidFill>
                  <a:srgbClr val="FFC107"/>
                </a:solidFill>
                <a:latin typeface="Calibri"/>
                <a:ea typeface="Calibri"/>
                <a:cs typeface="Calibri"/>
                <a:sym typeface="Calibri"/>
              </a:rPr>
              <a:t>⬆️ ESCALATE</a:t>
            </a:r>
            <a:endParaRPr b="0" i="0" sz="900" u="none" cap="none" strike="noStrike">
              <a:solidFill>
                <a:schemeClr val="dk1"/>
              </a:solidFill>
              <a:latin typeface="Calibri"/>
              <a:ea typeface="Calibri"/>
              <a:cs typeface="Calibri"/>
              <a:sym typeface="Calibri"/>
            </a:endParaRPr>
          </a:p>
        </p:txBody>
      </p:sp>
      <p:sp>
        <p:nvSpPr>
          <p:cNvPr id="816" name="Google Shape;816;p23"/>
          <p:cNvSpPr/>
          <p:nvPr/>
        </p:nvSpPr>
        <p:spPr>
          <a:xfrm>
            <a:off x="7485888" y="3742944"/>
            <a:ext cx="4315968"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Tool Risk Tier Summary</a:t>
            </a:r>
            <a:endParaRPr b="0" i="0" sz="1000" u="none" cap="none" strike="noStrike">
              <a:solidFill>
                <a:schemeClr val="dk1"/>
              </a:solidFill>
              <a:latin typeface="Calibri"/>
              <a:ea typeface="Calibri"/>
              <a:cs typeface="Calibri"/>
              <a:sym typeface="Calibri"/>
            </a:endParaRPr>
          </a:p>
        </p:txBody>
      </p:sp>
      <p:sp>
        <p:nvSpPr>
          <p:cNvPr id="817" name="Google Shape;817;p23"/>
          <p:cNvSpPr/>
          <p:nvPr/>
        </p:nvSpPr>
        <p:spPr>
          <a:xfrm>
            <a:off x="7485888" y="4047744"/>
            <a:ext cx="4315968" cy="512064"/>
          </a:xfrm>
          <a:prstGeom prst="roundRect">
            <a:avLst>
              <a:gd fmla="val 11905" name="adj"/>
            </a:avLst>
          </a:prstGeom>
          <a:solidFill>
            <a:srgbClr val="041A08"/>
          </a:solidFill>
          <a:ln cap="flat" cmpd="sng" w="11425">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8" name="Google Shape;818;p23"/>
          <p:cNvSpPr/>
          <p:nvPr/>
        </p:nvSpPr>
        <p:spPr>
          <a:xfrm>
            <a:off x="7632192" y="4047744"/>
            <a:ext cx="4023360" cy="512064"/>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7FFF00"/>
              </a:buClr>
              <a:buSzPts val="900"/>
              <a:buFont typeface="Calibri"/>
              <a:buNone/>
            </a:pPr>
            <a:r>
              <a:rPr b="1" i="0" lang="en-US" sz="900" u="none" cap="none" strike="noStrike">
                <a:solidFill>
                  <a:srgbClr val="7FFF00"/>
                </a:solidFill>
                <a:latin typeface="Calibri"/>
                <a:ea typeface="Calibri"/>
                <a:cs typeface="Calibri"/>
                <a:sym typeface="Calibri"/>
              </a:rPr>
              <a:t>🟢 LOW  </a:t>
            </a:r>
            <a:r>
              <a:rPr b="0" i="0" lang="en-US" sz="800" u="none" cap="none" strike="noStrike">
                <a:solidFill>
                  <a:srgbClr val="9CA3AF"/>
                </a:solidFill>
                <a:latin typeface="Calibri"/>
                <a:ea typeface="Calibri"/>
                <a:cs typeface="Calibri"/>
                <a:sym typeface="Calibri"/>
              </a:rPr>
              <a:t>Scope check only</a:t>
            </a:r>
            <a:br>
              <a:rPr b="0" i="0" lang="en-US" sz="800" u="none" cap="none" strike="noStrike">
                <a:solidFill>
                  <a:srgbClr val="9CA3AF"/>
                </a:solidFill>
                <a:latin typeface="Calibri"/>
                <a:ea typeface="Calibri"/>
                <a:cs typeface="Calibri"/>
                <a:sym typeface="Calibri"/>
              </a:rPr>
            </a:br>
            <a:r>
              <a:rPr b="0" i="1" lang="en-US" sz="700" u="none" cap="none" strike="noStrike">
                <a:solidFill>
                  <a:srgbClr val="6B7280"/>
                </a:solidFill>
                <a:latin typeface="Calibri"/>
                <a:ea typeface="Calibri"/>
                <a:cs typeface="Calibri"/>
                <a:sym typeface="Calibri"/>
              </a:rPr>
              <a:t>Amass · httpx · WhatWeb · EyeWitness</a:t>
            </a:r>
            <a:endParaRPr b="0" i="0" sz="900" u="none" cap="none" strike="noStrike">
              <a:solidFill>
                <a:schemeClr val="dk1"/>
              </a:solidFill>
              <a:latin typeface="Calibri"/>
              <a:ea typeface="Calibri"/>
              <a:cs typeface="Calibri"/>
              <a:sym typeface="Calibri"/>
            </a:endParaRPr>
          </a:p>
        </p:txBody>
      </p:sp>
      <p:sp>
        <p:nvSpPr>
          <p:cNvPr id="819" name="Google Shape;819;p23"/>
          <p:cNvSpPr/>
          <p:nvPr/>
        </p:nvSpPr>
        <p:spPr>
          <a:xfrm>
            <a:off x="7485888" y="4632960"/>
            <a:ext cx="4315968" cy="512064"/>
          </a:xfrm>
          <a:prstGeom prst="roundRect">
            <a:avLst>
              <a:gd fmla="val 11905" name="adj"/>
            </a:avLst>
          </a:prstGeom>
          <a:solidFill>
            <a:srgbClr val="1A1002"/>
          </a:solidFill>
          <a:ln cap="flat" cmpd="sng" w="11425">
            <a:solidFill>
              <a:srgbClr val="FFC107"/>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0" name="Google Shape;820;p23"/>
          <p:cNvSpPr/>
          <p:nvPr/>
        </p:nvSpPr>
        <p:spPr>
          <a:xfrm>
            <a:off x="7632192" y="4632960"/>
            <a:ext cx="4023360" cy="512064"/>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C107"/>
              </a:buClr>
              <a:buSzPts val="900"/>
              <a:buFont typeface="Calibri"/>
              <a:buNone/>
            </a:pPr>
            <a:r>
              <a:rPr b="1" i="0" lang="en-US" sz="900" u="none" cap="none" strike="noStrike">
                <a:solidFill>
                  <a:srgbClr val="FFC107"/>
                </a:solidFill>
                <a:latin typeface="Calibri"/>
                <a:ea typeface="Calibri"/>
                <a:cs typeface="Calibri"/>
                <a:sym typeface="Calibri"/>
              </a:rPr>
              <a:t>🟡 MED  </a:t>
            </a:r>
            <a:r>
              <a:rPr b="0" i="0" lang="en-US" sz="800" u="none" cap="none" strike="noStrike">
                <a:solidFill>
                  <a:srgbClr val="9CA3AF"/>
                </a:solidFill>
                <a:latin typeface="Calibri"/>
                <a:ea typeface="Calibri"/>
                <a:cs typeface="Calibri"/>
                <a:sym typeface="Calibri"/>
              </a:rPr>
              <a:t>LLM Classifier → exec/esc</a:t>
            </a:r>
            <a:br>
              <a:rPr b="0" i="0" lang="en-US" sz="800" u="none" cap="none" strike="noStrike">
                <a:solidFill>
                  <a:srgbClr val="9CA3AF"/>
                </a:solidFill>
                <a:latin typeface="Calibri"/>
                <a:ea typeface="Calibri"/>
                <a:cs typeface="Calibri"/>
                <a:sym typeface="Calibri"/>
              </a:rPr>
            </a:br>
            <a:r>
              <a:rPr b="0" i="1" lang="en-US" sz="700" u="none" cap="none" strike="noStrike">
                <a:solidFill>
                  <a:srgbClr val="6B7280"/>
                </a:solidFill>
                <a:latin typeface="Calibri"/>
                <a:ea typeface="Calibri"/>
                <a:cs typeface="Calibri"/>
                <a:sym typeface="Calibri"/>
              </a:rPr>
              <a:t>Nmap · Gobuster · ffuf · Nuclei · ZAP</a:t>
            </a:r>
            <a:endParaRPr b="0" i="0" sz="900" u="none" cap="none" strike="noStrike">
              <a:solidFill>
                <a:schemeClr val="dk1"/>
              </a:solidFill>
              <a:latin typeface="Calibri"/>
              <a:ea typeface="Calibri"/>
              <a:cs typeface="Calibri"/>
              <a:sym typeface="Calibri"/>
            </a:endParaRPr>
          </a:p>
        </p:txBody>
      </p:sp>
      <p:sp>
        <p:nvSpPr>
          <p:cNvPr id="821" name="Google Shape;821;p23"/>
          <p:cNvSpPr/>
          <p:nvPr/>
        </p:nvSpPr>
        <p:spPr>
          <a:xfrm>
            <a:off x="7485888" y="5218176"/>
            <a:ext cx="4315968" cy="512064"/>
          </a:xfrm>
          <a:prstGeom prst="roundRect">
            <a:avLst>
              <a:gd fmla="val 11905" name="adj"/>
            </a:avLst>
          </a:prstGeom>
          <a:solidFill>
            <a:srgbClr val="1A0606"/>
          </a:solidFill>
          <a:ln cap="flat" cmpd="sng" w="11425">
            <a:solidFill>
              <a:srgbClr val="FF5252"/>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2" name="Google Shape;822;p23"/>
          <p:cNvSpPr/>
          <p:nvPr/>
        </p:nvSpPr>
        <p:spPr>
          <a:xfrm>
            <a:off x="7632192" y="5218176"/>
            <a:ext cx="4023360" cy="512064"/>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5252"/>
              </a:buClr>
              <a:buSzPts val="900"/>
              <a:buFont typeface="Calibri"/>
              <a:buNone/>
            </a:pPr>
            <a:r>
              <a:rPr b="1" i="0" lang="en-US" sz="900" u="none" cap="none" strike="noStrike">
                <a:solidFill>
                  <a:srgbClr val="FF5252"/>
                </a:solidFill>
                <a:latin typeface="Calibri"/>
                <a:ea typeface="Calibri"/>
                <a:cs typeface="Calibri"/>
                <a:sym typeface="Calibri"/>
              </a:rPr>
              <a:t>🔴 HIGH  </a:t>
            </a:r>
            <a:r>
              <a:rPr b="0" i="0" lang="en-US" sz="800" u="none" cap="none" strike="noStrike">
                <a:solidFill>
                  <a:srgbClr val="9CA3AF"/>
                </a:solidFill>
                <a:latin typeface="Calibri"/>
                <a:ea typeface="Calibri"/>
                <a:cs typeface="Calibri"/>
                <a:sym typeface="Calibri"/>
              </a:rPr>
              <a:t>Commander Mailbox approval</a:t>
            </a:r>
            <a:br>
              <a:rPr b="0" i="0" lang="en-US" sz="800" u="none" cap="none" strike="noStrike">
                <a:solidFill>
                  <a:srgbClr val="9CA3AF"/>
                </a:solidFill>
                <a:latin typeface="Calibri"/>
                <a:ea typeface="Calibri"/>
                <a:cs typeface="Calibri"/>
                <a:sym typeface="Calibri"/>
              </a:rPr>
            </a:br>
            <a:r>
              <a:rPr b="0" i="1" lang="en-US" sz="700" u="none" cap="none" strike="noStrike">
                <a:solidFill>
                  <a:srgbClr val="6B7280"/>
                </a:solidFill>
                <a:latin typeface="Calibri"/>
                <a:ea typeface="Calibri"/>
                <a:cs typeface="Calibri"/>
                <a:sym typeface="Calibri"/>
              </a:rPr>
              <a:t>SQLMap · Metasploit</a:t>
            </a:r>
            <a:endParaRPr b="0" i="0" sz="900" u="none" cap="none" strike="noStrike">
              <a:solidFill>
                <a:schemeClr val="dk1"/>
              </a:solidFill>
              <a:latin typeface="Calibri"/>
              <a:ea typeface="Calibri"/>
              <a:cs typeface="Calibri"/>
              <a:sym typeface="Calibri"/>
            </a:endParaRPr>
          </a:p>
        </p:txBody>
      </p:sp>
      <p:sp>
        <p:nvSpPr>
          <p:cNvPr id="823" name="Google Shape;823;p23"/>
          <p:cNvSpPr/>
          <p:nvPr/>
        </p:nvSpPr>
        <p:spPr>
          <a:xfrm>
            <a:off x="7485888" y="5852160"/>
            <a:ext cx="4315968" cy="670560"/>
          </a:xfrm>
          <a:prstGeom prst="roundRect">
            <a:avLst>
              <a:gd fmla="val 10909" name="adj"/>
            </a:avLst>
          </a:prstGeom>
          <a:solidFill>
            <a:srgbClr val="06101E"/>
          </a:solidFill>
          <a:ln cap="flat" cmpd="sng" w="1015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4" name="Google Shape;824;p23"/>
          <p:cNvSpPr/>
          <p:nvPr/>
        </p:nvSpPr>
        <p:spPr>
          <a:xfrm>
            <a:off x="7632192" y="5852160"/>
            <a:ext cx="4023360" cy="67056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00D4FF"/>
              </a:buClr>
              <a:buSzPts val="900"/>
              <a:buFont typeface="Calibri"/>
              <a:buNone/>
            </a:pPr>
            <a:r>
              <a:rPr b="1" i="0" lang="en-US" sz="900" u="none" cap="none" strike="noStrike">
                <a:solidFill>
                  <a:srgbClr val="00D4FF"/>
                </a:solidFill>
                <a:latin typeface="Calibri"/>
                <a:ea typeface="Calibri"/>
                <a:cs typeface="Calibri"/>
                <a:sym typeface="Calibri"/>
              </a:rPr>
              <a:t>🔒 Critical Safety Property</a:t>
            </a:r>
            <a:br>
              <a:rPr b="1" i="0" lang="en-US" sz="900" u="none" cap="none" strike="noStrike">
                <a:solidFill>
                  <a:srgbClr val="00D4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No irreversible offensive operation executes without Commander-level scope validation. No Medium-tier call executes without LLM classifier approval.</a:t>
            </a:r>
            <a:endParaRPr b="0" i="0" sz="900" u="none" cap="none" strike="noStrike">
              <a:solidFill>
                <a:schemeClr val="dk1"/>
              </a:solidFill>
              <a:latin typeface="Calibri"/>
              <a:ea typeface="Calibri"/>
              <a:cs typeface="Calibri"/>
              <a:sym typeface="Calibri"/>
            </a:endParaRPr>
          </a:p>
        </p:txBody>
      </p:sp>
      <p:sp>
        <p:nvSpPr>
          <p:cNvPr id="825" name="Google Shape;825;p23"/>
          <p:cNvSpPr/>
          <p:nvPr/>
        </p:nvSpPr>
        <p:spPr>
          <a:xfrm>
            <a:off x="11643360" y="6608064"/>
            <a:ext cx="463296"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74151"/>
              </a:buClr>
              <a:buSzPts val="1100"/>
              <a:buFont typeface="Calibri"/>
              <a:buNone/>
            </a:pPr>
            <a:r>
              <a:rPr b="1" i="0" lang="en-US" sz="1100" u="none" cap="none" strike="noStrike">
                <a:solidFill>
                  <a:srgbClr val="374151"/>
                </a:solidFill>
                <a:latin typeface="Calibri"/>
                <a:ea typeface="Calibri"/>
                <a:cs typeface="Calibri"/>
                <a:sym typeface="Calibri"/>
              </a:rPr>
              <a:t>07b</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829" name="Shape 829"/>
        <p:cNvGrpSpPr/>
        <p:nvPr/>
      </p:nvGrpSpPr>
      <p:grpSpPr>
        <a:xfrm>
          <a:off x="0" y="0"/>
          <a:ext cx="0" cy="0"/>
          <a:chOff x="0" y="0"/>
          <a:chExt cx="0" cy="0"/>
        </a:xfrm>
      </p:grpSpPr>
      <p:sp>
        <p:nvSpPr>
          <p:cNvPr id="830" name="Google Shape;830;p24"/>
          <p:cNvSpPr/>
          <p:nvPr/>
        </p:nvSpPr>
        <p:spPr>
          <a:xfrm>
            <a:off x="0" y="0"/>
            <a:ext cx="54900"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1" name="Google Shape;831;p24"/>
          <p:cNvSpPr/>
          <p:nvPr/>
        </p:nvSpPr>
        <p:spPr>
          <a:xfrm>
            <a:off x="54864" y="0"/>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2" name="Google Shape;832;p24"/>
          <p:cNvSpPr/>
          <p:nvPr/>
        </p:nvSpPr>
        <p:spPr>
          <a:xfrm>
            <a:off x="54864" y="682142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3" name="Google Shape;833;p24"/>
          <p:cNvSpPr txBox="1"/>
          <p:nvPr/>
        </p:nvSpPr>
        <p:spPr>
          <a:xfrm>
            <a:off x="274320" y="64008"/>
            <a:ext cx="4572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REAL-WORLD SCENARIO</a:t>
            </a:r>
            <a:endParaRPr b="0" i="0" sz="1400" u="none" cap="none" strike="noStrike">
              <a:solidFill>
                <a:srgbClr val="000000"/>
              </a:solidFill>
              <a:latin typeface="Arial"/>
              <a:ea typeface="Arial"/>
              <a:cs typeface="Arial"/>
              <a:sym typeface="Arial"/>
            </a:endParaRPr>
          </a:p>
        </p:txBody>
      </p:sp>
      <p:sp>
        <p:nvSpPr>
          <p:cNvPr id="834" name="Google Shape;834;p24"/>
          <p:cNvSpPr txBox="1"/>
          <p:nvPr/>
        </p:nvSpPr>
        <p:spPr>
          <a:xfrm>
            <a:off x="274320" y="283464"/>
            <a:ext cx="11430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Mission: shopvault.io — Black-Box Assessment — Zero Manual Commands</a:t>
            </a:r>
            <a:endParaRPr b="0" i="0" sz="1400" u="none" cap="none" strike="noStrike">
              <a:solidFill>
                <a:srgbClr val="000000"/>
              </a:solidFill>
              <a:latin typeface="Arial"/>
              <a:ea typeface="Arial"/>
              <a:cs typeface="Arial"/>
              <a:sym typeface="Arial"/>
            </a:endParaRPr>
          </a:p>
        </p:txBody>
      </p:sp>
      <p:sp>
        <p:nvSpPr>
          <p:cNvPr id="835" name="Google Shape;835;p24"/>
          <p:cNvSpPr/>
          <p:nvPr/>
        </p:nvSpPr>
        <p:spPr>
          <a:xfrm>
            <a:off x="164592" y="768096"/>
            <a:ext cx="11862600" cy="347400"/>
          </a:xfrm>
          <a:prstGeom prst="rect">
            <a:avLst/>
          </a:prstGeom>
          <a:solidFill>
            <a:srgbClr val="101004"/>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6" name="Google Shape;836;p24"/>
          <p:cNvSpPr txBox="1"/>
          <p:nvPr/>
        </p:nvSpPr>
        <p:spPr>
          <a:xfrm>
            <a:off x="320040" y="822960"/>
            <a:ext cx="115974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FFD700"/>
                </a:solidFill>
                <a:latin typeface="Calibri"/>
                <a:ea typeface="Calibri"/>
                <a:cs typeface="Calibri"/>
                <a:sym typeface="Calibri"/>
              </a:rPr>
              <a:t>Scope: all subdomains · web applications · REST APIs of shopvault.io  ·  Mode: Black-Box (zero prior knowledge)  ·  Operator configures root domain + scope → presses start.</a:t>
            </a:r>
            <a:endParaRPr b="0" i="0" sz="1400" u="none" cap="none" strike="noStrike">
              <a:solidFill>
                <a:srgbClr val="000000"/>
              </a:solidFill>
              <a:latin typeface="Arial"/>
              <a:ea typeface="Arial"/>
              <a:cs typeface="Arial"/>
              <a:sym typeface="Arial"/>
            </a:endParaRPr>
          </a:p>
        </p:txBody>
      </p:sp>
      <p:sp>
        <p:nvSpPr>
          <p:cNvPr id="837" name="Google Shape;837;p24"/>
          <p:cNvSpPr/>
          <p:nvPr/>
        </p:nvSpPr>
        <p:spPr>
          <a:xfrm>
            <a:off x="164592" y="1188720"/>
            <a:ext cx="2395800" cy="5010900"/>
          </a:xfrm>
          <a:prstGeom prst="rect">
            <a:avLst/>
          </a:prstGeom>
          <a:solidFill>
            <a:srgbClr val="041408"/>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8" name="Google Shape;838;p24"/>
          <p:cNvSpPr/>
          <p:nvPr/>
        </p:nvSpPr>
        <p:spPr>
          <a:xfrm>
            <a:off x="164592" y="1188720"/>
            <a:ext cx="2395800" cy="457200"/>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9" name="Google Shape;839;p24"/>
          <p:cNvSpPr txBox="1"/>
          <p:nvPr/>
        </p:nvSpPr>
        <p:spPr>
          <a:xfrm>
            <a:off x="237744" y="1243584"/>
            <a:ext cx="2286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39FF14"/>
                </a:solidFill>
                <a:latin typeface="Calibri"/>
                <a:ea typeface="Calibri"/>
                <a:cs typeface="Calibri"/>
                <a:sym typeface="Calibri"/>
              </a:rPr>
              <a:t>PHASE 1</a:t>
            </a:r>
            <a:br>
              <a:rPr b="1" i="0" lang="en-US" sz="1000" u="none" cap="none" strike="noStrike">
                <a:solidFill>
                  <a:srgbClr val="39FF14"/>
                </a:solidFill>
                <a:latin typeface="Calibri"/>
                <a:ea typeface="Calibri"/>
                <a:cs typeface="Calibri"/>
                <a:sym typeface="Calibri"/>
              </a:rPr>
            </a:br>
            <a:r>
              <a:rPr b="1" i="0" lang="en-US" sz="1000" u="none" cap="none" strike="noStrike">
                <a:solidFill>
                  <a:srgbClr val="39FF14"/>
                </a:solidFill>
                <a:latin typeface="Calibri"/>
                <a:ea typeface="Calibri"/>
                <a:cs typeface="Calibri"/>
                <a:sym typeface="Calibri"/>
              </a:rPr>
              <a:t>Reconnaissance</a:t>
            </a:r>
            <a:endParaRPr b="0" i="0" sz="1400" u="none" cap="none" strike="noStrike">
              <a:solidFill>
                <a:srgbClr val="000000"/>
              </a:solidFill>
              <a:latin typeface="Arial"/>
              <a:ea typeface="Arial"/>
              <a:cs typeface="Arial"/>
              <a:sym typeface="Arial"/>
            </a:endParaRPr>
          </a:p>
        </p:txBody>
      </p:sp>
      <p:sp>
        <p:nvSpPr>
          <p:cNvPr id="840" name="Google Shape;840;p24"/>
          <p:cNvSpPr txBox="1"/>
          <p:nvPr/>
        </p:nvSpPr>
        <p:spPr>
          <a:xfrm>
            <a:off x="237744" y="1700784"/>
            <a:ext cx="2286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 Recon Agent</a:t>
            </a:r>
            <a:endParaRPr b="0" i="0" sz="1400" u="none" cap="none" strike="noStrike">
              <a:solidFill>
                <a:srgbClr val="000000"/>
              </a:solidFill>
              <a:latin typeface="Arial"/>
              <a:ea typeface="Arial"/>
              <a:cs typeface="Arial"/>
              <a:sym typeface="Arial"/>
            </a:endParaRPr>
          </a:p>
        </p:txBody>
      </p:sp>
      <p:sp>
        <p:nvSpPr>
          <p:cNvPr id="841" name="Google Shape;841;p24"/>
          <p:cNvSpPr/>
          <p:nvPr/>
        </p:nvSpPr>
        <p:spPr>
          <a:xfrm>
            <a:off x="237744" y="1920240"/>
            <a:ext cx="2249400" cy="183000"/>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2" name="Google Shape;842;p24"/>
          <p:cNvSpPr txBox="1"/>
          <p:nvPr/>
        </p:nvSpPr>
        <p:spPr>
          <a:xfrm>
            <a:off x="274320" y="1929384"/>
            <a:ext cx="2212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843" name="Google Shape;843;p24"/>
          <p:cNvSpPr/>
          <p:nvPr/>
        </p:nvSpPr>
        <p:spPr>
          <a:xfrm>
            <a:off x="237744" y="2157984"/>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4" name="Google Shape;844;p24"/>
          <p:cNvSpPr/>
          <p:nvPr/>
        </p:nvSpPr>
        <p:spPr>
          <a:xfrm>
            <a:off x="237744" y="2157984"/>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5" name="Google Shape;845;p24"/>
          <p:cNvSpPr txBox="1"/>
          <p:nvPr/>
        </p:nvSpPr>
        <p:spPr>
          <a:xfrm>
            <a:off x="310896" y="2194560"/>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Amass</a:t>
            </a:r>
            <a:endParaRPr b="0" i="0" sz="1400" u="none" cap="none" strike="noStrike">
              <a:solidFill>
                <a:srgbClr val="000000"/>
              </a:solidFill>
              <a:latin typeface="Arial"/>
              <a:ea typeface="Arial"/>
              <a:cs typeface="Arial"/>
              <a:sym typeface="Arial"/>
            </a:endParaRPr>
          </a:p>
        </p:txBody>
      </p:sp>
      <p:sp>
        <p:nvSpPr>
          <p:cNvPr id="846" name="Google Shape;846;p24"/>
          <p:cNvSpPr txBox="1"/>
          <p:nvPr/>
        </p:nvSpPr>
        <p:spPr>
          <a:xfrm>
            <a:off x="310896" y="2432304"/>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14 subdomains discovered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 · admin · staging · pay · ...</a:t>
            </a:r>
            <a:endParaRPr b="0" i="0" sz="1400" u="none" cap="none" strike="noStrike">
              <a:solidFill>
                <a:srgbClr val="000000"/>
              </a:solidFill>
              <a:latin typeface="Arial"/>
              <a:ea typeface="Arial"/>
              <a:cs typeface="Arial"/>
              <a:sym typeface="Arial"/>
            </a:endParaRPr>
          </a:p>
        </p:txBody>
      </p:sp>
      <p:sp>
        <p:nvSpPr>
          <p:cNvPr id="847" name="Google Shape;847;p24"/>
          <p:cNvSpPr/>
          <p:nvPr/>
        </p:nvSpPr>
        <p:spPr>
          <a:xfrm>
            <a:off x="237744" y="3340608"/>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8" name="Google Shape;848;p24"/>
          <p:cNvSpPr/>
          <p:nvPr/>
        </p:nvSpPr>
        <p:spPr>
          <a:xfrm>
            <a:off x="237744" y="3340608"/>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9" name="Google Shape;849;p24"/>
          <p:cNvSpPr txBox="1"/>
          <p:nvPr/>
        </p:nvSpPr>
        <p:spPr>
          <a:xfrm>
            <a:off x="310896" y="3377184"/>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httpx</a:t>
            </a:r>
            <a:endParaRPr b="0" i="0" sz="1400" u="none" cap="none" strike="noStrike">
              <a:solidFill>
                <a:srgbClr val="000000"/>
              </a:solidFill>
              <a:latin typeface="Arial"/>
              <a:ea typeface="Arial"/>
              <a:cs typeface="Arial"/>
              <a:sym typeface="Arial"/>
            </a:endParaRPr>
          </a:p>
        </p:txBody>
      </p:sp>
      <p:sp>
        <p:nvSpPr>
          <p:cNvPr id="850" name="Google Shape;850;p24"/>
          <p:cNvSpPr txBox="1"/>
          <p:nvPr/>
        </p:nvSpPr>
        <p:spPr>
          <a:xfrm>
            <a:off x="310896" y="3614928"/>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11 live hosts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staging returns unexpected 200</a:t>
            </a:r>
            <a:endParaRPr b="0" i="0" sz="1400" u="none" cap="none" strike="noStrike">
              <a:solidFill>
                <a:srgbClr val="000000"/>
              </a:solidFill>
              <a:latin typeface="Arial"/>
              <a:ea typeface="Arial"/>
              <a:cs typeface="Arial"/>
              <a:sym typeface="Arial"/>
            </a:endParaRPr>
          </a:p>
        </p:txBody>
      </p:sp>
      <p:sp>
        <p:nvSpPr>
          <p:cNvPr id="851" name="Google Shape;851;p24"/>
          <p:cNvSpPr/>
          <p:nvPr/>
        </p:nvSpPr>
        <p:spPr>
          <a:xfrm>
            <a:off x="237744" y="4523232"/>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2" name="Google Shape;852;p24"/>
          <p:cNvSpPr/>
          <p:nvPr/>
        </p:nvSpPr>
        <p:spPr>
          <a:xfrm>
            <a:off x="237744" y="4523232"/>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3" name="Google Shape;853;p24"/>
          <p:cNvSpPr txBox="1"/>
          <p:nvPr/>
        </p:nvSpPr>
        <p:spPr>
          <a:xfrm>
            <a:off x="310896" y="4559808"/>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Nmap</a:t>
            </a:r>
            <a:endParaRPr b="0" i="0" sz="1400" u="none" cap="none" strike="noStrike">
              <a:solidFill>
                <a:srgbClr val="000000"/>
              </a:solidFill>
              <a:latin typeface="Arial"/>
              <a:ea typeface="Arial"/>
              <a:cs typeface="Arial"/>
              <a:sym typeface="Arial"/>
            </a:endParaRPr>
          </a:p>
        </p:txBody>
      </p:sp>
      <p:sp>
        <p:nvSpPr>
          <p:cNvPr id="854" name="Google Shape;854;p24"/>
          <p:cNvSpPr txBox="1"/>
          <p:nvPr/>
        </p:nvSpPr>
        <p:spPr>
          <a:xfrm>
            <a:off x="310896" y="4797552"/>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Ports 80, 443, 8080, 8443 open</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pay.shopvault.io: expired TLS</a:t>
            </a:r>
            <a:endParaRPr b="0" i="0" sz="1400" u="none" cap="none" strike="noStrike">
              <a:solidFill>
                <a:srgbClr val="000000"/>
              </a:solidFill>
              <a:latin typeface="Arial"/>
              <a:ea typeface="Arial"/>
              <a:cs typeface="Arial"/>
              <a:sym typeface="Arial"/>
            </a:endParaRPr>
          </a:p>
        </p:txBody>
      </p:sp>
      <p:sp>
        <p:nvSpPr>
          <p:cNvPr id="855" name="Google Shape;855;p24"/>
          <p:cNvSpPr/>
          <p:nvPr/>
        </p:nvSpPr>
        <p:spPr>
          <a:xfrm>
            <a:off x="164592" y="5797296"/>
            <a:ext cx="2395800" cy="402300"/>
          </a:xfrm>
          <a:prstGeom prst="rect">
            <a:avLst/>
          </a:prstGeom>
          <a:solidFill>
            <a:srgbClr val="060C18"/>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6" name="Google Shape;856;p24"/>
          <p:cNvSpPr txBox="1"/>
          <p:nvPr/>
        </p:nvSpPr>
        <p:spPr>
          <a:xfrm>
            <a:off x="256032" y="5852160"/>
            <a:ext cx="2258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ASG ← 37 new nodes</a:t>
            </a:r>
            <a:endParaRPr b="0" i="0" sz="1400" u="none" cap="none" strike="noStrike">
              <a:solidFill>
                <a:srgbClr val="000000"/>
              </a:solidFill>
              <a:latin typeface="Arial"/>
              <a:ea typeface="Arial"/>
              <a:cs typeface="Arial"/>
              <a:sym typeface="Arial"/>
            </a:endParaRPr>
          </a:p>
        </p:txBody>
      </p:sp>
      <p:cxnSp>
        <p:nvCxnSpPr>
          <p:cNvPr id="857" name="Google Shape;857;p24"/>
          <p:cNvCxnSpPr/>
          <p:nvPr/>
        </p:nvCxnSpPr>
        <p:spPr>
          <a:xfrm>
            <a:off x="2560320" y="1417320"/>
            <a:ext cx="54900" cy="0"/>
          </a:xfrm>
          <a:prstGeom prst="straightConnector1">
            <a:avLst/>
          </a:prstGeom>
          <a:noFill/>
          <a:ln cap="flat" cmpd="sng" w="22850">
            <a:solidFill>
              <a:srgbClr val="00E5FF"/>
            </a:solidFill>
            <a:prstDash val="solid"/>
            <a:round/>
            <a:headEnd len="med" w="med" type="stealth"/>
            <a:tailEnd len="sm" w="sm" type="none"/>
          </a:ln>
          <a:effectLst>
            <a:outerShdw blurRad="40000" rotWithShape="0" dir="5400000" dist="20000">
              <a:srgbClr val="000000">
                <a:alpha val="38040"/>
              </a:srgbClr>
            </a:outerShdw>
          </a:effectLst>
        </p:spPr>
      </p:cxnSp>
      <p:sp>
        <p:nvSpPr>
          <p:cNvPr id="858" name="Google Shape;858;p24"/>
          <p:cNvSpPr/>
          <p:nvPr/>
        </p:nvSpPr>
        <p:spPr>
          <a:xfrm>
            <a:off x="2615184" y="1188720"/>
            <a:ext cx="3474600" cy="5010900"/>
          </a:xfrm>
          <a:prstGeom prst="rect">
            <a:avLst/>
          </a:prstGeom>
          <a:solidFill>
            <a:srgbClr val="041018"/>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9" name="Google Shape;859;p24"/>
          <p:cNvSpPr/>
          <p:nvPr/>
        </p:nvSpPr>
        <p:spPr>
          <a:xfrm>
            <a:off x="2615184" y="1188720"/>
            <a:ext cx="3474600" cy="457200"/>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0" name="Google Shape;860;p24"/>
          <p:cNvSpPr txBox="1"/>
          <p:nvPr/>
        </p:nvSpPr>
        <p:spPr>
          <a:xfrm>
            <a:off x="2688336" y="1243584"/>
            <a:ext cx="33651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PHASE 2</a:t>
            </a:r>
            <a:br>
              <a:rPr b="1" i="0" lang="en-US" sz="1000" u="none" cap="none" strike="noStrike">
                <a:solidFill>
                  <a:srgbClr val="00E5FF"/>
                </a:solidFill>
                <a:latin typeface="Calibri"/>
                <a:ea typeface="Calibri"/>
                <a:cs typeface="Calibri"/>
                <a:sym typeface="Calibri"/>
              </a:rPr>
            </a:br>
            <a:r>
              <a:rPr b="1" i="0" lang="en-US" sz="1000" u="none" cap="none" strike="noStrike">
                <a:solidFill>
                  <a:srgbClr val="00E5FF"/>
                </a:solidFill>
                <a:latin typeface="Calibri"/>
                <a:ea typeface="Calibri"/>
                <a:cs typeface="Calibri"/>
                <a:sym typeface="Calibri"/>
              </a:rPr>
              <a:t>Analysis + Intel</a:t>
            </a:r>
            <a:endParaRPr b="0" i="0" sz="1400" u="none" cap="none" strike="noStrike">
              <a:solidFill>
                <a:srgbClr val="000000"/>
              </a:solidFill>
              <a:latin typeface="Arial"/>
              <a:ea typeface="Arial"/>
              <a:cs typeface="Arial"/>
              <a:sym typeface="Arial"/>
            </a:endParaRPr>
          </a:p>
        </p:txBody>
      </p:sp>
      <p:sp>
        <p:nvSpPr>
          <p:cNvPr id="861" name="Google Shape;861;p24"/>
          <p:cNvSpPr txBox="1"/>
          <p:nvPr/>
        </p:nvSpPr>
        <p:spPr>
          <a:xfrm>
            <a:off x="2688336" y="1700784"/>
            <a:ext cx="33651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 Analysis + 🔍 Research</a:t>
            </a:r>
            <a:endParaRPr b="0" i="0" sz="1400" u="none" cap="none" strike="noStrike">
              <a:solidFill>
                <a:srgbClr val="000000"/>
              </a:solidFill>
              <a:latin typeface="Arial"/>
              <a:ea typeface="Arial"/>
              <a:cs typeface="Arial"/>
              <a:sym typeface="Arial"/>
            </a:endParaRPr>
          </a:p>
        </p:txBody>
      </p:sp>
      <p:sp>
        <p:nvSpPr>
          <p:cNvPr id="862" name="Google Shape;862;p24"/>
          <p:cNvSpPr/>
          <p:nvPr/>
        </p:nvSpPr>
        <p:spPr>
          <a:xfrm>
            <a:off x="2688336" y="1920240"/>
            <a:ext cx="3328500" cy="183000"/>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3" name="Google Shape;863;p24"/>
          <p:cNvSpPr txBox="1"/>
          <p:nvPr/>
        </p:nvSpPr>
        <p:spPr>
          <a:xfrm>
            <a:off x="2724912" y="1929384"/>
            <a:ext cx="3291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0E5FF"/>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864" name="Google Shape;864;p24"/>
          <p:cNvSpPr/>
          <p:nvPr/>
        </p:nvSpPr>
        <p:spPr>
          <a:xfrm>
            <a:off x="2688336" y="2157984"/>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5" name="Google Shape;865;p24"/>
          <p:cNvSpPr/>
          <p:nvPr/>
        </p:nvSpPr>
        <p:spPr>
          <a:xfrm>
            <a:off x="2688336" y="2157984"/>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6" name="Google Shape;866;p24"/>
          <p:cNvSpPr txBox="1"/>
          <p:nvPr/>
        </p:nvSpPr>
        <p:spPr>
          <a:xfrm>
            <a:off x="2761488" y="2194560"/>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WhatWeb</a:t>
            </a:r>
            <a:endParaRPr b="0" i="0" sz="1400" u="none" cap="none" strike="noStrike">
              <a:solidFill>
                <a:srgbClr val="000000"/>
              </a:solidFill>
              <a:latin typeface="Arial"/>
              <a:ea typeface="Arial"/>
              <a:cs typeface="Arial"/>
              <a:sym typeface="Arial"/>
            </a:endParaRPr>
          </a:p>
        </p:txBody>
      </p:sp>
      <p:sp>
        <p:nvSpPr>
          <p:cNvPr id="867" name="Google Shape;867;p24"/>
          <p:cNvSpPr txBox="1"/>
          <p:nvPr/>
        </p:nvSpPr>
        <p:spPr>
          <a:xfrm>
            <a:off x="2761488" y="2432304"/>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WordPress 5.9.3 · Django API</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Research: CVE-2022-21661 (CVSS 8.8)</a:t>
            </a:r>
            <a:endParaRPr b="0" i="0" sz="1400" u="none" cap="none" strike="noStrike">
              <a:solidFill>
                <a:srgbClr val="000000"/>
              </a:solidFill>
              <a:latin typeface="Arial"/>
              <a:ea typeface="Arial"/>
              <a:cs typeface="Arial"/>
              <a:sym typeface="Arial"/>
            </a:endParaRPr>
          </a:p>
        </p:txBody>
      </p:sp>
      <p:sp>
        <p:nvSpPr>
          <p:cNvPr id="868" name="Google Shape;868;p24"/>
          <p:cNvSpPr/>
          <p:nvPr/>
        </p:nvSpPr>
        <p:spPr>
          <a:xfrm>
            <a:off x="2688336" y="3044952"/>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9" name="Google Shape;869;p24"/>
          <p:cNvSpPr/>
          <p:nvPr/>
        </p:nvSpPr>
        <p:spPr>
          <a:xfrm>
            <a:off x="2688336" y="3044952"/>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0" name="Google Shape;870;p24"/>
          <p:cNvSpPr txBox="1"/>
          <p:nvPr/>
        </p:nvSpPr>
        <p:spPr>
          <a:xfrm>
            <a:off x="2761488" y="3081528"/>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Gobuster</a:t>
            </a:r>
            <a:endParaRPr b="0" i="0" sz="1400" u="none" cap="none" strike="noStrike">
              <a:solidFill>
                <a:srgbClr val="000000"/>
              </a:solidFill>
              <a:latin typeface="Arial"/>
              <a:ea typeface="Arial"/>
              <a:cs typeface="Arial"/>
              <a:sym typeface="Arial"/>
            </a:endParaRPr>
          </a:p>
        </p:txBody>
      </p:sp>
      <p:sp>
        <p:nvSpPr>
          <p:cNvPr id="871" name="Google Shape;871;p24"/>
          <p:cNvSpPr txBox="1"/>
          <p:nvPr/>
        </p:nvSpPr>
        <p:spPr>
          <a:xfrm>
            <a:off x="2761488" y="3319272"/>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/backup/db_export_2023.sql EXPOSED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/admin/users · /admin/login</a:t>
            </a:r>
            <a:endParaRPr b="0" i="0" sz="1400" u="none" cap="none" strike="noStrike">
              <a:solidFill>
                <a:srgbClr val="000000"/>
              </a:solidFill>
              <a:latin typeface="Arial"/>
              <a:ea typeface="Arial"/>
              <a:cs typeface="Arial"/>
              <a:sym typeface="Arial"/>
            </a:endParaRPr>
          </a:p>
        </p:txBody>
      </p:sp>
      <p:sp>
        <p:nvSpPr>
          <p:cNvPr id="872" name="Google Shape;872;p24"/>
          <p:cNvSpPr/>
          <p:nvPr/>
        </p:nvSpPr>
        <p:spPr>
          <a:xfrm>
            <a:off x="2688336" y="3931920"/>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3" name="Google Shape;873;p24"/>
          <p:cNvSpPr/>
          <p:nvPr/>
        </p:nvSpPr>
        <p:spPr>
          <a:xfrm>
            <a:off x="2688336" y="3931920"/>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4" name="Google Shape;874;p24"/>
          <p:cNvSpPr txBox="1"/>
          <p:nvPr/>
        </p:nvSpPr>
        <p:spPr>
          <a:xfrm>
            <a:off x="2761488" y="3968496"/>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ffuf</a:t>
            </a:r>
            <a:endParaRPr b="0" i="0" sz="1400" u="none" cap="none" strike="noStrike">
              <a:solidFill>
                <a:srgbClr val="000000"/>
              </a:solidFill>
              <a:latin typeface="Arial"/>
              <a:ea typeface="Arial"/>
              <a:cs typeface="Arial"/>
              <a:sym typeface="Arial"/>
            </a:endParaRPr>
          </a:p>
        </p:txBody>
      </p:sp>
      <p:sp>
        <p:nvSpPr>
          <p:cNvPr id="875" name="Google Shape;875;p24"/>
          <p:cNvSpPr txBox="1"/>
          <p:nvPr/>
        </p:nvSpPr>
        <p:spPr>
          <a:xfrm>
            <a:off x="2761488" y="4206240"/>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IDOR: user_id param unsanitized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/api/v1/internal/users found</a:t>
            </a:r>
            <a:endParaRPr b="0" i="0" sz="1400" u="none" cap="none" strike="noStrike">
              <a:solidFill>
                <a:srgbClr val="000000"/>
              </a:solidFill>
              <a:latin typeface="Arial"/>
              <a:ea typeface="Arial"/>
              <a:cs typeface="Arial"/>
              <a:sym typeface="Arial"/>
            </a:endParaRPr>
          </a:p>
        </p:txBody>
      </p:sp>
      <p:sp>
        <p:nvSpPr>
          <p:cNvPr id="876" name="Google Shape;876;p24"/>
          <p:cNvSpPr/>
          <p:nvPr/>
        </p:nvSpPr>
        <p:spPr>
          <a:xfrm>
            <a:off x="2688336" y="4818888"/>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7" name="Google Shape;877;p24"/>
          <p:cNvSpPr/>
          <p:nvPr/>
        </p:nvSpPr>
        <p:spPr>
          <a:xfrm>
            <a:off x="2688336" y="4818888"/>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8" name="Google Shape;878;p24"/>
          <p:cNvSpPr txBox="1"/>
          <p:nvPr/>
        </p:nvSpPr>
        <p:spPr>
          <a:xfrm>
            <a:off x="2761488" y="4855464"/>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ZAP</a:t>
            </a:r>
            <a:endParaRPr b="0" i="0" sz="1400" u="none" cap="none" strike="noStrike">
              <a:solidFill>
                <a:srgbClr val="000000"/>
              </a:solidFill>
              <a:latin typeface="Arial"/>
              <a:ea typeface="Arial"/>
              <a:cs typeface="Arial"/>
              <a:sym typeface="Arial"/>
            </a:endParaRPr>
          </a:p>
        </p:txBody>
      </p:sp>
      <p:sp>
        <p:nvSpPr>
          <p:cNvPr id="879" name="Google Shape;879;p24"/>
          <p:cNvSpPr txBox="1"/>
          <p:nvPr/>
        </p:nvSpPr>
        <p:spPr>
          <a:xfrm>
            <a:off x="2761488" y="5093208"/>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XSS on /search?q=</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SQL error on staging login</a:t>
            </a:r>
            <a:endParaRPr b="0" i="0" sz="1400" u="none" cap="none" strike="noStrike">
              <a:solidFill>
                <a:srgbClr val="000000"/>
              </a:solidFill>
              <a:latin typeface="Arial"/>
              <a:ea typeface="Arial"/>
              <a:cs typeface="Arial"/>
              <a:sym typeface="Arial"/>
            </a:endParaRPr>
          </a:p>
        </p:txBody>
      </p:sp>
      <p:sp>
        <p:nvSpPr>
          <p:cNvPr id="880" name="Google Shape;880;p24"/>
          <p:cNvSpPr/>
          <p:nvPr/>
        </p:nvSpPr>
        <p:spPr>
          <a:xfrm>
            <a:off x="2615184" y="5797296"/>
            <a:ext cx="3474600" cy="402300"/>
          </a:xfrm>
          <a:prstGeom prst="rect">
            <a:avLst/>
          </a:prstGeom>
          <a:solidFill>
            <a:srgbClr val="060C18"/>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1" name="Google Shape;881;p24"/>
          <p:cNvSpPr txBox="1"/>
          <p:nvPr/>
        </p:nvSpPr>
        <p:spPr>
          <a:xfrm>
            <a:off x="2706624" y="5852160"/>
            <a:ext cx="33375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ASG ← 61 nodes</a:t>
            </a:r>
            <a:br>
              <a:rPr b="1" i="0" lang="en-US" sz="850" u="none" cap="none" strike="noStrike">
                <a:solidFill>
                  <a:srgbClr val="00E5FF"/>
                </a:solidFill>
                <a:latin typeface="Calibri"/>
                <a:ea typeface="Calibri"/>
                <a:cs typeface="Calibri"/>
                <a:sym typeface="Calibri"/>
              </a:rPr>
            </a:br>
            <a:r>
              <a:rPr b="1" i="0" lang="en-US" sz="850" u="none" cap="none" strike="noStrike">
                <a:solidFill>
                  <a:srgbClr val="00E5FF"/>
                </a:solidFill>
                <a:latin typeface="Calibri"/>
                <a:ea typeface="Calibri"/>
                <a:cs typeface="Calibri"/>
                <a:sym typeface="Calibri"/>
              </a:rPr>
              <a:t>APG ← 3 chains seeded</a:t>
            </a:r>
            <a:endParaRPr b="0" i="0" sz="1400" u="none" cap="none" strike="noStrike">
              <a:solidFill>
                <a:srgbClr val="000000"/>
              </a:solidFill>
              <a:latin typeface="Arial"/>
              <a:ea typeface="Arial"/>
              <a:cs typeface="Arial"/>
              <a:sym typeface="Arial"/>
            </a:endParaRPr>
          </a:p>
        </p:txBody>
      </p:sp>
      <p:cxnSp>
        <p:nvCxnSpPr>
          <p:cNvPr id="882" name="Google Shape;882;p24"/>
          <p:cNvCxnSpPr/>
          <p:nvPr/>
        </p:nvCxnSpPr>
        <p:spPr>
          <a:xfrm>
            <a:off x="6089904" y="1417320"/>
            <a:ext cx="54900" cy="0"/>
          </a:xfrm>
          <a:prstGeom prst="straightConnector1">
            <a:avLst/>
          </a:prstGeom>
          <a:noFill/>
          <a:ln cap="flat" cmpd="sng" w="22850">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883" name="Google Shape;883;p24"/>
          <p:cNvSpPr/>
          <p:nvPr/>
        </p:nvSpPr>
        <p:spPr>
          <a:xfrm>
            <a:off x="6144768" y="1188720"/>
            <a:ext cx="3639300" cy="5010900"/>
          </a:xfrm>
          <a:prstGeom prst="rect">
            <a:avLst/>
          </a:prstGeom>
          <a:solidFill>
            <a:srgbClr val="180606"/>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4" name="Google Shape;884;p24"/>
          <p:cNvSpPr/>
          <p:nvPr/>
        </p:nvSpPr>
        <p:spPr>
          <a:xfrm>
            <a:off x="6144768" y="1188720"/>
            <a:ext cx="3639300" cy="457200"/>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5" name="Google Shape;885;p24"/>
          <p:cNvSpPr txBox="1"/>
          <p:nvPr/>
        </p:nvSpPr>
        <p:spPr>
          <a:xfrm>
            <a:off x="6217920" y="1243584"/>
            <a:ext cx="35295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4545"/>
                </a:solidFill>
                <a:latin typeface="Calibri"/>
                <a:ea typeface="Calibri"/>
                <a:cs typeface="Calibri"/>
                <a:sym typeface="Calibri"/>
              </a:rPr>
              <a:t>PHASE 3</a:t>
            </a:r>
            <a:br>
              <a:rPr b="1" i="0" lang="en-US" sz="1000" u="none" cap="none" strike="noStrike">
                <a:solidFill>
                  <a:srgbClr val="FF4545"/>
                </a:solidFill>
                <a:latin typeface="Calibri"/>
                <a:ea typeface="Calibri"/>
                <a:cs typeface="Calibri"/>
                <a:sym typeface="Calibri"/>
              </a:rPr>
            </a:br>
            <a:r>
              <a:rPr b="1" i="0" lang="en-US" sz="1000" u="none" cap="none" strike="noStrike">
                <a:solidFill>
                  <a:srgbClr val="FF4545"/>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886" name="Google Shape;886;p24"/>
          <p:cNvSpPr txBox="1"/>
          <p:nvPr/>
        </p:nvSpPr>
        <p:spPr>
          <a:xfrm>
            <a:off x="6217920" y="1700784"/>
            <a:ext cx="35295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 Validation + 📸 Evidence</a:t>
            </a:r>
            <a:endParaRPr b="0" i="0" sz="1400" u="none" cap="none" strike="noStrike">
              <a:solidFill>
                <a:srgbClr val="000000"/>
              </a:solidFill>
              <a:latin typeface="Arial"/>
              <a:ea typeface="Arial"/>
              <a:cs typeface="Arial"/>
              <a:sym typeface="Arial"/>
            </a:endParaRPr>
          </a:p>
        </p:txBody>
      </p:sp>
      <p:sp>
        <p:nvSpPr>
          <p:cNvPr id="887" name="Google Shape;887;p24"/>
          <p:cNvSpPr/>
          <p:nvPr/>
        </p:nvSpPr>
        <p:spPr>
          <a:xfrm>
            <a:off x="6217920" y="1920240"/>
            <a:ext cx="3492900" cy="183000"/>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8" name="Google Shape;888;p24"/>
          <p:cNvSpPr txBox="1"/>
          <p:nvPr/>
        </p:nvSpPr>
        <p:spPr>
          <a:xfrm>
            <a:off x="6254496" y="1929384"/>
            <a:ext cx="34563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4545"/>
                </a:solidFill>
                <a:latin typeface="Calibri"/>
                <a:ea typeface="Calibri"/>
                <a:cs typeface="Calibri"/>
                <a:sym typeface="Calibri"/>
              </a:rPr>
              <a:t>SQLMap  ·  Metasploit  ·  EyeWitness</a:t>
            </a:r>
            <a:endParaRPr b="0" i="0" sz="1400" u="none" cap="none" strike="noStrike">
              <a:solidFill>
                <a:srgbClr val="000000"/>
              </a:solidFill>
              <a:latin typeface="Arial"/>
              <a:ea typeface="Arial"/>
              <a:cs typeface="Arial"/>
              <a:sym typeface="Arial"/>
            </a:endParaRPr>
          </a:p>
        </p:txBody>
      </p:sp>
      <p:sp>
        <p:nvSpPr>
          <p:cNvPr id="889" name="Google Shape;889;p24"/>
          <p:cNvSpPr/>
          <p:nvPr/>
        </p:nvSpPr>
        <p:spPr>
          <a:xfrm>
            <a:off x="6217920" y="2157984"/>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0" name="Google Shape;890;p24"/>
          <p:cNvSpPr/>
          <p:nvPr/>
        </p:nvSpPr>
        <p:spPr>
          <a:xfrm>
            <a:off x="6217920" y="2157984"/>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1" name="Google Shape;891;p24"/>
          <p:cNvSpPr txBox="1"/>
          <p:nvPr/>
        </p:nvSpPr>
        <p:spPr>
          <a:xfrm>
            <a:off x="6291072" y="2194560"/>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Chain-01</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8.8)</a:t>
            </a:r>
            <a:endParaRPr b="0" i="0" sz="1400" u="none" cap="none" strike="noStrike">
              <a:solidFill>
                <a:srgbClr val="000000"/>
              </a:solidFill>
              <a:latin typeface="Arial"/>
              <a:ea typeface="Arial"/>
              <a:cs typeface="Arial"/>
              <a:sym typeface="Arial"/>
            </a:endParaRPr>
          </a:p>
        </p:txBody>
      </p:sp>
      <p:sp>
        <p:nvSpPr>
          <p:cNvPr id="892" name="Google Shape;892;p24"/>
          <p:cNvSpPr txBox="1"/>
          <p:nvPr/>
        </p:nvSpPr>
        <p:spPr>
          <a:xfrm>
            <a:off x="6291072" y="2432304"/>
            <a:ext cx="3365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 SQLi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 hash cracked → Metasploit → RCE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Status: VALIDATED (escalated 9.1)</a:t>
            </a:r>
            <a:endParaRPr b="0" i="0" sz="1400" u="none" cap="none" strike="noStrike">
              <a:solidFill>
                <a:srgbClr val="000000"/>
              </a:solidFill>
              <a:latin typeface="Arial"/>
              <a:ea typeface="Arial"/>
              <a:cs typeface="Arial"/>
              <a:sym typeface="Arial"/>
            </a:endParaRPr>
          </a:p>
        </p:txBody>
      </p:sp>
      <p:sp>
        <p:nvSpPr>
          <p:cNvPr id="893" name="Google Shape;893;p24"/>
          <p:cNvSpPr/>
          <p:nvPr/>
        </p:nvSpPr>
        <p:spPr>
          <a:xfrm>
            <a:off x="6217920" y="3067812"/>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4" name="Google Shape;894;p24"/>
          <p:cNvSpPr/>
          <p:nvPr/>
        </p:nvSpPr>
        <p:spPr>
          <a:xfrm>
            <a:off x="6217920" y="3067812"/>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5" name="Google Shape;895;p24"/>
          <p:cNvSpPr txBox="1"/>
          <p:nvPr/>
        </p:nvSpPr>
        <p:spPr>
          <a:xfrm>
            <a:off x="6291072" y="3104388"/>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Chain-02</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7.5)</a:t>
            </a:r>
            <a:endParaRPr b="0" i="0" sz="1400" u="none" cap="none" strike="noStrike">
              <a:solidFill>
                <a:srgbClr val="000000"/>
              </a:solidFill>
              <a:latin typeface="Arial"/>
              <a:ea typeface="Arial"/>
              <a:cs typeface="Arial"/>
              <a:sym typeface="Arial"/>
            </a:endParaRPr>
          </a:p>
        </p:txBody>
      </p:sp>
      <p:sp>
        <p:nvSpPr>
          <p:cNvPr id="896" name="Google Shape;896;p24"/>
          <p:cNvSpPr txBox="1"/>
          <p:nvPr/>
        </p:nvSpPr>
        <p:spPr>
          <a:xfrm>
            <a:off x="6291072" y="3342132"/>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on user_id → IDOR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Any customer orders accessible</a:t>
            </a:r>
            <a:endParaRPr b="0" i="0" sz="1400" u="none" cap="none" strike="noStrike">
              <a:solidFill>
                <a:srgbClr val="000000"/>
              </a:solidFill>
              <a:latin typeface="Arial"/>
              <a:ea typeface="Arial"/>
              <a:cs typeface="Arial"/>
              <a:sym typeface="Arial"/>
            </a:endParaRPr>
          </a:p>
        </p:txBody>
      </p:sp>
      <p:sp>
        <p:nvSpPr>
          <p:cNvPr id="897" name="Google Shape;897;p24"/>
          <p:cNvSpPr/>
          <p:nvPr/>
        </p:nvSpPr>
        <p:spPr>
          <a:xfrm>
            <a:off x="6217920" y="3977640"/>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8" name="Google Shape;898;p24"/>
          <p:cNvSpPr/>
          <p:nvPr/>
        </p:nvSpPr>
        <p:spPr>
          <a:xfrm>
            <a:off x="6217920" y="3977640"/>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9" name="Google Shape;899;p24"/>
          <p:cNvSpPr txBox="1"/>
          <p:nvPr/>
        </p:nvSpPr>
        <p:spPr>
          <a:xfrm>
            <a:off x="6291072" y="4014216"/>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Chain-03</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8.1)</a:t>
            </a:r>
            <a:endParaRPr b="0" i="0" sz="1400" u="none" cap="none" strike="noStrike">
              <a:solidFill>
                <a:srgbClr val="000000"/>
              </a:solidFill>
              <a:latin typeface="Arial"/>
              <a:ea typeface="Arial"/>
              <a:cs typeface="Arial"/>
              <a:sym typeface="Arial"/>
            </a:endParaRPr>
          </a:p>
        </p:txBody>
      </p:sp>
      <p:sp>
        <p:nvSpPr>
          <p:cNvPr id="900" name="Google Shape;900;p24"/>
          <p:cNvSpPr txBox="1"/>
          <p:nvPr/>
        </p:nvSpPr>
        <p:spPr>
          <a:xfrm>
            <a:off x="6291072" y="4251960"/>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Blind SQLi on staging → DB creds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Credential reuse risk flagged</a:t>
            </a:r>
            <a:endParaRPr b="0" i="0" sz="1400" u="none" cap="none" strike="noStrike">
              <a:solidFill>
                <a:srgbClr val="000000"/>
              </a:solidFill>
              <a:latin typeface="Arial"/>
              <a:ea typeface="Arial"/>
              <a:cs typeface="Arial"/>
              <a:sym typeface="Arial"/>
            </a:endParaRPr>
          </a:p>
        </p:txBody>
      </p:sp>
      <p:sp>
        <p:nvSpPr>
          <p:cNvPr id="901" name="Google Shape;901;p24"/>
          <p:cNvSpPr/>
          <p:nvPr/>
        </p:nvSpPr>
        <p:spPr>
          <a:xfrm>
            <a:off x="6217920" y="4887468"/>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2" name="Google Shape;902;p24"/>
          <p:cNvSpPr/>
          <p:nvPr/>
        </p:nvSpPr>
        <p:spPr>
          <a:xfrm>
            <a:off x="6217920" y="4887468"/>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3" name="Google Shape;903;p24"/>
          <p:cNvSpPr txBox="1"/>
          <p:nvPr/>
        </p:nvSpPr>
        <p:spPr>
          <a:xfrm>
            <a:off x="6291072" y="4924044"/>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Chain-04</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(validated instantly)</a:t>
            </a:r>
            <a:endParaRPr b="0" i="0" sz="1400" u="none" cap="none" strike="noStrike">
              <a:solidFill>
                <a:srgbClr val="000000"/>
              </a:solidFill>
              <a:latin typeface="Arial"/>
              <a:ea typeface="Arial"/>
              <a:cs typeface="Arial"/>
              <a:sym typeface="Arial"/>
            </a:endParaRPr>
          </a:p>
        </p:txBody>
      </p:sp>
      <p:sp>
        <p:nvSpPr>
          <p:cNvPr id="904" name="Google Shape;904;p24"/>
          <p:cNvSpPr txBox="1"/>
          <p:nvPr/>
        </p:nvSpPr>
        <p:spPr>
          <a:xfrm>
            <a:off x="6291072" y="5161788"/>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Direct GET on exposed DB backup file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Misconfiguration → full PII exposure, no agent needed</a:t>
            </a:r>
            <a:endParaRPr b="0" i="0" sz="1400" u="none" cap="none" strike="noStrike">
              <a:solidFill>
                <a:srgbClr val="000000"/>
              </a:solidFill>
              <a:latin typeface="Arial"/>
              <a:ea typeface="Arial"/>
              <a:cs typeface="Arial"/>
              <a:sym typeface="Arial"/>
            </a:endParaRPr>
          </a:p>
        </p:txBody>
      </p:sp>
      <p:sp>
        <p:nvSpPr>
          <p:cNvPr id="905" name="Google Shape;905;p24"/>
          <p:cNvSpPr/>
          <p:nvPr/>
        </p:nvSpPr>
        <p:spPr>
          <a:xfrm>
            <a:off x="6144768" y="5797296"/>
            <a:ext cx="3639300" cy="402300"/>
          </a:xfrm>
          <a:prstGeom prst="rect">
            <a:avLst/>
          </a:prstGeom>
          <a:solidFill>
            <a:srgbClr val="060C18"/>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6" name="Google Shape;906;p24"/>
          <p:cNvSpPr txBox="1"/>
          <p:nvPr/>
        </p:nvSpPr>
        <p:spPr>
          <a:xfrm>
            <a:off x="6236208" y="5852160"/>
            <a:ext cx="3502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APG ← 4 chains VALIDATED</a:t>
            </a:r>
            <a:br>
              <a:rPr b="1" i="0" lang="en-US" sz="850" u="none" cap="none" strike="noStrike">
                <a:solidFill>
                  <a:srgbClr val="FF4545"/>
                </a:solidFill>
                <a:latin typeface="Calibri"/>
                <a:ea typeface="Calibri"/>
                <a:cs typeface="Calibri"/>
                <a:sym typeface="Calibri"/>
              </a:rPr>
            </a:br>
            <a:r>
              <a:rPr b="1" i="0" lang="en-US" sz="850" u="none" cap="none" strike="noStrike">
                <a:solidFill>
                  <a:srgbClr val="FF4545"/>
                </a:solidFill>
                <a:latin typeface="Calibri"/>
                <a:ea typeface="Calibri"/>
                <a:cs typeface="Calibri"/>
                <a:sym typeface="Calibri"/>
              </a:rPr>
              <a:t>ASG ← Evidence nodes linked</a:t>
            </a:r>
            <a:endParaRPr b="0" i="0" sz="1400" u="none" cap="none" strike="noStrike">
              <a:solidFill>
                <a:srgbClr val="000000"/>
              </a:solidFill>
              <a:latin typeface="Arial"/>
              <a:ea typeface="Arial"/>
              <a:cs typeface="Arial"/>
              <a:sym typeface="Arial"/>
            </a:endParaRPr>
          </a:p>
        </p:txBody>
      </p:sp>
      <p:cxnSp>
        <p:nvCxnSpPr>
          <p:cNvPr id="907" name="Google Shape;907;p24"/>
          <p:cNvCxnSpPr/>
          <p:nvPr/>
        </p:nvCxnSpPr>
        <p:spPr>
          <a:xfrm>
            <a:off x="9784080" y="1417320"/>
            <a:ext cx="54900" cy="0"/>
          </a:xfrm>
          <a:prstGeom prst="straightConnector1">
            <a:avLst/>
          </a:prstGeom>
          <a:noFill/>
          <a:ln cap="flat" cmpd="sng" w="22850">
            <a:solidFill>
              <a:srgbClr val="BD93F9"/>
            </a:solidFill>
            <a:prstDash val="solid"/>
            <a:round/>
            <a:headEnd len="med" w="med" type="stealth"/>
            <a:tailEnd len="sm" w="sm" type="none"/>
          </a:ln>
          <a:effectLst>
            <a:outerShdw blurRad="40000" rotWithShape="0" dir="5400000" dist="20000">
              <a:srgbClr val="000000">
                <a:alpha val="38040"/>
              </a:srgbClr>
            </a:outerShdw>
          </a:effectLst>
        </p:spPr>
      </p:cxnSp>
      <p:sp>
        <p:nvSpPr>
          <p:cNvPr id="908" name="Google Shape;908;p24"/>
          <p:cNvSpPr/>
          <p:nvPr/>
        </p:nvSpPr>
        <p:spPr>
          <a:xfrm>
            <a:off x="9838950" y="1188725"/>
            <a:ext cx="2212800" cy="5010900"/>
          </a:xfrm>
          <a:prstGeom prst="rect">
            <a:avLst/>
          </a:prstGeom>
          <a:solidFill>
            <a:srgbClr val="1008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9" name="Google Shape;909;p24"/>
          <p:cNvSpPr/>
          <p:nvPr/>
        </p:nvSpPr>
        <p:spPr>
          <a:xfrm>
            <a:off x="9838950" y="1188725"/>
            <a:ext cx="2212800" cy="457200"/>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0" name="Google Shape;910;p24"/>
          <p:cNvSpPr txBox="1"/>
          <p:nvPr/>
        </p:nvSpPr>
        <p:spPr>
          <a:xfrm>
            <a:off x="9912100" y="1243575"/>
            <a:ext cx="21213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PHASE 4</a:t>
            </a:r>
            <a:br>
              <a:rPr b="1" i="0" lang="en-US" sz="1000" u="none" cap="none" strike="noStrike">
                <a:solidFill>
                  <a:srgbClr val="BD93F9"/>
                </a:solidFill>
                <a:latin typeface="Calibri"/>
                <a:ea typeface="Calibri"/>
                <a:cs typeface="Calibri"/>
                <a:sym typeface="Calibri"/>
              </a:rPr>
            </a:br>
            <a:r>
              <a:rPr b="1" i="0" lang="en-US" sz="1000" u="none" cap="none" strike="noStrike">
                <a:solidFill>
                  <a:srgbClr val="BD93F9"/>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911" name="Google Shape;911;p24"/>
          <p:cNvSpPr txBox="1"/>
          <p:nvPr/>
        </p:nvSpPr>
        <p:spPr>
          <a:xfrm>
            <a:off x="9912100" y="1700775"/>
            <a:ext cx="21213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 Report Agent</a:t>
            </a:r>
            <a:endParaRPr b="0" i="0" sz="1400" u="none" cap="none" strike="noStrike">
              <a:solidFill>
                <a:srgbClr val="000000"/>
              </a:solidFill>
              <a:latin typeface="Arial"/>
              <a:ea typeface="Arial"/>
              <a:cs typeface="Arial"/>
              <a:sym typeface="Arial"/>
            </a:endParaRPr>
          </a:p>
        </p:txBody>
      </p:sp>
      <p:sp>
        <p:nvSpPr>
          <p:cNvPr id="912" name="Google Shape;912;p24"/>
          <p:cNvSpPr/>
          <p:nvPr/>
        </p:nvSpPr>
        <p:spPr>
          <a:xfrm>
            <a:off x="9912100" y="1920250"/>
            <a:ext cx="2060700" cy="183000"/>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3" name="Google Shape;913;p24"/>
          <p:cNvSpPr txBox="1"/>
          <p:nvPr/>
        </p:nvSpPr>
        <p:spPr>
          <a:xfrm>
            <a:off x="9948675" y="1929375"/>
            <a:ext cx="20241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BD93F9"/>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sp>
        <p:nvSpPr>
          <p:cNvPr id="914" name="Google Shape;914;p24"/>
          <p:cNvSpPr/>
          <p:nvPr/>
        </p:nvSpPr>
        <p:spPr>
          <a:xfrm>
            <a:off x="9912100" y="2157975"/>
            <a:ext cx="2060700" cy="3492900"/>
          </a:xfrm>
          <a:prstGeom prst="rect">
            <a:avLst/>
          </a:prstGeom>
          <a:solidFill>
            <a:srgbClr val="080E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5" name="Google Shape;915;p24"/>
          <p:cNvSpPr/>
          <p:nvPr/>
        </p:nvSpPr>
        <p:spPr>
          <a:xfrm>
            <a:off x="9912096" y="2157984"/>
            <a:ext cx="45600" cy="34929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6" name="Google Shape;916;p24"/>
          <p:cNvSpPr txBox="1"/>
          <p:nvPr/>
        </p:nvSpPr>
        <p:spPr>
          <a:xfrm>
            <a:off x="9985250" y="2194550"/>
            <a:ext cx="20241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sp>
        <p:nvSpPr>
          <p:cNvPr id="917" name="Google Shape;917;p24"/>
          <p:cNvSpPr txBox="1"/>
          <p:nvPr/>
        </p:nvSpPr>
        <p:spPr>
          <a:xfrm>
            <a:off x="9985250" y="2432300"/>
            <a:ext cx="2024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Executive summary · 4 validated chains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RCE + IDOR + SQLi + exposed DB backup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11 vuln entries · full attack surface map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Evidence at every ChainStep</a:t>
            </a:r>
            <a:endParaRPr b="0" i="0" sz="1400" u="none" cap="none" strike="noStrike">
              <a:solidFill>
                <a:srgbClr val="000000"/>
              </a:solidFill>
              <a:latin typeface="Arial"/>
              <a:ea typeface="Arial"/>
              <a:cs typeface="Arial"/>
              <a:sym typeface="Arial"/>
            </a:endParaRPr>
          </a:p>
        </p:txBody>
      </p:sp>
      <p:sp>
        <p:nvSpPr>
          <p:cNvPr id="918" name="Google Shape;918;p24"/>
          <p:cNvSpPr/>
          <p:nvPr/>
        </p:nvSpPr>
        <p:spPr>
          <a:xfrm>
            <a:off x="9838949" y="5797300"/>
            <a:ext cx="2212800" cy="402300"/>
          </a:xfrm>
          <a:prstGeom prst="rect">
            <a:avLst/>
          </a:prstGeom>
          <a:solidFill>
            <a:srgbClr val="060C18"/>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9" name="Google Shape;919;p24"/>
          <p:cNvSpPr txBox="1"/>
          <p:nvPr/>
        </p:nvSpPr>
        <p:spPr>
          <a:xfrm>
            <a:off x="9930376" y="5852150"/>
            <a:ext cx="2060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ZERO manual commands</a:t>
            </a:r>
            <a:endParaRPr b="0" i="0" sz="1400" u="none" cap="none" strike="noStrike">
              <a:solidFill>
                <a:srgbClr val="000000"/>
              </a:solidFill>
              <a:latin typeface="Arial"/>
              <a:ea typeface="Arial"/>
              <a:cs typeface="Arial"/>
              <a:sym typeface="Arial"/>
            </a:endParaRPr>
          </a:p>
        </p:txBody>
      </p:sp>
      <p:sp>
        <p:nvSpPr>
          <p:cNvPr id="920" name="Google Shape;920;p24"/>
          <p:cNvSpPr/>
          <p:nvPr/>
        </p:nvSpPr>
        <p:spPr>
          <a:xfrm>
            <a:off x="164592" y="6236208"/>
            <a:ext cx="11862600" cy="493800"/>
          </a:xfrm>
          <a:prstGeom prst="rect">
            <a:avLst/>
          </a:prstGeom>
          <a:solidFill>
            <a:srgbClr val="0810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1" name="Google Shape;921;p24"/>
          <p:cNvSpPr txBox="1"/>
          <p:nvPr/>
        </p:nvSpPr>
        <p:spPr>
          <a:xfrm>
            <a:off x="201168"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14</a:t>
            </a:r>
            <a:endParaRPr b="0" i="0" sz="1400" u="none" cap="none" strike="noStrike">
              <a:solidFill>
                <a:srgbClr val="000000"/>
              </a:solidFill>
              <a:latin typeface="Arial"/>
              <a:ea typeface="Arial"/>
              <a:cs typeface="Arial"/>
              <a:sym typeface="Arial"/>
            </a:endParaRPr>
          </a:p>
        </p:txBody>
      </p:sp>
      <p:sp>
        <p:nvSpPr>
          <p:cNvPr id="922" name="Google Shape;922;p24"/>
          <p:cNvSpPr txBox="1"/>
          <p:nvPr/>
        </p:nvSpPr>
        <p:spPr>
          <a:xfrm>
            <a:off x="201168"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subdomains</a:t>
            </a:r>
            <a:endParaRPr b="0" i="0" sz="1400" u="none" cap="none" strike="noStrike">
              <a:solidFill>
                <a:srgbClr val="000000"/>
              </a:solidFill>
              <a:latin typeface="Arial"/>
              <a:ea typeface="Arial"/>
              <a:cs typeface="Arial"/>
              <a:sym typeface="Arial"/>
            </a:endParaRPr>
          </a:p>
        </p:txBody>
      </p:sp>
      <p:sp>
        <p:nvSpPr>
          <p:cNvPr id="923" name="Google Shape;923;p24"/>
          <p:cNvSpPr txBox="1"/>
          <p:nvPr/>
        </p:nvSpPr>
        <p:spPr>
          <a:xfrm>
            <a:off x="1864461"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924" name="Google Shape;924;p24"/>
          <p:cNvSpPr txBox="1"/>
          <p:nvPr/>
        </p:nvSpPr>
        <p:spPr>
          <a:xfrm>
            <a:off x="1864461"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live hosts</a:t>
            </a:r>
            <a:endParaRPr b="0" i="0" sz="1400" u="none" cap="none" strike="noStrike">
              <a:solidFill>
                <a:srgbClr val="000000"/>
              </a:solidFill>
              <a:latin typeface="Arial"/>
              <a:ea typeface="Arial"/>
              <a:cs typeface="Arial"/>
              <a:sym typeface="Arial"/>
            </a:endParaRPr>
          </a:p>
        </p:txBody>
      </p:sp>
      <p:sp>
        <p:nvSpPr>
          <p:cNvPr id="925" name="Google Shape;925;p24"/>
          <p:cNvSpPr txBox="1"/>
          <p:nvPr/>
        </p:nvSpPr>
        <p:spPr>
          <a:xfrm>
            <a:off x="3527755"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28</a:t>
            </a:r>
            <a:endParaRPr b="0" i="0" sz="1400" u="none" cap="none" strike="noStrike">
              <a:solidFill>
                <a:srgbClr val="000000"/>
              </a:solidFill>
              <a:latin typeface="Arial"/>
              <a:ea typeface="Arial"/>
              <a:cs typeface="Arial"/>
              <a:sym typeface="Arial"/>
            </a:endParaRPr>
          </a:p>
        </p:txBody>
      </p:sp>
      <p:sp>
        <p:nvSpPr>
          <p:cNvPr id="926" name="Google Shape;926;p24"/>
          <p:cNvSpPr txBox="1"/>
          <p:nvPr/>
        </p:nvSpPr>
        <p:spPr>
          <a:xfrm>
            <a:off x="3527755"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open ports</a:t>
            </a:r>
            <a:endParaRPr b="0" i="0" sz="1400" u="none" cap="none" strike="noStrike">
              <a:solidFill>
                <a:srgbClr val="000000"/>
              </a:solidFill>
              <a:latin typeface="Arial"/>
              <a:ea typeface="Arial"/>
              <a:cs typeface="Arial"/>
              <a:sym typeface="Arial"/>
            </a:endParaRPr>
          </a:p>
        </p:txBody>
      </p:sp>
      <p:sp>
        <p:nvSpPr>
          <p:cNvPr id="927" name="Google Shape;927;p24"/>
          <p:cNvSpPr txBox="1"/>
          <p:nvPr/>
        </p:nvSpPr>
        <p:spPr>
          <a:xfrm>
            <a:off x="5191048"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19</a:t>
            </a:r>
            <a:endParaRPr b="0" i="0" sz="1400" u="none" cap="none" strike="noStrike">
              <a:solidFill>
                <a:srgbClr val="000000"/>
              </a:solidFill>
              <a:latin typeface="Arial"/>
              <a:ea typeface="Arial"/>
              <a:cs typeface="Arial"/>
              <a:sym typeface="Arial"/>
            </a:endParaRPr>
          </a:p>
        </p:txBody>
      </p:sp>
      <p:sp>
        <p:nvSpPr>
          <p:cNvPr id="928" name="Google Shape;928;p24"/>
          <p:cNvSpPr txBox="1"/>
          <p:nvPr/>
        </p:nvSpPr>
        <p:spPr>
          <a:xfrm>
            <a:off x="5191048"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endpoints</a:t>
            </a:r>
            <a:endParaRPr b="0" i="0" sz="1400" u="none" cap="none" strike="noStrike">
              <a:solidFill>
                <a:srgbClr val="000000"/>
              </a:solidFill>
              <a:latin typeface="Arial"/>
              <a:ea typeface="Arial"/>
              <a:cs typeface="Arial"/>
              <a:sym typeface="Arial"/>
            </a:endParaRPr>
          </a:p>
        </p:txBody>
      </p:sp>
      <p:sp>
        <p:nvSpPr>
          <p:cNvPr id="929" name="Google Shape;929;p24"/>
          <p:cNvSpPr txBox="1"/>
          <p:nvPr/>
        </p:nvSpPr>
        <p:spPr>
          <a:xfrm>
            <a:off x="6854342"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D700"/>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930" name="Google Shape;930;p24"/>
          <p:cNvSpPr txBox="1"/>
          <p:nvPr/>
        </p:nvSpPr>
        <p:spPr>
          <a:xfrm>
            <a:off x="6854342"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vulnerabilities</a:t>
            </a:r>
            <a:endParaRPr b="0" i="0" sz="1400" u="none" cap="none" strike="noStrike">
              <a:solidFill>
                <a:srgbClr val="000000"/>
              </a:solidFill>
              <a:latin typeface="Arial"/>
              <a:ea typeface="Arial"/>
              <a:cs typeface="Arial"/>
              <a:sym typeface="Arial"/>
            </a:endParaRPr>
          </a:p>
        </p:txBody>
      </p:sp>
      <p:sp>
        <p:nvSpPr>
          <p:cNvPr id="931" name="Google Shape;931;p24"/>
          <p:cNvSpPr txBox="1"/>
          <p:nvPr/>
        </p:nvSpPr>
        <p:spPr>
          <a:xfrm>
            <a:off x="8517635"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4545"/>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932" name="Google Shape;932;p24"/>
          <p:cNvSpPr txBox="1"/>
          <p:nvPr/>
        </p:nvSpPr>
        <p:spPr>
          <a:xfrm>
            <a:off x="8517635"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933" name="Google Shape;933;p24"/>
          <p:cNvSpPr txBox="1"/>
          <p:nvPr/>
        </p:nvSpPr>
        <p:spPr>
          <a:xfrm>
            <a:off x="10180929"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BD93F9"/>
                </a:solidFill>
                <a:latin typeface="Calibri"/>
                <a:ea typeface="Calibri"/>
                <a:cs typeface="Calibri"/>
                <a:sym typeface="Calibri"/>
              </a:rPr>
              <a:t>0</a:t>
            </a:r>
            <a:endParaRPr b="0" i="0" sz="1400" u="none" cap="none" strike="noStrike">
              <a:solidFill>
                <a:srgbClr val="000000"/>
              </a:solidFill>
              <a:latin typeface="Arial"/>
              <a:ea typeface="Arial"/>
              <a:cs typeface="Arial"/>
              <a:sym typeface="Arial"/>
            </a:endParaRPr>
          </a:p>
        </p:txBody>
      </p:sp>
      <p:sp>
        <p:nvSpPr>
          <p:cNvPr id="934" name="Google Shape;934;p24"/>
          <p:cNvSpPr txBox="1"/>
          <p:nvPr/>
        </p:nvSpPr>
        <p:spPr>
          <a:xfrm>
            <a:off x="10180929"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manual commands</a:t>
            </a:r>
            <a:endParaRPr b="0" i="0" sz="1400" u="none" cap="none" strike="noStrike">
              <a:solidFill>
                <a:srgbClr val="000000"/>
              </a:solidFill>
              <a:latin typeface="Arial"/>
              <a:ea typeface="Arial"/>
              <a:cs typeface="Arial"/>
              <a:sym typeface="Arial"/>
            </a:endParaRPr>
          </a:p>
        </p:txBody>
      </p:sp>
      <p:sp>
        <p:nvSpPr>
          <p:cNvPr id="935" name="Google Shape;935;p24"/>
          <p:cNvSpPr txBox="1"/>
          <p:nvPr/>
        </p:nvSpPr>
        <p:spPr>
          <a:xfrm>
            <a:off x="11704321" y="54850"/>
            <a:ext cx="4023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08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940" name="Shape 940"/>
        <p:cNvGrpSpPr/>
        <p:nvPr/>
      </p:nvGrpSpPr>
      <p:grpSpPr>
        <a:xfrm>
          <a:off x="0" y="0"/>
          <a:ext cx="0" cy="0"/>
          <a:chOff x="0" y="0"/>
          <a:chExt cx="0" cy="0"/>
        </a:xfrm>
      </p:grpSpPr>
      <p:sp>
        <p:nvSpPr>
          <p:cNvPr id="941" name="Google Shape;941;p25"/>
          <p:cNvSpPr/>
          <p:nvPr/>
        </p:nvSpPr>
        <p:spPr>
          <a:xfrm>
            <a:off x="0" y="0"/>
            <a:ext cx="54864" cy="68580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5"/>
          <p:cNvSpPr/>
          <p:nvPr/>
        </p:nvSpPr>
        <p:spPr>
          <a:xfrm>
            <a:off x="54864" y="0"/>
            <a:ext cx="12134088" cy="36576"/>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5"/>
          <p:cNvSpPr/>
          <p:nvPr/>
        </p:nvSpPr>
        <p:spPr>
          <a:xfrm>
            <a:off x="54864" y="6821424"/>
            <a:ext cx="12134088" cy="36576"/>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5"/>
          <p:cNvSpPr/>
          <p:nvPr/>
        </p:nvSpPr>
        <p:spPr>
          <a:xfrm>
            <a:off x="274320" y="64008"/>
            <a:ext cx="73152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000"/>
              <a:buFont typeface="Calibri"/>
              <a:buNone/>
            </a:pPr>
            <a:r>
              <a:rPr b="1" i="0" lang="en-US" sz="1000" u="none" cap="none" strike="noStrike">
                <a:solidFill>
                  <a:srgbClr val="FFD700"/>
                </a:solidFill>
                <a:latin typeface="Calibri"/>
                <a:ea typeface="Calibri"/>
                <a:cs typeface="Calibri"/>
                <a:sym typeface="Calibri"/>
              </a:rPr>
              <a:t>REAL-WORLD MISSION  ·  shopvault.io</a:t>
            </a:r>
            <a:endParaRPr b="0" i="0" sz="1000" u="none" cap="none" strike="noStrike">
              <a:solidFill>
                <a:schemeClr val="dk1"/>
              </a:solidFill>
              <a:latin typeface="Calibri"/>
              <a:ea typeface="Calibri"/>
              <a:cs typeface="Calibri"/>
              <a:sym typeface="Calibri"/>
            </a:endParaRPr>
          </a:p>
        </p:txBody>
      </p:sp>
      <p:sp>
        <p:nvSpPr>
          <p:cNvPr id="945" name="Google Shape;945;p25"/>
          <p:cNvSpPr/>
          <p:nvPr/>
        </p:nvSpPr>
        <p:spPr>
          <a:xfrm>
            <a:off x="274320" y="283464"/>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2400"/>
              <a:buFont typeface="Arial"/>
              <a:buNone/>
            </a:pPr>
            <a:r>
              <a:rPr b="1" i="0" lang="en-US" sz="2400" u="none" cap="none" strike="noStrike">
                <a:solidFill>
                  <a:srgbClr val="E8ECF4"/>
                </a:solidFill>
                <a:latin typeface="Arial"/>
                <a:ea typeface="Arial"/>
                <a:cs typeface="Arial"/>
                <a:sym typeface="Arial"/>
              </a:rPr>
              <a:t>Chain-01 Full Traceability — From CVE to Evidence</a:t>
            </a:r>
            <a:endParaRPr b="0" i="0" sz="2400" u="none" cap="none" strike="noStrike">
              <a:solidFill>
                <a:schemeClr val="dk1"/>
              </a:solidFill>
              <a:latin typeface="Calibri"/>
              <a:ea typeface="Calibri"/>
              <a:cs typeface="Calibri"/>
              <a:sym typeface="Calibri"/>
            </a:endParaRPr>
          </a:p>
        </p:txBody>
      </p:sp>
      <p:sp>
        <p:nvSpPr>
          <p:cNvPr id="946" name="Google Shape;946;p25"/>
          <p:cNvSpPr/>
          <p:nvPr/>
        </p:nvSpPr>
        <p:spPr>
          <a:xfrm>
            <a:off x="274320" y="749808"/>
            <a:ext cx="11338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AAB8"/>
              </a:buClr>
              <a:buSzPts val="1100"/>
              <a:buFont typeface="Calibri"/>
              <a:buNone/>
            </a:pPr>
            <a:r>
              <a:rPr b="0" i="1" lang="en-US" sz="1100" u="none" cap="none" strike="noStrike">
                <a:solidFill>
                  <a:srgbClr val="A0AAB8"/>
                </a:solidFill>
                <a:latin typeface="Calibri"/>
                <a:ea typeface="Calibri"/>
                <a:cs typeface="Calibri"/>
                <a:sym typeface="Calibri"/>
              </a:rPr>
              <a:t>Every claim in the final report follows this exact path through the dual graph — nothing is ever asserted without evidence.</a:t>
            </a:r>
            <a:endParaRPr b="0" i="0" sz="1100" u="none" cap="none" strike="noStrike">
              <a:solidFill>
                <a:schemeClr val="dk1"/>
              </a:solidFill>
              <a:latin typeface="Calibri"/>
              <a:ea typeface="Calibri"/>
              <a:cs typeface="Calibri"/>
              <a:sym typeface="Calibri"/>
            </a:endParaRPr>
          </a:p>
        </p:txBody>
      </p:sp>
      <p:sp>
        <p:nvSpPr>
          <p:cNvPr id="947" name="Google Shape;947;p25"/>
          <p:cNvSpPr/>
          <p:nvPr/>
        </p:nvSpPr>
        <p:spPr>
          <a:xfrm>
            <a:off x="274320" y="1417320"/>
            <a:ext cx="1764792" cy="1691640"/>
          </a:xfrm>
          <a:prstGeom prst="roundRect">
            <a:avLst>
              <a:gd fmla="val 3784" name="adj"/>
            </a:avLst>
          </a:prstGeom>
          <a:solidFill>
            <a:srgbClr val="220808"/>
          </a:solidFill>
          <a:ln cap="flat" cmpd="sng" w="15875">
            <a:solidFill>
              <a:srgbClr val="FF4545"/>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5"/>
          <p:cNvSpPr/>
          <p:nvPr/>
        </p:nvSpPr>
        <p:spPr>
          <a:xfrm>
            <a:off x="384048" y="1499616"/>
            <a:ext cx="154533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800"/>
              <a:buFont typeface="Calibri"/>
              <a:buNone/>
            </a:pPr>
            <a:r>
              <a:rPr b="1" i="0" lang="en-US" sz="800" u="none" cap="none" strike="noStrike">
                <a:solidFill>
                  <a:srgbClr val="FF4545"/>
                </a:solidFill>
                <a:latin typeface="Calibri"/>
                <a:ea typeface="Calibri"/>
                <a:cs typeface="Calibri"/>
                <a:sym typeface="Calibri"/>
              </a:rPr>
              <a:t>🚨 ASG · VULNERABILITY</a:t>
            </a:r>
            <a:endParaRPr b="0" i="0" sz="800" u="none" cap="none" strike="noStrike">
              <a:solidFill>
                <a:schemeClr val="dk1"/>
              </a:solidFill>
              <a:latin typeface="Calibri"/>
              <a:ea typeface="Calibri"/>
              <a:cs typeface="Calibri"/>
              <a:sym typeface="Calibri"/>
            </a:endParaRPr>
          </a:p>
        </p:txBody>
      </p:sp>
      <p:sp>
        <p:nvSpPr>
          <p:cNvPr id="949" name="Google Shape;949;p25"/>
          <p:cNvSpPr/>
          <p:nvPr/>
        </p:nvSpPr>
        <p:spPr>
          <a:xfrm>
            <a:off x="384048" y="1719072"/>
            <a:ext cx="1545336" cy="97840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CF4"/>
              </a:buClr>
              <a:buSzPts val="1000"/>
              <a:buFont typeface="Calibri"/>
              <a:buNone/>
            </a:pPr>
            <a:r>
              <a:rPr b="1" i="0" lang="en-US" sz="1000" u="none" cap="none" strike="noStrike">
                <a:solidFill>
                  <a:srgbClr val="E8ECF4"/>
                </a:solidFill>
                <a:latin typeface="Calibri"/>
                <a:ea typeface="Calibri"/>
                <a:cs typeface="Calibri"/>
                <a:sym typeface="Calibri"/>
              </a:rPr>
              <a:t>CVE-2022-21661</a:t>
            </a:r>
            <a:endParaRPr b="0" i="0" sz="1000" u="none" cap="none" strike="noStrike">
              <a:solidFill>
                <a:schemeClr val="dk1"/>
              </a:solidFill>
              <a:latin typeface="Calibri"/>
              <a:ea typeface="Calibri"/>
              <a:cs typeface="Calibri"/>
              <a:sym typeface="Calibri"/>
            </a:endParaRPr>
          </a:p>
        </p:txBody>
      </p:sp>
      <p:sp>
        <p:nvSpPr>
          <p:cNvPr id="950" name="Google Shape;950;p25"/>
          <p:cNvSpPr/>
          <p:nvPr/>
        </p:nvSpPr>
        <p:spPr>
          <a:xfrm>
            <a:off x="384048" y="2724912"/>
            <a:ext cx="1545336"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CVSS 8.8  ·  PoC: Exploit-DB ✓</a:t>
            </a:r>
            <a:endParaRPr b="0" i="0" sz="800" u="none" cap="none" strike="noStrike">
              <a:solidFill>
                <a:schemeClr val="dk1"/>
              </a:solidFill>
              <a:latin typeface="Calibri"/>
              <a:ea typeface="Calibri"/>
              <a:cs typeface="Calibri"/>
              <a:sym typeface="Calibri"/>
            </a:endParaRPr>
          </a:p>
        </p:txBody>
      </p:sp>
      <p:sp>
        <p:nvSpPr>
          <p:cNvPr id="951" name="Google Shape;951;p25"/>
          <p:cNvSpPr/>
          <p:nvPr/>
        </p:nvSpPr>
        <p:spPr>
          <a:xfrm>
            <a:off x="2189988" y="1417320"/>
            <a:ext cx="1764792" cy="1691640"/>
          </a:xfrm>
          <a:prstGeom prst="roundRect">
            <a:avLst>
              <a:gd fmla="val 3784" name="adj"/>
            </a:avLst>
          </a:prstGeom>
          <a:solidFill>
            <a:srgbClr val="1E1804"/>
          </a:solidFill>
          <a:ln cap="flat" cmpd="sng" w="15875">
            <a:solidFill>
              <a:srgbClr val="FFD700"/>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5"/>
          <p:cNvSpPr/>
          <p:nvPr/>
        </p:nvSpPr>
        <p:spPr>
          <a:xfrm>
            <a:off x="2299716" y="1499616"/>
            <a:ext cx="154533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800"/>
              <a:buFont typeface="Calibri"/>
              <a:buNone/>
            </a:pPr>
            <a:r>
              <a:rPr b="1" i="0" lang="en-US" sz="800" u="none" cap="none" strike="noStrike">
                <a:solidFill>
                  <a:srgbClr val="FFD700"/>
                </a:solidFill>
                <a:latin typeface="Calibri"/>
                <a:ea typeface="Calibri"/>
                <a:cs typeface="Calibri"/>
                <a:sym typeface="Calibri"/>
              </a:rPr>
              <a:t>🟡 APG · ATTACKCHAIN</a:t>
            </a:r>
            <a:endParaRPr b="0" i="0" sz="800" u="none" cap="none" strike="noStrike">
              <a:solidFill>
                <a:schemeClr val="dk1"/>
              </a:solidFill>
              <a:latin typeface="Calibri"/>
              <a:ea typeface="Calibri"/>
              <a:cs typeface="Calibri"/>
              <a:sym typeface="Calibri"/>
            </a:endParaRPr>
          </a:p>
        </p:txBody>
      </p:sp>
      <p:sp>
        <p:nvSpPr>
          <p:cNvPr id="953" name="Google Shape;953;p25"/>
          <p:cNvSpPr/>
          <p:nvPr/>
        </p:nvSpPr>
        <p:spPr>
          <a:xfrm>
            <a:off x="2299716" y="1719072"/>
            <a:ext cx="1545336" cy="97840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CF4"/>
              </a:buClr>
              <a:buSzPts val="1000"/>
              <a:buFont typeface="Calibri"/>
              <a:buNone/>
            </a:pPr>
            <a:r>
              <a:rPr b="1" i="0" lang="en-US" sz="1000" u="none" cap="none" strike="noStrike">
                <a:solidFill>
                  <a:srgbClr val="E8ECF4"/>
                </a:solidFill>
                <a:latin typeface="Calibri"/>
                <a:ea typeface="Calibri"/>
                <a:cs typeface="Calibri"/>
                <a:sym typeface="Calibri"/>
              </a:rPr>
              <a:t>Chain-01</a:t>
            </a:r>
            <a:endParaRPr b="0" i="0" sz="1000" u="none" cap="none" strike="noStrike">
              <a:solidFill>
                <a:schemeClr val="dk1"/>
              </a:solidFill>
              <a:latin typeface="Calibri"/>
              <a:ea typeface="Calibri"/>
              <a:cs typeface="Calibri"/>
              <a:sym typeface="Calibri"/>
            </a:endParaRPr>
          </a:p>
        </p:txBody>
      </p:sp>
      <p:sp>
        <p:nvSpPr>
          <p:cNvPr id="954" name="Google Shape;954;p25"/>
          <p:cNvSpPr/>
          <p:nvPr/>
        </p:nvSpPr>
        <p:spPr>
          <a:xfrm>
            <a:off x="2299716" y="2724912"/>
            <a:ext cx="1545336"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risk_score: 9.1</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status: VALIDATED</a:t>
            </a:r>
            <a:endParaRPr b="0" i="0" sz="800" u="none" cap="none" strike="noStrike">
              <a:solidFill>
                <a:schemeClr val="dk1"/>
              </a:solidFill>
              <a:latin typeface="Calibri"/>
              <a:ea typeface="Calibri"/>
              <a:cs typeface="Calibri"/>
              <a:sym typeface="Calibri"/>
            </a:endParaRPr>
          </a:p>
        </p:txBody>
      </p:sp>
      <p:sp>
        <p:nvSpPr>
          <p:cNvPr id="955" name="Google Shape;955;p25"/>
          <p:cNvSpPr/>
          <p:nvPr/>
        </p:nvSpPr>
        <p:spPr>
          <a:xfrm>
            <a:off x="4105656" y="1417320"/>
            <a:ext cx="1764792" cy="1691640"/>
          </a:xfrm>
          <a:prstGeom prst="roundRect">
            <a:avLst>
              <a:gd fmla="val 3784" name="adj"/>
            </a:avLst>
          </a:prstGeom>
          <a:solidFill>
            <a:srgbClr val="0E1A06"/>
          </a:solidFill>
          <a:ln cap="flat" cmpd="sng" w="15875">
            <a:solidFill>
              <a:srgbClr val="39FF14"/>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5"/>
          <p:cNvSpPr/>
          <p:nvPr/>
        </p:nvSpPr>
        <p:spPr>
          <a:xfrm>
            <a:off x="4215384" y="1499616"/>
            <a:ext cx="154533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800"/>
              <a:buFont typeface="Calibri"/>
              <a:buNone/>
            </a:pPr>
            <a:r>
              <a:rPr b="1" i="0" lang="en-US" sz="800" u="none" cap="none" strike="noStrike">
                <a:solidFill>
                  <a:srgbClr val="39FF14"/>
                </a:solidFill>
                <a:latin typeface="Calibri"/>
                <a:ea typeface="Calibri"/>
                <a:cs typeface="Calibri"/>
                <a:sym typeface="Calibri"/>
              </a:rPr>
              <a:t>CHAINSTEP 1</a:t>
            </a:r>
            <a:endParaRPr b="0" i="0" sz="800" u="none" cap="none" strike="noStrike">
              <a:solidFill>
                <a:schemeClr val="dk1"/>
              </a:solidFill>
              <a:latin typeface="Calibri"/>
              <a:ea typeface="Calibri"/>
              <a:cs typeface="Calibri"/>
              <a:sym typeface="Calibri"/>
            </a:endParaRPr>
          </a:p>
        </p:txBody>
      </p:sp>
      <p:sp>
        <p:nvSpPr>
          <p:cNvPr id="957" name="Google Shape;957;p25"/>
          <p:cNvSpPr/>
          <p:nvPr/>
        </p:nvSpPr>
        <p:spPr>
          <a:xfrm>
            <a:off x="4215384" y="1719072"/>
            <a:ext cx="1545336" cy="97840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CF4"/>
              </a:buClr>
              <a:buSzPts val="1000"/>
              <a:buFont typeface="Calibri"/>
              <a:buNone/>
            </a:pPr>
            <a:r>
              <a:rPr b="1" i="0" lang="en-US" sz="1000" u="none" cap="none" strike="noStrike">
                <a:solidFill>
                  <a:srgbClr val="E8ECF4"/>
                </a:solidFill>
                <a:latin typeface="Calibri"/>
                <a:ea typeface="Calibri"/>
                <a:cs typeface="Calibri"/>
                <a:sym typeface="Calibri"/>
              </a:rPr>
              <a:t>SQLMap → WP_Query SQLi</a:t>
            </a:r>
            <a:endParaRPr b="0" i="0" sz="1000" u="none" cap="none" strike="noStrike">
              <a:solidFill>
                <a:schemeClr val="dk1"/>
              </a:solidFill>
              <a:latin typeface="Calibri"/>
              <a:ea typeface="Calibri"/>
              <a:cs typeface="Calibri"/>
              <a:sym typeface="Calibri"/>
            </a:endParaRPr>
          </a:p>
        </p:txBody>
      </p:sp>
      <p:sp>
        <p:nvSpPr>
          <p:cNvPr id="958" name="Google Shape;958;p25"/>
          <p:cNvSpPr/>
          <p:nvPr/>
        </p:nvSpPr>
        <p:spPr>
          <a:xfrm>
            <a:off x="4215384" y="2724912"/>
            <a:ext cx="1545336"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status: VALIDATED</a:t>
            </a:r>
            <a:endParaRPr b="0" i="0" sz="800" u="none" cap="none" strike="noStrike">
              <a:solidFill>
                <a:schemeClr val="dk1"/>
              </a:solidFill>
              <a:latin typeface="Calibri"/>
              <a:ea typeface="Calibri"/>
              <a:cs typeface="Calibri"/>
              <a:sym typeface="Calibri"/>
            </a:endParaRPr>
          </a:p>
        </p:txBody>
      </p:sp>
      <p:sp>
        <p:nvSpPr>
          <p:cNvPr id="959" name="Google Shape;959;p25"/>
          <p:cNvSpPr/>
          <p:nvPr/>
        </p:nvSpPr>
        <p:spPr>
          <a:xfrm>
            <a:off x="6021324" y="1417320"/>
            <a:ext cx="1764792" cy="1691640"/>
          </a:xfrm>
          <a:prstGeom prst="roundRect">
            <a:avLst>
              <a:gd fmla="val 3784" name="adj"/>
            </a:avLst>
          </a:prstGeom>
          <a:solidFill>
            <a:srgbClr val="0E1A06"/>
          </a:solidFill>
          <a:ln cap="flat" cmpd="sng" w="15875">
            <a:solidFill>
              <a:srgbClr val="39FF14"/>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5"/>
          <p:cNvSpPr/>
          <p:nvPr/>
        </p:nvSpPr>
        <p:spPr>
          <a:xfrm>
            <a:off x="6131052" y="1499616"/>
            <a:ext cx="154533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800"/>
              <a:buFont typeface="Calibri"/>
              <a:buNone/>
            </a:pPr>
            <a:r>
              <a:rPr b="1" i="0" lang="en-US" sz="800" u="none" cap="none" strike="noStrike">
                <a:solidFill>
                  <a:srgbClr val="39FF14"/>
                </a:solidFill>
                <a:latin typeface="Calibri"/>
                <a:ea typeface="Calibri"/>
                <a:cs typeface="Calibri"/>
                <a:sym typeface="Calibri"/>
              </a:rPr>
              <a:t>CHAINSTEP 2</a:t>
            </a:r>
            <a:endParaRPr b="0" i="0" sz="800" u="none" cap="none" strike="noStrike">
              <a:solidFill>
                <a:schemeClr val="dk1"/>
              </a:solidFill>
              <a:latin typeface="Calibri"/>
              <a:ea typeface="Calibri"/>
              <a:cs typeface="Calibri"/>
              <a:sym typeface="Calibri"/>
            </a:endParaRPr>
          </a:p>
        </p:txBody>
      </p:sp>
      <p:sp>
        <p:nvSpPr>
          <p:cNvPr id="961" name="Google Shape;961;p25"/>
          <p:cNvSpPr/>
          <p:nvPr/>
        </p:nvSpPr>
        <p:spPr>
          <a:xfrm>
            <a:off x="6131052" y="1719072"/>
            <a:ext cx="1545336" cy="97840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CF4"/>
              </a:buClr>
              <a:buSzPts val="1000"/>
              <a:buFont typeface="Calibri"/>
              <a:buNone/>
            </a:pPr>
            <a:r>
              <a:rPr b="1" i="0" lang="en-US" sz="1000" u="none" cap="none" strike="noStrike">
                <a:solidFill>
                  <a:srgbClr val="E8ECF4"/>
                </a:solidFill>
                <a:latin typeface="Calibri"/>
                <a:ea typeface="Calibri"/>
                <a:cs typeface="Calibri"/>
                <a:sym typeface="Calibri"/>
              </a:rPr>
              <a:t>SQLMap dump → hash cracked</a:t>
            </a:r>
            <a:endParaRPr b="0" i="0" sz="1000" u="none" cap="none" strike="noStrike">
              <a:solidFill>
                <a:schemeClr val="dk1"/>
              </a:solidFill>
              <a:latin typeface="Calibri"/>
              <a:ea typeface="Calibri"/>
              <a:cs typeface="Calibri"/>
              <a:sym typeface="Calibri"/>
            </a:endParaRPr>
          </a:p>
        </p:txBody>
      </p:sp>
      <p:sp>
        <p:nvSpPr>
          <p:cNvPr id="962" name="Google Shape;962;p25"/>
          <p:cNvSpPr/>
          <p:nvPr/>
        </p:nvSpPr>
        <p:spPr>
          <a:xfrm>
            <a:off x="6131052" y="2724912"/>
            <a:ext cx="1545336"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status: VALIDATED</a:t>
            </a:r>
            <a:endParaRPr b="0" i="0" sz="800" u="none" cap="none" strike="noStrike">
              <a:solidFill>
                <a:schemeClr val="dk1"/>
              </a:solidFill>
              <a:latin typeface="Calibri"/>
              <a:ea typeface="Calibri"/>
              <a:cs typeface="Calibri"/>
              <a:sym typeface="Calibri"/>
            </a:endParaRPr>
          </a:p>
        </p:txBody>
      </p:sp>
      <p:sp>
        <p:nvSpPr>
          <p:cNvPr id="963" name="Google Shape;963;p25"/>
          <p:cNvSpPr/>
          <p:nvPr/>
        </p:nvSpPr>
        <p:spPr>
          <a:xfrm>
            <a:off x="7936992" y="1417320"/>
            <a:ext cx="1764792" cy="1691640"/>
          </a:xfrm>
          <a:prstGeom prst="roundRect">
            <a:avLst>
              <a:gd fmla="val 3784" name="adj"/>
            </a:avLst>
          </a:prstGeom>
          <a:solidFill>
            <a:srgbClr val="0E1A06"/>
          </a:solidFill>
          <a:ln cap="flat" cmpd="sng" w="15875">
            <a:solidFill>
              <a:srgbClr val="39FF14"/>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5"/>
          <p:cNvSpPr/>
          <p:nvPr/>
        </p:nvSpPr>
        <p:spPr>
          <a:xfrm>
            <a:off x="8046720" y="1499616"/>
            <a:ext cx="154533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800"/>
              <a:buFont typeface="Calibri"/>
              <a:buNone/>
            </a:pPr>
            <a:r>
              <a:rPr b="1" i="0" lang="en-US" sz="800" u="none" cap="none" strike="noStrike">
                <a:solidFill>
                  <a:srgbClr val="39FF14"/>
                </a:solidFill>
                <a:latin typeface="Calibri"/>
                <a:ea typeface="Calibri"/>
                <a:cs typeface="Calibri"/>
                <a:sym typeface="Calibri"/>
              </a:rPr>
              <a:t>CHAINSTEP 3</a:t>
            </a:r>
            <a:endParaRPr b="0" i="0" sz="800" u="none" cap="none" strike="noStrike">
              <a:solidFill>
                <a:schemeClr val="dk1"/>
              </a:solidFill>
              <a:latin typeface="Calibri"/>
              <a:ea typeface="Calibri"/>
              <a:cs typeface="Calibri"/>
              <a:sym typeface="Calibri"/>
            </a:endParaRPr>
          </a:p>
        </p:txBody>
      </p:sp>
      <p:sp>
        <p:nvSpPr>
          <p:cNvPr id="965" name="Google Shape;965;p25"/>
          <p:cNvSpPr/>
          <p:nvPr/>
        </p:nvSpPr>
        <p:spPr>
          <a:xfrm>
            <a:off x="8046720" y="1719072"/>
            <a:ext cx="1545336" cy="97840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CF4"/>
              </a:buClr>
              <a:buSzPts val="1000"/>
              <a:buFont typeface="Calibri"/>
              <a:buNone/>
            </a:pPr>
            <a:r>
              <a:rPr b="1" i="0" lang="en-US" sz="1000" u="none" cap="none" strike="noStrike">
                <a:solidFill>
                  <a:srgbClr val="E8ECF4"/>
                </a:solidFill>
                <a:latin typeface="Calibri"/>
                <a:ea typeface="Calibri"/>
                <a:cs typeface="Calibri"/>
                <a:sym typeface="Calibri"/>
              </a:rPr>
              <a:t>Metasploit → Web shell</a:t>
            </a:r>
            <a:endParaRPr b="0" i="0" sz="1000" u="none" cap="none" strike="noStrike">
              <a:solidFill>
                <a:schemeClr val="dk1"/>
              </a:solidFill>
              <a:latin typeface="Calibri"/>
              <a:ea typeface="Calibri"/>
              <a:cs typeface="Calibri"/>
              <a:sym typeface="Calibri"/>
            </a:endParaRPr>
          </a:p>
        </p:txBody>
      </p:sp>
      <p:sp>
        <p:nvSpPr>
          <p:cNvPr id="966" name="Google Shape;966;p25"/>
          <p:cNvSpPr/>
          <p:nvPr/>
        </p:nvSpPr>
        <p:spPr>
          <a:xfrm>
            <a:off x="8046720" y="2724912"/>
            <a:ext cx="1545336"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status: VALIDATED</a:t>
            </a:r>
            <a:endParaRPr b="0" i="0" sz="800" u="none" cap="none" strike="noStrike">
              <a:solidFill>
                <a:schemeClr val="dk1"/>
              </a:solidFill>
              <a:latin typeface="Calibri"/>
              <a:ea typeface="Calibri"/>
              <a:cs typeface="Calibri"/>
              <a:sym typeface="Calibri"/>
            </a:endParaRPr>
          </a:p>
        </p:txBody>
      </p:sp>
      <p:sp>
        <p:nvSpPr>
          <p:cNvPr id="967" name="Google Shape;967;p25"/>
          <p:cNvSpPr/>
          <p:nvPr/>
        </p:nvSpPr>
        <p:spPr>
          <a:xfrm>
            <a:off x="9852660" y="1417320"/>
            <a:ext cx="1764792" cy="1691640"/>
          </a:xfrm>
          <a:prstGeom prst="roundRect">
            <a:avLst>
              <a:gd fmla="val 3784" name="adj"/>
            </a:avLst>
          </a:prstGeom>
          <a:solidFill>
            <a:srgbClr val="150C28"/>
          </a:solidFill>
          <a:ln cap="flat" cmpd="sng" w="15875">
            <a:solidFill>
              <a:srgbClr val="BD93F9"/>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5"/>
          <p:cNvSpPr/>
          <p:nvPr/>
        </p:nvSpPr>
        <p:spPr>
          <a:xfrm>
            <a:off x="9962388" y="1499616"/>
            <a:ext cx="154533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93F9"/>
              </a:buClr>
              <a:buSzPts val="800"/>
              <a:buFont typeface="Calibri"/>
              <a:buNone/>
            </a:pPr>
            <a:r>
              <a:rPr b="1" i="0" lang="en-US" sz="800" u="none" cap="none" strike="noStrike">
                <a:solidFill>
                  <a:srgbClr val="BD93F9"/>
                </a:solidFill>
                <a:latin typeface="Calibri"/>
                <a:ea typeface="Calibri"/>
                <a:cs typeface="Calibri"/>
                <a:sym typeface="Calibri"/>
              </a:rPr>
              <a:t>🟣 IMPACT</a:t>
            </a:r>
            <a:endParaRPr b="0" i="0" sz="800" u="none" cap="none" strike="noStrike">
              <a:solidFill>
                <a:schemeClr val="dk1"/>
              </a:solidFill>
              <a:latin typeface="Calibri"/>
              <a:ea typeface="Calibri"/>
              <a:cs typeface="Calibri"/>
              <a:sym typeface="Calibri"/>
            </a:endParaRPr>
          </a:p>
        </p:txBody>
      </p:sp>
      <p:sp>
        <p:nvSpPr>
          <p:cNvPr id="969" name="Google Shape;969;p25"/>
          <p:cNvSpPr/>
          <p:nvPr/>
        </p:nvSpPr>
        <p:spPr>
          <a:xfrm>
            <a:off x="9962388" y="1719072"/>
            <a:ext cx="1545336" cy="97840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CF4"/>
              </a:buClr>
              <a:buSzPts val="1000"/>
              <a:buFont typeface="Calibri"/>
              <a:buNone/>
            </a:pPr>
            <a:r>
              <a:rPr b="1" i="0" lang="en-US" sz="1000" u="none" cap="none" strike="noStrike">
                <a:solidFill>
                  <a:srgbClr val="E8ECF4"/>
                </a:solidFill>
                <a:latin typeface="Calibri"/>
                <a:ea typeface="Calibri"/>
                <a:cs typeface="Calibri"/>
                <a:sym typeface="Calibri"/>
              </a:rPr>
              <a:t>RCE on shopvault.io</a:t>
            </a:r>
            <a:endParaRPr b="0" i="0" sz="1000" u="none" cap="none" strike="noStrike">
              <a:solidFill>
                <a:schemeClr val="dk1"/>
              </a:solidFill>
              <a:latin typeface="Calibri"/>
              <a:ea typeface="Calibri"/>
              <a:cs typeface="Calibri"/>
              <a:sym typeface="Calibri"/>
            </a:endParaRPr>
          </a:p>
        </p:txBody>
      </p:sp>
      <p:sp>
        <p:nvSpPr>
          <p:cNvPr id="970" name="Google Shape;970;p25"/>
          <p:cNvSpPr/>
          <p:nvPr/>
        </p:nvSpPr>
        <p:spPr>
          <a:xfrm>
            <a:off x="9962388" y="2724912"/>
            <a:ext cx="1545336"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Customer PII accessible</a:t>
            </a:r>
            <a:endParaRPr b="0" i="0" sz="800" u="none" cap="none" strike="noStrike">
              <a:solidFill>
                <a:schemeClr val="dk1"/>
              </a:solidFill>
              <a:latin typeface="Calibri"/>
              <a:ea typeface="Calibri"/>
              <a:cs typeface="Calibri"/>
              <a:sym typeface="Calibri"/>
            </a:endParaRPr>
          </a:p>
        </p:txBody>
      </p:sp>
      <p:sp>
        <p:nvSpPr>
          <p:cNvPr id="971" name="Google Shape;971;p25"/>
          <p:cNvSpPr/>
          <p:nvPr/>
        </p:nvSpPr>
        <p:spPr>
          <a:xfrm>
            <a:off x="2048256" y="2199132"/>
            <a:ext cx="132588" cy="128016"/>
          </a:xfrm>
          <a:prstGeom prst="rightArrow">
            <a:avLst>
              <a:gd fmla="val 50000" name="adj1"/>
              <a:gd fmla="val 50000" name="adj2"/>
            </a:avLst>
          </a:prstGeom>
          <a:solidFill>
            <a:srgbClr val="5A63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5"/>
          <p:cNvSpPr/>
          <p:nvPr/>
        </p:nvSpPr>
        <p:spPr>
          <a:xfrm>
            <a:off x="1536192" y="1952244"/>
            <a:ext cx="11430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650"/>
              <a:buFont typeface="Calibri"/>
              <a:buNone/>
            </a:pPr>
            <a:r>
              <a:rPr b="0" i="1" lang="en-US" sz="650" u="none" cap="none" strike="noStrike">
                <a:solidFill>
                  <a:srgbClr val="7E8AA0"/>
                </a:solidFill>
                <a:latin typeface="Calibri"/>
                <a:ea typeface="Calibri"/>
                <a:cs typeface="Calibri"/>
                <a:sym typeface="Calibri"/>
              </a:rPr>
              <a:t>starts_at</a:t>
            </a:r>
            <a:endParaRPr b="0" i="0" sz="650" u="none" cap="none" strike="noStrike">
              <a:solidFill>
                <a:schemeClr val="dk1"/>
              </a:solidFill>
              <a:latin typeface="Calibri"/>
              <a:ea typeface="Calibri"/>
              <a:cs typeface="Calibri"/>
              <a:sym typeface="Calibri"/>
            </a:endParaRPr>
          </a:p>
        </p:txBody>
      </p:sp>
      <p:sp>
        <p:nvSpPr>
          <p:cNvPr id="973" name="Google Shape;973;p25"/>
          <p:cNvSpPr/>
          <p:nvPr/>
        </p:nvSpPr>
        <p:spPr>
          <a:xfrm>
            <a:off x="3963924" y="2199132"/>
            <a:ext cx="132588" cy="128016"/>
          </a:xfrm>
          <a:prstGeom prst="rightArrow">
            <a:avLst>
              <a:gd fmla="val 50000" name="adj1"/>
              <a:gd fmla="val 50000" name="adj2"/>
            </a:avLst>
          </a:prstGeom>
          <a:solidFill>
            <a:srgbClr val="5A63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5"/>
          <p:cNvSpPr/>
          <p:nvPr/>
        </p:nvSpPr>
        <p:spPr>
          <a:xfrm>
            <a:off x="3451860" y="1952244"/>
            <a:ext cx="11430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650"/>
              <a:buFont typeface="Calibri"/>
              <a:buNone/>
            </a:pPr>
            <a:r>
              <a:rPr b="0" i="1" lang="en-US" sz="650" u="none" cap="none" strike="noStrike">
                <a:solidFill>
                  <a:srgbClr val="7E8AA0"/>
                </a:solidFill>
                <a:latin typeface="Calibri"/>
                <a:ea typeface="Calibri"/>
                <a:cs typeface="Calibri"/>
                <a:sym typeface="Calibri"/>
              </a:rPr>
              <a:t>begins</a:t>
            </a:r>
            <a:endParaRPr b="0" i="0" sz="650" u="none" cap="none" strike="noStrike">
              <a:solidFill>
                <a:schemeClr val="dk1"/>
              </a:solidFill>
              <a:latin typeface="Calibri"/>
              <a:ea typeface="Calibri"/>
              <a:cs typeface="Calibri"/>
              <a:sym typeface="Calibri"/>
            </a:endParaRPr>
          </a:p>
        </p:txBody>
      </p:sp>
      <p:sp>
        <p:nvSpPr>
          <p:cNvPr id="975" name="Google Shape;975;p25"/>
          <p:cNvSpPr/>
          <p:nvPr/>
        </p:nvSpPr>
        <p:spPr>
          <a:xfrm>
            <a:off x="5879592" y="2199132"/>
            <a:ext cx="132588" cy="128016"/>
          </a:xfrm>
          <a:prstGeom prst="rightArrow">
            <a:avLst>
              <a:gd fmla="val 50000" name="adj1"/>
              <a:gd fmla="val 50000" name="adj2"/>
            </a:avLst>
          </a:prstGeom>
          <a:solidFill>
            <a:srgbClr val="5A63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5"/>
          <p:cNvSpPr/>
          <p:nvPr/>
        </p:nvSpPr>
        <p:spPr>
          <a:xfrm>
            <a:off x="5367528" y="1952244"/>
            <a:ext cx="11430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650"/>
              <a:buFont typeface="Calibri"/>
              <a:buNone/>
            </a:pPr>
            <a:r>
              <a:rPr b="0" i="1" lang="en-US" sz="650" u="none" cap="none" strike="noStrike">
                <a:solidFill>
                  <a:srgbClr val="7E8AA0"/>
                </a:solidFill>
                <a:latin typeface="Calibri"/>
                <a:ea typeface="Calibri"/>
                <a:cs typeface="Calibri"/>
                <a:sym typeface="Calibri"/>
              </a:rPr>
              <a:t>next_step</a:t>
            </a:r>
            <a:endParaRPr b="0" i="0" sz="650" u="none" cap="none" strike="noStrike">
              <a:solidFill>
                <a:schemeClr val="dk1"/>
              </a:solidFill>
              <a:latin typeface="Calibri"/>
              <a:ea typeface="Calibri"/>
              <a:cs typeface="Calibri"/>
              <a:sym typeface="Calibri"/>
            </a:endParaRPr>
          </a:p>
        </p:txBody>
      </p:sp>
      <p:sp>
        <p:nvSpPr>
          <p:cNvPr id="977" name="Google Shape;977;p25"/>
          <p:cNvSpPr/>
          <p:nvPr/>
        </p:nvSpPr>
        <p:spPr>
          <a:xfrm>
            <a:off x="7795260" y="2199132"/>
            <a:ext cx="132588" cy="128016"/>
          </a:xfrm>
          <a:prstGeom prst="rightArrow">
            <a:avLst>
              <a:gd fmla="val 50000" name="adj1"/>
              <a:gd fmla="val 50000" name="adj2"/>
            </a:avLst>
          </a:prstGeom>
          <a:solidFill>
            <a:srgbClr val="5A63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5"/>
          <p:cNvSpPr/>
          <p:nvPr/>
        </p:nvSpPr>
        <p:spPr>
          <a:xfrm>
            <a:off x="7283196" y="1952244"/>
            <a:ext cx="11430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650"/>
              <a:buFont typeface="Calibri"/>
              <a:buNone/>
            </a:pPr>
            <a:r>
              <a:rPr b="0" i="1" lang="en-US" sz="650" u="none" cap="none" strike="noStrike">
                <a:solidFill>
                  <a:srgbClr val="7E8AA0"/>
                </a:solidFill>
                <a:latin typeface="Calibri"/>
                <a:ea typeface="Calibri"/>
                <a:cs typeface="Calibri"/>
                <a:sym typeface="Calibri"/>
              </a:rPr>
              <a:t>next_step</a:t>
            </a:r>
            <a:endParaRPr b="0" i="0" sz="650" u="none" cap="none" strike="noStrike">
              <a:solidFill>
                <a:schemeClr val="dk1"/>
              </a:solidFill>
              <a:latin typeface="Calibri"/>
              <a:ea typeface="Calibri"/>
              <a:cs typeface="Calibri"/>
              <a:sym typeface="Calibri"/>
            </a:endParaRPr>
          </a:p>
        </p:txBody>
      </p:sp>
      <p:sp>
        <p:nvSpPr>
          <p:cNvPr id="979" name="Google Shape;979;p25"/>
          <p:cNvSpPr/>
          <p:nvPr/>
        </p:nvSpPr>
        <p:spPr>
          <a:xfrm>
            <a:off x="9710928" y="2199132"/>
            <a:ext cx="132588" cy="128016"/>
          </a:xfrm>
          <a:prstGeom prst="rightArrow">
            <a:avLst>
              <a:gd fmla="val 50000" name="adj1"/>
              <a:gd fmla="val 50000" name="adj2"/>
            </a:avLst>
          </a:prstGeom>
          <a:solidFill>
            <a:srgbClr val="5A63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5"/>
          <p:cNvSpPr/>
          <p:nvPr/>
        </p:nvSpPr>
        <p:spPr>
          <a:xfrm>
            <a:off x="9198864" y="1952244"/>
            <a:ext cx="11430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650"/>
              <a:buFont typeface="Calibri"/>
              <a:buNone/>
            </a:pPr>
            <a:r>
              <a:rPr b="0" i="1" lang="en-US" sz="650" u="none" cap="none" strike="noStrike">
                <a:solidFill>
                  <a:srgbClr val="7E8AA0"/>
                </a:solidFill>
                <a:latin typeface="Calibri"/>
                <a:ea typeface="Calibri"/>
                <a:cs typeface="Calibri"/>
                <a:sym typeface="Calibri"/>
              </a:rPr>
              <a:t>achieves</a:t>
            </a:r>
            <a:endParaRPr b="0" i="0" sz="650" u="none" cap="none" strike="noStrike">
              <a:solidFill>
                <a:schemeClr val="dk1"/>
              </a:solidFill>
              <a:latin typeface="Calibri"/>
              <a:ea typeface="Calibri"/>
              <a:cs typeface="Calibri"/>
              <a:sym typeface="Calibri"/>
            </a:endParaRPr>
          </a:p>
        </p:txBody>
      </p:sp>
      <p:sp>
        <p:nvSpPr>
          <p:cNvPr id="981" name="Google Shape;981;p25"/>
          <p:cNvSpPr/>
          <p:nvPr/>
        </p:nvSpPr>
        <p:spPr>
          <a:xfrm>
            <a:off x="4924044" y="3145536"/>
            <a:ext cx="128016" cy="347472"/>
          </a:xfrm>
          <a:prstGeom prst="downArrow">
            <a:avLst>
              <a:gd fmla="val 50000" name="adj1"/>
              <a:gd fmla="val 50000" name="adj2"/>
            </a:avLst>
          </a:prstGeom>
          <a:solidFill>
            <a:srgbClr val="5A63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5"/>
          <p:cNvSpPr/>
          <p:nvPr/>
        </p:nvSpPr>
        <p:spPr>
          <a:xfrm>
            <a:off x="5079492" y="3163824"/>
            <a:ext cx="10058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AA0"/>
              </a:buClr>
              <a:buSzPts val="650"/>
              <a:buFont typeface="Calibri"/>
              <a:buNone/>
            </a:pPr>
            <a:r>
              <a:rPr b="0" i="1" lang="en-US" sz="650" u="none" cap="none" strike="noStrike">
                <a:solidFill>
                  <a:srgbClr val="7E8AA0"/>
                </a:solidFill>
                <a:latin typeface="Calibri"/>
                <a:ea typeface="Calibri"/>
                <a:cs typeface="Calibri"/>
                <a:sym typeface="Calibri"/>
              </a:rPr>
              <a:t>supported_by</a:t>
            </a:r>
            <a:endParaRPr b="0" i="0" sz="650" u="none" cap="none" strike="noStrike">
              <a:solidFill>
                <a:schemeClr val="dk1"/>
              </a:solidFill>
              <a:latin typeface="Calibri"/>
              <a:ea typeface="Calibri"/>
              <a:cs typeface="Calibri"/>
              <a:sym typeface="Calibri"/>
            </a:endParaRPr>
          </a:p>
        </p:txBody>
      </p:sp>
      <p:sp>
        <p:nvSpPr>
          <p:cNvPr id="983" name="Google Shape;983;p25"/>
          <p:cNvSpPr/>
          <p:nvPr/>
        </p:nvSpPr>
        <p:spPr>
          <a:xfrm>
            <a:off x="4105656" y="3977640"/>
            <a:ext cx="1764792" cy="868680"/>
          </a:xfrm>
          <a:prstGeom prst="roundRect">
            <a:avLst>
              <a:gd fmla="val 7368" name="adj"/>
            </a:avLst>
          </a:prstGeom>
          <a:solidFill>
            <a:srgbClr val="150C28"/>
          </a:solidFill>
          <a:ln cap="flat" cmpd="sng" w="12700">
            <a:solidFill>
              <a:srgbClr val="BD93F9"/>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5"/>
          <p:cNvSpPr/>
          <p:nvPr/>
        </p:nvSpPr>
        <p:spPr>
          <a:xfrm>
            <a:off x="4215384" y="4059936"/>
            <a:ext cx="154533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93F9"/>
              </a:buClr>
              <a:buSzPts val="750"/>
              <a:buFont typeface="Calibri"/>
              <a:buNone/>
            </a:pPr>
            <a:r>
              <a:rPr b="1" i="0" lang="en-US" sz="750" u="none" cap="none" strike="noStrike">
                <a:solidFill>
                  <a:srgbClr val="BD93F9"/>
                </a:solidFill>
                <a:latin typeface="Calibri"/>
                <a:ea typeface="Calibri"/>
                <a:cs typeface="Calibri"/>
                <a:sym typeface="Calibri"/>
              </a:rPr>
              <a:t>📎 ASG · EVIDENCE</a:t>
            </a:r>
            <a:endParaRPr b="0" i="0" sz="750" u="none" cap="none" strike="noStrike">
              <a:solidFill>
                <a:schemeClr val="dk1"/>
              </a:solidFill>
              <a:latin typeface="Calibri"/>
              <a:ea typeface="Calibri"/>
              <a:cs typeface="Calibri"/>
              <a:sym typeface="Calibri"/>
            </a:endParaRPr>
          </a:p>
        </p:txBody>
      </p:sp>
      <p:sp>
        <p:nvSpPr>
          <p:cNvPr id="985" name="Google Shape;985;p25"/>
          <p:cNvSpPr/>
          <p:nvPr/>
        </p:nvSpPr>
        <p:spPr>
          <a:xfrm>
            <a:off x="4215384" y="4288536"/>
            <a:ext cx="1545336"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4"/>
              </a:buClr>
              <a:buSzPts val="900"/>
              <a:buFont typeface="Calibri"/>
              <a:buNone/>
            </a:pPr>
            <a:r>
              <a:rPr b="1" i="0" lang="en-US" sz="900" u="none" cap="none" strike="noStrike">
                <a:solidFill>
                  <a:srgbClr val="E8ECF4"/>
                </a:solidFill>
                <a:latin typeface="Calibri"/>
                <a:ea typeface="Calibri"/>
                <a:cs typeface="Calibri"/>
                <a:sym typeface="Calibri"/>
              </a:rPr>
              <a:t>sqli-extraction.txt</a:t>
            </a:r>
            <a:endParaRPr b="0" i="0" sz="900" u="none" cap="none" strike="noStrike">
              <a:solidFill>
                <a:schemeClr val="dk1"/>
              </a:solidFill>
              <a:latin typeface="Calibri"/>
              <a:ea typeface="Calibri"/>
              <a:cs typeface="Calibri"/>
              <a:sym typeface="Calibri"/>
            </a:endParaRPr>
          </a:p>
        </p:txBody>
      </p:sp>
      <p:sp>
        <p:nvSpPr>
          <p:cNvPr id="986" name="Google Shape;986;p25"/>
          <p:cNvSpPr/>
          <p:nvPr/>
        </p:nvSpPr>
        <p:spPr>
          <a:xfrm>
            <a:off x="6839712" y="3145536"/>
            <a:ext cx="128016" cy="347472"/>
          </a:xfrm>
          <a:prstGeom prst="downArrow">
            <a:avLst>
              <a:gd fmla="val 50000" name="adj1"/>
              <a:gd fmla="val 50000" name="adj2"/>
            </a:avLst>
          </a:prstGeom>
          <a:solidFill>
            <a:srgbClr val="5A63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5"/>
          <p:cNvSpPr/>
          <p:nvPr/>
        </p:nvSpPr>
        <p:spPr>
          <a:xfrm>
            <a:off x="6995160" y="3163824"/>
            <a:ext cx="10058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AA0"/>
              </a:buClr>
              <a:buSzPts val="650"/>
              <a:buFont typeface="Calibri"/>
              <a:buNone/>
            </a:pPr>
            <a:r>
              <a:rPr b="0" i="1" lang="en-US" sz="650" u="none" cap="none" strike="noStrike">
                <a:solidFill>
                  <a:srgbClr val="7E8AA0"/>
                </a:solidFill>
                <a:latin typeface="Calibri"/>
                <a:ea typeface="Calibri"/>
                <a:cs typeface="Calibri"/>
                <a:sym typeface="Calibri"/>
              </a:rPr>
              <a:t>supported_by</a:t>
            </a:r>
            <a:endParaRPr b="0" i="0" sz="650" u="none" cap="none" strike="noStrike">
              <a:solidFill>
                <a:schemeClr val="dk1"/>
              </a:solidFill>
              <a:latin typeface="Calibri"/>
              <a:ea typeface="Calibri"/>
              <a:cs typeface="Calibri"/>
              <a:sym typeface="Calibri"/>
            </a:endParaRPr>
          </a:p>
        </p:txBody>
      </p:sp>
      <p:sp>
        <p:nvSpPr>
          <p:cNvPr id="988" name="Google Shape;988;p25"/>
          <p:cNvSpPr/>
          <p:nvPr/>
        </p:nvSpPr>
        <p:spPr>
          <a:xfrm>
            <a:off x="6021324" y="3977640"/>
            <a:ext cx="1764792" cy="868680"/>
          </a:xfrm>
          <a:prstGeom prst="roundRect">
            <a:avLst>
              <a:gd fmla="val 7368" name="adj"/>
            </a:avLst>
          </a:prstGeom>
          <a:solidFill>
            <a:srgbClr val="150C28"/>
          </a:solidFill>
          <a:ln cap="flat" cmpd="sng" w="12700">
            <a:solidFill>
              <a:srgbClr val="BD93F9"/>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5"/>
          <p:cNvSpPr/>
          <p:nvPr/>
        </p:nvSpPr>
        <p:spPr>
          <a:xfrm>
            <a:off x="6131052" y="4059936"/>
            <a:ext cx="154533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93F9"/>
              </a:buClr>
              <a:buSzPts val="750"/>
              <a:buFont typeface="Calibri"/>
              <a:buNone/>
            </a:pPr>
            <a:r>
              <a:rPr b="1" i="0" lang="en-US" sz="750" u="none" cap="none" strike="noStrike">
                <a:solidFill>
                  <a:srgbClr val="BD93F9"/>
                </a:solidFill>
                <a:latin typeface="Calibri"/>
                <a:ea typeface="Calibri"/>
                <a:cs typeface="Calibri"/>
                <a:sym typeface="Calibri"/>
              </a:rPr>
              <a:t>📎 ASG · EVIDENCE</a:t>
            </a:r>
            <a:endParaRPr b="0" i="0" sz="750" u="none" cap="none" strike="noStrike">
              <a:solidFill>
                <a:schemeClr val="dk1"/>
              </a:solidFill>
              <a:latin typeface="Calibri"/>
              <a:ea typeface="Calibri"/>
              <a:cs typeface="Calibri"/>
              <a:sym typeface="Calibri"/>
            </a:endParaRPr>
          </a:p>
        </p:txBody>
      </p:sp>
      <p:sp>
        <p:nvSpPr>
          <p:cNvPr id="990" name="Google Shape;990;p25"/>
          <p:cNvSpPr/>
          <p:nvPr/>
        </p:nvSpPr>
        <p:spPr>
          <a:xfrm>
            <a:off x="6131052" y="4288536"/>
            <a:ext cx="1545336"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4"/>
              </a:buClr>
              <a:buSzPts val="900"/>
              <a:buFont typeface="Calibri"/>
              <a:buNone/>
            </a:pPr>
            <a:r>
              <a:rPr b="1" i="0" lang="en-US" sz="900" u="none" cap="none" strike="noStrike">
                <a:solidFill>
                  <a:srgbClr val="E8ECF4"/>
                </a:solidFill>
                <a:latin typeface="Calibri"/>
                <a:ea typeface="Calibri"/>
                <a:cs typeface="Calibri"/>
                <a:sym typeface="Calibri"/>
              </a:rPr>
              <a:t>user-table-dump.png</a:t>
            </a:r>
            <a:endParaRPr b="0" i="0" sz="900" u="none" cap="none" strike="noStrike">
              <a:solidFill>
                <a:schemeClr val="dk1"/>
              </a:solidFill>
              <a:latin typeface="Calibri"/>
              <a:ea typeface="Calibri"/>
              <a:cs typeface="Calibri"/>
              <a:sym typeface="Calibri"/>
            </a:endParaRPr>
          </a:p>
        </p:txBody>
      </p:sp>
      <p:sp>
        <p:nvSpPr>
          <p:cNvPr id="991" name="Google Shape;991;p25"/>
          <p:cNvSpPr/>
          <p:nvPr/>
        </p:nvSpPr>
        <p:spPr>
          <a:xfrm>
            <a:off x="8755380" y="3145536"/>
            <a:ext cx="128016" cy="347472"/>
          </a:xfrm>
          <a:prstGeom prst="downArrow">
            <a:avLst>
              <a:gd fmla="val 50000" name="adj1"/>
              <a:gd fmla="val 50000" name="adj2"/>
            </a:avLst>
          </a:prstGeom>
          <a:solidFill>
            <a:srgbClr val="5A63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5"/>
          <p:cNvSpPr/>
          <p:nvPr/>
        </p:nvSpPr>
        <p:spPr>
          <a:xfrm>
            <a:off x="8910828" y="3163824"/>
            <a:ext cx="10058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AA0"/>
              </a:buClr>
              <a:buSzPts val="650"/>
              <a:buFont typeface="Calibri"/>
              <a:buNone/>
            </a:pPr>
            <a:r>
              <a:rPr b="0" i="1" lang="en-US" sz="650" u="none" cap="none" strike="noStrike">
                <a:solidFill>
                  <a:srgbClr val="7E8AA0"/>
                </a:solidFill>
                <a:latin typeface="Calibri"/>
                <a:ea typeface="Calibri"/>
                <a:cs typeface="Calibri"/>
                <a:sym typeface="Calibri"/>
              </a:rPr>
              <a:t>supported_by</a:t>
            </a:r>
            <a:endParaRPr b="0" i="0" sz="650" u="none" cap="none" strike="noStrike">
              <a:solidFill>
                <a:schemeClr val="dk1"/>
              </a:solidFill>
              <a:latin typeface="Calibri"/>
              <a:ea typeface="Calibri"/>
              <a:cs typeface="Calibri"/>
              <a:sym typeface="Calibri"/>
            </a:endParaRPr>
          </a:p>
        </p:txBody>
      </p:sp>
      <p:sp>
        <p:nvSpPr>
          <p:cNvPr id="993" name="Google Shape;993;p25"/>
          <p:cNvSpPr/>
          <p:nvPr/>
        </p:nvSpPr>
        <p:spPr>
          <a:xfrm>
            <a:off x="7936992" y="3977640"/>
            <a:ext cx="1764792" cy="868680"/>
          </a:xfrm>
          <a:prstGeom prst="roundRect">
            <a:avLst>
              <a:gd fmla="val 7368" name="adj"/>
            </a:avLst>
          </a:prstGeom>
          <a:solidFill>
            <a:srgbClr val="150C28"/>
          </a:solidFill>
          <a:ln cap="flat" cmpd="sng" w="12700">
            <a:solidFill>
              <a:srgbClr val="BD93F9"/>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5"/>
          <p:cNvSpPr/>
          <p:nvPr/>
        </p:nvSpPr>
        <p:spPr>
          <a:xfrm>
            <a:off x="8046720" y="4059936"/>
            <a:ext cx="154533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93F9"/>
              </a:buClr>
              <a:buSzPts val="750"/>
              <a:buFont typeface="Calibri"/>
              <a:buNone/>
            </a:pPr>
            <a:r>
              <a:rPr b="1" i="0" lang="en-US" sz="750" u="none" cap="none" strike="noStrike">
                <a:solidFill>
                  <a:srgbClr val="BD93F9"/>
                </a:solidFill>
                <a:latin typeface="Calibri"/>
                <a:ea typeface="Calibri"/>
                <a:cs typeface="Calibri"/>
                <a:sym typeface="Calibri"/>
              </a:rPr>
              <a:t>📎 ASG · EVIDENCE</a:t>
            </a:r>
            <a:endParaRPr b="0" i="0" sz="750" u="none" cap="none" strike="noStrike">
              <a:solidFill>
                <a:schemeClr val="dk1"/>
              </a:solidFill>
              <a:latin typeface="Calibri"/>
              <a:ea typeface="Calibri"/>
              <a:cs typeface="Calibri"/>
              <a:sym typeface="Calibri"/>
            </a:endParaRPr>
          </a:p>
        </p:txBody>
      </p:sp>
      <p:sp>
        <p:nvSpPr>
          <p:cNvPr id="995" name="Google Shape;995;p25"/>
          <p:cNvSpPr/>
          <p:nvPr/>
        </p:nvSpPr>
        <p:spPr>
          <a:xfrm>
            <a:off x="8046720" y="4288536"/>
            <a:ext cx="1545336"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4"/>
              </a:buClr>
              <a:buSzPts val="900"/>
              <a:buFont typeface="Calibri"/>
              <a:buNone/>
            </a:pPr>
            <a:r>
              <a:rPr b="1" i="0" lang="en-US" sz="900" u="none" cap="none" strike="noStrike">
                <a:solidFill>
                  <a:srgbClr val="E8ECF4"/>
                </a:solidFill>
                <a:latin typeface="Calibri"/>
                <a:ea typeface="Calibri"/>
                <a:cs typeface="Calibri"/>
                <a:sym typeface="Calibri"/>
              </a:rPr>
              <a:t>webshell-rce.png</a:t>
            </a:r>
            <a:endParaRPr b="0" i="0" sz="900" u="none" cap="none" strike="noStrike">
              <a:solidFill>
                <a:schemeClr val="dk1"/>
              </a:solidFill>
              <a:latin typeface="Calibri"/>
              <a:ea typeface="Calibri"/>
              <a:cs typeface="Calibri"/>
              <a:sym typeface="Calibri"/>
            </a:endParaRPr>
          </a:p>
        </p:txBody>
      </p:sp>
      <p:sp>
        <p:nvSpPr>
          <p:cNvPr id="996" name="Google Shape;996;p25"/>
          <p:cNvSpPr/>
          <p:nvPr/>
        </p:nvSpPr>
        <p:spPr>
          <a:xfrm>
            <a:off x="274320" y="5074920"/>
            <a:ext cx="11640312" cy="713232"/>
          </a:xfrm>
          <a:prstGeom prst="roundRect">
            <a:avLst>
              <a:gd fmla="val 7692" name="adj"/>
            </a:avLst>
          </a:prstGeom>
          <a:solidFill>
            <a:srgbClr val="0E1320"/>
          </a:solidFill>
          <a:ln cap="flat" cmpd="sng" w="12700">
            <a:solidFill>
              <a:srgbClr val="232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5"/>
          <p:cNvSpPr/>
          <p:nvPr/>
        </p:nvSpPr>
        <p:spPr>
          <a:xfrm>
            <a:off x="438912" y="5148072"/>
            <a:ext cx="11338560"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E8ECF4"/>
              </a:buClr>
              <a:buSzPts val="950"/>
              <a:buFont typeface="Calibri"/>
              <a:buNone/>
            </a:pPr>
            <a:r>
              <a:rPr b="1" i="0" lang="en-US" sz="950" u="none" cap="none" strike="noStrike">
                <a:solidFill>
                  <a:srgbClr val="E8ECF4"/>
                </a:solidFill>
                <a:latin typeface="Calibri"/>
                <a:ea typeface="Calibri"/>
                <a:cs typeface="Calibri"/>
                <a:sym typeface="Calibri"/>
              </a:rPr>
              <a:t>Reading this diagram:  </a:t>
            </a:r>
            <a:r>
              <a:rPr b="0" i="0" lang="en-US" sz="950" u="none" cap="none" strike="noStrike">
                <a:solidFill>
                  <a:srgbClr val="A0AAB8"/>
                </a:solidFill>
                <a:latin typeface="Calibri"/>
                <a:ea typeface="Calibri"/>
                <a:cs typeface="Calibri"/>
                <a:sym typeface="Calibri"/>
              </a:rPr>
              <a:t>start at the CVE (ASG fact) → follow starts_at to the Chain (APG reasoning) → step through the ChainSteps in order → arrive at the Impact (what was demonstrated) → follow supported_by back to the Evidence files (ASG proof).</a:t>
            </a:r>
            <a:endParaRPr b="0" i="0" sz="950" u="none" cap="none" strike="noStrike">
              <a:solidFill>
                <a:schemeClr val="dk1"/>
              </a:solidFill>
              <a:latin typeface="Calibri"/>
              <a:ea typeface="Calibri"/>
              <a:cs typeface="Calibri"/>
              <a:sym typeface="Calibri"/>
            </a:endParaRPr>
          </a:p>
        </p:txBody>
      </p:sp>
      <p:sp>
        <p:nvSpPr>
          <p:cNvPr id="998" name="Google Shape;998;p25"/>
          <p:cNvSpPr/>
          <p:nvPr/>
        </p:nvSpPr>
        <p:spPr>
          <a:xfrm>
            <a:off x="502920" y="59436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2600"/>
              <a:buFont typeface="Arial"/>
              <a:buNone/>
            </a:pPr>
            <a:r>
              <a:rPr b="1" i="0" lang="en-US" sz="2600" u="none" cap="none" strike="noStrike">
                <a:solidFill>
                  <a:srgbClr val="FFD700"/>
                </a:solidFill>
                <a:latin typeface="Arial"/>
                <a:ea typeface="Arial"/>
                <a:cs typeface="Arial"/>
                <a:sym typeface="Arial"/>
              </a:rPr>
              <a:t>8.8 → 9.1</a:t>
            </a:r>
            <a:endParaRPr b="0" i="0" sz="2600" u="none" cap="none" strike="noStrike">
              <a:solidFill>
                <a:schemeClr val="dk1"/>
              </a:solidFill>
              <a:latin typeface="Calibri"/>
              <a:ea typeface="Calibri"/>
              <a:cs typeface="Calibri"/>
              <a:sym typeface="Calibri"/>
            </a:endParaRPr>
          </a:p>
        </p:txBody>
      </p:sp>
      <p:sp>
        <p:nvSpPr>
          <p:cNvPr id="999" name="Google Shape;999;p25"/>
          <p:cNvSpPr/>
          <p:nvPr/>
        </p:nvSpPr>
        <p:spPr>
          <a:xfrm>
            <a:off x="502920" y="6419088"/>
            <a:ext cx="1828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risk_score escalated</a:t>
            </a:r>
            <a:endParaRPr b="0" i="0" sz="900" u="none" cap="none" strike="noStrike">
              <a:solidFill>
                <a:schemeClr val="dk1"/>
              </a:solidFill>
              <a:latin typeface="Calibri"/>
              <a:ea typeface="Calibri"/>
              <a:cs typeface="Calibri"/>
              <a:sym typeface="Calibri"/>
            </a:endParaRPr>
          </a:p>
        </p:txBody>
      </p:sp>
      <p:sp>
        <p:nvSpPr>
          <p:cNvPr id="1000" name="Google Shape;1000;p25"/>
          <p:cNvSpPr/>
          <p:nvPr/>
        </p:nvSpPr>
        <p:spPr>
          <a:xfrm>
            <a:off x="2788920" y="59436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9FF14"/>
              </a:buClr>
              <a:buSzPts val="2600"/>
              <a:buFont typeface="Arial"/>
              <a:buNone/>
            </a:pPr>
            <a:r>
              <a:rPr b="1" i="0" lang="en-US" sz="2600" u="none" cap="none" strike="noStrike">
                <a:solidFill>
                  <a:srgbClr val="39FF14"/>
                </a:solidFill>
                <a:latin typeface="Arial"/>
                <a:ea typeface="Arial"/>
                <a:cs typeface="Arial"/>
                <a:sym typeface="Arial"/>
              </a:rPr>
              <a:t>3</a:t>
            </a:r>
            <a:endParaRPr b="0" i="0" sz="2600" u="none" cap="none" strike="noStrike">
              <a:solidFill>
                <a:schemeClr val="dk1"/>
              </a:solidFill>
              <a:latin typeface="Calibri"/>
              <a:ea typeface="Calibri"/>
              <a:cs typeface="Calibri"/>
              <a:sym typeface="Calibri"/>
            </a:endParaRPr>
          </a:p>
        </p:txBody>
      </p:sp>
      <p:sp>
        <p:nvSpPr>
          <p:cNvPr id="1001" name="Google Shape;1001;p25"/>
          <p:cNvSpPr/>
          <p:nvPr/>
        </p:nvSpPr>
        <p:spPr>
          <a:xfrm>
            <a:off x="2788920" y="6419088"/>
            <a:ext cx="1828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VALIDATED ChainSteps</a:t>
            </a:r>
            <a:endParaRPr b="0" i="0" sz="900" u="none" cap="none" strike="noStrike">
              <a:solidFill>
                <a:schemeClr val="dk1"/>
              </a:solidFill>
              <a:latin typeface="Calibri"/>
              <a:ea typeface="Calibri"/>
              <a:cs typeface="Calibri"/>
              <a:sym typeface="Calibri"/>
            </a:endParaRPr>
          </a:p>
        </p:txBody>
      </p:sp>
      <p:sp>
        <p:nvSpPr>
          <p:cNvPr id="1002" name="Google Shape;1002;p25"/>
          <p:cNvSpPr/>
          <p:nvPr/>
        </p:nvSpPr>
        <p:spPr>
          <a:xfrm>
            <a:off x="5074920" y="59436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D93F9"/>
              </a:buClr>
              <a:buSzPts val="2600"/>
              <a:buFont typeface="Arial"/>
              <a:buNone/>
            </a:pPr>
            <a:r>
              <a:rPr b="1" i="0" lang="en-US" sz="2600" u="none" cap="none" strike="noStrike">
                <a:solidFill>
                  <a:srgbClr val="BD93F9"/>
                </a:solidFill>
                <a:latin typeface="Arial"/>
                <a:ea typeface="Arial"/>
                <a:cs typeface="Arial"/>
                <a:sym typeface="Arial"/>
              </a:rPr>
              <a:t>3</a:t>
            </a:r>
            <a:endParaRPr b="0" i="0" sz="2600" u="none" cap="none" strike="noStrike">
              <a:solidFill>
                <a:schemeClr val="dk1"/>
              </a:solidFill>
              <a:latin typeface="Calibri"/>
              <a:ea typeface="Calibri"/>
              <a:cs typeface="Calibri"/>
              <a:sym typeface="Calibri"/>
            </a:endParaRPr>
          </a:p>
        </p:txBody>
      </p:sp>
      <p:sp>
        <p:nvSpPr>
          <p:cNvPr id="1003" name="Google Shape;1003;p25"/>
          <p:cNvSpPr/>
          <p:nvPr/>
        </p:nvSpPr>
        <p:spPr>
          <a:xfrm>
            <a:off x="5074920" y="6419088"/>
            <a:ext cx="1828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Evidence artifacts linked</a:t>
            </a:r>
            <a:endParaRPr b="0" i="0" sz="900" u="none" cap="none" strike="noStrike">
              <a:solidFill>
                <a:schemeClr val="dk1"/>
              </a:solidFill>
              <a:latin typeface="Calibri"/>
              <a:ea typeface="Calibri"/>
              <a:cs typeface="Calibri"/>
              <a:sym typeface="Calibri"/>
            </a:endParaRPr>
          </a:p>
        </p:txBody>
      </p:sp>
      <p:sp>
        <p:nvSpPr>
          <p:cNvPr id="1004" name="Google Shape;1004;p25"/>
          <p:cNvSpPr/>
          <p:nvPr/>
        </p:nvSpPr>
        <p:spPr>
          <a:xfrm>
            <a:off x="7360920" y="59436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D93F9"/>
              </a:buClr>
              <a:buSzPts val="2600"/>
              <a:buFont typeface="Arial"/>
              <a:buNone/>
            </a:pPr>
            <a:r>
              <a:rPr b="1" i="0" lang="en-US" sz="2600" u="none" cap="none" strike="noStrike">
                <a:solidFill>
                  <a:srgbClr val="BD93F9"/>
                </a:solidFill>
                <a:latin typeface="Arial"/>
                <a:ea typeface="Arial"/>
                <a:cs typeface="Arial"/>
                <a:sym typeface="Arial"/>
              </a:rPr>
              <a:t>1</a:t>
            </a:r>
            <a:endParaRPr b="0" i="0" sz="2600" u="none" cap="none" strike="noStrike">
              <a:solidFill>
                <a:schemeClr val="dk1"/>
              </a:solidFill>
              <a:latin typeface="Calibri"/>
              <a:ea typeface="Calibri"/>
              <a:cs typeface="Calibri"/>
              <a:sym typeface="Calibri"/>
            </a:endParaRPr>
          </a:p>
        </p:txBody>
      </p:sp>
      <p:sp>
        <p:nvSpPr>
          <p:cNvPr id="1005" name="Google Shape;1005;p25"/>
          <p:cNvSpPr/>
          <p:nvPr/>
        </p:nvSpPr>
        <p:spPr>
          <a:xfrm>
            <a:off x="7360920" y="6419088"/>
            <a:ext cx="1828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Impact demonstrated</a:t>
            </a:r>
            <a:endParaRPr b="0" i="0" sz="900" u="none" cap="none" strike="noStrike">
              <a:solidFill>
                <a:schemeClr val="dk1"/>
              </a:solidFill>
              <a:latin typeface="Calibri"/>
              <a:ea typeface="Calibri"/>
              <a:cs typeface="Calibri"/>
              <a:sym typeface="Calibri"/>
            </a:endParaRPr>
          </a:p>
        </p:txBody>
      </p:sp>
      <p:sp>
        <p:nvSpPr>
          <p:cNvPr id="1006" name="Google Shape;1006;p25"/>
          <p:cNvSpPr/>
          <p:nvPr/>
        </p:nvSpPr>
        <p:spPr>
          <a:xfrm>
            <a:off x="9646920" y="59436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E5FF"/>
              </a:buClr>
              <a:buSzPts val="2600"/>
              <a:buFont typeface="Arial"/>
              <a:buNone/>
            </a:pPr>
            <a:r>
              <a:rPr b="1" i="0" lang="en-US" sz="2600" u="none" cap="none" strike="noStrike">
                <a:solidFill>
                  <a:srgbClr val="00E5FF"/>
                </a:solidFill>
                <a:latin typeface="Arial"/>
                <a:ea typeface="Arial"/>
                <a:cs typeface="Arial"/>
                <a:sym typeface="Arial"/>
              </a:rPr>
              <a:t>0</a:t>
            </a:r>
            <a:endParaRPr b="0" i="0" sz="2600" u="none" cap="none" strike="noStrike">
              <a:solidFill>
                <a:schemeClr val="dk1"/>
              </a:solidFill>
              <a:latin typeface="Calibri"/>
              <a:ea typeface="Calibri"/>
              <a:cs typeface="Calibri"/>
              <a:sym typeface="Calibri"/>
            </a:endParaRPr>
          </a:p>
        </p:txBody>
      </p:sp>
      <p:sp>
        <p:nvSpPr>
          <p:cNvPr id="1007" name="Google Shape;1007;p25"/>
          <p:cNvSpPr/>
          <p:nvPr/>
        </p:nvSpPr>
        <p:spPr>
          <a:xfrm>
            <a:off x="9646920" y="6419088"/>
            <a:ext cx="1828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manual commands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011" name="Shape 1011"/>
        <p:cNvGrpSpPr/>
        <p:nvPr/>
      </p:nvGrpSpPr>
      <p:grpSpPr>
        <a:xfrm>
          <a:off x="0" y="0"/>
          <a:ext cx="0" cy="0"/>
          <a:chOff x="0" y="0"/>
          <a:chExt cx="0" cy="0"/>
        </a:xfrm>
      </p:grpSpPr>
      <p:sp>
        <p:nvSpPr>
          <p:cNvPr id="1012" name="Google Shape;1012;p26"/>
          <p:cNvSpPr/>
          <p:nvPr/>
        </p:nvSpPr>
        <p:spPr>
          <a:xfrm>
            <a:off x="0" y="0"/>
            <a:ext cx="54900"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3" name="Google Shape;1013;p26"/>
          <p:cNvSpPr/>
          <p:nvPr/>
        </p:nvSpPr>
        <p:spPr>
          <a:xfrm>
            <a:off x="54864" y="0"/>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4" name="Google Shape;1014;p26"/>
          <p:cNvSpPr/>
          <p:nvPr/>
        </p:nvSpPr>
        <p:spPr>
          <a:xfrm>
            <a:off x="54876" y="684887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5" name="Google Shape;1015;p26"/>
          <p:cNvSpPr txBox="1"/>
          <p:nvPr/>
        </p:nvSpPr>
        <p:spPr>
          <a:xfrm>
            <a:off x="274320" y="64008"/>
            <a:ext cx="54864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ATTACK CHAIN LIFECYCLE</a:t>
            </a:r>
            <a:endParaRPr b="0" i="0" sz="1400" u="none" cap="none" strike="noStrike">
              <a:solidFill>
                <a:srgbClr val="000000"/>
              </a:solidFill>
              <a:latin typeface="Arial"/>
              <a:ea typeface="Arial"/>
              <a:cs typeface="Arial"/>
              <a:sym typeface="Arial"/>
            </a:endParaRPr>
          </a:p>
        </p:txBody>
      </p:sp>
      <p:sp>
        <p:nvSpPr>
          <p:cNvPr id="1016" name="Google Shape;1016;p26"/>
          <p:cNvSpPr txBox="1"/>
          <p:nvPr/>
        </p:nvSpPr>
        <p:spPr>
          <a:xfrm>
            <a:off x="274320" y="283464"/>
            <a:ext cx="10972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APG Chain State Machine + Validation Agent Self-Debugging Loop</a:t>
            </a:r>
            <a:endParaRPr b="0" i="0" sz="1400" u="none" cap="none" strike="noStrike">
              <a:solidFill>
                <a:srgbClr val="000000"/>
              </a:solidFill>
              <a:latin typeface="Arial"/>
              <a:ea typeface="Arial"/>
              <a:cs typeface="Arial"/>
              <a:sym typeface="Arial"/>
            </a:endParaRPr>
          </a:p>
        </p:txBody>
      </p:sp>
      <p:sp>
        <p:nvSpPr>
          <p:cNvPr id="1017" name="Google Shape;1017;p26"/>
          <p:cNvSpPr/>
          <p:nvPr/>
        </p:nvSpPr>
        <p:spPr>
          <a:xfrm>
            <a:off x="228600" y="804672"/>
            <a:ext cx="2331600" cy="1783200"/>
          </a:xfrm>
          <a:prstGeom prst="rect">
            <a:avLst/>
          </a:prstGeom>
          <a:solidFill>
            <a:srgbClr val="504000"/>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8" name="Google Shape;1018;p26"/>
          <p:cNvSpPr/>
          <p:nvPr/>
        </p:nvSpPr>
        <p:spPr>
          <a:xfrm>
            <a:off x="228600" y="804672"/>
            <a:ext cx="2331600" cy="274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9" name="Google Shape;1019;p26"/>
          <p:cNvSpPr txBox="1"/>
          <p:nvPr/>
        </p:nvSpPr>
        <p:spPr>
          <a:xfrm>
            <a:off x="228600" y="841248"/>
            <a:ext cx="23316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HYPOTHESIZED</a:t>
            </a:r>
            <a:endParaRPr b="0" i="0" sz="1400" u="none" cap="none" strike="noStrike">
              <a:solidFill>
                <a:srgbClr val="000000"/>
              </a:solidFill>
              <a:latin typeface="Arial"/>
              <a:ea typeface="Arial"/>
              <a:cs typeface="Arial"/>
              <a:sym typeface="Arial"/>
            </a:endParaRPr>
          </a:p>
        </p:txBody>
      </p:sp>
      <p:sp>
        <p:nvSpPr>
          <p:cNvPr id="1020" name="Google Shape;1020;p26"/>
          <p:cNvSpPr txBox="1"/>
          <p:nvPr/>
        </p:nvSpPr>
        <p:spPr>
          <a:xfrm>
            <a:off x="320040" y="1152144"/>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Commander inferred a possible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from ASG Vulnerability nodes.</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Not yet tested.</a:t>
            </a:r>
            <a:endParaRPr b="0" i="0" sz="1400" u="none" cap="none" strike="noStrike">
              <a:solidFill>
                <a:srgbClr val="000000"/>
              </a:solidFill>
              <a:latin typeface="Arial"/>
              <a:ea typeface="Arial"/>
              <a:cs typeface="Arial"/>
              <a:sym typeface="Arial"/>
            </a:endParaRPr>
          </a:p>
        </p:txBody>
      </p:sp>
      <p:cxnSp>
        <p:nvCxnSpPr>
          <p:cNvPr id="1021" name="Google Shape;1021;p26"/>
          <p:cNvCxnSpPr/>
          <p:nvPr/>
        </p:nvCxnSpPr>
        <p:spPr>
          <a:xfrm>
            <a:off x="2560320" y="0"/>
            <a:ext cx="237600" cy="0"/>
          </a:xfrm>
          <a:prstGeom prst="straightConnector1">
            <a:avLst/>
          </a:prstGeom>
          <a:noFill/>
          <a:ln cap="flat" cmpd="sng" w="22850">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1022" name="Google Shape;1022;p26"/>
          <p:cNvSpPr/>
          <p:nvPr/>
        </p:nvSpPr>
        <p:spPr>
          <a:xfrm>
            <a:off x="2798064" y="804672"/>
            <a:ext cx="2331600" cy="1783200"/>
          </a:xfrm>
          <a:prstGeom prst="rect">
            <a:avLst/>
          </a:prstGeom>
          <a:solidFill>
            <a:srgbClr val="284008"/>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23" name="Google Shape;1023;p26"/>
          <p:cNvSpPr/>
          <p:nvPr/>
        </p:nvSpPr>
        <p:spPr>
          <a:xfrm>
            <a:off x="2798064" y="804672"/>
            <a:ext cx="2331600" cy="27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24" name="Google Shape;1024;p26"/>
          <p:cNvSpPr txBox="1"/>
          <p:nvPr/>
        </p:nvSpPr>
        <p:spPr>
          <a:xfrm>
            <a:off x="2798075" y="841249"/>
            <a:ext cx="2331600" cy="453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PARTIALLY VALIDATED</a:t>
            </a:r>
            <a:br>
              <a:rPr b="1" i="0" lang="en-US" sz="950" u="none" cap="none" strike="noStrike">
                <a:solidFill>
                  <a:srgbClr val="0A0D1A"/>
                </a:solidFill>
                <a:latin typeface="Calibri"/>
                <a:ea typeface="Calibri"/>
                <a:cs typeface="Calibri"/>
                <a:sym typeface="Calibri"/>
              </a:rPr>
            </a:br>
            <a:endParaRPr b="0" i="0" sz="1400" u="none" cap="none" strike="noStrike">
              <a:solidFill>
                <a:srgbClr val="000000"/>
              </a:solidFill>
              <a:latin typeface="Arial"/>
              <a:ea typeface="Arial"/>
              <a:cs typeface="Arial"/>
              <a:sym typeface="Arial"/>
            </a:endParaRPr>
          </a:p>
        </p:txBody>
      </p:sp>
      <p:sp>
        <p:nvSpPr>
          <p:cNvPr id="1025" name="Google Shape;1025;p26"/>
          <p:cNvSpPr txBox="1"/>
          <p:nvPr/>
        </p:nvSpPr>
        <p:spPr>
          <a:xfrm>
            <a:off x="2889504" y="1152144"/>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One or more ChainSteps confirmed.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not complete end-to-end.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Validation in progress.</a:t>
            </a:r>
            <a:endParaRPr b="0" i="0" sz="1400" u="none" cap="none" strike="noStrike">
              <a:solidFill>
                <a:srgbClr val="000000"/>
              </a:solidFill>
              <a:latin typeface="Arial"/>
              <a:ea typeface="Arial"/>
              <a:cs typeface="Arial"/>
              <a:sym typeface="Arial"/>
            </a:endParaRPr>
          </a:p>
        </p:txBody>
      </p:sp>
      <p:sp>
        <p:nvSpPr>
          <p:cNvPr id="1026" name="Google Shape;1026;p26"/>
          <p:cNvSpPr/>
          <p:nvPr/>
        </p:nvSpPr>
        <p:spPr>
          <a:xfrm>
            <a:off x="5038344" y="1531620"/>
            <a:ext cx="329100" cy="329100"/>
          </a:xfrm>
          <a:prstGeom prst="rect">
            <a:avLst/>
          </a:prstGeom>
          <a:solidFill>
            <a:srgbClr val="FFD700"/>
          </a:solidFill>
          <a:ln cap="flat" cmpd="sng" w="95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027" name="Google Shape;1027;p26"/>
          <p:cNvCxnSpPr/>
          <p:nvPr/>
        </p:nvCxnSpPr>
        <p:spPr>
          <a:xfrm rot="10800000">
            <a:off x="5038284" y="0"/>
            <a:ext cx="91500" cy="0"/>
          </a:xfrm>
          <a:prstGeom prst="straightConnector1">
            <a:avLst/>
          </a:prstGeom>
          <a:noFill/>
          <a:ln cap="flat" cmpd="sng" w="22850">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1028" name="Google Shape;1028;p26"/>
          <p:cNvSpPr/>
          <p:nvPr/>
        </p:nvSpPr>
        <p:spPr>
          <a:xfrm>
            <a:off x="7024155" y="804610"/>
            <a:ext cx="2331600" cy="1783200"/>
          </a:xfrm>
          <a:prstGeom prst="rect">
            <a:avLst/>
          </a:prstGeom>
          <a:solidFill>
            <a:srgbClr val="06280E"/>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29" name="Google Shape;1029;p26"/>
          <p:cNvSpPr/>
          <p:nvPr/>
        </p:nvSpPr>
        <p:spPr>
          <a:xfrm>
            <a:off x="7024155" y="804610"/>
            <a:ext cx="2331600" cy="27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0" name="Google Shape;1030;p26"/>
          <p:cNvSpPr txBox="1"/>
          <p:nvPr/>
        </p:nvSpPr>
        <p:spPr>
          <a:xfrm>
            <a:off x="7024155" y="841186"/>
            <a:ext cx="23316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1031" name="Google Shape;1031;p26"/>
          <p:cNvSpPr txBox="1"/>
          <p:nvPr/>
        </p:nvSpPr>
        <p:spPr>
          <a:xfrm>
            <a:off x="7115595" y="115208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All ChainSteps confirmed with</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linked Evidence. Impact demonstrated.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Mission success for this chain.</a:t>
            </a:r>
            <a:endParaRPr b="0" i="0" sz="1400" u="none" cap="none" strike="noStrike">
              <a:solidFill>
                <a:srgbClr val="000000"/>
              </a:solidFill>
              <a:latin typeface="Arial"/>
              <a:ea typeface="Arial"/>
              <a:cs typeface="Arial"/>
              <a:sym typeface="Arial"/>
            </a:endParaRPr>
          </a:p>
        </p:txBody>
      </p:sp>
      <p:cxnSp>
        <p:nvCxnSpPr>
          <p:cNvPr id="1032" name="Google Shape;1032;p26"/>
          <p:cNvCxnSpPr/>
          <p:nvPr/>
        </p:nvCxnSpPr>
        <p:spPr>
          <a:xfrm>
            <a:off x="5367528" y="0"/>
            <a:ext cx="73200" cy="0"/>
          </a:xfrm>
          <a:prstGeom prst="straightConnector1">
            <a:avLst/>
          </a:prstGeom>
          <a:noFill/>
          <a:ln cap="flat" cmpd="sng" w="2285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1033" name="Google Shape;1033;p26"/>
          <p:cNvSpPr txBox="1"/>
          <p:nvPr/>
        </p:nvSpPr>
        <p:spPr>
          <a:xfrm>
            <a:off x="5528266" y="1395403"/>
            <a:ext cx="109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39FF14"/>
                </a:solidFill>
                <a:latin typeface="Calibri"/>
                <a:ea typeface="Calibri"/>
                <a:cs typeface="Calibri"/>
                <a:sym typeface="Calibri"/>
              </a:rPr>
              <a:t>chain succeeds</a:t>
            </a:r>
            <a:endParaRPr b="0" i="0" sz="1400" u="none" cap="none" strike="noStrike">
              <a:solidFill>
                <a:srgbClr val="000000"/>
              </a:solidFill>
              <a:latin typeface="Arial"/>
              <a:ea typeface="Arial"/>
              <a:cs typeface="Arial"/>
              <a:sym typeface="Arial"/>
            </a:endParaRPr>
          </a:p>
        </p:txBody>
      </p:sp>
      <p:sp>
        <p:nvSpPr>
          <p:cNvPr id="1034" name="Google Shape;1034;p26"/>
          <p:cNvSpPr/>
          <p:nvPr/>
        </p:nvSpPr>
        <p:spPr>
          <a:xfrm>
            <a:off x="9558355" y="804609"/>
            <a:ext cx="2331600" cy="1783200"/>
          </a:xfrm>
          <a:prstGeom prst="rect">
            <a:avLst/>
          </a:prstGeom>
          <a:solidFill>
            <a:srgbClr val="280808"/>
          </a:solidFill>
          <a:ln cap="flat" cmpd="sng" w="254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5" name="Google Shape;1035;p26"/>
          <p:cNvSpPr/>
          <p:nvPr/>
        </p:nvSpPr>
        <p:spPr>
          <a:xfrm>
            <a:off x="9558350" y="813913"/>
            <a:ext cx="2331600" cy="274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6" name="Google Shape;1036;p26"/>
          <p:cNvSpPr txBox="1"/>
          <p:nvPr/>
        </p:nvSpPr>
        <p:spPr>
          <a:xfrm>
            <a:off x="9893950" y="804613"/>
            <a:ext cx="15543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RULED_OUT</a:t>
            </a:r>
            <a:endParaRPr b="0" i="0" sz="1400" u="none" cap="none" strike="noStrike">
              <a:solidFill>
                <a:srgbClr val="000000"/>
              </a:solidFill>
              <a:latin typeface="Arial"/>
              <a:ea typeface="Arial"/>
              <a:cs typeface="Arial"/>
              <a:sym typeface="Arial"/>
            </a:endParaRPr>
          </a:p>
        </p:txBody>
      </p:sp>
      <p:sp>
        <p:nvSpPr>
          <p:cNvPr id="1037" name="Google Shape;1037;p26"/>
          <p:cNvSpPr txBox="1"/>
          <p:nvPr/>
        </p:nvSpPr>
        <p:spPr>
          <a:xfrm>
            <a:off x="9640545" y="118873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 required ChainStep failed after</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max retries. Chain not exploitable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as hypothesized. Commander re-plans.</a:t>
            </a:r>
            <a:endParaRPr b="0" i="0" sz="1400" u="none" cap="none" strike="noStrike">
              <a:solidFill>
                <a:srgbClr val="000000"/>
              </a:solidFill>
              <a:latin typeface="Arial"/>
              <a:ea typeface="Arial"/>
              <a:cs typeface="Arial"/>
              <a:sym typeface="Arial"/>
            </a:endParaRPr>
          </a:p>
        </p:txBody>
      </p:sp>
      <p:cxnSp>
        <p:nvCxnSpPr>
          <p:cNvPr id="1038" name="Google Shape;1038;p26"/>
          <p:cNvCxnSpPr/>
          <p:nvPr/>
        </p:nvCxnSpPr>
        <p:spPr>
          <a:xfrm>
            <a:off x="5367528" y="0"/>
            <a:ext cx="73200" cy="0"/>
          </a:xfrm>
          <a:prstGeom prst="straightConnector1">
            <a:avLst/>
          </a:prstGeom>
          <a:noFill/>
          <a:ln cap="flat" cmpd="sng" w="22850">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1039" name="Google Shape;1039;p26"/>
          <p:cNvSpPr txBox="1"/>
          <p:nvPr/>
        </p:nvSpPr>
        <p:spPr>
          <a:xfrm>
            <a:off x="7834529" y="2775468"/>
            <a:ext cx="12345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FF4545"/>
                </a:solidFill>
                <a:latin typeface="Calibri"/>
                <a:ea typeface="Calibri"/>
                <a:cs typeface="Calibri"/>
                <a:sym typeface="Calibri"/>
              </a:rPr>
              <a:t>step fails after cap</a:t>
            </a:r>
            <a:endParaRPr b="0" i="0" sz="1400" u="none" cap="none" strike="noStrike">
              <a:solidFill>
                <a:srgbClr val="000000"/>
              </a:solidFill>
              <a:latin typeface="Arial"/>
              <a:ea typeface="Arial"/>
              <a:cs typeface="Arial"/>
              <a:sym typeface="Arial"/>
            </a:endParaRPr>
          </a:p>
        </p:txBody>
      </p:sp>
      <p:sp>
        <p:nvSpPr>
          <p:cNvPr id="1040" name="Google Shape;1040;p26"/>
          <p:cNvSpPr/>
          <p:nvPr/>
        </p:nvSpPr>
        <p:spPr>
          <a:xfrm>
            <a:off x="211779" y="3630170"/>
            <a:ext cx="7132200" cy="1755600"/>
          </a:xfrm>
          <a:prstGeom prst="rect">
            <a:avLst/>
          </a:prstGeom>
          <a:solidFill>
            <a:srgbClr val="080C1E"/>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1" name="Google Shape;1041;p26"/>
          <p:cNvSpPr/>
          <p:nvPr/>
        </p:nvSpPr>
        <p:spPr>
          <a:xfrm>
            <a:off x="211779" y="3630170"/>
            <a:ext cx="7132200" cy="2559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2" name="Google Shape;1042;p26"/>
          <p:cNvSpPr txBox="1"/>
          <p:nvPr/>
        </p:nvSpPr>
        <p:spPr>
          <a:xfrm>
            <a:off x="211779" y="3666746"/>
            <a:ext cx="71322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  Validation Agent — Self-Debugging Loop  (on ChainStep failure)</a:t>
            </a:r>
            <a:endParaRPr b="0" i="0" sz="1400" u="none" cap="none" strike="noStrike">
              <a:solidFill>
                <a:srgbClr val="000000"/>
              </a:solidFill>
              <a:latin typeface="Arial"/>
              <a:ea typeface="Arial"/>
              <a:cs typeface="Arial"/>
              <a:sym typeface="Arial"/>
            </a:endParaRPr>
          </a:p>
        </p:txBody>
      </p:sp>
      <p:sp>
        <p:nvSpPr>
          <p:cNvPr id="1043" name="Google Shape;1043;p26"/>
          <p:cNvSpPr/>
          <p:nvPr/>
        </p:nvSpPr>
        <p:spPr>
          <a:xfrm>
            <a:off x="348940"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4" name="Google Shape;1044;p26"/>
          <p:cNvSpPr/>
          <p:nvPr/>
        </p:nvSpPr>
        <p:spPr>
          <a:xfrm>
            <a:off x="348940"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5" name="Google Shape;1045;p26"/>
          <p:cNvSpPr txBox="1"/>
          <p:nvPr/>
        </p:nvSpPr>
        <p:spPr>
          <a:xfrm>
            <a:off x="348940"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ATTEMPT</a:t>
            </a:r>
            <a:endParaRPr b="0" i="0" sz="1400" u="none" cap="none" strike="noStrike">
              <a:solidFill>
                <a:srgbClr val="000000"/>
              </a:solidFill>
              <a:latin typeface="Arial"/>
              <a:ea typeface="Arial"/>
              <a:cs typeface="Arial"/>
              <a:sym typeface="Arial"/>
            </a:endParaRPr>
          </a:p>
        </p:txBody>
      </p:sp>
      <p:sp>
        <p:nvSpPr>
          <p:cNvPr id="1046" name="Google Shape;1046;p26"/>
          <p:cNvSpPr txBox="1"/>
          <p:nvPr/>
        </p:nvSpPr>
        <p:spPr>
          <a:xfrm>
            <a:off x="403804" y="4206242"/>
            <a:ext cx="1337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Execute tool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against target</a:t>
            </a:r>
            <a:endParaRPr b="0" i="0" sz="1400" u="none" cap="none" strike="noStrike">
              <a:solidFill>
                <a:srgbClr val="000000"/>
              </a:solidFill>
              <a:latin typeface="Arial"/>
              <a:ea typeface="Arial"/>
              <a:cs typeface="Arial"/>
              <a:sym typeface="Arial"/>
            </a:endParaRPr>
          </a:p>
        </p:txBody>
      </p:sp>
      <p:sp>
        <p:nvSpPr>
          <p:cNvPr id="1047" name="Google Shape;1047;p26"/>
          <p:cNvSpPr/>
          <p:nvPr/>
        </p:nvSpPr>
        <p:spPr>
          <a:xfrm>
            <a:off x="1850842"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8" name="Google Shape;1048;p26"/>
          <p:cNvSpPr/>
          <p:nvPr/>
        </p:nvSpPr>
        <p:spPr>
          <a:xfrm>
            <a:off x="1850842"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9" name="Google Shape;1049;p26"/>
          <p:cNvSpPr txBox="1"/>
          <p:nvPr/>
        </p:nvSpPr>
        <p:spPr>
          <a:xfrm>
            <a:off x="1850842"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DIAGNOSE</a:t>
            </a:r>
            <a:endParaRPr b="0" i="0" sz="1400" u="none" cap="none" strike="noStrike">
              <a:solidFill>
                <a:srgbClr val="000000"/>
              </a:solidFill>
              <a:latin typeface="Arial"/>
              <a:ea typeface="Arial"/>
              <a:cs typeface="Arial"/>
              <a:sym typeface="Arial"/>
            </a:endParaRPr>
          </a:p>
        </p:txBody>
      </p:sp>
      <p:sp>
        <p:nvSpPr>
          <p:cNvPr id="1050" name="Google Shape;1050;p26"/>
          <p:cNvSpPr txBox="1"/>
          <p:nvPr/>
        </p:nvSpPr>
        <p:spPr>
          <a:xfrm>
            <a:off x="1905706"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Analyze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wrong param · auth</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version mismatch</a:t>
            </a:r>
            <a:endParaRPr b="0" i="0" sz="1400" u="none" cap="none" strike="noStrike">
              <a:solidFill>
                <a:srgbClr val="000000"/>
              </a:solidFill>
              <a:latin typeface="Arial"/>
              <a:ea typeface="Arial"/>
              <a:cs typeface="Arial"/>
              <a:sym typeface="Arial"/>
            </a:endParaRPr>
          </a:p>
        </p:txBody>
      </p:sp>
      <p:cxnSp>
        <p:nvCxnSpPr>
          <p:cNvPr id="1051" name="Google Shape;1051;p26"/>
          <p:cNvCxnSpPr/>
          <p:nvPr/>
        </p:nvCxnSpPr>
        <p:spPr>
          <a:xfrm>
            <a:off x="0" y="0"/>
            <a:ext cx="0" cy="0"/>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1052" name="Google Shape;1052;p26"/>
          <p:cNvSpPr/>
          <p:nvPr/>
        </p:nvSpPr>
        <p:spPr>
          <a:xfrm>
            <a:off x="3352743" y="3950210"/>
            <a:ext cx="1428900" cy="1371600"/>
          </a:xfrm>
          <a:prstGeom prst="rect">
            <a:avLst/>
          </a:prstGeom>
          <a:solidFill>
            <a:srgbClr val="101428"/>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3" name="Google Shape;1053;p26"/>
          <p:cNvSpPr/>
          <p:nvPr/>
        </p:nvSpPr>
        <p:spPr>
          <a:xfrm>
            <a:off x="3352743" y="3950210"/>
            <a:ext cx="1428900" cy="2196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4" name="Google Shape;1054;p26"/>
          <p:cNvSpPr txBox="1"/>
          <p:nvPr/>
        </p:nvSpPr>
        <p:spPr>
          <a:xfrm>
            <a:off x="3352743"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CONTEXTUALIZE</a:t>
            </a:r>
            <a:endParaRPr b="0" i="0" sz="1400" u="none" cap="none" strike="noStrike">
              <a:solidFill>
                <a:srgbClr val="000000"/>
              </a:solidFill>
              <a:latin typeface="Arial"/>
              <a:ea typeface="Arial"/>
              <a:cs typeface="Arial"/>
              <a:sym typeface="Arial"/>
            </a:endParaRPr>
          </a:p>
        </p:txBody>
      </p:sp>
      <p:sp>
        <p:nvSpPr>
          <p:cNvPr id="1055" name="Google Shape;1055;p26"/>
          <p:cNvSpPr txBox="1"/>
          <p:nvPr/>
        </p:nvSpPr>
        <p:spPr>
          <a:xfrm>
            <a:off x="3407607"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Query ASG for</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additional node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attributes</a:t>
            </a:r>
            <a:endParaRPr b="0" i="0" sz="1400" u="none" cap="none" strike="noStrike">
              <a:solidFill>
                <a:srgbClr val="000000"/>
              </a:solidFill>
              <a:latin typeface="Arial"/>
              <a:ea typeface="Arial"/>
              <a:cs typeface="Arial"/>
              <a:sym typeface="Arial"/>
            </a:endParaRPr>
          </a:p>
        </p:txBody>
      </p:sp>
      <p:cxnSp>
        <p:nvCxnSpPr>
          <p:cNvPr id="1056" name="Google Shape;1056;p26"/>
          <p:cNvCxnSpPr/>
          <p:nvPr/>
        </p:nvCxnSpPr>
        <p:spPr>
          <a:xfrm>
            <a:off x="0" y="0"/>
            <a:ext cx="0" cy="0"/>
          </a:xfrm>
          <a:prstGeom prst="straightConnector1">
            <a:avLst/>
          </a:prstGeom>
          <a:noFill/>
          <a:ln cap="flat" cmpd="sng" w="15225">
            <a:solidFill>
              <a:srgbClr val="00E5FF"/>
            </a:solidFill>
            <a:prstDash val="solid"/>
            <a:round/>
            <a:headEnd len="med" w="med" type="stealth"/>
            <a:tailEnd len="sm" w="sm" type="none"/>
          </a:ln>
          <a:effectLst>
            <a:outerShdw blurRad="40000" rotWithShape="0" dir="5400000" dist="20000">
              <a:srgbClr val="000000">
                <a:alpha val="38040"/>
              </a:srgbClr>
            </a:outerShdw>
          </a:effectLst>
        </p:spPr>
      </p:cxnSp>
      <p:sp>
        <p:nvSpPr>
          <p:cNvPr id="1057" name="Google Shape;1057;p26"/>
          <p:cNvSpPr/>
          <p:nvPr/>
        </p:nvSpPr>
        <p:spPr>
          <a:xfrm>
            <a:off x="4854646" y="3950210"/>
            <a:ext cx="1428900" cy="1371600"/>
          </a:xfrm>
          <a:prstGeom prst="rect">
            <a:avLst/>
          </a:prstGeom>
          <a:solidFill>
            <a:srgbClr val="101428"/>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8" name="Google Shape;1058;p26"/>
          <p:cNvSpPr/>
          <p:nvPr/>
        </p:nvSpPr>
        <p:spPr>
          <a:xfrm>
            <a:off x="4854646" y="3950210"/>
            <a:ext cx="1428900" cy="2196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9" name="Google Shape;1059;p26"/>
          <p:cNvSpPr txBox="1"/>
          <p:nvPr/>
        </p:nvSpPr>
        <p:spPr>
          <a:xfrm>
            <a:off x="4854646"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ADAPT</a:t>
            </a:r>
            <a:endParaRPr b="0" i="0" sz="1400" u="none" cap="none" strike="noStrike">
              <a:solidFill>
                <a:srgbClr val="000000"/>
              </a:solidFill>
              <a:latin typeface="Arial"/>
              <a:ea typeface="Arial"/>
              <a:cs typeface="Arial"/>
              <a:sym typeface="Arial"/>
            </a:endParaRPr>
          </a:p>
        </p:txBody>
      </p:sp>
      <p:sp>
        <p:nvSpPr>
          <p:cNvPr id="1060" name="Google Shape;1060;p26"/>
          <p:cNvSpPr txBox="1"/>
          <p:nvPr/>
        </p:nvSpPr>
        <p:spPr>
          <a:xfrm>
            <a:off x="4909510"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Modify tool call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based on diagnosis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context</a:t>
            </a:r>
            <a:endParaRPr b="0" i="0" sz="1400" u="none" cap="none" strike="noStrike">
              <a:solidFill>
                <a:srgbClr val="000000"/>
              </a:solidFill>
              <a:latin typeface="Arial"/>
              <a:ea typeface="Arial"/>
              <a:cs typeface="Arial"/>
              <a:sym typeface="Arial"/>
            </a:endParaRPr>
          </a:p>
        </p:txBody>
      </p:sp>
      <p:cxnSp>
        <p:nvCxnSpPr>
          <p:cNvPr id="1061" name="Google Shape;1061;p26"/>
          <p:cNvCxnSpPr/>
          <p:nvPr/>
        </p:nvCxnSpPr>
        <p:spPr>
          <a:xfrm>
            <a:off x="0" y="0"/>
            <a:ext cx="0" cy="0"/>
          </a:xfrm>
          <a:prstGeom prst="straightConnector1">
            <a:avLst/>
          </a:prstGeom>
          <a:noFill/>
          <a:ln cap="flat" cmpd="sng" w="15225">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1062" name="Google Shape;1062;p26"/>
          <p:cNvSpPr/>
          <p:nvPr/>
        </p:nvSpPr>
        <p:spPr>
          <a:xfrm>
            <a:off x="6356548" y="3950210"/>
            <a:ext cx="850500" cy="1371600"/>
          </a:xfrm>
          <a:prstGeom prst="rect">
            <a:avLst/>
          </a:prstGeom>
          <a:solidFill>
            <a:srgbClr val="220808"/>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3" name="Google Shape;1063;p26"/>
          <p:cNvSpPr/>
          <p:nvPr/>
        </p:nvSpPr>
        <p:spPr>
          <a:xfrm>
            <a:off x="6356548" y="3950210"/>
            <a:ext cx="850500" cy="219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4" name="Google Shape;1064;p26"/>
          <p:cNvSpPr txBox="1"/>
          <p:nvPr/>
        </p:nvSpPr>
        <p:spPr>
          <a:xfrm>
            <a:off x="6356548" y="3977642"/>
            <a:ext cx="8505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CAP  (×3 max)</a:t>
            </a:r>
            <a:endParaRPr b="0" i="0" sz="1400" u="none" cap="none" strike="noStrike">
              <a:solidFill>
                <a:srgbClr val="000000"/>
              </a:solidFill>
              <a:latin typeface="Arial"/>
              <a:ea typeface="Arial"/>
              <a:cs typeface="Arial"/>
              <a:sym typeface="Arial"/>
            </a:endParaRPr>
          </a:p>
        </p:txBody>
      </p:sp>
      <p:cxnSp>
        <p:nvCxnSpPr>
          <p:cNvPr id="1065" name="Google Shape;1065;p26"/>
          <p:cNvCxnSpPr/>
          <p:nvPr/>
        </p:nvCxnSpPr>
        <p:spPr>
          <a:xfrm>
            <a:off x="0" y="0"/>
            <a:ext cx="0" cy="0"/>
          </a:xfrm>
          <a:prstGeom prst="straightConnector1">
            <a:avLst/>
          </a:prstGeom>
          <a:noFill/>
          <a:ln cap="flat" cmpd="sng" w="15225">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1066" name="Google Shape;1066;p26"/>
          <p:cNvSpPr txBox="1"/>
          <p:nvPr/>
        </p:nvSpPr>
        <p:spPr>
          <a:xfrm>
            <a:off x="6411411" y="4206242"/>
            <a:ext cx="7590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Mark ChainStep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RULED_OUT</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Write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to ASG node</a:t>
            </a:r>
            <a:endParaRPr b="0" i="0" sz="1400" u="none" cap="none" strike="noStrike">
              <a:solidFill>
                <a:srgbClr val="000000"/>
              </a:solidFill>
              <a:latin typeface="Arial"/>
              <a:ea typeface="Arial"/>
              <a:cs typeface="Arial"/>
              <a:sym typeface="Arial"/>
            </a:endParaRPr>
          </a:p>
        </p:txBody>
      </p:sp>
      <p:cxnSp>
        <p:nvCxnSpPr>
          <p:cNvPr id="1067" name="Google Shape;1067;p26"/>
          <p:cNvCxnSpPr/>
          <p:nvPr/>
        </p:nvCxnSpPr>
        <p:spPr>
          <a:xfrm>
            <a:off x="0" y="6537960"/>
            <a:ext cx="0" cy="0"/>
          </a:xfrm>
          <a:prstGeom prst="straightConnector1">
            <a:avLst/>
          </a:prstGeom>
          <a:noFill/>
          <a:ln cap="flat" cmpd="sng" w="1270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1068" name="Google Shape;1068;p26"/>
          <p:cNvSpPr txBox="1"/>
          <p:nvPr/>
        </p:nvSpPr>
        <p:spPr>
          <a:xfrm>
            <a:off x="1777839" y="5417023"/>
            <a:ext cx="22860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39FF14"/>
                </a:solidFill>
                <a:latin typeface="Calibri"/>
                <a:ea typeface="Calibri"/>
                <a:cs typeface="Calibri"/>
                <a:sym typeface="Calibri"/>
              </a:rPr>
              <a:t>retry (up to cap)</a:t>
            </a:r>
            <a:endParaRPr b="0" i="0" sz="1400" u="none" cap="none" strike="noStrike">
              <a:solidFill>
                <a:srgbClr val="000000"/>
              </a:solidFill>
              <a:latin typeface="Arial"/>
              <a:ea typeface="Arial"/>
              <a:cs typeface="Arial"/>
              <a:sym typeface="Arial"/>
            </a:endParaRPr>
          </a:p>
        </p:txBody>
      </p:sp>
      <p:sp>
        <p:nvSpPr>
          <p:cNvPr id="1069" name="Google Shape;1069;p26"/>
          <p:cNvSpPr/>
          <p:nvPr/>
        </p:nvSpPr>
        <p:spPr>
          <a:xfrm>
            <a:off x="7435475" y="3630175"/>
            <a:ext cx="4620600" cy="2965200"/>
          </a:xfrm>
          <a:prstGeom prst="rect">
            <a:avLst/>
          </a:prstGeom>
          <a:solidFill>
            <a:srgbClr val="0E0C04"/>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0" name="Google Shape;1070;p26"/>
          <p:cNvSpPr/>
          <p:nvPr/>
        </p:nvSpPr>
        <p:spPr>
          <a:xfrm>
            <a:off x="7435540" y="3630170"/>
            <a:ext cx="4620600" cy="2559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1" name="Google Shape;1071;p26"/>
          <p:cNvSpPr txBox="1"/>
          <p:nvPr/>
        </p:nvSpPr>
        <p:spPr>
          <a:xfrm>
            <a:off x="7435540" y="3666746"/>
            <a:ext cx="46206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Risk Score + Chain Priority</a:t>
            </a:r>
            <a:endParaRPr b="0" i="0" sz="1400" u="none" cap="none" strike="noStrike">
              <a:solidFill>
                <a:srgbClr val="000000"/>
              </a:solidFill>
              <a:latin typeface="Arial"/>
              <a:ea typeface="Arial"/>
              <a:cs typeface="Arial"/>
              <a:sym typeface="Arial"/>
            </a:endParaRPr>
          </a:p>
        </p:txBody>
      </p:sp>
      <p:sp>
        <p:nvSpPr>
          <p:cNvPr id="1072" name="Google Shape;1072;p26"/>
          <p:cNvSpPr txBox="1"/>
          <p:nvPr/>
        </p:nvSpPr>
        <p:spPr>
          <a:xfrm>
            <a:off x="7526980" y="3941066"/>
            <a:ext cx="44559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risk_score = CVSS × Exploitability × Impact</a:t>
            </a:r>
            <a:endParaRPr b="0" i="0" sz="1400" u="none" cap="none" strike="noStrike">
              <a:solidFill>
                <a:srgbClr val="000000"/>
              </a:solidFill>
              <a:latin typeface="Arial"/>
              <a:ea typeface="Arial"/>
              <a:cs typeface="Arial"/>
              <a:sym typeface="Arial"/>
            </a:endParaRPr>
          </a:p>
        </p:txBody>
      </p:sp>
      <p:sp>
        <p:nvSpPr>
          <p:cNvPr id="1073" name="Google Shape;1073;p26"/>
          <p:cNvSpPr txBox="1"/>
          <p:nvPr/>
        </p:nvSpPr>
        <p:spPr>
          <a:xfrm>
            <a:off x="7526980" y="4215386"/>
            <a:ext cx="44559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Priority = rank across all HYPOTHESIZED + PARTIALLY_VALIDATED chains.</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Commander pursues highest-priority chain first — re-ranks on every status change.</a:t>
            </a:r>
            <a:endParaRPr b="0" i="0" sz="1400" u="none" cap="none" strike="noStrike">
              <a:solidFill>
                <a:srgbClr val="000000"/>
              </a:solidFill>
              <a:latin typeface="Arial"/>
              <a:ea typeface="Arial"/>
              <a:cs typeface="Arial"/>
              <a:sym typeface="Arial"/>
            </a:endParaRPr>
          </a:p>
        </p:txBody>
      </p:sp>
      <p:sp>
        <p:nvSpPr>
          <p:cNvPr id="1074" name="Google Shape;1074;p26"/>
          <p:cNvSpPr/>
          <p:nvPr/>
        </p:nvSpPr>
        <p:spPr>
          <a:xfrm>
            <a:off x="7526980" y="4745738"/>
            <a:ext cx="4455900" cy="237600"/>
          </a:xfrm>
          <a:prstGeom prst="rect">
            <a:avLst/>
          </a:prstGeom>
          <a:solidFill>
            <a:srgbClr val="22180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5" name="Google Shape;1075;p26"/>
          <p:cNvSpPr txBox="1"/>
          <p:nvPr/>
        </p:nvSpPr>
        <p:spPr>
          <a:xfrm>
            <a:off x="7563556" y="4773170"/>
            <a:ext cx="43920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D700"/>
                </a:solidFill>
                <a:latin typeface="Calibri"/>
                <a:ea typeface="Calibri"/>
                <a:cs typeface="Calibri"/>
                <a:sym typeface="Calibri"/>
              </a:rPr>
              <a:t>shopvault.io  —  APG Chain Priority Order</a:t>
            </a:r>
            <a:endParaRPr b="0" i="0" sz="1400" u="none" cap="none" strike="noStrike">
              <a:solidFill>
                <a:srgbClr val="000000"/>
              </a:solidFill>
              <a:latin typeface="Arial"/>
              <a:ea typeface="Arial"/>
              <a:cs typeface="Arial"/>
              <a:sym typeface="Arial"/>
            </a:endParaRPr>
          </a:p>
        </p:txBody>
      </p:sp>
      <p:sp>
        <p:nvSpPr>
          <p:cNvPr id="1076" name="Google Shape;1076;p26"/>
          <p:cNvSpPr/>
          <p:nvPr/>
        </p:nvSpPr>
        <p:spPr>
          <a:xfrm>
            <a:off x="7526980" y="5020058"/>
            <a:ext cx="4455900" cy="347400"/>
          </a:xfrm>
          <a:prstGeom prst="rect">
            <a:avLst/>
          </a:prstGeom>
          <a:solidFill>
            <a:srgbClr val="18120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7" name="Google Shape;1077;p26"/>
          <p:cNvSpPr txBox="1"/>
          <p:nvPr/>
        </p:nvSpPr>
        <p:spPr>
          <a:xfrm>
            <a:off x="7563556" y="507492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4545"/>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078" name="Google Shape;1078;p26"/>
          <p:cNvSpPr txBox="1"/>
          <p:nvPr/>
        </p:nvSpPr>
        <p:spPr>
          <a:xfrm>
            <a:off x="7783012" y="507492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Chain-01  —  CVE-2022-21661 SQLi → RCE</a:t>
            </a:r>
            <a:endParaRPr b="0" i="0" sz="1400" u="none" cap="none" strike="noStrike">
              <a:solidFill>
                <a:srgbClr val="000000"/>
              </a:solidFill>
              <a:latin typeface="Arial"/>
              <a:ea typeface="Arial"/>
              <a:cs typeface="Arial"/>
              <a:sym typeface="Arial"/>
            </a:endParaRPr>
          </a:p>
        </p:txBody>
      </p:sp>
      <p:sp>
        <p:nvSpPr>
          <p:cNvPr id="1079" name="Google Shape;1079;p26"/>
          <p:cNvSpPr txBox="1"/>
          <p:nvPr/>
        </p:nvSpPr>
        <p:spPr>
          <a:xfrm>
            <a:off x="11553083" y="507492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4545"/>
                </a:solidFill>
                <a:latin typeface="Calibri"/>
                <a:ea typeface="Calibri"/>
                <a:cs typeface="Calibri"/>
                <a:sym typeface="Calibri"/>
              </a:rPr>
              <a:t>9.1</a:t>
            </a:r>
            <a:endParaRPr b="0" i="0" sz="1400" u="none" cap="none" strike="noStrike">
              <a:solidFill>
                <a:srgbClr val="000000"/>
              </a:solidFill>
              <a:latin typeface="Arial"/>
              <a:ea typeface="Arial"/>
              <a:cs typeface="Arial"/>
              <a:sym typeface="Arial"/>
            </a:endParaRPr>
          </a:p>
        </p:txBody>
      </p:sp>
      <p:sp>
        <p:nvSpPr>
          <p:cNvPr id="1080" name="Google Shape;1080;p26"/>
          <p:cNvSpPr/>
          <p:nvPr/>
        </p:nvSpPr>
        <p:spPr>
          <a:xfrm>
            <a:off x="7526980" y="5385818"/>
            <a:ext cx="4455900" cy="347400"/>
          </a:xfrm>
          <a:prstGeom prst="rect">
            <a:avLst/>
          </a:prstGeom>
          <a:solidFill>
            <a:srgbClr val="120C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1" name="Google Shape;1081;p26"/>
          <p:cNvSpPr txBox="1"/>
          <p:nvPr/>
        </p:nvSpPr>
        <p:spPr>
          <a:xfrm>
            <a:off x="7563556" y="544068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082" name="Google Shape;1082;p26"/>
          <p:cNvSpPr txBox="1"/>
          <p:nvPr/>
        </p:nvSpPr>
        <p:spPr>
          <a:xfrm>
            <a:off x="7783012" y="544068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Chain-03  —  Blind SQLi on staging → DB creds</a:t>
            </a:r>
            <a:endParaRPr b="0" i="0" sz="1400" u="none" cap="none" strike="noStrike">
              <a:solidFill>
                <a:srgbClr val="000000"/>
              </a:solidFill>
              <a:latin typeface="Arial"/>
              <a:ea typeface="Arial"/>
              <a:cs typeface="Arial"/>
              <a:sym typeface="Arial"/>
            </a:endParaRPr>
          </a:p>
        </p:txBody>
      </p:sp>
      <p:sp>
        <p:nvSpPr>
          <p:cNvPr id="1083" name="Google Shape;1083;p26"/>
          <p:cNvSpPr txBox="1"/>
          <p:nvPr/>
        </p:nvSpPr>
        <p:spPr>
          <a:xfrm>
            <a:off x="11553083" y="544068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8.1</a:t>
            </a:r>
            <a:endParaRPr b="0" i="0" sz="1400" u="none" cap="none" strike="noStrike">
              <a:solidFill>
                <a:srgbClr val="000000"/>
              </a:solidFill>
              <a:latin typeface="Arial"/>
              <a:ea typeface="Arial"/>
              <a:cs typeface="Arial"/>
              <a:sym typeface="Arial"/>
            </a:endParaRPr>
          </a:p>
        </p:txBody>
      </p:sp>
      <p:sp>
        <p:nvSpPr>
          <p:cNvPr id="1084" name="Google Shape;1084;p26"/>
          <p:cNvSpPr/>
          <p:nvPr/>
        </p:nvSpPr>
        <p:spPr>
          <a:xfrm>
            <a:off x="7526980" y="5751578"/>
            <a:ext cx="4455900" cy="347400"/>
          </a:xfrm>
          <a:prstGeom prst="rect">
            <a:avLst/>
          </a:prstGeom>
          <a:solidFill>
            <a:srgbClr val="1812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5" name="Google Shape;1085;p26"/>
          <p:cNvSpPr txBox="1"/>
          <p:nvPr/>
        </p:nvSpPr>
        <p:spPr>
          <a:xfrm>
            <a:off x="7563556" y="580644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086" name="Google Shape;1086;p26"/>
          <p:cNvSpPr txBox="1"/>
          <p:nvPr/>
        </p:nvSpPr>
        <p:spPr>
          <a:xfrm>
            <a:off x="7783012" y="580644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Chain-02  —  IDOR on /api/v1/orders → PII</a:t>
            </a:r>
            <a:endParaRPr b="0" i="0" sz="1400" u="none" cap="none" strike="noStrike">
              <a:solidFill>
                <a:srgbClr val="000000"/>
              </a:solidFill>
              <a:latin typeface="Arial"/>
              <a:ea typeface="Arial"/>
              <a:cs typeface="Arial"/>
              <a:sym typeface="Arial"/>
            </a:endParaRPr>
          </a:p>
        </p:txBody>
      </p:sp>
      <p:sp>
        <p:nvSpPr>
          <p:cNvPr id="1087" name="Google Shape;1087;p26"/>
          <p:cNvSpPr txBox="1"/>
          <p:nvPr/>
        </p:nvSpPr>
        <p:spPr>
          <a:xfrm>
            <a:off x="11553083" y="580644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7.5</a:t>
            </a:r>
            <a:endParaRPr b="0" i="0" sz="1400" u="none" cap="none" strike="noStrike">
              <a:solidFill>
                <a:srgbClr val="000000"/>
              </a:solidFill>
              <a:latin typeface="Arial"/>
              <a:ea typeface="Arial"/>
              <a:cs typeface="Arial"/>
              <a:sym typeface="Arial"/>
            </a:endParaRPr>
          </a:p>
        </p:txBody>
      </p:sp>
      <p:sp>
        <p:nvSpPr>
          <p:cNvPr id="1088" name="Google Shape;1088;p26"/>
          <p:cNvSpPr/>
          <p:nvPr/>
        </p:nvSpPr>
        <p:spPr>
          <a:xfrm>
            <a:off x="7526980" y="6117338"/>
            <a:ext cx="4455900" cy="347400"/>
          </a:xfrm>
          <a:prstGeom prst="rect">
            <a:avLst/>
          </a:prstGeom>
          <a:solidFill>
            <a:srgbClr val="120C0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9" name="Google Shape;1089;p26"/>
          <p:cNvSpPr txBox="1"/>
          <p:nvPr/>
        </p:nvSpPr>
        <p:spPr>
          <a:xfrm>
            <a:off x="7563556" y="617220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090" name="Google Shape;1090;p26"/>
          <p:cNvSpPr txBox="1"/>
          <p:nvPr/>
        </p:nvSpPr>
        <p:spPr>
          <a:xfrm>
            <a:off x="7783012" y="617220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Chain-04  —  Direct DB backup download → PII</a:t>
            </a:r>
            <a:endParaRPr b="0" i="0" sz="1400" u="none" cap="none" strike="noStrike">
              <a:solidFill>
                <a:srgbClr val="000000"/>
              </a:solidFill>
              <a:latin typeface="Arial"/>
              <a:ea typeface="Arial"/>
              <a:cs typeface="Arial"/>
              <a:sym typeface="Arial"/>
            </a:endParaRPr>
          </a:p>
        </p:txBody>
      </p:sp>
      <p:sp>
        <p:nvSpPr>
          <p:cNvPr id="1091" name="Google Shape;1091;p26"/>
          <p:cNvSpPr txBox="1"/>
          <p:nvPr/>
        </p:nvSpPr>
        <p:spPr>
          <a:xfrm>
            <a:off x="11553083" y="617220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BD93F9"/>
                </a:solidFill>
                <a:latin typeface="Calibri"/>
                <a:ea typeface="Calibri"/>
                <a:cs typeface="Calibri"/>
                <a:sym typeface="Calibri"/>
              </a:rPr>
              <a:t>N/A</a:t>
            </a:r>
            <a:endParaRPr b="0" i="0" sz="1400" u="none" cap="none" strike="noStrike">
              <a:solidFill>
                <a:srgbClr val="000000"/>
              </a:solidFill>
              <a:latin typeface="Arial"/>
              <a:ea typeface="Arial"/>
              <a:cs typeface="Arial"/>
              <a:sym typeface="Arial"/>
            </a:endParaRPr>
          </a:p>
        </p:txBody>
      </p:sp>
      <p:sp>
        <p:nvSpPr>
          <p:cNvPr id="1092" name="Google Shape;1092;p26"/>
          <p:cNvSpPr txBox="1"/>
          <p:nvPr/>
        </p:nvSpPr>
        <p:spPr>
          <a:xfrm>
            <a:off x="11524920" y="139675"/>
            <a:ext cx="483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09</a:t>
            </a:r>
            <a:endParaRPr b="0" i="0" sz="1400" u="none" cap="none" strike="noStrike">
              <a:solidFill>
                <a:srgbClr val="000000"/>
              </a:solidFill>
              <a:latin typeface="Arial"/>
              <a:ea typeface="Arial"/>
              <a:cs typeface="Arial"/>
              <a:sym typeface="Arial"/>
            </a:endParaRPr>
          </a:p>
        </p:txBody>
      </p:sp>
      <p:cxnSp>
        <p:nvCxnSpPr>
          <p:cNvPr id="1093" name="Google Shape;1093;p26"/>
          <p:cNvCxnSpPr>
            <a:stCxn id="1026" idx="3"/>
          </p:cNvCxnSpPr>
          <p:nvPr/>
        </p:nvCxnSpPr>
        <p:spPr>
          <a:xfrm flipH="1" rot="10800000">
            <a:off x="5367444" y="1669770"/>
            <a:ext cx="1605900" cy="26400"/>
          </a:xfrm>
          <a:prstGeom prst="straightConnector1">
            <a:avLst/>
          </a:prstGeom>
          <a:noFill/>
          <a:ln cap="flat" cmpd="sng" w="9525">
            <a:solidFill>
              <a:srgbClr val="00FF00"/>
            </a:solidFill>
            <a:prstDash val="solid"/>
            <a:round/>
            <a:headEnd len="sm" w="sm" type="none"/>
            <a:tailEnd len="med" w="med" type="triangle"/>
          </a:ln>
        </p:spPr>
      </p:cxnSp>
      <p:cxnSp>
        <p:nvCxnSpPr>
          <p:cNvPr id="1094" name="Google Shape;1094;p26"/>
          <p:cNvCxnSpPr>
            <a:endCxn id="1034" idx="2"/>
          </p:cNvCxnSpPr>
          <p:nvPr/>
        </p:nvCxnSpPr>
        <p:spPr>
          <a:xfrm>
            <a:off x="5202955" y="1860909"/>
            <a:ext cx="5521200" cy="726900"/>
          </a:xfrm>
          <a:prstGeom prst="curvedConnector4">
            <a:avLst>
              <a:gd fmla="val 14188" name="adj1"/>
              <a:gd fmla="val 162989" name="adj2"/>
            </a:avLst>
          </a:prstGeom>
          <a:noFill/>
          <a:ln cap="flat" cmpd="sng" w="9525">
            <a:solidFill>
              <a:srgbClr val="FF0000"/>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099" name="Shape 1099"/>
        <p:cNvGrpSpPr/>
        <p:nvPr/>
      </p:nvGrpSpPr>
      <p:grpSpPr>
        <a:xfrm>
          <a:off x="0" y="0"/>
          <a:ext cx="0" cy="0"/>
          <a:chOff x="0" y="0"/>
          <a:chExt cx="0" cy="0"/>
        </a:xfrm>
      </p:grpSpPr>
      <p:sp>
        <p:nvSpPr>
          <p:cNvPr id="1100" name="Google Shape;1100;p27"/>
          <p:cNvSpPr/>
          <p:nvPr/>
        </p:nvSpPr>
        <p:spPr>
          <a:xfrm>
            <a:off x="365760" y="73152"/>
            <a:ext cx="1097280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0D4FF"/>
              </a:buClr>
              <a:buSzPts val="1100"/>
              <a:buFont typeface="Arial"/>
              <a:buNone/>
            </a:pPr>
            <a:r>
              <a:rPr b="1" i="0" lang="en-US" sz="1100" u="none" cap="none" strike="noStrike">
                <a:solidFill>
                  <a:srgbClr val="00D4FF"/>
                </a:solidFill>
                <a:latin typeface="Arial"/>
                <a:ea typeface="Arial"/>
                <a:cs typeface="Arial"/>
                <a:sym typeface="Arial"/>
              </a:rPr>
              <a:t>AUTONOMOUS PLANNING CYCLE</a:t>
            </a:r>
            <a:endParaRPr b="0" i="0" sz="1100" u="none" cap="none" strike="noStrike">
              <a:solidFill>
                <a:schemeClr val="dk1"/>
              </a:solidFill>
              <a:latin typeface="Calibri"/>
              <a:ea typeface="Calibri"/>
              <a:cs typeface="Calibri"/>
              <a:sym typeface="Calibri"/>
            </a:endParaRPr>
          </a:p>
        </p:txBody>
      </p:sp>
      <p:sp>
        <p:nvSpPr>
          <p:cNvPr id="1101" name="Google Shape;1101;p27"/>
          <p:cNvSpPr/>
          <p:nvPr/>
        </p:nvSpPr>
        <p:spPr>
          <a:xfrm>
            <a:off x="365760" y="292608"/>
            <a:ext cx="11460480" cy="36576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300"/>
              <a:buFont typeface="Arial"/>
              <a:buNone/>
            </a:pPr>
            <a:r>
              <a:rPr b="1" i="0" lang="en-US" sz="2300" u="none" cap="none" strike="noStrike">
                <a:solidFill>
                  <a:srgbClr val="FFFFFF"/>
                </a:solidFill>
                <a:latin typeface="Arial"/>
                <a:ea typeface="Arial"/>
                <a:cs typeface="Arial"/>
                <a:sym typeface="Arial"/>
              </a:rPr>
              <a:t>Commander Loop — Graph-Grounded, Event-Driven, Self-Terminating</a:t>
            </a:r>
            <a:endParaRPr b="0" i="0" sz="2300" u="none" cap="none" strike="noStrike">
              <a:solidFill>
                <a:schemeClr val="dk1"/>
              </a:solidFill>
              <a:latin typeface="Calibri"/>
              <a:ea typeface="Calibri"/>
              <a:cs typeface="Calibri"/>
              <a:sym typeface="Calibri"/>
            </a:endParaRPr>
          </a:p>
        </p:txBody>
      </p:sp>
      <p:sp>
        <p:nvSpPr>
          <p:cNvPr id="1102" name="Google Shape;1102;p27"/>
          <p:cNvSpPr/>
          <p:nvPr/>
        </p:nvSpPr>
        <p:spPr>
          <a:xfrm>
            <a:off x="11704320" y="73152"/>
            <a:ext cx="426720" cy="243840"/>
          </a:xfrm>
          <a:prstGeom prst="rect">
            <a:avLst/>
          </a:prstGeom>
          <a:noFill/>
          <a:ln>
            <a:noFill/>
          </a:ln>
        </p:spPr>
        <p:txBody>
          <a:bodyPr anchorCtr="0" anchor="ctr" bIns="60925" lIns="121900" spcFirstLastPara="1" rIns="121900" wrap="square" tIns="60925">
            <a:noAutofit/>
          </a:bodyPr>
          <a:lstStyle/>
          <a:p>
            <a:pPr indent="0" lvl="0" marL="0" marR="0" rtl="0" algn="r">
              <a:spcBef>
                <a:spcPts val="0"/>
              </a:spcBef>
              <a:spcAft>
                <a:spcPts val="0"/>
              </a:spcAft>
              <a:buClr>
                <a:srgbClr val="444444"/>
              </a:buClr>
              <a:buSzPts val="1100"/>
              <a:buFont typeface="Arial"/>
              <a:buNone/>
            </a:pPr>
            <a:r>
              <a:rPr b="0" i="0" lang="en-US" sz="1100" u="none" cap="none" strike="noStrike">
                <a:solidFill>
                  <a:srgbClr val="444444"/>
                </a:solidFill>
                <a:latin typeface="Arial"/>
                <a:ea typeface="Arial"/>
                <a:cs typeface="Arial"/>
                <a:sym typeface="Arial"/>
              </a:rPr>
              <a:t>06</a:t>
            </a:r>
            <a:endParaRPr b="0" i="0" sz="1100" u="none" cap="none" strike="noStrike">
              <a:solidFill>
                <a:schemeClr val="dk1"/>
              </a:solidFill>
              <a:latin typeface="Calibri"/>
              <a:ea typeface="Calibri"/>
              <a:cs typeface="Calibri"/>
              <a:sym typeface="Calibri"/>
            </a:endParaRPr>
          </a:p>
        </p:txBody>
      </p:sp>
      <p:sp>
        <p:nvSpPr>
          <p:cNvPr id="1103" name="Google Shape;1103;p27"/>
          <p:cNvSpPr/>
          <p:nvPr/>
        </p:nvSpPr>
        <p:spPr>
          <a:xfrm>
            <a:off x="182880" y="804672"/>
            <a:ext cx="7071360" cy="5632704"/>
          </a:xfrm>
          <a:prstGeom prst="rect">
            <a:avLst/>
          </a:prstGeom>
          <a:solidFill>
            <a:srgbClr val="04100C"/>
          </a:solidFill>
          <a:ln cap="flat" cmpd="sng" w="1905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4" name="Google Shape;1104;p27"/>
          <p:cNvSpPr/>
          <p:nvPr/>
        </p:nvSpPr>
        <p:spPr>
          <a:xfrm>
            <a:off x="304800" y="853440"/>
            <a:ext cx="682752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0D4FF"/>
              </a:buClr>
              <a:buSzPts val="1200"/>
              <a:buFont typeface="Arial"/>
              <a:buNone/>
            </a:pPr>
            <a:r>
              <a:rPr b="1" i="0" lang="en-US" sz="1200" u="none" cap="none" strike="noStrike">
                <a:solidFill>
                  <a:srgbClr val="00D4FF"/>
                </a:solidFill>
                <a:latin typeface="Arial"/>
                <a:ea typeface="Arial"/>
                <a:cs typeface="Arial"/>
                <a:sym typeface="Arial"/>
              </a:rPr>
              <a:t>Core Planning Loop — Commander runs this every iteration</a:t>
            </a:r>
            <a:endParaRPr b="0" i="0" sz="1200" u="none" cap="none" strike="noStrike">
              <a:solidFill>
                <a:schemeClr val="dk1"/>
              </a:solidFill>
              <a:latin typeface="Calibri"/>
              <a:ea typeface="Calibri"/>
              <a:cs typeface="Calibri"/>
              <a:sym typeface="Calibri"/>
            </a:endParaRPr>
          </a:p>
        </p:txBody>
      </p:sp>
      <p:sp>
        <p:nvSpPr>
          <p:cNvPr id="1105" name="Google Shape;1105;p27"/>
          <p:cNvSpPr/>
          <p:nvPr/>
        </p:nvSpPr>
        <p:spPr>
          <a:xfrm>
            <a:off x="2157984" y="1158240"/>
            <a:ext cx="3048000" cy="463296"/>
          </a:xfrm>
          <a:prstGeom prst="roundRect">
            <a:avLst>
              <a:gd fmla="val 26316" name="adj"/>
            </a:avLst>
          </a:prstGeom>
          <a:solidFill>
            <a:srgbClr val="041A08"/>
          </a:solidFill>
          <a:ln cap="flat" cmpd="sng" w="152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6" name="Google Shape;1106;p27"/>
          <p:cNvSpPr/>
          <p:nvPr/>
        </p:nvSpPr>
        <p:spPr>
          <a:xfrm>
            <a:off x="2157984" y="1158240"/>
            <a:ext cx="3048000" cy="463296"/>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1200"/>
              <a:buFont typeface="Arial"/>
              <a:buNone/>
            </a:pPr>
            <a:r>
              <a:rPr b="1" i="0" lang="en-US" sz="1200" u="none" cap="none" strike="noStrike">
                <a:solidFill>
                  <a:srgbClr val="7FFF00"/>
                </a:solidFill>
                <a:latin typeface="Arial"/>
                <a:ea typeface="Arial"/>
                <a:cs typeface="Arial"/>
                <a:sym typeface="Arial"/>
              </a:rPr>
              <a:t>🚀  MISSION START</a:t>
            </a:r>
            <a:endParaRPr b="0" i="0" sz="1200" u="none" cap="none" strike="noStrike">
              <a:solidFill>
                <a:schemeClr val="dk1"/>
              </a:solidFill>
              <a:latin typeface="Calibri"/>
              <a:ea typeface="Calibri"/>
              <a:cs typeface="Calibri"/>
              <a:sym typeface="Calibri"/>
            </a:endParaRPr>
          </a:p>
        </p:txBody>
      </p:sp>
      <p:sp>
        <p:nvSpPr>
          <p:cNvPr id="1107" name="Google Shape;1107;p27"/>
          <p:cNvSpPr/>
          <p:nvPr/>
        </p:nvSpPr>
        <p:spPr>
          <a:xfrm>
            <a:off x="268224" y="1780032"/>
            <a:ext cx="2133600" cy="633984"/>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8" name="Google Shape;1108;p27"/>
          <p:cNvSpPr/>
          <p:nvPr/>
        </p:nvSpPr>
        <p:spPr>
          <a:xfrm>
            <a:off x="316992" y="1780032"/>
            <a:ext cx="2036064"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OBSERVE ASG</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Unexplored nodes? New Vulns?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New Technology nodes?</a:t>
            </a:r>
            <a:endParaRPr b="0" i="0" sz="800" u="none" cap="none" strike="noStrike">
              <a:solidFill>
                <a:schemeClr val="dk1"/>
              </a:solidFill>
              <a:latin typeface="Calibri"/>
              <a:ea typeface="Calibri"/>
              <a:cs typeface="Calibri"/>
              <a:sym typeface="Calibri"/>
            </a:endParaRPr>
          </a:p>
        </p:txBody>
      </p:sp>
      <p:sp>
        <p:nvSpPr>
          <p:cNvPr id="1109" name="Google Shape;1109;p27"/>
          <p:cNvSpPr/>
          <p:nvPr/>
        </p:nvSpPr>
        <p:spPr>
          <a:xfrm>
            <a:off x="2584704" y="1780032"/>
            <a:ext cx="2133600" cy="633984"/>
          </a:xfrm>
          <a:prstGeom prst="rect">
            <a:avLst/>
          </a:prstGeom>
          <a:solidFill>
            <a:srgbClr val="1E1004"/>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0" name="Google Shape;1110;p27"/>
          <p:cNvSpPr/>
          <p:nvPr/>
        </p:nvSpPr>
        <p:spPr>
          <a:xfrm>
            <a:off x="2633472" y="1780032"/>
            <a:ext cx="2036064"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OBSERVE APG</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Hypothesized chains?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VALIDATED / RULED_OUT?</a:t>
            </a:r>
            <a:endParaRPr b="0" i="0" sz="800" u="none" cap="none" strike="noStrike">
              <a:solidFill>
                <a:schemeClr val="dk1"/>
              </a:solidFill>
              <a:latin typeface="Calibri"/>
              <a:ea typeface="Calibri"/>
              <a:cs typeface="Calibri"/>
              <a:sym typeface="Calibri"/>
            </a:endParaRPr>
          </a:p>
        </p:txBody>
      </p:sp>
      <p:sp>
        <p:nvSpPr>
          <p:cNvPr id="1111" name="Google Shape;1111;p27"/>
          <p:cNvSpPr/>
          <p:nvPr/>
        </p:nvSpPr>
        <p:spPr>
          <a:xfrm>
            <a:off x="1304544" y="2584704"/>
            <a:ext cx="2316480" cy="633984"/>
          </a:xfrm>
          <a:prstGeom prst="rect">
            <a:avLst/>
          </a:prstGeom>
          <a:solidFill>
            <a:srgbClr val="04162E"/>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2" name="Google Shape;1112;p27"/>
          <p:cNvSpPr/>
          <p:nvPr/>
        </p:nvSpPr>
        <p:spPr>
          <a:xfrm>
            <a:off x="1353312" y="2584704"/>
            <a:ext cx="2218944"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 REASON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Given ASG + APG state: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What is the best next action?</a:t>
            </a:r>
            <a:endParaRPr b="0" i="0" sz="800" u="none" cap="none" strike="noStrike">
              <a:solidFill>
                <a:schemeClr val="dk1"/>
              </a:solidFill>
              <a:latin typeface="Calibri"/>
              <a:ea typeface="Calibri"/>
              <a:cs typeface="Calibri"/>
              <a:sym typeface="Calibri"/>
            </a:endParaRPr>
          </a:p>
        </p:txBody>
      </p:sp>
      <p:sp>
        <p:nvSpPr>
          <p:cNvPr id="1113" name="Google Shape;1113;p27"/>
          <p:cNvSpPr/>
          <p:nvPr/>
        </p:nvSpPr>
        <p:spPr>
          <a:xfrm>
            <a:off x="1853184" y="3389376"/>
            <a:ext cx="1219200" cy="512064"/>
          </a:xfrm>
          <a:prstGeom prst="rect">
            <a:avLst/>
          </a:prstGeom>
          <a:solidFill>
            <a:srgbClr val="04162E"/>
          </a:solidFill>
          <a:ln cap="flat" cmpd="sng" w="1270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4" name="Google Shape;1114;p27"/>
          <p:cNvSpPr/>
          <p:nvPr/>
        </p:nvSpPr>
        <p:spPr>
          <a:xfrm>
            <a:off x="1853184" y="3389376"/>
            <a:ext cx="1219200" cy="512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1100"/>
              <a:buFont typeface="Arial"/>
              <a:buNone/>
            </a:pPr>
            <a:r>
              <a:rPr b="1" i="0" lang="en-US" sz="1100" u="none" cap="none" strike="noStrike">
                <a:solidFill>
                  <a:srgbClr val="00D4FF"/>
                </a:solidFill>
                <a:latin typeface="Arial"/>
                <a:ea typeface="Arial"/>
                <a:cs typeface="Arial"/>
                <a:sym typeface="Arial"/>
              </a:rPr>
              <a:t>DECIDE</a:t>
            </a:r>
            <a:endParaRPr b="0" i="0" sz="1100" u="none" cap="none" strike="noStrike">
              <a:solidFill>
                <a:schemeClr val="dk1"/>
              </a:solidFill>
              <a:latin typeface="Calibri"/>
              <a:ea typeface="Calibri"/>
              <a:cs typeface="Calibri"/>
              <a:sym typeface="Calibri"/>
            </a:endParaRPr>
          </a:p>
        </p:txBody>
      </p:sp>
      <p:sp>
        <p:nvSpPr>
          <p:cNvPr id="1115" name="Google Shape;1115;p27"/>
          <p:cNvSpPr/>
          <p:nvPr/>
        </p:nvSpPr>
        <p:spPr>
          <a:xfrm>
            <a:off x="329184" y="4047744"/>
            <a:ext cx="1341120" cy="633984"/>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6" name="Google Shape;1116;p27"/>
          <p:cNvSpPr/>
          <p:nvPr/>
        </p:nvSpPr>
        <p:spPr>
          <a:xfrm>
            <a:off x="377952" y="4047744"/>
            <a:ext cx="1243584"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EXPLORE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Spawn Discovery</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Agent</a:t>
            </a:r>
            <a:endParaRPr b="0" i="0" sz="800" u="none" cap="none" strike="noStrike">
              <a:solidFill>
                <a:schemeClr val="dk1"/>
              </a:solidFill>
              <a:latin typeface="Calibri"/>
              <a:ea typeface="Calibri"/>
              <a:cs typeface="Calibri"/>
              <a:sym typeface="Calibri"/>
            </a:endParaRPr>
          </a:p>
        </p:txBody>
      </p:sp>
      <p:sp>
        <p:nvSpPr>
          <p:cNvPr id="1117" name="Google Shape;1117;p27"/>
          <p:cNvSpPr/>
          <p:nvPr/>
        </p:nvSpPr>
        <p:spPr>
          <a:xfrm>
            <a:off x="1853184" y="4047744"/>
            <a:ext cx="1219200" cy="633984"/>
          </a:xfrm>
          <a:prstGeom prst="rect">
            <a:avLst/>
          </a:prstGeom>
          <a:solidFill>
            <a:srgbClr val="1E1004"/>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8" name="Google Shape;1118;p27"/>
          <p:cNvSpPr/>
          <p:nvPr/>
        </p:nvSpPr>
        <p:spPr>
          <a:xfrm>
            <a:off x="1901952" y="4047744"/>
            <a:ext cx="1121664"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PARALLEL</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Weigh priority</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both paths</a:t>
            </a:r>
            <a:endParaRPr b="0" i="0" sz="800" u="none" cap="none" strike="noStrike">
              <a:solidFill>
                <a:schemeClr val="dk1"/>
              </a:solidFill>
              <a:latin typeface="Calibri"/>
              <a:ea typeface="Calibri"/>
              <a:cs typeface="Calibri"/>
              <a:sym typeface="Calibri"/>
            </a:endParaRPr>
          </a:p>
        </p:txBody>
      </p:sp>
      <p:sp>
        <p:nvSpPr>
          <p:cNvPr id="1119" name="Google Shape;1119;p27"/>
          <p:cNvSpPr/>
          <p:nvPr/>
        </p:nvSpPr>
        <p:spPr>
          <a:xfrm>
            <a:off x="3316224" y="4047744"/>
            <a:ext cx="1341120" cy="633984"/>
          </a:xfrm>
          <a:prstGeom prst="rect">
            <a:avLst/>
          </a:prstGeom>
          <a:solidFill>
            <a:srgbClr val="1A0606"/>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0" name="Google Shape;1120;p27"/>
          <p:cNvSpPr/>
          <p:nvPr/>
        </p:nvSpPr>
        <p:spPr>
          <a:xfrm>
            <a:off x="3364992" y="4047744"/>
            <a:ext cx="1243584"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 VALIDATE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Spawn Validation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Agent</a:t>
            </a:r>
            <a:endParaRPr b="0" i="0" sz="800" u="none" cap="none" strike="noStrike">
              <a:solidFill>
                <a:schemeClr val="dk1"/>
              </a:solidFill>
              <a:latin typeface="Calibri"/>
              <a:ea typeface="Calibri"/>
              <a:cs typeface="Calibri"/>
              <a:sym typeface="Calibri"/>
            </a:endParaRPr>
          </a:p>
        </p:txBody>
      </p:sp>
      <p:sp>
        <p:nvSpPr>
          <p:cNvPr id="1121" name="Google Shape;1121;p27"/>
          <p:cNvSpPr/>
          <p:nvPr/>
        </p:nvSpPr>
        <p:spPr>
          <a:xfrm>
            <a:off x="1304544" y="4852416"/>
            <a:ext cx="2316480" cy="512064"/>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2" name="Google Shape;1122;p27"/>
          <p:cNvSpPr/>
          <p:nvPr/>
        </p:nvSpPr>
        <p:spPr>
          <a:xfrm>
            <a:off x="1353312" y="4852416"/>
            <a:ext cx="2218944" cy="51206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 AGENT EXECUTES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Tools → Risk Gate → ASG writes</a:t>
            </a:r>
            <a:endParaRPr b="0" i="0" sz="800" u="none" cap="none" strike="noStrike">
              <a:solidFill>
                <a:schemeClr val="dk1"/>
              </a:solidFill>
              <a:latin typeface="Calibri"/>
              <a:ea typeface="Calibri"/>
              <a:cs typeface="Calibri"/>
              <a:sym typeface="Calibri"/>
            </a:endParaRPr>
          </a:p>
        </p:txBody>
      </p:sp>
      <p:sp>
        <p:nvSpPr>
          <p:cNvPr id="1123" name="Google Shape;1123;p27"/>
          <p:cNvSpPr/>
          <p:nvPr/>
        </p:nvSpPr>
        <p:spPr>
          <a:xfrm>
            <a:off x="4840224" y="4047744"/>
            <a:ext cx="1828800" cy="633984"/>
          </a:xfrm>
          <a:prstGeom prst="rect">
            <a:avLst/>
          </a:prstGeom>
          <a:solidFill>
            <a:srgbClr val="1A0606"/>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4" name="Google Shape;1124;p27"/>
          <p:cNvSpPr/>
          <p:nvPr/>
        </p:nvSpPr>
        <p:spPr>
          <a:xfrm>
            <a:off x="4888992" y="4047744"/>
            <a:ext cx="1731264"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 CYCLE GUARD</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Repeated calls?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Fixation detected?</a:t>
            </a:r>
            <a:endParaRPr b="0" i="0" sz="800" u="none" cap="none" strike="noStrike">
              <a:solidFill>
                <a:schemeClr val="dk1"/>
              </a:solidFill>
              <a:latin typeface="Calibri"/>
              <a:ea typeface="Calibri"/>
              <a:cs typeface="Calibri"/>
              <a:sym typeface="Calibri"/>
            </a:endParaRPr>
          </a:p>
        </p:txBody>
      </p:sp>
      <p:sp>
        <p:nvSpPr>
          <p:cNvPr id="1125" name="Google Shape;1125;p27"/>
          <p:cNvSpPr/>
          <p:nvPr/>
        </p:nvSpPr>
        <p:spPr>
          <a:xfrm>
            <a:off x="4840224" y="4730496"/>
            <a:ext cx="1828800" cy="26822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5252"/>
              </a:buClr>
              <a:buSzPts val="700"/>
              <a:buFont typeface="Arial"/>
              <a:buNone/>
            </a:pPr>
            <a:r>
              <a:rPr b="0" i="1" lang="en-US" sz="700" u="none" cap="none" strike="noStrike">
                <a:solidFill>
                  <a:srgbClr val="FF5252"/>
                </a:solidFill>
                <a:latin typeface="Arial"/>
                <a:ea typeface="Arial"/>
                <a:cs typeface="Arial"/>
                <a:sym typeface="Arial"/>
              </a:rPr>
              <a:t>→ REFLECTOR or FORCE RE-PLAN</a:t>
            </a:r>
            <a:endParaRPr b="0" i="0" sz="700" u="none" cap="none" strike="noStrike">
              <a:solidFill>
                <a:schemeClr val="dk1"/>
              </a:solidFill>
              <a:latin typeface="Calibri"/>
              <a:ea typeface="Calibri"/>
              <a:cs typeface="Calibri"/>
              <a:sym typeface="Calibri"/>
            </a:endParaRPr>
          </a:p>
        </p:txBody>
      </p:sp>
      <p:sp>
        <p:nvSpPr>
          <p:cNvPr id="1126" name="Google Shape;1126;p27"/>
          <p:cNvSpPr/>
          <p:nvPr/>
        </p:nvSpPr>
        <p:spPr>
          <a:xfrm>
            <a:off x="329184" y="5547360"/>
            <a:ext cx="1682496" cy="633984"/>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7" name="Google Shape;1127;p27"/>
          <p:cNvSpPr/>
          <p:nvPr/>
        </p:nvSpPr>
        <p:spPr>
          <a:xfrm>
            <a:off x="377952" y="5547360"/>
            <a:ext cx="1584960"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UPDATE ASG</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New nodes + edges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from returning agent</a:t>
            </a:r>
            <a:endParaRPr b="0" i="0" sz="800" u="none" cap="none" strike="noStrike">
              <a:solidFill>
                <a:schemeClr val="dk1"/>
              </a:solidFill>
              <a:latin typeface="Calibri"/>
              <a:ea typeface="Calibri"/>
              <a:cs typeface="Calibri"/>
              <a:sym typeface="Calibri"/>
            </a:endParaRPr>
          </a:p>
        </p:txBody>
      </p:sp>
      <p:sp>
        <p:nvSpPr>
          <p:cNvPr id="1128" name="Google Shape;1128;p27"/>
          <p:cNvSpPr/>
          <p:nvPr/>
        </p:nvSpPr>
        <p:spPr>
          <a:xfrm>
            <a:off x="2157984" y="5547360"/>
            <a:ext cx="1682496" cy="633984"/>
          </a:xfrm>
          <a:prstGeom prst="rect">
            <a:avLst/>
          </a:prstGeom>
          <a:solidFill>
            <a:srgbClr val="1E1004"/>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9" name="Google Shape;1129;p27"/>
          <p:cNvSpPr/>
          <p:nvPr/>
        </p:nvSpPr>
        <p:spPr>
          <a:xfrm>
            <a:off x="2206752" y="5547360"/>
            <a:ext cx="1584960"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UPDATE APG</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Chain status changed?</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Re-prioritize queue</a:t>
            </a:r>
            <a:endParaRPr b="0" i="0" sz="800" u="none" cap="none" strike="noStrike">
              <a:solidFill>
                <a:schemeClr val="dk1"/>
              </a:solidFill>
              <a:latin typeface="Calibri"/>
              <a:ea typeface="Calibri"/>
              <a:cs typeface="Calibri"/>
              <a:sym typeface="Calibri"/>
            </a:endParaRPr>
          </a:p>
        </p:txBody>
      </p:sp>
      <p:sp>
        <p:nvSpPr>
          <p:cNvPr id="1130" name="Google Shape;1130;p27"/>
          <p:cNvSpPr/>
          <p:nvPr/>
        </p:nvSpPr>
        <p:spPr>
          <a:xfrm>
            <a:off x="3986784" y="5547360"/>
            <a:ext cx="1889760" cy="633984"/>
          </a:xfrm>
          <a:prstGeom prst="rect">
            <a:avLst/>
          </a:prstGeom>
          <a:solidFill>
            <a:srgbClr val="04162E"/>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1" name="Google Shape;1131;p27"/>
          <p:cNvSpPr/>
          <p:nvPr/>
        </p:nvSpPr>
        <p:spPr>
          <a:xfrm>
            <a:off x="4035552" y="5547360"/>
            <a:ext cx="1792224" cy="63398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 TERM CHECK</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ASG exhausted?</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AND APG resolved?</a:t>
            </a:r>
            <a:endParaRPr b="0" i="0" sz="800" u="none" cap="none" strike="noStrike">
              <a:solidFill>
                <a:schemeClr val="dk1"/>
              </a:solidFill>
              <a:latin typeface="Calibri"/>
              <a:ea typeface="Calibri"/>
              <a:cs typeface="Calibri"/>
              <a:sym typeface="Calibri"/>
            </a:endParaRPr>
          </a:p>
        </p:txBody>
      </p:sp>
      <p:sp>
        <p:nvSpPr>
          <p:cNvPr id="1132" name="Google Shape;1132;p27"/>
          <p:cNvSpPr/>
          <p:nvPr/>
        </p:nvSpPr>
        <p:spPr>
          <a:xfrm>
            <a:off x="2157984" y="6217920"/>
            <a:ext cx="3048000" cy="121920"/>
          </a:xfrm>
          <a:prstGeom prst="roundRect">
            <a:avLst>
              <a:gd fmla="val 50000" name="adj"/>
            </a:avLst>
          </a:prstGeom>
          <a:solidFill>
            <a:srgbClr val="041A08"/>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1133" name="Google Shape;1133;p27"/>
          <p:cNvCxnSpPr/>
          <p:nvPr/>
        </p:nvCxnSpPr>
        <p:spPr>
          <a:xfrm>
            <a:off x="3072384" y="1621536"/>
            <a:ext cx="12192" cy="158496"/>
          </a:xfrm>
          <a:prstGeom prst="straightConnector1">
            <a:avLst/>
          </a:prstGeom>
          <a:noFill/>
          <a:ln cap="flat" cmpd="sng" w="10150">
            <a:solidFill>
              <a:srgbClr val="7FFF00"/>
            </a:solidFill>
            <a:prstDash val="solid"/>
            <a:round/>
            <a:headEnd len="sm" w="sm" type="none"/>
            <a:tailEnd len="med" w="med" type="stealth"/>
          </a:ln>
        </p:spPr>
      </p:cxnSp>
      <p:cxnSp>
        <p:nvCxnSpPr>
          <p:cNvPr id="1134" name="Google Shape;1134;p27"/>
          <p:cNvCxnSpPr/>
          <p:nvPr/>
        </p:nvCxnSpPr>
        <p:spPr>
          <a:xfrm>
            <a:off x="1335024" y="2097024"/>
            <a:ext cx="12192" cy="487680"/>
          </a:xfrm>
          <a:prstGeom prst="straightConnector1">
            <a:avLst/>
          </a:prstGeom>
          <a:noFill/>
          <a:ln cap="flat" cmpd="sng" w="10150">
            <a:solidFill>
              <a:srgbClr val="7FFF00"/>
            </a:solidFill>
            <a:prstDash val="solid"/>
            <a:round/>
            <a:headEnd len="sm" w="sm" type="none"/>
            <a:tailEnd len="med" w="med" type="stealth"/>
          </a:ln>
        </p:spPr>
      </p:cxnSp>
      <p:cxnSp>
        <p:nvCxnSpPr>
          <p:cNvPr id="1135" name="Google Shape;1135;p27"/>
          <p:cNvCxnSpPr/>
          <p:nvPr/>
        </p:nvCxnSpPr>
        <p:spPr>
          <a:xfrm>
            <a:off x="2554224" y="2097024"/>
            <a:ext cx="1066800" cy="487680"/>
          </a:xfrm>
          <a:prstGeom prst="straightConnector1">
            <a:avLst/>
          </a:prstGeom>
          <a:noFill/>
          <a:ln cap="flat" cmpd="sng" w="10150">
            <a:solidFill>
              <a:srgbClr val="FFC107"/>
            </a:solidFill>
            <a:prstDash val="solid"/>
            <a:round/>
            <a:headEnd len="sm" w="sm" type="none"/>
            <a:tailEnd len="med" w="med" type="stealth"/>
          </a:ln>
        </p:spPr>
      </p:cxnSp>
      <p:cxnSp>
        <p:nvCxnSpPr>
          <p:cNvPr id="1136" name="Google Shape;1136;p27"/>
          <p:cNvCxnSpPr/>
          <p:nvPr/>
        </p:nvCxnSpPr>
        <p:spPr>
          <a:xfrm>
            <a:off x="2462784" y="3218688"/>
            <a:ext cx="12192" cy="170688"/>
          </a:xfrm>
          <a:prstGeom prst="straightConnector1">
            <a:avLst/>
          </a:prstGeom>
          <a:noFill/>
          <a:ln cap="flat" cmpd="sng" w="10150">
            <a:solidFill>
              <a:srgbClr val="00D4FF"/>
            </a:solidFill>
            <a:prstDash val="solid"/>
            <a:round/>
            <a:headEnd len="sm" w="sm" type="none"/>
            <a:tailEnd len="med" w="med" type="stealth"/>
          </a:ln>
        </p:spPr>
      </p:cxnSp>
      <p:cxnSp>
        <p:nvCxnSpPr>
          <p:cNvPr id="1137" name="Google Shape;1137;p27"/>
          <p:cNvCxnSpPr/>
          <p:nvPr/>
        </p:nvCxnSpPr>
        <p:spPr>
          <a:xfrm>
            <a:off x="1670304" y="3657600"/>
            <a:ext cx="182880" cy="390144"/>
          </a:xfrm>
          <a:prstGeom prst="straightConnector1">
            <a:avLst/>
          </a:prstGeom>
          <a:noFill/>
          <a:ln cap="flat" cmpd="sng" w="10150">
            <a:solidFill>
              <a:srgbClr val="7FFF00"/>
            </a:solidFill>
            <a:prstDash val="solid"/>
            <a:round/>
            <a:headEnd len="sm" w="sm" type="none"/>
            <a:tailEnd len="med" w="med" type="stealth"/>
          </a:ln>
        </p:spPr>
      </p:cxnSp>
      <p:sp>
        <p:nvSpPr>
          <p:cNvPr id="1138" name="Google Shape;1138;p27"/>
          <p:cNvSpPr/>
          <p:nvPr/>
        </p:nvSpPr>
        <p:spPr>
          <a:xfrm>
            <a:off x="1456944" y="3730752"/>
            <a:ext cx="609600" cy="17068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700"/>
              <a:buFont typeface="Arial"/>
              <a:buNone/>
            </a:pPr>
            <a:r>
              <a:rPr b="0" i="0" lang="en-US" sz="700" u="none" cap="none" strike="noStrike">
                <a:solidFill>
                  <a:srgbClr val="888888"/>
                </a:solidFill>
                <a:latin typeface="Arial"/>
                <a:ea typeface="Arial"/>
                <a:cs typeface="Arial"/>
                <a:sym typeface="Arial"/>
              </a:rPr>
              <a:t>ASG gaps</a:t>
            </a:r>
            <a:endParaRPr b="0" i="0" sz="700" u="none" cap="none" strike="noStrike">
              <a:solidFill>
                <a:schemeClr val="dk1"/>
              </a:solidFill>
              <a:latin typeface="Calibri"/>
              <a:ea typeface="Calibri"/>
              <a:cs typeface="Calibri"/>
              <a:sym typeface="Calibri"/>
            </a:endParaRPr>
          </a:p>
        </p:txBody>
      </p:sp>
      <p:cxnSp>
        <p:nvCxnSpPr>
          <p:cNvPr id="1139" name="Google Shape;1139;p27"/>
          <p:cNvCxnSpPr/>
          <p:nvPr/>
        </p:nvCxnSpPr>
        <p:spPr>
          <a:xfrm>
            <a:off x="2462784" y="3657600"/>
            <a:ext cx="12192" cy="390144"/>
          </a:xfrm>
          <a:prstGeom prst="straightConnector1">
            <a:avLst/>
          </a:prstGeom>
          <a:noFill/>
          <a:ln cap="flat" cmpd="sng" w="10150">
            <a:solidFill>
              <a:srgbClr val="FFC107"/>
            </a:solidFill>
            <a:prstDash val="solid"/>
            <a:round/>
            <a:headEnd len="sm" w="sm" type="none"/>
            <a:tailEnd len="med" w="med" type="stealth"/>
          </a:ln>
        </p:spPr>
      </p:cxnSp>
      <p:sp>
        <p:nvSpPr>
          <p:cNvPr id="1140" name="Google Shape;1140;p27"/>
          <p:cNvSpPr/>
          <p:nvPr/>
        </p:nvSpPr>
        <p:spPr>
          <a:xfrm>
            <a:off x="2157984" y="3730752"/>
            <a:ext cx="609600" cy="17068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700"/>
              <a:buFont typeface="Arial"/>
              <a:buNone/>
            </a:pPr>
            <a:r>
              <a:rPr b="0" i="0" lang="en-US" sz="700" u="none" cap="none" strike="noStrike">
                <a:solidFill>
                  <a:srgbClr val="888888"/>
                </a:solidFill>
                <a:latin typeface="Arial"/>
                <a:ea typeface="Arial"/>
                <a:cs typeface="Arial"/>
                <a:sym typeface="Arial"/>
              </a:rPr>
              <a:t>both</a:t>
            </a:r>
            <a:endParaRPr b="0" i="0" sz="700" u="none" cap="none" strike="noStrike">
              <a:solidFill>
                <a:schemeClr val="dk1"/>
              </a:solidFill>
              <a:latin typeface="Calibri"/>
              <a:ea typeface="Calibri"/>
              <a:cs typeface="Calibri"/>
              <a:sym typeface="Calibri"/>
            </a:endParaRPr>
          </a:p>
        </p:txBody>
      </p:sp>
      <p:cxnSp>
        <p:nvCxnSpPr>
          <p:cNvPr id="1141" name="Google Shape;1141;p27"/>
          <p:cNvCxnSpPr/>
          <p:nvPr/>
        </p:nvCxnSpPr>
        <p:spPr>
          <a:xfrm>
            <a:off x="3072384" y="3657600"/>
            <a:ext cx="365760" cy="390144"/>
          </a:xfrm>
          <a:prstGeom prst="straightConnector1">
            <a:avLst/>
          </a:prstGeom>
          <a:noFill/>
          <a:ln cap="flat" cmpd="sng" w="10150">
            <a:solidFill>
              <a:srgbClr val="FF5252"/>
            </a:solidFill>
            <a:prstDash val="solid"/>
            <a:round/>
            <a:headEnd len="sm" w="sm" type="none"/>
            <a:tailEnd len="med" w="med" type="stealth"/>
          </a:ln>
        </p:spPr>
      </p:cxnSp>
      <p:sp>
        <p:nvSpPr>
          <p:cNvPr id="1142" name="Google Shape;1142;p27"/>
          <p:cNvSpPr/>
          <p:nvPr/>
        </p:nvSpPr>
        <p:spPr>
          <a:xfrm>
            <a:off x="2950464" y="3730752"/>
            <a:ext cx="609600" cy="17068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700"/>
              <a:buFont typeface="Arial"/>
              <a:buNone/>
            </a:pPr>
            <a:r>
              <a:rPr b="0" i="0" lang="en-US" sz="700" u="none" cap="none" strike="noStrike">
                <a:solidFill>
                  <a:srgbClr val="888888"/>
                </a:solidFill>
                <a:latin typeface="Arial"/>
                <a:ea typeface="Arial"/>
                <a:cs typeface="Arial"/>
                <a:sym typeface="Arial"/>
              </a:rPr>
              <a:t>APG chains</a:t>
            </a:r>
            <a:endParaRPr b="0" i="0" sz="700" u="none" cap="none" strike="noStrike">
              <a:solidFill>
                <a:schemeClr val="dk1"/>
              </a:solidFill>
              <a:latin typeface="Calibri"/>
              <a:ea typeface="Calibri"/>
              <a:cs typeface="Calibri"/>
              <a:sym typeface="Calibri"/>
            </a:endParaRPr>
          </a:p>
        </p:txBody>
      </p:sp>
      <p:cxnSp>
        <p:nvCxnSpPr>
          <p:cNvPr id="1143" name="Google Shape;1143;p27"/>
          <p:cNvCxnSpPr/>
          <p:nvPr/>
        </p:nvCxnSpPr>
        <p:spPr>
          <a:xfrm>
            <a:off x="999744" y="4681728"/>
            <a:ext cx="487680" cy="426720"/>
          </a:xfrm>
          <a:prstGeom prst="straightConnector1">
            <a:avLst/>
          </a:prstGeom>
          <a:noFill/>
          <a:ln cap="flat" cmpd="sng" w="10150">
            <a:solidFill>
              <a:srgbClr val="9C27B0"/>
            </a:solidFill>
            <a:prstDash val="solid"/>
            <a:round/>
            <a:headEnd len="sm" w="sm" type="none"/>
            <a:tailEnd len="med" w="med" type="stealth"/>
          </a:ln>
        </p:spPr>
      </p:cxnSp>
      <p:cxnSp>
        <p:nvCxnSpPr>
          <p:cNvPr id="1144" name="Google Shape;1144;p27"/>
          <p:cNvCxnSpPr/>
          <p:nvPr/>
        </p:nvCxnSpPr>
        <p:spPr>
          <a:xfrm>
            <a:off x="2462784" y="4681728"/>
            <a:ext cx="12192" cy="170688"/>
          </a:xfrm>
          <a:prstGeom prst="straightConnector1">
            <a:avLst/>
          </a:prstGeom>
          <a:noFill/>
          <a:ln cap="flat" cmpd="sng" w="10150">
            <a:solidFill>
              <a:srgbClr val="9C27B0"/>
            </a:solidFill>
            <a:prstDash val="solid"/>
            <a:round/>
            <a:headEnd len="sm" w="sm" type="none"/>
            <a:tailEnd len="med" w="med" type="stealth"/>
          </a:ln>
        </p:spPr>
      </p:cxnSp>
      <p:cxnSp>
        <p:nvCxnSpPr>
          <p:cNvPr id="1145" name="Google Shape;1145;p27"/>
          <p:cNvCxnSpPr/>
          <p:nvPr/>
        </p:nvCxnSpPr>
        <p:spPr>
          <a:xfrm>
            <a:off x="3621024" y="4681728"/>
            <a:ext cx="365760" cy="426720"/>
          </a:xfrm>
          <a:prstGeom prst="straightConnector1">
            <a:avLst/>
          </a:prstGeom>
          <a:noFill/>
          <a:ln cap="flat" cmpd="sng" w="10150">
            <a:solidFill>
              <a:srgbClr val="9C27B0"/>
            </a:solidFill>
            <a:prstDash val="solid"/>
            <a:round/>
            <a:headEnd len="sm" w="sm" type="none"/>
            <a:tailEnd len="med" w="med" type="stealth"/>
          </a:ln>
        </p:spPr>
      </p:cxnSp>
      <p:cxnSp>
        <p:nvCxnSpPr>
          <p:cNvPr id="1146" name="Google Shape;1146;p27"/>
          <p:cNvCxnSpPr/>
          <p:nvPr/>
        </p:nvCxnSpPr>
        <p:spPr>
          <a:xfrm>
            <a:off x="3621024" y="4364736"/>
            <a:ext cx="1219200" cy="743712"/>
          </a:xfrm>
          <a:prstGeom prst="straightConnector1">
            <a:avLst/>
          </a:prstGeom>
          <a:noFill/>
          <a:ln cap="flat" cmpd="sng" w="10150">
            <a:solidFill>
              <a:srgbClr val="FF5252"/>
            </a:solidFill>
            <a:prstDash val="solid"/>
            <a:round/>
            <a:headEnd len="sm" w="sm" type="none"/>
            <a:tailEnd len="med" w="med" type="stealth"/>
          </a:ln>
        </p:spPr>
      </p:cxnSp>
      <p:sp>
        <p:nvSpPr>
          <p:cNvPr id="1147" name="Google Shape;1147;p27"/>
          <p:cNvSpPr/>
          <p:nvPr/>
        </p:nvSpPr>
        <p:spPr>
          <a:xfrm>
            <a:off x="3925824" y="4614672"/>
            <a:ext cx="609600" cy="17068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700"/>
              <a:buFont typeface="Arial"/>
              <a:buNone/>
            </a:pPr>
            <a:r>
              <a:rPr b="0" i="0" lang="en-US" sz="700" u="none" cap="none" strike="noStrike">
                <a:solidFill>
                  <a:srgbClr val="888888"/>
                </a:solidFill>
                <a:latin typeface="Arial"/>
                <a:ea typeface="Arial"/>
                <a:cs typeface="Arial"/>
                <a:sym typeface="Arial"/>
              </a:rPr>
              <a:t>guard</a:t>
            </a:r>
            <a:endParaRPr b="0" i="0" sz="700" u="none" cap="none" strike="noStrike">
              <a:solidFill>
                <a:schemeClr val="dk1"/>
              </a:solidFill>
              <a:latin typeface="Calibri"/>
              <a:ea typeface="Calibri"/>
              <a:cs typeface="Calibri"/>
              <a:sym typeface="Calibri"/>
            </a:endParaRPr>
          </a:p>
        </p:txBody>
      </p:sp>
      <p:cxnSp>
        <p:nvCxnSpPr>
          <p:cNvPr id="1148" name="Google Shape;1148;p27"/>
          <p:cNvCxnSpPr/>
          <p:nvPr/>
        </p:nvCxnSpPr>
        <p:spPr>
          <a:xfrm>
            <a:off x="3072384" y="4267200"/>
            <a:ext cx="1767840" cy="12192"/>
          </a:xfrm>
          <a:prstGeom prst="straightConnector1">
            <a:avLst/>
          </a:prstGeom>
          <a:noFill/>
          <a:ln cap="flat" cmpd="sng" w="10150">
            <a:solidFill>
              <a:srgbClr val="FF5252"/>
            </a:solidFill>
            <a:prstDash val="solid"/>
            <a:round/>
            <a:headEnd len="sm" w="sm" type="none"/>
            <a:tailEnd len="med" w="med" type="stealth"/>
          </a:ln>
        </p:spPr>
      </p:cxnSp>
      <p:sp>
        <p:nvSpPr>
          <p:cNvPr id="1149" name="Google Shape;1149;p27"/>
          <p:cNvSpPr/>
          <p:nvPr/>
        </p:nvSpPr>
        <p:spPr>
          <a:xfrm>
            <a:off x="3651504" y="4145280"/>
            <a:ext cx="609600" cy="17068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700"/>
              <a:buFont typeface="Arial"/>
              <a:buNone/>
            </a:pPr>
            <a:r>
              <a:rPr b="0" i="0" lang="en-US" sz="700" u="none" cap="none" strike="noStrike">
                <a:solidFill>
                  <a:srgbClr val="888888"/>
                </a:solidFill>
                <a:latin typeface="Arial"/>
                <a:ea typeface="Arial"/>
                <a:cs typeface="Arial"/>
                <a:sym typeface="Arial"/>
              </a:rPr>
              <a:t>force re-plan</a:t>
            </a:r>
            <a:endParaRPr b="0" i="0" sz="700" u="none" cap="none" strike="noStrike">
              <a:solidFill>
                <a:schemeClr val="dk1"/>
              </a:solidFill>
              <a:latin typeface="Calibri"/>
              <a:ea typeface="Calibri"/>
              <a:cs typeface="Calibri"/>
              <a:sym typeface="Calibri"/>
            </a:endParaRPr>
          </a:p>
        </p:txBody>
      </p:sp>
      <p:cxnSp>
        <p:nvCxnSpPr>
          <p:cNvPr id="1150" name="Google Shape;1150;p27"/>
          <p:cNvCxnSpPr/>
          <p:nvPr/>
        </p:nvCxnSpPr>
        <p:spPr>
          <a:xfrm>
            <a:off x="1170432" y="5364480"/>
            <a:ext cx="1292352" cy="182880"/>
          </a:xfrm>
          <a:prstGeom prst="straightConnector1">
            <a:avLst/>
          </a:prstGeom>
          <a:noFill/>
          <a:ln cap="flat" cmpd="sng" w="10150">
            <a:solidFill>
              <a:srgbClr val="7FFF00"/>
            </a:solidFill>
            <a:prstDash val="solid"/>
            <a:round/>
            <a:headEnd len="sm" w="sm" type="none"/>
            <a:tailEnd len="med" w="med" type="stealth"/>
          </a:ln>
        </p:spPr>
      </p:cxnSp>
      <p:cxnSp>
        <p:nvCxnSpPr>
          <p:cNvPr id="1151" name="Google Shape;1151;p27"/>
          <p:cNvCxnSpPr/>
          <p:nvPr/>
        </p:nvCxnSpPr>
        <p:spPr>
          <a:xfrm>
            <a:off x="2011680" y="5864352"/>
            <a:ext cx="146304" cy="12192"/>
          </a:xfrm>
          <a:prstGeom prst="straightConnector1">
            <a:avLst/>
          </a:prstGeom>
          <a:noFill/>
          <a:ln cap="flat" cmpd="sng" w="10150">
            <a:solidFill>
              <a:srgbClr val="FFC107"/>
            </a:solidFill>
            <a:prstDash val="solid"/>
            <a:round/>
            <a:headEnd len="sm" w="sm" type="none"/>
            <a:tailEnd len="med" w="med" type="stealth"/>
          </a:ln>
        </p:spPr>
      </p:cxnSp>
      <p:cxnSp>
        <p:nvCxnSpPr>
          <p:cNvPr id="1152" name="Google Shape;1152;p27"/>
          <p:cNvCxnSpPr/>
          <p:nvPr/>
        </p:nvCxnSpPr>
        <p:spPr>
          <a:xfrm>
            <a:off x="3840480" y="5864352"/>
            <a:ext cx="146304" cy="12192"/>
          </a:xfrm>
          <a:prstGeom prst="straightConnector1">
            <a:avLst/>
          </a:prstGeom>
          <a:noFill/>
          <a:ln cap="flat" cmpd="sng" w="10150">
            <a:solidFill>
              <a:srgbClr val="00D4FF"/>
            </a:solidFill>
            <a:prstDash val="solid"/>
            <a:round/>
            <a:headEnd len="sm" w="sm" type="none"/>
            <a:tailEnd len="med" w="med" type="stealth"/>
          </a:ln>
        </p:spPr>
      </p:cxnSp>
      <p:cxnSp>
        <p:nvCxnSpPr>
          <p:cNvPr id="1153" name="Google Shape;1153;p27"/>
          <p:cNvCxnSpPr/>
          <p:nvPr/>
        </p:nvCxnSpPr>
        <p:spPr>
          <a:xfrm>
            <a:off x="4925568" y="2901696"/>
            <a:ext cx="12192" cy="2645664"/>
          </a:xfrm>
          <a:prstGeom prst="straightConnector1">
            <a:avLst/>
          </a:prstGeom>
          <a:noFill/>
          <a:ln cap="flat" cmpd="sng" w="10150">
            <a:solidFill>
              <a:srgbClr val="00D4FF"/>
            </a:solidFill>
            <a:prstDash val="solid"/>
            <a:round/>
            <a:headEnd len="sm" w="sm" type="none"/>
            <a:tailEnd len="med" w="med" type="stealth"/>
          </a:ln>
        </p:spPr>
      </p:cxnSp>
      <p:sp>
        <p:nvSpPr>
          <p:cNvPr id="1154" name="Google Shape;1154;p27"/>
          <p:cNvSpPr/>
          <p:nvPr/>
        </p:nvSpPr>
        <p:spPr>
          <a:xfrm>
            <a:off x="4620768" y="4102608"/>
            <a:ext cx="609600" cy="17068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700"/>
              <a:buFont typeface="Arial"/>
              <a:buNone/>
            </a:pPr>
            <a:r>
              <a:rPr b="0" i="0" lang="en-US" sz="700" u="none" cap="none" strike="noStrike">
                <a:solidFill>
                  <a:srgbClr val="888888"/>
                </a:solidFill>
                <a:latin typeface="Arial"/>
                <a:ea typeface="Arial"/>
                <a:cs typeface="Arial"/>
                <a:sym typeface="Arial"/>
              </a:rPr>
              <a:t>no — continue</a:t>
            </a:r>
            <a:endParaRPr b="0" i="0" sz="700" u="none" cap="none" strike="noStrike">
              <a:solidFill>
                <a:schemeClr val="dk1"/>
              </a:solidFill>
              <a:latin typeface="Calibri"/>
              <a:ea typeface="Calibri"/>
              <a:cs typeface="Calibri"/>
              <a:sym typeface="Calibri"/>
            </a:endParaRPr>
          </a:p>
        </p:txBody>
      </p:sp>
      <p:cxnSp>
        <p:nvCxnSpPr>
          <p:cNvPr id="1155" name="Google Shape;1155;p27"/>
          <p:cNvCxnSpPr/>
          <p:nvPr/>
        </p:nvCxnSpPr>
        <p:spPr>
          <a:xfrm>
            <a:off x="2401824" y="2901696"/>
            <a:ext cx="2523744" cy="12192"/>
          </a:xfrm>
          <a:prstGeom prst="straightConnector1">
            <a:avLst/>
          </a:prstGeom>
          <a:noFill/>
          <a:ln cap="flat" cmpd="sng" w="10150">
            <a:solidFill>
              <a:srgbClr val="00D4FF"/>
            </a:solidFill>
            <a:prstDash val="solid"/>
            <a:round/>
            <a:headEnd len="sm" w="sm" type="none"/>
            <a:tailEnd len="med" w="med" type="stealth"/>
          </a:ln>
        </p:spPr>
      </p:cxnSp>
      <p:cxnSp>
        <p:nvCxnSpPr>
          <p:cNvPr id="1156" name="Google Shape;1156;p27"/>
          <p:cNvCxnSpPr/>
          <p:nvPr/>
        </p:nvCxnSpPr>
        <p:spPr>
          <a:xfrm>
            <a:off x="2401824" y="2584704"/>
            <a:ext cx="12192" cy="316992"/>
          </a:xfrm>
          <a:prstGeom prst="straightConnector1">
            <a:avLst/>
          </a:prstGeom>
          <a:noFill/>
          <a:ln cap="flat" cmpd="sng" w="10150">
            <a:solidFill>
              <a:srgbClr val="00D4FF"/>
            </a:solidFill>
            <a:prstDash val="solid"/>
            <a:round/>
            <a:headEnd len="sm" w="sm" type="none"/>
            <a:tailEnd len="med" w="med" type="stealth"/>
          </a:ln>
        </p:spPr>
      </p:cxnSp>
      <p:sp>
        <p:nvSpPr>
          <p:cNvPr id="1157" name="Google Shape;1157;p27"/>
          <p:cNvSpPr/>
          <p:nvPr/>
        </p:nvSpPr>
        <p:spPr>
          <a:xfrm>
            <a:off x="7437120" y="804672"/>
            <a:ext cx="4572000" cy="5632704"/>
          </a:xfrm>
          <a:prstGeom prst="rect">
            <a:avLst/>
          </a:prstGeom>
          <a:solidFill>
            <a:srgbClr val="0D0D0D"/>
          </a:solidFill>
          <a:ln cap="flat" cmpd="sng" w="190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58" name="Google Shape;1158;p27"/>
          <p:cNvSpPr/>
          <p:nvPr/>
        </p:nvSpPr>
        <p:spPr>
          <a:xfrm>
            <a:off x="7559040" y="853440"/>
            <a:ext cx="432816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1200"/>
              <a:buFont typeface="Arial"/>
              <a:buNone/>
            </a:pPr>
            <a:r>
              <a:rPr b="1" i="0" lang="en-US" sz="1200" u="none" cap="none" strike="noStrike">
                <a:solidFill>
                  <a:srgbClr val="FFC107"/>
                </a:solidFill>
                <a:latin typeface="Arial"/>
                <a:ea typeface="Arial"/>
                <a:cs typeface="Arial"/>
                <a:sym typeface="Arial"/>
              </a:rPr>
              <a:t>What Triggers a Re-Plan</a:t>
            </a:r>
            <a:endParaRPr b="0" i="0" sz="1200" u="none" cap="none" strike="noStrike">
              <a:solidFill>
                <a:schemeClr val="dk1"/>
              </a:solidFill>
              <a:latin typeface="Calibri"/>
              <a:ea typeface="Calibri"/>
              <a:cs typeface="Calibri"/>
              <a:sym typeface="Calibri"/>
            </a:endParaRPr>
          </a:p>
        </p:txBody>
      </p:sp>
      <p:sp>
        <p:nvSpPr>
          <p:cNvPr id="1159" name="Google Shape;1159;p27"/>
          <p:cNvSpPr/>
          <p:nvPr/>
        </p:nvSpPr>
        <p:spPr>
          <a:xfrm>
            <a:off x="7559040" y="1170432"/>
            <a:ext cx="4328160" cy="1121664"/>
          </a:xfrm>
          <a:prstGeom prst="rect">
            <a:avLst/>
          </a:prstGeom>
          <a:solidFill>
            <a:srgbClr val="062210"/>
          </a:solidFill>
          <a:ln cap="flat" cmpd="sng" w="1015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0" name="Google Shape;1160;p27"/>
          <p:cNvSpPr/>
          <p:nvPr/>
        </p:nvSpPr>
        <p:spPr>
          <a:xfrm>
            <a:off x="7620000" y="1194816"/>
            <a:ext cx="4206240" cy="21945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7FFF00"/>
              </a:buClr>
              <a:buSzPts val="900"/>
              <a:buFont typeface="Arial"/>
              <a:buNone/>
            </a:pPr>
            <a:r>
              <a:rPr b="1" i="0" lang="en-US" sz="900" u="none" cap="none" strike="noStrike">
                <a:solidFill>
                  <a:srgbClr val="7FFF00"/>
                </a:solidFill>
                <a:latin typeface="Arial"/>
                <a:ea typeface="Arial"/>
                <a:cs typeface="Arial"/>
                <a:sym typeface="Arial"/>
              </a:rPr>
              <a:t>ASG Trigger Events</a:t>
            </a:r>
            <a:endParaRPr b="0" i="0" sz="900" u="none" cap="none" strike="noStrike">
              <a:solidFill>
                <a:schemeClr val="dk1"/>
              </a:solidFill>
              <a:latin typeface="Calibri"/>
              <a:ea typeface="Calibri"/>
              <a:cs typeface="Calibri"/>
              <a:sym typeface="Calibri"/>
            </a:endParaRPr>
          </a:p>
        </p:txBody>
      </p:sp>
      <p:sp>
        <p:nvSpPr>
          <p:cNvPr id="1161" name="Google Shape;1161;p27"/>
          <p:cNvSpPr/>
          <p:nvPr/>
        </p:nvSpPr>
        <p:spPr>
          <a:xfrm>
            <a:off x="7656576" y="1438656"/>
            <a:ext cx="414528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7FFF00"/>
              </a:buClr>
              <a:buSzPts val="900"/>
              <a:buFont typeface="Arial"/>
              <a:buNone/>
            </a:pPr>
            <a:r>
              <a:rPr b="0" i="0" lang="en-US" sz="900" u="none" cap="none" strike="noStrike">
                <a:solidFill>
                  <a:srgbClr val="7FFF00"/>
                </a:solidFill>
                <a:latin typeface="Arial"/>
                <a:ea typeface="Arial"/>
                <a:cs typeface="Arial"/>
                <a:sym typeface="Arial"/>
              </a:rPr>
              <a:t>🆕 New Vulnerability node → seed APG chain?</a:t>
            </a:r>
            <a:endParaRPr b="0" i="0" sz="900" u="none" cap="none" strike="noStrike">
              <a:solidFill>
                <a:schemeClr val="dk1"/>
              </a:solidFill>
              <a:latin typeface="Calibri"/>
              <a:ea typeface="Calibri"/>
              <a:cs typeface="Calibri"/>
              <a:sym typeface="Calibri"/>
            </a:endParaRPr>
          </a:p>
        </p:txBody>
      </p:sp>
      <p:sp>
        <p:nvSpPr>
          <p:cNvPr id="1162" name="Google Shape;1162;p27"/>
          <p:cNvSpPr/>
          <p:nvPr/>
        </p:nvSpPr>
        <p:spPr>
          <a:xfrm>
            <a:off x="7656576" y="1706880"/>
            <a:ext cx="414528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7FFF00"/>
              </a:buClr>
              <a:buSzPts val="900"/>
              <a:buFont typeface="Arial"/>
              <a:buNone/>
            </a:pPr>
            <a:r>
              <a:rPr b="0" i="0" lang="en-US" sz="900" u="none" cap="none" strike="noStrike">
                <a:solidFill>
                  <a:srgbClr val="7FFF00"/>
                </a:solidFill>
                <a:latin typeface="Arial"/>
                <a:ea typeface="Arial"/>
                <a:cs typeface="Arial"/>
                <a:sym typeface="Arial"/>
              </a:rPr>
              <a:t>🆕 New Technology node → spawn Research Agent</a:t>
            </a:r>
            <a:endParaRPr b="0" i="0" sz="900" u="none" cap="none" strike="noStrike">
              <a:solidFill>
                <a:schemeClr val="dk1"/>
              </a:solidFill>
              <a:latin typeface="Calibri"/>
              <a:ea typeface="Calibri"/>
              <a:cs typeface="Calibri"/>
              <a:sym typeface="Calibri"/>
            </a:endParaRPr>
          </a:p>
        </p:txBody>
      </p:sp>
      <p:sp>
        <p:nvSpPr>
          <p:cNvPr id="1163" name="Google Shape;1163;p27"/>
          <p:cNvSpPr/>
          <p:nvPr/>
        </p:nvSpPr>
        <p:spPr>
          <a:xfrm>
            <a:off x="7656576" y="1975104"/>
            <a:ext cx="414528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7FFF00"/>
              </a:buClr>
              <a:buSzPts val="900"/>
              <a:buFont typeface="Arial"/>
              <a:buNone/>
            </a:pPr>
            <a:r>
              <a:rPr b="0" i="0" lang="en-US" sz="900" u="none" cap="none" strike="noStrike">
                <a:solidFill>
                  <a:srgbClr val="7FFF00"/>
                </a:solidFill>
                <a:latin typeface="Arial"/>
                <a:ea typeface="Arial"/>
                <a:cs typeface="Arial"/>
                <a:sym typeface="Arial"/>
              </a:rPr>
              <a:t>🆕 New Endpoint node → probe with Analysis Agent</a:t>
            </a:r>
            <a:endParaRPr b="0" i="0" sz="900" u="none" cap="none" strike="noStrike">
              <a:solidFill>
                <a:schemeClr val="dk1"/>
              </a:solidFill>
              <a:latin typeface="Calibri"/>
              <a:ea typeface="Calibri"/>
              <a:cs typeface="Calibri"/>
              <a:sym typeface="Calibri"/>
            </a:endParaRPr>
          </a:p>
        </p:txBody>
      </p:sp>
      <p:sp>
        <p:nvSpPr>
          <p:cNvPr id="1164" name="Google Shape;1164;p27"/>
          <p:cNvSpPr/>
          <p:nvPr/>
        </p:nvSpPr>
        <p:spPr>
          <a:xfrm>
            <a:off x="7559040" y="2365248"/>
            <a:ext cx="4328160" cy="1121664"/>
          </a:xfrm>
          <a:prstGeom prst="rect">
            <a:avLst/>
          </a:prstGeom>
          <a:solidFill>
            <a:srgbClr val="1E10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5" name="Google Shape;1165;p27"/>
          <p:cNvSpPr/>
          <p:nvPr/>
        </p:nvSpPr>
        <p:spPr>
          <a:xfrm>
            <a:off x="7620000" y="2389632"/>
            <a:ext cx="4206240" cy="21945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900"/>
              <a:buFont typeface="Arial"/>
              <a:buNone/>
            </a:pPr>
            <a:r>
              <a:rPr b="1" i="0" lang="en-US" sz="900" u="none" cap="none" strike="noStrike">
                <a:solidFill>
                  <a:srgbClr val="FFC107"/>
                </a:solidFill>
                <a:latin typeface="Arial"/>
                <a:ea typeface="Arial"/>
                <a:cs typeface="Arial"/>
                <a:sym typeface="Arial"/>
              </a:rPr>
              <a:t>APG Trigger Events</a:t>
            </a:r>
            <a:endParaRPr b="0" i="0" sz="900" u="none" cap="none" strike="noStrike">
              <a:solidFill>
                <a:schemeClr val="dk1"/>
              </a:solidFill>
              <a:latin typeface="Calibri"/>
              <a:ea typeface="Calibri"/>
              <a:cs typeface="Calibri"/>
              <a:sym typeface="Calibri"/>
            </a:endParaRPr>
          </a:p>
        </p:txBody>
      </p:sp>
      <p:sp>
        <p:nvSpPr>
          <p:cNvPr id="1166" name="Google Shape;1166;p27"/>
          <p:cNvSpPr/>
          <p:nvPr/>
        </p:nvSpPr>
        <p:spPr>
          <a:xfrm>
            <a:off x="7656576" y="2633472"/>
            <a:ext cx="414528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900"/>
              <a:buFont typeface="Arial"/>
              <a:buNone/>
            </a:pPr>
            <a:r>
              <a:rPr b="0" i="0" lang="en-US" sz="900" u="none" cap="none" strike="noStrike">
                <a:solidFill>
                  <a:srgbClr val="FFC107"/>
                </a:solidFill>
                <a:latin typeface="Arial"/>
                <a:ea typeface="Arial"/>
                <a:cs typeface="Arial"/>
                <a:sym typeface="Arial"/>
              </a:rPr>
              <a:t>📈 Chain → PARTIALLY_VALIDATED → re-rank all</a:t>
            </a:r>
            <a:endParaRPr b="0" i="0" sz="900" u="none" cap="none" strike="noStrike">
              <a:solidFill>
                <a:schemeClr val="dk1"/>
              </a:solidFill>
              <a:latin typeface="Calibri"/>
              <a:ea typeface="Calibri"/>
              <a:cs typeface="Calibri"/>
              <a:sym typeface="Calibri"/>
            </a:endParaRPr>
          </a:p>
        </p:txBody>
      </p:sp>
      <p:sp>
        <p:nvSpPr>
          <p:cNvPr id="1167" name="Google Shape;1167;p27"/>
          <p:cNvSpPr/>
          <p:nvPr/>
        </p:nvSpPr>
        <p:spPr>
          <a:xfrm>
            <a:off x="7656576" y="2901696"/>
            <a:ext cx="414528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900"/>
              <a:buFont typeface="Arial"/>
              <a:buNone/>
            </a:pPr>
            <a:r>
              <a:rPr b="0" i="0" lang="en-US" sz="900" u="none" cap="none" strike="noStrike">
                <a:solidFill>
                  <a:srgbClr val="FFC107"/>
                </a:solidFill>
                <a:latin typeface="Arial"/>
                <a:ea typeface="Arial"/>
                <a:cs typeface="Arial"/>
                <a:sym typeface="Arial"/>
              </a:rPr>
              <a:t>✅ Chain → VALIDATED → pursue next chain</a:t>
            </a:r>
            <a:endParaRPr b="0" i="0" sz="900" u="none" cap="none" strike="noStrike">
              <a:solidFill>
                <a:schemeClr val="dk1"/>
              </a:solidFill>
              <a:latin typeface="Calibri"/>
              <a:ea typeface="Calibri"/>
              <a:cs typeface="Calibri"/>
              <a:sym typeface="Calibri"/>
            </a:endParaRPr>
          </a:p>
        </p:txBody>
      </p:sp>
      <p:sp>
        <p:nvSpPr>
          <p:cNvPr id="1168" name="Google Shape;1168;p27"/>
          <p:cNvSpPr/>
          <p:nvPr/>
        </p:nvSpPr>
        <p:spPr>
          <a:xfrm>
            <a:off x="7656576" y="3169920"/>
            <a:ext cx="414528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900"/>
              <a:buFont typeface="Arial"/>
              <a:buNone/>
            </a:pPr>
            <a:r>
              <a:rPr b="0" i="0" lang="en-US" sz="900" u="none" cap="none" strike="noStrike">
                <a:solidFill>
                  <a:srgbClr val="FFC107"/>
                </a:solidFill>
                <a:latin typeface="Arial"/>
                <a:ea typeface="Arial"/>
                <a:cs typeface="Arial"/>
                <a:sym typeface="Arial"/>
              </a:rPr>
              <a:t>❌ Chain → RULED_OUT → remove, re-prioritize</a:t>
            </a:r>
            <a:endParaRPr b="0" i="0" sz="900" u="none" cap="none" strike="noStrike">
              <a:solidFill>
                <a:schemeClr val="dk1"/>
              </a:solidFill>
              <a:latin typeface="Calibri"/>
              <a:ea typeface="Calibri"/>
              <a:cs typeface="Calibri"/>
              <a:sym typeface="Calibri"/>
            </a:endParaRPr>
          </a:p>
        </p:txBody>
      </p:sp>
      <p:sp>
        <p:nvSpPr>
          <p:cNvPr id="1169" name="Google Shape;1169;p27"/>
          <p:cNvSpPr/>
          <p:nvPr/>
        </p:nvSpPr>
        <p:spPr>
          <a:xfrm>
            <a:off x="7559040" y="3560064"/>
            <a:ext cx="4328160" cy="755904"/>
          </a:xfrm>
          <a:prstGeom prst="rect">
            <a:avLst/>
          </a:prstGeom>
          <a:solidFill>
            <a:srgbClr val="1A0606"/>
          </a:solidFill>
          <a:ln cap="flat" cmpd="sng" w="10150">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0" name="Google Shape;1170;p27"/>
          <p:cNvSpPr/>
          <p:nvPr/>
        </p:nvSpPr>
        <p:spPr>
          <a:xfrm>
            <a:off x="7620000" y="3584448"/>
            <a:ext cx="4206240" cy="21945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5252"/>
              </a:buClr>
              <a:buSzPts val="900"/>
              <a:buFont typeface="Arial"/>
              <a:buNone/>
            </a:pPr>
            <a:r>
              <a:rPr b="1" i="0" lang="en-US" sz="900" u="none" cap="none" strike="noStrike">
                <a:solidFill>
                  <a:srgbClr val="FF5252"/>
                </a:solidFill>
                <a:latin typeface="Arial"/>
                <a:ea typeface="Arial"/>
                <a:cs typeface="Arial"/>
                <a:sym typeface="Arial"/>
              </a:rPr>
              <a:t>Cycle Guard Events</a:t>
            </a:r>
            <a:endParaRPr b="0" i="0" sz="900" u="none" cap="none" strike="noStrike">
              <a:solidFill>
                <a:schemeClr val="dk1"/>
              </a:solidFill>
              <a:latin typeface="Calibri"/>
              <a:ea typeface="Calibri"/>
              <a:cs typeface="Calibri"/>
              <a:sym typeface="Calibri"/>
            </a:endParaRPr>
          </a:p>
        </p:txBody>
      </p:sp>
      <p:sp>
        <p:nvSpPr>
          <p:cNvPr id="1171" name="Google Shape;1171;p27"/>
          <p:cNvSpPr/>
          <p:nvPr/>
        </p:nvSpPr>
        <p:spPr>
          <a:xfrm>
            <a:off x="7656576" y="3828288"/>
            <a:ext cx="4145280" cy="21945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5252"/>
              </a:buClr>
              <a:buSzPts val="900"/>
              <a:buFont typeface="Arial"/>
              <a:buNone/>
            </a:pPr>
            <a:r>
              <a:rPr b="0" i="0" lang="en-US" sz="900" u="none" cap="none" strike="noStrike">
                <a:solidFill>
                  <a:srgbClr val="FF5252"/>
                </a:solidFill>
                <a:latin typeface="Arial"/>
                <a:ea typeface="Arial"/>
                <a:cs typeface="Arial"/>
                <a:sym typeface="Arial"/>
              </a:rPr>
              <a:t>🔁 Same tool call repeated ×3 → Force re-plan</a:t>
            </a:r>
            <a:endParaRPr b="0" i="0" sz="900" u="none" cap="none" strike="noStrike">
              <a:solidFill>
                <a:schemeClr val="dk1"/>
              </a:solidFill>
              <a:latin typeface="Calibri"/>
              <a:ea typeface="Calibri"/>
              <a:cs typeface="Calibri"/>
              <a:sym typeface="Calibri"/>
            </a:endParaRPr>
          </a:p>
        </p:txBody>
      </p:sp>
      <p:sp>
        <p:nvSpPr>
          <p:cNvPr id="1172" name="Google Shape;1172;p27"/>
          <p:cNvSpPr/>
          <p:nvPr/>
        </p:nvSpPr>
        <p:spPr>
          <a:xfrm>
            <a:off x="7656576" y="4072128"/>
            <a:ext cx="4145280" cy="21945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5252"/>
              </a:buClr>
              <a:buSzPts val="900"/>
              <a:buFont typeface="Arial"/>
              <a:buNone/>
            </a:pPr>
            <a:r>
              <a:rPr b="0" i="0" lang="en-US" sz="900" u="none" cap="none" strike="noStrike">
                <a:solidFill>
                  <a:srgbClr val="FF5252"/>
                </a:solidFill>
                <a:latin typeface="Arial"/>
                <a:ea typeface="Arial"/>
                <a:cs typeface="Arial"/>
                <a:sym typeface="Arial"/>
              </a:rPr>
              <a:t>💥 Repeated different failures → Reflector</a:t>
            </a:r>
            <a:endParaRPr b="0" i="0" sz="900" u="none" cap="none" strike="noStrike">
              <a:solidFill>
                <a:schemeClr val="dk1"/>
              </a:solidFill>
              <a:latin typeface="Calibri"/>
              <a:ea typeface="Calibri"/>
              <a:cs typeface="Calibri"/>
              <a:sym typeface="Calibri"/>
            </a:endParaRPr>
          </a:p>
        </p:txBody>
      </p:sp>
      <p:sp>
        <p:nvSpPr>
          <p:cNvPr id="1173" name="Google Shape;1173;p27"/>
          <p:cNvSpPr/>
          <p:nvPr/>
        </p:nvSpPr>
        <p:spPr>
          <a:xfrm>
            <a:off x="7559040" y="4413504"/>
            <a:ext cx="4328160" cy="1901952"/>
          </a:xfrm>
          <a:prstGeom prst="rect">
            <a:avLst/>
          </a:prstGeom>
          <a:solidFill>
            <a:srgbClr val="04162E"/>
          </a:solidFill>
          <a:ln cap="flat" cmpd="sng" w="1270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4" name="Google Shape;1174;p27"/>
          <p:cNvSpPr/>
          <p:nvPr/>
        </p:nvSpPr>
        <p:spPr>
          <a:xfrm>
            <a:off x="7620000" y="4462272"/>
            <a:ext cx="4206240" cy="2438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0D4FF"/>
              </a:buClr>
              <a:buSzPts val="1100"/>
              <a:buFont typeface="Arial"/>
              <a:buNone/>
            </a:pPr>
            <a:r>
              <a:rPr b="1" i="0" lang="en-US" sz="1100" u="none" cap="none" strike="noStrike">
                <a:solidFill>
                  <a:srgbClr val="00D4FF"/>
                </a:solidFill>
                <a:latin typeface="Arial"/>
                <a:ea typeface="Arial"/>
                <a:cs typeface="Arial"/>
                <a:sym typeface="Arial"/>
              </a:rPr>
              <a:t>Dual Termination Condition</a:t>
            </a:r>
            <a:endParaRPr b="0" i="0" sz="1100" u="none" cap="none" strike="noStrike">
              <a:solidFill>
                <a:schemeClr val="dk1"/>
              </a:solidFill>
              <a:latin typeface="Calibri"/>
              <a:ea typeface="Calibri"/>
              <a:cs typeface="Calibri"/>
              <a:sym typeface="Calibri"/>
            </a:endParaRPr>
          </a:p>
        </p:txBody>
      </p:sp>
      <p:sp>
        <p:nvSpPr>
          <p:cNvPr id="1175" name="Google Shape;1175;p27"/>
          <p:cNvSpPr/>
          <p:nvPr/>
        </p:nvSpPr>
        <p:spPr>
          <a:xfrm>
            <a:off x="7620000" y="4754880"/>
            <a:ext cx="1981200" cy="755904"/>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6" name="Google Shape;1176;p27"/>
          <p:cNvSpPr/>
          <p:nvPr/>
        </p:nvSpPr>
        <p:spPr>
          <a:xfrm>
            <a:off x="7656576" y="4754880"/>
            <a:ext cx="1908048" cy="75590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ASG Exhausted</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Every node investigated</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by appropriate agent</a:t>
            </a:r>
            <a:endParaRPr b="0" i="0" sz="800" u="none" cap="none" strike="noStrike">
              <a:solidFill>
                <a:schemeClr val="dk1"/>
              </a:solidFill>
              <a:latin typeface="Calibri"/>
              <a:ea typeface="Calibri"/>
              <a:cs typeface="Calibri"/>
              <a:sym typeface="Calibri"/>
            </a:endParaRPr>
          </a:p>
        </p:txBody>
      </p:sp>
      <p:sp>
        <p:nvSpPr>
          <p:cNvPr id="1177" name="Google Shape;1177;p27"/>
          <p:cNvSpPr/>
          <p:nvPr/>
        </p:nvSpPr>
        <p:spPr>
          <a:xfrm>
            <a:off x="9723120" y="4754880"/>
            <a:ext cx="1981200" cy="755904"/>
          </a:xfrm>
          <a:prstGeom prst="rect">
            <a:avLst/>
          </a:prstGeom>
          <a:solidFill>
            <a:srgbClr val="1E1004"/>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8" name="Google Shape;1178;p27"/>
          <p:cNvSpPr/>
          <p:nvPr/>
        </p:nvSpPr>
        <p:spPr>
          <a:xfrm>
            <a:off x="9771888" y="4754880"/>
            <a:ext cx="1908048" cy="75590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APG Resolved</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All chains VALIDATED</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or RULED_OUT</a:t>
            </a:r>
            <a:endParaRPr b="0" i="0" sz="800" u="none" cap="none" strike="noStrike">
              <a:solidFill>
                <a:schemeClr val="dk1"/>
              </a:solidFill>
              <a:latin typeface="Calibri"/>
              <a:ea typeface="Calibri"/>
              <a:cs typeface="Calibri"/>
              <a:sym typeface="Calibri"/>
            </a:endParaRPr>
          </a:p>
        </p:txBody>
      </p:sp>
      <p:sp>
        <p:nvSpPr>
          <p:cNvPr id="1179" name="Google Shape;1179;p27"/>
          <p:cNvSpPr/>
          <p:nvPr/>
        </p:nvSpPr>
        <p:spPr>
          <a:xfrm>
            <a:off x="9540240" y="4998720"/>
            <a:ext cx="365760" cy="24384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AND</a:t>
            </a:r>
            <a:endParaRPr b="0" i="0" sz="900" u="none" cap="none" strike="noStrike">
              <a:solidFill>
                <a:schemeClr val="dk1"/>
              </a:solidFill>
              <a:latin typeface="Calibri"/>
              <a:ea typeface="Calibri"/>
              <a:cs typeface="Calibri"/>
              <a:sym typeface="Calibri"/>
            </a:endParaRPr>
          </a:p>
        </p:txBody>
      </p:sp>
      <p:sp>
        <p:nvSpPr>
          <p:cNvPr id="1180" name="Google Shape;1180;p27"/>
          <p:cNvSpPr/>
          <p:nvPr/>
        </p:nvSpPr>
        <p:spPr>
          <a:xfrm>
            <a:off x="7620000" y="5583936"/>
            <a:ext cx="4206240" cy="560832"/>
          </a:xfrm>
          <a:prstGeom prst="roundRect">
            <a:avLst>
              <a:gd fmla="val 13043" name="adj"/>
            </a:avLst>
          </a:prstGeom>
          <a:solidFill>
            <a:srgbClr val="041A08"/>
          </a:solidFill>
          <a:ln cap="flat" cmpd="sng" w="1270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1" name="Google Shape;1181;p27"/>
          <p:cNvSpPr/>
          <p:nvPr/>
        </p:nvSpPr>
        <p:spPr>
          <a:xfrm>
            <a:off x="7656576" y="5583936"/>
            <a:ext cx="4133088" cy="560832"/>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FFF00"/>
              </a:buClr>
              <a:buSzPts val="900"/>
              <a:buFont typeface="Arial"/>
              <a:buNone/>
            </a:pPr>
            <a:r>
              <a:rPr b="1" i="0" lang="en-US" sz="900" u="none" cap="none" strike="noStrike">
                <a:solidFill>
                  <a:srgbClr val="7FFF00"/>
                </a:solidFill>
                <a:latin typeface="Arial"/>
                <a:ea typeface="Arial"/>
                <a:cs typeface="Arial"/>
                <a:sym typeface="Arial"/>
              </a:rPr>
              <a:t>✅ BOTH TRUE → Report Agent spawned → MISSION COMPLETE</a:t>
            </a:r>
            <a:endParaRPr b="0" i="0" sz="900" u="none" cap="none" strike="noStrike">
              <a:solidFill>
                <a:schemeClr val="dk1"/>
              </a:solidFill>
              <a:latin typeface="Calibri"/>
              <a:ea typeface="Calibri"/>
              <a:cs typeface="Calibri"/>
              <a:sym typeface="Calibri"/>
            </a:endParaRPr>
          </a:p>
        </p:txBody>
      </p:sp>
      <p:sp>
        <p:nvSpPr>
          <p:cNvPr id="1182" name="Google Shape;1182;p27"/>
          <p:cNvSpPr/>
          <p:nvPr/>
        </p:nvSpPr>
        <p:spPr>
          <a:xfrm>
            <a:off x="7620000" y="6193536"/>
            <a:ext cx="4206240" cy="21945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9C27B0"/>
              </a:buClr>
              <a:buSzPts val="800"/>
              <a:buFont typeface="Arial"/>
              <a:buNone/>
            </a:pPr>
            <a:r>
              <a:rPr b="0" i="1" lang="en-US" sz="800" u="none" cap="none" strike="noStrike">
                <a:solidFill>
                  <a:srgbClr val="9C27B0"/>
                </a:solidFill>
                <a:latin typeface="Arial"/>
                <a:ea typeface="Arial"/>
                <a:cs typeface="Arial"/>
                <a:sym typeface="Arial"/>
              </a:rPr>
              <a:t>⚠️ Timer-based systems stop mid-chain.  CMatrix requires dual-graph resolution.</a:t>
            </a:r>
            <a:endParaRPr b="0" i="0" sz="800" u="none" cap="none" strike="noStrike">
              <a:solidFill>
                <a:schemeClr val="dk1"/>
              </a:solidFill>
              <a:latin typeface="Calibri"/>
              <a:ea typeface="Calibri"/>
              <a:cs typeface="Calibri"/>
              <a:sym typeface="Calibri"/>
            </a:endParaRPr>
          </a:p>
        </p:txBody>
      </p:sp>
      <p:sp>
        <p:nvSpPr>
          <p:cNvPr id="1183" name="Google Shape;1183;p27"/>
          <p:cNvSpPr/>
          <p:nvPr/>
        </p:nvSpPr>
        <p:spPr>
          <a:xfrm>
            <a:off x="182880" y="6473952"/>
            <a:ext cx="11826240" cy="304800"/>
          </a:xfrm>
          <a:prstGeom prst="rect">
            <a:avLst/>
          </a:prstGeom>
          <a:solidFill>
            <a:srgbClr val="04101A"/>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4" name="Google Shape;1184;p27"/>
          <p:cNvSpPr/>
          <p:nvPr/>
        </p:nvSpPr>
        <p:spPr>
          <a:xfrm>
            <a:off x="304800" y="6486144"/>
            <a:ext cx="11582400" cy="2682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0D4FF"/>
              </a:buClr>
              <a:buSzPts val="800"/>
              <a:buFont typeface="Arial"/>
              <a:buNone/>
            </a:pPr>
            <a:r>
              <a:rPr b="0" i="1" lang="en-US" sz="800" u="none" cap="none" strike="noStrike">
                <a:solidFill>
                  <a:srgbClr val="00D4FF"/>
                </a:solidFill>
                <a:latin typeface="Arial"/>
                <a:ea typeface="Arial"/>
                <a:cs typeface="Arial"/>
                <a:sym typeface="Arial"/>
              </a:rPr>
              <a:t>Every Commander decision traces to a graph event.  Every re-plan is triggered by a node write.  Mission ends only when the graph demands it — not when a timer fires.</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189" name="Shape 1189"/>
        <p:cNvGrpSpPr/>
        <p:nvPr/>
      </p:nvGrpSpPr>
      <p:grpSpPr>
        <a:xfrm>
          <a:off x="0" y="0"/>
          <a:ext cx="0" cy="0"/>
          <a:chOff x="0" y="0"/>
          <a:chExt cx="0" cy="0"/>
        </a:xfrm>
      </p:grpSpPr>
      <p:sp>
        <p:nvSpPr>
          <p:cNvPr id="1190" name="Google Shape;1190;p28"/>
          <p:cNvSpPr/>
          <p:nvPr/>
        </p:nvSpPr>
        <p:spPr>
          <a:xfrm>
            <a:off x="0" y="0"/>
            <a:ext cx="54864" cy="68580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8"/>
          <p:cNvSpPr/>
          <p:nvPr/>
        </p:nvSpPr>
        <p:spPr>
          <a:xfrm>
            <a:off x="54864" y="0"/>
            <a:ext cx="12134088" cy="36576"/>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8"/>
          <p:cNvSpPr/>
          <p:nvPr/>
        </p:nvSpPr>
        <p:spPr>
          <a:xfrm>
            <a:off x="54864" y="6821424"/>
            <a:ext cx="12134088" cy="36576"/>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8"/>
          <p:cNvSpPr/>
          <p:nvPr/>
        </p:nvSpPr>
        <p:spPr>
          <a:xfrm>
            <a:off x="274320" y="64008"/>
            <a:ext cx="73152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E5FF"/>
              </a:buClr>
              <a:buSzPts val="1000"/>
              <a:buFont typeface="Calibri"/>
              <a:buNone/>
            </a:pPr>
            <a:r>
              <a:rPr b="1" i="0" lang="en-US" sz="1000" u="none" cap="none" strike="noStrike">
                <a:solidFill>
                  <a:srgbClr val="00E5FF"/>
                </a:solidFill>
                <a:latin typeface="Calibri"/>
                <a:ea typeface="Calibri"/>
                <a:cs typeface="Calibri"/>
                <a:sym typeface="Calibri"/>
              </a:rPr>
              <a:t>AUTONOMOUS PLANNING CYCLE</a:t>
            </a:r>
            <a:endParaRPr b="0" i="0" sz="1000" u="none" cap="none" strike="noStrike">
              <a:solidFill>
                <a:schemeClr val="dk1"/>
              </a:solidFill>
              <a:latin typeface="Calibri"/>
              <a:ea typeface="Calibri"/>
              <a:cs typeface="Calibri"/>
              <a:sym typeface="Calibri"/>
            </a:endParaRPr>
          </a:p>
        </p:txBody>
      </p:sp>
      <p:sp>
        <p:nvSpPr>
          <p:cNvPr id="1194" name="Google Shape;1194;p28"/>
          <p:cNvSpPr/>
          <p:nvPr/>
        </p:nvSpPr>
        <p:spPr>
          <a:xfrm>
            <a:off x="274320" y="283464"/>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2400"/>
              <a:buFont typeface="Arial"/>
              <a:buNone/>
            </a:pPr>
            <a:r>
              <a:rPr b="1" i="0" lang="en-US" sz="2400" u="none" cap="none" strike="noStrike">
                <a:solidFill>
                  <a:srgbClr val="E8ECF4"/>
                </a:solidFill>
                <a:latin typeface="Arial"/>
                <a:ea typeface="Arial"/>
                <a:cs typeface="Arial"/>
                <a:sym typeface="Arial"/>
              </a:rPr>
              <a:t>Dual Termination &amp; Context Compaction</a:t>
            </a:r>
            <a:endParaRPr b="0" i="0" sz="2400" u="none" cap="none" strike="noStrike">
              <a:solidFill>
                <a:schemeClr val="dk1"/>
              </a:solidFill>
              <a:latin typeface="Calibri"/>
              <a:ea typeface="Calibri"/>
              <a:cs typeface="Calibri"/>
              <a:sym typeface="Calibri"/>
            </a:endParaRPr>
          </a:p>
        </p:txBody>
      </p:sp>
      <p:cxnSp>
        <p:nvCxnSpPr>
          <p:cNvPr id="1195" name="Google Shape;1195;p28"/>
          <p:cNvCxnSpPr/>
          <p:nvPr/>
        </p:nvCxnSpPr>
        <p:spPr>
          <a:xfrm>
            <a:off x="6035040" y="914400"/>
            <a:ext cx="0" cy="5623560"/>
          </a:xfrm>
          <a:prstGeom prst="straightConnector1">
            <a:avLst/>
          </a:prstGeom>
          <a:noFill/>
          <a:ln cap="flat" cmpd="sng" w="12700">
            <a:solidFill>
              <a:srgbClr val="23283A"/>
            </a:solidFill>
            <a:prstDash val="solid"/>
            <a:round/>
            <a:headEnd len="sm" w="sm" type="none"/>
            <a:tailEnd len="sm" w="sm" type="none"/>
          </a:ln>
        </p:spPr>
      </p:cxnSp>
      <p:sp>
        <p:nvSpPr>
          <p:cNvPr id="1196" name="Google Shape;1196;p28"/>
          <p:cNvSpPr/>
          <p:nvPr/>
        </p:nvSpPr>
        <p:spPr>
          <a:xfrm>
            <a:off x="274320" y="932688"/>
            <a:ext cx="5577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00"/>
              <a:buFont typeface="Calibri"/>
              <a:buNone/>
            </a:pPr>
            <a:r>
              <a:rPr b="1" i="0" lang="en-US" sz="1300" u="none" cap="none" strike="noStrike">
                <a:solidFill>
                  <a:srgbClr val="E8ECF4"/>
                </a:solidFill>
                <a:latin typeface="Calibri"/>
                <a:ea typeface="Calibri"/>
                <a:cs typeface="Calibri"/>
                <a:sym typeface="Calibri"/>
              </a:rPr>
              <a:t>DUAL TERMINATION CONDITION</a:t>
            </a:r>
            <a:r>
              <a:rPr b="0" i="1" lang="en-US" sz="1100" u="none" cap="none" strike="noStrike">
                <a:solidFill>
                  <a:srgbClr val="A0AAB8"/>
                </a:solidFill>
                <a:latin typeface="Calibri"/>
                <a:ea typeface="Calibri"/>
                <a:cs typeface="Calibri"/>
                <a:sym typeface="Calibri"/>
              </a:rPr>
              <a:t>  —  why both must be true</a:t>
            </a:r>
            <a:endParaRPr b="0" i="0" sz="1300" u="none" cap="none" strike="noStrike">
              <a:solidFill>
                <a:schemeClr val="dk1"/>
              </a:solidFill>
              <a:latin typeface="Calibri"/>
              <a:ea typeface="Calibri"/>
              <a:cs typeface="Calibri"/>
              <a:sym typeface="Calibri"/>
            </a:endParaRPr>
          </a:p>
        </p:txBody>
      </p:sp>
      <p:sp>
        <p:nvSpPr>
          <p:cNvPr id="1197" name="Google Shape;1197;p28"/>
          <p:cNvSpPr/>
          <p:nvPr/>
        </p:nvSpPr>
        <p:spPr>
          <a:xfrm>
            <a:off x="274320" y="1298448"/>
            <a:ext cx="2606040" cy="1207008"/>
          </a:xfrm>
          <a:prstGeom prst="roundRect">
            <a:avLst>
              <a:gd fmla="val 4545" name="adj"/>
            </a:avLst>
          </a:prstGeom>
          <a:solidFill>
            <a:srgbClr val="0E1A06"/>
          </a:solidFill>
          <a:ln cap="flat" cmpd="sng" w="12700">
            <a:solidFill>
              <a:srgbClr val="39FF14"/>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8"/>
          <p:cNvSpPr/>
          <p:nvPr/>
        </p:nvSpPr>
        <p:spPr>
          <a:xfrm>
            <a:off x="384048" y="1371600"/>
            <a:ext cx="23865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1150"/>
              <a:buFont typeface="Calibri"/>
              <a:buNone/>
            </a:pPr>
            <a:r>
              <a:rPr b="1" i="0" lang="en-US" sz="1150" u="none" cap="none" strike="noStrike">
                <a:solidFill>
                  <a:srgbClr val="39FF14"/>
                </a:solidFill>
                <a:latin typeface="Calibri"/>
                <a:ea typeface="Calibri"/>
                <a:cs typeface="Calibri"/>
                <a:sym typeface="Calibri"/>
              </a:rPr>
              <a:t>ASG exhausted?</a:t>
            </a:r>
            <a:endParaRPr b="0" i="0" sz="1150" u="none" cap="none" strike="noStrike">
              <a:solidFill>
                <a:schemeClr val="dk1"/>
              </a:solidFill>
              <a:latin typeface="Calibri"/>
              <a:ea typeface="Calibri"/>
              <a:cs typeface="Calibri"/>
              <a:sym typeface="Calibri"/>
            </a:endParaRPr>
          </a:p>
        </p:txBody>
      </p:sp>
      <p:sp>
        <p:nvSpPr>
          <p:cNvPr id="1199" name="Google Shape;1199;p28"/>
          <p:cNvSpPr/>
          <p:nvPr/>
        </p:nvSpPr>
        <p:spPr>
          <a:xfrm>
            <a:off x="384048" y="1664208"/>
            <a:ext cx="2386584" cy="80467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0AAB8"/>
              </a:buClr>
              <a:buSzPts val="850"/>
              <a:buFont typeface="Calibri"/>
              <a:buNone/>
            </a:pPr>
            <a:r>
              <a:rPr b="0" i="0" lang="en-US" sz="850" u="none" cap="none" strike="noStrike">
                <a:solidFill>
                  <a:srgbClr val="A0AAB8"/>
                </a:solidFill>
                <a:latin typeface="Calibri"/>
                <a:ea typeface="Calibri"/>
                <a:cs typeface="Calibri"/>
                <a:sym typeface="Calibri"/>
              </a:rPr>
              <a:t>Every Domain, Host, Port, Service, Technology, Endpoint, and Parameter node has been investigated by the appropriate agent.</a:t>
            </a:r>
            <a:endParaRPr b="0" i="0" sz="850" u="none" cap="none" strike="noStrike">
              <a:solidFill>
                <a:schemeClr val="dk1"/>
              </a:solidFill>
              <a:latin typeface="Calibri"/>
              <a:ea typeface="Calibri"/>
              <a:cs typeface="Calibri"/>
              <a:sym typeface="Calibri"/>
            </a:endParaRPr>
          </a:p>
        </p:txBody>
      </p:sp>
      <p:sp>
        <p:nvSpPr>
          <p:cNvPr id="1200" name="Google Shape;1200;p28"/>
          <p:cNvSpPr/>
          <p:nvPr/>
        </p:nvSpPr>
        <p:spPr>
          <a:xfrm>
            <a:off x="3246120" y="1298448"/>
            <a:ext cx="2606040" cy="1207008"/>
          </a:xfrm>
          <a:prstGeom prst="roundRect">
            <a:avLst>
              <a:gd fmla="val 4545" name="adj"/>
            </a:avLst>
          </a:prstGeom>
          <a:solidFill>
            <a:srgbClr val="1E1804"/>
          </a:solidFill>
          <a:ln cap="flat" cmpd="sng" w="12700">
            <a:solidFill>
              <a:srgbClr val="FFD700"/>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8"/>
          <p:cNvSpPr/>
          <p:nvPr/>
        </p:nvSpPr>
        <p:spPr>
          <a:xfrm>
            <a:off x="3355848" y="1371600"/>
            <a:ext cx="23865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150"/>
              <a:buFont typeface="Calibri"/>
              <a:buNone/>
            </a:pPr>
            <a:r>
              <a:rPr b="1" i="0" lang="en-US" sz="1150" u="none" cap="none" strike="noStrike">
                <a:solidFill>
                  <a:srgbClr val="FFD700"/>
                </a:solidFill>
                <a:latin typeface="Calibri"/>
                <a:ea typeface="Calibri"/>
                <a:cs typeface="Calibri"/>
                <a:sym typeface="Calibri"/>
              </a:rPr>
              <a:t>APG resolved?</a:t>
            </a:r>
            <a:endParaRPr b="0" i="0" sz="1150" u="none" cap="none" strike="noStrike">
              <a:solidFill>
                <a:schemeClr val="dk1"/>
              </a:solidFill>
              <a:latin typeface="Calibri"/>
              <a:ea typeface="Calibri"/>
              <a:cs typeface="Calibri"/>
              <a:sym typeface="Calibri"/>
            </a:endParaRPr>
          </a:p>
        </p:txBody>
      </p:sp>
      <p:sp>
        <p:nvSpPr>
          <p:cNvPr id="1202" name="Google Shape;1202;p28"/>
          <p:cNvSpPr/>
          <p:nvPr/>
        </p:nvSpPr>
        <p:spPr>
          <a:xfrm>
            <a:off x="3355848" y="1664208"/>
            <a:ext cx="2386584" cy="80467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0AAB8"/>
              </a:buClr>
              <a:buSzPts val="850"/>
              <a:buFont typeface="Calibri"/>
              <a:buNone/>
            </a:pPr>
            <a:r>
              <a:rPr b="0" i="0" lang="en-US" sz="850" u="none" cap="none" strike="noStrike">
                <a:solidFill>
                  <a:srgbClr val="A0AAB8"/>
                </a:solidFill>
                <a:latin typeface="Calibri"/>
                <a:ea typeface="Calibri"/>
                <a:cs typeface="Calibri"/>
                <a:sym typeface="Calibri"/>
              </a:rPr>
              <a:t>Every AttackChain sits in a terminal state — VALIDATED or RULED_OUT. None left HYPOTHESIZED or PARTIALLY_VALIDATED.</a:t>
            </a:r>
            <a:endParaRPr b="0" i="0" sz="850" u="none" cap="none" strike="noStrike">
              <a:solidFill>
                <a:schemeClr val="dk1"/>
              </a:solidFill>
              <a:latin typeface="Calibri"/>
              <a:ea typeface="Calibri"/>
              <a:cs typeface="Calibri"/>
              <a:sym typeface="Calibri"/>
            </a:endParaRPr>
          </a:p>
        </p:txBody>
      </p:sp>
      <p:sp>
        <p:nvSpPr>
          <p:cNvPr id="1203" name="Google Shape;1203;p28"/>
          <p:cNvSpPr/>
          <p:nvPr/>
        </p:nvSpPr>
        <p:spPr>
          <a:xfrm>
            <a:off x="274320" y="2670048"/>
            <a:ext cx="2606040" cy="1078992"/>
          </a:xfrm>
          <a:prstGeom prst="roundRect">
            <a:avLst>
              <a:gd fmla="val 5085" name="adj"/>
            </a:avLst>
          </a:prstGeom>
          <a:solidFill>
            <a:srgbClr val="220808"/>
          </a:solidFill>
          <a:ln cap="flat" cmpd="sng" w="12700">
            <a:solidFill>
              <a:srgbClr val="FF4545"/>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8"/>
          <p:cNvSpPr/>
          <p:nvPr/>
        </p:nvSpPr>
        <p:spPr>
          <a:xfrm>
            <a:off x="384048" y="2734056"/>
            <a:ext cx="23865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950"/>
              <a:buFont typeface="Calibri"/>
              <a:buNone/>
            </a:pPr>
            <a:r>
              <a:rPr b="1" i="0" lang="en-US" sz="950" u="none" cap="none" strike="noStrike">
                <a:solidFill>
                  <a:srgbClr val="FF4545"/>
                </a:solidFill>
                <a:latin typeface="Calibri"/>
                <a:ea typeface="Calibri"/>
                <a:cs typeface="Calibri"/>
                <a:sym typeface="Calibri"/>
              </a:rPr>
              <a:t>❌ ASG only — NOT DONE</a:t>
            </a:r>
            <a:endParaRPr b="0" i="0" sz="950" u="none" cap="none" strike="noStrike">
              <a:solidFill>
                <a:schemeClr val="dk1"/>
              </a:solidFill>
              <a:latin typeface="Calibri"/>
              <a:ea typeface="Calibri"/>
              <a:cs typeface="Calibri"/>
              <a:sym typeface="Calibri"/>
            </a:endParaRPr>
          </a:p>
        </p:txBody>
      </p:sp>
      <p:sp>
        <p:nvSpPr>
          <p:cNvPr id="1205" name="Google Shape;1205;p28"/>
          <p:cNvSpPr/>
          <p:nvPr/>
        </p:nvSpPr>
        <p:spPr>
          <a:xfrm>
            <a:off x="384048" y="2980944"/>
            <a:ext cx="2386584" cy="7132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Surface fully explored but chains still open. Attack reasoning is unfinished.</a:t>
            </a:r>
            <a:endParaRPr b="0" i="0" sz="800" u="none" cap="none" strike="noStrike">
              <a:solidFill>
                <a:schemeClr val="dk1"/>
              </a:solidFill>
              <a:latin typeface="Calibri"/>
              <a:ea typeface="Calibri"/>
              <a:cs typeface="Calibri"/>
              <a:sym typeface="Calibri"/>
            </a:endParaRPr>
          </a:p>
        </p:txBody>
      </p:sp>
      <p:sp>
        <p:nvSpPr>
          <p:cNvPr id="1206" name="Google Shape;1206;p28"/>
          <p:cNvSpPr/>
          <p:nvPr/>
        </p:nvSpPr>
        <p:spPr>
          <a:xfrm>
            <a:off x="3246120" y="2670048"/>
            <a:ext cx="2606040" cy="1078992"/>
          </a:xfrm>
          <a:prstGeom prst="roundRect">
            <a:avLst>
              <a:gd fmla="val 5085" name="adj"/>
            </a:avLst>
          </a:prstGeom>
          <a:solidFill>
            <a:srgbClr val="220808"/>
          </a:solidFill>
          <a:ln cap="flat" cmpd="sng" w="12700">
            <a:solidFill>
              <a:srgbClr val="FF4545"/>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8"/>
          <p:cNvSpPr/>
          <p:nvPr/>
        </p:nvSpPr>
        <p:spPr>
          <a:xfrm>
            <a:off x="3355848" y="2734056"/>
            <a:ext cx="23865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950"/>
              <a:buFont typeface="Calibri"/>
              <a:buNone/>
            </a:pPr>
            <a:r>
              <a:rPr b="1" i="0" lang="en-US" sz="950" u="none" cap="none" strike="noStrike">
                <a:solidFill>
                  <a:srgbClr val="FF4545"/>
                </a:solidFill>
                <a:latin typeface="Calibri"/>
                <a:ea typeface="Calibri"/>
                <a:cs typeface="Calibri"/>
                <a:sym typeface="Calibri"/>
              </a:rPr>
              <a:t>❌ APG only — NOT DONE</a:t>
            </a:r>
            <a:endParaRPr b="0" i="0" sz="950" u="none" cap="none" strike="noStrike">
              <a:solidFill>
                <a:schemeClr val="dk1"/>
              </a:solidFill>
              <a:latin typeface="Calibri"/>
              <a:ea typeface="Calibri"/>
              <a:cs typeface="Calibri"/>
              <a:sym typeface="Calibri"/>
            </a:endParaRPr>
          </a:p>
        </p:txBody>
      </p:sp>
      <p:sp>
        <p:nvSpPr>
          <p:cNvPr id="1208" name="Google Shape;1208;p28"/>
          <p:cNvSpPr/>
          <p:nvPr/>
        </p:nvSpPr>
        <p:spPr>
          <a:xfrm>
            <a:off x="3355848" y="2980944"/>
            <a:ext cx="2386584" cy="7132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All chains resolved, but new ASG nodes were just written — they might seed new chains.</a:t>
            </a:r>
            <a:endParaRPr b="0" i="0" sz="800" u="none" cap="none" strike="noStrike">
              <a:solidFill>
                <a:schemeClr val="dk1"/>
              </a:solidFill>
              <a:latin typeface="Calibri"/>
              <a:ea typeface="Calibri"/>
              <a:cs typeface="Calibri"/>
              <a:sym typeface="Calibri"/>
            </a:endParaRPr>
          </a:p>
        </p:txBody>
      </p:sp>
      <p:sp>
        <p:nvSpPr>
          <p:cNvPr id="1209" name="Google Shape;1209;p28"/>
          <p:cNvSpPr/>
          <p:nvPr/>
        </p:nvSpPr>
        <p:spPr>
          <a:xfrm>
            <a:off x="274320" y="3822192"/>
            <a:ext cx="2606040" cy="1078992"/>
          </a:xfrm>
          <a:prstGeom prst="roundRect">
            <a:avLst>
              <a:gd fmla="val 5085" name="adj"/>
            </a:avLst>
          </a:prstGeom>
          <a:solidFill>
            <a:srgbClr val="220808"/>
          </a:solidFill>
          <a:ln cap="flat" cmpd="sng" w="12700">
            <a:solidFill>
              <a:srgbClr val="FF4545"/>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8"/>
          <p:cNvSpPr/>
          <p:nvPr/>
        </p:nvSpPr>
        <p:spPr>
          <a:xfrm>
            <a:off x="384048" y="3886200"/>
            <a:ext cx="23865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950"/>
              <a:buFont typeface="Calibri"/>
              <a:buNone/>
            </a:pPr>
            <a:r>
              <a:rPr b="1" i="0" lang="en-US" sz="950" u="none" cap="none" strike="noStrike">
                <a:solidFill>
                  <a:srgbClr val="FF4545"/>
                </a:solidFill>
                <a:latin typeface="Calibri"/>
                <a:ea typeface="Calibri"/>
                <a:cs typeface="Calibri"/>
                <a:sym typeface="Calibri"/>
              </a:rPr>
              <a:t>❌ Neither — NOT DONE</a:t>
            </a:r>
            <a:endParaRPr b="0" i="0" sz="950" u="none" cap="none" strike="noStrike">
              <a:solidFill>
                <a:schemeClr val="dk1"/>
              </a:solidFill>
              <a:latin typeface="Calibri"/>
              <a:ea typeface="Calibri"/>
              <a:cs typeface="Calibri"/>
              <a:sym typeface="Calibri"/>
            </a:endParaRPr>
          </a:p>
        </p:txBody>
      </p:sp>
      <p:sp>
        <p:nvSpPr>
          <p:cNvPr id="1211" name="Google Shape;1211;p28"/>
          <p:cNvSpPr/>
          <p:nvPr/>
        </p:nvSpPr>
        <p:spPr>
          <a:xfrm>
            <a:off x="384048" y="4133088"/>
            <a:ext cx="2386584" cy="7132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Both conditions incomplete. Mission continues.</a:t>
            </a:r>
            <a:endParaRPr b="0" i="0" sz="800" u="none" cap="none" strike="noStrike">
              <a:solidFill>
                <a:schemeClr val="dk1"/>
              </a:solidFill>
              <a:latin typeface="Calibri"/>
              <a:ea typeface="Calibri"/>
              <a:cs typeface="Calibri"/>
              <a:sym typeface="Calibri"/>
            </a:endParaRPr>
          </a:p>
        </p:txBody>
      </p:sp>
      <p:sp>
        <p:nvSpPr>
          <p:cNvPr id="1212" name="Google Shape;1212;p28"/>
          <p:cNvSpPr/>
          <p:nvPr/>
        </p:nvSpPr>
        <p:spPr>
          <a:xfrm>
            <a:off x="3246120" y="3822192"/>
            <a:ext cx="2606040" cy="1078992"/>
          </a:xfrm>
          <a:prstGeom prst="roundRect">
            <a:avLst>
              <a:gd fmla="val 5085" name="adj"/>
            </a:avLst>
          </a:prstGeom>
          <a:solidFill>
            <a:srgbClr val="0C2008"/>
          </a:solidFill>
          <a:ln cap="flat" cmpd="sng" w="12700">
            <a:solidFill>
              <a:srgbClr val="39FF14"/>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8"/>
          <p:cNvSpPr/>
          <p:nvPr/>
        </p:nvSpPr>
        <p:spPr>
          <a:xfrm>
            <a:off x="3355848" y="3886200"/>
            <a:ext cx="23865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950"/>
              <a:buFont typeface="Calibri"/>
              <a:buNone/>
            </a:pPr>
            <a:r>
              <a:rPr b="1" i="0" lang="en-US" sz="950" u="none" cap="none" strike="noStrike">
                <a:solidFill>
                  <a:srgbClr val="39FF14"/>
                </a:solidFill>
                <a:latin typeface="Calibri"/>
                <a:ea typeface="Calibri"/>
                <a:cs typeface="Calibri"/>
                <a:sym typeface="Calibri"/>
              </a:rPr>
              <a:t>✅ Both true — MISSION COMPLETE</a:t>
            </a:r>
            <a:endParaRPr b="0" i="0" sz="950" u="none" cap="none" strike="noStrike">
              <a:solidFill>
                <a:schemeClr val="dk1"/>
              </a:solidFill>
              <a:latin typeface="Calibri"/>
              <a:ea typeface="Calibri"/>
              <a:cs typeface="Calibri"/>
              <a:sym typeface="Calibri"/>
            </a:endParaRPr>
          </a:p>
        </p:txBody>
      </p:sp>
      <p:sp>
        <p:nvSpPr>
          <p:cNvPr id="1214" name="Google Shape;1214;p28"/>
          <p:cNvSpPr/>
          <p:nvPr/>
        </p:nvSpPr>
        <p:spPr>
          <a:xfrm>
            <a:off x="3355848" y="4133088"/>
            <a:ext cx="2386584" cy="7132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ASG fully mapped, every attack opportunity proven or disproven. Report Agent spawned.</a:t>
            </a:r>
            <a:endParaRPr b="0" i="0" sz="800" u="none" cap="none" strike="noStrike">
              <a:solidFill>
                <a:schemeClr val="dk1"/>
              </a:solidFill>
              <a:latin typeface="Calibri"/>
              <a:ea typeface="Calibri"/>
              <a:cs typeface="Calibri"/>
              <a:sym typeface="Calibri"/>
            </a:endParaRPr>
          </a:p>
        </p:txBody>
      </p:sp>
      <p:sp>
        <p:nvSpPr>
          <p:cNvPr id="1215" name="Google Shape;1215;p28"/>
          <p:cNvSpPr/>
          <p:nvPr/>
        </p:nvSpPr>
        <p:spPr>
          <a:xfrm>
            <a:off x="274320" y="5029200"/>
            <a:ext cx="5577840" cy="1005840"/>
          </a:xfrm>
          <a:prstGeom prst="roundRect">
            <a:avLst>
              <a:gd fmla="val 5455" name="adj"/>
            </a:avLst>
          </a:prstGeom>
          <a:solidFill>
            <a:srgbClr val="150C28"/>
          </a:solidFill>
          <a:ln cap="flat" cmpd="sng" w="12700">
            <a:solidFill>
              <a:srgbClr val="BD93F9"/>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8"/>
          <p:cNvSpPr/>
          <p:nvPr/>
        </p:nvSpPr>
        <p:spPr>
          <a:xfrm>
            <a:off x="411480" y="5120640"/>
            <a:ext cx="5303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D93F9"/>
              </a:buClr>
              <a:buSzPts val="900"/>
              <a:buFont typeface="Calibri"/>
              <a:buNone/>
            </a:pPr>
            <a:r>
              <a:rPr b="1" i="0" lang="en-US" sz="900" u="none" cap="none" strike="noStrike">
                <a:solidFill>
                  <a:srgbClr val="BD93F9"/>
                </a:solidFill>
                <a:latin typeface="Calibri"/>
                <a:ea typeface="Calibri"/>
                <a:cs typeface="Calibri"/>
                <a:sym typeface="Calibri"/>
              </a:rPr>
              <a:t>Why existing systems fail:  </a:t>
            </a:r>
            <a:r>
              <a:rPr b="0" i="0" lang="en-US" sz="900" u="none" cap="none" strike="noStrike">
                <a:solidFill>
                  <a:srgbClr val="D8C9F5"/>
                </a:solidFill>
                <a:latin typeface="Calibri"/>
                <a:ea typeface="Calibri"/>
                <a:cs typeface="Calibri"/>
                <a:sym typeface="Calibri"/>
              </a:rPr>
              <a:t>timer-based execution stops mid-chain; task-queue-based systems can't express APG resolution at all. CMatrix is the only architecture that evaluates both conditions simultaneously.</a:t>
            </a:r>
            <a:endParaRPr b="0" i="0" sz="900" u="none" cap="none" strike="noStrike">
              <a:solidFill>
                <a:schemeClr val="dk1"/>
              </a:solidFill>
              <a:latin typeface="Calibri"/>
              <a:ea typeface="Calibri"/>
              <a:cs typeface="Calibri"/>
              <a:sym typeface="Calibri"/>
            </a:endParaRPr>
          </a:p>
        </p:txBody>
      </p:sp>
      <p:sp>
        <p:nvSpPr>
          <p:cNvPr id="1217" name="Google Shape;1217;p28"/>
          <p:cNvSpPr/>
          <p:nvPr/>
        </p:nvSpPr>
        <p:spPr>
          <a:xfrm>
            <a:off x="6263640" y="932688"/>
            <a:ext cx="56509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00"/>
              <a:buFont typeface="Calibri"/>
              <a:buNone/>
            </a:pPr>
            <a:r>
              <a:rPr b="1" i="0" lang="en-US" sz="1300" u="none" cap="none" strike="noStrike">
                <a:solidFill>
                  <a:srgbClr val="E8ECF4"/>
                </a:solidFill>
                <a:latin typeface="Calibri"/>
                <a:ea typeface="Calibri"/>
                <a:cs typeface="Calibri"/>
                <a:sym typeface="Calibri"/>
              </a:rPr>
              <a:t>CONTEXT COMPACTION</a:t>
            </a:r>
            <a:r>
              <a:rPr b="0" i="1" lang="en-US" sz="1100" u="none" cap="none" strike="noStrike">
                <a:solidFill>
                  <a:srgbClr val="A0AAB8"/>
                </a:solidFill>
                <a:latin typeface="Calibri"/>
                <a:ea typeface="Calibri"/>
                <a:cs typeface="Calibri"/>
                <a:sym typeface="Calibri"/>
              </a:rPr>
              <a:t>  —  how long missions stay sharp</a:t>
            </a:r>
            <a:endParaRPr b="0" i="0" sz="1300" u="none" cap="none" strike="noStrike">
              <a:solidFill>
                <a:schemeClr val="dk1"/>
              </a:solidFill>
              <a:latin typeface="Calibri"/>
              <a:ea typeface="Calibri"/>
              <a:cs typeface="Calibri"/>
              <a:sym typeface="Calibri"/>
            </a:endParaRPr>
          </a:p>
        </p:txBody>
      </p:sp>
      <p:sp>
        <p:nvSpPr>
          <p:cNvPr id="1218" name="Google Shape;1218;p28"/>
          <p:cNvSpPr/>
          <p:nvPr/>
        </p:nvSpPr>
        <p:spPr>
          <a:xfrm>
            <a:off x="6263640" y="1298448"/>
            <a:ext cx="5650992" cy="868680"/>
          </a:xfrm>
          <a:prstGeom prst="roundRect">
            <a:avLst>
              <a:gd fmla="val 6316" name="adj"/>
            </a:avLst>
          </a:prstGeom>
          <a:solidFill>
            <a:srgbClr val="0E1A06"/>
          </a:solidFill>
          <a:ln cap="flat" cmpd="sng" w="12700">
            <a:solidFill>
              <a:srgbClr val="39FF14"/>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8"/>
          <p:cNvSpPr/>
          <p:nvPr/>
        </p:nvSpPr>
        <p:spPr>
          <a:xfrm>
            <a:off x="6400800" y="1371600"/>
            <a:ext cx="53766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900"/>
              <a:buFont typeface="Calibri"/>
              <a:buNone/>
            </a:pPr>
            <a:r>
              <a:rPr b="1" i="0" lang="en-US" sz="900" u="none" cap="none" strike="noStrike">
                <a:solidFill>
                  <a:srgbClr val="39FF14"/>
                </a:solidFill>
                <a:latin typeface="Calibri"/>
                <a:ea typeface="Calibri"/>
                <a:cs typeface="Calibri"/>
                <a:sym typeface="Calibri"/>
              </a:rPr>
              <a:t>NORMAL OPERATION</a:t>
            </a:r>
            <a:endParaRPr b="0" i="0" sz="900" u="none" cap="none" strike="noStrike">
              <a:solidFill>
                <a:schemeClr val="dk1"/>
              </a:solidFill>
              <a:latin typeface="Calibri"/>
              <a:ea typeface="Calibri"/>
              <a:cs typeface="Calibri"/>
              <a:sym typeface="Calibri"/>
            </a:endParaRPr>
          </a:p>
        </p:txBody>
      </p:sp>
      <p:sp>
        <p:nvSpPr>
          <p:cNvPr id="1220" name="Google Shape;1220;p28"/>
          <p:cNvSpPr/>
          <p:nvPr/>
        </p:nvSpPr>
        <p:spPr>
          <a:xfrm>
            <a:off x="6400800" y="1591056"/>
            <a:ext cx="53766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50"/>
              <a:buFont typeface="Calibri"/>
              <a:buNone/>
            </a:pPr>
            <a:r>
              <a:rPr b="1" i="0" lang="en-US" sz="1150" u="none" cap="none" strike="noStrike">
                <a:solidFill>
                  <a:srgbClr val="E8ECF4"/>
                </a:solidFill>
                <a:latin typeface="Calibri"/>
                <a:ea typeface="Calibri"/>
                <a:cs typeface="Calibri"/>
                <a:sym typeface="Calibri"/>
              </a:rPr>
              <a:t>MicroCompact — every tool call</a:t>
            </a:r>
            <a:endParaRPr b="0" i="0" sz="1150" u="none" cap="none" strike="noStrike">
              <a:solidFill>
                <a:schemeClr val="dk1"/>
              </a:solidFill>
              <a:latin typeface="Calibri"/>
              <a:ea typeface="Calibri"/>
              <a:cs typeface="Calibri"/>
              <a:sym typeface="Calibri"/>
            </a:endParaRPr>
          </a:p>
        </p:txBody>
      </p:sp>
      <p:sp>
        <p:nvSpPr>
          <p:cNvPr id="1221" name="Google Shape;1221;p28"/>
          <p:cNvSpPr/>
          <p:nvPr/>
        </p:nvSpPr>
        <p:spPr>
          <a:xfrm>
            <a:off x="6400800" y="1847088"/>
            <a:ext cx="5376672" cy="2468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Raw tool output is discarded immediately; the agent sees only a 3-line summary.</a:t>
            </a:r>
            <a:endParaRPr b="0" i="0" sz="900" u="none" cap="none" strike="noStrike">
              <a:solidFill>
                <a:schemeClr val="dk1"/>
              </a:solidFill>
              <a:latin typeface="Calibri"/>
              <a:ea typeface="Calibri"/>
              <a:cs typeface="Calibri"/>
              <a:sym typeface="Calibri"/>
            </a:endParaRPr>
          </a:p>
        </p:txBody>
      </p:sp>
      <p:sp>
        <p:nvSpPr>
          <p:cNvPr id="1222" name="Google Shape;1222;p28"/>
          <p:cNvSpPr/>
          <p:nvPr/>
        </p:nvSpPr>
        <p:spPr>
          <a:xfrm>
            <a:off x="6263640" y="2194560"/>
            <a:ext cx="5650992"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850"/>
              <a:buFont typeface="Calibri"/>
              <a:buNone/>
            </a:pPr>
            <a:r>
              <a:rPr b="0" i="1" lang="en-US" sz="850" u="none" cap="none" strike="noStrike">
                <a:solidFill>
                  <a:srgbClr val="A0AAB8"/>
                </a:solidFill>
                <a:latin typeface="Calibri"/>
                <a:ea typeface="Calibri"/>
                <a:cs typeface="Calibri"/>
                <a:sym typeface="Calibri"/>
              </a:rPr>
              <a:t>context grows  ↓</a:t>
            </a:r>
            <a:endParaRPr b="0" i="0" sz="850" u="none" cap="none" strike="noStrike">
              <a:solidFill>
                <a:schemeClr val="dk1"/>
              </a:solidFill>
              <a:latin typeface="Calibri"/>
              <a:ea typeface="Calibri"/>
              <a:cs typeface="Calibri"/>
              <a:sym typeface="Calibri"/>
            </a:endParaRPr>
          </a:p>
        </p:txBody>
      </p:sp>
      <p:sp>
        <p:nvSpPr>
          <p:cNvPr id="1223" name="Google Shape;1223;p28"/>
          <p:cNvSpPr/>
          <p:nvPr/>
        </p:nvSpPr>
        <p:spPr>
          <a:xfrm>
            <a:off x="6263640" y="2395728"/>
            <a:ext cx="5650992" cy="868680"/>
          </a:xfrm>
          <a:prstGeom prst="roundRect">
            <a:avLst>
              <a:gd fmla="val 6316" name="adj"/>
            </a:avLst>
          </a:prstGeom>
          <a:solidFill>
            <a:srgbClr val="1E1804"/>
          </a:solidFill>
          <a:ln cap="flat" cmpd="sng" w="12700">
            <a:solidFill>
              <a:srgbClr val="FFD700"/>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8"/>
          <p:cNvSpPr/>
          <p:nvPr/>
        </p:nvSpPr>
        <p:spPr>
          <a:xfrm>
            <a:off x="6400800" y="2468880"/>
            <a:ext cx="53766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900"/>
              <a:buFont typeface="Calibri"/>
              <a:buNone/>
            </a:pPr>
            <a:r>
              <a:rPr b="1" i="0" lang="en-US" sz="900" u="none" cap="none" strike="noStrike">
                <a:solidFill>
                  <a:srgbClr val="FFD700"/>
                </a:solidFill>
                <a:latin typeface="Calibri"/>
                <a:ea typeface="Calibri"/>
                <a:cs typeface="Calibri"/>
                <a:sym typeface="Calibri"/>
              </a:rPr>
              <a:t>AUTOCOMPACT  ·  @ 60% context</a:t>
            </a:r>
            <a:endParaRPr b="0" i="0" sz="900" u="none" cap="none" strike="noStrike">
              <a:solidFill>
                <a:schemeClr val="dk1"/>
              </a:solidFill>
              <a:latin typeface="Calibri"/>
              <a:ea typeface="Calibri"/>
              <a:cs typeface="Calibri"/>
              <a:sym typeface="Calibri"/>
            </a:endParaRPr>
          </a:p>
        </p:txBody>
      </p:sp>
      <p:sp>
        <p:nvSpPr>
          <p:cNvPr id="1225" name="Google Shape;1225;p28"/>
          <p:cNvSpPr/>
          <p:nvPr/>
        </p:nvSpPr>
        <p:spPr>
          <a:xfrm>
            <a:off x="6400800" y="2688336"/>
            <a:ext cx="53766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50"/>
              <a:buFont typeface="Calibri"/>
              <a:buNone/>
            </a:pPr>
            <a:r>
              <a:rPr b="1" i="0" lang="en-US" sz="1150" u="none" cap="none" strike="noStrike">
                <a:solidFill>
                  <a:srgbClr val="E8ECF4"/>
                </a:solidFill>
                <a:latin typeface="Calibri"/>
                <a:ea typeface="Calibri"/>
                <a:cs typeface="Calibri"/>
                <a:sym typeface="Calibri"/>
              </a:rPr>
              <a:t>Older turns summarized by a scoped LLM call</a:t>
            </a:r>
            <a:endParaRPr b="0" i="0" sz="1150" u="none" cap="none" strike="noStrike">
              <a:solidFill>
                <a:schemeClr val="dk1"/>
              </a:solidFill>
              <a:latin typeface="Calibri"/>
              <a:ea typeface="Calibri"/>
              <a:cs typeface="Calibri"/>
              <a:sym typeface="Calibri"/>
            </a:endParaRPr>
          </a:p>
        </p:txBody>
      </p:sp>
      <p:sp>
        <p:nvSpPr>
          <p:cNvPr id="1226" name="Google Shape;1226;p28"/>
          <p:cNvSpPr/>
          <p:nvPr/>
        </p:nvSpPr>
        <p:spPr>
          <a:xfrm>
            <a:off x="6400800" y="2944368"/>
            <a:ext cx="5376672" cy="2468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The summary replaces raw conversation turns. The agent continues uninterrupted.</a:t>
            </a:r>
            <a:endParaRPr b="0" i="0" sz="900" u="none" cap="none" strike="noStrike">
              <a:solidFill>
                <a:schemeClr val="dk1"/>
              </a:solidFill>
              <a:latin typeface="Calibri"/>
              <a:ea typeface="Calibri"/>
              <a:cs typeface="Calibri"/>
              <a:sym typeface="Calibri"/>
            </a:endParaRPr>
          </a:p>
        </p:txBody>
      </p:sp>
      <p:sp>
        <p:nvSpPr>
          <p:cNvPr id="1227" name="Google Shape;1227;p28"/>
          <p:cNvSpPr/>
          <p:nvPr/>
        </p:nvSpPr>
        <p:spPr>
          <a:xfrm>
            <a:off x="6263640" y="3291840"/>
            <a:ext cx="5650992"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850"/>
              <a:buFont typeface="Calibri"/>
              <a:buNone/>
            </a:pPr>
            <a:r>
              <a:rPr b="0" i="1" lang="en-US" sz="850" u="none" cap="none" strike="noStrike">
                <a:solidFill>
                  <a:srgbClr val="A0AAB8"/>
                </a:solidFill>
                <a:latin typeface="Calibri"/>
                <a:ea typeface="Calibri"/>
                <a:cs typeface="Calibri"/>
                <a:sym typeface="Calibri"/>
              </a:rPr>
              <a:t>context grows  ↓</a:t>
            </a:r>
            <a:endParaRPr b="0" i="0" sz="850" u="none" cap="none" strike="noStrike">
              <a:solidFill>
                <a:schemeClr val="dk1"/>
              </a:solidFill>
              <a:latin typeface="Calibri"/>
              <a:ea typeface="Calibri"/>
              <a:cs typeface="Calibri"/>
              <a:sym typeface="Calibri"/>
            </a:endParaRPr>
          </a:p>
        </p:txBody>
      </p:sp>
      <p:sp>
        <p:nvSpPr>
          <p:cNvPr id="1228" name="Google Shape;1228;p28"/>
          <p:cNvSpPr/>
          <p:nvPr/>
        </p:nvSpPr>
        <p:spPr>
          <a:xfrm>
            <a:off x="6263640" y="3493008"/>
            <a:ext cx="5650992" cy="1051560"/>
          </a:xfrm>
          <a:prstGeom prst="roundRect">
            <a:avLst>
              <a:gd fmla="val 5217" name="adj"/>
            </a:avLst>
          </a:prstGeom>
          <a:solidFill>
            <a:srgbClr val="061A28"/>
          </a:solidFill>
          <a:ln cap="flat" cmpd="sng" w="12700">
            <a:solidFill>
              <a:srgbClr val="00E5FF"/>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8"/>
          <p:cNvSpPr/>
          <p:nvPr/>
        </p:nvSpPr>
        <p:spPr>
          <a:xfrm>
            <a:off x="6400800" y="3566160"/>
            <a:ext cx="53766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E5FF"/>
              </a:buClr>
              <a:buSzPts val="900"/>
              <a:buFont typeface="Calibri"/>
              <a:buNone/>
            </a:pPr>
            <a:r>
              <a:rPr b="1" i="0" lang="en-US" sz="900" u="none" cap="none" strike="noStrike">
                <a:solidFill>
                  <a:srgbClr val="00E5FF"/>
                </a:solidFill>
                <a:latin typeface="Calibri"/>
                <a:ea typeface="Calibri"/>
                <a:cs typeface="Calibri"/>
                <a:sym typeface="Calibri"/>
              </a:rPr>
              <a:t>FULLCOMPACT  ·  @ 85% context</a:t>
            </a:r>
            <a:endParaRPr b="0" i="0" sz="900" u="none" cap="none" strike="noStrike">
              <a:solidFill>
                <a:schemeClr val="dk1"/>
              </a:solidFill>
              <a:latin typeface="Calibri"/>
              <a:ea typeface="Calibri"/>
              <a:cs typeface="Calibri"/>
              <a:sym typeface="Calibri"/>
            </a:endParaRPr>
          </a:p>
        </p:txBody>
      </p:sp>
      <p:sp>
        <p:nvSpPr>
          <p:cNvPr id="1230" name="Google Shape;1230;p28"/>
          <p:cNvSpPr/>
          <p:nvPr/>
        </p:nvSpPr>
        <p:spPr>
          <a:xfrm>
            <a:off x="6400800" y="3785616"/>
            <a:ext cx="53766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50"/>
              <a:buFont typeface="Calibri"/>
              <a:buNone/>
            </a:pPr>
            <a:r>
              <a:rPr b="1" i="0" lang="en-US" sz="1150" u="none" cap="none" strike="noStrike">
                <a:solidFill>
                  <a:srgbClr val="E8ECF4"/>
                </a:solidFill>
                <a:latin typeface="Calibri"/>
                <a:ea typeface="Calibri"/>
                <a:cs typeface="Calibri"/>
                <a:sym typeface="Calibri"/>
              </a:rPr>
              <a:t>Entire history rebuilt from scratch</a:t>
            </a:r>
            <a:endParaRPr b="0" i="0" sz="1150" u="none" cap="none" strike="noStrike">
              <a:solidFill>
                <a:schemeClr val="dk1"/>
              </a:solidFill>
              <a:latin typeface="Calibri"/>
              <a:ea typeface="Calibri"/>
              <a:cs typeface="Calibri"/>
              <a:sym typeface="Calibri"/>
            </a:endParaRPr>
          </a:p>
        </p:txBody>
      </p:sp>
      <p:sp>
        <p:nvSpPr>
          <p:cNvPr id="1231" name="Google Shape;1231;p28"/>
          <p:cNvSpPr/>
          <p:nvPr/>
        </p:nvSpPr>
        <p:spPr>
          <a:xfrm>
            <a:off x="6400800" y="4041648"/>
            <a:ext cx="5376672" cy="4297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Reconstructed from: current ASG snapshot · current APG priorities · last N tool results. Zero intelligence lost — everything important already lives in the graph.</a:t>
            </a:r>
            <a:endParaRPr b="0" i="0" sz="900" u="none" cap="none" strike="noStrike">
              <a:solidFill>
                <a:schemeClr val="dk1"/>
              </a:solidFill>
              <a:latin typeface="Calibri"/>
              <a:ea typeface="Calibri"/>
              <a:cs typeface="Calibri"/>
              <a:sym typeface="Calibri"/>
            </a:endParaRPr>
          </a:p>
        </p:txBody>
      </p:sp>
      <p:sp>
        <p:nvSpPr>
          <p:cNvPr id="1232" name="Google Shape;1232;p28"/>
          <p:cNvSpPr/>
          <p:nvPr/>
        </p:nvSpPr>
        <p:spPr>
          <a:xfrm>
            <a:off x="6263640" y="4590288"/>
            <a:ext cx="565099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850"/>
              <a:buFont typeface="Calibri"/>
              <a:buNone/>
            </a:pPr>
            <a:r>
              <a:rPr b="0" i="1" lang="en-US" sz="850" u="none" cap="none" strike="noStrike">
                <a:solidFill>
                  <a:srgbClr val="A0AAB8"/>
                </a:solidFill>
                <a:latin typeface="Calibri"/>
                <a:ea typeface="Calibri"/>
                <a:cs typeface="Calibri"/>
                <a:sym typeface="Calibri"/>
              </a:rPr>
              <a:t>fresh context  →  loops back to Normal Operation  ↺</a:t>
            </a:r>
            <a:endParaRPr b="0" i="0" sz="850" u="none" cap="none" strike="noStrike">
              <a:solidFill>
                <a:schemeClr val="dk1"/>
              </a:solidFill>
              <a:latin typeface="Calibri"/>
              <a:ea typeface="Calibri"/>
              <a:cs typeface="Calibri"/>
              <a:sym typeface="Calibri"/>
            </a:endParaRPr>
          </a:p>
        </p:txBody>
      </p:sp>
      <p:sp>
        <p:nvSpPr>
          <p:cNvPr id="1233" name="Google Shape;1233;p28"/>
          <p:cNvSpPr/>
          <p:nvPr/>
        </p:nvSpPr>
        <p:spPr>
          <a:xfrm>
            <a:off x="6263640" y="5029200"/>
            <a:ext cx="5650992" cy="1005840"/>
          </a:xfrm>
          <a:prstGeom prst="roundRect">
            <a:avLst>
              <a:gd fmla="val 5455" name="adj"/>
            </a:avLst>
          </a:prstGeom>
          <a:solidFill>
            <a:srgbClr val="0C2008"/>
          </a:solidFill>
          <a:ln cap="flat" cmpd="sng" w="12700">
            <a:solidFill>
              <a:srgbClr val="39FF14"/>
            </a:solidFill>
            <a:prstDash val="solid"/>
            <a:round/>
            <a:headEnd len="sm" w="sm" type="none"/>
            <a:tailEnd len="sm" w="sm" type="none"/>
          </a:ln>
          <a:effectLst>
            <a:outerShdw blurRad="76200" rotWithShape="0" algn="bl" dir="2700000" dist="254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8"/>
          <p:cNvSpPr/>
          <p:nvPr/>
        </p:nvSpPr>
        <p:spPr>
          <a:xfrm>
            <a:off x="6400800" y="5120640"/>
            <a:ext cx="5376672"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9FF14"/>
              </a:buClr>
              <a:buSzPts val="900"/>
              <a:buFont typeface="Calibri"/>
              <a:buNone/>
            </a:pPr>
            <a:r>
              <a:rPr b="1" i="0" lang="en-US" sz="900" u="none" cap="none" strike="noStrike">
                <a:solidFill>
                  <a:srgbClr val="39FF14"/>
                </a:solidFill>
                <a:latin typeface="Calibri"/>
                <a:ea typeface="Calibri"/>
                <a:cs typeface="Calibri"/>
                <a:sym typeface="Calibri"/>
              </a:rPr>
              <a:t>The ASG is the key:  </a:t>
            </a:r>
            <a:r>
              <a:rPr b="0" i="0" lang="en-US" sz="900" u="none" cap="none" strike="noStrike">
                <a:solidFill>
                  <a:srgbClr val="C8F5BD"/>
                </a:solidFill>
                <a:latin typeface="Calibri"/>
                <a:ea typeface="Calibri"/>
                <a:cs typeface="Calibri"/>
                <a:sym typeface="Calibri"/>
              </a:rPr>
              <a:t>conversation history is expendable because every discovery lives permanently in the graph. That's what makes FullCompact safe — nothing important is ever lost.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238" name="Shape 1238"/>
        <p:cNvGrpSpPr/>
        <p:nvPr/>
      </p:nvGrpSpPr>
      <p:grpSpPr>
        <a:xfrm>
          <a:off x="0" y="0"/>
          <a:ext cx="0" cy="0"/>
          <a:chOff x="0" y="0"/>
          <a:chExt cx="0" cy="0"/>
        </a:xfrm>
      </p:grpSpPr>
      <p:sp>
        <p:nvSpPr>
          <p:cNvPr id="1239" name="Google Shape;1239;p29"/>
          <p:cNvSpPr/>
          <p:nvPr/>
        </p:nvSpPr>
        <p:spPr>
          <a:xfrm>
            <a:off x="0" y="0"/>
            <a:ext cx="54864" cy="68580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0" name="Google Shape;1240;p29"/>
          <p:cNvSpPr/>
          <p:nvPr/>
        </p:nvSpPr>
        <p:spPr>
          <a:xfrm>
            <a:off x="54864" y="0"/>
            <a:ext cx="12136831" cy="36576"/>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1" name="Google Shape;1241;p29"/>
          <p:cNvSpPr/>
          <p:nvPr/>
        </p:nvSpPr>
        <p:spPr>
          <a:xfrm>
            <a:off x="54864" y="6821424"/>
            <a:ext cx="12136831" cy="36576"/>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2" name="Google Shape;1242;p29"/>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CROSS-MISSION LEARNING</a:t>
            </a:r>
            <a:endParaRPr b="0" i="0" sz="1400" u="none" cap="none" strike="noStrike">
              <a:solidFill>
                <a:srgbClr val="000000"/>
              </a:solidFill>
              <a:latin typeface="Arial"/>
              <a:ea typeface="Arial"/>
              <a:cs typeface="Arial"/>
              <a:sym typeface="Arial"/>
            </a:endParaRPr>
          </a:p>
        </p:txBody>
      </p:sp>
      <p:sp>
        <p:nvSpPr>
          <p:cNvPr id="1243" name="Google Shape;1243;p29"/>
          <p:cNvSpPr txBox="1"/>
          <p:nvPr/>
        </p:nvSpPr>
        <p:spPr>
          <a:xfrm>
            <a:off x="274320" y="347472"/>
            <a:ext cx="11430000" cy="5669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Experience Store + Attack Strategy Library — CMatrix Gets Smarter Each Mission</a:t>
            </a:r>
            <a:endParaRPr b="0" i="0" sz="1400" u="none" cap="none" strike="noStrike">
              <a:solidFill>
                <a:srgbClr val="000000"/>
              </a:solidFill>
              <a:latin typeface="Arial"/>
              <a:ea typeface="Arial"/>
              <a:cs typeface="Arial"/>
              <a:sym typeface="Arial"/>
            </a:endParaRPr>
          </a:p>
        </p:txBody>
      </p:sp>
      <p:sp>
        <p:nvSpPr>
          <p:cNvPr id="1244" name="Google Shape;1244;p29"/>
          <p:cNvSpPr/>
          <p:nvPr/>
        </p:nvSpPr>
        <p:spPr>
          <a:xfrm>
            <a:off x="274320" y="1005840"/>
            <a:ext cx="2286000" cy="914400"/>
          </a:xfrm>
          <a:prstGeom prst="rect">
            <a:avLst/>
          </a:prstGeom>
          <a:solidFill>
            <a:srgbClr val="061420"/>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5" name="Google Shape;1245;p29"/>
          <p:cNvSpPr txBox="1"/>
          <p:nvPr/>
        </p:nvSpPr>
        <p:spPr>
          <a:xfrm>
            <a:off x="411480" y="1143000"/>
            <a:ext cx="2011680" cy="6400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Mission N</a:t>
            </a:r>
            <a:br>
              <a:rPr b="1" i="0" lang="en-US" sz="1300" u="none" cap="none" strike="noStrike">
                <a:solidFill>
                  <a:srgbClr val="00E5FF"/>
                </a:solidFill>
                <a:latin typeface="Calibri"/>
                <a:ea typeface="Calibri"/>
                <a:cs typeface="Calibri"/>
                <a:sym typeface="Calibri"/>
              </a:rPr>
            </a:br>
            <a:r>
              <a:rPr b="1" i="0" lang="en-US" sz="1300" u="none" cap="none" strike="noStrike">
                <a:solidFill>
                  <a:srgbClr val="00E5FF"/>
                </a:solidFill>
                <a:latin typeface="Calibri"/>
                <a:ea typeface="Calibri"/>
                <a:cs typeface="Calibri"/>
                <a:sym typeface="Calibri"/>
              </a:rPr>
              <a:t>(completed)</a:t>
            </a:r>
            <a:endParaRPr b="0" i="0" sz="1400" u="none" cap="none" strike="noStrike">
              <a:solidFill>
                <a:srgbClr val="000000"/>
              </a:solidFill>
              <a:latin typeface="Arial"/>
              <a:ea typeface="Arial"/>
              <a:cs typeface="Arial"/>
              <a:sym typeface="Arial"/>
            </a:endParaRPr>
          </a:p>
        </p:txBody>
      </p:sp>
      <p:cxnSp>
        <p:nvCxnSpPr>
          <p:cNvPr id="1246" name="Google Shape;1246;p29"/>
          <p:cNvCxnSpPr/>
          <p:nvPr/>
        </p:nvCxnSpPr>
        <p:spPr>
          <a:xfrm>
            <a:off x="2560320" y="0"/>
            <a:ext cx="1097280"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1247" name="Google Shape;1247;p29"/>
          <p:cNvSpPr txBox="1"/>
          <p:nvPr/>
        </p:nvSpPr>
        <p:spPr>
          <a:xfrm>
            <a:off x="2578608" y="1097280"/>
            <a:ext cx="1024128" cy="68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Report Agent writes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1248" name="Google Shape;1248;p29"/>
          <p:cNvSpPr/>
          <p:nvPr/>
        </p:nvSpPr>
        <p:spPr>
          <a:xfrm>
            <a:off x="3749050" y="1005725"/>
            <a:ext cx="2286000" cy="914400"/>
          </a:xfrm>
          <a:prstGeom prst="rect">
            <a:avLst/>
          </a:prstGeom>
          <a:solidFill>
            <a:srgbClr val="04201E"/>
          </a:solidFill>
          <a:ln cap="flat" cmpd="sng" w="254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9" name="Google Shape;1249;p29"/>
          <p:cNvSpPr txBox="1"/>
          <p:nvPr/>
        </p:nvSpPr>
        <p:spPr>
          <a:xfrm>
            <a:off x="3799293" y="1042961"/>
            <a:ext cx="2148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Cross-Mission</a:t>
            </a:r>
            <a:br>
              <a:rPr b="1" i="0" lang="en-US" sz="1200" u="none" cap="none" strike="noStrike">
                <a:solidFill>
                  <a:srgbClr val="00BFD8"/>
                </a:solidFill>
                <a:latin typeface="Calibri"/>
                <a:ea typeface="Calibri"/>
                <a:cs typeface="Calibri"/>
                <a:sym typeface="Calibri"/>
              </a:rPr>
            </a:br>
            <a:r>
              <a:rPr b="1" i="0" lang="en-US" sz="1200" u="none" cap="none" strike="noStrike">
                <a:solidFill>
                  <a:srgbClr val="00BFD8"/>
                </a:solidFill>
                <a:latin typeface="Calibri"/>
                <a:ea typeface="Calibri"/>
                <a:cs typeface="Calibri"/>
                <a:sym typeface="Calibri"/>
              </a:rPr>
              <a:t>Experience Store</a:t>
            </a:r>
            <a:endParaRPr b="0" i="0" sz="1400" u="none" cap="none" strike="noStrike">
              <a:solidFill>
                <a:srgbClr val="000000"/>
              </a:solidFill>
              <a:latin typeface="Arial"/>
              <a:ea typeface="Arial"/>
              <a:cs typeface="Arial"/>
              <a:sym typeface="Arial"/>
            </a:endParaRPr>
          </a:p>
        </p:txBody>
      </p:sp>
      <p:sp>
        <p:nvSpPr>
          <p:cNvPr id="1250" name="Google Shape;1250;p29"/>
          <p:cNvSpPr txBox="1"/>
          <p:nvPr/>
        </p:nvSpPr>
        <p:spPr>
          <a:xfrm>
            <a:off x="3799293" y="1473205"/>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RAG-backed · persistent</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across all missions</a:t>
            </a:r>
            <a:endParaRPr b="0" i="0" sz="1400" u="none" cap="none" strike="noStrike">
              <a:solidFill>
                <a:srgbClr val="000000"/>
              </a:solidFill>
              <a:latin typeface="Arial"/>
              <a:ea typeface="Arial"/>
              <a:cs typeface="Arial"/>
              <a:sym typeface="Arial"/>
            </a:endParaRPr>
          </a:p>
        </p:txBody>
      </p:sp>
      <p:cxnSp>
        <p:nvCxnSpPr>
          <p:cNvPr id="1251" name="Google Shape;1251;p29"/>
          <p:cNvCxnSpPr/>
          <p:nvPr/>
        </p:nvCxnSpPr>
        <p:spPr>
          <a:xfrm>
            <a:off x="6126480" y="0"/>
            <a:ext cx="1097280" cy="0"/>
          </a:xfrm>
          <a:prstGeom prst="straightConnector1">
            <a:avLst/>
          </a:prstGeom>
          <a:noFill/>
          <a:ln cap="flat" cmpd="sng" w="190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1252" name="Google Shape;1252;p29"/>
          <p:cNvSpPr txBox="1"/>
          <p:nvPr/>
        </p:nvSpPr>
        <p:spPr>
          <a:xfrm>
            <a:off x="6144768" y="1051560"/>
            <a:ext cx="1024128" cy="68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FFD700"/>
                </a:solidFill>
                <a:latin typeface="Calibri"/>
                <a:ea typeface="Calibri"/>
                <a:cs typeface="Calibri"/>
                <a:sym typeface="Calibri"/>
              </a:rPr>
              <a:t>Crystallize</a:t>
            </a:r>
            <a:br>
              <a:rPr b="0" i="1" lang="en-US" sz="850" u="none" cap="none" strike="noStrike">
                <a:solidFill>
                  <a:srgbClr val="FFD700"/>
                </a:solidFill>
                <a:latin typeface="Calibri"/>
                <a:ea typeface="Calibri"/>
                <a:cs typeface="Calibri"/>
                <a:sym typeface="Calibri"/>
              </a:rPr>
            </a:br>
            <a:r>
              <a:rPr b="0" i="1" lang="en-US" sz="850" u="none" cap="none" strike="noStrike">
                <a:solidFill>
                  <a:srgbClr val="FFD700"/>
                </a:solidFill>
                <a:latin typeface="Calibri"/>
                <a:ea typeface="Calibri"/>
                <a:cs typeface="Calibri"/>
                <a:sym typeface="Calibri"/>
              </a:rPr>
              <a:t>(&gt;=2 missions)</a:t>
            </a:r>
            <a:endParaRPr b="0" i="0" sz="1400" u="none" cap="none" strike="noStrike">
              <a:solidFill>
                <a:srgbClr val="000000"/>
              </a:solidFill>
              <a:latin typeface="Arial"/>
              <a:ea typeface="Arial"/>
              <a:cs typeface="Arial"/>
              <a:sym typeface="Arial"/>
            </a:endParaRPr>
          </a:p>
        </p:txBody>
      </p:sp>
      <p:sp>
        <p:nvSpPr>
          <p:cNvPr id="1253" name="Google Shape;1253;p29"/>
          <p:cNvSpPr/>
          <p:nvPr/>
        </p:nvSpPr>
        <p:spPr>
          <a:xfrm>
            <a:off x="7315200" y="983100"/>
            <a:ext cx="2148900" cy="859500"/>
          </a:xfrm>
          <a:prstGeom prst="rect">
            <a:avLst/>
          </a:prstGeom>
          <a:solidFill>
            <a:srgbClr val="201804"/>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4" name="Google Shape;1254;p29"/>
          <p:cNvSpPr txBox="1"/>
          <p:nvPr/>
        </p:nvSpPr>
        <p:spPr>
          <a:xfrm>
            <a:off x="7424925" y="1005949"/>
            <a:ext cx="1950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Attack Strategy</a:t>
            </a:r>
            <a:br>
              <a:rPr b="1" i="0" lang="en-US" sz="1200" u="none" cap="none" strike="noStrike">
                <a:solidFill>
                  <a:srgbClr val="FFD700"/>
                </a:solidFill>
                <a:latin typeface="Calibri"/>
                <a:ea typeface="Calibri"/>
                <a:cs typeface="Calibri"/>
                <a:sym typeface="Calibri"/>
              </a:rPr>
            </a:br>
            <a:r>
              <a:rPr b="1" i="0" lang="en-US" sz="1200" u="none" cap="none" strike="noStrike">
                <a:solidFill>
                  <a:srgbClr val="FFD700"/>
                </a:solidFill>
                <a:latin typeface="Calibri"/>
                <a:ea typeface="Calibri"/>
                <a:cs typeface="Calibri"/>
                <a:sym typeface="Calibri"/>
              </a:rPr>
              <a:t>Library</a:t>
            </a:r>
            <a:endParaRPr b="0" i="0" sz="1400" u="none" cap="none" strike="noStrike">
              <a:solidFill>
                <a:srgbClr val="000000"/>
              </a:solidFill>
              <a:latin typeface="Arial"/>
              <a:ea typeface="Arial"/>
              <a:cs typeface="Arial"/>
              <a:sym typeface="Arial"/>
            </a:endParaRPr>
          </a:p>
        </p:txBody>
      </p:sp>
      <p:sp>
        <p:nvSpPr>
          <p:cNvPr id="1255" name="Google Shape;1255;p29"/>
          <p:cNvSpPr txBox="1"/>
          <p:nvPr/>
        </p:nvSpPr>
        <p:spPr>
          <a:xfrm>
            <a:off x="7406640" y="1380743"/>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Named strategies · confidence scores</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technology-fingerprint indexed</a:t>
            </a:r>
            <a:endParaRPr b="0" i="0" sz="1400" u="none" cap="none" strike="noStrike">
              <a:solidFill>
                <a:srgbClr val="000000"/>
              </a:solidFill>
              <a:latin typeface="Arial"/>
              <a:ea typeface="Arial"/>
              <a:cs typeface="Arial"/>
              <a:sym typeface="Arial"/>
            </a:endParaRPr>
          </a:p>
        </p:txBody>
      </p:sp>
      <p:cxnSp>
        <p:nvCxnSpPr>
          <p:cNvPr id="1256" name="Google Shape;1256;p29"/>
          <p:cNvCxnSpPr/>
          <p:nvPr/>
        </p:nvCxnSpPr>
        <p:spPr>
          <a:xfrm>
            <a:off x="9692640" y="0"/>
            <a:ext cx="1097280" cy="0"/>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sp>
        <p:nvSpPr>
          <p:cNvPr id="1257" name="Google Shape;1257;p29"/>
          <p:cNvSpPr txBox="1"/>
          <p:nvPr/>
        </p:nvSpPr>
        <p:spPr>
          <a:xfrm>
            <a:off x="9660666" y="1147580"/>
            <a:ext cx="1024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Pre-ranked seeds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at mission start</a:t>
            </a:r>
            <a:endParaRPr b="0" i="0" sz="1400" u="none" cap="none" strike="noStrike">
              <a:solidFill>
                <a:srgbClr val="000000"/>
              </a:solidFill>
              <a:latin typeface="Arial"/>
              <a:ea typeface="Arial"/>
              <a:cs typeface="Arial"/>
              <a:sym typeface="Arial"/>
            </a:endParaRPr>
          </a:p>
        </p:txBody>
      </p:sp>
      <p:sp>
        <p:nvSpPr>
          <p:cNvPr id="1258" name="Google Shape;1258;p29"/>
          <p:cNvSpPr/>
          <p:nvPr/>
        </p:nvSpPr>
        <p:spPr>
          <a:xfrm>
            <a:off x="10790010" y="923527"/>
            <a:ext cx="1143000" cy="914400"/>
          </a:xfrm>
          <a:prstGeom prst="rect">
            <a:avLst/>
          </a:prstGeom>
          <a:solidFill>
            <a:srgbClr val="062010"/>
          </a:solidFill>
          <a:ln cap="flat" cmpd="sng" w="190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9" name="Google Shape;1259;p29"/>
          <p:cNvSpPr txBox="1"/>
          <p:nvPr/>
        </p:nvSpPr>
        <p:spPr>
          <a:xfrm>
            <a:off x="10831105" y="1010406"/>
            <a:ext cx="10515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Mission</a:t>
            </a:r>
            <a:br>
              <a:rPr b="1" i="0" lang="en-US" sz="1200" u="none" cap="none" strike="noStrike">
                <a:solidFill>
                  <a:srgbClr val="39FF14"/>
                </a:solidFill>
                <a:latin typeface="Calibri"/>
                <a:ea typeface="Calibri"/>
                <a:cs typeface="Calibri"/>
                <a:sym typeface="Calibri"/>
              </a:rPr>
            </a:br>
            <a:r>
              <a:rPr b="1" i="0" lang="en-US" sz="1200" u="none" cap="none" strike="noStrike">
                <a:solidFill>
                  <a:srgbClr val="39FF14"/>
                </a:solidFill>
                <a:latin typeface="Calibri"/>
                <a:ea typeface="Calibri"/>
                <a:cs typeface="Calibri"/>
                <a:sym typeface="Calibri"/>
              </a:rPr>
              <a:t>N+1</a:t>
            </a:r>
            <a:endParaRPr b="0" i="0" sz="1400" u="none" cap="none" strike="noStrike">
              <a:solidFill>
                <a:srgbClr val="000000"/>
              </a:solidFill>
              <a:latin typeface="Arial"/>
              <a:ea typeface="Arial"/>
              <a:cs typeface="Arial"/>
              <a:sym typeface="Arial"/>
            </a:endParaRPr>
          </a:p>
        </p:txBody>
      </p:sp>
      <p:cxnSp>
        <p:nvCxnSpPr>
          <p:cNvPr id="1260" name="Google Shape;1260;p29"/>
          <p:cNvCxnSpPr/>
          <p:nvPr/>
        </p:nvCxnSpPr>
        <p:spPr>
          <a:xfrm>
            <a:off x="4937760" y="0"/>
            <a:ext cx="5943600" cy="0"/>
          </a:xfrm>
          <a:prstGeom prst="straightConnector1">
            <a:avLst/>
          </a:prstGeom>
          <a:noFill/>
          <a:ln cap="flat" cmpd="sng" w="19050">
            <a:solidFill>
              <a:srgbClr val="00BFD8"/>
            </a:solidFill>
            <a:prstDash val="solid"/>
            <a:round/>
            <a:headEnd len="med" w="med" type="stealth"/>
            <a:tailEnd len="sm" w="sm" type="none"/>
          </a:ln>
          <a:effectLst>
            <a:outerShdw blurRad="40000" rotWithShape="0" dir="5400000" dist="20000">
              <a:srgbClr val="000000">
                <a:alpha val="38039"/>
              </a:srgbClr>
            </a:outerShdw>
          </a:effectLst>
        </p:spPr>
      </p:cxnSp>
      <p:sp>
        <p:nvSpPr>
          <p:cNvPr id="1261" name="Google Shape;1261;p29"/>
          <p:cNvSpPr txBox="1"/>
          <p:nvPr/>
        </p:nvSpPr>
        <p:spPr>
          <a:xfrm>
            <a:off x="6518140" y="1863501"/>
            <a:ext cx="3657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Candidate chain hypotheses injected into Commander context</a:t>
            </a:r>
            <a:endParaRPr b="0" i="0" sz="1400" u="none" cap="none" strike="noStrike">
              <a:solidFill>
                <a:srgbClr val="000000"/>
              </a:solidFill>
              <a:latin typeface="Arial"/>
              <a:ea typeface="Arial"/>
              <a:cs typeface="Arial"/>
              <a:sym typeface="Arial"/>
            </a:endParaRPr>
          </a:p>
        </p:txBody>
      </p:sp>
      <p:sp>
        <p:nvSpPr>
          <p:cNvPr id="1262" name="Google Shape;1262;p29"/>
          <p:cNvSpPr/>
          <p:nvPr/>
        </p:nvSpPr>
        <p:spPr>
          <a:xfrm>
            <a:off x="274320" y="2212848"/>
            <a:ext cx="5669280" cy="4160520"/>
          </a:xfrm>
          <a:prstGeom prst="rect">
            <a:avLst/>
          </a:prstGeom>
          <a:solidFill>
            <a:srgbClr val="041818"/>
          </a:solidFill>
          <a:ln cap="flat" cmpd="sng" w="1905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3" name="Google Shape;1263;p29"/>
          <p:cNvSpPr/>
          <p:nvPr/>
        </p:nvSpPr>
        <p:spPr>
          <a:xfrm>
            <a:off x="274320" y="2212848"/>
            <a:ext cx="5669280" cy="36576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4" name="Google Shape;1264;p29"/>
          <p:cNvSpPr txBox="1"/>
          <p:nvPr/>
        </p:nvSpPr>
        <p:spPr>
          <a:xfrm>
            <a:off x="384048" y="2267712"/>
            <a:ext cx="548640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C10  ·  Cross-Mission Experience Store</a:t>
            </a:r>
            <a:endParaRPr b="0" i="0" sz="1400" u="none" cap="none" strike="noStrike">
              <a:solidFill>
                <a:srgbClr val="000000"/>
              </a:solidFill>
              <a:latin typeface="Arial"/>
              <a:ea typeface="Arial"/>
              <a:cs typeface="Arial"/>
              <a:sym typeface="Arial"/>
            </a:endParaRPr>
          </a:p>
        </p:txBody>
      </p:sp>
      <p:sp>
        <p:nvSpPr>
          <p:cNvPr id="1265" name="Google Shape;1265;p29"/>
          <p:cNvSpPr/>
          <p:nvPr/>
        </p:nvSpPr>
        <p:spPr>
          <a:xfrm>
            <a:off x="384048" y="2670048"/>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6" name="Google Shape;1266;p29"/>
          <p:cNvSpPr txBox="1"/>
          <p:nvPr/>
        </p:nvSpPr>
        <p:spPr>
          <a:xfrm>
            <a:off x="475488" y="2724912"/>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1267" name="Google Shape;1267;p29"/>
          <p:cNvSpPr txBox="1"/>
          <p:nvPr/>
        </p:nvSpPr>
        <p:spPr>
          <a:xfrm>
            <a:off x="475488" y="2980944"/>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Per-mission · per-chain raw records of validated exploitation outcomes.</a:t>
            </a:r>
            <a:br>
              <a:rPr b="0" i="0" lang="en-US" sz="950" u="none" cap="none" strike="noStrike">
                <a:solidFill>
                  <a:srgbClr val="A0AAB8"/>
                </a:solidFill>
                <a:latin typeface="Calibri"/>
                <a:ea typeface="Calibri"/>
                <a:cs typeface="Calibri"/>
                <a:sym typeface="Calibri"/>
              </a:rPr>
            </a:br>
            <a:r>
              <a:rPr b="0" i="0" lang="en-US" sz="950" u="none" cap="none" strike="noStrike">
                <a:solidFill>
                  <a:srgbClr val="A0AAB8"/>
                </a:solidFill>
                <a:latin typeface="Calibri"/>
                <a:ea typeface="Calibri"/>
                <a:cs typeface="Calibri"/>
                <a:sym typeface="Calibri"/>
              </a:rPr>
              <a:t>Target technology fingerprint · CVE · successful tool invocation · ChainStep sequence · mission outcome.</a:t>
            </a:r>
            <a:endParaRPr b="0" i="0" sz="1400" u="none" cap="none" strike="noStrike">
              <a:solidFill>
                <a:srgbClr val="000000"/>
              </a:solidFill>
              <a:latin typeface="Arial"/>
              <a:ea typeface="Arial"/>
              <a:cs typeface="Arial"/>
              <a:sym typeface="Arial"/>
            </a:endParaRPr>
          </a:p>
        </p:txBody>
      </p:sp>
      <p:sp>
        <p:nvSpPr>
          <p:cNvPr id="1268" name="Google Shape;1268;p29"/>
          <p:cNvSpPr/>
          <p:nvPr/>
        </p:nvSpPr>
        <p:spPr>
          <a:xfrm>
            <a:off x="384048" y="3566160"/>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9" name="Google Shape;1269;p29"/>
          <p:cNvSpPr txBox="1"/>
          <p:nvPr/>
        </p:nvSpPr>
        <p:spPr>
          <a:xfrm>
            <a:off x="475488" y="3621024"/>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written</a:t>
            </a:r>
            <a:endParaRPr b="0" i="0" sz="1400" u="none" cap="none" strike="noStrike">
              <a:solidFill>
                <a:srgbClr val="000000"/>
              </a:solidFill>
              <a:latin typeface="Arial"/>
              <a:ea typeface="Arial"/>
              <a:cs typeface="Arial"/>
              <a:sym typeface="Arial"/>
            </a:endParaRPr>
          </a:p>
        </p:txBody>
      </p:sp>
      <p:sp>
        <p:nvSpPr>
          <p:cNvPr id="1270" name="Google Shape;1270;p29"/>
          <p:cNvSpPr txBox="1"/>
          <p:nvPr/>
        </p:nvSpPr>
        <p:spPr>
          <a:xfrm>
            <a:off x="475488" y="3877056"/>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Report Agent writes one entry for every chain with terminal status VALIDATED at mission close.</a:t>
            </a:r>
            <a:endParaRPr b="0" i="0" sz="1400" u="none" cap="none" strike="noStrike">
              <a:solidFill>
                <a:srgbClr val="000000"/>
              </a:solidFill>
              <a:latin typeface="Arial"/>
              <a:ea typeface="Arial"/>
              <a:cs typeface="Arial"/>
              <a:sym typeface="Arial"/>
            </a:endParaRPr>
          </a:p>
        </p:txBody>
      </p:sp>
      <p:sp>
        <p:nvSpPr>
          <p:cNvPr id="1271" name="Google Shape;1271;p29"/>
          <p:cNvSpPr/>
          <p:nvPr/>
        </p:nvSpPr>
        <p:spPr>
          <a:xfrm>
            <a:off x="384048" y="4462272"/>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2" name="Google Shape;1272;p29"/>
          <p:cNvSpPr txBox="1"/>
          <p:nvPr/>
        </p:nvSpPr>
        <p:spPr>
          <a:xfrm>
            <a:off x="475488" y="4517136"/>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read</a:t>
            </a:r>
            <a:endParaRPr b="0" i="0" sz="1400" u="none" cap="none" strike="noStrike">
              <a:solidFill>
                <a:srgbClr val="000000"/>
              </a:solidFill>
              <a:latin typeface="Arial"/>
              <a:ea typeface="Arial"/>
              <a:cs typeface="Arial"/>
              <a:sym typeface="Arial"/>
            </a:endParaRPr>
          </a:p>
        </p:txBody>
      </p:sp>
      <p:sp>
        <p:nvSpPr>
          <p:cNvPr id="1273" name="Google Shape;1273;p29"/>
          <p:cNvSpPr txBox="1"/>
          <p:nvPr/>
        </p:nvSpPr>
        <p:spPr>
          <a:xfrm>
            <a:off x="475488" y="4773168"/>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Commander queries immediately after Recon Agent writes first Technology nodes to ASG — before Analysis begins. Retrieved records become candidate chain hypotheses.</a:t>
            </a:r>
            <a:endParaRPr b="0" i="0" sz="1400" u="none" cap="none" strike="noStrike">
              <a:solidFill>
                <a:srgbClr val="000000"/>
              </a:solidFill>
              <a:latin typeface="Arial"/>
              <a:ea typeface="Arial"/>
              <a:cs typeface="Arial"/>
              <a:sym typeface="Arial"/>
            </a:endParaRPr>
          </a:p>
        </p:txBody>
      </p:sp>
      <p:sp>
        <p:nvSpPr>
          <p:cNvPr id="1274" name="Google Shape;1274;p29"/>
          <p:cNvSpPr/>
          <p:nvPr/>
        </p:nvSpPr>
        <p:spPr>
          <a:xfrm>
            <a:off x="384048" y="5358384"/>
            <a:ext cx="5449824" cy="859536"/>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5" name="Google Shape;1275;p29"/>
          <p:cNvSpPr txBox="1"/>
          <p:nvPr/>
        </p:nvSpPr>
        <p:spPr>
          <a:xfrm>
            <a:off x="475488" y="5413248"/>
            <a:ext cx="5321808"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Research origin</a:t>
            </a:r>
            <a:endParaRPr b="0" i="0" sz="1400" u="none" cap="none" strike="noStrike">
              <a:solidFill>
                <a:srgbClr val="000000"/>
              </a:solidFill>
              <a:latin typeface="Arial"/>
              <a:ea typeface="Arial"/>
              <a:cs typeface="Arial"/>
              <a:sym typeface="Arial"/>
            </a:endParaRPr>
          </a:p>
        </p:txBody>
      </p:sp>
      <p:sp>
        <p:nvSpPr>
          <p:cNvPr id="1276" name="Google Shape;1276;p29"/>
          <p:cNvSpPr txBox="1"/>
          <p:nvPr/>
        </p:nvSpPr>
        <p:spPr>
          <a:xfrm>
            <a:off x="475488" y="5669280"/>
            <a:ext cx="5321808"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Generalizes AutoAttacker's within-mission experience-reuse mechanism to cross-mission scope. AutoAttacker reuses subtasks within one session; CMatrix accumulates across every mission ever run.</a:t>
            </a:r>
            <a:endParaRPr b="0" i="0" sz="1400" u="none" cap="none" strike="noStrike">
              <a:solidFill>
                <a:srgbClr val="000000"/>
              </a:solidFill>
              <a:latin typeface="Arial"/>
              <a:ea typeface="Arial"/>
              <a:cs typeface="Arial"/>
              <a:sym typeface="Arial"/>
            </a:endParaRPr>
          </a:p>
        </p:txBody>
      </p:sp>
      <p:sp>
        <p:nvSpPr>
          <p:cNvPr id="1277" name="Google Shape;1277;p29"/>
          <p:cNvSpPr/>
          <p:nvPr/>
        </p:nvSpPr>
        <p:spPr>
          <a:xfrm>
            <a:off x="6172200" y="2212848"/>
            <a:ext cx="5833872" cy="4160520"/>
          </a:xfrm>
          <a:prstGeom prst="rect">
            <a:avLst/>
          </a:prstGeom>
          <a:solidFill>
            <a:srgbClr val="1C1404"/>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8" name="Google Shape;1278;p29"/>
          <p:cNvSpPr/>
          <p:nvPr/>
        </p:nvSpPr>
        <p:spPr>
          <a:xfrm>
            <a:off x="6172200" y="2212848"/>
            <a:ext cx="5833872" cy="36576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9" name="Google Shape;1279;p29"/>
          <p:cNvSpPr txBox="1"/>
          <p:nvPr/>
        </p:nvSpPr>
        <p:spPr>
          <a:xfrm>
            <a:off x="6281928" y="2267712"/>
            <a:ext cx="5650992"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C11  ·  Attack Strategy Library</a:t>
            </a:r>
            <a:endParaRPr b="0" i="0" sz="1400" u="none" cap="none" strike="noStrike">
              <a:solidFill>
                <a:srgbClr val="000000"/>
              </a:solidFill>
              <a:latin typeface="Arial"/>
              <a:ea typeface="Arial"/>
              <a:cs typeface="Arial"/>
              <a:sym typeface="Arial"/>
            </a:endParaRPr>
          </a:p>
        </p:txBody>
      </p:sp>
      <p:sp>
        <p:nvSpPr>
          <p:cNvPr id="1280" name="Google Shape;1280;p29"/>
          <p:cNvSpPr/>
          <p:nvPr/>
        </p:nvSpPr>
        <p:spPr>
          <a:xfrm>
            <a:off x="6281928" y="2670048"/>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1" name="Google Shape;1281;p29"/>
          <p:cNvSpPr txBox="1"/>
          <p:nvPr/>
        </p:nvSpPr>
        <p:spPr>
          <a:xfrm>
            <a:off x="6373368" y="2724912"/>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1282" name="Google Shape;1282;p29"/>
          <p:cNvSpPr txBox="1"/>
          <p:nvPr/>
        </p:nvSpPr>
        <p:spPr>
          <a:xfrm>
            <a:off x="6373368" y="2980944"/>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Generalized attack procedures distilled from multiple validated outcomes against the same target technology class. Named strategies (e.g. STRAT-WP-SQLI-001) with confidence scores.</a:t>
            </a:r>
            <a:endParaRPr b="0" i="0" sz="1400" u="none" cap="none" strike="noStrike">
              <a:solidFill>
                <a:srgbClr val="000000"/>
              </a:solidFill>
              <a:latin typeface="Arial"/>
              <a:ea typeface="Arial"/>
              <a:cs typeface="Arial"/>
              <a:sym typeface="Arial"/>
            </a:endParaRPr>
          </a:p>
        </p:txBody>
      </p:sp>
      <p:sp>
        <p:nvSpPr>
          <p:cNvPr id="1283" name="Google Shape;1283;p29"/>
          <p:cNvSpPr/>
          <p:nvPr/>
        </p:nvSpPr>
        <p:spPr>
          <a:xfrm>
            <a:off x="6281928" y="3566160"/>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4" name="Google Shape;1284;p29"/>
          <p:cNvSpPr txBox="1"/>
          <p:nvPr/>
        </p:nvSpPr>
        <p:spPr>
          <a:xfrm>
            <a:off x="6373368" y="3621024"/>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Crystallization threshold</a:t>
            </a:r>
            <a:endParaRPr b="0" i="0" sz="1400" u="none" cap="none" strike="noStrike">
              <a:solidFill>
                <a:srgbClr val="000000"/>
              </a:solidFill>
              <a:latin typeface="Arial"/>
              <a:ea typeface="Arial"/>
              <a:cs typeface="Arial"/>
              <a:sym typeface="Arial"/>
            </a:endParaRPr>
          </a:p>
        </p:txBody>
      </p:sp>
      <p:sp>
        <p:nvSpPr>
          <p:cNvPr id="1285" name="Google Shape;1285;p29"/>
          <p:cNvSpPr txBox="1"/>
          <p:nvPr/>
        </p:nvSpPr>
        <p:spPr>
          <a:xfrm>
            <a:off x="6373368" y="3877056"/>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Same technology fingerprint (e.g. WordPress 5.x + WooCommerce + Nginx) produces validated AttackChain in 2 or more independent missions → Commander triggers crystallization.</a:t>
            </a:r>
            <a:endParaRPr b="0" i="0" sz="1400" u="none" cap="none" strike="noStrike">
              <a:solidFill>
                <a:srgbClr val="000000"/>
              </a:solidFill>
              <a:latin typeface="Arial"/>
              <a:ea typeface="Arial"/>
              <a:cs typeface="Arial"/>
              <a:sym typeface="Arial"/>
            </a:endParaRPr>
          </a:p>
        </p:txBody>
      </p:sp>
      <p:sp>
        <p:nvSpPr>
          <p:cNvPr id="1286" name="Google Shape;1286;p29"/>
          <p:cNvSpPr/>
          <p:nvPr/>
        </p:nvSpPr>
        <p:spPr>
          <a:xfrm>
            <a:off x="6281928" y="4462272"/>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7" name="Google Shape;1287;p29"/>
          <p:cNvSpPr txBox="1"/>
          <p:nvPr/>
        </p:nvSpPr>
        <p:spPr>
          <a:xfrm>
            <a:off x="6373368" y="4517136"/>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When it's used</a:t>
            </a:r>
            <a:endParaRPr b="0" i="0" sz="1400" u="none" cap="none" strike="noStrike">
              <a:solidFill>
                <a:srgbClr val="000000"/>
              </a:solidFill>
              <a:latin typeface="Arial"/>
              <a:ea typeface="Arial"/>
              <a:cs typeface="Arial"/>
              <a:sym typeface="Arial"/>
            </a:endParaRPr>
          </a:p>
        </p:txBody>
      </p:sp>
      <p:sp>
        <p:nvSpPr>
          <p:cNvPr id="1288" name="Google Shape;1288;p29"/>
          <p:cNvSpPr txBox="1"/>
          <p:nvPr/>
        </p:nvSpPr>
        <p:spPr>
          <a:xfrm>
            <a:off x="6373368" y="4773168"/>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Retrieved at mission start. Strategies are injected as pre-ranked APG AttackChain seeds — prioritized above zero-prior chains because they carry validated track record.</a:t>
            </a:r>
            <a:endParaRPr b="0" i="0" sz="1400" u="none" cap="none" strike="noStrike">
              <a:solidFill>
                <a:srgbClr val="000000"/>
              </a:solidFill>
              <a:latin typeface="Arial"/>
              <a:ea typeface="Arial"/>
              <a:cs typeface="Arial"/>
              <a:sym typeface="Arial"/>
            </a:endParaRPr>
          </a:p>
        </p:txBody>
      </p:sp>
      <p:sp>
        <p:nvSpPr>
          <p:cNvPr id="1289" name="Google Shape;1289;p29"/>
          <p:cNvSpPr/>
          <p:nvPr/>
        </p:nvSpPr>
        <p:spPr>
          <a:xfrm>
            <a:off x="6281928" y="5358384"/>
            <a:ext cx="5614416" cy="859536"/>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0" name="Google Shape;1290;p29"/>
          <p:cNvSpPr txBox="1"/>
          <p:nvPr/>
        </p:nvSpPr>
        <p:spPr>
          <a:xfrm>
            <a:off x="6373368" y="5413248"/>
            <a:ext cx="548640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Why it matters</a:t>
            </a:r>
            <a:endParaRPr b="0" i="0" sz="1400" u="none" cap="none" strike="noStrike">
              <a:solidFill>
                <a:srgbClr val="000000"/>
              </a:solidFill>
              <a:latin typeface="Arial"/>
              <a:ea typeface="Arial"/>
              <a:cs typeface="Arial"/>
              <a:sym typeface="Arial"/>
            </a:endParaRPr>
          </a:p>
        </p:txBody>
      </p:sp>
      <p:sp>
        <p:nvSpPr>
          <p:cNvPr id="1291" name="Google Shape;1291;p29"/>
          <p:cNvSpPr txBox="1"/>
          <p:nvPr/>
        </p:nvSpPr>
        <p:spPr>
          <a:xfrm>
            <a:off x="6373368" y="5669280"/>
            <a:ext cx="5486400" cy="5120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endParaRPr b="0" i="0" sz="1400" u="none" cap="none" strike="noStrike">
              <a:solidFill>
                <a:srgbClr val="000000"/>
              </a:solidFill>
              <a:latin typeface="Arial"/>
              <a:ea typeface="Arial"/>
              <a:cs typeface="Arial"/>
              <a:sym typeface="Arial"/>
            </a:endParaRPr>
          </a:p>
        </p:txBody>
      </p:sp>
      <p:sp>
        <p:nvSpPr>
          <p:cNvPr id="1292" name="Google Shape;1292;p29"/>
          <p:cNvSpPr txBox="1"/>
          <p:nvPr/>
        </p:nvSpPr>
        <p:spPr>
          <a:xfrm>
            <a:off x="11585450" y="73150"/>
            <a:ext cx="438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BFD8"/>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296" name="Shape 1296"/>
        <p:cNvGrpSpPr/>
        <p:nvPr/>
      </p:nvGrpSpPr>
      <p:grpSpPr>
        <a:xfrm>
          <a:off x="0" y="0"/>
          <a:ext cx="0" cy="0"/>
          <a:chOff x="0" y="0"/>
          <a:chExt cx="0" cy="0"/>
        </a:xfrm>
      </p:grpSpPr>
      <p:sp>
        <p:nvSpPr>
          <p:cNvPr id="1297" name="Google Shape;1297;p30"/>
          <p:cNvSpPr/>
          <p:nvPr/>
        </p:nvSpPr>
        <p:spPr>
          <a:xfrm>
            <a:off x="0" y="0"/>
            <a:ext cx="54900"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8" name="Google Shape;1298;p30"/>
          <p:cNvSpPr/>
          <p:nvPr/>
        </p:nvSpPr>
        <p:spPr>
          <a:xfrm>
            <a:off x="54864" y="0"/>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9" name="Google Shape;1299;p30"/>
          <p:cNvSpPr/>
          <p:nvPr/>
        </p:nvSpPr>
        <p:spPr>
          <a:xfrm>
            <a:off x="54864" y="6821424"/>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0" name="Google Shape;1300;p30"/>
          <p:cNvSpPr txBox="1"/>
          <p:nvPr/>
        </p:nvSpPr>
        <p:spPr>
          <a:xfrm>
            <a:off x="274320" y="54864"/>
            <a:ext cx="7315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BD93F9"/>
                </a:solidFill>
                <a:latin typeface="Calibri"/>
                <a:ea typeface="Calibri"/>
                <a:cs typeface="Calibri"/>
                <a:sym typeface="Calibri"/>
              </a:rPr>
              <a:t>INSPIRATIONS &amp; REFERENCES</a:t>
            </a:r>
            <a:endParaRPr b="0" i="0" sz="1400" u="none" cap="none" strike="noStrike">
              <a:solidFill>
                <a:srgbClr val="000000"/>
              </a:solidFill>
              <a:latin typeface="Arial"/>
              <a:ea typeface="Arial"/>
              <a:cs typeface="Arial"/>
              <a:sym typeface="Arial"/>
            </a:endParaRPr>
          </a:p>
        </p:txBody>
      </p:sp>
      <p:sp>
        <p:nvSpPr>
          <p:cNvPr id="1301" name="Google Shape;1301;p30"/>
          <p:cNvSpPr txBox="1"/>
          <p:nvPr/>
        </p:nvSpPr>
        <p:spPr>
          <a:xfrm>
            <a:off x="274320" y="329184"/>
            <a:ext cx="114300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Academic Papers + Open-Source Repositories That Shaped CMatrix</a:t>
            </a:r>
            <a:endParaRPr b="0" i="0" sz="1400" u="none" cap="none" strike="noStrike">
              <a:solidFill>
                <a:srgbClr val="000000"/>
              </a:solidFill>
              <a:latin typeface="Arial"/>
              <a:ea typeface="Arial"/>
              <a:cs typeface="Arial"/>
              <a:sym typeface="Arial"/>
            </a:endParaRPr>
          </a:p>
        </p:txBody>
      </p:sp>
      <p:sp>
        <p:nvSpPr>
          <p:cNvPr id="1302" name="Google Shape;1302;p30"/>
          <p:cNvSpPr/>
          <p:nvPr/>
        </p:nvSpPr>
        <p:spPr>
          <a:xfrm>
            <a:off x="274320" y="987552"/>
            <a:ext cx="5898000" cy="274200"/>
          </a:xfrm>
          <a:prstGeom prst="rect">
            <a:avLst/>
          </a:prstGeom>
          <a:solidFill>
            <a:srgbClr val="08142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3" name="Google Shape;1303;p30"/>
          <p:cNvSpPr txBox="1"/>
          <p:nvPr/>
        </p:nvSpPr>
        <p:spPr>
          <a:xfrm>
            <a:off x="384048" y="1005840"/>
            <a:ext cx="57150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  ACADEMIC PAPERS</a:t>
            </a:r>
            <a:endParaRPr b="0" i="0" sz="1400" u="none" cap="none" strike="noStrike">
              <a:solidFill>
                <a:srgbClr val="000000"/>
              </a:solidFill>
              <a:latin typeface="Arial"/>
              <a:ea typeface="Arial"/>
              <a:cs typeface="Arial"/>
              <a:sym typeface="Arial"/>
            </a:endParaRPr>
          </a:p>
        </p:txBody>
      </p:sp>
      <p:sp>
        <p:nvSpPr>
          <p:cNvPr id="1304" name="Google Shape;1304;p30"/>
          <p:cNvSpPr/>
          <p:nvPr/>
        </p:nvSpPr>
        <p:spPr>
          <a:xfrm>
            <a:off x="6236208" y="960120"/>
            <a:ext cx="27300" cy="5349300"/>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5" name="Google Shape;1305;p30"/>
          <p:cNvSpPr/>
          <p:nvPr/>
        </p:nvSpPr>
        <p:spPr>
          <a:xfrm>
            <a:off x="274320" y="1307592"/>
            <a:ext cx="5898000" cy="1024200"/>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6" name="Google Shape;1306;p30"/>
          <p:cNvSpPr/>
          <p:nvPr/>
        </p:nvSpPr>
        <p:spPr>
          <a:xfrm>
            <a:off x="274320" y="1307592"/>
            <a:ext cx="347400" cy="1024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7" name="Google Shape;1307;p30"/>
          <p:cNvSpPr txBox="1"/>
          <p:nvPr/>
        </p:nvSpPr>
        <p:spPr>
          <a:xfrm>
            <a:off x="292608" y="1682496"/>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308" name="Google Shape;1308;p30"/>
          <p:cNvSpPr txBox="1"/>
          <p:nvPr/>
        </p:nvSpPr>
        <p:spPr>
          <a:xfrm>
            <a:off x="713232" y="1362456"/>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00E5FF"/>
                </a:solidFill>
                <a:latin typeface="Calibri"/>
                <a:ea typeface="Calibri"/>
                <a:cs typeface="Calibri"/>
                <a:sym typeface="Calibri"/>
              </a:rPr>
              <a:t>PentestGPT</a:t>
            </a:r>
            <a:endParaRPr b="0" i="0" sz="1400" u="none" cap="none" strike="noStrike">
              <a:solidFill>
                <a:srgbClr val="000000"/>
              </a:solidFill>
              <a:latin typeface="Arial"/>
              <a:ea typeface="Arial"/>
              <a:cs typeface="Arial"/>
              <a:sym typeface="Arial"/>
            </a:endParaRPr>
          </a:p>
        </p:txBody>
      </p:sp>
      <p:sp>
        <p:nvSpPr>
          <p:cNvPr id="1309" name="Google Shape;1309;p30"/>
          <p:cNvSpPr txBox="1"/>
          <p:nvPr/>
        </p:nvSpPr>
        <p:spPr>
          <a:xfrm>
            <a:off x="713232" y="1581912"/>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USENIX Security '24</a:t>
            </a:r>
            <a:endParaRPr b="0" i="0" sz="1400" u="none" cap="none" strike="noStrike">
              <a:solidFill>
                <a:srgbClr val="000000"/>
              </a:solidFill>
              <a:latin typeface="Arial"/>
              <a:ea typeface="Arial"/>
              <a:cs typeface="Arial"/>
              <a:sym typeface="Arial"/>
            </a:endParaRPr>
          </a:p>
        </p:txBody>
      </p:sp>
      <p:sp>
        <p:nvSpPr>
          <p:cNvPr id="1310" name="Google Shape;1310;p30"/>
          <p:cNvSpPr txBox="1"/>
          <p:nvPr/>
        </p:nvSpPr>
        <p:spPr>
          <a:xfrm>
            <a:off x="713232" y="1764792"/>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Tripartite Reasoning / Generation / Parsing architecture.</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Pentesting Task Tree memory for long-session context.</a:t>
            </a:r>
            <a:endParaRPr b="0" i="0" sz="1400" u="none" cap="none" strike="noStrike">
              <a:solidFill>
                <a:srgbClr val="000000"/>
              </a:solidFill>
              <a:latin typeface="Arial"/>
              <a:ea typeface="Arial"/>
              <a:cs typeface="Arial"/>
              <a:sym typeface="Arial"/>
            </a:endParaRPr>
          </a:p>
        </p:txBody>
      </p:sp>
      <p:sp>
        <p:nvSpPr>
          <p:cNvPr id="1311" name="Google Shape;1311;p30"/>
          <p:cNvSpPr/>
          <p:nvPr/>
        </p:nvSpPr>
        <p:spPr>
          <a:xfrm>
            <a:off x="694944" y="2130552"/>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2" name="Google Shape;1312;p30"/>
          <p:cNvSpPr txBox="1"/>
          <p:nvPr/>
        </p:nvSpPr>
        <p:spPr>
          <a:xfrm>
            <a:off x="731520" y="2139696"/>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Tool Adapter Layer (parse before you reason) + MicroCompact permanent graph state.</a:t>
            </a:r>
            <a:endParaRPr b="0" i="0" sz="1400" u="none" cap="none" strike="noStrike">
              <a:solidFill>
                <a:srgbClr val="000000"/>
              </a:solidFill>
              <a:latin typeface="Arial"/>
              <a:ea typeface="Arial"/>
              <a:cs typeface="Arial"/>
              <a:sym typeface="Arial"/>
            </a:endParaRPr>
          </a:p>
        </p:txBody>
      </p:sp>
      <p:sp>
        <p:nvSpPr>
          <p:cNvPr id="1313" name="Google Shape;1313;p30"/>
          <p:cNvSpPr/>
          <p:nvPr/>
        </p:nvSpPr>
        <p:spPr>
          <a:xfrm>
            <a:off x="274320" y="2386584"/>
            <a:ext cx="5898000" cy="1024200"/>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4" name="Google Shape;1314;p30"/>
          <p:cNvSpPr/>
          <p:nvPr/>
        </p:nvSpPr>
        <p:spPr>
          <a:xfrm>
            <a:off x="274320" y="2386584"/>
            <a:ext cx="347400" cy="102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5" name="Google Shape;1315;p30"/>
          <p:cNvSpPr txBox="1"/>
          <p:nvPr/>
        </p:nvSpPr>
        <p:spPr>
          <a:xfrm>
            <a:off x="292608" y="2761488"/>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316" name="Google Shape;1316;p30"/>
          <p:cNvSpPr txBox="1"/>
          <p:nvPr/>
        </p:nvSpPr>
        <p:spPr>
          <a:xfrm>
            <a:off x="713232" y="2441448"/>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39FF14"/>
                </a:solidFill>
                <a:latin typeface="Calibri"/>
                <a:ea typeface="Calibri"/>
                <a:cs typeface="Calibri"/>
                <a:sym typeface="Calibri"/>
              </a:rPr>
              <a:t>AutoAttacker</a:t>
            </a:r>
            <a:endParaRPr b="0" i="0" sz="1400" u="none" cap="none" strike="noStrike">
              <a:solidFill>
                <a:srgbClr val="000000"/>
              </a:solidFill>
              <a:latin typeface="Arial"/>
              <a:ea typeface="Arial"/>
              <a:cs typeface="Arial"/>
              <a:sym typeface="Arial"/>
            </a:endParaRPr>
          </a:p>
        </p:txBody>
      </p:sp>
      <p:sp>
        <p:nvSpPr>
          <p:cNvPr id="1317" name="Google Shape;1317;p30"/>
          <p:cNvSpPr txBox="1"/>
          <p:nvPr/>
        </p:nvSpPr>
        <p:spPr>
          <a:xfrm>
            <a:off x="713232" y="2660904"/>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'24  — Xu et al.</a:t>
            </a:r>
            <a:endParaRPr b="0" i="0" sz="1400" u="none" cap="none" strike="noStrike">
              <a:solidFill>
                <a:srgbClr val="000000"/>
              </a:solidFill>
              <a:latin typeface="Arial"/>
              <a:ea typeface="Arial"/>
              <a:cs typeface="Arial"/>
              <a:sym typeface="Arial"/>
            </a:endParaRPr>
          </a:p>
        </p:txBody>
      </p:sp>
      <p:sp>
        <p:nvSpPr>
          <p:cNvPr id="1318" name="Google Shape;1318;p30"/>
          <p:cNvSpPr txBox="1"/>
          <p:nvPr/>
        </p:nvSpPr>
        <p:spPr>
          <a:xfrm>
            <a:off x="713232" y="2843784"/>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Modular planner / summarizer / code-generator for post-breach automation.</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Experience manager stores + reuses attack subtasks within one mission.</a:t>
            </a:r>
            <a:endParaRPr b="0" i="0" sz="1400" u="none" cap="none" strike="noStrike">
              <a:solidFill>
                <a:srgbClr val="000000"/>
              </a:solidFill>
              <a:latin typeface="Arial"/>
              <a:ea typeface="Arial"/>
              <a:cs typeface="Arial"/>
              <a:sym typeface="Arial"/>
            </a:endParaRPr>
          </a:p>
        </p:txBody>
      </p:sp>
      <p:sp>
        <p:nvSpPr>
          <p:cNvPr id="1319" name="Google Shape;1319;p30"/>
          <p:cNvSpPr/>
          <p:nvPr/>
        </p:nvSpPr>
        <p:spPr>
          <a:xfrm>
            <a:off x="694944" y="3209544"/>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0" name="Google Shape;1320;p30"/>
          <p:cNvSpPr txBox="1"/>
          <p:nvPr/>
        </p:nvSpPr>
        <p:spPr>
          <a:xfrm>
            <a:off x="731520" y="3218688"/>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Cross-Mission Experience Store (C10) — generalizes reuse to cross-mission scope.</a:t>
            </a:r>
            <a:endParaRPr b="0" i="0" sz="1400" u="none" cap="none" strike="noStrike">
              <a:solidFill>
                <a:srgbClr val="000000"/>
              </a:solidFill>
              <a:latin typeface="Arial"/>
              <a:ea typeface="Arial"/>
              <a:cs typeface="Arial"/>
              <a:sym typeface="Arial"/>
            </a:endParaRPr>
          </a:p>
        </p:txBody>
      </p:sp>
      <p:sp>
        <p:nvSpPr>
          <p:cNvPr id="1321" name="Google Shape;1321;p30"/>
          <p:cNvSpPr/>
          <p:nvPr/>
        </p:nvSpPr>
        <p:spPr>
          <a:xfrm>
            <a:off x="274320" y="3465576"/>
            <a:ext cx="5898000" cy="1024200"/>
          </a:xfrm>
          <a:prstGeom prst="rect">
            <a:avLst/>
          </a:prstGeom>
          <a:solidFill>
            <a:srgbClr val="10162B"/>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2" name="Google Shape;1322;p30"/>
          <p:cNvSpPr/>
          <p:nvPr/>
        </p:nvSpPr>
        <p:spPr>
          <a:xfrm>
            <a:off x="274320" y="3465576"/>
            <a:ext cx="347400" cy="1024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3" name="Google Shape;1323;p30"/>
          <p:cNvSpPr txBox="1"/>
          <p:nvPr/>
        </p:nvSpPr>
        <p:spPr>
          <a:xfrm>
            <a:off x="292608" y="3840480"/>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324" name="Google Shape;1324;p30"/>
          <p:cNvSpPr txBox="1"/>
          <p:nvPr/>
        </p:nvSpPr>
        <p:spPr>
          <a:xfrm>
            <a:off x="713232" y="3520440"/>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D700"/>
                </a:solidFill>
                <a:latin typeface="Calibri"/>
                <a:ea typeface="Calibri"/>
                <a:cs typeface="Calibri"/>
                <a:sym typeface="Calibri"/>
              </a:rPr>
              <a:t>Teams of LLM Agents (HPTSA)</a:t>
            </a:r>
            <a:endParaRPr b="0" i="0" sz="1400" u="none" cap="none" strike="noStrike">
              <a:solidFill>
                <a:srgbClr val="000000"/>
              </a:solidFill>
              <a:latin typeface="Arial"/>
              <a:ea typeface="Arial"/>
              <a:cs typeface="Arial"/>
              <a:sym typeface="Arial"/>
            </a:endParaRPr>
          </a:p>
        </p:txBody>
      </p:sp>
      <p:sp>
        <p:nvSpPr>
          <p:cNvPr id="1325" name="Google Shape;1325;p30"/>
          <p:cNvSpPr txBox="1"/>
          <p:nvPr/>
        </p:nvSpPr>
        <p:spPr>
          <a:xfrm>
            <a:off x="713232" y="3739896"/>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'24  — Zhu et al.</a:t>
            </a:r>
            <a:endParaRPr b="0" i="0" sz="1400" u="none" cap="none" strike="noStrike">
              <a:solidFill>
                <a:srgbClr val="000000"/>
              </a:solidFill>
              <a:latin typeface="Arial"/>
              <a:ea typeface="Arial"/>
              <a:cs typeface="Arial"/>
              <a:sym typeface="Arial"/>
            </a:endParaRPr>
          </a:p>
        </p:txBody>
      </p:sp>
      <p:sp>
        <p:nvSpPr>
          <p:cNvPr id="1326" name="Google Shape;1326;p30"/>
          <p:cNvSpPr txBox="1"/>
          <p:nvPr/>
        </p:nvSpPr>
        <p:spPr>
          <a:xfrm>
            <a:off x="713232" y="3922776"/>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Hierarchical planner delegates to task-specific sub-agents.</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Task-specific document injection improves zero-day exploitation by 2.1x.</a:t>
            </a:r>
            <a:endParaRPr b="0" i="0" sz="1400" u="none" cap="none" strike="noStrike">
              <a:solidFill>
                <a:srgbClr val="000000"/>
              </a:solidFill>
              <a:latin typeface="Arial"/>
              <a:ea typeface="Arial"/>
              <a:cs typeface="Arial"/>
              <a:sym typeface="Arial"/>
            </a:endParaRPr>
          </a:p>
        </p:txBody>
      </p:sp>
      <p:sp>
        <p:nvSpPr>
          <p:cNvPr id="1327" name="Google Shape;1327;p30"/>
          <p:cNvSpPr/>
          <p:nvPr/>
        </p:nvSpPr>
        <p:spPr>
          <a:xfrm>
            <a:off x="694944" y="4288536"/>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8" name="Google Shape;1328;p30"/>
          <p:cNvSpPr txBox="1"/>
          <p:nvPr/>
        </p:nvSpPr>
        <p:spPr>
          <a:xfrm>
            <a:off x="731520" y="4297680"/>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Vulnerability-Class Knowledge Injection at agent spawn time (C3 / §7).</a:t>
            </a:r>
            <a:endParaRPr b="0" i="0" sz="1400" u="none" cap="none" strike="noStrike">
              <a:solidFill>
                <a:srgbClr val="000000"/>
              </a:solidFill>
              <a:latin typeface="Arial"/>
              <a:ea typeface="Arial"/>
              <a:cs typeface="Arial"/>
              <a:sym typeface="Arial"/>
            </a:endParaRPr>
          </a:p>
        </p:txBody>
      </p:sp>
      <p:sp>
        <p:nvSpPr>
          <p:cNvPr id="1329" name="Google Shape;1329;p30"/>
          <p:cNvSpPr/>
          <p:nvPr/>
        </p:nvSpPr>
        <p:spPr>
          <a:xfrm>
            <a:off x="274320" y="4544568"/>
            <a:ext cx="5898000" cy="1024200"/>
          </a:xfrm>
          <a:prstGeom prst="rect">
            <a:avLst/>
          </a:prstGeom>
          <a:solidFill>
            <a:srgbClr val="10162B"/>
          </a:solidFill>
          <a:ln cap="flat" cmpd="sng" w="127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0" name="Google Shape;1330;p30"/>
          <p:cNvSpPr/>
          <p:nvPr/>
        </p:nvSpPr>
        <p:spPr>
          <a:xfrm>
            <a:off x="274320" y="4544568"/>
            <a:ext cx="347400" cy="10242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1" name="Google Shape;1331;p30"/>
          <p:cNvSpPr txBox="1"/>
          <p:nvPr/>
        </p:nvSpPr>
        <p:spPr>
          <a:xfrm>
            <a:off x="292608" y="4919472"/>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332" name="Google Shape;1332;p30"/>
          <p:cNvSpPr txBox="1"/>
          <p:nvPr/>
        </p:nvSpPr>
        <p:spPr>
          <a:xfrm>
            <a:off x="713232" y="4599432"/>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00BFD8"/>
                </a:solidFill>
                <a:latin typeface="Calibri"/>
                <a:ea typeface="Calibri"/>
                <a:cs typeface="Calibri"/>
                <a:sym typeface="Calibri"/>
              </a:rPr>
              <a:t>PentestAgent</a:t>
            </a:r>
            <a:endParaRPr b="0" i="0" sz="1400" u="none" cap="none" strike="noStrike">
              <a:solidFill>
                <a:srgbClr val="000000"/>
              </a:solidFill>
              <a:latin typeface="Arial"/>
              <a:ea typeface="Arial"/>
              <a:cs typeface="Arial"/>
              <a:sym typeface="Arial"/>
            </a:endParaRPr>
          </a:p>
        </p:txBody>
      </p:sp>
      <p:sp>
        <p:nvSpPr>
          <p:cNvPr id="1333" name="Google Shape;1333;p30"/>
          <p:cNvSpPr txBox="1"/>
          <p:nvPr/>
        </p:nvSpPr>
        <p:spPr>
          <a:xfrm>
            <a:off x="713232" y="4818888"/>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AsiaCCS '25  — Shen et al.</a:t>
            </a:r>
            <a:endParaRPr b="0" i="0" sz="1400" u="none" cap="none" strike="noStrike">
              <a:solidFill>
                <a:srgbClr val="000000"/>
              </a:solidFill>
              <a:latin typeface="Arial"/>
              <a:ea typeface="Arial"/>
              <a:cs typeface="Arial"/>
              <a:sym typeface="Arial"/>
            </a:endParaRPr>
          </a:p>
        </p:txBody>
      </p:sp>
      <p:sp>
        <p:nvSpPr>
          <p:cNvPr id="1334" name="Google Shape;1334;p30"/>
          <p:cNvSpPr txBox="1"/>
          <p:nvPr/>
        </p:nvSpPr>
        <p:spPr>
          <a:xfrm>
            <a:off x="713232" y="5001768"/>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Planning agent + RAG-backed shared memory.</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Execution agent self-diagnoses failed exploit attempts before abandoning.</a:t>
            </a:r>
            <a:endParaRPr b="0" i="0" sz="1400" u="none" cap="none" strike="noStrike">
              <a:solidFill>
                <a:srgbClr val="000000"/>
              </a:solidFill>
              <a:latin typeface="Arial"/>
              <a:ea typeface="Arial"/>
              <a:cs typeface="Arial"/>
              <a:sym typeface="Arial"/>
            </a:endParaRPr>
          </a:p>
        </p:txBody>
      </p:sp>
      <p:sp>
        <p:nvSpPr>
          <p:cNvPr id="1335" name="Google Shape;1335;p30"/>
          <p:cNvSpPr/>
          <p:nvPr/>
        </p:nvSpPr>
        <p:spPr>
          <a:xfrm>
            <a:off x="694944" y="5367528"/>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6" name="Google Shape;1336;p30"/>
          <p:cNvSpPr txBox="1"/>
          <p:nvPr/>
        </p:nvSpPr>
        <p:spPr>
          <a:xfrm>
            <a:off x="731520" y="5376672"/>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Validation Agent self-debugging loop: Diagnose → Contextualize → Adapt → Cap.</a:t>
            </a:r>
            <a:endParaRPr b="0" i="0" sz="1400" u="none" cap="none" strike="noStrike">
              <a:solidFill>
                <a:srgbClr val="000000"/>
              </a:solidFill>
              <a:latin typeface="Arial"/>
              <a:ea typeface="Arial"/>
              <a:cs typeface="Arial"/>
              <a:sym typeface="Arial"/>
            </a:endParaRPr>
          </a:p>
        </p:txBody>
      </p:sp>
      <p:sp>
        <p:nvSpPr>
          <p:cNvPr id="1337" name="Google Shape;1337;p30"/>
          <p:cNvSpPr/>
          <p:nvPr/>
        </p:nvSpPr>
        <p:spPr>
          <a:xfrm>
            <a:off x="274320" y="5623560"/>
            <a:ext cx="5898000" cy="1024200"/>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8" name="Google Shape;1338;p30"/>
          <p:cNvSpPr/>
          <p:nvPr/>
        </p:nvSpPr>
        <p:spPr>
          <a:xfrm>
            <a:off x="274320" y="5623560"/>
            <a:ext cx="347400" cy="1024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9" name="Google Shape;1339;p30"/>
          <p:cNvSpPr txBox="1"/>
          <p:nvPr/>
        </p:nvSpPr>
        <p:spPr>
          <a:xfrm>
            <a:off x="292608" y="5998464"/>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1340" name="Google Shape;1340;p30"/>
          <p:cNvSpPr txBox="1"/>
          <p:nvPr/>
        </p:nvSpPr>
        <p:spPr>
          <a:xfrm>
            <a:off x="713232" y="5678424"/>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4545"/>
                </a:solidFill>
                <a:latin typeface="Calibri"/>
                <a:ea typeface="Calibri"/>
                <a:cs typeface="Calibri"/>
                <a:sym typeface="Calibri"/>
              </a:rPr>
              <a:t>VulnBot</a:t>
            </a:r>
            <a:endParaRPr b="0" i="0" sz="1400" u="none" cap="none" strike="noStrike">
              <a:solidFill>
                <a:srgbClr val="000000"/>
              </a:solidFill>
              <a:latin typeface="Arial"/>
              <a:ea typeface="Arial"/>
              <a:cs typeface="Arial"/>
              <a:sym typeface="Arial"/>
            </a:endParaRPr>
          </a:p>
        </p:txBody>
      </p:sp>
      <p:sp>
        <p:nvSpPr>
          <p:cNvPr id="1341" name="Google Shape;1341;p30"/>
          <p:cNvSpPr txBox="1"/>
          <p:nvPr/>
        </p:nvSpPr>
        <p:spPr>
          <a:xfrm>
            <a:off x="713232" y="5897880"/>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'25  — Kong et al.</a:t>
            </a:r>
            <a:endParaRPr b="0" i="0" sz="1400" u="none" cap="none" strike="noStrike">
              <a:solidFill>
                <a:srgbClr val="000000"/>
              </a:solidFill>
              <a:latin typeface="Arial"/>
              <a:ea typeface="Arial"/>
              <a:cs typeface="Arial"/>
              <a:sym typeface="Arial"/>
            </a:endParaRPr>
          </a:p>
        </p:txBody>
      </p:sp>
      <p:sp>
        <p:nvSpPr>
          <p:cNvPr id="1342" name="Google Shape;1342;p30"/>
          <p:cNvSpPr txBox="1"/>
          <p:nvPr/>
        </p:nvSpPr>
        <p:spPr>
          <a:xfrm>
            <a:off x="713232" y="6080760"/>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Five-module pipeline around a Penetration Task Graph.</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Summarizer condenses phase output — prevents raw history leaking between agents.</a:t>
            </a:r>
            <a:endParaRPr b="0" i="0" sz="1400" u="none" cap="none" strike="noStrike">
              <a:solidFill>
                <a:srgbClr val="000000"/>
              </a:solidFill>
              <a:latin typeface="Arial"/>
              <a:ea typeface="Arial"/>
              <a:cs typeface="Arial"/>
              <a:sym typeface="Arial"/>
            </a:endParaRPr>
          </a:p>
        </p:txBody>
      </p:sp>
      <p:sp>
        <p:nvSpPr>
          <p:cNvPr id="1343" name="Google Shape;1343;p30"/>
          <p:cNvSpPr/>
          <p:nvPr/>
        </p:nvSpPr>
        <p:spPr>
          <a:xfrm>
            <a:off x="694944" y="6446520"/>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4" name="Google Shape;1344;p30"/>
          <p:cNvSpPr txBox="1"/>
          <p:nvPr/>
        </p:nvSpPr>
        <p:spPr>
          <a:xfrm>
            <a:off x="731520" y="6455664"/>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Context-Isolated Agent Spawning — agents return structured ASG delta, not raw history.</a:t>
            </a:r>
            <a:endParaRPr b="0" i="0" sz="1400" u="none" cap="none" strike="noStrike">
              <a:solidFill>
                <a:srgbClr val="000000"/>
              </a:solidFill>
              <a:latin typeface="Arial"/>
              <a:ea typeface="Arial"/>
              <a:cs typeface="Arial"/>
              <a:sym typeface="Arial"/>
            </a:endParaRPr>
          </a:p>
        </p:txBody>
      </p:sp>
      <p:sp>
        <p:nvSpPr>
          <p:cNvPr id="1345" name="Google Shape;1345;p30"/>
          <p:cNvSpPr/>
          <p:nvPr/>
        </p:nvSpPr>
        <p:spPr>
          <a:xfrm>
            <a:off x="6355080" y="987552"/>
            <a:ext cx="5669400" cy="274200"/>
          </a:xfrm>
          <a:prstGeom prst="rect">
            <a:avLst/>
          </a:prstGeom>
          <a:solidFill>
            <a:srgbClr val="120820"/>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6" name="Google Shape;1346;p30"/>
          <p:cNvSpPr txBox="1"/>
          <p:nvPr/>
        </p:nvSpPr>
        <p:spPr>
          <a:xfrm>
            <a:off x="6464808" y="1005840"/>
            <a:ext cx="5486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  OPEN-SOURCE REPOSITORIES</a:t>
            </a:r>
            <a:endParaRPr b="0" i="0" sz="1400" u="none" cap="none" strike="noStrike">
              <a:solidFill>
                <a:srgbClr val="000000"/>
              </a:solidFill>
              <a:latin typeface="Arial"/>
              <a:ea typeface="Arial"/>
              <a:cs typeface="Arial"/>
              <a:sym typeface="Arial"/>
            </a:endParaRPr>
          </a:p>
        </p:txBody>
      </p:sp>
      <p:sp>
        <p:nvSpPr>
          <p:cNvPr id="1347" name="Google Shape;1347;p30"/>
          <p:cNvSpPr/>
          <p:nvPr/>
        </p:nvSpPr>
        <p:spPr>
          <a:xfrm>
            <a:off x="6355080" y="1307592"/>
            <a:ext cx="5669400" cy="1627500"/>
          </a:xfrm>
          <a:prstGeom prst="rect">
            <a:avLst/>
          </a:prstGeom>
          <a:solidFill>
            <a:srgbClr val="10162B"/>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8" name="Google Shape;1348;p30"/>
          <p:cNvSpPr/>
          <p:nvPr/>
        </p:nvSpPr>
        <p:spPr>
          <a:xfrm>
            <a:off x="6355080" y="1307592"/>
            <a:ext cx="347400" cy="16275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9" name="Google Shape;1349;p30"/>
          <p:cNvSpPr txBox="1"/>
          <p:nvPr/>
        </p:nvSpPr>
        <p:spPr>
          <a:xfrm>
            <a:off x="6373368" y="1984248"/>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1350" name="Google Shape;1350;p30"/>
          <p:cNvSpPr txBox="1"/>
          <p:nvPr/>
        </p:nvSpPr>
        <p:spPr>
          <a:xfrm>
            <a:off x="6793992" y="1380744"/>
            <a:ext cx="5184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PentAGI</a:t>
            </a:r>
            <a:endParaRPr b="0" i="0" sz="1400" u="none" cap="none" strike="noStrike">
              <a:solidFill>
                <a:srgbClr val="000000"/>
              </a:solidFill>
              <a:latin typeface="Arial"/>
              <a:ea typeface="Arial"/>
              <a:cs typeface="Arial"/>
              <a:sym typeface="Arial"/>
            </a:endParaRPr>
          </a:p>
        </p:txBody>
      </p:sp>
      <p:sp>
        <p:nvSpPr>
          <p:cNvPr id="1351" name="Google Shape;1351;p30"/>
          <p:cNvSpPr txBox="1"/>
          <p:nvPr/>
        </p:nvSpPr>
        <p:spPr>
          <a:xfrm>
            <a:off x="6793992" y="1645920"/>
            <a:ext cx="5184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vxcontrol/pentagi</a:t>
            </a:r>
            <a:endParaRPr b="0" i="0" sz="1400" u="none" cap="none" strike="noStrike">
              <a:solidFill>
                <a:srgbClr val="000000"/>
              </a:solidFill>
              <a:latin typeface="Arial"/>
              <a:ea typeface="Arial"/>
              <a:cs typeface="Arial"/>
              <a:sym typeface="Arial"/>
            </a:endParaRPr>
          </a:p>
        </p:txBody>
      </p:sp>
      <p:sp>
        <p:nvSpPr>
          <p:cNvPr id="1352" name="Google Shape;1352;p30"/>
          <p:cNvSpPr txBox="1"/>
          <p:nvPr/>
        </p:nvSpPr>
        <p:spPr>
          <a:xfrm>
            <a:off x="6793992" y="1837944"/>
            <a:ext cx="5184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Production multi-agent pentesting platform.</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Adviser detects fixation; Reflector nudges stuck agents.</a:t>
            </a:r>
            <a:endParaRPr b="0" i="0" sz="1400" u="none" cap="none" strike="noStrike">
              <a:solidFill>
                <a:srgbClr val="000000"/>
              </a:solidFill>
              <a:latin typeface="Arial"/>
              <a:ea typeface="Arial"/>
              <a:cs typeface="Arial"/>
              <a:sym typeface="Arial"/>
            </a:endParaRPr>
          </a:p>
        </p:txBody>
      </p:sp>
      <p:sp>
        <p:nvSpPr>
          <p:cNvPr id="1353" name="Google Shape;1353;p30"/>
          <p:cNvSpPr/>
          <p:nvPr/>
        </p:nvSpPr>
        <p:spPr>
          <a:xfrm>
            <a:off x="6775704" y="2642616"/>
            <a:ext cx="5175600" cy="2376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4" name="Google Shape;1354;p30"/>
          <p:cNvSpPr txBox="1"/>
          <p:nvPr/>
        </p:nvSpPr>
        <p:spPr>
          <a:xfrm>
            <a:off x="6812280" y="2651760"/>
            <a:ext cx="51390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Cycle Guard (detects repeated identical tool calls) + Reflector (corrective guidance on repeated failures).</a:t>
            </a:r>
            <a:endParaRPr b="0" i="0" sz="1400" u="none" cap="none" strike="noStrike">
              <a:solidFill>
                <a:srgbClr val="000000"/>
              </a:solidFill>
              <a:latin typeface="Arial"/>
              <a:ea typeface="Arial"/>
              <a:cs typeface="Arial"/>
              <a:sym typeface="Arial"/>
            </a:endParaRPr>
          </a:p>
        </p:txBody>
      </p:sp>
      <p:sp>
        <p:nvSpPr>
          <p:cNvPr id="1355" name="Google Shape;1355;p30"/>
          <p:cNvSpPr/>
          <p:nvPr/>
        </p:nvSpPr>
        <p:spPr>
          <a:xfrm>
            <a:off x="6355080" y="3026664"/>
            <a:ext cx="5669400" cy="1627500"/>
          </a:xfrm>
          <a:prstGeom prst="rect">
            <a:avLst/>
          </a:prstGeom>
          <a:solidFill>
            <a:srgbClr val="10162B"/>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6" name="Google Shape;1356;p30"/>
          <p:cNvSpPr/>
          <p:nvPr/>
        </p:nvSpPr>
        <p:spPr>
          <a:xfrm>
            <a:off x="6355080" y="3026664"/>
            <a:ext cx="347400" cy="16275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7" name="Google Shape;1357;p30"/>
          <p:cNvSpPr txBox="1"/>
          <p:nvPr/>
        </p:nvSpPr>
        <p:spPr>
          <a:xfrm>
            <a:off x="6373368" y="3703320"/>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p:txBody>
      </p:sp>
      <p:sp>
        <p:nvSpPr>
          <p:cNvPr id="1358" name="Google Shape;1358;p30"/>
          <p:cNvSpPr txBox="1"/>
          <p:nvPr/>
        </p:nvSpPr>
        <p:spPr>
          <a:xfrm>
            <a:off x="6793992" y="3099816"/>
            <a:ext cx="5184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Claude Code</a:t>
            </a:r>
            <a:endParaRPr b="0" i="0" sz="1400" u="none" cap="none" strike="noStrike">
              <a:solidFill>
                <a:srgbClr val="000000"/>
              </a:solidFill>
              <a:latin typeface="Arial"/>
              <a:ea typeface="Arial"/>
              <a:cs typeface="Arial"/>
              <a:sym typeface="Arial"/>
            </a:endParaRPr>
          </a:p>
        </p:txBody>
      </p:sp>
      <p:sp>
        <p:nvSpPr>
          <p:cNvPr id="1359" name="Google Shape;1359;p30"/>
          <p:cNvSpPr txBox="1"/>
          <p:nvPr/>
        </p:nvSpPr>
        <p:spPr>
          <a:xfrm>
            <a:off x="6793992" y="3364992"/>
            <a:ext cx="5184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Anthropic pattern — yasasbanukaofficial/claude-code</a:t>
            </a:r>
            <a:endParaRPr b="0" i="0" sz="1400" u="none" cap="none" strike="noStrike">
              <a:solidFill>
                <a:srgbClr val="000000"/>
              </a:solidFill>
              <a:latin typeface="Arial"/>
              <a:ea typeface="Arial"/>
              <a:cs typeface="Arial"/>
              <a:sym typeface="Arial"/>
            </a:endParaRPr>
          </a:p>
        </p:txBody>
      </p:sp>
      <p:sp>
        <p:nvSpPr>
          <p:cNvPr id="1360" name="Google Shape;1360;p30"/>
          <p:cNvSpPr txBox="1"/>
          <p:nvPr/>
        </p:nvSpPr>
        <p:spPr>
          <a:xfrm>
            <a:off x="6793992" y="3557016"/>
            <a:ext cx="5184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yoloClassifier.ts: two-stage fast-filter + chain-of-thought tool-call auto-approval.</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27-event named hook architecture for operator intervention.</a:t>
            </a:r>
            <a:endParaRPr b="0" i="0" sz="1400" u="none" cap="none" strike="noStrike">
              <a:solidFill>
                <a:srgbClr val="000000"/>
              </a:solidFill>
              <a:latin typeface="Arial"/>
              <a:ea typeface="Arial"/>
              <a:cs typeface="Arial"/>
              <a:sym typeface="Arial"/>
            </a:endParaRPr>
          </a:p>
        </p:txBody>
      </p:sp>
      <p:sp>
        <p:nvSpPr>
          <p:cNvPr id="1361" name="Google Shape;1361;p30"/>
          <p:cNvSpPr/>
          <p:nvPr/>
        </p:nvSpPr>
        <p:spPr>
          <a:xfrm>
            <a:off x="6775704" y="4361688"/>
            <a:ext cx="5175600" cy="2376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2" name="Google Shape;1362;p30"/>
          <p:cNvSpPr txBox="1"/>
          <p:nvPr/>
        </p:nvSpPr>
        <p:spPr>
          <a:xfrm>
            <a:off x="6812280" y="4370832"/>
            <a:ext cx="5139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LLM Permission Classifier (Medium-tier Risk Gate) + 6-event Agent Lifecycle Hook System.</a:t>
            </a:r>
            <a:endParaRPr b="0" i="0" sz="1400" u="none" cap="none" strike="noStrike">
              <a:solidFill>
                <a:srgbClr val="000000"/>
              </a:solidFill>
              <a:latin typeface="Arial"/>
              <a:ea typeface="Arial"/>
              <a:cs typeface="Arial"/>
              <a:sym typeface="Arial"/>
            </a:endParaRPr>
          </a:p>
        </p:txBody>
      </p:sp>
      <p:sp>
        <p:nvSpPr>
          <p:cNvPr id="1363" name="Google Shape;1363;p30"/>
          <p:cNvSpPr/>
          <p:nvPr/>
        </p:nvSpPr>
        <p:spPr>
          <a:xfrm>
            <a:off x="6355080" y="4745736"/>
            <a:ext cx="5669400" cy="1627500"/>
          </a:xfrm>
          <a:prstGeom prst="rect">
            <a:avLst/>
          </a:prstGeom>
          <a:solidFill>
            <a:srgbClr val="10162B"/>
          </a:solidFill>
          <a:ln cap="flat" cmpd="sng" w="152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4" name="Google Shape;1364;p30"/>
          <p:cNvSpPr/>
          <p:nvPr/>
        </p:nvSpPr>
        <p:spPr>
          <a:xfrm>
            <a:off x="6355080" y="4745736"/>
            <a:ext cx="347400" cy="16275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5" name="Google Shape;1365;p30"/>
          <p:cNvSpPr txBox="1"/>
          <p:nvPr/>
        </p:nvSpPr>
        <p:spPr>
          <a:xfrm>
            <a:off x="6373368" y="5422392"/>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1366" name="Google Shape;1366;p30"/>
          <p:cNvSpPr txBox="1"/>
          <p:nvPr/>
        </p:nvSpPr>
        <p:spPr>
          <a:xfrm>
            <a:off x="6793992" y="4818888"/>
            <a:ext cx="5184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Hermes Agent</a:t>
            </a:r>
            <a:endParaRPr b="0" i="0" sz="1400" u="none" cap="none" strike="noStrike">
              <a:solidFill>
                <a:srgbClr val="000000"/>
              </a:solidFill>
              <a:latin typeface="Arial"/>
              <a:ea typeface="Arial"/>
              <a:cs typeface="Arial"/>
              <a:sym typeface="Arial"/>
            </a:endParaRPr>
          </a:p>
        </p:txBody>
      </p:sp>
      <p:sp>
        <p:nvSpPr>
          <p:cNvPr id="1367" name="Google Shape;1367;p30"/>
          <p:cNvSpPr txBox="1"/>
          <p:nvPr/>
        </p:nvSpPr>
        <p:spPr>
          <a:xfrm>
            <a:off x="6793992" y="5084064"/>
            <a:ext cx="5184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NousResearch/hermes-agent</a:t>
            </a:r>
            <a:endParaRPr b="0" i="0" sz="1400" u="none" cap="none" strike="noStrike">
              <a:solidFill>
                <a:srgbClr val="000000"/>
              </a:solidFill>
              <a:latin typeface="Arial"/>
              <a:ea typeface="Arial"/>
              <a:cs typeface="Arial"/>
              <a:sym typeface="Arial"/>
            </a:endParaRPr>
          </a:p>
        </p:txBody>
      </p:sp>
      <p:sp>
        <p:nvSpPr>
          <p:cNvPr id="1368" name="Google Shape;1368;p30"/>
          <p:cNvSpPr txBox="1"/>
          <p:nvPr/>
        </p:nvSpPr>
        <p:spPr>
          <a:xfrm>
            <a:off x="6793992" y="5276088"/>
            <a:ext cx="5184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Closed learning loop: skill crystallization from completed tasks.</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Structured trajectory export for SFT/RL training via DSPy + Atropos.</a:t>
            </a:r>
            <a:endParaRPr b="0" i="0" sz="1400" u="none" cap="none" strike="noStrike">
              <a:solidFill>
                <a:srgbClr val="000000"/>
              </a:solidFill>
              <a:latin typeface="Arial"/>
              <a:ea typeface="Arial"/>
              <a:cs typeface="Arial"/>
              <a:sym typeface="Arial"/>
            </a:endParaRPr>
          </a:p>
        </p:txBody>
      </p:sp>
      <p:sp>
        <p:nvSpPr>
          <p:cNvPr id="1369" name="Google Shape;1369;p30"/>
          <p:cNvSpPr/>
          <p:nvPr/>
        </p:nvSpPr>
        <p:spPr>
          <a:xfrm>
            <a:off x="6775704" y="6080760"/>
            <a:ext cx="5175600" cy="2376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70" name="Google Shape;1370;p30"/>
          <p:cNvSpPr txBox="1"/>
          <p:nvPr/>
        </p:nvSpPr>
        <p:spPr>
          <a:xfrm>
            <a:off x="6812280" y="6089904"/>
            <a:ext cx="5139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Attack Strategy Library crystallization (C11) + Engagement Trajectory Export dataset (C12).</a:t>
            </a:r>
            <a:endParaRPr b="0" i="0" sz="1400" u="none" cap="none" strike="noStrike">
              <a:solidFill>
                <a:srgbClr val="000000"/>
              </a:solidFill>
              <a:latin typeface="Arial"/>
              <a:ea typeface="Arial"/>
              <a:cs typeface="Arial"/>
              <a:sym typeface="Arial"/>
            </a:endParaRPr>
          </a:p>
        </p:txBody>
      </p:sp>
      <p:sp>
        <p:nvSpPr>
          <p:cNvPr id="1371" name="Google Shape;1371;p30"/>
          <p:cNvSpPr/>
          <p:nvPr/>
        </p:nvSpPr>
        <p:spPr>
          <a:xfrm>
            <a:off x="274320" y="987552"/>
            <a:ext cx="5898000" cy="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72" name="Google Shape;1372;p30"/>
          <p:cNvSpPr txBox="1"/>
          <p:nvPr/>
        </p:nvSpPr>
        <p:spPr>
          <a:xfrm>
            <a:off x="11656597" y="82400"/>
            <a:ext cx="4278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