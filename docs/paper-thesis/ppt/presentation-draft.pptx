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77240"/>
            <a:ext cx="7315200" cy="41148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6" name="TextBox 5"/>
          <p:cNvSpPr txBox="1"/>
          <p:nvPr/>
        </p:nvSpPr>
        <p:spPr>
          <a:xfrm>
            <a:off x="457200" y="1234440"/>
            <a:ext cx="8046720" cy="1737360"/>
          </a:xfrm>
          <a:prstGeom prst="rect">
            <a:avLst/>
          </a:prstGeom>
          <a:noFill/>
        </p:spPr>
        <p:txBody>
          <a:bodyPr wrap="square">
            <a:spAutoFit/>
          </a:bodyPr>
          <a:lstStyle/>
          <a:p>
            <a:pPr algn="l"/>
            <a:r>
              <a:rPr sz="7200" b="1">
                <a:solidFill>
                  <a:srgbClr val="FFFFFF"/>
                </a:solidFill>
                <a:latin typeface="Calibri"/>
              </a:rPr>
              <a:t>CMatrix</a:t>
            </a:r>
          </a:p>
        </p:txBody>
      </p:sp>
      <p:sp>
        <p:nvSpPr>
          <p:cNvPr id="7" name="TextBox 6"/>
          <p:cNvSpPr txBox="1"/>
          <p:nvPr/>
        </p:nvSpPr>
        <p:spPr>
          <a:xfrm>
            <a:off x="457200" y="2788920"/>
            <a:ext cx="8686800" cy="1097280"/>
          </a:xfrm>
          <a:prstGeom prst="rect">
            <a:avLst/>
          </a:prstGeom>
          <a:noFill/>
        </p:spPr>
        <p:txBody>
          <a:bodyPr wrap="square">
            <a:spAutoFit/>
          </a:bodyPr>
          <a:lstStyle/>
          <a:p>
            <a:pPr algn="l"/>
            <a:r>
              <a:rPr sz="2200" b="0" i="1">
                <a:solidFill>
                  <a:srgbClr val="00E5FF"/>
                </a:solidFill>
                <a:latin typeface="Calibri"/>
              </a:rPr>
              <a:t>Dual-Graph-Guided LLM-Orchestrated Multi-Agent Framework for Autonomous VAPT</a:t>
            </a:r>
          </a:p>
        </p:txBody>
      </p:sp>
      <p:sp>
        <p:nvSpPr>
          <p:cNvPr id="8" name="Rectangle 7"/>
          <p:cNvSpPr/>
          <p:nvPr/>
        </p:nvSpPr>
        <p:spPr>
          <a:xfrm>
            <a:off x="457200" y="3913632"/>
            <a:ext cx="59436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096512"/>
            <a:ext cx="2377440" cy="329184"/>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1" name="Rectangle 10"/>
          <p:cNvSpPr/>
          <p:nvPr/>
        </p:nvSpPr>
        <p:spPr>
          <a:xfrm>
            <a:off x="324612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4096512"/>
            <a:ext cx="2377440" cy="329184"/>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3" name="Rectangle 12"/>
          <p:cNvSpPr/>
          <p:nvPr/>
        </p:nvSpPr>
        <p:spPr>
          <a:xfrm>
            <a:off x="603504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4096512"/>
            <a:ext cx="2377440" cy="329184"/>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5" name="TextBox 14"/>
          <p:cNvSpPr txBox="1"/>
          <p:nvPr/>
        </p:nvSpPr>
        <p:spPr>
          <a:xfrm>
            <a:off x="457200" y="4754880"/>
            <a:ext cx="7315200" cy="347472"/>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6" name="TextBox 15"/>
          <p:cNvSpPr txBox="1"/>
          <p:nvPr/>
        </p:nvSpPr>
        <p:spPr>
          <a:xfrm>
            <a:off x="457200" y="5138928"/>
            <a:ext cx="9144000" cy="347472"/>
          </a:xfrm>
          <a:prstGeom prst="rect">
            <a:avLst/>
          </a:prstGeom>
          <a:noFill/>
        </p:spPr>
        <p:txBody>
          <a:bodyPr wrap="square">
            <a:spAutoFit/>
          </a:bodyPr>
          <a:lstStyle/>
          <a:p>
            <a:pPr algn="l"/>
            <a:r>
              <a:rPr sz="1300" b="0" i="0">
                <a:solidFill>
                  <a:srgbClr val="A0AAB8"/>
                </a:solidFill>
                <a:latin typeface="Calibri"/>
              </a:rPr>
              <a:t>Black-Box &amp; Grey-Box Assessment  ·  Network  ·  Web  ·  REST API</a:t>
            </a:r>
          </a:p>
        </p:txBody>
      </p:sp>
      <p:sp>
        <p:nvSpPr>
          <p:cNvPr id="17" name="TextBox 16"/>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THE PROBLEM</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Existing VAPT Systems Get Wrong</a:t>
            </a:r>
          </a:p>
        </p:txBody>
      </p:sp>
      <p:sp>
        <p:nvSpPr>
          <p:cNvPr id="7" name="Rectangle 6"/>
          <p:cNvSpPr/>
          <p:nvPr/>
        </p:nvSpPr>
        <p:spPr>
          <a:xfrm>
            <a:off x="274320" y="120700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29844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9" name="TextBox 8"/>
          <p:cNvSpPr txBox="1"/>
          <p:nvPr/>
        </p:nvSpPr>
        <p:spPr>
          <a:xfrm>
            <a:off x="713232" y="1280160"/>
            <a:ext cx="4754880" cy="329184"/>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0" name="TextBox 9"/>
          <p:cNvSpPr txBox="1"/>
          <p:nvPr/>
        </p:nvSpPr>
        <p:spPr>
          <a:xfrm>
            <a:off x="713232" y="1609344"/>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1" name="Rectangle 10"/>
          <p:cNvSpPr/>
          <p:nvPr/>
        </p:nvSpPr>
        <p:spPr>
          <a:xfrm>
            <a:off x="274320" y="244144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53288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3" name="TextBox 12"/>
          <p:cNvSpPr txBox="1"/>
          <p:nvPr/>
        </p:nvSpPr>
        <p:spPr>
          <a:xfrm>
            <a:off x="713232" y="2514600"/>
            <a:ext cx="4754880" cy="329184"/>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4" name="TextBox 13"/>
          <p:cNvSpPr txBox="1"/>
          <p:nvPr/>
        </p:nvSpPr>
        <p:spPr>
          <a:xfrm>
            <a:off x="713232" y="2843784"/>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5" name="Rectangle 14"/>
          <p:cNvSpPr/>
          <p:nvPr/>
        </p:nvSpPr>
        <p:spPr>
          <a:xfrm>
            <a:off x="274320" y="367588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376732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7" name="TextBox 16"/>
          <p:cNvSpPr txBox="1"/>
          <p:nvPr/>
        </p:nvSpPr>
        <p:spPr>
          <a:xfrm>
            <a:off x="713232" y="3749040"/>
            <a:ext cx="4754880" cy="329184"/>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8" name="TextBox 17"/>
          <p:cNvSpPr txBox="1"/>
          <p:nvPr/>
        </p:nvSpPr>
        <p:spPr>
          <a:xfrm>
            <a:off x="713232" y="4078224"/>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19" name="Rectangle 18"/>
          <p:cNvSpPr/>
          <p:nvPr/>
        </p:nvSpPr>
        <p:spPr>
          <a:xfrm>
            <a:off x="274320" y="491032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500176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21" name="TextBox 20"/>
          <p:cNvSpPr txBox="1"/>
          <p:nvPr/>
        </p:nvSpPr>
        <p:spPr>
          <a:xfrm>
            <a:off x="713232" y="4983480"/>
            <a:ext cx="4754880" cy="329184"/>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2" name="TextBox 21"/>
          <p:cNvSpPr txBox="1"/>
          <p:nvPr/>
        </p:nvSpPr>
        <p:spPr>
          <a:xfrm>
            <a:off x="713232" y="5312664"/>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3" name="Rectangle 22"/>
          <p:cNvSpPr/>
          <p:nvPr/>
        </p:nvSpPr>
        <p:spPr>
          <a:xfrm>
            <a:off x="5943600" y="1207008"/>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0" y="1252728"/>
            <a:ext cx="548640" cy="640080"/>
          </a:xfrm>
          <a:prstGeom prst="rect">
            <a:avLst/>
          </a:prstGeom>
          <a:noFill/>
        </p:spPr>
        <p:txBody>
          <a:bodyPr wrap="square">
            <a:spAutoFit/>
          </a:bodyPr>
          <a:lstStyle/>
          <a:p>
            <a:pPr algn="ctr"/>
            <a:r>
              <a:rPr sz="6000" b="1" i="0">
                <a:solidFill>
                  <a:srgbClr val="00E5FF"/>
                </a:solidFill>
                <a:latin typeface="Calibri"/>
              </a:rPr>
              <a:t>“</a:t>
            </a:r>
          </a:p>
        </p:txBody>
      </p:sp>
      <p:sp>
        <p:nvSpPr>
          <p:cNvPr id="25" name="TextBox 24"/>
          <p:cNvSpPr txBox="1"/>
          <p:nvPr/>
        </p:nvSpPr>
        <p:spPr>
          <a:xfrm>
            <a:off x="6126480" y="1709928"/>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6" name="TextBox 25"/>
          <p:cNvSpPr txBox="1"/>
          <p:nvPr/>
        </p:nvSpPr>
        <p:spPr>
          <a:xfrm>
            <a:off x="6126480" y="3218688"/>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7" name="Rectangle 26"/>
          <p:cNvSpPr/>
          <p:nvPr/>
        </p:nvSpPr>
        <p:spPr>
          <a:xfrm>
            <a:off x="5943600" y="3675887"/>
            <a:ext cx="5943600" cy="34747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3703320"/>
            <a:ext cx="5669280" cy="301752"/>
          </a:xfrm>
          <a:prstGeom prst="rect">
            <a:avLst/>
          </a:prstGeom>
          <a:noFill/>
        </p:spPr>
        <p:txBody>
          <a:bodyPr wrap="square">
            <a:spAutoFit/>
          </a:bodyPr>
          <a:lstStyle/>
          <a:p>
            <a:pPr algn="l"/>
            <a:r>
              <a:rPr sz="1300" b="1" i="0">
                <a:solidFill>
                  <a:srgbClr val="FFFFFF"/>
                </a:solidFill>
                <a:latin typeface="Calibri"/>
              </a:rPr>
              <a:t>⚠  ROOT CAUSE</a:t>
            </a:r>
          </a:p>
        </p:txBody>
      </p:sp>
      <p:sp>
        <p:nvSpPr>
          <p:cNvPr id="29" name="Rectangle 28"/>
          <p:cNvSpPr/>
          <p:nvPr/>
        </p:nvSpPr>
        <p:spPr>
          <a:xfrm>
            <a:off x="5943600" y="4041648"/>
            <a:ext cx="5943600" cy="129844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4114800"/>
            <a:ext cx="5623560" cy="1152144"/>
          </a:xfrm>
          <a:prstGeom prst="rect">
            <a:avLst/>
          </a:prstGeom>
          <a:noFill/>
        </p:spPr>
        <p:txBody>
          <a:bodyPr wrap="square">
            <a:spAutoFit/>
          </a:bodyPr>
          <a:lstStyle/>
          <a:p>
            <a:pPr algn="l"/>
            <a:r>
              <a:rPr sz="1250" b="0" i="0">
                <a:solidFill>
                  <a:srgbClr val="A0AAB8"/>
                </a:solidFill>
                <a:latin typeface="Calibri"/>
              </a:rPr>
              <a:t>Existing systems have no structured model of the target environment and no structured model of what attack paths are possible.  They know what they did — not what the target is, or what can be done to it.</a:t>
            </a:r>
          </a:p>
        </p:txBody>
      </p:sp>
      <p:sp>
        <p:nvSpPr>
          <p:cNvPr id="31" name="Rectangle 30"/>
          <p:cNvSpPr/>
          <p:nvPr/>
        </p:nvSpPr>
        <p:spPr>
          <a:xfrm>
            <a:off x="274320" y="5559552"/>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650992"/>
            <a:ext cx="11277295" cy="566928"/>
          </a:xfrm>
          <a:prstGeom prst="rect">
            <a:avLst/>
          </a:prstGeom>
          <a:noFill/>
        </p:spPr>
        <p:txBody>
          <a:bodyPr wrap="square">
            <a:spAutoFit/>
          </a:bodyPr>
          <a:lstStyle/>
          <a:p>
            <a:pPr algn="l"/>
            <a:r>
              <a:rPr sz="1400" b="1" i="0">
                <a:solidFill>
                  <a:srgbClr val="00E5FF"/>
                </a:solidFill>
                <a:latin typeface="Calibri"/>
              </a:rPr>
              <a:t>CMatrix Solution →  Dual-graph world model: ASG captures discovered reality  ·  APG captures inferred attack opportunity</a:t>
            </a:r>
          </a:p>
        </p:txBody>
      </p:sp>
      <p:sp>
        <p:nvSpPr>
          <p:cNvPr id="33" name="TextBox 32"/>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RELATED WORK</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800" b="1" i="0">
                <a:solidFill>
                  <a:srgbClr val="FFFFFF"/>
                </a:solidFill>
                <a:latin typeface="Calibri"/>
              </a:rPr>
              <a:t>Where Prior Systems Fall Short — and How CMatrix Responds</a:t>
            </a:r>
          </a:p>
        </p:txBody>
      </p:sp>
      <p:sp>
        <p:nvSpPr>
          <p:cNvPr id="7" name="Rectangle 6"/>
          <p:cNvSpPr/>
          <p:nvPr/>
        </p:nvSpPr>
        <p:spPr>
          <a:xfrm>
            <a:off x="274320" y="822960"/>
            <a:ext cx="9144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60120"/>
            <a:ext cx="3474720" cy="2926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005840"/>
            <a:ext cx="3364992" cy="219456"/>
          </a:xfrm>
          <a:prstGeom prst="rect">
            <a:avLst/>
          </a:prstGeom>
          <a:noFill/>
        </p:spPr>
        <p:txBody>
          <a:bodyPr wrap="square">
            <a:spAutoFit/>
          </a:bodyPr>
          <a:lstStyle/>
          <a:p>
            <a:pPr algn="ctr"/>
            <a:r>
              <a:rPr sz="950" b="1" i="0">
                <a:solidFill>
                  <a:srgbClr val="0A0D1A"/>
                </a:solidFill>
                <a:latin typeface="Calibri"/>
              </a:rPr>
              <a:t>PRIOR SYSTEM</a:t>
            </a:r>
          </a:p>
        </p:txBody>
      </p:sp>
      <p:sp>
        <p:nvSpPr>
          <p:cNvPr id="10" name="Rectangle 9"/>
          <p:cNvSpPr/>
          <p:nvPr/>
        </p:nvSpPr>
        <p:spPr>
          <a:xfrm>
            <a:off x="3822191" y="960120"/>
            <a:ext cx="4389120" cy="29260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95343" y="1005840"/>
            <a:ext cx="4279392" cy="219456"/>
          </a:xfrm>
          <a:prstGeom prst="rect">
            <a:avLst/>
          </a:prstGeom>
          <a:noFill/>
        </p:spPr>
        <p:txBody>
          <a:bodyPr wrap="square">
            <a:spAutoFit/>
          </a:bodyPr>
          <a:lstStyle/>
          <a:p>
            <a:pPr algn="ctr"/>
            <a:r>
              <a:rPr sz="950" b="1" i="0">
                <a:solidFill>
                  <a:srgbClr val="0A0D1A"/>
                </a:solidFill>
                <a:latin typeface="Calibri"/>
              </a:rPr>
              <a:t>WHAT IT LACKS</a:t>
            </a:r>
          </a:p>
        </p:txBody>
      </p:sp>
      <p:sp>
        <p:nvSpPr>
          <p:cNvPr id="12" name="Rectangle 11"/>
          <p:cNvSpPr/>
          <p:nvPr/>
        </p:nvSpPr>
        <p:spPr>
          <a:xfrm>
            <a:off x="8357616" y="960120"/>
            <a:ext cx="365760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0768" y="1005840"/>
            <a:ext cx="3547872" cy="219456"/>
          </a:xfrm>
          <a:prstGeom prst="rect">
            <a:avLst/>
          </a:prstGeom>
          <a:noFill/>
        </p:spPr>
        <p:txBody>
          <a:bodyPr wrap="square">
            <a:spAutoFit/>
          </a:bodyPr>
          <a:lstStyle/>
          <a:p>
            <a:pPr algn="ctr"/>
            <a:r>
              <a:rPr sz="950" b="1" i="0">
                <a:solidFill>
                  <a:srgbClr val="0A0D1A"/>
                </a:solidFill>
                <a:latin typeface="Calibri"/>
              </a:rPr>
              <a:t>CMatrix ADDRESSES BY</a:t>
            </a:r>
          </a:p>
        </p:txBody>
      </p:sp>
      <p:sp>
        <p:nvSpPr>
          <p:cNvPr id="14" name="Rectangle 13"/>
          <p:cNvSpPr/>
          <p:nvPr/>
        </p:nvSpPr>
        <p:spPr>
          <a:xfrm>
            <a:off x="201168" y="1289304"/>
            <a:ext cx="3474720" cy="1007668"/>
          </a:xfrm>
          <a:prstGeom prst="rect">
            <a:avLst/>
          </a:prstGeom>
          <a:solidFill>
            <a:srgbClr val="0E0C1A"/>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1168" y="1289304"/>
            <a:ext cx="54864" cy="100766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4" y="1344168"/>
            <a:ext cx="3291840" cy="916228"/>
          </a:xfrm>
          <a:prstGeom prst="rect">
            <a:avLst/>
          </a:prstGeom>
          <a:noFill/>
        </p:spPr>
        <p:txBody>
          <a:bodyPr wrap="square">
            <a:spAutoFit/>
          </a:bodyPr>
          <a:lstStyle/>
          <a:p>
            <a:pPr algn="l"/>
            <a:r>
              <a:rPr sz="1000" b="1" i="0">
                <a:solidFill>
                  <a:srgbClr val="00E5FF"/>
                </a:solidFill>
                <a:latin typeface="Calibri"/>
              </a:rPr>
              <a:t>PentestGPT
(USENIX Sec '24)</a:t>
            </a:r>
          </a:p>
        </p:txBody>
      </p:sp>
      <p:sp>
        <p:nvSpPr>
          <p:cNvPr id="17" name="Rectangle 16"/>
          <p:cNvSpPr/>
          <p:nvPr/>
        </p:nvSpPr>
        <p:spPr>
          <a:xfrm>
            <a:off x="3822191" y="1289304"/>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13631" y="1344168"/>
            <a:ext cx="4242816" cy="916228"/>
          </a:xfrm>
          <a:prstGeom prst="rect">
            <a:avLst/>
          </a:prstGeom>
          <a:noFill/>
        </p:spPr>
        <p:txBody>
          <a:bodyPr wrap="square">
            <a:spAutoFit/>
          </a:bodyPr>
          <a:lstStyle/>
          <a:p>
            <a:pPr algn="l"/>
            <a:r>
              <a:rPr sz="900" b="0" i="0">
                <a:solidFill>
                  <a:srgbClr val="A0AAB8"/>
                </a:solidFill>
                <a:latin typeface="Calibri"/>
              </a:rPr>
              <a:t>Flat conversation history — no structured world model of the target. Task Tree records tasks, not discovered facts.</a:t>
            </a:r>
          </a:p>
        </p:txBody>
      </p:sp>
      <p:sp>
        <p:nvSpPr>
          <p:cNvPr id="19" name="Rectangle 18"/>
          <p:cNvSpPr/>
          <p:nvPr/>
        </p:nvSpPr>
        <p:spPr>
          <a:xfrm>
            <a:off x="8357616" y="1289304"/>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49056" y="1344168"/>
            <a:ext cx="3511296" cy="916228"/>
          </a:xfrm>
          <a:prstGeom prst="rect">
            <a:avLst/>
          </a:prstGeom>
          <a:noFill/>
        </p:spPr>
        <p:txBody>
          <a:bodyPr wrap="square">
            <a:spAutoFit/>
          </a:bodyPr>
          <a:lstStyle/>
          <a:p>
            <a:pPr algn="l"/>
            <a:r>
              <a:rPr sz="900" b="0" i="0">
                <a:solidFill>
                  <a:srgbClr val="39FF14"/>
                </a:solidFill>
                <a:latin typeface="Calibri"/>
              </a:rPr>
              <a:t>ASG: a typed property graph of the target. Every discovered node is a first-class fact, not a sentence in history.</a:t>
            </a:r>
          </a:p>
        </p:txBody>
      </p:sp>
      <p:sp>
        <p:nvSpPr>
          <p:cNvPr id="21" name="Rectangle 20"/>
          <p:cNvSpPr/>
          <p:nvPr/>
        </p:nvSpPr>
        <p:spPr>
          <a:xfrm>
            <a:off x="201168" y="2351836"/>
            <a:ext cx="3474720" cy="1007668"/>
          </a:xfrm>
          <a:prstGeom prst="rect">
            <a:avLst/>
          </a:prstGeom>
          <a:solidFill>
            <a:srgbClr val="080A14"/>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1168" y="2351836"/>
            <a:ext cx="54864" cy="100766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 y="2406700"/>
            <a:ext cx="3291840" cy="916228"/>
          </a:xfrm>
          <a:prstGeom prst="rect">
            <a:avLst/>
          </a:prstGeom>
          <a:noFill/>
        </p:spPr>
        <p:txBody>
          <a:bodyPr wrap="square">
            <a:spAutoFit/>
          </a:bodyPr>
          <a:lstStyle/>
          <a:p>
            <a:pPr algn="l"/>
            <a:r>
              <a:rPr sz="1000" b="1" i="0">
                <a:solidFill>
                  <a:srgbClr val="39FF14"/>
                </a:solidFill>
                <a:latin typeface="Calibri"/>
              </a:rPr>
              <a:t>AutoAttacker
(arXiv '24)</a:t>
            </a:r>
          </a:p>
        </p:txBody>
      </p:sp>
      <p:sp>
        <p:nvSpPr>
          <p:cNvPr id="24" name="Rectangle 23"/>
          <p:cNvSpPr/>
          <p:nvPr/>
        </p:nvSpPr>
        <p:spPr>
          <a:xfrm>
            <a:off x="3822191" y="2351836"/>
            <a:ext cx="4389120" cy="1007668"/>
          </a:xfrm>
          <a:prstGeom prst="rect">
            <a:avLst/>
          </a:prstGeom>
          <a:solidFill>
            <a:srgbClr val="080A14"/>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13631" y="2406700"/>
            <a:ext cx="4242816" cy="916228"/>
          </a:xfrm>
          <a:prstGeom prst="rect">
            <a:avLst/>
          </a:prstGeom>
          <a:noFill/>
        </p:spPr>
        <p:txBody>
          <a:bodyPr wrap="square">
            <a:spAutoFit/>
          </a:bodyPr>
          <a:lstStyle/>
          <a:p>
            <a:pPr algn="l"/>
            <a:r>
              <a:rPr sz="900" b="0" i="0">
                <a:solidFill>
                  <a:srgbClr val="A0AAB8"/>
                </a:solidFill>
                <a:latin typeface="Calibri"/>
              </a:rPr>
              <a:t>Experience reuse within one session only. Resets to zero knowledge on every new mission. No cross-session learning.</a:t>
            </a:r>
          </a:p>
        </p:txBody>
      </p:sp>
      <p:sp>
        <p:nvSpPr>
          <p:cNvPr id="26" name="Rectangle 25"/>
          <p:cNvSpPr/>
          <p:nvPr/>
        </p:nvSpPr>
        <p:spPr>
          <a:xfrm>
            <a:off x="8357616" y="2351836"/>
            <a:ext cx="3657600" cy="1007668"/>
          </a:xfrm>
          <a:prstGeom prst="rect">
            <a:avLst/>
          </a:prstGeom>
          <a:solidFill>
            <a:srgbClr val="080A14"/>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49056" y="2406700"/>
            <a:ext cx="3511296" cy="916228"/>
          </a:xfrm>
          <a:prstGeom prst="rect">
            <a:avLst/>
          </a:prstGeom>
          <a:noFill/>
        </p:spPr>
        <p:txBody>
          <a:bodyPr wrap="square">
            <a:spAutoFit/>
          </a:bodyPr>
          <a:lstStyle/>
          <a:p>
            <a:pPr algn="l"/>
            <a:r>
              <a:rPr sz="900" b="0" i="0">
                <a:solidFill>
                  <a:srgbClr val="39FF14"/>
                </a:solidFill>
                <a:latin typeface="Calibri"/>
              </a:rPr>
              <a:t>Cross-Mission Experience Store (C10) + Attack Strategy Library (C11): validated chains accumulate across all missions.</a:t>
            </a:r>
          </a:p>
        </p:txBody>
      </p:sp>
      <p:sp>
        <p:nvSpPr>
          <p:cNvPr id="28" name="Rectangle 27"/>
          <p:cNvSpPr/>
          <p:nvPr/>
        </p:nvSpPr>
        <p:spPr>
          <a:xfrm>
            <a:off x="201168" y="3414369"/>
            <a:ext cx="3474720" cy="1007668"/>
          </a:xfrm>
          <a:prstGeom prst="rect">
            <a:avLst/>
          </a:prstGeom>
          <a:solidFill>
            <a:srgbClr val="0E0C1A"/>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1168" y="3414369"/>
            <a:ext cx="54864" cy="100766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9184" y="3469233"/>
            <a:ext cx="3291840" cy="916228"/>
          </a:xfrm>
          <a:prstGeom prst="rect">
            <a:avLst/>
          </a:prstGeom>
          <a:noFill/>
        </p:spPr>
        <p:txBody>
          <a:bodyPr wrap="square">
            <a:spAutoFit/>
          </a:bodyPr>
          <a:lstStyle/>
          <a:p>
            <a:pPr algn="l"/>
            <a:r>
              <a:rPr sz="1000" b="1" i="0">
                <a:solidFill>
                  <a:srgbClr val="FFD700"/>
                </a:solidFill>
                <a:latin typeface="Calibri"/>
              </a:rPr>
              <a:t>HPTSA / Teams of LLM Agents
(arXiv '24)</a:t>
            </a:r>
          </a:p>
        </p:txBody>
      </p:sp>
      <p:sp>
        <p:nvSpPr>
          <p:cNvPr id="31" name="Rectangle 30"/>
          <p:cNvSpPr/>
          <p:nvPr/>
        </p:nvSpPr>
        <p:spPr>
          <a:xfrm>
            <a:off x="3822191" y="3414369"/>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13631" y="3469233"/>
            <a:ext cx="4242816" cy="916228"/>
          </a:xfrm>
          <a:prstGeom prst="rect">
            <a:avLst/>
          </a:prstGeom>
          <a:noFill/>
        </p:spPr>
        <p:txBody>
          <a:bodyPr wrap="square">
            <a:spAutoFit/>
          </a:bodyPr>
          <a:lstStyle/>
          <a:p>
            <a:pPr algn="l"/>
            <a:r>
              <a:rPr sz="900" b="0" i="0">
                <a:solidFill>
                  <a:srgbClr val="A0AAB8"/>
                </a:solidFill>
                <a:latin typeface="Calibri"/>
              </a:rPr>
              <a:t>No structured attack graph. Hierarchical delegation but no formal representation of which vulnerabilities chain together.</a:t>
            </a:r>
          </a:p>
        </p:txBody>
      </p:sp>
      <p:sp>
        <p:nvSpPr>
          <p:cNvPr id="33" name="Rectangle 32"/>
          <p:cNvSpPr/>
          <p:nvPr/>
        </p:nvSpPr>
        <p:spPr>
          <a:xfrm>
            <a:off x="8357616" y="3414369"/>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49056" y="3469233"/>
            <a:ext cx="3511296" cy="916228"/>
          </a:xfrm>
          <a:prstGeom prst="rect">
            <a:avLst/>
          </a:prstGeom>
          <a:noFill/>
        </p:spPr>
        <p:txBody>
          <a:bodyPr wrap="square">
            <a:spAutoFit/>
          </a:bodyPr>
          <a:lstStyle/>
          <a:p>
            <a:pPr algn="l"/>
            <a:r>
              <a:rPr sz="900" b="0" i="0">
                <a:solidFill>
                  <a:srgbClr val="39FF14"/>
                </a:solidFill>
                <a:latin typeface="Calibri"/>
              </a:rPr>
              <a:t>APG AttackChain lifecycle (C3): attack paths are first-class entities with risk scores, priorities, and evidence links.</a:t>
            </a:r>
          </a:p>
        </p:txBody>
      </p:sp>
      <p:sp>
        <p:nvSpPr>
          <p:cNvPr id="35" name="Rectangle 34"/>
          <p:cNvSpPr/>
          <p:nvPr/>
        </p:nvSpPr>
        <p:spPr>
          <a:xfrm>
            <a:off x="201168" y="4476902"/>
            <a:ext cx="3474720" cy="1007668"/>
          </a:xfrm>
          <a:prstGeom prst="rect">
            <a:avLst/>
          </a:prstGeom>
          <a:solidFill>
            <a:srgbClr val="080A14"/>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4476902"/>
            <a:ext cx="54864" cy="100766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9184" y="4531766"/>
            <a:ext cx="3291840" cy="916228"/>
          </a:xfrm>
          <a:prstGeom prst="rect">
            <a:avLst/>
          </a:prstGeom>
          <a:noFill/>
        </p:spPr>
        <p:txBody>
          <a:bodyPr wrap="square">
            <a:spAutoFit/>
          </a:bodyPr>
          <a:lstStyle/>
          <a:p>
            <a:pPr algn="l"/>
            <a:r>
              <a:rPr sz="1000" b="1" i="0">
                <a:solidFill>
                  <a:srgbClr val="00BFD8"/>
                </a:solidFill>
                <a:latin typeface="Calibri"/>
              </a:rPr>
              <a:t>PentestAgent
(AsiaCCS '25)</a:t>
            </a:r>
          </a:p>
        </p:txBody>
      </p:sp>
      <p:sp>
        <p:nvSpPr>
          <p:cNvPr id="38" name="Rectangle 37"/>
          <p:cNvSpPr/>
          <p:nvPr/>
        </p:nvSpPr>
        <p:spPr>
          <a:xfrm>
            <a:off x="3822191" y="4476902"/>
            <a:ext cx="4389120" cy="1007668"/>
          </a:xfrm>
          <a:prstGeom prst="rect">
            <a:avLst/>
          </a:prstGeom>
          <a:solidFill>
            <a:srgbClr val="080A14"/>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13631" y="4531766"/>
            <a:ext cx="4242816" cy="916228"/>
          </a:xfrm>
          <a:prstGeom prst="rect">
            <a:avLst/>
          </a:prstGeom>
          <a:noFill/>
        </p:spPr>
        <p:txBody>
          <a:bodyPr wrap="square">
            <a:spAutoFit/>
          </a:bodyPr>
          <a:lstStyle/>
          <a:p>
            <a:pPr algn="l"/>
            <a:r>
              <a:rPr sz="900" b="0" i="0">
                <a:solidFill>
                  <a:srgbClr val="A0AAB8"/>
                </a:solidFill>
                <a:latin typeface="Calibri"/>
              </a:rPr>
              <a:t>RAG shared memory conflates discovery facts with reasoning. Termination is task-queue empty — attack surface may still have unexplored nodes.</a:t>
            </a:r>
          </a:p>
        </p:txBody>
      </p:sp>
      <p:sp>
        <p:nvSpPr>
          <p:cNvPr id="40" name="Rectangle 39"/>
          <p:cNvSpPr/>
          <p:nvPr/>
        </p:nvSpPr>
        <p:spPr>
          <a:xfrm>
            <a:off x="8357616" y="4476902"/>
            <a:ext cx="3657600" cy="1007668"/>
          </a:xfrm>
          <a:prstGeom prst="rect">
            <a:avLst/>
          </a:prstGeom>
          <a:solidFill>
            <a:srgbClr val="080A14"/>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49056" y="4531766"/>
            <a:ext cx="3511296" cy="916228"/>
          </a:xfrm>
          <a:prstGeom prst="rect">
            <a:avLst/>
          </a:prstGeom>
          <a:noFill/>
        </p:spPr>
        <p:txBody>
          <a:bodyPr wrap="square">
            <a:spAutoFit/>
          </a:bodyPr>
          <a:lstStyle/>
          <a:p>
            <a:pPr algn="l"/>
            <a:r>
              <a:rPr sz="900" b="0" i="0">
                <a:solidFill>
                  <a:srgbClr val="39FF14"/>
                </a:solidFill>
                <a:latin typeface="Calibri"/>
              </a:rPr>
              <a:t>Dual-graph separation (C1) + Dual termination (C8): both ASG exhaustion AND APG resolution required for mission close.</a:t>
            </a:r>
          </a:p>
        </p:txBody>
      </p:sp>
      <p:sp>
        <p:nvSpPr>
          <p:cNvPr id="42" name="Rectangle 41"/>
          <p:cNvSpPr/>
          <p:nvPr/>
        </p:nvSpPr>
        <p:spPr>
          <a:xfrm>
            <a:off x="201168" y="5539435"/>
            <a:ext cx="3474720" cy="1007668"/>
          </a:xfrm>
          <a:prstGeom prst="rect">
            <a:avLst/>
          </a:prstGeom>
          <a:solidFill>
            <a:srgbClr val="0E0C1A"/>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01168" y="5539435"/>
            <a:ext cx="54864" cy="100766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94299"/>
            <a:ext cx="3291840" cy="916228"/>
          </a:xfrm>
          <a:prstGeom prst="rect">
            <a:avLst/>
          </a:prstGeom>
          <a:noFill/>
        </p:spPr>
        <p:txBody>
          <a:bodyPr wrap="square">
            <a:spAutoFit/>
          </a:bodyPr>
          <a:lstStyle/>
          <a:p>
            <a:pPr algn="l"/>
            <a:r>
              <a:rPr sz="1000" b="1" i="0">
                <a:solidFill>
                  <a:srgbClr val="FF4545"/>
                </a:solidFill>
                <a:latin typeface="Calibri"/>
              </a:rPr>
              <a:t>VulnBot
(arXiv '25)</a:t>
            </a:r>
          </a:p>
        </p:txBody>
      </p:sp>
      <p:sp>
        <p:nvSpPr>
          <p:cNvPr id="45" name="Rectangle 44"/>
          <p:cNvSpPr/>
          <p:nvPr/>
        </p:nvSpPr>
        <p:spPr>
          <a:xfrm>
            <a:off x="3822191" y="5539435"/>
            <a:ext cx="4389120" cy="1007668"/>
          </a:xfrm>
          <a:prstGeom prst="rect">
            <a:avLst/>
          </a:prstGeom>
          <a:solidFill>
            <a:srgbClr val="0E0C1A"/>
          </a:solidFill>
          <a:ln w="6350">
            <a:solidFill>
              <a:srgbClr val="401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13631" y="5594299"/>
            <a:ext cx="4242816" cy="916228"/>
          </a:xfrm>
          <a:prstGeom prst="rect">
            <a:avLst/>
          </a:prstGeom>
          <a:noFill/>
        </p:spPr>
        <p:txBody>
          <a:bodyPr wrap="square">
            <a:spAutoFit/>
          </a:bodyPr>
          <a:lstStyle/>
          <a:p>
            <a:pPr algn="l"/>
            <a:r>
              <a:rPr sz="900" b="0" i="0">
                <a:solidFill>
                  <a:srgbClr val="A0AAB8"/>
                </a:solidFill>
                <a:latin typeface="Calibri"/>
              </a:rPr>
              <a:t>Five-module pipeline with no formal attack graph. Context compaction is ad-hoc. No lifecycle for attack chains.</a:t>
            </a:r>
          </a:p>
        </p:txBody>
      </p:sp>
      <p:sp>
        <p:nvSpPr>
          <p:cNvPr id="47" name="Rectangle 46"/>
          <p:cNvSpPr/>
          <p:nvPr/>
        </p:nvSpPr>
        <p:spPr>
          <a:xfrm>
            <a:off x="8357616" y="5539435"/>
            <a:ext cx="3657600" cy="1007668"/>
          </a:xfrm>
          <a:prstGeom prst="rect">
            <a:avLst/>
          </a:prstGeom>
          <a:solidFill>
            <a:srgbClr val="0E0C1A"/>
          </a:solidFill>
          <a:ln w="6350">
            <a:solidFill>
              <a:srgbClr val="1030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49056" y="5594299"/>
            <a:ext cx="3511296" cy="916228"/>
          </a:xfrm>
          <a:prstGeom prst="rect">
            <a:avLst/>
          </a:prstGeom>
          <a:noFill/>
        </p:spPr>
        <p:txBody>
          <a:bodyPr wrap="square">
            <a:spAutoFit/>
          </a:bodyPr>
          <a:lstStyle/>
          <a:p>
            <a:pPr algn="l"/>
            <a:r>
              <a:rPr sz="900" b="0" i="0">
                <a:solidFill>
                  <a:srgbClr val="39FF14"/>
                </a:solidFill>
                <a:latin typeface="Calibri"/>
              </a:rPr>
              <a:t>Lossless Context Compaction (C6): three-layer ASG-backed scheme preserves all discovered findings regardless of mission length.</a:t>
            </a:r>
          </a:p>
        </p:txBody>
      </p:sp>
      <p:sp>
        <p:nvSpPr>
          <p:cNvPr id="49" name="TextBox 48"/>
          <p:cNvSpPr txBox="1"/>
          <p:nvPr/>
        </p:nvSpPr>
        <p:spPr>
          <a:xfrm>
            <a:off x="11780215" y="6355080"/>
            <a:ext cx="384048" cy="411480"/>
          </a:xfrm>
          <a:prstGeom prst="rect">
            <a:avLst/>
          </a:prstGeom>
          <a:noFill/>
        </p:spPr>
        <p:txBody>
          <a:bodyPr wrap="square">
            <a:spAutoFit/>
          </a:bodyPr>
          <a:lstStyle/>
          <a:p>
            <a:pPr algn="r"/>
            <a:r>
              <a:rPr sz="1300" b="1" i="0">
                <a:solidFill>
                  <a:srgbClr val="BD93F9"/>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SCOPE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CMatrix Assesses — and What It Does Not</a:t>
            </a:r>
          </a:p>
        </p:txBody>
      </p:sp>
      <p:sp>
        <p:nvSpPr>
          <p:cNvPr id="7" name="Rectangle 6"/>
          <p:cNvSpPr/>
          <p:nvPr/>
        </p:nvSpPr>
        <p:spPr>
          <a:xfrm>
            <a:off x="274320" y="822960"/>
            <a:ext cx="82296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87552"/>
            <a:ext cx="5394960" cy="4937760"/>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987552"/>
            <a:ext cx="5394960" cy="31089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1033272"/>
            <a:ext cx="5212080" cy="237744"/>
          </a:xfrm>
          <a:prstGeom prst="rect">
            <a:avLst/>
          </a:prstGeom>
          <a:noFill/>
        </p:spPr>
        <p:txBody>
          <a:bodyPr wrap="square">
            <a:spAutoFit/>
          </a:bodyPr>
          <a:lstStyle/>
          <a:p>
            <a:pPr algn="l"/>
            <a:r>
              <a:rPr sz="1200" b="1" i="0">
                <a:solidFill>
                  <a:srgbClr val="0A0D1A"/>
                </a:solidFill>
                <a:latin typeface="Calibri"/>
              </a:rPr>
              <a:t>✓  IN SCOPE</a:t>
            </a:r>
          </a:p>
        </p:txBody>
      </p:sp>
      <p:sp>
        <p:nvSpPr>
          <p:cNvPr id="11" name="Rectangle 10"/>
          <p:cNvSpPr/>
          <p:nvPr/>
        </p:nvSpPr>
        <p:spPr>
          <a:xfrm>
            <a:off x="310896" y="138988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1435608"/>
            <a:ext cx="5065776" cy="237744"/>
          </a:xfrm>
          <a:prstGeom prst="rect">
            <a:avLst/>
          </a:prstGeom>
          <a:noFill/>
        </p:spPr>
        <p:txBody>
          <a:bodyPr wrap="square">
            <a:spAutoFit/>
          </a:bodyPr>
          <a:lstStyle/>
          <a:p>
            <a:pPr algn="l"/>
            <a:r>
              <a:rPr sz="1100" b="1" i="0">
                <a:solidFill>
                  <a:srgbClr val="39FF14"/>
                </a:solidFill>
                <a:latin typeface="Calibri"/>
              </a:rPr>
              <a:t>Web Applications</a:t>
            </a:r>
          </a:p>
        </p:txBody>
      </p:sp>
      <p:sp>
        <p:nvSpPr>
          <p:cNvPr id="13" name="TextBox 12"/>
          <p:cNvSpPr txBox="1"/>
          <p:nvPr/>
        </p:nvSpPr>
        <p:spPr>
          <a:xfrm>
            <a:off x="402336" y="1664208"/>
            <a:ext cx="5065776" cy="384048"/>
          </a:xfrm>
          <a:prstGeom prst="rect">
            <a:avLst/>
          </a:prstGeom>
          <a:noFill/>
        </p:spPr>
        <p:txBody>
          <a:bodyPr wrap="square">
            <a:spAutoFit/>
          </a:bodyPr>
          <a:lstStyle/>
          <a:p>
            <a:pPr algn="l"/>
            <a:r>
              <a:rPr sz="950" b="0" i="0">
                <a:solidFill>
                  <a:srgbClr val="A0AAB8"/>
                </a:solidFill>
                <a:latin typeface="Calibri"/>
              </a:rPr>
              <a:t>HTTP/HTTPS services, CMS, REST APIs, GraphQL endpoints.</a:t>
            </a:r>
          </a:p>
        </p:txBody>
      </p:sp>
      <p:sp>
        <p:nvSpPr>
          <p:cNvPr id="14" name="Rectangle 13"/>
          <p:cNvSpPr/>
          <p:nvPr/>
        </p:nvSpPr>
        <p:spPr>
          <a:xfrm>
            <a:off x="310896" y="2148840"/>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194560"/>
            <a:ext cx="5065776" cy="237744"/>
          </a:xfrm>
          <a:prstGeom prst="rect">
            <a:avLst/>
          </a:prstGeom>
          <a:noFill/>
        </p:spPr>
        <p:txBody>
          <a:bodyPr wrap="square">
            <a:spAutoFit/>
          </a:bodyPr>
          <a:lstStyle/>
          <a:p>
            <a:pPr algn="l"/>
            <a:r>
              <a:rPr sz="1100" b="1" i="0">
                <a:solidFill>
                  <a:srgbClr val="39FF14"/>
                </a:solidFill>
                <a:latin typeface="Calibri"/>
              </a:rPr>
              <a:t>Network Services</a:t>
            </a:r>
          </a:p>
        </p:txBody>
      </p:sp>
      <p:sp>
        <p:nvSpPr>
          <p:cNvPr id="16" name="TextBox 15"/>
          <p:cNvSpPr txBox="1"/>
          <p:nvPr/>
        </p:nvSpPr>
        <p:spPr>
          <a:xfrm>
            <a:off x="402336" y="2423160"/>
            <a:ext cx="5065776" cy="384048"/>
          </a:xfrm>
          <a:prstGeom prst="rect">
            <a:avLst/>
          </a:prstGeom>
          <a:noFill/>
        </p:spPr>
        <p:txBody>
          <a:bodyPr wrap="square">
            <a:spAutoFit/>
          </a:bodyPr>
          <a:lstStyle/>
          <a:p>
            <a:pPr algn="l"/>
            <a:r>
              <a:rPr sz="950" b="0" i="0">
                <a:solidFill>
                  <a:srgbClr val="A0AAB8"/>
                </a:solidFill>
                <a:latin typeface="Calibri"/>
              </a:rPr>
              <a:t>Exposed ports, services, TLS/SSL, open protocols.</a:t>
            </a:r>
          </a:p>
        </p:txBody>
      </p:sp>
      <p:sp>
        <p:nvSpPr>
          <p:cNvPr id="17" name="Rectangle 16"/>
          <p:cNvSpPr/>
          <p:nvPr/>
        </p:nvSpPr>
        <p:spPr>
          <a:xfrm>
            <a:off x="310896" y="2907792"/>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2953512"/>
            <a:ext cx="5065776" cy="237744"/>
          </a:xfrm>
          <a:prstGeom prst="rect">
            <a:avLst/>
          </a:prstGeom>
          <a:noFill/>
        </p:spPr>
        <p:txBody>
          <a:bodyPr wrap="square">
            <a:spAutoFit/>
          </a:bodyPr>
          <a:lstStyle/>
          <a:p>
            <a:pPr algn="l"/>
            <a:r>
              <a:rPr sz="1100" b="1" i="0">
                <a:solidFill>
                  <a:srgbClr val="39FF14"/>
                </a:solidFill>
                <a:latin typeface="Calibri"/>
              </a:rPr>
              <a:t>API Attack Surface</a:t>
            </a:r>
          </a:p>
        </p:txBody>
      </p:sp>
      <p:sp>
        <p:nvSpPr>
          <p:cNvPr id="19" name="TextBox 18"/>
          <p:cNvSpPr txBox="1"/>
          <p:nvPr/>
        </p:nvSpPr>
        <p:spPr>
          <a:xfrm>
            <a:off x="402336" y="3182112"/>
            <a:ext cx="5065776" cy="384048"/>
          </a:xfrm>
          <a:prstGeom prst="rect">
            <a:avLst/>
          </a:prstGeom>
          <a:noFill/>
        </p:spPr>
        <p:txBody>
          <a:bodyPr wrap="square">
            <a:spAutoFit/>
          </a:bodyPr>
          <a:lstStyle/>
          <a:p>
            <a:pPr algn="l"/>
            <a:r>
              <a:rPr sz="950" b="0" i="0">
                <a:solidFill>
                  <a:srgbClr val="A0AAB8"/>
                </a:solidFill>
                <a:latin typeface="Calibri"/>
              </a:rPr>
              <a:t>REST endpoints, parameter injection, IDOR, auth bypass.</a:t>
            </a:r>
          </a:p>
        </p:txBody>
      </p:sp>
      <p:sp>
        <p:nvSpPr>
          <p:cNvPr id="20" name="Rectangle 19"/>
          <p:cNvSpPr/>
          <p:nvPr/>
        </p:nvSpPr>
        <p:spPr>
          <a:xfrm>
            <a:off x="310896" y="3666744"/>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3712464"/>
            <a:ext cx="5065776" cy="237744"/>
          </a:xfrm>
          <a:prstGeom prst="rect">
            <a:avLst/>
          </a:prstGeom>
          <a:noFill/>
        </p:spPr>
        <p:txBody>
          <a:bodyPr wrap="square">
            <a:spAutoFit/>
          </a:bodyPr>
          <a:lstStyle/>
          <a:p>
            <a:pPr algn="l"/>
            <a:r>
              <a:rPr sz="1100" b="1" i="0">
                <a:solidFill>
                  <a:srgbClr val="39FF14"/>
                </a:solidFill>
                <a:latin typeface="Calibri"/>
              </a:rPr>
              <a:t>Black-Box Mode</a:t>
            </a:r>
          </a:p>
        </p:txBody>
      </p:sp>
      <p:sp>
        <p:nvSpPr>
          <p:cNvPr id="22" name="TextBox 21"/>
          <p:cNvSpPr txBox="1"/>
          <p:nvPr/>
        </p:nvSpPr>
        <p:spPr>
          <a:xfrm>
            <a:off x="402336" y="3941064"/>
            <a:ext cx="5065776" cy="384048"/>
          </a:xfrm>
          <a:prstGeom prst="rect">
            <a:avLst/>
          </a:prstGeom>
          <a:noFill/>
        </p:spPr>
        <p:txBody>
          <a:bodyPr wrap="square">
            <a:spAutoFit/>
          </a:bodyPr>
          <a:lstStyle/>
          <a:p>
            <a:pPr algn="l"/>
            <a:r>
              <a:rPr sz="950" b="0" i="0">
                <a:solidFill>
                  <a:srgbClr val="A0AAB8"/>
                </a:solidFill>
                <a:latin typeface="Calibri"/>
              </a:rPr>
              <a:t>Zero prior knowledge. Operator provides: root domain + scope declaration only.</a:t>
            </a:r>
          </a:p>
        </p:txBody>
      </p:sp>
      <p:sp>
        <p:nvSpPr>
          <p:cNvPr id="23" name="Rectangle 22"/>
          <p:cNvSpPr/>
          <p:nvPr/>
        </p:nvSpPr>
        <p:spPr>
          <a:xfrm>
            <a:off x="310896" y="4425696"/>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 y="4471416"/>
            <a:ext cx="5065776" cy="237744"/>
          </a:xfrm>
          <a:prstGeom prst="rect">
            <a:avLst/>
          </a:prstGeom>
          <a:noFill/>
        </p:spPr>
        <p:txBody>
          <a:bodyPr wrap="square">
            <a:spAutoFit/>
          </a:bodyPr>
          <a:lstStyle/>
          <a:p>
            <a:pPr algn="l"/>
            <a:r>
              <a:rPr sz="1100" b="1" i="0">
                <a:solidFill>
                  <a:srgbClr val="39FF14"/>
                </a:solidFill>
                <a:latin typeface="Calibri"/>
              </a:rPr>
              <a:t>Grey-Box Mode</a:t>
            </a:r>
          </a:p>
        </p:txBody>
      </p:sp>
      <p:sp>
        <p:nvSpPr>
          <p:cNvPr id="25" name="TextBox 24"/>
          <p:cNvSpPr txBox="1"/>
          <p:nvPr/>
        </p:nvSpPr>
        <p:spPr>
          <a:xfrm>
            <a:off x="402336" y="4700016"/>
            <a:ext cx="5065776" cy="384048"/>
          </a:xfrm>
          <a:prstGeom prst="rect">
            <a:avLst/>
          </a:prstGeom>
          <a:noFill/>
        </p:spPr>
        <p:txBody>
          <a:bodyPr wrap="square">
            <a:spAutoFit/>
          </a:bodyPr>
          <a:lstStyle/>
          <a:p>
            <a:pPr algn="l"/>
            <a:r>
              <a:rPr sz="950" b="0" i="0">
                <a:solidFill>
                  <a:srgbClr val="A0AAB8"/>
                </a:solidFill>
                <a:latin typeface="Calibri"/>
              </a:rPr>
              <a:t>Partial knowledge. Operator additionally provides: known IP ranges, credentials, network topology fragments. ASG Host nodes are pre-seeded.</a:t>
            </a:r>
          </a:p>
        </p:txBody>
      </p:sp>
      <p:sp>
        <p:nvSpPr>
          <p:cNvPr id="26" name="Rectangle 25"/>
          <p:cNvSpPr/>
          <p:nvPr/>
        </p:nvSpPr>
        <p:spPr>
          <a:xfrm>
            <a:off x="310896" y="518464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 y="5230368"/>
            <a:ext cx="5065776" cy="237744"/>
          </a:xfrm>
          <a:prstGeom prst="rect">
            <a:avLst/>
          </a:prstGeom>
          <a:noFill/>
        </p:spPr>
        <p:txBody>
          <a:bodyPr wrap="square">
            <a:spAutoFit/>
          </a:bodyPr>
          <a:lstStyle/>
          <a:p>
            <a:pPr algn="l"/>
            <a:r>
              <a:rPr sz="1100" b="1" i="0">
                <a:solidFill>
                  <a:srgbClr val="39FF14"/>
                </a:solidFill>
                <a:latin typeface="Calibri"/>
              </a:rPr>
              <a:t>Authorised Assessments</a:t>
            </a:r>
          </a:p>
        </p:txBody>
      </p:sp>
      <p:sp>
        <p:nvSpPr>
          <p:cNvPr id="28" name="TextBox 27"/>
          <p:cNvSpPr txBox="1"/>
          <p:nvPr/>
        </p:nvSpPr>
        <p:spPr>
          <a:xfrm>
            <a:off x="402336" y="5458968"/>
            <a:ext cx="5065776" cy="384048"/>
          </a:xfrm>
          <a:prstGeom prst="rect">
            <a:avLst/>
          </a:prstGeom>
          <a:noFill/>
        </p:spPr>
        <p:txBody>
          <a:bodyPr wrap="square">
            <a:spAutoFit/>
          </a:bodyPr>
          <a:lstStyle/>
          <a:p>
            <a:pPr algn="l"/>
            <a:r>
              <a:rPr sz="950" b="0" i="0">
                <a:solidFill>
                  <a:srgbClr val="A0AAB8"/>
                </a:solidFill>
                <a:latin typeface="Calibri"/>
              </a:rPr>
              <a:t>CMatrix operates only within declared scope. Scope check fires before every tool execution at the Risk Gate.</a:t>
            </a:r>
          </a:p>
        </p:txBody>
      </p:sp>
      <p:sp>
        <p:nvSpPr>
          <p:cNvPr id="29" name="Rectangle 28"/>
          <p:cNvSpPr/>
          <p:nvPr/>
        </p:nvSpPr>
        <p:spPr>
          <a:xfrm>
            <a:off x="5779008" y="987552"/>
            <a:ext cx="4480560" cy="3108960"/>
          </a:xfrm>
          <a:prstGeom prst="rect">
            <a:avLst/>
          </a:prstGeom>
          <a:solidFill>
            <a:srgbClr val="1C0808"/>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779008" y="987552"/>
            <a:ext cx="4480560" cy="31089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88736" y="1033272"/>
            <a:ext cx="4297680" cy="237744"/>
          </a:xfrm>
          <a:prstGeom prst="rect">
            <a:avLst/>
          </a:prstGeom>
          <a:noFill/>
        </p:spPr>
        <p:txBody>
          <a:bodyPr wrap="square">
            <a:spAutoFit/>
          </a:bodyPr>
          <a:lstStyle/>
          <a:p>
            <a:pPr algn="l"/>
            <a:r>
              <a:rPr sz="1200" b="1" i="0">
                <a:solidFill>
                  <a:srgbClr val="FFFFFF"/>
                </a:solidFill>
                <a:latin typeface="Calibri"/>
              </a:rPr>
              <a:t>✕  OUT OF SCOPE</a:t>
            </a:r>
          </a:p>
        </p:txBody>
      </p:sp>
      <p:sp>
        <p:nvSpPr>
          <p:cNvPr id="32" name="Rectangle 31"/>
          <p:cNvSpPr/>
          <p:nvPr/>
        </p:nvSpPr>
        <p:spPr>
          <a:xfrm>
            <a:off x="5888736" y="138988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1444752"/>
            <a:ext cx="4151376" cy="292608"/>
          </a:xfrm>
          <a:prstGeom prst="rect">
            <a:avLst/>
          </a:prstGeom>
          <a:noFill/>
        </p:spPr>
        <p:txBody>
          <a:bodyPr wrap="square">
            <a:spAutoFit/>
          </a:bodyPr>
          <a:lstStyle/>
          <a:p>
            <a:pPr algn="l"/>
            <a:r>
              <a:rPr sz="1000" b="0" i="0">
                <a:solidFill>
                  <a:srgbClr val="A0AAB8"/>
                </a:solidFill>
                <a:latin typeface="Calibri"/>
              </a:rPr>
              <a:t>✕  White-Box  (source code review, SAST)</a:t>
            </a:r>
          </a:p>
        </p:txBody>
      </p:sp>
      <p:sp>
        <p:nvSpPr>
          <p:cNvPr id="34" name="Rectangle 33"/>
          <p:cNvSpPr/>
          <p:nvPr/>
        </p:nvSpPr>
        <p:spPr>
          <a:xfrm>
            <a:off x="5888736" y="1828800"/>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0176" y="1883664"/>
            <a:ext cx="4151376" cy="292608"/>
          </a:xfrm>
          <a:prstGeom prst="rect">
            <a:avLst/>
          </a:prstGeom>
          <a:noFill/>
        </p:spPr>
        <p:txBody>
          <a:bodyPr wrap="square">
            <a:spAutoFit/>
          </a:bodyPr>
          <a:lstStyle/>
          <a:p>
            <a:pPr algn="l"/>
            <a:r>
              <a:rPr sz="1000" b="0" i="0">
                <a:solidFill>
                  <a:srgbClr val="A0AAB8"/>
                </a:solidFill>
                <a:latin typeface="Calibri"/>
              </a:rPr>
              <a:t>✕  Mobile Applications  (iOS, Android)</a:t>
            </a:r>
          </a:p>
        </p:txBody>
      </p:sp>
      <p:sp>
        <p:nvSpPr>
          <p:cNvPr id="36" name="Rectangle 35"/>
          <p:cNvSpPr/>
          <p:nvPr/>
        </p:nvSpPr>
        <p:spPr>
          <a:xfrm>
            <a:off x="5888736" y="2267712"/>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80176" y="2322576"/>
            <a:ext cx="4151376" cy="292608"/>
          </a:xfrm>
          <a:prstGeom prst="rect">
            <a:avLst/>
          </a:prstGeom>
          <a:noFill/>
        </p:spPr>
        <p:txBody>
          <a:bodyPr wrap="square">
            <a:spAutoFit/>
          </a:bodyPr>
          <a:lstStyle/>
          <a:p>
            <a:pPr algn="l"/>
            <a:r>
              <a:rPr sz="1000" b="0" i="0">
                <a:solidFill>
                  <a:srgbClr val="A0AAB8"/>
                </a:solidFill>
                <a:latin typeface="Calibri"/>
              </a:rPr>
              <a:t>✕  Cloud / IoT Infrastructure  (AWS, Azure, embedded devices)</a:t>
            </a:r>
          </a:p>
        </p:txBody>
      </p:sp>
      <p:sp>
        <p:nvSpPr>
          <p:cNvPr id="38" name="Rectangle 37"/>
          <p:cNvSpPr/>
          <p:nvPr/>
        </p:nvSpPr>
        <p:spPr>
          <a:xfrm>
            <a:off x="5888736" y="2706624"/>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6" y="2761488"/>
            <a:ext cx="4151376" cy="292608"/>
          </a:xfrm>
          <a:prstGeom prst="rect">
            <a:avLst/>
          </a:prstGeom>
          <a:noFill/>
        </p:spPr>
        <p:txBody>
          <a:bodyPr wrap="square">
            <a:spAutoFit/>
          </a:bodyPr>
          <a:lstStyle/>
          <a:p>
            <a:pPr algn="l"/>
            <a:r>
              <a:rPr sz="1000" b="0" i="0">
                <a:solidFill>
                  <a:srgbClr val="A0AAB8"/>
                </a:solidFill>
                <a:latin typeface="Calibri"/>
              </a:rPr>
              <a:t>✕  Wireless Networks  (Wi-Fi, Bluetooth, RF)</a:t>
            </a:r>
          </a:p>
        </p:txBody>
      </p:sp>
      <p:sp>
        <p:nvSpPr>
          <p:cNvPr id="40" name="Rectangle 39"/>
          <p:cNvSpPr/>
          <p:nvPr/>
        </p:nvSpPr>
        <p:spPr>
          <a:xfrm>
            <a:off x="5888736" y="3145536"/>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3200400"/>
            <a:ext cx="4151376" cy="292608"/>
          </a:xfrm>
          <a:prstGeom prst="rect">
            <a:avLst/>
          </a:prstGeom>
          <a:noFill/>
        </p:spPr>
        <p:txBody>
          <a:bodyPr wrap="square">
            <a:spAutoFit/>
          </a:bodyPr>
          <a:lstStyle/>
          <a:p>
            <a:pPr algn="l"/>
            <a:r>
              <a:rPr sz="1000" b="0" i="0">
                <a:solidFill>
                  <a:srgbClr val="A0AAB8"/>
                </a:solidFill>
                <a:latin typeface="Calibri"/>
              </a:rPr>
              <a:t>✕  Active Directory / Domain Services</a:t>
            </a:r>
          </a:p>
        </p:txBody>
      </p:sp>
      <p:sp>
        <p:nvSpPr>
          <p:cNvPr id="42" name="Rectangle 41"/>
          <p:cNvSpPr/>
          <p:nvPr/>
        </p:nvSpPr>
        <p:spPr>
          <a:xfrm>
            <a:off x="5888736" y="358444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80176" y="3639312"/>
            <a:ext cx="4151376" cy="292608"/>
          </a:xfrm>
          <a:prstGeom prst="rect">
            <a:avLst/>
          </a:prstGeom>
          <a:noFill/>
        </p:spPr>
        <p:txBody>
          <a:bodyPr wrap="square">
            <a:spAutoFit/>
          </a:bodyPr>
          <a:lstStyle/>
          <a:p>
            <a:pPr algn="l"/>
            <a:r>
              <a:rPr sz="1000" b="0" i="0">
                <a:solidFill>
                  <a:srgbClr val="A0AAB8"/>
                </a:solidFill>
                <a:latin typeface="Calibri"/>
              </a:rPr>
              <a:t>✕  Physical / Social Engineering Attacks</a:t>
            </a:r>
          </a:p>
        </p:txBody>
      </p:sp>
      <p:sp>
        <p:nvSpPr>
          <p:cNvPr id="44" name="Rectangle 43"/>
          <p:cNvSpPr/>
          <p:nvPr/>
        </p:nvSpPr>
        <p:spPr>
          <a:xfrm>
            <a:off x="5779008" y="4206240"/>
            <a:ext cx="4480560" cy="1719072"/>
          </a:xfrm>
          <a:prstGeom prst="rect">
            <a:avLst/>
          </a:prstGeom>
          <a:solidFill>
            <a:srgbClr val="06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779008" y="4206240"/>
            <a:ext cx="448056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70448" y="4242816"/>
            <a:ext cx="4315968" cy="219456"/>
          </a:xfrm>
          <a:prstGeom prst="rect">
            <a:avLst/>
          </a:prstGeom>
          <a:noFill/>
        </p:spPr>
        <p:txBody>
          <a:bodyPr wrap="square">
            <a:spAutoFit/>
          </a:bodyPr>
          <a:lstStyle/>
          <a:p>
            <a:pPr algn="l"/>
            <a:r>
              <a:rPr sz="900" b="1" i="0">
                <a:solidFill>
                  <a:srgbClr val="0A0D1A"/>
                </a:solidFill>
                <a:latin typeface="Calibri"/>
              </a:rPr>
              <a:t>OPERATOR CONFIGURATION  (one-time, before mission start)</a:t>
            </a:r>
          </a:p>
        </p:txBody>
      </p:sp>
      <p:sp>
        <p:nvSpPr>
          <p:cNvPr id="47" name="TextBox 46"/>
          <p:cNvSpPr txBox="1"/>
          <p:nvPr/>
        </p:nvSpPr>
        <p:spPr>
          <a:xfrm>
            <a:off x="5943600" y="4553712"/>
            <a:ext cx="4206240" cy="274320"/>
          </a:xfrm>
          <a:prstGeom prst="rect">
            <a:avLst/>
          </a:prstGeom>
          <a:noFill/>
        </p:spPr>
        <p:txBody>
          <a:bodyPr wrap="square">
            <a:spAutoFit/>
          </a:bodyPr>
          <a:lstStyle/>
          <a:p>
            <a:pPr algn="l"/>
            <a:r>
              <a:rPr sz="950" b="0" i="0">
                <a:solidFill>
                  <a:srgbClr val="00E5FF"/>
                </a:solidFill>
                <a:latin typeface="Calibri"/>
              </a:rPr>
              <a:t>→  Root domain (e.g. shopvault.io)</a:t>
            </a:r>
          </a:p>
        </p:txBody>
      </p:sp>
      <p:sp>
        <p:nvSpPr>
          <p:cNvPr id="48" name="TextBox 47"/>
          <p:cNvSpPr txBox="1"/>
          <p:nvPr/>
        </p:nvSpPr>
        <p:spPr>
          <a:xfrm>
            <a:off x="5943600" y="4864608"/>
            <a:ext cx="4206240" cy="274320"/>
          </a:xfrm>
          <a:prstGeom prst="rect">
            <a:avLst/>
          </a:prstGeom>
          <a:noFill/>
        </p:spPr>
        <p:txBody>
          <a:bodyPr wrap="square">
            <a:spAutoFit/>
          </a:bodyPr>
          <a:lstStyle/>
          <a:p>
            <a:pPr algn="l"/>
            <a:r>
              <a:rPr sz="950" b="0" i="0">
                <a:solidFill>
                  <a:srgbClr val="00E5FF"/>
                </a:solidFill>
                <a:latin typeface="Calibri"/>
              </a:rPr>
              <a:t>→  Scope declaration  (all subdomains · web apps · APIs)</a:t>
            </a:r>
          </a:p>
        </p:txBody>
      </p:sp>
      <p:sp>
        <p:nvSpPr>
          <p:cNvPr id="49" name="TextBox 48"/>
          <p:cNvSpPr txBox="1"/>
          <p:nvPr/>
        </p:nvSpPr>
        <p:spPr>
          <a:xfrm>
            <a:off x="5943600" y="5175504"/>
            <a:ext cx="4206240" cy="274320"/>
          </a:xfrm>
          <a:prstGeom prst="rect">
            <a:avLst/>
          </a:prstGeom>
          <a:noFill/>
        </p:spPr>
        <p:txBody>
          <a:bodyPr wrap="square">
            <a:spAutoFit/>
          </a:bodyPr>
          <a:lstStyle/>
          <a:p>
            <a:pPr algn="l"/>
            <a:r>
              <a:rPr sz="950" b="0" i="0">
                <a:solidFill>
                  <a:srgbClr val="00E5FF"/>
                </a:solidFill>
                <a:latin typeface="Calibri"/>
              </a:rPr>
              <a:t>→  Assessment mode  (Black-Box or Grey-Box)</a:t>
            </a:r>
          </a:p>
        </p:txBody>
      </p:sp>
      <p:sp>
        <p:nvSpPr>
          <p:cNvPr id="50" name="TextBox 49"/>
          <p:cNvSpPr txBox="1"/>
          <p:nvPr/>
        </p:nvSpPr>
        <p:spPr>
          <a:xfrm>
            <a:off x="5943600" y="5486400"/>
            <a:ext cx="4206240" cy="274320"/>
          </a:xfrm>
          <a:prstGeom prst="rect">
            <a:avLst/>
          </a:prstGeom>
          <a:noFill/>
        </p:spPr>
        <p:txBody>
          <a:bodyPr wrap="square">
            <a:spAutoFit/>
          </a:bodyPr>
          <a:lstStyle/>
          <a:p>
            <a:pPr algn="l"/>
            <a:r>
              <a:rPr sz="950" b="0" i="0">
                <a:solidFill>
                  <a:srgbClr val="00E5FF"/>
                </a:solidFill>
                <a:latin typeface="Calibri"/>
              </a:rPr>
              <a:t>→  Grey-Box extras if applicable  (IP ranges, credentials)</a:t>
            </a:r>
          </a:p>
        </p:txBody>
      </p:sp>
      <p:sp>
        <p:nvSpPr>
          <p:cNvPr id="51" name="TextBox 50"/>
          <p:cNvSpPr txBox="1"/>
          <p:nvPr/>
        </p:nvSpPr>
        <p:spPr>
          <a:xfrm>
            <a:off x="5943600" y="5833872"/>
            <a:ext cx="4206240" cy="475488"/>
          </a:xfrm>
          <a:prstGeom prst="rect">
            <a:avLst/>
          </a:prstGeom>
          <a:noFill/>
        </p:spPr>
        <p:txBody>
          <a:bodyPr wrap="square">
            <a:spAutoFit/>
          </a:bodyPr>
          <a:lstStyle/>
          <a:p>
            <a:pPr algn="l"/>
            <a:r>
              <a:rPr sz="950" b="0" i="1">
                <a:solidFill>
                  <a:srgbClr val="A0AAB8"/>
                </a:solidFill>
                <a:latin typeface="Calibri"/>
              </a:rPr>
              <a:t>All subsequent tool calls, reasoning, and reporting are fully autonomous — zero manual commands during the assessment.</a:t>
            </a:r>
          </a:p>
        </p:txBody>
      </p:sp>
      <p:sp>
        <p:nvSpPr>
          <p:cNvPr id="52" name="TextBox 51"/>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00E5FF"/>
                </a:solidFill>
                <a:latin typeface="Calibri"/>
              </a:rPr>
              <a:t>SYSTEM ARCHITECTURE</a:t>
            </a:r>
          </a:p>
        </p:txBody>
      </p:sp>
      <p:sp>
        <p:nvSpPr>
          <p:cNvPr id="6" name="TextBox 5"/>
          <p:cNvSpPr txBox="1"/>
          <p:nvPr/>
        </p:nvSpPr>
        <p:spPr>
          <a:xfrm>
            <a:off x="274320" y="301752"/>
            <a:ext cx="10058400" cy="457200"/>
          </a:xfrm>
          <a:prstGeom prst="rect">
            <a:avLst/>
          </a:prstGeom>
          <a:noFill/>
        </p:spPr>
        <p:txBody>
          <a:bodyPr wrap="square">
            <a:spAutoFit/>
          </a:bodyPr>
          <a:lstStyle/>
          <a:p>
            <a:pPr algn="l"/>
            <a:r>
              <a:rPr sz="2600" b="1" i="0">
                <a:solidFill>
                  <a:srgbClr val="FFFFFF"/>
                </a:solidFill>
                <a:latin typeface="Calibri"/>
              </a:rPr>
              <a:t>CMatrix — Three-Tier Architecture Overview</a:t>
            </a:r>
          </a:p>
        </p:txBody>
      </p:sp>
      <p:sp>
        <p:nvSpPr>
          <p:cNvPr id="7" name="Rectangle 6"/>
          <p:cNvSpPr/>
          <p:nvPr/>
        </p:nvSpPr>
        <p:spPr>
          <a:xfrm>
            <a:off x="164592" y="804672"/>
            <a:ext cx="11862511" cy="1280160"/>
          </a:xfrm>
          <a:prstGeom prst="rect">
            <a:avLst/>
          </a:prstGeom>
          <a:solidFill>
            <a:srgbClr val="06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50392"/>
            <a:ext cx="1463040" cy="201168"/>
          </a:xfrm>
          <a:prstGeom prst="rect">
            <a:avLst/>
          </a:prstGeom>
          <a:noFill/>
        </p:spPr>
        <p:txBody>
          <a:bodyPr wrap="square">
            <a:spAutoFit/>
          </a:bodyPr>
          <a:lstStyle/>
          <a:p>
            <a:pPr algn="l"/>
            <a:r>
              <a:rPr sz="750" b="1" i="0">
                <a:solidFill>
                  <a:srgbClr val="00E5FF"/>
                </a:solidFill>
                <a:latin typeface="Calibri"/>
              </a:rPr>
              <a:t>① ORCHESTRATION</a:t>
            </a:r>
          </a:p>
        </p:txBody>
      </p:sp>
      <p:sp>
        <p:nvSpPr>
          <p:cNvPr id="9" name="Rectangle 8"/>
          <p:cNvSpPr/>
          <p:nvPr/>
        </p:nvSpPr>
        <p:spPr>
          <a:xfrm>
            <a:off x="320040" y="1060704"/>
            <a:ext cx="1554480" cy="877824"/>
          </a:xfrm>
          <a:prstGeom prst="rect">
            <a:avLst/>
          </a:prstGeom>
          <a:solidFill>
            <a:srgbClr val="0C18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554480" cy="219456"/>
          </a:xfrm>
          <a:prstGeom prst="rect">
            <a:avLst/>
          </a:prstGeom>
          <a:noFill/>
        </p:spPr>
        <p:txBody>
          <a:bodyPr wrap="square">
            <a:spAutoFit/>
          </a:bodyPr>
          <a:lstStyle/>
          <a:p>
            <a:pPr algn="ctr"/>
            <a:r>
              <a:rPr sz="900" b="1" i="0">
                <a:solidFill>
                  <a:srgbClr val="A0AAB8"/>
                </a:solidFill>
                <a:latin typeface="Calibri"/>
              </a:rPr>
              <a:t>OPERATOR</a:t>
            </a:r>
          </a:p>
        </p:txBody>
      </p:sp>
      <p:sp>
        <p:nvSpPr>
          <p:cNvPr id="11" name="TextBox 10"/>
          <p:cNvSpPr txBox="1"/>
          <p:nvPr/>
        </p:nvSpPr>
        <p:spPr>
          <a:xfrm>
            <a:off x="320040" y="1371600"/>
            <a:ext cx="1554480" cy="502920"/>
          </a:xfrm>
          <a:prstGeom prst="rect">
            <a:avLst/>
          </a:prstGeom>
          <a:noFill/>
        </p:spPr>
        <p:txBody>
          <a:bodyPr wrap="square">
            <a:spAutoFit/>
          </a:bodyPr>
          <a:lstStyle/>
          <a:p>
            <a:pPr algn="ctr"/>
            <a:r>
              <a:rPr sz="800" b="0" i="1">
                <a:solidFill>
                  <a:srgbClr val="A0AAB8"/>
                </a:solidFill>
                <a:latin typeface="Calibri"/>
              </a:rPr>
              <a:t>Target · Scope · Mode</a:t>
            </a:r>
          </a:p>
        </p:txBody>
      </p:sp>
      <p:cxnSp>
        <p:nvCxnSpPr>
          <p:cNvPr id="12" name="Connector 11"/>
          <p:cNvCxnSpPr/>
          <p:nvPr/>
        </p:nvCxnSpPr>
        <p:spPr>
          <a:xfrm>
            <a:off x="1874520" y="1499616.0"/>
            <a:ext cx="210311"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01952" y="1225296"/>
            <a:ext cx="822960" cy="237744"/>
          </a:xfrm>
          <a:prstGeom prst="rect">
            <a:avLst/>
          </a:prstGeom>
          <a:noFill/>
        </p:spPr>
        <p:txBody>
          <a:bodyPr wrap="square">
            <a:spAutoFit/>
          </a:bodyPr>
          <a:lstStyle/>
          <a:p>
            <a:pPr algn="ctr"/>
            <a:r>
              <a:rPr sz="700" b="0" i="1">
                <a:solidFill>
                  <a:srgbClr val="303848"/>
                </a:solidFill>
                <a:latin typeface="Calibri"/>
              </a:rPr>
              <a:t>mission config</a:t>
            </a:r>
          </a:p>
        </p:txBody>
      </p:sp>
      <p:sp>
        <p:nvSpPr>
          <p:cNvPr id="14" name="Rectangle 13"/>
          <p:cNvSpPr/>
          <p:nvPr/>
        </p:nvSpPr>
        <p:spPr>
          <a:xfrm>
            <a:off x="2084831" y="941832"/>
            <a:ext cx="2834640" cy="1005840"/>
          </a:xfrm>
          <a:prstGeom prst="rect">
            <a:avLst/>
          </a:prstGeom>
          <a:solidFill>
            <a:srgbClr val="04162E"/>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4831" y="941832"/>
            <a:ext cx="28346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84831" y="969264"/>
            <a:ext cx="2834640" cy="219456"/>
          </a:xfrm>
          <a:prstGeom prst="rect">
            <a:avLst/>
          </a:prstGeom>
          <a:noFill/>
        </p:spPr>
        <p:txBody>
          <a:bodyPr wrap="square">
            <a:spAutoFit/>
          </a:bodyPr>
          <a:lstStyle/>
          <a:p>
            <a:pPr algn="ctr"/>
            <a:r>
              <a:rPr sz="950" b="1" i="0">
                <a:solidFill>
                  <a:srgbClr val="0A0D1A"/>
                </a:solidFill>
                <a:latin typeface="Calibri"/>
              </a:rPr>
              <a:t>COMMANDER AGENT</a:t>
            </a:r>
          </a:p>
        </p:txBody>
      </p:sp>
      <p:sp>
        <p:nvSpPr>
          <p:cNvPr id="17" name="TextBox 16"/>
          <p:cNvSpPr txBox="1"/>
          <p:nvPr/>
        </p:nvSpPr>
        <p:spPr>
          <a:xfrm>
            <a:off x="2176271" y="1261872"/>
            <a:ext cx="2697480" cy="164592"/>
          </a:xfrm>
          <a:prstGeom prst="rect">
            <a:avLst/>
          </a:prstGeom>
          <a:noFill/>
        </p:spPr>
        <p:txBody>
          <a:bodyPr wrap="square">
            <a:spAutoFit/>
          </a:bodyPr>
          <a:lstStyle/>
          <a:p>
            <a:pPr algn="l"/>
            <a:r>
              <a:rPr sz="800" b="0" i="0">
                <a:solidFill>
                  <a:srgbClr val="A0AAB8"/>
                </a:solidFill>
                <a:latin typeface="Calibri"/>
              </a:rPr>
              <a:t>• Reads ASG + APG state</a:t>
            </a:r>
          </a:p>
        </p:txBody>
      </p:sp>
      <p:sp>
        <p:nvSpPr>
          <p:cNvPr id="18" name="TextBox 17"/>
          <p:cNvSpPr txBox="1"/>
          <p:nvPr/>
        </p:nvSpPr>
        <p:spPr>
          <a:xfrm>
            <a:off x="2176271" y="1426464"/>
            <a:ext cx="2697480" cy="164592"/>
          </a:xfrm>
          <a:prstGeom prst="rect">
            <a:avLst/>
          </a:prstGeom>
          <a:noFill/>
        </p:spPr>
        <p:txBody>
          <a:bodyPr wrap="square">
            <a:spAutoFit/>
          </a:bodyPr>
          <a:lstStyle/>
          <a:p>
            <a:pPr algn="l"/>
            <a:r>
              <a:rPr sz="800" b="0" i="0">
                <a:solidFill>
                  <a:srgbClr val="A0AAB8"/>
                </a:solidFill>
                <a:latin typeface="Calibri"/>
              </a:rPr>
              <a:t>• Plans &amp; delegates tasks</a:t>
            </a:r>
          </a:p>
        </p:txBody>
      </p:sp>
      <p:sp>
        <p:nvSpPr>
          <p:cNvPr id="19" name="TextBox 18"/>
          <p:cNvSpPr txBox="1"/>
          <p:nvPr/>
        </p:nvSpPr>
        <p:spPr>
          <a:xfrm>
            <a:off x="2176271" y="1591056"/>
            <a:ext cx="2697480" cy="164592"/>
          </a:xfrm>
          <a:prstGeom prst="rect">
            <a:avLst/>
          </a:prstGeom>
          <a:noFill/>
        </p:spPr>
        <p:txBody>
          <a:bodyPr wrap="square">
            <a:spAutoFit/>
          </a:bodyPr>
          <a:lstStyle/>
          <a:p>
            <a:pPr algn="l"/>
            <a:r>
              <a:rPr sz="800" b="0" i="0">
                <a:solidFill>
                  <a:srgbClr val="A0AAB8"/>
                </a:solidFill>
                <a:latin typeface="Calibri"/>
              </a:rPr>
              <a:t>• Seeds APG AttackChains from Vulnerability nodes</a:t>
            </a:r>
          </a:p>
        </p:txBody>
      </p:sp>
      <p:sp>
        <p:nvSpPr>
          <p:cNvPr id="20" name="TextBox 19"/>
          <p:cNvSpPr txBox="1"/>
          <p:nvPr/>
        </p:nvSpPr>
        <p:spPr>
          <a:xfrm>
            <a:off x="2176271" y="1755648"/>
            <a:ext cx="2697480" cy="164592"/>
          </a:xfrm>
          <a:prstGeom prst="rect">
            <a:avLst/>
          </a:prstGeom>
          <a:noFill/>
        </p:spPr>
        <p:txBody>
          <a:bodyPr wrap="square">
            <a:spAutoFit/>
          </a:bodyPr>
          <a:lstStyle/>
          <a:p>
            <a:pPr algn="l"/>
            <a:r>
              <a:rPr sz="800" b="0" i="0">
                <a:solidFill>
                  <a:srgbClr val="A0AAB8"/>
                </a:solidFill>
                <a:latin typeface="Calibri"/>
              </a:rPr>
              <a:t>• Approves High-risk ops</a:t>
            </a:r>
          </a:p>
        </p:txBody>
      </p:sp>
      <p:sp>
        <p:nvSpPr>
          <p:cNvPr id="21" name="TextBox 20"/>
          <p:cNvSpPr txBox="1"/>
          <p:nvPr/>
        </p:nvSpPr>
        <p:spPr>
          <a:xfrm>
            <a:off x="2176271" y="1920240"/>
            <a:ext cx="2697480" cy="164592"/>
          </a:xfrm>
          <a:prstGeom prst="rect">
            <a:avLst/>
          </a:prstGeom>
          <a:noFill/>
        </p:spPr>
        <p:txBody>
          <a:bodyPr wrap="square">
            <a:spAutoFit/>
          </a:bodyPr>
          <a:lstStyle/>
          <a:p>
            <a:pPr algn="l"/>
            <a:r>
              <a:rPr sz="800" b="0" i="0">
                <a:solidFill>
                  <a:srgbClr val="A0AAB8"/>
                </a:solidFill>
                <a:latin typeface="Calibri"/>
              </a:rPr>
              <a:t>• Writes to APG only</a:t>
            </a:r>
          </a:p>
        </p:txBody>
      </p:sp>
      <p:sp>
        <p:nvSpPr>
          <p:cNvPr id="22" name="Rectangle 21"/>
          <p:cNvSpPr/>
          <p:nvPr/>
        </p:nvSpPr>
        <p:spPr>
          <a:xfrm>
            <a:off x="5120640" y="1060704"/>
            <a:ext cx="2103120" cy="877824"/>
          </a:xfrm>
          <a:prstGeom prst="rect">
            <a:avLst/>
          </a:prstGeom>
          <a:solidFill>
            <a:srgbClr val="100C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1115568"/>
            <a:ext cx="2103120" cy="201168"/>
          </a:xfrm>
          <a:prstGeom prst="rect">
            <a:avLst/>
          </a:prstGeom>
          <a:noFill/>
        </p:spPr>
        <p:txBody>
          <a:bodyPr wrap="square">
            <a:spAutoFit/>
          </a:bodyPr>
          <a:lstStyle/>
          <a:p>
            <a:pPr algn="ctr"/>
            <a:r>
              <a:rPr sz="800" b="1" i="0">
                <a:solidFill>
                  <a:srgbClr val="BD93F9"/>
                </a:solidFill>
                <a:latin typeface="Calibri"/>
              </a:rPr>
              <a:t>VAPT PROTOCOL PROMPT</a:t>
            </a:r>
          </a:p>
        </p:txBody>
      </p:sp>
      <p:sp>
        <p:nvSpPr>
          <p:cNvPr id="24" name="TextBox 23"/>
          <p:cNvSpPr txBox="1"/>
          <p:nvPr/>
        </p:nvSpPr>
        <p:spPr>
          <a:xfrm>
            <a:off x="5212080" y="1353312"/>
            <a:ext cx="1965960" cy="530352"/>
          </a:xfrm>
          <a:prstGeom prst="rect">
            <a:avLst/>
          </a:prstGeom>
          <a:noFill/>
        </p:spPr>
        <p:txBody>
          <a:bodyPr wrap="square">
            <a:spAutoFit/>
          </a:bodyPr>
          <a:lstStyle/>
          <a:p>
            <a:pPr algn="l"/>
            <a:r>
              <a:rPr sz="800" b="0" i="0">
                <a:solidFill>
                  <a:srgbClr val="A0AAB8"/>
                </a:solidFill>
                <a:latin typeface="Calibri"/>
              </a:rPr>
              <a:t>Phase rules · Re-plan triggers · Termination conditions · Methodology-as-config (C7)</a:t>
            </a:r>
          </a:p>
        </p:txBody>
      </p:sp>
      <p:cxnSp>
        <p:nvCxnSpPr>
          <p:cNvPr id="25" name="Connector 24"/>
          <p:cNvCxnSpPr/>
          <p:nvPr/>
        </p:nvCxnSpPr>
        <p:spPr>
          <a:xfrm>
            <a:off x="4919471" y="1444752.0"/>
            <a:ext cx="201169" cy="54864.0"/>
          </a:xfrm>
          <a:prstGeom prst="line">
            <a:avLst/>
          </a:prstGeom>
          <a:ln w="12700">
            <a:solidFill>
              <a:srgbClr val="BD93F9"/>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64592" y="2139696"/>
            <a:ext cx="11862511" cy="1682496"/>
          </a:xfrm>
          <a:prstGeom prst="rect">
            <a:avLst/>
          </a:prstGeom>
          <a:solidFill>
            <a:srgbClr val="05140A"/>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 y="2185416"/>
            <a:ext cx="2377440" cy="201168"/>
          </a:xfrm>
          <a:prstGeom prst="rect">
            <a:avLst/>
          </a:prstGeom>
          <a:noFill/>
        </p:spPr>
        <p:txBody>
          <a:bodyPr wrap="square">
            <a:spAutoFit/>
          </a:bodyPr>
          <a:lstStyle/>
          <a:p>
            <a:pPr algn="l"/>
            <a:r>
              <a:rPr sz="750" b="1" i="0">
                <a:solidFill>
                  <a:srgbClr val="39FF14"/>
                </a:solidFill>
                <a:latin typeface="Calibri"/>
              </a:rPr>
              <a:t>② DUAL-GRAPH WORLD MODEL</a:t>
            </a:r>
          </a:p>
        </p:txBody>
      </p:sp>
      <p:sp>
        <p:nvSpPr>
          <p:cNvPr id="28" name="Rectangle 27"/>
          <p:cNvSpPr/>
          <p:nvPr/>
        </p:nvSpPr>
        <p:spPr>
          <a:xfrm>
            <a:off x="320040" y="2414016"/>
            <a:ext cx="4297680" cy="1298448"/>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414016"/>
            <a:ext cx="429768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2450592"/>
            <a:ext cx="4297680" cy="219456"/>
          </a:xfrm>
          <a:prstGeom prst="rect">
            <a:avLst/>
          </a:prstGeom>
          <a:noFill/>
        </p:spPr>
        <p:txBody>
          <a:bodyPr wrap="square">
            <a:spAutoFit/>
          </a:bodyPr>
          <a:lstStyle/>
          <a:p>
            <a:pPr algn="ctr"/>
            <a:r>
              <a:rPr sz="950" b="1" i="0">
                <a:solidFill>
                  <a:srgbClr val="0A0D1A"/>
                </a:solidFill>
                <a:latin typeface="Calibri"/>
              </a:rPr>
              <a:t>ATTACK SURFACE GRAPH  (ASG)</a:t>
            </a:r>
          </a:p>
        </p:txBody>
      </p:sp>
      <p:sp>
        <p:nvSpPr>
          <p:cNvPr id="31" name="Rectangle 30"/>
          <p:cNvSpPr/>
          <p:nvPr/>
        </p:nvSpPr>
        <p:spPr>
          <a:xfrm>
            <a:off x="457200"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2761488"/>
            <a:ext cx="749808" cy="201168"/>
          </a:xfrm>
          <a:prstGeom prst="rect">
            <a:avLst/>
          </a:prstGeom>
          <a:noFill/>
        </p:spPr>
        <p:txBody>
          <a:bodyPr wrap="square">
            <a:spAutoFit/>
          </a:bodyPr>
          <a:lstStyle/>
          <a:p>
            <a:pPr algn="ctr"/>
            <a:r>
              <a:rPr sz="750" b="1" i="0">
                <a:solidFill>
                  <a:srgbClr val="39FF14"/>
                </a:solidFill>
                <a:latin typeface="Calibri"/>
              </a:rPr>
              <a:t>Domain</a:t>
            </a:r>
          </a:p>
        </p:txBody>
      </p:sp>
      <p:sp>
        <p:nvSpPr>
          <p:cNvPr id="33" name="Rectangle 32"/>
          <p:cNvSpPr/>
          <p:nvPr/>
        </p:nvSpPr>
        <p:spPr>
          <a:xfrm>
            <a:off x="1261872"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1872" y="2761488"/>
            <a:ext cx="749808" cy="201168"/>
          </a:xfrm>
          <a:prstGeom prst="rect">
            <a:avLst/>
          </a:prstGeom>
          <a:noFill/>
        </p:spPr>
        <p:txBody>
          <a:bodyPr wrap="square">
            <a:spAutoFit/>
          </a:bodyPr>
          <a:lstStyle/>
          <a:p>
            <a:pPr algn="ctr"/>
            <a:r>
              <a:rPr sz="750" b="1" i="0">
                <a:solidFill>
                  <a:srgbClr val="39FF14"/>
                </a:solidFill>
                <a:latin typeface="Calibri"/>
              </a:rPr>
              <a:t>Host</a:t>
            </a:r>
          </a:p>
        </p:txBody>
      </p:sp>
      <p:sp>
        <p:nvSpPr>
          <p:cNvPr id="35" name="Rectangle 34"/>
          <p:cNvSpPr/>
          <p:nvPr/>
        </p:nvSpPr>
        <p:spPr>
          <a:xfrm>
            <a:off x="2066544"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66544" y="2761488"/>
            <a:ext cx="749808" cy="201168"/>
          </a:xfrm>
          <a:prstGeom prst="rect">
            <a:avLst/>
          </a:prstGeom>
          <a:noFill/>
        </p:spPr>
        <p:txBody>
          <a:bodyPr wrap="square">
            <a:spAutoFit/>
          </a:bodyPr>
          <a:lstStyle/>
          <a:p>
            <a:pPr algn="ctr"/>
            <a:r>
              <a:rPr sz="750" b="1" i="0">
                <a:solidFill>
                  <a:srgbClr val="39FF14"/>
                </a:solidFill>
                <a:latin typeface="Calibri"/>
              </a:rPr>
              <a:t>Port</a:t>
            </a:r>
          </a:p>
        </p:txBody>
      </p:sp>
      <p:sp>
        <p:nvSpPr>
          <p:cNvPr id="37" name="Rectangle 36"/>
          <p:cNvSpPr/>
          <p:nvPr/>
        </p:nvSpPr>
        <p:spPr>
          <a:xfrm>
            <a:off x="2871216"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71216" y="2761488"/>
            <a:ext cx="749808" cy="201168"/>
          </a:xfrm>
          <a:prstGeom prst="rect">
            <a:avLst/>
          </a:prstGeom>
          <a:noFill/>
        </p:spPr>
        <p:txBody>
          <a:bodyPr wrap="square">
            <a:spAutoFit/>
          </a:bodyPr>
          <a:lstStyle/>
          <a:p>
            <a:pPr algn="ctr"/>
            <a:r>
              <a:rPr sz="750" b="1" i="0">
                <a:solidFill>
                  <a:srgbClr val="39FF14"/>
                </a:solidFill>
                <a:latin typeface="Calibri"/>
              </a:rPr>
              <a:t>Service</a:t>
            </a:r>
          </a:p>
        </p:txBody>
      </p:sp>
      <p:sp>
        <p:nvSpPr>
          <p:cNvPr id="39" name="Rectangle 38"/>
          <p:cNvSpPr/>
          <p:nvPr/>
        </p:nvSpPr>
        <p:spPr>
          <a:xfrm>
            <a:off x="3675888"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5888" y="2761488"/>
            <a:ext cx="749808" cy="201168"/>
          </a:xfrm>
          <a:prstGeom prst="rect">
            <a:avLst/>
          </a:prstGeom>
          <a:noFill/>
        </p:spPr>
        <p:txBody>
          <a:bodyPr wrap="square">
            <a:spAutoFit/>
          </a:bodyPr>
          <a:lstStyle/>
          <a:p>
            <a:pPr algn="ctr"/>
            <a:r>
              <a:rPr sz="750" b="1" i="0">
                <a:solidFill>
                  <a:srgbClr val="39FF14"/>
                </a:solidFill>
                <a:latin typeface="Calibri"/>
              </a:rPr>
              <a:t>Technology</a:t>
            </a:r>
          </a:p>
        </p:txBody>
      </p:sp>
      <p:sp>
        <p:nvSpPr>
          <p:cNvPr id="41" name="Rectangle 40"/>
          <p:cNvSpPr/>
          <p:nvPr/>
        </p:nvSpPr>
        <p:spPr>
          <a:xfrm>
            <a:off x="45720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035808"/>
            <a:ext cx="950976" cy="201168"/>
          </a:xfrm>
          <a:prstGeom prst="rect">
            <a:avLst/>
          </a:prstGeom>
          <a:noFill/>
        </p:spPr>
        <p:txBody>
          <a:bodyPr wrap="square">
            <a:spAutoFit/>
          </a:bodyPr>
          <a:lstStyle/>
          <a:p>
            <a:pPr algn="ctr"/>
            <a:r>
              <a:rPr sz="750" b="1" i="0">
                <a:solidFill>
                  <a:srgbClr val="39FF14"/>
                </a:solidFill>
                <a:latin typeface="Calibri"/>
              </a:rPr>
              <a:t>Endpoint</a:t>
            </a:r>
          </a:p>
        </p:txBody>
      </p:sp>
      <p:sp>
        <p:nvSpPr>
          <p:cNvPr id="43" name="Rectangle 42"/>
          <p:cNvSpPr/>
          <p:nvPr/>
        </p:nvSpPr>
        <p:spPr>
          <a:xfrm>
            <a:off x="146304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63040" y="3035808"/>
            <a:ext cx="950976" cy="201168"/>
          </a:xfrm>
          <a:prstGeom prst="rect">
            <a:avLst/>
          </a:prstGeom>
          <a:noFill/>
        </p:spPr>
        <p:txBody>
          <a:bodyPr wrap="square">
            <a:spAutoFit/>
          </a:bodyPr>
          <a:lstStyle/>
          <a:p>
            <a:pPr algn="ctr"/>
            <a:r>
              <a:rPr sz="750" b="1" i="0">
                <a:solidFill>
                  <a:srgbClr val="39FF14"/>
                </a:solidFill>
                <a:latin typeface="Calibri"/>
              </a:rPr>
              <a:t>Parameter</a:t>
            </a:r>
          </a:p>
        </p:txBody>
      </p:sp>
      <p:sp>
        <p:nvSpPr>
          <p:cNvPr id="45" name="Rectangle 44"/>
          <p:cNvSpPr/>
          <p:nvPr/>
        </p:nvSpPr>
        <p:spPr>
          <a:xfrm>
            <a:off x="246888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468880" y="3035808"/>
            <a:ext cx="950976" cy="201168"/>
          </a:xfrm>
          <a:prstGeom prst="rect">
            <a:avLst/>
          </a:prstGeom>
          <a:noFill/>
        </p:spPr>
        <p:txBody>
          <a:bodyPr wrap="square">
            <a:spAutoFit/>
          </a:bodyPr>
          <a:lstStyle/>
          <a:p>
            <a:pPr algn="ctr"/>
            <a:r>
              <a:rPr sz="750" b="1" i="0">
                <a:solidFill>
                  <a:srgbClr val="39FF14"/>
                </a:solidFill>
                <a:latin typeface="Calibri"/>
              </a:rPr>
              <a:t>Vulnerability</a:t>
            </a:r>
          </a:p>
        </p:txBody>
      </p:sp>
      <p:sp>
        <p:nvSpPr>
          <p:cNvPr id="47" name="Rectangle 46"/>
          <p:cNvSpPr/>
          <p:nvPr/>
        </p:nvSpPr>
        <p:spPr>
          <a:xfrm>
            <a:off x="347472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720" y="3035808"/>
            <a:ext cx="950976" cy="201168"/>
          </a:xfrm>
          <a:prstGeom prst="rect">
            <a:avLst/>
          </a:prstGeom>
          <a:noFill/>
        </p:spPr>
        <p:txBody>
          <a:bodyPr wrap="square">
            <a:spAutoFit/>
          </a:bodyPr>
          <a:lstStyle/>
          <a:p>
            <a:pPr algn="ctr"/>
            <a:r>
              <a:rPr sz="750" b="1" i="0">
                <a:solidFill>
                  <a:srgbClr val="39FF14"/>
                </a:solidFill>
                <a:latin typeface="Calibri"/>
              </a:rPr>
              <a:t>Evidence</a:t>
            </a:r>
          </a:p>
        </p:txBody>
      </p:sp>
      <p:sp>
        <p:nvSpPr>
          <p:cNvPr id="49" name="TextBox 48"/>
          <p:cNvSpPr txBox="1"/>
          <p:nvPr/>
        </p:nvSpPr>
        <p:spPr>
          <a:xfrm>
            <a:off x="429768" y="3300984"/>
            <a:ext cx="4114800" cy="347472"/>
          </a:xfrm>
          <a:prstGeom prst="rect">
            <a:avLst/>
          </a:prstGeom>
          <a:noFill/>
        </p:spPr>
        <p:txBody>
          <a:bodyPr wrap="square">
            <a:spAutoFit/>
          </a:bodyPr>
          <a:lstStyle/>
          <a:p>
            <a:pPr algn="l"/>
            <a:r>
              <a:rPr sz="800" b="0" i="1">
                <a:solidFill>
                  <a:srgbClr val="60C070"/>
                </a:solidFill>
                <a:latin typeface="Calibri"/>
              </a:rPr>
              <a:t>Discovered Reality — confirmed facts only. Never contains hypotheses.</a:t>
            </a:r>
          </a:p>
        </p:txBody>
      </p:sp>
      <p:sp>
        <p:nvSpPr>
          <p:cNvPr id="50" name="Rectangle 49"/>
          <p:cNvSpPr/>
          <p:nvPr/>
        </p:nvSpPr>
        <p:spPr>
          <a:xfrm>
            <a:off x="7589520" y="2414016"/>
            <a:ext cx="4389120" cy="1298448"/>
          </a:xfrm>
          <a:prstGeom prst="rect">
            <a:avLst/>
          </a:prstGeom>
          <a:solidFill>
            <a:srgbClr val="1E1004"/>
          </a:solidFill>
          <a:ln w="228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89520" y="2414016"/>
            <a:ext cx="43891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0" y="2450592"/>
            <a:ext cx="4389120" cy="219456"/>
          </a:xfrm>
          <a:prstGeom prst="rect">
            <a:avLst/>
          </a:prstGeom>
          <a:noFill/>
        </p:spPr>
        <p:txBody>
          <a:bodyPr wrap="square">
            <a:spAutoFit/>
          </a:bodyPr>
          <a:lstStyle/>
          <a:p>
            <a:pPr algn="ctr"/>
            <a:r>
              <a:rPr sz="950" b="1" i="0">
                <a:solidFill>
                  <a:srgbClr val="0A0D1A"/>
                </a:solidFill>
                <a:latin typeface="Calibri"/>
              </a:rPr>
              <a:t>ATTACK PATH GRAPH  (APG)</a:t>
            </a:r>
          </a:p>
        </p:txBody>
      </p:sp>
      <p:sp>
        <p:nvSpPr>
          <p:cNvPr id="53" name="Rectangle 52"/>
          <p:cNvSpPr/>
          <p:nvPr/>
        </p:nvSpPr>
        <p:spPr>
          <a:xfrm>
            <a:off x="77266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6680" y="2761488"/>
            <a:ext cx="1280160" cy="201168"/>
          </a:xfrm>
          <a:prstGeom prst="rect">
            <a:avLst/>
          </a:prstGeom>
          <a:noFill/>
        </p:spPr>
        <p:txBody>
          <a:bodyPr wrap="square">
            <a:spAutoFit/>
          </a:bodyPr>
          <a:lstStyle/>
          <a:p>
            <a:pPr algn="ctr"/>
            <a:r>
              <a:rPr sz="750" b="1" i="0">
                <a:solidFill>
                  <a:srgbClr val="FFD700"/>
                </a:solidFill>
                <a:latin typeface="Calibri"/>
              </a:rPr>
              <a:t>AttackChain</a:t>
            </a:r>
          </a:p>
        </p:txBody>
      </p:sp>
      <p:sp>
        <p:nvSpPr>
          <p:cNvPr id="55" name="Rectangle 54"/>
          <p:cNvSpPr/>
          <p:nvPr/>
        </p:nvSpPr>
        <p:spPr>
          <a:xfrm>
            <a:off x="90982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2761488"/>
            <a:ext cx="1280160" cy="201168"/>
          </a:xfrm>
          <a:prstGeom prst="rect">
            <a:avLst/>
          </a:prstGeom>
          <a:noFill/>
        </p:spPr>
        <p:txBody>
          <a:bodyPr wrap="square">
            <a:spAutoFit/>
          </a:bodyPr>
          <a:lstStyle/>
          <a:p>
            <a:pPr algn="ctr"/>
            <a:r>
              <a:rPr sz="750" b="1" i="0">
                <a:solidFill>
                  <a:srgbClr val="FFD700"/>
                </a:solidFill>
                <a:latin typeface="Calibri"/>
              </a:rPr>
              <a:t>ChainStep</a:t>
            </a:r>
          </a:p>
        </p:txBody>
      </p:sp>
      <p:sp>
        <p:nvSpPr>
          <p:cNvPr id="57" name="Rectangle 56"/>
          <p:cNvSpPr/>
          <p:nvPr/>
        </p:nvSpPr>
        <p:spPr>
          <a:xfrm>
            <a:off x="104698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69880" y="2761488"/>
            <a:ext cx="1280160" cy="201168"/>
          </a:xfrm>
          <a:prstGeom prst="rect">
            <a:avLst/>
          </a:prstGeom>
          <a:noFill/>
        </p:spPr>
        <p:txBody>
          <a:bodyPr wrap="square">
            <a:spAutoFit/>
          </a:bodyPr>
          <a:lstStyle/>
          <a:p>
            <a:pPr algn="ctr"/>
            <a:r>
              <a:rPr sz="750" b="1" i="0">
                <a:solidFill>
                  <a:srgbClr val="FFD700"/>
                </a:solidFill>
                <a:latin typeface="Calibri"/>
              </a:rPr>
              <a:t>Impact</a:t>
            </a:r>
          </a:p>
        </p:txBody>
      </p:sp>
      <p:sp>
        <p:nvSpPr>
          <p:cNvPr id="59" name="TextBox 58"/>
          <p:cNvSpPr txBox="1"/>
          <p:nvPr/>
        </p:nvSpPr>
        <p:spPr>
          <a:xfrm>
            <a:off x="7699248" y="3035808"/>
            <a:ext cx="4206240" cy="201168"/>
          </a:xfrm>
          <a:prstGeom prst="rect">
            <a:avLst/>
          </a:prstGeom>
          <a:noFill/>
        </p:spPr>
        <p:txBody>
          <a:bodyPr wrap="square">
            <a:spAutoFit/>
          </a:bodyPr>
          <a:lstStyle/>
          <a:p>
            <a:pPr algn="l"/>
            <a:r>
              <a:rPr sz="800" b="0" i="0">
                <a:solidFill>
                  <a:srgbClr val="A0AAB8"/>
                </a:solidFill>
                <a:latin typeface="Calibri"/>
              </a:rPr>
              <a:t>risk_score  ·  validation_status  ·  priority</a:t>
            </a:r>
          </a:p>
        </p:txBody>
      </p:sp>
      <p:sp>
        <p:nvSpPr>
          <p:cNvPr id="60" name="TextBox 59"/>
          <p:cNvSpPr txBox="1"/>
          <p:nvPr/>
        </p:nvSpPr>
        <p:spPr>
          <a:xfrm>
            <a:off x="7699248" y="3282696"/>
            <a:ext cx="4206240" cy="347472"/>
          </a:xfrm>
          <a:prstGeom prst="rect">
            <a:avLst/>
          </a:prstGeom>
          <a:noFill/>
        </p:spPr>
        <p:txBody>
          <a:bodyPr wrap="square">
            <a:spAutoFit/>
          </a:bodyPr>
          <a:lstStyle/>
          <a:p>
            <a:pPr algn="l"/>
            <a:r>
              <a:rPr sz="800" b="0" i="1">
                <a:solidFill>
                  <a:srgbClr val="C09020"/>
                </a:solidFill>
                <a:latin typeface="Calibri"/>
              </a:rPr>
              <a:t>Inferred Opportunity — attack reasoning only. Never contains raw scan data.</a:t>
            </a:r>
          </a:p>
        </p:txBody>
      </p:sp>
      <p:sp>
        <p:nvSpPr>
          <p:cNvPr id="61" name="Rectangle 60"/>
          <p:cNvSpPr/>
          <p:nvPr/>
        </p:nvSpPr>
        <p:spPr>
          <a:xfrm>
            <a:off x="4617720" y="2414016"/>
            <a:ext cx="2971800" cy="1298448"/>
          </a:xfrm>
          <a:prstGeom prst="rect">
            <a:avLst/>
          </a:prstGeom>
          <a:solidFill>
            <a:srgbClr val="061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54296" y="2706624"/>
            <a:ext cx="2935224" cy="502920"/>
          </a:xfrm>
          <a:prstGeom prst="rect">
            <a:avLst/>
          </a:prstGeom>
          <a:noFill/>
        </p:spPr>
        <p:txBody>
          <a:bodyPr wrap="square">
            <a:spAutoFit/>
          </a:bodyPr>
          <a:lstStyle/>
          <a:p>
            <a:pPr algn="ctr"/>
            <a:r>
              <a:rPr sz="700" b="1" i="0">
                <a:solidFill>
                  <a:srgbClr val="A0AAB8"/>
                </a:solidFill>
                <a:latin typeface="Calibri"/>
              </a:rPr>
              <a:t>STRICT SEPARATION</a:t>
            </a:r>
          </a:p>
        </p:txBody>
      </p:sp>
      <p:sp>
        <p:nvSpPr>
          <p:cNvPr id="63" name="Rectangle 62"/>
          <p:cNvSpPr/>
          <p:nvPr/>
        </p:nvSpPr>
        <p:spPr>
          <a:xfrm>
            <a:off x="6094476" y="2414016"/>
            <a:ext cx="18288" cy="129844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2468880.0" y="3712464"/>
            <a:ext cx="0.0" cy="201168"/>
          </a:xfrm>
          <a:prstGeom prst="line">
            <a:avLst/>
          </a:prstGeom>
          <a:ln w="101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609344.0" y="2084832"/>
            <a:ext cx="1892807.0" cy="5486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4069079.0" y="2084832"/>
            <a:ext cx="5715001.0" cy="54864"/>
          </a:xfrm>
          <a:prstGeom prst="line">
            <a:avLst/>
          </a:prstGeom>
          <a:ln w="127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64592" y="3877056"/>
            <a:ext cx="11862511" cy="2724912"/>
          </a:xfrm>
          <a:prstGeom prst="rect">
            <a:avLst/>
          </a:prstGeom>
          <a:solidFill>
            <a:srgbClr val="0A081C"/>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1168" y="3913632"/>
            <a:ext cx="4572000" cy="201168"/>
          </a:xfrm>
          <a:prstGeom prst="rect">
            <a:avLst/>
          </a:prstGeom>
          <a:noFill/>
        </p:spPr>
        <p:txBody>
          <a:bodyPr wrap="square">
            <a:spAutoFit/>
          </a:bodyPr>
          <a:lstStyle/>
          <a:p>
            <a:pPr algn="l"/>
            <a:r>
              <a:rPr sz="750" b="1" i="0">
                <a:solidFill>
                  <a:srgbClr val="BD93F9"/>
                </a:solidFill>
                <a:latin typeface="Calibri"/>
              </a:rPr>
              <a:t>③ SPECIALIZED AGENTS  +  TOOL ADAPTER LAYER</a:t>
            </a:r>
          </a:p>
        </p:txBody>
      </p:sp>
      <p:sp>
        <p:nvSpPr>
          <p:cNvPr id="69" name="Rectangle 68"/>
          <p:cNvSpPr/>
          <p:nvPr/>
        </p:nvSpPr>
        <p:spPr>
          <a:xfrm>
            <a:off x="320040" y="4133088"/>
            <a:ext cx="1287780" cy="2404872"/>
          </a:xfrm>
          <a:prstGeom prst="rect">
            <a:avLst/>
          </a:prstGeom>
          <a:solidFill>
            <a:srgbClr val="0C0E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20040" y="4133088"/>
            <a:ext cx="128778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0040" y="4151376"/>
            <a:ext cx="1287780" cy="201168"/>
          </a:xfrm>
          <a:prstGeom prst="rect">
            <a:avLst/>
          </a:prstGeom>
          <a:noFill/>
        </p:spPr>
        <p:txBody>
          <a:bodyPr wrap="square">
            <a:spAutoFit/>
          </a:bodyPr>
          <a:lstStyle/>
          <a:p>
            <a:pPr algn="ctr"/>
            <a:r>
              <a:rPr sz="750" b="1" i="0">
                <a:solidFill>
                  <a:srgbClr val="0A0D1A"/>
                </a:solidFill>
                <a:latin typeface="Calibri"/>
              </a:rPr>
              <a:t>Recon</a:t>
            </a:r>
          </a:p>
        </p:txBody>
      </p:sp>
      <p:sp>
        <p:nvSpPr>
          <p:cNvPr id="72" name="TextBox 71"/>
          <p:cNvSpPr txBox="1"/>
          <p:nvPr/>
        </p:nvSpPr>
        <p:spPr>
          <a:xfrm>
            <a:off x="374904" y="4407408"/>
            <a:ext cx="1196340" cy="2130552"/>
          </a:xfrm>
          <a:prstGeom prst="rect">
            <a:avLst/>
          </a:prstGeom>
          <a:noFill/>
        </p:spPr>
        <p:txBody>
          <a:bodyPr wrap="square">
            <a:spAutoFit/>
          </a:bodyPr>
          <a:lstStyle/>
          <a:p>
            <a:pPr algn="l"/>
            <a:r>
              <a:rPr sz="700" b="0" i="0">
                <a:solidFill>
                  <a:srgbClr val="39FF14"/>
                </a:solidFill>
                <a:latin typeface="Calibri"/>
              </a:rPr>
              <a:t>Amass · httpx · Nmap</a:t>
            </a:r>
          </a:p>
        </p:txBody>
      </p:sp>
      <p:cxnSp>
        <p:nvCxnSpPr>
          <p:cNvPr id="73" name="Connector 72"/>
          <p:cNvCxnSpPr/>
          <p:nvPr/>
        </p:nvCxnSpPr>
        <p:spPr>
          <a:xfrm flipH="1">
            <a:off x="963930.0" y="2130552"/>
            <a:ext cx="2254757.0" cy="2002536"/>
          </a:xfrm>
          <a:prstGeom prst="line">
            <a:avLst/>
          </a:prstGeom>
          <a:ln w="63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63930.0" y="3822192"/>
            <a:ext cx="215646.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662684" y="4133088"/>
            <a:ext cx="1287780" cy="2404872"/>
          </a:xfrm>
          <a:prstGeom prst="rect">
            <a:avLst/>
          </a:prstGeom>
          <a:solidFill>
            <a:srgbClr val="0C0E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662684" y="4133088"/>
            <a:ext cx="128778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662684" y="4151376"/>
            <a:ext cx="1287780" cy="201168"/>
          </a:xfrm>
          <a:prstGeom prst="rect">
            <a:avLst/>
          </a:prstGeom>
          <a:noFill/>
        </p:spPr>
        <p:txBody>
          <a:bodyPr wrap="square">
            <a:spAutoFit/>
          </a:bodyPr>
          <a:lstStyle/>
          <a:p>
            <a:pPr algn="ctr"/>
            <a:r>
              <a:rPr sz="750" b="1" i="0">
                <a:solidFill>
                  <a:srgbClr val="0A0D1A"/>
                </a:solidFill>
                <a:latin typeface="Calibri"/>
              </a:rPr>
              <a:t>Analysis</a:t>
            </a:r>
          </a:p>
        </p:txBody>
      </p:sp>
      <p:sp>
        <p:nvSpPr>
          <p:cNvPr id="78" name="TextBox 77"/>
          <p:cNvSpPr txBox="1"/>
          <p:nvPr/>
        </p:nvSpPr>
        <p:spPr>
          <a:xfrm>
            <a:off x="1717548" y="4407408"/>
            <a:ext cx="1196340" cy="2130552"/>
          </a:xfrm>
          <a:prstGeom prst="rect">
            <a:avLst/>
          </a:prstGeom>
          <a:noFill/>
        </p:spPr>
        <p:txBody>
          <a:bodyPr wrap="square">
            <a:spAutoFit/>
          </a:bodyPr>
          <a:lstStyle/>
          <a:p>
            <a:pPr algn="l"/>
            <a:r>
              <a:rPr sz="700" b="0" i="0">
                <a:solidFill>
                  <a:srgbClr val="00E5FF"/>
                </a:solidFill>
                <a:latin typeface="Calibri"/>
              </a:rPr>
              <a:t>WhatWeb · Gobuster · ffuf · Nuclei · ZAP</a:t>
            </a:r>
          </a:p>
        </p:txBody>
      </p:sp>
      <p:cxnSp>
        <p:nvCxnSpPr>
          <p:cNvPr id="79" name="Connector 78"/>
          <p:cNvCxnSpPr/>
          <p:nvPr/>
        </p:nvCxnSpPr>
        <p:spPr>
          <a:xfrm flipH="1">
            <a:off x="2306574.0" y="2130552"/>
            <a:ext cx="1195577.0" cy="2002536"/>
          </a:xfrm>
          <a:prstGeom prst="line">
            <a:avLst/>
          </a:prstGeom>
          <a:ln w="63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523390.4" y="3822192"/>
            <a:ext cx="783183.6000000001"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05328" y="4133088"/>
            <a:ext cx="1287780" cy="2404872"/>
          </a:xfrm>
          <a:prstGeom prst="rect">
            <a:avLst/>
          </a:prstGeom>
          <a:solidFill>
            <a:srgbClr val="0C0E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005328" y="4133088"/>
            <a:ext cx="128778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05328" y="4151376"/>
            <a:ext cx="1287780" cy="201168"/>
          </a:xfrm>
          <a:prstGeom prst="rect">
            <a:avLst/>
          </a:prstGeom>
          <a:noFill/>
        </p:spPr>
        <p:txBody>
          <a:bodyPr wrap="square">
            <a:spAutoFit/>
          </a:bodyPr>
          <a:lstStyle/>
          <a:p>
            <a:pPr algn="ctr"/>
            <a:r>
              <a:rPr sz="750" b="1" i="0">
                <a:solidFill>
                  <a:srgbClr val="0A0D1A"/>
                </a:solidFill>
                <a:latin typeface="Calibri"/>
              </a:rPr>
              <a:t>Research</a:t>
            </a:r>
          </a:p>
        </p:txBody>
      </p:sp>
      <p:sp>
        <p:nvSpPr>
          <p:cNvPr id="84" name="TextBox 83"/>
          <p:cNvSpPr txBox="1"/>
          <p:nvPr/>
        </p:nvSpPr>
        <p:spPr>
          <a:xfrm>
            <a:off x="3060192" y="4407408"/>
            <a:ext cx="1196340" cy="2130552"/>
          </a:xfrm>
          <a:prstGeom prst="rect">
            <a:avLst/>
          </a:prstGeom>
          <a:noFill/>
        </p:spPr>
        <p:txBody>
          <a:bodyPr wrap="square">
            <a:spAutoFit/>
          </a:bodyPr>
          <a:lstStyle/>
          <a:p>
            <a:pPr algn="l"/>
            <a:r>
              <a:rPr sz="700" b="0" i="0">
                <a:solidFill>
                  <a:srgbClr val="FFD700"/>
                </a:solidFill>
                <a:latin typeface="Calibri"/>
              </a:rPr>
              <a:t>NVD · Exploit-DB · GitHub</a:t>
            </a:r>
          </a:p>
        </p:txBody>
      </p:sp>
      <p:cxnSp>
        <p:nvCxnSpPr>
          <p:cNvPr id="85" name="Connector 84"/>
          <p:cNvCxnSpPr/>
          <p:nvPr/>
        </p:nvCxnSpPr>
        <p:spPr>
          <a:xfrm flipH="1">
            <a:off x="3649218.0" y="2130552"/>
            <a:ext cx="136397.0" cy="2002536"/>
          </a:xfrm>
          <a:prstGeom prst="line">
            <a:avLst/>
          </a:prstGeom>
          <a:ln w="63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867204.8" y="3822192"/>
            <a:ext cx="1782013.2"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347972" y="4133088"/>
            <a:ext cx="1287780" cy="2404872"/>
          </a:xfrm>
          <a:prstGeom prst="rect">
            <a:avLst/>
          </a:prstGeom>
          <a:solidFill>
            <a:srgbClr val="0C0E22"/>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347972" y="4133088"/>
            <a:ext cx="128778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347972" y="4151376"/>
            <a:ext cx="1287780" cy="201168"/>
          </a:xfrm>
          <a:prstGeom prst="rect">
            <a:avLst/>
          </a:prstGeom>
          <a:noFill/>
        </p:spPr>
        <p:txBody>
          <a:bodyPr wrap="square">
            <a:spAutoFit/>
          </a:bodyPr>
          <a:lstStyle/>
          <a:p>
            <a:pPr algn="ctr"/>
            <a:r>
              <a:rPr sz="750" b="1" i="0">
                <a:solidFill>
                  <a:srgbClr val="0A0D1A"/>
                </a:solidFill>
                <a:latin typeface="Calibri"/>
              </a:rPr>
              <a:t>Validation</a:t>
            </a:r>
          </a:p>
        </p:txBody>
      </p:sp>
      <p:sp>
        <p:nvSpPr>
          <p:cNvPr id="90" name="TextBox 89"/>
          <p:cNvSpPr txBox="1"/>
          <p:nvPr/>
        </p:nvSpPr>
        <p:spPr>
          <a:xfrm>
            <a:off x="4402836" y="4407408"/>
            <a:ext cx="1196340" cy="2130552"/>
          </a:xfrm>
          <a:prstGeom prst="rect">
            <a:avLst/>
          </a:prstGeom>
          <a:noFill/>
        </p:spPr>
        <p:txBody>
          <a:bodyPr wrap="square">
            <a:spAutoFit/>
          </a:bodyPr>
          <a:lstStyle/>
          <a:p>
            <a:pPr algn="l"/>
            <a:r>
              <a:rPr sz="700" b="0" i="0">
                <a:solidFill>
                  <a:srgbClr val="FF4545"/>
                </a:solidFill>
                <a:latin typeface="Calibri"/>
              </a:rPr>
              <a:t>SQLMap · Metasploit</a:t>
            </a:r>
          </a:p>
        </p:txBody>
      </p:sp>
      <p:cxnSp>
        <p:nvCxnSpPr>
          <p:cNvPr id="91" name="Connector 90"/>
          <p:cNvCxnSpPr/>
          <p:nvPr/>
        </p:nvCxnSpPr>
        <p:spPr>
          <a:xfrm>
            <a:off x="4069079.0" y="2130552"/>
            <a:ext cx="922783.0" cy="2002536"/>
          </a:xfrm>
          <a:prstGeom prst="line">
            <a:avLst/>
          </a:prstGeom>
          <a:ln w="635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2211019.2" y="3822192"/>
            <a:ext cx="2780842.8"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5690616" y="4133088"/>
            <a:ext cx="1287780" cy="2404872"/>
          </a:xfrm>
          <a:prstGeom prst="rect">
            <a:avLst/>
          </a:prstGeom>
          <a:solidFill>
            <a:srgbClr val="0C0E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690616" y="4133088"/>
            <a:ext cx="128778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690616" y="4151376"/>
            <a:ext cx="1287780" cy="201168"/>
          </a:xfrm>
          <a:prstGeom prst="rect">
            <a:avLst/>
          </a:prstGeom>
          <a:noFill/>
        </p:spPr>
        <p:txBody>
          <a:bodyPr wrap="square">
            <a:spAutoFit/>
          </a:bodyPr>
          <a:lstStyle/>
          <a:p>
            <a:pPr algn="ctr"/>
            <a:r>
              <a:rPr sz="750" b="1" i="0">
                <a:solidFill>
                  <a:srgbClr val="0A0D1A"/>
                </a:solidFill>
                <a:latin typeface="Calibri"/>
              </a:rPr>
              <a:t>Evidence</a:t>
            </a:r>
          </a:p>
        </p:txBody>
      </p:sp>
      <p:sp>
        <p:nvSpPr>
          <p:cNvPr id="96" name="TextBox 95"/>
          <p:cNvSpPr txBox="1"/>
          <p:nvPr/>
        </p:nvSpPr>
        <p:spPr>
          <a:xfrm>
            <a:off x="5745480" y="4407408"/>
            <a:ext cx="1196340" cy="2130552"/>
          </a:xfrm>
          <a:prstGeom prst="rect">
            <a:avLst/>
          </a:prstGeom>
          <a:noFill/>
        </p:spPr>
        <p:txBody>
          <a:bodyPr wrap="square">
            <a:spAutoFit/>
          </a:bodyPr>
          <a:lstStyle/>
          <a:p>
            <a:pPr algn="l"/>
            <a:r>
              <a:rPr sz="700" b="0" i="0">
                <a:solidFill>
                  <a:srgbClr val="BD93F9"/>
                </a:solidFill>
                <a:latin typeface="Calibri"/>
              </a:rPr>
              <a:t>EyeWitness</a:t>
            </a:r>
          </a:p>
        </p:txBody>
      </p:sp>
      <p:cxnSp>
        <p:nvCxnSpPr>
          <p:cNvPr id="97" name="Connector 96"/>
          <p:cNvCxnSpPr/>
          <p:nvPr/>
        </p:nvCxnSpPr>
        <p:spPr>
          <a:xfrm>
            <a:off x="4352543.0" y="2130552"/>
            <a:ext cx="1981963.0" cy="2002536"/>
          </a:xfrm>
          <a:prstGeom prst="line">
            <a:avLst/>
          </a:prstGeom>
          <a:ln w="63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2554833.6" y="3822192"/>
            <a:ext cx="3779672.4"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7033260" y="4133088"/>
            <a:ext cx="1287780" cy="2404872"/>
          </a:xfrm>
          <a:prstGeom prst="rect">
            <a:avLst/>
          </a:prstGeom>
          <a:solidFill>
            <a:srgbClr val="0C0E22"/>
          </a:solidFill>
          <a:ln w="1524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33260" y="4133088"/>
            <a:ext cx="1287780" cy="21945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033260" y="4151376"/>
            <a:ext cx="1287780" cy="201168"/>
          </a:xfrm>
          <a:prstGeom prst="rect">
            <a:avLst/>
          </a:prstGeom>
          <a:noFill/>
        </p:spPr>
        <p:txBody>
          <a:bodyPr wrap="square">
            <a:spAutoFit/>
          </a:bodyPr>
          <a:lstStyle/>
          <a:p>
            <a:pPr algn="ctr"/>
            <a:r>
              <a:rPr sz="750" b="1" i="0">
                <a:solidFill>
                  <a:srgbClr val="0A0D1A"/>
                </a:solidFill>
                <a:latin typeface="Calibri"/>
              </a:rPr>
              <a:t>Report</a:t>
            </a:r>
          </a:p>
        </p:txBody>
      </p:sp>
      <p:sp>
        <p:nvSpPr>
          <p:cNvPr id="102" name="TextBox 101"/>
          <p:cNvSpPr txBox="1"/>
          <p:nvPr/>
        </p:nvSpPr>
        <p:spPr>
          <a:xfrm>
            <a:off x="7088124" y="4407408"/>
            <a:ext cx="1196340" cy="2130552"/>
          </a:xfrm>
          <a:prstGeom prst="rect">
            <a:avLst/>
          </a:prstGeom>
          <a:noFill/>
        </p:spPr>
        <p:txBody>
          <a:bodyPr wrap="square">
            <a:spAutoFit/>
          </a:bodyPr>
          <a:lstStyle/>
          <a:p>
            <a:pPr algn="l"/>
            <a:r>
              <a:rPr sz="700" b="0" i="0">
                <a:solidFill>
                  <a:srgbClr val="A0AAB8"/>
                </a:solidFill>
                <a:latin typeface="Calibri"/>
              </a:rPr>
              <a:t>Reads ASG + APG</a:t>
            </a:r>
          </a:p>
        </p:txBody>
      </p:sp>
      <p:cxnSp>
        <p:nvCxnSpPr>
          <p:cNvPr id="103" name="Connector 102"/>
          <p:cNvCxnSpPr/>
          <p:nvPr/>
        </p:nvCxnSpPr>
        <p:spPr>
          <a:xfrm>
            <a:off x="4636007.0" y="2130552"/>
            <a:ext cx="3041143.0" cy="2002536"/>
          </a:xfrm>
          <a:prstGeom prst="line">
            <a:avLst/>
          </a:prstGeom>
          <a:ln w="635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8641080" y="4133088"/>
            <a:ext cx="3349447" cy="2404872"/>
          </a:xfrm>
          <a:prstGeom prst="rect">
            <a:avLst/>
          </a:prstGeom>
          <a:solidFill>
            <a:srgbClr val="0A08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641080" y="4133088"/>
            <a:ext cx="3349447"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641080" y="4160520"/>
            <a:ext cx="3349447" cy="201168"/>
          </a:xfrm>
          <a:prstGeom prst="rect">
            <a:avLst/>
          </a:prstGeom>
          <a:noFill/>
        </p:spPr>
        <p:txBody>
          <a:bodyPr wrap="square">
            <a:spAutoFit/>
          </a:bodyPr>
          <a:lstStyle/>
          <a:p>
            <a:pPr algn="ctr"/>
            <a:r>
              <a:rPr sz="800" b="1" i="0">
                <a:solidFill>
                  <a:srgbClr val="0A0D1A"/>
                </a:solidFill>
                <a:latin typeface="Calibri"/>
              </a:rPr>
              <a:t>TOOL ADAPTER LAYER</a:t>
            </a:r>
          </a:p>
        </p:txBody>
      </p:sp>
      <p:sp>
        <p:nvSpPr>
          <p:cNvPr id="107" name="Rectangle 106"/>
          <p:cNvSpPr/>
          <p:nvPr/>
        </p:nvSpPr>
        <p:spPr>
          <a:xfrm>
            <a:off x="8732520" y="4407408"/>
            <a:ext cx="3166567" cy="649224"/>
          </a:xfrm>
          <a:prstGeom prst="rect">
            <a:avLst/>
          </a:prstGeom>
          <a:solidFill>
            <a:srgbClr val="100C24"/>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732520" y="4407408"/>
            <a:ext cx="347472" cy="64922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732520" y="4425696"/>
            <a:ext cx="347472" cy="612648"/>
          </a:xfrm>
          <a:prstGeom prst="rect">
            <a:avLst/>
          </a:prstGeom>
          <a:noFill/>
        </p:spPr>
        <p:txBody>
          <a:bodyPr wrap="square">
            <a:spAutoFit/>
          </a:bodyPr>
          <a:lstStyle/>
          <a:p>
            <a:pPr algn="ctr"/>
            <a:r>
              <a:rPr sz="700" b="1" i="0">
                <a:solidFill>
                  <a:srgbClr val="0A0D1A"/>
                </a:solidFill>
                <a:latin typeface="Calibri"/>
              </a:rPr>
              <a:t>LOW</a:t>
            </a:r>
          </a:p>
        </p:txBody>
      </p:sp>
      <p:sp>
        <p:nvSpPr>
          <p:cNvPr id="110" name="TextBox 109"/>
          <p:cNvSpPr txBox="1"/>
          <p:nvPr/>
        </p:nvSpPr>
        <p:spPr>
          <a:xfrm>
            <a:off x="9116568" y="4425696"/>
            <a:ext cx="2755087" cy="182880"/>
          </a:xfrm>
          <a:prstGeom prst="rect">
            <a:avLst/>
          </a:prstGeom>
          <a:noFill/>
        </p:spPr>
        <p:txBody>
          <a:bodyPr wrap="square">
            <a:spAutoFit/>
          </a:bodyPr>
          <a:lstStyle/>
          <a:p>
            <a:pPr algn="l"/>
            <a:r>
              <a:rPr sz="750" b="1" i="0">
                <a:solidFill>
                  <a:srgbClr val="39FF14"/>
                </a:solidFill>
                <a:latin typeface="Calibri"/>
              </a:rPr>
              <a:t>Passive</a:t>
            </a:r>
          </a:p>
        </p:txBody>
      </p:sp>
      <p:sp>
        <p:nvSpPr>
          <p:cNvPr id="111" name="TextBox 110"/>
          <p:cNvSpPr txBox="1"/>
          <p:nvPr/>
        </p:nvSpPr>
        <p:spPr>
          <a:xfrm>
            <a:off x="9116568" y="4608576"/>
            <a:ext cx="2755087" cy="274320"/>
          </a:xfrm>
          <a:prstGeom prst="rect">
            <a:avLst/>
          </a:prstGeom>
          <a:noFill/>
        </p:spPr>
        <p:txBody>
          <a:bodyPr wrap="square">
            <a:spAutoFit/>
          </a:bodyPr>
          <a:lstStyle/>
          <a:p>
            <a:pPr algn="l"/>
            <a:r>
              <a:rPr sz="700" b="0" i="1">
                <a:solidFill>
                  <a:srgbClr val="A0AAB8"/>
                </a:solidFill>
                <a:latin typeface="Calibri"/>
              </a:rPr>
              <a:t>Execute immediately</a:t>
            </a:r>
          </a:p>
        </p:txBody>
      </p:sp>
      <p:sp>
        <p:nvSpPr>
          <p:cNvPr id="112" name="Rectangle 111"/>
          <p:cNvSpPr/>
          <p:nvPr/>
        </p:nvSpPr>
        <p:spPr>
          <a:xfrm>
            <a:off x="8732520" y="5111496"/>
            <a:ext cx="3166567" cy="649224"/>
          </a:xfrm>
          <a:prstGeom prst="rect">
            <a:avLst/>
          </a:prstGeom>
          <a:solidFill>
            <a:srgbClr val="100C24"/>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8732520" y="5111496"/>
            <a:ext cx="347472" cy="64922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732520" y="5129784"/>
            <a:ext cx="347472" cy="612648"/>
          </a:xfrm>
          <a:prstGeom prst="rect">
            <a:avLst/>
          </a:prstGeom>
          <a:noFill/>
        </p:spPr>
        <p:txBody>
          <a:bodyPr wrap="square">
            <a:spAutoFit/>
          </a:bodyPr>
          <a:lstStyle/>
          <a:p>
            <a:pPr algn="ctr"/>
            <a:r>
              <a:rPr sz="700" b="1" i="0">
                <a:solidFill>
                  <a:srgbClr val="0A0D1A"/>
                </a:solidFill>
                <a:latin typeface="Calibri"/>
              </a:rPr>
              <a:t>MED</a:t>
            </a:r>
          </a:p>
        </p:txBody>
      </p:sp>
      <p:sp>
        <p:nvSpPr>
          <p:cNvPr id="115" name="TextBox 114"/>
          <p:cNvSpPr txBox="1"/>
          <p:nvPr/>
        </p:nvSpPr>
        <p:spPr>
          <a:xfrm>
            <a:off x="9116568" y="5129784"/>
            <a:ext cx="2755087" cy="182880"/>
          </a:xfrm>
          <a:prstGeom prst="rect">
            <a:avLst/>
          </a:prstGeom>
          <a:noFill/>
        </p:spPr>
        <p:txBody>
          <a:bodyPr wrap="square">
            <a:spAutoFit/>
          </a:bodyPr>
          <a:lstStyle/>
          <a:p>
            <a:pPr algn="l"/>
            <a:r>
              <a:rPr sz="750" b="1" i="0">
                <a:solidFill>
                  <a:srgbClr val="FFD700"/>
                </a:solidFill>
                <a:latin typeface="Calibri"/>
              </a:rPr>
              <a:t>Active</a:t>
            </a:r>
          </a:p>
        </p:txBody>
      </p:sp>
      <p:sp>
        <p:nvSpPr>
          <p:cNvPr id="116" name="TextBox 115"/>
          <p:cNvSpPr txBox="1"/>
          <p:nvPr/>
        </p:nvSpPr>
        <p:spPr>
          <a:xfrm>
            <a:off x="9116568" y="5312664"/>
            <a:ext cx="2755087" cy="274320"/>
          </a:xfrm>
          <a:prstGeom prst="rect">
            <a:avLst/>
          </a:prstGeom>
          <a:noFill/>
        </p:spPr>
        <p:txBody>
          <a:bodyPr wrap="square">
            <a:spAutoFit/>
          </a:bodyPr>
          <a:lstStyle/>
          <a:p>
            <a:pPr algn="l"/>
            <a:r>
              <a:rPr sz="700" b="0" i="1">
                <a:solidFill>
                  <a:srgbClr val="A0AAB8"/>
                </a:solidFill>
                <a:latin typeface="Calibri"/>
              </a:rPr>
              <a:t>LLM Classifier → exec/escalate</a:t>
            </a:r>
          </a:p>
        </p:txBody>
      </p:sp>
      <p:sp>
        <p:nvSpPr>
          <p:cNvPr id="117" name="Rectangle 116"/>
          <p:cNvSpPr/>
          <p:nvPr/>
        </p:nvSpPr>
        <p:spPr>
          <a:xfrm>
            <a:off x="8732520" y="5815584"/>
            <a:ext cx="3166567" cy="649224"/>
          </a:xfrm>
          <a:prstGeom prst="rect">
            <a:avLst/>
          </a:prstGeom>
          <a:solidFill>
            <a:srgbClr val="100C24"/>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732520" y="5815584"/>
            <a:ext cx="347472" cy="64922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732520" y="5833872"/>
            <a:ext cx="347472" cy="612648"/>
          </a:xfrm>
          <a:prstGeom prst="rect">
            <a:avLst/>
          </a:prstGeom>
          <a:noFill/>
        </p:spPr>
        <p:txBody>
          <a:bodyPr wrap="square">
            <a:spAutoFit/>
          </a:bodyPr>
          <a:lstStyle/>
          <a:p>
            <a:pPr algn="ctr"/>
            <a:r>
              <a:rPr sz="700" b="1" i="0">
                <a:solidFill>
                  <a:srgbClr val="0A0D1A"/>
                </a:solidFill>
                <a:latin typeface="Calibri"/>
              </a:rPr>
              <a:t>HIGH</a:t>
            </a:r>
          </a:p>
        </p:txBody>
      </p:sp>
      <p:sp>
        <p:nvSpPr>
          <p:cNvPr id="120" name="TextBox 119"/>
          <p:cNvSpPr txBox="1"/>
          <p:nvPr/>
        </p:nvSpPr>
        <p:spPr>
          <a:xfrm>
            <a:off x="9116568" y="5833872"/>
            <a:ext cx="2755087" cy="182880"/>
          </a:xfrm>
          <a:prstGeom prst="rect">
            <a:avLst/>
          </a:prstGeom>
          <a:noFill/>
        </p:spPr>
        <p:txBody>
          <a:bodyPr wrap="square">
            <a:spAutoFit/>
          </a:bodyPr>
          <a:lstStyle/>
          <a:p>
            <a:pPr algn="l"/>
            <a:r>
              <a:rPr sz="750" b="1" i="0">
                <a:solidFill>
                  <a:srgbClr val="FF4545"/>
                </a:solidFill>
                <a:latin typeface="Calibri"/>
              </a:rPr>
              <a:t>Exploit</a:t>
            </a:r>
          </a:p>
        </p:txBody>
      </p:sp>
      <p:sp>
        <p:nvSpPr>
          <p:cNvPr id="121" name="TextBox 120"/>
          <p:cNvSpPr txBox="1"/>
          <p:nvPr/>
        </p:nvSpPr>
        <p:spPr>
          <a:xfrm>
            <a:off x="9116568" y="6016752"/>
            <a:ext cx="2755087" cy="274320"/>
          </a:xfrm>
          <a:prstGeom prst="rect">
            <a:avLst/>
          </a:prstGeom>
          <a:noFill/>
        </p:spPr>
        <p:txBody>
          <a:bodyPr wrap="square">
            <a:spAutoFit/>
          </a:bodyPr>
          <a:lstStyle/>
          <a:p>
            <a:pPr algn="l"/>
            <a:r>
              <a:rPr sz="700" b="0" i="1">
                <a:solidFill>
                  <a:srgbClr val="A0AAB8"/>
                </a:solidFill>
                <a:latin typeface="Calibri"/>
              </a:rPr>
              <a:t>Commander Mailbox approval</a:t>
            </a:r>
          </a:p>
        </p:txBody>
      </p:sp>
      <p:sp>
        <p:nvSpPr>
          <p:cNvPr id="122" name="TextBox 121"/>
          <p:cNvSpPr txBox="1"/>
          <p:nvPr/>
        </p:nvSpPr>
        <p:spPr>
          <a:xfrm>
            <a:off x="11825935" y="6382512"/>
            <a:ext cx="320040" cy="384048"/>
          </a:xfrm>
          <a:prstGeom prst="rect">
            <a:avLst/>
          </a:prstGeom>
          <a:noFill/>
        </p:spPr>
        <p:txBody>
          <a:bodyPr wrap="square">
            <a:spAutoFit/>
          </a:bodyPr>
          <a:lstStyle/>
          <a:p>
            <a:pPr algn="r"/>
            <a:r>
              <a:rPr sz="1300" b="1" i="0">
                <a:solidFill>
                  <a:srgbClr val="00E5FF"/>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5486400" cy="237744"/>
          </a:xfrm>
          <a:prstGeom prst="rect">
            <a:avLst/>
          </a:prstGeom>
          <a:noFill/>
        </p:spPr>
        <p:txBody>
          <a:bodyPr wrap="square">
            <a:spAutoFit/>
          </a:bodyPr>
          <a:lstStyle/>
          <a:p>
            <a:pPr algn="l"/>
            <a:r>
              <a:rPr sz="1000" b="1" i="0">
                <a:solidFill>
                  <a:srgbClr val="39FF14"/>
                </a:solidFill>
                <a:latin typeface="Calibri"/>
              </a:rPr>
              <a:t>DUAL-GRAPH WORLD MODEL</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600" b="1" i="0">
                <a:solidFill>
                  <a:srgbClr val="FFFFFF"/>
                </a:solidFill>
                <a:latin typeface="Calibri"/>
              </a:rPr>
              <a:t>Two Strictly Separated Knowledge Layers — Visualised</a:t>
            </a:r>
          </a:p>
        </p:txBody>
      </p:sp>
      <p:sp>
        <p:nvSpPr>
          <p:cNvPr id="7" name="Rectangle 6"/>
          <p:cNvSpPr/>
          <p:nvPr/>
        </p:nvSpPr>
        <p:spPr>
          <a:xfrm>
            <a:off x="164592" y="804672"/>
            <a:ext cx="5349240" cy="5138928"/>
          </a:xfrm>
          <a:prstGeom prst="rect">
            <a:avLst/>
          </a:prstGeom>
          <a:solidFill>
            <a:srgbClr val="04180A"/>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22960"/>
            <a:ext cx="3200400" cy="237744"/>
          </a:xfrm>
          <a:prstGeom prst="rect">
            <a:avLst/>
          </a:prstGeom>
          <a:noFill/>
        </p:spPr>
        <p:txBody>
          <a:bodyPr wrap="square">
            <a:spAutoFit/>
          </a:bodyPr>
          <a:lstStyle/>
          <a:p>
            <a:pPr algn="l"/>
            <a:r>
              <a:rPr sz="1100" b="1" i="0">
                <a:solidFill>
                  <a:srgbClr val="39FF14"/>
                </a:solidFill>
                <a:latin typeface="Calibri"/>
              </a:rPr>
              <a:t>ASG — Attack Surface Graph</a:t>
            </a:r>
          </a:p>
        </p:txBody>
      </p:sp>
      <p:sp>
        <p:nvSpPr>
          <p:cNvPr id="9" name="TextBox 8"/>
          <p:cNvSpPr txBox="1"/>
          <p:nvPr/>
        </p:nvSpPr>
        <p:spPr>
          <a:xfrm>
            <a:off x="201168" y="1042415"/>
            <a:ext cx="5029200" cy="219456"/>
          </a:xfrm>
          <a:prstGeom prst="rect">
            <a:avLst/>
          </a:prstGeom>
          <a:noFill/>
        </p:spPr>
        <p:txBody>
          <a:bodyPr wrap="square">
            <a:spAutoFit/>
          </a:bodyPr>
          <a:lstStyle/>
          <a:p>
            <a:pPr algn="l"/>
            <a:r>
              <a:rPr sz="900" b="0" i="1">
                <a:solidFill>
                  <a:srgbClr val="60C070"/>
                </a:solidFill>
                <a:latin typeface="Calibri"/>
              </a:rPr>
              <a:t>What does the target look like?  (Discovered Reality)</a:t>
            </a:r>
          </a:p>
        </p:txBody>
      </p:sp>
      <p:sp>
        <p:nvSpPr>
          <p:cNvPr id="10" name="Rectangle 9"/>
          <p:cNvSpPr/>
          <p:nvPr/>
        </p:nvSpPr>
        <p:spPr>
          <a:xfrm>
            <a:off x="6675120" y="804672"/>
            <a:ext cx="5349240" cy="5138928"/>
          </a:xfrm>
          <a:prstGeom prst="rect">
            <a:avLst/>
          </a:prstGeom>
          <a:solidFill>
            <a:srgbClr val="1C10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11696" y="822960"/>
            <a:ext cx="3200400" cy="237744"/>
          </a:xfrm>
          <a:prstGeom prst="rect">
            <a:avLst/>
          </a:prstGeom>
          <a:noFill/>
        </p:spPr>
        <p:txBody>
          <a:bodyPr wrap="square">
            <a:spAutoFit/>
          </a:bodyPr>
          <a:lstStyle/>
          <a:p>
            <a:pPr algn="l"/>
            <a:r>
              <a:rPr sz="1100" b="1" i="0">
                <a:solidFill>
                  <a:srgbClr val="FFD700"/>
                </a:solidFill>
                <a:latin typeface="Calibri"/>
              </a:rPr>
              <a:t>APG — Attack Path Graph</a:t>
            </a:r>
          </a:p>
        </p:txBody>
      </p:sp>
      <p:sp>
        <p:nvSpPr>
          <p:cNvPr id="12" name="TextBox 11"/>
          <p:cNvSpPr txBox="1"/>
          <p:nvPr/>
        </p:nvSpPr>
        <p:spPr>
          <a:xfrm>
            <a:off x="6711696" y="1042415"/>
            <a:ext cx="5029200" cy="219456"/>
          </a:xfrm>
          <a:prstGeom prst="rect">
            <a:avLst/>
          </a:prstGeom>
          <a:noFill/>
        </p:spPr>
        <p:txBody>
          <a:bodyPr wrap="square">
            <a:spAutoFit/>
          </a:bodyPr>
          <a:lstStyle/>
          <a:p>
            <a:pPr algn="l"/>
            <a:r>
              <a:rPr sz="900" b="0" i="1">
                <a:solidFill>
                  <a:srgbClr val="C09020"/>
                </a:solidFill>
                <a:latin typeface="Calibri"/>
              </a:rPr>
              <a:t>What can be done to it?  (Inferred Opportunity)</a:t>
            </a:r>
          </a:p>
        </p:txBody>
      </p:sp>
      <p:sp>
        <p:nvSpPr>
          <p:cNvPr id="13" name="Rectangle 12"/>
          <p:cNvSpPr/>
          <p:nvPr/>
        </p:nvSpPr>
        <p:spPr>
          <a:xfrm>
            <a:off x="5593384" y="804672"/>
            <a:ext cx="1005840" cy="5138928"/>
          </a:xfrm>
          <a:prstGeom prst="rect">
            <a:avLst/>
          </a:prstGeom>
          <a:solidFill>
            <a:srgbClr val="081018"/>
          </a:solidFill>
          <a:ln w="1016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7160" y="804672"/>
            <a:ext cx="18288" cy="513892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0816" y="2286000"/>
            <a:ext cx="950976" cy="640080"/>
          </a:xfrm>
          <a:prstGeom prst="rect">
            <a:avLst/>
          </a:prstGeom>
          <a:noFill/>
        </p:spPr>
        <p:txBody>
          <a:bodyPr wrap="square">
            <a:spAutoFit/>
          </a:bodyPr>
          <a:lstStyle/>
          <a:p>
            <a:pPr algn="ctr"/>
            <a:r>
              <a:rPr sz="800" b="1" i="0">
                <a:solidFill>
                  <a:srgbClr val="A0AAB8"/>
                </a:solidFill>
                <a:latin typeface="Calibri"/>
              </a:rPr>
              <a:t>STRICT SEPARATION</a:t>
            </a:r>
          </a:p>
        </p:txBody>
      </p:sp>
      <p:sp>
        <p:nvSpPr>
          <p:cNvPr id="16" name="TextBox 15"/>
          <p:cNvSpPr txBox="1"/>
          <p:nvPr/>
        </p:nvSpPr>
        <p:spPr>
          <a:xfrm>
            <a:off x="5639104" y="3017520"/>
            <a:ext cx="914400" cy="685800"/>
          </a:xfrm>
          <a:prstGeom prst="rect">
            <a:avLst/>
          </a:prstGeom>
          <a:noFill/>
        </p:spPr>
        <p:txBody>
          <a:bodyPr wrap="square">
            <a:spAutoFit/>
          </a:bodyPr>
          <a:lstStyle/>
          <a:p>
            <a:pPr algn="ctr"/>
            <a:r>
              <a:rPr sz="750" b="0" i="1">
                <a:solidFill>
                  <a:srgbClr val="A0AAB8"/>
                </a:solidFill>
                <a:latin typeface="Calibri"/>
              </a:rPr>
              <a:t>No agent crosses this boundary</a:t>
            </a:r>
          </a:p>
        </p:txBody>
      </p:sp>
      <p:cxnSp>
        <p:nvCxnSpPr>
          <p:cNvPr id="17" name="Connector 16"/>
          <p:cNvCxnSpPr/>
          <p:nvPr/>
        </p:nvCxnSpPr>
        <p:spPr>
          <a:xfrm flipH="1">
            <a:off x="4114800" y="3886200"/>
            <a:ext cx="1944928" cy="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4344" y="3685032"/>
            <a:ext cx="1005840" cy="201168"/>
          </a:xfrm>
          <a:prstGeom prst="rect">
            <a:avLst/>
          </a:prstGeom>
          <a:noFill/>
        </p:spPr>
        <p:txBody>
          <a:bodyPr wrap="square">
            <a:spAutoFit/>
          </a:bodyPr>
          <a:lstStyle/>
          <a:p>
            <a:pPr algn="ctr"/>
            <a:r>
              <a:rPr sz="700" b="0" i="1">
                <a:solidFill>
                  <a:srgbClr val="A0AAB8"/>
                </a:solidFill>
                <a:latin typeface="Calibri"/>
              </a:rPr>
              <a:t>Discovery Agents write</a:t>
            </a:r>
          </a:p>
        </p:txBody>
      </p:sp>
      <p:cxnSp>
        <p:nvCxnSpPr>
          <p:cNvPr id="19" name="Connector 18"/>
          <p:cNvCxnSpPr/>
          <p:nvPr/>
        </p:nvCxnSpPr>
        <p:spPr>
          <a:xfrm>
            <a:off x="6132880" y="4206240"/>
            <a:ext cx="1639520" cy="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9720" y="4005072"/>
            <a:ext cx="1005840" cy="201168"/>
          </a:xfrm>
          <a:prstGeom prst="rect">
            <a:avLst/>
          </a:prstGeom>
          <a:noFill/>
        </p:spPr>
        <p:txBody>
          <a:bodyPr wrap="square">
            <a:spAutoFit/>
          </a:bodyPr>
          <a:lstStyle/>
          <a:p>
            <a:pPr algn="ctr"/>
            <a:r>
              <a:rPr sz="700" b="0" i="1">
                <a:solidFill>
                  <a:srgbClr val="A0AAB8"/>
                </a:solidFill>
                <a:latin typeface="Calibri"/>
              </a:rPr>
              <a:t>Commander writes</a:t>
            </a:r>
          </a:p>
        </p:txBody>
      </p:sp>
      <p:sp>
        <p:nvSpPr>
          <p:cNvPr id="21" name="Rectangle 20"/>
          <p:cNvSpPr/>
          <p:nvPr/>
        </p:nvSpPr>
        <p:spPr>
          <a:xfrm>
            <a:off x="813816" y="137160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1408176"/>
            <a:ext cx="1115568" cy="201168"/>
          </a:xfrm>
          <a:prstGeom prst="rect">
            <a:avLst/>
          </a:prstGeom>
          <a:noFill/>
        </p:spPr>
        <p:txBody>
          <a:bodyPr wrap="square">
            <a:spAutoFit/>
          </a:bodyPr>
          <a:lstStyle/>
          <a:p>
            <a:pPr algn="ctr"/>
            <a:r>
              <a:rPr sz="850" b="1" i="0">
                <a:solidFill>
                  <a:srgbClr val="39FF14"/>
                </a:solidFill>
                <a:latin typeface="Calibri"/>
              </a:rPr>
              <a:t>Domain</a:t>
            </a:r>
          </a:p>
        </p:txBody>
      </p:sp>
      <p:sp>
        <p:nvSpPr>
          <p:cNvPr id="23" name="TextBox 22"/>
          <p:cNvSpPr txBox="1"/>
          <p:nvPr/>
        </p:nvSpPr>
        <p:spPr>
          <a:xfrm>
            <a:off x="813816" y="1572768"/>
            <a:ext cx="1115568" cy="164592"/>
          </a:xfrm>
          <a:prstGeom prst="rect">
            <a:avLst/>
          </a:prstGeom>
          <a:noFill/>
        </p:spPr>
        <p:txBody>
          <a:bodyPr wrap="square">
            <a:spAutoFit/>
          </a:bodyPr>
          <a:lstStyle/>
          <a:p>
            <a:pPr algn="ctr"/>
            <a:r>
              <a:rPr sz="700" b="0" i="1">
                <a:solidFill>
                  <a:srgbClr val="A0AAB8"/>
                </a:solidFill>
                <a:latin typeface="Calibri"/>
              </a:rPr>
              <a:t>shopvault.io</a:t>
            </a:r>
          </a:p>
        </p:txBody>
      </p:sp>
      <p:sp>
        <p:nvSpPr>
          <p:cNvPr id="24" name="Rectangle 23"/>
          <p:cNvSpPr/>
          <p:nvPr/>
        </p:nvSpPr>
        <p:spPr>
          <a:xfrm>
            <a:off x="813816" y="201168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2048256"/>
            <a:ext cx="1115568" cy="201168"/>
          </a:xfrm>
          <a:prstGeom prst="rect">
            <a:avLst/>
          </a:prstGeom>
          <a:noFill/>
        </p:spPr>
        <p:txBody>
          <a:bodyPr wrap="square">
            <a:spAutoFit/>
          </a:bodyPr>
          <a:lstStyle/>
          <a:p>
            <a:pPr algn="ctr"/>
            <a:r>
              <a:rPr sz="850" b="1" i="0">
                <a:solidFill>
                  <a:srgbClr val="39FF14"/>
                </a:solidFill>
                <a:latin typeface="Calibri"/>
              </a:rPr>
              <a:t>Host</a:t>
            </a:r>
          </a:p>
        </p:txBody>
      </p:sp>
      <p:sp>
        <p:nvSpPr>
          <p:cNvPr id="26" name="TextBox 25"/>
          <p:cNvSpPr txBox="1"/>
          <p:nvPr/>
        </p:nvSpPr>
        <p:spPr>
          <a:xfrm>
            <a:off x="813816" y="2212848"/>
            <a:ext cx="1115568" cy="164592"/>
          </a:xfrm>
          <a:prstGeom prst="rect">
            <a:avLst/>
          </a:prstGeom>
          <a:noFill/>
        </p:spPr>
        <p:txBody>
          <a:bodyPr wrap="square">
            <a:spAutoFit/>
          </a:bodyPr>
          <a:lstStyle/>
          <a:p>
            <a:pPr algn="ctr"/>
            <a:r>
              <a:rPr sz="700" b="0" i="1">
                <a:solidFill>
                  <a:srgbClr val="A0AAB8"/>
                </a:solidFill>
                <a:latin typeface="Calibri"/>
              </a:rPr>
              <a:t>192.168.1.10</a:t>
            </a:r>
          </a:p>
        </p:txBody>
      </p:sp>
      <p:sp>
        <p:nvSpPr>
          <p:cNvPr id="27" name="Rectangle 26"/>
          <p:cNvSpPr/>
          <p:nvPr/>
        </p:nvSpPr>
        <p:spPr>
          <a:xfrm>
            <a:off x="813816" y="265176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2688336"/>
            <a:ext cx="1115568" cy="201168"/>
          </a:xfrm>
          <a:prstGeom prst="rect">
            <a:avLst/>
          </a:prstGeom>
          <a:noFill/>
        </p:spPr>
        <p:txBody>
          <a:bodyPr wrap="square">
            <a:spAutoFit/>
          </a:bodyPr>
          <a:lstStyle/>
          <a:p>
            <a:pPr algn="ctr"/>
            <a:r>
              <a:rPr sz="850" b="1" i="0">
                <a:solidFill>
                  <a:srgbClr val="39FF14"/>
                </a:solidFill>
                <a:latin typeface="Calibri"/>
              </a:rPr>
              <a:t>Port</a:t>
            </a:r>
          </a:p>
        </p:txBody>
      </p:sp>
      <p:sp>
        <p:nvSpPr>
          <p:cNvPr id="29" name="TextBox 28"/>
          <p:cNvSpPr txBox="1"/>
          <p:nvPr/>
        </p:nvSpPr>
        <p:spPr>
          <a:xfrm>
            <a:off x="813816" y="2852928"/>
            <a:ext cx="1115568" cy="164592"/>
          </a:xfrm>
          <a:prstGeom prst="rect">
            <a:avLst/>
          </a:prstGeom>
          <a:noFill/>
        </p:spPr>
        <p:txBody>
          <a:bodyPr wrap="square">
            <a:spAutoFit/>
          </a:bodyPr>
          <a:lstStyle/>
          <a:p>
            <a:pPr algn="ctr"/>
            <a:r>
              <a:rPr sz="700" b="0" i="1">
                <a:solidFill>
                  <a:srgbClr val="A0AAB8"/>
                </a:solidFill>
                <a:latin typeface="Calibri"/>
              </a:rPr>
              <a:t>:443 / :8080</a:t>
            </a:r>
          </a:p>
        </p:txBody>
      </p:sp>
      <p:sp>
        <p:nvSpPr>
          <p:cNvPr id="30" name="Rectangle 29"/>
          <p:cNvSpPr/>
          <p:nvPr/>
        </p:nvSpPr>
        <p:spPr>
          <a:xfrm>
            <a:off x="813816" y="329184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 y="3328416"/>
            <a:ext cx="1115568" cy="201168"/>
          </a:xfrm>
          <a:prstGeom prst="rect">
            <a:avLst/>
          </a:prstGeom>
          <a:noFill/>
        </p:spPr>
        <p:txBody>
          <a:bodyPr wrap="square">
            <a:spAutoFit/>
          </a:bodyPr>
          <a:lstStyle/>
          <a:p>
            <a:pPr algn="ctr"/>
            <a:r>
              <a:rPr sz="850" b="1" i="0">
                <a:solidFill>
                  <a:srgbClr val="39FF14"/>
                </a:solidFill>
                <a:latin typeface="Calibri"/>
              </a:rPr>
              <a:t>Service</a:t>
            </a:r>
          </a:p>
        </p:txBody>
      </p:sp>
      <p:sp>
        <p:nvSpPr>
          <p:cNvPr id="32" name="TextBox 31"/>
          <p:cNvSpPr txBox="1"/>
          <p:nvPr/>
        </p:nvSpPr>
        <p:spPr>
          <a:xfrm>
            <a:off x="813816" y="3493008"/>
            <a:ext cx="1115568" cy="164592"/>
          </a:xfrm>
          <a:prstGeom prst="rect">
            <a:avLst/>
          </a:prstGeom>
          <a:noFill/>
        </p:spPr>
        <p:txBody>
          <a:bodyPr wrap="square">
            <a:spAutoFit/>
          </a:bodyPr>
          <a:lstStyle/>
          <a:p>
            <a:pPr algn="ctr"/>
            <a:r>
              <a:rPr sz="700" b="0" i="1">
                <a:solidFill>
                  <a:srgbClr val="A0AAB8"/>
                </a:solidFill>
                <a:latin typeface="Calibri"/>
              </a:rPr>
              <a:t>Nginx 1.18.0</a:t>
            </a:r>
          </a:p>
        </p:txBody>
      </p:sp>
      <p:sp>
        <p:nvSpPr>
          <p:cNvPr id="33" name="Rectangle 32"/>
          <p:cNvSpPr/>
          <p:nvPr/>
        </p:nvSpPr>
        <p:spPr>
          <a:xfrm>
            <a:off x="2276856" y="265176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76856" y="2688336"/>
            <a:ext cx="1115568" cy="201168"/>
          </a:xfrm>
          <a:prstGeom prst="rect">
            <a:avLst/>
          </a:prstGeom>
          <a:noFill/>
        </p:spPr>
        <p:txBody>
          <a:bodyPr wrap="square">
            <a:spAutoFit/>
          </a:bodyPr>
          <a:lstStyle/>
          <a:p>
            <a:pPr algn="ctr"/>
            <a:r>
              <a:rPr sz="850" b="1" i="0">
                <a:solidFill>
                  <a:srgbClr val="00E5FF"/>
                </a:solidFill>
                <a:latin typeface="Calibri"/>
              </a:rPr>
              <a:t>Technology</a:t>
            </a:r>
          </a:p>
        </p:txBody>
      </p:sp>
      <p:sp>
        <p:nvSpPr>
          <p:cNvPr id="35" name="TextBox 34"/>
          <p:cNvSpPr txBox="1"/>
          <p:nvPr/>
        </p:nvSpPr>
        <p:spPr>
          <a:xfrm>
            <a:off x="2276856" y="2852928"/>
            <a:ext cx="1115568" cy="164592"/>
          </a:xfrm>
          <a:prstGeom prst="rect">
            <a:avLst/>
          </a:prstGeom>
          <a:noFill/>
        </p:spPr>
        <p:txBody>
          <a:bodyPr wrap="square">
            <a:spAutoFit/>
          </a:bodyPr>
          <a:lstStyle/>
          <a:p>
            <a:pPr algn="ctr"/>
            <a:r>
              <a:rPr sz="700" b="0" i="1">
                <a:solidFill>
                  <a:srgbClr val="A0AAB8"/>
                </a:solidFill>
                <a:latin typeface="Calibri"/>
              </a:rPr>
              <a:t>WordPress 5.9.3</a:t>
            </a:r>
          </a:p>
        </p:txBody>
      </p:sp>
      <p:sp>
        <p:nvSpPr>
          <p:cNvPr id="36" name="Rectangle 35"/>
          <p:cNvSpPr/>
          <p:nvPr/>
        </p:nvSpPr>
        <p:spPr>
          <a:xfrm>
            <a:off x="2276856" y="329184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76856" y="3328416"/>
            <a:ext cx="1115568" cy="201168"/>
          </a:xfrm>
          <a:prstGeom prst="rect">
            <a:avLst/>
          </a:prstGeom>
          <a:noFill/>
        </p:spPr>
        <p:txBody>
          <a:bodyPr wrap="square">
            <a:spAutoFit/>
          </a:bodyPr>
          <a:lstStyle/>
          <a:p>
            <a:pPr algn="ctr"/>
            <a:r>
              <a:rPr sz="850" b="1" i="0">
                <a:solidFill>
                  <a:srgbClr val="00E5FF"/>
                </a:solidFill>
                <a:latin typeface="Calibri"/>
              </a:rPr>
              <a:t>Endpoint</a:t>
            </a:r>
          </a:p>
        </p:txBody>
      </p:sp>
      <p:sp>
        <p:nvSpPr>
          <p:cNvPr id="38" name="TextBox 37"/>
          <p:cNvSpPr txBox="1"/>
          <p:nvPr/>
        </p:nvSpPr>
        <p:spPr>
          <a:xfrm>
            <a:off x="2276856" y="3493008"/>
            <a:ext cx="1115568" cy="164592"/>
          </a:xfrm>
          <a:prstGeom prst="rect">
            <a:avLst/>
          </a:prstGeom>
          <a:noFill/>
        </p:spPr>
        <p:txBody>
          <a:bodyPr wrap="square">
            <a:spAutoFit/>
          </a:bodyPr>
          <a:lstStyle/>
          <a:p>
            <a:pPr algn="ctr"/>
            <a:r>
              <a:rPr sz="700" b="0" i="1">
                <a:solidFill>
                  <a:srgbClr val="A0AAB8"/>
                </a:solidFill>
                <a:latin typeface="Calibri"/>
              </a:rPr>
              <a:t>/api/v1/orders</a:t>
            </a:r>
          </a:p>
        </p:txBody>
      </p:sp>
      <p:sp>
        <p:nvSpPr>
          <p:cNvPr id="39" name="Rectangle 38"/>
          <p:cNvSpPr/>
          <p:nvPr/>
        </p:nvSpPr>
        <p:spPr>
          <a:xfrm>
            <a:off x="2276856" y="3931919"/>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76856" y="3968495"/>
            <a:ext cx="1115568" cy="201168"/>
          </a:xfrm>
          <a:prstGeom prst="rect">
            <a:avLst/>
          </a:prstGeom>
          <a:noFill/>
        </p:spPr>
        <p:txBody>
          <a:bodyPr wrap="square">
            <a:spAutoFit/>
          </a:bodyPr>
          <a:lstStyle/>
          <a:p>
            <a:pPr algn="ctr"/>
            <a:r>
              <a:rPr sz="850" b="1" i="0">
                <a:solidFill>
                  <a:srgbClr val="00E5FF"/>
                </a:solidFill>
                <a:latin typeface="Calibri"/>
              </a:rPr>
              <a:t>Parameter</a:t>
            </a:r>
          </a:p>
        </p:txBody>
      </p:sp>
      <p:sp>
        <p:nvSpPr>
          <p:cNvPr id="41" name="TextBox 40"/>
          <p:cNvSpPr txBox="1"/>
          <p:nvPr/>
        </p:nvSpPr>
        <p:spPr>
          <a:xfrm>
            <a:off x="2276856" y="4133087"/>
            <a:ext cx="1115568" cy="164592"/>
          </a:xfrm>
          <a:prstGeom prst="rect">
            <a:avLst/>
          </a:prstGeom>
          <a:noFill/>
        </p:spPr>
        <p:txBody>
          <a:bodyPr wrap="square">
            <a:spAutoFit/>
          </a:bodyPr>
          <a:lstStyle/>
          <a:p>
            <a:pPr algn="ctr"/>
            <a:r>
              <a:rPr sz="700" b="0" i="1">
                <a:solidFill>
                  <a:srgbClr val="A0AAB8"/>
                </a:solidFill>
                <a:latin typeface="Calibri"/>
              </a:rPr>
              <a:t>user_id=?</a:t>
            </a:r>
          </a:p>
        </p:txBody>
      </p:sp>
      <p:sp>
        <p:nvSpPr>
          <p:cNvPr id="42" name="Rectangle 41"/>
          <p:cNvSpPr/>
          <p:nvPr/>
        </p:nvSpPr>
        <p:spPr>
          <a:xfrm>
            <a:off x="813816" y="3931919"/>
            <a:ext cx="1115568" cy="402336"/>
          </a:xfrm>
          <a:prstGeom prst="rect">
            <a:avLst/>
          </a:prstGeom>
          <a:solidFill>
            <a:srgbClr val="22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3816" y="3968495"/>
            <a:ext cx="1115568" cy="201168"/>
          </a:xfrm>
          <a:prstGeom prst="rect">
            <a:avLst/>
          </a:prstGeom>
          <a:noFill/>
        </p:spPr>
        <p:txBody>
          <a:bodyPr wrap="square">
            <a:spAutoFit/>
          </a:bodyPr>
          <a:lstStyle/>
          <a:p>
            <a:pPr algn="ctr"/>
            <a:r>
              <a:rPr sz="850" b="1" i="0">
                <a:solidFill>
                  <a:srgbClr val="FF4545"/>
                </a:solidFill>
                <a:latin typeface="Calibri"/>
              </a:rPr>
              <a:t>Vulnerability</a:t>
            </a:r>
          </a:p>
        </p:txBody>
      </p:sp>
      <p:sp>
        <p:nvSpPr>
          <p:cNvPr id="44" name="TextBox 43"/>
          <p:cNvSpPr txBox="1"/>
          <p:nvPr/>
        </p:nvSpPr>
        <p:spPr>
          <a:xfrm>
            <a:off x="813816" y="4133087"/>
            <a:ext cx="1115568" cy="164592"/>
          </a:xfrm>
          <a:prstGeom prst="rect">
            <a:avLst/>
          </a:prstGeom>
          <a:noFill/>
        </p:spPr>
        <p:txBody>
          <a:bodyPr wrap="square">
            <a:spAutoFit/>
          </a:bodyPr>
          <a:lstStyle/>
          <a:p>
            <a:pPr algn="ctr"/>
            <a:r>
              <a:rPr sz="700" b="0" i="1">
                <a:solidFill>
                  <a:srgbClr val="A0AAB8"/>
                </a:solidFill>
                <a:latin typeface="Calibri"/>
              </a:rPr>
              <a:t>CVE-2022-21661</a:t>
            </a:r>
          </a:p>
        </p:txBody>
      </p:sp>
      <p:sp>
        <p:nvSpPr>
          <p:cNvPr id="45" name="Rectangle 44"/>
          <p:cNvSpPr/>
          <p:nvPr/>
        </p:nvSpPr>
        <p:spPr>
          <a:xfrm>
            <a:off x="813816" y="4572000"/>
            <a:ext cx="1115568" cy="402336"/>
          </a:xfrm>
          <a:prstGeom prst="rect">
            <a:avLst/>
          </a:prstGeom>
          <a:solidFill>
            <a:srgbClr val="120820"/>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816" y="4608576"/>
            <a:ext cx="1115568" cy="201168"/>
          </a:xfrm>
          <a:prstGeom prst="rect">
            <a:avLst/>
          </a:prstGeom>
          <a:noFill/>
        </p:spPr>
        <p:txBody>
          <a:bodyPr wrap="square">
            <a:spAutoFit/>
          </a:bodyPr>
          <a:lstStyle/>
          <a:p>
            <a:pPr algn="ctr"/>
            <a:r>
              <a:rPr sz="850" b="1" i="0">
                <a:solidFill>
                  <a:srgbClr val="BD93F9"/>
                </a:solidFill>
                <a:latin typeface="Calibri"/>
              </a:rPr>
              <a:t>Evidence</a:t>
            </a:r>
          </a:p>
        </p:txBody>
      </p:sp>
      <p:sp>
        <p:nvSpPr>
          <p:cNvPr id="47" name="TextBox 46"/>
          <p:cNvSpPr txBox="1"/>
          <p:nvPr/>
        </p:nvSpPr>
        <p:spPr>
          <a:xfrm>
            <a:off x="813816" y="4773168"/>
            <a:ext cx="1115568" cy="164592"/>
          </a:xfrm>
          <a:prstGeom prst="rect">
            <a:avLst/>
          </a:prstGeom>
          <a:noFill/>
        </p:spPr>
        <p:txBody>
          <a:bodyPr wrap="square">
            <a:spAutoFit/>
          </a:bodyPr>
          <a:lstStyle/>
          <a:p>
            <a:pPr algn="ctr"/>
            <a:r>
              <a:rPr sz="700" b="0" i="1">
                <a:solidFill>
                  <a:srgbClr val="A0AAB8"/>
                </a:solidFill>
                <a:latin typeface="Calibri"/>
              </a:rPr>
              <a:t>screenshot.png</a:t>
            </a:r>
          </a:p>
        </p:txBody>
      </p:sp>
      <p:cxnSp>
        <p:nvCxnSpPr>
          <p:cNvPr id="48" name="Connector 47"/>
          <p:cNvCxnSpPr/>
          <p:nvPr/>
        </p:nvCxnSpPr>
        <p:spPr>
          <a:xfrm>
            <a:off x="1371600" y="177393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691640"/>
            <a:ext cx="1005840" cy="201168"/>
          </a:xfrm>
          <a:prstGeom prst="rect">
            <a:avLst/>
          </a:prstGeom>
          <a:noFill/>
        </p:spPr>
        <p:txBody>
          <a:bodyPr wrap="square">
            <a:spAutoFit/>
          </a:bodyPr>
          <a:lstStyle/>
          <a:p>
            <a:pPr algn="ctr"/>
            <a:r>
              <a:rPr sz="700" b="0" i="1">
                <a:solidFill>
                  <a:srgbClr val="A0AAB8"/>
                </a:solidFill>
                <a:latin typeface="Calibri"/>
              </a:rPr>
              <a:t>has_host</a:t>
            </a:r>
          </a:p>
        </p:txBody>
      </p:sp>
      <p:cxnSp>
        <p:nvCxnSpPr>
          <p:cNvPr id="50" name="Connector 49"/>
          <p:cNvCxnSpPr/>
          <p:nvPr/>
        </p:nvCxnSpPr>
        <p:spPr>
          <a:xfrm>
            <a:off x="1371600" y="241401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68680" y="2331720"/>
            <a:ext cx="1005840" cy="201168"/>
          </a:xfrm>
          <a:prstGeom prst="rect">
            <a:avLst/>
          </a:prstGeom>
          <a:noFill/>
        </p:spPr>
        <p:txBody>
          <a:bodyPr wrap="square">
            <a:spAutoFit/>
          </a:bodyPr>
          <a:lstStyle/>
          <a:p>
            <a:pPr algn="ctr"/>
            <a:r>
              <a:rPr sz="700" b="0" i="1">
                <a:solidFill>
                  <a:srgbClr val="A0AAB8"/>
                </a:solidFill>
                <a:latin typeface="Calibri"/>
              </a:rPr>
              <a:t>has_port</a:t>
            </a:r>
          </a:p>
        </p:txBody>
      </p:sp>
      <p:cxnSp>
        <p:nvCxnSpPr>
          <p:cNvPr id="52" name="Connector 51"/>
          <p:cNvCxnSpPr/>
          <p:nvPr/>
        </p:nvCxnSpPr>
        <p:spPr>
          <a:xfrm>
            <a:off x="1371600" y="305409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8680" y="2971800"/>
            <a:ext cx="1005840" cy="201168"/>
          </a:xfrm>
          <a:prstGeom prst="rect">
            <a:avLst/>
          </a:prstGeom>
          <a:noFill/>
        </p:spPr>
        <p:txBody>
          <a:bodyPr wrap="square">
            <a:spAutoFit/>
          </a:bodyPr>
          <a:lstStyle/>
          <a:p>
            <a:pPr algn="ctr"/>
            <a:r>
              <a:rPr sz="700" b="0" i="1">
                <a:solidFill>
                  <a:srgbClr val="A0AAB8"/>
                </a:solidFill>
                <a:latin typeface="Calibri"/>
              </a:rPr>
              <a:t>runs</a:t>
            </a:r>
          </a:p>
        </p:txBody>
      </p:sp>
      <p:cxnSp>
        <p:nvCxnSpPr>
          <p:cNvPr id="54" name="Connector 53"/>
          <p:cNvCxnSpPr/>
          <p:nvPr/>
        </p:nvCxnSpPr>
        <p:spPr>
          <a:xfrm>
            <a:off x="1371600" y="3694176.0"/>
            <a:ext cx="0" cy="237743.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8680" y="3611879"/>
            <a:ext cx="1005840" cy="201168"/>
          </a:xfrm>
          <a:prstGeom prst="rect">
            <a:avLst/>
          </a:prstGeom>
          <a:noFill/>
        </p:spPr>
        <p:txBody>
          <a:bodyPr wrap="square">
            <a:spAutoFit/>
          </a:bodyPr>
          <a:lstStyle/>
          <a:p>
            <a:pPr algn="ctr"/>
            <a:r>
              <a:rPr sz="700" b="0" i="1">
                <a:solidFill>
                  <a:srgbClr val="A0AAB8"/>
                </a:solidFill>
                <a:latin typeface="Calibri"/>
              </a:rPr>
              <a:t>affected_by</a:t>
            </a:r>
          </a:p>
        </p:txBody>
      </p:sp>
      <p:cxnSp>
        <p:nvCxnSpPr>
          <p:cNvPr id="56" name="Connector 55"/>
          <p:cNvCxnSpPr/>
          <p:nvPr/>
        </p:nvCxnSpPr>
        <p:spPr>
          <a:xfrm>
            <a:off x="1371600" y="4334255.0"/>
            <a:ext cx="0" cy="237745.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 y="4251959"/>
            <a:ext cx="1005840" cy="201168"/>
          </a:xfrm>
          <a:prstGeom prst="rect">
            <a:avLst/>
          </a:prstGeom>
          <a:noFill/>
        </p:spPr>
        <p:txBody>
          <a:bodyPr wrap="square">
            <a:spAutoFit/>
          </a:bodyPr>
          <a:lstStyle/>
          <a:p>
            <a:pPr algn="ctr"/>
            <a:r>
              <a:rPr sz="700" b="0" i="1">
                <a:solidFill>
                  <a:srgbClr val="A0AAB8"/>
                </a:solidFill>
                <a:latin typeface="Calibri"/>
              </a:rPr>
              <a:t>validated_by</a:t>
            </a:r>
          </a:p>
        </p:txBody>
      </p:sp>
      <p:cxnSp>
        <p:nvCxnSpPr>
          <p:cNvPr id="58" name="Connector 57"/>
          <p:cNvCxnSpPr/>
          <p:nvPr/>
        </p:nvCxnSpPr>
        <p:spPr>
          <a:xfrm>
            <a:off x="1929384.0" y="285292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600200" y="2651760"/>
            <a:ext cx="1005840" cy="201168"/>
          </a:xfrm>
          <a:prstGeom prst="rect">
            <a:avLst/>
          </a:prstGeom>
          <a:noFill/>
        </p:spPr>
        <p:txBody>
          <a:bodyPr wrap="square">
            <a:spAutoFit/>
          </a:bodyPr>
          <a:lstStyle/>
          <a:p>
            <a:pPr algn="ctr"/>
            <a:r>
              <a:rPr sz="700" b="0" i="1">
                <a:solidFill>
                  <a:srgbClr val="A0AAB8"/>
                </a:solidFill>
                <a:latin typeface="Calibri"/>
              </a:rPr>
              <a:t>uses</a:t>
            </a:r>
          </a:p>
        </p:txBody>
      </p:sp>
      <p:cxnSp>
        <p:nvCxnSpPr>
          <p:cNvPr id="60" name="Connector 59"/>
          <p:cNvCxnSpPr/>
          <p:nvPr/>
        </p:nvCxnSpPr>
        <p:spPr>
          <a:xfrm>
            <a:off x="1929384.0" y="349300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600200" y="3291840"/>
            <a:ext cx="1005840" cy="201168"/>
          </a:xfrm>
          <a:prstGeom prst="rect">
            <a:avLst/>
          </a:prstGeom>
          <a:noFill/>
        </p:spPr>
        <p:txBody>
          <a:bodyPr wrap="square">
            <a:spAutoFit/>
          </a:bodyPr>
          <a:lstStyle/>
          <a:p>
            <a:pPr algn="ctr"/>
            <a:r>
              <a:rPr sz="700" b="0" i="1">
                <a:solidFill>
                  <a:srgbClr val="A0AAB8"/>
                </a:solidFill>
                <a:latin typeface="Calibri"/>
              </a:rPr>
              <a:t>has_endpoint</a:t>
            </a:r>
          </a:p>
        </p:txBody>
      </p:sp>
      <p:cxnSp>
        <p:nvCxnSpPr>
          <p:cNvPr id="62" name="Connector 61"/>
          <p:cNvCxnSpPr/>
          <p:nvPr/>
        </p:nvCxnSpPr>
        <p:spPr>
          <a:xfrm>
            <a:off x="2834640" y="3694176.0"/>
            <a:ext cx="0" cy="237743.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331720" y="3611879"/>
            <a:ext cx="1005840" cy="201168"/>
          </a:xfrm>
          <a:prstGeom prst="rect">
            <a:avLst/>
          </a:prstGeom>
          <a:noFill/>
        </p:spPr>
        <p:txBody>
          <a:bodyPr wrap="square">
            <a:spAutoFit/>
          </a:bodyPr>
          <a:lstStyle/>
          <a:p>
            <a:pPr algn="ctr"/>
            <a:r>
              <a:rPr sz="700" b="0" i="1">
                <a:solidFill>
                  <a:srgbClr val="A0AAB8"/>
                </a:solidFill>
                <a:latin typeface="Calibri"/>
              </a:rPr>
              <a:t>has_parameter</a:t>
            </a:r>
          </a:p>
        </p:txBody>
      </p:sp>
      <p:sp>
        <p:nvSpPr>
          <p:cNvPr id="64" name="Rectangle 63"/>
          <p:cNvSpPr/>
          <p:nvPr/>
        </p:nvSpPr>
        <p:spPr>
          <a:xfrm>
            <a:off x="201168" y="5230368"/>
            <a:ext cx="5285232" cy="566928"/>
          </a:xfrm>
          <a:prstGeom prst="rect">
            <a:avLst/>
          </a:prstGeom>
          <a:solidFill>
            <a:srgbClr val="061C0C"/>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 y="5285232"/>
            <a:ext cx="5120640" cy="420624"/>
          </a:xfrm>
          <a:prstGeom prst="rect">
            <a:avLst/>
          </a:prstGeom>
          <a:noFill/>
        </p:spPr>
        <p:txBody>
          <a:bodyPr wrap="square">
            <a:spAutoFit/>
          </a:bodyPr>
          <a:lstStyle/>
          <a:p>
            <a:pPr algn="l"/>
            <a:r>
              <a:rPr sz="750" b="0" i="1">
                <a:solidFill>
                  <a:srgbClr val="A0AAB8"/>
                </a:solidFill>
                <a:latin typeface="Calibri"/>
              </a:rPr>
              <a:t>EDGES:  has_host  ·  has_port  ·  runs  ·  uses  ·  has_endpoint  ·  has_parameter  ·  affected_by  ·  validated_by</a:t>
            </a:r>
          </a:p>
        </p:txBody>
      </p:sp>
      <p:sp>
        <p:nvSpPr>
          <p:cNvPr id="66" name="Rectangle 65"/>
          <p:cNvSpPr/>
          <p:nvPr/>
        </p:nvSpPr>
        <p:spPr>
          <a:xfrm>
            <a:off x="6784848" y="1316736"/>
            <a:ext cx="5029200" cy="4297680"/>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84848" y="1316736"/>
            <a:ext cx="502920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1353312"/>
            <a:ext cx="5029200" cy="201168"/>
          </a:xfrm>
          <a:prstGeom prst="rect">
            <a:avLst/>
          </a:prstGeom>
          <a:noFill/>
        </p:spPr>
        <p:txBody>
          <a:bodyPr wrap="square">
            <a:spAutoFit/>
          </a:bodyPr>
          <a:lstStyle/>
          <a:p>
            <a:pPr algn="ctr"/>
            <a:r>
              <a:rPr sz="800" b="1" i="0">
                <a:solidFill>
                  <a:srgbClr val="0A0D1A"/>
                </a:solidFill>
                <a:latin typeface="Calibri"/>
              </a:rPr>
              <a:t>AttackChain  ·  risk_score: 9.1  ·  status: VALIDATED</a:t>
            </a:r>
          </a:p>
        </p:txBody>
      </p:sp>
      <p:sp>
        <p:nvSpPr>
          <p:cNvPr id="69" name="TextBox 68"/>
          <p:cNvSpPr txBox="1"/>
          <p:nvPr/>
        </p:nvSpPr>
        <p:spPr>
          <a:xfrm>
            <a:off x="6894576" y="1609344"/>
            <a:ext cx="4846320" cy="201168"/>
          </a:xfrm>
          <a:prstGeom prst="rect">
            <a:avLst/>
          </a:prstGeom>
          <a:noFill/>
        </p:spPr>
        <p:txBody>
          <a:bodyPr wrap="square">
            <a:spAutoFit/>
          </a:bodyPr>
          <a:lstStyle/>
          <a:p>
            <a:pPr algn="l"/>
            <a:r>
              <a:rPr sz="850" b="0" i="1">
                <a:solidFill>
                  <a:srgbClr val="FFD700"/>
                </a:solidFill>
                <a:latin typeface="Calibri"/>
              </a:rPr>
              <a:t>Chain-01: CVE-2022-21661 → SQL Injection → RCE → Customer PII</a:t>
            </a:r>
          </a:p>
        </p:txBody>
      </p:sp>
      <p:sp>
        <p:nvSpPr>
          <p:cNvPr id="70" name="Rectangle 69"/>
          <p:cNvSpPr/>
          <p:nvPr/>
        </p:nvSpPr>
        <p:spPr>
          <a:xfrm>
            <a:off x="8339328" y="1911096"/>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30768" y="1947672"/>
            <a:ext cx="731520" cy="256032"/>
          </a:xfrm>
          <a:prstGeom prst="rect">
            <a:avLst/>
          </a:prstGeom>
          <a:noFill/>
        </p:spPr>
        <p:txBody>
          <a:bodyPr wrap="square">
            <a:spAutoFit/>
          </a:bodyPr>
          <a:lstStyle/>
          <a:p>
            <a:pPr algn="l"/>
            <a:r>
              <a:rPr sz="850" b="1" i="0">
                <a:solidFill>
                  <a:srgbClr val="FFD700"/>
                </a:solidFill>
                <a:latin typeface="Calibri"/>
              </a:rPr>
              <a:t>STEP 1</a:t>
            </a:r>
          </a:p>
        </p:txBody>
      </p:sp>
      <p:sp>
        <p:nvSpPr>
          <p:cNvPr id="72" name="Rectangle 71"/>
          <p:cNvSpPr/>
          <p:nvPr/>
        </p:nvSpPr>
        <p:spPr>
          <a:xfrm>
            <a:off x="9244584" y="1965960"/>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244584" y="1975104"/>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74" name="TextBox 73"/>
          <p:cNvSpPr txBox="1"/>
          <p:nvPr/>
        </p:nvSpPr>
        <p:spPr>
          <a:xfrm>
            <a:off x="8430768" y="2185416"/>
            <a:ext cx="1773936" cy="310896"/>
          </a:xfrm>
          <a:prstGeom prst="rect">
            <a:avLst/>
          </a:prstGeom>
          <a:noFill/>
        </p:spPr>
        <p:txBody>
          <a:bodyPr wrap="square">
            <a:spAutoFit/>
          </a:bodyPr>
          <a:lstStyle/>
          <a:p>
            <a:pPr algn="l"/>
            <a:r>
              <a:rPr sz="800" b="0" i="0">
                <a:solidFill>
                  <a:srgbClr val="A0AAB8"/>
                </a:solidFill>
                <a:latin typeface="Calibri"/>
              </a:rPr>
              <a:t>SQLMap → WP_Query SQLi confirmed</a:t>
            </a:r>
          </a:p>
        </p:txBody>
      </p:sp>
      <p:cxnSp>
        <p:nvCxnSpPr>
          <p:cNvPr id="75" name="Connector 74"/>
          <p:cNvCxnSpPr/>
          <p:nvPr/>
        </p:nvCxnSpPr>
        <p:spPr>
          <a:xfrm>
            <a:off x="9299448.0" y="2505456"/>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354312" y="2523744"/>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77" name="TextBox 76"/>
          <p:cNvSpPr txBox="1"/>
          <p:nvPr/>
        </p:nvSpPr>
        <p:spPr>
          <a:xfrm>
            <a:off x="10332720" y="2048256"/>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78" name="Rectangle 77"/>
          <p:cNvSpPr/>
          <p:nvPr/>
        </p:nvSpPr>
        <p:spPr>
          <a:xfrm>
            <a:off x="8339328" y="2706624"/>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30768" y="2743200"/>
            <a:ext cx="731520" cy="256032"/>
          </a:xfrm>
          <a:prstGeom prst="rect">
            <a:avLst/>
          </a:prstGeom>
          <a:noFill/>
        </p:spPr>
        <p:txBody>
          <a:bodyPr wrap="square">
            <a:spAutoFit/>
          </a:bodyPr>
          <a:lstStyle/>
          <a:p>
            <a:pPr algn="l"/>
            <a:r>
              <a:rPr sz="850" b="1" i="0">
                <a:solidFill>
                  <a:srgbClr val="FFD700"/>
                </a:solidFill>
                <a:latin typeface="Calibri"/>
              </a:rPr>
              <a:t>STEP 2</a:t>
            </a:r>
          </a:p>
        </p:txBody>
      </p:sp>
      <p:sp>
        <p:nvSpPr>
          <p:cNvPr id="80" name="Rectangle 79"/>
          <p:cNvSpPr/>
          <p:nvPr/>
        </p:nvSpPr>
        <p:spPr>
          <a:xfrm>
            <a:off x="9244584" y="2761488"/>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44584" y="2770632"/>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82" name="TextBox 81"/>
          <p:cNvSpPr txBox="1"/>
          <p:nvPr/>
        </p:nvSpPr>
        <p:spPr>
          <a:xfrm>
            <a:off x="8430768" y="2980944"/>
            <a:ext cx="1773936" cy="310896"/>
          </a:xfrm>
          <a:prstGeom prst="rect">
            <a:avLst/>
          </a:prstGeom>
          <a:noFill/>
        </p:spPr>
        <p:txBody>
          <a:bodyPr wrap="square">
            <a:spAutoFit/>
          </a:bodyPr>
          <a:lstStyle/>
          <a:p>
            <a:pPr algn="l"/>
            <a:r>
              <a:rPr sz="800" b="0" i="0">
                <a:solidFill>
                  <a:srgbClr val="A0AAB8"/>
                </a:solidFill>
                <a:latin typeface="Calibri"/>
              </a:rPr>
              <a:t>Admin hash extracted + cracked offline</a:t>
            </a:r>
          </a:p>
        </p:txBody>
      </p:sp>
      <p:cxnSp>
        <p:nvCxnSpPr>
          <p:cNvPr id="83" name="Connector 82"/>
          <p:cNvCxnSpPr/>
          <p:nvPr/>
        </p:nvCxnSpPr>
        <p:spPr>
          <a:xfrm>
            <a:off x="9299448.0" y="3300984"/>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354312" y="3319272"/>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85" name="TextBox 84"/>
          <p:cNvSpPr txBox="1"/>
          <p:nvPr/>
        </p:nvSpPr>
        <p:spPr>
          <a:xfrm>
            <a:off x="10332720" y="2843784"/>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86" name="Rectangle 85"/>
          <p:cNvSpPr/>
          <p:nvPr/>
        </p:nvSpPr>
        <p:spPr>
          <a:xfrm>
            <a:off x="8339328" y="3502152"/>
            <a:ext cx="1920240" cy="594360"/>
          </a:xfrm>
          <a:prstGeom prst="rect">
            <a:avLst/>
          </a:prstGeom>
          <a:solidFill>
            <a:srgbClr val="1E140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30768" y="3538728"/>
            <a:ext cx="731520" cy="256032"/>
          </a:xfrm>
          <a:prstGeom prst="rect">
            <a:avLst/>
          </a:prstGeom>
          <a:noFill/>
        </p:spPr>
        <p:txBody>
          <a:bodyPr wrap="square">
            <a:spAutoFit/>
          </a:bodyPr>
          <a:lstStyle/>
          <a:p>
            <a:pPr algn="l"/>
            <a:r>
              <a:rPr sz="850" b="1" i="0">
                <a:solidFill>
                  <a:srgbClr val="FF4545"/>
                </a:solidFill>
                <a:latin typeface="Calibri"/>
              </a:rPr>
              <a:t>STEP 3</a:t>
            </a:r>
          </a:p>
        </p:txBody>
      </p:sp>
      <p:sp>
        <p:nvSpPr>
          <p:cNvPr id="88" name="Rectangle 87"/>
          <p:cNvSpPr/>
          <p:nvPr/>
        </p:nvSpPr>
        <p:spPr>
          <a:xfrm>
            <a:off x="9244584" y="3557016"/>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44584" y="3566160"/>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90" name="TextBox 89"/>
          <p:cNvSpPr txBox="1"/>
          <p:nvPr/>
        </p:nvSpPr>
        <p:spPr>
          <a:xfrm>
            <a:off x="8430768" y="3776472"/>
            <a:ext cx="1773936" cy="310896"/>
          </a:xfrm>
          <a:prstGeom prst="rect">
            <a:avLst/>
          </a:prstGeom>
          <a:noFill/>
        </p:spPr>
        <p:txBody>
          <a:bodyPr wrap="square">
            <a:spAutoFit/>
          </a:bodyPr>
          <a:lstStyle/>
          <a:p>
            <a:pPr algn="l"/>
            <a:r>
              <a:rPr sz="800" b="0" i="0">
                <a:solidFill>
                  <a:srgbClr val="A0AAB8"/>
                </a:solidFill>
                <a:latin typeface="Calibri"/>
              </a:rPr>
              <a:t>Metasploit → Web shell RCE achieved</a:t>
            </a:r>
          </a:p>
        </p:txBody>
      </p:sp>
      <p:cxnSp>
        <p:nvCxnSpPr>
          <p:cNvPr id="91" name="Connector 90"/>
          <p:cNvCxnSpPr/>
          <p:nvPr/>
        </p:nvCxnSpPr>
        <p:spPr>
          <a:xfrm>
            <a:off x="9299448.0" y="4096512"/>
            <a:ext cx="0.0" cy="201168"/>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354312" y="4114800"/>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93" name="TextBox 92"/>
          <p:cNvSpPr txBox="1"/>
          <p:nvPr/>
        </p:nvSpPr>
        <p:spPr>
          <a:xfrm>
            <a:off x="10332720" y="3639312"/>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94" name="Rectangle 93"/>
          <p:cNvSpPr/>
          <p:nvPr/>
        </p:nvSpPr>
        <p:spPr>
          <a:xfrm>
            <a:off x="8339328" y="4297680"/>
            <a:ext cx="1920240" cy="594360"/>
          </a:xfrm>
          <a:prstGeom prst="rect">
            <a:avLst/>
          </a:prstGeom>
          <a:solidFill>
            <a:srgbClr val="160820"/>
          </a:solidFill>
          <a:ln w="203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430768" y="4334256"/>
            <a:ext cx="731520" cy="256032"/>
          </a:xfrm>
          <a:prstGeom prst="rect">
            <a:avLst/>
          </a:prstGeom>
          <a:noFill/>
        </p:spPr>
        <p:txBody>
          <a:bodyPr wrap="square">
            <a:spAutoFit/>
          </a:bodyPr>
          <a:lstStyle/>
          <a:p>
            <a:pPr algn="l"/>
            <a:r>
              <a:rPr sz="850" b="1" i="0">
                <a:solidFill>
                  <a:srgbClr val="BD93F9"/>
                </a:solidFill>
                <a:latin typeface="Calibri"/>
              </a:rPr>
              <a:t>IMPACT</a:t>
            </a:r>
          </a:p>
        </p:txBody>
      </p:sp>
      <p:sp>
        <p:nvSpPr>
          <p:cNvPr id="96" name="Rectangle 95"/>
          <p:cNvSpPr/>
          <p:nvPr/>
        </p:nvSpPr>
        <p:spPr>
          <a:xfrm>
            <a:off x="9244584" y="4352544"/>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4584" y="4361688"/>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98" name="TextBox 97"/>
          <p:cNvSpPr txBox="1"/>
          <p:nvPr/>
        </p:nvSpPr>
        <p:spPr>
          <a:xfrm>
            <a:off x="8430768" y="4572000"/>
            <a:ext cx="1773936" cy="310896"/>
          </a:xfrm>
          <a:prstGeom prst="rect">
            <a:avLst/>
          </a:prstGeom>
          <a:noFill/>
        </p:spPr>
        <p:txBody>
          <a:bodyPr wrap="square">
            <a:spAutoFit/>
          </a:bodyPr>
          <a:lstStyle/>
          <a:p>
            <a:pPr algn="l"/>
            <a:r>
              <a:rPr sz="800" b="0" i="0">
                <a:solidFill>
                  <a:srgbClr val="A0AAB8"/>
                </a:solidFill>
                <a:latin typeface="Calibri"/>
              </a:rPr>
              <a:t>Full server access Customer PII exposed</a:t>
            </a:r>
          </a:p>
        </p:txBody>
      </p:sp>
      <p:sp>
        <p:nvSpPr>
          <p:cNvPr id="99" name="TextBox 98"/>
          <p:cNvSpPr txBox="1"/>
          <p:nvPr/>
        </p:nvSpPr>
        <p:spPr>
          <a:xfrm>
            <a:off x="10332720" y="4434840"/>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100" name="TextBox 99"/>
          <p:cNvSpPr txBox="1"/>
          <p:nvPr/>
        </p:nvSpPr>
        <p:spPr>
          <a:xfrm>
            <a:off x="6894576" y="1810512"/>
            <a:ext cx="4846320" cy="182880"/>
          </a:xfrm>
          <a:prstGeom prst="rect">
            <a:avLst/>
          </a:prstGeom>
          <a:noFill/>
        </p:spPr>
        <p:txBody>
          <a:bodyPr wrap="square">
            <a:spAutoFit/>
          </a:bodyPr>
          <a:lstStyle/>
          <a:p>
            <a:pPr algn="l"/>
            <a:r>
              <a:rPr sz="750" b="0" i="1">
                <a:solidFill>
                  <a:srgbClr val="A0AAB8"/>
                </a:solidFill>
                <a:latin typeface="Calibri"/>
              </a:rPr>
              <a:t>starts_at: ASG Vulnerability node</a:t>
            </a:r>
          </a:p>
        </p:txBody>
      </p:sp>
      <p:sp>
        <p:nvSpPr>
          <p:cNvPr id="101" name="Rectangle 100"/>
          <p:cNvSpPr/>
          <p:nvPr/>
        </p:nvSpPr>
        <p:spPr>
          <a:xfrm>
            <a:off x="6711696" y="5230368"/>
            <a:ext cx="5285232" cy="566928"/>
          </a:xfrm>
          <a:prstGeom prst="rect">
            <a:avLst/>
          </a:prstGeom>
          <a:solidFill>
            <a:srgbClr val="1C1002"/>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784848" y="5285232"/>
            <a:ext cx="5120640" cy="457200"/>
          </a:xfrm>
          <a:prstGeom prst="rect">
            <a:avLst/>
          </a:prstGeom>
          <a:noFill/>
        </p:spPr>
        <p:txBody>
          <a:bodyPr wrap="square">
            <a:spAutoFit/>
          </a:bodyPr>
          <a:lstStyle/>
          <a:p>
            <a:pPr algn="l"/>
            <a:r>
              <a:rPr sz="750" b="0" i="1">
                <a:solidFill>
                  <a:srgbClr val="A0AAB8"/>
                </a:solidFill>
                <a:latin typeface="Calibri"/>
              </a:rPr>
              <a:t>EDGES:  starts_at  ·  next_step  ·  achieves  ·  supported_by
VALIDATION STATUS:  HYPOTHESIZED → PARTIALLY_VALIDATED → VALIDATED / RULED_OUT</a:t>
            </a:r>
          </a:p>
        </p:txBody>
      </p:sp>
      <p:sp>
        <p:nvSpPr>
          <p:cNvPr id="103" name="Rectangle 102"/>
          <p:cNvSpPr/>
          <p:nvPr/>
        </p:nvSpPr>
        <p:spPr>
          <a:xfrm>
            <a:off x="164592" y="5870448"/>
            <a:ext cx="11862511" cy="658368"/>
          </a:xfrm>
          <a:prstGeom prst="rect">
            <a:avLst/>
          </a:prstGeom>
          <a:solidFill>
            <a:srgbClr val="061422"/>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5943600"/>
            <a:ext cx="11368735" cy="530352"/>
          </a:xfrm>
          <a:prstGeom prst="rect">
            <a:avLst/>
          </a:prstGeom>
          <a:noFill/>
        </p:spPr>
        <p:txBody>
          <a:bodyPr wrap="square">
            <a:spAutoFit/>
          </a:bodyPr>
          <a:lstStyle/>
          <a:p>
            <a:pPr algn="l"/>
            <a:r>
              <a:rPr sz="1050" b="0" i="1">
                <a:solidFill>
                  <a:srgbClr val="00E5FF"/>
                </a:solidFill>
                <a:latin typeface="Calibri"/>
              </a:rPr>
              <a:t>Separation Principle:  Discovery agents write only to the ASG — they never reason about chains.  The Commander writes only to the APG — it never runs tools.  No agent conflates discovered facts with hypothesised attack reasoning.  Graph (not RAG): typed edges express that CVE-X ‘affected_by’ Service-Y — a relationship that vector similarity cannot represent.</a:t>
            </a:r>
          </a:p>
        </p:txBody>
      </p:sp>
      <p:sp>
        <p:nvSpPr>
          <p:cNvPr id="105" name="TextBox 104"/>
          <p:cNvSpPr txBox="1"/>
          <p:nvPr/>
        </p:nvSpPr>
        <p:spPr>
          <a:xfrm>
            <a:off x="11780215" y="6355080"/>
            <a:ext cx="384048" cy="411480"/>
          </a:xfrm>
          <a:prstGeom prst="rect">
            <a:avLst/>
          </a:prstGeom>
          <a:noFill/>
        </p:spPr>
        <p:txBody>
          <a:bodyPr wrap="square">
            <a:spAutoFit/>
          </a:bodyPr>
          <a:lstStyle/>
          <a:p>
            <a:pPr algn="r"/>
            <a:r>
              <a:rPr sz="1300" b="1" i="0">
                <a:solidFill>
                  <a:srgbClr val="39FF14"/>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BD93F9"/>
                </a:solidFill>
                <a:latin typeface="Calibri"/>
              </a:rPr>
              <a:t>AGENT ARCHITECTURE</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400" b="1" i="0">
                <a:solidFill>
                  <a:srgbClr val="FFFFFF"/>
                </a:solidFill>
                <a:latin typeface="Calibri"/>
              </a:rPr>
              <a:t>Context-Isolated Agents — Spawn · Execute · Return · Discard</a:t>
            </a:r>
          </a:p>
        </p:txBody>
      </p:sp>
      <p:sp>
        <p:nvSpPr>
          <p:cNvPr id="7" name="Rectangle 6"/>
          <p:cNvSpPr/>
          <p:nvPr/>
        </p:nvSpPr>
        <p:spPr>
          <a:xfrm>
            <a:off x="164592" y="804672"/>
            <a:ext cx="4434840" cy="5797296"/>
          </a:xfrm>
          <a:prstGeom prst="rect">
            <a:avLst/>
          </a:prstGeom>
          <a:solidFill>
            <a:srgbClr val="080C20"/>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 y="859536"/>
            <a:ext cx="4434840" cy="201168"/>
          </a:xfrm>
          <a:prstGeom prst="rect">
            <a:avLst/>
          </a:prstGeom>
          <a:noFill/>
        </p:spPr>
        <p:txBody>
          <a:bodyPr wrap="square">
            <a:spAutoFit/>
          </a:bodyPr>
          <a:lstStyle/>
          <a:p>
            <a:pPr algn="ctr"/>
            <a:r>
              <a:rPr sz="900" b="1" i="0">
                <a:solidFill>
                  <a:srgbClr val="BD93F9"/>
                </a:solidFill>
                <a:latin typeface="Calibri"/>
              </a:rPr>
              <a:t>CONTEXT ISOLATION MODEL</a:t>
            </a:r>
          </a:p>
        </p:txBody>
      </p:sp>
      <p:sp>
        <p:nvSpPr>
          <p:cNvPr id="9" name="Rectangle 8"/>
          <p:cNvSpPr/>
          <p:nvPr/>
        </p:nvSpPr>
        <p:spPr>
          <a:xfrm>
            <a:off x="987552" y="1152144"/>
            <a:ext cx="2743200" cy="502920"/>
          </a:xfrm>
          <a:prstGeom prst="rect">
            <a:avLst/>
          </a:prstGeom>
          <a:solidFill>
            <a:srgbClr val="041832"/>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7552" y="1152144"/>
            <a:ext cx="274320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170432"/>
            <a:ext cx="274320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2" name="TextBox 11"/>
          <p:cNvSpPr txBox="1"/>
          <p:nvPr/>
        </p:nvSpPr>
        <p:spPr>
          <a:xfrm>
            <a:off x="987552" y="1353312"/>
            <a:ext cx="2743200" cy="237744"/>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3" name="Connector 12"/>
          <p:cNvCxnSpPr/>
          <p:nvPr/>
        </p:nvCxnSpPr>
        <p:spPr>
          <a:xfrm>
            <a:off x="2382012.0" y="1655064"/>
            <a:ext cx="0.0" cy="228600"/>
          </a:xfrm>
          <a:prstGeom prst="line">
            <a:avLst/>
          </a:prstGeom>
          <a:ln w="190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455164" y="1673352"/>
            <a:ext cx="1645920" cy="201168"/>
          </a:xfrm>
          <a:prstGeom prst="rect">
            <a:avLst/>
          </a:prstGeom>
          <a:noFill/>
        </p:spPr>
        <p:txBody>
          <a:bodyPr wrap="square">
            <a:spAutoFit/>
          </a:bodyPr>
          <a:lstStyle/>
          <a:p>
            <a:pPr algn="l"/>
            <a:r>
              <a:rPr sz="750" b="0" i="1">
                <a:solidFill>
                  <a:srgbClr val="BD93F9"/>
                </a:solidFill>
                <a:latin typeface="Calibri"/>
              </a:rPr>
              <a:t>spawn with scoped context</a:t>
            </a:r>
          </a:p>
        </p:txBody>
      </p:sp>
      <p:sp>
        <p:nvSpPr>
          <p:cNvPr id="15" name="Rectangle 14"/>
          <p:cNvSpPr/>
          <p:nvPr/>
        </p:nvSpPr>
        <p:spPr>
          <a:xfrm>
            <a:off x="365760" y="1947672"/>
            <a:ext cx="4032504" cy="3200400"/>
          </a:xfrm>
          <a:prstGeom prst="rect">
            <a:avLst/>
          </a:prstGeom>
          <a:solidFill>
            <a:srgbClr val="0A10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947672"/>
            <a:ext cx="4032504" cy="219456"/>
          </a:xfrm>
          <a:prstGeom prst="rect">
            <a:avLst/>
          </a:prstGeom>
          <a:solidFill>
            <a:srgbClr val="20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84248"/>
            <a:ext cx="4032504" cy="164592"/>
          </a:xfrm>
          <a:prstGeom prst="rect">
            <a:avLst/>
          </a:prstGeom>
          <a:noFill/>
        </p:spPr>
        <p:txBody>
          <a:bodyPr wrap="square">
            <a:spAutoFit/>
          </a:bodyPr>
          <a:lstStyle/>
          <a:p>
            <a:pPr algn="ctr"/>
            <a:r>
              <a:rPr sz="750" b="1" i="0">
                <a:solidFill>
                  <a:srgbClr val="BD93F9"/>
                </a:solidFill>
                <a:latin typeface="Calibri"/>
              </a:rPr>
              <a:t>ISOLATED AGENT CONTEXT  (fresh per task)</a:t>
            </a:r>
          </a:p>
        </p:txBody>
      </p:sp>
      <p:sp>
        <p:nvSpPr>
          <p:cNvPr id="18" name="Rectangle 17"/>
          <p:cNvSpPr/>
          <p:nvPr/>
        </p:nvSpPr>
        <p:spPr>
          <a:xfrm>
            <a:off x="457200" y="2221992"/>
            <a:ext cx="3849624" cy="665226"/>
          </a:xfrm>
          <a:prstGeom prst="rect">
            <a:avLst/>
          </a:prstGeom>
          <a:solidFill>
            <a:srgbClr val="04160A"/>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258568"/>
            <a:ext cx="1005840" cy="592074"/>
          </a:xfrm>
          <a:prstGeom prst="rect">
            <a:avLst/>
          </a:prstGeom>
          <a:noFill/>
        </p:spPr>
        <p:txBody>
          <a:bodyPr wrap="square">
            <a:spAutoFit/>
          </a:bodyPr>
          <a:lstStyle/>
          <a:p>
            <a:pPr algn="l"/>
            <a:r>
              <a:rPr sz="800" b="1" i="0">
                <a:solidFill>
                  <a:srgbClr val="39FF14"/>
                </a:solidFill>
                <a:latin typeface="Calibri"/>
              </a:rPr>
              <a:t>ASG SLICE</a:t>
            </a:r>
          </a:p>
        </p:txBody>
      </p:sp>
      <p:sp>
        <p:nvSpPr>
          <p:cNvPr id="20" name="TextBox 19"/>
          <p:cNvSpPr txBox="1"/>
          <p:nvPr/>
        </p:nvSpPr>
        <p:spPr>
          <a:xfrm>
            <a:off x="1572768" y="2258568"/>
            <a:ext cx="2660904" cy="592074"/>
          </a:xfrm>
          <a:prstGeom prst="rect">
            <a:avLst/>
          </a:prstGeom>
          <a:noFill/>
        </p:spPr>
        <p:txBody>
          <a:bodyPr wrap="square">
            <a:spAutoFit/>
          </a:bodyPr>
          <a:lstStyle/>
          <a:p>
            <a:pPr algn="l"/>
            <a:r>
              <a:rPr sz="800" b="0" i="1">
                <a:solidFill>
                  <a:srgbClr val="A0AAB8"/>
                </a:solidFill>
                <a:latin typeface="Calibri"/>
              </a:rPr>
              <a:t>Only nodes relevant to this task</a:t>
            </a:r>
          </a:p>
        </p:txBody>
      </p:sp>
      <p:sp>
        <p:nvSpPr>
          <p:cNvPr id="21" name="Rectangle 20"/>
          <p:cNvSpPr/>
          <p:nvPr/>
        </p:nvSpPr>
        <p:spPr>
          <a:xfrm>
            <a:off x="457200" y="2942082"/>
            <a:ext cx="3849624" cy="665226"/>
          </a:xfrm>
          <a:prstGeom prst="rect">
            <a:avLst/>
          </a:prstGeom>
          <a:solidFill>
            <a:srgbClr val="1A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978658"/>
            <a:ext cx="1005840" cy="592074"/>
          </a:xfrm>
          <a:prstGeom prst="rect">
            <a:avLst/>
          </a:prstGeom>
          <a:noFill/>
        </p:spPr>
        <p:txBody>
          <a:bodyPr wrap="square">
            <a:spAutoFit/>
          </a:bodyPr>
          <a:lstStyle/>
          <a:p>
            <a:pPr algn="l"/>
            <a:r>
              <a:rPr sz="800" b="1" i="0">
                <a:solidFill>
                  <a:srgbClr val="FFD700"/>
                </a:solidFill>
                <a:latin typeface="Calibri"/>
              </a:rPr>
              <a:t>APG SLICE</a:t>
            </a:r>
          </a:p>
        </p:txBody>
      </p:sp>
      <p:sp>
        <p:nvSpPr>
          <p:cNvPr id="23" name="TextBox 22"/>
          <p:cNvSpPr txBox="1"/>
          <p:nvPr/>
        </p:nvSpPr>
        <p:spPr>
          <a:xfrm>
            <a:off x="1572768" y="2978658"/>
            <a:ext cx="2660904" cy="592074"/>
          </a:xfrm>
          <a:prstGeom prst="rect">
            <a:avLst/>
          </a:prstGeom>
          <a:noFill/>
        </p:spPr>
        <p:txBody>
          <a:bodyPr wrap="square">
            <a:spAutoFit/>
          </a:bodyPr>
          <a:lstStyle/>
          <a:p>
            <a:pPr algn="l"/>
            <a:r>
              <a:rPr sz="800" b="0" i="1">
                <a:solidFill>
                  <a:srgbClr val="A0AAB8"/>
                </a:solidFill>
                <a:latin typeface="Calibri"/>
              </a:rPr>
              <a:t>Relevant AttackChains (if any)</a:t>
            </a:r>
          </a:p>
        </p:txBody>
      </p:sp>
      <p:sp>
        <p:nvSpPr>
          <p:cNvPr id="24" name="Rectangle 23"/>
          <p:cNvSpPr/>
          <p:nvPr/>
        </p:nvSpPr>
        <p:spPr>
          <a:xfrm>
            <a:off x="457200" y="3662172"/>
            <a:ext cx="3849624" cy="665226"/>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698748"/>
            <a:ext cx="1005840" cy="592074"/>
          </a:xfrm>
          <a:prstGeom prst="rect">
            <a:avLst/>
          </a:prstGeom>
          <a:noFill/>
        </p:spPr>
        <p:txBody>
          <a:bodyPr wrap="square">
            <a:spAutoFit/>
          </a:bodyPr>
          <a:lstStyle/>
          <a:p>
            <a:pPr algn="l"/>
            <a:r>
              <a:rPr sz="800" b="1" i="0">
                <a:solidFill>
                  <a:srgbClr val="FF4545"/>
                </a:solidFill>
                <a:latin typeface="Calibri"/>
              </a:rPr>
              <a:t>TOOL SET</a:t>
            </a:r>
          </a:p>
        </p:txBody>
      </p:sp>
      <p:sp>
        <p:nvSpPr>
          <p:cNvPr id="26" name="TextBox 25"/>
          <p:cNvSpPr txBox="1"/>
          <p:nvPr/>
        </p:nvSpPr>
        <p:spPr>
          <a:xfrm>
            <a:off x="1572768" y="3698748"/>
            <a:ext cx="2660904" cy="592074"/>
          </a:xfrm>
          <a:prstGeom prst="rect">
            <a:avLst/>
          </a:prstGeom>
          <a:noFill/>
        </p:spPr>
        <p:txBody>
          <a:bodyPr wrap="square">
            <a:spAutoFit/>
          </a:bodyPr>
          <a:lstStyle/>
          <a:p>
            <a:pPr algn="l"/>
            <a:r>
              <a:rPr sz="800" b="0" i="1">
                <a:solidFill>
                  <a:srgbClr val="A0AAB8"/>
                </a:solidFill>
                <a:latin typeface="Calibri"/>
              </a:rPr>
              <a:t>Authorized tools only — no others</a:t>
            </a:r>
          </a:p>
        </p:txBody>
      </p:sp>
      <p:sp>
        <p:nvSpPr>
          <p:cNvPr id="27" name="Rectangle 26"/>
          <p:cNvSpPr/>
          <p:nvPr/>
        </p:nvSpPr>
        <p:spPr>
          <a:xfrm>
            <a:off x="457200" y="4382262"/>
            <a:ext cx="3849624" cy="665226"/>
          </a:xfrm>
          <a:prstGeom prst="rect">
            <a:avLst/>
          </a:prstGeom>
          <a:solidFill>
            <a:srgbClr val="04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18838"/>
            <a:ext cx="1005840" cy="592074"/>
          </a:xfrm>
          <a:prstGeom prst="rect">
            <a:avLst/>
          </a:prstGeom>
          <a:noFill/>
        </p:spPr>
        <p:txBody>
          <a:bodyPr wrap="square">
            <a:spAutoFit/>
          </a:bodyPr>
          <a:lstStyle/>
          <a:p>
            <a:pPr algn="l"/>
            <a:r>
              <a:rPr sz="800" b="1" i="0">
                <a:solidFill>
                  <a:srgbClr val="00E5FF"/>
                </a:solidFill>
                <a:latin typeface="Calibri"/>
              </a:rPr>
              <a:t>TASK SPEC</a:t>
            </a:r>
          </a:p>
        </p:txBody>
      </p:sp>
      <p:sp>
        <p:nvSpPr>
          <p:cNvPr id="29" name="TextBox 28"/>
          <p:cNvSpPr txBox="1"/>
          <p:nvPr/>
        </p:nvSpPr>
        <p:spPr>
          <a:xfrm>
            <a:off x="1572768" y="4418838"/>
            <a:ext cx="2660904" cy="592074"/>
          </a:xfrm>
          <a:prstGeom prst="rect">
            <a:avLst/>
          </a:prstGeom>
          <a:noFill/>
        </p:spPr>
        <p:txBody>
          <a:bodyPr wrap="square">
            <a:spAutoFit/>
          </a:bodyPr>
          <a:lstStyle/>
          <a:p>
            <a:pPr algn="l"/>
            <a:r>
              <a:rPr sz="800" b="0" i="1">
                <a:solidFill>
                  <a:srgbClr val="A0AAB8"/>
                </a:solidFill>
                <a:latin typeface="Calibri"/>
              </a:rPr>
              <a:t>Commander's current plan item</a:t>
            </a:r>
          </a:p>
        </p:txBody>
      </p:sp>
      <p:cxnSp>
        <p:nvCxnSpPr>
          <p:cNvPr id="30" name="Connector 29"/>
          <p:cNvCxnSpPr/>
          <p:nvPr/>
        </p:nvCxnSpPr>
        <p:spPr>
          <a:xfrm>
            <a:off x="2382012.0" y="5148072"/>
            <a:ext cx="0.0" cy="292608"/>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65760" y="5495544"/>
            <a:ext cx="4032504" cy="512064"/>
          </a:xfrm>
          <a:prstGeom prst="rect">
            <a:avLst/>
          </a:prstGeom>
          <a:solidFill>
            <a:srgbClr val="041E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550408"/>
            <a:ext cx="4032504" cy="201168"/>
          </a:xfrm>
          <a:prstGeom prst="rect">
            <a:avLst/>
          </a:prstGeom>
          <a:noFill/>
        </p:spPr>
        <p:txBody>
          <a:bodyPr wrap="square">
            <a:spAutoFit/>
          </a:bodyPr>
          <a:lstStyle/>
          <a:p>
            <a:pPr algn="ctr"/>
            <a:r>
              <a:rPr sz="800" b="1" i="0">
                <a:solidFill>
                  <a:srgbClr val="39FF14"/>
                </a:solidFill>
                <a:latin typeface="Calibri"/>
              </a:rPr>
              <a:t>RETURNS: Structured ASG Delta (new nodes + edges only)</a:t>
            </a:r>
          </a:p>
        </p:txBody>
      </p:sp>
      <p:sp>
        <p:nvSpPr>
          <p:cNvPr id="33" name="TextBox 32"/>
          <p:cNvSpPr txBox="1"/>
          <p:nvPr/>
        </p:nvSpPr>
        <p:spPr>
          <a:xfrm>
            <a:off x="365760" y="5769864"/>
            <a:ext cx="4032504" cy="201168"/>
          </a:xfrm>
          <a:prstGeom prst="rect">
            <a:avLst/>
          </a:prstGeom>
          <a:noFill/>
        </p:spPr>
        <p:txBody>
          <a:bodyPr wrap="square">
            <a:spAutoFit/>
          </a:bodyPr>
          <a:lstStyle/>
          <a:p>
            <a:pPr algn="ctr"/>
            <a:r>
              <a:rPr sz="750" b="0" i="1">
                <a:solidFill>
                  <a:srgbClr val="A0AAB8"/>
                </a:solidFill>
                <a:latin typeface="Calibri"/>
              </a:rPr>
              <a:t>Working context discarded — no raw history passes to Commander</a:t>
            </a:r>
          </a:p>
        </p:txBody>
      </p:sp>
      <p:sp>
        <p:nvSpPr>
          <p:cNvPr id="34" name="Rectangle 33"/>
          <p:cNvSpPr/>
          <p:nvPr/>
        </p:nvSpPr>
        <p:spPr>
          <a:xfrm>
            <a:off x="365760" y="6099048"/>
            <a:ext cx="4032504" cy="219456"/>
          </a:xfrm>
          <a:prstGeom prst="rect">
            <a:avLst/>
          </a:prstGeom>
          <a:solidFill>
            <a:srgbClr val="0C1022"/>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126480"/>
            <a:ext cx="3895344" cy="182880"/>
          </a:xfrm>
          <a:prstGeom prst="rect">
            <a:avLst/>
          </a:prstGeom>
          <a:noFill/>
        </p:spPr>
        <p:txBody>
          <a:bodyPr wrap="square">
            <a:spAutoFit/>
          </a:bodyPr>
          <a:lstStyle/>
          <a:p>
            <a:pPr algn="l"/>
            <a:r>
              <a:rPr sz="800" b="0" i="0">
                <a:solidFill>
                  <a:srgbClr val="00E5FF"/>
                </a:solidFill>
                <a:latin typeface="Calibri"/>
              </a:rPr>
              <a:t>✓  Commander context stays clean</a:t>
            </a:r>
          </a:p>
        </p:txBody>
      </p:sp>
      <p:sp>
        <p:nvSpPr>
          <p:cNvPr id="36" name="Rectangle 35"/>
          <p:cNvSpPr/>
          <p:nvPr/>
        </p:nvSpPr>
        <p:spPr>
          <a:xfrm>
            <a:off x="365760" y="6345936"/>
            <a:ext cx="4032504" cy="219456"/>
          </a:xfrm>
          <a:prstGeom prst="rect">
            <a:avLst/>
          </a:prstGeom>
          <a:solidFill>
            <a:srgbClr val="0C1022"/>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373368"/>
            <a:ext cx="3895344" cy="182880"/>
          </a:xfrm>
          <a:prstGeom prst="rect">
            <a:avLst/>
          </a:prstGeom>
          <a:noFill/>
        </p:spPr>
        <p:txBody>
          <a:bodyPr wrap="square">
            <a:spAutoFit/>
          </a:bodyPr>
          <a:lstStyle/>
          <a:p>
            <a:pPr algn="l"/>
            <a:r>
              <a:rPr sz="800" b="0" i="0">
                <a:solidFill>
                  <a:srgbClr val="BD93F9"/>
                </a:solidFill>
                <a:latin typeface="Calibri"/>
              </a:rPr>
              <a:t>✓  Agents can't contaminate each other</a:t>
            </a:r>
          </a:p>
        </p:txBody>
      </p:sp>
      <p:sp>
        <p:nvSpPr>
          <p:cNvPr id="38" name="Rectangle 37"/>
          <p:cNvSpPr/>
          <p:nvPr/>
        </p:nvSpPr>
        <p:spPr>
          <a:xfrm>
            <a:off x="365760" y="6592824"/>
            <a:ext cx="4032504" cy="219456"/>
          </a:xfrm>
          <a:prstGeom prst="rect">
            <a:avLst/>
          </a:prstGeom>
          <a:solidFill>
            <a:srgbClr val="0C1022"/>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3895344" cy="182880"/>
          </a:xfrm>
          <a:prstGeom prst="rect">
            <a:avLst/>
          </a:prstGeom>
          <a:noFill/>
        </p:spPr>
        <p:txBody>
          <a:bodyPr wrap="square">
            <a:spAutoFit/>
          </a:bodyPr>
          <a:lstStyle/>
          <a:p>
            <a:pPr algn="l"/>
            <a:r>
              <a:rPr sz="800" b="0" i="0">
                <a:solidFill>
                  <a:srgbClr val="FF4545"/>
                </a:solidFill>
                <a:latin typeface="Calibri"/>
              </a:rPr>
              <a:t>✓  High-risk refusals don't bias planning</a:t>
            </a:r>
          </a:p>
        </p:txBody>
      </p:sp>
      <p:sp>
        <p:nvSpPr>
          <p:cNvPr id="40" name="Rectangle 39"/>
          <p:cNvSpPr/>
          <p:nvPr/>
        </p:nvSpPr>
        <p:spPr>
          <a:xfrm>
            <a:off x="4773168" y="822960"/>
            <a:ext cx="3572103" cy="1895856"/>
          </a:xfrm>
          <a:prstGeom prst="rect">
            <a:avLst/>
          </a:prstGeom>
          <a:solidFill>
            <a:srgbClr val="10162B"/>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39431" y="822960"/>
            <a:ext cx="100584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39431" y="850392"/>
            <a:ext cx="1005840" cy="182880"/>
          </a:xfrm>
          <a:prstGeom prst="rect">
            <a:avLst/>
          </a:prstGeom>
          <a:noFill/>
        </p:spPr>
        <p:txBody>
          <a:bodyPr wrap="square">
            <a:spAutoFit/>
          </a:bodyPr>
          <a:lstStyle/>
          <a:p>
            <a:pPr algn="ctr"/>
            <a:r>
              <a:rPr sz="750" b="1" i="0">
                <a:solidFill>
                  <a:srgbClr val="0A0D1A"/>
                </a:solidFill>
                <a:latin typeface="Calibri"/>
              </a:rPr>
              <a:t>ORCHESTRATION</a:t>
            </a:r>
          </a:p>
        </p:txBody>
      </p:sp>
      <p:sp>
        <p:nvSpPr>
          <p:cNvPr id="43" name="TextBox 42"/>
          <p:cNvSpPr txBox="1"/>
          <p:nvPr/>
        </p:nvSpPr>
        <p:spPr>
          <a:xfrm>
            <a:off x="4864608" y="859536"/>
            <a:ext cx="2429103" cy="237744"/>
          </a:xfrm>
          <a:prstGeom prst="rect">
            <a:avLst/>
          </a:prstGeom>
          <a:noFill/>
        </p:spPr>
        <p:txBody>
          <a:bodyPr wrap="square">
            <a:spAutoFit/>
          </a:bodyPr>
          <a:lstStyle/>
          <a:p>
            <a:pPr algn="l"/>
            <a:r>
              <a:rPr sz="1200" b="1" i="0">
                <a:solidFill>
                  <a:srgbClr val="00E5FF"/>
                </a:solidFill>
                <a:latin typeface="Calibri"/>
              </a:rPr>
              <a:t>👑 Commander</a:t>
            </a:r>
          </a:p>
        </p:txBody>
      </p:sp>
      <p:sp>
        <p:nvSpPr>
          <p:cNvPr id="44" name="Rectangle 43"/>
          <p:cNvSpPr/>
          <p:nvPr/>
        </p:nvSpPr>
        <p:spPr>
          <a:xfrm>
            <a:off x="4864608" y="1133856"/>
            <a:ext cx="3389223" cy="1828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4608" y="1170432"/>
            <a:ext cx="3407511" cy="219456"/>
          </a:xfrm>
          <a:prstGeom prst="rect">
            <a:avLst/>
          </a:prstGeom>
          <a:noFill/>
        </p:spPr>
        <p:txBody>
          <a:bodyPr wrap="square">
            <a:spAutoFit/>
          </a:bodyPr>
          <a:lstStyle/>
          <a:p>
            <a:pPr algn="l"/>
            <a:r>
              <a:rPr sz="850" b="0" i="1">
                <a:solidFill>
                  <a:srgbClr val="FFFFFF"/>
                </a:solidFill>
                <a:latin typeface="Calibri"/>
              </a:rPr>
              <a:t>Reads the dual graph. Plans. Delegates. Never runs tools.</a:t>
            </a:r>
          </a:p>
        </p:txBody>
      </p:sp>
      <p:sp>
        <p:nvSpPr>
          <p:cNvPr id="46" name="Rectangle 45"/>
          <p:cNvSpPr/>
          <p:nvPr/>
        </p:nvSpPr>
        <p:spPr>
          <a:xfrm>
            <a:off x="4864608" y="1417320"/>
            <a:ext cx="3389223" cy="219456"/>
          </a:xfrm>
          <a:prstGeom prst="rect">
            <a:avLst/>
          </a:prstGeom>
          <a:solidFill>
            <a:srgbClr val="0810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1435608"/>
            <a:ext cx="3297783" cy="182880"/>
          </a:xfrm>
          <a:prstGeom prst="rect">
            <a:avLst/>
          </a:prstGeom>
          <a:noFill/>
        </p:spPr>
        <p:txBody>
          <a:bodyPr wrap="square">
            <a:spAutoFit/>
          </a:bodyPr>
          <a:lstStyle/>
          <a:p>
            <a:pPr algn="l"/>
            <a:r>
              <a:rPr sz="750" b="1" i="0">
                <a:solidFill>
                  <a:srgbClr val="00E5FF"/>
                </a:solidFill>
                <a:latin typeface="Calibri"/>
              </a:rPr>
              <a:t>No tools — reasons over ASG + APG</a:t>
            </a:r>
          </a:p>
        </p:txBody>
      </p:sp>
      <p:sp>
        <p:nvSpPr>
          <p:cNvPr id="48" name="TextBox 47"/>
          <p:cNvSpPr txBox="1"/>
          <p:nvPr/>
        </p:nvSpPr>
        <p:spPr>
          <a:xfrm>
            <a:off x="4864608" y="1673352"/>
            <a:ext cx="3407511" cy="981456"/>
          </a:xfrm>
          <a:prstGeom prst="rect">
            <a:avLst/>
          </a:prstGeom>
          <a:noFill/>
        </p:spPr>
        <p:txBody>
          <a:bodyPr wrap="square">
            <a:spAutoFit/>
          </a:bodyPr>
          <a:lstStyle/>
          <a:p>
            <a:pPr algn="l"/>
            <a:r>
              <a:rPr sz="850" b="0" i="0">
                <a:solidFill>
                  <a:srgbClr val="A0AAB8"/>
                </a:solidFill>
                <a:latin typeface="Calibri"/>
              </a:rPr>
              <a:t>Only agent that writes to APG. Approves High-risk ops via mailbox.</a:t>
            </a:r>
          </a:p>
        </p:txBody>
      </p:sp>
      <p:sp>
        <p:nvSpPr>
          <p:cNvPr id="49" name="Rectangle 48"/>
          <p:cNvSpPr/>
          <p:nvPr/>
        </p:nvSpPr>
        <p:spPr>
          <a:xfrm>
            <a:off x="8454999" y="822960"/>
            <a:ext cx="3572103" cy="1895856"/>
          </a:xfrm>
          <a:prstGeom prst="rect">
            <a:avLst/>
          </a:prstGeom>
          <a:solidFill>
            <a:srgbClr val="10162B"/>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021263" y="822960"/>
            <a:ext cx="100584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21263" y="850392"/>
            <a:ext cx="1005840" cy="182880"/>
          </a:xfrm>
          <a:prstGeom prst="rect">
            <a:avLst/>
          </a:prstGeom>
          <a:noFill/>
        </p:spPr>
        <p:txBody>
          <a:bodyPr wrap="square">
            <a:spAutoFit/>
          </a:bodyPr>
          <a:lstStyle/>
          <a:p>
            <a:pPr algn="ctr"/>
            <a:r>
              <a:rPr sz="750" b="1" i="0">
                <a:solidFill>
                  <a:srgbClr val="0A0D1A"/>
                </a:solidFill>
                <a:latin typeface="Calibri"/>
              </a:rPr>
              <a:t>PHASE 1</a:t>
            </a:r>
          </a:p>
        </p:txBody>
      </p:sp>
      <p:sp>
        <p:nvSpPr>
          <p:cNvPr id="52" name="TextBox 51"/>
          <p:cNvSpPr txBox="1"/>
          <p:nvPr/>
        </p:nvSpPr>
        <p:spPr>
          <a:xfrm>
            <a:off x="8546439" y="859536"/>
            <a:ext cx="2429103" cy="237744"/>
          </a:xfrm>
          <a:prstGeom prst="rect">
            <a:avLst/>
          </a:prstGeom>
          <a:noFill/>
        </p:spPr>
        <p:txBody>
          <a:bodyPr wrap="square">
            <a:spAutoFit/>
          </a:bodyPr>
          <a:lstStyle/>
          <a:p>
            <a:pPr algn="l"/>
            <a:r>
              <a:rPr sz="1200" b="1" i="0">
                <a:solidFill>
                  <a:srgbClr val="39FF14"/>
                </a:solidFill>
                <a:latin typeface="Calibri"/>
              </a:rPr>
              <a:t>🕵️ Recon</a:t>
            </a:r>
          </a:p>
        </p:txBody>
      </p:sp>
      <p:sp>
        <p:nvSpPr>
          <p:cNvPr id="53" name="Rectangle 52"/>
          <p:cNvSpPr/>
          <p:nvPr/>
        </p:nvSpPr>
        <p:spPr>
          <a:xfrm>
            <a:off x="8546439" y="1133856"/>
            <a:ext cx="3389223" cy="1828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46439" y="1170432"/>
            <a:ext cx="3407511" cy="219456"/>
          </a:xfrm>
          <a:prstGeom prst="rect">
            <a:avLst/>
          </a:prstGeom>
          <a:noFill/>
        </p:spPr>
        <p:txBody>
          <a:bodyPr wrap="square">
            <a:spAutoFit/>
          </a:bodyPr>
          <a:lstStyle/>
          <a:p>
            <a:pPr algn="l"/>
            <a:r>
              <a:rPr sz="850" b="0" i="1">
                <a:solidFill>
                  <a:srgbClr val="FFFFFF"/>
                </a:solidFill>
                <a:latin typeface="Calibri"/>
              </a:rPr>
              <a:t>External reconnaissance and host discovery.</a:t>
            </a:r>
          </a:p>
        </p:txBody>
      </p:sp>
      <p:sp>
        <p:nvSpPr>
          <p:cNvPr id="55" name="Rectangle 54"/>
          <p:cNvSpPr/>
          <p:nvPr/>
        </p:nvSpPr>
        <p:spPr>
          <a:xfrm>
            <a:off x="8546439" y="1417320"/>
            <a:ext cx="3389223" cy="219456"/>
          </a:xfrm>
          <a:prstGeom prst="rect">
            <a:avLst/>
          </a:prstGeom>
          <a:solidFill>
            <a:srgbClr val="08102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19591" y="1435608"/>
            <a:ext cx="3297783" cy="182880"/>
          </a:xfrm>
          <a:prstGeom prst="rect">
            <a:avLst/>
          </a:prstGeom>
          <a:noFill/>
        </p:spPr>
        <p:txBody>
          <a:bodyPr wrap="square">
            <a:spAutoFit/>
          </a:bodyPr>
          <a:lstStyle/>
          <a:p>
            <a:pPr algn="l"/>
            <a:r>
              <a:rPr sz="750" b="1" i="0">
                <a:solidFill>
                  <a:srgbClr val="39FF14"/>
                </a:solidFill>
                <a:latin typeface="Calibri"/>
              </a:rPr>
              <a:t>Amass  ·  httpx  ·  Nmap</a:t>
            </a:r>
          </a:p>
        </p:txBody>
      </p:sp>
      <p:sp>
        <p:nvSpPr>
          <p:cNvPr id="57" name="TextBox 56"/>
          <p:cNvSpPr txBox="1"/>
          <p:nvPr/>
        </p:nvSpPr>
        <p:spPr>
          <a:xfrm>
            <a:off x="8546439" y="1673352"/>
            <a:ext cx="3407511" cy="981456"/>
          </a:xfrm>
          <a:prstGeom prst="rect">
            <a:avLst/>
          </a:prstGeom>
          <a:noFill/>
        </p:spPr>
        <p:txBody>
          <a:bodyPr wrap="square">
            <a:spAutoFit/>
          </a:bodyPr>
          <a:lstStyle/>
          <a:p>
            <a:pPr algn="l"/>
            <a:r>
              <a:rPr sz="850" b="0" i="0">
                <a:solidFill>
                  <a:srgbClr val="A0AAB8"/>
                </a:solidFill>
                <a:latin typeface="Calibri"/>
              </a:rPr>
              <a:t>Writes Domain, Host, Port, Service nodes to ASG.</a:t>
            </a:r>
          </a:p>
        </p:txBody>
      </p:sp>
      <p:sp>
        <p:nvSpPr>
          <p:cNvPr id="58" name="Rectangle 57"/>
          <p:cNvSpPr/>
          <p:nvPr/>
        </p:nvSpPr>
        <p:spPr>
          <a:xfrm>
            <a:off x="4773168" y="2810256"/>
            <a:ext cx="3572103" cy="1895856"/>
          </a:xfrm>
          <a:prstGeom prst="rect">
            <a:avLst/>
          </a:prstGeom>
          <a:solidFill>
            <a:srgbClr val="10162B"/>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39431" y="2810256"/>
            <a:ext cx="1005840" cy="2194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39431" y="2837688"/>
            <a:ext cx="1005840" cy="182880"/>
          </a:xfrm>
          <a:prstGeom prst="rect">
            <a:avLst/>
          </a:prstGeom>
          <a:noFill/>
        </p:spPr>
        <p:txBody>
          <a:bodyPr wrap="square">
            <a:spAutoFit/>
          </a:bodyPr>
          <a:lstStyle/>
          <a:p>
            <a:pPr algn="ctr"/>
            <a:r>
              <a:rPr sz="750" b="1" i="0">
                <a:solidFill>
                  <a:srgbClr val="0A0D1A"/>
                </a:solidFill>
                <a:latin typeface="Calibri"/>
              </a:rPr>
              <a:t>PHASE 2</a:t>
            </a:r>
          </a:p>
        </p:txBody>
      </p:sp>
      <p:sp>
        <p:nvSpPr>
          <p:cNvPr id="61" name="TextBox 60"/>
          <p:cNvSpPr txBox="1"/>
          <p:nvPr/>
        </p:nvSpPr>
        <p:spPr>
          <a:xfrm>
            <a:off x="4864608" y="2846832"/>
            <a:ext cx="2429103" cy="237744"/>
          </a:xfrm>
          <a:prstGeom prst="rect">
            <a:avLst/>
          </a:prstGeom>
          <a:noFill/>
        </p:spPr>
        <p:txBody>
          <a:bodyPr wrap="square">
            <a:spAutoFit/>
          </a:bodyPr>
          <a:lstStyle/>
          <a:p>
            <a:pPr algn="l"/>
            <a:r>
              <a:rPr sz="1200" b="1" i="0">
                <a:solidFill>
                  <a:srgbClr val="00BFD8"/>
                </a:solidFill>
                <a:latin typeface="Calibri"/>
              </a:rPr>
              <a:t>🔬 Analysis</a:t>
            </a:r>
          </a:p>
        </p:txBody>
      </p:sp>
      <p:sp>
        <p:nvSpPr>
          <p:cNvPr id="62" name="Rectangle 61"/>
          <p:cNvSpPr/>
          <p:nvPr/>
        </p:nvSpPr>
        <p:spPr>
          <a:xfrm>
            <a:off x="4864608" y="3121152"/>
            <a:ext cx="3389223" cy="1828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64608" y="3157728"/>
            <a:ext cx="3407511" cy="219456"/>
          </a:xfrm>
          <a:prstGeom prst="rect">
            <a:avLst/>
          </a:prstGeom>
          <a:noFill/>
        </p:spPr>
        <p:txBody>
          <a:bodyPr wrap="square">
            <a:spAutoFit/>
          </a:bodyPr>
          <a:lstStyle/>
          <a:p>
            <a:pPr algn="l"/>
            <a:r>
              <a:rPr sz="850" b="0" i="1">
                <a:solidFill>
                  <a:srgbClr val="FFFFFF"/>
                </a:solidFill>
                <a:latin typeface="Calibri"/>
              </a:rPr>
              <a:t>Deep enumeration and vulnerability discovery.</a:t>
            </a:r>
          </a:p>
        </p:txBody>
      </p:sp>
      <p:sp>
        <p:nvSpPr>
          <p:cNvPr id="64" name="Rectangle 63"/>
          <p:cNvSpPr/>
          <p:nvPr/>
        </p:nvSpPr>
        <p:spPr>
          <a:xfrm>
            <a:off x="4864608" y="3404616"/>
            <a:ext cx="3389223" cy="219456"/>
          </a:xfrm>
          <a:prstGeom prst="rect">
            <a:avLst/>
          </a:prstGeom>
          <a:solidFill>
            <a:srgbClr val="0810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37760" y="3422904"/>
            <a:ext cx="3297783" cy="182880"/>
          </a:xfrm>
          <a:prstGeom prst="rect">
            <a:avLst/>
          </a:prstGeom>
          <a:noFill/>
        </p:spPr>
        <p:txBody>
          <a:bodyPr wrap="square">
            <a:spAutoFit/>
          </a:bodyPr>
          <a:lstStyle/>
          <a:p>
            <a:pPr algn="l"/>
            <a:r>
              <a:rPr sz="750" b="1" i="0">
                <a:solidFill>
                  <a:srgbClr val="00BFD8"/>
                </a:solidFill>
                <a:latin typeface="Calibri"/>
              </a:rPr>
              <a:t>WhatWeb · Gobuster · ffuf · Nuclei · ZAP</a:t>
            </a:r>
          </a:p>
        </p:txBody>
      </p:sp>
      <p:sp>
        <p:nvSpPr>
          <p:cNvPr id="66" name="TextBox 65"/>
          <p:cNvSpPr txBox="1"/>
          <p:nvPr/>
        </p:nvSpPr>
        <p:spPr>
          <a:xfrm>
            <a:off x="4864608" y="3660648"/>
            <a:ext cx="3407511" cy="981456"/>
          </a:xfrm>
          <a:prstGeom prst="rect">
            <a:avLst/>
          </a:prstGeom>
          <a:noFill/>
        </p:spPr>
        <p:txBody>
          <a:bodyPr wrap="square">
            <a:spAutoFit/>
          </a:bodyPr>
          <a:lstStyle/>
          <a:p>
            <a:pPr algn="l"/>
            <a:r>
              <a:rPr sz="850" b="0" i="0">
                <a:solidFill>
                  <a:srgbClr val="A0AAB8"/>
                </a:solidFill>
                <a:latin typeface="Calibri"/>
              </a:rPr>
              <a:t>Writes Technology, Endpoint, Parameter, Vulnerability nodes.</a:t>
            </a:r>
          </a:p>
        </p:txBody>
      </p:sp>
      <p:sp>
        <p:nvSpPr>
          <p:cNvPr id="67" name="Rectangle 66"/>
          <p:cNvSpPr/>
          <p:nvPr/>
        </p:nvSpPr>
        <p:spPr>
          <a:xfrm>
            <a:off x="8454999" y="2810256"/>
            <a:ext cx="3572103" cy="1895856"/>
          </a:xfrm>
          <a:prstGeom prst="rect">
            <a:avLst/>
          </a:prstGeom>
          <a:solidFill>
            <a:srgbClr val="10162B"/>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021263" y="2810256"/>
            <a:ext cx="100584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21263" y="2837688"/>
            <a:ext cx="1005840" cy="182880"/>
          </a:xfrm>
          <a:prstGeom prst="rect">
            <a:avLst/>
          </a:prstGeom>
          <a:noFill/>
        </p:spPr>
        <p:txBody>
          <a:bodyPr wrap="square">
            <a:spAutoFit/>
          </a:bodyPr>
          <a:lstStyle/>
          <a:p>
            <a:pPr algn="ctr"/>
            <a:r>
              <a:rPr sz="750" b="1" i="0">
                <a:solidFill>
                  <a:srgbClr val="0A0D1A"/>
                </a:solidFill>
                <a:latin typeface="Calibri"/>
              </a:rPr>
              <a:t>INTELLIGENCE</a:t>
            </a:r>
          </a:p>
        </p:txBody>
      </p:sp>
      <p:sp>
        <p:nvSpPr>
          <p:cNvPr id="70" name="TextBox 69"/>
          <p:cNvSpPr txBox="1"/>
          <p:nvPr/>
        </p:nvSpPr>
        <p:spPr>
          <a:xfrm>
            <a:off x="8546439" y="2846832"/>
            <a:ext cx="2429103" cy="237744"/>
          </a:xfrm>
          <a:prstGeom prst="rect">
            <a:avLst/>
          </a:prstGeom>
          <a:noFill/>
        </p:spPr>
        <p:txBody>
          <a:bodyPr wrap="square">
            <a:spAutoFit/>
          </a:bodyPr>
          <a:lstStyle/>
          <a:p>
            <a:pPr algn="l"/>
            <a:r>
              <a:rPr sz="1200" b="1" i="0">
                <a:solidFill>
                  <a:srgbClr val="FFD700"/>
                </a:solidFill>
                <a:latin typeface="Calibri"/>
              </a:rPr>
              <a:t>🔍 Research</a:t>
            </a:r>
          </a:p>
        </p:txBody>
      </p:sp>
      <p:sp>
        <p:nvSpPr>
          <p:cNvPr id="71" name="Rectangle 70"/>
          <p:cNvSpPr/>
          <p:nvPr/>
        </p:nvSpPr>
        <p:spPr>
          <a:xfrm>
            <a:off x="8546439" y="3121152"/>
            <a:ext cx="3389223" cy="1828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46439" y="3157728"/>
            <a:ext cx="3407511" cy="219456"/>
          </a:xfrm>
          <a:prstGeom prst="rect">
            <a:avLst/>
          </a:prstGeom>
          <a:noFill/>
        </p:spPr>
        <p:txBody>
          <a:bodyPr wrap="square">
            <a:spAutoFit/>
          </a:bodyPr>
          <a:lstStyle/>
          <a:p>
            <a:pPr algn="l"/>
            <a:r>
              <a:rPr sz="850" b="0" i="1">
                <a:solidFill>
                  <a:srgbClr val="FFFFFF"/>
                </a:solidFill>
                <a:latin typeface="Calibri"/>
              </a:rPr>
              <a:t>Live CVE grounding — only agent with outbound internet access.</a:t>
            </a:r>
          </a:p>
        </p:txBody>
      </p:sp>
      <p:sp>
        <p:nvSpPr>
          <p:cNvPr id="73" name="Rectangle 72"/>
          <p:cNvSpPr/>
          <p:nvPr/>
        </p:nvSpPr>
        <p:spPr>
          <a:xfrm>
            <a:off x="8546439" y="3404616"/>
            <a:ext cx="3389223" cy="219456"/>
          </a:xfrm>
          <a:prstGeom prst="rect">
            <a:avLst/>
          </a:prstGeom>
          <a:solidFill>
            <a:srgbClr val="08102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19591" y="3422904"/>
            <a:ext cx="3297783" cy="182880"/>
          </a:xfrm>
          <a:prstGeom prst="rect">
            <a:avLst/>
          </a:prstGeom>
          <a:noFill/>
        </p:spPr>
        <p:txBody>
          <a:bodyPr wrap="square">
            <a:spAutoFit/>
          </a:bodyPr>
          <a:lstStyle/>
          <a:p>
            <a:pPr algn="l"/>
            <a:r>
              <a:rPr sz="750" b="1" i="0">
                <a:solidFill>
                  <a:srgbClr val="FFD700"/>
                </a:solidFill>
                <a:latin typeface="Calibri"/>
              </a:rPr>
              <a:t>NVD · Exploit-DB · GitHub · Vendor Advisories</a:t>
            </a:r>
          </a:p>
        </p:txBody>
      </p:sp>
      <p:sp>
        <p:nvSpPr>
          <p:cNvPr id="75" name="TextBox 74"/>
          <p:cNvSpPr txBox="1"/>
          <p:nvPr/>
        </p:nvSpPr>
        <p:spPr>
          <a:xfrm>
            <a:off x="8546439" y="3660648"/>
            <a:ext cx="3407511" cy="981456"/>
          </a:xfrm>
          <a:prstGeom prst="rect">
            <a:avLst/>
          </a:prstGeom>
          <a:noFill/>
        </p:spPr>
        <p:txBody>
          <a:bodyPr wrap="square">
            <a:spAutoFit/>
          </a:bodyPr>
          <a:lstStyle/>
          <a:p>
            <a:pPr algn="l"/>
            <a:r>
              <a:rPr sz="850" b="0" i="0">
                <a:solidFill>
                  <a:srgbClr val="A0AAB8"/>
                </a:solidFill>
                <a:latin typeface="Calibri"/>
              </a:rPr>
              <a:t>Enriches ASG Vulnerability nodes with real-time CVSS + PoC data.</a:t>
            </a:r>
          </a:p>
        </p:txBody>
      </p:sp>
      <p:sp>
        <p:nvSpPr>
          <p:cNvPr id="76" name="Rectangle 75"/>
          <p:cNvSpPr/>
          <p:nvPr/>
        </p:nvSpPr>
        <p:spPr>
          <a:xfrm>
            <a:off x="4773168" y="4797552"/>
            <a:ext cx="3572103" cy="1895856"/>
          </a:xfrm>
          <a:prstGeom prst="rect">
            <a:avLst/>
          </a:prstGeom>
          <a:solidFill>
            <a:srgbClr val="10162B"/>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339431" y="4797552"/>
            <a:ext cx="100584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39431"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79" name="TextBox 78"/>
          <p:cNvSpPr txBox="1"/>
          <p:nvPr/>
        </p:nvSpPr>
        <p:spPr>
          <a:xfrm>
            <a:off x="4864608" y="4834128"/>
            <a:ext cx="2429103" cy="237744"/>
          </a:xfrm>
          <a:prstGeom prst="rect">
            <a:avLst/>
          </a:prstGeom>
          <a:noFill/>
        </p:spPr>
        <p:txBody>
          <a:bodyPr wrap="square">
            <a:spAutoFit/>
          </a:bodyPr>
          <a:lstStyle/>
          <a:p>
            <a:pPr algn="l"/>
            <a:r>
              <a:rPr sz="1200" b="1" i="0">
                <a:solidFill>
                  <a:srgbClr val="FF4545"/>
                </a:solidFill>
                <a:latin typeface="Calibri"/>
              </a:rPr>
              <a:t>🎯 Validation</a:t>
            </a:r>
          </a:p>
        </p:txBody>
      </p:sp>
      <p:sp>
        <p:nvSpPr>
          <p:cNvPr id="80" name="Rectangle 79"/>
          <p:cNvSpPr/>
          <p:nvPr/>
        </p:nvSpPr>
        <p:spPr>
          <a:xfrm>
            <a:off x="4864608" y="5108448"/>
            <a:ext cx="3389223" cy="1828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64608" y="5145024"/>
            <a:ext cx="3407511" cy="219456"/>
          </a:xfrm>
          <a:prstGeom prst="rect">
            <a:avLst/>
          </a:prstGeom>
          <a:noFill/>
        </p:spPr>
        <p:txBody>
          <a:bodyPr wrap="square">
            <a:spAutoFit/>
          </a:bodyPr>
          <a:lstStyle/>
          <a:p>
            <a:pPr algn="l"/>
            <a:r>
              <a:rPr sz="850" b="0" i="1">
                <a:solidFill>
                  <a:srgbClr val="FFFFFF"/>
                </a:solidFill>
                <a:latin typeface="Calibri"/>
              </a:rPr>
              <a:t>Proves vulnerabilities are real and exploitable.</a:t>
            </a:r>
          </a:p>
        </p:txBody>
      </p:sp>
      <p:sp>
        <p:nvSpPr>
          <p:cNvPr id="82" name="Rectangle 81"/>
          <p:cNvSpPr/>
          <p:nvPr/>
        </p:nvSpPr>
        <p:spPr>
          <a:xfrm>
            <a:off x="4864608" y="5391912"/>
            <a:ext cx="3389223" cy="219456"/>
          </a:xfrm>
          <a:prstGeom prst="rect">
            <a:avLst/>
          </a:prstGeom>
          <a:solidFill>
            <a:srgbClr val="0810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937760" y="5410200"/>
            <a:ext cx="3297783" cy="182880"/>
          </a:xfrm>
          <a:prstGeom prst="rect">
            <a:avLst/>
          </a:prstGeom>
          <a:noFill/>
        </p:spPr>
        <p:txBody>
          <a:bodyPr wrap="square">
            <a:spAutoFit/>
          </a:bodyPr>
          <a:lstStyle/>
          <a:p>
            <a:pPr algn="l"/>
            <a:r>
              <a:rPr sz="750" b="1" i="0">
                <a:solidFill>
                  <a:srgbClr val="FF4545"/>
                </a:solidFill>
                <a:latin typeface="Calibri"/>
              </a:rPr>
              <a:t>SQLMap  ·  Metasploit</a:t>
            </a:r>
          </a:p>
        </p:txBody>
      </p:sp>
      <p:sp>
        <p:nvSpPr>
          <p:cNvPr id="84" name="TextBox 83"/>
          <p:cNvSpPr txBox="1"/>
          <p:nvPr/>
        </p:nvSpPr>
        <p:spPr>
          <a:xfrm>
            <a:off x="4864608" y="5647944"/>
            <a:ext cx="3407511" cy="981456"/>
          </a:xfrm>
          <a:prstGeom prst="rect">
            <a:avLst/>
          </a:prstGeom>
          <a:noFill/>
        </p:spPr>
        <p:txBody>
          <a:bodyPr wrap="square">
            <a:spAutoFit/>
          </a:bodyPr>
          <a:lstStyle/>
          <a:p>
            <a:pPr algn="l"/>
            <a:r>
              <a:rPr sz="850" b="0" i="0">
                <a:solidFill>
                  <a:srgbClr val="A0AAB8"/>
                </a:solidFill>
                <a:latin typeface="Calibri"/>
              </a:rPr>
              <a:t>Self-debugging loop: Diagnose → Contextualize → Adapt → Cap (×3).</a:t>
            </a:r>
          </a:p>
        </p:txBody>
      </p:sp>
      <p:sp>
        <p:nvSpPr>
          <p:cNvPr id="85" name="Rectangle 84"/>
          <p:cNvSpPr/>
          <p:nvPr/>
        </p:nvSpPr>
        <p:spPr>
          <a:xfrm>
            <a:off x="8454999" y="4797552"/>
            <a:ext cx="3572103" cy="1895856"/>
          </a:xfrm>
          <a:prstGeom prst="rect">
            <a:avLst/>
          </a:prstGeom>
          <a:solidFill>
            <a:srgbClr val="10162B"/>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021263" y="4797552"/>
            <a:ext cx="100584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021263"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88" name="TextBox 87"/>
          <p:cNvSpPr txBox="1"/>
          <p:nvPr/>
        </p:nvSpPr>
        <p:spPr>
          <a:xfrm>
            <a:off x="8546439" y="4834128"/>
            <a:ext cx="2429103" cy="237744"/>
          </a:xfrm>
          <a:prstGeom prst="rect">
            <a:avLst/>
          </a:prstGeom>
          <a:noFill/>
        </p:spPr>
        <p:txBody>
          <a:bodyPr wrap="square">
            <a:spAutoFit/>
          </a:bodyPr>
          <a:lstStyle/>
          <a:p>
            <a:pPr algn="l"/>
            <a:r>
              <a:rPr sz="1200" b="1" i="0">
                <a:solidFill>
                  <a:srgbClr val="BD93F9"/>
                </a:solidFill>
                <a:latin typeface="Calibri"/>
              </a:rPr>
              <a:t>📸 Evidence</a:t>
            </a:r>
          </a:p>
        </p:txBody>
      </p:sp>
      <p:sp>
        <p:nvSpPr>
          <p:cNvPr id="89" name="Rectangle 88"/>
          <p:cNvSpPr/>
          <p:nvPr/>
        </p:nvSpPr>
        <p:spPr>
          <a:xfrm>
            <a:off x="8546439" y="5108448"/>
            <a:ext cx="3389223" cy="1828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546439" y="5145024"/>
            <a:ext cx="3407511" cy="219456"/>
          </a:xfrm>
          <a:prstGeom prst="rect">
            <a:avLst/>
          </a:prstGeom>
          <a:noFill/>
        </p:spPr>
        <p:txBody>
          <a:bodyPr wrap="square">
            <a:spAutoFit/>
          </a:bodyPr>
          <a:lstStyle/>
          <a:p>
            <a:pPr algn="l"/>
            <a:r>
              <a:rPr sz="850" b="0" i="1">
                <a:solidFill>
                  <a:srgbClr val="FFFFFF"/>
                </a:solidFill>
                <a:latin typeface="Calibri"/>
              </a:rPr>
              <a:t>Captures proof artifacts for every validated finding.</a:t>
            </a:r>
          </a:p>
        </p:txBody>
      </p:sp>
      <p:sp>
        <p:nvSpPr>
          <p:cNvPr id="91" name="Rectangle 90"/>
          <p:cNvSpPr/>
          <p:nvPr/>
        </p:nvSpPr>
        <p:spPr>
          <a:xfrm>
            <a:off x="8546439" y="5391912"/>
            <a:ext cx="3389223" cy="219456"/>
          </a:xfrm>
          <a:prstGeom prst="rect">
            <a:avLst/>
          </a:prstGeom>
          <a:solidFill>
            <a:srgbClr val="0810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19591" y="5410200"/>
            <a:ext cx="3297783" cy="182880"/>
          </a:xfrm>
          <a:prstGeom prst="rect">
            <a:avLst/>
          </a:prstGeom>
          <a:noFill/>
        </p:spPr>
        <p:txBody>
          <a:bodyPr wrap="square">
            <a:spAutoFit/>
          </a:bodyPr>
          <a:lstStyle/>
          <a:p>
            <a:pPr algn="l"/>
            <a:r>
              <a:rPr sz="750" b="1" i="0">
                <a:solidFill>
                  <a:srgbClr val="BD93F9"/>
                </a:solidFill>
                <a:latin typeface="Calibri"/>
              </a:rPr>
              <a:t>EyeWitness</a:t>
            </a:r>
          </a:p>
        </p:txBody>
      </p:sp>
      <p:sp>
        <p:nvSpPr>
          <p:cNvPr id="93" name="TextBox 92"/>
          <p:cNvSpPr txBox="1"/>
          <p:nvPr/>
        </p:nvSpPr>
        <p:spPr>
          <a:xfrm>
            <a:off x="8546439" y="5647944"/>
            <a:ext cx="3407511" cy="981456"/>
          </a:xfrm>
          <a:prstGeom prst="rect">
            <a:avLst/>
          </a:prstGeom>
          <a:noFill/>
        </p:spPr>
        <p:txBody>
          <a:bodyPr wrap="square">
            <a:spAutoFit/>
          </a:bodyPr>
          <a:lstStyle/>
          <a:p>
            <a:pPr algn="l"/>
            <a:r>
              <a:rPr sz="850" b="0" i="0">
                <a:solidFill>
                  <a:srgbClr val="A0AAB8"/>
                </a:solidFill>
                <a:latin typeface="Calibri"/>
              </a:rPr>
              <a:t>Links Evidence nodes to ASG findings via validated_by edges.</a:t>
            </a:r>
          </a:p>
        </p:txBody>
      </p:sp>
      <p:sp>
        <p:nvSpPr>
          <p:cNvPr id="94" name="TextBox 93"/>
          <p:cNvSpPr txBox="1"/>
          <p:nvPr/>
        </p:nvSpPr>
        <p:spPr>
          <a:xfrm>
            <a:off x="11825935" y="6382512"/>
            <a:ext cx="320040" cy="384048"/>
          </a:xfrm>
          <a:prstGeom prst="rect">
            <a:avLst/>
          </a:prstGeom>
          <a:noFill/>
        </p:spPr>
        <p:txBody>
          <a:bodyPr wrap="square">
            <a:spAutoFit/>
          </a:bodyPr>
          <a:lstStyle/>
          <a:p>
            <a:pPr algn="r"/>
            <a:r>
              <a:rPr sz="1300" b="1" i="0">
                <a:solidFill>
                  <a:srgbClr val="BD93F9"/>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AGENT SPAWN LIFECYCLE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800" b="1" i="0">
                <a:solidFill>
                  <a:srgbClr val="FFFFFF"/>
                </a:solidFill>
                <a:latin typeface="Calibri"/>
              </a:rPr>
              <a:t>Context-Isolated Spawn · Execute · Return · Discard</a:t>
            </a:r>
          </a:p>
        </p:txBody>
      </p:sp>
      <p:sp>
        <p:nvSpPr>
          <p:cNvPr id="7" name="Rectangle 6"/>
          <p:cNvSpPr/>
          <p:nvPr/>
        </p:nvSpPr>
        <p:spPr>
          <a:xfrm>
            <a:off x="274320" y="822960"/>
            <a:ext cx="9144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6583680" cy="5705856"/>
          </a:xfrm>
          <a:prstGeom prst="rect">
            <a:avLst/>
          </a:prstGeom>
          <a:solidFill>
            <a:srgbClr val="06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50976"/>
            <a:ext cx="6400800" cy="182880"/>
          </a:xfrm>
          <a:prstGeom prst="rect">
            <a:avLst/>
          </a:prstGeom>
          <a:noFill/>
        </p:spPr>
        <p:txBody>
          <a:bodyPr wrap="square">
            <a:spAutoFit/>
          </a:bodyPr>
          <a:lstStyle/>
          <a:p>
            <a:pPr algn="l"/>
            <a:r>
              <a:rPr sz="900" b="1" i="0">
                <a:solidFill>
                  <a:srgbClr val="BD93F9"/>
                </a:solidFill>
                <a:latin typeface="Calibri"/>
              </a:rPr>
              <a:t>SPAWN SEQUENCE (single-agent case)</a:t>
            </a:r>
          </a:p>
        </p:txBody>
      </p:sp>
      <p:sp>
        <p:nvSpPr>
          <p:cNvPr id="10" name="Rectangle 9"/>
          <p:cNvSpPr/>
          <p:nvPr/>
        </p:nvSpPr>
        <p:spPr>
          <a:xfrm>
            <a:off x="749808" y="1243584"/>
            <a:ext cx="5440680" cy="457200"/>
          </a:xfrm>
          <a:prstGeom prst="rect">
            <a:avLst/>
          </a:prstGeom>
          <a:solidFill>
            <a:srgbClr val="041630"/>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243584"/>
            <a:ext cx="544068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61872"/>
            <a:ext cx="544068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3" name="TextBox 12"/>
          <p:cNvSpPr txBox="1"/>
          <p:nvPr/>
        </p:nvSpPr>
        <p:spPr>
          <a:xfrm>
            <a:off x="795528" y="1444752"/>
            <a:ext cx="5349240" cy="201168"/>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4" name="Connector 13"/>
          <p:cNvCxnSpPr/>
          <p:nvPr/>
        </p:nvCxnSpPr>
        <p:spPr>
          <a:xfrm>
            <a:off x="3493008.0" y="1700784"/>
            <a:ext cx="0.0" cy="292608"/>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566160" y="1719072"/>
            <a:ext cx="3108960" cy="237744"/>
          </a:xfrm>
          <a:prstGeom prst="rect">
            <a:avLst/>
          </a:prstGeom>
          <a:noFill/>
        </p:spPr>
        <p:txBody>
          <a:bodyPr wrap="square">
            <a:spAutoFit/>
          </a:bodyPr>
          <a:lstStyle/>
          <a:p>
            <a:pPr algn="l"/>
            <a:r>
              <a:rPr sz="800" b="1" i="0">
                <a:solidFill>
                  <a:srgbClr val="BD93F9"/>
                </a:solidFill>
                <a:latin typeface="Calibri"/>
              </a:rPr>
              <a:t>spawn(ASG slice + APG slice[optional] + task + toolset)</a:t>
            </a:r>
          </a:p>
        </p:txBody>
      </p:sp>
      <p:sp>
        <p:nvSpPr>
          <p:cNvPr id="16" name="Rectangle 15"/>
          <p:cNvSpPr/>
          <p:nvPr/>
        </p:nvSpPr>
        <p:spPr>
          <a:xfrm>
            <a:off x="402336" y="2048256"/>
            <a:ext cx="6181344" cy="2651760"/>
          </a:xfrm>
          <a:prstGeom prst="rect">
            <a:avLst/>
          </a:prstGeom>
          <a:solidFill>
            <a:srgbClr val="080C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2336" y="2048256"/>
            <a:ext cx="6181344" cy="201168"/>
          </a:xfrm>
          <a:prstGeom prst="rect">
            <a:avLst/>
          </a:prstGeom>
          <a:solidFill>
            <a:srgbClr val="180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2075688"/>
            <a:ext cx="6071616" cy="164592"/>
          </a:xfrm>
          <a:prstGeom prst="rect">
            <a:avLst/>
          </a:prstGeom>
          <a:noFill/>
        </p:spPr>
        <p:txBody>
          <a:bodyPr wrap="square">
            <a:spAutoFit/>
          </a:bodyPr>
          <a:lstStyle/>
          <a:p>
            <a:pPr algn="ctr"/>
            <a:r>
              <a:rPr sz="800" b="1" i="0">
                <a:solidFill>
                  <a:srgbClr val="BD93F9"/>
                </a:solidFill>
                <a:latin typeface="Calibri"/>
              </a:rPr>
              <a:t>ISOLATED AGENT CONTEXT  (fresh per task — never shared)</a:t>
            </a:r>
          </a:p>
        </p:txBody>
      </p:sp>
      <p:sp>
        <p:nvSpPr>
          <p:cNvPr id="19" name="Rectangle 18"/>
          <p:cNvSpPr/>
          <p:nvPr/>
        </p:nvSpPr>
        <p:spPr>
          <a:xfrm>
            <a:off x="493776" y="2286000"/>
            <a:ext cx="5998464" cy="442569"/>
          </a:xfrm>
          <a:prstGeom prst="rect">
            <a:avLst/>
          </a:prstGeom>
          <a:solidFill>
            <a:srgbClr val="04180C"/>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322576"/>
            <a:ext cx="1005840" cy="387705"/>
          </a:xfrm>
          <a:prstGeom prst="rect">
            <a:avLst/>
          </a:prstGeom>
          <a:noFill/>
        </p:spPr>
        <p:txBody>
          <a:bodyPr wrap="square">
            <a:spAutoFit/>
          </a:bodyPr>
          <a:lstStyle/>
          <a:p>
            <a:pPr algn="l"/>
            <a:r>
              <a:rPr sz="800" b="1" i="0">
                <a:solidFill>
                  <a:srgbClr val="39FF14"/>
                </a:solidFill>
                <a:latin typeface="Calibri"/>
              </a:rPr>
              <a:t>ASG SLICE</a:t>
            </a:r>
          </a:p>
        </p:txBody>
      </p:sp>
      <p:sp>
        <p:nvSpPr>
          <p:cNvPr id="21" name="TextBox 20"/>
          <p:cNvSpPr txBox="1"/>
          <p:nvPr/>
        </p:nvSpPr>
        <p:spPr>
          <a:xfrm>
            <a:off x="1609344" y="2322576"/>
            <a:ext cx="4809744" cy="387705"/>
          </a:xfrm>
          <a:prstGeom prst="rect">
            <a:avLst/>
          </a:prstGeom>
          <a:noFill/>
        </p:spPr>
        <p:txBody>
          <a:bodyPr wrap="square">
            <a:spAutoFit/>
          </a:bodyPr>
          <a:lstStyle/>
          <a:p>
            <a:pPr algn="l"/>
            <a:r>
              <a:rPr sz="800" b="0" i="1">
                <a:solidFill>
                  <a:srgbClr val="A0AAB8"/>
                </a:solidFill>
                <a:latin typeface="Calibri"/>
              </a:rPr>
              <a:t>Subgraph relevant to this task only — no global state</a:t>
            </a:r>
          </a:p>
        </p:txBody>
      </p:sp>
      <p:sp>
        <p:nvSpPr>
          <p:cNvPr id="22" name="Rectangle 21"/>
          <p:cNvSpPr/>
          <p:nvPr/>
        </p:nvSpPr>
        <p:spPr>
          <a:xfrm>
            <a:off x="493776" y="2765145"/>
            <a:ext cx="5998464" cy="442569"/>
          </a:xfrm>
          <a:prstGeom prst="rect">
            <a:avLst/>
          </a:prstGeom>
          <a:solidFill>
            <a:srgbClr val="18100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2801721"/>
            <a:ext cx="1005840" cy="387705"/>
          </a:xfrm>
          <a:prstGeom prst="rect">
            <a:avLst/>
          </a:prstGeom>
          <a:noFill/>
        </p:spPr>
        <p:txBody>
          <a:bodyPr wrap="square">
            <a:spAutoFit/>
          </a:bodyPr>
          <a:lstStyle/>
          <a:p>
            <a:pPr algn="l"/>
            <a:r>
              <a:rPr sz="800" b="1" i="0">
                <a:solidFill>
                  <a:srgbClr val="FFD700"/>
                </a:solidFill>
                <a:latin typeface="Calibri"/>
              </a:rPr>
              <a:t>APG SLICE</a:t>
            </a:r>
          </a:p>
        </p:txBody>
      </p:sp>
      <p:sp>
        <p:nvSpPr>
          <p:cNvPr id="24" name="TextBox 23"/>
          <p:cNvSpPr txBox="1"/>
          <p:nvPr/>
        </p:nvSpPr>
        <p:spPr>
          <a:xfrm>
            <a:off x="1609344" y="2801721"/>
            <a:ext cx="4809744" cy="387705"/>
          </a:xfrm>
          <a:prstGeom prst="rect">
            <a:avLst/>
          </a:prstGeom>
          <a:noFill/>
        </p:spPr>
        <p:txBody>
          <a:bodyPr wrap="square">
            <a:spAutoFit/>
          </a:bodyPr>
          <a:lstStyle/>
          <a:p>
            <a:pPr algn="l"/>
            <a:r>
              <a:rPr sz="800" b="0" i="1">
                <a:solidFill>
                  <a:srgbClr val="A0AAB8"/>
                </a:solidFill>
                <a:latin typeface="Calibri"/>
              </a:rPr>
              <a:t>Relevant AttackChains only — Validation agents only</a:t>
            </a:r>
          </a:p>
        </p:txBody>
      </p:sp>
      <p:sp>
        <p:nvSpPr>
          <p:cNvPr id="25" name="Rectangle 24"/>
          <p:cNvSpPr/>
          <p:nvPr/>
        </p:nvSpPr>
        <p:spPr>
          <a:xfrm>
            <a:off x="493776" y="3244291"/>
            <a:ext cx="5998464" cy="442569"/>
          </a:xfrm>
          <a:prstGeom prst="rect">
            <a:avLst/>
          </a:prstGeom>
          <a:solidFill>
            <a:srgbClr val="1A060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80867"/>
            <a:ext cx="1005840" cy="387705"/>
          </a:xfrm>
          <a:prstGeom prst="rect">
            <a:avLst/>
          </a:prstGeom>
          <a:noFill/>
        </p:spPr>
        <p:txBody>
          <a:bodyPr wrap="square">
            <a:spAutoFit/>
          </a:bodyPr>
          <a:lstStyle/>
          <a:p>
            <a:pPr algn="l"/>
            <a:r>
              <a:rPr sz="800" b="1" i="0">
                <a:solidFill>
                  <a:srgbClr val="FF4545"/>
                </a:solidFill>
                <a:latin typeface="Calibri"/>
              </a:rPr>
              <a:t>TOOL SET</a:t>
            </a:r>
          </a:p>
        </p:txBody>
      </p:sp>
      <p:sp>
        <p:nvSpPr>
          <p:cNvPr id="27" name="TextBox 26"/>
          <p:cNvSpPr txBox="1"/>
          <p:nvPr/>
        </p:nvSpPr>
        <p:spPr>
          <a:xfrm>
            <a:off x="1609344" y="3280867"/>
            <a:ext cx="4809744" cy="387705"/>
          </a:xfrm>
          <a:prstGeom prst="rect">
            <a:avLst/>
          </a:prstGeom>
          <a:noFill/>
        </p:spPr>
        <p:txBody>
          <a:bodyPr wrap="square">
            <a:spAutoFit/>
          </a:bodyPr>
          <a:lstStyle/>
          <a:p>
            <a:pPr algn="l"/>
            <a:r>
              <a:rPr sz="800" b="0" i="1">
                <a:solidFill>
                  <a:srgbClr val="A0AAB8"/>
                </a:solidFill>
                <a:latin typeface="Calibri"/>
              </a:rPr>
              <a:t>Authorized tools only — no cross-phase access</a:t>
            </a:r>
          </a:p>
        </p:txBody>
      </p:sp>
      <p:sp>
        <p:nvSpPr>
          <p:cNvPr id="28" name="Rectangle 27"/>
          <p:cNvSpPr/>
          <p:nvPr/>
        </p:nvSpPr>
        <p:spPr>
          <a:xfrm>
            <a:off x="493776" y="3723436"/>
            <a:ext cx="5998464" cy="442569"/>
          </a:xfrm>
          <a:prstGeom prst="rect">
            <a:avLst/>
          </a:prstGeom>
          <a:solidFill>
            <a:srgbClr val="041220"/>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3760012"/>
            <a:ext cx="1005840" cy="387705"/>
          </a:xfrm>
          <a:prstGeom prst="rect">
            <a:avLst/>
          </a:prstGeom>
          <a:noFill/>
        </p:spPr>
        <p:txBody>
          <a:bodyPr wrap="square">
            <a:spAutoFit/>
          </a:bodyPr>
          <a:lstStyle/>
          <a:p>
            <a:pPr algn="l"/>
            <a:r>
              <a:rPr sz="800" b="1" i="0">
                <a:solidFill>
                  <a:srgbClr val="00E5FF"/>
                </a:solidFill>
                <a:latin typeface="Calibri"/>
              </a:rPr>
              <a:t>TASK SPEC</a:t>
            </a:r>
          </a:p>
        </p:txBody>
      </p:sp>
      <p:sp>
        <p:nvSpPr>
          <p:cNvPr id="30" name="TextBox 29"/>
          <p:cNvSpPr txBox="1"/>
          <p:nvPr/>
        </p:nvSpPr>
        <p:spPr>
          <a:xfrm>
            <a:off x="1609344" y="3760012"/>
            <a:ext cx="4809744" cy="387705"/>
          </a:xfrm>
          <a:prstGeom prst="rect">
            <a:avLst/>
          </a:prstGeom>
          <a:noFill/>
        </p:spPr>
        <p:txBody>
          <a:bodyPr wrap="square">
            <a:spAutoFit/>
          </a:bodyPr>
          <a:lstStyle/>
          <a:p>
            <a:pPr algn="l"/>
            <a:r>
              <a:rPr sz="800" b="0" i="1">
                <a:solidFill>
                  <a:srgbClr val="A0AAB8"/>
                </a:solidFill>
                <a:latin typeface="Calibri"/>
              </a:rPr>
              <a:t>Commander's current plan item</a:t>
            </a:r>
          </a:p>
        </p:txBody>
      </p:sp>
      <p:sp>
        <p:nvSpPr>
          <p:cNvPr id="31" name="Rectangle 30"/>
          <p:cNvSpPr/>
          <p:nvPr/>
        </p:nvSpPr>
        <p:spPr>
          <a:xfrm>
            <a:off x="493776" y="4202582"/>
            <a:ext cx="5998464" cy="442569"/>
          </a:xfrm>
          <a:prstGeom prst="rect">
            <a:avLst/>
          </a:prstGeom>
          <a:solidFill>
            <a:srgbClr val="12061E"/>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239158"/>
            <a:ext cx="1005840" cy="387705"/>
          </a:xfrm>
          <a:prstGeom prst="rect">
            <a:avLst/>
          </a:prstGeom>
          <a:noFill/>
        </p:spPr>
        <p:txBody>
          <a:bodyPr wrap="square">
            <a:spAutoFit/>
          </a:bodyPr>
          <a:lstStyle/>
          <a:p>
            <a:pPr algn="l"/>
            <a:r>
              <a:rPr sz="800" b="1" i="0">
                <a:solidFill>
                  <a:srgbClr val="BD93F9"/>
                </a:solidFill>
                <a:latin typeface="Calibri"/>
              </a:rPr>
              <a:t>KNOWLEDGE</a:t>
            </a:r>
          </a:p>
        </p:txBody>
      </p:sp>
      <p:sp>
        <p:nvSpPr>
          <p:cNvPr id="33" name="TextBox 32"/>
          <p:cNvSpPr txBox="1"/>
          <p:nvPr/>
        </p:nvSpPr>
        <p:spPr>
          <a:xfrm>
            <a:off x="1609344" y="4239158"/>
            <a:ext cx="4809744" cy="387705"/>
          </a:xfrm>
          <a:prstGeom prst="rect">
            <a:avLst/>
          </a:prstGeom>
          <a:noFill/>
        </p:spPr>
        <p:txBody>
          <a:bodyPr wrap="square">
            <a:spAutoFit/>
          </a:bodyPr>
          <a:lstStyle/>
          <a:p>
            <a:pPr algn="l"/>
            <a:r>
              <a:rPr sz="800" b="0" i="1">
                <a:solidFill>
                  <a:srgbClr val="A0AAB8"/>
                </a:solidFill>
                <a:latin typeface="Calibri"/>
              </a:rPr>
              <a:t>Vulnerability-class docs injected at spawn (§7)</a:t>
            </a:r>
          </a:p>
        </p:txBody>
      </p:sp>
      <p:cxnSp>
        <p:nvCxnSpPr>
          <p:cNvPr id="34" name="Connector 33"/>
          <p:cNvCxnSpPr/>
          <p:nvPr/>
        </p:nvCxnSpPr>
        <p:spPr>
          <a:xfrm>
            <a:off x="3493008.0" y="4700016"/>
            <a:ext cx="0.0" cy="27432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20056"/>
            <a:ext cx="6181344" cy="475488"/>
          </a:xfrm>
          <a:prstGeom prst="rect">
            <a:avLst/>
          </a:prstGeom>
          <a:solidFill>
            <a:srgbClr val="041C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 y="5056632"/>
            <a:ext cx="6035040" cy="201168"/>
          </a:xfrm>
          <a:prstGeom prst="rect">
            <a:avLst/>
          </a:prstGeom>
          <a:noFill/>
        </p:spPr>
        <p:txBody>
          <a:bodyPr wrap="square">
            <a:spAutoFit/>
          </a:bodyPr>
          <a:lstStyle/>
          <a:p>
            <a:pPr algn="ctr"/>
            <a:r>
              <a:rPr sz="850" b="1" i="0">
                <a:solidFill>
                  <a:srgbClr val="39FF14"/>
                </a:solidFill>
                <a:latin typeface="Calibri"/>
              </a:rPr>
              <a:t>RETURNS: Structured ASG Delta only  — working context discarded</a:t>
            </a:r>
          </a:p>
        </p:txBody>
      </p:sp>
      <p:sp>
        <p:nvSpPr>
          <p:cNvPr id="37" name="TextBox 36"/>
          <p:cNvSpPr txBox="1"/>
          <p:nvPr/>
        </p:nvSpPr>
        <p:spPr>
          <a:xfrm>
            <a:off x="493776" y="5266944"/>
            <a:ext cx="6035040" cy="201168"/>
          </a:xfrm>
          <a:prstGeom prst="rect">
            <a:avLst/>
          </a:prstGeom>
          <a:noFill/>
        </p:spPr>
        <p:txBody>
          <a:bodyPr wrap="square">
            <a:spAutoFit/>
          </a:bodyPr>
          <a:lstStyle/>
          <a:p>
            <a:pPr algn="ctr"/>
            <a:r>
              <a:rPr sz="800" b="0" i="1">
                <a:solidFill>
                  <a:srgbClr val="A0AAB8"/>
                </a:solidFill>
                <a:latin typeface="Calibri"/>
              </a:rPr>
              <a:t>No raw history, no conversation, no cross-contamination between agents.</a:t>
            </a:r>
          </a:p>
        </p:txBody>
      </p:sp>
      <p:sp>
        <p:nvSpPr>
          <p:cNvPr id="38" name="Rectangle 37"/>
          <p:cNvSpPr/>
          <p:nvPr/>
        </p:nvSpPr>
        <p:spPr>
          <a:xfrm>
            <a:off x="402336" y="5586984"/>
            <a:ext cx="6181344" cy="201168"/>
          </a:xfrm>
          <a:prstGeom prst="rect">
            <a:avLst/>
          </a:prstGeom>
          <a:solidFill>
            <a:srgbClr val="0C0E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614416"/>
            <a:ext cx="6071616" cy="164592"/>
          </a:xfrm>
          <a:prstGeom prst="rect">
            <a:avLst/>
          </a:prstGeom>
          <a:noFill/>
        </p:spPr>
        <p:txBody>
          <a:bodyPr wrap="square">
            <a:spAutoFit/>
          </a:bodyPr>
          <a:lstStyle/>
          <a:p>
            <a:pPr algn="l"/>
            <a:r>
              <a:rPr sz="850" b="0" i="0">
                <a:solidFill>
                  <a:srgbClr val="00E5FF"/>
                </a:solidFill>
                <a:latin typeface="Calibri"/>
              </a:rPr>
              <a:t>✓  Commander context stays clean between all delegated tasks</a:t>
            </a:r>
          </a:p>
        </p:txBody>
      </p:sp>
      <p:sp>
        <p:nvSpPr>
          <p:cNvPr id="40" name="Rectangle 39"/>
          <p:cNvSpPr/>
          <p:nvPr/>
        </p:nvSpPr>
        <p:spPr>
          <a:xfrm>
            <a:off x="402336" y="5824728"/>
            <a:ext cx="6181344" cy="201168"/>
          </a:xfrm>
          <a:prstGeom prst="rect">
            <a:avLst/>
          </a:prstGeom>
          <a:solidFill>
            <a:srgbClr val="0C0E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 y="5852160"/>
            <a:ext cx="6071616" cy="164592"/>
          </a:xfrm>
          <a:prstGeom prst="rect">
            <a:avLst/>
          </a:prstGeom>
          <a:noFill/>
        </p:spPr>
        <p:txBody>
          <a:bodyPr wrap="square">
            <a:spAutoFit/>
          </a:bodyPr>
          <a:lstStyle/>
          <a:p>
            <a:pPr algn="l"/>
            <a:r>
              <a:rPr sz="850" b="0" i="0">
                <a:solidFill>
                  <a:srgbClr val="BD93F9"/>
                </a:solidFill>
                <a:latin typeface="Calibri"/>
              </a:rPr>
              <a:t>✓  Agent failures cannot contaminate other agents' reasoning</a:t>
            </a:r>
          </a:p>
        </p:txBody>
      </p:sp>
      <p:sp>
        <p:nvSpPr>
          <p:cNvPr id="42" name="Rectangle 41"/>
          <p:cNvSpPr/>
          <p:nvPr/>
        </p:nvSpPr>
        <p:spPr>
          <a:xfrm>
            <a:off x="402336" y="6062472"/>
            <a:ext cx="6181344" cy="201168"/>
          </a:xfrm>
          <a:prstGeom prst="rect">
            <a:avLst/>
          </a:prstGeom>
          <a:solidFill>
            <a:srgbClr val="0C0E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6089904"/>
            <a:ext cx="6071616" cy="164592"/>
          </a:xfrm>
          <a:prstGeom prst="rect">
            <a:avLst/>
          </a:prstGeom>
          <a:noFill/>
        </p:spPr>
        <p:txBody>
          <a:bodyPr wrap="square">
            <a:spAutoFit/>
          </a:bodyPr>
          <a:lstStyle/>
          <a:p>
            <a:pPr algn="l"/>
            <a:r>
              <a:rPr sz="850" b="0" i="0">
                <a:solidFill>
                  <a:srgbClr val="FF4545"/>
                </a:solidFill>
                <a:latin typeface="Calibri"/>
              </a:rPr>
              <a:t>✓  High-risk refusals do not bias future planning decisions</a:t>
            </a:r>
          </a:p>
        </p:txBody>
      </p:sp>
      <p:sp>
        <p:nvSpPr>
          <p:cNvPr id="44" name="Rectangle 43"/>
          <p:cNvSpPr/>
          <p:nvPr/>
        </p:nvSpPr>
        <p:spPr>
          <a:xfrm>
            <a:off x="6912864" y="896112"/>
            <a:ext cx="5077663" cy="5705856"/>
          </a:xfrm>
          <a:prstGeom prst="rect">
            <a:avLst/>
          </a:prstGeom>
          <a:solidFill>
            <a:srgbClr val="060C1C"/>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12864" y="896112"/>
            <a:ext cx="507766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C4 — ASG-Aware Parallel Dispatch</a:t>
            </a:r>
          </a:p>
        </p:txBody>
      </p:sp>
      <p:sp>
        <p:nvSpPr>
          <p:cNvPr id="47" name="TextBox 46"/>
          <p:cNvSpPr txBox="1"/>
          <p:nvPr/>
        </p:nvSpPr>
        <p:spPr>
          <a:xfrm>
            <a:off x="7004304" y="1243584"/>
            <a:ext cx="4931359" cy="640080"/>
          </a:xfrm>
          <a:prstGeom prst="rect">
            <a:avLst/>
          </a:prstGeom>
          <a:noFill/>
        </p:spPr>
        <p:txBody>
          <a:bodyPr wrap="square">
            <a:spAutoFit/>
          </a:bodyPr>
          <a:lstStyle/>
          <a:p>
            <a:pPr algn="l"/>
            <a:r>
              <a:rPr sz="950" b="0" i="0">
                <a:solidFill>
                  <a:srgbClr val="A0AAB8"/>
                </a:solidFill>
                <a:latin typeface="Calibri"/>
              </a:rPr>
              <a:t>When the ASG contains multiple independent sub-graphs — hosts or services with no shared edges — the Commander can spawn multiple agents concurrently.</a:t>
            </a:r>
          </a:p>
        </p:txBody>
      </p:sp>
      <p:sp>
        <p:nvSpPr>
          <p:cNvPr id="48" name="Rectangle 47"/>
          <p:cNvSpPr/>
          <p:nvPr/>
        </p:nvSpPr>
        <p:spPr>
          <a:xfrm>
            <a:off x="7004304" y="1975104"/>
            <a:ext cx="1546250" cy="548640"/>
          </a:xfrm>
          <a:prstGeom prst="rect">
            <a:avLst/>
          </a:prstGeom>
          <a:solidFill>
            <a:srgbClr val="0814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04304" y="2029968"/>
            <a:ext cx="1546250" cy="457200"/>
          </a:xfrm>
          <a:prstGeom prst="rect">
            <a:avLst/>
          </a:prstGeom>
          <a:noFill/>
        </p:spPr>
        <p:txBody>
          <a:bodyPr wrap="square">
            <a:spAutoFit/>
          </a:bodyPr>
          <a:lstStyle/>
          <a:p>
            <a:pPr algn="ctr"/>
            <a:r>
              <a:rPr sz="850" b="1" i="0">
                <a:solidFill>
                  <a:srgbClr val="39FF14"/>
                </a:solidFill>
                <a:latin typeface="Calibri"/>
              </a:rPr>
              <a:t>Host A
192.168.1.10</a:t>
            </a:r>
          </a:p>
        </p:txBody>
      </p:sp>
      <p:cxnSp>
        <p:nvCxnSpPr>
          <p:cNvPr id="50" name="Connector 49"/>
          <p:cNvCxnSpPr/>
          <p:nvPr/>
        </p:nvCxnSpPr>
        <p:spPr>
          <a:xfrm>
            <a:off x="7777429.166666667" y="2523744"/>
            <a:ext cx="0.0" cy="32918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004304" y="2889504"/>
            <a:ext cx="1546250" cy="402336"/>
          </a:xfrm>
          <a:prstGeom prst="rect">
            <a:avLst/>
          </a:prstGeom>
          <a:solidFill>
            <a:srgbClr val="100C22"/>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04304" y="2907792"/>
            <a:ext cx="1546250" cy="365760"/>
          </a:xfrm>
          <a:prstGeom prst="rect">
            <a:avLst/>
          </a:prstGeom>
          <a:noFill/>
        </p:spPr>
        <p:txBody>
          <a:bodyPr wrap="square">
            <a:spAutoFit/>
          </a:bodyPr>
          <a:lstStyle/>
          <a:p>
            <a:pPr algn="ctr"/>
            <a:r>
              <a:rPr sz="800" b="1" i="0">
                <a:solidFill>
                  <a:srgbClr val="39FF14"/>
                </a:solidFill>
                <a:latin typeface="Calibri"/>
              </a:rPr>
              <a:t>Analysis
Agent</a:t>
            </a:r>
          </a:p>
        </p:txBody>
      </p:sp>
      <p:sp>
        <p:nvSpPr>
          <p:cNvPr id="53" name="Rectangle 52"/>
          <p:cNvSpPr/>
          <p:nvPr/>
        </p:nvSpPr>
        <p:spPr>
          <a:xfrm>
            <a:off x="8605418" y="1975104"/>
            <a:ext cx="1546250" cy="548640"/>
          </a:xfrm>
          <a:prstGeom prst="rect">
            <a:avLst/>
          </a:prstGeom>
          <a:solidFill>
            <a:srgbClr val="08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05418" y="2029968"/>
            <a:ext cx="1546250" cy="457200"/>
          </a:xfrm>
          <a:prstGeom prst="rect">
            <a:avLst/>
          </a:prstGeom>
          <a:noFill/>
        </p:spPr>
        <p:txBody>
          <a:bodyPr wrap="square">
            <a:spAutoFit/>
          </a:bodyPr>
          <a:lstStyle/>
          <a:p>
            <a:pPr algn="ctr"/>
            <a:r>
              <a:rPr sz="850" b="1" i="0">
                <a:solidFill>
                  <a:srgbClr val="00E5FF"/>
                </a:solidFill>
                <a:latin typeface="Calibri"/>
              </a:rPr>
              <a:t>Host B
10.0.1.5</a:t>
            </a:r>
          </a:p>
        </p:txBody>
      </p:sp>
      <p:cxnSp>
        <p:nvCxnSpPr>
          <p:cNvPr id="55" name="Connector 54"/>
          <p:cNvCxnSpPr/>
          <p:nvPr/>
        </p:nvCxnSpPr>
        <p:spPr>
          <a:xfrm>
            <a:off x="9378543.5" y="2523744"/>
            <a:ext cx="0.0" cy="32918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605418" y="2889504"/>
            <a:ext cx="1546250" cy="402336"/>
          </a:xfrm>
          <a:prstGeom prst="rect">
            <a:avLst/>
          </a:prstGeom>
          <a:solidFill>
            <a:srgbClr val="100C22"/>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05418" y="2907792"/>
            <a:ext cx="1546250" cy="365760"/>
          </a:xfrm>
          <a:prstGeom prst="rect">
            <a:avLst/>
          </a:prstGeom>
          <a:noFill/>
        </p:spPr>
        <p:txBody>
          <a:bodyPr wrap="square">
            <a:spAutoFit/>
          </a:bodyPr>
          <a:lstStyle/>
          <a:p>
            <a:pPr algn="ctr"/>
            <a:r>
              <a:rPr sz="800" b="1" i="0">
                <a:solidFill>
                  <a:srgbClr val="00E5FF"/>
                </a:solidFill>
                <a:latin typeface="Calibri"/>
              </a:rPr>
              <a:t>Analysis
Agent</a:t>
            </a:r>
          </a:p>
        </p:txBody>
      </p:sp>
      <p:sp>
        <p:nvSpPr>
          <p:cNvPr id="58" name="Rectangle 57"/>
          <p:cNvSpPr/>
          <p:nvPr/>
        </p:nvSpPr>
        <p:spPr>
          <a:xfrm>
            <a:off x="10206532" y="1975104"/>
            <a:ext cx="1546250" cy="548640"/>
          </a:xfrm>
          <a:prstGeom prst="rect">
            <a:avLst/>
          </a:prstGeom>
          <a:solidFill>
            <a:srgbClr val="0814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06532" y="2029968"/>
            <a:ext cx="1546250" cy="457200"/>
          </a:xfrm>
          <a:prstGeom prst="rect">
            <a:avLst/>
          </a:prstGeom>
          <a:noFill/>
        </p:spPr>
        <p:txBody>
          <a:bodyPr wrap="square">
            <a:spAutoFit/>
          </a:bodyPr>
          <a:lstStyle/>
          <a:p>
            <a:pPr algn="ctr"/>
            <a:r>
              <a:rPr sz="850" b="1" i="0">
                <a:solidFill>
                  <a:srgbClr val="FFD700"/>
                </a:solidFill>
                <a:latin typeface="Calibri"/>
              </a:rPr>
              <a:t>Host C
172.16.0.8</a:t>
            </a:r>
          </a:p>
        </p:txBody>
      </p:sp>
      <p:cxnSp>
        <p:nvCxnSpPr>
          <p:cNvPr id="60" name="Connector 59"/>
          <p:cNvCxnSpPr/>
          <p:nvPr/>
        </p:nvCxnSpPr>
        <p:spPr>
          <a:xfrm>
            <a:off x="10979657.833333332" y="2523744"/>
            <a:ext cx="0.0" cy="32918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206532" y="2889504"/>
            <a:ext cx="1546250" cy="402336"/>
          </a:xfrm>
          <a:prstGeom prst="rect">
            <a:avLst/>
          </a:prstGeom>
          <a:solidFill>
            <a:srgbClr val="100C22"/>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206532" y="2907792"/>
            <a:ext cx="1546250" cy="365760"/>
          </a:xfrm>
          <a:prstGeom prst="rect">
            <a:avLst/>
          </a:prstGeom>
          <a:noFill/>
        </p:spPr>
        <p:txBody>
          <a:bodyPr wrap="square">
            <a:spAutoFit/>
          </a:bodyPr>
          <a:lstStyle/>
          <a:p>
            <a:pPr algn="ctr"/>
            <a:r>
              <a:rPr sz="800" b="1" i="0">
                <a:solidFill>
                  <a:srgbClr val="FFD700"/>
                </a:solidFill>
                <a:latin typeface="Calibri"/>
              </a:rPr>
              <a:t>Analysis
Agent</a:t>
            </a:r>
          </a:p>
        </p:txBody>
      </p:sp>
      <p:sp>
        <p:nvSpPr>
          <p:cNvPr id="63" name="TextBox 62"/>
          <p:cNvSpPr txBox="1"/>
          <p:nvPr/>
        </p:nvSpPr>
        <p:spPr>
          <a:xfrm>
            <a:off x="7004304" y="2724912"/>
            <a:ext cx="4931359" cy="640080"/>
          </a:xfrm>
          <a:prstGeom prst="rect">
            <a:avLst/>
          </a:prstGeom>
          <a:noFill/>
        </p:spPr>
        <p:txBody>
          <a:bodyPr wrap="square">
            <a:spAutoFit/>
          </a:bodyPr>
          <a:lstStyle/>
          <a:p>
            <a:pPr algn="l"/>
            <a:r>
              <a:rPr sz="900" b="0" i="1">
                <a:solidFill>
                  <a:srgbClr val="A0AAB8"/>
                </a:solidFill>
                <a:latin typeface="Calibri"/>
              </a:rPr>
              <a:t>ASG edges determine dependency — agents on independent sub-graphs run concurrently.
The sequence diagrams in this deck show the single-agent case for clarity.</a:t>
            </a:r>
          </a:p>
        </p:txBody>
      </p:sp>
      <p:sp>
        <p:nvSpPr>
          <p:cNvPr id="64" name="Rectangle 63"/>
          <p:cNvSpPr/>
          <p:nvPr/>
        </p:nvSpPr>
        <p:spPr>
          <a:xfrm>
            <a:off x="7004304" y="3474720"/>
            <a:ext cx="4894783" cy="237744"/>
          </a:xfrm>
          <a:prstGeom prst="rect">
            <a:avLst/>
          </a:prstGeom>
          <a:solidFill>
            <a:srgbClr val="1210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77456" y="3502152"/>
            <a:ext cx="4803343" cy="201168"/>
          </a:xfrm>
          <a:prstGeom prst="rect">
            <a:avLst/>
          </a:prstGeom>
          <a:noFill/>
        </p:spPr>
        <p:txBody>
          <a:bodyPr wrap="square">
            <a:spAutoFit/>
          </a:bodyPr>
          <a:lstStyle/>
          <a:p>
            <a:pPr algn="ctr"/>
            <a:r>
              <a:rPr sz="800" b="1" i="0">
                <a:solidFill>
                  <a:srgbClr val="FFD700"/>
                </a:solidFill>
                <a:latin typeface="Calibri"/>
              </a:rPr>
              <a:t>RISK TIER  ·  TOOL CLASS</a:t>
            </a:r>
          </a:p>
        </p:txBody>
      </p:sp>
      <p:sp>
        <p:nvSpPr>
          <p:cNvPr id="66" name="Rectangle 65"/>
          <p:cNvSpPr/>
          <p:nvPr/>
        </p:nvSpPr>
        <p:spPr>
          <a:xfrm>
            <a:off x="7004304" y="3767328"/>
            <a:ext cx="4894783" cy="438912"/>
          </a:xfrm>
          <a:prstGeom prst="rect">
            <a:avLst/>
          </a:prstGeom>
          <a:solidFill>
            <a:srgbClr val="0C0E22"/>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004304" y="3767328"/>
            <a:ext cx="457200" cy="43891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22592" y="3822192"/>
            <a:ext cx="420624" cy="329184"/>
          </a:xfrm>
          <a:prstGeom prst="rect">
            <a:avLst/>
          </a:prstGeom>
          <a:noFill/>
        </p:spPr>
        <p:txBody>
          <a:bodyPr wrap="square">
            <a:spAutoFit/>
          </a:bodyPr>
          <a:lstStyle/>
          <a:p>
            <a:pPr algn="ctr"/>
            <a:r>
              <a:rPr sz="900" b="1" i="0">
                <a:solidFill>
                  <a:srgbClr val="0A0D1A"/>
                </a:solidFill>
                <a:latin typeface="Calibri"/>
              </a:rPr>
              <a:t>LOW</a:t>
            </a:r>
          </a:p>
        </p:txBody>
      </p:sp>
      <p:sp>
        <p:nvSpPr>
          <p:cNvPr id="69" name="TextBox 68"/>
          <p:cNvSpPr txBox="1"/>
          <p:nvPr/>
        </p:nvSpPr>
        <p:spPr>
          <a:xfrm>
            <a:off x="7516368" y="3822192"/>
            <a:ext cx="4346143" cy="329184"/>
          </a:xfrm>
          <a:prstGeom prst="rect">
            <a:avLst/>
          </a:prstGeom>
          <a:noFill/>
        </p:spPr>
        <p:txBody>
          <a:bodyPr wrap="square">
            <a:spAutoFit/>
          </a:bodyPr>
          <a:lstStyle/>
          <a:p>
            <a:pPr algn="l"/>
            <a:r>
              <a:rPr sz="900" b="0" i="0">
                <a:solidFill>
                  <a:srgbClr val="A0AAB8"/>
                </a:solidFill>
                <a:latin typeface="Calibri"/>
              </a:rPr>
              <a:t>Passive discovery — execute immediately</a:t>
            </a:r>
          </a:p>
        </p:txBody>
      </p:sp>
      <p:sp>
        <p:nvSpPr>
          <p:cNvPr id="70" name="Rectangle 69"/>
          <p:cNvSpPr/>
          <p:nvPr/>
        </p:nvSpPr>
        <p:spPr>
          <a:xfrm>
            <a:off x="7004304" y="4242816"/>
            <a:ext cx="4894783" cy="438912"/>
          </a:xfrm>
          <a:prstGeom prst="rect">
            <a:avLst/>
          </a:prstGeom>
          <a:solidFill>
            <a:srgbClr val="0C0E2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004304" y="4242816"/>
            <a:ext cx="457200" cy="43891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022592" y="4297680"/>
            <a:ext cx="420624" cy="329184"/>
          </a:xfrm>
          <a:prstGeom prst="rect">
            <a:avLst/>
          </a:prstGeom>
          <a:noFill/>
        </p:spPr>
        <p:txBody>
          <a:bodyPr wrap="square">
            <a:spAutoFit/>
          </a:bodyPr>
          <a:lstStyle/>
          <a:p>
            <a:pPr algn="ctr"/>
            <a:r>
              <a:rPr sz="900" b="1" i="0">
                <a:solidFill>
                  <a:srgbClr val="0A0D1A"/>
                </a:solidFill>
                <a:latin typeface="Calibri"/>
              </a:rPr>
              <a:t>MED</a:t>
            </a:r>
          </a:p>
        </p:txBody>
      </p:sp>
      <p:sp>
        <p:nvSpPr>
          <p:cNvPr id="73" name="TextBox 72"/>
          <p:cNvSpPr txBox="1"/>
          <p:nvPr/>
        </p:nvSpPr>
        <p:spPr>
          <a:xfrm>
            <a:off x="7516368" y="4297680"/>
            <a:ext cx="4346143" cy="329184"/>
          </a:xfrm>
          <a:prstGeom prst="rect">
            <a:avLst/>
          </a:prstGeom>
          <a:noFill/>
        </p:spPr>
        <p:txBody>
          <a:bodyPr wrap="square">
            <a:spAutoFit/>
          </a:bodyPr>
          <a:lstStyle/>
          <a:p>
            <a:pPr algn="l"/>
            <a:r>
              <a:rPr sz="900" b="0" i="0">
                <a:solidFill>
                  <a:srgbClr val="A0AAB8"/>
                </a:solidFill>
                <a:latin typeface="Calibri"/>
              </a:rPr>
              <a:t>Active enumeration — LLM classifier → exec</a:t>
            </a:r>
          </a:p>
        </p:txBody>
      </p:sp>
      <p:sp>
        <p:nvSpPr>
          <p:cNvPr id="74" name="Rectangle 73"/>
          <p:cNvSpPr/>
          <p:nvPr/>
        </p:nvSpPr>
        <p:spPr>
          <a:xfrm>
            <a:off x="7004304" y="4718304"/>
            <a:ext cx="4894783" cy="438912"/>
          </a:xfrm>
          <a:prstGeom prst="rect">
            <a:avLst/>
          </a:prstGeom>
          <a:solidFill>
            <a:srgbClr val="0C0E22"/>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004304" y="4718304"/>
            <a:ext cx="457200" cy="43891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022592" y="4773168"/>
            <a:ext cx="420624" cy="329184"/>
          </a:xfrm>
          <a:prstGeom prst="rect">
            <a:avLst/>
          </a:prstGeom>
          <a:noFill/>
        </p:spPr>
        <p:txBody>
          <a:bodyPr wrap="square">
            <a:spAutoFit/>
          </a:bodyPr>
          <a:lstStyle/>
          <a:p>
            <a:pPr algn="ctr"/>
            <a:r>
              <a:rPr sz="900" b="1" i="0">
                <a:solidFill>
                  <a:srgbClr val="0A0D1A"/>
                </a:solidFill>
                <a:latin typeface="Calibri"/>
              </a:rPr>
              <a:t>HIGH</a:t>
            </a:r>
          </a:p>
        </p:txBody>
      </p:sp>
      <p:sp>
        <p:nvSpPr>
          <p:cNvPr id="77" name="TextBox 76"/>
          <p:cNvSpPr txBox="1"/>
          <p:nvPr/>
        </p:nvSpPr>
        <p:spPr>
          <a:xfrm>
            <a:off x="7516368" y="4773168"/>
            <a:ext cx="4346143" cy="329184"/>
          </a:xfrm>
          <a:prstGeom prst="rect">
            <a:avLst/>
          </a:prstGeom>
          <a:noFill/>
        </p:spPr>
        <p:txBody>
          <a:bodyPr wrap="square">
            <a:spAutoFit/>
          </a:bodyPr>
          <a:lstStyle/>
          <a:p>
            <a:pPr algn="l"/>
            <a:r>
              <a:rPr sz="900" b="0" i="0">
                <a:solidFill>
                  <a:srgbClr val="A0AAB8"/>
                </a:solidFill>
                <a:latin typeface="Calibri"/>
              </a:rPr>
              <a:t>Exploit operations — Commander Mailbox approval</a:t>
            </a:r>
          </a:p>
        </p:txBody>
      </p:sp>
      <p:sp>
        <p:nvSpPr>
          <p:cNvPr id="78" name="TextBox 77"/>
          <p:cNvSpPr txBox="1"/>
          <p:nvPr/>
        </p:nvSpPr>
        <p:spPr>
          <a:xfrm>
            <a:off x="11780215" y="6355080"/>
            <a:ext cx="384048" cy="411480"/>
          </a:xfrm>
          <a:prstGeom prst="rect">
            <a:avLst/>
          </a:prstGeom>
          <a:noFill/>
        </p:spPr>
        <p:txBody>
          <a:bodyPr wrap="square">
            <a:spAutoFit/>
          </a:bodyPr>
          <a:lstStyle/>
          <a:p>
            <a:pPr algn="r"/>
            <a:r>
              <a:rPr sz="1300" b="1" i="0">
                <a:solidFill>
                  <a:srgbClr val="BD93F9"/>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ctr"/>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ctr"/>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ctr"/>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ctr"/>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ctr"/>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ctr"/>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ctr"/>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ctr"/>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ctr"/>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ctr"/>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ctr"/>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ctr"/>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ctr"/>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ctr"/>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ctr"/>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ctr"/>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ctr"/>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ctr"/>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ctr"/>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ctr"/>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ctr"/>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ctr"/>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ctr"/>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ctr"/>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ctr"/>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ctr"/>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ctr"/>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ctr"/>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ctr"/>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ctr"/>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ctr"/>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ctr"/>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ctr"/>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ctr"/>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327648"/>
            <a:ext cx="11368735" cy="365760"/>
          </a:xfrm>
          <a:prstGeom prst="rect">
            <a:avLst/>
          </a:prstGeom>
          <a:noFill/>
        </p:spPr>
        <p:txBody>
          <a:bodyPr wrap="none">
            <a:spAutoFit/>
          </a:bodyPr>
          <a:lstStyle/>
          <a:p>
            <a:pPr algn="ctr"/>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25935" y="6355080"/>
            <a:ext cx="320040" cy="411480"/>
          </a:xfrm>
          <a:prstGeom prst="rect">
            <a:avLst/>
          </a:prstGeom>
          <a:noFill/>
        </p:spPr>
        <p:txBody>
          <a:bodyPr wrap="square">
            <a:spAutoFit/>
          </a:bodyPr>
          <a:lstStyle/>
          <a:p>
            <a:pPr algn="r"/>
            <a:r>
              <a:rPr sz="1300" b="1" i="0">
                <a:solidFill>
                  <a:srgbClr val="FF4545"/>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TOOL ADAPTER LAYER / RISK GATE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400" b="1" i="0">
                <a:solidFill>
                  <a:srgbClr val="FFFFFF"/>
                </a:solidFill>
                <a:latin typeface="Calibri"/>
              </a:rPr>
              <a:t>Every Tool Call Passes Through a Risk Classifier Before Execution</a:t>
            </a:r>
          </a:p>
        </p:txBody>
      </p:sp>
      <p:sp>
        <p:nvSpPr>
          <p:cNvPr id="7" name="Rectangle 6"/>
          <p:cNvSpPr/>
          <p:nvPr/>
        </p:nvSpPr>
        <p:spPr>
          <a:xfrm>
            <a:off x="274320" y="822960"/>
            <a:ext cx="10058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7498079" cy="5705856"/>
          </a:xfrm>
          <a:prstGeom prst="rect">
            <a:avLst/>
          </a:prstGeom>
          <a:solidFill>
            <a:srgbClr val="08061A"/>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50976"/>
            <a:ext cx="7315199" cy="182880"/>
          </a:xfrm>
          <a:prstGeom prst="rect">
            <a:avLst/>
          </a:prstGeom>
          <a:noFill/>
        </p:spPr>
        <p:txBody>
          <a:bodyPr wrap="square">
            <a:spAutoFit/>
          </a:bodyPr>
          <a:lstStyle/>
          <a:p>
            <a:pPr algn="l"/>
            <a:r>
              <a:rPr sz="900" b="1" i="0">
                <a:solidFill>
                  <a:srgbClr val="FF4545"/>
                </a:solidFill>
                <a:latin typeface="Calibri"/>
              </a:rPr>
              <a:t>PRE-TOOL-USE DECISION TREE</a:t>
            </a:r>
          </a:p>
        </p:txBody>
      </p:sp>
      <p:sp>
        <p:nvSpPr>
          <p:cNvPr id="10" name="Rectangle 9"/>
          <p:cNvSpPr/>
          <p:nvPr/>
        </p:nvSpPr>
        <p:spPr>
          <a:xfrm>
            <a:off x="475488" y="1225296"/>
            <a:ext cx="6949439" cy="365760"/>
          </a:xfrm>
          <a:prstGeom prst="rect">
            <a:avLst/>
          </a:prstGeom>
          <a:solidFill>
            <a:srgbClr val="100C24"/>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1280160"/>
            <a:ext cx="6839711" cy="274320"/>
          </a:xfrm>
          <a:prstGeom prst="rect">
            <a:avLst/>
          </a:prstGeom>
          <a:noFill/>
        </p:spPr>
        <p:txBody>
          <a:bodyPr wrap="square">
            <a:spAutoFit/>
          </a:bodyPr>
          <a:lstStyle/>
          <a:p>
            <a:pPr algn="l"/>
            <a:r>
              <a:rPr sz="900" b="0" i="0">
                <a:solidFill>
                  <a:srgbClr val="FFFFFF"/>
                </a:solidFill>
                <a:latin typeface="Calibri"/>
              </a:rPr>
              <a:t>Agent requests tool call  (e.g. gobuster -u target.com -w wordlist.txt)</a:t>
            </a:r>
          </a:p>
        </p:txBody>
      </p:sp>
      <p:cxnSp>
        <p:nvCxnSpPr>
          <p:cNvPr id="12" name="Connector 11"/>
          <p:cNvCxnSpPr/>
          <p:nvPr/>
        </p:nvCxnSpPr>
        <p:spPr>
          <a:xfrm>
            <a:off x="3950207.5" y="1591056"/>
            <a:ext cx="0.0" cy="201168"/>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75488" y="1847088"/>
            <a:ext cx="6949439" cy="384048"/>
          </a:xfrm>
          <a:prstGeom prst="rect">
            <a:avLst/>
          </a:prstGeom>
          <a:solidFill>
            <a:srgbClr val="18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 y="1847088"/>
            <a:ext cx="6949439" cy="14630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856232"/>
            <a:ext cx="6812279" cy="146304"/>
          </a:xfrm>
          <a:prstGeom prst="rect">
            <a:avLst/>
          </a:prstGeom>
          <a:noFill/>
        </p:spPr>
        <p:txBody>
          <a:bodyPr wrap="square">
            <a:spAutoFit/>
          </a:bodyPr>
          <a:lstStyle/>
          <a:p>
            <a:pPr algn="ctr"/>
            <a:r>
              <a:rPr sz="800" b="1" i="0">
                <a:solidFill>
                  <a:srgbClr val="0A0D1A"/>
                </a:solidFill>
                <a:latin typeface="Calibri"/>
              </a:rPr>
              <a:t>SCOPE CHECK</a:t>
            </a:r>
          </a:p>
        </p:txBody>
      </p:sp>
      <p:sp>
        <p:nvSpPr>
          <p:cNvPr id="16" name="TextBox 15"/>
          <p:cNvSpPr txBox="1"/>
          <p:nvPr/>
        </p:nvSpPr>
        <p:spPr>
          <a:xfrm>
            <a:off x="566928" y="2011680"/>
            <a:ext cx="6839711" cy="182880"/>
          </a:xfrm>
          <a:prstGeom prst="rect">
            <a:avLst/>
          </a:prstGeom>
          <a:noFill/>
        </p:spPr>
        <p:txBody>
          <a:bodyPr wrap="square">
            <a:spAutoFit/>
          </a:bodyPr>
          <a:lstStyle/>
          <a:p>
            <a:pPr algn="l"/>
            <a:r>
              <a:rPr sz="850" b="0" i="0">
                <a:solidFill>
                  <a:srgbClr val="A0AAB8"/>
                </a:solidFill>
                <a:latin typeface="Calibri"/>
              </a:rPr>
              <a:t>Target in declared scope?  No → BLOCKED immediately, reason logged.</a:t>
            </a:r>
          </a:p>
        </p:txBody>
      </p:sp>
      <p:cxnSp>
        <p:nvCxnSpPr>
          <p:cNvPr id="17" name="Connector 16"/>
          <p:cNvCxnSpPr/>
          <p:nvPr/>
        </p:nvCxnSpPr>
        <p:spPr>
          <a:xfrm>
            <a:off x="3950207.5" y="2231136"/>
            <a:ext cx="0.0" cy="201168"/>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75488" y="2487168"/>
            <a:ext cx="6949439" cy="384048"/>
          </a:xfrm>
          <a:prstGeom prst="rect">
            <a:avLst/>
          </a:prstGeom>
          <a:solidFill>
            <a:srgbClr val="1814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5488" y="2487168"/>
            <a:ext cx="6949439" cy="14630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496312"/>
            <a:ext cx="6812279" cy="146304"/>
          </a:xfrm>
          <a:prstGeom prst="rect">
            <a:avLst/>
          </a:prstGeom>
          <a:noFill/>
        </p:spPr>
        <p:txBody>
          <a:bodyPr wrap="square">
            <a:spAutoFit/>
          </a:bodyPr>
          <a:lstStyle/>
          <a:p>
            <a:pPr algn="ctr"/>
            <a:r>
              <a:rPr sz="800" b="1" i="0">
                <a:solidFill>
                  <a:srgbClr val="0A0D1A"/>
                </a:solidFill>
                <a:latin typeface="Calibri"/>
              </a:rPr>
              <a:t>RISK CLASSIFICATION</a:t>
            </a:r>
          </a:p>
        </p:txBody>
      </p:sp>
      <p:sp>
        <p:nvSpPr>
          <p:cNvPr id="21" name="TextBox 20"/>
          <p:cNvSpPr txBox="1"/>
          <p:nvPr/>
        </p:nvSpPr>
        <p:spPr>
          <a:xfrm>
            <a:off x="566928" y="2651760"/>
            <a:ext cx="6839711" cy="182880"/>
          </a:xfrm>
          <a:prstGeom prst="rect">
            <a:avLst/>
          </a:prstGeom>
          <a:noFill/>
        </p:spPr>
        <p:txBody>
          <a:bodyPr wrap="square">
            <a:spAutoFit/>
          </a:bodyPr>
          <a:lstStyle/>
          <a:p>
            <a:pPr algn="l"/>
            <a:r>
              <a:rPr sz="850" b="0" i="0">
                <a:solidFill>
                  <a:srgbClr val="A0AAB8"/>
                </a:solidFill>
                <a:latin typeface="Calibri"/>
              </a:rPr>
              <a:t>Three axes: Scope Alignment  ·  Chain Intent  ·  Parameter Safety  →  LOW / MED / HIGH</a:t>
            </a:r>
          </a:p>
        </p:txBody>
      </p:sp>
      <p:cxnSp>
        <p:nvCxnSpPr>
          <p:cNvPr id="22" name="Connector 21"/>
          <p:cNvCxnSpPr/>
          <p:nvPr/>
        </p:nvCxnSpPr>
        <p:spPr>
          <a:xfrm>
            <a:off x="3950207.5" y="2871216"/>
            <a:ext cx="0.0" cy="201168"/>
          </a:xfrm>
          <a:prstGeom prst="line">
            <a:avLst/>
          </a:prstGeom>
          <a:ln w="1524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5488" y="3072384"/>
            <a:ext cx="2029968" cy="1371600"/>
          </a:xfrm>
          <a:prstGeom prst="rect">
            <a:avLst/>
          </a:prstGeom>
          <a:solidFill>
            <a:srgbClr val="080C22"/>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3072384"/>
            <a:ext cx="2029968"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099816"/>
            <a:ext cx="2029968" cy="219456"/>
          </a:xfrm>
          <a:prstGeom prst="rect">
            <a:avLst/>
          </a:prstGeom>
          <a:noFill/>
        </p:spPr>
        <p:txBody>
          <a:bodyPr wrap="square">
            <a:spAutoFit/>
          </a:bodyPr>
          <a:lstStyle/>
          <a:p>
            <a:pPr algn="ctr"/>
            <a:r>
              <a:rPr sz="850" b="1" i="0">
                <a:solidFill>
                  <a:srgbClr val="0A0D1A"/>
                </a:solidFill>
                <a:latin typeface="Calibri"/>
              </a:rPr>
              <a:t>LOW
Passive Discovery</a:t>
            </a:r>
          </a:p>
        </p:txBody>
      </p:sp>
      <p:sp>
        <p:nvSpPr>
          <p:cNvPr id="26" name="TextBox 25"/>
          <p:cNvSpPr txBox="1"/>
          <p:nvPr/>
        </p:nvSpPr>
        <p:spPr>
          <a:xfrm>
            <a:off x="566928" y="3383280"/>
            <a:ext cx="1883664" cy="1024128"/>
          </a:xfrm>
          <a:prstGeom prst="rect">
            <a:avLst/>
          </a:prstGeom>
          <a:noFill/>
        </p:spPr>
        <p:txBody>
          <a:bodyPr wrap="square">
            <a:spAutoFit/>
          </a:bodyPr>
          <a:lstStyle/>
          <a:p>
            <a:pPr algn="l"/>
            <a:r>
              <a:rPr sz="850" b="0" i="0">
                <a:solidFill>
                  <a:srgbClr val="A0AAB8"/>
                </a:solidFill>
                <a:latin typeface="Calibri"/>
              </a:rPr>
              <a:t>Execute immediately
No approval required</a:t>
            </a:r>
          </a:p>
        </p:txBody>
      </p:sp>
      <p:sp>
        <p:nvSpPr>
          <p:cNvPr id="27" name="Rectangle 26"/>
          <p:cNvSpPr/>
          <p:nvPr/>
        </p:nvSpPr>
        <p:spPr>
          <a:xfrm>
            <a:off x="3017520" y="3072384"/>
            <a:ext cx="2029968" cy="1371600"/>
          </a:xfrm>
          <a:prstGeom prst="rect">
            <a:avLst/>
          </a:prstGeom>
          <a:solidFill>
            <a:srgbClr val="080C2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017520" y="3072384"/>
            <a:ext cx="2029968"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3099816"/>
            <a:ext cx="2029968" cy="219456"/>
          </a:xfrm>
          <a:prstGeom prst="rect">
            <a:avLst/>
          </a:prstGeom>
          <a:noFill/>
        </p:spPr>
        <p:txBody>
          <a:bodyPr wrap="square">
            <a:spAutoFit/>
          </a:bodyPr>
          <a:lstStyle/>
          <a:p>
            <a:pPr algn="ctr"/>
            <a:r>
              <a:rPr sz="850" b="1" i="0">
                <a:solidFill>
                  <a:srgbClr val="0A0D1A"/>
                </a:solidFill>
                <a:latin typeface="Calibri"/>
              </a:rPr>
              <a:t>MED
Active Enumeration</a:t>
            </a:r>
          </a:p>
        </p:txBody>
      </p:sp>
      <p:sp>
        <p:nvSpPr>
          <p:cNvPr id="30" name="TextBox 29"/>
          <p:cNvSpPr txBox="1"/>
          <p:nvPr/>
        </p:nvSpPr>
        <p:spPr>
          <a:xfrm>
            <a:off x="3108960" y="3383280"/>
            <a:ext cx="1883664" cy="1024128"/>
          </a:xfrm>
          <a:prstGeom prst="rect">
            <a:avLst/>
          </a:prstGeom>
          <a:noFill/>
        </p:spPr>
        <p:txBody>
          <a:bodyPr wrap="square">
            <a:spAutoFit/>
          </a:bodyPr>
          <a:lstStyle/>
          <a:p>
            <a:pPr algn="l"/>
            <a:r>
              <a:rPr sz="850" b="0" i="0">
                <a:solidFill>
                  <a:srgbClr val="A0AAB8"/>
                </a:solidFill>
                <a:latin typeface="Calibri"/>
              </a:rPr>
              <a:t>LLM Permission Classifier
  Fast Filter → CoT → APPROVE/MODIFY/REJECT</a:t>
            </a:r>
          </a:p>
        </p:txBody>
      </p:sp>
      <p:sp>
        <p:nvSpPr>
          <p:cNvPr id="31" name="Rectangle 30"/>
          <p:cNvSpPr/>
          <p:nvPr/>
        </p:nvSpPr>
        <p:spPr>
          <a:xfrm>
            <a:off x="5559552" y="3072384"/>
            <a:ext cx="2029968" cy="1371600"/>
          </a:xfrm>
          <a:prstGeom prst="rect">
            <a:avLst/>
          </a:prstGeom>
          <a:solidFill>
            <a:srgbClr val="080C2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59552" y="3072384"/>
            <a:ext cx="2029968"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9552" y="3099816"/>
            <a:ext cx="2029968" cy="219456"/>
          </a:xfrm>
          <a:prstGeom prst="rect">
            <a:avLst/>
          </a:prstGeom>
          <a:noFill/>
        </p:spPr>
        <p:txBody>
          <a:bodyPr wrap="square">
            <a:spAutoFit/>
          </a:bodyPr>
          <a:lstStyle/>
          <a:p>
            <a:pPr algn="ctr"/>
            <a:r>
              <a:rPr sz="850" b="1" i="0">
                <a:solidFill>
                  <a:srgbClr val="0A0D1A"/>
                </a:solidFill>
                <a:latin typeface="Calibri"/>
              </a:rPr>
              <a:t>HIGH
Exploit Operations</a:t>
            </a:r>
          </a:p>
        </p:txBody>
      </p:sp>
      <p:sp>
        <p:nvSpPr>
          <p:cNvPr id="34" name="TextBox 33"/>
          <p:cNvSpPr txBox="1"/>
          <p:nvPr/>
        </p:nvSpPr>
        <p:spPr>
          <a:xfrm>
            <a:off x="5650992" y="3383280"/>
            <a:ext cx="1883664" cy="1024128"/>
          </a:xfrm>
          <a:prstGeom prst="rect">
            <a:avLst/>
          </a:prstGeom>
          <a:noFill/>
        </p:spPr>
        <p:txBody>
          <a:bodyPr wrap="square">
            <a:spAutoFit/>
          </a:bodyPr>
          <a:lstStyle/>
          <a:p>
            <a:pPr algn="l"/>
            <a:r>
              <a:rPr sz="850" b="0" i="0">
                <a:solidFill>
                  <a:srgbClr val="A0AAB8"/>
                </a:solidFill>
                <a:latin typeface="Calibri"/>
              </a:rPr>
              <a:t>Commander Mailbox
  Human-in-the-loop APPROVE / REJECT</a:t>
            </a:r>
          </a:p>
        </p:txBody>
      </p:sp>
      <p:cxnSp>
        <p:nvCxnSpPr>
          <p:cNvPr id="35" name="Connector 34"/>
          <p:cNvCxnSpPr/>
          <p:nvPr/>
        </p:nvCxnSpPr>
        <p:spPr>
          <a:xfrm>
            <a:off x="1490472.0" y="4443984"/>
            <a:ext cx="0.0" cy="14630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75488" y="4590288"/>
            <a:ext cx="2029968"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4626864"/>
            <a:ext cx="2029968" cy="219456"/>
          </a:xfrm>
          <a:prstGeom prst="rect">
            <a:avLst/>
          </a:prstGeom>
          <a:noFill/>
        </p:spPr>
        <p:txBody>
          <a:bodyPr wrap="square">
            <a:spAutoFit/>
          </a:bodyPr>
          <a:lstStyle/>
          <a:p>
            <a:pPr algn="ctr"/>
            <a:r>
              <a:rPr sz="800" b="1" i="0">
                <a:solidFill>
                  <a:srgbClr val="0A0D1A"/>
                </a:solidFill>
                <a:latin typeface="Calibri"/>
              </a:rPr>
              <a:t>EXECUTE</a:t>
            </a:r>
          </a:p>
        </p:txBody>
      </p:sp>
      <p:cxnSp>
        <p:nvCxnSpPr>
          <p:cNvPr id="38" name="Connector 37"/>
          <p:cNvCxnSpPr/>
          <p:nvPr/>
        </p:nvCxnSpPr>
        <p:spPr>
          <a:xfrm>
            <a:off x="4032504.0" y="4443984"/>
            <a:ext cx="0.0" cy="14630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017520" y="4590288"/>
            <a:ext cx="2029968"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7520" y="4626864"/>
            <a:ext cx="2029968" cy="219456"/>
          </a:xfrm>
          <a:prstGeom prst="rect">
            <a:avLst/>
          </a:prstGeom>
          <a:noFill/>
        </p:spPr>
        <p:txBody>
          <a:bodyPr wrap="square">
            <a:spAutoFit/>
          </a:bodyPr>
          <a:lstStyle/>
          <a:p>
            <a:pPr algn="ctr"/>
            <a:r>
              <a:rPr sz="800" b="1" i="0">
                <a:solidFill>
                  <a:srgbClr val="0A0D1A"/>
                </a:solidFill>
                <a:latin typeface="Calibri"/>
              </a:rPr>
              <a:t>EXECUTE / MODIFY / REJECT</a:t>
            </a:r>
          </a:p>
        </p:txBody>
      </p:sp>
      <p:cxnSp>
        <p:nvCxnSpPr>
          <p:cNvPr id="41" name="Connector 40"/>
          <p:cNvCxnSpPr/>
          <p:nvPr/>
        </p:nvCxnSpPr>
        <p:spPr>
          <a:xfrm>
            <a:off x="6574536.0" y="4443984"/>
            <a:ext cx="0.0" cy="146304"/>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59552" y="4590288"/>
            <a:ext cx="2029968"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9552" y="4626864"/>
            <a:ext cx="2029968" cy="219456"/>
          </a:xfrm>
          <a:prstGeom prst="rect">
            <a:avLst/>
          </a:prstGeom>
          <a:noFill/>
        </p:spPr>
        <p:txBody>
          <a:bodyPr wrap="square">
            <a:spAutoFit/>
          </a:bodyPr>
          <a:lstStyle/>
          <a:p>
            <a:pPr algn="ctr"/>
            <a:r>
              <a:rPr sz="800" b="1" i="0">
                <a:solidFill>
                  <a:srgbClr val="0A0D1A"/>
                </a:solidFill>
                <a:latin typeface="Calibri"/>
              </a:rPr>
              <a:t>APPROVE / REJECT</a:t>
            </a:r>
          </a:p>
        </p:txBody>
      </p:sp>
      <p:sp>
        <p:nvSpPr>
          <p:cNvPr id="44" name="Rectangle 43"/>
          <p:cNvSpPr/>
          <p:nvPr/>
        </p:nvSpPr>
        <p:spPr>
          <a:xfrm>
            <a:off x="475488" y="4910328"/>
            <a:ext cx="6949439" cy="384048"/>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4946904"/>
            <a:ext cx="6839711" cy="310896"/>
          </a:xfrm>
          <a:prstGeom prst="rect">
            <a:avLst/>
          </a:prstGeom>
          <a:noFill/>
        </p:spPr>
        <p:txBody>
          <a:bodyPr wrap="square">
            <a:spAutoFit/>
          </a:bodyPr>
          <a:lstStyle/>
          <a:p>
            <a:pPr algn="l"/>
            <a:r>
              <a:rPr sz="850" b="0" i="1">
                <a:solidFill>
                  <a:srgbClr val="A0AAB8"/>
                </a:solidFill>
                <a:latin typeface="Calibri"/>
              </a:rPr>
              <a:t>REJECT outcome:  Tool call cancelled.  Failure reason annotated to ASG Vulnerability node (not the APG). Commander re-reads ASG on next cycle.</a:t>
            </a:r>
          </a:p>
        </p:txBody>
      </p:sp>
      <p:sp>
        <p:nvSpPr>
          <p:cNvPr id="46" name="Rectangle 45"/>
          <p:cNvSpPr/>
          <p:nvPr/>
        </p:nvSpPr>
        <p:spPr>
          <a:xfrm>
            <a:off x="475488" y="5367528"/>
            <a:ext cx="6949439" cy="256032"/>
          </a:xfrm>
          <a:prstGeom prst="rect">
            <a:avLst/>
          </a:prstGeom>
          <a:solidFill>
            <a:srgbClr val="100A22"/>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5404104"/>
            <a:ext cx="6839711" cy="182880"/>
          </a:xfrm>
          <a:prstGeom prst="rect">
            <a:avLst/>
          </a:prstGeom>
          <a:noFill/>
        </p:spPr>
        <p:txBody>
          <a:bodyPr wrap="square">
            <a:spAutoFit/>
          </a:bodyPr>
          <a:lstStyle/>
          <a:p>
            <a:pPr algn="l"/>
            <a:r>
              <a:rPr sz="800" b="0" i="1">
                <a:solidFill>
                  <a:srgbClr val="BD93F9"/>
                </a:solidFill>
                <a:latin typeface="Calibri"/>
              </a:rPr>
              <a:t>Lifecycle Hooks (all 6):  PreToolUse  ·  PostToolUse  ·  PreAgentSpawn  ·  PostAgentReturn  ·  PreAPGUpdate  ·  PostMissionTerminate</a:t>
            </a:r>
          </a:p>
        </p:txBody>
      </p:sp>
      <p:sp>
        <p:nvSpPr>
          <p:cNvPr id="48" name="Rectangle 47"/>
          <p:cNvSpPr/>
          <p:nvPr/>
        </p:nvSpPr>
        <p:spPr>
          <a:xfrm>
            <a:off x="7827263" y="896112"/>
            <a:ext cx="4163264" cy="5705856"/>
          </a:xfrm>
          <a:prstGeom prst="rect">
            <a:avLst/>
          </a:prstGeom>
          <a:solidFill>
            <a:srgbClr val="060818"/>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27263" y="896112"/>
            <a:ext cx="4163264" cy="2560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7263" y="932688"/>
            <a:ext cx="4163264" cy="201168"/>
          </a:xfrm>
          <a:prstGeom prst="rect">
            <a:avLst/>
          </a:prstGeom>
          <a:noFill/>
        </p:spPr>
        <p:txBody>
          <a:bodyPr wrap="square">
            <a:spAutoFit/>
          </a:bodyPr>
          <a:lstStyle/>
          <a:p>
            <a:pPr algn="ctr"/>
            <a:r>
              <a:rPr sz="950" b="1" i="0">
                <a:solidFill>
                  <a:srgbClr val="0A0D1A"/>
                </a:solidFill>
                <a:latin typeface="Calibri"/>
              </a:rPr>
              <a:t>TOOL RISK TIERS</a:t>
            </a:r>
          </a:p>
        </p:txBody>
      </p:sp>
      <p:sp>
        <p:nvSpPr>
          <p:cNvPr id="51" name="Rectangle 50"/>
          <p:cNvSpPr/>
          <p:nvPr/>
        </p:nvSpPr>
        <p:spPr>
          <a:xfrm>
            <a:off x="7918703" y="1188720"/>
            <a:ext cx="3980384" cy="1749552"/>
          </a:xfrm>
          <a:prstGeom prst="rect">
            <a:avLst/>
          </a:prstGeom>
          <a:solidFill>
            <a:srgbClr val="0C0A1E"/>
          </a:solidFill>
          <a:ln w="1143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18703" y="1188720"/>
            <a:ext cx="3980384"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91855" y="1216152"/>
            <a:ext cx="3888944" cy="201168"/>
          </a:xfrm>
          <a:prstGeom prst="rect">
            <a:avLst/>
          </a:prstGeom>
          <a:noFill/>
        </p:spPr>
        <p:txBody>
          <a:bodyPr wrap="square">
            <a:spAutoFit/>
          </a:bodyPr>
          <a:lstStyle/>
          <a:p>
            <a:pPr algn="l"/>
            <a:r>
              <a:rPr sz="900" b="1" i="0">
                <a:solidFill>
                  <a:srgbClr val="0A0D1A"/>
                </a:solidFill>
                <a:latin typeface="Calibri"/>
              </a:rPr>
              <a:t>LOW — Passive</a:t>
            </a:r>
          </a:p>
        </p:txBody>
      </p:sp>
      <p:sp>
        <p:nvSpPr>
          <p:cNvPr id="54" name="TextBox 53"/>
          <p:cNvSpPr txBox="1"/>
          <p:nvPr/>
        </p:nvSpPr>
        <p:spPr>
          <a:xfrm>
            <a:off x="7991855" y="1481328"/>
            <a:ext cx="3888944" cy="1456944"/>
          </a:xfrm>
          <a:prstGeom prst="rect">
            <a:avLst/>
          </a:prstGeom>
          <a:noFill/>
        </p:spPr>
        <p:txBody>
          <a:bodyPr wrap="square">
            <a:spAutoFit/>
          </a:bodyPr>
          <a:lstStyle/>
          <a:p>
            <a:pPr algn="l"/>
            <a:r>
              <a:rPr sz="900" b="0" i="0">
                <a:solidFill>
                  <a:srgbClr val="39FF14"/>
                </a:solidFill>
                <a:latin typeface="Calibri"/>
              </a:rPr>
              <a:t>• Amass
• httpx
• WhatWeb
• EyeWitness</a:t>
            </a:r>
          </a:p>
        </p:txBody>
      </p:sp>
      <p:sp>
        <p:nvSpPr>
          <p:cNvPr id="55" name="Rectangle 54"/>
          <p:cNvSpPr/>
          <p:nvPr/>
        </p:nvSpPr>
        <p:spPr>
          <a:xfrm>
            <a:off x="7918703" y="2993136"/>
            <a:ext cx="3980384" cy="1749552"/>
          </a:xfrm>
          <a:prstGeom prst="rect">
            <a:avLst/>
          </a:prstGeom>
          <a:solidFill>
            <a:srgbClr val="0C0A1E"/>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18703" y="2993136"/>
            <a:ext cx="3980384"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91855" y="3020568"/>
            <a:ext cx="3888944" cy="201168"/>
          </a:xfrm>
          <a:prstGeom prst="rect">
            <a:avLst/>
          </a:prstGeom>
          <a:noFill/>
        </p:spPr>
        <p:txBody>
          <a:bodyPr wrap="square">
            <a:spAutoFit/>
          </a:bodyPr>
          <a:lstStyle/>
          <a:p>
            <a:pPr algn="l"/>
            <a:r>
              <a:rPr sz="900" b="1" i="0">
                <a:solidFill>
                  <a:srgbClr val="0A0D1A"/>
                </a:solidFill>
                <a:latin typeface="Calibri"/>
              </a:rPr>
              <a:t>MED — Active</a:t>
            </a:r>
          </a:p>
        </p:txBody>
      </p:sp>
      <p:sp>
        <p:nvSpPr>
          <p:cNvPr id="58" name="TextBox 57"/>
          <p:cNvSpPr txBox="1"/>
          <p:nvPr/>
        </p:nvSpPr>
        <p:spPr>
          <a:xfrm>
            <a:off x="7991855" y="3285744"/>
            <a:ext cx="3888944" cy="1456944"/>
          </a:xfrm>
          <a:prstGeom prst="rect">
            <a:avLst/>
          </a:prstGeom>
          <a:noFill/>
        </p:spPr>
        <p:txBody>
          <a:bodyPr wrap="square">
            <a:spAutoFit/>
          </a:bodyPr>
          <a:lstStyle/>
          <a:p>
            <a:pPr algn="l"/>
            <a:r>
              <a:rPr sz="900" b="0" i="0">
                <a:solidFill>
                  <a:srgbClr val="FFD700"/>
                </a:solidFill>
                <a:latin typeface="Calibri"/>
              </a:rPr>
              <a:t>• Nmap
• Gobuster
• ffuf
• Nuclei
• OWASP ZAP</a:t>
            </a:r>
          </a:p>
        </p:txBody>
      </p:sp>
      <p:sp>
        <p:nvSpPr>
          <p:cNvPr id="59" name="Rectangle 58"/>
          <p:cNvSpPr/>
          <p:nvPr/>
        </p:nvSpPr>
        <p:spPr>
          <a:xfrm>
            <a:off x="7918703" y="4797552"/>
            <a:ext cx="3980384" cy="1749552"/>
          </a:xfrm>
          <a:prstGeom prst="rect">
            <a:avLst/>
          </a:prstGeom>
          <a:solidFill>
            <a:srgbClr val="0C0A1E"/>
          </a:solidFill>
          <a:ln w="1143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18703" y="4797552"/>
            <a:ext cx="3980384" cy="23774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91855" y="4824984"/>
            <a:ext cx="3888944" cy="201168"/>
          </a:xfrm>
          <a:prstGeom prst="rect">
            <a:avLst/>
          </a:prstGeom>
          <a:noFill/>
        </p:spPr>
        <p:txBody>
          <a:bodyPr wrap="square">
            <a:spAutoFit/>
          </a:bodyPr>
          <a:lstStyle/>
          <a:p>
            <a:pPr algn="l"/>
            <a:r>
              <a:rPr sz="900" b="1" i="0">
                <a:solidFill>
                  <a:srgbClr val="0A0D1A"/>
                </a:solidFill>
                <a:latin typeface="Calibri"/>
              </a:rPr>
              <a:t>HIGH — Exploit</a:t>
            </a:r>
          </a:p>
        </p:txBody>
      </p:sp>
      <p:sp>
        <p:nvSpPr>
          <p:cNvPr id="62" name="TextBox 61"/>
          <p:cNvSpPr txBox="1"/>
          <p:nvPr/>
        </p:nvSpPr>
        <p:spPr>
          <a:xfrm>
            <a:off x="7991855" y="5090160"/>
            <a:ext cx="3888944" cy="1456944"/>
          </a:xfrm>
          <a:prstGeom prst="rect">
            <a:avLst/>
          </a:prstGeom>
          <a:noFill/>
        </p:spPr>
        <p:txBody>
          <a:bodyPr wrap="square">
            <a:spAutoFit/>
          </a:bodyPr>
          <a:lstStyle/>
          <a:p>
            <a:pPr algn="l"/>
            <a:r>
              <a:rPr sz="900" b="0" i="0">
                <a:solidFill>
                  <a:srgbClr val="FF4545"/>
                </a:solidFill>
                <a:latin typeface="Calibri"/>
              </a:rPr>
              <a:t>• SQLMap
• Metasploit</a:t>
            </a:r>
          </a:p>
        </p:txBody>
      </p:sp>
      <p:sp>
        <p:nvSpPr>
          <p:cNvPr id="63" name="TextBox 62"/>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AUTONOMOUS PLANNING 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Commander Loop — Graph-Driven Re-Planning on Every Cycle</a:t>
            </a:r>
          </a:p>
        </p:txBody>
      </p:sp>
      <p:sp>
        <p:nvSpPr>
          <p:cNvPr id="7" name="Rectangle 6"/>
          <p:cNvSpPr/>
          <p:nvPr/>
        </p:nvSpPr>
        <p:spPr>
          <a:xfrm>
            <a:off x="274320" y="822960"/>
            <a:ext cx="91440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7315200" cy="5705856"/>
          </a:xfrm>
          <a:prstGeom prst="rect">
            <a:avLst/>
          </a:prstGeom>
          <a:solidFill>
            <a:srgbClr val="040A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41832"/>
            <a:ext cx="7132320" cy="182880"/>
          </a:xfrm>
          <a:prstGeom prst="rect">
            <a:avLst/>
          </a:prstGeom>
          <a:noFill/>
        </p:spPr>
        <p:txBody>
          <a:bodyPr wrap="square">
            <a:spAutoFit/>
          </a:bodyPr>
          <a:lstStyle/>
          <a:p>
            <a:pPr algn="l"/>
            <a:r>
              <a:rPr sz="900" b="1" i="0">
                <a:solidFill>
                  <a:srgbClr val="00E5FF"/>
                </a:solidFill>
                <a:latin typeface="Calibri"/>
              </a:rPr>
              <a:t>COMMANDER PLANNING LOOP (executed on every cycle)</a:t>
            </a:r>
          </a:p>
        </p:txBody>
      </p:sp>
      <p:sp>
        <p:nvSpPr>
          <p:cNvPr id="10" name="Rectangle 9"/>
          <p:cNvSpPr/>
          <p:nvPr/>
        </p:nvSpPr>
        <p:spPr>
          <a:xfrm>
            <a:off x="402336" y="1152144"/>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1152144"/>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1197864"/>
            <a:ext cx="1005840" cy="642692"/>
          </a:xfrm>
          <a:prstGeom prst="rect">
            <a:avLst/>
          </a:prstGeom>
          <a:noFill/>
        </p:spPr>
        <p:txBody>
          <a:bodyPr wrap="square">
            <a:spAutoFit/>
          </a:bodyPr>
          <a:lstStyle/>
          <a:p>
            <a:pPr algn="ctr"/>
            <a:r>
              <a:rPr sz="850" b="1" i="0">
                <a:solidFill>
                  <a:srgbClr val="0A0D1A"/>
                </a:solidFill>
                <a:latin typeface="Calibri"/>
              </a:rPr>
              <a:t>1  READ</a:t>
            </a:r>
          </a:p>
        </p:txBody>
      </p:sp>
      <p:sp>
        <p:nvSpPr>
          <p:cNvPr id="13" name="TextBox 12"/>
          <p:cNvSpPr txBox="1"/>
          <p:nvPr/>
        </p:nvSpPr>
        <p:spPr>
          <a:xfrm>
            <a:off x="1463040" y="1197864"/>
            <a:ext cx="5779008" cy="642692"/>
          </a:xfrm>
          <a:prstGeom prst="rect">
            <a:avLst/>
          </a:prstGeom>
          <a:noFill/>
        </p:spPr>
        <p:txBody>
          <a:bodyPr wrap="square">
            <a:spAutoFit/>
          </a:bodyPr>
          <a:lstStyle/>
          <a:p>
            <a:pPr algn="l"/>
            <a:r>
              <a:rPr sz="900" b="0" i="0">
                <a:solidFill>
                  <a:srgbClr val="A0AAB8"/>
                </a:solidFill>
                <a:latin typeface="Calibri"/>
              </a:rPr>
              <a:t>Read full ASG node state + APG chain priorities</a:t>
            </a:r>
          </a:p>
        </p:txBody>
      </p:sp>
      <p:cxnSp>
        <p:nvCxnSpPr>
          <p:cNvPr id="14" name="Connector 13"/>
          <p:cNvCxnSpPr/>
          <p:nvPr/>
        </p:nvCxnSpPr>
        <p:spPr>
          <a:xfrm>
            <a:off x="3493008.0" y="1867988.5714285714"/>
            <a:ext cx="0.0" cy="54864.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02336" y="1922852"/>
            <a:ext cx="6912864" cy="715844"/>
          </a:xfrm>
          <a:prstGeom prst="rect">
            <a:avLst/>
          </a:prstGeom>
          <a:solidFill>
            <a:srgbClr val="041220"/>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336" y="1922852"/>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1968572"/>
            <a:ext cx="1005840" cy="642692"/>
          </a:xfrm>
          <a:prstGeom prst="rect">
            <a:avLst/>
          </a:prstGeom>
          <a:noFill/>
        </p:spPr>
        <p:txBody>
          <a:bodyPr wrap="square">
            <a:spAutoFit/>
          </a:bodyPr>
          <a:lstStyle/>
          <a:p>
            <a:pPr algn="ctr"/>
            <a:r>
              <a:rPr sz="850" b="1" i="0">
                <a:solidFill>
                  <a:srgbClr val="0A0D1A"/>
                </a:solidFill>
                <a:latin typeface="Calibri"/>
              </a:rPr>
              <a:t>2  TERMINATE?</a:t>
            </a:r>
          </a:p>
        </p:txBody>
      </p:sp>
      <p:sp>
        <p:nvSpPr>
          <p:cNvPr id="18" name="TextBox 17"/>
          <p:cNvSpPr txBox="1"/>
          <p:nvPr/>
        </p:nvSpPr>
        <p:spPr>
          <a:xfrm>
            <a:off x="1463040" y="1968572"/>
            <a:ext cx="5779008" cy="642692"/>
          </a:xfrm>
          <a:prstGeom prst="rect">
            <a:avLst/>
          </a:prstGeom>
          <a:noFill/>
        </p:spPr>
        <p:txBody>
          <a:bodyPr wrap="square">
            <a:spAutoFit/>
          </a:bodyPr>
          <a:lstStyle/>
          <a:p>
            <a:pPr algn="l"/>
            <a:r>
              <a:rPr sz="900" b="0" i="0">
                <a:solidFill>
                  <a:srgbClr val="A0AAB8"/>
                </a:solidFill>
                <a:latin typeface="Calibri"/>
              </a:rPr>
              <a:t>Both conditions met?  ASG exhausted + all APG chains resolved → END</a:t>
            </a:r>
          </a:p>
        </p:txBody>
      </p:sp>
      <p:cxnSp>
        <p:nvCxnSpPr>
          <p:cNvPr id="19" name="Connector 18"/>
          <p:cNvCxnSpPr/>
          <p:nvPr/>
        </p:nvCxnSpPr>
        <p:spPr>
          <a:xfrm>
            <a:off x="3493008.0" y="2638697.1428571427"/>
            <a:ext cx="0.0" cy="54864.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02336" y="2693561"/>
            <a:ext cx="6912864" cy="715844"/>
          </a:xfrm>
          <a:prstGeom prst="rect">
            <a:avLst/>
          </a:prstGeom>
          <a:solidFill>
            <a:srgbClr val="18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2336" y="2693561"/>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739281"/>
            <a:ext cx="1005840" cy="642692"/>
          </a:xfrm>
          <a:prstGeom prst="rect">
            <a:avLst/>
          </a:prstGeom>
          <a:noFill/>
        </p:spPr>
        <p:txBody>
          <a:bodyPr wrap="square">
            <a:spAutoFit/>
          </a:bodyPr>
          <a:lstStyle/>
          <a:p>
            <a:pPr algn="ctr"/>
            <a:r>
              <a:rPr sz="850" b="1" i="0">
                <a:solidFill>
                  <a:srgbClr val="0A0D1A"/>
                </a:solidFill>
                <a:latin typeface="Calibri"/>
              </a:rPr>
              <a:t>3  CYCLE GUARD</a:t>
            </a:r>
          </a:p>
        </p:txBody>
      </p:sp>
      <p:sp>
        <p:nvSpPr>
          <p:cNvPr id="23" name="TextBox 22"/>
          <p:cNvSpPr txBox="1"/>
          <p:nvPr/>
        </p:nvSpPr>
        <p:spPr>
          <a:xfrm>
            <a:off x="1463040" y="2739281"/>
            <a:ext cx="5779008" cy="642692"/>
          </a:xfrm>
          <a:prstGeom prst="rect">
            <a:avLst/>
          </a:prstGeom>
          <a:noFill/>
        </p:spPr>
        <p:txBody>
          <a:bodyPr wrap="square">
            <a:spAutoFit/>
          </a:bodyPr>
          <a:lstStyle/>
          <a:p>
            <a:pPr algn="l"/>
            <a:r>
              <a:rPr sz="900" b="0" i="0">
                <a:solidFill>
                  <a:srgbClr val="A0AAB8"/>
                </a:solidFill>
                <a:latin typeface="Calibri"/>
              </a:rPr>
              <a:t>Detect repeated identical tool call sequences → flag as fixation</a:t>
            </a:r>
          </a:p>
        </p:txBody>
      </p:sp>
      <p:cxnSp>
        <p:nvCxnSpPr>
          <p:cNvPr id="24" name="Connector 23"/>
          <p:cNvCxnSpPr/>
          <p:nvPr/>
        </p:nvCxnSpPr>
        <p:spPr>
          <a:xfrm>
            <a:off x="3493008.0" y="3409405.714285714"/>
            <a:ext cx="0.0" cy="54864.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02336" y="3464269"/>
            <a:ext cx="6912864" cy="715844"/>
          </a:xfrm>
          <a:prstGeom prst="rect">
            <a:avLst/>
          </a:prstGeom>
          <a:solidFill>
            <a:srgbClr val="1006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2336" y="3464269"/>
            <a:ext cx="1005840" cy="7158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 y="3509989"/>
            <a:ext cx="1005840" cy="642692"/>
          </a:xfrm>
          <a:prstGeom prst="rect">
            <a:avLst/>
          </a:prstGeom>
          <a:noFill/>
        </p:spPr>
        <p:txBody>
          <a:bodyPr wrap="square">
            <a:spAutoFit/>
          </a:bodyPr>
          <a:lstStyle/>
          <a:p>
            <a:pPr algn="ctr"/>
            <a:r>
              <a:rPr sz="850" b="1" i="0">
                <a:solidFill>
                  <a:srgbClr val="0A0D1A"/>
                </a:solidFill>
                <a:latin typeface="Calibri"/>
              </a:rPr>
              <a:t>4  PLAN</a:t>
            </a:r>
          </a:p>
        </p:txBody>
      </p:sp>
      <p:sp>
        <p:nvSpPr>
          <p:cNvPr id="28" name="TextBox 27"/>
          <p:cNvSpPr txBox="1"/>
          <p:nvPr/>
        </p:nvSpPr>
        <p:spPr>
          <a:xfrm>
            <a:off x="1463040" y="3509989"/>
            <a:ext cx="5779008" cy="642692"/>
          </a:xfrm>
          <a:prstGeom prst="rect">
            <a:avLst/>
          </a:prstGeom>
          <a:noFill/>
        </p:spPr>
        <p:txBody>
          <a:bodyPr wrap="square">
            <a:spAutoFit/>
          </a:bodyPr>
          <a:lstStyle/>
          <a:p>
            <a:pPr algn="l"/>
            <a:r>
              <a:rPr sz="900" b="0" i="0">
                <a:solidFill>
                  <a:srgbClr val="A0AAB8"/>
                </a:solidFill>
                <a:latin typeface="Calibri"/>
              </a:rPr>
              <a:t>Select highest-priority HYPOTHESIZED chain · decide next ChainStep · choose agent</a:t>
            </a:r>
          </a:p>
        </p:txBody>
      </p:sp>
      <p:cxnSp>
        <p:nvCxnSpPr>
          <p:cNvPr id="29" name="Connector 28"/>
          <p:cNvCxnSpPr/>
          <p:nvPr/>
        </p:nvCxnSpPr>
        <p:spPr>
          <a:xfrm>
            <a:off x="3493008.0" y="4180114.285714286"/>
            <a:ext cx="0.0" cy="54863.999999999534"/>
          </a:xfrm>
          <a:prstGeom prst="line">
            <a:avLst/>
          </a:prstGeom>
          <a:ln w="1778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02336" y="4234978"/>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02336" y="4234978"/>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 y="4280698"/>
            <a:ext cx="1005840" cy="642692"/>
          </a:xfrm>
          <a:prstGeom prst="rect">
            <a:avLst/>
          </a:prstGeom>
          <a:noFill/>
        </p:spPr>
        <p:txBody>
          <a:bodyPr wrap="square">
            <a:spAutoFit/>
          </a:bodyPr>
          <a:lstStyle/>
          <a:p>
            <a:pPr algn="ctr"/>
            <a:r>
              <a:rPr sz="850" b="1" i="0">
                <a:solidFill>
                  <a:srgbClr val="0A0D1A"/>
                </a:solidFill>
                <a:latin typeface="Calibri"/>
              </a:rPr>
              <a:t>5  DISPATCH</a:t>
            </a:r>
          </a:p>
        </p:txBody>
      </p:sp>
      <p:sp>
        <p:nvSpPr>
          <p:cNvPr id="33" name="TextBox 32"/>
          <p:cNvSpPr txBox="1"/>
          <p:nvPr/>
        </p:nvSpPr>
        <p:spPr>
          <a:xfrm>
            <a:off x="1463040" y="4280698"/>
            <a:ext cx="5779008" cy="642692"/>
          </a:xfrm>
          <a:prstGeom prst="rect">
            <a:avLst/>
          </a:prstGeom>
          <a:noFill/>
        </p:spPr>
        <p:txBody>
          <a:bodyPr wrap="square">
            <a:spAutoFit/>
          </a:bodyPr>
          <a:lstStyle/>
          <a:p>
            <a:pPr algn="l"/>
            <a:r>
              <a:rPr sz="900" b="0" i="0">
                <a:solidFill>
                  <a:srgbClr val="A0AAB8"/>
                </a:solidFill>
                <a:latin typeface="Calibri"/>
              </a:rPr>
              <a:t>Spawn agent with scoped context (ASG slice + APG slice + task)</a:t>
            </a:r>
          </a:p>
        </p:txBody>
      </p:sp>
      <p:cxnSp>
        <p:nvCxnSpPr>
          <p:cNvPr id="34" name="Connector 33"/>
          <p:cNvCxnSpPr/>
          <p:nvPr/>
        </p:nvCxnSpPr>
        <p:spPr>
          <a:xfrm>
            <a:off x="3493008.0" y="4950822.857142857"/>
            <a:ext cx="0.0" cy="54864.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05686"/>
            <a:ext cx="6912864" cy="715844"/>
          </a:xfrm>
          <a:prstGeom prst="rect">
            <a:avLst/>
          </a:prstGeom>
          <a:solidFill>
            <a:srgbClr val="04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2336" y="5005686"/>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 y="5051406"/>
            <a:ext cx="1005840" cy="642692"/>
          </a:xfrm>
          <a:prstGeom prst="rect">
            <a:avLst/>
          </a:prstGeom>
          <a:noFill/>
        </p:spPr>
        <p:txBody>
          <a:bodyPr wrap="square">
            <a:spAutoFit/>
          </a:bodyPr>
          <a:lstStyle/>
          <a:p>
            <a:pPr algn="ctr"/>
            <a:r>
              <a:rPr sz="850" b="1" i="0">
                <a:solidFill>
                  <a:srgbClr val="0A0D1A"/>
                </a:solidFill>
                <a:latin typeface="Calibri"/>
              </a:rPr>
              <a:t>6  AWAIT DELTA</a:t>
            </a:r>
          </a:p>
        </p:txBody>
      </p:sp>
      <p:sp>
        <p:nvSpPr>
          <p:cNvPr id="38" name="TextBox 37"/>
          <p:cNvSpPr txBox="1"/>
          <p:nvPr/>
        </p:nvSpPr>
        <p:spPr>
          <a:xfrm>
            <a:off x="1463040" y="5051406"/>
            <a:ext cx="5779008" cy="642692"/>
          </a:xfrm>
          <a:prstGeom prst="rect">
            <a:avLst/>
          </a:prstGeom>
          <a:noFill/>
        </p:spPr>
        <p:txBody>
          <a:bodyPr wrap="square">
            <a:spAutoFit/>
          </a:bodyPr>
          <a:lstStyle/>
          <a:p>
            <a:pPr algn="l"/>
            <a:r>
              <a:rPr sz="900" b="0" i="0">
                <a:solidFill>
                  <a:srgbClr val="A0AAB8"/>
                </a:solidFill>
                <a:latin typeface="Calibri"/>
              </a:rPr>
              <a:t>Receive ASG delta from returned agent · write new nodes + edges</a:t>
            </a:r>
          </a:p>
        </p:txBody>
      </p:sp>
      <p:cxnSp>
        <p:nvCxnSpPr>
          <p:cNvPr id="39" name="Connector 38"/>
          <p:cNvCxnSpPr/>
          <p:nvPr/>
        </p:nvCxnSpPr>
        <p:spPr>
          <a:xfrm>
            <a:off x="3493008.0" y="5721531.428571429"/>
            <a:ext cx="0.0" cy="54864.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02336" y="5776395"/>
            <a:ext cx="6912864" cy="715844"/>
          </a:xfrm>
          <a:prstGeom prst="rect">
            <a:avLst/>
          </a:prstGeom>
          <a:solidFill>
            <a:srgbClr val="1C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02336" y="5776395"/>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2336" y="5822115"/>
            <a:ext cx="1005840" cy="642692"/>
          </a:xfrm>
          <a:prstGeom prst="rect">
            <a:avLst/>
          </a:prstGeom>
          <a:noFill/>
        </p:spPr>
        <p:txBody>
          <a:bodyPr wrap="square">
            <a:spAutoFit/>
          </a:bodyPr>
          <a:lstStyle/>
          <a:p>
            <a:pPr algn="ctr"/>
            <a:r>
              <a:rPr sz="850" b="1" i="0">
                <a:solidFill>
                  <a:srgbClr val="0A0D1A"/>
                </a:solidFill>
                <a:latin typeface="Calibri"/>
              </a:rPr>
              <a:t>7  APG UPDATE</a:t>
            </a:r>
          </a:p>
        </p:txBody>
      </p:sp>
      <p:sp>
        <p:nvSpPr>
          <p:cNvPr id="43" name="TextBox 42"/>
          <p:cNvSpPr txBox="1"/>
          <p:nvPr/>
        </p:nvSpPr>
        <p:spPr>
          <a:xfrm>
            <a:off x="1463040" y="5822115"/>
            <a:ext cx="5779008" cy="642692"/>
          </a:xfrm>
          <a:prstGeom prst="rect">
            <a:avLst/>
          </a:prstGeom>
          <a:noFill/>
        </p:spPr>
        <p:txBody>
          <a:bodyPr wrap="square">
            <a:spAutoFit/>
          </a:bodyPr>
          <a:lstStyle/>
          <a:p>
            <a:pPr algn="l"/>
            <a:r>
              <a:rPr sz="900" b="0" i="0">
                <a:solidFill>
                  <a:srgbClr val="A0AAB8"/>
                </a:solidFill>
                <a:latin typeface="Calibri"/>
              </a:rPr>
              <a:t>Re-evaluate chains: new Vulnerability node? → seed new AttackChain</a:t>
            </a:r>
          </a:p>
        </p:txBody>
      </p:sp>
      <p:sp>
        <p:nvSpPr>
          <p:cNvPr id="44" name="Rectangle 43"/>
          <p:cNvSpPr/>
          <p:nvPr/>
        </p:nvSpPr>
        <p:spPr>
          <a:xfrm>
            <a:off x="7242048" y="1152144"/>
            <a:ext cx="54864" cy="53949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flipH="1">
            <a:off x="1408176" y="1152144"/>
            <a:ext cx="5833872" cy="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15200" y="1188720"/>
            <a:ext cx="731520" cy="182880"/>
          </a:xfrm>
          <a:prstGeom prst="rect">
            <a:avLst/>
          </a:prstGeom>
          <a:noFill/>
        </p:spPr>
        <p:txBody>
          <a:bodyPr wrap="square">
            <a:spAutoFit/>
          </a:bodyPr>
          <a:lstStyle/>
          <a:p>
            <a:pPr algn="l"/>
            <a:r>
              <a:rPr sz="750" b="0" i="1">
                <a:solidFill>
                  <a:srgbClr val="00E5FF"/>
                </a:solidFill>
                <a:latin typeface="Calibri"/>
              </a:rPr>
              <a:t>next cycle</a:t>
            </a:r>
          </a:p>
        </p:txBody>
      </p:sp>
      <p:sp>
        <p:nvSpPr>
          <p:cNvPr id="47" name="Rectangle 46"/>
          <p:cNvSpPr/>
          <p:nvPr/>
        </p:nvSpPr>
        <p:spPr>
          <a:xfrm>
            <a:off x="7644384" y="896112"/>
            <a:ext cx="4346143" cy="2624693"/>
          </a:xfrm>
          <a:prstGeom prst="rect">
            <a:avLst/>
          </a:prstGeom>
          <a:solidFill>
            <a:srgbClr val="18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4384" y="896112"/>
            <a:ext cx="434614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44384" y="932688"/>
            <a:ext cx="4346143" cy="219456"/>
          </a:xfrm>
          <a:prstGeom prst="rect">
            <a:avLst/>
          </a:prstGeom>
          <a:noFill/>
        </p:spPr>
        <p:txBody>
          <a:bodyPr wrap="square">
            <a:spAutoFit/>
          </a:bodyPr>
          <a:lstStyle/>
          <a:p>
            <a:pPr algn="ctr"/>
            <a:r>
              <a:rPr sz="950" b="1" i="0">
                <a:solidFill>
                  <a:srgbClr val="0A0D1A"/>
                </a:solidFill>
                <a:latin typeface="Calibri"/>
              </a:rPr>
              <a:t>CYCLE GUARD  (detection)</a:t>
            </a:r>
          </a:p>
        </p:txBody>
      </p:sp>
      <p:sp>
        <p:nvSpPr>
          <p:cNvPr id="50" name="Rectangle 49"/>
          <p:cNvSpPr/>
          <p:nvPr/>
        </p:nvSpPr>
        <p:spPr>
          <a:xfrm>
            <a:off x="7735824" y="1243584"/>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08976" y="1280160"/>
            <a:ext cx="4071823" cy="219456"/>
          </a:xfrm>
          <a:prstGeom prst="rect">
            <a:avLst/>
          </a:prstGeom>
          <a:noFill/>
        </p:spPr>
        <p:txBody>
          <a:bodyPr wrap="square">
            <a:spAutoFit/>
          </a:bodyPr>
          <a:lstStyle/>
          <a:p>
            <a:pPr algn="l"/>
            <a:r>
              <a:rPr sz="900" b="0" i="0">
                <a:solidFill>
                  <a:srgbClr val="A0AAB8"/>
                </a:solidFill>
                <a:latin typeface="Calibri"/>
              </a:rPr>
              <a:t>→  Monitors Commander's tool call history per cycle</a:t>
            </a:r>
          </a:p>
        </p:txBody>
      </p:sp>
      <p:sp>
        <p:nvSpPr>
          <p:cNvPr id="52" name="Rectangle 51"/>
          <p:cNvSpPr/>
          <p:nvPr/>
        </p:nvSpPr>
        <p:spPr>
          <a:xfrm>
            <a:off x="7735824" y="1591056"/>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08976" y="1627632"/>
            <a:ext cx="4071823" cy="219456"/>
          </a:xfrm>
          <a:prstGeom prst="rect">
            <a:avLst/>
          </a:prstGeom>
          <a:noFill/>
        </p:spPr>
        <p:txBody>
          <a:bodyPr wrap="square">
            <a:spAutoFit/>
          </a:bodyPr>
          <a:lstStyle/>
          <a:p>
            <a:pPr algn="l"/>
            <a:r>
              <a:rPr sz="900" b="0" i="0">
                <a:solidFill>
                  <a:srgbClr val="A0AAB8"/>
                </a:solidFill>
                <a:latin typeface="Calibri"/>
              </a:rPr>
              <a:t>→  If identical sequence repeats ≥ N times → fixation flag</a:t>
            </a:r>
          </a:p>
        </p:txBody>
      </p:sp>
      <p:sp>
        <p:nvSpPr>
          <p:cNvPr id="54" name="Rectangle 53"/>
          <p:cNvSpPr/>
          <p:nvPr/>
        </p:nvSpPr>
        <p:spPr>
          <a:xfrm>
            <a:off x="7735824" y="1938528"/>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08976" y="1975104"/>
            <a:ext cx="4071823" cy="219456"/>
          </a:xfrm>
          <a:prstGeom prst="rect">
            <a:avLst/>
          </a:prstGeom>
          <a:noFill/>
        </p:spPr>
        <p:txBody>
          <a:bodyPr wrap="square">
            <a:spAutoFit/>
          </a:bodyPr>
          <a:lstStyle/>
          <a:p>
            <a:pPr algn="l"/>
            <a:r>
              <a:rPr sz="900" b="0" i="0">
                <a:solidFill>
                  <a:srgbClr val="A0AAB8"/>
                </a:solidFill>
                <a:latin typeface="Calibri"/>
              </a:rPr>
              <a:t>→  Trigger: inject Reflector corrective prompt</a:t>
            </a:r>
          </a:p>
        </p:txBody>
      </p:sp>
      <p:sp>
        <p:nvSpPr>
          <p:cNvPr id="56" name="Rectangle 55"/>
          <p:cNvSpPr/>
          <p:nvPr/>
        </p:nvSpPr>
        <p:spPr>
          <a:xfrm>
            <a:off x="7735824" y="2286000"/>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08976" y="2322576"/>
            <a:ext cx="4071823" cy="219456"/>
          </a:xfrm>
          <a:prstGeom prst="rect">
            <a:avLst/>
          </a:prstGeom>
          <a:noFill/>
        </p:spPr>
        <p:txBody>
          <a:bodyPr wrap="square">
            <a:spAutoFit/>
          </a:bodyPr>
          <a:lstStyle/>
          <a:p>
            <a:pPr algn="l"/>
            <a:r>
              <a:rPr sz="900" b="0" i="0">
                <a:solidFill>
                  <a:srgbClr val="A0AAB8"/>
                </a:solidFill>
                <a:latin typeface="Calibri"/>
              </a:rPr>
              <a:t>→  Prevents infinite loops on stuck states</a:t>
            </a:r>
          </a:p>
        </p:txBody>
      </p:sp>
      <p:sp>
        <p:nvSpPr>
          <p:cNvPr id="58" name="Rectangle 57"/>
          <p:cNvSpPr/>
          <p:nvPr/>
        </p:nvSpPr>
        <p:spPr>
          <a:xfrm>
            <a:off x="7644384" y="3630533"/>
            <a:ext cx="4346143" cy="2971434"/>
          </a:xfrm>
          <a:prstGeom prst="rect">
            <a:avLst/>
          </a:prstGeom>
          <a:solidFill>
            <a:srgbClr val="0814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44384" y="3630533"/>
            <a:ext cx="4346143"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44384" y="3667109"/>
            <a:ext cx="4346143" cy="219456"/>
          </a:xfrm>
          <a:prstGeom prst="rect">
            <a:avLst/>
          </a:prstGeom>
          <a:noFill/>
        </p:spPr>
        <p:txBody>
          <a:bodyPr wrap="square">
            <a:spAutoFit/>
          </a:bodyPr>
          <a:lstStyle/>
          <a:p>
            <a:pPr algn="ctr"/>
            <a:r>
              <a:rPr sz="900" b="1" i="0">
                <a:solidFill>
                  <a:srgbClr val="0A0D1A"/>
                </a:solidFill>
                <a:latin typeface="Calibri"/>
              </a:rPr>
              <a:t>REFLECTOR  (corrective — separate from Cycle Guard)</a:t>
            </a:r>
          </a:p>
        </p:txBody>
      </p:sp>
      <p:sp>
        <p:nvSpPr>
          <p:cNvPr id="61" name="Rectangle 60"/>
          <p:cNvSpPr/>
          <p:nvPr/>
        </p:nvSpPr>
        <p:spPr>
          <a:xfrm>
            <a:off x="7735824" y="3978005"/>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08976" y="4014581"/>
            <a:ext cx="4071823" cy="256032"/>
          </a:xfrm>
          <a:prstGeom prst="rect">
            <a:avLst/>
          </a:prstGeom>
          <a:noFill/>
        </p:spPr>
        <p:txBody>
          <a:bodyPr wrap="square">
            <a:spAutoFit/>
          </a:bodyPr>
          <a:lstStyle/>
          <a:p>
            <a:pPr algn="l"/>
            <a:r>
              <a:rPr sz="850" b="0" i="0">
                <a:solidFill>
                  <a:srgbClr val="A0AAB8"/>
                </a:solidFill>
                <a:latin typeface="Calibri"/>
              </a:rPr>
              <a:t>→  Triggered by: Cycle Guard fixation flag OR Validation Agent cap exhaustion</a:t>
            </a:r>
          </a:p>
        </p:txBody>
      </p:sp>
      <p:sp>
        <p:nvSpPr>
          <p:cNvPr id="63" name="Rectangle 62"/>
          <p:cNvSpPr/>
          <p:nvPr/>
        </p:nvSpPr>
        <p:spPr>
          <a:xfrm>
            <a:off x="7735824" y="4362053"/>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08976" y="4398629"/>
            <a:ext cx="4071823" cy="256032"/>
          </a:xfrm>
          <a:prstGeom prst="rect">
            <a:avLst/>
          </a:prstGeom>
          <a:noFill/>
        </p:spPr>
        <p:txBody>
          <a:bodyPr wrap="square">
            <a:spAutoFit/>
          </a:bodyPr>
          <a:lstStyle/>
          <a:p>
            <a:pPr algn="l"/>
            <a:r>
              <a:rPr sz="850" b="0" i="0">
                <a:solidFill>
                  <a:srgbClr val="A0AAB8"/>
                </a:solidFill>
                <a:latin typeface="Calibri"/>
              </a:rPr>
              <a:t>→  Action: injects a corrective context window into Commander's next prompt</a:t>
            </a:r>
          </a:p>
        </p:txBody>
      </p:sp>
      <p:sp>
        <p:nvSpPr>
          <p:cNvPr id="65" name="Rectangle 64"/>
          <p:cNvSpPr/>
          <p:nvPr/>
        </p:nvSpPr>
        <p:spPr>
          <a:xfrm>
            <a:off x="7735824" y="4746101"/>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08976" y="4782677"/>
            <a:ext cx="4071823" cy="256032"/>
          </a:xfrm>
          <a:prstGeom prst="rect">
            <a:avLst/>
          </a:prstGeom>
          <a:noFill/>
        </p:spPr>
        <p:txBody>
          <a:bodyPr wrap="square">
            <a:spAutoFit/>
          </a:bodyPr>
          <a:lstStyle/>
          <a:p>
            <a:pPr algn="l"/>
            <a:r>
              <a:rPr sz="850" b="0" i="0">
                <a:solidFill>
                  <a:srgbClr val="A0AAB8"/>
                </a:solidFill>
                <a:latin typeface="Calibri"/>
              </a:rPr>
              <a:t>→  Prompt content: what was tried, why it failed, which alternative approaches remain</a:t>
            </a:r>
          </a:p>
        </p:txBody>
      </p:sp>
      <p:sp>
        <p:nvSpPr>
          <p:cNvPr id="67" name="Rectangle 66"/>
          <p:cNvSpPr/>
          <p:nvPr/>
        </p:nvSpPr>
        <p:spPr>
          <a:xfrm>
            <a:off x="7735824" y="5130149"/>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808976" y="5166725"/>
            <a:ext cx="4071823" cy="256032"/>
          </a:xfrm>
          <a:prstGeom prst="rect">
            <a:avLst/>
          </a:prstGeom>
          <a:noFill/>
        </p:spPr>
        <p:txBody>
          <a:bodyPr wrap="square">
            <a:spAutoFit/>
          </a:bodyPr>
          <a:lstStyle/>
          <a:p>
            <a:pPr algn="l"/>
            <a:r>
              <a:rPr sz="850" b="0" i="0">
                <a:solidFill>
                  <a:srgbClr val="A0AAB8"/>
                </a:solidFill>
                <a:latin typeface="Calibri"/>
              </a:rPr>
              <a:t>→  Outcome: Commander re-plans with explicit knowledge of stuck state</a:t>
            </a:r>
          </a:p>
        </p:txBody>
      </p:sp>
      <p:sp>
        <p:nvSpPr>
          <p:cNvPr id="69" name="Rectangle 68"/>
          <p:cNvSpPr/>
          <p:nvPr/>
        </p:nvSpPr>
        <p:spPr>
          <a:xfrm>
            <a:off x="7735824" y="5514197"/>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808976" y="5550773"/>
            <a:ext cx="4071823" cy="256032"/>
          </a:xfrm>
          <a:prstGeom prst="rect">
            <a:avLst/>
          </a:prstGeom>
          <a:noFill/>
        </p:spPr>
        <p:txBody>
          <a:bodyPr wrap="square">
            <a:spAutoFit/>
          </a:bodyPr>
          <a:lstStyle/>
          <a:p>
            <a:pPr algn="l"/>
            <a:r>
              <a:rPr sz="850" b="0" i="0">
                <a:solidFill>
                  <a:srgbClr val="A0AAB8"/>
                </a:solidFill>
                <a:latin typeface="Calibri"/>
              </a:rPr>
              <a:t>→  NOT the same as the planning loop — fires only on anomaly</a:t>
            </a:r>
          </a:p>
        </p:txBody>
      </p:sp>
      <p:sp>
        <p:nvSpPr>
          <p:cNvPr id="71" name="TextBox 70"/>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BFD8"/>
                </a:solidFill>
                <a:latin typeface="Calibri"/>
              </a:rPr>
              <a:t>DUAL TERMINATION + CONTEXT COMPACTION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200" b="1" i="0">
                <a:solidFill>
                  <a:srgbClr val="FFFFFF"/>
                </a:solidFill>
                <a:latin typeface="Calibri"/>
              </a:rPr>
              <a:t>Mission Ends When — and Only When — Both Conditions Are Simultaneously True</a:t>
            </a:r>
          </a:p>
        </p:txBody>
      </p:sp>
      <p:sp>
        <p:nvSpPr>
          <p:cNvPr id="7" name="Rectangle 6"/>
          <p:cNvSpPr/>
          <p:nvPr/>
        </p:nvSpPr>
        <p:spPr>
          <a:xfrm>
            <a:off x="274320" y="822960"/>
            <a:ext cx="100584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6583680" cy="5705856"/>
          </a:xfrm>
          <a:prstGeom prst="rect">
            <a:avLst/>
          </a:prstGeom>
          <a:solidFill>
            <a:srgbClr val="041018"/>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896112"/>
            <a:ext cx="6583680" cy="27432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932688"/>
            <a:ext cx="6583680" cy="219456"/>
          </a:xfrm>
          <a:prstGeom prst="rect">
            <a:avLst/>
          </a:prstGeom>
          <a:noFill/>
        </p:spPr>
        <p:txBody>
          <a:bodyPr wrap="square">
            <a:spAutoFit/>
          </a:bodyPr>
          <a:lstStyle/>
          <a:p>
            <a:pPr algn="ctr"/>
            <a:r>
              <a:rPr sz="950" b="1" i="0">
                <a:solidFill>
                  <a:srgbClr val="0A0D1A"/>
                </a:solidFill>
                <a:latin typeface="Calibri"/>
              </a:rPr>
              <a:t>C8 — DUAL TERMINATION CONDITION</a:t>
            </a:r>
          </a:p>
        </p:txBody>
      </p:sp>
      <p:sp>
        <p:nvSpPr>
          <p:cNvPr id="11" name="Rectangle 10"/>
          <p:cNvSpPr/>
          <p:nvPr/>
        </p:nvSpPr>
        <p:spPr>
          <a:xfrm>
            <a:off x="384048" y="1243584"/>
            <a:ext cx="6217920" cy="1463040"/>
          </a:xfrm>
          <a:prstGeom prst="rect">
            <a:avLst/>
          </a:prstGeom>
          <a:solidFill>
            <a:srgbClr val="041E0E"/>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243584"/>
            <a:ext cx="6217920"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280160"/>
            <a:ext cx="6217920" cy="201168"/>
          </a:xfrm>
          <a:prstGeom prst="rect">
            <a:avLst/>
          </a:prstGeom>
          <a:noFill/>
        </p:spPr>
        <p:txBody>
          <a:bodyPr wrap="square">
            <a:spAutoFit/>
          </a:bodyPr>
          <a:lstStyle/>
          <a:p>
            <a:pPr algn="ctr"/>
            <a:r>
              <a:rPr sz="950" b="1" i="0">
                <a:solidFill>
                  <a:srgbClr val="0A0D1A"/>
                </a:solidFill>
                <a:latin typeface="Calibri"/>
              </a:rPr>
              <a:t>CONDITION 1  —  ASG Exhaustion</a:t>
            </a:r>
          </a:p>
        </p:txBody>
      </p:sp>
      <p:sp>
        <p:nvSpPr>
          <p:cNvPr id="14" name="TextBox 13"/>
          <p:cNvSpPr txBox="1"/>
          <p:nvPr/>
        </p:nvSpPr>
        <p:spPr>
          <a:xfrm>
            <a:off x="493776" y="1554480"/>
            <a:ext cx="6035040" cy="1078992"/>
          </a:xfrm>
          <a:prstGeom prst="rect">
            <a:avLst/>
          </a:prstGeom>
          <a:noFill/>
        </p:spPr>
        <p:txBody>
          <a:bodyPr wrap="square">
            <a:spAutoFit/>
          </a:bodyPr>
          <a:lstStyle/>
          <a:p>
            <a:pPr algn="l"/>
            <a:r>
              <a:rPr sz="1000" b="0" i="0">
                <a:solidFill>
                  <a:srgbClr val="A0AAB8"/>
                </a:solidFill>
                <a:latin typeface="Calibri"/>
              </a:rPr>
              <a:t>Every node in the ASG has status INVESTIGATED.
No node remains in DISCOVERED or IN_PROGRESS state.
Formally: ∀ n ∈ V(ASG) : n.status = INVESTIGATED</a:t>
            </a:r>
          </a:p>
        </p:txBody>
      </p:sp>
      <p:sp>
        <p:nvSpPr>
          <p:cNvPr id="15" name="Rectangle 14"/>
          <p:cNvSpPr/>
          <p:nvPr/>
        </p:nvSpPr>
        <p:spPr>
          <a:xfrm>
            <a:off x="3035808" y="2779776"/>
            <a:ext cx="914400" cy="347472"/>
          </a:xfrm>
          <a:prstGeom prst="rect">
            <a:avLst/>
          </a:prstGeom>
          <a:solidFill>
            <a:srgbClr val="00BFD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35808" y="2816352"/>
            <a:ext cx="914400" cy="274320"/>
          </a:xfrm>
          <a:prstGeom prst="rect">
            <a:avLst/>
          </a:prstGeom>
          <a:noFill/>
        </p:spPr>
        <p:txBody>
          <a:bodyPr wrap="square">
            <a:spAutoFit/>
          </a:bodyPr>
          <a:lstStyle/>
          <a:p>
            <a:pPr algn="ctr"/>
            <a:r>
              <a:rPr sz="1300" b="1" i="0">
                <a:solidFill>
                  <a:srgbClr val="0A0D1A"/>
                </a:solidFill>
                <a:latin typeface="Calibri"/>
              </a:rPr>
              <a:t>AND</a:t>
            </a:r>
          </a:p>
        </p:txBody>
      </p:sp>
      <p:sp>
        <p:nvSpPr>
          <p:cNvPr id="17" name="Rectangle 16"/>
          <p:cNvSpPr/>
          <p:nvPr/>
        </p:nvSpPr>
        <p:spPr>
          <a:xfrm>
            <a:off x="384048" y="3182112"/>
            <a:ext cx="6217920" cy="1463040"/>
          </a:xfrm>
          <a:prstGeom prst="rect">
            <a:avLst/>
          </a:prstGeom>
          <a:solidFill>
            <a:srgbClr val="1C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4048" y="3182112"/>
            <a:ext cx="621792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218688"/>
            <a:ext cx="6217920" cy="201168"/>
          </a:xfrm>
          <a:prstGeom prst="rect">
            <a:avLst/>
          </a:prstGeom>
          <a:noFill/>
        </p:spPr>
        <p:txBody>
          <a:bodyPr wrap="square">
            <a:spAutoFit/>
          </a:bodyPr>
          <a:lstStyle/>
          <a:p>
            <a:pPr algn="ctr"/>
            <a:r>
              <a:rPr sz="950" b="1" i="0">
                <a:solidFill>
                  <a:srgbClr val="0A0D1A"/>
                </a:solidFill>
                <a:latin typeface="Calibri"/>
              </a:rPr>
              <a:t>CONDITION 2  —  APG Resolution</a:t>
            </a:r>
          </a:p>
        </p:txBody>
      </p:sp>
      <p:sp>
        <p:nvSpPr>
          <p:cNvPr id="20" name="TextBox 19"/>
          <p:cNvSpPr txBox="1"/>
          <p:nvPr/>
        </p:nvSpPr>
        <p:spPr>
          <a:xfrm>
            <a:off x="493776" y="3493008"/>
            <a:ext cx="6035040" cy="1078992"/>
          </a:xfrm>
          <a:prstGeom prst="rect">
            <a:avLst/>
          </a:prstGeom>
          <a:noFill/>
        </p:spPr>
        <p:txBody>
          <a:bodyPr wrap="square">
            <a:spAutoFit/>
          </a:bodyPr>
          <a:lstStyle/>
          <a:p>
            <a:pPr algn="l"/>
            <a:r>
              <a:rPr sz="1000" b="0" i="0">
                <a:solidFill>
                  <a:srgbClr val="A0AAB8"/>
                </a:solidFill>
                <a:latin typeface="Calibri"/>
              </a:rPr>
              <a:t>Every AttackChain in the APG has terminal status.
No chain remains HYPOTHESIZED or PARTIALLY_VALIDATED.
Formally: ∀ c ∈ V(APG) : c.status ∈ {VALIDATED, RULED_OUT}</a:t>
            </a:r>
          </a:p>
        </p:txBody>
      </p:sp>
      <p:sp>
        <p:nvSpPr>
          <p:cNvPr id="21" name="Rectangle 20"/>
          <p:cNvSpPr/>
          <p:nvPr/>
        </p:nvSpPr>
        <p:spPr>
          <a:xfrm>
            <a:off x="384048" y="4773168"/>
            <a:ext cx="6217920" cy="40233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 y="4828032"/>
            <a:ext cx="6035040" cy="292608"/>
          </a:xfrm>
          <a:prstGeom prst="rect">
            <a:avLst/>
          </a:prstGeom>
          <a:noFill/>
        </p:spPr>
        <p:txBody>
          <a:bodyPr wrap="square">
            <a:spAutoFit/>
          </a:bodyPr>
          <a:lstStyle/>
          <a:p>
            <a:pPr algn="ctr"/>
            <a:r>
              <a:rPr sz="1050" b="1" i="0">
                <a:solidFill>
                  <a:srgbClr val="0A0D1A"/>
                </a:solidFill>
                <a:latin typeface="Calibri"/>
              </a:rPr>
              <a:t>→  MISSION TERMINATES — Report Agent invoked</a:t>
            </a:r>
          </a:p>
        </p:txBody>
      </p:sp>
      <p:sp>
        <p:nvSpPr>
          <p:cNvPr id="23" name="Rectangle 22"/>
          <p:cNvSpPr/>
          <p:nvPr/>
        </p:nvSpPr>
        <p:spPr>
          <a:xfrm>
            <a:off x="384048" y="5248656"/>
            <a:ext cx="6217920" cy="896112"/>
          </a:xfrm>
          <a:prstGeom prst="rect">
            <a:avLst/>
          </a:prstGeom>
          <a:solidFill>
            <a:srgbClr val="041820"/>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5303520"/>
            <a:ext cx="6053328" cy="804672"/>
          </a:xfrm>
          <a:prstGeom prst="rect">
            <a:avLst/>
          </a:prstGeom>
          <a:noFill/>
        </p:spPr>
        <p:txBody>
          <a:bodyPr wrap="square">
            <a:spAutoFit/>
          </a:bodyPr>
          <a:lstStyle/>
          <a:p>
            <a:pPr algn="l"/>
            <a:r>
              <a:rPr sz="850" b="0" i="1">
                <a:solidFill>
                  <a:srgbClr val="00BFD8"/>
                </a:solidFill>
                <a:latin typeface="Calibri"/>
              </a:rPr>
              <a:t>Why this is novel:
Timer-based systems (PentestGPT) terminate by wall-clock — cannot express APG resolution.
Queue-based systems (VulnBot) terminate when queue is empty — cannot express 'all chains resolved'.
CMatrix is the only system where both must be true simultaneously.</a:t>
            </a:r>
          </a:p>
        </p:txBody>
      </p:sp>
      <p:sp>
        <p:nvSpPr>
          <p:cNvPr id="25" name="Rectangle 24"/>
          <p:cNvSpPr/>
          <p:nvPr/>
        </p:nvSpPr>
        <p:spPr>
          <a:xfrm>
            <a:off x="6912864" y="896112"/>
            <a:ext cx="5077663" cy="5705856"/>
          </a:xfrm>
          <a:prstGeom prst="rect">
            <a:avLst/>
          </a:prstGeom>
          <a:solidFill>
            <a:srgbClr val="040A18"/>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12864" y="896112"/>
            <a:ext cx="5077663" cy="27432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C6 — LOSSLESS CONTEXT COMPACTION</a:t>
            </a:r>
          </a:p>
        </p:txBody>
      </p:sp>
      <p:sp>
        <p:nvSpPr>
          <p:cNvPr id="28" name="Rectangle 27"/>
          <p:cNvSpPr/>
          <p:nvPr/>
        </p:nvSpPr>
        <p:spPr>
          <a:xfrm>
            <a:off x="7004304" y="1225296"/>
            <a:ext cx="4894783" cy="475488"/>
          </a:xfrm>
          <a:prstGeom prst="rect">
            <a:avLst/>
          </a:prstGeom>
          <a:solidFill>
            <a:srgbClr val="140822"/>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77456" y="1261872"/>
            <a:ext cx="4785055" cy="402336"/>
          </a:xfrm>
          <a:prstGeom prst="rect">
            <a:avLst/>
          </a:prstGeom>
          <a:noFill/>
        </p:spPr>
        <p:txBody>
          <a:bodyPr wrap="square">
            <a:spAutoFit/>
          </a:bodyPr>
          <a:lstStyle/>
          <a:p>
            <a:pPr algn="l"/>
            <a:r>
              <a:rPr sz="900" b="0" i="1">
                <a:solidFill>
                  <a:srgbClr val="A0AAB8"/>
                </a:solidFill>
                <a:latin typeface="Calibri"/>
              </a:rPr>
              <a:t>Motivation:  Without compaction, context window fills in 20–30 tool calls on real-world missions (multiple phases, many subdomains). Raw history cannot be truncated without losing discovered facts.</a:t>
            </a:r>
          </a:p>
        </p:txBody>
      </p:sp>
      <p:sp>
        <p:nvSpPr>
          <p:cNvPr id="30" name="Rectangle 29"/>
          <p:cNvSpPr/>
          <p:nvPr/>
        </p:nvSpPr>
        <p:spPr>
          <a:xfrm>
            <a:off x="7004304" y="1792224"/>
            <a:ext cx="4894783" cy="1536192"/>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04304" y="1792224"/>
            <a:ext cx="4894783"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77456" y="1819656"/>
            <a:ext cx="4803343" cy="201168"/>
          </a:xfrm>
          <a:prstGeom prst="rect">
            <a:avLst/>
          </a:prstGeom>
          <a:noFill/>
        </p:spPr>
        <p:txBody>
          <a:bodyPr wrap="square">
            <a:spAutoFit/>
          </a:bodyPr>
          <a:lstStyle/>
          <a:p>
            <a:pPr algn="ctr"/>
            <a:r>
              <a:rPr sz="850" b="1" i="0">
                <a:solidFill>
                  <a:srgbClr val="0A0D1A"/>
                </a:solidFill>
                <a:latin typeface="Calibri"/>
              </a:rPr>
              <a:t>LAYER 1  —  Permanent State
(ASG itself)</a:t>
            </a:r>
          </a:p>
        </p:txBody>
      </p:sp>
      <p:sp>
        <p:nvSpPr>
          <p:cNvPr id="33" name="TextBox 32"/>
          <p:cNvSpPr txBox="1"/>
          <p:nvPr/>
        </p:nvSpPr>
        <p:spPr>
          <a:xfrm>
            <a:off x="7077456" y="2084832"/>
            <a:ext cx="4803343" cy="1207008"/>
          </a:xfrm>
          <a:prstGeom prst="rect">
            <a:avLst/>
          </a:prstGeom>
          <a:noFill/>
        </p:spPr>
        <p:txBody>
          <a:bodyPr wrap="square">
            <a:spAutoFit/>
          </a:bodyPr>
          <a:lstStyle/>
          <a:p>
            <a:pPr algn="l"/>
            <a:r>
              <a:rPr sz="900" b="0" i="0">
                <a:solidFill>
                  <a:srgbClr val="A0AAB8"/>
                </a:solidFill>
                <a:latin typeface="Calibri"/>
              </a:rPr>
              <a:t>The graph IS the memory. All discovered facts are in typed nodes + edges.
Never discarded. Available to all agents via graph query.</a:t>
            </a:r>
          </a:p>
        </p:txBody>
      </p:sp>
      <p:sp>
        <p:nvSpPr>
          <p:cNvPr id="34" name="Rectangle 33"/>
          <p:cNvSpPr/>
          <p:nvPr/>
        </p:nvSpPr>
        <p:spPr>
          <a:xfrm>
            <a:off x="7004304" y="3383280"/>
            <a:ext cx="4894783" cy="1536192"/>
          </a:xfrm>
          <a:prstGeom prst="rect">
            <a:avLst/>
          </a:prstGeom>
          <a:solidFill>
            <a:srgbClr val="1810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04304" y="3383280"/>
            <a:ext cx="4894783"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77456" y="3410712"/>
            <a:ext cx="4803343" cy="201168"/>
          </a:xfrm>
          <a:prstGeom prst="rect">
            <a:avLst/>
          </a:prstGeom>
          <a:noFill/>
        </p:spPr>
        <p:txBody>
          <a:bodyPr wrap="square">
            <a:spAutoFit/>
          </a:bodyPr>
          <a:lstStyle/>
          <a:p>
            <a:pPr algn="ctr"/>
            <a:r>
              <a:rPr sz="850" b="1" i="0">
                <a:solidFill>
                  <a:srgbClr val="0A0D1A"/>
                </a:solidFill>
                <a:latin typeface="Calibri"/>
              </a:rPr>
              <a:t>LAYER 2  —  Phase Summary
(structured digest)</a:t>
            </a:r>
          </a:p>
        </p:txBody>
      </p:sp>
      <p:sp>
        <p:nvSpPr>
          <p:cNvPr id="37" name="TextBox 36"/>
          <p:cNvSpPr txBox="1"/>
          <p:nvPr/>
        </p:nvSpPr>
        <p:spPr>
          <a:xfrm>
            <a:off x="7077456" y="3675888"/>
            <a:ext cx="4803343" cy="1207008"/>
          </a:xfrm>
          <a:prstGeom prst="rect">
            <a:avLst/>
          </a:prstGeom>
          <a:noFill/>
        </p:spPr>
        <p:txBody>
          <a:bodyPr wrap="square">
            <a:spAutoFit/>
          </a:bodyPr>
          <a:lstStyle/>
          <a:p>
            <a:pPr algn="l"/>
            <a:r>
              <a:rPr sz="900" b="0" i="0">
                <a:solidFill>
                  <a:srgbClr val="A0AAB8"/>
                </a:solidFill>
                <a:latin typeface="Calibri"/>
              </a:rPr>
              <a:t>After each phase, a structured JSON summary of that phase's findings is stored.
Replaces raw tool output. ASG-queryable for follow-on agents.</a:t>
            </a:r>
          </a:p>
        </p:txBody>
      </p:sp>
      <p:sp>
        <p:nvSpPr>
          <p:cNvPr id="38" name="Rectangle 37"/>
          <p:cNvSpPr/>
          <p:nvPr/>
        </p:nvSpPr>
        <p:spPr>
          <a:xfrm>
            <a:off x="7004304" y="4974336"/>
            <a:ext cx="4894783" cy="1536192"/>
          </a:xfrm>
          <a:prstGeom prst="rect">
            <a:avLst/>
          </a:prstGeom>
          <a:solidFill>
            <a:srgbClr val="041818"/>
          </a:solidFill>
          <a:ln w="1524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04304" y="4974336"/>
            <a:ext cx="4894783" cy="237744"/>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77456" y="5001768"/>
            <a:ext cx="4803343" cy="201168"/>
          </a:xfrm>
          <a:prstGeom prst="rect">
            <a:avLst/>
          </a:prstGeom>
          <a:noFill/>
        </p:spPr>
        <p:txBody>
          <a:bodyPr wrap="square">
            <a:spAutoFit/>
          </a:bodyPr>
          <a:lstStyle/>
          <a:p>
            <a:pPr algn="ctr"/>
            <a:r>
              <a:rPr sz="850" b="1" i="0">
                <a:solidFill>
                  <a:srgbClr val="0A0D1A"/>
                </a:solidFill>
                <a:latin typeface="Calibri"/>
              </a:rPr>
              <a:t>LAYER 3  —  Active Window
(last N exchanges only)</a:t>
            </a:r>
          </a:p>
        </p:txBody>
      </p:sp>
      <p:sp>
        <p:nvSpPr>
          <p:cNvPr id="41" name="TextBox 40"/>
          <p:cNvSpPr txBox="1"/>
          <p:nvPr/>
        </p:nvSpPr>
        <p:spPr>
          <a:xfrm>
            <a:off x="7077456" y="5266944"/>
            <a:ext cx="4803343" cy="1207008"/>
          </a:xfrm>
          <a:prstGeom prst="rect">
            <a:avLst/>
          </a:prstGeom>
          <a:noFill/>
        </p:spPr>
        <p:txBody>
          <a:bodyPr wrap="square">
            <a:spAutoFit/>
          </a:bodyPr>
          <a:lstStyle/>
          <a:p>
            <a:pPr algn="l"/>
            <a:r>
              <a:rPr sz="900" b="0" i="0">
                <a:solidFill>
                  <a:srgbClr val="A0AAB8"/>
                </a:solidFill>
                <a:latin typeface="Calibri"/>
              </a:rPr>
              <a:t>Commander's live context contains only the last N tool calls + current task.
All older history has been compacted into Layers 1 + 2. Zero loss of findings.</a:t>
            </a:r>
          </a:p>
        </p:txBody>
      </p:sp>
      <p:sp>
        <p:nvSpPr>
          <p:cNvPr id="42" name="TextBox 41"/>
          <p:cNvSpPr txBox="1"/>
          <p:nvPr/>
        </p:nvSpPr>
        <p:spPr>
          <a:xfrm>
            <a:off x="11780215" y="6355080"/>
            <a:ext cx="384048" cy="411480"/>
          </a:xfrm>
          <a:prstGeom prst="rect">
            <a:avLst/>
          </a:prstGeom>
          <a:noFill/>
        </p:spPr>
        <p:txBody>
          <a:bodyPr wrap="square">
            <a:spAutoFit/>
          </a:bodyPr>
          <a:lstStyle/>
          <a:p>
            <a:pPr algn="r"/>
            <a:r>
              <a:rPr sz="1300" b="1" i="0">
                <a:solidFill>
                  <a:srgbClr val="00BFD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19456"/>
          </a:xfrm>
          <a:prstGeom prst="rect">
            <a:avLst/>
          </a:prstGeom>
          <a:noFill/>
        </p:spPr>
        <p:txBody>
          <a:bodyPr wrap="square">
            <a:spAutoFit/>
          </a:bodyPr>
          <a:lstStyle/>
          <a:p>
            <a:pPr algn="l"/>
            <a:r>
              <a:rPr sz="1000" b="1" i="0">
                <a:solidFill>
                  <a:srgbClr val="FFD700"/>
                </a:solidFill>
                <a:latin typeface="Calibri"/>
              </a:rPr>
              <a:t>ATTACK CHAIN LIFECYCLE</a:t>
            </a:r>
          </a:p>
        </p:txBody>
      </p:sp>
      <p:sp>
        <p:nvSpPr>
          <p:cNvPr id="6" name="TextBox 5"/>
          <p:cNvSpPr txBox="1"/>
          <p:nvPr/>
        </p:nvSpPr>
        <p:spPr>
          <a:xfrm>
            <a:off x="274320" y="283464"/>
            <a:ext cx="10972800" cy="420624"/>
          </a:xfrm>
          <a:prstGeom prst="rect">
            <a:avLst/>
          </a:prstGeom>
          <a:noFill/>
        </p:spPr>
        <p:txBody>
          <a:bodyPr wrap="square">
            <a:spAutoFit/>
          </a:bodyPr>
          <a:lstStyle/>
          <a:p>
            <a:pPr algn="l"/>
            <a:r>
              <a:rPr sz="2400" b="1" i="0">
                <a:solidFill>
                  <a:srgbClr val="FFFFFF"/>
                </a:solidFill>
                <a:latin typeface="Calibri"/>
              </a:rPr>
              <a:t>APG Chain State Machine + Validation Agent Self-Debugging Loop</a:t>
            </a:r>
          </a:p>
        </p:txBody>
      </p:sp>
      <p:sp>
        <p:nvSpPr>
          <p:cNvPr id="7" name="Rectangle 6"/>
          <p:cNvSpPr/>
          <p:nvPr/>
        </p:nvSpPr>
        <p:spPr>
          <a:xfrm>
            <a:off x="228600" y="804672"/>
            <a:ext cx="2331720" cy="17830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804672"/>
            <a:ext cx="23317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841248"/>
            <a:ext cx="2331720" cy="228600"/>
          </a:xfrm>
          <a:prstGeom prst="rect">
            <a:avLst/>
          </a:prstGeom>
          <a:noFill/>
        </p:spPr>
        <p:txBody>
          <a:bodyPr wrap="square">
            <a:spAutoFit/>
          </a:bodyPr>
          <a:lstStyle/>
          <a:p>
            <a:pPr algn="ctr"/>
            <a:r>
              <a:rPr sz="950" b="1" i="0">
                <a:solidFill>
                  <a:srgbClr val="0A0D1A"/>
                </a:solidFill>
                <a:latin typeface="Calibri"/>
              </a:rPr>
              <a:t>HYPOTHESIZED</a:t>
            </a:r>
          </a:p>
        </p:txBody>
      </p:sp>
      <p:sp>
        <p:nvSpPr>
          <p:cNvPr id="10" name="TextBox 9"/>
          <p:cNvSpPr txBox="1"/>
          <p:nvPr/>
        </p:nvSpPr>
        <p:spPr>
          <a:xfrm>
            <a:off x="320040" y="1152144"/>
            <a:ext cx="2167128" cy="1362456"/>
          </a:xfrm>
          <a:prstGeom prst="rect">
            <a:avLst/>
          </a:prstGeom>
          <a:noFill/>
        </p:spPr>
        <p:txBody>
          <a:bodyPr wrap="square">
            <a:spAutoFit/>
          </a:bodyPr>
          <a:lstStyle/>
          <a:p>
            <a:pPr algn="ctr"/>
            <a:r>
              <a:rPr sz="900" b="0" i="0">
                <a:solidFill>
                  <a:srgbClr val="A0AAB8"/>
                </a:solidFill>
                <a:latin typeface="Calibri"/>
              </a:rPr>
              <a:t>Commander inferred a possible
chain from ASG Vulnerability nodes.
Not yet tested.</a:t>
            </a:r>
          </a:p>
        </p:txBody>
      </p:sp>
      <p:cxnSp>
        <p:nvCxnSpPr>
          <p:cNvPr id="11" name="Connector 10"/>
          <p:cNvCxnSpPr/>
          <p:nvPr/>
        </p:nvCxnSpPr>
        <p:spPr>
          <a:xfrm>
            <a:off x="2560320" y="1696212.0"/>
            <a:ext cx="237744"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98064" y="804672"/>
            <a:ext cx="2331720" cy="1783080"/>
          </a:xfrm>
          <a:prstGeom prst="rect">
            <a:avLst/>
          </a:prstGeom>
          <a:solidFill>
            <a:srgbClr val="284008"/>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8064"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841248"/>
            <a:ext cx="2331720" cy="228600"/>
          </a:xfrm>
          <a:prstGeom prst="rect">
            <a:avLst/>
          </a:prstGeom>
          <a:noFill/>
        </p:spPr>
        <p:txBody>
          <a:bodyPr wrap="square">
            <a:spAutoFit/>
          </a:bodyPr>
          <a:lstStyle/>
          <a:p>
            <a:pPr algn="ctr"/>
            <a:r>
              <a:rPr sz="950" b="1" i="0">
                <a:solidFill>
                  <a:srgbClr val="0A0D1A"/>
                </a:solidFill>
                <a:latin typeface="Calibri"/>
              </a:rPr>
              <a:t>PARTIALLY
VALIDATED</a:t>
            </a:r>
          </a:p>
        </p:txBody>
      </p:sp>
      <p:sp>
        <p:nvSpPr>
          <p:cNvPr id="15" name="TextBox 14"/>
          <p:cNvSpPr txBox="1"/>
          <p:nvPr/>
        </p:nvSpPr>
        <p:spPr>
          <a:xfrm>
            <a:off x="2889504" y="1152144"/>
            <a:ext cx="2167128" cy="1362456"/>
          </a:xfrm>
          <a:prstGeom prst="rect">
            <a:avLst/>
          </a:prstGeom>
          <a:noFill/>
        </p:spPr>
        <p:txBody>
          <a:bodyPr wrap="square">
            <a:spAutoFit/>
          </a:bodyPr>
          <a:lstStyle/>
          <a:p>
            <a:pPr algn="ctr"/>
            <a:r>
              <a:rPr sz="900" b="0" i="0">
                <a:solidFill>
                  <a:srgbClr val="A0AAB8"/>
                </a:solidFill>
                <a:latin typeface="Calibri"/>
              </a:rPr>
              <a:t>One or more ChainSteps confirmed.
Chain not complete end-to-end.
Validation in progress.</a:t>
            </a:r>
          </a:p>
        </p:txBody>
      </p:sp>
      <p:sp>
        <p:nvSpPr>
          <p:cNvPr id="16" name="Rectangle 15"/>
          <p:cNvSpPr/>
          <p:nvPr/>
        </p:nvSpPr>
        <p:spPr>
          <a:xfrm>
            <a:off x="5038344" y="1531620"/>
            <a:ext cx="329184" cy="329184"/>
          </a:xfrm>
          <a:prstGeom prst="rect">
            <a:avLst/>
          </a:prstGeom>
          <a:solidFill>
            <a:srgbClr val="FFD700"/>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a:off x="5038344" y="1696212.0"/>
            <a:ext cx="91440"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80" y="804672"/>
            <a:ext cx="2331720" cy="1783080"/>
          </a:xfrm>
          <a:prstGeom prst="rect">
            <a:avLst/>
          </a:prstGeom>
          <a:solidFill>
            <a:srgbClr val="062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841248"/>
            <a:ext cx="2331720" cy="228600"/>
          </a:xfrm>
          <a:prstGeom prst="rect">
            <a:avLst/>
          </a:prstGeom>
          <a:noFill/>
        </p:spPr>
        <p:txBody>
          <a:bodyPr wrap="square">
            <a:spAutoFit/>
          </a:bodyPr>
          <a:lstStyle/>
          <a:p>
            <a:pPr algn="ctr"/>
            <a:r>
              <a:rPr sz="950" b="1" i="0">
                <a:solidFill>
                  <a:srgbClr val="0A0D1A"/>
                </a:solidFill>
                <a:latin typeface="Calibri"/>
              </a:rPr>
              <a:t>VALIDATED</a:t>
            </a:r>
          </a:p>
        </p:txBody>
      </p:sp>
      <p:sp>
        <p:nvSpPr>
          <p:cNvPr id="21" name="TextBox 20"/>
          <p:cNvSpPr txBox="1"/>
          <p:nvPr/>
        </p:nvSpPr>
        <p:spPr>
          <a:xfrm>
            <a:off x="5532120" y="1152144"/>
            <a:ext cx="2167128" cy="1362456"/>
          </a:xfrm>
          <a:prstGeom prst="rect">
            <a:avLst/>
          </a:prstGeom>
          <a:noFill/>
        </p:spPr>
        <p:txBody>
          <a:bodyPr wrap="square">
            <a:spAutoFit/>
          </a:bodyPr>
          <a:lstStyle/>
          <a:p>
            <a:pPr algn="ctr"/>
            <a:r>
              <a:rPr sz="900" b="0" i="0">
                <a:solidFill>
                  <a:srgbClr val="A0AAB8"/>
                </a:solidFill>
                <a:latin typeface="Calibri"/>
              </a:rPr>
              <a:t>All ChainSteps confirmed with
linked Evidence. Impact demonstrated.
Mission success for this chain.</a:t>
            </a:r>
          </a:p>
        </p:txBody>
      </p:sp>
      <p:cxnSp>
        <p:nvCxnSpPr>
          <p:cNvPr id="22" name="Connector 21"/>
          <p:cNvCxnSpPr/>
          <p:nvPr/>
        </p:nvCxnSpPr>
        <p:spPr>
          <a:xfrm>
            <a:off x="5367528" y="1604772.0"/>
            <a:ext cx="73152" cy="0.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04104" y="1367028"/>
            <a:ext cx="1097280" cy="201168"/>
          </a:xfrm>
          <a:prstGeom prst="rect">
            <a:avLst/>
          </a:prstGeom>
          <a:noFill/>
        </p:spPr>
        <p:txBody>
          <a:bodyPr wrap="square">
            <a:spAutoFit/>
          </a:bodyPr>
          <a:lstStyle/>
          <a:p>
            <a:pPr algn="l"/>
            <a:r>
              <a:rPr sz="800" b="0" i="1">
                <a:solidFill>
                  <a:srgbClr val="39FF14"/>
                </a:solidFill>
                <a:latin typeface="Calibri"/>
              </a:rPr>
              <a:t>chain succeeds</a:t>
            </a:r>
          </a:p>
        </p:txBody>
      </p:sp>
      <p:sp>
        <p:nvSpPr>
          <p:cNvPr id="24" name="Rectangle 23"/>
          <p:cNvSpPr/>
          <p:nvPr/>
        </p:nvSpPr>
        <p:spPr>
          <a:xfrm>
            <a:off x="5440680" y="2843784"/>
            <a:ext cx="2331720" cy="1783080"/>
          </a:xfrm>
          <a:prstGeom prst="rect">
            <a:avLst/>
          </a:prstGeom>
          <a:solidFill>
            <a:srgbClr val="28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2843784"/>
            <a:ext cx="233172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2880360"/>
            <a:ext cx="2331720" cy="228600"/>
          </a:xfrm>
          <a:prstGeom prst="rect">
            <a:avLst/>
          </a:prstGeom>
          <a:noFill/>
        </p:spPr>
        <p:txBody>
          <a:bodyPr wrap="square">
            <a:spAutoFit/>
          </a:bodyPr>
          <a:lstStyle/>
          <a:p>
            <a:pPr algn="ctr"/>
            <a:r>
              <a:rPr sz="950" b="1" i="0">
                <a:solidFill>
                  <a:srgbClr val="0A0D1A"/>
                </a:solidFill>
                <a:latin typeface="Calibri"/>
              </a:rPr>
              <a:t>RULED_OUT</a:t>
            </a:r>
          </a:p>
        </p:txBody>
      </p:sp>
      <p:sp>
        <p:nvSpPr>
          <p:cNvPr id="27" name="TextBox 26"/>
          <p:cNvSpPr txBox="1"/>
          <p:nvPr/>
        </p:nvSpPr>
        <p:spPr>
          <a:xfrm>
            <a:off x="5532120" y="3191256"/>
            <a:ext cx="2167128" cy="1362456"/>
          </a:xfrm>
          <a:prstGeom prst="rect">
            <a:avLst/>
          </a:prstGeom>
          <a:noFill/>
        </p:spPr>
        <p:txBody>
          <a:bodyPr wrap="square">
            <a:spAutoFit/>
          </a:bodyPr>
          <a:lstStyle/>
          <a:p>
            <a:pPr algn="ctr"/>
            <a:r>
              <a:rPr sz="900" b="0" i="0">
                <a:solidFill>
                  <a:srgbClr val="A0AAB8"/>
                </a:solidFill>
                <a:latin typeface="Calibri"/>
              </a:rPr>
              <a:t>A required ChainStep failed after
max retries. Chain not exploitable
as hypothesized. Commander re-plans.</a:t>
            </a:r>
          </a:p>
        </p:txBody>
      </p:sp>
      <p:cxnSp>
        <p:nvCxnSpPr>
          <p:cNvPr id="28" name="Connector 27"/>
          <p:cNvCxnSpPr/>
          <p:nvPr/>
        </p:nvCxnSpPr>
        <p:spPr>
          <a:xfrm>
            <a:off x="5367528" y="1787652.0"/>
            <a:ext cx="73152" cy="1856232.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04104" y="1897380"/>
            <a:ext cx="1234440" cy="201168"/>
          </a:xfrm>
          <a:prstGeom prst="rect">
            <a:avLst/>
          </a:prstGeom>
          <a:noFill/>
        </p:spPr>
        <p:txBody>
          <a:bodyPr wrap="square">
            <a:spAutoFit/>
          </a:bodyPr>
          <a:lstStyle/>
          <a:p>
            <a:pPr algn="l"/>
            <a:r>
              <a:rPr sz="800" b="0" i="1">
                <a:solidFill>
                  <a:srgbClr val="FF4545"/>
                </a:solidFill>
                <a:latin typeface="Calibri"/>
              </a:rPr>
              <a:t>step fails after cap</a:t>
            </a:r>
          </a:p>
        </p:txBody>
      </p:sp>
      <p:cxnSp>
        <p:nvCxnSpPr>
          <p:cNvPr id="30" name="Connector 29"/>
          <p:cNvCxnSpPr/>
          <p:nvPr/>
        </p:nvCxnSpPr>
        <p:spPr>
          <a:xfrm>
            <a:off x="3963924.0" y="2587752"/>
            <a:ext cx="2642616.0" cy="256032"/>
          </a:xfrm>
          <a:prstGeom prst="line">
            <a:avLst/>
          </a:prstGeom>
          <a:ln w="1270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872484" y="2624328"/>
            <a:ext cx="1371600" cy="201168"/>
          </a:xfrm>
          <a:prstGeom prst="rect">
            <a:avLst/>
          </a:prstGeom>
          <a:noFill/>
        </p:spPr>
        <p:txBody>
          <a:bodyPr wrap="square">
            <a:spAutoFit/>
          </a:bodyPr>
          <a:lstStyle/>
          <a:p>
            <a:pPr algn="l"/>
            <a:r>
              <a:rPr sz="700" b="0" i="1">
                <a:solidFill>
                  <a:srgbClr val="FF4545"/>
                </a:solidFill>
                <a:latin typeface="Calibri"/>
              </a:rPr>
              <a:t>later step fails after cap</a:t>
            </a:r>
          </a:p>
        </p:txBody>
      </p:sp>
      <p:sp>
        <p:nvSpPr>
          <p:cNvPr id="32" name="Rectangle 31"/>
          <p:cNvSpPr/>
          <p:nvPr/>
        </p:nvSpPr>
        <p:spPr>
          <a:xfrm>
            <a:off x="164592" y="4846320"/>
            <a:ext cx="7132320" cy="1755648"/>
          </a:xfrm>
          <a:prstGeom prst="rect">
            <a:avLst/>
          </a:prstGeom>
          <a:solidFill>
            <a:srgbClr val="080C1E"/>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64592" y="4846320"/>
            <a:ext cx="7132320"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4592" y="4882896"/>
            <a:ext cx="7132320" cy="201168"/>
          </a:xfrm>
          <a:prstGeom prst="rect">
            <a:avLst/>
          </a:prstGeom>
          <a:noFill/>
        </p:spPr>
        <p:txBody>
          <a:bodyPr wrap="square">
            <a:spAutoFit/>
          </a:bodyPr>
          <a:lstStyle/>
          <a:p>
            <a:pPr algn="ctr"/>
            <a:r>
              <a:rPr sz="900" b="1" i="0">
                <a:solidFill>
                  <a:srgbClr val="0A0D1A"/>
                </a:solidFill>
                <a:latin typeface="Calibri"/>
              </a:rPr>
              <a:t>🎯  Validation Agent — Self-Debugging Loop  (on ChainStep failure)</a:t>
            </a:r>
          </a:p>
        </p:txBody>
      </p:sp>
      <p:sp>
        <p:nvSpPr>
          <p:cNvPr id="35" name="Rectangle 34"/>
          <p:cNvSpPr/>
          <p:nvPr/>
        </p:nvSpPr>
        <p:spPr>
          <a:xfrm>
            <a:off x="301752"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01752"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1752" y="5193792"/>
            <a:ext cx="1428750" cy="182880"/>
          </a:xfrm>
          <a:prstGeom prst="rect">
            <a:avLst/>
          </a:prstGeom>
          <a:noFill/>
        </p:spPr>
        <p:txBody>
          <a:bodyPr wrap="square">
            <a:spAutoFit/>
          </a:bodyPr>
          <a:lstStyle/>
          <a:p>
            <a:pPr algn="ctr"/>
            <a:r>
              <a:rPr sz="800" b="1" i="0">
                <a:solidFill>
                  <a:srgbClr val="0A0D1A"/>
                </a:solidFill>
                <a:latin typeface="Calibri"/>
              </a:rPr>
              <a:t>ATTEMPT</a:t>
            </a:r>
          </a:p>
        </p:txBody>
      </p:sp>
      <p:sp>
        <p:nvSpPr>
          <p:cNvPr id="38" name="TextBox 37"/>
          <p:cNvSpPr txBox="1"/>
          <p:nvPr/>
        </p:nvSpPr>
        <p:spPr>
          <a:xfrm>
            <a:off x="356616" y="5422392"/>
            <a:ext cx="1337310" cy="1078992"/>
          </a:xfrm>
          <a:prstGeom prst="rect">
            <a:avLst/>
          </a:prstGeom>
          <a:noFill/>
        </p:spPr>
        <p:txBody>
          <a:bodyPr wrap="square">
            <a:spAutoFit/>
          </a:bodyPr>
          <a:lstStyle/>
          <a:p>
            <a:pPr algn="ctr"/>
            <a:r>
              <a:rPr sz="800" b="0" i="0">
                <a:solidFill>
                  <a:srgbClr val="A0AAB8"/>
                </a:solidFill>
                <a:latin typeface="Calibri"/>
              </a:rPr>
              <a:t>Execute tool
against target</a:t>
            </a:r>
          </a:p>
        </p:txBody>
      </p:sp>
      <p:sp>
        <p:nvSpPr>
          <p:cNvPr id="39" name="Rectangle 38"/>
          <p:cNvSpPr/>
          <p:nvPr/>
        </p:nvSpPr>
        <p:spPr>
          <a:xfrm>
            <a:off x="1803654"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03654"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03654" y="5193792"/>
            <a:ext cx="1428750" cy="182880"/>
          </a:xfrm>
          <a:prstGeom prst="rect">
            <a:avLst/>
          </a:prstGeom>
          <a:noFill/>
        </p:spPr>
        <p:txBody>
          <a:bodyPr wrap="square">
            <a:spAutoFit/>
          </a:bodyPr>
          <a:lstStyle/>
          <a:p>
            <a:pPr algn="ctr"/>
            <a:r>
              <a:rPr sz="800" b="1" i="0">
                <a:solidFill>
                  <a:srgbClr val="0A0D1A"/>
                </a:solidFill>
                <a:latin typeface="Calibri"/>
              </a:rPr>
              <a:t>DIAGNOSE</a:t>
            </a:r>
          </a:p>
        </p:txBody>
      </p:sp>
      <p:sp>
        <p:nvSpPr>
          <p:cNvPr id="42" name="TextBox 41"/>
          <p:cNvSpPr txBox="1"/>
          <p:nvPr/>
        </p:nvSpPr>
        <p:spPr>
          <a:xfrm>
            <a:off x="1858518" y="5422392"/>
            <a:ext cx="1337310" cy="1078992"/>
          </a:xfrm>
          <a:prstGeom prst="rect">
            <a:avLst/>
          </a:prstGeom>
          <a:noFill/>
        </p:spPr>
        <p:txBody>
          <a:bodyPr wrap="square">
            <a:spAutoFit/>
          </a:bodyPr>
          <a:lstStyle/>
          <a:p>
            <a:pPr algn="ctr"/>
            <a:r>
              <a:rPr sz="800" b="0" i="0">
                <a:solidFill>
                  <a:srgbClr val="A0AAB8"/>
                </a:solidFill>
                <a:latin typeface="Calibri"/>
              </a:rPr>
              <a:t>Analyze failure:
wrong param · auth
version mismatch</a:t>
            </a:r>
          </a:p>
        </p:txBody>
      </p:sp>
      <p:cxnSp>
        <p:nvCxnSpPr>
          <p:cNvPr id="43" name="Connector 42"/>
          <p:cNvCxnSpPr/>
          <p:nvPr/>
        </p:nvCxnSpPr>
        <p:spPr>
          <a:xfrm>
            <a:off x="1730502.0" y="5852160.0"/>
            <a:ext cx="73152.0" cy="0.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3305556" y="5166360"/>
            <a:ext cx="1428750" cy="1371600"/>
          </a:xfrm>
          <a:prstGeom prst="rect">
            <a:avLst/>
          </a:prstGeom>
          <a:solidFill>
            <a:srgbClr val="10142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305556" y="5166360"/>
            <a:ext cx="142875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05556" y="5193792"/>
            <a:ext cx="1428750" cy="182880"/>
          </a:xfrm>
          <a:prstGeom prst="rect">
            <a:avLst/>
          </a:prstGeom>
          <a:noFill/>
        </p:spPr>
        <p:txBody>
          <a:bodyPr wrap="square">
            <a:spAutoFit/>
          </a:bodyPr>
          <a:lstStyle/>
          <a:p>
            <a:pPr algn="ctr"/>
            <a:r>
              <a:rPr sz="800" b="1" i="0">
                <a:solidFill>
                  <a:srgbClr val="0A0D1A"/>
                </a:solidFill>
                <a:latin typeface="Calibri"/>
              </a:rPr>
              <a:t>CONTEXTUALIZE</a:t>
            </a:r>
          </a:p>
        </p:txBody>
      </p:sp>
      <p:sp>
        <p:nvSpPr>
          <p:cNvPr id="47" name="TextBox 46"/>
          <p:cNvSpPr txBox="1"/>
          <p:nvPr/>
        </p:nvSpPr>
        <p:spPr>
          <a:xfrm>
            <a:off x="3360420" y="5422392"/>
            <a:ext cx="1337310" cy="1078992"/>
          </a:xfrm>
          <a:prstGeom prst="rect">
            <a:avLst/>
          </a:prstGeom>
          <a:noFill/>
        </p:spPr>
        <p:txBody>
          <a:bodyPr wrap="square">
            <a:spAutoFit/>
          </a:bodyPr>
          <a:lstStyle/>
          <a:p>
            <a:pPr algn="ctr"/>
            <a:r>
              <a:rPr sz="800" b="0" i="0">
                <a:solidFill>
                  <a:srgbClr val="A0AAB8"/>
                </a:solidFill>
                <a:latin typeface="Calibri"/>
              </a:rPr>
              <a:t>Query ASG for
additional node
attributes</a:t>
            </a:r>
          </a:p>
        </p:txBody>
      </p:sp>
      <p:cxnSp>
        <p:nvCxnSpPr>
          <p:cNvPr id="48" name="Connector 47"/>
          <p:cNvCxnSpPr/>
          <p:nvPr/>
        </p:nvCxnSpPr>
        <p:spPr>
          <a:xfrm>
            <a:off x="3232404.0" y="5852160.0"/>
            <a:ext cx="73152.0" cy="0.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807458" y="5166360"/>
            <a:ext cx="1428750" cy="1371600"/>
          </a:xfrm>
          <a:prstGeom prst="rect">
            <a:avLst/>
          </a:prstGeom>
          <a:solidFill>
            <a:srgbClr val="10142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807458" y="5166360"/>
            <a:ext cx="142875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07458" y="5193792"/>
            <a:ext cx="1428750" cy="182880"/>
          </a:xfrm>
          <a:prstGeom prst="rect">
            <a:avLst/>
          </a:prstGeom>
          <a:noFill/>
        </p:spPr>
        <p:txBody>
          <a:bodyPr wrap="square">
            <a:spAutoFit/>
          </a:bodyPr>
          <a:lstStyle/>
          <a:p>
            <a:pPr algn="ctr"/>
            <a:r>
              <a:rPr sz="800" b="1" i="0">
                <a:solidFill>
                  <a:srgbClr val="0A0D1A"/>
                </a:solidFill>
                <a:latin typeface="Calibri"/>
              </a:rPr>
              <a:t>ADAPT</a:t>
            </a:r>
          </a:p>
        </p:txBody>
      </p:sp>
      <p:sp>
        <p:nvSpPr>
          <p:cNvPr id="52" name="TextBox 51"/>
          <p:cNvSpPr txBox="1"/>
          <p:nvPr/>
        </p:nvSpPr>
        <p:spPr>
          <a:xfrm>
            <a:off x="4862322" y="5422392"/>
            <a:ext cx="1337310" cy="1078992"/>
          </a:xfrm>
          <a:prstGeom prst="rect">
            <a:avLst/>
          </a:prstGeom>
          <a:noFill/>
        </p:spPr>
        <p:txBody>
          <a:bodyPr wrap="square">
            <a:spAutoFit/>
          </a:bodyPr>
          <a:lstStyle/>
          <a:p>
            <a:pPr algn="ctr"/>
            <a:r>
              <a:rPr sz="800" b="0" i="0">
                <a:solidFill>
                  <a:srgbClr val="A0AAB8"/>
                </a:solidFill>
                <a:latin typeface="Calibri"/>
              </a:rPr>
              <a:t>Modify tool call
based on diagnosis
+ context</a:t>
            </a:r>
          </a:p>
        </p:txBody>
      </p:sp>
      <p:cxnSp>
        <p:nvCxnSpPr>
          <p:cNvPr id="53" name="Connector 52"/>
          <p:cNvCxnSpPr/>
          <p:nvPr/>
        </p:nvCxnSpPr>
        <p:spPr>
          <a:xfrm>
            <a:off x="4734306.0" y="5852160.0"/>
            <a:ext cx="73152.0" cy="0.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309360" y="5166360"/>
            <a:ext cx="850392" cy="1371600"/>
          </a:xfrm>
          <a:prstGeom prst="rect">
            <a:avLst/>
          </a:prstGeom>
          <a:solidFill>
            <a:srgbClr val="22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09360" y="5166360"/>
            <a:ext cx="850392"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9360" y="5193792"/>
            <a:ext cx="850392" cy="182880"/>
          </a:xfrm>
          <a:prstGeom prst="rect">
            <a:avLst/>
          </a:prstGeom>
          <a:noFill/>
        </p:spPr>
        <p:txBody>
          <a:bodyPr wrap="square">
            <a:spAutoFit/>
          </a:bodyPr>
          <a:lstStyle/>
          <a:p>
            <a:pPr algn="ctr"/>
            <a:r>
              <a:rPr sz="800" b="1" i="0">
                <a:solidFill>
                  <a:srgbClr val="0A0D1A"/>
                </a:solidFill>
                <a:latin typeface="Calibri"/>
              </a:rPr>
              <a:t>CAP  (×3 max)</a:t>
            </a:r>
          </a:p>
        </p:txBody>
      </p:sp>
      <p:cxnSp>
        <p:nvCxnSpPr>
          <p:cNvPr id="57" name="Connector 56"/>
          <p:cNvCxnSpPr/>
          <p:nvPr/>
        </p:nvCxnSpPr>
        <p:spPr>
          <a:xfrm>
            <a:off x="6236208.0" y="5852160.0"/>
            <a:ext cx="73152.0" cy="0.0"/>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64224" y="5422392"/>
            <a:ext cx="758952" cy="1097280"/>
          </a:xfrm>
          <a:prstGeom prst="rect">
            <a:avLst/>
          </a:prstGeom>
          <a:noFill/>
        </p:spPr>
        <p:txBody>
          <a:bodyPr wrap="square">
            <a:spAutoFit/>
          </a:bodyPr>
          <a:lstStyle/>
          <a:p>
            <a:pPr algn="l"/>
            <a:r>
              <a:rPr sz="800" b="0" i="0">
                <a:solidFill>
                  <a:srgbClr val="A0AAB8"/>
                </a:solidFill>
                <a:latin typeface="Calibri"/>
              </a:rPr>
              <a:t>→ Mark ChainStep
   RULED_OUT
→ Write failure
   to ASG node</a:t>
            </a:r>
          </a:p>
        </p:txBody>
      </p:sp>
      <p:cxnSp>
        <p:nvCxnSpPr>
          <p:cNvPr id="59" name="Connector 58"/>
          <p:cNvCxnSpPr/>
          <p:nvPr/>
        </p:nvCxnSpPr>
        <p:spPr>
          <a:xfrm flipH="1">
            <a:off x="1016127.0" y="6537960"/>
            <a:ext cx="4505706.0" cy="0"/>
          </a:xfrm>
          <a:prstGeom prst="line">
            <a:avLst/>
          </a:prstGeom>
          <a:ln w="127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730502" y="6537960"/>
            <a:ext cx="2286000" cy="182880"/>
          </a:xfrm>
          <a:prstGeom prst="rect">
            <a:avLst/>
          </a:prstGeom>
          <a:noFill/>
        </p:spPr>
        <p:txBody>
          <a:bodyPr wrap="square">
            <a:spAutoFit/>
          </a:bodyPr>
          <a:lstStyle/>
          <a:p>
            <a:pPr algn="ctr"/>
            <a:r>
              <a:rPr sz="750" b="0" i="1">
                <a:solidFill>
                  <a:srgbClr val="39FF14"/>
                </a:solidFill>
                <a:latin typeface="Calibri"/>
              </a:rPr>
              <a:t>retry (up to cap)</a:t>
            </a:r>
          </a:p>
        </p:txBody>
      </p:sp>
      <p:sp>
        <p:nvSpPr>
          <p:cNvPr id="61" name="Rectangle 60"/>
          <p:cNvSpPr/>
          <p:nvPr/>
        </p:nvSpPr>
        <p:spPr>
          <a:xfrm>
            <a:off x="7388352" y="4846320"/>
            <a:ext cx="4620463" cy="1755648"/>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388352" y="4846320"/>
            <a:ext cx="4620463"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88352" y="4882896"/>
            <a:ext cx="4620463" cy="201168"/>
          </a:xfrm>
          <a:prstGeom prst="rect">
            <a:avLst/>
          </a:prstGeom>
          <a:noFill/>
        </p:spPr>
        <p:txBody>
          <a:bodyPr wrap="square">
            <a:spAutoFit/>
          </a:bodyPr>
          <a:lstStyle/>
          <a:p>
            <a:pPr algn="ctr"/>
            <a:r>
              <a:rPr sz="900" b="1" i="0">
                <a:solidFill>
                  <a:srgbClr val="0A0D1A"/>
                </a:solidFill>
                <a:latin typeface="Calibri"/>
              </a:rPr>
              <a:t>Risk Score + Chain Priority</a:t>
            </a:r>
          </a:p>
        </p:txBody>
      </p:sp>
      <p:sp>
        <p:nvSpPr>
          <p:cNvPr id="64" name="TextBox 63"/>
          <p:cNvSpPr txBox="1"/>
          <p:nvPr/>
        </p:nvSpPr>
        <p:spPr>
          <a:xfrm>
            <a:off x="7479792" y="5157216"/>
            <a:ext cx="4455871" cy="256032"/>
          </a:xfrm>
          <a:prstGeom prst="rect">
            <a:avLst/>
          </a:prstGeom>
          <a:noFill/>
        </p:spPr>
        <p:txBody>
          <a:bodyPr wrap="square">
            <a:spAutoFit/>
          </a:bodyPr>
          <a:lstStyle/>
          <a:p>
            <a:pPr algn="l"/>
            <a:r>
              <a:rPr sz="950" b="1" i="0">
                <a:solidFill>
                  <a:srgbClr val="FFD700"/>
                </a:solidFill>
                <a:latin typeface="Calibri"/>
              </a:rPr>
              <a:t>risk_score derived from: CVSS severity · exploitability (PoC availability) · impact classification</a:t>
            </a:r>
          </a:p>
        </p:txBody>
      </p:sp>
      <p:sp>
        <p:nvSpPr>
          <p:cNvPr id="65" name="TextBox 64"/>
          <p:cNvSpPr txBox="1"/>
          <p:nvPr/>
        </p:nvSpPr>
        <p:spPr>
          <a:xfrm>
            <a:off x="7479792" y="5413248"/>
            <a:ext cx="4455871" cy="182880"/>
          </a:xfrm>
          <a:prstGeom prst="rect">
            <a:avLst/>
          </a:prstGeom>
          <a:noFill/>
        </p:spPr>
        <p:txBody>
          <a:bodyPr wrap="square">
            <a:spAutoFit/>
          </a:bodyPr>
          <a:lstStyle/>
          <a:p>
            <a:pPr algn="l"/>
            <a:r>
              <a:rPr sz="800" b="0" i="1">
                <a:solidFill>
                  <a:srgbClr val="A0AAB8"/>
                </a:solidFill>
                <a:latin typeface="Calibri"/>
              </a:rPr>
              <a:t>(formula finalized during evaluation phase; not a fixed multiplicative product)</a:t>
            </a:r>
          </a:p>
        </p:txBody>
      </p:sp>
      <p:sp>
        <p:nvSpPr>
          <p:cNvPr id="66" name="Rectangle 65"/>
          <p:cNvSpPr/>
          <p:nvPr/>
        </p:nvSpPr>
        <p:spPr>
          <a:xfrm>
            <a:off x="7479792" y="5961888"/>
            <a:ext cx="4455871" cy="237744"/>
          </a:xfrm>
          <a:prstGeom prst="rect">
            <a:avLst/>
          </a:prstGeom>
          <a:solidFill>
            <a:srgbClr val="2218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16368" y="5989320"/>
            <a:ext cx="4391863" cy="201168"/>
          </a:xfrm>
          <a:prstGeom prst="rect">
            <a:avLst/>
          </a:prstGeom>
          <a:noFill/>
        </p:spPr>
        <p:txBody>
          <a:bodyPr wrap="square">
            <a:spAutoFit/>
          </a:bodyPr>
          <a:lstStyle/>
          <a:p>
            <a:pPr algn="l"/>
            <a:r>
              <a:rPr sz="850" b="1" i="0">
                <a:solidFill>
                  <a:srgbClr val="FFD700"/>
                </a:solidFill>
                <a:latin typeface="Calibri"/>
              </a:rPr>
              <a:t>shopvault.io  —  APG Chain Priority Order</a:t>
            </a:r>
          </a:p>
        </p:txBody>
      </p:sp>
      <p:sp>
        <p:nvSpPr>
          <p:cNvPr id="68" name="Rectangle 67"/>
          <p:cNvSpPr/>
          <p:nvPr/>
        </p:nvSpPr>
        <p:spPr>
          <a:xfrm>
            <a:off x="7479792" y="6236208"/>
            <a:ext cx="4455871" cy="347472"/>
          </a:xfrm>
          <a:prstGeom prst="rect">
            <a:avLst/>
          </a:prstGeom>
          <a:solidFill>
            <a:srgbClr val="18120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16368" y="6291072"/>
            <a:ext cx="201168" cy="237744"/>
          </a:xfrm>
          <a:prstGeom prst="rect">
            <a:avLst/>
          </a:prstGeom>
          <a:noFill/>
        </p:spPr>
        <p:txBody>
          <a:bodyPr wrap="square">
            <a:spAutoFit/>
          </a:bodyPr>
          <a:lstStyle/>
          <a:p>
            <a:pPr algn="ctr"/>
            <a:r>
              <a:rPr sz="900" b="1" i="0">
                <a:solidFill>
                  <a:srgbClr val="FF4545"/>
                </a:solidFill>
                <a:latin typeface="Calibri"/>
              </a:rPr>
              <a:t>1</a:t>
            </a:r>
          </a:p>
        </p:txBody>
      </p:sp>
      <p:sp>
        <p:nvSpPr>
          <p:cNvPr id="70" name="TextBox 69"/>
          <p:cNvSpPr txBox="1"/>
          <p:nvPr/>
        </p:nvSpPr>
        <p:spPr>
          <a:xfrm>
            <a:off x="7735824" y="6291072"/>
            <a:ext cx="3934663" cy="237744"/>
          </a:xfrm>
          <a:prstGeom prst="rect">
            <a:avLst/>
          </a:prstGeom>
          <a:noFill/>
        </p:spPr>
        <p:txBody>
          <a:bodyPr wrap="square">
            <a:spAutoFit/>
          </a:bodyPr>
          <a:lstStyle/>
          <a:p>
            <a:pPr algn="l"/>
            <a:r>
              <a:rPr sz="850" b="0" i="0">
                <a:solidFill>
                  <a:srgbClr val="A0AAB8"/>
                </a:solidFill>
                <a:latin typeface="Calibri"/>
              </a:rPr>
              <a:t>Chain-01  —  CVE-2022-21661 SQLi → RCE</a:t>
            </a:r>
          </a:p>
        </p:txBody>
      </p:sp>
      <p:sp>
        <p:nvSpPr>
          <p:cNvPr id="71" name="TextBox 70"/>
          <p:cNvSpPr txBox="1"/>
          <p:nvPr/>
        </p:nvSpPr>
        <p:spPr>
          <a:xfrm>
            <a:off x="11505895" y="6291072"/>
            <a:ext cx="384048" cy="237744"/>
          </a:xfrm>
          <a:prstGeom prst="rect">
            <a:avLst/>
          </a:prstGeom>
          <a:noFill/>
        </p:spPr>
        <p:txBody>
          <a:bodyPr wrap="square">
            <a:spAutoFit/>
          </a:bodyPr>
          <a:lstStyle/>
          <a:p>
            <a:pPr algn="r"/>
            <a:r>
              <a:rPr sz="950" b="1" i="0">
                <a:solidFill>
                  <a:srgbClr val="FF4545"/>
                </a:solidFill>
                <a:latin typeface="Calibri"/>
              </a:rPr>
              <a:t>9.1</a:t>
            </a:r>
          </a:p>
        </p:txBody>
      </p:sp>
      <p:sp>
        <p:nvSpPr>
          <p:cNvPr id="72" name="Rectangle 71"/>
          <p:cNvSpPr/>
          <p:nvPr/>
        </p:nvSpPr>
        <p:spPr>
          <a:xfrm>
            <a:off x="7479792" y="6601968"/>
            <a:ext cx="4455871" cy="347472"/>
          </a:xfrm>
          <a:prstGeom prst="rect">
            <a:avLst/>
          </a:prstGeom>
          <a:solidFill>
            <a:srgbClr val="120C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16368" y="6656832"/>
            <a:ext cx="201168" cy="237744"/>
          </a:xfrm>
          <a:prstGeom prst="rect">
            <a:avLst/>
          </a:prstGeom>
          <a:noFill/>
        </p:spPr>
        <p:txBody>
          <a:bodyPr wrap="square">
            <a:spAutoFit/>
          </a:bodyPr>
          <a:lstStyle/>
          <a:p>
            <a:pPr algn="ctr"/>
            <a:r>
              <a:rPr sz="900" b="1" i="0">
                <a:solidFill>
                  <a:srgbClr val="FFD700"/>
                </a:solidFill>
                <a:latin typeface="Calibri"/>
              </a:rPr>
              <a:t>2</a:t>
            </a:r>
          </a:p>
        </p:txBody>
      </p:sp>
      <p:sp>
        <p:nvSpPr>
          <p:cNvPr id="74" name="TextBox 73"/>
          <p:cNvSpPr txBox="1"/>
          <p:nvPr/>
        </p:nvSpPr>
        <p:spPr>
          <a:xfrm>
            <a:off x="7735824" y="6656832"/>
            <a:ext cx="3934663" cy="237744"/>
          </a:xfrm>
          <a:prstGeom prst="rect">
            <a:avLst/>
          </a:prstGeom>
          <a:noFill/>
        </p:spPr>
        <p:txBody>
          <a:bodyPr wrap="square">
            <a:spAutoFit/>
          </a:bodyPr>
          <a:lstStyle/>
          <a:p>
            <a:pPr algn="l"/>
            <a:r>
              <a:rPr sz="850" b="0" i="0">
                <a:solidFill>
                  <a:srgbClr val="A0AAB8"/>
                </a:solidFill>
                <a:latin typeface="Calibri"/>
              </a:rPr>
              <a:t>Chain-03  —  Blind SQLi on staging → DB creds</a:t>
            </a:r>
          </a:p>
        </p:txBody>
      </p:sp>
      <p:sp>
        <p:nvSpPr>
          <p:cNvPr id="75" name="TextBox 74"/>
          <p:cNvSpPr txBox="1"/>
          <p:nvPr/>
        </p:nvSpPr>
        <p:spPr>
          <a:xfrm>
            <a:off x="11505895" y="6656832"/>
            <a:ext cx="384048" cy="237744"/>
          </a:xfrm>
          <a:prstGeom prst="rect">
            <a:avLst/>
          </a:prstGeom>
          <a:noFill/>
        </p:spPr>
        <p:txBody>
          <a:bodyPr wrap="square">
            <a:spAutoFit/>
          </a:bodyPr>
          <a:lstStyle/>
          <a:p>
            <a:pPr algn="r"/>
            <a:r>
              <a:rPr sz="950" b="1" i="0">
                <a:solidFill>
                  <a:srgbClr val="FFD700"/>
                </a:solidFill>
                <a:latin typeface="Calibri"/>
              </a:rPr>
              <a:t>8.1</a:t>
            </a:r>
          </a:p>
        </p:txBody>
      </p:sp>
      <p:sp>
        <p:nvSpPr>
          <p:cNvPr id="76" name="Rectangle 75"/>
          <p:cNvSpPr/>
          <p:nvPr/>
        </p:nvSpPr>
        <p:spPr>
          <a:xfrm>
            <a:off x="7479792" y="6967728"/>
            <a:ext cx="4455871" cy="347472"/>
          </a:xfrm>
          <a:prstGeom prst="rect">
            <a:avLst/>
          </a:prstGeom>
          <a:solidFill>
            <a:srgbClr val="1812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516368" y="7022592"/>
            <a:ext cx="201168" cy="237744"/>
          </a:xfrm>
          <a:prstGeom prst="rect">
            <a:avLst/>
          </a:prstGeom>
          <a:noFill/>
        </p:spPr>
        <p:txBody>
          <a:bodyPr wrap="square">
            <a:spAutoFit/>
          </a:bodyPr>
          <a:lstStyle/>
          <a:p>
            <a:pPr algn="ctr"/>
            <a:r>
              <a:rPr sz="900" b="1" i="0">
                <a:solidFill>
                  <a:srgbClr val="FFD700"/>
                </a:solidFill>
                <a:latin typeface="Calibri"/>
              </a:rPr>
              <a:t>3</a:t>
            </a:r>
          </a:p>
        </p:txBody>
      </p:sp>
      <p:sp>
        <p:nvSpPr>
          <p:cNvPr id="78" name="TextBox 77"/>
          <p:cNvSpPr txBox="1"/>
          <p:nvPr/>
        </p:nvSpPr>
        <p:spPr>
          <a:xfrm>
            <a:off x="7735824" y="7022592"/>
            <a:ext cx="3934663" cy="237744"/>
          </a:xfrm>
          <a:prstGeom prst="rect">
            <a:avLst/>
          </a:prstGeom>
          <a:noFill/>
        </p:spPr>
        <p:txBody>
          <a:bodyPr wrap="square">
            <a:spAutoFit/>
          </a:bodyPr>
          <a:lstStyle/>
          <a:p>
            <a:pPr algn="l"/>
            <a:r>
              <a:rPr sz="850" b="0" i="0">
                <a:solidFill>
                  <a:srgbClr val="A0AAB8"/>
                </a:solidFill>
                <a:latin typeface="Calibri"/>
              </a:rPr>
              <a:t>Chain-02  —  IDOR on /api/v1/orders → PII</a:t>
            </a:r>
          </a:p>
        </p:txBody>
      </p:sp>
      <p:sp>
        <p:nvSpPr>
          <p:cNvPr id="79" name="TextBox 78"/>
          <p:cNvSpPr txBox="1"/>
          <p:nvPr/>
        </p:nvSpPr>
        <p:spPr>
          <a:xfrm>
            <a:off x="11505895" y="7022592"/>
            <a:ext cx="384048" cy="237744"/>
          </a:xfrm>
          <a:prstGeom prst="rect">
            <a:avLst/>
          </a:prstGeom>
          <a:noFill/>
        </p:spPr>
        <p:txBody>
          <a:bodyPr wrap="square">
            <a:spAutoFit/>
          </a:bodyPr>
          <a:lstStyle/>
          <a:p>
            <a:pPr algn="r"/>
            <a:r>
              <a:rPr sz="950" b="1" i="0">
                <a:solidFill>
                  <a:srgbClr val="FFD700"/>
                </a:solidFill>
                <a:latin typeface="Calibri"/>
              </a:rPr>
              <a:t>7.5</a:t>
            </a:r>
          </a:p>
        </p:txBody>
      </p:sp>
      <p:sp>
        <p:nvSpPr>
          <p:cNvPr id="80" name="Rectangle 79"/>
          <p:cNvSpPr/>
          <p:nvPr/>
        </p:nvSpPr>
        <p:spPr>
          <a:xfrm>
            <a:off x="7479792" y="7333488"/>
            <a:ext cx="4455871" cy="347472"/>
          </a:xfrm>
          <a:prstGeom prst="rect">
            <a:avLst/>
          </a:prstGeom>
          <a:solidFill>
            <a:srgbClr val="120C0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516368" y="7388352"/>
            <a:ext cx="201168" cy="237744"/>
          </a:xfrm>
          <a:prstGeom prst="rect">
            <a:avLst/>
          </a:prstGeom>
          <a:noFill/>
        </p:spPr>
        <p:txBody>
          <a:bodyPr wrap="square">
            <a:spAutoFit/>
          </a:bodyPr>
          <a:lstStyle/>
          <a:p>
            <a:pPr algn="ctr"/>
            <a:r>
              <a:rPr sz="900" b="1" i="0">
                <a:solidFill>
                  <a:srgbClr val="BD93F9"/>
                </a:solidFill>
                <a:latin typeface="Calibri"/>
              </a:rPr>
              <a:t>4</a:t>
            </a:r>
          </a:p>
        </p:txBody>
      </p:sp>
      <p:sp>
        <p:nvSpPr>
          <p:cNvPr id="82" name="TextBox 81"/>
          <p:cNvSpPr txBox="1"/>
          <p:nvPr/>
        </p:nvSpPr>
        <p:spPr>
          <a:xfrm>
            <a:off x="7735824" y="7388352"/>
            <a:ext cx="3934663" cy="237744"/>
          </a:xfrm>
          <a:prstGeom prst="rect">
            <a:avLst/>
          </a:prstGeom>
          <a:noFill/>
        </p:spPr>
        <p:txBody>
          <a:bodyPr wrap="square">
            <a:spAutoFit/>
          </a:bodyPr>
          <a:lstStyle/>
          <a:p>
            <a:pPr algn="l"/>
            <a:r>
              <a:rPr sz="850" b="0" i="0">
                <a:solidFill>
                  <a:srgbClr val="A0AAB8"/>
                </a:solidFill>
                <a:latin typeface="Calibri"/>
              </a:rPr>
              <a:t>Chain-04  —  Direct DB backup download → PII</a:t>
            </a:r>
          </a:p>
        </p:txBody>
      </p:sp>
      <p:sp>
        <p:nvSpPr>
          <p:cNvPr id="83" name="TextBox 82"/>
          <p:cNvSpPr txBox="1"/>
          <p:nvPr/>
        </p:nvSpPr>
        <p:spPr>
          <a:xfrm>
            <a:off x="11505895" y="7388352"/>
            <a:ext cx="384048" cy="237744"/>
          </a:xfrm>
          <a:prstGeom prst="rect">
            <a:avLst/>
          </a:prstGeom>
          <a:noFill/>
        </p:spPr>
        <p:txBody>
          <a:bodyPr wrap="square">
            <a:spAutoFit/>
          </a:bodyPr>
          <a:lstStyle/>
          <a:p>
            <a:pPr algn="r"/>
            <a:r>
              <a:rPr sz="950" b="1" i="0">
                <a:solidFill>
                  <a:srgbClr val="BD93F9"/>
                </a:solidFill>
                <a:latin typeface="Calibri"/>
              </a:rPr>
              <a:t>7.0</a:t>
            </a:r>
          </a:p>
        </p:txBody>
      </p:sp>
      <p:sp>
        <p:nvSpPr>
          <p:cNvPr id="84" name="Rectangle 83"/>
          <p:cNvSpPr/>
          <p:nvPr/>
        </p:nvSpPr>
        <p:spPr>
          <a:xfrm>
            <a:off x="164592" y="6382512"/>
            <a:ext cx="11862511" cy="347472"/>
          </a:xfrm>
          <a:prstGeom prst="rect">
            <a:avLst/>
          </a:prstGeom>
          <a:solidFill>
            <a:srgbClr val="080A1C"/>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20040" y="6409944"/>
            <a:ext cx="11597335" cy="292608"/>
          </a:xfrm>
          <a:prstGeom prst="rect">
            <a:avLst/>
          </a:prstGeom>
          <a:noFill/>
        </p:spPr>
        <p:txBody>
          <a:bodyPr wrap="square">
            <a:spAutoFit/>
          </a:bodyPr>
          <a:lstStyle/>
          <a:p>
            <a:pPr algn="l"/>
            <a:r>
              <a:rPr sz="900" b="0" i="1">
                <a:solidFill>
                  <a:srgbClr val="BD93F9"/>
                </a:solidFill>
                <a:latin typeface="Calibri"/>
              </a:rPr>
              <a:t>Exploitation Philosophy:  Success = validated APG AttackChains with evidence — not obtained shells.  A mission is complete when every attack opportunity is proven or disproven.</a:t>
            </a:r>
          </a:p>
        </p:txBody>
      </p:sp>
      <p:sp>
        <p:nvSpPr>
          <p:cNvPr id="86" name="TextBox 85"/>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ctr"/>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1463040.0"/>
            <a:ext cx="1097280"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1463040.0"/>
            <a:ext cx="1097280" cy="0.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1463040.0"/>
            <a:ext cx="1097280" cy="0.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1828800.0"/>
            <a:ext cx="5943600" cy="0.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2724912"/>
            <a:ext cx="5321808" cy="237744"/>
          </a:xfrm>
          <a:prstGeom prst="rect">
            <a:avLst/>
          </a:prstGeom>
          <a:noFill/>
        </p:spPr>
        <p:txBody>
          <a:bodyPr wrap="square">
            <a:spAutoFit/>
          </a:bodyPr>
          <a:lstStyle/>
          <a:p>
            <a:pPr algn="ctr"/>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ctr"/>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621024"/>
            <a:ext cx="5321808" cy="237744"/>
          </a:xfrm>
          <a:prstGeom prst="rect">
            <a:avLst/>
          </a:prstGeom>
          <a:noFill/>
        </p:spPr>
        <p:txBody>
          <a:bodyPr wrap="square">
            <a:spAutoFit/>
          </a:bodyPr>
          <a:lstStyle/>
          <a:p>
            <a:pPr algn="ctr"/>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ctr"/>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4517136"/>
            <a:ext cx="5321808" cy="237744"/>
          </a:xfrm>
          <a:prstGeom prst="rect">
            <a:avLst/>
          </a:prstGeom>
          <a:noFill/>
        </p:spPr>
        <p:txBody>
          <a:bodyPr wrap="square">
            <a:spAutoFit/>
          </a:bodyPr>
          <a:lstStyle/>
          <a:p>
            <a:pPr algn="ctr"/>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ctr"/>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413248"/>
            <a:ext cx="5321808" cy="237744"/>
          </a:xfrm>
          <a:prstGeom prst="rect">
            <a:avLst/>
          </a:prstGeom>
          <a:noFill/>
        </p:spPr>
        <p:txBody>
          <a:bodyPr wrap="square">
            <a:spAutoFit/>
          </a:bodyPr>
          <a:lstStyle/>
          <a:p>
            <a:pPr algn="ctr"/>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ctr"/>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2267712"/>
            <a:ext cx="5650992" cy="256032"/>
          </a:xfrm>
          <a:prstGeom prst="rect">
            <a:avLst/>
          </a:prstGeom>
          <a:noFill/>
        </p:spPr>
        <p:txBody>
          <a:bodyPr wrap="square">
            <a:spAutoFit/>
          </a:bodyPr>
          <a:lstStyle/>
          <a:p>
            <a:pPr algn="ctr"/>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2724912"/>
            <a:ext cx="5486400" cy="237744"/>
          </a:xfrm>
          <a:prstGeom prst="rect">
            <a:avLst/>
          </a:prstGeom>
          <a:noFill/>
        </p:spPr>
        <p:txBody>
          <a:bodyPr wrap="square">
            <a:spAutoFit/>
          </a:bodyPr>
          <a:lstStyle/>
          <a:p>
            <a:pPr algn="ctr"/>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ctr"/>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621024"/>
            <a:ext cx="5486400" cy="237744"/>
          </a:xfrm>
          <a:prstGeom prst="rect">
            <a:avLst/>
          </a:prstGeom>
          <a:noFill/>
        </p:spPr>
        <p:txBody>
          <a:bodyPr wrap="square">
            <a:spAutoFit/>
          </a:bodyPr>
          <a:lstStyle/>
          <a:p>
            <a:pPr algn="ctr"/>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ctr"/>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4517136"/>
            <a:ext cx="5486400" cy="237744"/>
          </a:xfrm>
          <a:prstGeom prst="rect">
            <a:avLst/>
          </a:prstGeom>
          <a:noFill/>
        </p:spPr>
        <p:txBody>
          <a:bodyPr wrap="square">
            <a:spAutoFit/>
          </a:bodyPr>
          <a:lstStyle/>
          <a:p>
            <a:pPr algn="ctr"/>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ctr"/>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5413248"/>
            <a:ext cx="5486400" cy="237744"/>
          </a:xfrm>
          <a:prstGeom prst="rect">
            <a:avLst/>
          </a:prstGeom>
          <a:noFill/>
        </p:spPr>
        <p:txBody>
          <a:bodyPr wrap="square">
            <a:spAutoFit/>
          </a:bodyPr>
          <a:lstStyle/>
          <a:p>
            <a:pPr algn="ctr"/>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ctr"/>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Rectangle 55"/>
          <p:cNvSpPr/>
          <p:nvPr/>
        </p:nvSpPr>
        <p:spPr>
          <a:xfrm>
            <a:off x="274320" y="6291072"/>
            <a:ext cx="11643055" cy="420624"/>
          </a:xfrm>
          <a:prstGeom prst="rect">
            <a:avLst/>
          </a:prstGeom>
          <a:solidFill>
            <a:srgbClr val="0814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318504"/>
            <a:ext cx="11368735" cy="347472"/>
          </a:xfrm>
          <a:prstGeom prst="rect">
            <a:avLst/>
          </a:prstGeom>
          <a:noFill/>
        </p:spPr>
        <p:txBody>
          <a:bodyPr wrap="square">
            <a:spAutoFit/>
          </a:bodyPr>
          <a:lstStyle/>
          <a:p>
            <a:pPr algn="l"/>
            <a:r>
              <a:rPr sz="900" b="0" i="1">
                <a:solidFill>
                  <a:srgbClr val="BD93F9"/>
                </a:solidFill>
                <a:latin typeface="Calibri"/>
              </a:rPr>
              <a:t>C12 · Trajectory Export:  Every mission produces a machine-readable decision log capturing ASG/APG triggers, Commander rationale, and actions taken — directly usable as SFT/RL training data for security LLMs.</a:t>
            </a:r>
          </a:p>
        </p:txBody>
      </p:sp>
      <p:sp>
        <p:nvSpPr>
          <p:cNvPr id="58" name="TextBox 57"/>
          <p:cNvSpPr txBox="1"/>
          <p:nvPr/>
        </p:nvSpPr>
        <p:spPr>
          <a:xfrm>
            <a:off x="11825935" y="6355080"/>
            <a:ext cx="320040" cy="411480"/>
          </a:xfrm>
          <a:prstGeom prst="rect">
            <a:avLst/>
          </a:prstGeom>
          <a:noFill/>
        </p:spPr>
        <p:txBody>
          <a:bodyPr wrap="square">
            <a:spAutoFit/>
          </a:bodyPr>
          <a:lstStyle/>
          <a:p>
            <a:pPr algn="r"/>
            <a:r>
              <a:rPr sz="1300" b="1" i="0">
                <a:solidFill>
                  <a:srgbClr val="00BFD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4572000" cy="219456"/>
          </a:xfrm>
          <a:prstGeom prst="rect">
            <a:avLst/>
          </a:prstGeom>
          <a:noFill/>
        </p:spPr>
        <p:txBody>
          <a:bodyPr wrap="square">
            <a:spAutoFit/>
          </a:bodyPr>
          <a:lstStyle/>
          <a:p>
            <a:pPr algn="ctr"/>
            <a:r>
              <a:rPr sz="1000" b="1" i="0">
                <a:solidFill>
                  <a:srgbClr val="FFD700"/>
                </a:solidFill>
                <a:latin typeface="Calibri"/>
              </a:rPr>
              <a:t>REAL-WORLD SCENARIO</a:t>
            </a:r>
          </a:p>
        </p:txBody>
      </p:sp>
      <p:sp>
        <p:nvSpPr>
          <p:cNvPr id="6" name="TextBox 5"/>
          <p:cNvSpPr txBox="1"/>
          <p:nvPr/>
        </p:nvSpPr>
        <p:spPr>
          <a:xfrm>
            <a:off x="274320" y="283464"/>
            <a:ext cx="11430000" cy="438912"/>
          </a:xfrm>
          <a:prstGeom prst="rect">
            <a:avLst/>
          </a:prstGeom>
          <a:noFill/>
        </p:spPr>
        <p:txBody>
          <a:bodyPr wrap="square">
            <a:spAutoFit/>
          </a:bodyPr>
          <a:lstStyle/>
          <a:p>
            <a:pPr algn="ctr"/>
            <a:r>
              <a:rPr sz="2400" b="1" i="0">
                <a:solidFill>
                  <a:srgbClr val="FFFFFF"/>
                </a:solidFill>
                <a:latin typeface="Calibri"/>
              </a:rPr>
              <a:t>Mission: shopvault.io — Black-Box Assessment — Zero Manual Commands</a:t>
            </a:r>
          </a:p>
        </p:txBody>
      </p:sp>
      <p:sp>
        <p:nvSpPr>
          <p:cNvPr id="7" name="Rectangle 6"/>
          <p:cNvSpPr/>
          <p:nvPr/>
        </p:nvSpPr>
        <p:spPr>
          <a:xfrm>
            <a:off x="164592" y="768096"/>
            <a:ext cx="11862511" cy="347472"/>
          </a:xfrm>
          <a:prstGeom prst="rect">
            <a:avLst/>
          </a:prstGeom>
          <a:solidFill>
            <a:srgbClr val="1010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822960"/>
            <a:ext cx="11597335" cy="274320"/>
          </a:xfrm>
          <a:prstGeom prst="rect">
            <a:avLst/>
          </a:prstGeom>
          <a:noFill/>
        </p:spPr>
        <p:txBody>
          <a:bodyPr wrap="square">
            <a:spAutoFit/>
          </a:bodyPr>
          <a:lstStyle/>
          <a:p>
            <a:pPr algn="ctr"/>
            <a:r>
              <a:rPr sz="900" b="0" i="1">
                <a:solidFill>
                  <a:srgbClr val="FFD700"/>
                </a:solidFill>
                <a:latin typeface="Calibri"/>
              </a:rPr>
              <a:t>Scope: all subdomains · web applications · REST APIs of shopvault.io  ·  Mode: Black-Box (zero prior knowledge)  ·  Operator configures root domain + scope → presses start.</a:t>
            </a:r>
          </a:p>
        </p:txBody>
      </p:sp>
      <p:sp>
        <p:nvSpPr>
          <p:cNvPr id="9" name="Rectangle 8"/>
          <p:cNvSpPr/>
          <p:nvPr/>
        </p:nvSpPr>
        <p:spPr>
          <a:xfrm>
            <a:off x="164592" y="1188720"/>
            <a:ext cx="2395728" cy="5010912"/>
          </a:xfrm>
          <a:prstGeom prst="rect">
            <a:avLst/>
          </a:prstGeom>
          <a:solidFill>
            <a:srgbClr val="041408"/>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1188720"/>
            <a:ext cx="2395728" cy="457200"/>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1243584"/>
            <a:ext cx="2286000" cy="384048"/>
          </a:xfrm>
          <a:prstGeom prst="rect">
            <a:avLst/>
          </a:prstGeom>
          <a:noFill/>
        </p:spPr>
        <p:txBody>
          <a:bodyPr wrap="square">
            <a:spAutoFit/>
          </a:bodyPr>
          <a:lstStyle/>
          <a:p>
            <a:pPr algn="ctr"/>
            <a:r>
              <a:rPr sz="1000" b="1" i="0">
                <a:solidFill>
                  <a:srgbClr val="39FF14"/>
                </a:solidFill>
                <a:latin typeface="Calibri"/>
              </a:rPr>
              <a:t>PHASE 1
Reconnaissance</a:t>
            </a:r>
          </a:p>
        </p:txBody>
      </p:sp>
      <p:sp>
        <p:nvSpPr>
          <p:cNvPr id="12" name="TextBox 11"/>
          <p:cNvSpPr txBox="1"/>
          <p:nvPr/>
        </p:nvSpPr>
        <p:spPr>
          <a:xfrm>
            <a:off x="237744" y="1700784"/>
            <a:ext cx="2286000" cy="201168"/>
          </a:xfrm>
          <a:prstGeom prst="rect">
            <a:avLst/>
          </a:prstGeom>
          <a:noFill/>
        </p:spPr>
        <p:txBody>
          <a:bodyPr wrap="square">
            <a:spAutoFit/>
          </a:bodyPr>
          <a:lstStyle/>
          <a:p>
            <a:pPr algn="ctr"/>
            <a:r>
              <a:rPr sz="850" b="1" i="0">
                <a:solidFill>
                  <a:srgbClr val="39FF14"/>
                </a:solidFill>
                <a:latin typeface="Calibri"/>
              </a:rPr>
              <a:t>🕵️ Recon Agent</a:t>
            </a:r>
          </a:p>
        </p:txBody>
      </p:sp>
      <p:sp>
        <p:nvSpPr>
          <p:cNvPr id="13" name="Rectangle 12"/>
          <p:cNvSpPr/>
          <p:nvPr/>
        </p:nvSpPr>
        <p:spPr>
          <a:xfrm>
            <a:off x="237744" y="1920240"/>
            <a:ext cx="2249424" cy="182880"/>
          </a:xfrm>
          <a:prstGeom prst="rect">
            <a:avLst/>
          </a:prstGeom>
          <a:solidFill>
            <a:srgbClr val="081022"/>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929384"/>
            <a:ext cx="2212848" cy="164592"/>
          </a:xfrm>
          <a:prstGeom prst="rect">
            <a:avLst/>
          </a:prstGeom>
          <a:noFill/>
        </p:spPr>
        <p:txBody>
          <a:bodyPr wrap="square">
            <a:spAutoFit/>
          </a:bodyPr>
          <a:lstStyle/>
          <a:p>
            <a:pPr algn="ctr"/>
            <a:r>
              <a:rPr sz="700" b="1" i="0">
                <a:solidFill>
                  <a:srgbClr val="39FF14"/>
                </a:solidFill>
                <a:latin typeface="Calibri"/>
              </a:rPr>
              <a:t>Amass  ·  httpx  ·  Nmap</a:t>
            </a:r>
          </a:p>
        </p:txBody>
      </p:sp>
      <p:sp>
        <p:nvSpPr>
          <p:cNvPr id="15" name="Rectangle 14"/>
          <p:cNvSpPr/>
          <p:nvPr/>
        </p:nvSpPr>
        <p:spPr>
          <a:xfrm>
            <a:off x="237744" y="2157984"/>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 y="2157984"/>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2194560"/>
            <a:ext cx="2121408" cy="237744"/>
          </a:xfrm>
          <a:prstGeom prst="rect">
            <a:avLst/>
          </a:prstGeom>
          <a:noFill/>
        </p:spPr>
        <p:txBody>
          <a:bodyPr wrap="square">
            <a:spAutoFit/>
          </a:bodyPr>
          <a:lstStyle/>
          <a:p>
            <a:pPr algn="ctr"/>
            <a:r>
              <a:rPr sz="800" b="1" i="0">
                <a:solidFill>
                  <a:srgbClr val="39FF14"/>
                </a:solidFill>
                <a:latin typeface="Calibri"/>
              </a:rPr>
              <a:t>Amass</a:t>
            </a:r>
          </a:p>
        </p:txBody>
      </p:sp>
      <p:sp>
        <p:nvSpPr>
          <p:cNvPr id="18" name="TextBox 17"/>
          <p:cNvSpPr txBox="1"/>
          <p:nvPr/>
        </p:nvSpPr>
        <p:spPr>
          <a:xfrm>
            <a:off x="310896" y="2432304"/>
            <a:ext cx="2121408" cy="816864"/>
          </a:xfrm>
          <a:prstGeom prst="rect">
            <a:avLst/>
          </a:prstGeom>
          <a:noFill/>
        </p:spPr>
        <p:txBody>
          <a:bodyPr wrap="square">
            <a:spAutoFit/>
          </a:bodyPr>
          <a:lstStyle/>
          <a:p>
            <a:pPr algn="ctr"/>
            <a:r>
              <a:rPr sz="800" b="0" i="0">
                <a:solidFill>
                  <a:srgbClr val="A0AAB8"/>
                </a:solidFill>
                <a:latin typeface="Calibri"/>
              </a:rPr>
              <a:t>14 subdomains discovered
api · admin · staging · pay · ...</a:t>
            </a:r>
          </a:p>
        </p:txBody>
      </p:sp>
      <p:sp>
        <p:nvSpPr>
          <p:cNvPr id="19" name="Rectangle 18"/>
          <p:cNvSpPr/>
          <p:nvPr/>
        </p:nvSpPr>
        <p:spPr>
          <a:xfrm>
            <a:off x="237744" y="3340608"/>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7744" y="3340608"/>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 y="3377184"/>
            <a:ext cx="2121408" cy="237744"/>
          </a:xfrm>
          <a:prstGeom prst="rect">
            <a:avLst/>
          </a:prstGeom>
          <a:noFill/>
        </p:spPr>
        <p:txBody>
          <a:bodyPr wrap="square">
            <a:spAutoFit/>
          </a:bodyPr>
          <a:lstStyle/>
          <a:p>
            <a:pPr algn="ctr"/>
            <a:r>
              <a:rPr sz="800" b="1" i="0">
                <a:solidFill>
                  <a:srgbClr val="39FF14"/>
                </a:solidFill>
                <a:latin typeface="Calibri"/>
              </a:rPr>
              <a:t>httpx</a:t>
            </a:r>
          </a:p>
        </p:txBody>
      </p:sp>
      <p:sp>
        <p:nvSpPr>
          <p:cNvPr id="22" name="TextBox 21"/>
          <p:cNvSpPr txBox="1"/>
          <p:nvPr/>
        </p:nvSpPr>
        <p:spPr>
          <a:xfrm>
            <a:off x="310896" y="3614928"/>
            <a:ext cx="2121408" cy="816864"/>
          </a:xfrm>
          <a:prstGeom prst="rect">
            <a:avLst/>
          </a:prstGeom>
          <a:noFill/>
        </p:spPr>
        <p:txBody>
          <a:bodyPr wrap="square">
            <a:spAutoFit/>
          </a:bodyPr>
          <a:lstStyle/>
          <a:p>
            <a:pPr algn="ctr"/>
            <a:r>
              <a:rPr sz="800" b="0" i="0">
                <a:solidFill>
                  <a:srgbClr val="A0AAB8"/>
                </a:solidFill>
                <a:latin typeface="Calibri"/>
              </a:rPr>
              <a:t>11 live hosts confirmed
staging returns unexpected 200</a:t>
            </a:r>
          </a:p>
        </p:txBody>
      </p:sp>
      <p:sp>
        <p:nvSpPr>
          <p:cNvPr id="23" name="Rectangle 22"/>
          <p:cNvSpPr/>
          <p:nvPr/>
        </p:nvSpPr>
        <p:spPr>
          <a:xfrm>
            <a:off x="237744" y="4523232"/>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 y="4523232"/>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4559808"/>
            <a:ext cx="2121408" cy="237744"/>
          </a:xfrm>
          <a:prstGeom prst="rect">
            <a:avLst/>
          </a:prstGeom>
          <a:noFill/>
        </p:spPr>
        <p:txBody>
          <a:bodyPr wrap="square">
            <a:spAutoFit/>
          </a:bodyPr>
          <a:lstStyle/>
          <a:p>
            <a:pPr algn="ctr"/>
            <a:r>
              <a:rPr sz="800" b="1" i="0">
                <a:solidFill>
                  <a:srgbClr val="39FF14"/>
                </a:solidFill>
                <a:latin typeface="Calibri"/>
              </a:rPr>
              <a:t>Nmap</a:t>
            </a:r>
          </a:p>
        </p:txBody>
      </p:sp>
      <p:sp>
        <p:nvSpPr>
          <p:cNvPr id="26" name="TextBox 25"/>
          <p:cNvSpPr txBox="1"/>
          <p:nvPr/>
        </p:nvSpPr>
        <p:spPr>
          <a:xfrm>
            <a:off x="310896" y="4797552"/>
            <a:ext cx="2121408" cy="816864"/>
          </a:xfrm>
          <a:prstGeom prst="rect">
            <a:avLst/>
          </a:prstGeom>
          <a:noFill/>
        </p:spPr>
        <p:txBody>
          <a:bodyPr wrap="square">
            <a:spAutoFit/>
          </a:bodyPr>
          <a:lstStyle/>
          <a:p>
            <a:pPr algn="ctr"/>
            <a:r>
              <a:rPr sz="800" b="0" i="0">
                <a:solidFill>
                  <a:srgbClr val="A0AAB8"/>
                </a:solidFill>
                <a:latin typeface="Calibri"/>
              </a:rPr>
              <a:t>Ports 80, 443, 8080, 8443 open
pay.shopvault.io: expired TLS</a:t>
            </a:r>
          </a:p>
        </p:txBody>
      </p:sp>
      <p:sp>
        <p:nvSpPr>
          <p:cNvPr id="27" name="Rectangle 26"/>
          <p:cNvSpPr/>
          <p:nvPr/>
        </p:nvSpPr>
        <p:spPr>
          <a:xfrm>
            <a:off x="164592" y="5797296"/>
            <a:ext cx="2395728" cy="402336"/>
          </a:xfrm>
          <a:prstGeom prst="rect">
            <a:avLst/>
          </a:prstGeom>
          <a:solidFill>
            <a:srgbClr val="060C1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5852160"/>
            <a:ext cx="2258568" cy="310896"/>
          </a:xfrm>
          <a:prstGeom prst="rect">
            <a:avLst/>
          </a:prstGeom>
          <a:noFill/>
        </p:spPr>
        <p:txBody>
          <a:bodyPr wrap="square">
            <a:spAutoFit/>
          </a:bodyPr>
          <a:lstStyle/>
          <a:p>
            <a:pPr algn="ctr"/>
            <a:r>
              <a:rPr sz="850" b="1" i="0">
                <a:solidFill>
                  <a:srgbClr val="39FF14"/>
                </a:solidFill>
                <a:latin typeface="Calibri"/>
              </a:rPr>
              <a:t>ASG ← 37 new nodes</a:t>
            </a:r>
          </a:p>
        </p:txBody>
      </p:sp>
      <p:cxnSp>
        <p:nvCxnSpPr>
          <p:cNvPr id="29" name="Connector 28"/>
          <p:cNvCxnSpPr/>
          <p:nvPr/>
        </p:nvCxnSpPr>
        <p:spPr>
          <a:xfrm>
            <a:off x="2560320" y="1417320"/>
            <a:ext cx="54864" cy="0"/>
          </a:xfrm>
          <a:prstGeom prst="line">
            <a:avLst/>
          </a:prstGeom>
          <a:ln w="228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615184" y="1188720"/>
            <a:ext cx="3474720" cy="5010912"/>
          </a:xfrm>
          <a:prstGeom prst="rect">
            <a:avLst/>
          </a:prstGeom>
          <a:solidFill>
            <a:srgbClr val="041018"/>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15184" y="1188720"/>
            <a:ext cx="3474720" cy="457200"/>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88336" y="1243584"/>
            <a:ext cx="3364992" cy="384048"/>
          </a:xfrm>
          <a:prstGeom prst="rect">
            <a:avLst/>
          </a:prstGeom>
          <a:noFill/>
        </p:spPr>
        <p:txBody>
          <a:bodyPr wrap="square">
            <a:spAutoFit/>
          </a:bodyPr>
          <a:lstStyle/>
          <a:p>
            <a:pPr algn="ctr"/>
            <a:r>
              <a:rPr sz="1000" b="1" i="0">
                <a:solidFill>
                  <a:srgbClr val="00E5FF"/>
                </a:solidFill>
                <a:latin typeface="Calibri"/>
              </a:rPr>
              <a:t>PHASE 2
Analysis + Intel</a:t>
            </a:r>
          </a:p>
        </p:txBody>
      </p:sp>
      <p:sp>
        <p:nvSpPr>
          <p:cNvPr id="33" name="TextBox 32"/>
          <p:cNvSpPr txBox="1"/>
          <p:nvPr/>
        </p:nvSpPr>
        <p:spPr>
          <a:xfrm>
            <a:off x="2688336" y="1700784"/>
            <a:ext cx="3364992" cy="201168"/>
          </a:xfrm>
          <a:prstGeom prst="rect">
            <a:avLst/>
          </a:prstGeom>
          <a:noFill/>
        </p:spPr>
        <p:txBody>
          <a:bodyPr wrap="square">
            <a:spAutoFit/>
          </a:bodyPr>
          <a:lstStyle/>
          <a:p>
            <a:pPr algn="ctr"/>
            <a:r>
              <a:rPr sz="850" b="1" i="0">
                <a:solidFill>
                  <a:srgbClr val="00E5FF"/>
                </a:solidFill>
                <a:latin typeface="Calibri"/>
              </a:rPr>
              <a:t>🔬 Analysis + 🔍 Research</a:t>
            </a:r>
          </a:p>
        </p:txBody>
      </p:sp>
      <p:sp>
        <p:nvSpPr>
          <p:cNvPr id="34" name="Rectangle 33"/>
          <p:cNvSpPr/>
          <p:nvPr/>
        </p:nvSpPr>
        <p:spPr>
          <a:xfrm>
            <a:off x="2688336" y="1920240"/>
            <a:ext cx="3328416" cy="182880"/>
          </a:xfrm>
          <a:prstGeom prst="rect">
            <a:avLst/>
          </a:prstGeom>
          <a:solidFill>
            <a:srgbClr val="081022"/>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24912" y="1929384"/>
            <a:ext cx="3291840" cy="164592"/>
          </a:xfrm>
          <a:prstGeom prst="rect">
            <a:avLst/>
          </a:prstGeom>
          <a:noFill/>
        </p:spPr>
        <p:txBody>
          <a:bodyPr wrap="square">
            <a:spAutoFit/>
          </a:bodyPr>
          <a:lstStyle/>
          <a:p>
            <a:pPr algn="ctr"/>
            <a:r>
              <a:rPr sz="700" b="1" i="0">
                <a:solidFill>
                  <a:srgbClr val="00E5FF"/>
                </a:solidFill>
                <a:latin typeface="Calibri"/>
              </a:rPr>
              <a:t>WhatWeb  ·  Gobuster  ·  ffuf  ·  Nuclei  ·  ZAP</a:t>
            </a:r>
          </a:p>
        </p:txBody>
      </p:sp>
      <p:sp>
        <p:nvSpPr>
          <p:cNvPr id="36" name="Rectangle 35"/>
          <p:cNvSpPr/>
          <p:nvPr/>
        </p:nvSpPr>
        <p:spPr>
          <a:xfrm>
            <a:off x="2688336" y="2157984"/>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88336" y="2157984"/>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1488" y="2194560"/>
            <a:ext cx="3200400" cy="237744"/>
          </a:xfrm>
          <a:prstGeom prst="rect">
            <a:avLst/>
          </a:prstGeom>
          <a:noFill/>
        </p:spPr>
        <p:txBody>
          <a:bodyPr wrap="square">
            <a:spAutoFit/>
          </a:bodyPr>
          <a:lstStyle/>
          <a:p>
            <a:pPr algn="ctr"/>
            <a:r>
              <a:rPr sz="800" b="1" i="0">
                <a:solidFill>
                  <a:srgbClr val="00E5FF"/>
                </a:solidFill>
                <a:latin typeface="Calibri"/>
              </a:rPr>
              <a:t>WhatWeb</a:t>
            </a:r>
          </a:p>
        </p:txBody>
      </p:sp>
      <p:sp>
        <p:nvSpPr>
          <p:cNvPr id="39" name="TextBox 38"/>
          <p:cNvSpPr txBox="1"/>
          <p:nvPr/>
        </p:nvSpPr>
        <p:spPr>
          <a:xfrm>
            <a:off x="2761488" y="2432304"/>
            <a:ext cx="3200400" cy="521208"/>
          </a:xfrm>
          <a:prstGeom prst="rect">
            <a:avLst/>
          </a:prstGeom>
          <a:noFill/>
        </p:spPr>
        <p:txBody>
          <a:bodyPr wrap="square">
            <a:spAutoFit/>
          </a:bodyPr>
          <a:lstStyle/>
          <a:p>
            <a:pPr algn="ctr"/>
            <a:r>
              <a:rPr sz="800" b="0" i="0">
                <a:solidFill>
                  <a:srgbClr val="A0AAB8"/>
                </a:solidFill>
                <a:latin typeface="Calibri"/>
              </a:rPr>
              <a:t>WordPress 5.9.3 · Django API
→ Research: CVE-2022-21661 (CVSS 8.8)</a:t>
            </a:r>
          </a:p>
        </p:txBody>
      </p:sp>
      <p:sp>
        <p:nvSpPr>
          <p:cNvPr id="40" name="Rectangle 39"/>
          <p:cNvSpPr/>
          <p:nvPr/>
        </p:nvSpPr>
        <p:spPr>
          <a:xfrm>
            <a:off x="2688336" y="3044952"/>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688336" y="3044952"/>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3081528"/>
            <a:ext cx="3200400" cy="237744"/>
          </a:xfrm>
          <a:prstGeom prst="rect">
            <a:avLst/>
          </a:prstGeom>
          <a:noFill/>
        </p:spPr>
        <p:txBody>
          <a:bodyPr wrap="square">
            <a:spAutoFit/>
          </a:bodyPr>
          <a:lstStyle/>
          <a:p>
            <a:pPr algn="ctr"/>
            <a:r>
              <a:rPr sz="800" b="1" i="0">
                <a:solidFill>
                  <a:srgbClr val="00E5FF"/>
                </a:solidFill>
                <a:latin typeface="Calibri"/>
              </a:rPr>
              <a:t>Gobuster</a:t>
            </a:r>
          </a:p>
        </p:txBody>
      </p:sp>
      <p:sp>
        <p:nvSpPr>
          <p:cNvPr id="43" name="TextBox 42"/>
          <p:cNvSpPr txBox="1"/>
          <p:nvPr/>
        </p:nvSpPr>
        <p:spPr>
          <a:xfrm>
            <a:off x="2761488" y="3319272"/>
            <a:ext cx="3200400" cy="521208"/>
          </a:xfrm>
          <a:prstGeom prst="rect">
            <a:avLst/>
          </a:prstGeom>
          <a:noFill/>
        </p:spPr>
        <p:txBody>
          <a:bodyPr wrap="square">
            <a:spAutoFit/>
          </a:bodyPr>
          <a:lstStyle/>
          <a:p>
            <a:pPr algn="ctr"/>
            <a:r>
              <a:rPr sz="800" b="0" i="0">
                <a:solidFill>
                  <a:srgbClr val="A0AAB8"/>
                </a:solidFill>
                <a:latin typeface="Calibri"/>
              </a:rPr>
              <a:t>/backup/db_export_2023.sql EXPOSED
/admin/users · /admin/login</a:t>
            </a:r>
          </a:p>
        </p:txBody>
      </p:sp>
      <p:sp>
        <p:nvSpPr>
          <p:cNvPr id="44" name="Rectangle 43"/>
          <p:cNvSpPr/>
          <p:nvPr/>
        </p:nvSpPr>
        <p:spPr>
          <a:xfrm>
            <a:off x="2688336" y="3931920"/>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88336" y="3931920"/>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1488" y="3968496"/>
            <a:ext cx="3200400" cy="237744"/>
          </a:xfrm>
          <a:prstGeom prst="rect">
            <a:avLst/>
          </a:prstGeom>
          <a:noFill/>
        </p:spPr>
        <p:txBody>
          <a:bodyPr wrap="square">
            <a:spAutoFit/>
          </a:bodyPr>
          <a:lstStyle/>
          <a:p>
            <a:pPr algn="ctr"/>
            <a:r>
              <a:rPr sz="800" b="1" i="0">
                <a:solidFill>
                  <a:srgbClr val="00E5FF"/>
                </a:solidFill>
                <a:latin typeface="Calibri"/>
              </a:rPr>
              <a:t>ffuf</a:t>
            </a:r>
          </a:p>
        </p:txBody>
      </p:sp>
      <p:sp>
        <p:nvSpPr>
          <p:cNvPr id="47" name="TextBox 46"/>
          <p:cNvSpPr txBox="1"/>
          <p:nvPr/>
        </p:nvSpPr>
        <p:spPr>
          <a:xfrm>
            <a:off x="2761488" y="4206240"/>
            <a:ext cx="3200400" cy="521208"/>
          </a:xfrm>
          <a:prstGeom prst="rect">
            <a:avLst/>
          </a:prstGeom>
          <a:noFill/>
        </p:spPr>
        <p:txBody>
          <a:bodyPr wrap="square">
            <a:spAutoFit/>
          </a:bodyPr>
          <a:lstStyle/>
          <a:p>
            <a:pPr algn="ctr"/>
            <a:r>
              <a:rPr sz="800" b="0" i="0">
                <a:solidFill>
                  <a:srgbClr val="A0AAB8"/>
                </a:solidFill>
                <a:latin typeface="Calibri"/>
              </a:rPr>
              <a:t>IDOR: user_id param unsanitized
/api/v1/internal/users found</a:t>
            </a:r>
          </a:p>
        </p:txBody>
      </p:sp>
      <p:sp>
        <p:nvSpPr>
          <p:cNvPr id="48" name="Rectangle 47"/>
          <p:cNvSpPr/>
          <p:nvPr/>
        </p:nvSpPr>
        <p:spPr>
          <a:xfrm>
            <a:off x="2688336" y="4818888"/>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88336" y="4818888"/>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1488" y="4855464"/>
            <a:ext cx="3200400" cy="237744"/>
          </a:xfrm>
          <a:prstGeom prst="rect">
            <a:avLst/>
          </a:prstGeom>
          <a:noFill/>
        </p:spPr>
        <p:txBody>
          <a:bodyPr wrap="square">
            <a:spAutoFit/>
          </a:bodyPr>
          <a:lstStyle/>
          <a:p>
            <a:pPr algn="ctr"/>
            <a:r>
              <a:rPr sz="800" b="1" i="0">
                <a:solidFill>
                  <a:srgbClr val="00E5FF"/>
                </a:solidFill>
                <a:latin typeface="Calibri"/>
              </a:rPr>
              <a:t>ZAP</a:t>
            </a:r>
          </a:p>
        </p:txBody>
      </p:sp>
      <p:sp>
        <p:nvSpPr>
          <p:cNvPr id="51" name="TextBox 50"/>
          <p:cNvSpPr txBox="1"/>
          <p:nvPr/>
        </p:nvSpPr>
        <p:spPr>
          <a:xfrm>
            <a:off x="2761488" y="5093208"/>
            <a:ext cx="3200400" cy="521208"/>
          </a:xfrm>
          <a:prstGeom prst="rect">
            <a:avLst/>
          </a:prstGeom>
          <a:noFill/>
        </p:spPr>
        <p:txBody>
          <a:bodyPr wrap="square">
            <a:spAutoFit/>
          </a:bodyPr>
          <a:lstStyle/>
          <a:p>
            <a:pPr algn="ctr"/>
            <a:r>
              <a:rPr sz="800" b="0" i="0">
                <a:solidFill>
                  <a:srgbClr val="A0AAB8"/>
                </a:solidFill>
                <a:latin typeface="Calibri"/>
              </a:rPr>
              <a:t>XSS on /search?q=
SQL error on staging login</a:t>
            </a:r>
          </a:p>
        </p:txBody>
      </p:sp>
      <p:sp>
        <p:nvSpPr>
          <p:cNvPr id="52" name="Rectangle 51"/>
          <p:cNvSpPr/>
          <p:nvPr/>
        </p:nvSpPr>
        <p:spPr>
          <a:xfrm>
            <a:off x="2615184" y="5797296"/>
            <a:ext cx="3474720" cy="402336"/>
          </a:xfrm>
          <a:prstGeom prst="rect">
            <a:avLst/>
          </a:prstGeom>
          <a:solidFill>
            <a:srgbClr val="060C1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06624" y="5852160"/>
            <a:ext cx="3337560" cy="310896"/>
          </a:xfrm>
          <a:prstGeom prst="rect">
            <a:avLst/>
          </a:prstGeom>
          <a:noFill/>
        </p:spPr>
        <p:txBody>
          <a:bodyPr wrap="square">
            <a:spAutoFit/>
          </a:bodyPr>
          <a:lstStyle/>
          <a:p>
            <a:pPr algn="ctr"/>
            <a:r>
              <a:rPr sz="850" b="1" i="0">
                <a:solidFill>
                  <a:srgbClr val="00E5FF"/>
                </a:solidFill>
                <a:latin typeface="Calibri"/>
              </a:rPr>
              <a:t>ASG ← 61 nodes
APG ← 3 chains seeded</a:t>
            </a:r>
          </a:p>
        </p:txBody>
      </p:sp>
      <p:cxnSp>
        <p:nvCxnSpPr>
          <p:cNvPr id="54" name="Connector 53"/>
          <p:cNvCxnSpPr/>
          <p:nvPr/>
        </p:nvCxnSpPr>
        <p:spPr>
          <a:xfrm>
            <a:off x="6089904" y="1417320"/>
            <a:ext cx="54864"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144768" y="1188720"/>
            <a:ext cx="3639312" cy="5010912"/>
          </a:xfrm>
          <a:prstGeom prst="rect">
            <a:avLst/>
          </a:prstGeom>
          <a:solidFill>
            <a:srgbClr val="180606"/>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44768" y="1188720"/>
            <a:ext cx="3639312" cy="457200"/>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1243584"/>
            <a:ext cx="3529584" cy="384048"/>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58" name="TextBox 57"/>
          <p:cNvSpPr txBox="1"/>
          <p:nvPr/>
        </p:nvSpPr>
        <p:spPr>
          <a:xfrm>
            <a:off x="6217920" y="1700784"/>
            <a:ext cx="3529584" cy="201168"/>
          </a:xfrm>
          <a:prstGeom prst="rect">
            <a:avLst/>
          </a:prstGeom>
          <a:noFill/>
        </p:spPr>
        <p:txBody>
          <a:bodyPr wrap="square">
            <a:spAutoFit/>
          </a:bodyPr>
          <a:lstStyle/>
          <a:p>
            <a:pPr algn="ctr"/>
            <a:r>
              <a:rPr sz="850" b="1" i="0">
                <a:solidFill>
                  <a:srgbClr val="FF4545"/>
                </a:solidFill>
                <a:latin typeface="Calibri"/>
              </a:rPr>
              <a:t>🎯 Validation + 📸 Evidence</a:t>
            </a:r>
          </a:p>
        </p:txBody>
      </p:sp>
      <p:sp>
        <p:nvSpPr>
          <p:cNvPr id="59" name="Rectangle 58"/>
          <p:cNvSpPr/>
          <p:nvPr/>
        </p:nvSpPr>
        <p:spPr>
          <a:xfrm>
            <a:off x="6217920" y="1920240"/>
            <a:ext cx="3493008" cy="182880"/>
          </a:xfrm>
          <a:prstGeom prst="rect">
            <a:avLst/>
          </a:prstGeom>
          <a:solidFill>
            <a:srgbClr val="081022"/>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4496" y="1929384"/>
            <a:ext cx="3456432" cy="164592"/>
          </a:xfrm>
          <a:prstGeom prst="rect">
            <a:avLst/>
          </a:prstGeom>
          <a:noFill/>
        </p:spPr>
        <p:txBody>
          <a:bodyPr wrap="square">
            <a:spAutoFit/>
          </a:bodyPr>
          <a:lstStyle/>
          <a:p>
            <a:pPr algn="ctr"/>
            <a:r>
              <a:rPr sz="700" b="1" i="0">
                <a:solidFill>
                  <a:srgbClr val="FF4545"/>
                </a:solidFill>
                <a:latin typeface="Calibri"/>
              </a:rPr>
              <a:t>SQLMap  ·  Metasploit  ·  EyeWitness</a:t>
            </a:r>
          </a:p>
        </p:txBody>
      </p:sp>
      <p:sp>
        <p:nvSpPr>
          <p:cNvPr id="61" name="Rectangle 60"/>
          <p:cNvSpPr/>
          <p:nvPr/>
        </p:nvSpPr>
        <p:spPr>
          <a:xfrm>
            <a:off x="6217920" y="2157984"/>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2157984"/>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91072" y="2194560"/>
            <a:ext cx="3364992" cy="237744"/>
          </a:xfrm>
          <a:prstGeom prst="rect">
            <a:avLst/>
          </a:prstGeom>
          <a:noFill/>
        </p:spPr>
        <p:txBody>
          <a:bodyPr wrap="square">
            <a:spAutoFit/>
          </a:bodyPr>
          <a:lstStyle/>
          <a:p>
            <a:pPr algn="ctr"/>
            <a:r>
              <a:rPr sz="800" b="1" i="0">
                <a:solidFill>
                  <a:srgbClr val="FF4545"/>
                </a:solidFill>
                <a:latin typeface="Calibri"/>
              </a:rPr>
              <a:t>Chain-01
(risk 8.8)</a:t>
            </a:r>
          </a:p>
        </p:txBody>
      </p:sp>
      <p:sp>
        <p:nvSpPr>
          <p:cNvPr id="64" name="TextBox 63"/>
          <p:cNvSpPr txBox="1"/>
          <p:nvPr/>
        </p:nvSpPr>
        <p:spPr>
          <a:xfrm>
            <a:off x="6291072" y="2432304"/>
            <a:ext cx="3364992" cy="816864"/>
          </a:xfrm>
          <a:prstGeom prst="rect">
            <a:avLst/>
          </a:prstGeom>
          <a:noFill/>
        </p:spPr>
        <p:txBody>
          <a:bodyPr wrap="square">
            <a:spAutoFit/>
          </a:bodyPr>
          <a:lstStyle/>
          <a:p>
            <a:pPr algn="ctr"/>
            <a:r>
              <a:rPr sz="800" b="0" i="0">
                <a:solidFill>
                  <a:srgbClr val="A0AAB8"/>
                </a:solidFill>
                <a:latin typeface="Calibri"/>
              </a:rPr>
              <a:t>SQLMap → SQLi confirmed
Admin hash cracked → Metasploit → RCE
Status: VALIDATED (escalated 9.1)</a:t>
            </a:r>
          </a:p>
        </p:txBody>
      </p:sp>
      <p:sp>
        <p:nvSpPr>
          <p:cNvPr id="65" name="Rectangle 64"/>
          <p:cNvSpPr/>
          <p:nvPr/>
        </p:nvSpPr>
        <p:spPr>
          <a:xfrm>
            <a:off x="6217920" y="3340608"/>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7920" y="3340608"/>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91072" y="3377184"/>
            <a:ext cx="3364992" cy="237744"/>
          </a:xfrm>
          <a:prstGeom prst="rect">
            <a:avLst/>
          </a:prstGeom>
          <a:noFill/>
        </p:spPr>
        <p:txBody>
          <a:bodyPr wrap="square">
            <a:spAutoFit/>
          </a:bodyPr>
          <a:lstStyle/>
          <a:p>
            <a:pPr algn="ctr"/>
            <a:r>
              <a:rPr sz="800" b="1" i="0">
                <a:solidFill>
                  <a:srgbClr val="FF4545"/>
                </a:solidFill>
                <a:latin typeface="Calibri"/>
              </a:rPr>
              <a:t>Chain-02
(risk 7.5)</a:t>
            </a:r>
          </a:p>
        </p:txBody>
      </p:sp>
      <p:sp>
        <p:nvSpPr>
          <p:cNvPr id="68" name="TextBox 67"/>
          <p:cNvSpPr txBox="1"/>
          <p:nvPr/>
        </p:nvSpPr>
        <p:spPr>
          <a:xfrm>
            <a:off x="6291072" y="3614928"/>
            <a:ext cx="3364992" cy="816864"/>
          </a:xfrm>
          <a:prstGeom prst="rect">
            <a:avLst/>
          </a:prstGeom>
          <a:noFill/>
        </p:spPr>
        <p:txBody>
          <a:bodyPr wrap="square">
            <a:spAutoFit/>
          </a:bodyPr>
          <a:lstStyle/>
          <a:p>
            <a:pPr algn="ctr"/>
            <a:r>
              <a:rPr sz="800" b="0" i="0">
                <a:solidFill>
                  <a:srgbClr val="A0AAB8"/>
                </a:solidFill>
                <a:latin typeface="Calibri"/>
              </a:rPr>
              <a:t>SQLMap on user_id → IDOR confirmed
Any customer orders accessible</a:t>
            </a:r>
          </a:p>
        </p:txBody>
      </p:sp>
      <p:sp>
        <p:nvSpPr>
          <p:cNvPr id="69" name="Rectangle 68"/>
          <p:cNvSpPr/>
          <p:nvPr/>
        </p:nvSpPr>
        <p:spPr>
          <a:xfrm>
            <a:off x="6217920" y="4523232"/>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17920" y="4523232"/>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91072" y="4559808"/>
            <a:ext cx="3364992" cy="237744"/>
          </a:xfrm>
          <a:prstGeom prst="rect">
            <a:avLst/>
          </a:prstGeom>
          <a:noFill/>
        </p:spPr>
        <p:txBody>
          <a:bodyPr wrap="square">
            <a:spAutoFit/>
          </a:bodyPr>
          <a:lstStyle/>
          <a:p>
            <a:pPr algn="ctr"/>
            <a:r>
              <a:rPr sz="800" b="1" i="0">
                <a:solidFill>
                  <a:srgbClr val="FF4545"/>
                </a:solidFill>
                <a:latin typeface="Calibri"/>
              </a:rPr>
              <a:t>Chain-03
(risk 8.1)</a:t>
            </a:r>
          </a:p>
        </p:txBody>
      </p:sp>
      <p:sp>
        <p:nvSpPr>
          <p:cNvPr id="72" name="TextBox 71"/>
          <p:cNvSpPr txBox="1"/>
          <p:nvPr/>
        </p:nvSpPr>
        <p:spPr>
          <a:xfrm>
            <a:off x="6291072" y="4797552"/>
            <a:ext cx="3364992" cy="816864"/>
          </a:xfrm>
          <a:prstGeom prst="rect">
            <a:avLst/>
          </a:prstGeom>
          <a:noFill/>
        </p:spPr>
        <p:txBody>
          <a:bodyPr wrap="square">
            <a:spAutoFit/>
          </a:bodyPr>
          <a:lstStyle/>
          <a:p>
            <a:pPr algn="ctr"/>
            <a:r>
              <a:rPr sz="800" b="0" i="0">
                <a:solidFill>
                  <a:srgbClr val="A0AAB8"/>
                </a:solidFill>
                <a:latin typeface="Calibri"/>
              </a:rPr>
              <a:t>Blind SQLi on staging → DB creds
Credential reuse risk flagged</a:t>
            </a:r>
          </a:p>
        </p:txBody>
      </p:sp>
      <p:sp>
        <p:nvSpPr>
          <p:cNvPr id="73" name="Rectangle 72"/>
          <p:cNvSpPr/>
          <p:nvPr/>
        </p:nvSpPr>
        <p:spPr>
          <a:xfrm>
            <a:off x="6144768" y="5797296"/>
            <a:ext cx="3639312" cy="402336"/>
          </a:xfrm>
          <a:prstGeom prst="rect">
            <a:avLst/>
          </a:prstGeom>
          <a:solidFill>
            <a:srgbClr val="060C1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36208" y="5852160"/>
            <a:ext cx="3502152" cy="310896"/>
          </a:xfrm>
          <a:prstGeom prst="rect">
            <a:avLst/>
          </a:prstGeom>
          <a:noFill/>
        </p:spPr>
        <p:txBody>
          <a:bodyPr wrap="square">
            <a:spAutoFit/>
          </a:bodyPr>
          <a:lstStyle/>
          <a:p>
            <a:pPr algn="ctr"/>
            <a:r>
              <a:rPr sz="850" b="1" i="0">
                <a:solidFill>
                  <a:srgbClr val="FF4545"/>
                </a:solidFill>
                <a:latin typeface="Calibri"/>
              </a:rPr>
              <a:t>APG ← 3 chains VALIDATED
ASG ← Evidence nodes linked</a:t>
            </a:r>
          </a:p>
        </p:txBody>
      </p:sp>
      <p:cxnSp>
        <p:nvCxnSpPr>
          <p:cNvPr id="75" name="Connector 74"/>
          <p:cNvCxnSpPr/>
          <p:nvPr/>
        </p:nvCxnSpPr>
        <p:spPr>
          <a:xfrm>
            <a:off x="9784080" y="1417320"/>
            <a:ext cx="54864" cy="0"/>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9838944" y="1188720"/>
            <a:ext cx="2395728" cy="5010912"/>
          </a:xfrm>
          <a:prstGeom prst="rect">
            <a:avLst/>
          </a:prstGeom>
          <a:solidFill>
            <a:srgbClr val="10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38944" y="1188720"/>
            <a:ext cx="2395728" cy="457200"/>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12096" y="1243584"/>
            <a:ext cx="2286000" cy="384048"/>
          </a:xfrm>
          <a:prstGeom prst="rect">
            <a:avLst/>
          </a:prstGeom>
          <a:noFill/>
        </p:spPr>
        <p:txBody>
          <a:bodyPr wrap="square">
            <a:spAutoFit/>
          </a:bodyPr>
          <a:lstStyle/>
          <a:p>
            <a:pPr algn="ctr"/>
            <a:r>
              <a:rPr sz="1000" b="1" i="0">
                <a:solidFill>
                  <a:srgbClr val="BD93F9"/>
                </a:solidFill>
                <a:latin typeface="Calibri"/>
              </a:rPr>
              <a:t>PHASE 4
Report</a:t>
            </a:r>
          </a:p>
        </p:txBody>
      </p:sp>
      <p:sp>
        <p:nvSpPr>
          <p:cNvPr id="79" name="TextBox 78"/>
          <p:cNvSpPr txBox="1"/>
          <p:nvPr/>
        </p:nvSpPr>
        <p:spPr>
          <a:xfrm>
            <a:off x="9912096" y="1700784"/>
            <a:ext cx="2286000" cy="201168"/>
          </a:xfrm>
          <a:prstGeom prst="rect">
            <a:avLst/>
          </a:prstGeom>
          <a:noFill/>
        </p:spPr>
        <p:txBody>
          <a:bodyPr wrap="square">
            <a:spAutoFit/>
          </a:bodyPr>
          <a:lstStyle/>
          <a:p>
            <a:pPr algn="ctr"/>
            <a:r>
              <a:rPr sz="850" b="1" i="0">
                <a:solidFill>
                  <a:srgbClr val="BD93F9"/>
                </a:solidFill>
                <a:latin typeface="Calibri"/>
              </a:rPr>
              <a:t>📝 Report Agent</a:t>
            </a:r>
          </a:p>
        </p:txBody>
      </p:sp>
      <p:sp>
        <p:nvSpPr>
          <p:cNvPr id="80" name="Rectangle 79"/>
          <p:cNvSpPr/>
          <p:nvPr/>
        </p:nvSpPr>
        <p:spPr>
          <a:xfrm>
            <a:off x="9912096" y="1920240"/>
            <a:ext cx="2249424" cy="182880"/>
          </a:xfrm>
          <a:prstGeom prst="rect">
            <a:avLst/>
          </a:prstGeom>
          <a:solidFill>
            <a:srgbClr val="081022"/>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48672" y="1929384"/>
            <a:ext cx="2212848" cy="164592"/>
          </a:xfrm>
          <a:prstGeom prst="rect">
            <a:avLst/>
          </a:prstGeom>
          <a:noFill/>
        </p:spPr>
        <p:txBody>
          <a:bodyPr wrap="square">
            <a:spAutoFit/>
          </a:bodyPr>
          <a:lstStyle/>
          <a:p>
            <a:pPr algn="ctr"/>
            <a:r>
              <a:rPr sz="700" b="1" i="0">
                <a:solidFill>
                  <a:srgbClr val="BD93F9"/>
                </a:solidFill>
                <a:latin typeface="Calibri"/>
              </a:rPr>
              <a:t>Reads ASG + APG</a:t>
            </a:r>
          </a:p>
        </p:txBody>
      </p:sp>
      <p:sp>
        <p:nvSpPr>
          <p:cNvPr id="82" name="Rectangle 81"/>
          <p:cNvSpPr/>
          <p:nvPr/>
        </p:nvSpPr>
        <p:spPr>
          <a:xfrm>
            <a:off x="9912096" y="2157984"/>
            <a:ext cx="2249424" cy="3493008"/>
          </a:xfrm>
          <a:prstGeom prst="rect">
            <a:avLst/>
          </a:prstGeom>
          <a:solidFill>
            <a:srgbClr val="080E1C"/>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912096" y="2157984"/>
            <a:ext cx="45720" cy="34930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2194560"/>
            <a:ext cx="2121408" cy="237744"/>
          </a:xfrm>
          <a:prstGeom prst="rect">
            <a:avLst/>
          </a:prstGeom>
          <a:noFill/>
        </p:spPr>
        <p:txBody>
          <a:bodyPr wrap="square">
            <a:spAutoFit/>
          </a:bodyPr>
          <a:lstStyle/>
          <a:p>
            <a:pPr algn="ctr"/>
            <a:r>
              <a:rPr sz="800" b="1" i="0">
                <a:solidFill>
                  <a:srgbClr val="BD93F9"/>
                </a:solidFill>
                <a:latin typeface="Calibri"/>
              </a:rPr>
              <a:t>Output</a:t>
            </a:r>
          </a:p>
        </p:txBody>
      </p:sp>
      <p:sp>
        <p:nvSpPr>
          <p:cNvPr id="85" name="TextBox 84"/>
          <p:cNvSpPr txBox="1"/>
          <p:nvPr/>
        </p:nvSpPr>
        <p:spPr>
          <a:xfrm>
            <a:off x="9985248" y="2432304"/>
            <a:ext cx="2121408" cy="3182112"/>
          </a:xfrm>
          <a:prstGeom prst="rect">
            <a:avLst/>
          </a:prstGeom>
          <a:noFill/>
        </p:spPr>
        <p:txBody>
          <a:bodyPr wrap="square">
            <a:spAutoFit/>
          </a:bodyPr>
          <a:lstStyle/>
          <a:p>
            <a:pPr algn="ctr"/>
            <a:r>
              <a:rPr sz="800" b="0" i="0">
                <a:solidFill>
                  <a:srgbClr val="A0AAB8"/>
                </a:solidFill>
                <a:latin typeface="Calibri"/>
              </a:rPr>
              <a:t>Executive summary · 4 validated chains
RCE + IDOR + SQLi + exposed DB backup
11 vuln entries · full attack surface map
Evidence at every ChainStep</a:t>
            </a:r>
          </a:p>
        </p:txBody>
      </p:sp>
      <p:sp>
        <p:nvSpPr>
          <p:cNvPr id="86" name="Rectangle 85"/>
          <p:cNvSpPr/>
          <p:nvPr/>
        </p:nvSpPr>
        <p:spPr>
          <a:xfrm>
            <a:off x="9838944" y="5797296"/>
            <a:ext cx="2395728" cy="402336"/>
          </a:xfrm>
          <a:prstGeom prst="rect">
            <a:avLst/>
          </a:prstGeom>
          <a:solidFill>
            <a:srgbClr val="060C1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30384" y="5852160"/>
            <a:ext cx="2258568" cy="310896"/>
          </a:xfrm>
          <a:prstGeom prst="rect">
            <a:avLst/>
          </a:prstGeom>
          <a:noFill/>
        </p:spPr>
        <p:txBody>
          <a:bodyPr wrap="square">
            <a:spAutoFit/>
          </a:bodyPr>
          <a:lstStyle/>
          <a:p>
            <a:pPr algn="ctr"/>
            <a:r>
              <a:rPr sz="850" b="1" i="0">
                <a:solidFill>
                  <a:srgbClr val="BD93F9"/>
                </a:solidFill>
                <a:latin typeface="Calibri"/>
              </a:rPr>
              <a:t>ZERO manual commands</a:t>
            </a:r>
          </a:p>
        </p:txBody>
      </p:sp>
      <p:sp>
        <p:nvSpPr>
          <p:cNvPr id="88" name="Rectangle 87"/>
          <p:cNvSpPr/>
          <p:nvPr/>
        </p:nvSpPr>
        <p:spPr>
          <a:xfrm>
            <a:off x="164592" y="6236208"/>
            <a:ext cx="11862511" cy="493776"/>
          </a:xfrm>
          <a:prstGeom prst="rect">
            <a:avLst/>
          </a:prstGeom>
          <a:solidFill>
            <a:srgbClr val="08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1168" y="6263640"/>
            <a:ext cx="1663293" cy="256032"/>
          </a:xfrm>
          <a:prstGeom prst="rect">
            <a:avLst/>
          </a:prstGeom>
          <a:noFill/>
        </p:spPr>
        <p:txBody>
          <a:bodyPr wrap="square">
            <a:spAutoFit/>
          </a:bodyPr>
          <a:lstStyle/>
          <a:p>
            <a:pPr algn="ctr"/>
            <a:r>
              <a:rPr sz="1800" b="1" i="0">
                <a:solidFill>
                  <a:srgbClr val="39FF14"/>
                </a:solidFill>
                <a:latin typeface="Calibri"/>
              </a:rPr>
              <a:t>14</a:t>
            </a:r>
          </a:p>
        </p:txBody>
      </p:sp>
      <p:sp>
        <p:nvSpPr>
          <p:cNvPr id="90" name="TextBox 89"/>
          <p:cNvSpPr txBox="1"/>
          <p:nvPr/>
        </p:nvSpPr>
        <p:spPr>
          <a:xfrm>
            <a:off x="201168" y="6483096"/>
            <a:ext cx="1663293" cy="182880"/>
          </a:xfrm>
          <a:prstGeom prst="rect">
            <a:avLst/>
          </a:prstGeom>
          <a:noFill/>
        </p:spPr>
        <p:txBody>
          <a:bodyPr wrap="square">
            <a:spAutoFit/>
          </a:bodyPr>
          <a:lstStyle/>
          <a:p>
            <a:pPr algn="ctr"/>
            <a:r>
              <a:rPr sz="750" b="0" i="0">
                <a:solidFill>
                  <a:srgbClr val="A0AAB8"/>
                </a:solidFill>
                <a:latin typeface="Calibri"/>
              </a:rPr>
              <a:t>subdomains</a:t>
            </a:r>
          </a:p>
        </p:txBody>
      </p:sp>
      <p:sp>
        <p:nvSpPr>
          <p:cNvPr id="91" name="TextBox 90"/>
          <p:cNvSpPr txBox="1"/>
          <p:nvPr/>
        </p:nvSpPr>
        <p:spPr>
          <a:xfrm>
            <a:off x="1864461" y="6263640"/>
            <a:ext cx="1663293" cy="256032"/>
          </a:xfrm>
          <a:prstGeom prst="rect">
            <a:avLst/>
          </a:prstGeom>
          <a:noFill/>
        </p:spPr>
        <p:txBody>
          <a:bodyPr wrap="square">
            <a:spAutoFit/>
          </a:bodyPr>
          <a:lstStyle/>
          <a:p>
            <a:pPr algn="ctr"/>
            <a:r>
              <a:rPr sz="1800" b="1" i="0">
                <a:solidFill>
                  <a:srgbClr val="39FF14"/>
                </a:solidFill>
                <a:latin typeface="Calibri"/>
              </a:rPr>
              <a:t>11</a:t>
            </a:r>
          </a:p>
        </p:txBody>
      </p:sp>
      <p:sp>
        <p:nvSpPr>
          <p:cNvPr id="92" name="TextBox 91"/>
          <p:cNvSpPr txBox="1"/>
          <p:nvPr/>
        </p:nvSpPr>
        <p:spPr>
          <a:xfrm>
            <a:off x="1864461" y="6483096"/>
            <a:ext cx="1663293" cy="182880"/>
          </a:xfrm>
          <a:prstGeom prst="rect">
            <a:avLst/>
          </a:prstGeom>
          <a:noFill/>
        </p:spPr>
        <p:txBody>
          <a:bodyPr wrap="square">
            <a:spAutoFit/>
          </a:bodyPr>
          <a:lstStyle/>
          <a:p>
            <a:pPr algn="ctr"/>
            <a:r>
              <a:rPr sz="750" b="0" i="0">
                <a:solidFill>
                  <a:srgbClr val="A0AAB8"/>
                </a:solidFill>
                <a:latin typeface="Calibri"/>
              </a:rPr>
              <a:t>live hosts</a:t>
            </a:r>
          </a:p>
        </p:txBody>
      </p:sp>
      <p:sp>
        <p:nvSpPr>
          <p:cNvPr id="93" name="TextBox 92"/>
          <p:cNvSpPr txBox="1"/>
          <p:nvPr/>
        </p:nvSpPr>
        <p:spPr>
          <a:xfrm>
            <a:off x="3527755" y="6263640"/>
            <a:ext cx="1663293" cy="256032"/>
          </a:xfrm>
          <a:prstGeom prst="rect">
            <a:avLst/>
          </a:prstGeom>
          <a:noFill/>
        </p:spPr>
        <p:txBody>
          <a:bodyPr wrap="square">
            <a:spAutoFit/>
          </a:bodyPr>
          <a:lstStyle/>
          <a:p>
            <a:pPr algn="ctr"/>
            <a:r>
              <a:rPr sz="1800" b="1" i="0">
                <a:solidFill>
                  <a:srgbClr val="00E5FF"/>
                </a:solidFill>
                <a:latin typeface="Calibri"/>
              </a:rPr>
              <a:t>28</a:t>
            </a:r>
          </a:p>
        </p:txBody>
      </p:sp>
      <p:sp>
        <p:nvSpPr>
          <p:cNvPr id="94" name="TextBox 93"/>
          <p:cNvSpPr txBox="1"/>
          <p:nvPr/>
        </p:nvSpPr>
        <p:spPr>
          <a:xfrm>
            <a:off x="3527755" y="6483096"/>
            <a:ext cx="1663293" cy="182880"/>
          </a:xfrm>
          <a:prstGeom prst="rect">
            <a:avLst/>
          </a:prstGeom>
          <a:noFill/>
        </p:spPr>
        <p:txBody>
          <a:bodyPr wrap="square">
            <a:spAutoFit/>
          </a:bodyPr>
          <a:lstStyle/>
          <a:p>
            <a:pPr algn="ctr"/>
            <a:r>
              <a:rPr sz="750" b="0" i="0">
                <a:solidFill>
                  <a:srgbClr val="A0AAB8"/>
                </a:solidFill>
                <a:latin typeface="Calibri"/>
              </a:rPr>
              <a:t>open ports</a:t>
            </a:r>
          </a:p>
        </p:txBody>
      </p:sp>
      <p:sp>
        <p:nvSpPr>
          <p:cNvPr id="95" name="TextBox 94"/>
          <p:cNvSpPr txBox="1"/>
          <p:nvPr/>
        </p:nvSpPr>
        <p:spPr>
          <a:xfrm>
            <a:off x="5191048" y="6263640"/>
            <a:ext cx="1663293" cy="256032"/>
          </a:xfrm>
          <a:prstGeom prst="rect">
            <a:avLst/>
          </a:prstGeom>
          <a:noFill/>
        </p:spPr>
        <p:txBody>
          <a:bodyPr wrap="square">
            <a:spAutoFit/>
          </a:bodyPr>
          <a:lstStyle/>
          <a:p>
            <a:pPr algn="ctr"/>
            <a:r>
              <a:rPr sz="1800" b="1" i="0">
                <a:solidFill>
                  <a:srgbClr val="00E5FF"/>
                </a:solidFill>
                <a:latin typeface="Calibri"/>
              </a:rPr>
              <a:t>19</a:t>
            </a:r>
          </a:p>
        </p:txBody>
      </p:sp>
      <p:sp>
        <p:nvSpPr>
          <p:cNvPr id="96" name="TextBox 95"/>
          <p:cNvSpPr txBox="1"/>
          <p:nvPr/>
        </p:nvSpPr>
        <p:spPr>
          <a:xfrm>
            <a:off x="5191048" y="6483096"/>
            <a:ext cx="1663293" cy="182880"/>
          </a:xfrm>
          <a:prstGeom prst="rect">
            <a:avLst/>
          </a:prstGeom>
          <a:noFill/>
        </p:spPr>
        <p:txBody>
          <a:bodyPr wrap="square">
            <a:spAutoFit/>
          </a:bodyPr>
          <a:lstStyle/>
          <a:p>
            <a:pPr algn="ctr"/>
            <a:r>
              <a:rPr sz="750" b="0" i="0">
                <a:solidFill>
                  <a:srgbClr val="A0AAB8"/>
                </a:solidFill>
                <a:latin typeface="Calibri"/>
              </a:rPr>
              <a:t>endpoints</a:t>
            </a:r>
          </a:p>
        </p:txBody>
      </p:sp>
      <p:sp>
        <p:nvSpPr>
          <p:cNvPr id="97" name="TextBox 96"/>
          <p:cNvSpPr txBox="1"/>
          <p:nvPr/>
        </p:nvSpPr>
        <p:spPr>
          <a:xfrm>
            <a:off x="6854342" y="6263640"/>
            <a:ext cx="1663293" cy="256032"/>
          </a:xfrm>
          <a:prstGeom prst="rect">
            <a:avLst/>
          </a:prstGeom>
          <a:noFill/>
        </p:spPr>
        <p:txBody>
          <a:bodyPr wrap="square">
            <a:spAutoFit/>
          </a:bodyPr>
          <a:lstStyle/>
          <a:p>
            <a:pPr algn="ctr"/>
            <a:r>
              <a:rPr sz="1800" b="1" i="0">
                <a:solidFill>
                  <a:srgbClr val="FFD700"/>
                </a:solidFill>
                <a:latin typeface="Calibri"/>
              </a:rPr>
              <a:t>11</a:t>
            </a:r>
          </a:p>
        </p:txBody>
      </p:sp>
      <p:sp>
        <p:nvSpPr>
          <p:cNvPr id="98" name="TextBox 97"/>
          <p:cNvSpPr txBox="1"/>
          <p:nvPr/>
        </p:nvSpPr>
        <p:spPr>
          <a:xfrm>
            <a:off x="6854342" y="6483096"/>
            <a:ext cx="1663293" cy="182880"/>
          </a:xfrm>
          <a:prstGeom prst="rect">
            <a:avLst/>
          </a:prstGeom>
          <a:noFill/>
        </p:spPr>
        <p:txBody>
          <a:bodyPr wrap="square">
            <a:spAutoFit/>
          </a:bodyPr>
          <a:lstStyle/>
          <a:p>
            <a:pPr algn="ctr"/>
            <a:r>
              <a:rPr sz="750" b="0" i="0">
                <a:solidFill>
                  <a:srgbClr val="A0AAB8"/>
                </a:solidFill>
                <a:latin typeface="Calibri"/>
              </a:rPr>
              <a:t>vulnerabilities</a:t>
            </a:r>
          </a:p>
        </p:txBody>
      </p:sp>
      <p:sp>
        <p:nvSpPr>
          <p:cNvPr id="99" name="TextBox 98"/>
          <p:cNvSpPr txBox="1"/>
          <p:nvPr/>
        </p:nvSpPr>
        <p:spPr>
          <a:xfrm>
            <a:off x="8517635" y="6263640"/>
            <a:ext cx="1663293" cy="256032"/>
          </a:xfrm>
          <a:prstGeom prst="rect">
            <a:avLst/>
          </a:prstGeom>
          <a:noFill/>
        </p:spPr>
        <p:txBody>
          <a:bodyPr wrap="square">
            <a:spAutoFit/>
          </a:bodyPr>
          <a:lstStyle/>
          <a:p>
            <a:pPr algn="ctr"/>
            <a:r>
              <a:rPr sz="1800" b="1" i="0">
                <a:solidFill>
                  <a:srgbClr val="FF4545"/>
                </a:solidFill>
                <a:latin typeface="Calibri"/>
              </a:rPr>
              <a:t>4</a:t>
            </a:r>
          </a:p>
        </p:txBody>
      </p:sp>
      <p:sp>
        <p:nvSpPr>
          <p:cNvPr id="100" name="TextBox 99"/>
          <p:cNvSpPr txBox="1"/>
          <p:nvPr/>
        </p:nvSpPr>
        <p:spPr>
          <a:xfrm>
            <a:off x="8517635" y="6483096"/>
            <a:ext cx="1663293" cy="182880"/>
          </a:xfrm>
          <a:prstGeom prst="rect">
            <a:avLst/>
          </a:prstGeom>
          <a:noFill/>
        </p:spPr>
        <p:txBody>
          <a:bodyPr wrap="square">
            <a:spAutoFit/>
          </a:bodyPr>
          <a:lstStyle/>
          <a:p>
            <a:pPr algn="ctr"/>
            <a:r>
              <a:rPr sz="750" b="0" i="0">
                <a:solidFill>
                  <a:srgbClr val="A0AAB8"/>
                </a:solidFill>
                <a:latin typeface="Calibri"/>
              </a:rPr>
              <a:t>validated chains</a:t>
            </a:r>
          </a:p>
        </p:txBody>
      </p:sp>
      <p:sp>
        <p:nvSpPr>
          <p:cNvPr id="101" name="TextBox 100"/>
          <p:cNvSpPr txBox="1"/>
          <p:nvPr/>
        </p:nvSpPr>
        <p:spPr>
          <a:xfrm>
            <a:off x="10180929" y="6263640"/>
            <a:ext cx="1663293" cy="256032"/>
          </a:xfrm>
          <a:prstGeom prst="rect">
            <a:avLst/>
          </a:prstGeom>
          <a:noFill/>
        </p:spPr>
        <p:txBody>
          <a:bodyPr wrap="square">
            <a:spAutoFit/>
          </a:bodyPr>
          <a:lstStyle/>
          <a:p>
            <a:pPr algn="ctr"/>
            <a:r>
              <a:rPr sz="1800" b="1" i="0">
                <a:solidFill>
                  <a:srgbClr val="BD93F9"/>
                </a:solidFill>
                <a:latin typeface="Calibri"/>
              </a:rPr>
              <a:t>0</a:t>
            </a:r>
          </a:p>
        </p:txBody>
      </p:sp>
      <p:sp>
        <p:nvSpPr>
          <p:cNvPr id="102" name="TextBox 101"/>
          <p:cNvSpPr txBox="1"/>
          <p:nvPr/>
        </p:nvSpPr>
        <p:spPr>
          <a:xfrm>
            <a:off x="10180929" y="6483096"/>
            <a:ext cx="1663293" cy="182880"/>
          </a:xfrm>
          <a:prstGeom prst="rect">
            <a:avLst/>
          </a:prstGeom>
          <a:noFill/>
        </p:spPr>
        <p:txBody>
          <a:bodyPr wrap="square">
            <a:spAutoFit/>
          </a:bodyPr>
          <a:lstStyle/>
          <a:p>
            <a:pPr algn="ctr"/>
            <a:r>
              <a:rPr sz="750" b="0" i="0">
                <a:solidFill>
                  <a:srgbClr val="A0AAB8"/>
                </a:solidFill>
                <a:latin typeface="Calibri"/>
              </a:rPr>
              <a:t>manual commands</a:t>
            </a:r>
          </a:p>
        </p:txBody>
      </p:sp>
      <p:sp>
        <p:nvSpPr>
          <p:cNvPr id="103" name="TextBox 102"/>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CHAIN-01 TRACEABILITY</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300" b="1" i="0">
                <a:solidFill>
                  <a:srgbClr val="FFFFFF"/>
                </a:solidFill>
                <a:latin typeface="Calibri"/>
              </a:rPr>
              <a:t>CVE-2022-21661 → SQL Injection → RCE → Customer PII — Full Evidence Chain</a:t>
            </a:r>
          </a:p>
        </p:txBody>
      </p:sp>
      <p:sp>
        <p:nvSpPr>
          <p:cNvPr id="7" name="Rectangle 6"/>
          <p:cNvSpPr/>
          <p:nvPr/>
        </p:nvSpPr>
        <p:spPr>
          <a:xfrm>
            <a:off x="274320" y="822960"/>
            <a:ext cx="10058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11789359" cy="713232"/>
          </a:xfrm>
          <a:prstGeom prst="rect">
            <a:avLst/>
          </a:prstGeom>
          <a:solidFill>
            <a:srgbClr val="0418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896112"/>
            <a:ext cx="1645920" cy="7132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 y="950976"/>
            <a:ext cx="1572768" cy="621792"/>
          </a:xfrm>
          <a:prstGeom prst="rect">
            <a:avLst/>
          </a:prstGeom>
          <a:noFill/>
        </p:spPr>
        <p:txBody>
          <a:bodyPr wrap="square">
            <a:spAutoFit/>
          </a:bodyPr>
          <a:lstStyle/>
          <a:p>
            <a:pPr algn="ctr"/>
            <a:r>
              <a:rPr sz="850" b="1" i="0">
                <a:solidFill>
                  <a:srgbClr val="0A0D1A"/>
                </a:solidFill>
                <a:latin typeface="Calibri"/>
              </a:rPr>
              <a:t>ASG
DISCOVERY</a:t>
            </a:r>
          </a:p>
        </p:txBody>
      </p:sp>
      <p:sp>
        <p:nvSpPr>
          <p:cNvPr id="11" name="Rectangle 10"/>
          <p:cNvSpPr/>
          <p:nvPr/>
        </p:nvSpPr>
        <p:spPr>
          <a:xfrm>
            <a:off x="1938528"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8528" y="987552"/>
            <a:ext cx="1586941" cy="585216"/>
          </a:xfrm>
          <a:prstGeom prst="rect">
            <a:avLst/>
          </a:prstGeom>
          <a:noFill/>
        </p:spPr>
        <p:txBody>
          <a:bodyPr wrap="square">
            <a:spAutoFit/>
          </a:bodyPr>
          <a:lstStyle/>
          <a:p>
            <a:pPr algn="ctr"/>
            <a:r>
              <a:rPr sz="800" b="1" i="0">
                <a:solidFill>
                  <a:srgbClr val="39FF14"/>
                </a:solidFill>
                <a:latin typeface="Calibri"/>
              </a:rPr>
              <a:t>Domain
shopvault.io</a:t>
            </a:r>
          </a:p>
        </p:txBody>
      </p:sp>
      <p:sp>
        <p:nvSpPr>
          <p:cNvPr id="13" name="Rectangle 12"/>
          <p:cNvSpPr/>
          <p:nvPr/>
        </p:nvSpPr>
        <p:spPr>
          <a:xfrm>
            <a:off x="3598621"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8621" y="987552"/>
            <a:ext cx="1586941" cy="585216"/>
          </a:xfrm>
          <a:prstGeom prst="rect">
            <a:avLst/>
          </a:prstGeom>
          <a:noFill/>
        </p:spPr>
        <p:txBody>
          <a:bodyPr wrap="square">
            <a:spAutoFit/>
          </a:bodyPr>
          <a:lstStyle/>
          <a:p>
            <a:pPr algn="ctr"/>
            <a:r>
              <a:rPr sz="800" b="1" i="0">
                <a:solidFill>
                  <a:srgbClr val="39FF14"/>
                </a:solidFill>
                <a:latin typeface="Calibri"/>
              </a:rPr>
              <a:t>→ Host
192.168.1.10</a:t>
            </a:r>
          </a:p>
        </p:txBody>
      </p:sp>
      <p:sp>
        <p:nvSpPr>
          <p:cNvPr id="15" name="Rectangle 14"/>
          <p:cNvSpPr/>
          <p:nvPr/>
        </p:nvSpPr>
        <p:spPr>
          <a:xfrm>
            <a:off x="5258714"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8714" y="987552"/>
            <a:ext cx="1586941" cy="585216"/>
          </a:xfrm>
          <a:prstGeom prst="rect">
            <a:avLst/>
          </a:prstGeom>
          <a:noFill/>
        </p:spPr>
        <p:txBody>
          <a:bodyPr wrap="square">
            <a:spAutoFit/>
          </a:bodyPr>
          <a:lstStyle/>
          <a:p>
            <a:pPr algn="ctr"/>
            <a:r>
              <a:rPr sz="800" b="1" i="0">
                <a:solidFill>
                  <a:srgbClr val="39FF14"/>
                </a:solidFill>
                <a:latin typeface="Calibri"/>
              </a:rPr>
              <a:t>→ Port
:443</a:t>
            </a:r>
          </a:p>
        </p:txBody>
      </p:sp>
      <p:sp>
        <p:nvSpPr>
          <p:cNvPr id="17" name="Rectangle 16"/>
          <p:cNvSpPr/>
          <p:nvPr/>
        </p:nvSpPr>
        <p:spPr>
          <a:xfrm>
            <a:off x="6918807"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8807" y="987552"/>
            <a:ext cx="1586941" cy="585216"/>
          </a:xfrm>
          <a:prstGeom prst="rect">
            <a:avLst/>
          </a:prstGeom>
          <a:noFill/>
        </p:spPr>
        <p:txBody>
          <a:bodyPr wrap="square">
            <a:spAutoFit/>
          </a:bodyPr>
          <a:lstStyle/>
          <a:p>
            <a:pPr algn="ctr"/>
            <a:r>
              <a:rPr sz="800" b="1" i="0">
                <a:solidFill>
                  <a:srgbClr val="39FF14"/>
                </a:solidFill>
                <a:latin typeface="Calibri"/>
              </a:rPr>
              <a:t>→ Service
Nginx 1.18.0</a:t>
            </a:r>
          </a:p>
        </p:txBody>
      </p:sp>
      <p:sp>
        <p:nvSpPr>
          <p:cNvPr id="19" name="Rectangle 18"/>
          <p:cNvSpPr/>
          <p:nvPr/>
        </p:nvSpPr>
        <p:spPr>
          <a:xfrm>
            <a:off x="8578900" y="950976"/>
            <a:ext cx="1586941" cy="603504"/>
          </a:xfrm>
          <a:prstGeom prst="rect">
            <a:avLst/>
          </a:prstGeom>
          <a:solidFill>
            <a:srgbClr val="06241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8900" y="987552"/>
            <a:ext cx="1586941" cy="585216"/>
          </a:xfrm>
          <a:prstGeom prst="rect">
            <a:avLst/>
          </a:prstGeom>
          <a:noFill/>
        </p:spPr>
        <p:txBody>
          <a:bodyPr wrap="square">
            <a:spAutoFit/>
          </a:bodyPr>
          <a:lstStyle/>
          <a:p>
            <a:pPr algn="ctr"/>
            <a:r>
              <a:rPr sz="800" b="1" i="0">
                <a:solidFill>
                  <a:srgbClr val="00E5FF"/>
                </a:solidFill>
                <a:latin typeface="Calibri"/>
              </a:rPr>
              <a:t>→ Technology
WordPress 5.9.3</a:t>
            </a:r>
          </a:p>
        </p:txBody>
      </p:sp>
      <p:sp>
        <p:nvSpPr>
          <p:cNvPr id="21" name="Rectangle 20"/>
          <p:cNvSpPr/>
          <p:nvPr/>
        </p:nvSpPr>
        <p:spPr>
          <a:xfrm>
            <a:off x="10238993" y="950976"/>
            <a:ext cx="1586941" cy="603504"/>
          </a:xfrm>
          <a:prstGeom prst="rect">
            <a:avLst/>
          </a:prstGeom>
          <a:solidFill>
            <a:srgbClr val="062410"/>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38993" y="987552"/>
            <a:ext cx="1586941" cy="585216"/>
          </a:xfrm>
          <a:prstGeom prst="rect">
            <a:avLst/>
          </a:prstGeom>
          <a:noFill/>
        </p:spPr>
        <p:txBody>
          <a:bodyPr wrap="square">
            <a:spAutoFit/>
          </a:bodyPr>
          <a:lstStyle/>
          <a:p>
            <a:pPr algn="ctr"/>
            <a:r>
              <a:rPr sz="800" b="1" i="0">
                <a:solidFill>
                  <a:srgbClr val="FF4545"/>
                </a:solidFill>
                <a:latin typeface="Calibri"/>
              </a:rPr>
              <a:t>→ Vulnerability
CVE-2022-21661
CVSS 8.8</a:t>
            </a:r>
          </a:p>
        </p:txBody>
      </p:sp>
      <p:cxnSp>
        <p:nvCxnSpPr>
          <p:cNvPr id="23" name="Connector 22"/>
          <p:cNvCxnSpPr/>
          <p:nvPr/>
        </p:nvCxnSpPr>
        <p:spPr>
          <a:xfrm>
            <a:off x="6095847.5" y="1609344"/>
            <a:ext cx="0.0" cy="182880"/>
          </a:xfrm>
          <a:prstGeom prst="line">
            <a:avLst/>
          </a:prstGeom>
          <a:ln w="2032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68999" y="1627632"/>
            <a:ext cx="5029200" cy="182880"/>
          </a:xfrm>
          <a:prstGeom prst="rect">
            <a:avLst/>
          </a:prstGeom>
          <a:noFill/>
        </p:spPr>
        <p:txBody>
          <a:bodyPr wrap="square">
            <a:spAutoFit/>
          </a:bodyPr>
          <a:lstStyle/>
          <a:p>
            <a:pPr algn="l"/>
            <a:r>
              <a:rPr sz="800" b="0" i="1">
                <a:solidFill>
                  <a:srgbClr val="FFD700"/>
                </a:solidFill>
                <a:latin typeface="Calibri"/>
              </a:rPr>
              <a:t>starts_at: Vulnerability node → Commander seeds APG AttackChain</a:t>
            </a:r>
          </a:p>
        </p:txBody>
      </p:sp>
      <p:sp>
        <p:nvSpPr>
          <p:cNvPr id="25" name="Rectangle 24"/>
          <p:cNvSpPr/>
          <p:nvPr/>
        </p:nvSpPr>
        <p:spPr>
          <a:xfrm>
            <a:off x="201168" y="1865376"/>
            <a:ext cx="11789359" cy="4059936"/>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1168" y="1865376"/>
            <a:ext cx="11789359"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1901952"/>
            <a:ext cx="11643055" cy="201168"/>
          </a:xfrm>
          <a:prstGeom prst="rect">
            <a:avLst/>
          </a:prstGeom>
          <a:noFill/>
        </p:spPr>
        <p:txBody>
          <a:bodyPr wrap="square">
            <a:spAutoFit/>
          </a:bodyPr>
          <a:lstStyle/>
          <a:p>
            <a:pPr algn="l"/>
            <a:r>
              <a:rPr sz="950" b="1" i="0">
                <a:solidFill>
                  <a:srgbClr val="0A0D1A"/>
                </a:solidFill>
                <a:latin typeface="Calibri"/>
              </a:rPr>
              <a:t>APG  ·  AttackChain: Chain-01  ·  status: VALIDATED  ·  risk_score: 9.1</a:t>
            </a:r>
          </a:p>
        </p:txBody>
      </p:sp>
      <p:sp>
        <p:nvSpPr>
          <p:cNvPr id="28" name="Rectangle 27"/>
          <p:cNvSpPr/>
          <p:nvPr/>
        </p:nvSpPr>
        <p:spPr>
          <a:xfrm>
            <a:off x="201168"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1168"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2185416"/>
            <a:ext cx="2526715" cy="182880"/>
          </a:xfrm>
          <a:prstGeom prst="rect">
            <a:avLst/>
          </a:prstGeom>
          <a:noFill/>
        </p:spPr>
        <p:txBody>
          <a:bodyPr wrap="square">
            <a:spAutoFit/>
          </a:bodyPr>
          <a:lstStyle/>
          <a:p>
            <a:pPr algn="l"/>
            <a:r>
              <a:rPr sz="800" b="1" i="0">
                <a:solidFill>
                  <a:srgbClr val="0A0D1A"/>
                </a:solidFill>
                <a:latin typeface="Calibri"/>
              </a:rPr>
              <a:t>ChainStep 1
Recognise</a:t>
            </a:r>
          </a:p>
        </p:txBody>
      </p:sp>
      <p:sp>
        <p:nvSpPr>
          <p:cNvPr id="31" name="Rectangle 30"/>
          <p:cNvSpPr/>
          <p:nvPr/>
        </p:nvSpPr>
        <p:spPr>
          <a:xfrm>
            <a:off x="209694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9694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33" name="TextBox 32"/>
          <p:cNvSpPr txBox="1"/>
          <p:nvPr/>
        </p:nvSpPr>
        <p:spPr>
          <a:xfrm>
            <a:off x="292608" y="2432304"/>
            <a:ext cx="2746171" cy="502920"/>
          </a:xfrm>
          <a:prstGeom prst="rect">
            <a:avLst/>
          </a:prstGeom>
          <a:noFill/>
        </p:spPr>
        <p:txBody>
          <a:bodyPr wrap="square">
            <a:spAutoFit/>
          </a:bodyPr>
          <a:lstStyle/>
          <a:p>
            <a:pPr algn="l"/>
            <a:r>
              <a:rPr sz="850" b="0" i="0">
                <a:solidFill>
                  <a:srgbClr val="A0AAB8"/>
                </a:solidFill>
                <a:latin typeface="Calibri"/>
              </a:rPr>
              <a:t>SQLMap → WP_Query SQLi confirmed
Parameter: /?s= | Backend: MySQL 8.0</a:t>
            </a:r>
          </a:p>
        </p:txBody>
      </p:sp>
      <p:sp>
        <p:nvSpPr>
          <p:cNvPr id="34" name="Rectangle 33"/>
          <p:cNvSpPr/>
          <p:nvPr/>
        </p:nvSpPr>
        <p:spPr>
          <a:xfrm>
            <a:off x="274320"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 y="5248656"/>
            <a:ext cx="2691307" cy="566928"/>
          </a:xfrm>
          <a:prstGeom prst="rect">
            <a:avLst/>
          </a:prstGeom>
          <a:noFill/>
        </p:spPr>
        <p:txBody>
          <a:bodyPr wrap="square">
            <a:spAutoFit/>
          </a:bodyPr>
          <a:lstStyle/>
          <a:p>
            <a:pPr algn="l"/>
            <a:r>
              <a:rPr sz="800" b="0" i="0">
                <a:solidFill>
                  <a:srgbClr val="BD93F9"/>
                </a:solidFill>
                <a:latin typeface="Calibri"/>
              </a:rPr>
              <a:t>Evidence
screenshot_sqli_01.png
ASG Evidence node</a:t>
            </a:r>
          </a:p>
        </p:txBody>
      </p:sp>
      <p:sp>
        <p:nvSpPr>
          <p:cNvPr id="36" name="TextBox 35"/>
          <p:cNvSpPr txBox="1"/>
          <p:nvPr/>
        </p:nvSpPr>
        <p:spPr>
          <a:xfrm>
            <a:off x="303877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37" name="Connector 36"/>
          <p:cNvCxnSpPr/>
          <p:nvPr/>
        </p:nvCxnSpPr>
        <p:spPr>
          <a:xfrm>
            <a:off x="3093643.75" y="4023360.0"/>
            <a:ext cx="54864.0" cy="0.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11193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39" name="Rectangle 38"/>
          <p:cNvSpPr/>
          <p:nvPr/>
        </p:nvSpPr>
        <p:spPr>
          <a:xfrm>
            <a:off x="3148507"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48507"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3371" y="2185416"/>
            <a:ext cx="2526715" cy="182880"/>
          </a:xfrm>
          <a:prstGeom prst="rect">
            <a:avLst/>
          </a:prstGeom>
          <a:noFill/>
        </p:spPr>
        <p:txBody>
          <a:bodyPr wrap="square">
            <a:spAutoFit/>
          </a:bodyPr>
          <a:lstStyle/>
          <a:p>
            <a:pPr algn="l"/>
            <a:r>
              <a:rPr sz="800" b="1" i="0">
                <a:solidFill>
                  <a:srgbClr val="0A0D1A"/>
                </a:solidFill>
                <a:latin typeface="Calibri"/>
              </a:rPr>
              <a:t>ChainStep 2
Escalate</a:t>
            </a:r>
          </a:p>
        </p:txBody>
      </p:sp>
      <p:sp>
        <p:nvSpPr>
          <p:cNvPr id="42" name="Rectangle 41"/>
          <p:cNvSpPr/>
          <p:nvPr/>
        </p:nvSpPr>
        <p:spPr>
          <a:xfrm>
            <a:off x="504428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4428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44" name="TextBox 43"/>
          <p:cNvSpPr txBox="1"/>
          <p:nvPr/>
        </p:nvSpPr>
        <p:spPr>
          <a:xfrm>
            <a:off x="3239947" y="2432304"/>
            <a:ext cx="2746171" cy="502920"/>
          </a:xfrm>
          <a:prstGeom prst="rect">
            <a:avLst/>
          </a:prstGeom>
          <a:noFill/>
        </p:spPr>
        <p:txBody>
          <a:bodyPr wrap="square">
            <a:spAutoFit/>
          </a:bodyPr>
          <a:lstStyle/>
          <a:p>
            <a:pPr algn="l"/>
            <a:r>
              <a:rPr sz="850" b="0" i="0">
                <a:solidFill>
                  <a:srgbClr val="A0AAB8"/>
                </a:solidFill>
                <a:latin typeface="Calibri"/>
              </a:rPr>
              <a:t>Admin password hash extracted
Cracked offline (MD5) → admin:Welcome1!</a:t>
            </a:r>
          </a:p>
        </p:txBody>
      </p:sp>
      <p:sp>
        <p:nvSpPr>
          <p:cNvPr id="45" name="Rectangle 44"/>
          <p:cNvSpPr/>
          <p:nvPr/>
        </p:nvSpPr>
        <p:spPr>
          <a:xfrm>
            <a:off x="322165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76523" y="5248656"/>
            <a:ext cx="2691307" cy="566928"/>
          </a:xfrm>
          <a:prstGeom prst="rect">
            <a:avLst/>
          </a:prstGeom>
          <a:noFill/>
        </p:spPr>
        <p:txBody>
          <a:bodyPr wrap="square">
            <a:spAutoFit/>
          </a:bodyPr>
          <a:lstStyle/>
          <a:p>
            <a:pPr algn="l"/>
            <a:r>
              <a:rPr sz="800" b="0" i="0">
                <a:solidFill>
                  <a:srgbClr val="BD93F9"/>
                </a:solidFill>
                <a:latin typeface="Calibri"/>
              </a:rPr>
              <a:t>Evidence
hash_dump.txt
ASG Evidence node</a:t>
            </a:r>
          </a:p>
        </p:txBody>
      </p:sp>
      <p:sp>
        <p:nvSpPr>
          <p:cNvPr id="47" name="TextBox 46"/>
          <p:cNvSpPr txBox="1"/>
          <p:nvPr/>
        </p:nvSpPr>
        <p:spPr>
          <a:xfrm>
            <a:off x="598611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48" name="Connector 47"/>
          <p:cNvCxnSpPr/>
          <p:nvPr/>
        </p:nvCxnSpPr>
        <p:spPr>
          <a:xfrm>
            <a:off x="6040983.5" y="4023360.0"/>
            <a:ext cx="54864.0" cy="0.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5927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50" name="Rectangle 49"/>
          <p:cNvSpPr/>
          <p:nvPr/>
        </p:nvSpPr>
        <p:spPr>
          <a:xfrm>
            <a:off x="6095847" y="2157984"/>
            <a:ext cx="2892475" cy="3730752"/>
          </a:xfrm>
          <a:prstGeom prst="rect">
            <a:avLst/>
          </a:prstGeom>
          <a:solidFill>
            <a:srgbClr val="1E1402"/>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95847" y="2157984"/>
            <a:ext cx="2892475"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0711" y="2185416"/>
            <a:ext cx="2526715" cy="182880"/>
          </a:xfrm>
          <a:prstGeom prst="rect">
            <a:avLst/>
          </a:prstGeom>
          <a:noFill/>
        </p:spPr>
        <p:txBody>
          <a:bodyPr wrap="square">
            <a:spAutoFit/>
          </a:bodyPr>
          <a:lstStyle/>
          <a:p>
            <a:pPr algn="l"/>
            <a:r>
              <a:rPr sz="800" b="1" i="0">
                <a:solidFill>
                  <a:srgbClr val="0A0D1A"/>
                </a:solidFill>
                <a:latin typeface="Calibri"/>
              </a:rPr>
              <a:t>ChainStep 3
Exploit</a:t>
            </a:r>
          </a:p>
        </p:txBody>
      </p:sp>
      <p:sp>
        <p:nvSpPr>
          <p:cNvPr id="53" name="Rectangle 52"/>
          <p:cNvSpPr/>
          <p:nvPr/>
        </p:nvSpPr>
        <p:spPr>
          <a:xfrm>
            <a:off x="799162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9162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55" name="TextBox 54"/>
          <p:cNvSpPr txBox="1"/>
          <p:nvPr/>
        </p:nvSpPr>
        <p:spPr>
          <a:xfrm>
            <a:off x="6187287" y="2432304"/>
            <a:ext cx="2746171" cy="502920"/>
          </a:xfrm>
          <a:prstGeom prst="rect">
            <a:avLst/>
          </a:prstGeom>
          <a:noFill/>
        </p:spPr>
        <p:txBody>
          <a:bodyPr wrap="square">
            <a:spAutoFit/>
          </a:bodyPr>
          <a:lstStyle/>
          <a:p>
            <a:pPr algn="l"/>
            <a:r>
              <a:rPr sz="850" b="0" i="0">
                <a:solidFill>
                  <a:srgbClr val="A0AAB8"/>
                </a:solidFill>
                <a:latin typeface="Calibri"/>
              </a:rPr>
              <a:t>Metasploit WP-Admin upload → shell
RCE confirmed on production host</a:t>
            </a:r>
          </a:p>
        </p:txBody>
      </p:sp>
      <p:sp>
        <p:nvSpPr>
          <p:cNvPr id="56" name="Rectangle 55"/>
          <p:cNvSpPr/>
          <p:nvPr/>
        </p:nvSpPr>
        <p:spPr>
          <a:xfrm>
            <a:off x="616899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23863" y="5248656"/>
            <a:ext cx="2691307" cy="566928"/>
          </a:xfrm>
          <a:prstGeom prst="rect">
            <a:avLst/>
          </a:prstGeom>
          <a:noFill/>
        </p:spPr>
        <p:txBody>
          <a:bodyPr wrap="square">
            <a:spAutoFit/>
          </a:bodyPr>
          <a:lstStyle/>
          <a:p>
            <a:pPr algn="l"/>
            <a:r>
              <a:rPr sz="800" b="0" i="0">
                <a:solidFill>
                  <a:srgbClr val="BD93F9"/>
                </a:solidFill>
                <a:latin typeface="Calibri"/>
              </a:rPr>
              <a:t>Evidence
shell_access.png
ASG Evidence node</a:t>
            </a:r>
          </a:p>
        </p:txBody>
      </p:sp>
      <p:sp>
        <p:nvSpPr>
          <p:cNvPr id="58" name="TextBox 57"/>
          <p:cNvSpPr txBox="1"/>
          <p:nvPr/>
        </p:nvSpPr>
        <p:spPr>
          <a:xfrm>
            <a:off x="893345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59" name="Connector 58"/>
          <p:cNvCxnSpPr/>
          <p:nvPr/>
        </p:nvCxnSpPr>
        <p:spPr>
          <a:xfrm>
            <a:off x="8988323.25" y="4023360.0"/>
            <a:ext cx="54864.0" cy="0.0"/>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00661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61" name="Rectangle 60"/>
          <p:cNvSpPr/>
          <p:nvPr/>
        </p:nvSpPr>
        <p:spPr>
          <a:xfrm>
            <a:off x="9043187" y="2157984"/>
            <a:ext cx="2892475" cy="3730752"/>
          </a:xfrm>
          <a:prstGeom prst="rect">
            <a:avLst/>
          </a:prstGeom>
          <a:solidFill>
            <a:srgbClr val="1E140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043187" y="2157984"/>
            <a:ext cx="2892475"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98051" y="2185416"/>
            <a:ext cx="2526715" cy="182880"/>
          </a:xfrm>
          <a:prstGeom prst="rect">
            <a:avLst/>
          </a:prstGeom>
          <a:noFill/>
        </p:spPr>
        <p:txBody>
          <a:bodyPr wrap="square">
            <a:spAutoFit/>
          </a:bodyPr>
          <a:lstStyle/>
          <a:p>
            <a:pPr algn="l"/>
            <a:r>
              <a:rPr sz="800" b="1" i="0">
                <a:solidFill>
                  <a:srgbClr val="0A0D1A"/>
                </a:solidFill>
                <a:latin typeface="Calibri"/>
              </a:rPr>
              <a:t>Impact
Demonstrated</a:t>
            </a:r>
          </a:p>
        </p:txBody>
      </p:sp>
      <p:sp>
        <p:nvSpPr>
          <p:cNvPr id="64" name="Rectangle 63"/>
          <p:cNvSpPr/>
          <p:nvPr/>
        </p:nvSpPr>
        <p:spPr>
          <a:xfrm>
            <a:off x="10938967" y="2176272"/>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38967" y="2185416"/>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66" name="TextBox 65"/>
          <p:cNvSpPr txBox="1"/>
          <p:nvPr/>
        </p:nvSpPr>
        <p:spPr>
          <a:xfrm>
            <a:off x="9134627" y="2432304"/>
            <a:ext cx="2746171" cy="502920"/>
          </a:xfrm>
          <a:prstGeom prst="rect">
            <a:avLst/>
          </a:prstGeom>
          <a:noFill/>
        </p:spPr>
        <p:txBody>
          <a:bodyPr wrap="square">
            <a:spAutoFit/>
          </a:bodyPr>
          <a:lstStyle/>
          <a:p>
            <a:pPr algn="l"/>
            <a:r>
              <a:rPr sz="850" b="0" i="0">
                <a:solidFill>
                  <a:srgbClr val="A0AAB8"/>
                </a:solidFill>
                <a:latin typeface="Calibri"/>
              </a:rPr>
              <a:t>Full server access
Customer PII: 14,000 records accessible</a:t>
            </a:r>
          </a:p>
        </p:txBody>
      </p:sp>
      <p:sp>
        <p:nvSpPr>
          <p:cNvPr id="67" name="Rectangle 66"/>
          <p:cNvSpPr/>
          <p:nvPr/>
        </p:nvSpPr>
        <p:spPr>
          <a:xfrm>
            <a:off x="911633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71203" y="5248656"/>
            <a:ext cx="2691307" cy="566928"/>
          </a:xfrm>
          <a:prstGeom prst="rect">
            <a:avLst/>
          </a:prstGeom>
          <a:noFill/>
        </p:spPr>
        <p:txBody>
          <a:bodyPr wrap="square">
            <a:spAutoFit/>
          </a:bodyPr>
          <a:lstStyle/>
          <a:p>
            <a:pPr algn="l"/>
            <a:r>
              <a:rPr sz="800" b="0" i="0">
                <a:solidFill>
                  <a:srgbClr val="BD93F9"/>
                </a:solidFill>
                <a:latin typeface="Calibri"/>
              </a:rPr>
              <a:t>Evidence
pii_sample.json
ASG Evidence node</a:t>
            </a:r>
          </a:p>
        </p:txBody>
      </p:sp>
      <p:sp>
        <p:nvSpPr>
          <p:cNvPr id="69" name="TextBox 68"/>
          <p:cNvSpPr txBox="1"/>
          <p:nvPr/>
        </p:nvSpPr>
        <p:spPr>
          <a:xfrm>
            <a:off x="1188079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sp>
        <p:nvSpPr>
          <p:cNvPr id="70" name="Rectangle 69"/>
          <p:cNvSpPr/>
          <p:nvPr/>
        </p:nvSpPr>
        <p:spPr>
          <a:xfrm>
            <a:off x="201168" y="6345936"/>
            <a:ext cx="11789359" cy="347472"/>
          </a:xfrm>
          <a:prstGeom prst="rect">
            <a:avLst/>
          </a:prstGeom>
          <a:solidFill>
            <a:srgbClr val="060E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5760" y="6382512"/>
            <a:ext cx="11551615" cy="274320"/>
          </a:xfrm>
          <a:prstGeom prst="rect">
            <a:avLst/>
          </a:prstGeom>
          <a:noFill/>
        </p:spPr>
        <p:txBody>
          <a:bodyPr wrap="square">
            <a:spAutoFit/>
          </a:bodyPr>
          <a:lstStyle/>
          <a:p>
            <a:pPr algn="l"/>
            <a:r>
              <a:rPr sz="900" b="0" i="1">
                <a:solidFill>
                  <a:srgbClr val="00E5FF"/>
                </a:solidFill>
                <a:latin typeface="Calibri"/>
              </a:rPr>
              <a:t>Every step fully traceable: ASG Vulnerability → APG AttackChain → ChainSteps → ASG Evidence nodes.  Report Agent reads both graphs and outputs an evidence-backed narrative without human intervention.</a:t>
            </a:r>
          </a:p>
        </p:txBody>
      </p:sp>
      <p:sp>
        <p:nvSpPr>
          <p:cNvPr id="72" name="TextBox 71"/>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NOVEL CONTRIBUTION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What Makes CMatrix a Research Contribution</a:t>
            </a:r>
          </a:p>
        </p:txBody>
      </p:sp>
      <p:sp>
        <p:nvSpPr>
          <p:cNvPr id="7" name="Rectangle 6"/>
          <p:cNvSpPr/>
          <p:nvPr/>
        </p:nvSpPr>
        <p:spPr>
          <a:xfrm>
            <a:off x="274320" y="1097280"/>
            <a:ext cx="11643055" cy="512064"/>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11277295" cy="402336"/>
          </a:xfrm>
          <a:prstGeom prst="rect">
            <a:avLst/>
          </a:prstGeom>
          <a:noFill/>
        </p:spPr>
        <p:txBody>
          <a:bodyPr wrap="square">
            <a:spAutoFit/>
          </a:bodyPr>
          <a:lstStyle/>
          <a:p>
            <a:pPr algn="l"/>
            <a:r>
              <a:rPr sz="1300" b="0" i="1">
                <a:solidFill>
                  <a:srgbClr val="FFD700"/>
                </a:solidFill>
                <a:latin typeface="Calibri"/>
              </a:rPr>
              <a:t>First autonomous VAPT system to maintain two strictly separated, continuously evolving graph structures - one for discovered reality, one for inferred attack opportunity.</a:t>
            </a:r>
          </a:p>
        </p:txBody>
      </p:sp>
      <p:sp>
        <p:nvSpPr>
          <p:cNvPr id="9" name="Rectangle 8"/>
          <p:cNvSpPr/>
          <p:nvPr/>
        </p:nvSpPr>
        <p:spPr>
          <a:xfrm>
            <a:off x="274320"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1801368"/>
            <a:ext cx="475488" cy="292608"/>
          </a:xfrm>
          <a:prstGeom prst="rect">
            <a:avLst/>
          </a:prstGeom>
          <a:noFill/>
        </p:spPr>
        <p:txBody>
          <a:bodyPr wrap="square">
            <a:spAutoFit/>
          </a:bodyPr>
          <a:lstStyle/>
          <a:p>
            <a:pPr algn="ctr"/>
            <a:r>
              <a:rPr sz="1100" b="1" i="0">
                <a:solidFill>
                  <a:srgbClr val="0A0D1A"/>
                </a:solidFill>
                <a:latin typeface="Calibri"/>
              </a:rPr>
              <a:t>C1</a:t>
            </a:r>
          </a:p>
        </p:txBody>
      </p:sp>
      <p:sp>
        <p:nvSpPr>
          <p:cNvPr id="12" name="TextBox 11"/>
          <p:cNvSpPr txBox="1"/>
          <p:nvPr/>
        </p:nvSpPr>
        <p:spPr>
          <a:xfrm>
            <a:off x="841248" y="1819656"/>
            <a:ext cx="3154680" cy="292608"/>
          </a:xfrm>
          <a:prstGeom prst="rect">
            <a:avLst/>
          </a:prstGeom>
          <a:noFill/>
        </p:spPr>
        <p:txBody>
          <a:bodyPr wrap="square">
            <a:spAutoFit/>
          </a:bodyPr>
          <a:lstStyle/>
          <a:p>
            <a:pPr algn="l"/>
            <a:r>
              <a:rPr sz="1200" b="1" i="0">
                <a:solidFill>
                  <a:srgbClr val="FFFFFF"/>
                </a:solidFill>
                <a:latin typeface="Calibri"/>
              </a:rPr>
              <a:t>Dual-Graph World Model</a:t>
            </a:r>
          </a:p>
        </p:txBody>
      </p:sp>
      <p:sp>
        <p:nvSpPr>
          <p:cNvPr id="13" name="TextBox 12"/>
          <p:cNvSpPr txBox="1"/>
          <p:nvPr/>
        </p:nvSpPr>
        <p:spPr>
          <a:xfrm>
            <a:off x="384048" y="2167128"/>
            <a:ext cx="3611880" cy="685800"/>
          </a:xfrm>
          <a:prstGeom prst="rect">
            <a:avLst/>
          </a:prstGeom>
          <a:noFill/>
        </p:spPr>
        <p:txBody>
          <a:bodyPr wrap="square">
            <a:spAutoFit/>
          </a:bodyPr>
          <a:lstStyle/>
          <a:p>
            <a:pPr algn="l"/>
            <a:r>
              <a:rPr sz="1050" b="0" i="0">
                <a:solidFill>
                  <a:srgbClr val="A0AAB8"/>
                </a:solidFill>
                <a:latin typeface="Calibri"/>
              </a:rPr>
              <a:t>ASG (discovered reality) &amp; APG (inferred opportunity) are strictly separated with enforced write ownership.</a:t>
            </a:r>
          </a:p>
        </p:txBody>
      </p:sp>
      <p:sp>
        <p:nvSpPr>
          <p:cNvPr id="14" name="Rectangle 13"/>
          <p:cNvSpPr/>
          <p:nvPr/>
        </p:nvSpPr>
        <p:spPr>
          <a:xfrm>
            <a:off x="4187952"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87952"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801368"/>
            <a:ext cx="475488" cy="292608"/>
          </a:xfrm>
          <a:prstGeom prst="rect">
            <a:avLst/>
          </a:prstGeom>
          <a:noFill/>
        </p:spPr>
        <p:txBody>
          <a:bodyPr wrap="square">
            <a:spAutoFit/>
          </a:bodyPr>
          <a:lstStyle/>
          <a:p>
            <a:pPr algn="ctr"/>
            <a:r>
              <a:rPr sz="1100" b="1" i="0">
                <a:solidFill>
                  <a:srgbClr val="0A0D1A"/>
                </a:solidFill>
                <a:latin typeface="Calibri"/>
              </a:rPr>
              <a:t>C2</a:t>
            </a:r>
          </a:p>
        </p:txBody>
      </p:sp>
      <p:sp>
        <p:nvSpPr>
          <p:cNvPr id="17" name="TextBox 16"/>
          <p:cNvSpPr txBox="1"/>
          <p:nvPr/>
        </p:nvSpPr>
        <p:spPr>
          <a:xfrm>
            <a:off x="4754880" y="1819656"/>
            <a:ext cx="3154680" cy="292608"/>
          </a:xfrm>
          <a:prstGeom prst="rect">
            <a:avLst/>
          </a:prstGeom>
          <a:noFill/>
        </p:spPr>
        <p:txBody>
          <a:bodyPr wrap="square">
            <a:spAutoFit/>
          </a:bodyPr>
          <a:lstStyle/>
          <a:p>
            <a:pPr algn="l"/>
            <a:r>
              <a:rPr sz="1200" b="1" i="0">
                <a:solidFill>
                  <a:srgbClr val="FFFFFF"/>
                </a:solidFill>
                <a:latin typeface="Calibri"/>
              </a:rPr>
              <a:t>Graph-Driven Re-Planning</a:t>
            </a:r>
          </a:p>
        </p:txBody>
      </p:sp>
      <p:sp>
        <p:nvSpPr>
          <p:cNvPr id="18" name="TextBox 17"/>
          <p:cNvSpPr txBox="1"/>
          <p:nvPr/>
        </p:nvSpPr>
        <p:spPr>
          <a:xfrm>
            <a:off x="4297680" y="2167128"/>
            <a:ext cx="3611880" cy="685800"/>
          </a:xfrm>
          <a:prstGeom prst="rect">
            <a:avLst/>
          </a:prstGeom>
          <a:noFill/>
        </p:spPr>
        <p:txBody>
          <a:bodyPr wrap="square">
            <a:spAutoFit/>
          </a:bodyPr>
          <a:lstStyle/>
          <a:p>
            <a:pPr algn="l"/>
            <a:r>
              <a:rPr sz="1050" b="0" i="0">
                <a:solidFill>
                  <a:srgbClr val="A0AAB8"/>
                </a:solidFill>
                <a:latin typeface="Calibri"/>
              </a:rPr>
              <a:t>Re-planning fires on explicit graph triggers (e.g., new vuln node seeds a chain) rather than arbitrary schedules.</a:t>
            </a:r>
          </a:p>
        </p:txBody>
      </p:sp>
      <p:sp>
        <p:nvSpPr>
          <p:cNvPr id="19" name="Rectangle 18"/>
          <p:cNvSpPr/>
          <p:nvPr/>
        </p:nvSpPr>
        <p:spPr>
          <a:xfrm>
            <a:off x="8101584"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4"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2" y="1801368"/>
            <a:ext cx="475488" cy="292608"/>
          </a:xfrm>
          <a:prstGeom prst="rect">
            <a:avLst/>
          </a:prstGeom>
          <a:noFill/>
        </p:spPr>
        <p:txBody>
          <a:bodyPr wrap="square">
            <a:spAutoFit/>
          </a:bodyPr>
          <a:lstStyle/>
          <a:p>
            <a:pPr algn="ctr"/>
            <a:r>
              <a:rPr sz="1100" b="1" i="0">
                <a:solidFill>
                  <a:srgbClr val="0A0D1A"/>
                </a:solidFill>
                <a:latin typeface="Calibri"/>
              </a:rPr>
              <a:t>C3</a:t>
            </a:r>
          </a:p>
        </p:txBody>
      </p:sp>
      <p:sp>
        <p:nvSpPr>
          <p:cNvPr id="22" name="TextBox 21"/>
          <p:cNvSpPr txBox="1"/>
          <p:nvPr/>
        </p:nvSpPr>
        <p:spPr>
          <a:xfrm>
            <a:off x="8668512" y="1819656"/>
            <a:ext cx="3154680" cy="292608"/>
          </a:xfrm>
          <a:prstGeom prst="rect">
            <a:avLst/>
          </a:prstGeom>
          <a:noFill/>
        </p:spPr>
        <p:txBody>
          <a:bodyPr wrap="square">
            <a:spAutoFit/>
          </a:bodyPr>
          <a:lstStyle/>
          <a:p>
            <a:pPr algn="l"/>
            <a:r>
              <a:rPr sz="1200" b="1" i="0">
                <a:solidFill>
                  <a:srgbClr val="FFFFFF"/>
                </a:solidFill>
                <a:latin typeface="Calibri"/>
              </a:rPr>
              <a:t>APG Attack Chain Lifecycle with Evidence Traceability</a:t>
            </a:r>
          </a:p>
        </p:txBody>
      </p:sp>
      <p:sp>
        <p:nvSpPr>
          <p:cNvPr id="23" name="TextBox 22"/>
          <p:cNvSpPr txBox="1"/>
          <p:nvPr/>
        </p:nvSpPr>
        <p:spPr>
          <a:xfrm>
            <a:off x="8211312" y="2167128"/>
            <a:ext cx="3611880" cy="685800"/>
          </a:xfrm>
          <a:prstGeom prst="rect">
            <a:avLst/>
          </a:prstGeom>
          <a:noFill/>
        </p:spPr>
        <p:txBody>
          <a:bodyPr wrap="square">
            <a:spAutoFit/>
          </a:bodyPr>
          <a:lstStyle/>
          <a:p>
            <a:pPr algn="l"/>
            <a:r>
              <a:rPr sz="1050" b="0" i="0">
                <a:solidFill>
                  <a:srgbClr val="A0AAB8"/>
                </a:solidFill>
                <a:latin typeface="Calibri"/>
              </a:rPr>
              <a:t>Attack chains are first-class entities: risk-scored, prioritized, lifecycle-tracked. Every ChainStep links to ASG Evidence via supported_by.</a:t>
            </a:r>
          </a:p>
        </p:txBody>
      </p:sp>
      <p:sp>
        <p:nvSpPr>
          <p:cNvPr id="24" name="Rectangle 23"/>
          <p:cNvSpPr/>
          <p:nvPr/>
        </p:nvSpPr>
        <p:spPr>
          <a:xfrm>
            <a:off x="274320"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054096"/>
            <a:ext cx="475488" cy="292608"/>
          </a:xfrm>
          <a:prstGeom prst="rect">
            <a:avLst/>
          </a:prstGeom>
          <a:noFill/>
        </p:spPr>
        <p:txBody>
          <a:bodyPr wrap="square">
            <a:spAutoFit/>
          </a:bodyPr>
          <a:lstStyle/>
          <a:p>
            <a:pPr algn="ctr"/>
            <a:r>
              <a:rPr sz="1100" b="1" i="0">
                <a:solidFill>
                  <a:srgbClr val="0A0D1A"/>
                </a:solidFill>
                <a:latin typeface="Calibri"/>
              </a:rPr>
              <a:t>C4</a:t>
            </a:r>
          </a:p>
        </p:txBody>
      </p:sp>
      <p:sp>
        <p:nvSpPr>
          <p:cNvPr id="27" name="TextBox 26"/>
          <p:cNvSpPr txBox="1"/>
          <p:nvPr/>
        </p:nvSpPr>
        <p:spPr>
          <a:xfrm>
            <a:off x="841248" y="3072384"/>
            <a:ext cx="3154680" cy="292608"/>
          </a:xfrm>
          <a:prstGeom prst="rect">
            <a:avLst/>
          </a:prstGeom>
          <a:noFill/>
        </p:spPr>
        <p:txBody>
          <a:bodyPr wrap="square">
            <a:spAutoFit/>
          </a:bodyPr>
          <a:lstStyle/>
          <a:p>
            <a:pPr algn="l"/>
            <a:r>
              <a:rPr sz="1200" b="1" i="0">
                <a:solidFill>
                  <a:srgbClr val="FFFFFF"/>
                </a:solidFill>
                <a:latin typeface="Calibri"/>
              </a:rPr>
              <a:t>ASG-Aware Parallel Dispatch</a:t>
            </a:r>
          </a:p>
        </p:txBody>
      </p:sp>
      <p:sp>
        <p:nvSpPr>
          <p:cNvPr id="28" name="TextBox 27"/>
          <p:cNvSpPr txBox="1"/>
          <p:nvPr/>
        </p:nvSpPr>
        <p:spPr>
          <a:xfrm>
            <a:off x="384048" y="3419856"/>
            <a:ext cx="3611880" cy="685800"/>
          </a:xfrm>
          <a:prstGeom prst="rect">
            <a:avLst/>
          </a:prstGeom>
          <a:noFill/>
        </p:spPr>
        <p:txBody>
          <a:bodyPr wrap="square">
            <a:spAutoFit/>
          </a:bodyPr>
          <a:lstStyle/>
          <a:p>
            <a:pPr algn="l"/>
            <a:r>
              <a:rPr sz="1050" b="0" i="0">
                <a:solidFill>
                  <a:srgbClr val="A0AAB8"/>
                </a:solidFill>
                <a:latin typeface="Calibri"/>
              </a:rPr>
              <a:t>Dependency-safe concurrent tool execution using the ASG itself as the dependency graph, instead of a task scheduler.</a:t>
            </a:r>
          </a:p>
        </p:txBody>
      </p:sp>
      <p:sp>
        <p:nvSpPr>
          <p:cNvPr id="29" name="Rectangle 28"/>
          <p:cNvSpPr/>
          <p:nvPr/>
        </p:nvSpPr>
        <p:spPr>
          <a:xfrm>
            <a:off x="4187952"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87952"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0" y="3054096"/>
            <a:ext cx="475488" cy="292608"/>
          </a:xfrm>
          <a:prstGeom prst="rect">
            <a:avLst/>
          </a:prstGeom>
          <a:noFill/>
        </p:spPr>
        <p:txBody>
          <a:bodyPr wrap="square">
            <a:spAutoFit/>
          </a:bodyPr>
          <a:lstStyle/>
          <a:p>
            <a:pPr algn="ctr"/>
            <a:r>
              <a:rPr sz="1100" b="1" i="0">
                <a:solidFill>
                  <a:srgbClr val="0A0D1A"/>
                </a:solidFill>
                <a:latin typeface="Calibri"/>
              </a:rPr>
              <a:t>C5</a:t>
            </a:r>
          </a:p>
        </p:txBody>
      </p:sp>
      <p:sp>
        <p:nvSpPr>
          <p:cNvPr id="32" name="TextBox 31"/>
          <p:cNvSpPr txBox="1"/>
          <p:nvPr/>
        </p:nvSpPr>
        <p:spPr>
          <a:xfrm>
            <a:off x="4754880" y="3072384"/>
            <a:ext cx="3154680" cy="292608"/>
          </a:xfrm>
          <a:prstGeom prst="rect">
            <a:avLst/>
          </a:prstGeom>
          <a:noFill/>
        </p:spPr>
        <p:txBody>
          <a:bodyPr wrap="square">
            <a:spAutoFit/>
          </a:bodyPr>
          <a:lstStyle/>
          <a:p>
            <a:pPr algn="l"/>
            <a:r>
              <a:rPr sz="1200" b="1" i="0">
                <a:solidFill>
                  <a:srgbClr val="FFFFFF"/>
                </a:solidFill>
                <a:latin typeface="Calibri"/>
              </a:rPr>
              <a:t>Tool Risk Gate + Mailbox</a:t>
            </a:r>
          </a:p>
        </p:txBody>
      </p:sp>
      <p:sp>
        <p:nvSpPr>
          <p:cNvPr id="33" name="TextBox 32"/>
          <p:cNvSpPr txBox="1"/>
          <p:nvPr/>
        </p:nvSpPr>
        <p:spPr>
          <a:xfrm>
            <a:off x="4297680" y="3419856"/>
            <a:ext cx="3611880" cy="685800"/>
          </a:xfrm>
          <a:prstGeom prst="rect">
            <a:avLst/>
          </a:prstGeom>
          <a:noFill/>
        </p:spPr>
        <p:txBody>
          <a:bodyPr wrap="square">
            <a:spAutoFit/>
          </a:bodyPr>
          <a:lstStyle/>
          <a:p>
            <a:pPr algn="l"/>
            <a:r>
              <a:rPr sz="1050" b="0" i="0">
                <a:solidFill>
                  <a:srgbClr val="A0AAB8"/>
                </a:solidFill>
                <a:latin typeface="Calibri"/>
              </a:rPr>
              <a:t>Every tool call is risk-classified before execution. High-risk ops route to Commander for human-in-the-loop approval.</a:t>
            </a:r>
          </a:p>
        </p:txBody>
      </p:sp>
      <p:sp>
        <p:nvSpPr>
          <p:cNvPr id="34" name="Rectangle 33"/>
          <p:cNvSpPr/>
          <p:nvPr/>
        </p:nvSpPr>
        <p:spPr>
          <a:xfrm>
            <a:off x="8101584"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1584"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9872" y="3054096"/>
            <a:ext cx="475488" cy="292608"/>
          </a:xfrm>
          <a:prstGeom prst="rect">
            <a:avLst/>
          </a:prstGeom>
          <a:noFill/>
        </p:spPr>
        <p:txBody>
          <a:bodyPr wrap="square">
            <a:spAutoFit/>
          </a:bodyPr>
          <a:lstStyle/>
          <a:p>
            <a:pPr algn="ctr"/>
            <a:r>
              <a:rPr sz="1100" b="1" i="0">
                <a:solidFill>
                  <a:srgbClr val="0A0D1A"/>
                </a:solidFill>
                <a:latin typeface="Calibri"/>
              </a:rPr>
              <a:t>C6</a:t>
            </a:r>
          </a:p>
        </p:txBody>
      </p:sp>
      <p:sp>
        <p:nvSpPr>
          <p:cNvPr id="37" name="TextBox 36"/>
          <p:cNvSpPr txBox="1"/>
          <p:nvPr/>
        </p:nvSpPr>
        <p:spPr>
          <a:xfrm>
            <a:off x="8668512" y="3072384"/>
            <a:ext cx="3154680" cy="292608"/>
          </a:xfrm>
          <a:prstGeom prst="rect">
            <a:avLst/>
          </a:prstGeom>
          <a:noFill/>
        </p:spPr>
        <p:txBody>
          <a:bodyPr wrap="square">
            <a:spAutoFit/>
          </a:bodyPr>
          <a:lstStyle/>
          <a:p>
            <a:pPr algn="l"/>
            <a:r>
              <a:rPr sz="1200" b="1" i="0">
                <a:solidFill>
                  <a:srgbClr val="FFFFFF"/>
                </a:solidFill>
                <a:latin typeface="Calibri"/>
              </a:rPr>
              <a:t>Lossless Context Compaction</a:t>
            </a:r>
          </a:p>
        </p:txBody>
      </p:sp>
      <p:sp>
        <p:nvSpPr>
          <p:cNvPr id="38" name="TextBox 37"/>
          <p:cNvSpPr txBox="1"/>
          <p:nvPr/>
        </p:nvSpPr>
        <p:spPr>
          <a:xfrm>
            <a:off x="8211312" y="3419856"/>
            <a:ext cx="3611880" cy="685800"/>
          </a:xfrm>
          <a:prstGeom prst="rect">
            <a:avLst/>
          </a:prstGeom>
          <a:noFill/>
        </p:spPr>
        <p:txBody>
          <a:bodyPr wrap="square">
            <a:spAutoFit/>
          </a:bodyPr>
          <a:lstStyle/>
          <a:p>
            <a:pPr algn="l"/>
            <a:r>
              <a:rPr sz="1050" b="0" i="0">
                <a:solidFill>
                  <a:srgbClr val="A0AAB8"/>
                </a:solidFill>
                <a:latin typeface="Calibri"/>
              </a:rPr>
              <a:t>ASG-backed three-layer compaction scheme reduces conversation history to near-zero without losing discovered findings.</a:t>
            </a:r>
          </a:p>
        </p:txBody>
      </p:sp>
      <p:sp>
        <p:nvSpPr>
          <p:cNvPr id="39" name="Rectangle 38"/>
          <p:cNvSpPr/>
          <p:nvPr/>
        </p:nvSpPr>
        <p:spPr>
          <a:xfrm>
            <a:off x="274320"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4306824"/>
            <a:ext cx="475488" cy="292608"/>
          </a:xfrm>
          <a:prstGeom prst="rect">
            <a:avLst/>
          </a:prstGeom>
          <a:noFill/>
        </p:spPr>
        <p:txBody>
          <a:bodyPr wrap="square">
            <a:spAutoFit/>
          </a:bodyPr>
          <a:lstStyle/>
          <a:p>
            <a:pPr algn="ctr"/>
            <a:r>
              <a:rPr sz="1100" b="1" i="0">
                <a:solidFill>
                  <a:srgbClr val="0A0D1A"/>
                </a:solidFill>
                <a:latin typeface="Calibri"/>
              </a:rPr>
              <a:t>C7</a:t>
            </a:r>
          </a:p>
        </p:txBody>
      </p:sp>
      <p:sp>
        <p:nvSpPr>
          <p:cNvPr id="42" name="TextBox 41"/>
          <p:cNvSpPr txBox="1"/>
          <p:nvPr/>
        </p:nvSpPr>
        <p:spPr>
          <a:xfrm>
            <a:off x="841248" y="4325112"/>
            <a:ext cx="3154680" cy="292608"/>
          </a:xfrm>
          <a:prstGeom prst="rect">
            <a:avLst/>
          </a:prstGeom>
          <a:noFill/>
        </p:spPr>
        <p:txBody>
          <a:bodyPr wrap="square">
            <a:spAutoFit/>
          </a:bodyPr>
          <a:lstStyle/>
          <a:p>
            <a:pPr algn="l"/>
            <a:r>
              <a:rPr sz="1200" b="1" i="0">
                <a:solidFill>
                  <a:srgbClr val="FFFFFF"/>
                </a:solidFill>
                <a:latin typeface="Calibri"/>
              </a:rPr>
              <a:t>Methodology-as-Config</a:t>
            </a:r>
          </a:p>
        </p:txBody>
      </p:sp>
      <p:sp>
        <p:nvSpPr>
          <p:cNvPr id="43" name="TextBox 42"/>
          <p:cNvSpPr txBox="1"/>
          <p:nvPr/>
        </p:nvSpPr>
        <p:spPr>
          <a:xfrm>
            <a:off x="384048" y="4672584"/>
            <a:ext cx="3611880" cy="685800"/>
          </a:xfrm>
          <a:prstGeom prst="rect">
            <a:avLst/>
          </a:prstGeom>
          <a:noFill/>
        </p:spPr>
        <p:txBody>
          <a:bodyPr wrap="square">
            <a:spAutoFit/>
          </a:bodyPr>
          <a:lstStyle/>
          <a:p>
            <a:pPr algn="l"/>
            <a:r>
              <a:rPr sz="1050" b="0" i="0">
                <a:solidFill>
                  <a:srgbClr val="A0AAB8"/>
                </a:solidFill>
                <a:latin typeface="Calibri"/>
              </a:rPr>
              <a:t>Commander's planning policy is encoded as a versioned natural-language document, allowing methodology benchmarking.</a:t>
            </a:r>
          </a:p>
        </p:txBody>
      </p:sp>
      <p:sp>
        <p:nvSpPr>
          <p:cNvPr id="44" name="Rectangle 43"/>
          <p:cNvSpPr/>
          <p:nvPr/>
        </p:nvSpPr>
        <p:spPr>
          <a:xfrm>
            <a:off x="4187952"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87952"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4306824"/>
            <a:ext cx="475488" cy="292608"/>
          </a:xfrm>
          <a:prstGeom prst="rect">
            <a:avLst/>
          </a:prstGeom>
          <a:noFill/>
        </p:spPr>
        <p:txBody>
          <a:bodyPr wrap="square">
            <a:spAutoFit/>
          </a:bodyPr>
          <a:lstStyle/>
          <a:p>
            <a:pPr algn="ctr"/>
            <a:r>
              <a:rPr sz="1100" b="1" i="0">
                <a:solidFill>
                  <a:srgbClr val="0A0D1A"/>
                </a:solidFill>
                <a:latin typeface="Calibri"/>
              </a:rPr>
              <a:t>C8</a:t>
            </a:r>
          </a:p>
        </p:txBody>
      </p:sp>
      <p:sp>
        <p:nvSpPr>
          <p:cNvPr id="47" name="TextBox 46"/>
          <p:cNvSpPr txBox="1"/>
          <p:nvPr/>
        </p:nvSpPr>
        <p:spPr>
          <a:xfrm>
            <a:off x="4754880" y="4325112"/>
            <a:ext cx="3154680" cy="292608"/>
          </a:xfrm>
          <a:prstGeom prst="rect">
            <a:avLst/>
          </a:prstGeom>
          <a:noFill/>
        </p:spPr>
        <p:txBody>
          <a:bodyPr wrap="square">
            <a:spAutoFit/>
          </a:bodyPr>
          <a:lstStyle/>
          <a:p>
            <a:pPr algn="l"/>
            <a:r>
              <a:rPr sz="1200" b="1" i="0">
                <a:solidFill>
                  <a:srgbClr val="FFFFFF"/>
                </a:solidFill>
                <a:latin typeface="Calibri"/>
              </a:rPr>
              <a:t>Dual-Graph Termination</a:t>
            </a:r>
          </a:p>
        </p:txBody>
      </p:sp>
      <p:sp>
        <p:nvSpPr>
          <p:cNvPr id="48" name="TextBox 47"/>
          <p:cNvSpPr txBox="1"/>
          <p:nvPr/>
        </p:nvSpPr>
        <p:spPr>
          <a:xfrm>
            <a:off x="4297680" y="4672584"/>
            <a:ext cx="3611880" cy="685800"/>
          </a:xfrm>
          <a:prstGeom prst="rect">
            <a:avLst/>
          </a:prstGeom>
          <a:noFill/>
        </p:spPr>
        <p:txBody>
          <a:bodyPr wrap="square">
            <a:spAutoFit/>
          </a:bodyPr>
          <a:lstStyle/>
          <a:p>
            <a:pPr algn="l"/>
            <a:r>
              <a:rPr sz="1050" b="0" i="0">
                <a:solidFill>
                  <a:srgbClr val="A0AAB8"/>
                </a:solidFill>
                <a:latin typeface="Calibri"/>
              </a:rPr>
              <a:t>Mission completion is formally defined as the conjunction of ASG exhaustion (no unexplored nodes) and APG resolution.</a:t>
            </a:r>
          </a:p>
        </p:txBody>
      </p:sp>
      <p:sp>
        <p:nvSpPr>
          <p:cNvPr id="49" name="Rectangle 48"/>
          <p:cNvSpPr/>
          <p:nvPr/>
        </p:nvSpPr>
        <p:spPr>
          <a:xfrm>
            <a:off x="8101584"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101584"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4306824"/>
            <a:ext cx="475488" cy="292608"/>
          </a:xfrm>
          <a:prstGeom prst="rect">
            <a:avLst/>
          </a:prstGeom>
          <a:noFill/>
        </p:spPr>
        <p:txBody>
          <a:bodyPr wrap="square">
            <a:spAutoFit/>
          </a:bodyPr>
          <a:lstStyle/>
          <a:p>
            <a:pPr algn="ctr"/>
            <a:r>
              <a:rPr sz="1100" b="1" i="0">
                <a:solidFill>
                  <a:srgbClr val="0A0D1A"/>
                </a:solidFill>
                <a:latin typeface="Calibri"/>
              </a:rPr>
              <a:t>C9</a:t>
            </a:r>
          </a:p>
        </p:txBody>
      </p:sp>
      <p:sp>
        <p:nvSpPr>
          <p:cNvPr id="52" name="TextBox 51"/>
          <p:cNvSpPr txBox="1"/>
          <p:nvPr/>
        </p:nvSpPr>
        <p:spPr>
          <a:xfrm>
            <a:off x="8668512" y="4325112"/>
            <a:ext cx="3154680" cy="292608"/>
          </a:xfrm>
          <a:prstGeom prst="rect">
            <a:avLst/>
          </a:prstGeom>
          <a:noFill/>
        </p:spPr>
        <p:txBody>
          <a:bodyPr wrap="square">
            <a:spAutoFit/>
          </a:bodyPr>
          <a:lstStyle/>
          <a:p>
            <a:pPr algn="l"/>
            <a:r>
              <a:rPr sz="1200" b="1" i="0">
                <a:solidFill>
                  <a:srgbClr val="FFFFFF"/>
                </a:solidFill>
                <a:latin typeface="Calibri"/>
              </a:rPr>
              <a:t>Live CVE Grounding</a:t>
            </a:r>
          </a:p>
        </p:txBody>
      </p:sp>
      <p:sp>
        <p:nvSpPr>
          <p:cNvPr id="53" name="TextBox 52"/>
          <p:cNvSpPr txBox="1"/>
          <p:nvPr/>
        </p:nvSpPr>
        <p:spPr>
          <a:xfrm>
            <a:off x="8211312" y="4672584"/>
            <a:ext cx="3611880" cy="685800"/>
          </a:xfrm>
          <a:prstGeom prst="rect">
            <a:avLst/>
          </a:prstGeom>
          <a:noFill/>
        </p:spPr>
        <p:txBody>
          <a:bodyPr wrap="square">
            <a:spAutoFit/>
          </a:bodyPr>
          <a:lstStyle/>
          <a:p>
            <a:pPr algn="l"/>
            <a:r>
              <a:rPr sz="1050" b="0" i="0">
                <a:solidFill>
                  <a:srgbClr val="A0AAB8"/>
                </a:solidFill>
                <a:latin typeface="Calibri"/>
              </a:rPr>
              <a:t>Real-time vulnerability enrichment and exploit feasibility research via a scoped agent, written back into the ASG.</a:t>
            </a:r>
          </a:p>
        </p:txBody>
      </p:sp>
      <p:sp>
        <p:nvSpPr>
          <p:cNvPr id="54" name="Rectangle 53"/>
          <p:cNvSpPr/>
          <p:nvPr/>
        </p:nvSpPr>
        <p:spPr>
          <a:xfrm>
            <a:off x="274320"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 y="5559552"/>
            <a:ext cx="475488" cy="292608"/>
          </a:xfrm>
          <a:prstGeom prst="rect">
            <a:avLst/>
          </a:prstGeom>
          <a:noFill/>
        </p:spPr>
        <p:txBody>
          <a:bodyPr wrap="square">
            <a:spAutoFit/>
          </a:bodyPr>
          <a:lstStyle/>
          <a:p>
            <a:pPr algn="ctr"/>
            <a:r>
              <a:rPr sz="1100" b="1" i="0">
                <a:solidFill>
                  <a:srgbClr val="0A0D1A"/>
                </a:solidFill>
                <a:latin typeface="Calibri"/>
              </a:rPr>
              <a:t>C10</a:t>
            </a:r>
          </a:p>
        </p:txBody>
      </p:sp>
      <p:sp>
        <p:nvSpPr>
          <p:cNvPr id="57" name="TextBox 56"/>
          <p:cNvSpPr txBox="1"/>
          <p:nvPr/>
        </p:nvSpPr>
        <p:spPr>
          <a:xfrm>
            <a:off x="841248" y="5577840"/>
            <a:ext cx="3154680" cy="292608"/>
          </a:xfrm>
          <a:prstGeom prst="rect">
            <a:avLst/>
          </a:prstGeom>
          <a:noFill/>
        </p:spPr>
        <p:txBody>
          <a:bodyPr wrap="square">
            <a:spAutoFit/>
          </a:bodyPr>
          <a:lstStyle/>
          <a:p>
            <a:pPr algn="l"/>
            <a:r>
              <a:rPr sz="1200" b="1" i="0">
                <a:solidFill>
                  <a:srgbClr val="FFFFFF"/>
                </a:solidFill>
                <a:latin typeface="Calibri"/>
              </a:rPr>
              <a:t>Cross-Mission Experience</a:t>
            </a:r>
          </a:p>
        </p:txBody>
      </p:sp>
      <p:sp>
        <p:nvSpPr>
          <p:cNvPr id="58" name="TextBox 57"/>
          <p:cNvSpPr txBox="1"/>
          <p:nvPr/>
        </p:nvSpPr>
        <p:spPr>
          <a:xfrm>
            <a:off x="384048" y="5925312"/>
            <a:ext cx="3611880" cy="685800"/>
          </a:xfrm>
          <a:prstGeom prst="rect">
            <a:avLst/>
          </a:prstGeom>
          <a:noFill/>
        </p:spPr>
        <p:txBody>
          <a:bodyPr wrap="square">
            <a:spAutoFit/>
          </a:bodyPr>
          <a:lstStyle/>
          <a:p>
            <a:pPr algn="l"/>
            <a:r>
              <a:rPr sz="1050" b="0" i="0">
                <a:solidFill>
                  <a:srgbClr val="A0AAB8"/>
                </a:solidFill>
                <a:latin typeface="Calibri"/>
              </a:rPr>
              <a:t>Persistent RAG-backed store of validated exploitation outcomes across missions to seed APG hypotheses at mission start.</a:t>
            </a:r>
          </a:p>
        </p:txBody>
      </p:sp>
      <p:sp>
        <p:nvSpPr>
          <p:cNvPr id="59" name="Rectangle 58"/>
          <p:cNvSpPr/>
          <p:nvPr/>
        </p:nvSpPr>
        <p:spPr>
          <a:xfrm>
            <a:off x="4187952"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187952"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206240" y="5559552"/>
            <a:ext cx="475488" cy="292608"/>
          </a:xfrm>
          <a:prstGeom prst="rect">
            <a:avLst/>
          </a:prstGeom>
          <a:noFill/>
        </p:spPr>
        <p:txBody>
          <a:bodyPr wrap="square">
            <a:spAutoFit/>
          </a:bodyPr>
          <a:lstStyle/>
          <a:p>
            <a:pPr algn="ctr"/>
            <a:r>
              <a:rPr sz="1100" b="1" i="0">
                <a:solidFill>
                  <a:srgbClr val="0A0D1A"/>
                </a:solidFill>
                <a:latin typeface="Calibri"/>
              </a:rPr>
              <a:t>C11</a:t>
            </a:r>
          </a:p>
        </p:txBody>
      </p:sp>
      <p:sp>
        <p:nvSpPr>
          <p:cNvPr id="62" name="TextBox 61"/>
          <p:cNvSpPr txBox="1"/>
          <p:nvPr/>
        </p:nvSpPr>
        <p:spPr>
          <a:xfrm>
            <a:off x="4754880" y="5577840"/>
            <a:ext cx="3154680" cy="292608"/>
          </a:xfrm>
          <a:prstGeom prst="rect">
            <a:avLst/>
          </a:prstGeom>
          <a:noFill/>
        </p:spPr>
        <p:txBody>
          <a:bodyPr wrap="square">
            <a:spAutoFit/>
          </a:bodyPr>
          <a:lstStyle/>
          <a:p>
            <a:pPr algn="l"/>
            <a:r>
              <a:rPr sz="1200" b="1" i="0">
                <a:solidFill>
                  <a:srgbClr val="FFFFFF"/>
                </a:solidFill>
                <a:latin typeface="Calibri"/>
              </a:rPr>
              <a:t>Attack Strategy Library</a:t>
            </a:r>
          </a:p>
        </p:txBody>
      </p:sp>
      <p:sp>
        <p:nvSpPr>
          <p:cNvPr id="63" name="TextBox 62"/>
          <p:cNvSpPr txBox="1"/>
          <p:nvPr/>
        </p:nvSpPr>
        <p:spPr>
          <a:xfrm>
            <a:off x="4297680" y="5925312"/>
            <a:ext cx="3611880" cy="685800"/>
          </a:xfrm>
          <a:prstGeom prst="rect">
            <a:avLst/>
          </a:prstGeom>
          <a:noFill/>
        </p:spPr>
        <p:txBody>
          <a:bodyPr wrap="square">
            <a:spAutoFit/>
          </a:bodyPr>
          <a:lstStyle/>
          <a:p>
            <a:pPr algn="l"/>
            <a:r>
              <a:rPr sz="1050" b="0" i="0">
                <a:solidFill>
                  <a:srgbClr val="A0AAB8"/>
                </a:solidFill>
                <a:latin typeface="Calibri"/>
              </a:rPr>
              <a:t>Crystallizes validated chains into parameterized strategies when the same target fingerprint succeeds across missions.</a:t>
            </a:r>
          </a:p>
        </p:txBody>
      </p:sp>
      <p:sp>
        <p:nvSpPr>
          <p:cNvPr id="64" name="Rectangle 63"/>
          <p:cNvSpPr/>
          <p:nvPr/>
        </p:nvSpPr>
        <p:spPr>
          <a:xfrm>
            <a:off x="8101584"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101584"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119872" y="5559552"/>
            <a:ext cx="475488" cy="292608"/>
          </a:xfrm>
          <a:prstGeom prst="rect">
            <a:avLst/>
          </a:prstGeom>
          <a:noFill/>
        </p:spPr>
        <p:txBody>
          <a:bodyPr wrap="square">
            <a:spAutoFit/>
          </a:bodyPr>
          <a:lstStyle/>
          <a:p>
            <a:pPr algn="ctr"/>
            <a:r>
              <a:rPr sz="1100" b="1" i="0">
                <a:solidFill>
                  <a:srgbClr val="0A0D1A"/>
                </a:solidFill>
                <a:latin typeface="Calibri"/>
              </a:rPr>
              <a:t>C12</a:t>
            </a:r>
          </a:p>
        </p:txBody>
      </p:sp>
      <p:sp>
        <p:nvSpPr>
          <p:cNvPr id="67" name="TextBox 66"/>
          <p:cNvSpPr txBox="1"/>
          <p:nvPr/>
        </p:nvSpPr>
        <p:spPr>
          <a:xfrm>
            <a:off x="8668512" y="5577840"/>
            <a:ext cx="3154680" cy="292608"/>
          </a:xfrm>
          <a:prstGeom prst="rect">
            <a:avLst/>
          </a:prstGeom>
          <a:noFill/>
        </p:spPr>
        <p:txBody>
          <a:bodyPr wrap="square">
            <a:spAutoFit/>
          </a:bodyPr>
          <a:lstStyle/>
          <a:p>
            <a:pPr algn="l"/>
            <a:r>
              <a:rPr sz="1200" b="1" i="0">
                <a:solidFill>
                  <a:srgbClr val="FFFFFF"/>
                </a:solidFill>
                <a:latin typeface="Calibri"/>
              </a:rPr>
              <a:t>Trajectory Export Dataset</a:t>
            </a:r>
          </a:p>
        </p:txBody>
      </p:sp>
      <p:sp>
        <p:nvSpPr>
          <p:cNvPr id="68" name="TextBox 67"/>
          <p:cNvSpPr txBox="1"/>
          <p:nvPr/>
        </p:nvSpPr>
        <p:spPr>
          <a:xfrm>
            <a:off x="8211312" y="5925312"/>
            <a:ext cx="3611880" cy="685800"/>
          </a:xfrm>
          <a:prstGeom prst="rect">
            <a:avLst/>
          </a:prstGeom>
          <a:noFill/>
        </p:spPr>
        <p:txBody>
          <a:bodyPr wrap="square">
            <a:spAutoFit/>
          </a:bodyPr>
          <a:lstStyle/>
          <a:p>
            <a:pPr algn="l"/>
            <a:r>
              <a:rPr sz="1050" b="0" i="0">
                <a:solidFill>
                  <a:srgbClr val="A0AAB8"/>
                </a:solidFill>
                <a:latin typeface="Calibri"/>
              </a:rPr>
              <a:t>Every mission produces a machine-readable decision log capturing ASG/APG triggers, rationale, and actions taken.</a:t>
            </a:r>
          </a:p>
        </p:txBody>
      </p:sp>
      <p:sp>
        <p:nvSpPr>
          <p:cNvPr id="69" name="TextBox 68"/>
          <p:cNvSpPr txBox="1"/>
          <p:nvPr/>
        </p:nvSpPr>
        <p:spPr>
          <a:xfrm>
            <a:off x="11780215" y="6355080"/>
            <a:ext cx="384048" cy="411480"/>
          </a:xfrm>
          <a:prstGeom prst="rect">
            <a:avLst/>
          </a:prstGeom>
          <a:noFill/>
        </p:spPr>
        <p:txBody>
          <a:bodyPr wrap="square">
            <a:spAutoFit/>
          </a:bodyPr>
          <a:lstStyle/>
          <a:p>
            <a:pPr algn="r"/>
            <a:r>
              <a:rPr sz="1300" b="1" i="0">
                <a:solidFill>
                  <a:srgbClr val="FFD70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39FF14"/>
                </a:solidFill>
                <a:latin typeface="Calibri"/>
              </a:rPr>
              <a:t>WHAT CMATRIX UNIQUELY INTRODUCES</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The Architecture No Prior Autonomous VAPT System Has Built</a:t>
            </a:r>
          </a:p>
        </p:txBody>
      </p:sp>
      <p:sp>
        <p:nvSpPr>
          <p:cNvPr id="7" name="Rectangle 6"/>
          <p:cNvSpPr/>
          <p:nvPr/>
        </p:nvSpPr>
        <p:spPr>
          <a:xfrm>
            <a:off x="274320" y="822960"/>
            <a:ext cx="10058400" cy="274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60120"/>
            <a:ext cx="228600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005840"/>
            <a:ext cx="2176272" cy="219456"/>
          </a:xfrm>
          <a:prstGeom prst="rect">
            <a:avLst/>
          </a:prstGeom>
          <a:noFill/>
        </p:spPr>
        <p:txBody>
          <a:bodyPr wrap="square">
            <a:spAutoFit/>
          </a:bodyPr>
          <a:lstStyle/>
          <a:p>
            <a:pPr algn="ctr"/>
            <a:r>
              <a:rPr sz="950" b="1" i="0">
                <a:solidFill>
                  <a:srgbClr val="0A0D1A"/>
                </a:solidFill>
                <a:latin typeface="Calibri"/>
              </a:rPr>
              <a:t>AREA</a:t>
            </a:r>
          </a:p>
        </p:txBody>
      </p:sp>
      <p:sp>
        <p:nvSpPr>
          <p:cNvPr id="10" name="Rectangle 9"/>
          <p:cNvSpPr/>
          <p:nvPr/>
        </p:nvSpPr>
        <p:spPr>
          <a:xfrm>
            <a:off x="2578608" y="960120"/>
            <a:ext cx="4480560" cy="29260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1005840"/>
            <a:ext cx="4370832" cy="219456"/>
          </a:xfrm>
          <a:prstGeom prst="rect">
            <a:avLst/>
          </a:prstGeom>
          <a:noFill/>
        </p:spPr>
        <p:txBody>
          <a:bodyPr wrap="square">
            <a:spAutoFit/>
          </a:bodyPr>
          <a:lstStyle/>
          <a:p>
            <a:pPr algn="ctr"/>
            <a:r>
              <a:rPr sz="950" b="1" i="0">
                <a:solidFill>
                  <a:srgbClr val="FFFFFF"/>
                </a:solidFill>
                <a:latin typeface="Calibri"/>
              </a:rPr>
              <a:t>WHAT EXISTS</a:t>
            </a:r>
          </a:p>
        </p:txBody>
      </p:sp>
      <p:sp>
        <p:nvSpPr>
          <p:cNvPr id="12" name="Rectangle 11"/>
          <p:cNvSpPr/>
          <p:nvPr/>
        </p:nvSpPr>
        <p:spPr>
          <a:xfrm>
            <a:off x="7242048" y="960120"/>
            <a:ext cx="4754880"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005840"/>
            <a:ext cx="4645152" cy="219456"/>
          </a:xfrm>
          <a:prstGeom prst="rect">
            <a:avLst/>
          </a:prstGeom>
          <a:noFill/>
        </p:spPr>
        <p:txBody>
          <a:bodyPr wrap="square">
            <a:spAutoFit/>
          </a:bodyPr>
          <a:lstStyle/>
          <a:p>
            <a:pPr algn="ctr"/>
            <a:r>
              <a:rPr sz="950" b="1" i="0">
                <a:solidFill>
                  <a:srgbClr val="0A0D1A"/>
                </a:solidFill>
                <a:latin typeface="Calibri"/>
              </a:rPr>
              <a:t>CMATRIX INTRODUCES</a:t>
            </a:r>
          </a:p>
        </p:txBody>
      </p:sp>
      <p:sp>
        <p:nvSpPr>
          <p:cNvPr id="14" name="Rectangle 13"/>
          <p:cNvSpPr/>
          <p:nvPr/>
        </p:nvSpPr>
        <p:spPr>
          <a:xfrm>
            <a:off x="201168" y="1289304"/>
            <a:ext cx="2286000" cy="1273302"/>
          </a:xfrm>
          <a:prstGeom prst="rect">
            <a:avLst/>
          </a:prstGeom>
          <a:solidFill>
            <a:srgbClr val="0C0C1A"/>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1168" y="1289304"/>
            <a:ext cx="54864" cy="127330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1380744"/>
            <a:ext cx="2103120" cy="1108710"/>
          </a:xfrm>
          <a:prstGeom prst="rect">
            <a:avLst/>
          </a:prstGeom>
          <a:noFill/>
        </p:spPr>
        <p:txBody>
          <a:bodyPr wrap="square">
            <a:spAutoFit/>
          </a:bodyPr>
          <a:lstStyle/>
          <a:p>
            <a:pPr algn="ctr"/>
            <a:r>
              <a:rPr sz="1100" b="1" i="0">
                <a:solidFill>
                  <a:srgbClr val="00E5FF"/>
                </a:solidFill>
                <a:latin typeface="Calibri"/>
              </a:rPr>
              <a:t>World
Model</a:t>
            </a:r>
          </a:p>
        </p:txBody>
      </p:sp>
      <p:sp>
        <p:nvSpPr>
          <p:cNvPr id="17" name="Rectangle 16"/>
          <p:cNvSpPr/>
          <p:nvPr/>
        </p:nvSpPr>
        <p:spPr>
          <a:xfrm>
            <a:off x="2578608" y="1289304"/>
            <a:ext cx="4480560" cy="1273302"/>
          </a:xfrm>
          <a:prstGeom prst="rect">
            <a:avLst/>
          </a:prstGeom>
          <a:solidFill>
            <a:srgbClr val="0C0C1A"/>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70048" y="1344168"/>
            <a:ext cx="4297680" cy="1181862"/>
          </a:xfrm>
          <a:prstGeom prst="rect">
            <a:avLst/>
          </a:prstGeom>
          <a:noFill/>
        </p:spPr>
        <p:txBody>
          <a:bodyPr wrap="square">
            <a:spAutoFit/>
          </a:bodyPr>
          <a:lstStyle/>
          <a:p>
            <a:pPr algn="l"/>
            <a:r>
              <a:rPr sz="900" b="0" i="0">
                <a:solidFill>
                  <a:srgbClr val="A0AAB8"/>
                </a:solidFill>
                <a:latin typeface="Calibri"/>
              </a:rPr>
              <a:t>Flat conversation history (PentestGPT)  ·  Task queues (VulnBot)  ·  RAG-backed untyped memory (PentestAgent)</a:t>
            </a:r>
          </a:p>
        </p:txBody>
      </p:sp>
      <p:sp>
        <p:nvSpPr>
          <p:cNvPr id="19" name="Rectangle 18"/>
          <p:cNvSpPr/>
          <p:nvPr/>
        </p:nvSpPr>
        <p:spPr>
          <a:xfrm>
            <a:off x="7242048" y="1289304"/>
            <a:ext cx="4754880" cy="1273302"/>
          </a:xfrm>
          <a:prstGeom prst="rect">
            <a:avLst/>
          </a:prstGeom>
          <a:solidFill>
            <a:srgbClr val="041406"/>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33488" y="1344168"/>
            <a:ext cx="4572000" cy="1181862"/>
          </a:xfrm>
          <a:prstGeom prst="rect">
            <a:avLst/>
          </a:prstGeom>
          <a:noFill/>
        </p:spPr>
        <p:txBody>
          <a:bodyPr wrap="square">
            <a:spAutoFit/>
          </a:bodyPr>
          <a:lstStyle/>
          <a:p>
            <a:pPr algn="l"/>
            <a:r>
              <a:rPr sz="900" b="0" i="0">
                <a:solidFill>
                  <a:srgbClr val="39FF14"/>
                </a:solidFill>
                <a:latin typeface="Calibri"/>
              </a:rPr>
              <a:t>Dual typed property graphs: ASG (confirmed facts) + APG (attack reasoning).  Strict write separation enforced per agent role.  Graph edges express relationships (affected_by, starts_at) that vector similarity cannot represent.</a:t>
            </a:r>
          </a:p>
        </p:txBody>
      </p:sp>
      <p:sp>
        <p:nvSpPr>
          <p:cNvPr id="21" name="Rectangle 20"/>
          <p:cNvSpPr/>
          <p:nvPr/>
        </p:nvSpPr>
        <p:spPr>
          <a:xfrm>
            <a:off x="201168" y="2617470"/>
            <a:ext cx="2286000" cy="1273302"/>
          </a:xfrm>
          <a:prstGeom prst="rect">
            <a:avLst/>
          </a:prstGeom>
          <a:solidFill>
            <a:srgbClr val="080814"/>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1168" y="2617470"/>
            <a:ext cx="54864" cy="127330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 y="2708910"/>
            <a:ext cx="2103120" cy="1108710"/>
          </a:xfrm>
          <a:prstGeom prst="rect">
            <a:avLst/>
          </a:prstGeom>
          <a:noFill/>
        </p:spPr>
        <p:txBody>
          <a:bodyPr wrap="square">
            <a:spAutoFit/>
          </a:bodyPr>
          <a:lstStyle/>
          <a:p>
            <a:pPr algn="ctr"/>
            <a:r>
              <a:rPr sz="1100" b="1" i="0">
                <a:solidFill>
                  <a:srgbClr val="00BFD8"/>
                </a:solidFill>
                <a:latin typeface="Calibri"/>
              </a:rPr>
              <a:t>Termination
Logic</a:t>
            </a:r>
          </a:p>
        </p:txBody>
      </p:sp>
      <p:sp>
        <p:nvSpPr>
          <p:cNvPr id="24" name="Rectangle 23"/>
          <p:cNvSpPr/>
          <p:nvPr/>
        </p:nvSpPr>
        <p:spPr>
          <a:xfrm>
            <a:off x="2578608" y="2617470"/>
            <a:ext cx="4480560" cy="1273302"/>
          </a:xfrm>
          <a:prstGeom prst="rect">
            <a:avLst/>
          </a:prstGeom>
          <a:solidFill>
            <a:srgbClr val="080814"/>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70048" y="2672334"/>
            <a:ext cx="4297680" cy="1181862"/>
          </a:xfrm>
          <a:prstGeom prst="rect">
            <a:avLst/>
          </a:prstGeom>
          <a:noFill/>
        </p:spPr>
        <p:txBody>
          <a:bodyPr wrap="square">
            <a:spAutoFit/>
          </a:bodyPr>
          <a:lstStyle/>
          <a:p>
            <a:pPr algn="l"/>
            <a:r>
              <a:rPr sz="900" b="0" i="0">
                <a:solidFill>
                  <a:srgbClr val="A0AAB8"/>
                </a:solidFill>
                <a:latin typeface="Calibri"/>
              </a:rPr>
              <a:t>Wall-clock timeout (PentestGPT)  ·  Empty task queue (VulnBot)  ·  Ad-hoc human decision (most systems)</a:t>
            </a:r>
          </a:p>
        </p:txBody>
      </p:sp>
      <p:sp>
        <p:nvSpPr>
          <p:cNvPr id="26" name="Rectangle 25"/>
          <p:cNvSpPr/>
          <p:nvPr/>
        </p:nvSpPr>
        <p:spPr>
          <a:xfrm>
            <a:off x="7242048" y="2617470"/>
            <a:ext cx="4754880" cy="1273302"/>
          </a:xfrm>
          <a:prstGeom prst="rect">
            <a:avLst/>
          </a:prstGeom>
          <a:solidFill>
            <a:srgbClr val="041406"/>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33488" y="2672334"/>
            <a:ext cx="4572000" cy="1181862"/>
          </a:xfrm>
          <a:prstGeom prst="rect">
            <a:avLst/>
          </a:prstGeom>
          <a:noFill/>
        </p:spPr>
        <p:txBody>
          <a:bodyPr wrap="square">
            <a:spAutoFit/>
          </a:bodyPr>
          <a:lstStyle/>
          <a:p>
            <a:pPr algn="l"/>
            <a:r>
              <a:rPr sz="900" b="0" i="0">
                <a:solidFill>
                  <a:srgbClr val="39FF14"/>
                </a:solidFill>
                <a:latin typeface="Calibri"/>
              </a:rPr>
              <a:t>Formal dual condition: ASG exhaustion (∀ node.status = INVESTIGATED)  AND  APG resolution (∀ chain.status ∈ {VALIDATED, RULED_OUT}).  Both required simultaneously.</a:t>
            </a:r>
          </a:p>
        </p:txBody>
      </p:sp>
      <p:sp>
        <p:nvSpPr>
          <p:cNvPr id="28" name="Rectangle 27"/>
          <p:cNvSpPr/>
          <p:nvPr/>
        </p:nvSpPr>
        <p:spPr>
          <a:xfrm>
            <a:off x="201168" y="3945636"/>
            <a:ext cx="2286000" cy="1273302"/>
          </a:xfrm>
          <a:prstGeom prst="rect">
            <a:avLst/>
          </a:prstGeom>
          <a:solidFill>
            <a:srgbClr val="0C0C1A"/>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1168" y="3945636"/>
            <a:ext cx="54864" cy="127330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 y="4037076"/>
            <a:ext cx="2103120" cy="1108710"/>
          </a:xfrm>
          <a:prstGeom prst="rect">
            <a:avLst/>
          </a:prstGeom>
          <a:noFill/>
        </p:spPr>
        <p:txBody>
          <a:bodyPr wrap="square">
            <a:spAutoFit/>
          </a:bodyPr>
          <a:lstStyle/>
          <a:p>
            <a:pPr algn="ctr"/>
            <a:r>
              <a:rPr sz="1100" b="1" i="0">
                <a:solidFill>
                  <a:srgbClr val="FFD700"/>
                </a:solidFill>
                <a:latin typeface="Calibri"/>
              </a:rPr>
              <a:t>Cross-Mission
Learning</a:t>
            </a:r>
          </a:p>
        </p:txBody>
      </p:sp>
      <p:sp>
        <p:nvSpPr>
          <p:cNvPr id="31" name="Rectangle 30"/>
          <p:cNvSpPr/>
          <p:nvPr/>
        </p:nvSpPr>
        <p:spPr>
          <a:xfrm>
            <a:off x="2578608" y="3945636"/>
            <a:ext cx="4480560" cy="1273302"/>
          </a:xfrm>
          <a:prstGeom prst="rect">
            <a:avLst/>
          </a:prstGeom>
          <a:solidFill>
            <a:srgbClr val="0C0C1A"/>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70048" y="4000500"/>
            <a:ext cx="4297680" cy="1181862"/>
          </a:xfrm>
          <a:prstGeom prst="rect">
            <a:avLst/>
          </a:prstGeom>
          <a:noFill/>
        </p:spPr>
        <p:txBody>
          <a:bodyPr wrap="square">
            <a:spAutoFit/>
          </a:bodyPr>
          <a:lstStyle/>
          <a:p>
            <a:pPr algn="l"/>
            <a:r>
              <a:rPr sz="900" b="0" i="0">
                <a:solidFill>
                  <a:srgbClr val="A0AAB8"/>
                </a:solidFill>
                <a:latin typeface="Calibri"/>
              </a:rPr>
              <a:t>AutoAttacker reuses subtasks within one session.  All other prior systems reset to zero knowledge on each mission.</a:t>
            </a:r>
          </a:p>
        </p:txBody>
      </p:sp>
      <p:sp>
        <p:nvSpPr>
          <p:cNvPr id="33" name="Rectangle 32"/>
          <p:cNvSpPr/>
          <p:nvPr/>
        </p:nvSpPr>
        <p:spPr>
          <a:xfrm>
            <a:off x="7242048" y="3945636"/>
            <a:ext cx="4754880" cy="1273302"/>
          </a:xfrm>
          <a:prstGeom prst="rect">
            <a:avLst/>
          </a:prstGeom>
          <a:solidFill>
            <a:srgbClr val="041406"/>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4000500"/>
            <a:ext cx="4572000" cy="1181862"/>
          </a:xfrm>
          <a:prstGeom prst="rect">
            <a:avLst/>
          </a:prstGeom>
          <a:noFill/>
        </p:spPr>
        <p:txBody>
          <a:bodyPr wrap="square">
            <a:spAutoFit/>
          </a:bodyPr>
          <a:lstStyle/>
          <a:p>
            <a:pPr algn="l"/>
            <a:r>
              <a:rPr sz="900" b="0" i="0">
                <a:solidFill>
                  <a:srgbClr val="39FF14"/>
                </a:solidFill>
                <a:latin typeface="Calibri"/>
              </a:rPr>
              <a:t>Cross-Mission Experience Store (C10) + Attack Strategy Library (C11):  validated exploitation outcomes accumulate across every mission ever run.  Pre-ranked APG seeds at mission start for known target-type fingerprints.</a:t>
            </a:r>
          </a:p>
        </p:txBody>
      </p:sp>
      <p:sp>
        <p:nvSpPr>
          <p:cNvPr id="35" name="Rectangle 34"/>
          <p:cNvSpPr/>
          <p:nvPr/>
        </p:nvSpPr>
        <p:spPr>
          <a:xfrm>
            <a:off x="201168" y="5273802"/>
            <a:ext cx="2286000" cy="1273302"/>
          </a:xfrm>
          <a:prstGeom prst="rect">
            <a:avLst/>
          </a:prstGeom>
          <a:solidFill>
            <a:srgbClr val="080814"/>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5273802"/>
            <a:ext cx="54864" cy="127330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5365242"/>
            <a:ext cx="2103120" cy="1108710"/>
          </a:xfrm>
          <a:prstGeom prst="rect">
            <a:avLst/>
          </a:prstGeom>
          <a:noFill/>
        </p:spPr>
        <p:txBody>
          <a:bodyPr wrap="square">
            <a:spAutoFit/>
          </a:bodyPr>
          <a:lstStyle/>
          <a:p>
            <a:pPr algn="ctr"/>
            <a:r>
              <a:rPr sz="1100" b="1" i="0">
                <a:solidFill>
                  <a:srgbClr val="BD93F9"/>
                </a:solidFill>
                <a:latin typeface="Calibri"/>
              </a:rPr>
              <a:t>Trajectory
Export</a:t>
            </a:r>
          </a:p>
        </p:txBody>
      </p:sp>
      <p:sp>
        <p:nvSpPr>
          <p:cNvPr id="38" name="Rectangle 37"/>
          <p:cNvSpPr/>
          <p:nvPr/>
        </p:nvSpPr>
        <p:spPr>
          <a:xfrm>
            <a:off x="2578608" y="5273802"/>
            <a:ext cx="4480560" cy="1273302"/>
          </a:xfrm>
          <a:prstGeom prst="rect">
            <a:avLst/>
          </a:prstGeom>
          <a:solidFill>
            <a:srgbClr val="080814"/>
          </a:solidFill>
          <a:ln w="635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70048" y="5328666"/>
            <a:ext cx="4297680" cy="1181862"/>
          </a:xfrm>
          <a:prstGeom prst="rect">
            <a:avLst/>
          </a:prstGeom>
          <a:noFill/>
        </p:spPr>
        <p:txBody>
          <a:bodyPr wrap="square">
            <a:spAutoFit/>
          </a:bodyPr>
          <a:lstStyle/>
          <a:p>
            <a:pPr algn="l"/>
            <a:r>
              <a:rPr sz="900" b="0" i="0">
                <a:solidFill>
                  <a:srgbClr val="A0AAB8"/>
                </a:solidFill>
                <a:latin typeface="Calibri"/>
              </a:rPr>
              <a:t>No prior autonomous VAPT system produces machine-readable decision logs usable for ML training.</a:t>
            </a:r>
          </a:p>
        </p:txBody>
      </p:sp>
      <p:sp>
        <p:nvSpPr>
          <p:cNvPr id="40" name="Rectangle 39"/>
          <p:cNvSpPr/>
          <p:nvPr/>
        </p:nvSpPr>
        <p:spPr>
          <a:xfrm>
            <a:off x="7242048" y="5273802"/>
            <a:ext cx="4754880" cy="1273302"/>
          </a:xfrm>
          <a:prstGeom prst="rect">
            <a:avLst/>
          </a:prstGeom>
          <a:solidFill>
            <a:srgbClr val="041406"/>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33488" y="5328666"/>
            <a:ext cx="4572000" cy="1181862"/>
          </a:xfrm>
          <a:prstGeom prst="rect">
            <a:avLst/>
          </a:prstGeom>
          <a:noFill/>
        </p:spPr>
        <p:txBody>
          <a:bodyPr wrap="square">
            <a:spAutoFit/>
          </a:bodyPr>
          <a:lstStyle/>
          <a:p>
            <a:pPr algn="l"/>
            <a:r>
              <a:rPr sz="900" b="0" i="0">
                <a:solidFill>
                  <a:srgbClr val="39FF14"/>
                </a:solidFill>
                <a:latin typeface="Calibri"/>
              </a:rPr>
              <a:t>C12: every mission generates a structured decision log capturing ASG/APG triggers, Commander rationale, and actions taken.  Directly usable as SFT/RL training data for security-specialized LLMs.</a:t>
            </a:r>
          </a:p>
        </p:txBody>
      </p:sp>
      <p:sp>
        <p:nvSpPr>
          <p:cNvPr id="42" name="TextBox 41"/>
          <p:cNvSpPr txBox="1"/>
          <p:nvPr/>
        </p:nvSpPr>
        <p:spPr>
          <a:xfrm>
            <a:off x="11780215" y="6355080"/>
            <a:ext cx="384048" cy="411480"/>
          </a:xfrm>
          <a:prstGeom prst="rect">
            <a:avLst/>
          </a:prstGeom>
          <a:noFill/>
        </p:spPr>
        <p:txBody>
          <a:bodyPr wrap="square">
            <a:spAutoFit/>
          </a:bodyPr>
          <a:lstStyle/>
          <a:p>
            <a:pPr algn="r"/>
            <a:r>
              <a:rPr sz="1300" b="1" i="0">
                <a:solidFill>
                  <a:srgbClr val="39FF14"/>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EVALUATION PLAN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How We Will Validate CMatrix Claims Empirically</a:t>
            </a:r>
          </a:p>
        </p:txBody>
      </p:sp>
      <p:sp>
        <p:nvSpPr>
          <p:cNvPr id="7" name="Rectangle 6"/>
          <p:cNvSpPr/>
          <p:nvPr/>
        </p:nvSpPr>
        <p:spPr>
          <a:xfrm>
            <a:off x="274320" y="822960"/>
            <a:ext cx="8229600" cy="274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87552"/>
            <a:ext cx="5852160" cy="2286000"/>
          </a:xfrm>
          <a:prstGeom prst="rect">
            <a:avLst/>
          </a:prstGeom>
          <a:solidFill>
            <a:srgbClr val="0C10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987552"/>
            <a:ext cx="5852160" cy="29260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024128"/>
            <a:ext cx="5852160" cy="237744"/>
          </a:xfrm>
          <a:prstGeom prst="rect">
            <a:avLst/>
          </a:prstGeom>
          <a:noFill/>
        </p:spPr>
        <p:txBody>
          <a:bodyPr wrap="square">
            <a:spAutoFit/>
          </a:bodyPr>
          <a:lstStyle/>
          <a:p>
            <a:pPr algn="ctr"/>
            <a:r>
              <a:rPr sz="1000" b="1" i="0">
                <a:solidFill>
                  <a:srgbClr val="0A0D1A"/>
                </a:solidFill>
                <a:latin typeface="Calibri"/>
              </a:rPr>
              <a:t>EVALUATION PLATFORMS</a:t>
            </a:r>
          </a:p>
        </p:txBody>
      </p:sp>
      <p:sp>
        <p:nvSpPr>
          <p:cNvPr id="11" name="Rectangle 10"/>
          <p:cNvSpPr/>
          <p:nvPr/>
        </p:nvSpPr>
        <p:spPr>
          <a:xfrm>
            <a:off x="292608" y="1335024"/>
            <a:ext cx="5669280" cy="566928"/>
          </a:xfrm>
          <a:prstGeom prst="rect">
            <a:avLst/>
          </a:prstGeom>
          <a:solidFill>
            <a:srgbClr val="081424"/>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371600"/>
            <a:ext cx="5559552" cy="201168"/>
          </a:xfrm>
          <a:prstGeom prst="rect">
            <a:avLst/>
          </a:prstGeom>
          <a:noFill/>
        </p:spPr>
        <p:txBody>
          <a:bodyPr wrap="square">
            <a:spAutoFit/>
          </a:bodyPr>
          <a:lstStyle/>
          <a:p>
            <a:pPr algn="l"/>
            <a:r>
              <a:rPr sz="1000" b="1" i="0">
                <a:solidFill>
                  <a:srgbClr val="00E5FF"/>
                </a:solidFill>
                <a:latin typeface="Calibri"/>
              </a:rPr>
              <a:t>HackTheBox (HTB)</a:t>
            </a:r>
          </a:p>
        </p:txBody>
      </p:sp>
      <p:sp>
        <p:nvSpPr>
          <p:cNvPr id="13" name="TextBox 12"/>
          <p:cNvSpPr txBox="1"/>
          <p:nvPr/>
        </p:nvSpPr>
        <p:spPr>
          <a:xfrm>
            <a:off x="384048" y="1591056"/>
            <a:ext cx="5559552" cy="274320"/>
          </a:xfrm>
          <a:prstGeom prst="rect">
            <a:avLst/>
          </a:prstGeom>
          <a:noFill/>
        </p:spPr>
        <p:txBody>
          <a:bodyPr wrap="square">
            <a:spAutoFit/>
          </a:bodyPr>
          <a:lstStyle/>
          <a:p>
            <a:pPr algn="l"/>
            <a:r>
              <a:rPr sz="900" b="0" i="0">
                <a:solidFill>
                  <a:srgbClr val="A0AAB8"/>
                </a:solidFill>
                <a:latin typeface="Calibri"/>
              </a:rPr>
              <a:t>Retired machines — Linux + Windows — known ground-truth vulnerabilities for coverage scoring.</a:t>
            </a:r>
          </a:p>
        </p:txBody>
      </p:sp>
      <p:sp>
        <p:nvSpPr>
          <p:cNvPr id="14" name="Rectangle 13"/>
          <p:cNvSpPr/>
          <p:nvPr/>
        </p:nvSpPr>
        <p:spPr>
          <a:xfrm>
            <a:off x="292608" y="1956816"/>
            <a:ext cx="5669280" cy="566928"/>
          </a:xfrm>
          <a:prstGeom prst="rect">
            <a:avLst/>
          </a:prstGeom>
          <a:solidFill>
            <a:srgbClr val="081424"/>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993392"/>
            <a:ext cx="5559552" cy="201168"/>
          </a:xfrm>
          <a:prstGeom prst="rect">
            <a:avLst/>
          </a:prstGeom>
          <a:noFill/>
        </p:spPr>
        <p:txBody>
          <a:bodyPr wrap="square">
            <a:spAutoFit/>
          </a:bodyPr>
          <a:lstStyle/>
          <a:p>
            <a:pPr algn="l"/>
            <a:r>
              <a:rPr sz="1000" b="1" i="0">
                <a:solidFill>
                  <a:srgbClr val="39FF14"/>
                </a:solidFill>
                <a:latin typeface="Calibri"/>
              </a:rPr>
              <a:t>TryHackMe (THM)</a:t>
            </a:r>
          </a:p>
        </p:txBody>
      </p:sp>
      <p:sp>
        <p:nvSpPr>
          <p:cNvPr id="16" name="TextBox 15"/>
          <p:cNvSpPr txBox="1"/>
          <p:nvPr/>
        </p:nvSpPr>
        <p:spPr>
          <a:xfrm>
            <a:off x="384048" y="2212848"/>
            <a:ext cx="5559552" cy="274320"/>
          </a:xfrm>
          <a:prstGeom prst="rect">
            <a:avLst/>
          </a:prstGeom>
          <a:noFill/>
        </p:spPr>
        <p:txBody>
          <a:bodyPr wrap="square">
            <a:spAutoFit/>
          </a:bodyPr>
          <a:lstStyle/>
          <a:p>
            <a:pPr algn="l"/>
            <a:r>
              <a:rPr sz="900" b="0" i="0">
                <a:solidFill>
                  <a:srgbClr val="A0AAB8"/>
                </a:solidFill>
                <a:latin typeface="Calibri"/>
              </a:rPr>
              <a:t>Guided CTF environments with intentionally vulnerable web applications and APIs.</a:t>
            </a:r>
          </a:p>
        </p:txBody>
      </p:sp>
      <p:sp>
        <p:nvSpPr>
          <p:cNvPr id="17" name="Rectangle 16"/>
          <p:cNvSpPr/>
          <p:nvPr/>
        </p:nvSpPr>
        <p:spPr>
          <a:xfrm>
            <a:off x="292608" y="2578608"/>
            <a:ext cx="5669280" cy="566928"/>
          </a:xfrm>
          <a:prstGeom prst="rect">
            <a:avLst/>
          </a:prstGeom>
          <a:solidFill>
            <a:srgbClr val="081424"/>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2615184"/>
            <a:ext cx="5559552" cy="201168"/>
          </a:xfrm>
          <a:prstGeom prst="rect">
            <a:avLst/>
          </a:prstGeom>
          <a:noFill/>
        </p:spPr>
        <p:txBody>
          <a:bodyPr wrap="square">
            <a:spAutoFit/>
          </a:bodyPr>
          <a:lstStyle/>
          <a:p>
            <a:pPr algn="l"/>
            <a:r>
              <a:rPr sz="1000" b="1" i="0">
                <a:solidFill>
                  <a:srgbClr val="FFD700"/>
                </a:solidFill>
                <a:latin typeface="Calibri"/>
              </a:rPr>
              <a:t>Custom Lab VMs</a:t>
            </a:r>
          </a:p>
        </p:txBody>
      </p:sp>
      <p:sp>
        <p:nvSpPr>
          <p:cNvPr id="19" name="TextBox 18"/>
          <p:cNvSpPr txBox="1"/>
          <p:nvPr/>
        </p:nvSpPr>
        <p:spPr>
          <a:xfrm>
            <a:off x="384048" y="2834640"/>
            <a:ext cx="5559552" cy="274320"/>
          </a:xfrm>
          <a:prstGeom prst="rect">
            <a:avLst/>
          </a:prstGeom>
          <a:noFill/>
        </p:spPr>
        <p:txBody>
          <a:bodyPr wrap="square">
            <a:spAutoFit/>
          </a:bodyPr>
          <a:lstStyle/>
          <a:p>
            <a:pPr algn="l"/>
            <a:r>
              <a:rPr sz="900" b="0" i="0">
                <a:solidFill>
                  <a:srgbClr val="A0AAB8"/>
                </a:solidFill>
                <a:latin typeface="Calibri"/>
              </a:rPr>
              <a:t>Controlled WordPress + Django stack mirroring shopvault.io for repeatable A/B testing.</a:t>
            </a:r>
          </a:p>
        </p:txBody>
      </p:sp>
      <p:sp>
        <p:nvSpPr>
          <p:cNvPr id="20" name="Rectangle 19"/>
          <p:cNvSpPr/>
          <p:nvPr/>
        </p:nvSpPr>
        <p:spPr>
          <a:xfrm>
            <a:off x="201168" y="3364992"/>
            <a:ext cx="5852160" cy="3438144"/>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1168" y="3364992"/>
            <a:ext cx="5852160" cy="29260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401568"/>
            <a:ext cx="5852160" cy="237744"/>
          </a:xfrm>
          <a:prstGeom prst="rect">
            <a:avLst/>
          </a:prstGeom>
          <a:noFill/>
        </p:spPr>
        <p:txBody>
          <a:bodyPr wrap="square">
            <a:spAutoFit/>
          </a:bodyPr>
          <a:lstStyle/>
          <a:p>
            <a:pPr algn="ctr"/>
            <a:r>
              <a:rPr sz="1000" b="1" i="0">
                <a:solidFill>
                  <a:srgbClr val="0A0D1A"/>
                </a:solidFill>
                <a:latin typeface="Calibri"/>
              </a:rPr>
              <a:t>RESEARCH QUESTIONS</a:t>
            </a:r>
          </a:p>
        </p:txBody>
      </p:sp>
      <p:sp>
        <p:nvSpPr>
          <p:cNvPr id="23" name="Rectangle 22"/>
          <p:cNvSpPr/>
          <p:nvPr/>
        </p:nvSpPr>
        <p:spPr>
          <a:xfrm>
            <a:off x="292608" y="3712464"/>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3877056"/>
            <a:ext cx="384048" cy="292608"/>
          </a:xfrm>
          <a:prstGeom prst="rect">
            <a:avLst/>
          </a:prstGeom>
          <a:noFill/>
        </p:spPr>
        <p:txBody>
          <a:bodyPr wrap="square">
            <a:spAutoFit/>
          </a:bodyPr>
          <a:lstStyle/>
          <a:p>
            <a:pPr algn="ctr"/>
            <a:r>
              <a:rPr sz="1000" b="1" i="0">
                <a:solidFill>
                  <a:srgbClr val="0A0D1A"/>
                </a:solidFill>
                <a:latin typeface="Calibri"/>
              </a:rPr>
              <a:t>RQ1</a:t>
            </a:r>
          </a:p>
        </p:txBody>
      </p:sp>
      <p:sp>
        <p:nvSpPr>
          <p:cNvPr id="25" name="TextBox 24"/>
          <p:cNvSpPr txBox="1"/>
          <p:nvPr/>
        </p:nvSpPr>
        <p:spPr>
          <a:xfrm>
            <a:off x="768096" y="3749040"/>
            <a:ext cx="5175504" cy="585216"/>
          </a:xfrm>
          <a:prstGeom prst="rect">
            <a:avLst/>
          </a:prstGeom>
          <a:noFill/>
        </p:spPr>
        <p:txBody>
          <a:bodyPr wrap="square">
            <a:spAutoFit/>
          </a:bodyPr>
          <a:lstStyle/>
          <a:p>
            <a:pPr algn="l"/>
            <a:r>
              <a:rPr sz="900" b="0" i="0">
                <a:solidFill>
                  <a:srgbClr val="A0AAB8"/>
                </a:solidFill>
                <a:latin typeface="Calibri"/>
              </a:rPr>
              <a:t>Does the dual-graph architecture improve vulnerability coverage compared to a flat-memory baseline?</a:t>
            </a:r>
          </a:p>
        </p:txBody>
      </p:sp>
      <p:sp>
        <p:nvSpPr>
          <p:cNvPr id="26" name="Rectangle 25"/>
          <p:cNvSpPr/>
          <p:nvPr/>
        </p:nvSpPr>
        <p:spPr>
          <a:xfrm>
            <a:off x="292608" y="4462272"/>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4626864"/>
            <a:ext cx="384048" cy="292608"/>
          </a:xfrm>
          <a:prstGeom prst="rect">
            <a:avLst/>
          </a:prstGeom>
          <a:noFill/>
        </p:spPr>
        <p:txBody>
          <a:bodyPr wrap="square">
            <a:spAutoFit/>
          </a:bodyPr>
          <a:lstStyle/>
          <a:p>
            <a:pPr algn="ctr"/>
            <a:r>
              <a:rPr sz="1000" b="1" i="0">
                <a:solidFill>
                  <a:srgbClr val="0A0D1A"/>
                </a:solidFill>
                <a:latin typeface="Calibri"/>
              </a:rPr>
              <a:t>RQ2</a:t>
            </a:r>
          </a:p>
        </p:txBody>
      </p:sp>
      <p:sp>
        <p:nvSpPr>
          <p:cNvPr id="28" name="TextBox 27"/>
          <p:cNvSpPr txBox="1"/>
          <p:nvPr/>
        </p:nvSpPr>
        <p:spPr>
          <a:xfrm>
            <a:off x="768096" y="4498848"/>
            <a:ext cx="5175504" cy="585216"/>
          </a:xfrm>
          <a:prstGeom prst="rect">
            <a:avLst/>
          </a:prstGeom>
          <a:noFill/>
        </p:spPr>
        <p:txBody>
          <a:bodyPr wrap="square">
            <a:spAutoFit/>
          </a:bodyPr>
          <a:lstStyle/>
          <a:p>
            <a:pPr algn="l"/>
            <a:r>
              <a:rPr sz="900" b="0" i="0">
                <a:solidFill>
                  <a:srgbClr val="A0AAB8"/>
                </a:solidFill>
                <a:latin typeface="Calibri"/>
              </a:rPr>
              <a:t>Does formal dual termination reduce false-early-stops vs timer-based termination?</a:t>
            </a:r>
          </a:p>
        </p:txBody>
      </p:sp>
      <p:sp>
        <p:nvSpPr>
          <p:cNvPr id="29" name="Rectangle 28"/>
          <p:cNvSpPr/>
          <p:nvPr/>
        </p:nvSpPr>
        <p:spPr>
          <a:xfrm>
            <a:off x="292608" y="5212080"/>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 y="5376672"/>
            <a:ext cx="384048" cy="292608"/>
          </a:xfrm>
          <a:prstGeom prst="rect">
            <a:avLst/>
          </a:prstGeom>
          <a:noFill/>
        </p:spPr>
        <p:txBody>
          <a:bodyPr wrap="square">
            <a:spAutoFit/>
          </a:bodyPr>
          <a:lstStyle/>
          <a:p>
            <a:pPr algn="ctr"/>
            <a:r>
              <a:rPr sz="1000" b="1" i="0">
                <a:solidFill>
                  <a:srgbClr val="0A0D1A"/>
                </a:solidFill>
                <a:latin typeface="Calibri"/>
              </a:rPr>
              <a:t>RQ3</a:t>
            </a:r>
          </a:p>
        </p:txBody>
      </p:sp>
      <p:sp>
        <p:nvSpPr>
          <p:cNvPr id="31" name="TextBox 30"/>
          <p:cNvSpPr txBox="1"/>
          <p:nvPr/>
        </p:nvSpPr>
        <p:spPr>
          <a:xfrm>
            <a:off x="768096" y="5248656"/>
            <a:ext cx="5175504" cy="585216"/>
          </a:xfrm>
          <a:prstGeom prst="rect">
            <a:avLst/>
          </a:prstGeom>
          <a:noFill/>
        </p:spPr>
        <p:txBody>
          <a:bodyPr wrap="square">
            <a:spAutoFit/>
          </a:bodyPr>
          <a:lstStyle/>
          <a:p>
            <a:pPr algn="l"/>
            <a:r>
              <a:rPr sz="900" b="0" i="0">
                <a:solidFill>
                  <a:srgbClr val="A0AAB8"/>
                </a:solidFill>
                <a:latin typeface="Calibri"/>
              </a:rPr>
              <a:t>Does cross-mission learning measurably reduce time-to-finding on repeat target-type engagements?</a:t>
            </a:r>
          </a:p>
        </p:txBody>
      </p:sp>
      <p:sp>
        <p:nvSpPr>
          <p:cNvPr id="32" name="Rectangle 31"/>
          <p:cNvSpPr/>
          <p:nvPr/>
        </p:nvSpPr>
        <p:spPr>
          <a:xfrm>
            <a:off x="292608" y="5961888"/>
            <a:ext cx="411480" cy="64008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6126480"/>
            <a:ext cx="384048" cy="292608"/>
          </a:xfrm>
          <a:prstGeom prst="rect">
            <a:avLst/>
          </a:prstGeom>
          <a:noFill/>
        </p:spPr>
        <p:txBody>
          <a:bodyPr wrap="square">
            <a:spAutoFit/>
          </a:bodyPr>
          <a:lstStyle/>
          <a:p>
            <a:pPr algn="ctr"/>
            <a:r>
              <a:rPr sz="1000" b="1" i="0">
                <a:solidFill>
                  <a:srgbClr val="0A0D1A"/>
                </a:solidFill>
                <a:latin typeface="Calibri"/>
              </a:rPr>
              <a:t>RQ4</a:t>
            </a:r>
          </a:p>
        </p:txBody>
      </p:sp>
      <p:sp>
        <p:nvSpPr>
          <p:cNvPr id="34" name="TextBox 33"/>
          <p:cNvSpPr txBox="1"/>
          <p:nvPr/>
        </p:nvSpPr>
        <p:spPr>
          <a:xfrm>
            <a:off x="768096" y="5998464"/>
            <a:ext cx="5175504" cy="585216"/>
          </a:xfrm>
          <a:prstGeom prst="rect">
            <a:avLst/>
          </a:prstGeom>
          <a:noFill/>
        </p:spPr>
        <p:txBody>
          <a:bodyPr wrap="square">
            <a:spAutoFit/>
          </a:bodyPr>
          <a:lstStyle/>
          <a:p>
            <a:pPr algn="l"/>
            <a:r>
              <a:rPr sz="900" b="0" i="0">
                <a:solidFill>
                  <a:srgbClr val="A0AAB8"/>
                </a:solidFill>
                <a:latin typeface="Calibri"/>
              </a:rPr>
              <a:t>Does the risk gate reduce unintended offensive actions without significantly reducing coverage?</a:t>
            </a:r>
          </a:p>
        </p:txBody>
      </p:sp>
      <p:sp>
        <p:nvSpPr>
          <p:cNvPr id="35" name="Rectangle 34"/>
          <p:cNvSpPr/>
          <p:nvPr/>
        </p:nvSpPr>
        <p:spPr>
          <a:xfrm>
            <a:off x="6181344" y="987552"/>
            <a:ext cx="5809183" cy="2103120"/>
          </a:xfrm>
          <a:prstGeom prst="rect">
            <a:avLst/>
          </a:prstGeom>
          <a:solidFill>
            <a:srgbClr val="061408"/>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81344" y="987552"/>
            <a:ext cx="5809183"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81344" y="1024128"/>
            <a:ext cx="5809183" cy="237744"/>
          </a:xfrm>
          <a:prstGeom prst="rect">
            <a:avLst/>
          </a:prstGeom>
          <a:noFill/>
        </p:spPr>
        <p:txBody>
          <a:bodyPr wrap="square">
            <a:spAutoFit/>
          </a:bodyPr>
          <a:lstStyle/>
          <a:p>
            <a:pPr algn="ctr"/>
            <a:r>
              <a:rPr sz="1000" b="1" i="0">
                <a:solidFill>
                  <a:srgbClr val="0A0D1A"/>
                </a:solidFill>
                <a:latin typeface="Calibri"/>
              </a:rPr>
              <a:t>EVALUATION METRICS</a:t>
            </a:r>
          </a:p>
        </p:txBody>
      </p:sp>
      <p:sp>
        <p:nvSpPr>
          <p:cNvPr id="38" name="Rectangle 37"/>
          <p:cNvSpPr/>
          <p:nvPr/>
        </p:nvSpPr>
        <p:spPr>
          <a:xfrm>
            <a:off x="6272784" y="1335024"/>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45936" y="1371600"/>
            <a:ext cx="1691640" cy="237744"/>
          </a:xfrm>
          <a:prstGeom prst="rect">
            <a:avLst/>
          </a:prstGeom>
          <a:noFill/>
        </p:spPr>
        <p:txBody>
          <a:bodyPr wrap="square">
            <a:spAutoFit/>
          </a:bodyPr>
          <a:lstStyle/>
          <a:p>
            <a:pPr algn="l"/>
            <a:r>
              <a:rPr sz="900" b="1" i="0">
                <a:solidFill>
                  <a:srgbClr val="39FF14"/>
                </a:solidFill>
                <a:latin typeface="Calibri"/>
              </a:rPr>
              <a:t>Vulnerability Coverage</a:t>
            </a:r>
          </a:p>
        </p:txBody>
      </p:sp>
      <p:sp>
        <p:nvSpPr>
          <p:cNvPr id="40" name="TextBox 39"/>
          <p:cNvSpPr txBox="1"/>
          <p:nvPr/>
        </p:nvSpPr>
        <p:spPr>
          <a:xfrm>
            <a:off x="8083296" y="1371600"/>
            <a:ext cx="3797503" cy="237744"/>
          </a:xfrm>
          <a:prstGeom prst="rect">
            <a:avLst/>
          </a:prstGeom>
          <a:noFill/>
        </p:spPr>
        <p:txBody>
          <a:bodyPr wrap="square">
            <a:spAutoFit/>
          </a:bodyPr>
          <a:lstStyle/>
          <a:p>
            <a:pPr algn="l"/>
            <a:r>
              <a:rPr sz="900" b="0" i="0">
                <a:solidFill>
                  <a:srgbClr val="A0AAB8"/>
                </a:solidFill>
                <a:latin typeface="Calibri"/>
              </a:rPr>
              <a:t>% of known vulns discovered vs ground truth per machine</a:t>
            </a:r>
          </a:p>
        </p:txBody>
      </p:sp>
      <p:sp>
        <p:nvSpPr>
          <p:cNvPr id="41" name="Rectangle 40"/>
          <p:cNvSpPr/>
          <p:nvPr/>
        </p:nvSpPr>
        <p:spPr>
          <a:xfrm>
            <a:off x="6272784" y="1682496"/>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45936" y="1719072"/>
            <a:ext cx="1691640" cy="237744"/>
          </a:xfrm>
          <a:prstGeom prst="rect">
            <a:avLst/>
          </a:prstGeom>
          <a:noFill/>
        </p:spPr>
        <p:txBody>
          <a:bodyPr wrap="square">
            <a:spAutoFit/>
          </a:bodyPr>
          <a:lstStyle/>
          <a:p>
            <a:pPr algn="l"/>
            <a:r>
              <a:rPr sz="900" b="1" i="0">
                <a:solidFill>
                  <a:srgbClr val="39FF14"/>
                </a:solidFill>
                <a:latin typeface="Calibri"/>
              </a:rPr>
              <a:t>Chain Precision</a:t>
            </a:r>
          </a:p>
        </p:txBody>
      </p:sp>
      <p:sp>
        <p:nvSpPr>
          <p:cNvPr id="43" name="TextBox 42"/>
          <p:cNvSpPr txBox="1"/>
          <p:nvPr/>
        </p:nvSpPr>
        <p:spPr>
          <a:xfrm>
            <a:off x="8083296" y="1719072"/>
            <a:ext cx="3797503" cy="237744"/>
          </a:xfrm>
          <a:prstGeom prst="rect">
            <a:avLst/>
          </a:prstGeom>
          <a:noFill/>
        </p:spPr>
        <p:txBody>
          <a:bodyPr wrap="square">
            <a:spAutoFit/>
          </a:bodyPr>
          <a:lstStyle/>
          <a:p>
            <a:pPr algn="l"/>
            <a:r>
              <a:rPr sz="900" b="0" i="0">
                <a:solidFill>
                  <a:srgbClr val="A0AAB8"/>
                </a:solidFill>
                <a:latin typeface="Calibri"/>
              </a:rPr>
              <a:t>% of APG AttackChains that result in VALIDATED status</a:t>
            </a:r>
          </a:p>
        </p:txBody>
      </p:sp>
      <p:sp>
        <p:nvSpPr>
          <p:cNvPr id="44" name="Rectangle 43"/>
          <p:cNvSpPr/>
          <p:nvPr/>
        </p:nvSpPr>
        <p:spPr>
          <a:xfrm>
            <a:off x="6272784" y="2029968"/>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45936" y="2066544"/>
            <a:ext cx="1691640" cy="237744"/>
          </a:xfrm>
          <a:prstGeom prst="rect">
            <a:avLst/>
          </a:prstGeom>
          <a:noFill/>
        </p:spPr>
        <p:txBody>
          <a:bodyPr wrap="square">
            <a:spAutoFit/>
          </a:bodyPr>
          <a:lstStyle/>
          <a:p>
            <a:pPr algn="l"/>
            <a:r>
              <a:rPr sz="900" b="1" i="0">
                <a:solidFill>
                  <a:srgbClr val="39FF14"/>
                </a:solidFill>
                <a:latin typeface="Calibri"/>
              </a:rPr>
              <a:t>Time-to-Finding</a:t>
            </a:r>
          </a:p>
        </p:txBody>
      </p:sp>
      <p:sp>
        <p:nvSpPr>
          <p:cNvPr id="46" name="TextBox 45"/>
          <p:cNvSpPr txBox="1"/>
          <p:nvPr/>
        </p:nvSpPr>
        <p:spPr>
          <a:xfrm>
            <a:off x="8083296" y="2066544"/>
            <a:ext cx="3797503" cy="237744"/>
          </a:xfrm>
          <a:prstGeom prst="rect">
            <a:avLst/>
          </a:prstGeom>
          <a:noFill/>
        </p:spPr>
        <p:txBody>
          <a:bodyPr wrap="square">
            <a:spAutoFit/>
          </a:bodyPr>
          <a:lstStyle/>
          <a:p>
            <a:pPr algn="l"/>
            <a:r>
              <a:rPr sz="900" b="0" i="0">
                <a:solidFill>
                  <a:srgbClr val="A0AAB8"/>
                </a:solidFill>
                <a:latin typeface="Calibri"/>
              </a:rPr>
              <a:t>Wall-clock time from mission start to first VALIDATED chain</a:t>
            </a:r>
          </a:p>
        </p:txBody>
      </p:sp>
      <p:sp>
        <p:nvSpPr>
          <p:cNvPr id="47" name="Rectangle 46"/>
          <p:cNvSpPr/>
          <p:nvPr/>
        </p:nvSpPr>
        <p:spPr>
          <a:xfrm>
            <a:off x="6272784" y="2377440"/>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45936" y="2414016"/>
            <a:ext cx="1691640" cy="237744"/>
          </a:xfrm>
          <a:prstGeom prst="rect">
            <a:avLst/>
          </a:prstGeom>
          <a:noFill/>
        </p:spPr>
        <p:txBody>
          <a:bodyPr wrap="square">
            <a:spAutoFit/>
          </a:bodyPr>
          <a:lstStyle/>
          <a:p>
            <a:pPr algn="l"/>
            <a:r>
              <a:rPr sz="900" b="1" i="0">
                <a:solidFill>
                  <a:srgbClr val="39FF14"/>
                </a:solidFill>
                <a:latin typeface="Calibri"/>
              </a:rPr>
              <a:t>False Early-Stop Rate</a:t>
            </a:r>
          </a:p>
        </p:txBody>
      </p:sp>
      <p:sp>
        <p:nvSpPr>
          <p:cNvPr id="49" name="TextBox 48"/>
          <p:cNvSpPr txBox="1"/>
          <p:nvPr/>
        </p:nvSpPr>
        <p:spPr>
          <a:xfrm>
            <a:off x="8083296" y="2414016"/>
            <a:ext cx="3797503" cy="237744"/>
          </a:xfrm>
          <a:prstGeom prst="rect">
            <a:avLst/>
          </a:prstGeom>
          <a:noFill/>
        </p:spPr>
        <p:txBody>
          <a:bodyPr wrap="square">
            <a:spAutoFit/>
          </a:bodyPr>
          <a:lstStyle/>
          <a:p>
            <a:pPr algn="l"/>
            <a:r>
              <a:rPr sz="900" b="0" i="0">
                <a:solidFill>
                  <a:srgbClr val="A0AAB8"/>
                </a:solidFill>
                <a:latin typeface="Calibri"/>
              </a:rPr>
              <a:t>% of missions terminated before surface exhaustion</a:t>
            </a:r>
          </a:p>
        </p:txBody>
      </p:sp>
      <p:sp>
        <p:nvSpPr>
          <p:cNvPr id="50" name="Rectangle 49"/>
          <p:cNvSpPr/>
          <p:nvPr/>
        </p:nvSpPr>
        <p:spPr>
          <a:xfrm>
            <a:off x="6272784" y="2724912"/>
            <a:ext cx="5626303" cy="310896"/>
          </a:xfrm>
          <a:prstGeom prst="rect">
            <a:avLst/>
          </a:prstGeom>
          <a:solidFill>
            <a:srgbClr val="061C0A"/>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45936" y="2761488"/>
            <a:ext cx="1691640" cy="237744"/>
          </a:xfrm>
          <a:prstGeom prst="rect">
            <a:avLst/>
          </a:prstGeom>
          <a:noFill/>
        </p:spPr>
        <p:txBody>
          <a:bodyPr wrap="square">
            <a:spAutoFit/>
          </a:bodyPr>
          <a:lstStyle/>
          <a:p>
            <a:pPr algn="l"/>
            <a:r>
              <a:rPr sz="900" b="1" i="0">
                <a:solidFill>
                  <a:srgbClr val="39FF14"/>
                </a:solidFill>
                <a:latin typeface="Calibri"/>
              </a:rPr>
              <a:t>Tool Call Efficiency</a:t>
            </a:r>
          </a:p>
        </p:txBody>
      </p:sp>
      <p:sp>
        <p:nvSpPr>
          <p:cNvPr id="52" name="TextBox 51"/>
          <p:cNvSpPr txBox="1"/>
          <p:nvPr/>
        </p:nvSpPr>
        <p:spPr>
          <a:xfrm>
            <a:off x="8083296" y="2761488"/>
            <a:ext cx="3797503" cy="237744"/>
          </a:xfrm>
          <a:prstGeom prst="rect">
            <a:avLst/>
          </a:prstGeom>
          <a:noFill/>
        </p:spPr>
        <p:txBody>
          <a:bodyPr wrap="square">
            <a:spAutoFit/>
          </a:bodyPr>
          <a:lstStyle/>
          <a:p>
            <a:pPr algn="l"/>
            <a:r>
              <a:rPr sz="900" b="0" i="0">
                <a:solidFill>
                  <a:srgbClr val="A0AAB8"/>
                </a:solidFill>
                <a:latin typeface="Calibri"/>
              </a:rPr>
              <a:t>Mean tool calls to first VALIDATED chain per target</a:t>
            </a:r>
          </a:p>
        </p:txBody>
      </p:sp>
      <p:sp>
        <p:nvSpPr>
          <p:cNvPr id="53" name="Rectangle 52"/>
          <p:cNvSpPr/>
          <p:nvPr/>
        </p:nvSpPr>
        <p:spPr>
          <a:xfrm>
            <a:off x="6181344" y="3182112"/>
            <a:ext cx="5809183" cy="1463040"/>
          </a:xfrm>
          <a:prstGeom prst="rect">
            <a:avLst/>
          </a:prstGeom>
          <a:solidFill>
            <a:srgbClr val="18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3182112"/>
            <a:ext cx="5809183" cy="29260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3218688"/>
            <a:ext cx="5809183" cy="237744"/>
          </a:xfrm>
          <a:prstGeom prst="rect">
            <a:avLst/>
          </a:prstGeom>
          <a:noFill/>
        </p:spPr>
        <p:txBody>
          <a:bodyPr wrap="square">
            <a:spAutoFit/>
          </a:bodyPr>
          <a:lstStyle/>
          <a:p>
            <a:pPr algn="ctr"/>
            <a:r>
              <a:rPr sz="1000" b="1" i="0">
                <a:solidFill>
                  <a:srgbClr val="FFFFFF"/>
                </a:solidFill>
                <a:latin typeface="Calibri"/>
              </a:rPr>
              <a:t>BASELINES</a:t>
            </a:r>
          </a:p>
        </p:txBody>
      </p:sp>
      <p:sp>
        <p:nvSpPr>
          <p:cNvPr id="56" name="TextBox 55"/>
          <p:cNvSpPr txBox="1"/>
          <p:nvPr/>
        </p:nvSpPr>
        <p:spPr>
          <a:xfrm>
            <a:off x="6327648" y="3529584"/>
            <a:ext cx="5553151" cy="329184"/>
          </a:xfrm>
          <a:prstGeom prst="rect">
            <a:avLst/>
          </a:prstGeom>
          <a:noFill/>
        </p:spPr>
        <p:txBody>
          <a:bodyPr wrap="square">
            <a:spAutoFit/>
          </a:bodyPr>
          <a:lstStyle/>
          <a:p>
            <a:pPr algn="l"/>
            <a:r>
              <a:rPr sz="900" b="0" i="0">
                <a:solidFill>
                  <a:srgbClr val="A0AAB8"/>
                </a:solidFill>
                <a:latin typeface="Calibri"/>
              </a:rPr>
              <a:t>✕  PentestGPT:  Flat conversation history — no structured world model</a:t>
            </a:r>
          </a:p>
        </p:txBody>
      </p:sp>
      <p:sp>
        <p:nvSpPr>
          <p:cNvPr id="57" name="TextBox 56"/>
          <p:cNvSpPr txBox="1"/>
          <p:nvPr/>
        </p:nvSpPr>
        <p:spPr>
          <a:xfrm>
            <a:off x="6327648" y="3895344"/>
            <a:ext cx="5553151" cy="329184"/>
          </a:xfrm>
          <a:prstGeom prst="rect">
            <a:avLst/>
          </a:prstGeom>
          <a:noFill/>
        </p:spPr>
        <p:txBody>
          <a:bodyPr wrap="square">
            <a:spAutoFit/>
          </a:bodyPr>
          <a:lstStyle/>
          <a:p>
            <a:pPr algn="l"/>
            <a:r>
              <a:rPr sz="900" b="0" i="0">
                <a:solidFill>
                  <a:srgbClr val="A0AAB8"/>
                </a:solidFill>
                <a:latin typeface="Calibri"/>
              </a:rPr>
              <a:t>✕  Random Tool Agent:  Same tool set, random action selection — no planning</a:t>
            </a:r>
          </a:p>
        </p:txBody>
      </p:sp>
      <p:sp>
        <p:nvSpPr>
          <p:cNvPr id="58" name="TextBox 57"/>
          <p:cNvSpPr txBox="1"/>
          <p:nvPr/>
        </p:nvSpPr>
        <p:spPr>
          <a:xfrm>
            <a:off x="6327648" y="4261104"/>
            <a:ext cx="5553151" cy="329184"/>
          </a:xfrm>
          <a:prstGeom prst="rect">
            <a:avLst/>
          </a:prstGeom>
          <a:noFill/>
        </p:spPr>
        <p:txBody>
          <a:bodyPr wrap="square">
            <a:spAutoFit/>
          </a:bodyPr>
          <a:lstStyle/>
          <a:p>
            <a:pPr algn="l"/>
            <a:r>
              <a:rPr sz="900" b="0" i="0">
                <a:solidFill>
                  <a:srgbClr val="A0AAB8"/>
                </a:solidFill>
                <a:latin typeface="Calibri"/>
              </a:rPr>
              <a:t>✕  Manual Expert:  Timed human VAPT expert on same targets for ground truth</a:t>
            </a:r>
          </a:p>
        </p:txBody>
      </p:sp>
      <p:sp>
        <p:nvSpPr>
          <p:cNvPr id="59" name="Rectangle 58"/>
          <p:cNvSpPr/>
          <p:nvPr/>
        </p:nvSpPr>
        <p:spPr>
          <a:xfrm>
            <a:off x="6181344" y="4736592"/>
            <a:ext cx="5809183" cy="2103120"/>
          </a:xfrm>
          <a:prstGeom prst="rect">
            <a:avLst/>
          </a:prstGeom>
          <a:solidFill>
            <a:srgbClr val="08102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4736592"/>
            <a:ext cx="5809183" cy="2926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4773168"/>
            <a:ext cx="5809183" cy="237744"/>
          </a:xfrm>
          <a:prstGeom prst="rect">
            <a:avLst/>
          </a:prstGeom>
          <a:noFill/>
        </p:spPr>
        <p:txBody>
          <a:bodyPr wrap="square">
            <a:spAutoFit/>
          </a:bodyPr>
          <a:lstStyle/>
          <a:p>
            <a:pPr algn="ctr"/>
            <a:r>
              <a:rPr sz="1000" b="1" i="0">
                <a:solidFill>
                  <a:srgbClr val="0A0D1A"/>
                </a:solidFill>
                <a:latin typeface="Calibri"/>
              </a:rPr>
              <a:t>ABLATION STUDY</a:t>
            </a:r>
          </a:p>
        </p:txBody>
      </p:sp>
      <p:sp>
        <p:nvSpPr>
          <p:cNvPr id="62" name="Rectangle 61"/>
          <p:cNvSpPr/>
          <p:nvPr/>
        </p:nvSpPr>
        <p:spPr>
          <a:xfrm>
            <a:off x="6272784" y="5084064"/>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45936" y="5120640"/>
            <a:ext cx="1463040" cy="274320"/>
          </a:xfrm>
          <a:prstGeom prst="rect">
            <a:avLst/>
          </a:prstGeom>
          <a:noFill/>
        </p:spPr>
        <p:txBody>
          <a:bodyPr wrap="square">
            <a:spAutoFit/>
          </a:bodyPr>
          <a:lstStyle/>
          <a:p>
            <a:pPr algn="l"/>
            <a:r>
              <a:rPr sz="900" b="1" i="0">
                <a:solidFill>
                  <a:srgbClr val="BD93F9"/>
                </a:solidFill>
                <a:latin typeface="Calibri"/>
              </a:rPr>
              <a:t>A1 — No dual-graph</a:t>
            </a:r>
          </a:p>
        </p:txBody>
      </p:sp>
      <p:sp>
        <p:nvSpPr>
          <p:cNvPr id="64" name="TextBox 63"/>
          <p:cNvSpPr txBox="1"/>
          <p:nvPr/>
        </p:nvSpPr>
        <p:spPr>
          <a:xfrm>
            <a:off x="7845552" y="5120640"/>
            <a:ext cx="3998671" cy="274320"/>
          </a:xfrm>
          <a:prstGeom prst="rect">
            <a:avLst/>
          </a:prstGeom>
          <a:noFill/>
        </p:spPr>
        <p:txBody>
          <a:bodyPr wrap="square">
            <a:spAutoFit/>
          </a:bodyPr>
          <a:lstStyle/>
          <a:p>
            <a:pPr algn="l"/>
            <a:r>
              <a:rPr sz="900" b="0" i="0">
                <a:solidFill>
                  <a:srgbClr val="A0AAB8"/>
                </a:solidFill>
                <a:latin typeface="Calibri"/>
              </a:rPr>
              <a:t>CMatrix with flat history only (remove ASG + APG)</a:t>
            </a:r>
          </a:p>
        </p:txBody>
      </p:sp>
      <p:sp>
        <p:nvSpPr>
          <p:cNvPr id="65" name="Rectangle 64"/>
          <p:cNvSpPr/>
          <p:nvPr/>
        </p:nvSpPr>
        <p:spPr>
          <a:xfrm>
            <a:off x="6272784" y="5504688"/>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45936" y="5541264"/>
            <a:ext cx="1463040" cy="274320"/>
          </a:xfrm>
          <a:prstGeom prst="rect">
            <a:avLst/>
          </a:prstGeom>
          <a:noFill/>
        </p:spPr>
        <p:txBody>
          <a:bodyPr wrap="square">
            <a:spAutoFit/>
          </a:bodyPr>
          <a:lstStyle/>
          <a:p>
            <a:pPr algn="l"/>
            <a:r>
              <a:rPr sz="900" b="1" i="0">
                <a:solidFill>
                  <a:srgbClr val="BD93F9"/>
                </a:solidFill>
                <a:latin typeface="Calibri"/>
              </a:rPr>
              <a:t>A2 — ASG only</a:t>
            </a:r>
          </a:p>
        </p:txBody>
      </p:sp>
      <p:sp>
        <p:nvSpPr>
          <p:cNvPr id="67" name="TextBox 66"/>
          <p:cNvSpPr txBox="1"/>
          <p:nvPr/>
        </p:nvSpPr>
        <p:spPr>
          <a:xfrm>
            <a:off x="7845552" y="5541264"/>
            <a:ext cx="3998671" cy="274320"/>
          </a:xfrm>
          <a:prstGeom prst="rect">
            <a:avLst/>
          </a:prstGeom>
          <a:noFill/>
        </p:spPr>
        <p:txBody>
          <a:bodyPr wrap="square">
            <a:spAutoFit/>
          </a:bodyPr>
          <a:lstStyle/>
          <a:p>
            <a:pPr algn="l"/>
            <a:r>
              <a:rPr sz="900" b="0" i="0">
                <a:solidFill>
                  <a:srgbClr val="A0AAB8"/>
                </a:solidFill>
                <a:latin typeface="Calibri"/>
              </a:rPr>
              <a:t>CMatrix with ASG discovery but no APG reasoning</a:t>
            </a:r>
          </a:p>
        </p:txBody>
      </p:sp>
      <p:sp>
        <p:nvSpPr>
          <p:cNvPr id="68" name="Rectangle 67"/>
          <p:cNvSpPr/>
          <p:nvPr/>
        </p:nvSpPr>
        <p:spPr>
          <a:xfrm>
            <a:off x="6272784" y="5925312"/>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45936" y="5961888"/>
            <a:ext cx="1463040" cy="274320"/>
          </a:xfrm>
          <a:prstGeom prst="rect">
            <a:avLst/>
          </a:prstGeom>
          <a:noFill/>
        </p:spPr>
        <p:txBody>
          <a:bodyPr wrap="square">
            <a:spAutoFit/>
          </a:bodyPr>
          <a:lstStyle/>
          <a:p>
            <a:pPr algn="l"/>
            <a:r>
              <a:rPr sz="900" b="1" i="0">
                <a:solidFill>
                  <a:srgbClr val="BD93F9"/>
                </a:solidFill>
                <a:latin typeface="Calibri"/>
              </a:rPr>
              <a:t>A3 — No compaction</a:t>
            </a:r>
          </a:p>
        </p:txBody>
      </p:sp>
      <p:sp>
        <p:nvSpPr>
          <p:cNvPr id="70" name="TextBox 69"/>
          <p:cNvSpPr txBox="1"/>
          <p:nvPr/>
        </p:nvSpPr>
        <p:spPr>
          <a:xfrm>
            <a:off x="7845552" y="5961888"/>
            <a:ext cx="3998671" cy="274320"/>
          </a:xfrm>
          <a:prstGeom prst="rect">
            <a:avLst/>
          </a:prstGeom>
          <a:noFill/>
        </p:spPr>
        <p:txBody>
          <a:bodyPr wrap="square">
            <a:spAutoFit/>
          </a:bodyPr>
          <a:lstStyle/>
          <a:p>
            <a:pPr algn="l"/>
            <a:r>
              <a:rPr sz="900" b="0" i="0">
                <a:solidFill>
                  <a:srgbClr val="A0AAB8"/>
                </a:solidFill>
                <a:latin typeface="Calibri"/>
              </a:rPr>
              <a:t>CMatrix with unlimited raw history (no C6)</a:t>
            </a:r>
          </a:p>
        </p:txBody>
      </p:sp>
      <p:sp>
        <p:nvSpPr>
          <p:cNvPr id="71" name="Rectangle 70"/>
          <p:cNvSpPr/>
          <p:nvPr/>
        </p:nvSpPr>
        <p:spPr>
          <a:xfrm>
            <a:off x="6272784" y="6345936"/>
            <a:ext cx="5626303"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45936" y="6382512"/>
            <a:ext cx="1463040" cy="274320"/>
          </a:xfrm>
          <a:prstGeom prst="rect">
            <a:avLst/>
          </a:prstGeom>
          <a:noFill/>
        </p:spPr>
        <p:txBody>
          <a:bodyPr wrap="square">
            <a:spAutoFit/>
          </a:bodyPr>
          <a:lstStyle/>
          <a:p>
            <a:pPr algn="l"/>
            <a:r>
              <a:rPr sz="900" b="1" i="0">
                <a:solidFill>
                  <a:srgbClr val="BD93F9"/>
                </a:solidFill>
                <a:latin typeface="Calibri"/>
              </a:rPr>
              <a:t>A4 — No learning</a:t>
            </a:r>
          </a:p>
        </p:txBody>
      </p:sp>
      <p:sp>
        <p:nvSpPr>
          <p:cNvPr id="73" name="TextBox 72"/>
          <p:cNvSpPr txBox="1"/>
          <p:nvPr/>
        </p:nvSpPr>
        <p:spPr>
          <a:xfrm>
            <a:off x="7845552" y="6382512"/>
            <a:ext cx="3998671" cy="274320"/>
          </a:xfrm>
          <a:prstGeom prst="rect">
            <a:avLst/>
          </a:prstGeom>
          <a:noFill/>
        </p:spPr>
        <p:txBody>
          <a:bodyPr wrap="square">
            <a:spAutoFit/>
          </a:bodyPr>
          <a:lstStyle/>
          <a:p>
            <a:pPr algn="l"/>
            <a:r>
              <a:rPr sz="900" b="0" i="0">
                <a:solidFill>
                  <a:srgbClr val="A0AAB8"/>
                </a:solidFill>
                <a:latin typeface="Calibri"/>
              </a:rPr>
              <a:t>CMatrix without C10/C11 cross-mission store</a:t>
            </a:r>
          </a:p>
        </p:txBody>
      </p:sp>
      <p:sp>
        <p:nvSpPr>
          <p:cNvPr id="74" name="TextBox 73"/>
          <p:cNvSpPr txBox="1"/>
          <p:nvPr/>
        </p:nvSpPr>
        <p:spPr>
          <a:xfrm>
            <a:off x="11780215" y="6355080"/>
            <a:ext cx="384048" cy="411480"/>
          </a:xfrm>
          <a:prstGeom prst="rect">
            <a:avLst/>
          </a:prstGeom>
          <a:noFill/>
        </p:spPr>
        <p:txBody>
          <a:bodyPr wrap="square">
            <a:spAutoFit/>
          </a:bodyPr>
          <a:lstStyle/>
          <a:p>
            <a:pPr algn="r"/>
            <a:r>
              <a:rPr sz="1300" b="1" i="0">
                <a:solidFill>
                  <a:srgbClr val="FFD70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4572000" cy="237744"/>
          </a:xfrm>
          <a:prstGeom prst="rect">
            <a:avLst/>
          </a:prstGeom>
          <a:noFill/>
        </p:spPr>
        <p:txBody>
          <a:bodyPr wrap="square">
            <a:spAutoFit/>
          </a:bodyPr>
          <a:lstStyle/>
          <a:p>
            <a:pPr algn="l"/>
            <a:r>
              <a:rPr sz="1000" b="1" i="0">
                <a:solidFill>
                  <a:srgbClr val="00E5FF"/>
                </a:solidFill>
                <a:latin typeface="Calibri"/>
              </a:rPr>
              <a:t>SUMMARY</a:t>
            </a:r>
          </a:p>
        </p:txBody>
      </p:sp>
      <p:sp>
        <p:nvSpPr>
          <p:cNvPr id="6" name="TextBox 5"/>
          <p:cNvSpPr txBox="1"/>
          <p:nvPr/>
        </p:nvSpPr>
        <p:spPr>
          <a:xfrm>
            <a:off x="274320" y="310896"/>
            <a:ext cx="11430000" cy="475488"/>
          </a:xfrm>
          <a:prstGeom prst="rect">
            <a:avLst/>
          </a:prstGeom>
          <a:noFill/>
        </p:spPr>
        <p:txBody>
          <a:bodyPr wrap="square">
            <a:spAutoFit/>
          </a:bodyPr>
          <a:lstStyle/>
          <a:p>
            <a:pPr algn="l"/>
            <a:r>
              <a:rPr sz="2800" b="1" i="0">
                <a:solidFill>
                  <a:srgbClr val="FFFFFF"/>
                </a:solidFill>
                <a:latin typeface="Calibri"/>
              </a:rPr>
              <a:t>CMatrix — What We Built, What We Claim, What We Need</a:t>
            </a:r>
          </a:p>
        </p:txBody>
      </p:sp>
      <p:sp>
        <p:nvSpPr>
          <p:cNvPr id="7" name="Rectangle 6"/>
          <p:cNvSpPr/>
          <p:nvPr/>
        </p:nvSpPr>
        <p:spPr>
          <a:xfrm>
            <a:off x="274320" y="841248"/>
            <a:ext cx="100584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029200" cy="1508760"/>
          </a:xfrm>
          <a:prstGeom prst="rect">
            <a:avLst/>
          </a:prstGeom>
          <a:solidFill>
            <a:srgbClr val="041222"/>
          </a:solidFill>
          <a:ln w="203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042416"/>
            <a:ext cx="4846320" cy="201168"/>
          </a:xfrm>
          <a:prstGeom prst="rect">
            <a:avLst/>
          </a:prstGeom>
          <a:noFill/>
        </p:spPr>
        <p:txBody>
          <a:bodyPr wrap="square">
            <a:spAutoFit/>
          </a:bodyPr>
          <a:lstStyle/>
          <a:p>
            <a:pPr algn="l"/>
            <a:r>
              <a:rPr sz="1000" b="1" i="0">
                <a:solidFill>
                  <a:srgbClr val="00E5FF"/>
                </a:solidFill>
                <a:latin typeface="Calibri"/>
              </a:rPr>
              <a:t>WHAT CMATRIX IS</a:t>
            </a:r>
          </a:p>
        </p:txBody>
      </p:sp>
      <p:sp>
        <p:nvSpPr>
          <p:cNvPr id="10" name="TextBox 9"/>
          <p:cNvSpPr txBox="1"/>
          <p:nvPr/>
        </p:nvSpPr>
        <p:spPr>
          <a:xfrm>
            <a:off x="402336" y="1298448"/>
            <a:ext cx="4809744" cy="1152144"/>
          </a:xfrm>
          <a:prstGeom prst="rect">
            <a:avLst/>
          </a:prstGeom>
          <a:noFill/>
        </p:spPr>
        <p:txBody>
          <a:bodyPr wrap="square">
            <a:spAutoFit/>
          </a:bodyPr>
          <a:lstStyle/>
          <a:p>
            <a:pPr algn="l"/>
            <a:r>
              <a:rPr sz="1050" b="0" i="0">
                <a:solidFill>
                  <a:srgbClr val="A0AAB8"/>
                </a:solidFill>
                <a:latin typeface="Calibri"/>
              </a:rPr>
              <a:t>A dual-graph-guided, LLM-orchestrated multi-agent framework for autonomous Vulnerability Assessment and Penetration Testing.  It maintains two strictly separated graph structures — the ASG (what the target is) and the APG (what can be done to it) — and uses both to plan, dispatch, validate, and formally terminate a complete VAPT engagement without human intervention.</a:t>
            </a:r>
          </a:p>
        </p:txBody>
      </p:sp>
      <p:sp>
        <p:nvSpPr>
          <p:cNvPr id="11" name="Rectangle 10"/>
          <p:cNvSpPr/>
          <p:nvPr/>
        </p:nvSpPr>
        <p:spPr>
          <a:xfrm>
            <a:off x="274320" y="2615184"/>
            <a:ext cx="5029200" cy="4096512"/>
          </a:xfrm>
          <a:prstGeom prst="rect">
            <a:avLst/>
          </a:prstGeom>
          <a:solidFill>
            <a:srgbClr val="081004"/>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670048"/>
            <a:ext cx="4846320" cy="201168"/>
          </a:xfrm>
          <a:prstGeom prst="rect">
            <a:avLst/>
          </a:prstGeom>
          <a:noFill/>
        </p:spPr>
        <p:txBody>
          <a:bodyPr wrap="square">
            <a:spAutoFit/>
          </a:bodyPr>
          <a:lstStyle/>
          <a:p>
            <a:pPr algn="l"/>
            <a:r>
              <a:rPr sz="1000" b="1" i="0">
                <a:solidFill>
                  <a:srgbClr val="39FF14"/>
                </a:solidFill>
                <a:latin typeface="Calibri"/>
              </a:rPr>
              <a:t>12 ORIGINAL RESEARCH CONTRIBUTIONS</a:t>
            </a:r>
          </a:p>
        </p:txBody>
      </p:sp>
      <p:sp>
        <p:nvSpPr>
          <p:cNvPr id="13" name="TextBox 12"/>
          <p:cNvSpPr txBox="1"/>
          <p:nvPr/>
        </p:nvSpPr>
        <p:spPr>
          <a:xfrm>
            <a:off x="457200" y="2926080"/>
            <a:ext cx="4773168" cy="274320"/>
          </a:xfrm>
          <a:prstGeom prst="rect">
            <a:avLst/>
          </a:prstGeom>
          <a:noFill/>
        </p:spPr>
        <p:txBody>
          <a:bodyPr wrap="square">
            <a:spAutoFit/>
          </a:bodyPr>
          <a:lstStyle/>
          <a:p>
            <a:pPr algn="l"/>
            <a:r>
              <a:rPr sz="950" b="1" i="0">
                <a:solidFill>
                  <a:srgbClr val="39FF14"/>
                </a:solidFill>
                <a:latin typeface="Calibri"/>
              </a:rPr>
              <a:t>C1  Dual-Graph World Model (ASG + APG, strictly separated)</a:t>
            </a:r>
          </a:p>
        </p:txBody>
      </p:sp>
      <p:sp>
        <p:nvSpPr>
          <p:cNvPr id="14" name="TextBox 13"/>
          <p:cNvSpPr txBox="1"/>
          <p:nvPr/>
        </p:nvSpPr>
        <p:spPr>
          <a:xfrm>
            <a:off x="457200" y="3236976"/>
            <a:ext cx="4773168" cy="274320"/>
          </a:xfrm>
          <a:prstGeom prst="rect">
            <a:avLst/>
          </a:prstGeom>
          <a:noFill/>
        </p:spPr>
        <p:txBody>
          <a:bodyPr wrap="square">
            <a:spAutoFit/>
          </a:bodyPr>
          <a:lstStyle/>
          <a:p>
            <a:pPr algn="l"/>
            <a:r>
              <a:rPr sz="950" b="0" i="0">
                <a:solidFill>
                  <a:srgbClr val="00E5FF"/>
                </a:solidFill>
                <a:latin typeface="Calibri"/>
              </a:rPr>
              <a:t>C2  Graph-Driven Re-Planning (trigger: new Vulnerability node)</a:t>
            </a:r>
          </a:p>
        </p:txBody>
      </p:sp>
      <p:sp>
        <p:nvSpPr>
          <p:cNvPr id="15" name="TextBox 14"/>
          <p:cNvSpPr txBox="1"/>
          <p:nvPr/>
        </p:nvSpPr>
        <p:spPr>
          <a:xfrm>
            <a:off x="457200" y="3547872"/>
            <a:ext cx="4773168" cy="274320"/>
          </a:xfrm>
          <a:prstGeom prst="rect">
            <a:avLst/>
          </a:prstGeom>
          <a:noFill/>
        </p:spPr>
        <p:txBody>
          <a:bodyPr wrap="square">
            <a:spAutoFit/>
          </a:bodyPr>
          <a:lstStyle/>
          <a:p>
            <a:pPr algn="l"/>
            <a:r>
              <a:rPr sz="950" b="1" i="0">
                <a:solidFill>
                  <a:srgbClr val="39FF14"/>
                </a:solidFill>
                <a:latin typeface="Calibri"/>
              </a:rPr>
              <a:t>C3  APG Chain Lifecycle with Evidence Traceability</a:t>
            </a:r>
          </a:p>
        </p:txBody>
      </p:sp>
      <p:sp>
        <p:nvSpPr>
          <p:cNvPr id="16" name="TextBox 15"/>
          <p:cNvSpPr txBox="1"/>
          <p:nvPr/>
        </p:nvSpPr>
        <p:spPr>
          <a:xfrm>
            <a:off x="457200" y="3858768"/>
            <a:ext cx="4773168" cy="274320"/>
          </a:xfrm>
          <a:prstGeom prst="rect">
            <a:avLst/>
          </a:prstGeom>
          <a:noFill/>
        </p:spPr>
        <p:txBody>
          <a:bodyPr wrap="square">
            <a:spAutoFit/>
          </a:bodyPr>
          <a:lstStyle/>
          <a:p>
            <a:pPr algn="l"/>
            <a:r>
              <a:rPr sz="950" b="0" i="0">
                <a:solidFill>
                  <a:srgbClr val="00E5FF"/>
                </a:solidFill>
                <a:latin typeface="Calibri"/>
              </a:rPr>
              <a:t>C4  ASG-Aware Parallel Dispatch</a:t>
            </a:r>
          </a:p>
        </p:txBody>
      </p:sp>
      <p:sp>
        <p:nvSpPr>
          <p:cNvPr id="17" name="TextBox 16"/>
          <p:cNvSpPr txBox="1"/>
          <p:nvPr/>
        </p:nvSpPr>
        <p:spPr>
          <a:xfrm>
            <a:off x="457200" y="4169664"/>
            <a:ext cx="4773168" cy="274320"/>
          </a:xfrm>
          <a:prstGeom prst="rect">
            <a:avLst/>
          </a:prstGeom>
          <a:noFill/>
        </p:spPr>
        <p:txBody>
          <a:bodyPr wrap="square">
            <a:spAutoFit/>
          </a:bodyPr>
          <a:lstStyle/>
          <a:p>
            <a:pPr algn="l"/>
            <a:r>
              <a:rPr sz="950" b="1" i="0">
                <a:solidFill>
                  <a:srgbClr val="39FF14"/>
                </a:solidFill>
                <a:latin typeface="Calibri"/>
              </a:rPr>
              <a:t>C5  Tool Risk Gate + Commander Mailbox</a:t>
            </a:r>
          </a:p>
        </p:txBody>
      </p:sp>
      <p:sp>
        <p:nvSpPr>
          <p:cNvPr id="18" name="TextBox 17"/>
          <p:cNvSpPr txBox="1"/>
          <p:nvPr/>
        </p:nvSpPr>
        <p:spPr>
          <a:xfrm>
            <a:off x="457200" y="4480560"/>
            <a:ext cx="4773168" cy="274320"/>
          </a:xfrm>
          <a:prstGeom prst="rect">
            <a:avLst/>
          </a:prstGeom>
          <a:noFill/>
        </p:spPr>
        <p:txBody>
          <a:bodyPr wrap="square">
            <a:spAutoFit/>
          </a:bodyPr>
          <a:lstStyle/>
          <a:p>
            <a:pPr algn="l"/>
            <a:r>
              <a:rPr sz="950" b="0" i="0">
                <a:solidFill>
                  <a:srgbClr val="00E5FF"/>
                </a:solidFill>
                <a:latin typeface="Calibri"/>
              </a:rPr>
              <a:t>C6  Lossless Context Compaction (3-layer)</a:t>
            </a:r>
          </a:p>
        </p:txBody>
      </p:sp>
      <p:sp>
        <p:nvSpPr>
          <p:cNvPr id="19" name="TextBox 18"/>
          <p:cNvSpPr txBox="1"/>
          <p:nvPr/>
        </p:nvSpPr>
        <p:spPr>
          <a:xfrm>
            <a:off x="457200" y="4791456"/>
            <a:ext cx="4773168" cy="274320"/>
          </a:xfrm>
          <a:prstGeom prst="rect">
            <a:avLst/>
          </a:prstGeom>
          <a:noFill/>
        </p:spPr>
        <p:txBody>
          <a:bodyPr wrap="square">
            <a:spAutoFit/>
          </a:bodyPr>
          <a:lstStyle/>
          <a:p>
            <a:pPr algn="l"/>
            <a:r>
              <a:rPr sz="950" b="1" i="0">
                <a:solidFill>
                  <a:srgbClr val="39FF14"/>
                </a:solidFill>
                <a:latin typeface="Calibri"/>
              </a:rPr>
              <a:t>C7  Methodology-as-Config (VAPT Protocol Prompt)</a:t>
            </a:r>
          </a:p>
        </p:txBody>
      </p:sp>
      <p:sp>
        <p:nvSpPr>
          <p:cNvPr id="20" name="TextBox 19"/>
          <p:cNvSpPr txBox="1"/>
          <p:nvPr/>
        </p:nvSpPr>
        <p:spPr>
          <a:xfrm>
            <a:off x="457200" y="5102352"/>
            <a:ext cx="4773168" cy="274320"/>
          </a:xfrm>
          <a:prstGeom prst="rect">
            <a:avLst/>
          </a:prstGeom>
          <a:noFill/>
        </p:spPr>
        <p:txBody>
          <a:bodyPr wrap="square">
            <a:spAutoFit/>
          </a:bodyPr>
          <a:lstStyle/>
          <a:p>
            <a:pPr algn="l"/>
            <a:r>
              <a:rPr sz="950" b="0" i="0">
                <a:solidFill>
                  <a:srgbClr val="00E5FF"/>
                </a:solidFill>
                <a:latin typeface="Calibri"/>
              </a:rPr>
              <a:t>C8  Dual Termination (ASG exhausted ∧ APG resolved)</a:t>
            </a:r>
          </a:p>
        </p:txBody>
      </p:sp>
      <p:sp>
        <p:nvSpPr>
          <p:cNvPr id="21" name="TextBox 20"/>
          <p:cNvSpPr txBox="1"/>
          <p:nvPr/>
        </p:nvSpPr>
        <p:spPr>
          <a:xfrm>
            <a:off x="457200" y="5413248"/>
            <a:ext cx="4773168" cy="274320"/>
          </a:xfrm>
          <a:prstGeom prst="rect">
            <a:avLst/>
          </a:prstGeom>
          <a:noFill/>
        </p:spPr>
        <p:txBody>
          <a:bodyPr wrap="square">
            <a:spAutoFit/>
          </a:bodyPr>
          <a:lstStyle/>
          <a:p>
            <a:pPr algn="l"/>
            <a:r>
              <a:rPr sz="950" b="1" i="0">
                <a:solidFill>
                  <a:srgbClr val="39FF14"/>
                </a:solidFill>
                <a:latin typeface="Calibri"/>
              </a:rPr>
              <a:t>C9  Live CVE Grounding (Research Agent)</a:t>
            </a:r>
          </a:p>
        </p:txBody>
      </p:sp>
      <p:sp>
        <p:nvSpPr>
          <p:cNvPr id="22" name="TextBox 21"/>
          <p:cNvSpPr txBox="1"/>
          <p:nvPr/>
        </p:nvSpPr>
        <p:spPr>
          <a:xfrm>
            <a:off x="457200" y="5724144"/>
            <a:ext cx="4773168" cy="274320"/>
          </a:xfrm>
          <a:prstGeom prst="rect">
            <a:avLst/>
          </a:prstGeom>
          <a:noFill/>
        </p:spPr>
        <p:txBody>
          <a:bodyPr wrap="square">
            <a:spAutoFit/>
          </a:bodyPr>
          <a:lstStyle/>
          <a:p>
            <a:pPr algn="l"/>
            <a:r>
              <a:rPr sz="950" b="0" i="0">
                <a:solidFill>
                  <a:srgbClr val="00E5FF"/>
                </a:solidFill>
                <a:latin typeface="Calibri"/>
              </a:rPr>
              <a:t>C10 Cross-Mission Experience Store</a:t>
            </a:r>
          </a:p>
        </p:txBody>
      </p:sp>
      <p:sp>
        <p:nvSpPr>
          <p:cNvPr id="23" name="TextBox 22"/>
          <p:cNvSpPr txBox="1"/>
          <p:nvPr/>
        </p:nvSpPr>
        <p:spPr>
          <a:xfrm>
            <a:off x="457200" y="6035040"/>
            <a:ext cx="4773168" cy="274320"/>
          </a:xfrm>
          <a:prstGeom prst="rect">
            <a:avLst/>
          </a:prstGeom>
          <a:noFill/>
        </p:spPr>
        <p:txBody>
          <a:bodyPr wrap="square">
            <a:spAutoFit/>
          </a:bodyPr>
          <a:lstStyle/>
          <a:p>
            <a:pPr algn="l"/>
            <a:r>
              <a:rPr sz="950" b="1" i="0">
                <a:solidFill>
                  <a:srgbClr val="39FF14"/>
                </a:solidFill>
                <a:latin typeface="Calibri"/>
              </a:rPr>
              <a:t>C11 Attack Strategy Library (crystallization)</a:t>
            </a:r>
          </a:p>
        </p:txBody>
      </p:sp>
      <p:sp>
        <p:nvSpPr>
          <p:cNvPr id="24" name="TextBox 23"/>
          <p:cNvSpPr txBox="1"/>
          <p:nvPr/>
        </p:nvSpPr>
        <p:spPr>
          <a:xfrm>
            <a:off x="457200" y="6345936"/>
            <a:ext cx="4773168" cy="274320"/>
          </a:xfrm>
          <a:prstGeom prst="rect">
            <a:avLst/>
          </a:prstGeom>
          <a:noFill/>
        </p:spPr>
        <p:txBody>
          <a:bodyPr wrap="square">
            <a:spAutoFit/>
          </a:bodyPr>
          <a:lstStyle/>
          <a:p>
            <a:pPr algn="l"/>
            <a:r>
              <a:rPr sz="950" b="0" i="0">
                <a:solidFill>
                  <a:srgbClr val="00E5FF"/>
                </a:solidFill>
                <a:latin typeface="Calibri"/>
              </a:rPr>
              <a:t>C12 Trajectory Export Dataset (SFT/RL ready)</a:t>
            </a:r>
          </a:p>
        </p:txBody>
      </p:sp>
      <p:sp>
        <p:nvSpPr>
          <p:cNvPr id="25" name="Rectangle 24"/>
          <p:cNvSpPr/>
          <p:nvPr/>
        </p:nvSpPr>
        <p:spPr>
          <a:xfrm>
            <a:off x="5504688" y="987552"/>
            <a:ext cx="6485839" cy="2779776"/>
          </a:xfrm>
          <a:prstGeom prst="rect">
            <a:avLst/>
          </a:prstGeom>
          <a:solidFill>
            <a:srgbClr val="1612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14416" y="1042416"/>
            <a:ext cx="6302959" cy="201168"/>
          </a:xfrm>
          <a:prstGeom prst="rect">
            <a:avLst/>
          </a:prstGeom>
          <a:noFill/>
        </p:spPr>
        <p:txBody>
          <a:bodyPr wrap="square">
            <a:spAutoFit/>
          </a:bodyPr>
          <a:lstStyle/>
          <a:p>
            <a:pPr algn="l"/>
            <a:r>
              <a:rPr sz="1000" b="1" i="0">
                <a:solidFill>
                  <a:srgbClr val="FFD700"/>
                </a:solidFill>
                <a:latin typeface="Calibri"/>
              </a:rPr>
              <a:t>WHAT WE CLAIM</a:t>
            </a:r>
          </a:p>
        </p:txBody>
      </p:sp>
      <p:sp>
        <p:nvSpPr>
          <p:cNvPr id="27" name="Rectangle 26"/>
          <p:cNvSpPr/>
          <p:nvPr/>
        </p:nvSpPr>
        <p:spPr>
          <a:xfrm>
            <a:off x="5596128" y="1298448"/>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0" y="1335024"/>
            <a:ext cx="6211519" cy="457200"/>
          </a:xfrm>
          <a:prstGeom prst="rect">
            <a:avLst/>
          </a:prstGeom>
          <a:noFill/>
        </p:spPr>
        <p:txBody>
          <a:bodyPr wrap="square">
            <a:spAutoFit/>
          </a:bodyPr>
          <a:lstStyle/>
          <a:p>
            <a:pPr algn="l"/>
            <a:r>
              <a:rPr sz="900" b="0" i="0">
                <a:solidFill>
                  <a:srgbClr val="A0AAB8"/>
                </a:solidFill>
                <a:latin typeface="Calibri"/>
              </a:rPr>
              <a:t>→  CMatrix is the first autonomous VAPT system to maintain two strictly separated, continuously evolving graph structures for simultaneous discovery and attack reasoning.</a:t>
            </a:r>
          </a:p>
        </p:txBody>
      </p:sp>
      <p:sp>
        <p:nvSpPr>
          <p:cNvPr id="29" name="Rectangle 28"/>
          <p:cNvSpPr/>
          <p:nvPr/>
        </p:nvSpPr>
        <p:spPr>
          <a:xfrm>
            <a:off x="5596128" y="1883664"/>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0" y="1920240"/>
            <a:ext cx="6211519" cy="457200"/>
          </a:xfrm>
          <a:prstGeom prst="rect">
            <a:avLst/>
          </a:prstGeom>
          <a:noFill/>
        </p:spPr>
        <p:txBody>
          <a:bodyPr wrap="square">
            <a:spAutoFit/>
          </a:bodyPr>
          <a:lstStyle/>
          <a:p>
            <a:pPr algn="l"/>
            <a:r>
              <a:rPr sz="900" b="0" i="0">
                <a:solidFill>
                  <a:srgbClr val="A0AAB8"/>
                </a:solidFill>
                <a:latin typeface="Calibri"/>
              </a:rPr>
              <a:t>→  Formal dual termination provides a theoretically sound, verifiable completion criterion that prior systems cannot express.</a:t>
            </a:r>
          </a:p>
        </p:txBody>
      </p:sp>
      <p:sp>
        <p:nvSpPr>
          <p:cNvPr id="31" name="Rectangle 30"/>
          <p:cNvSpPr/>
          <p:nvPr/>
        </p:nvSpPr>
        <p:spPr>
          <a:xfrm>
            <a:off x="5596128" y="2468880"/>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2505456"/>
            <a:ext cx="6211519" cy="457200"/>
          </a:xfrm>
          <a:prstGeom prst="rect">
            <a:avLst/>
          </a:prstGeom>
          <a:noFill/>
        </p:spPr>
        <p:txBody>
          <a:bodyPr wrap="square">
            <a:spAutoFit/>
          </a:bodyPr>
          <a:lstStyle/>
          <a:p>
            <a:pPr algn="l"/>
            <a:r>
              <a:rPr sz="900" b="0" i="0">
                <a:solidFill>
                  <a:srgbClr val="A0AAB8"/>
                </a:solidFill>
                <a:latin typeface="Calibri"/>
              </a:rPr>
              <a:t>→  Cross-mission learning accumulates validated exploitation outcomes across all missions — a capability no prior published VAPT system demonstrates.</a:t>
            </a:r>
          </a:p>
        </p:txBody>
      </p:sp>
      <p:sp>
        <p:nvSpPr>
          <p:cNvPr id="33" name="Rectangle 32"/>
          <p:cNvSpPr/>
          <p:nvPr/>
        </p:nvSpPr>
        <p:spPr>
          <a:xfrm>
            <a:off x="5596128" y="3054096"/>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0" y="3090672"/>
            <a:ext cx="6211519" cy="457200"/>
          </a:xfrm>
          <a:prstGeom prst="rect">
            <a:avLst/>
          </a:prstGeom>
          <a:noFill/>
        </p:spPr>
        <p:txBody>
          <a:bodyPr wrap="square">
            <a:spAutoFit/>
          </a:bodyPr>
          <a:lstStyle/>
          <a:p>
            <a:pPr algn="l"/>
            <a:r>
              <a:rPr sz="900" b="0" i="0">
                <a:solidFill>
                  <a:srgbClr val="A0AAB8"/>
                </a:solidFill>
                <a:latin typeface="Calibri"/>
              </a:rPr>
              <a:t>→  The architecture produces a machine-readable decision trace usable for training security-specialized LLMs (C12 — novel in the VAPT domain).</a:t>
            </a:r>
          </a:p>
        </p:txBody>
      </p:sp>
      <p:sp>
        <p:nvSpPr>
          <p:cNvPr id="35" name="Rectangle 34"/>
          <p:cNvSpPr/>
          <p:nvPr/>
        </p:nvSpPr>
        <p:spPr>
          <a:xfrm>
            <a:off x="5504688" y="3877056"/>
            <a:ext cx="6485839" cy="2834640"/>
          </a:xfrm>
          <a:prstGeom prst="rect">
            <a:avLst/>
          </a:prstGeom>
          <a:solidFill>
            <a:srgbClr val="041410"/>
          </a:solidFill>
          <a:ln w="203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04688" y="3877056"/>
            <a:ext cx="6485839" cy="29260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14416" y="3913632"/>
            <a:ext cx="6302959" cy="237744"/>
          </a:xfrm>
          <a:prstGeom prst="rect">
            <a:avLst/>
          </a:prstGeom>
          <a:noFill/>
        </p:spPr>
        <p:txBody>
          <a:bodyPr wrap="square">
            <a:spAutoFit/>
          </a:bodyPr>
          <a:lstStyle/>
          <a:p>
            <a:pPr algn="ctr"/>
            <a:r>
              <a:rPr sz="1000" b="1" i="0">
                <a:solidFill>
                  <a:srgbClr val="0A0D1A"/>
                </a:solidFill>
                <a:latin typeface="Calibri"/>
              </a:rPr>
              <a:t>WHAT WE ARE ASKING FOR</a:t>
            </a:r>
          </a:p>
        </p:txBody>
      </p:sp>
      <p:sp>
        <p:nvSpPr>
          <p:cNvPr id="38" name="Rectangle 37"/>
          <p:cNvSpPr/>
          <p:nvPr/>
        </p:nvSpPr>
        <p:spPr>
          <a:xfrm>
            <a:off x="5596128" y="4224528"/>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87568" y="4261104"/>
            <a:ext cx="6193231" cy="201168"/>
          </a:xfrm>
          <a:prstGeom prst="rect">
            <a:avLst/>
          </a:prstGeom>
          <a:noFill/>
        </p:spPr>
        <p:txBody>
          <a:bodyPr wrap="square">
            <a:spAutoFit/>
          </a:bodyPr>
          <a:lstStyle/>
          <a:p>
            <a:pPr algn="l"/>
            <a:r>
              <a:rPr sz="1000" b="1" i="0">
                <a:solidFill>
                  <a:srgbClr val="00BFD8"/>
                </a:solidFill>
                <a:latin typeface="Calibri"/>
              </a:rPr>
              <a:t>Feedback on Scope</a:t>
            </a:r>
          </a:p>
        </p:txBody>
      </p:sp>
      <p:sp>
        <p:nvSpPr>
          <p:cNvPr id="40" name="TextBox 39"/>
          <p:cNvSpPr txBox="1"/>
          <p:nvPr/>
        </p:nvSpPr>
        <p:spPr>
          <a:xfrm>
            <a:off x="5687568" y="4480560"/>
            <a:ext cx="6193231" cy="274320"/>
          </a:xfrm>
          <a:prstGeom prst="rect">
            <a:avLst/>
          </a:prstGeom>
          <a:noFill/>
        </p:spPr>
        <p:txBody>
          <a:bodyPr wrap="square">
            <a:spAutoFit/>
          </a:bodyPr>
          <a:lstStyle/>
          <a:p>
            <a:pPr algn="l"/>
            <a:r>
              <a:rPr sz="900" b="0" i="0">
                <a:solidFill>
                  <a:srgbClr val="A0AAB8"/>
                </a:solidFill>
                <a:latin typeface="Calibri"/>
              </a:rPr>
              <a:t>Are the 12 contributions appropriately scoped for a PhD thesis?</a:t>
            </a:r>
          </a:p>
        </p:txBody>
      </p:sp>
      <p:sp>
        <p:nvSpPr>
          <p:cNvPr id="41" name="Rectangle 40"/>
          <p:cNvSpPr/>
          <p:nvPr/>
        </p:nvSpPr>
        <p:spPr>
          <a:xfrm>
            <a:off x="5596128" y="4846320"/>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87568" y="4882896"/>
            <a:ext cx="6193231" cy="201168"/>
          </a:xfrm>
          <a:prstGeom prst="rect">
            <a:avLst/>
          </a:prstGeom>
          <a:noFill/>
        </p:spPr>
        <p:txBody>
          <a:bodyPr wrap="square">
            <a:spAutoFit/>
          </a:bodyPr>
          <a:lstStyle/>
          <a:p>
            <a:pPr algn="l"/>
            <a:r>
              <a:rPr sz="1000" b="1" i="0">
                <a:solidFill>
                  <a:srgbClr val="00BFD8"/>
                </a:solidFill>
                <a:latin typeface="Calibri"/>
              </a:rPr>
              <a:t>Evaluation Guidance</a:t>
            </a:r>
          </a:p>
        </p:txBody>
      </p:sp>
      <p:sp>
        <p:nvSpPr>
          <p:cNvPr id="43" name="TextBox 42"/>
          <p:cNvSpPr txBox="1"/>
          <p:nvPr/>
        </p:nvSpPr>
        <p:spPr>
          <a:xfrm>
            <a:off x="5687568" y="5102352"/>
            <a:ext cx="6193231" cy="274320"/>
          </a:xfrm>
          <a:prstGeom prst="rect">
            <a:avLst/>
          </a:prstGeom>
          <a:noFill/>
        </p:spPr>
        <p:txBody>
          <a:bodyPr wrap="square">
            <a:spAutoFit/>
          </a:bodyPr>
          <a:lstStyle/>
          <a:p>
            <a:pPr algn="l"/>
            <a:r>
              <a:rPr sz="900" b="0" i="0">
                <a:solidFill>
                  <a:srgbClr val="A0AAB8"/>
                </a:solidFill>
                <a:latin typeface="Calibri"/>
              </a:rPr>
              <a:t>Is the HTB/THM ablation plan sufficient to prove the core claims?</a:t>
            </a:r>
          </a:p>
        </p:txBody>
      </p:sp>
      <p:sp>
        <p:nvSpPr>
          <p:cNvPr id="44" name="Rectangle 43"/>
          <p:cNvSpPr/>
          <p:nvPr/>
        </p:nvSpPr>
        <p:spPr>
          <a:xfrm>
            <a:off x="5596128" y="5468112"/>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87568" y="5504688"/>
            <a:ext cx="6193231" cy="201168"/>
          </a:xfrm>
          <a:prstGeom prst="rect">
            <a:avLst/>
          </a:prstGeom>
          <a:noFill/>
        </p:spPr>
        <p:txBody>
          <a:bodyPr wrap="square">
            <a:spAutoFit/>
          </a:bodyPr>
          <a:lstStyle/>
          <a:p>
            <a:pPr algn="l"/>
            <a:r>
              <a:rPr sz="1000" b="1" i="0">
                <a:solidFill>
                  <a:srgbClr val="00BFD8"/>
                </a:solidFill>
                <a:latin typeface="Calibri"/>
              </a:rPr>
              <a:t>Implementation Priority</a:t>
            </a:r>
          </a:p>
        </p:txBody>
      </p:sp>
      <p:sp>
        <p:nvSpPr>
          <p:cNvPr id="46" name="TextBox 45"/>
          <p:cNvSpPr txBox="1"/>
          <p:nvPr/>
        </p:nvSpPr>
        <p:spPr>
          <a:xfrm>
            <a:off x="5687568" y="5724144"/>
            <a:ext cx="6193231" cy="274320"/>
          </a:xfrm>
          <a:prstGeom prst="rect">
            <a:avLst/>
          </a:prstGeom>
          <a:noFill/>
        </p:spPr>
        <p:txBody>
          <a:bodyPr wrap="square">
            <a:spAutoFit/>
          </a:bodyPr>
          <a:lstStyle/>
          <a:p>
            <a:pPr algn="l"/>
            <a:r>
              <a:rPr sz="900" b="0" i="0">
                <a:solidFill>
                  <a:srgbClr val="A0AAB8"/>
                </a:solidFill>
                <a:latin typeface="Calibri"/>
              </a:rPr>
              <a:t>Which of C1–C12 should be fully implemented vs theoretically validated?</a:t>
            </a:r>
          </a:p>
        </p:txBody>
      </p:sp>
      <p:sp>
        <p:nvSpPr>
          <p:cNvPr id="47" name="Rectangle 46"/>
          <p:cNvSpPr/>
          <p:nvPr/>
        </p:nvSpPr>
        <p:spPr>
          <a:xfrm>
            <a:off x="5596128" y="6089904"/>
            <a:ext cx="6302959" cy="566928"/>
          </a:xfrm>
          <a:prstGeom prst="rect">
            <a:avLst/>
          </a:prstGeom>
          <a:solidFill>
            <a:srgbClr val="061C16"/>
          </a:solidFill>
          <a:ln w="762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87568" y="6126480"/>
            <a:ext cx="6193231" cy="201168"/>
          </a:xfrm>
          <a:prstGeom prst="rect">
            <a:avLst/>
          </a:prstGeom>
          <a:noFill/>
        </p:spPr>
        <p:txBody>
          <a:bodyPr wrap="square">
            <a:spAutoFit/>
          </a:bodyPr>
          <a:lstStyle/>
          <a:p>
            <a:pPr algn="l"/>
            <a:r>
              <a:rPr sz="1000" b="1" i="0">
                <a:solidFill>
                  <a:srgbClr val="00BFD8"/>
                </a:solidFill>
                <a:latin typeface="Calibri"/>
              </a:rPr>
              <a:t>Publication Venue</a:t>
            </a:r>
          </a:p>
        </p:txBody>
      </p:sp>
      <p:sp>
        <p:nvSpPr>
          <p:cNvPr id="49" name="TextBox 48"/>
          <p:cNvSpPr txBox="1"/>
          <p:nvPr/>
        </p:nvSpPr>
        <p:spPr>
          <a:xfrm>
            <a:off x="5687568" y="6345936"/>
            <a:ext cx="6193231" cy="274320"/>
          </a:xfrm>
          <a:prstGeom prst="rect">
            <a:avLst/>
          </a:prstGeom>
          <a:noFill/>
        </p:spPr>
        <p:txBody>
          <a:bodyPr wrap="square">
            <a:spAutoFit/>
          </a:bodyPr>
          <a:lstStyle/>
          <a:p>
            <a:pPr algn="l"/>
            <a:r>
              <a:rPr sz="900" b="0" i="0">
                <a:solidFill>
                  <a:srgbClr val="A0AAB8"/>
                </a:solidFill>
                <a:latin typeface="Calibri"/>
              </a:rPr>
              <a:t>USENIX Security / IEEE S&amp;P / ACSAC — which tier matches the contribution level?</a:t>
            </a:r>
          </a:p>
        </p:txBody>
      </p:sp>
      <p:sp>
        <p:nvSpPr>
          <p:cNvPr id="50" name="TextBox 49"/>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7315200" cy="274320"/>
          </a:xfrm>
          <a:prstGeom prst="rect">
            <a:avLst/>
          </a:prstGeom>
          <a:noFill/>
        </p:spPr>
        <p:txBody>
          <a:bodyPr wrap="square">
            <a:spAutoFit/>
          </a:bodyPr>
          <a:lstStyle/>
          <a:p>
            <a:pPr algn="ctr"/>
            <a:r>
              <a:rPr sz="1100" b="1" i="0">
                <a:solidFill>
                  <a:srgbClr val="BD93F9"/>
                </a:solidFill>
                <a:latin typeface="Calibri"/>
              </a:rPr>
              <a:t>INSPIRATIONS &amp; REFERENCES</a:t>
            </a:r>
          </a:p>
        </p:txBody>
      </p:sp>
      <p:sp>
        <p:nvSpPr>
          <p:cNvPr id="6" name="TextBox 5"/>
          <p:cNvSpPr txBox="1"/>
          <p:nvPr/>
        </p:nvSpPr>
        <p:spPr>
          <a:xfrm>
            <a:off x="274320" y="329184"/>
            <a:ext cx="11430000" cy="548640"/>
          </a:xfrm>
          <a:prstGeom prst="rect">
            <a:avLst/>
          </a:prstGeom>
          <a:noFill/>
        </p:spPr>
        <p:txBody>
          <a:bodyPr wrap="square">
            <a:spAutoFit/>
          </a:bodyPr>
          <a:lstStyle/>
          <a:p>
            <a:pPr algn="ctr"/>
            <a:r>
              <a:rPr sz="2600" b="1" i="0">
                <a:solidFill>
                  <a:srgbClr val="FFFFFF"/>
                </a:solidFill>
                <a:latin typeface="Calibri"/>
              </a:rPr>
              <a:t>Academic Papers + Open-Source Repositories That Shaped CMatrix</a:t>
            </a:r>
          </a:p>
        </p:txBody>
      </p:sp>
      <p:sp>
        <p:nvSpPr>
          <p:cNvPr id="7" name="Rectangle 6"/>
          <p:cNvSpPr/>
          <p:nvPr/>
        </p:nvSpPr>
        <p:spPr>
          <a:xfrm>
            <a:off x="274320" y="896112"/>
            <a:ext cx="64008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897880" cy="102412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987552"/>
            <a:ext cx="347472" cy="102412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1362456"/>
            <a:ext cx="310896" cy="274320"/>
          </a:xfrm>
          <a:prstGeom prst="rect">
            <a:avLst/>
          </a:prstGeom>
          <a:noFill/>
        </p:spPr>
        <p:txBody>
          <a:bodyPr wrap="square">
            <a:spAutoFit/>
          </a:bodyPr>
          <a:lstStyle/>
          <a:p>
            <a:pPr algn="ctr"/>
            <a:r>
              <a:rPr sz="1100" b="1" i="0">
                <a:solidFill>
                  <a:srgbClr val="0A0D1A"/>
                </a:solidFill>
                <a:latin typeface="Calibri"/>
              </a:rPr>
              <a:t>1</a:t>
            </a:r>
          </a:p>
        </p:txBody>
      </p:sp>
      <p:sp>
        <p:nvSpPr>
          <p:cNvPr id="11" name="TextBox 10"/>
          <p:cNvSpPr txBox="1"/>
          <p:nvPr/>
        </p:nvSpPr>
        <p:spPr>
          <a:xfrm>
            <a:off x="713232" y="1042416"/>
            <a:ext cx="5413248" cy="228600"/>
          </a:xfrm>
          <a:prstGeom prst="rect">
            <a:avLst/>
          </a:prstGeom>
          <a:noFill/>
        </p:spPr>
        <p:txBody>
          <a:bodyPr wrap="square">
            <a:spAutoFit/>
          </a:bodyPr>
          <a:lstStyle/>
          <a:p>
            <a:pPr algn="ctr"/>
            <a:r>
              <a:rPr sz="1150" b="1" i="0">
                <a:solidFill>
                  <a:srgbClr val="00E5FF"/>
                </a:solidFill>
                <a:latin typeface="Calibri"/>
              </a:rPr>
              <a:t>PentestGPT</a:t>
            </a:r>
          </a:p>
        </p:txBody>
      </p:sp>
      <p:sp>
        <p:nvSpPr>
          <p:cNvPr id="12" name="TextBox 11"/>
          <p:cNvSpPr txBox="1"/>
          <p:nvPr/>
        </p:nvSpPr>
        <p:spPr>
          <a:xfrm>
            <a:off x="713232" y="1261872"/>
            <a:ext cx="5413248" cy="182880"/>
          </a:xfrm>
          <a:prstGeom prst="rect">
            <a:avLst/>
          </a:prstGeom>
          <a:noFill/>
        </p:spPr>
        <p:txBody>
          <a:bodyPr wrap="square">
            <a:spAutoFit/>
          </a:bodyPr>
          <a:lstStyle/>
          <a:p>
            <a:pPr algn="ctr"/>
            <a:r>
              <a:rPr sz="850" b="0" i="1">
                <a:solidFill>
                  <a:srgbClr val="A0AAB8"/>
                </a:solidFill>
                <a:latin typeface="Calibri"/>
              </a:rPr>
              <a:t>USENIX Security '24</a:t>
            </a:r>
          </a:p>
        </p:txBody>
      </p:sp>
      <p:sp>
        <p:nvSpPr>
          <p:cNvPr id="13" name="TextBox 12"/>
          <p:cNvSpPr txBox="1"/>
          <p:nvPr/>
        </p:nvSpPr>
        <p:spPr>
          <a:xfrm>
            <a:off x="713232" y="1444752"/>
            <a:ext cx="5413248" cy="292608"/>
          </a:xfrm>
          <a:prstGeom prst="rect">
            <a:avLst/>
          </a:prstGeom>
          <a:noFill/>
        </p:spPr>
        <p:txBody>
          <a:bodyPr wrap="square">
            <a:spAutoFit/>
          </a:bodyPr>
          <a:lstStyle/>
          <a:p>
            <a:pPr algn="ctr"/>
            <a:r>
              <a:rPr sz="850" b="0" i="0">
                <a:solidFill>
                  <a:srgbClr val="A0AAB8"/>
                </a:solidFill>
                <a:latin typeface="Calibri"/>
              </a:rPr>
              <a:t>Tripartite Reasoning / Generation / Parsing architecture.
Pentesting Task Tree memory for long-session context.</a:t>
            </a:r>
          </a:p>
        </p:txBody>
      </p:sp>
      <p:sp>
        <p:nvSpPr>
          <p:cNvPr id="14" name="Rectangle 13"/>
          <p:cNvSpPr/>
          <p:nvPr/>
        </p:nvSpPr>
        <p:spPr>
          <a:xfrm>
            <a:off x="694944" y="1810512"/>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819656"/>
            <a:ext cx="5367528" cy="164592"/>
          </a:xfrm>
          <a:prstGeom prst="rect">
            <a:avLst/>
          </a:prstGeom>
          <a:noFill/>
        </p:spPr>
        <p:txBody>
          <a:bodyPr wrap="none">
            <a:spAutoFit/>
          </a:bodyPr>
          <a:lstStyle/>
          <a:p>
            <a:pPr algn="ctr"/>
            <a:r>
              <a:rPr sz="800" b="1" i="0">
                <a:solidFill>
                  <a:srgbClr val="39FF14"/>
                </a:solidFill>
                <a:latin typeface="Calibri"/>
              </a:rPr>
              <a:t>CMatrix:  Tool Adapter Layer (parse before you reason) + MicroCompact permanent graph state.</a:t>
            </a:r>
          </a:p>
        </p:txBody>
      </p:sp>
      <p:sp>
        <p:nvSpPr>
          <p:cNvPr id="16" name="Rectangle 15"/>
          <p:cNvSpPr/>
          <p:nvPr/>
        </p:nvSpPr>
        <p:spPr>
          <a:xfrm>
            <a:off x="274320" y="2066544"/>
            <a:ext cx="5897880" cy="10241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066544"/>
            <a:ext cx="347472" cy="10241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441448"/>
            <a:ext cx="310896" cy="274320"/>
          </a:xfrm>
          <a:prstGeom prst="rect">
            <a:avLst/>
          </a:prstGeom>
          <a:noFill/>
        </p:spPr>
        <p:txBody>
          <a:bodyPr wrap="square">
            <a:spAutoFit/>
          </a:bodyPr>
          <a:lstStyle/>
          <a:p>
            <a:pPr algn="ctr"/>
            <a:r>
              <a:rPr sz="1100" b="1" i="0">
                <a:solidFill>
                  <a:srgbClr val="0A0D1A"/>
                </a:solidFill>
                <a:latin typeface="Calibri"/>
              </a:rPr>
              <a:t>2</a:t>
            </a:r>
          </a:p>
        </p:txBody>
      </p:sp>
      <p:sp>
        <p:nvSpPr>
          <p:cNvPr id="19" name="TextBox 18"/>
          <p:cNvSpPr txBox="1"/>
          <p:nvPr/>
        </p:nvSpPr>
        <p:spPr>
          <a:xfrm>
            <a:off x="713232" y="2121408"/>
            <a:ext cx="5413248" cy="228600"/>
          </a:xfrm>
          <a:prstGeom prst="rect">
            <a:avLst/>
          </a:prstGeom>
          <a:noFill/>
        </p:spPr>
        <p:txBody>
          <a:bodyPr wrap="square">
            <a:spAutoFit/>
          </a:bodyPr>
          <a:lstStyle/>
          <a:p>
            <a:pPr algn="ctr"/>
            <a:r>
              <a:rPr sz="1150" b="1" i="0">
                <a:solidFill>
                  <a:srgbClr val="39FF14"/>
                </a:solidFill>
                <a:latin typeface="Calibri"/>
              </a:rPr>
              <a:t>AutoAttacker</a:t>
            </a:r>
          </a:p>
        </p:txBody>
      </p:sp>
      <p:sp>
        <p:nvSpPr>
          <p:cNvPr id="20" name="TextBox 19"/>
          <p:cNvSpPr txBox="1"/>
          <p:nvPr/>
        </p:nvSpPr>
        <p:spPr>
          <a:xfrm>
            <a:off x="713232" y="2340864"/>
            <a:ext cx="5413248" cy="182880"/>
          </a:xfrm>
          <a:prstGeom prst="rect">
            <a:avLst/>
          </a:prstGeom>
          <a:noFill/>
        </p:spPr>
        <p:txBody>
          <a:bodyPr wrap="square">
            <a:spAutoFit/>
          </a:bodyPr>
          <a:lstStyle/>
          <a:p>
            <a:pPr algn="ctr"/>
            <a:r>
              <a:rPr sz="850" b="0" i="1">
                <a:solidFill>
                  <a:srgbClr val="A0AAB8"/>
                </a:solidFill>
                <a:latin typeface="Calibri"/>
              </a:rPr>
              <a:t>arXiv '24  — Xu et al.</a:t>
            </a:r>
          </a:p>
        </p:txBody>
      </p:sp>
      <p:sp>
        <p:nvSpPr>
          <p:cNvPr id="21" name="TextBox 20"/>
          <p:cNvSpPr txBox="1"/>
          <p:nvPr/>
        </p:nvSpPr>
        <p:spPr>
          <a:xfrm>
            <a:off x="713232" y="2523744"/>
            <a:ext cx="5413248" cy="292608"/>
          </a:xfrm>
          <a:prstGeom prst="rect">
            <a:avLst/>
          </a:prstGeom>
          <a:noFill/>
        </p:spPr>
        <p:txBody>
          <a:bodyPr wrap="square">
            <a:spAutoFit/>
          </a:bodyPr>
          <a:lstStyle/>
          <a:p>
            <a:pPr algn="ctr"/>
            <a:r>
              <a:rPr sz="850" b="0" i="0">
                <a:solidFill>
                  <a:srgbClr val="A0AAB8"/>
                </a:solidFill>
                <a:latin typeface="Calibri"/>
              </a:rPr>
              <a:t>Modular planner / summarizer / code-generator for post-breach automation.
Experience manager stores + reuses attack subtasks within one mission.</a:t>
            </a:r>
          </a:p>
        </p:txBody>
      </p:sp>
      <p:sp>
        <p:nvSpPr>
          <p:cNvPr id="22" name="Rectangle 21"/>
          <p:cNvSpPr/>
          <p:nvPr/>
        </p:nvSpPr>
        <p:spPr>
          <a:xfrm>
            <a:off x="694944" y="2889504"/>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898648"/>
            <a:ext cx="5367528" cy="164592"/>
          </a:xfrm>
          <a:prstGeom prst="rect">
            <a:avLst/>
          </a:prstGeom>
          <a:noFill/>
        </p:spPr>
        <p:txBody>
          <a:bodyPr wrap="none">
            <a:spAutoFit/>
          </a:bodyPr>
          <a:lstStyle/>
          <a:p>
            <a:pPr algn="ctr"/>
            <a:r>
              <a:rPr sz="800" b="1" i="0">
                <a:solidFill>
                  <a:srgbClr val="39FF14"/>
                </a:solidFill>
                <a:latin typeface="Calibri"/>
              </a:rPr>
              <a:t>CMatrix:  Cross-Mission Experience Store (C10) — generalizes reuse to cross-mission scope.</a:t>
            </a:r>
          </a:p>
        </p:txBody>
      </p:sp>
      <p:sp>
        <p:nvSpPr>
          <p:cNvPr id="24" name="Rectangle 23"/>
          <p:cNvSpPr/>
          <p:nvPr/>
        </p:nvSpPr>
        <p:spPr>
          <a:xfrm>
            <a:off x="274320" y="3145536"/>
            <a:ext cx="5897880" cy="1024128"/>
          </a:xfrm>
          <a:prstGeom prst="rect">
            <a:avLst/>
          </a:prstGeom>
          <a:solidFill>
            <a:srgbClr val="10162B"/>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145536"/>
            <a:ext cx="347472" cy="102412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520440"/>
            <a:ext cx="310896" cy="274320"/>
          </a:xfrm>
          <a:prstGeom prst="rect">
            <a:avLst/>
          </a:prstGeom>
          <a:noFill/>
        </p:spPr>
        <p:txBody>
          <a:bodyPr wrap="square">
            <a:spAutoFit/>
          </a:bodyPr>
          <a:lstStyle/>
          <a:p>
            <a:pPr algn="ctr"/>
            <a:r>
              <a:rPr sz="1100" b="1" i="0">
                <a:solidFill>
                  <a:srgbClr val="0A0D1A"/>
                </a:solidFill>
                <a:latin typeface="Calibri"/>
              </a:rPr>
              <a:t>3</a:t>
            </a:r>
          </a:p>
        </p:txBody>
      </p:sp>
      <p:sp>
        <p:nvSpPr>
          <p:cNvPr id="27" name="TextBox 26"/>
          <p:cNvSpPr txBox="1"/>
          <p:nvPr/>
        </p:nvSpPr>
        <p:spPr>
          <a:xfrm>
            <a:off x="713232" y="3200400"/>
            <a:ext cx="5413248" cy="228600"/>
          </a:xfrm>
          <a:prstGeom prst="rect">
            <a:avLst/>
          </a:prstGeom>
          <a:noFill/>
        </p:spPr>
        <p:txBody>
          <a:bodyPr wrap="square">
            <a:spAutoFit/>
          </a:bodyPr>
          <a:lstStyle/>
          <a:p>
            <a:pPr algn="ctr"/>
            <a:r>
              <a:rPr sz="1150" b="1" i="0">
                <a:solidFill>
                  <a:srgbClr val="FFD700"/>
                </a:solidFill>
                <a:latin typeface="Calibri"/>
              </a:rPr>
              <a:t>Teams of LLM Agents (HPTSA)</a:t>
            </a:r>
          </a:p>
        </p:txBody>
      </p:sp>
      <p:sp>
        <p:nvSpPr>
          <p:cNvPr id="28" name="TextBox 27"/>
          <p:cNvSpPr txBox="1"/>
          <p:nvPr/>
        </p:nvSpPr>
        <p:spPr>
          <a:xfrm>
            <a:off x="713232" y="3419856"/>
            <a:ext cx="5413248" cy="182880"/>
          </a:xfrm>
          <a:prstGeom prst="rect">
            <a:avLst/>
          </a:prstGeom>
          <a:noFill/>
        </p:spPr>
        <p:txBody>
          <a:bodyPr wrap="square">
            <a:spAutoFit/>
          </a:bodyPr>
          <a:lstStyle/>
          <a:p>
            <a:pPr algn="ctr"/>
            <a:r>
              <a:rPr sz="850" b="0" i="1">
                <a:solidFill>
                  <a:srgbClr val="A0AAB8"/>
                </a:solidFill>
                <a:latin typeface="Calibri"/>
              </a:rPr>
              <a:t>arXiv '24  — Zhu et al.</a:t>
            </a:r>
          </a:p>
        </p:txBody>
      </p:sp>
      <p:sp>
        <p:nvSpPr>
          <p:cNvPr id="29" name="TextBox 28"/>
          <p:cNvSpPr txBox="1"/>
          <p:nvPr/>
        </p:nvSpPr>
        <p:spPr>
          <a:xfrm>
            <a:off x="713232" y="3602736"/>
            <a:ext cx="5413248" cy="292608"/>
          </a:xfrm>
          <a:prstGeom prst="rect">
            <a:avLst/>
          </a:prstGeom>
          <a:noFill/>
        </p:spPr>
        <p:txBody>
          <a:bodyPr wrap="square">
            <a:spAutoFit/>
          </a:bodyPr>
          <a:lstStyle/>
          <a:p>
            <a:pPr algn="ctr"/>
            <a:r>
              <a:rPr sz="850" b="0" i="0">
                <a:solidFill>
                  <a:srgbClr val="A0AAB8"/>
                </a:solidFill>
                <a:latin typeface="Calibri"/>
              </a:rPr>
              <a:t>Hierarchical planner delegates to task-specific sub-agents.
Task-specific document injection improves zero-day exploitation by 2.1x.</a:t>
            </a:r>
          </a:p>
        </p:txBody>
      </p:sp>
      <p:sp>
        <p:nvSpPr>
          <p:cNvPr id="30" name="Rectangle 29"/>
          <p:cNvSpPr/>
          <p:nvPr/>
        </p:nvSpPr>
        <p:spPr>
          <a:xfrm>
            <a:off x="694944" y="3968496"/>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3977640"/>
            <a:ext cx="5367528" cy="164592"/>
          </a:xfrm>
          <a:prstGeom prst="rect">
            <a:avLst/>
          </a:prstGeom>
          <a:noFill/>
        </p:spPr>
        <p:txBody>
          <a:bodyPr wrap="none">
            <a:spAutoFit/>
          </a:bodyPr>
          <a:lstStyle/>
          <a:p>
            <a:pPr algn="ctr"/>
            <a:r>
              <a:rPr sz="800" b="1" i="0">
                <a:solidFill>
                  <a:srgbClr val="39FF14"/>
                </a:solidFill>
                <a:latin typeface="Calibri"/>
              </a:rPr>
              <a:t>CMatrix:  Vulnerability-Class Knowledge Injection at agent spawn time (§7).</a:t>
            </a:r>
          </a:p>
        </p:txBody>
      </p:sp>
      <p:sp>
        <p:nvSpPr>
          <p:cNvPr id="32" name="Rectangle 31"/>
          <p:cNvSpPr/>
          <p:nvPr/>
        </p:nvSpPr>
        <p:spPr>
          <a:xfrm>
            <a:off x="274320" y="4224528"/>
            <a:ext cx="5897880" cy="1024128"/>
          </a:xfrm>
          <a:prstGeom prst="rect">
            <a:avLst/>
          </a:prstGeom>
          <a:solidFill>
            <a:srgbClr val="10162B"/>
          </a:solidFill>
          <a:ln w="127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4224528"/>
            <a:ext cx="347472" cy="102412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8" y="4599432"/>
            <a:ext cx="310896" cy="274320"/>
          </a:xfrm>
          <a:prstGeom prst="rect">
            <a:avLst/>
          </a:prstGeom>
          <a:noFill/>
        </p:spPr>
        <p:txBody>
          <a:bodyPr wrap="square">
            <a:spAutoFit/>
          </a:bodyPr>
          <a:lstStyle/>
          <a:p>
            <a:pPr algn="ctr"/>
            <a:r>
              <a:rPr sz="1100" b="1" i="0">
                <a:solidFill>
                  <a:srgbClr val="0A0D1A"/>
                </a:solidFill>
                <a:latin typeface="Calibri"/>
              </a:rPr>
              <a:t>4</a:t>
            </a:r>
          </a:p>
        </p:txBody>
      </p:sp>
      <p:sp>
        <p:nvSpPr>
          <p:cNvPr id="35" name="TextBox 34"/>
          <p:cNvSpPr txBox="1"/>
          <p:nvPr/>
        </p:nvSpPr>
        <p:spPr>
          <a:xfrm>
            <a:off x="713232" y="4279392"/>
            <a:ext cx="5413248" cy="228600"/>
          </a:xfrm>
          <a:prstGeom prst="rect">
            <a:avLst/>
          </a:prstGeom>
          <a:noFill/>
        </p:spPr>
        <p:txBody>
          <a:bodyPr wrap="square">
            <a:spAutoFit/>
          </a:bodyPr>
          <a:lstStyle/>
          <a:p>
            <a:pPr algn="ctr"/>
            <a:r>
              <a:rPr sz="1150" b="1" i="0">
                <a:solidFill>
                  <a:srgbClr val="00BFD8"/>
                </a:solidFill>
                <a:latin typeface="Calibri"/>
              </a:rPr>
              <a:t>PentestAgent</a:t>
            </a:r>
          </a:p>
        </p:txBody>
      </p:sp>
      <p:sp>
        <p:nvSpPr>
          <p:cNvPr id="36" name="TextBox 35"/>
          <p:cNvSpPr txBox="1"/>
          <p:nvPr/>
        </p:nvSpPr>
        <p:spPr>
          <a:xfrm>
            <a:off x="713232" y="4498848"/>
            <a:ext cx="5413248" cy="182880"/>
          </a:xfrm>
          <a:prstGeom prst="rect">
            <a:avLst/>
          </a:prstGeom>
          <a:noFill/>
        </p:spPr>
        <p:txBody>
          <a:bodyPr wrap="square">
            <a:spAutoFit/>
          </a:bodyPr>
          <a:lstStyle/>
          <a:p>
            <a:pPr algn="ctr"/>
            <a:r>
              <a:rPr sz="850" b="0" i="1">
                <a:solidFill>
                  <a:srgbClr val="A0AAB8"/>
                </a:solidFill>
                <a:latin typeface="Calibri"/>
              </a:rPr>
              <a:t>AsiaCCS '25  — Shen et al.</a:t>
            </a:r>
          </a:p>
        </p:txBody>
      </p:sp>
      <p:sp>
        <p:nvSpPr>
          <p:cNvPr id="37" name="TextBox 36"/>
          <p:cNvSpPr txBox="1"/>
          <p:nvPr/>
        </p:nvSpPr>
        <p:spPr>
          <a:xfrm>
            <a:off x="713232" y="4681728"/>
            <a:ext cx="5413248" cy="292608"/>
          </a:xfrm>
          <a:prstGeom prst="rect">
            <a:avLst/>
          </a:prstGeom>
          <a:noFill/>
        </p:spPr>
        <p:txBody>
          <a:bodyPr wrap="square">
            <a:spAutoFit/>
          </a:bodyPr>
          <a:lstStyle/>
          <a:p>
            <a:pPr algn="ctr"/>
            <a:r>
              <a:rPr sz="850" b="0" i="0">
                <a:solidFill>
                  <a:srgbClr val="A0AAB8"/>
                </a:solidFill>
                <a:latin typeface="Calibri"/>
              </a:rPr>
              <a:t>Planning agent + RAG-backed shared memory.
Execution agent self-diagnoses failed exploit attempts before abandoning.</a:t>
            </a:r>
          </a:p>
        </p:txBody>
      </p:sp>
      <p:sp>
        <p:nvSpPr>
          <p:cNvPr id="38" name="Rectangle 37"/>
          <p:cNvSpPr/>
          <p:nvPr/>
        </p:nvSpPr>
        <p:spPr>
          <a:xfrm>
            <a:off x="694944" y="5047488"/>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056632"/>
            <a:ext cx="5367528" cy="164592"/>
          </a:xfrm>
          <a:prstGeom prst="rect">
            <a:avLst/>
          </a:prstGeom>
          <a:noFill/>
        </p:spPr>
        <p:txBody>
          <a:bodyPr wrap="none">
            <a:spAutoFit/>
          </a:bodyPr>
          <a:lstStyle/>
          <a:p>
            <a:pPr algn="ctr"/>
            <a:r>
              <a:rPr sz="800" b="1" i="0">
                <a:solidFill>
                  <a:srgbClr val="39FF14"/>
                </a:solidFill>
                <a:latin typeface="Calibri"/>
              </a:rPr>
              <a:t>CMatrix:  Validation Agent self-debugging loop: Diagnose → Contextualize → Adapt → Cap.</a:t>
            </a:r>
          </a:p>
        </p:txBody>
      </p:sp>
      <p:sp>
        <p:nvSpPr>
          <p:cNvPr id="40" name="Rectangle 39"/>
          <p:cNvSpPr/>
          <p:nvPr/>
        </p:nvSpPr>
        <p:spPr>
          <a:xfrm>
            <a:off x="274320" y="5303520"/>
            <a:ext cx="5897880" cy="10241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74320" y="5303520"/>
            <a:ext cx="347472" cy="10241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8" y="5678424"/>
            <a:ext cx="310896" cy="274320"/>
          </a:xfrm>
          <a:prstGeom prst="rect">
            <a:avLst/>
          </a:prstGeom>
          <a:noFill/>
        </p:spPr>
        <p:txBody>
          <a:bodyPr wrap="square">
            <a:spAutoFit/>
          </a:bodyPr>
          <a:lstStyle/>
          <a:p>
            <a:pPr algn="ctr"/>
            <a:r>
              <a:rPr sz="1100" b="1" i="0">
                <a:solidFill>
                  <a:srgbClr val="0A0D1A"/>
                </a:solidFill>
                <a:latin typeface="Calibri"/>
              </a:rPr>
              <a:t>5</a:t>
            </a:r>
          </a:p>
        </p:txBody>
      </p:sp>
      <p:sp>
        <p:nvSpPr>
          <p:cNvPr id="43" name="TextBox 42"/>
          <p:cNvSpPr txBox="1"/>
          <p:nvPr/>
        </p:nvSpPr>
        <p:spPr>
          <a:xfrm>
            <a:off x="713232" y="5358384"/>
            <a:ext cx="5413248" cy="228600"/>
          </a:xfrm>
          <a:prstGeom prst="rect">
            <a:avLst/>
          </a:prstGeom>
          <a:noFill/>
        </p:spPr>
        <p:txBody>
          <a:bodyPr wrap="square">
            <a:spAutoFit/>
          </a:bodyPr>
          <a:lstStyle/>
          <a:p>
            <a:pPr algn="ctr"/>
            <a:r>
              <a:rPr sz="1150" b="1" i="0">
                <a:solidFill>
                  <a:srgbClr val="FF4545"/>
                </a:solidFill>
                <a:latin typeface="Calibri"/>
              </a:rPr>
              <a:t>VulnBot</a:t>
            </a:r>
          </a:p>
        </p:txBody>
      </p:sp>
      <p:sp>
        <p:nvSpPr>
          <p:cNvPr id="44" name="TextBox 43"/>
          <p:cNvSpPr txBox="1"/>
          <p:nvPr/>
        </p:nvSpPr>
        <p:spPr>
          <a:xfrm>
            <a:off x="713232" y="5577840"/>
            <a:ext cx="5413248" cy="182880"/>
          </a:xfrm>
          <a:prstGeom prst="rect">
            <a:avLst/>
          </a:prstGeom>
          <a:noFill/>
        </p:spPr>
        <p:txBody>
          <a:bodyPr wrap="square">
            <a:spAutoFit/>
          </a:bodyPr>
          <a:lstStyle/>
          <a:p>
            <a:pPr algn="ctr"/>
            <a:r>
              <a:rPr sz="850" b="0" i="1">
                <a:solidFill>
                  <a:srgbClr val="A0AAB8"/>
                </a:solidFill>
                <a:latin typeface="Calibri"/>
              </a:rPr>
              <a:t>arXiv '25  — Kong et al.</a:t>
            </a:r>
          </a:p>
        </p:txBody>
      </p:sp>
      <p:sp>
        <p:nvSpPr>
          <p:cNvPr id="45" name="TextBox 44"/>
          <p:cNvSpPr txBox="1"/>
          <p:nvPr/>
        </p:nvSpPr>
        <p:spPr>
          <a:xfrm>
            <a:off x="713232" y="5760720"/>
            <a:ext cx="5413248" cy="292608"/>
          </a:xfrm>
          <a:prstGeom prst="rect">
            <a:avLst/>
          </a:prstGeom>
          <a:noFill/>
        </p:spPr>
        <p:txBody>
          <a:bodyPr wrap="square">
            <a:spAutoFit/>
          </a:bodyPr>
          <a:lstStyle/>
          <a:p>
            <a:pPr algn="ctr"/>
            <a:r>
              <a:rPr sz="850" b="0" i="0">
                <a:solidFill>
                  <a:srgbClr val="A0AAB8"/>
                </a:solidFill>
                <a:latin typeface="Calibri"/>
              </a:rPr>
              <a:t>Five-module pipeline around a Penetration Task Graph.
Summarizer condenses phase output — prevents raw history leaking between agents.</a:t>
            </a:r>
          </a:p>
        </p:txBody>
      </p:sp>
      <p:sp>
        <p:nvSpPr>
          <p:cNvPr id="46" name="Rectangle 45"/>
          <p:cNvSpPr/>
          <p:nvPr/>
        </p:nvSpPr>
        <p:spPr>
          <a:xfrm>
            <a:off x="694944" y="6126480"/>
            <a:ext cx="5404104" cy="164592"/>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6135624"/>
            <a:ext cx="5367528" cy="164592"/>
          </a:xfrm>
          <a:prstGeom prst="rect">
            <a:avLst/>
          </a:prstGeom>
          <a:noFill/>
        </p:spPr>
        <p:txBody>
          <a:bodyPr wrap="none">
            <a:spAutoFit/>
          </a:bodyPr>
          <a:lstStyle/>
          <a:p>
            <a:pPr algn="ctr"/>
            <a:r>
              <a:rPr sz="800" b="1" i="0">
                <a:solidFill>
                  <a:srgbClr val="39FF14"/>
                </a:solidFill>
                <a:latin typeface="Calibri"/>
              </a:rPr>
              <a:t>CMatrix:  Context-Isolated Agent Spawning — agents return structured ASG delta, not raw history.</a:t>
            </a:r>
          </a:p>
        </p:txBody>
      </p:sp>
      <p:sp>
        <p:nvSpPr>
          <p:cNvPr id="48" name="Rectangle 47"/>
          <p:cNvSpPr/>
          <p:nvPr/>
        </p:nvSpPr>
        <p:spPr>
          <a:xfrm>
            <a:off x="6355080" y="987552"/>
            <a:ext cx="5669280" cy="274320"/>
          </a:xfrm>
          <a:prstGeom prst="rect">
            <a:avLst/>
          </a:prstGeom>
          <a:solidFill>
            <a:srgbClr val="120820"/>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64808" y="1005840"/>
            <a:ext cx="5486400" cy="237744"/>
          </a:xfrm>
          <a:prstGeom prst="rect">
            <a:avLst/>
          </a:prstGeom>
          <a:noFill/>
        </p:spPr>
        <p:txBody>
          <a:bodyPr wrap="square">
            <a:spAutoFit/>
          </a:bodyPr>
          <a:lstStyle/>
          <a:p>
            <a:pPr algn="ctr"/>
            <a:r>
              <a:rPr sz="1000" b="1" i="0">
                <a:solidFill>
                  <a:srgbClr val="BD93F9"/>
                </a:solidFill>
                <a:latin typeface="Calibri"/>
              </a:rPr>
              <a:t>💻  OPEN-SOURCE REPOSITORIES</a:t>
            </a:r>
          </a:p>
        </p:txBody>
      </p:sp>
      <p:sp>
        <p:nvSpPr>
          <p:cNvPr id="50" name="Rectangle 49"/>
          <p:cNvSpPr/>
          <p:nvPr/>
        </p:nvSpPr>
        <p:spPr>
          <a:xfrm>
            <a:off x="6355080" y="1307592"/>
            <a:ext cx="5669280" cy="1627632"/>
          </a:xfrm>
          <a:prstGeom prst="rect">
            <a:avLst/>
          </a:prstGeom>
          <a:solidFill>
            <a:srgbClr val="10162B"/>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355080" y="1307592"/>
            <a:ext cx="347472" cy="16276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73368" y="1984248"/>
            <a:ext cx="310896" cy="274320"/>
          </a:xfrm>
          <a:prstGeom prst="rect">
            <a:avLst/>
          </a:prstGeom>
          <a:noFill/>
        </p:spPr>
        <p:txBody>
          <a:bodyPr wrap="square">
            <a:spAutoFit/>
          </a:bodyPr>
          <a:lstStyle/>
          <a:p>
            <a:pPr algn="ctr"/>
            <a:r>
              <a:rPr sz="1100" b="1" i="0">
                <a:solidFill>
                  <a:srgbClr val="0A0D1A"/>
                </a:solidFill>
                <a:latin typeface="Calibri"/>
              </a:rPr>
              <a:t>6</a:t>
            </a:r>
          </a:p>
        </p:txBody>
      </p:sp>
      <p:sp>
        <p:nvSpPr>
          <p:cNvPr id="53" name="TextBox 52"/>
          <p:cNvSpPr txBox="1"/>
          <p:nvPr/>
        </p:nvSpPr>
        <p:spPr>
          <a:xfrm>
            <a:off x="6793992" y="1380744"/>
            <a:ext cx="5184648" cy="256032"/>
          </a:xfrm>
          <a:prstGeom prst="rect">
            <a:avLst/>
          </a:prstGeom>
          <a:noFill/>
        </p:spPr>
        <p:txBody>
          <a:bodyPr wrap="square">
            <a:spAutoFit/>
          </a:bodyPr>
          <a:lstStyle/>
          <a:p>
            <a:pPr algn="ctr"/>
            <a:r>
              <a:rPr sz="1300" b="1" i="0">
                <a:solidFill>
                  <a:srgbClr val="39FF14"/>
                </a:solidFill>
                <a:latin typeface="Calibri"/>
              </a:rPr>
              <a:t>PentAGI</a:t>
            </a:r>
          </a:p>
        </p:txBody>
      </p:sp>
      <p:sp>
        <p:nvSpPr>
          <p:cNvPr id="54" name="TextBox 53"/>
          <p:cNvSpPr txBox="1"/>
          <p:nvPr/>
        </p:nvSpPr>
        <p:spPr>
          <a:xfrm>
            <a:off x="6793992" y="1645920"/>
            <a:ext cx="5184648" cy="182880"/>
          </a:xfrm>
          <a:prstGeom prst="rect">
            <a:avLst/>
          </a:prstGeom>
          <a:noFill/>
        </p:spPr>
        <p:txBody>
          <a:bodyPr wrap="square">
            <a:spAutoFit/>
          </a:bodyPr>
          <a:lstStyle/>
          <a:p>
            <a:pPr algn="ctr"/>
            <a:r>
              <a:rPr sz="850" b="0" i="1">
                <a:solidFill>
                  <a:srgbClr val="A0AAB8"/>
                </a:solidFill>
                <a:latin typeface="Calibri"/>
              </a:rPr>
              <a:t>vxcontrol/pentagi</a:t>
            </a:r>
          </a:p>
        </p:txBody>
      </p:sp>
      <p:sp>
        <p:nvSpPr>
          <p:cNvPr id="55" name="TextBox 54"/>
          <p:cNvSpPr txBox="1"/>
          <p:nvPr/>
        </p:nvSpPr>
        <p:spPr>
          <a:xfrm>
            <a:off x="6793992" y="1837944"/>
            <a:ext cx="5184648" cy="457200"/>
          </a:xfrm>
          <a:prstGeom prst="rect">
            <a:avLst/>
          </a:prstGeom>
          <a:noFill/>
        </p:spPr>
        <p:txBody>
          <a:bodyPr wrap="square">
            <a:spAutoFit/>
          </a:bodyPr>
          <a:lstStyle/>
          <a:p>
            <a:pPr algn="ctr"/>
            <a:r>
              <a:rPr sz="900" b="0" i="0">
                <a:solidFill>
                  <a:srgbClr val="A0AAB8"/>
                </a:solidFill>
                <a:latin typeface="Calibri"/>
              </a:rPr>
              <a:t>Production multi-agent pentesting platform.
Adviser detects fixation; Reflector nudges stuck agents.</a:t>
            </a:r>
          </a:p>
        </p:txBody>
      </p:sp>
      <p:sp>
        <p:nvSpPr>
          <p:cNvPr id="56" name="Rectangle 55"/>
          <p:cNvSpPr/>
          <p:nvPr/>
        </p:nvSpPr>
        <p:spPr>
          <a:xfrm>
            <a:off x="6775704" y="2642616"/>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12280" y="2651760"/>
            <a:ext cx="5138928" cy="237744"/>
          </a:xfrm>
          <a:prstGeom prst="rect">
            <a:avLst/>
          </a:prstGeom>
          <a:noFill/>
        </p:spPr>
        <p:txBody>
          <a:bodyPr wrap="square">
            <a:spAutoFit/>
          </a:bodyPr>
          <a:lstStyle/>
          <a:p>
            <a:pPr algn="ctr"/>
            <a:r>
              <a:rPr sz="850" b="1" i="0">
                <a:solidFill>
                  <a:srgbClr val="39FF14"/>
                </a:solidFill>
                <a:latin typeface="Calibri"/>
              </a:rPr>
              <a:t>CMatrix:  Cycle Guard (detects repeated identical tool calls) + Reflector (corrective guidance on repeated failures).</a:t>
            </a:r>
          </a:p>
        </p:txBody>
      </p:sp>
      <p:sp>
        <p:nvSpPr>
          <p:cNvPr id="58" name="Rectangle 57"/>
          <p:cNvSpPr/>
          <p:nvPr/>
        </p:nvSpPr>
        <p:spPr>
          <a:xfrm>
            <a:off x="6355080" y="3026664"/>
            <a:ext cx="5669280" cy="1627632"/>
          </a:xfrm>
          <a:prstGeom prst="rect">
            <a:avLst/>
          </a:prstGeom>
          <a:solidFill>
            <a:srgbClr val="10162B"/>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355080" y="3026664"/>
            <a:ext cx="347472" cy="16276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73368" y="3703320"/>
            <a:ext cx="310896" cy="274320"/>
          </a:xfrm>
          <a:prstGeom prst="rect">
            <a:avLst/>
          </a:prstGeom>
          <a:noFill/>
        </p:spPr>
        <p:txBody>
          <a:bodyPr wrap="square">
            <a:spAutoFit/>
          </a:bodyPr>
          <a:lstStyle/>
          <a:p>
            <a:pPr algn="ctr"/>
            <a:r>
              <a:rPr sz="1100" b="1" i="0">
                <a:solidFill>
                  <a:srgbClr val="0A0D1A"/>
                </a:solidFill>
                <a:latin typeface="Calibri"/>
              </a:rPr>
              <a:t>7</a:t>
            </a:r>
          </a:p>
        </p:txBody>
      </p:sp>
      <p:sp>
        <p:nvSpPr>
          <p:cNvPr id="61" name="TextBox 60"/>
          <p:cNvSpPr txBox="1"/>
          <p:nvPr/>
        </p:nvSpPr>
        <p:spPr>
          <a:xfrm>
            <a:off x="6793992" y="3099816"/>
            <a:ext cx="5184648" cy="256032"/>
          </a:xfrm>
          <a:prstGeom prst="rect">
            <a:avLst/>
          </a:prstGeom>
          <a:noFill/>
        </p:spPr>
        <p:txBody>
          <a:bodyPr wrap="square">
            <a:spAutoFit/>
          </a:bodyPr>
          <a:lstStyle/>
          <a:p>
            <a:pPr algn="ctr"/>
            <a:r>
              <a:rPr sz="1300" b="1" i="0">
                <a:solidFill>
                  <a:srgbClr val="00E5FF"/>
                </a:solidFill>
                <a:latin typeface="Calibri"/>
              </a:rPr>
              <a:t>Claude Code</a:t>
            </a:r>
          </a:p>
        </p:txBody>
      </p:sp>
      <p:sp>
        <p:nvSpPr>
          <p:cNvPr id="62" name="TextBox 61"/>
          <p:cNvSpPr txBox="1"/>
          <p:nvPr/>
        </p:nvSpPr>
        <p:spPr>
          <a:xfrm>
            <a:off x="6793992" y="3364992"/>
            <a:ext cx="5184648" cy="182880"/>
          </a:xfrm>
          <a:prstGeom prst="rect">
            <a:avLst/>
          </a:prstGeom>
          <a:noFill/>
        </p:spPr>
        <p:txBody>
          <a:bodyPr wrap="square">
            <a:spAutoFit/>
          </a:bodyPr>
          <a:lstStyle/>
          <a:p>
            <a:pPr algn="ctr"/>
            <a:r>
              <a:rPr sz="850" b="0" i="1">
                <a:solidFill>
                  <a:srgbClr val="A0AAB8"/>
                </a:solidFill>
                <a:latin typeface="Calibri"/>
              </a:rPr>
              <a:t>Anthropic pattern — yasasbanukaofficial/claude-code</a:t>
            </a:r>
          </a:p>
        </p:txBody>
      </p:sp>
      <p:sp>
        <p:nvSpPr>
          <p:cNvPr id="63" name="TextBox 62"/>
          <p:cNvSpPr txBox="1"/>
          <p:nvPr/>
        </p:nvSpPr>
        <p:spPr>
          <a:xfrm>
            <a:off x="6793992" y="3557016"/>
            <a:ext cx="5184648" cy="457200"/>
          </a:xfrm>
          <a:prstGeom prst="rect">
            <a:avLst/>
          </a:prstGeom>
          <a:noFill/>
        </p:spPr>
        <p:txBody>
          <a:bodyPr wrap="square">
            <a:spAutoFit/>
          </a:bodyPr>
          <a:lstStyle/>
          <a:p>
            <a:pPr algn="ctr"/>
            <a:r>
              <a:rPr sz="900" b="0" i="0">
                <a:solidFill>
                  <a:srgbClr val="A0AAB8"/>
                </a:solidFill>
                <a:latin typeface="Calibri"/>
              </a:rPr>
              <a:t>yoloClassifier.ts: two-stage fast-filter + chain-of-thought tool-call auto-approval.
27-event named hook architecture for operator intervention.</a:t>
            </a:r>
          </a:p>
        </p:txBody>
      </p:sp>
      <p:sp>
        <p:nvSpPr>
          <p:cNvPr id="64" name="Rectangle 63"/>
          <p:cNvSpPr/>
          <p:nvPr/>
        </p:nvSpPr>
        <p:spPr>
          <a:xfrm>
            <a:off x="6775704" y="4361688"/>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12280" y="4370832"/>
            <a:ext cx="5138928" cy="237744"/>
          </a:xfrm>
          <a:prstGeom prst="rect">
            <a:avLst/>
          </a:prstGeom>
          <a:noFill/>
        </p:spPr>
        <p:txBody>
          <a:bodyPr wrap="square">
            <a:spAutoFit/>
          </a:bodyPr>
          <a:lstStyle/>
          <a:p>
            <a:pPr algn="ctr"/>
            <a:r>
              <a:rPr sz="850" b="1" i="0">
                <a:solidFill>
                  <a:srgbClr val="39FF14"/>
                </a:solidFill>
                <a:latin typeface="Calibri"/>
              </a:rPr>
              <a:t>CMatrix:  LLM Permission Classifier (Medium-tier Risk Gate) + 6-event Agent Lifecycle Hook System.</a:t>
            </a:r>
          </a:p>
        </p:txBody>
      </p:sp>
      <p:sp>
        <p:nvSpPr>
          <p:cNvPr id="66" name="Rectangle 65"/>
          <p:cNvSpPr/>
          <p:nvPr/>
        </p:nvSpPr>
        <p:spPr>
          <a:xfrm>
            <a:off x="6355080" y="4745736"/>
            <a:ext cx="5669280" cy="1627632"/>
          </a:xfrm>
          <a:prstGeom prst="rect">
            <a:avLst/>
          </a:prstGeom>
          <a:solidFill>
            <a:srgbClr val="10162B"/>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355080" y="4745736"/>
            <a:ext cx="347472" cy="16276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5422392"/>
            <a:ext cx="310896" cy="274320"/>
          </a:xfrm>
          <a:prstGeom prst="rect">
            <a:avLst/>
          </a:prstGeom>
          <a:noFill/>
        </p:spPr>
        <p:txBody>
          <a:bodyPr wrap="square">
            <a:spAutoFit/>
          </a:bodyPr>
          <a:lstStyle/>
          <a:p>
            <a:pPr algn="ctr"/>
            <a:r>
              <a:rPr sz="1100" b="1" i="0">
                <a:solidFill>
                  <a:srgbClr val="0A0D1A"/>
                </a:solidFill>
                <a:latin typeface="Calibri"/>
              </a:rPr>
              <a:t>8</a:t>
            </a:r>
          </a:p>
        </p:txBody>
      </p:sp>
      <p:sp>
        <p:nvSpPr>
          <p:cNvPr id="69" name="TextBox 68"/>
          <p:cNvSpPr txBox="1"/>
          <p:nvPr/>
        </p:nvSpPr>
        <p:spPr>
          <a:xfrm>
            <a:off x="6793992" y="4818888"/>
            <a:ext cx="5184648" cy="256032"/>
          </a:xfrm>
          <a:prstGeom prst="rect">
            <a:avLst/>
          </a:prstGeom>
          <a:noFill/>
        </p:spPr>
        <p:txBody>
          <a:bodyPr wrap="square">
            <a:spAutoFit/>
          </a:bodyPr>
          <a:lstStyle/>
          <a:p>
            <a:pPr algn="ctr"/>
            <a:r>
              <a:rPr sz="1300" b="1" i="0">
                <a:solidFill>
                  <a:srgbClr val="FFD700"/>
                </a:solidFill>
                <a:latin typeface="Calibri"/>
              </a:rPr>
              <a:t>Hermes Agent</a:t>
            </a:r>
          </a:p>
        </p:txBody>
      </p:sp>
      <p:sp>
        <p:nvSpPr>
          <p:cNvPr id="70" name="TextBox 69"/>
          <p:cNvSpPr txBox="1"/>
          <p:nvPr/>
        </p:nvSpPr>
        <p:spPr>
          <a:xfrm>
            <a:off x="6793992" y="5084064"/>
            <a:ext cx="5184648" cy="182880"/>
          </a:xfrm>
          <a:prstGeom prst="rect">
            <a:avLst/>
          </a:prstGeom>
          <a:noFill/>
        </p:spPr>
        <p:txBody>
          <a:bodyPr wrap="square">
            <a:spAutoFit/>
          </a:bodyPr>
          <a:lstStyle/>
          <a:p>
            <a:pPr algn="ctr"/>
            <a:r>
              <a:rPr sz="850" b="0" i="1">
                <a:solidFill>
                  <a:srgbClr val="A0AAB8"/>
                </a:solidFill>
                <a:latin typeface="Calibri"/>
              </a:rPr>
              <a:t>NousResearch/hermes-agent</a:t>
            </a:r>
          </a:p>
        </p:txBody>
      </p:sp>
      <p:sp>
        <p:nvSpPr>
          <p:cNvPr id="71" name="TextBox 70"/>
          <p:cNvSpPr txBox="1"/>
          <p:nvPr/>
        </p:nvSpPr>
        <p:spPr>
          <a:xfrm>
            <a:off x="6793992" y="5276088"/>
            <a:ext cx="5184648" cy="457200"/>
          </a:xfrm>
          <a:prstGeom prst="rect">
            <a:avLst/>
          </a:prstGeom>
          <a:noFill/>
        </p:spPr>
        <p:txBody>
          <a:bodyPr wrap="square">
            <a:spAutoFit/>
          </a:bodyPr>
          <a:lstStyle/>
          <a:p>
            <a:pPr algn="ctr"/>
            <a:r>
              <a:rPr sz="900" b="0" i="0">
                <a:solidFill>
                  <a:srgbClr val="A0AAB8"/>
                </a:solidFill>
                <a:latin typeface="Calibri"/>
              </a:rPr>
              <a:t>Closed learning loop: skill crystallization from completed tasks.
Structured trajectory export for SFT/RL training via DSPy + Atropos.</a:t>
            </a:r>
          </a:p>
        </p:txBody>
      </p:sp>
      <p:sp>
        <p:nvSpPr>
          <p:cNvPr id="72" name="Rectangle 71"/>
          <p:cNvSpPr/>
          <p:nvPr/>
        </p:nvSpPr>
        <p:spPr>
          <a:xfrm>
            <a:off x="6775704" y="6080760"/>
            <a:ext cx="5175504" cy="237744"/>
          </a:xfrm>
          <a:prstGeom prst="rect">
            <a:avLst/>
          </a:prstGeom>
          <a:solidFill>
            <a:srgbClr val="061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12280" y="6089904"/>
            <a:ext cx="5138928" cy="237744"/>
          </a:xfrm>
          <a:prstGeom prst="rect">
            <a:avLst/>
          </a:prstGeom>
          <a:noFill/>
        </p:spPr>
        <p:txBody>
          <a:bodyPr wrap="square">
            <a:spAutoFit/>
          </a:bodyPr>
          <a:lstStyle/>
          <a:p>
            <a:pPr algn="ctr"/>
            <a:r>
              <a:rPr sz="850" b="1" i="0">
                <a:solidFill>
                  <a:srgbClr val="39FF14"/>
                </a:solidFill>
                <a:latin typeface="Calibri"/>
              </a:rPr>
              <a:t>CMatrix:  Attack Strategy Library crystallization (C11) + Engagement Trajectory Export dataset (C12).</a:t>
            </a:r>
          </a:p>
        </p:txBody>
      </p:sp>
      <p:sp>
        <p:nvSpPr>
          <p:cNvPr id="74" name="Rectangle 73"/>
          <p:cNvSpPr/>
          <p:nvPr/>
        </p:nvSpPr>
        <p:spPr>
          <a:xfrm>
            <a:off x="274320" y="987552"/>
            <a:ext cx="589788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74320" y="987552"/>
            <a:ext cx="5897880" cy="274320"/>
          </a:xfrm>
          <a:prstGeom prst="rect">
            <a:avLst/>
          </a:prstGeom>
          <a:solidFill>
            <a:srgbClr val="08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4048" y="1005840"/>
            <a:ext cx="5715000" cy="237744"/>
          </a:xfrm>
          <a:prstGeom prst="rect">
            <a:avLst/>
          </a:prstGeom>
          <a:noFill/>
        </p:spPr>
        <p:txBody>
          <a:bodyPr wrap="square">
            <a:spAutoFit/>
          </a:bodyPr>
          <a:lstStyle/>
          <a:p>
            <a:pPr algn="ctr"/>
            <a:r>
              <a:rPr sz="1000" b="1" i="0">
                <a:solidFill>
                  <a:srgbClr val="00E5FF"/>
                </a:solidFill>
                <a:latin typeface="Calibri"/>
              </a:rPr>
              <a:t>📄  ACADEMIC PAPERS</a:t>
            </a:r>
          </a:p>
        </p:txBody>
      </p:sp>
      <p:sp>
        <p:nvSpPr>
          <p:cNvPr id="77" name="Rectangle 76"/>
          <p:cNvSpPr/>
          <p:nvPr/>
        </p:nvSpPr>
        <p:spPr>
          <a:xfrm>
            <a:off x="6236208" y="960120"/>
            <a:ext cx="27432" cy="5349240"/>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1825935" y="6355080"/>
            <a:ext cx="320040" cy="411480"/>
          </a:xfrm>
          <a:prstGeom prst="rect">
            <a:avLst/>
          </a:prstGeom>
          <a:noFill/>
        </p:spPr>
        <p:txBody>
          <a:bodyPr wrap="square">
            <a:spAutoFit/>
          </a:bodyPr>
          <a:lstStyle/>
          <a:p>
            <a:pPr algn="r"/>
            <a:r>
              <a:rPr sz="1300" b="1" i="0">
                <a:solidFill>
                  <a:srgbClr val="BD93F9"/>
                </a:solidFill>
                <a:latin typeface="Calibri"/>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