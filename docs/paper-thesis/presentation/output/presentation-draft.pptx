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777240"/>
            <a:ext cx="7315200" cy="411480"/>
          </a:xfrm>
          <a:prstGeom prst="rect">
            <a:avLst/>
          </a:prstGeom>
          <a:noFill/>
        </p:spPr>
        <p:txBody>
          <a:bodyPr wrap="square">
            <a:spAutoFit/>
          </a:bodyPr>
          <a:lstStyle/>
          <a:p>
            <a:pPr algn="l"/>
            <a:r>
              <a:rPr sz="1300" b="0" i="0">
                <a:solidFill>
                  <a:srgbClr val="00E5FF"/>
                </a:solidFill>
                <a:latin typeface="Calibri"/>
              </a:rPr>
              <a:t>RESEARCH PRESENTATION</a:t>
            </a:r>
          </a:p>
        </p:txBody>
      </p:sp>
      <p:sp>
        <p:nvSpPr>
          <p:cNvPr id="6" name="TextBox 5"/>
          <p:cNvSpPr txBox="1"/>
          <p:nvPr/>
        </p:nvSpPr>
        <p:spPr>
          <a:xfrm>
            <a:off x="457200" y="1234440"/>
            <a:ext cx="8046720" cy="1737360"/>
          </a:xfrm>
          <a:prstGeom prst="rect">
            <a:avLst/>
          </a:prstGeom>
          <a:noFill/>
        </p:spPr>
        <p:txBody>
          <a:bodyPr wrap="square">
            <a:spAutoFit/>
          </a:bodyPr>
          <a:lstStyle/>
          <a:p>
            <a:pPr algn="l"/>
            <a:r>
              <a:rPr sz="7200" b="1">
                <a:solidFill>
                  <a:srgbClr val="FFFFFF"/>
                </a:solidFill>
                <a:latin typeface="Calibri"/>
              </a:rPr>
              <a:t>CMatrix</a:t>
            </a:r>
          </a:p>
        </p:txBody>
      </p:sp>
      <p:sp>
        <p:nvSpPr>
          <p:cNvPr id="7" name="TextBox 6"/>
          <p:cNvSpPr txBox="1"/>
          <p:nvPr/>
        </p:nvSpPr>
        <p:spPr>
          <a:xfrm>
            <a:off x="457200" y="2606040"/>
            <a:ext cx="8074152" cy="1106424"/>
          </a:xfrm>
          <a:prstGeom prst="rect">
            <a:avLst/>
          </a:prstGeom>
          <a:noFill/>
        </p:spPr>
        <p:txBody>
          <a:bodyPr wrap="square">
            <a:spAutoFit/>
          </a:bodyPr>
          <a:lstStyle/>
          <a:p>
            <a:pPr algn="l"/>
            <a:r>
              <a:rPr sz="2100" i="1">
                <a:solidFill>
                  <a:srgbClr val="00E5FF"/>
                </a:solidFill>
              </a:rPr>
              <a:t>Dual-Graph-Guided LLM-Orchestrated</a:t>
            </a:r>
          </a:p>
          <a:p>
            <a:pPr algn="l"/>
            <a:r>
              <a:rPr sz="2100" i="1">
                <a:solidFill>
                  <a:srgbClr val="00E5FF"/>
                </a:solidFill>
              </a:rPr>
              <a:t>Multi-Agent Framework for Autonomous</a:t>
            </a:r>
          </a:p>
          <a:p>
            <a:pPr algn="l"/>
            <a:r>
              <a:rPr sz="2100" i="1">
                <a:solidFill>
                  <a:srgbClr val="00E5FF"/>
                </a:solidFill>
              </a:rPr>
              <a:t>Vulnerability Assessment and Penetration Testing (VAPT)</a:t>
            </a:r>
          </a:p>
        </p:txBody>
      </p:sp>
      <p:sp>
        <p:nvSpPr>
          <p:cNvPr id="8" name="Rectangle 7"/>
          <p:cNvSpPr/>
          <p:nvPr/>
        </p:nvSpPr>
        <p:spPr>
          <a:xfrm>
            <a:off x="457200" y="3913632"/>
            <a:ext cx="5943600" cy="27432"/>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096512"/>
            <a:ext cx="2377440" cy="329184"/>
          </a:xfrm>
          <a:prstGeom prst="rect">
            <a:avLst/>
          </a:prstGeom>
          <a:noFill/>
        </p:spPr>
        <p:txBody>
          <a:bodyPr wrap="square">
            <a:spAutoFit/>
          </a:bodyPr>
          <a:lstStyle/>
          <a:p>
            <a:pPr algn="ctr"/>
            <a:r>
              <a:rPr sz="1200" b="1" i="0">
                <a:solidFill>
                  <a:srgbClr val="39FF14"/>
                </a:solidFill>
                <a:latin typeface="Calibri"/>
              </a:rPr>
              <a:t>Autonomous Pentesting</a:t>
            </a:r>
          </a:p>
        </p:txBody>
      </p:sp>
      <p:sp>
        <p:nvSpPr>
          <p:cNvPr id="11" name="Rectangle 10"/>
          <p:cNvSpPr/>
          <p:nvPr/>
        </p:nvSpPr>
        <p:spPr>
          <a:xfrm>
            <a:off x="324612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96512"/>
            <a:ext cx="2377440" cy="329184"/>
          </a:xfrm>
          <a:prstGeom prst="rect">
            <a:avLst/>
          </a:prstGeom>
          <a:noFill/>
        </p:spPr>
        <p:txBody>
          <a:bodyPr wrap="square">
            <a:spAutoFit/>
          </a:bodyPr>
          <a:lstStyle/>
          <a:p>
            <a:pPr algn="ctr"/>
            <a:r>
              <a:rPr sz="1200" b="1" i="0">
                <a:solidFill>
                  <a:srgbClr val="39FF14"/>
                </a:solidFill>
                <a:latin typeface="Calibri"/>
              </a:rPr>
              <a:t>AI Agent Orchestration</a:t>
            </a:r>
          </a:p>
        </p:txBody>
      </p:sp>
      <p:sp>
        <p:nvSpPr>
          <p:cNvPr id="13" name="Rectangle 12"/>
          <p:cNvSpPr/>
          <p:nvPr/>
        </p:nvSpPr>
        <p:spPr>
          <a:xfrm>
            <a:off x="603504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0" y="4096512"/>
            <a:ext cx="2377440" cy="329184"/>
          </a:xfrm>
          <a:prstGeom prst="rect">
            <a:avLst/>
          </a:prstGeom>
          <a:noFill/>
        </p:spPr>
        <p:txBody>
          <a:bodyPr wrap="square">
            <a:spAutoFit/>
          </a:bodyPr>
          <a:lstStyle/>
          <a:p>
            <a:pPr algn="ctr"/>
            <a:r>
              <a:rPr sz="1200" b="1" i="0">
                <a:solidFill>
                  <a:srgbClr val="39FF14"/>
                </a:solidFill>
                <a:latin typeface="Calibri"/>
              </a:rPr>
              <a:t>Attack Graph Reasoning</a:t>
            </a:r>
          </a:p>
        </p:txBody>
      </p:sp>
      <p:sp>
        <p:nvSpPr>
          <p:cNvPr id="15" name="TextBox 14"/>
          <p:cNvSpPr txBox="1"/>
          <p:nvPr/>
        </p:nvSpPr>
        <p:spPr>
          <a:xfrm>
            <a:off x="457200" y="4754880"/>
            <a:ext cx="7315200" cy="347472"/>
          </a:xfrm>
          <a:prstGeom prst="rect">
            <a:avLst/>
          </a:prstGeom>
          <a:noFill/>
        </p:spPr>
        <p:txBody>
          <a:bodyPr wrap="square">
            <a:spAutoFit/>
          </a:bodyPr>
          <a:lstStyle/>
          <a:p>
            <a:pPr algn="l"/>
            <a:r>
              <a:rPr sz="1400" b="0" i="0">
                <a:solidFill>
                  <a:srgbClr val="A0AAB8"/>
                </a:solidFill>
                <a:latin typeface="Calibri"/>
              </a:rPr>
              <a:t>Supervisor Meeting  ·  June 2026</a:t>
            </a:r>
          </a:p>
        </p:txBody>
      </p:sp>
      <p:sp>
        <p:nvSpPr>
          <p:cNvPr id="16" name="TextBox 15"/>
          <p:cNvSpPr txBox="1"/>
          <p:nvPr/>
        </p:nvSpPr>
        <p:spPr>
          <a:xfrm>
            <a:off x="457200" y="5138928"/>
            <a:ext cx="9144000" cy="347472"/>
          </a:xfrm>
          <a:prstGeom prst="rect">
            <a:avLst/>
          </a:prstGeom>
          <a:noFill/>
        </p:spPr>
        <p:txBody>
          <a:bodyPr wrap="square">
            <a:spAutoFit/>
          </a:bodyPr>
          <a:lstStyle/>
          <a:p>
            <a:pPr algn="l"/>
            <a:r>
              <a:rPr sz="1300" b="0" i="0">
                <a:solidFill>
                  <a:srgbClr val="A0AAB8"/>
                </a:solidFill>
                <a:latin typeface="Calibri"/>
              </a:rPr>
              <a:t>Black-Box · Grey-Box  ·  Network  ·  Web  ·  REST API</a:t>
            </a:r>
          </a:p>
        </p:txBody>
      </p:sp>
      <p:sp>
        <p:nvSpPr>
          <p:cNvPr id="17" name="Rectangle 16"/>
          <p:cNvSpPr/>
          <p:nvPr/>
        </p:nvSpPr>
        <p:spPr>
          <a:xfrm>
            <a:off x="8823960" y="777240"/>
            <a:ext cx="3227832" cy="2130552"/>
          </a:xfrm>
          <a:prstGeom prst="rect">
            <a:avLst/>
          </a:prstGeom>
          <a:solidFill>
            <a:srgbClr val="0610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51976" y="841248"/>
            <a:ext cx="3008376" cy="201168"/>
          </a:xfrm>
          <a:prstGeom prst="rect">
            <a:avLst/>
          </a:prstGeom>
          <a:noFill/>
        </p:spPr>
        <p:txBody>
          <a:bodyPr wrap="square">
            <a:spAutoFit/>
          </a:bodyPr>
          <a:lstStyle/>
          <a:p>
            <a:pPr algn="l"/>
            <a:r>
              <a:rPr sz="850" b="1" i="0">
                <a:solidFill>
                  <a:srgbClr val="00E5FF"/>
                </a:solidFill>
                <a:latin typeface="Calibri"/>
              </a:rPr>
              <a:t>THESIS SUPERVISOR</a:t>
            </a:r>
          </a:p>
        </p:txBody>
      </p:sp>
      <p:sp>
        <p:nvSpPr>
          <p:cNvPr id="19" name="TextBox 18"/>
          <p:cNvSpPr txBox="1"/>
          <p:nvPr/>
        </p:nvSpPr>
        <p:spPr>
          <a:xfrm>
            <a:off x="8951976" y="1078992"/>
            <a:ext cx="3008376" cy="237744"/>
          </a:xfrm>
          <a:prstGeom prst="rect">
            <a:avLst/>
          </a:prstGeom>
          <a:noFill/>
        </p:spPr>
        <p:txBody>
          <a:bodyPr wrap="square">
            <a:spAutoFit/>
          </a:bodyPr>
          <a:lstStyle/>
          <a:p>
            <a:pPr algn="l"/>
            <a:r>
              <a:rPr sz="1100" b="1" i="0">
                <a:solidFill>
                  <a:srgbClr val="FFFFFF"/>
                </a:solidFill>
                <a:latin typeface="Calibri"/>
              </a:rPr>
              <a:t>Dr. Md. Abdur Razzaque</a:t>
            </a:r>
          </a:p>
        </p:txBody>
      </p:sp>
      <p:sp>
        <p:nvSpPr>
          <p:cNvPr id="20" name="TextBox 19"/>
          <p:cNvSpPr txBox="1"/>
          <p:nvPr/>
        </p:nvSpPr>
        <p:spPr>
          <a:xfrm>
            <a:off x="8951976" y="1335024"/>
            <a:ext cx="3008376" cy="237744"/>
          </a:xfrm>
          <a:prstGeom prst="rect">
            <a:avLst/>
          </a:prstGeom>
          <a:noFill/>
        </p:spPr>
        <p:txBody>
          <a:bodyPr wrap="square">
            <a:spAutoFit/>
          </a:bodyPr>
          <a:lstStyle/>
          <a:p>
            <a:pPr algn="l"/>
            <a:r>
              <a:rPr sz="950" b="0" i="0">
                <a:solidFill>
                  <a:srgbClr val="A0AAB8"/>
                </a:solidFill>
                <a:latin typeface="Calibri"/>
              </a:rPr>
              <a:t>Professor &amp; Chairman</a:t>
            </a:r>
          </a:p>
        </p:txBody>
      </p:sp>
      <p:sp>
        <p:nvSpPr>
          <p:cNvPr id="21" name="TextBox 20"/>
          <p:cNvSpPr txBox="1"/>
          <p:nvPr/>
        </p:nvSpPr>
        <p:spPr>
          <a:xfrm>
            <a:off x="8951976" y="1591056"/>
            <a:ext cx="3008376" cy="237744"/>
          </a:xfrm>
          <a:prstGeom prst="rect">
            <a:avLst/>
          </a:prstGeom>
          <a:noFill/>
        </p:spPr>
        <p:txBody>
          <a:bodyPr wrap="square">
            <a:spAutoFit/>
          </a:bodyPr>
          <a:lstStyle/>
          <a:p>
            <a:pPr algn="l"/>
            <a:r>
              <a:rPr sz="900" b="0" i="0">
                <a:solidFill>
                  <a:srgbClr val="A0AAB8"/>
                </a:solidFill>
                <a:latin typeface="Calibri"/>
              </a:rPr>
              <a:t>Dept. of Computer Science &amp; Engineering</a:t>
            </a:r>
          </a:p>
        </p:txBody>
      </p:sp>
      <p:sp>
        <p:nvSpPr>
          <p:cNvPr id="22" name="TextBox 21"/>
          <p:cNvSpPr txBox="1"/>
          <p:nvPr/>
        </p:nvSpPr>
        <p:spPr>
          <a:xfrm>
            <a:off x="8951976" y="1847088"/>
            <a:ext cx="3008376" cy="237744"/>
          </a:xfrm>
          <a:prstGeom prst="rect">
            <a:avLst/>
          </a:prstGeom>
          <a:noFill/>
        </p:spPr>
        <p:txBody>
          <a:bodyPr wrap="square">
            <a:spAutoFit/>
          </a:bodyPr>
          <a:lstStyle/>
          <a:p>
            <a:pPr algn="l"/>
            <a:r>
              <a:rPr sz="900" b="0" i="0">
                <a:solidFill>
                  <a:srgbClr val="A0AAB8"/>
                </a:solidFill>
                <a:latin typeface="Calibri"/>
              </a:rPr>
              <a:t>University of Dhaka</a:t>
            </a:r>
          </a:p>
        </p:txBody>
      </p:sp>
      <p:sp>
        <p:nvSpPr>
          <p:cNvPr id="23" name="Rectangle 22"/>
          <p:cNvSpPr/>
          <p:nvPr/>
        </p:nvSpPr>
        <p:spPr>
          <a:xfrm>
            <a:off x="8823960" y="3044952"/>
            <a:ext cx="3227832" cy="2743200"/>
          </a:xfrm>
          <a:prstGeom prst="rect">
            <a:avLst/>
          </a:prstGeom>
          <a:solidFill>
            <a:srgbClr val="04180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1976" y="3108960"/>
            <a:ext cx="3008376" cy="201168"/>
          </a:xfrm>
          <a:prstGeom prst="rect">
            <a:avLst/>
          </a:prstGeom>
          <a:noFill/>
        </p:spPr>
        <p:txBody>
          <a:bodyPr wrap="square">
            <a:spAutoFit/>
          </a:bodyPr>
          <a:lstStyle/>
          <a:p>
            <a:pPr algn="l"/>
            <a:r>
              <a:rPr sz="850" b="1" i="0">
                <a:solidFill>
                  <a:srgbClr val="39FF14"/>
                </a:solidFill>
                <a:latin typeface="Calibri"/>
              </a:rPr>
              <a:t>PRESENTED BY</a:t>
            </a:r>
          </a:p>
        </p:txBody>
      </p:sp>
      <p:sp>
        <p:nvSpPr>
          <p:cNvPr id="25" name="TextBox 24"/>
          <p:cNvSpPr txBox="1"/>
          <p:nvPr/>
        </p:nvSpPr>
        <p:spPr>
          <a:xfrm>
            <a:off x="8951976" y="3364992"/>
            <a:ext cx="3008376" cy="310896"/>
          </a:xfrm>
          <a:prstGeom prst="rect">
            <a:avLst/>
          </a:prstGeom>
          <a:noFill/>
        </p:spPr>
        <p:txBody>
          <a:bodyPr wrap="square">
            <a:spAutoFit/>
          </a:bodyPr>
          <a:lstStyle/>
          <a:p>
            <a:pPr algn="l"/>
            <a:r>
              <a:rPr sz="1100" b="1" i="0">
                <a:solidFill>
                  <a:srgbClr val="FFFFFF"/>
                </a:solidFill>
                <a:latin typeface="Calibri"/>
              </a:rPr>
              <a:t>Nishan Paul</a:t>
            </a:r>
          </a:p>
        </p:txBody>
      </p:sp>
      <p:sp>
        <p:nvSpPr>
          <p:cNvPr id="26" name="TextBox 25"/>
          <p:cNvSpPr txBox="1"/>
          <p:nvPr/>
        </p:nvSpPr>
        <p:spPr>
          <a:xfrm>
            <a:off x="8951976" y="3712464"/>
            <a:ext cx="3008376" cy="310896"/>
          </a:xfrm>
          <a:prstGeom prst="rect">
            <a:avLst/>
          </a:prstGeom>
          <a:noFill/>
        </p:spPr>
        <p:txBody>
          <a:bodyPr wrap="square">
            <a:spAutoFit/>
          </a:bodyPr>
          <a:lstStyle/>
          <a:p>
            <a:pPr algn="l"/>
            <a:r>
              <a:rPr sz="950" b="0" i="0">
                <a:solidFill>
                  <a:srgbClr val="A0AAB8"/>
                </a:solidFill>
                <a:latin typeface="Calibri"/>
              </a:rPr>
              <a:t>Reg. 55</a:t>
            </a:r>
          </a:p>
        </p:txBody>
      </p:sp>
      <p:sp>
        <p:nvSpPr>
          <p:cNvPr id="27" name="TextBox 26"/>
          <p:cNvSpPr txBox="1"/>
          <p:nvPr/>
        </p:nvSpPr>
        <p:spPr>
          <a:xfrm>
            <a:off x="8951976" y="4059936"/>
            <a:ext cx="3008376" cy="310896"/>
          </a:xfrm>
          <a:prstGeom prst="rect">
            <a:avLst/>
          </a:prstGeom>
          <a:noFill/>
        </p:spPr>
        <p:txBody>
          <a:bodyPr wrap="square">
            <a:spAutoFit/>
          </a:bodyPr>
          <a:lstStyle/>
          <a:p>
            <a:pPr algn="l"/>
            <a:r>
              <a:rPr sz="1100" b="1" i="0">
                <a:solidFill>
                  <a:srgbClr val="FFFFFF"/>
                </a:solidFill>
                <a:latin typeface="Calibri"/>
              </a:rPr>
              <a:t>Md Rakibur Rahman</a:t>
            </a:r>
          </a:p>
        </p:txBody>
      </p:sp>
      <p:sp>
        <p:nvSpPr>
          <p:cNvPr id="28" name="TextBox 27"/>
          <p:cNvSpPr txBox="1"/>
          <p:nvPr/>
        </p:nvSpPr>
        <p:spPr>
          <a:xfrm>
            <a:off x="8951976" y="4407408"/>
            <a:ext cx="3008376" cy="310896"/>
          </a:xfrm>
          <a:prstGeom prst="rect">
            <a:avLst/>
          </a:prstGeom>
          <a:noFill/>
        </p:spPr>
        <p:txBody>
          <a:bodyPr wrap="square">
            <a:spAutoFit/>
          </a:bodyPr>
          <a:lstStyle/>
          <a:p>
            <a:pPr algn="l"/>
            <a:r>
              <a:rPr sz="950" b="0" i="0">
                <a:solidFill>
                  <a:srgbClr val="A0AAB8"/>
                </a:solidFill>
                <a:latin typeface="Calibri"/>
              </a:rPr>
              <a:t>Reg. 49</a:t>
            </a:r>
          </a:p>
        </p:txBody>
      </p:sp>
      <p:sp>
        <p:nvSpPr>
          <p:cNvPr id="29" name="TextBox 28"/>
          <p:cNvSpPr txBox="1"/>
          <p:nvPr/>
        </p:nvSpPr>
        <p:spPr>
          <a:xfrm>
            <a:off x="8951976" y="4754880"/>
            <a:ext cx="3008376" cy="310896"/>
          </a:xfrm>
          <a:prstGeom prst="rect">
            <a:avLst/>
          </a:prstGeom>
          <a:noFill/>
        </p:spPr>
        <p:txBody>
          <a:bodyPr wrap="square">
            <a:spAutoFit/>
          </a:bodyPr>
          <a:lstStyle/>
          <a:p>
            <a:pPr algn="l"/>
            <a:r>
              <a:rPr sz="900" b="0" i="0">
                <a:solidFill>
                  <a:srgbClr val="A0AAB8"/>
                </a:solidFill>
                <a:latin typeface="Calibri"/>
              </a:rPr>
              <a:t>July 2025 · Batch 05</a:t>
            </a:r>
          </a:p>
        </p:txBody>
      </p:sp>
      <p:sp>
        <p:nvSpPr>
          <p:cNvPr id="30" name="TextBox 29"/>
          <p:cNvSpPr txBox="1"/>
          <p:nvPr/>
        </p:nvSpPr>
        <p:spPr>
          <a:xfrm>
            <a:off x="8951976" y="5102352"/>
            <a:ext cx="3008376" cy="310896"/>
          </a:xfrm>
          <a:prstGeom prst="rect">
            <a:avLst/>
          </a:prstGeom>
          <a:noFill/>
        </p:spPr>
        <p:txBody>
          <a:bodyPr wrap="square">
            <a:spAutoFit/>
          </a:bodyPr>
          <a:lstStyle/>
          <a:p>
            <a:pPr algn="l"/>
            <a:r>
              <a:rPr sz="850" b="0" i="0">
                <a:solidFill>
                  <a:srgbClr val="A0AAB8"/>
                </a:solidFill>
                <a:latin typeface="Calibri"/>
              </a:rPr>
              <a:t>Professional Masters in Information and Cyber Security</a:t>
            </a:r>
          </a:p>
        </p:txBody>
      </p:sp>
      <p:sp>
        <p:nvSpPr>
          <p:cNvPr id="31" name="TextBox 30"/>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4545"/>
                </a:solidFill>
                <a:latin typeface="Calibri"/>
              </a:rPr>
              <a:t>THE PROBLEM</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400" b="1" i="0">
                <a:solidFill>
                  <a:srgbClr val="FFFFFF"/>
                </a:solidFill>
                <a:latin typeface="Calibri"/>
              </a:rPr>
              <a:t>What Existing VAPT Systems Get Wrong</a:t>
            </a:r>
          </a:p>
        </p:txBody>
      </p:sp>
      <p:sp>
        <p:nvSpPr>
          <p:cNvPr id="7" name="Rectangle 6"/>
          <p:cNvSpPr/>
          <p:nvPr/>
        </p:nvSpPr>
        <p:spPr>
          <a:xfrm>
            <a:off x="274320" y="1207008"/>
            <a:ext cx="5303520" cy="996696"/>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048" y="129844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9" name="TextBox 8"/>
          <p:cNvSpPr txBox="1"/>
          <p:nvPr/>
        </p:nvSpPr>
        <p:spPr>
          <a:xfrm>
            <a:off x="713232" y="1280160"/>
            <a:ext cx="4754880" cy="329184"/>
          </a:xfrm>
          <a:prstGeom prst="rect">
            <a:avLst/>
          </a:prstGeom>
          <a:noFill/>
        </p:spPr>
        <p:txBody>
          <a:bodyPr wrap="square">
            <a:spAutoFit/>
          </a:bodyPr>
          <a:lstStyle/>
          <a:p>
            <a:pPr algn="l"/>
            <a:r>
              <a:rPr sz="1400" b="1" i="0">
                <a:solidFill>
                  <a:srgbClr val="FFFFFF"/>
                </a:solidFill>
                <a:latin typeface="Calibri"/>
              </a:rPr>
              <a:t>No Structured World Model</a:t>
            </a:r>
          </a:p>
        </p:txBody>
      </p:sp>
      <p:sp>
        <p:nvSpPr>
          <p:cNvPr id="10" name="TextBox 9"/>
          <p:cNvSpPr txBox="1"/>
          <p:nvPr/>
        </p:nvSpPr>
        <p:spPr>
          <a:xfrm>
            <a:off x="713232" y="1609344"/>
            <a:ext cx="4754880" cy="658368"/>
          </a:xfrm>
          <a:prstGeom prst="rect">
            <a:avLst/>
          </a:prstGeom>
          <a:noFill/>
        </p:spPr>
        <p:txBody>
          <a:bodyPr wrap="square">
            <a:spAutoFit/>
          </a:bodyPr>
          <a:lstStyle/>
          <a:p>
            <a:pPr algn="l"/>
            <a:r>
              <a:rPr sz="1150" b="0" i="0">
                <a:solidFill>
                  <a:srgbClr val="A0AAB8"/>
                </a:solidFill>
                <a:latin typeface="Calibri"/>
              </a:rPr>
              <a:t>Systems reason from flat conversation history or task queues — no graph of what the target actually is.</a:t>
            </a:r>
          </a:p>
        </p:txBody>
      </p:sp>
      <p:sp>
        <p:nvSpPr>
          <p:cNvPr id="11" name="Rectangle 10"/>
          <p:cNvSpPr/>
          <p:nvPr/>
        </p:nvSpPr>
        <p:spPr>
          <a:xfrm>
            <a:off x="274320" y="2295144"/>
            <a:ext cx="5303520" cy="996696"/>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048" y="2386584"/>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13" name="TextBox 12"/>
          <p:cNvSpPr txBox="1"/>
          <p:nvPr/>
        </p:nvSpPr>
        <p:spPr>
          <a:xfrm>
            <a:off x="713232" y="2368296"/>
            <a:ext cx="4754880" cy="329184"/>
          </a:xfrm>
          <a:prstGeom prst="rect">
            <a:avLst/>
          </a:prstGeom>
          <a:noFill/>
        </p:spPr>
        <p:txBody>
          <a:bodyPr wrap="square">
            <a:spAutoFit/>
          </a:bodyPr>
          <a:lstStyle/>
          <a:p>
            <a:pPr algn="l"/>
            <a:r>
              <a:rPr sz="1400" b="1" i="0">
                <a:solidFill>
                  <a:srgbClr val="FFFFFF"/>
                </a:solidFill>
                <a:latin typeface="Calibri"/>
              </a:rPr>
              <a:t>No Attack Path Reasoning</a:t>
            </a:r>
          </a:p>
        </p:txBody>
      </p:sp>
      <p:sp>
        <p:nvSpPr>
          <p:cNvPr id="14" name="TextBox 13"/>
          <p:cNvSpPr txBox="1"/>
          <p:nvPr/>
        </p:nvSpPr>
        <p:spPr>
          <a:xfrm>
            <a:off x="713232" y="2697480"/>
            <a:ext cx="4754880" cy="658368"/>
          </a:xfrm>
          <a:prstGeom prst="rect">
            <a:avLst/>
          </a:prstGeom>
          <a:noFill/>
        </p:spPr>
        <p:txBody>
          <a:bodyPr wrap="square">
            <a:spAutoFit/>
          </a:bodyPr>
          <a:lstStyle/>
          <a:p>
            <a:pPr algn="l"/>
            <a:r>
              <a:rPr sz="1150" b="0" i="0">
                <a:solidFill>
                  <a:srgbClr val="A0AAB8"/>
                </a:solidFill>
                <a:latin typeface="Calibri"/>
              </a:rPr>
              <a:t>Finished tasks are logged, not understood. Systems cannot represent which vulnerabilities chain together or why.</a:t>
            </a:r>
          </a:p>
        </p:txBody>
      </p:sp>
      <p:sp>
        <p:nvSpPr>
          <p:cNvPr id="15" name="Rectangle 14"/>
          <p:cNvSpPr/>
          <p:nvPr/>
        </p:nvSpPr>
        <p:spPr>
          <a:xfrm>
            <a:off x="274320" y="3383280"/>
            <a:ext cx="5303520" cy="996696"/>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048" y="3474720"/>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17" name="TextBox 16"/>
          <p:cNvSpPr txBox="1"/>
          <p:nvPr/>
        </p:nvSpPr>
        <p:spPr>
          <a:xfrm>
            <a:off x="713232" y="3456432"/>
            <a:ext cx="4754880" cy="329184"/>
          </a:xfrm>
          <a:prstGeom prst="rect">
            <a:avLst/>
          </a:prstGeom>
          <a:noFill/>
        </p:spPr>
        <p:txBody>
          <a:bodyPr wrap="square">
            <a:spAutoFit/>
          </a:bodyPr>
          <a:lstStyle/>
          <a:p>
            <a:pPr algn="l"/>
            <a:r>
              <a:rPr sz="1400" b="1" i="0">
                <a:solidFill>
                  <a:srgbClr val="FFFFFF"/>
                </a:solidFill>
                <a:latin typeface="Calibri"/>
              </a:rPr>
              <a:t>Fragile Re-Planning</a:t>
            </a:r>
          </a:p>
        </p:txBody>
      </p:sp>
      <p:sp>
        <p:nvSpPr>
          <p:cNvPr id="18" name="TextBox 17"/>
          <p:cNvSpPr txBox="1"/>
          <p:nvPr/>
        </p:nvSpPr>
        <p:spPr>
          <a:xfrm>
            <a:off x="713232" y="3785616"/>
            <a:ext cx="4754880" cy="658368"/>
          </a:xfrm>
          <a:prstGeom prst="rect">
            <a:avLst/>
          </a:prstGeom>
          <a:noFill/>
        </p:spPr>
        <p:txBody>
          <a:bodyPr wrap="square">
            <a:spAutoFit/>
          </a:bodyPr>
          <a:lstStyle/>
          <a:p>
            <a:pPr algn="l"/>
            <a:r>
              <a:rPr sz="1150" b="0" i="0">
                <a:solidFill>
                  <a:srgbClr val="A0AAB8"/>
                </a:solidFill>
                <a:latin typeface="Calibri"/>
              </a:rPr>
              <a:t>Dynamic re-planning is ad-hoc. There is no formal trigger grounded in discovered evidence.</a:t>
            </a:r>
          </a:p>
        </p:txBody>
      </p:sp>
      <p:sp>
        <p:nvSpPr>
          <p:cNvPr id="19" name="Rectangle 18"/>
          <p:cNvSpPr/>
          <p:nvPr/>
        </p:nvSpPr>
        <p:spPr>
          <a:xfrm>
            <a:off x="274320" y="4471416"/>
            <a:ext cx="5303520" cy="996696"/>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 y="4562856"/>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21" name="TextBox 20"/>
          <p:cNvSpPr txBox="1"/>
          <p:nvPr/>
        </p:nvSpPr>
        <p:spPr>
          <a:xfrm>
            <a:off x="713232" y="4544568"/>
            <a:ext cx="4754880" cy="329184"/>
          </a:xfrm>
          <a:prstGeom prst="rect">
            <a:avLst/>
          </a:prstGeom>
          <a:noFill/>
        </p:spPr>
        <p:txBody>
          <a:bodyPr wrap="square">
            <a:spAutoFit/>
          </a:bodyPr>
          <a:lstStyle/>
          <a:p>
            <a:pPr algn="l"/>
            <a:r>
              <a:rPr sz="1400" b="1" i="0">
                <a:solidFill>
                  <a:srgbClr val="FFFFFF"/>
                </a:solidFill>
                <a:latin typeface="Calibri"/>
              </a:rPr>
              <a:t>Arbitrary Termination</a:t>
            </a:r>
          </a:p>
        </p:txBody>
      </p:sp>
      <p:sp>
        <p:nvSpPr>
          <p:cNvPr id="22" name="TextBox 21"/>
          <p:cNvSpPr txBox="1"/>
          <p:nvPr/>
        </p:nvSpPr>
        <p:spPr>
          <a:xfrm>
            <a:off x="713232" y="4873752"/>
            <a:ext cx="4754880" cy="658368"/>
          </a:xfrm>
          <a:prstGeom prst="rect">
            <a:avLst/>
          </a:prstGeom>
          <a:noFill/>
        </p:spPr>
        <p:txBody>
          <a:bodyPr wrap="square">
            <a:spAutoFit/>
          </a:bodyPr>
          <a:lstStyle/>
          <a:p>
            <a:pPr algn="l"/>
            <a:r>
              <a:rPr sz="1150" b="0" i="0">
                <a:solidFill>
                  <a:srgbClr val="A0AAB8"/>
                </a:solidFill>
                <a:latin typeface="Calibri"/>
              </a:rPr>
              <a:t>Missions end on time-limits or empty queues — not because the attack surface and all chains are truly exhausted.</a:t>
            </a:r>
          </a:p>
        </p:txBody>
      </p:sp>
      <p:sp>
        <p:nvSpPr>
          <p:cNvPr id="23" name="Rectangle 22"/>
          <p:cNvSpPr/>
          <p:nvPr/>
        </p:nvSpPr>
        <p:spPr>
          <a:xfrm>
            <a:off x="5943600" y="1207008"/>
            <a:ext cx="5943600" cy="2331720"/>
          </a:xfrm>
          <a:prstGeom prst="rect">
            <a:avLst/>
          </a:prstGeom>
          <a:solidFill>
            <a:srgbClr val="10162B"/>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80760" y="1252728"/>
            <a:ext cx="548640" cy="640080"/>
          </a:xfrm>
          <a:prstGeom prst="rect">
            <a:avLst/>
          </a:prstGeom>
          <a:noFill/>
        </p:spPr>
        <p:txBody>
          <a:bodyPr wrap="square">
            <a:spAutoFit/>
          </a:bodyPr>
          <a:lstStyle/>
          <a:p>
            <a:pPr algn="ctr"/>
            <a:r>
              <a:rPr sz="6000" b="1" i="0">
                <a:solidFill>
                  <a:srgbClr val="00E5FF"/>
                </a:solidFill>
                <a:latin typeface="Calibri"/>
              </a:rPr>
              <a:t>“</a:t>
            </a:r>
          </a:p>
        </p:txBody>
      </p:sp>
      <p:sp>
        <p:nvSpPr>
          <p:cNvPr id="25" name="TextBox 24"/>
          <p:cNvSpPr txBox="1"/>
          <p:nvPr/>
        </p:nvSpPr>
        <p:spPr>
          <a:xfrm>
            <a:off x="6126480" y="1709928"/>
            <a:ext cx="5577840" cy="1463040"/>
          </a:xfrm>
          <a:prstGeom prst="rect">
            <a:avLst/>
          </a:prstGeom>
          <a:noFill/>
        </p:spPr>
        <p:txBody>
          <a:bodyPr wrap="square">
            <a:spAutoFit/>
          </a:bodyPr>
          <a:lstStyle/>
          <a:p>
            <a:pPr algn="l"/>
            <a:r>
              <a:rPr sz="2000" b="0" i="1">
                <a:solidFill>
                  <a:srgbClr val="FFFFFF"/>
                </a:solidFill>
                <a:latin typeface="Calibri"/>
              </a:rPr>
              <a:t>They automate tool execution. CMatrix automates the reasoning of a professional penetration tester.</a:t>
            </a:r>
          </a:p>
        </p:txBody>
      </p:sp>
      <p:sp>
        <p:nvSpPr>
          <p:cNvPr id="26" name="TextBox 25"/>
          <p:cNvSpPr txBox="1"/>
          <p:nvPr/>
        </p:nvSpPr>
        <p:spPr>
          <a:xfrm>
            <a:off x="6126480" y="3218688"/>
            <a:ext cx="5577840" cy="320040"/>
          </a:xfrm>
          <a:prstGeom prst="rect">
            <a:avLst/>
          </a:prstGeom>
          <a:noFill/>
        </p:spPr>
        <p:txBody>
          <a:bodyPr wrap="square">
            <a:spAutoFit/>
          </a:bodyPr>
          <a:lstStyle/>
          <a:p>
            <a:pPr algn="l"/>
            <a:r>
              <a:rPr sz="1200" b="0" i="0">
                <a:solidFill>
                  <a:srgbClr val="A0AAB8"/>
                </a:solidFill>
                <a:latin typeface="Calibri"/>
              </a:rPr>
              <a:t>— CMatrix Design Philosophy</a:t>
            </a:r>
          </a:p>
        </p:txBody>
      </p:sp>
      <p:sp>
        <p:nvSpPr>
          <p:cNvPr id="27" name="Rectangle 26"/>
          <p:cNvSpPr/>
          <p:nvPr/>
        </p:nvSpPr>
        <p:spPr>
          <a:xfrm>
            <a:off x="5943600" y="3675887"/>
            <a:ext cx="5943600" cy="34747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0" y="3703320"/>
            <a:ext cx="5669280" cy="301752"/>
          </a:xfrm>
          <a:prstGeom prst="rect">
            <a:avLst/>
          </a:prstGeom>
          <a:noFill/>
        </p:spPr>
        <p:txBody>
          <a:bodyPr wrap="square">
            <a:spAutoFit/>
          </a:bodyPr>
          <a:lstStyle/>
          <a:p>
            <a:pPr algn="l"/>
            <a:r>
              <a:rPr sz="1300" b="1" i="0">
                <a:solidFill>
                  <a:srgbClr val="FFFFFF"/>
                </a:solidFill>
                <a:latin typeface="Calibri"/>
              </a:rPr>
              <a:t>⚠  ROOT CAUSE</a:t>
            </a:r>
          </a:p>
        </p:txBody>
      </p:sp>
      <p:sp>
        <p:nvSpPr>
          <p:cNvPr id="29" name="Rectangle 28"/>
          <p:cNvSpPr/>
          <p:nvPr/>
        </p:nvSpPr>
        <p:spPr>
          <a:xfrm>
            <a:off x="5943600" y="4041648"/>
            <a:ext cx="5943600" cy="129844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0" y="4114800"/>
            <a:ext cx="5623560" cy="1152144"/>
          </a:xfrm>
          <a:prstGeom prst="rect">
            <a:avLst/>
          </a:prstGeom>
          <a:noFill/>
        </p:spPr>
        <p:txBody>
          <a:bodyPr wrap="square">
            <a:spAutoFit/>
          </a:bodyPr>
          <a:lstStyle/>
          <a:p>
            <a:pPr algn="l"/>
            <a:r>
              <a:rPr sz="1250" b="0" i="0">
                <a:solidFill>
                  <a:srgbClr val="A0AAB8"/>
                </a:solidFill>
                <a:latin typeface="Calibri"/>
              </a:rPr>
              <a:t>Existing systems have no structured model of the target environment and no structured model of what attack paths are possible.  They know what they did — not what the target is, or what can be done to it.</a:t>
            </a:r>
          </a:p>
        </p:txBody>
      </p:sp>
      <p:sp>
        <p:nvSpPr>
          <p:cNvPr id="31" name="Rectangle 30"/>
          <p:cNvSpPr/>
          <p:nvPr/>
        </p:nvSpPr>
        <p:spPr>
          <a:xfrm>
            <a:off x="274320" y="5559552"/>
            <a:ext cx="11643055" cy="777240"/>
          </a:xfrm>
          <a:prstGeom prst="rect">
            <a:avLst/>
          </a:prstGeom>
          <a:solidFill>
            <a:srgbClr val="051420"/>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650992"/>
            <a:ext cx="11277295" cy="566928"/>
          </a:xfrm>
          <a:prstGeom prst="rect">
            <a:avLst/>
          </a:prstGeom>
          <a:noFill/>
        </p:spPr>
        <p:txBody>
          <a:bodyPr wrap="square">
            <a:spAutoFit/>
          </a:bodyPr>
          <a:lstStyle/>
          <a:p>
            <a:pPr algn="l"/>
            <a:r>
              <a:rPr sz="1400" b="1" i="0">
                <a:solidFill>
                  <a:srgbClr val="00E5FF"/>
                </a:solidFill>
                <a:latin typeface="Calibri"/>
              </a:rPr>
              <a:t>CMatrix Solution →  Dual-graph world model: ASG captures discovered reality  ·  APG captures inferred attack opportunity</a:t>
            </a:r>
          </a:p>
        </p:txBody>
      </p:sp>
      <p:sp>
        <p:nvSpPr>
          <p:cNvPr id="33" name="TextBox 32"/>
          <p:cNvSpPr txBox="1"/>
          <p:nvPr/>
        </p:nvSpPr>
        <p:spPr>
          <a:xfrm>
            <a:off x="11780215" y="6355080"/>
            <a:ext cx="384048" cy="411480"/>
          </a:xfrm>
          <a:prstGeom prst="rect">
            <a:avLst/>
          </a:prstGeom>
          <a:noFill/>
        </p:spPr>
        <p:txBody>
          <a:bodyPr wrap="square">
            <a:spAutoFit/>
          </a:bodyPr>
          <a:lstStyle/>
          <a:p>
            <a:pPr algn="r"/>
            <a:r>
              <a:rPr sz="1300" b="1" i="0">
                <a:solidFill>
                  <a:srgbClr val="FF4545"/>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BD93F9"/>
                </a:solidFill>
                <a:latin typeface="Calibri"/>
              </a:rPr>
              <a:t>FOUNDATIONS &amp; INSPIRATIONS</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600" b="1" i="0">
                <a:solidFill>
                  <a:srgbClr val="FFFFFF"/>
                </a:solidFill>
                <a:latin typeface="Calibri"/>
              </a:rPr>
              <a:t>Academic Papers + Open-Source Repositories That Shaped CMatrix</a:t>
            </a:r>
          </a:p>
        </p:txBody>
      </p:sp>
      <p:sp>
        <p:nvSpPr>
          <p:cNvPr id="7" name="TextBox 6"/>
          <p:cNvSpPr txBox="1"/>
          <p:nvPr/>
        </p:nvSpPr>
        <p:spPr>
          <a:xfrm>
            <a:off x="11688775" y="45720"/>
            <a:ext cx="475488" cy="411480"/>
          </a:xfrm>
          <a:prstGeom prst="rect">
            <a:avLst/>
          </a:prstGeom>
          <a:noFill/>
        </p:spPr>
        <p:txBody>
          <a:bodyPr wrap="square">
            <a:spAutoFit/>
          </a:bodyPr>
          <a:lstStyle/>
          <a:p>
            <a:pPr algn="r"/>
            <a:r>
              <a:rPr sz="2000" b="1" i="0">
                <a:solidFill>
                  <a:srgbClr val="FFFFFF"/>
                </a:solidFill>
                <a:latin typeface="Calibri"/>
              </a:rPr>
              <a:t>03</a:t>
            </a:r>
          </a:p>
        </p:txBody>
      </p:sp>
      <p:sp>
        <p:nvSpPr>
          <p:cNvPr id="8" name="Rectangle 7"/>
          <p:cNvSpPr/>
          <p:nvPr/>
        </p:nvSpPr>
        <p:spPr>
          <a:xfrm>
            <a:off x="274320" y="822960"/>
            <a:ext cx="5760720" cy="292608"/>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850392"/>
            <a:ext cx="5577840" cy="237744"/>
          </a:xfrm>
          <a:prstGeom prst="rect">
            <a:avLst/>
          </a:prstGeom>
          <a:noFill/>
        </p:spPr>
        <p:txBody>
          <a:bodyPr wrap="square">
            <a:spAutoFit/>
          </a:bodyPr>
          <a:lstStyle/>
          <a:p>
            <a:pPr algn="l"/>
            <a:r>
              <a:rPr sz="1100" b="1" i="0">
                <a:solidFill>
                  <a:srgbClr val="FFFFFF"/>
                </a:solidFill>
                <a:latin typeface="Calibri"/>
              </a:rPr>
              <a:t>⎙  ACADEMIC PAPERS</a:t>
            </a:r>
          </a:p>
        </p:txBody>
      </p:sp>
      <p:sp>
        <p:nvSpPr>
          <p:cNvPr id="10" name="Rectangle 9"/>
          <p:cNvSpPr/>
          <p:nvPr/>
        </p:nvSpPr>
        <p:spPr>
          <a:xfrm>
            <a:off x="6245352" y="822960"/>
            <a:ext cx="5760720" cy="292608"/>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850392"/>
            <a:ext cx="5577840" cy="237744"/>
          </a:xfrm>
          <a:prstGeom prst="rect">
            <a:avLst/>
          </a:prstGeom>
          <a:noFill/>
        </p:spPr>
        <p:txBody>
          <a:bodyPr wrap="square">
            <a:spAutoFit/>
          </a:bodyPr>
          <a:lstStyle/>
          <a:p>
            <a:pPr algn="l"/>
            <a:r>
              <a:rPr sz="1100" b="1" i="0">
                <a:solidFill>
                  <a:srgbClr val="FFFFFF"/>
                </a:solidFill>
                <a:latin typeface="Calibri"/>
              </a:rPr>
              <a:t>💻  OPEN-SOURCE REPOSITORIES</a:t>
            </a:r>
          </a:p>
        </p:txBody>
      </p:sp>
      <p:sp>
        <p:nvSpPr>
          <p:cNvPr id="12" name="Rectangle 11"/>
          <p:cNvSpPr/>
          <p:nvPr/>
        </p:nvSpPr>
        <p:spPr>
          <a:xfrm>
            <a:off x="274320" y="1170432"/>
            <a:ext cx="5760720" cy="1088136"/>
          </a:xfrm>
          <a:prstGeom prst="rect">
            <a:avLst/>
          </a:prstGeom>
          <a:solidFill>
            <a:srgbClr val="10162B"/>
          </a:solidFill>
          <a:ln w="10160">
            <a:solidFill>
              <a:srgbClr val="303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1170432"/>
            <a:ext cx="347472" cy="1088136"/>
          </a:xfrm>
          <a:prstGeom prst="rect">
            <a:avLst/>
          </a:prstGeom>
          <a:solidFill>
            <a:srgbClr val="222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3464" y="1517904"/>
            <a:ext cx="329184" cy="329184"/>
          </a:xfrm>
          <a:prstGeom prst="rect">
            <a:avLst/>
          </a:prstGeom>
          <a:noFill/>
        </p:spPr>
        <p:txBody>
          <a:bodyPr wrap="square">
            <a:spAutoFit/>
          </a:bodyPr>
          <a:lstStyle/>
          <a:p>
            <a:pPr algn="ctr"/>
            <a:r>
              <a:rPr sz="1800" b="1" i="0">
                <a:solidFill>
                  <a:srgbClr val="FFFFFF"/>
                </a:solidFill>
                <a:latin typeface="Calibri"/>
              </a:rPr>
              <a:t>1</a:t>
            </a:r>
          </a:p>
        </p:txBody>
      </p:sp>
      <p:sp>
        <p:nvSpPr>
          <p:cNvPr id="15" name="TextBox 14"/>
          <p:cNvSpPr txBox="1"/>
          <p:nvPr/>
        </p:nvSpPr>
        <p:spPr>
          <a:xfrm>
            <a:off x="713232" y="1207008"/>
            <a:ext cx="5276088" cy="219456"/>
          </a:xfrm>
          <a:prstGeom prst="rect">
            <a:avLst/>
          </a:prstGeom>
          <a:noFill/>
        </p:spPr>
        <p:txBody>
          <a:bodyPr wrap="square">
            <a:spAutoFit/>
          </a:bodyPr>
          <a:lstStyle/>
          <a:p>
            <a:pPr algn="l"/>
            <a:r>
              <a:rPr sz="1100" b="1" i="0">
                <a:solidFill>
                  <a:srgbClr val="39FF14"/>
                </a:solidFill>
                <a:latin typeface="Calibri"/>
              </a:rPr>
              <a:t>PentestGPT</a:t>
            </a:r>
          </a:p>
        </p:txBody>
      </p:sp>
      <p:sp>
        <p:nvSpPr>
          <p:cNvPr id="16" name="TextBox 15"/>
          <p:cNvSpPr txBox="1"/>
          <p:nvPr/>
        </p:nvSpPr>
        <p:spPr>
          <a:xfrm>
            <a:off x="713232" y="1417320"/>
            <a:ext cx="5276088" cy="164592"/>
          </a:xfrm>
          <a:prstGeom prst="rect">
            <a:avLst/>
          </a:prstGeom>
          <a:noFill/>
        </p:spPr>
        <p:txBody>
          <a:bodyPr wrap="square">
            <a:spAutoFit/>
          </a:bodyPr>
          <a:lstStyle/>
          <a:p>
            <a:pPr algn="l"/>
            <a:r>
              <a:rPr sz="850" b="0" i="1">
                <a:solidFill>
                  <a:srgbClr val="A0AAB8"/>
                </a:solidFill>
                <a:latin typeface="Calibri"/>
              </a:rPr>
              <a:t>USENIX Security '24</a:t>
            </a:r>
          </a:p>
        </p:txBody>
      </p:sp>
      <p:sp>
        <p:nvSpPr>
          <p:cNvPr id="17" name="TextBox 16"/>
          <p:cNvSpPr txBox="1"/>
          <p:nvPr/>
        </p:nvSpPr>
        <p:spPr>
          <a:xfrm>
            <a:off x="713232" y="1572768"/>
            <a:ext cx="5276088" cy="310896"/>
          </a:xfrm>
          <a:prstGeom prst="rect">
            <a:avLst/>
          </a:prstGeom>
          <a:noFill/>
        </p:spPr>
        <p:txBody>
          <a:bodyPr wrap="square">
            <a:spAutoFit/>
          </a:bodyPr>
          <a:lstStyle/>
          <a:p>
            <a:pPr algn="l"/>
            <a:r>
              <a:rPr sz="850" b="0" i="0">
                <a:solidFill>
                  <a:srgbClr val="FFFFFF"/>
                </a:solidFill>
                <a:latin typeface="Calibri"/>
              </a:rPr>
              <a:t>Tripartite Reasoning / Generation / Parsing pipeline.
Pentesting Task Tree as long-session context memory.</a:t>
            </a:r>
          </a:p>
        </p:txBody>
      </p:sp>
      <p:sp>
        <p:nvSpPr>
          <p:cNvPr id="18" name="TextBox 17"/>
          <p:cNvSpPr txBox="1"/>
          <p:nvPr/>
        </p:nvSpPr>
        <p:spPr>
          <a:xfrm>
            <a:off x="713232" y="1856232"/>
            <a:ext cx="5276088" cy="365760"/>
          </a:xfrm>
          <a:prstGeom prst="rect">
            <a:avLst/>
          </a:prstGeom>
          <a:noFill/>
        </p:spPr>
        <p:txBody>
          <a:bodyPr wrap="square">
            <a:spAutoFit/>
          </a:bodyPr>
          <a:lstStyle/>
          <a:p>
            <a:pPr algn="l"/>
            <a:r>
              <a:rPr sz="800" b="0" i="1">
                <a:solidFill>
                  <a:srgbClr val="FFD700"/>
                </a:solidFill>
                <a:latin typeface="Calibri"/>
              </a:rPr>
              <a:t>Gap: Task Tree records tasks performed — not discovered facts. No structured target model; no representation of what can be done to it.</a:t>
            </a:r>
          </a:p>
        </p:txBody>
      </p:sp>
      <p:sp>
        <p:nvSpPr>
          <p:cNvPr id="19" name="Rectangle 18"/>
          <p:cNvSpPr/>
          <p:nvPr/>
        </p:nvSpPr>
        <p:spPr>
          <a:xfrm>
            <a:off x="274320" y="2295144"/>
            <a:ext cx="5760720" cy="1088136"/>
          </a:xfrm>
          <a:prstGeom prst="rect">
            <a:avLst/>
          </a:prstGeom>
          <a:solidFill>
            <a:srgbClr val="10162B"/>
          </a:solidFill>
          <a:ln w="10160">
            <a:solidFill>
              <a:srgbClr val="303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4320" y="2295144"/>
            <a:ext cx="347472" cy="1088136"/>
          </a:xfrm>
          <a:prstGeom prst="rect">
            <a:avLst/>
          </a:prstGeom>
          <a:solidFill>
            <a:srgbClr val="222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3464" y="2642616"/>
            <a:ext cx="329184" cy="329184"/>
          </a:xfrm>
          <a:prstGeom prst="rect">
            <a:avLst/>
          </a:prstGeom>
          <a:noFill/>
        </p:spPr>
        <p:txBody>
          <a:bodyPr wrap="square">
            <a:spAutoFit/>
          </a:bodyPr>
          <a:lstStyle/>
          <a:p>
            <a:pPr algn="ctr"/>
            <a:r>
              <a:rPr sz="1800" b="1" i="0">
                <a:solidFill>
                  <a:srgbClr val="FFFFFF"/>
                </a:solidFill>
                <a:latin typeface="Calibri"/>
              </a:rPr>
              <a:t>2</a:t>
            </a:r>
          </a:p>
        </p:txBody>
      </p:sp>
      <p:sp>
        <p:nvSpPr>
          <p:cNvPr id="22" name="TextBox 21"/>
          <p:cNvSpPr txBox="1"/>
          <p:nvPr/>
        </p:nvSpPr>
        <p:spPr>
          <a:xfrm>
            <a:off x="713232" y="2331720"/>
            <a:ext cx="5276088" cy="219456"/>
          </a:xfrm>
          <a:prstGeom prst="rect">
            <a:avLst/>
          </a:prstGeom>
          <a:noFill/>
        </p:spPr>
        <p:txBody>
          <a:bodyPr wrap="square">
            <a:spAutoFit/>
          </a:bodyPr>
          <a:lstStyle/>
          <a:p>
            <a:pPr algn="l"/>
            <a:r>
              <a:rPr sz="1100" b="1" i="0">
                <a:solidFill>
                  <a:srgbClr val="39FF14"/>
                </a:solidFill>
                <a:latin typeface="Calibri"/>
              </a:rPr>
              <a:t>AutoAttacker</a:t>
            </a:r>
          </a:p>
        </p:txBody>
      </p:sp>
      <p:sp>
        <p:nvSpPr>
          <p:cNvPr id="23" name="TextBox 22"/>
          <p:cNvSpPr txBox="1"/>
          <p:nvPr/>
        </p:nvSpPr>
        <p:spPr>
          <a:xfrm>
            <a:off x="713232" y="2542032"/>
            <a:ext cx="5276088" cy="164592"/>
          </a:xfrm>
          <a:prstGeom prst="rect">
            <a:avLst/>
          </a:prstGeom>
          <a:noFill/>
        </p:spPr>
        <p:txBody>
          <a:bodyPr wrap="square">
            <a:spAutoFit/>
          </a:bodyPr>
          <a:lstStyle/>
          <a:p>
            <a:pPr algn="l"/>
            <a:r>
              <a:rPr sz="850" b="0" i="1">
                <a:solidFill>
                  <a:srgbClr val="A0AAB8"/>
                </a:solidFill>
                <a:latin typeface="Calibri"/>
              </a:rPr>
              <a:t>arXiv '24 — Xu et al.</a:t>
            </a:r>
          </a:p>
        </p:txBody>
      </p:sp>
      <p:sp>
        <p:nvSpPr>
          <p:cNvPr id="24" name="TextBox 23"/>
          <p:cNvSpPr txBox="1"/>
          <p:nvPr/>
        </p:nvSpPr>
        <p:spPr>
          <a:xfrm>
            <a:off x="713232" y="2697480"/>
            <a:ext cx="5276088" cy="310896"/>
          </a:xfrm>
          <a:prstGeom prst="rect">
            <a:avLst/>
          </a:prstGeom>
          <a:noFill/>
        </p:spPr>
        <p:txBody>
          <a:bodyPr wrap="square">
            <a:spAutoFit/>
          </a:bodyPr>
          <a:lstStyle/>
          <a:p>
            <a:pPr algn="l"/>
            <a:r>
              <a:rPr sz="850" b="0" i="0">
                <a:solidFill>
                  <a:srgbClr val="FFFFFF"/>
                </a:solidFill>
                <a:latin typeface="Calibri"/>
              </a:rPr>
              <a:t>Modular planner / summarizer / code-generator for post-breach automation.
Experience manager reuses attack subtasks within one mission.</a:t>
            </a:r>
          </a:p>
        </p:txBody>
      </p:sp>
      <p:sp>
        <p:nvSpPr>
          <p:cNvPr id="25" name="TextBox 24"/>
          <p:cNvSpPr txBox="1"/>
          <p:nvPr/>
        </p:nvSpPr>
        <p:spPr>
          <a:xfrm>
            <a:off x="713232" y="2980944"/>
            <a:ext cx="5276088" cy="365760"/>
          </a:xfrm>
          <a:prstGeom prst="rect">
            <a:avLst/>
          </a:prstGeom>
          <a:noFill/>
        </p:spPr>
        <p:txBody>
          <a:bodyPr wrap="square">
            <a:spAutoFit/>
          </a:bodyPr>
          <a:lstStyle/>
          <a:p>
            <a:pPr algn="l"/>
            <a:r>
              <a:rPr sz="800" b="0" i="1">
                <a:solidFill>
                  <a:srgbClr val="FFD700"/>
                </a:solidFill>
                <a:latin typeface="Calibri"/>
              </a:rPr>
              <a:t>Gap: Experience reuse bounded to a single mission. Every new mission resets to zero knowledge — no cross-mission accumulation.</a:t>
            </a:r>
          </a:p>
        </p:txBody>
      </p:sp>
      <p:sp>
        <p:nvSpPr>
          <p:cNvPr id="26" name="Rectangle 25"/>
          <p:cNvSpPr/>
          <p:nvPr/>
        </p:nvSpPr>
        <p:spPr>
          <a:xfrm>
            <a:off x="274320" y="3419856"/>
            <a:ext cx="5760720" cy="1088136"/>
          </a:xfrm>
          <a:prstGeom prst="rect">
            <a:avLst/>
          </a:prstGeom>
          <a:solidFill>
            <a:srgbClr val="10162B"/>
          </a:solidFill>
          <a:ln w="10160">
            <a:solidFill>
              <a:srgbClr val="303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 y="3419856"/>
            <a:ext cx="347472" cy="1088136"/>
          </a:xfrm>
          <a:prstGeom prst="rect">
            <a:avLst/>
          </a:prstGeom>
          <a:solidFill>
            <a:srgbClr val="222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3464" y="3767328"/>
            <a:ext cx="329184" cy="329184"/>
          </a:xfrm>
          <a:prstGeom prst="rect">
            <a:avLst/>
          </a:prstGeom>
          <a:noFill/>
        </p:spPr>
        <p:txBody>
          <a:bodyPr wrap="square">
            <a:spAutoFit/>
          </a:bodyPr>
          <a:lstStyle/>
          <a:p>
            <a:pPr algn="ctr"/>
            <a:r>
              <a:rPr sz="1800" b="1" i="0">
                <a:solidFill>
                  <a:srgbClr val="FFFFFF"/>
                </a:solidFill>
                <a:latin typeface="Calibri"/>
              </a:rPr>
              <a:t>3</a:t>
            </a:r>
          </a:p>
        </p:txBody>
      </p:sp>
      <p:sp>
        <p:nvSpPr>
          <p:cNvPr id="29" name="TextBox 28"/>
          <p:cNvSpPr txBox="1"/>
          <p:nvPr/>
        </p:nvSpPr>
        <p:spPr>
          <a:xfrm>
            <a:off x="713232" y="3456432"/>
            <a:ext cx="5276088" cy="219456"/>
          </a:xfrm>
          <a:prstGeom prst="rect">
            <a:avLst/>
          </a:prstGeom>
          <a:noFill/>
        </p:spPr>
        <p:txBody>
          <a:bodyPr wrap="square">
            <a:spAutoFit/>
          </a:bodyPr>
          <a:lstStyle/>
          <a:p>
            <a:pPr algn="l"/>
            <a:r>
              <a:rPr sz="1100" b="1" i="0">
                <a:solidFill>
                  <a:srgbClr val="39FF14"/>
                </a:solidFill>
                <a:latin typeface="Calibri"/>
              </a:rPr>
              <a:t>Teams of LLM Agents (HPTSA)</a:t>
            </a:r>
          </a:p>
        </p:txBody>
      </p:sp>
      <p:sp>
        <p:nvSpPr>
          <p:cNvPr id="30" name="TextBox 29"/>
          <p:cNvSpPr txBox="1"/>
          <p:nvPr/>
        </p:nvSpPr>
        <p:spPr>
          <a:xfrm>
            <a:off x="713232" y="3666744"/>
            <a:ext cx="5276088" cy="164592"/>
          </a:xfrm>
          <a:prstGeom prst="rect">
            <a:avLst/>
          </a:prstGeom>
          <a:noFill/>
        </p:spPr>
        <p:txBody>
          <a:bodyPr wrap="square">
            <a:spAutoFit/>
          </a:bodyPr>
          <a:lstStyle/>
          <a:p>
            <a:pPr algn="l"/>
            <a:r>
              <a:rPr sz="850" b="0" i="1">
                <a:solidFill>
                  <a:srgbClr val="A0AAB8"/>
                </a:solidFill>
                <a:latin typeface="Calibri"/>
              </a:rPr>
              <a:t>arXiv '24 — Zhu et al.</a:t>
            </a:r>
          </a:p>
        </p:txBody>
      </p:sp>
      <p:sp>
        <p:nvSpPr>
          <p:cNvPr id="31" name="TextBox 30"/>
          <p:cNvSpPr txBox="1"/>
          <p:nvPr/>
        </p:nvSpPr>
        <p:spPr>
          <a:xfrm>
            <a:off x="713232" y="3822192"/>
            <a:ext cx="5276088" cy="310896"/>
          </a:xfrm>
          <a:prstGeom prst="rect">
            <a:avLst/>
          </a:prstGeom>
          <a:noFill/>
        </p:spPr>
        <p:txBody>
          <a:bodyPr wrap="square">
            <a:spAutoFit/>
          </a:bodyPr>
          <a:lstStyle/>
          <a:p>
            <a:pPr algn="l"/>
            <a:r>
              <a:rPr sz="850" b="0" i="0">
                <a:solidFill>
                  <a:srgbClr val="FFFFFF"/>
                </a:solidFill>
                <a:latin typeface="Calibri"/>
              </a:rPr>
              <a:t>Hierarchical planner delegates to task-specific sub-agents.
Task-specific document injection improves zero-day exploitation by 2.1x.</a:t>
            </a:r>
          </a:p>
        </p:txBody>
      </p:sp>
      <p:sp>
        <p:nvSpPr>
          <p:cNvPr id="32" name="TextBox 31"/>
          <p:cNvSpPr txBox="1"/>
          <p:nvPr/>
        </p:nvSpPr>
        <p:spPr>
          <a:xfrm>
            <a:off x="713232" y="4105656"/>
            <a:ext cx="5276088" cy="365760"/>
          </a:xfrm>
          <a:prstGeom prst="rect">
            <a:avLst/>
          </a:prstGeom>
          <a:noFill/>
        </p:spPr>
        <p:txBody>
          <a:bodyPr wrap="square">
            <a:spAutoFit/>
          </a:bodyPr>
          <a:lstStyle/>
          <a:p>
            <a:pPr algn="l"/>
            <a:r>
              <a:rPr sz="800" b="0" i="1">
                <a:solidFill>
                  <a:srgbClr val="FFD700"/>
                </a:solidFill>
                <a:latin typeface="Calibri"/>
              </a:rPr>
              <a:t>Gap: No structured attack graph. No formal representation of which vulnerabilities chain together or how far a chain has been validated.</a:t>
            </a:r>
          </a:p>
        </p:txBody>
      </p:sp>
      <p:sp>
        <p:nvSpPr>
          <p:cNvPr id="33" name="Rectangle 32"/>
          <p:cNvSpPr/>
          <p:nvPr/>
        </p:nvSpPr>
        <p:spPr>
          <a:xfrm>
            <a:off x="274320" y="4544568"/>
            <a:ext cx="5760720" cy="1088136"/>
          </a:xfrm>
          <a:prstGeom prst="rect">
            <a:avLst/>
          </a:prstGeom>
          <a:solidFill>
            <a:srgbClr val="10162B"/>
          </a:solidFill>
          <a:ln w="10160">
            <a:solidFill>
              <a:srgbClr val="303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74320" y="4544568"/>
            <a:ext cx="347472" cy="1088136"/>
          </a:xfrm>
          <a:prstGeom prst="rect">
            <a:avLst/>
          </a:prstGeom>
          <a:solidFill>
            <a:srgbClr val="222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3464" y="4892040"/>
            <a:ext cx="329184" cy="329184"/>
          </a:xfrm>
          <a:prstGeom prst="rect">
            <a:avLst/>
          </a:prstGeom>
          <a:noFill/>
        </p:spPr>
        <p:txBody>
          <a:bodyPr wrap="square">
            <a:spAutoFit/>
          </a:bodyPr>
          <a:lstStyle/>
          <a:p>
            <a:pPr algn="ctr"/>
            <a:r>
              <a:rPr sz="1800" b="1" i="0">
                <a:solidFill>
                  <a:srgbClr val="FFFFFF"/>
                </a:solidFill>
                <a:latin typeface="Calibri"/>
              </a:rPr>
              <a:t>4</a:t>
            </a:r>
          </a:p>
        </p:txBody>
      </p:sp>
      <p:sp>
        <p:nvSpPr>
          <p:cNvPr id="36" name="TextBox 35"/>
          <p:cNvSpPr txBox="1"/>
          <p:nvPr/>
        </p:nvSpPr>
        <p:spPr>
          <a:xfrm>
            <a:off x="713232" y="4581144"/>
            <a:ext cx="5276088" cy="219456"/>
          </a:xfrm>
          <a:prstGeom prst="rect">
            <a:avLst/>
          </a:prstGeom>
          <a:noFill/>
        </p:spPr>
        <p:txBody>
          <a:bodyPr wrap="square">
            <a:spAutoFit/>
          </a:bodyPr>
          <a:lstStyle/>
          <a:p>
            <a:pPr algn="l"/>
            <a:r>
              <a:rPr sz="1100" b="1" i="0">
                <a:solidFill>
                  <a:srgbClr val="39FF14"/>
                </a:solidFill>
                <a:latin typeface="Calibri"/>
              </a:rPr>
              <a:t>PentestAgent</a:t>
            </a:r>
          </a:p>
        </p:txBody>
      </p:sp>
      <p:sp>
        <p:nvSpPr>
          <p:cNvPr id="37" name="TextBox 36"/>
          <p:cNvSpPr txBox="1"/>
          <p:nvPr/>
        </p:nvSpPr>
        <p:spPr>
          <a:xfrm>
            <a:off x="713232" y="4791456"/>
            <a:ext cx="5276088" cy="164592"/>
          </a:xfrm>
          <a:prstGeom prst="rect">
            <a:avLst/>
          </a:prstGeom>
          <a:noFill/>
        </p:spPr>
        <p:txBody>
          <a:bodyPr wrap="square">
            <a:spAutoFit/>
          </a:bodyPr>
          <a:lstStyle/>
          <a:p>
            <a:pPr algn="l"/>
            <a:r>
              <a:rPr sz="850" b="0" i="1">
                <a:solidFill>
                  <a:srgbClr val="A0AAB8"/>
                </a:solidFill>
                <a:latin typeface="Calibri"/>
              </a:rPr>
              <a:t>AsiaCCS '25 — Shen et al.</a:t>
            </a:r>
          </a:p>
        </p:txBody>
      </p:sp>
      <p:sp>
        <p:nvSpPr>
          <p:cNvPr id="38" name="TextBox 37"/>
          <p:cNvSpPr txBox="1"/>
          <p:nvPr/>
        </p:nvSpPr>
        <p:spPr>
          <a:xfrm>
            <a:off x="713232" y="4946904"/>
            <a:ext cx="5276088" cy="310896"/>
          </a:xfrm>
          <a:prstGeom prst="rect">
            <a:avLst/>
          </a:prstGeom>
          <a:noFill/>
        </p:spPr>
        <p:txBody>
          <a:bodyPr wrap="square">
            <a:spAutoFit/>
          </a:bodyPr>
          <a:lstStyle/>
          <a:p>
            <a:pPr algn="l"/>
            <a:r>
              <a:rPr sz="850" b="0" i="0">
                <a:solidFill>
                  <a:srgbClr val="FFFFFF"/>
                </a:solidFill>
                <a:latin typeface="Calibri"/>
              </a:rPr>
              <a:t>Planning agent with RAG-backed shared memory.
Execution agent self-diagnoses failed exploits before abandoning.</a:t>
            </a:r>
          </a:p>
        </p:txBody>
      </p:sp>
      <p:sp>
        <p:nvSpPr>
          <p:cNvPr id="39" name="TextBox 38"/>
          <p:cNvSpPr txBox="1"/>
          <p:nvPr/>
        </p:nvSpPr>
        <p:spPr>
          <a:xfrm>
            <a:off x="713232" y="5230368"/>
            <a:ext cx="5276088" cy="365760"/>
          </a:xfrm>
          <a:prstGeom prst="rect">
            <a:avLst/>
          </a:prstGeom>
          <a:noFill/>
        </p:spPr>
        <p:txBody>
          <a:bodyPr wrap="square">
            <a:spAutoFit/>
          </a:bodyPr>
          <a:lstStyle/>
          <a:p>
            <a:pPr algn="l"/>
            <a:r>
              <a:rPr sz="800" b="0" i="1">
                <a:solidFill>
                  <a:srgbClr val="FFD700"/>
                </a:solidFill>
                <a:latin typeface="Calibri"/>
              </a:rPr>
              <a:t>Gap: RAG memory conflates discovery facts with reasoning hypotheses. Termination on empty task queue — attack surface may be unexplored.</a:t>
            </a:r>
          </a:p>
        </p:txBody>
      </p:sp>
      <p:sp>
        <p:nvSpPr>
          <p:cNvPr id="40" name="Rectangle 39"/>
          <p:cNvSpPr/>
          <p:nvPr/>
        </p:nvSpPr>
        <p:spPr>
          <a:xfrm>
            <a:off x="274320" y="5669280"/>
            <a:ext cx="5760720" cy="1088136"/>
          </a:xfrm>
          <a:prstGeom prst="rect">
            <a:avLst/>
          </a:prstGeom>
          <a:solidFill>
            <a:srgbClr val="10162B"/>
          </a:solidFill>
          <a:ln w="10160">
            <a:solidFill>
              <a:srgbClr val="303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74320" y="5669280"/>
            <a:ext cx="347472" cy="1088136"/>
          </a:xfrm>
          <a:prstGeom prst="rect">
            <a:avLst/>
          </a:prstGeom>
          <a:solidFill>
            <a:srgbClr val="222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83464" y="6016752"/>
            <a:ext cx="329184" cy="329184"/>
          </a:xfrm>
          <a:prstGeom prst="rect">
            <a:avLst/>
          </a:prstGeom>
          <a:noFill/>
        </p:spPr>
        <p:txBody>
          <a:bodyPr wrap="square">
            <a:spAutoFit/>
          </a:bodyPr>
          <a:lstStyle/>
          <a:p>
            <a:pPr algn="ctr"/>
            <a:r>
              <a:rPr sz="1800" b="1" i="0">
                <a:solidFill>
                  <a:srgbClr val="FFFFFF"/>
                </a:solidFill>
                <a:latin typeface="Calibri"/>
              </a:rPr>
              <a:t>5</a:t>
            </a:r>
          </a:p>
        </p:txBody>
      </p:sp>
      <p:sp>
        <p:nvSpPr>
          <p:cNvPr id="43" name="TextBox 42"/>
          <p:cNvSpPr txBox="1"/>
          <p:nvPr/>
        </p:nvSpPr>
        <p:spPr>
          <a:xfrm>
            <a:off x="713232" y="5705856"/>
            <a:ext cx="5276088" cy="219456"/>
          </a:xfrm>
          <a:prstGeom prst="rect">
            <a:avLst/>
          </a:prstGeom>
          <a:noFill/>
        </p:spPr>
        <p:txBody>
          <a:bodyPr wrap="square">
            <a:spAutoFit/>
          </a:bodyPr>
          <a:lstStyle/>
          <a:p>
            <a:pPr algn="l"/>
            <a:r>
              <a:rPr sz="1100" b="1" i="0">
                <a:solidFill>
                  <a:srgbClr val="39FF14"/>
                </a:solidFill>
                <a:latin typeface="Calibri"/>
              </a:rPr>
              <a:t>VulnBot</a:t>
            </a:r>
          </a:p>
        </p:txBody>
      </p:sp>
      <p:sp>
        <p:nvSpPr>
          <p:cNvPr id="44" name="TextBox 43"/>
          <p:cNvSpPr txBox="1"/>
          <p:nvPr/>
        </p:nvSpPr>
        <p:spPr>
          <a:xfrm>
            <a:off x="713232" y="5916168"/>
            <a:ext cx="5276088" cy="164592"/>
          </a:xfrm>
          <a:prstGeom prst="rect">
            <a:avLst/>
          </a:prstGeom>
          <a:noFill/>
        </p:spPr>
        <p:txBody>
          <a:bodyPr wrap="square">
            <a:spAutoFit/>
          </a:bodyPr>
          <a:lstStyle/>
          <a:p>
            <a:pPr algn="l"/>
            <a:r>
              <a:rPr sz="850" b="0" i="1">
                <a:solidFill>
                  <a:srgbClr val="A0AAB8"/>
                </a:solidFill>
                <a:latin typeface="Calibri"/>
              </a:rPr>
              <a:t>arXiv '25 — Kong et al.</a:t>
            </a:r>
          </a:p>
        </p:txBody>
      </p:sp>
      <p:sp>
        <p:nvSpPr>
          <p:cNvPr id="45" name="TextBox 44"/>
          <p:cNvSpPr txBox="1"/>
          <p:nvPr/>
        </p:nvSpPr>
        <p:spPr>
          <a:xfrm>
            <a:off x="713232" y="6071616"/>
            <a:ext cx="5276088" cy="310896"/>
          </a:xfrm>
          <a:prstGeom prst="rect">
            <a:avLst/>
          </a:prstGeom>
          <a:noFill/>
        </p:spPr>
        <p:txBody>
          <a:bodyPr wrap="square">
            <a:spAutoFit/>
          </a:bodyPr>
          <a:lstStyle/>
          <a:p>
            <a:pPr algn="l"/>
            <a:r>
              <a:rPr sz="850" b="0" i="0">
                <a:solidFill>
                  <a:srgbClr val="FFFFFF"/>
                </a:solidFill>
                <a:latin typeface="Calibri"/>
              </a:rPr>
              <a:t>Five-module pipeline around a Penetration Task Graph.
Summarizer condenses phase output to prevent history leakage.</a:t>
            </a:r>
          </a:p>
        </p:txBody>
      </p:sp>
      <p:sp>
        <p:nvSpPr>
          <p:cNvPr id="46" name="TextBox 45"/>
          <p:cNvSpPr txBox="1"/>
          <p:nvPr/>
        </p:nvSpPr>
        <p:spPr>
          <a:xfrm>
            <a:off x="713232" y="6355080"/>
            <a:ext cx="5276088" cy="365760"/>
          </a:xfrm>
          <a:prstGeom prst="rect">
            <a:avLst/>
          </a:prstGeom>
          <a:noFill/>
        </p:spPr>
        <p:txBody>
          <a:bodyPr wrap="square">
            <a:spAutoFit/>
          </a:bodyPr>
          <a:lstStyle/>
          <a:p>
            <a:pPr algn="l"/>
            <a:r>
              <a:rPr sz="800" b="0" i="1">
                <a:solidFill>
                  <a:srgbClr val="FFD700"/>
                </a:solidFill>
                <a:latin typeface="Calibri"/>
              </a:rPr>
              <a:t>Gap: No formal attack graph. Context compaction is ad-hoc. No lifecycle for attack chains: no risk scoring or formal chain resolution.</a:t>
            </a:r>
          </a:p>
        </p:txBody>
      </p:sp>
      <p:sp>
        <p:nvSpPr>
          <p:cNvPr id="47" name="Rectangle 46"/>
          <p:cNvSpPr/>
          <p:nvPr/>
        </p:nvSpPr>
        <p:spPr>
          <a:xfrm>
            <a:off x="6245352" y="1170432"/>
            <a:ext cx="5760720" cy="1819656"/>
          </a:xfrm>
          <a:prstGeom prst="rect">
            <a:avLst/>
          </a:prstGeom>
          <a:solidFill>
            <a:srgbClr val="0C182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245352" y="1170432"/>
            <a:ext cx="347472" cy="1819656"/>
          </a:xfrm>
          <a:prstGeom prst="rect">
            <a:avLst/>
          </a:prstGeom>
          <a:solidFill>
            <a:srgbClr val="0414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54496" y="1920240"/>
            <a:ext cx="329184" cy="329184"/>
          </a:xfrm>
          <a:prstGeom prst="rect">
            <a:avLst/>
          </a:prstGeom>
          <a:noFill/>
        </p:spPr>
        <p:txBody>
          <a:bodyPr wrap="square">
            <a:spAutoFit/>
          </a:bodyPr>
          <a:lstStyle/>
          <a:p>
            <a:pPr algn="ctr"/>
            <a:r>
              <a:rPr sz="1800" b="1" i="0">
                <a:solidFill>
                  <a:srgbClr val="FFFFFF"/>
                </a:solidFill>
                <a:latin typeface="Calibri"/>
              </a:rPr>
              <a:t>6</a:t>
            </a:r>
          </a:p>
        </p:txBody>
      </p:sp>
      <p:sp>
        <p:nvSpPr>
          <p:cNvPr id="50" name="TextBox 49"/>
          <p:cNvSpPr txBox="1"/>
          <p:nvPr/>
        </p:nvSpPr>
        <p:spPr>
          <a:xfrm>
            <a:off x="6684264" y="1243584"/>
            <a:ext cx="5276088" cy="256032"/>
          </a:xfrm>
          <a:prstGeom prst="rect">
            <a:avLst/>
          </a:prstGeom>
          <a:noFill/>
        </p:spPr>
        <p:txBody>
          <a:bodyPr wrap="square">
            <a:spAutoFit/>
          </a:bodyPr>
          <a:lstStyle/>
          <a:p>
            <a:pPr algn="l"/>
            <a:r>
              <a:rPr sz="1300" b="1" i="0">
                <a:solidFill>
                  <a:srgbClr val="00E5FF"/>
                </a:solidFill>
                <a:latin typeface="Calibri"/>
              </a:rPr>
              <a:t>PentAGI</a:t>
            </a:r>
          </a:p>
        </p:txBody>
      </p:sp>
      <p:sp>
        <p:nvSpPr>
          <p:cNvPr id="51" name="TextBox 50"/>
          <p:cNvSpPr txBox="1"/>
          <p:nvPr/>
        </p:nvSpPr>
        <p:spPr>
          <a:xfrm>
            <a:off x="6684264" y="1499616"/>
            <a:ext cx="5276088" cy="182880"/>
          </a:xfrm>
          <a:prstGeom prst="rect">
            <a:avLst/>
          </a:prstGeom>
          <a:noFill/>
        </p:spPr>
        <p:txBody>
          <a:bodyPr wrap="square">
            <a:spAutoFit/>
          </a:bodyPr>
          <a:lstStyle/>
          <a:p>
            <a:pPr algn="l"/>
            <a:r>
              <a:rPr sz="850" b="0" i="1">
                <a:solidFill>
                  <a:srgbClr val="A0AAB8"/>
                </a:solidFill>
                <a:latin typeface="Calibri"/>
              </a:rPr>
              <a:t>vxcontrol/pentagi</a:t>
            </a:r>
          </a:p>
        </p:txBody>
      </p:sp>
      <p:sp>
        <p:nvSpPr>
          <p:cNvPr id="52" name="TextBox 51"/>
          <p:cNvSpPr txBox="1"/>
          <p:nvPr/>
        </p:nvSpPr>
        <p:spPr>
          <a:xfrm>
            <a:off x="6684264" y="1682496"/>
            <a:ext cx="5276088" cy="457200"/>
          </a:xfrm>
          <a:prstGeom prst="rect">
            <a:avLst/>
          </a:prstGeom>
          <a:noFill/>
        </p:spPr>
        <p:txBody>
          <a:bodyPr wrap="square">
            <a:spAutoFit/>
          </a:bodyPr>
          <a:lstStyle/>
          <a:p>
            <a:pPr algn="l"/>
            <a:r>
              <a:rPr sz="900" b="0" i="0">
                <a:solidFill>
                  <a:srgbClr val="FFFFFF"/>
                </a:solidFill>
                <a:latin typeface="Calibri"/>
              </a:rPr>
              <a:t>Production multi-agent pentesting platform.
Adviser detects agent fixation; Reflector nudges stuck agents.</a:t>
            </a:r>
          </a:p>
        </p:txBody>
      </p:sp>
      <p:sp>
        <p:nvSpPr>
          <p:cNvPr id="53" name="TextBox 52"/>
          <p:cNvSpPr txBox="1"/>
          <p:nvPr/>
        </p:nvSpPr>
        <p:spPr>
          <a:xfrm>
            <a:off x="6684264" y="2176272"/>
            <a:ext cx="5276088" cy="731520"/>
          </a:xfrm>
          <a:prstGeom prst="rect">
            <a:avLst/>
          </a:prstGeom>
          <a:noFill/>
        </p:spPr>
        <p:txBody>
          <a:bodyPr wrap="square">
            <a:spAutoFit/>
          </a:bodyPr>
          <a:lstStyle/>
          <a:p>
            <a:pPr algn="l"/>
            <a:r>
              <a:rPr sz="850" b="0" i="1">
                <a:solidFill>
                  <a:srgbClr val="FFD700"/>
                </a:solidFill>
                <a:latin typeface="Calibri"/>
              </a:rPr>
              <a:t>Gap: Fixation detection is reactive — fires after repeated tool calls. No proactive graph-driven surface-exhaustion check.</a:t>
            </a:r>
          </a:p>
        </p:txBody>
      </p:sp>
      <p:sp>
        <p:nvSpPr>
          <p:cNvPr id="54" name="Rectangle 53"/>
          <p:cNvSpPr/>
          <p:nvPr/>
        </p:nvSpPr>
        <p:spPr>
          <a:xfrm>
            <a:off x="6245352" y="3026664"/>
            <a:ext cx="5760720" cy="1819656"/>
          </a:xfrm>
          <a:prstGeom prst="rect">
            <a:avLst/>
          </a:prstGeom>
          <a:solidFill>
            <a:srgbClr val="0C182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45352" y="3026664"/>
            <a:ext cx="347472" cy="1819656"/>
          </a:xfrm>
          <a:prstGeom prst="rect">
            <a:avLst/>
          </a:prstGeom>
          <a:solidFill>
            <a:srgbClr val="0414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54496" y="3776472"/>
            <a:ext cx="329184" cy="329184"/>
          </a:xfrm>
          <a:prstGeom prst="rect">
            <a:avLst/>
          </a:prstGeom>
          <a:noFill/>
        </p:spPr>
        <p:txBody>
          <a:bodyPr wrap="square">
            <a:spAutoFit/>
          </a:bodyPr>
          <a:lstStyle/>
          <a:p>
            <a:pPr algn="ctr"/>
            <a:r>
              <a:rPr sz="1800" b="1" i="0">
                <a:solidFill>
                  <a:srgbClr val="FFFFFF"/>
                </a:solidFill>
                <a:latin typeface="Calibri"/>
              </a:rPr>
              <a:t>7</a:t>
            </a:r>
          </a:p>
        </p:txBody>
      </p:sp>
      <p:sp>
        <p:nvSpPr>
          <p:cNvPr id="57" name="TextBox 56"/>
          <p:cNvSpPr txBox="1"/>
          <p:nvPr/>
        </p:nvSpPr>
        <p:spPr>
          <a:xfrm>
            <a:off x="6684264" y="3099816"/>
            <a:ext cx="5276088" cy="256032"/>
          </a:xfrm>
          <a:prstGeom prst="rect">
            <a:avLst/>
          </a:prstGeom>
          <a:noFill/>
        </p:spPr>
        <p:txBody>
          <a:bodyPr wrap="square">
            <a:spAutoFit/>
          </a:bodyPr>
          <a:lstStyle/>
          <a:p>
            <a:pPr algn="l"/>
            <a:r>
              <a:rPr sz="1300" b="1" i="0">
                <a:solidFill>
                  <a:srgbClr val="00E5FF"/>
                </a:solidFill>
                <a:latin typeface="Calibri"/>
              </a:rPr>
              <a:t>Claude Code</a:t>
            </a:r>
          </a:p>
        </p:txBody>
      </p:sp>
      <p:sp>
        <p:nvSpPr>
          <p:cNvPr id="58" name="TextBox 57"/>
          <p:cNvSpPr txBox="1"/>
          <p:nvPr/>
        </p:nvSpPr>
        <p:spPr>
          <a:xfrm>
            <a:off x="6684264" y="3355848"/>
            <a:ext cx="5276088" cy="182880"/>
          </a:xfrm>
          <a:prstGeom prst="rect">
            <a:avLst/>
          </a:prstGeom>
          <a:noFill/>
        </p:spPr>
        <p:txBody>
          <a:bodyPr wrap="square">
            <a:spAutoFit/>
          </a:bodyPr>
          <a:lstStyle/>
          <a:p>
            <a:pPr algn="l"/>
            <a:r>
              <a:rPr sz="850" b="0" i="1">
                <a:solidFill>
                  <a:srgbClr val="A0AAB8"/>
                </a:solidFill>
                <a:latin typeface="Calibri"/>
              </a:rPr>
              <a:t>Anthropic — yasasbanukaofficial/claude-code</a:t>
            </a:r>
          </a:p>
        </p:txBody>
      </p:sp>
      <p:sp>
        <p:nvSpPr>
          <p:cNvPr id="59" name="TextBox 58"/>
          <p:cNvSpPr txBox="1"/>
          <p:nvPr/>
        </p:nvSpPr>
        <p:spPr>
          <a:xfrm>
            <a:off x="6684264" y="3538728"/>
            <a:ext cx="5276088" cy="457200"/>
          </a:xfrm>
          <a:prstGeom prst="rect">
            <a:avLst/>
          </a:prstGeom>
          <a:noFill/>
        </p:spPr>
        <p:txBody>
          <a:bodyPr wrap="square">
            <a:spAutoFit/>
          </a:bodyPr>
          <a:lstStyle/>
          <a:p>
            <a:pPr algn="l"/>
            <a:r>
              <a:rPr sz="900" b="0" i="0">
                <a:solidFill>
                  <a:srgbClr val="FFFFFF"/>
                </a:solidFill>
                <a:latin typeface="Calibri"/>
              </a:rPr>
              <a:t>Two-stage fast-filter + chain-of-thought tool-call permission classifier.
27-event named hook architecture for operator intervention.</a:t>
            </a:r>
          </a:p>
        </p:txBody>
      </p:sp>
      <p:sp>
        <p:nvSpPr>
          <p:cNvPr id="60" name="TextBox 59"/>
          <p:cNvSpPr txBox="1"/>
          <p:nvPr/>
        </p:nvSpPr>
        <p:spPr>
          <a:xfrm>
            <a:off x="6684264" y="4032504"/>
            <a:ext cx="5276088" cy="731520"/>
          </a:xfrm>
          <a:prstGeom prst="rect">
            <a:avLst/>
          </a:prstGeom>
          <a:noFill/>
        </p:spPr>
        <p:txBody>
          <a:bodyPr wrap="square">
            <a:spAutoFit/>
          </a:bodyPr>
          <a:lstStyle/>
          <a:p>
            <a:pPr algn="l"/>
            <a:r>
              <a:rPr sz="850" b="0" i="1">
                <a:solidFill>
                  <a:srgbClr val="FFD700"/>
                </a:solidFill>
                <a:latin typeface="Calibri"/>
              </a:rPr>
              <a:t>Gap: Permission classification is general-purpose — not domain-aware. No offensive risk tier, scope enforcement, or security-intent routing.</a:t>
            </a:r>
          </a:p>
        </p:txBody>
      </p:sp>
      <p:sp>
        <p:nvSpPr>
          <p:cNvPr id="61" name="Rectangle 60"/>
          <p:cNvSpPr/>
          <p:nvPr/>
        </p:nvSpPr>
        <p:spPr>
          <a:xfrm>
            <a:off x="6245352" y="4882896"/>
            <a:ext cx="5760720" cy="1819656"/>
          </a:xfrm>
          <a:prstGeom prst="rect">
            <a:avLst/>
          </a:prstGeom>
          <a:solidFill>
            <a:srgbClr val="0C182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245352" y="4882896"/>
            <a:ext cx="347472" cy="1819656"/>
          </a:xfrm>
          <a:prstGeom prst="rect">
            <a:avLst/>
          </a:prstGeom>
          <a:solidFill>
            <a:srgbClr val="0414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54496" y="5632704"/>
            <a:ext cx="329184" cy="329184"/>
          </a:xfrm>
          <a:prstGeom prst="rect">
            <a:avLst/>
          </a:prstGeom>
          <a:noFill/>
        </p:spPr>
        <p:txBody>
          <a:bodyPr wrap="square">
            <a:spAutoFit/>
          </a:bodyPr>
          <a:lstStyle/>
          <a:p>
            <a:pPr algn="ctr"/>
            <a:r>
              <a:rPr sz="1800" b="1" i="0">
                <a:solidFill>
                  <a:srgbClr val="FFFFFF"/>
                </a:solidFill>
                <a:latin typeface="Calibri"/>
              </a:rPr>
              <a:t>8</a:t>
            </a:r>
          </a:p>
        </p:txBody>
      </p:sp>
      <p:sp>
        <p:nvSpPr>
          <p:cNvPr id="64" name="TextBox 63"/>
          <p:cNvSpPr txBox="1"/>
          <p:nvPr/>
        </p:nvSpPr>
        <p:spPr>
          <a:xfrm>
            <a:off x="6684264" y="4956048"/>
            <a:ext cx="5276088" cy="256032"/>
          </a:xfrm>
          <a:prstGeom prst="rect">
            <a:avLst/>
          </a:prstGeom>
          <a:noFill/>
        </p:spPr>
        <p:txBody>
          <a:bodyPr wrap="square">
            <a:spAutoFit/>
          </a:bodyPr>
          <a:lstStyle/>
          <a:p>
            <a:pPr algn="l"/>
            <a:r>
              <a:rPr sz="1300" b="1" i="0">
                <a:solidFill>
                  <a:srgbClr val="00E5FF"/>
                </a:solidFill>
                <a:latin typeface="Calibri"/>
              </a:rPr>
              <a:t>Hermes Agent</a:t>
            </a:r>
          </a:p>
        </p:txBody>
      </p:sp>
      <p:sp>
        <p:nvSpPr>
          <p:cNvPr id="65" name="TextBox 64"/>
          <p:cNvSpPr txBox="1"/>
          <p:nvPr/>
        </p:nvSpPr>
        <p:spPr>
          <a:xfrm>
            <a:off x="6684264" y="5212080"/>
            <a:ext cx="5276088" cy="182880"/>
          </a:xfrm>
          <a:prstGeom prst="rect">
            <a:avLst/>
          </a:prstGeom>
          <a:noFill/>
        </p:spPr>
        <p:txBody>
          <a:bodyPr wrap="square">
            <a:spAutoFit/>
          </a:bodyPr>
          <a:lstStyle/>
          <a:p>
            <a:pPr algn="l"/>
            <a:r>
              <a:rPr sz="850" b="0" i="1">
                <a:solidFill>
                  <a:srgbClr val="A0AAB8"/>
                </a:solidFill>
                <a:latin typeface="Calibri"/>
              </a:rPr>
              <a:t>NousResearch/hermes-agent</a:t>
            </a:r>
          </a:p>
        </p:txBody>
      </p:sp>
      <p:sp>
        <p:nvSpPr>
          <p:cNvPr id="66" name="TextBox 65"/>
          <p:cNvSpPr txBox="1"/>
          <p:nvPr/>
        </p:nvSpPr>
        <p:spPr>
          <a:xfrm>
            <a:off x="6684264" y="5394960"/>
            <a:ext cx="5276088" cy="457200"/>
          </a:xfrm>
          <a:prstGeom prst="rect">
            <a:avLst/>
          </a:prstGeom>
          <a:noFill/>
        </p:spPr>
        <p:txBody>
          <a:bodyPr wrap="square">
            <a:spAutoFit/>
          </a:bodyPr>
          <a:lstStyle/>
          <a:p>
            <a:pPr algn="l"/>
            <a:r>
              <a:rPr sz="900" b="0" i="0">
                <a:solidFill>
                  <a:srgbClr val="FFFFFF"/>
                </a:solidFill>
                <a:latin typeface="Calibri"/>
              </a:rPr>
              <a:t>Closed learning loop: skill crystallization from completed tasks.
Structured trajectory export for SFT/RL training via DSPy + Atropos.</a:t>
            </a:r>
          </a:p>
        </p:txBody>
      </p:sp>
      <p:sp>
        <p:nvSpPr>
          <p:cNvPr id="67" name="TextBox 66"/>
          <p:cNvSpPr txBox="1"/>
          <p:nvPr/>
        </p:nvSpPr>
        <p:spPr>
          <a:xfrm>
            <a:off x="6684264" y="5888736"/>
            <a:ext cx="5276088" cy="731520"/>
          </a:xfrm>
          <a:prstGeom prst="rect">
            <a:avLst/>
          </a:prstGeom>
          <a:noFill/>
        </p:spPr>
        <p:txBody>
          <a:bodyPr wrap="square">
            <a:spAutoFit/>
          </a:bodyPr>
          <a:lstStyle/>
          <a:p>
            <a:pPr algn="l"/>
            <a:r>
              <a:rPr sz="850" b="0" i="1">
                <a:solidFill>
                  <a:srgbClr val="FFD700"/>
                </a:solidFill>
                <a:latin typeface="Calibri"/>
              </a:rPr>
              <a:t>Gap: Skill crystallization and trajectory export are general-purpose. No security-domain indexing, APG integration, or dual-graph event format.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39FF14"/>
                </a:solidFill>
                <a:latin typeface="Calibri"/>
              </a:rPr>
              <a:t>SCOPE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400" b="1" i="0">
                <a:solidFill>
                  <a:srgbClr val="FFFFFF"/>
                </a:solidFill>
                <a:latin typeface="Calibri"/>
              </a:rPr>
              <a:t>What CMatrix Assesses — and What It Does Not</a:t>
            </a:r>
          </a:p>
        </p:txBody>
      </p:sp>
      <p:sp>
        <p:nvSpPr>
          <p:cNvPr id="7" name="TextBox 6"/>
          <p:cNvSpPr txBox="1"/>
          <p:nvPr/>
        </p:nvSpPr>
        <p:spPr>
          <a:xfrm>
            <a:off x="11780215" y="6355080"/>
            <a:ext cx="384048" cy="411480"/>
          </a:xfrm>
          <a:prstGeom prst="rect">
            <a:avLst/>
          </a:prstGeom>
          <a:noFill/>
        </p:spPr>
        <p:txBody>
          <a:bodyPr wrap="square">
            <a:spAutoFit/>
          </a:bodyPr>
          <a:lstStyle/>
          <a:p>
            <a:pPr algn="r"/>
            <a:r>
              <a:rPr sz="1300" b="1" i="0">
                <a:solidFill>
                  <a:srgbClr val="39FF14"/>
                </a:solidFill>
                <a:latin typeface="Calibri"/>
              </a:rPr>
              <a:t>04</a:t>
            </a:r>
          </a:p>
        </p:txBody>
      </p:sp>
      <p:sp>
        <p:nvSpPr>
          <p:cNvPr id="8" name="Rectangle 7"/>
          <p:cNvSpPr/>
          <p:nvPr/>
        </p:nvSpPr>
        <p:spPr>
          <a:xfrm>
            <a:off x="274320" y="1051560"/>
            <a:ext cx="5760720" cy="32918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1088136"/>
            <a:ext cx="5577840" cy="256032"/>
          </a:xfrm>
          <a:prstGeom prst="rect">
            <a:avLst/>
          </a:prstGeom>
          <a:noFill/>
        </p:spPr>
        <p:txBody>
          <a:bodyPr wrap="square">
            <a:spAutoFit/>
          </a:bodyPr>
          <a:lstStyle/>
          <a:p>
            <a:pPr algn="l"/>
            <a:r>
              <a:rPr sz="1200" b="1" i="0">
                <a:solidFill>
                  <a:srgbClr val="0A0D1A"/>
                </a:solidFill>
                <a:latin typeface="Calibri"/>
              </a:rPr>
              <a:t>✓  IN SCOPE</a:t>
            </a:r>
          </a:p>
        </p:txBody>
      </p:sp>
      <p:sp>
        <p:nvSpPr>
          <p:cNvPr id="10" name="Rectangle 9"/>
          <p:cNvSpPr/>
          <p:nvPr/>
        </p:nvSpPr>
        <p:spPr>
          <a:xfrm>
            <a:off x="274320" y="1435608"/>
            <a:ext cx="5760720" cy="694944"/>
          </a:xfrm>
          <a:prstGeom prst="rect">
            <a:avLst/>
          </a:prstGeom>
          <a:solidFill>
            <a:srgbClr val="0820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2336" y="1490472"/>
            <a:ext cx="5532120" cy="256032"/>
          </a:xfrm>
          <a:prstGeom prst="rect">
            <a:avLst/>
          </a:prstGeom>
          <a:noFill/>
        </p:spPr>
        <p:txBody>
          <a:bodyPr wrap="square">
            <a:spAutoFit/>
          </a:bodyPr>
          <a:lstStyle/>
          <a:p>
            <a:pPr algn="l"/>
            <a:r>
              <a:rPr sz="1150" b="1" i="0">
                <a:solidFill>
                  <a:srgbClr val="39FF14"/>
                </a:solidFill>
                <a:latin typeface="Calibri"/>
              </a:rPr>
              <a:t>Web Applications</a:t>
            </a:r>
          </a:p>
        </p:txBody>
      </p:sp>
      <p:sp>
        <p:nvSpPr>
          <p:cNvPr id="12" name="TextBox 11"/>
          <p:cNvSpPr txBox="1"/>
          <p:nvPr/>
        </p:nvSpPr>
        <p:spPr>
          <a:xfrm>
            <a:off x="402336" y="1746504"/>
            <a:ext cx="5532120" cy="347472"/>
          </a:xfrm>
          <a:prstGeom prst="rect">
            <a:avLst/>
          </a:prstGeom>
          <a:noFill/>
        </p:spPr>
        <p:txBody>
          <a:bodyPr wrap="square">
            <a:spAutoFit/>
          </a:bodyPr>
          <a:lstStyle/>
          <a:p>
            <a:pPr algn="l"/>
            <a:r>
              <a:rPr sz="1000" b="0" i="0">
                <a:solidFill>
                  <a:srgbClr val="FFFFFF"/>
                </a:solidFill>
                <a:latin typeface="Calibri"/>
              </a:rPr>
              <a:t>HTTP/HTTPS services, CMS, REST APIs, GraphQL endpoints.</a:t>
            </a:r>
          </a:p>
        </p:txBody>
      </p:sp>
      <p:sp>
        <p:nvSpPr>
          <p:cNvPr id="13" name="Rectangle 12"/>
          <p:cNvSpPr/>
          <p:nvPr/>
        </p:nvSpPr>
        <p:spPr>
          <a:xfrm>
            <a:off x="274320" y="2194560"/>
            <a:ext cx="5760720" cy="694944"/>
          </a:xfrm>
          <a:prstGeom prst="rect">
            <a:avLst/>
          </a:prstGeom>
          <a:solidFill>
            <a:srgbClr val="0820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2336" y="2249424"/>
            <a:ext cx="5532120" cy="256032"/>
          </a:xfrm>
          <a:prstGeom prst="rect">
            <a:avLst/>
          </a:prstGeom>
          <a:noFill/>
        </p:spPr>
        <p:txBody>
          <a:bodyPr wrap="square">
            <a:spAutoFit/>
          </a:bodyPr>
          <a:lstStyle/>
          <a:p>
            <a:pPr algn="l"/>
            <a:r>
              <a:rPr sz="1150" b="1" i="0">
                <a:solidFill>
                  <a:srgbClr val="39FF14"/>
                </a:solidFill>
                <a:latin typeface="Calibri"/>
              </a:rPr>
              <a:t>Network Services</a:t>
            </a:r>
          </a:p>
        </p:txBody>
      </p:sp>
      <p:sp>
        <p:nvSpPr>
          <p:cNvPr id="15" name="TextBox 14"/>
          <p:cNvSpPr txBox="1"/>
          <p:nvPr/>
        </p:nvSpPr>
        <p:spPr>
          <a:xfrm>
            <a:off x="402336" y="2505456"/>
            <a:ext cx="5532120" cy="347472"/>
          </a:xfrm>
          <a:prstGeom prst="rect">
            <a:avLst/>
          </a:prstGeom>
          <a:noFill/>
        </p:spPr>
        <p:txBody>
          <a:bodyPr wrap="square">
            <a:spAutoFit/>
          </a:bodyPr>
          <a:lstStyle/>
          <a:p>
            <a:pPr algn="l"/>
            <a:r>
              <a:rPr sz="1000" b="0" i="0">
                <a:solidFill>
                  <a:srgbClr val="FFFFFF"/>
                </a:solidFill>
                <a:latin typeface="Calibri"/>
              </a:rPr>
              <a:t>Exposed ports, services, TLS/SSL, open protocols.</a:t>
            </a:r>
          </a:p>
        </p:txBody>
      </p:sp>
      <p:sp>
        <p:nvSpPr>
          <p:cNvPr id="16" name="Rectangle 15"/>
          <p:cNvSpPr/>
          <p:nvPr/>
        </p:nvSpPr>
        <p:spPr>
          <a:xfrm>
            <a:off x="274320" y="2953512"/>
            <a:ext cx="5760720" cy="694944"/>
          </a:xfrm>
          <a:prstGeom prst="rect">
            <a:avLst/>
          </a:prstGeom>
          <a:solidFill>
            <a:srgbClr val="0820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2336" y="3008376"/>
            <a:ext cx="5532120" cy="256032"/>
          </a:xfrm>
          <a:prstGeom prst="rect">
            <a:avLst/>
          </a:prstGeom>
          <a:noFill/>
        </p:spPr>
        <p:txBody>
          <a:bodyPr wrap="square">
            <a:spAutoFit/>
          </a:bodyPr>
          <a:lstStyle/>
          <a:p>
            <a:pPr algn="l"/>
            <a:r>
              <a:rPr sz="1150" b="1" i="0">
                <a:solidFill>
                  <a:srgbClr val="39FF14"/>
                </a:solidFill>
                <a:latin typeface="Calibri"/>
              </a:rPr>
              <a:t>API Attack Surface</a:t>
            </a:r>
          </a:p>
        </p:txBody>
      </p:sp>
      <p:sp>
        <p:nvSpPr>
          <p:cNvPr id="18" name="TextBox 17"/>
          <p:cNvSpPr txBox="1"/>
          <p:nvPr/>
        </p:nvSpPr>
        <p:spPr>
          <a:xfrm>
            <a:off x="402336" y="3264408"/>
            <a:ext cx="5532120" cy="347472"/>
          </a:xfrm>
          <a:prstGeom prst="rect">
            <a:avLst/>
          </a:prstGeom>
          <a:noFill/>
        </p:spPr>
        <p:txBody>
          <a:bodyPr wrap="square">
            <a:spAutoFit/>
          </a:bodyPr>
          <a:lstStyle/>
          <a:p>
            <a:pPr algn="l"/>
            <a:r>
              <a:rPr sz="1000" b="0" i="0">
                <a:solidFill>
                  <a:srgbClr val="FFFFFF"/>
                </a:solidFill>
                <a:latin typeface="Calibri"/>
              </a:rPr>
              <a:t>REST endpoints, parameter injection, IDOR, auth bypass.</a:t>
            </a:r>
          </a:p>
        </p:txBody>
      </p:sp>
      <p:sp>
        <p:nvSpPr>
          <p:cNvPr id="19" name="Rectangle 18"/>
          <p:cNvSpPr/>
          <p:nvPr/>
        </p:nvSpPr>
        <p:spPr>
          <a:xfrm>
            <a:off x="274320" y="3712464"/>
            <a:ext cx="5760720" cy="694944"/>
          </a:xfrm>
          <a:prstGeom prst="rect">
            <a:avLst/>
          </a:prstGeom>
          <a:solidFill>
            <a:srgbClr val="0820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2336" y="3767328"/>
            <a:ext cx="5532120" cy="256032"/>
          </a:xfrm>
          <a:prstGeom prst="rect">
            <a:avLst/>
          </a:prstGeom>
          <a:noFill/>
        </p:spPr>
        <p:txBody>
          <a:bodyPr wrap="square">
            <a:spAutoFit/>
          </a:bodyPr>
          <a:lstStyle/>
          <a:p>
            <a:pPr algn="l"/>
            <a:r>
              <a:rPr sz="1150" b="1" i="0">
                <a:solidFill>
                  <a:srgbClr val="39FF14"/>
                </a:solidFill>
                <a:latin typeface="Calibri"/>
              </a:rPr>
              <a:t>Black-Box Mode</a:t>
            </a:r>
          </a:p>
        </p:txBody>
      </p:sp>
      <p:sp>
        <p:nvSpPr>
          <p:cNvPr id="21" name="TextBox 20"/>
          <p:cNvSpPr txBox="1"/>
          <p:nvPr/>
        </p:nvSpPr>
        <p:spPr>
          <a:xfrm>
            <a:off x="402336" y="4023360"/>
            <a:ext cx="5532120" cy="347472"/>
          </a:xfrm>
          <a:prstGeom prst="rect">
            <a:avLst/>
          </a:prstGeom>
          <a:noFill/>
        </p:spPr>
        <p:txBody>
          <a:bodyPr wrap="square">
            <a:spAutoFit/>
          </a:bodyPr>
          <a:lstStyle/>
          <a:p>
            <a:pPr algn="l"/>
            <a:r>
              <a:rPr sz="1000" b="0" i="0">
                <a:solidFill>
                  <a:srgbClr val="FFFFFF"/>
                </a:solidFill>
                <a:latin typeface="Calibri"/>
              </a:rPr>
              <a:t>Zero prior knowledge. Operator provides: root domain + scope declaration only.</a:t>
            </a:r>
          </a:p>
        </p:txBody>
      </p:sp>
      <p:sp>
        <p:nvSpPr>
          <p:cNvPr id="22" name="Rectangle 21"/>
          <p:cNvSpPr/>
          <p:nvPr/>
        </p:nvSpPr>
        <p:spPr>
          <a:xfrm>
            <a:off x="274320" y="4471416"/>
            <a:ext cx="5760720" cy="694944"/>
          </a:xfrm>
          <a:prstGeom prst="rect">
            <a:avLst/>
          </a:prstGeom>
          <a:solidFill>
            <a:srgbClr val="0820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2336" y="4526280"/>
            <a:ext cx="5532120" cy="256032"/>
          </a:xfrm>
          <a:prstGeom prst="rect">
            <a:avLst/>
          </a:prstGeom>
          <a:noFill/>
        </p:spPr>
        <p:txBody>
          <a:bodyPr wrap="square">
            <a:spAutoFit/>
          </a:bodyPr>
          <a:lstStyle/>
          <a:p>
            <a:pPr algn="l"/>
            <a:r>
              <a:rPr sz="1150" b="1" i="0">
                <a:solidFill>
                  <a:srgbClr val="39FF14"/>
                </a:solidFill>
                <a:latin typeface="Calibri"/>
              </a:rPr>
              <a:t>Grey-Box Mode</a:t>
            </a:r>
          </a:p>
        </p:txBody>
      </p:sp>
      <p:sp>
        <p:nvSpPr>
          <p:cNvPr id="24" name="TextBox 23"/>
          <p:cNvSpPr txBox="1"/>
          <p:nvPr/>
        </p:nvSpPr>
        <p:spPr>
          <a:xfrm>
            <a:off x="402336" y="4782312"/>
            <a:ext cx="5532120" cy="347472"/>
          </a:xfrm>
          <a:prstGeom prst="rect">
            <a:avLst/>
          </a:prstGeom>
          <a:noFill/>
        </p:spPr>
        <p:txBody>
          <a:bodyPr wrap="square">
            <a:spAutoFit/>
          </a:bodyPr>
          <a:lstStyle/>
          <a:p>
            <a:pPr algn="l"/>
            <a:r>
              <a:rPr sz="1000" b="0" i="0">
                <a:solidFill>
                  <a:srgbClr val="FFFFFF"/>
                </a:solidFill>
                <a:latin typeface="Calibri"/>
              </a:rPr>
              <a:t>Partial knowledge. Operator additionally provides: known IP ranges, credentials, network topology fragments. ASG Host nodes are pre-seeded.</a:t>
            </a:r>
          </a:p>
        </p:txBody>
      </p:sp>
      <p:sp>
        <p:nvSpPr>
          <p:cNvPr id="25" name="Rectangle 24"/>
          <p:cNvSpPr/>
          <p:nvPr/>
        </p:nvSpPr>
        <p:spPr>
          <a:xfrm>
            <a:off x="274320" y="5230368"/>
            <a:ext cx="5760720" cy="694944"/>
          </a:xfrm>
          <a:prstGeom prst="rect">
            <a:avLst/>
          </a:prstGeom>
          <a:solidFill>
            <a:srgbClr val="0820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2336" y="5285232"/>
            <a:ext cx="5532120" cy="256032"/>
          </a:xfrm>
          <a:prstGeom prst="rect">
            <a:avLst/>
          </a:prstGeom>
          <a:noFill/>
        </p:spPr>
        <p:txBody>
          <a:bodyPr wrap="square">
            <a:spAutoFit/>
          </a:bodyPr>
          <a:lstStyle/>
          <a:p>
            <a:pPr algn="l"/>
            <a:r>
              <a:rPr sz="1150" b="1" i="0">
                <a:solidFill>
                  <a:srgbClr val="39FF14"/>
                </a:solidFill>
                <a:latin typeface="Calibri"/>
              </a:rPr>
              <a:t>Authorised Assessments</a:t>
            </a:r>
          </a:p>
        </p:txBody>
      </p:sp>
      <p:sp>
        <p:nvSpPr>
          <p:cNvPr id="27" name="TextBox 26"/>
          <p:cNvSpPr txBox="1"/>
          <p:nvPr/>
        </p:nvSpPr>
        <p:spPr>
          <a:xfrm>
            <a:off x="402336" y="5541264"/>
            <a:ext cx="5532120" cy="347472"/>
          </a:xfrm>
          <a:prstGeom prst="rect">
            <a:avLst/>
          </a:prstGeom>
          <a:noFill/>
        </p:spPr>
        <p:txBody>
          <a:bodyPr wrap="square">
            <a:spAutoFit/>
          </a:bodyPr>
          <a:lstStyle/>
          <a:p>
            <a:pPr algn="l"/>
            <a:r>
              <a:rPr sz="1000" b="0" i="0">
                <a:solidFill>
                  <a:srgbClr val="FFFFFF"/>
                </a:solidFill>
                <a:latin typeface="Calibri"/>
              </a:rPr>
              <a:t>CMatrix operates only within declared scope. Scope check fires before every tool execution at the Risk Gate.</a:t>
            </a:r>
          </a:p>
        </p:txBody>
      </p:sp>
      <p:sp>
        <p:nvSpPr>
          <p:cNvPr id="28" name="Rectangle 27"/>
          <p:cNvSpPr/>
          <p:nvPr/>
        </p:nvSpPr>
        <p:spPr>
          <a:xfrm>
            <a:off x="6245352" y="1051560"/>
            <a:ext cx="5760720" cy="32918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1088136"/>
            <a:ext cx="5577840" cy="256032"/>
          </a:xfrm>
          <a:prstGeom prst="rect">
            <a:avLst/>
          </a:prstGeom>
          <a:noFill/>
        </p:spPr>
        <p:txBody>
          <a:bodyPr wrap="square">
            <a:spAutoFit/>
          </a:bodyPr>
          <a:lstStyle/>
          <a:p>
            <a:pPr algn="l"/>
            <a:r>
              <a:rPr sz="1200" b="1" i="0">
                <a:solidFill>
                  <a:srgbClr val="FFFFFF"/>
                </a:solidFill>
                <a:latin typeface="Calibri"/>
              </a:rPr>
              <a:t>✕  OUT OF SCOPE</a:t>
            </a:r>
          </a:p>
        </p:txBody>
      </p:sp>
      <p:sp>
        <p:nvSpPr>
          <p:cNvPr id="30" name="Rectangle 29"/>
          <p:cNvSpPr/>
          <p:nvPr/>
        </p:nvSpPr>
        <p:spPr>
          <a:xfrm>
            <a:off x="6245352" y="1435608"/>
            <a:ext cx="5760720" cy="384048"/>
          </a:xfrm>
          <a:prstGeom prst="rect">
            <a:avLst/>
          </a:prstGeom>
          <a:solidFill>
            <a:srgbClr val="2A0808"/>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55080" y="1490472"/>
            <a:ext cx="5577840" cy="274320"/>
          </a:xfrm>
          <a:prstGeom prst="rect">
            <a:avLst/>
          </a:prstGeom>
          <a:noFill/>
        </p:spPr>
        <p:txBody>
          <a:bodyPr wrap="square">
            <a:spAutoFit/>
          </a:bodyPr>
          <a:lstStyle/>
          <a:p>
            <a:pPr algn="l"/>
            <a:r>
              <a:rPr sz="1100" b="0" i="0">
                <a:solidFill>
                  <a:srgbClr val="FFFFFF"/>
                </a:solidFill>
                <a:latin typeface="Calibri"/>
              </a:rPr>
              <a:t>✕  White-Box  (source code review, SAST)</a:t>
            </a:r>
          </a:p>
        </p:txBody>
      </p:sp>
      <p:sp>
        <p:nvSpPr>
          <p:cNvPr id="32" name="Rectangle 31"/>
          <p:cNvSpPr/>
          <p:nvPr/>
        </p:nvSpPr>
        <p:spPr>
          <a:xfrm>
            <a:off x="6245352" y="1874520"/>
            <a:ext cx="5760720" cy="384048"/>
          </a:xfrm>
          <a:prstGeom prst="rect">
            <a:avLst/>
          </a:prstGeom>
          <a:solidFill>
            <a:srgbClr val="2A0808"/>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929384"/>
            <a:ext cx="5577840" cy="274320"/>
          </a:xfrm>
          <a:prstGeom prst="rect">
            <a:avLst/>
          </a:prstGeom>
          <a:noFill/>
        </p:spPr>
        <p:txBody>
          <a:bodyPr wrap="square">
            <a:spAutoFit/>
          </a:bodyPr>
          <a:lstStyle/>
          <a:p>
            <a:pPr algn="l"/>
            <a:r>
              <a:rPr sz="1100" b="0" i="0">
                <a:solidFill>
                  <a:srgbClr val="FFFFFF"/>
                </a:solidFill>
                <a:latin typeface="Calibri"/>
              </a:rPr>
              <a:t>✕  Mobile Applications  (iOS, Android)</a:t>
            </a:r>
          </a:p>
        </p:txBody>
      </p:sp>
      <p:sp>
        <p:nvSpPr>
          <p:cNvPr id="34" name="Rectangle 33"/>
          <p:cNvSpPr/>
          <p:nvPr/>
        </p:nvSpPr>
        <p:spPr>
          <a:xfrm>
            <a:off x="6245352" y="2313432"/>
            <a:ext cx="5760720" cy="384048"/>
          </a:xfrm>
          <a:prstGeom prst="rect">
            <a:avLst/>
          </a:prstGeom>
          <a:solidFill>
            <a:srgbClr val="2A0808"/>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368296"/>
            <a:ext cx="5577840" cy="274320"/>
          </a:xfrm>
          <a:prstGeom prst="rect">
            <a:avLst/>
          </a:prstGeom>
          <a:noFill/>
        </p:spPr>
        <p:txBody>
          <a:bodyPr wrap="square">
            <a:spAutoFit/>
          </a:bodyPr>
          <a:lstStyle/>
          <a:p>
            <a:pPr algn="l"/>
            <a:r>
              <a:rPr sz="1100" b="0" i="0">
                <a:solidFill>
                  <a:srgbClr val="FFFFFF"/>
                </a:solidFill>
                <a:latin typeface="Calibri"/>
              </a:rPr>
              <a:t>✕  Cloud / IoT Infrastructure  (AWS, Azure, embedded devices)</a:t>
            </a:r>
          </a:p>
        </p:txBody>
      </p:sp>
      <p:sp>
        <p:nvSpPr>
          <p:cNvPr id="36" name="Rectangle 35"/>
          <p:cNvSpPr/>
          <p:nvPr/>
        </p:nvSpPr>
        <p:spPr>
          <a:xfrm>
            <a:off x="6245352" y="2752344"/>
            <a:ext cx="5760720" cy="384048"/>
          </a:xfrm>
          <a:prstGeom prst="rect">
            <a:avLst/>
          </a:prstGeom>
          <a:solidFill>
            <a:srgbClr val="2A0808"/>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55080" y="2807208"/>
            <a:ext cx="5577840" cy="274320"/>
          </a:xfrm>
          <a:prstGeom prst="rect">
            <a:avLst/>
          </a:prstGeom>
          <a:noFill/>
        </p:spPr>
        <p:txBody>
          <a:bodyPr wrap="square">
            <a:spAutoFit/>
          </a:bodyPr>
          <a:lstStyle/>
          <a:p>
            <a:pPr algn="l"/>
            <a:r>
              <a:rPr sz="1100" b="0" i="0">
                <a:solidFill>
                  <a:srgbClr val="FFFFFF"/>
                </a:solidFill>
                <a:latin typeface="Calibri"/>
              </a:rPr>
              <a:t>✕  Wireless Networks  (Wi-Fi, Bluetooth, RF)</a:t>
            </a:r>
          </a:p>
        </p:txBody>
      </p:sp>
      <p:sp>
        <p:nvSpPr>
          <p:cNvPr id="38" name="Rectangle 37"/>
          <p:cNvSpPr/>
          <p:nvPr/>
        </p:nvSpPr>
        <p:spPr>
          <a:xfrm>
            <a:off x="6245352" y="3191256"/>
            <a:ext cx="5760720" cy="384048"/>
          </a:xfrm>
          <a:prstGeom prst="rect">
            <a:avLst/>
          </a:prstGeom>
          <a:solidFill>
            <a:srgbClr val="2A0808"/>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3246120"/>
            <a:ext cx="5577840" cy="274320"/>
          </a:xfrm>
          <a:prstGeom prst="rect">
            <a:avLst/>
          </a:prstGeom>
          <a:noFill/>
        </p:spPr>
        <p:txBody>
          <a:bodyPr wrap="square">
            <a:spAutoFit/>
          </a:bodyPr>
          <a:lstStyle/>
          <a:p>
            <a:pPr algn="l"/>
            <a:r>
              <a:rPr sz="1100" b="0" i="0">
                <a:solidFill>
                  <a:srgbClr val="FFFFFF"/>
                </a:solidFill>
                <a:latin typeface="Calibri"/>
              </a:rPr>
              <a:t>✕  Active Directory / Domain Services</a:t>
            </a:r>
          </a:p>
        </p:txBody>
      </p:sp>
      <p:sp>
        <p:nvSpPr>
          <p:cNvPr id="40" name="Rectangle 39"/>
          <p:cNvSpPr/>
          <p:nvPr/>
        </p:nvSpPr>
        <p:spPr>
          <a:xfrm>
            <a:off x="6245352" y="3630168"/>
            <a:ext cx="5760720" cy="384048"/>
          </a:xfrm>
          <a:prstGeom prst="rect">
            <a:avLst/>
          </a:prstGeom>
          <a:solidFill>
            <a:srgbClr val="2A0808"/>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55080" y="3685032"/>
            <a:ext cx="5577840" cy="274320"/>
          </a:xfrm>
          <a:prstGeom prst="rect">
            <a:avLst/>
          </a:prstGeom>
          <a:noFill/>
        </p:spPr>
        <p:txBody>
          <a:bodyPr wrap="square">
            <a:spAutoFit/>
          </a:bodyPr>
          <a:lstStyle/>
          <a:p>
            <a:pPr algn="l"/>
            <a:r>
              <a:rPr sz="1100" b="0" i="0">
                <a:solidFill>
                  <a:srgbClr val="FFFFFF"/>
                </a:solidFill>
                <a:latin typeface="Calibri"/>
              </a:rPr>
              <a:t>✕  Physical / Social Engineering Attacks</a:t>
            </a:r>
          </a:p>
        </p:txBody>
      </p:sp>
      <p:sp>
        <p:nvSpPr>
          <p:cNvPr id="42" name="Rectangle 41"/>
          <p:cNvSpPr/>
          <p:nvPr/>
        </p:nvSpPr>
        <p:spPr>
          <a:xfrm>
            <a:off x="6245352" y="4160520"/>
            <a:ext cx="5760720" cy="29260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5080" y="4197096"/>
            <a:ext cx="5577840" cy="228600"/>
          </a:xfrm>
          <a:prstGeom prst="rect">
            <a:avLst/>
          </a:prstGeom>
          <a:noFill/>
        </p:spPr>
        <p:txBody>
          <a:bodyPr wrap="square">
            <a:spAutoFit/>
          </a:bodyPr>
          <a:lstStyle/>
          <a:p>
            <a:pPr algn="l"/>
            <a:r>
              <a:rPr sz="1000" b="1" i="0">
                <a:solidFill>
                  <a:srgbClr val="0A0D1A"/>
                </a:solidFill>
                <a:latin typeface="Calibri"/>
              </a:rPr>
              <a:t>OPERATOR CONFIGURATION  (one-time, before mission start)</a:t>
            </a:r>
          </a:p>
        </p:txBody>
      </p:sp>
      <p:sp>
        <p:nvSpPr>
          <p:cNvPr id="44" name="Rectangle 43"/>
          <p:cNvSpPr/>
          <p:nvPr/>
        </p:nvSpPr>
        <p:spPr>
          <a:xfrm>
            <a:off x="6245352" y="4453128"/>
            <a:ext cx="5760720" cy="1216152"/>
          </a:xfrm>
          <a:prstGeom prst="rect">
            <a:avLst/>
          </a:prstGeom>
          <a:solidFill>
            <a:srgbClr val="04142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91656" y="4507992"/>
            <a:ext cx="5486400" cy="246888"/>
          </a:xfrm>
          <a:prstGeom prst="rect">
            <a:avLst/>
          </a:prstGeom>
          <a:noFill/>
        </p:spPr>
        <p:txBody>
          <a:bodyPr wrap="square">
            <a:spAutoFit/>
          </a:bodyPr>
          <a:lstStyle/>
          <a:p>
            <a:pPr algn="l"/>
            <a:r>
              <a:rPr sz="1050" b="0" i="0">
                <a:solidFill>
                  <a:srgbClr val="00E5FF"/>
                </a:solidFill>
                <a:latin typeface="Calibri"/>
              </a:rPr>
              <a:t>→  Root domain (e.g. shopvault.io)</a:t>
            </a:r>
          </a:p>
        </p:txBody>
      </p:sp>
      <p:sp>
        <p:nvSpPr>
          <p:cNvPr id="46" name="TextBox 45"/>
          <p:cNvSpPr txBox="1"/>
          <p:nvPr/>
        </p:nvSpPr>
        <p:spPr>
          <a:xfrm>
            <a:off x="6391656" y="4773168"/>
            <a:ext cx="5486400" cy="246888"/>
          </a:xfrm>
          <a:prstGeom prst="rect">
            <a:avLst/>
          </a:prstGeom>
          <a:noFill/>
        </p:spPr>
        <p:txBody>
          <a:bodyPr wrap="square">
            <a:spAutoFit/>
          </a:bodyPr>
          <a:lstStyle/>
          <a:p>
            <a:pPr algn="l"/>
            <a:r>
              <a:rPr sz="1050" b="0" i="0">
                <a:solidFill>
                  <a:srgbClr val="00E5FF"/>
                </a:solidFill>
                <a:latin typeface="Calibri"/>
              </a:rPr>
              <a:t>→  Scope declaration  (all subdomains · web apps · APIs)</a:t>
            </a:r>
          </a:p>
        </p:txBody>
      </p:sp>
      <p:sp>
        <p:nvSpPr>
          <p:cNvPr id="47" name="TextBox 46"/>
          <p:cNvSpPr txBox="1"/>
          <p:nvPr/>
        </p:nvSpPr>
        <p:spPr>
          <a:xfrm>
            <a:off x="6391656" y="5038344"/>
            <a:ext cx="5486400" cy="246888"/>
          </a:xfrm>
          <a:prstGeom prst="rect">
            <a:avLst/>
          </a:prstGeom>
          <a:noFill/>
        </p:spPr>
        <p:txBody>
          <a:bodyPr wrap="square">
            <a:spAutoFit/>
          </a:bodyPr>
          <a:lstStyle/>
          <a:p>
            <a:pPr algn="l"/>
            <a:r>
              <a:rPr sz="1050" b="0" i="0">
                <a:solidFill>
                  <a:srgbClr val="00E5FF"/>
                </a:solidFill>
                <a:latin typeface="Calibri"/>
              </a:rPr>
              <a:t>→  Assessment mode  (Black-Box or Grey-Box)</a:t>
            </a:r>
          </a:p>
        </p:txBody>
      </p:sp>
      <p:sp>
        <p:nvSpPr>
          <p:cNvPr id="48" name="TextBox 47"/>
          <p:cNvSpPr txBox="1"/>
          <p:nvPr/>
        </p:nvSpPr>
        <p:spPr>
          <a:xfrm>
            <a:off x="6391656" y="5303520"/>
            <a:ext cx="5486400" cy="246888"/>
          </a:xfrm>
          <a:prstGeom prst="rect">
            <a:avLst/>
          </a:prstGeom>
          <a:noFill/>
        </p:spPr>
        <p:txBody>
          <a:bodyPr wrap="square">
            <a:spAutoFit/>
          </a:bodyPr>
          <a:lstStyle/>
          <a:p>
            <a:pPr algn="l"/>
            <a:r>
              <a:rPr sz="1050" b="0" i="0">
                <a:solidFill>
                  <a:srgbClr val="00E5FF"/>
                </a:solidFill>
                <a:latin typeface="Calibri"/>
              </a:rPr>
              <a:t>→  Grey-Box extras if applicable  (IP ranges, credentials)</a:t>
            </a:r>
          </a:p>
        </p:txBody>
      </p:sp>
      <p:sp>
        <p:nvSpPr>
          <p:cNvPr id="49" name="TextBox 48"/>
          <p:cNvSpPr txBox="1"/>
          <p:nvPr/>
        </p:nvSpPr>
        <p:spPr>
          <a:xfrm>
            <a:off x="6245352" y="5724144"/>
            <a:ext cx="5760720" cy="347472"/>
          </a:xfrm>
          <a:prstGeom prst="rect">
            <a:avLst/>
          </a:prstGeom>
          <a:noFill/>
        </p:spPr>
        <p:txBody>
          <a:bodyPr wrap="square">
            <a:spAutoFit/>
          </a:bodyPr>
          <a:lstStyle/>
          <a:p>
            <a:pPr algn="l"/>
            <a:r>
              <a:rPr sz="950" b="0" i="1">
                <a:solidFill>
                  <a:srgbClr val="A0AAB8"/>
                </a:solidFill>
                <a:latin typeface="Calibri"/>
              </a:rPr>
              <a:t>All subsequent tool calls, reasoning, and reporting are fully autonomous — zero manual commands during the assessment.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00E5FF"/>
                </a:solidFill>
                <a:latin typeface="Calibri"/>
              </a:rPr>
              <a:t>SYSTEM ARCHITECTURE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000" b="1" i="0">
                <a:solidFill>
                  <a:srgbClr val="FFFFFF"/>
                </a:solidFill>
                <a:latin typeface="Calibri"/>
              </a:rPr>
              <a:t>CMatrix — Three-Tier Architecture Overview</a:t>
            </a:r>
          </a:p>
        </p:txBody>
      </p:sp>
      <p:sp>
        <p:nvSpPr>
          <p:cNvPr id="7" name="TextBox 6"/>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05</a:t>
            </a:r>
          </a:p>
        </p:txBody>
      </p:sp>
      <p:sp>
        <p:nvSpPr>
          <p:cNvPr id="8" name="Rectangle 7"/>
          <p:cNvSpPr/>
          <p:nvPr/>
        </p:nvSpPr>
        <p:spPr>
          <a:xfrm>
            <a:off x="274320" y="914400"/>
            <a:ext cx="11643055" cy="1463040"/>
          </a:xfrm>
          <a:prstGeom prst="rect">
            <a:avLst/>
          </a:prstGeom>
          <a:solidFill>
            <a:srgbClr val="060E22"/>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969264"/>
            <a:ext cx="2743200" cy="201168"/>
          </a:xfrm>
          <a:prstGeom prst="rect">
            <a:avLst/>
          </a:prstGeom>
          <a:noFill/>
        </p:spPr>
        <p:txBody>
          <a:bodyPr wrap="square">
            <a:spAutoFit/>
          </a:bodyPr>
          <a:lstStyle/>
          <a:p>
            <a:pPr algn="l"/>
            <a:r>
              <a:rPr sz="900" b="1" i="0">
                <a:solidFill>
                  <a:srgbClr val="00E5FF"/>
                </a:solidFill>
                <a:latin typeface="Calibri"/>
              </a:rPr>
              <a:t>① ORCHESTRATION</a:t>
            </a:r>
          </a:p>
        </p:txBody>
      </p:sp>
      <p:sp>
        <p:nvSpPr>
          <p:cNvPr id="10" name="Rectangle 9"/>
          <p:cNvSpPr/>
          <p:nvPr/>
        </p:nvSpPr>
        <p:spPr>
          <a:xfrm>
            <a:off x="384048" y="1170432"/>
            <a:ext cx="1920240" cy="1078992"/>
          </a:xfrm>
          <a:prstGeom prst="rect">
            <a:avLst/>
          </a:prstGeom>
          <a:solidFill>
            <a:srgbClr val="303848"/>
          </a:solidFill>
          <a:ln w="1016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048" y="1261872"/>
            <a:ext cx="1920240" cy="228600"/>
          </a:xfrm>
          <a:prstGeom prst="rect">
            <a:avLst/>
          </a:prstGeom>
          <a:noFill/>
        </p:spPr>
        <p:txBody>
          <a:bodyPr wrap="square">
            <a:spAutoFit/>
          </a:bodyPr>
          <a:lstStyle/>
          <a:p>
            <a:pPr algn="ctr"/>
            <a:r>
              <a:rPr sz="1100" b="1" i="0">
                <a:solidFill>
                  <a:srgbClr val="FFFFFF"/>
                </a:solidFill>
                <a:latin typeface="Calibri"/>
              </a:rPr>
              <a:t>OPERATOR</a:t>
            </a:r>
          </a:p>
        </p:txBody>
      </p:sp>
      <p:sp>
        <p:nvSpPr>
          <p:cNvPr id="12" name="TextBox 11"/>
          <p:cNvSpPr txBox="1"/>
          <p:nvPr/>
        </p:nvSpPr>
        <p:spPr>
          <a:xfrm>
            <a:off x="384048" y="1508760"/>
            <a:ext cx="1920240" cy="274320"/>
          </a:xfrm>
          <a:prstGeom prst="rect">
            <a:avLst/>
          </a:prstGeom>
          <a:noFill/>
        </p:spPr>
        <p:txBody>
          <a:bodyPr wrap="square">
            <a:spAutoFit/>
          </a:bodyPr>
          <a:lstStyle/>
          <a:p>
            <a:pPr algn="ctr"/>
            <a:r>
              <a:rPr sz="950" b="0" i="1">
                <a:solidFill>
                  <a:srgbClr val="A0AAB8"/>
                </a:solidFill>
                <a:latin typeface="Calibri"/>
              </a:rPr>
              <a:t>Target · Scope · Mode</a:t>
            </a:r>
          </a:p>
        </p:txBody>
      </p:sp>
      <p:sp>
        <p:nvSpPr>
          <p:cNvPr id="13" name="TextBox 12"/>
          <p:cNvSpPr txBox="1"/>
          <p:nvPr/>
        </p:nvSpPr>
        <p:spPr>
          <a:xfrm>
            <a:off x="2423160" y="1627632"/>
            <a:ext cx="1097280" cy="201168"/>
          </a:xfrm>
          <a:prstGeom prst="rect">
            <a:avLst/>
          </a:prstGeom>
          <a:noFill/>
        </p:spPr>
        <p:txBody>
          <a:bodyPr wrap="square">
            <a:spAutoFit/>
          </a:bodyPr>
          <a:lstStyle/>
          <a:p>
            <a:pPr algn="ctr"/>
            <a:r>
              <a:rPr sz="800" b="0" i="1">
                <a:solidFill>
                  <a:srgbClr val="A0AAB8"/>
                </a:solidFill>
                <a:latin typeface="Calibri"/>
              </a:rPr>
              <a:t>mission config</a:t>
            </a:r>
          </a:p>
        </p:txBody>
      </p:sp>
      <p:cxnSp>
        <p:nvCxnSpPr>
          <p:cNvPr id="14" name="Connector 13"/>
          <p:cNvCxnSpPr/>
          <p:nvPr/>
        </p:nvCxnSpPr>
        <p:spPr>
          <a:xfrm>
            <a:off x="2304288" y="1719072"/>
            <a:ext cx="182880" cy="0"/>
          </a:xfrm>
          <a:prstGeom prst="line">
            <a:avLst/>
          </a:prstGeom>
          <a:ln w="1524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2487168" y="1170432"/>
            <a:ext cx="3520440" cy="1078992"/>
          </a:xfrm>
          <a:prstGeom prst="rect">
            <a:avLst/>
          </a:prstGeom>
          <a:solidFill>
            <a:srgbClr val="002838"/>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87168" y="1225296"/>
            <a:ext cx="3520440" cy="237744"/>
          </a:xfrm>
          <a:prstGeom prst="rect">
            <a:avLst/>
          </a:prstGeom>
          <a:noFill/>
        </p:spPr>
        <p:txBody>
          <a:bodyPr wrap="square">
            <a:spAutoFit/>
          </a:bodyPr>
          <a:lstStyle/>
          <a:p>
            <a:pPr algn="ctr"/>
            <a:r>
              <a:rPr sz="1100" b="1" i="0">
                <a:solidFill>
                  <a:srgbClr val="00E5FF"/>
                </a:solidFill>
                <a:latin typeface="Calibri"/>
              </a:rPr>
              <a:t>COMMANDER AGENT</a:t>
            </a:r>
          </a:p>
        </p:txBody>
      </p:sp>
      <p:sp>
        <p:nvSpPr>
          <p:cNvPr id="17" name="TextBox 16"/>
          <p:cNvSpPr txBox="1"/>
          <p:nvPr/>
        </p:nvSpPr>
        <p:spPr>
          <a:xfrm>
            <a:off x="2596896" y="1463040"/>
            <a:ext cx="3337560" cy="164592"/>
          </a:xfrm>
          <a:prstGeom prst="rect">
            <a:avLst/>
          </a:prstGeom>
          <a:noFill/>
        </p:spPr>
        <p:txBody>
          <a:bodyPr wrap="square">
            <a:spAutoFit/>
          </a:bodyPr>
          <a:lstStyle/>
          <a:p>
            <a:pPr algn="l"/>
            <a:r>
              <a:rPr sz="850" b="0" i="0">
                <a:solidFill>
                  <a:srgbClr val="FFFFFF"/>
                </a:solidFill>
                <a:latin typeface="Calibri"/>
              </a:rPr>
              <a:t>• Reads ASG + APG state</a:t>
            </a:r>
          </a:p>
        </p:txBody>
      </p:sp>
      <p:sp>
        <p:nvSpPr>
          <p:cNvPr id="18" name="TextBox 17"/>
          <p:cNvSpPr txBox="1"/>
          <p:nvPr/>
        </p:nvSpPr>
        <p:spPr>
          <a:xfrm>
            <a:off x="2596896" y="1609344"/>
            <a:ext cx="3337560" cy="164592"/>
          </a:xfrm>
          <a:prstGeom prst="rect">
            <a:avLst/>
          </a:prstGeom>
          <a:noFill/>
        </p:spPr>
        <p:txBody>
          <a:bodyPr wrap="square">
            <a:spAutoFit/>
          </a:bodyPr>
          <a:lstStyle/>
          <a:p>
            <a:pPr algn="l"/>
            <a:r>
              <a:rPr sz="850" b="0" i="0">
                <a:solidFill>
                  <a:srgbClr val="FFFFFF"/>
                </a:solidFill>
                <a:latin typeface="Calibri"/>
              </a:rPr>
              <a:t>• Plans &amp; delegates tasks</a:t>
            </a:r>
          </a:p>
        </p:txBody>
      </p:sp>
      <p:sp>
        <p:nvSpPr>
          <p:cNvPr id="19" name="TextBox 18"/>
          <p:cNvSpPr txBox="1"/>
          <p:nvPr/>
        </p:nvSpPr>
        <p:spPr>
          <a:xfrm>
            <a:off x="2596896" y="1755648"/>
            <a:ext cx="3337560" cy="164592"/>
          </a:xfrm>
          <a:prstGeom prst="rect">
            <a:avLst/>
          </a:prstGeom>
          <a:noFill/>
        </p:spPr>
        <p:txBody>
          <a:bodyPr wrap="square">
            <a:spAutoFit/>
          </a:bodyPr>
          <a:lstStyle/>
          <a:p>
            <a:pPr algn="l"/>
            <a:r>
              <a:rPr sz="850" b="0" i="0">
                <a:solidFill>
                  <a:srgbClr val="FFFFFF"/>
                </a:solidFill>
                <a:latin typeface="Calibri"/>
              </a:rPr>
              <a:t>• Seeds APG AttackChains from Vulnerability nodes</a:t>
            </a:r>
          </a:p>
        </p:txBody>
      </p:sp>
      <p:sp>
        <p:nvSpPr>
          <p:cNvPr id="20" name="TextBox 19"/>
          <p:cNvSpPr txBox="1"/>
          <p:nvPr/>
        </p:nvSpPr>
        <p:spPr>
          <a:xfrm>
            <a:off x="2596896" y="1901952"/>
            <a:ext cx="3337560" cy="164592"/>
          </a:xfrm>
          <a:prstGeom prst="rect">
            <a:avLst/>
          </a:prstGeom>
          <a:noFill/>
        </p:spPr>
        <p:txBody>
          <a:bodyPr wrap="square">
            <a:spAutoFit/>
          </a:bodyPr>
          <a:lstStyle/>
          <a:p>
            <a:pPr algn="l"/>
            <a:r>
              <a:rPr sz="850" b="0" i="0">
                <a:solidFill>
                  <a:srgbClr val="FFFFFF"/>
                </a:solidFill>
                <a:latin typeface="Calibri"/>
              </a:rPr>
              <a:t>• Approves High-risk ops</a:t>
            </a:r>
          </a:p>
        </p:txBody>
      </p:sp>
      <p:sp>
        <p:nvSpPr>
          <p:cNvPr id="21" name="TextBox 20"/>
          <p:cNvSpPr txBox="1"/>
          <p:nvPr/>
        </p:nvSpPr>
        <p:spPr>
          <a:xfrm>
            <a:off x="2596896" y="2048256"/>
            <a:ext cx="3337560" cy="164592"/>
          </a:xfrm>
          <a:prstGeom prst="rect">
            <a:avLst/>
          </a:prstGeom>
          <a:noFill/>
        </p:spPr>
        <p:txBody>
          <a:bodyPr wrap="square">
            <a:spAutoFit/>
          </a:bodyPr>
          <a:lstStyle/>
          <a:p>
            <a:pPr algn="l"/>
            <a:r>
              <a:rPr sz="850" b="0" i="0">
                <a:solidFill>
                  <a:srgbClr val="FFFFFF"/>
                </a:solidFill>
                <a:latin typeface="Calibri"/>
              </a:rPr>
              <a:t>• Writes to APG only</a:t>
            </a:r>
          </a:p>
        </p:txBody>
      </p:sp>
      <p:sp>
        <p:nvSpPr>
          <p:cNvPr id="22" name="Rectangle 21"/>
          <p:cNvSpPr/>
          <p:nvPr/>
        </p:nvSpPr>
        <p:spPr>
          <a:xfrm>
            <a:off x="6190488" y="1170432"/>
            <a:ext cx="5742432" cy="1078992"/>
          </a:xfrm>
          <a:prstGeom prst="rect">
            <a:avLst/>
          </a:prstGeom>
          <a:solidFill>
            <a:srgbClr val="0A102C"/>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0488" y="1225296"/>
            <a:ext cx="5742432" cy="219456"/>
          </a:xfrm>
          <a:prstGeom prst="rect">
            <a:avLst/>
          </a:prstGeom>
          <a:noFill/>
        </p:spPr>
        <p:txBody>
          <a:bodyPr wrap="square">
            <a:spAutoFit/>
          </a:bodyPr>
          <a:lstStyle/>
          <a:p>
            <a:pPr algn="ctr"/>
            <a:r>
              <a:rPr sz="1000" b="1" i="0">
                <a:solidFill>
                  <a:srgbClr val="BD93F9"/>
                </a:solidFill>
                <a:latin typeface="Calibri"/>
              </a:rPr>
              <a:t>VAPT PROTOCOL PROMPT</a:t>
            </a:r>
          </a:p>
        </p:txBody>
      </p:sp>
      <p:sp>
        <p:nvSpPr>
          <p:cNvPr id="24" name="TextBox 23"/>
          <p:cNvSpPr txBox="1"/>
          <p:nvPr/>
        </p:nvSpPr>
        <p:spPr>
          <a:xfrm>
            <a:off x="6300216" y="1508760"/>
            <a:ext cx="5541264" cy="502920"/>
          </a:xfrm>
          <a:prstGeom prst="rect">
            <a:avLst/>
          </a:prstGeom>
          <a:noFill/>
        </p:spPr>
        <p:txBody>
          <a:bodyPr wrap="square">
            <a:spAutoFit/>
          </a:bodyPr>
          <a:lstStyle/>
          <a:p>
            <a:pPr algn="l"/>
            <a:r>
              <a:rPr sz="950" b="0" i="0">
                <a:solidFill>
                  <a:srgbClr val="A0AAB8"/>
                </a:solidFill>
                <a:latin typeface="Calibri"/>
              </a:rPr>
              <a:t>Phase rules · Re-plan triggers · Termination conditions · Methodology-as-config (C7)</a:t>
            </a:r>
          </a:p>
        </p:txBody>
      </p:sp>
      <p:sp>
        <p:nvSpPr>
          <p:cNvPr id="25" name="Rectangle 24"/>
          <p:cNvSpPr/>
          <p:nvPr/>
        </p:nvSpPr>
        <p:spPr>
          <a:xfrm>
            <a:off x="274320" y="2487168"/>
            <a:ext cx="11643055" cy="1691640"/>
          </a:xfrm>
          <a:prstGeom prst="rect">
            <a:avLst/>
          </a:prstGeom>
          <a:solidFill>
            <a:srgbClr val="041004"/>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4048" y="2542032"/>
            <a:ext cx="3657600" cy="201168"/>
          </a:xfrm>
          <a:prstGeom prst="rect">
            <a:avLst/>
          </a:prstGeom>
          <a:noFill/>
        </p:spPr>
        <p:txBody>
          <a:bodyPr wrap="square">
            <a:spAutoFit/>
          </a:bodyPr>
          <a:lstStyle/>
          <a:p>
            <a:pPr algn="l"/>
            <a:r>
              <a:rPr sz="900" b="1" i="0">
                <a:solidFill>
                  <a:srgbClr val="39FF14"/>
                </a:solidFill>
                <a:latin typeface="Calibri"/>
              </a:rPr>
              <a:t>② DUAL-GRAPH WORLD MODEL</a:t>
            </a:r>
          </a:p>
        </p:txBody>
      </p:sp>
      <p:sp>
        <p:nvSpPr>
          <p:cNvPr id="27" name="Rectangle 26"/>
          <p:cNvSpPr/>
          <p:nvPr/>
        </p:nvSpPr>
        <p:spPr>
          <a:xfrm>
            <a:off x="384048" y="2743200"/>
            <a:ext cx="5532120" cy="1353312"/>
          </a:xfrm>
          <a:prstGeom prst="rect">
            <a:avLst/>
          </a:prstGeom>
          <a:solidFill>
            <a:srgbClr val="061A06"/>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2788920"/>
            <a:ext cx="5532120" cy="237744"/>
          </a:xfrm>
          <a:prstGeom prst="rect">
            <a:avLst/>
          </a:prstGeom>
          <a:noFill/>
        </p:spPr>
        <p:txBody>
          <a:bodyPr wrap="square">
            <a:spAutoFit/>
          </a:bodyPr>
          <a:lstStyle/>
          <a:p>
            <a:pPr algn="ctr"/>
            <a:r>
              <a:rPr sz="1000" b="1" i="0">
                <a:solidFill>
                  <a:srgbClr val="39FF14"/>
                </a:solidFill>
                <a:latin typeface="Calibri"/>
              </a:rPr>
              <a:t>ATTACK SURFACE GRAPH  (ASG)</a:t>
            </a:r>
          </a:p>
        </p:txBody>
      </p:sp>
      <p:sp>
        <p:nvSpPr>
          <p:cNvPr id="29" name="Rectangle 28"/>
          <p:cNvSpPr/>
          <p:nvPr/>
        </p:nvSpPr>
        <p:spPr>
          <a:xfrm>
            <a:off x="457200" y="3054096"/>
            <a:ext cx="987552"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072384"/>
            <a:ext cx="987552" cy="219456"/>
          </a:xfrm>
          <a:prstGeom prst="rect">
            <a:avLst/>
          </a:prstGeom>
          <a:noFill/>
        </p:spPr>
        <p:txBody>
          <a:bodyPr wrap="square">
            <a:spAutoFit/>
          </a:bodyPr>
          <a:lstStyle/>
          <a:p>
            <a:pPr algn="ctr"/>
            <a:r>
              <a:rPr sz="850" b="1" i="0">
                <a:solidFill>
                  <a:srgbClr val="0A0D1A"/>
                </a:solidFill>
                <a:latin typeface="Calibri"/>
              </a:rPr>
              <a:t>Domain</a:t>
            </a:r>
          </a:p>
        </p:txBody>
      </p:sp>
      <p:sp>
        <p:nvSpPr>
          <p:cNvPr id="31" name="Rectangle 30"/>
          <p:cNvSpPr/>
          <p:nvPr/>
        </p:nvSpPr>
        <p:spPr>
          <a:xfrm>
            <a:off x="1499616" y="3054096"/>
            <a:ext cx="987552"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99616" y="3072384"/>
            <a:ext cx="987552" cy="219456"/>
          </a:xfrm>
          <a:prstGeom prst="rect">
            <a:avLst/>
          </a:prstGeom>
          <a:noFill/>
        </p:spPr>
        <p:txBody>
          <a:bodyPr wrap="square">
            <a:spAutoFit/>
          </a:bodyPr>
          <a:lstStyle/>
          <a:p>
            <a:pPr algn="ctr"/>
            <a:r>
              <a:rPr sz="850" b="1" i="0">
                <a:solidFill>
                  <a:srgbClr val="0A0D1A"/>
                </a:solidFill>
                <a:latin typeface="Calibri"/>
              </a:rPr>
              <a:t>Host</a:t>
            </a:r>
          </a:p>
        </p:txBody>
      </p:sp>
      <p:sp>
        <p:nvSpPr>
          <p:cNvPr id="33" name="Rectangle 32"/>
          <p:cNvSpPr/>
          <p:nvPr/>
        </p:nvSpPr>
        <p:spPr>
          <a:xfrm>
            <a:off x="2542032" y="3054096"/>
            <a:ext cx="987552"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542032" y="3072384"/>
            <a:ext cx="987552" cy="219456"/>
          </a:xfrm>
          <a:prstGeom prst="rect">
            <a:avLst/>
          </a:prstGeom>
          <a:noFill/>
        </p:spPr>
        <p:txBody>
          <a:bodyPr wrap="square">
            <a:spAutoFit/>
          </a:bodyPr>
          <a:lstStyle/>
          <a:p>
            <a:pPr algn="ctr"/>
            <a:r>
              <a:rPr sz="850" b="1" i="0">
                <a:solidFill>
                  <a:srgbClr val="0A0D1A"/>
                </a:solidFill>
                <a:latin typeface="Calibri"/>
              </a:rPr>
              <a:t>Port</a:t>
            </a:r>
          </a:p>
        </p:txBody>
      </p:sp>
      <p:sp>
        <p:nvSpPr>
          <p:cNvPr id="35" name="Rectangle 34"/>
          <p:cNvSpPr/>
          <p:nvPr/>
        </p:nvSpPr>
        <p:spPr>
          <a:xfrm>
            <a:off x="3584448" y="3054096"/>
            <a:ext cx="987552"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84448" y="3072384"/>
            <a:ext cx="987552" cy="219456"/>
          </a:xfrm>
          <a:prstGeom prst="rect">
            <a:avLst/>
          </a:prstGeom>
          <a:noFill/>
        </p:spPr>
        <p:txBody>
          <a:bodyPr wrap="square">
            <a:spAutoFit/>
          </a:bodyPr>
          <a:lstStyle/>
          <a:p>
            <a:pPr algn="ctr"/>
            <a:r>
              <a:rPr sz="850" b="1" i="0">
                <a:solidFill>
                  <a:srgbClr val="0A0D1A"/>
                </a:solidFill>
                <a:latin typeface="Calibri"/>
              </a:rPr>
              <a:t>Service</a:t>
            </a:r>
          </a:p>
        </p:txBody>
      </p:sp>
      <p:sp>
        <p:nvSpPr>
          <p:cNvPr id="37" name="Rectangle 36"/>
          <p:cNvSpPr/>
          <p:nvPr/>
        </p:nvSpPr>
        <p:spPr>
          <a:xfrm>
            <a:off x="4626864" y="3054096"/>
            <a:ext cx="987552"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26864" y="3072384"/>
            <a:ext cx="987552" cy="219456"/>
          </a:xfrm>
          <a:prstGeom prst="rect">
            <a:avLst/>
          </a:prstGeom>
          <a:noFill/>
        </p:spPr>
        <p:txBody>
          <a:bodyPr wrap="square">
            <a:spAutoFit/>
          </a:bodyPr>
          <a:lstStyle/>
          <a:p>
            <a:pPr algn="ctr"/>
            <a:r>
              <a:rPr sz="850" b="1" i="0">
                <a:solidFill>
                  <a:srgbClr val="0A0D1A"/>
                </a:solidFill>
                <a:latin typeface="Calibri"/>
              </a:rPr>
              <a:t>Technology</a:t>
            </a:r>
          </a:p>
        </p:txBody>
      </p:sp>
      <p:sp>
        <p:nvSpPr>
          <p:cNvPr id="39" name="Rectangle 38"/>
          <p:cNvSpPr/>
          <p:nvPr/>
        </p:nvSpPr>
        <p:spPr>
          <a:xfrm>
            <a:off x="457200" y="3364992"/>
            <a:ext cx="1097280"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3383280"/>
            <a:ext cx="1097280" cy="219456"/>
          </a:xfrm>
          <a:prstGeom prst="rect">
            <a:avLst/>
          </a:prstGeom>
          <a:noFill/>
        </p:spPr>
        <p:txBody>
          <a:bodyPr wrap="square">
            <a:spAutoFit/>
          </a:bodyPr>
          <a:lstStyle/>
          <a:p>
            <a:pPr algn="ctr"/>
            <a:r>
              <a:rPr sz="850" b="1" i="0">
                <a:solidFill>
                  <a:srgbClr val="0A0D1A"/>
                </a:solidFill>
                <a:latin typeface="Calibri"/>
              </a:rPr>
              <a:t>Endpoint</a:t>
            </a:r>
          </a:p>
        </p:txBody>
      </p:sp>
      <p:sp>
        <p:nvSpPr>
          <p:cNvPr id="41" name="Rectangle 40"/>
          <p:cNvSpPr/>
          <p:nvPr/>
        </p:nvSpPr>
        <p:spPr>
          <a:xfrm>
            <a:off x="1609344" y="3364992"/>
            <a:ext cx="1097280"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609344" y="3383280"/>
            <a:ext cx="1097280" cy="219456"/>
          </a:xfrm>
          <a:prstGeom prst="rect">
            <a:avLst/>
          </a:prstGeom>
          <a:noFill/>
        </p:spPr>
        <p:txBody>
          <a:bodyPr wrap="square">
            <a:spAutoFit/>
          </a:bodyPr>
          <a:lstStyle/>
          <a:p>
            <a:pPr algn="ctr"/>
            <a:r>
              <a:rPr sz="850" b="1" i="0">
                <a:solidFill>
                  <a:srgbClr val="0A0D1A"/>
                </a:solidFill>
                <a:latin typeface="Calibri"/>
              </a:rPr>
              <a:t>Parameter</a:t>
            </a:r>
          </a:p>
        </p:txBody>
      </p:sp>
      <p:sp>
        <p:nvSpPr>
          <p:cNvPr id="43" name="Rectangle 42"/>
          <p:cNvSpPr/>
          <p:nvPr/>
        </p:nvSpPr>
        <p:spPr>
          <a:xfrm>
            <a:off x="2761488" y="3364992"/>
            <a:ext cx="1097280"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761488" y="3383280"/>
            <a:ext cx="1097280" cy="219456"/>
          </a:xfrm>
          <a:prstGeom prst="rect">
            <a:avLst/>
          </a:prstGeom>
          <a:noFill/>
        </p:spPr>
        <p:txBody>
          <a:bodyPr wrap="square">
            <a:spAutoFit/>
          </a:bodyPr>
          <a:lstStyle/>
          <a:p>
            <a:pPr algn="ctr"/>
            <a:r>
              <a:rPr sz="850" b="1" i="0">
                <a:solidFill>
                  <a:srgbClr val="0A0D1A"/>
                </a:solidFill>
                <a:latin typeface="Calibri"/>
              </a:rPr>
              <a:t>Vulnerability</a:t>
            </a:r>
          </a:p>
        </p:txBody>
      </p:sp>
      <p:sp>
        <p:nvSpPr>
          <p:cNvPr id="45" name="Rectangle 44"/>
          <p:cNvSpPr/>
          <p:nvPr/>
        </p:nvSpPr>
        <p:spPr>
          <a:xfrm>
            <a:off x="3913632" y="3364992"/>
            <a:ext cx="1097280"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913632" y="3383280"/>
            <a:ext cx="1097280" cy="219456"/>
          </a:xfrm>
          <a:prstGeom prst="rect">
            <a:avLst/>
          </a:prstGeom>
          <a:noFill/>
        </p:spPr>
        <p:txBody>
          <a:bodyPr wrap="square">
            <a:spAutoFit/>
          </a:bodyPr>
          <a:lstStyle/>
          <a:p>
            <a:pPr algn="ctr"/>
            <a:r>
              <a:rPr sz="850" b="1" i="0">
                <a:solidFill>
                  <a:srgbClr val="0A0D1A"/>
                </a:solidFill>
                <a:latin typeface="Calibri"/>
              </a:rPr>
              <a:t>Evidence</a:t>
            </a:r>
          </a:p>
        </p:txBody>
      </p:sp>
      <p:sp>
        <p:nvSpPr>
          <p:cNvPr id="47" name="TextBox 46"/>
          <p:cNvSpPr txBox="1"/>
          <p:nvPr/>
        </p:nvSpPr>
        <p:spPr>
          <a:xfrm>
            <a:off x="457200" y="3675888"/>
            <a:ext cx="5394960" cy="201168"/>
          </a:xfrm>
          <a:prstGeom prst="rect">
            <a:avLst/>
          </a:prstGeom>
          <a:noFill/>
        </p:spPr>
        <p:txBody>
          <a:bodyPr wrap="square">
            <a:spAutoFit/>
          </a:bodyPr>
          <a:lstStyle/>
          <a:p>
            <a:pPr algn="l"/>
            <a:r>
              <a:rPr sz="850" b="0" i="1">
                <a:solidFill>
                  <a:srgbClr val="39FF14"/>
                </a:solidFill>
                <a:latin typeface="Calibri"/>
              </a:rPr>
              <a:t>Discovered Reality — confirmed facts only. Never contains hypotheses.</a:t>
            </a:r>
          </a:p>
        </p:txBody>
      </p:sp>
      <p:sp>
        <p:nvSpPr>
          <p:cNvPr id="48" name="TextBox 47"/>
          <p:cNvSpPr txBox="1"/>
          <p:nvPr/>
        </p:nvSpPr>
        <p:spPr>
          <a:xfrm>
            <a:off x="6035040" y="3127248"/>
            <a:ext cx="731520" cy="548640"/>
          </a:xfrm>
          <a:prstGeom prst="rect">
            <a:avLst/>
          </a:prstGeom>
          <a:noFill/>
        </p:spPr>
        <p:txBody>
          <a:bodyPr wrap="square">
            <a:spAutoFit/>
          </a:bodyPr>
          <a:lstStyle/>
          <a:p>
            <a:pPr algn="ctr"/>
            <a:r>
              <a:rPr sz="750" b="1" i="0">
                <a:solidFill>
                  <a:srgbClr val="FFFFFF"/>
                </a:solidFill>
                <a:latin typeface="Calibri"/>
              </a:rPr>
              <a:t>STRICT
SEPARATION</a:t>
            </a:r>
          </a:p>
        </p:txBody>
      </p:sp>
      <p:sp>
        <p:nvSpPr>
          <p:cNvPr id="49" name="Rectangle 48"/>
          <p:cNvSpPr/>
          <p:nvPr/>
        </p:nvSpPr>
        <p:spPr>
          <a:xfrm>
            <a:off x="6949440" y="2743200"/>
            <a:ext cx="4983480" cy="1353312"/>
          </a:xfrm>
          <a:prstGeom prst="rect">
            <a:avLst/>
          </a:prstGeom>
          <a:solidFill>
            <a:srgbClr val="1A1400"/>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949440" y="2788920"/>
            <a:ext cx="4983480" cy="237744"/>
          </a:xfrm>
          <a:prstGeom prst="rect">
            <a:avLst/>
          </a:prstGeom>
          <a:noFill/>
        </p:spPr>
        <p:txBody>
          <a:bodyPr wrap="square">
            <a:spAutoFit/>
          </a:bodyPr>
          <a:lstStyle/>
          <a:p>
            <a:pPr algn="ctr"/>
            <a:r>
              <a:rPr sz="1000" b="1" i="0">
                <a:solidFill>
                  <a:srgbClr val="FFD700"/>
                </a:solidFill>
                <a:latin typeface="Calibri"/>
              </a:rPr>
              <a:t>ATTACK PATH GRAPH  (APG)</a:t>
            </a:r>
          </a:p>
        </p:txBody>
      </p:sp>
      <p:sp>
        <p:nvSpPr>
          <p:cNvPr id="51" name="Rectangle 50"/>
          <p:cNvSpPr/>
          <p:nvPr/>
        </p:nvSpPr>
        <p:spPr>
          <a:xfrm>
            <a:off x="7040880" y="3054096"/>
            <a:ext cx="141732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40880" y="3072384"/>
            <a:ext cx="1417320" cy="219456"/>
          </a:xfrm>
          <a:prstGeom prst="rect">
            <a:avLst/>
          </a:prstGeom>
          <a:noFill/>
        </p:spPr>
        <p:txBody>
          <a:bodyPr wrap="square">
            <a:spAutoFit/>
          </a:bodyPr>
          <a:lstStyle/>
          <a:p>
            <a:pPr algn="ctr"/>
            <a:r>
              <a:rPr sz="850" b="1" i="0">
                <a:solidFill>
                  <a:srgbClr val="0A0D1A"/>
                </a:solidFill>
                <a:latin typeface="Calibri"/>
              </a:rPr>
              <a:t>AttackChain</a:t>
            </a:r>
          </a:p>
        </p:txBody>
      </p:sp>
      <p:sp>
        <p:nvSpPr>
          <p:cNvPr id="53" name="Rectangle 52"/>
          <p:cNvSpPr/>
          <p:nvPr/>
        </p:nvSpPr>
        <p:spPr>
          <a:xfrm>
            <a:off x="8531352" y="3054096"/>
            <a:ext cx="141732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31352" y="3072384"/>
            <a:ext cx="1417320" cy="219456"/>
          </a:xfrm>
          <a:prstGeom prst="rect">
            <a:avLst/>
          </a:prstGeom>
          <a:noFill/>
        </p:spPr>
        <p:txBody>
          <a:bodyPr wrap="square">
            <a:spAutoFit/>
          </a:bodyPr>
          <a:lstStyle/>
          <a:p>
            <a:pPr algn="ctr"/>
            <a:r>
              <a:rPr sz="850" b="1" i="0">
                <a:solidFill>
                  <a:srgbClr val="0A0D1A"/>
                </a:solidFill>
                <a:latin typeface="Calibri"/>
              </a:rPr>
              <a:t>ChainStep</a:t>
            </a:r>
          </a:p>
        </p:txBody>
      </p:sp>
      <p:sp>
        <p:nvSpPr>
          <p:cNvPr id="55" name="Rectangle 54"/>
          <p:cNvSpPr/>
          <p:nvPr/>
        </p:nvSpPr>
        <p:spPr>
          <a:xfrm>
            <a:off x="10021824" y="3054096"/>
            <a:ext cx="141732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021824" y="3072384"/>
            <a:ext cx="1417320" cy="219456"/>
          </a:xfrm>
          <a:prstGeom prst="rect">
            <a:avLst/>
          </a:prstGeom>
          <a:noFill/>
        </p:spPr>
        <p:txBody>
          <a:bodyPr wrap="square">
            <a:spAutoFit/>
          </a:bodyPr>
          <a:lstStyle/>
          <a:p>
            <a:pPr algn="ctr"/>
            <a:r>
              <a:rPr sz="850" b="1" i="0">
                <a:solidFill>
                  <a:srgbClr val="0A0D1A"/>
                </a:solidFill>
                <a:latin typeface="Calibri"/>
              </a:rPr>
              <a:t>Impact</a:t>
            </a:r>
          </a:p>
        </p:txBody>
      </p:sp>
      <p:sp>
        <p:nvSpPr>
          <p:cNvPr id="57" name="TextBox 56"/>
          <p:cNvSpPr txBox="1"/>
          <p:nvPr/>
        </p:nvSpPr>
        <p:spPr>
          <a:xfrm>
            <a:off x="7040880" y="3374136"/>
            <a:ext cx="4818888" cy="201168"/>
          </a:xfrm>
          <a:prstGeom prst="rect">
            <a:avLst/>
          </a:prstGeom>
          <a:noFill/>
        </p:spPr>
        <p:txBody>
          <a:bodyPr wrap="square">
            <a:spAutoFit/>
          </a:bodyPr>
          <a:lstStyle/>
          <a:p>
            <a:pPr algn="l"/>
            <a:r>
              <a:rPr sz="850" b="0" i="0">
                <a:solidFill>
                  <a:srgbClr val="A0AAB8"/>
                </a:solidFill>
                <a:latin typeface="Calibri"/>
              </a:rPr>
              <a:t>risk_score  ·  validation_status  ·  priority</a:t>
            </a:r>
          </a:p>
        </p:txBody>
      </p:sp>
      <p:sp>
        <p:nvSpPr>
          <p:cNvPr id="58" name="TextBox 57"/>
          <p:cNvSpPr txBox="1"/>
          <p:nvPr/>
        </p:nvSpPr>
        <p:spPr>
          <a:xfrm>
            <a:off x="7040880" y="3584448"/>
            <a:ext cx="4818888" cy="201168"/>
          </a:xfrm>
          <a:prstGeom prst="rect">
            <a:avLst/>
          </a:prstGeom>
          <a:noFill/>
        </p:spPr>
        <p:txBody>
          <a:bodyPr wrap="square">
            <a:spAutoFit/>
          </a:bodyPr>
          <a:lstStyle/>
          <a:p>
            <a:pPr algn="l"/>
            <a:r>
              <a:rPr sz="850" b="0" i="1">
                <a:solidFill>
                  <a:srgbClr val="FFD700"/>
                </a:solidFill>
                <a:latin typeface="Calibri"/>
              </a:rPr>
              <a:t>Inferred Opportunity — attack reasoning only. Never contains raw scan data.</a:t>
            </a:r>
          </a:p>
        </p:txBody>
      </p:sp>
      <p:sp>
        <p:nvSpPr>
          <p:cNvPr id="59" name="Rectangle 58"/>
          <p:cNvSpPr/>
          <p:nvPr/>
        </p:nvSpPr>
        <p:spPr>
          <a:xfrm>
            <a:off x="274320" y="4288536"/>
            <a:ext cx="11643055" cy="2404872"/>
          </a:xfrm>
          <a:prstGeom prst="rect">
            <a:avLst/>
          </a:prstGeom>
          <a:solidFill>
            <a:srgbClr val="040410"/>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84048" y="4334256"/>
            <a:ext cx="5486400" cy="201168"/>
          </a:xfrm>
          <a:prstGeom prst="rect">
            <a:avLst/>
          </a:prstGeom>
          <a:noFill/>
        </p:spPr>
        <p:txBody>
          <a:bodyPr wrap="square">
            <a:spAutoFit/>
          </a:bodyPr>
          <a:lstStyle/>
          <a:p>
            <a:pPr algn="l"/>
            <a:r>
              <a:rPr sz="900" b="1" i="0">
                <a:solidFill>
                  <a:srgbClr val="BD93F9"/>
                </a:solidFill>
                <a:latin typeface="Calibri"/>
              </a:rPr>
              <a:t>③ SPECIALIZED AGENTS  +  TOOL ADAPTER LAYER</a:t>
            </a:r>
          </a:p>
        </p:txBody>
      </p:sp>
      <p:sp>
        <p:nvSpPr>
          <p:cNvPr id="61" name="Rectangle 60"/>
          <p:cNvSpPr/>
          <p:nvPr/>
        </p:nvSpPr>
        <p:spPr>
          <a:xfrm>
            <a:off x="384048" y="4544568"/>
            <a:ext cx="1371600" cy="2093976"/>
          </a:xfrm>
          <a:prstGeom prst="rect">
            <a:avLst/>
          </a:prstGeom>
          <a:solidFill>
            <a:srgbClr val="081020"/>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384048" y="4544568"/>
            <a:ext cx="1371600" cy="23774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84048" y="4562856"/>
            <a:ext cx="1371600" cy="201168"/>
          </a:xfrm>
          <a:prstGeom prst="rect">
            <a:avLst/>
          </a:prstGeom>
          <a:noFill/>
        </p:spPr>
        <p:txBody>
          <a:bodyPr wrap="square">
            <a:spAutoFit/>
          </a:bodyPr>
          <a:lstStyle/>
          <a:p>
            <a:pPr algn="ctr"/>
            <a:r>
              <a:rPr sz="1000" b="1" i="0">
                <a:solidFill>
                  <a:srgbClr val="0A0D1A"/>
                </a:solidFill>
                <a:latin typeface="Calibri"/>
              </a:rPr>
              <a:t>Recon</a:t>
            </a:r>
          </a:p>
        </p:txBody>
      </p:sp>
      <p:sp>
        <p:nvSpPr>
          <p:cNvPr id="64" name="TextBox 63"/>
          <p:cNvSpPr txBox="1"/>
          <p:nvPr/>
        </p:nvSpPr>
        <p:spPr>
          <a:xfrm>
            <a:off x="457200" y="4818888"/>
            <a:ext cx="1243584" cy="1773936"/>
          </a:xfrm>
          <a:prstGeom prst="rect">
            <a:avLst/>
          </a:prstGeom>
          <a:noFill/>
        </p:spPr>
        <p:txBody>
          <a:bodyPr wrap="square">
            <a:spAutoFit/>
          </a:bodyPr>
          <a:lstStyle/>
          <a:p>
            <a:pPr algn="l"/>
            <a:r>
              <a:rPr sz="850" b="0" i="0">
                <a:solidFill>
                  <a:srgbClr val="39FF14"/>
                </a:solidFill>
                <a:latin typeface="Calibri"/>
              </a:rPr>
              <a:t>· Amass 
· httpx 
· Nmap</a:t>
            </a:r>
          </a:p>
        </p:txBody>
      </p:sp>
      <p:sp>
        <p:nvSpPr>
          <p:cNvPr id="65" name="Rectangle 64"/>
          <p:cNvSpPr/>
          <p:nvPr/>
        </p:nvSpPr>
        <p:spPr>
          <a:xfrm>
            <a:off x="1810512" y="4544568"/>
            <a:ext cx="1371600" cy="2093976"/>
          </a:xfrm>
          <a:prstGeom prst="rect">
            <a:avLst/>
          </a:prstGeom>
          <a:solidFill>
            <a:srgbClr val="081020"/>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810512" y="4544568"/>
            <a:ext cx="1371600" cy="23774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810512" y="4562856"/>
            <a:ext cx="1371600" cy="201168"/>
          </a:xfrm>
          <a:prstGeom prst="rect">
            <a:avLst/>
          </a:prstGeom>
          <a:noFill/>
        </p:spPr>
        <p:txBody>
          <a:bodyPr wrap="square">
            <a:spAutoFit/>
          </a:bodyPr>
          <a:lstStyle/>
          <a:p>
            <a:pPr algn="ctr"/>
            <a:r>
              <a:rPr sz="1000" b="1" i="0">
                <a:solidFill>
                  <a:srgbClr val="0A0D1A"/>
                </a:solidFill>
                <a:latin typeface="Calibri"/>
              </a:rPr>
              <a:t>Analysis</a:t>
            </a:r>
          </a:p>
        </p:txBody>
      </p:sp>
      <p:sp>
        <p:nvSpPr>
          <p:cNvPr id="68" name="TextBox 67"/>
          <p:cNvSpPr txBox="1"/>
          <p:nvPr/>
        </p:nvSpPr>
        <p:spPr>
          <a:xfrm>
            <a:off x="1883664" y="4818888"/>
            <a:ext cx="1243584" cy="1773936"/>
          </a:xfrm>
          <a:prstGeom prst="rect">
            <a:avLst/>
          </a:prstGeom>
          <a:noFill/>
        </p:spPr>
        <p:txBody>
          <a:bodyPr wrap="square">
            <a:spAutoFit/>
          </a:bodyPr>
          <a:lstStyle/>
          <a:p>
            <a:pPr algn="l"/>
            <a:r>
              <a:rPr sz="850" b="0" i="0">
                <a:solidFill>
                  <a:srgbClr val="00E5FF"/>
                </a:solidFill>
                <a:latin typeface="Calibri"/>
              </a:rPr>
              <a:t>· WhatWeb
 · Gobuster 
· ffuf 
· Nuclei
 · ZAP</a:t>
            </a:r>
          </a:p>
        </p:txBody>
      </p:sp>
      <p:sp>
        <p:nvSpPr>
          <p:cNvPr id="69" name="Rectangle 68"/>
          <p:cNvSpPr/>
          <p:nvPr/>
        </p:nvSpPr>
        <p:spPr>
          <a:xfrm>
            <a:off x="3236976" y="4544568"/>
            <a:ext cx="1371600" cy="2093976"/>
          </a:xfrm>
          <a:prstGeom prst="rect">
            <a:avLst/>
          </a:prstGeom>
          <a:solidFill>
            <a:srgbClr val="081020"/>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3236976" y="4544568"/>
            <a:ext cx="13716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236976" y="4562856"/>
            <a:ext cx="1371600" cy="201168"/>
          </a:xfrm>
          <a:prstGeom prst="rect">
            <a:avLst/>
          </a:prstGeom>
          <a:noFill/>
        </p:spPr>
        <p:txBody>
          <a:bodyPr wrap="square">
            <a:spAutoFit/>
          </a:bodyPr>
          <a:lstStyle/>
          <a:p>
            <a:pPr algn="ctr"/>
            <a:r>
              <a:rPr sz="1000" b="1" i="0">
                <a:solidFill>
                  <a:srgbClr val="0A0D1A"/>
                </a:solidFill>
                <a:latin typeface="Calibri"/>
              </a:rPr>
              <a:t>Research</a:t>
            </a:r>
          </a:p>
        </p:txBody>
      </p:sp>
      <p:sp>
        <p:nvSpPr>
          <p:cNvPr id="72" name="TextBox 71"/>
          <p:cNvSpPr txBox="1"/>
          <p:nvPr/>
        </p:nvSpPr>
        <p:spPr>
          <a:xfrm>
            <a:off x="3310128" y="4818888"/>
            <a:ext cx="1243584" cy="1773936"/>
          </a:xfrm>
          <a:prstGeom prst="rect">
            <a:avLst/>
          </a:prstGeom>
          <a:noFill/>
        </p:spPr>
        <p:txBody>
          <a:bodyPr wrap="square">
            <a:spAutoFit/>
          </a:bodyPr>
          <a:lstStyle/>
          <a:p>
            <a:pPr algn="l"/>
            <a:r>
              <a:rPr sz="850" b="0" i="0">
                <a:solidFill>
                  <a:srgbClr val="FFD700"/>
                </a:solidFill>
                <a:latin typeface="Calibri"/>
              </a:rPr>
              <a:t>· NVD
· Exploit-DB 
· GitHub</a:t>
            </a:r>
          </a:p>
        </p:txBody>
      </p:sp>
      <p:sp>
        <p:nvSpPr>
          <p:cNvPr id="73" name="Rectangle 72"/>
          <p:cNvSpPr/>
          <p:nvPr/>
        </p:nvSpPr>
        <p:spPr>
          <a:xfrm>
            <a:off x="4663440" y="4544568"/>
            <a:ext cx="1371600" cy="2093976"/>
          </a:xfrm>
          <a:prstGeom prst="rect">
            <a:avLst/>
          </a:prstGeom>
          <a:solidFill>
            <a:srgbClr val="08102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663440" y="4544568"/>
            <a:ext cx="1371600" cy="23774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663440" y="4562856"/>
            <a:ext cx="1371600" cy="201168"/>
          </a:xfrm>
          <a:prstGeom prst="rect">
            <a:avLst/>
          </a:prstGeom>
          <a:noFill/>
        </p:spPr>
        <p:txBody>
          <a:bodyPr wrap="square">
            <a:spAutoFit/>
          </a:bodyPr>
          <a:lstStyle/>
          <a:p>
            <a:pPr algn="ctr"/>
            <a:r>
              <a:rPr sz="1000" b="1" i="0">
                <a:solidFill>
                  <a:srgbClr val="0A0D1A"/>
                </a:solidFill>
                <a:latin typeface="Calibri"/>
              </a:rPr>
              <a:t>Validation</a:t>
            </a:r>
          </a:p>
        </p:txBody>
      </p:sp>
      <p:sp>
        <p:nvSpPr>
          <p:cNvPr id="76" name="TextBox 75"/>
          <p:cNvSpPr txBox="1"/>
          <p:nvPr/>
        </p:nvSpPr>
        <p:spPr>
          <a:xfrm>
            <a:off x="4736592" y="4818888"/>
            <a:ext cx="1243584" cy="1773936"/>
          </a:xfrm>
          <a:prstGeom prst="rect">
            <a:avLst/>
          </a:prstGeom>
          <a:noFill/>
        </p:spPr>
        <p:txBody>
          <a:bodyPr wrap="square">
            <a:spAutoFit/>
          </a:bodyPr>
          <a:lstStyle/>
          <a:p>
            <a:pPr algn="l"/>
            <a:r>
              <a:rPr sz="850" b="0" i="0">
                <a:solidFill>
                  <a:srgbClr val="FF4545"/>
                </a:solidFill>
                <a:latin typeface="Calibri"/>
              </a:rPr>
              <a:t>· SQLMap
 · Metasploit</a:t>
            </a:r>
          </a:p>
        </p:txBody>
      </p:sp>
      <p:sp>
        <p:nvSpPr>
          <p:cNvPr id="77" name="Rectangle 76"/>
          <p:cNvSpPr/>
          <p:nvPr/>
        </p:nvSpPr>
        <p:spPr>
          <a:xfrm>
            <a:off x="6089904" y="4544568"/>
            <a:ext cx="1371600" cy="2093976"/>
          </a:xfrm>
          <a:prstGeom prst="rect">
            <a:avLst/>
          </a:prstGeom>
          <a:solidFill>
            <a:srgbClr val="081020"/>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089904" y="4544568"/>
            <a:ext cx="1371600" cy="237744"/>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089904" y="4562856"/>
            <a:ext cx="1371600" cy="201168"/>
          </a:xfrm>
          <a:prstGeom prst="rect">
            <a:avLst/>
          </a:prstGeom>
          <a:noFill/>
        </p:spPr>
        <p:txBody>
          <a:bodyPr wrap="square">
            <a:spAutoFit/>
          </a:bodyPr>
          <a:lstStyle/>
          <a:p>
            <a:pPr algn="ctr"/>
            <a:r>
              <a:rPr sz="1000" b="1" i="0">
                <a:solidFill>
                  <a:srgbClr val="0A0D1A"/>
                </a:solidFill>
                <a:latin typeface="Calibri"/>
              </a:rPr>
              <a:t>Evidence</a:t>
            </a:r>
          </a:p>
        </p:txBody>
      </p:sp>
      <p:sp>
        <p:nvSpPr>
          <p:cNvPr id="80" name="TextBox 79"/>
          <p:cNvSpPr txBox="1"/>
          <p:nvPr/>
        </p:nvSpPr>
        <p:spPr>
          <a:xfrm>
            <a:off x="6163056" y="4818888"/>
            <a:ext cx="1243584" cy="1773936"/>
          </a:xfrm>
          <a:prstGeom prst="rect">
            <a:avLst/>
          </a:prstGeom>
          <a:noFill/>
        </p:spPr>
        <p:txBody>
          <a:bodyPr wrap="square">
            <a:spAutoFit/>
          </a:bodyPr>
          <a:lstStyle/>
          <a:p>
            <a:pPr algn="l"/>
            <a:r>
              <a:rPr sz="850" b="0" i="0">
                <a:solidFill>
                  <a:srgbClr val="BD93F9"/>
                </a:solidFill>
                <a:latin typeface="Calibri"/>
              </a:rPr>
              <a:t>EyeWitness</a:t>
            </a:r>
          </a:p>
        </p:txBody>
      </p:sp>
      <p:sp>
        <p:nvSpPr>
          <p:cNvPr id="81" name="Rectangle 80"/>
          <p:cNvSpPr/>
          <p:nvPr/>
        </p:nvSpPr>
        <p:spPr>
          <a:xfrm>
            <a:off x="7516368" y="4544568"/>
            <a:ext cx="1371600" cy="2093976"/>
          </a:xfrm>
          <a:prstGeom prst="rect">
            <a:avLst/>
          </a:prstGeom>
          <a:solidFill>
            <a:srgbClr val="081020"/>
          </a:solidFill>
          <a:ln w="1270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516368" y="4544568"/>
            <a:ext cx="1371600" cy="237744"/>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516368" y="4562856"/>
            <a:ext cx="1371600" cy="201168"/>
          </a:xfrm>
          <a:prstGeom prst="rect">
            <a:avLst/>
          </a:prstGeom>
          <a:noFill/>
        </p:spPr>
        <p:txBody>
          <a:bodyPr wrap="square">
            <a:spAutoFit/>
          </a:bodyPr>
          <a:lstStyle/>
          <a:p>
            <a:pPr algn="ctr"/>
            <a:r>
              <a:rPr sz="1000" b="1" i="0">
                <a:solidFill>
                  <a:srgbClr val="FFFFFF"/>
                </a:solidFill>
                <a:latin typeface="Calibri"/>
              </a:rPr>
              <a:t>Report</a:t>
            </a:r>
          </a:p>
        </p:txBody>
      </p:sp>
      <p:sp>
        <p:nvSpPr>
          <p:cNvPr id="84" name="TextBox 83"/>
          <p:cNvSpPr txBox="1"/>
          <p:nvPr/>
        </p:nvSpPr>
        <p:spPr>
          <a:xfrm>
            <a:off x="7589520" y="4818888"/>
            <a:ext cx="1243584" cy="1773936"/>
          </a:xfrm>
          <a:prstGeom prst="rect">
            <a:avLst/>
          </a:prstGeom>
          <a:noFill/>
        </p:spPr>
        <p:txBody>
          <a:bodyPr wrap="square">
            <a:spAutoFit/>
          </a:bodyPr>
          <a:lstStyle/>
          <a:p>
            <a:pPr algn="l"/>
            <a:r>
              <a:rPr sz="850" b="0" i="0">
                <a:solidFill>
                  <a:srgbClr val="A0AAB8"/>
                </a:solidFill>
                <a:latin typeface="Calibri"/>
              </a:rPr>
              <a:t>Reads ASG + APG</a:t>
            </a:r>
          </a:p>
        </p:txBody>
      </p:sp>
      <p:sp>
        <p:nvSpPr>
          <p:cNvPr id="85" name="Rectangle 84"/>
          <p:cNvSpPr/>
          <p:nvPr/>
        </p:nvSpPr>
        <p:spPr>
          <a:xfrm>
            <a:off x="8942832" y="4544568"/>
            <a:ext cx="2974543" cy="2093976"/>
          </a:xfrm>
          <a:prstGeom prst="rect">
            <a:avLst/>
          </a:prstGeom>
          <a:solidFill>
            <a:srgbClr val="100824"/>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942832" y="4581144"/>
            <a:ext cx="2974543" cy="219456"/>
          </a:xfrm>
          <a:prstGeom prst="rect">
            <a:avLst/>
          </a:prstGeom>
          <a:noFill/>
        </p:spPr>
        <p:txBody>
          <a:bodyPr wrap="square">
            <a:spAutoFit/>
          </a:bodyPr>
          <a:lstStyle/>
          <a:p>
            <a:pPr algn="ctr"/>
            <a:r>
              <a:rPr sz="950" b="1" i="0">
                <a:solidFill>
                  <a:srgbClr val="BD93F9"/>
                </a:solidFill>
                <a:latin typeface="Calibri"/>
              </a:rPr>
              <a:t>TOOL ADAPTER LAYER</a:t>
            </a:r>
          </a:p>
        </p:txBody>
      </p:sp>
      <p:sp>
        <p:nvSpPr>
          <p:cNvPr id="87" name="Rectangle 86"/>
          <p:cNvSpPr/>
          <p:nvPr/>
        </p:nvSpPr>
        <p:spPr>
          <a:xfrm>
            <a:off x="9015984" y="4837176"/>
            <a:ext cx="475488" cy="65836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015984" y="5038344"/>
            <a:ext cx="475488" cy="256032"/>
          </a:xfrm>
          <a:prstGeom prst="rect">
            <a:avLst/>
          </a:prstGeom>
          <a:noFill/>
        </p:spPr>
        <p:txBody>
          <a:bodyPr wrap="square">
            <a:spAutoFit/>
          </a:bodyPr>
          <a:lstStyle/>
          <a:p>
            <a:pPr algn="ctr"/>
            <a:r>
              <a:rPr sz="900" b="1" i="0">
                <a:solidFill>
                  <a:srgbClr val="0A0D1A"/>
                </a:solidFill>
                <a:latin typeface="Calibri"/>
              </a:rPr>
              <a:t>LOW</a:t>
            </a:r>
          </a:p>
        </p:txBody>
      </p:sp>
      <p:sp>
        <p:nvSpPr>
          <p:cNvPr id="89" name="Rectangle 88"/>
          <p:cNvSpPr/>
          <p:nvPr/>
        </p:nvSpPr>
        <p:spPr>
          <a:xfrm>
            <a:off x="9537192" y="4837176"/>
            <a:ext cx="2288743" cy="658368"/>
          </a:xfrm>
          <a:prstGeom prst="rect">
            <a:avLst/>
          </a:prstGeom>
          <a:solidFill>
            <a:srgbClr val="080618"/>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601200" y="4892040"/>
            <a:ext cx="2197303" cy="201168"/>
          </a:xfrm>
          <a:prstGeom prst="rect">
            <a:avLst/>
          </a:prstGeom>
          <a:noFill/>
        </p:spPr>
        <p:txBody>
          <a:bodyPr wrap="square">
            <a:spAutoFit/>
          </a:bodyPr>
          <a:lstStyle/>
          <a:p>
            <a:pPr algn="l"/>
            <a:r>
              <a:rPr sz="950" b="1" i="0">
                <a:solidFill>
                  <a:srgbClr val="39FF14"/>
                </a:solidFill>
                <a:latin typeface="Calibri"/>
              </a:rPr>
              <a:t>Passive</a:t>
            </a:r>
          </a:p>
        </p:txBody>
      </p:sp>
      <p:sp>
        <p:nvSpPr>
          <p:cNvPr id="91" name="TextBox 90"/>
          <p:cNvSpPr txBox="1"/>
          <p:nvPr/>
        </p:nvSpPr>
        <p:spPr>
          <a:xfrm>
            <a:off x="9601200" y="5111496"/>
            <a:ext cx="2197303" cy="329184"/>
          </a:xfrm>
          <a:prstGeom prst="rect">
            <a:avLst/>
          </a:prstGeom>
          <a:noFill/>
        </p:spPr>
        <p:txBody>
          <a:bodyPr wrap="square">
            <a:spAutoFit/>
          </a:bodyPr>
          <a:lstStyle/>
          <a:p>
            <a:pPr algn="l"/>
            <a:r>
              <a:rPr sz="850" b="0" i="0">
                <a:solidFill>
                  <a:srgbClr val="A0AAB8"/>
                </a:solidFill>
                <a:latin typeface="Calibri"/>
              </a:rPr>
              <a:t>Execute immediately</a:t>
            </a:r>
          </a:p>
        </p:txBody>
      </p:sp>
      <p:sp>
        <p:nvSpPr>
          <p:cNvPr id="92" name="Rectangle 91"/>
          <p:cNvSpPr/>
          <p:nvPr/>
        </p:nvSpPr>
        <p:spPr>
          <a:xfrm>
            <a:off x="9015984" y="5550408"/>
            <a:ext cx="475488" cy="6583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9015984" y="5751576"/>
            <a:ext cx="475488" cy="256032"/>
          </a:xfrm>
          <a:prstGeom prst="rect">
            <a:avLst/>
          </a:prstGeom>
          <a:noFill/>
        </p:spPr>
        <p:txBody>
          <a:bodyPr wrap="square">
            <a:spAutoFit/>
          </a:bodyPr>
          <a:lstStyle/>
          <a:p>
            <a:pPr algn="ctr"/>
            <a:r>
              <a:rPr sz="900" b="1" i="0">
                <a:solidFill>
                  <a:srgbClr val="0A0D1A"/>
                </a:solidFill>
                <a:latin typeface="Calibri"/>
              </a:rPr>
              <a:t>MED</a:t>
            </a:r>
          </a:p>
        </p:txBody>
      </p:sp>
      <p:sp>
        <p:nvSpPr>
          <p:cNvPr id="94" name="Rectangle 93"/>
          <p:cNvSpPr/>
          <p:nvPr/>
        </p:nvSpPr>
        <p:spPr>
          <a:xfrm>
            <a:off x="9537192" y="5550408"/>
            <a:ext cx="2288743" cy="658368"/>
          </a:xfrm>
          <a:prstGeom prst="rect">
            <a:avLst/>
          </a:prstGeom>
          <a:solidFill>
            <a:srgbClr val="080618"/>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601200" y="5605272"/>
            <a:ext cx="2197303" cy="201168"/>
          </a:xfrm>
          <a:prstGeom prst="rect">
            <a:avLst/>
          </a:prstGeom>
          <a:noFill/>
        </p:spPr>
        <p:txBody>
          <a:bodyPr wrap="square">
            <a:spAutoFit/>
          </a:bodyPr>
          <a:lstStyle/>
          <a:p>
            <a:pPr algn="l"/>
            <a:r>
              <a:rPr sz="950" b="1" i="0">
                <a:solidFill>
                  <a:srgbClr val="FFD700"/>
                </a:solidFill>
                <a:latin typeface="Calibri"/>
              </a:rPr>
              <a:t>Active</a:t>
            </a:r>
          </a:p>
        </p:txBody>
      </p:sp>
      <p:sp>
        <p:nvSpPr>
          <p:cNvPr id="96" name="TextBox 95"/>
          <p:cNvSpPr txBox="1"/>
          <p:nvPr/>
        </p:nvSpPr>
        <p:spPr>
          <a:xfrm>
            <a:off x="9601200" y="5824728"/>
            <a:ext cx="2197303" cy="329184"/>
          </a:xfrm>
          <a:prstGeom prst="rect">
            <a:avLst/>
          </a:prstGeom>
          <a:noFill/>
        </p:spPr>
        <p:txBody>
          <a:bodyPr wrap="square">
            <a:spAutoFit/>
          </a:bodyPr>
          <a:lstStyle/>
          <a:p>
            <a:pPr algn="l"/>
            <a:r>
              <a:rPr sz="850" b="0" i="0">
                <a:solidFill>
                  <a:srgbClr val="A0AAB8"/>
                </a:solidFill>
                <a:latin typeface="Calibri"/>
              </a:rPr>
              <a:t>LLM Classifier → exec/escalate</a:t>
            </a:r>
          </a:p>
        </p:txBody>
      </p:sp>
      <p:sp>
        <p:nvSpPr>
          <p:cNvPr id="97" name="Rectangle 96"/>
          <p:cNvSpPr/>
          <p:nvPr/>
        </p:nvSpPr>
        <p:spPr>
          <a:xfrm>
            <a:off x="9015984" y="6263640"/>
            <a:ext cx="475488" cy="65836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015984" y="6464808"/>
            <a:ext cx="475488" cy="256032"/>
          </a:xfrm>
          <a:prstGeom prst="rect">
            <a:avLst/>
          </a:prstGeom>
          <a:noFill/>
        </p:spPr>
        <p:txBody>
          <a:bodyPr wrap="square">
            <a:spAutoFit/>
          </a:bodyPr>
          <a:lstStyle/>
          <a:p>
            <a:pPr algn="ctr"/>
            <a:r>
              <a:rPr sz="900" b="1" i="0">
                <a:solidFill>
                  <a:srgbClr val="0A0D1A"/>
                </a:solidFill>
                <a:latin typeface="Calibri"/>
              </a:rPr>
              <a:t>HIGH</a:t>
            </a:r>
          </a:p>
        </p:txBody>
      </p:sp>
      <p:sp>
        <p:nvSpPr>
          <p:cNvPr id="99" name="Rectangle 98"/>
          <p:cNvSpPr/>
          <p:nvPr/>
        </p:nvSpPr>
        <p:spPr>
          <a:xfrm>
            <a:off x="9537192" y="6263640"/>
            <a:ext cx="2288743" cy="658368"/>
          </a:xfrm>
          <a:prstGeom prst="rect">
            <a:avLst/>
          </a:prstGeom>
          <a:solidFill>
            <a:srgbClr val="080618"/>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601200" y="6318504"/>
            <a:ext cx="2197303" cy="201168"/>
          </a:xfrm>
          <a:prstGeom prst="rect">
            <a:avLst/>
          </a:prstGeom>
          <a:noFill/>
        </p:spPr>
        <p:txBody>
          <a:bodyPr wrap="square">
            <a:spAutoFit/>
          </a:bodyPr>
          <a:lstStyle/>
          <a:p>
            <a:pPr algn="l"/>
            <a:r>
              <a:rPr sz="950" b="1" i="0">
                <a:solidFill>
                  <a:srgbClr val="FF4545"/>
                </a:solidFill>
                <a:latin typeface="Calibri"/>
              </a:rPr>
              <a:t>Exploit</a:t>
            </a:r>
          </a:p>
        </p:txBody>
      </p:sp>
      <p:sp>
        <p:nvSpPr>
          <p:cNvPr id="101" name="TextBox 100"/>
          <p:cNvSpPr txBox="1"/>
          <p:nvPr/>
        </p:nvSpPr>
        <p:spPr>
          <a:xfrm>
            <a:off x="9601200" y="6537960"/>
            <a:ext cx="2197303" cy="329184"/>
          </a:xfrm>
          <a:prstGeom prst="rect">
            <a:avLst/>
          </a:prstGeom>
          <a:noFill/>
        </p:spPr>
        <p:txBody>
          <a:bodyPr wrap="square">
            <a:spAutoFit/>
          </a:bodyPr>
          <a:lstStyle/>
          <a:p>
            <a:pPr algn="l"/>
            <a:r>
              <a:rPr sz="850" b="0" i="0">
                <a:solidFill>
                  <a:srgbClr val="A0AAB8"/>
                </a:solidFill>
                <a:latin typeface="Calibri"/>
              </a:rPr>
              <a:t>Commander Mailbox approval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D700"/>
                </a:solidFill>
                <a:latin typeface="Calibri"/>
              </a:rPr>
              <a:t>DUAL-GRAPH WORLD MODEL</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200" b="1" i="0">
                <a:solidFill>
                  <a:srgbClr val="FFFFFF"/>
                </a:solidFill>
                <a:latin typeface="Calibri"/>
              </a:rPr>
              <a:t>Two Strictly Separated Knowledge Layers</a:t>
            </a:r>
          </a:p>
        </p:txBody>
      </p:sp>
      <p:sp>
        <p:nvSpPr>
          <p:cNvPr id="7" name="TextBox 6"/>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06</a:t>
            </a:r>
          </a:p>
        </p:txBody>
      </p:sp>
      <p:sp>
        <p:nvSpPr>
          <p:cNvPr id="8" name="Rectangle 7"/>
          <p:cNvSpPr/>
          <p:nvPr/>
        </p:nvSpPr>
        <p:spPr>
          <a:xfrm>
            <a:off x="274320" y="822960"/>
            <a:ext cx="5943600" cy="5870448"/>
          </a:xfrm>
          <a:prstGeom prst="rect">
            <a:avLst/>
          </a:prstGeom>
          <a:solidFill>
            <a:srgbClr val="051205"/>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896112"/>
            <a:ext cx="5760720" cy="237744"/>
          </a:xfrm>
          <a:prstGeom prst="rect">
            <a:avLst/>
          </a:prstGeom>
          <a:noFill/>
        </p:spPr>
        <p:txBody>
          <a:bodyPr wrap="square">
            <a:spAutoFit/>
          </a:bodyPr>
          <a:lstStyle/>
          <a:p>
            <a:pPr algn="l"/>
            <a:r>
              <a:rPr sz="1400" b="1" i="0">
                <a:solidFill>
                  <a:srgbClr val="39FF14"/>
                </a:solidFill>
                <a:latin typeface="Calibri"/>
              </a:rPr>
              <a:t>ASG — Attack Surface Graph</a:t>
            </a:r>
          </a:p>
        </p:txBody>
      </p:sp>
      <p:sp>
        <p:nvSpPr>
          <p:cNvPr id="10" name="TextBox 9"/>
          <p:cNvSpPr txBox="1"/>
          <p:nvPr/>
        </p:nvSpPr>
        <p:spPr>
          <a:xfrm>
            <a:off x="384048" y="1133856"/>
            <a:ext cx="5760720" cy="201168"/>
          </a:xfrm>
          <a:prstGeom prst="rect">
            <a:avLst/>
          </a:prstGeom>
          <a:noFill/>
        </p:spPr>
        <p:txBody>
          <a:bodyPr wrap="square">
            <a:spAutoFit/>
          </a:bodyPr>
          <a:lstStyle/>
          <a:p>
            <a:pPr algn="l"/>
            <a:r>
              <a:rPr sz="850" b="0" i="1">
                <a:solidFill>
                  <a:srgbClr val="A0AAB8"/>
                </a:solidFill>
                <a:latin typeface="Calibri"/>
              </a:rPr>
              <a:t>Discovered Reality  ·  Every node = confirmed by tool  ·  Every edge = confirmed relationship</a:t>
            </a:r>
          </a:p>
        </p:txBody>
      </p:sp>
      <p:sp>
        <p:nvSpPr>
          <p:cNvPr id="11" name="Rectangle 10"/>
          <p:cNvSpPr/>
          <p:nvPr/>
        </p:nvSpPr>
        <p:spPr>
          <a:xfrm>
            <a:off x="365760" y="138988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1444752"/>
            <a:ext cx="1005840" cy="274320"/>
          </a:xfrm>
          <a:prstGeom prst="rect">
            <a:avLst/>
          </a:prstGeom>
          <a:noFill/>
        </p:spPr>
        <p:txBody>
          <a:bodyPr wrap="square">
            <a:spAutoFit/>
          </a:bodyPr>
          <a:lstStyle/>
          <a:p>
            <a:pPr algn="ctr"/>
            <a:r>
              <a:rPr sz="800" b="1" i="0">
                <a:solidFill>
                  <a:srgbClr val="0A0D1A"/>
                </a:solidFill>
                <a:latin typeface="Calibri"/>
              </a:rPr>
              <a:t>Domain
shopvault.io</a:t>
            </a:r>
          </a:p>
        </p:txBody>
      </p:sp>
      <p:sp>
        <p:nvSpPr>
          <p:cNvPr id="13" name="TextBox 12"/>
          <p:cNvSpPr txBox="1"/>
          <p:nvPr/>
        </p:nvSpPr>
        <p:spPr>
          <a:xfrm>
            <a:off x="1444752" y="1499616"/>
            <a:ext cx="914400" cy="164592"/>
          </a:xfrm>
          <a:prstGeom prst="rect">
            <a:avLst/>
          </a:prstGeom>
          <a:noFill/>
        </p:spPr>
        <p:txBody>
          <a:bodyPr wrap="square">
            <a:spAutoFit/>
          </a:bodyPr>
          <a:lstStyle/>
          <a:p>
            <a:pPr algn="l"/>
            <a:r>
              <a:rPr sz="700" b="0" i="1">
                <a:solidFill>
                  <a:srgbClr val="A0AAB8"/>
                </a:solidFill>
                <a:latin typeface="Calibri"/>
              </a:rPr>
              <a:t>has_host</a:t>
            </a:r>
          </a:p>
        </p:txBody>
      </p:sp>
      <p:sp>
        <p:nvSpPr>
          <p:cNvPr id="14" name="Rectangle 13"/>
          <p:cNvSpPr/>
          <p:nvPr/>
        </p:nvSpPr>
        <p:spPr>
          <a:xfrm>
            <a:off x="2103120" y="129844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1353312"/>
            <a:ext cx="1005840" cy="274320"/>
          </a:xfrm>
          <a:prstGeom prst="rect">
            <a:avLst/>
          </a:prstGeom>
          <a:noFill/>
        </p:spPr>
        <p:txBody>
          <a:bodyPr wrap="square">
            <a:spAutoFit/>
          </a:bodyPr>
          <a:lstStyle/>
          <a:p>
            <a:pPr algn="ctr"/>
            <a:r>
              <a:rPr sz="800" b="1" i="0">
                <a:solidFill>
                  <a:srgbClr val="0A0D1A"/>
                </a:solidFill>
                <a:latin typeface="Calibri"/>
              </a:rPr>
              <a:t>Host
10.0.0.1
Ubuntu 22</a:t>
            </a:r>
          </a:p>
        </p:txBody>
      </p:sp>
      <p:sp>
        <p:nvSpPr>
          <p:cNvPr id="16" name="Rectangle 15"/>
          <p:cNvSpPr/>
          <p:nvPr/>
        </p:nvSpPr>
        <p:spPr>
          <a:xfrm>
            <a:off x="2103120" y="198424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03120" y="2039112"/>
            <a:ext cx="1005840" cy="274320"/>
          </a:xfrm>
          <a:prstGeom prst="rect">
            <a:avLst/>
          </a:prstGeom>
          <a:noFill/>
        </p:spPr>
        <p:txBody>
          <a:bodyPr wrap="square">
            <a:spAutoFit/>
          </a:bodyPr>
          <a:lstStyle/>
          <a:p>
            <a:pPr algn="ctr"/>
            <a:r>
              <a:rPr sz="800" b="1" i="0">
                <a:solidFill>
                  <a:srgbClr val="0A0D1A"/>
                </a:solidFill>
                <a:latin typeface="Calibri"/>
              </a:rPr>
              <a:t>Host
10.0.0.2
Debian 11</a:t>
            </a:r>
          </a:p>
        </p:txBody>
      </p:sp>
      <p:sp>
        <p:nvSpPr>
          <p:cNvPr id="18" name="Rectangle 17"/>
          <p:cNvSpPr/>
          <p:nvPr/>
        </p:nvSpPr>
        <p:spPr>
          <a:xfrm>
            <a:off x="2103120" y="2651760"/>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03120" y="2706624"/>
            <a:ext cx="1005840" cy="274320"/>
          </a:xfrm>
          <a:prstGeom prst="rect">
            <a:avLst/>
          </a:prstGeom>
          <a:noFill/>
        </p:spPr>
        <p:txBody>
          <a:bodyPr wrap="square">
            <a:spAutoFit/>
          </a:bodyPr>
          <a:lstStyle/>
          <a:p>
            <a:pPr algn="ctr"/>
            <a:r>
              <a:rPr sz="800" b="1" i="0">
                <a:solidFill>
                  <a:srgbClr val="0A0D1A"/>
                </a:solidFill>
                <a:latin typeface="Calibri"/>
              </a:rPr>
              <a:t>Host
api.shopvault</a:t>
            </a:r>
          </a:p>
        </p:txBody>
      </p:sp>
      <p:sp>
        <p:nvSpPr>
          <p:cNvPr id="20" name="Rectangle 19"/>
          <p:cNvSpPr/>
          <p:nvPr/>
        </p:nvSpPr>
        <p:spPr>
          <a:xfrm>
            <a:off x="3273552" y="129844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73552" y="1353312"/>
            <a:ext cx="1005840" cy="274320"/>
          </a:xfrm>
          <a:prstGeom prst="rect">
            <a:avLst/>
          </a:prstGeom>
          <a:noFill/>
        </p:spPr>
        <p:txBody>
          <a:bodyPr wrap="square">
            <a:spAutoFit/>
          </a:bodyPr>
          <a:lstStyle/>
          <a:p>
            <a:pPr algn="ctr"/>
            <a:r>
              <a:rPr sz="800" b="1" i="0">
                <a:solidFill>
                  <a:srgbClr val="0A0D1A"/>
                </a:solidFill>
                <a:latin typeface="Calibri"/>
              </a:rPr>
              <a:t>Port :443
tcp open</a:t>
            </a:r>
          </a:p>
        </p:txBody>
      </p:sp>
      <p:sp>
        <p:nvSpPr>
          <p:cNvPr id="22" name="Rectangle 21"/>
          <p:cNvSpPr/>
          <p:nvPr/>
        </p:nvSpPr>
        <p:spPr>
          <a:xfrm>
            <a:off x="3273552" y="1773936"/>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73552" y="1828800"/>
            <a:ext cx="1005840" cy="274320"/>
          </a:xfrm>
          <a:prstGeom prst="rect">
            <a:avLst/>
          </a:prstGeom>
          <a:noFill/>
        </p:spPr>
        <p:txBody>
          <a:bodyPr wrap="square">
            <a:spAutoFit/>
          </a:bodyPr>
          <a:lstStyle/>
          <a:p>
            <a:pPr algn="ctr"/>
            <a:r>
              <a:rPr sz="800" b="1" i="0">
                <a:solidFill>
                  <a:srgbClr val="0A0D1A"/>
                </a:solidFill>
                <a:latin typeface="Calibri"/>
              </a:rPr>
              <a:t>Port :22
tcp open</a:t>
            </a:r>
          </a:p>
        </p:txBody>
      </p:sp>
      <p:sp>
        <p:nvSpPr>
          <p:cNvPr id="24" name="Rectangle 23"/>
          <p:cNvSpPr/>
          <p:nvPr/>
        </p:nvSpPr>
        <p:spPr>
          <a:xfrm>
            <a:off x="3273552" y="2249424"/>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73552" y="2304288"/>
            <a:ext cx="1005840" cy="274320"/>
          </a:xfrm>
          <a:prstGeom prst="rect">
            <a:avLst/>
          </a:prstGeom>
          <a:noFill/>
        </p:spPr>
        <p:txBody>
          <a:bodyPr wrap="square">
            <a:spAutoFit/>
          </a:bodyPr>
          <a:lstStyle/>
          <a:p>
            <a:pPr algn="ctr"/>
            <a:r>
              <a:rPr sz="800" b="1" i="0">
                <a:solidFill>
                  <a:srgbClr val="0A0D1A"/>
                </a:solidFill>
                <a:latin typeface="Calibri"/>
              </a:rPr>
              <a:t>Port :8080
unenc</a:t>
            </a:r>
          </a:p>
        </p:txBody>
      </p:sp>
      <p:sp>
        <p:nvSpPr>
          <p:cNvPr id="26" name="Rectangle 25"/>
          <p:cNvSpPr/>
          <p:nvPr/>
        </p:nvSpPr>
        <p:spPr>
          <a:xfrm>
            <a:off x="3273552" y="2724912"/>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73552" y="2779776"/>
            <a:ext cx="1005840" cy="274320"/>
          </a:xfrm>
          <a:prstGeom prst="rect">
            <a:avLst/>
          </a:prstGeom>
          <a:noFill/>
        </p:spPr>
        <p:txBody>
          <a:bodyPr wrap="square">
            <a:spAutoFit/>
          </a:bodyPr>
          <a:lstStyle/>
          <a:p>
            <a:pPr algn="ctr"/>
            <a:r>
              <a:rPr sz="800" b="1" i="0">
                <a:solidFill>
                  <a:srgbClr val="0A0D1A"/>
                </a:solidFill>
                <a:latin typeface="Calibri"/>
              </a:rPr>
              <a:t>Port :80
tcp open</a:t>
            </a:r>
          </a:p>
        </p:txBody>
      </p:sp>
      <p:sp>
        <p:nvSpPr>
          <p:cNvPr id="28" name="Rectangle 27"/>
          <p:cNvSpPr/>
          <p:nvPr/>
        </p:nvSpPr>
        <p:spPr>
          <a:xfrm>
            <a:off x="4389120" y="129844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9120" y="1353312"/>
            <a:ext cx="1005840" cy="274320"/>
          </a:xfrm>
          <a:prstGeom prst="rect">
            <a:avLst/>
          </a:prstGeom>
          <a:noFill/>
        </p:spPr>
        <p:txBody>
          <a:bodyPr wrap="square">
            <a:spAutoFit/>
          </a:bodyPr>
          <a:lstStyle/>
          <a:p>
            <a:pPr algn="ctr"/>
            <a:r>
              <a:rPr sz="800" b="1" i="0">
                <a:solidFill>
                  <a:srgbClr val="0A0D1A"/>
                </a:solidFill>
                <a:latin typeface="Calibri"/>
              </a:rPr>
              <a:t>Service
Nginx 1.18</a:t>
            </a:r>
          </a:p>
        </p:txBody>
      </p:sp>
      <p:sp>
        <p:nvSpPr>
          <p:cNvPr id="30" name="Rectangle 29"/>
          <p:cNvSpPr/>
          <p:nvPr/>
        </p:nvSpPr>
        <p:spPr>
          <a:xfrm>
            <a:off x="4389120" y="1773936"/>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0" y="1828800"/>
            <a:ext cx="1005840" cy="274320"/>
          </a:xfrm>
          <a:prstGeom prst="rect">
            <a:avLst/>
          </a:prstGeom>
          <a:noFill/>
        </p:spPr>
        <p:txBody>
          <a:bodyPr wrap="square">
            <a:spAutoFit/>
          </a:bodyPr>
          <a:lstStyle/>
          <a:p>
            <a:pPr algn="ctr"/>
            <a:r>
              <a:rPr sz="800" b="1" i="0">
                <a:solidFill>
                  <a:srgbClr val="0A0D1A"/>
                </a:solidFill>
                <a:latin typeface="Calibri"/>
              </a:rPr>
              <a:t>Service
OpenSSH 8.9</a:t>
            </a:r>
          </a:p>
        </p:txBody>
      </p:sp>
      <p:sp>
        <p:nvSpPr>
          <p:cNvPr id="32" name="Rectangle 31"/>
          <p:cNvSpPr/>
          <p:nvPr/>
        </p:nvSpPr>
        <p:spPr>
          <a:xfrm>
            <a:off x="4389120" y="2249424"/>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89120" y="2304288"/>
            <a:ext cx="1005840" cy="274320"/>
          </a:xfrm>
          <a:prstGeom prst="rect">
            <a:avLst/>
          </a:prstGeom>
          <a:noFill/>
        </p:spPr>
        <p:txBody>
          <a:bodyPr wrap="square">
            <a:spAutoFit/>
          </a:bodyPr>
          <a:lstStyle/>
          <a:p>
            <a:pPr algn="ctr"/>
            <a:r>
              <a:rPr sz="800" b="1" i="0">
                <a:solidFill>
                  <a:srgbClr val="0A0D1A"/>
                </a:solidFill>
                <a:latin typeface="Calibri"/>
              </a:rPr>
              <a:t>Service
HTTP plain</a:t>
            </a:r>
          </a:p>
        </p:txBody>
      </p:sp>
      <p:sp>
        <p:nvSpPr>
          <p:cNvPr id="34" name="Rectangle 33"/>
          <p:cNvSpPr/>
          <p:nvPr/>
        </p:nvSpPr>
        <p:spPr>
          <a:xfrm>
            <a:off x="777240" y="340156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3456432"/>
            <a:ext cx="1005840" cy="274320"/>
          </a:xfrm>
          <a:prstGeom prst="rect">
            <a:avLst/>
          </a:prstGeom>
          <a:noFill/>
        </p:spPr>
        <p:txBody>
          <a:bodyPr wrap="square">
            <a:spAutoFit/>
          </a:bodyPr>
          <a:lstStyle/>
          <a:p>
            <a:pPr algn="ctr"/>
            <a:r>
              <a:rPr sz="800" b="1" i="0">
                <a:solidFill>
                  <a:srgbClr val="0A0D1A"/>
                </a:solidFill>
                <a:latin typeface="Calibri"/>
              </a:rPr>
              <a:t>Tech
WordPress 5.9</a:t>
            </a:r>
          </a:p>
        </p:txBody>
      </p:sp>
      <p:sp>
        <p:nvSpPr>
          <p:cNvPr id="36" name="Rectangle 35"/>
          <p:cNvSpPr/>
          <p:nvPr/>
        </p:nvSpPr>
        <p:spPr>
          <a:xfrm>
            <a:off x="1874520" y="340156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874520" y="3456432"/>
            <a:ext cx="1005840" cy="274320"/>
          </a:xfrm>
          <a:prstGeom prst="rect">
            <a:avLst/>
          </a:prstGeom>
          <a:noFill/>
        </p:spPr>
        <p:txBody>
          <a:bodyPr wrap="square">
            <a:spAutoFit/>
          </a:bodyPr>
          <a:lstStyle/>
          <a:p>
            <a:pPr algn="ctr"/>
            <a:r>
              <a:rPr sz="800" b="1" i="0">
                <a:solidFill>
                  <a:srgbClr val="0A0D1A"/>
                </a:solidFill>
                <a:latin typeface="Calibri"/>
              </a:rPr>
              <a:t>Tech
WooCommerce</a:t>
            </a:r>
          </a:p>
        </p:txBody>
      </p:sp>
      <p:sp>
        <p:nvSpPr>
          <p:cNvPr id="38" name="Rectangle 37"/>
          <p:cNvSpPr/>
          <p:nvPr/>
        </p:nvSpPr>
        <p:spPr>
          <a:xfrm>
            <a:off x="3017520" y="340156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17520" y="3456432"/>
            <a:ext cx="1005840" cy="274320"/>
          </a:xfrm>
          <a:prstGeom prst="rect">
            <a:avLst/>
          </a:prstGeom>
          <a:noFill/>
        </p:spPr>
        <p:txBody>
          <a:bodyPr wrap="square">
            <a:spAutoFit/>
          </a:bodyPr>
          <a:lstStyle/>
          <a:p>
            <a:pPr algn="ctr"/>
            <a:r>
              <a:rPr sz="800" b="1" i="0">
                <a:solidFill>
                  <a:srgbClr val="0A0D1A"/>
                </a:solidFill>
                <a:latin typeface="Calibri"/>
              </a:rPr>
              <a:t>Tech
Django 4.1</a:t>
            </a:r>
          </a:p>
        </p:txBody>
      </p:sp>
      <p:sp>
        <p:nvSpPr>
          <p:cNvPr id="40" name="Rectangle 39"/>
          <p:cNvSpPr/>
          <p:nvPr/>
        </p:nvSpPr>
        <p:spPr>
          <a:xfrm>
            <a:off x="4297680" y="3017520"/>
            <a:ext cx="1005840" cy="45720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297680" y="3035808"/>
            <a:ext cx="1005840" cy="411480"/>
          </a:xfrm>
          <a:prstGeom prst="rect">
            <a:avLst/>
          </a:prstGeom>
          <a:noFill/>
        </p:spPr>
        <p:txBody>
          <a:bodyPr wrap="square">
            <a:spAutoFit/>
          </a:bodyPr>
          <a:lstStyle/>
          <a:p>
            <a:pPr algn="ctr"/>
            <a:r>
              <a:rPr sz="750" b="1" i="0">
                <a:solidFill>
                  <a:srgbClr val="FFFFFF"/>
                </a:solidFill>
                <a:latin typeface="Calibri"/>
              </a:rPr>
              <a:t>Endpoint
/wp-admin
HIGH</a:t>
            </a:r>
          </a:p>
        </p:txBody>
      </p:sp>
      <p:sp>
        <p:nvSpPr>
          <p:cNvPr id="42" name="Rectangle 41"/>
          <p:cNvSpPr/>
          <p:nvPr/>
        </p:nvSpPr>
        <p:spPr>
          <a:xfrm>
            <a:off x="4297680" y="3566160"/>
            <a:ext cx="1188720" cy="5029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297680" y="3602736"/>
            <a:ext cx="1188720" cy="457200"/>
          </a:xfrm>
          <a:prstGeom prst="rect">
            <a:avLst/>
          </a:prstGeom>
          <a:noFill/>
        </p:spPr>
        <p:txBody>
          <a:bodyPr wrap="square">
            <a:spAutoFit/>
          </a:bodyPr>
          <a:lstStyle/>
          <a:p>
            <a:pPr algn="ctr"/>
            <a:r>
              <a:rPr sz="750" b="1" i="0">
                <a:solidFill>
                  <a:srgbClr val="FFFFFF"/>
                </a:solidFill>
                <a:latin typeface="Calibri"/>
              </a:rPr>
              <a:t>/backup/
db_export
CRITICAL</a:t>
            </a:r>
          </a:p>
        </p:txBody>
      </p:sp>
      <p:sp>
        <p:nvSpPr>
          <p:cNvPr id="44" name="Rectangle 43"/>
          <p:cNvSpPr/>
          <p:nvPr/>
        </p:nvSpPr>
        <p:spPr>
          <a:xfrm>
            <a:off x="777240" y="399592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40" y="4050792"/>
            <a:ext cx="1005840" cy="274320"/>
          </a:xfrm>
          <a:prstGeom prst="rect">
            <a:avLst/>
          </a:prstGeom>
          <a:noFill/>
        </p:spPr>
        <p:txBody>
          <a:bodyPr wrap="square">
            <a:spAutoFit/>
          </a:bodyPr>
          <a:lstStyle/>
          <a:p>
            <a:pPr algn="ctr"/>
            <a:r>
              <a:rPr sz="800" b="1" i="0">
                <a:solidFill>
                  <a:srgbClr val="0A0D1A"/>
                </a:solidFill>
                <a:latin typeface="Calibri"/>
              </a:rPr>
              <a:t>Endpoint
/api/orders</a:t>
            </a:r>
          </a:p>
        </p:txBody>
      </p:sp>
      <p:sp>
        <p:nvSpPr>
          <p:cNvPr id="46" name="Rectangle 45"/>
          <p:cNvSpPr/>
          <p:nvPr/>
        </p:nvSpPr>
        <p:spPr>
          <a:xfrm>
            <a:off x="1874520" y="399592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874520" y="4050792"/>
            <a:ext cx="1005840" cy="274320"/>
          </a:xfrm>
          <a:prstGeom prst="rect">
            <a:avLst/>
          </a:prstGeom>
          <a:noFill/>
        </p:spPr>
        <p:txBody>
          <a:bodyPr wrap="square">
            <a:spAutoFit/>
          </a:bodyPr>
          <a:lstStyle/>
          <a:p>
            <a:pPr algn="ctr"/>
            <a:r>
              <a:rPr sz="800" b="1" i="0">
                <a:solidFill>
                  <a:srgbClr val="0A0D1A"/>
                </a:solidFill>
                <a:latin typeface="Calibri"/>
              </a:rPr>
              <a:t>Endpoint
/api/users
undocumented</a:t>
            </a:r>
          </a:p>
        </p:txBody>
      </p:sp>
      <p:sp>
        <p:nvSpPr>
          <p:cNvPr id="48" name="Rectangle 47"/>
          <p:cNvSpPr/>
          <p:nvPr/>
        </p:nvSpPr>
        <p:spPr>
          <a:xfrm>
            <a:off x="777240" y="463600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77240" y="4690872"/>
            <a:ext cx="1005840" cy="274320"/>
          </a:xfrm>
          <a:prstGeom prst="rect">
            <a:avLst/>
          </a:prstGeom>
          <a:noFill/>
        </p:spPr>
        <p:txBody>
          <a:bodyPr wrap="square">
            <a:spAutoFit/>
          </a:bodyPr>
          <a:lstStyle/>
          <a:p>
            <a:pPr algn="ctr"/>
            <a:r>
              <a:rPr sz="800" b="1" i="0">
                <a:solidFill>
                  <a:srgbClr val="0A0D1A"/>
                </a:solidFill>
                <a:latin typeface="Calibri"/>
              </a:rPr>
              <a:t>Param
user_id=?
injectable</a:t>
            </a:r>
          </a:p>
        </p:txBody>
      </p:sp>
      <p:sp>
        <p:nvSpPr>
          <p:cNvPr id="50" name="Rectangle 49"/>
          <p:cNvSpPr/>
          <p:nvPr/>
        </p:nvSpPr>
        <p:spPr>
          <a:xfrm>
            <a:off x="2011680" y="4636008"/>
            <a:ext cx="1280160" cy="365760"/>
          </a:xfrm>
          <a:prstGeom prst="rect">
            <a:avLst/>
          </a:prstGeom>
          <a:solidFill>
            <a:srgbClr val="FF4545"/>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11680" y="4672584"/>
            <a:ext cx="1280160" cy="310896"/>
          </a:xfrm>
          <a:prstGeom prst="rect">
            <a:avLst/>
          </a:prstGeom>
          <a:noFill/>
        </p:spPr>
        <p:txBody>
          <a:bodyPr wrap="square">
            <a:spAutoFit/>
          </a:bodyPr>
          <a:lstStyle/>
          <a:p>
            <a:pPr algn="ctr"/>
            <a:r>
              <a:rPr sz="750" b="1" i="0">
                <a:solidFill>
                  <a:srgbClr val="FFFFFF"/>
                </a:solidFill>
                <a:latin typeface="Calibri"/>
              </a:rPr>
              <a:t>CVE-2022-21661
SQLi CVSS 8.8</a:t>
            </a:r>
          </a:p>
        </p:txBody>
      </p:sp>
      <p:sp>
        <p:nvSpPr>
          <p:cNvPr id="52" name="Rectangle 51"/>
          <p:cNvSpPr/>
          <p:nvPr/>
        </p:nvSpPr>
        <p:spPr>
          <a:xfrm>
            <a:off x="3337560" y="4636008"/>
            <a:ext cx="1280160" cy="365760"/>
          </a:xfrm>
          <a:prstGeom prst="rect">
            <a:avLst/>
          </a:prstGeom>
          <a:solidFill>
            <a:srgbClr val="FF4545"/>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37560" y="4672584"/>
            <a:ext cx="1280160" cy="310896"/>
          </a:xfrm>
          <a:prstGeom prst="rect">
            <a:avLst/>
          </a:prstGeom>
          <a:noFill/>
        </p:spPr>
        <p:txBody>
          <a:bodyPr wrap="square">
            <a:spAutoFit/>
          </a:bodyPr>
          <a:lstStyle/>
          <a:p>
            <a:pPr algn="ctr"/>
            <a:r>
              <a:rPr sz="750" b="1" i="0">
                <a:solidFill>
                  <a:srgbClr val="FFFFFF"/>
                </a:solidFill>
                <a:latin typeface="Calibri"/>
              </a:rPr>
              <a:t>IDOR /orders
Severity:HIGH</a:t>
            </a:r>
          </a:p>
        </p:txBody>
      </p:sp>
      <p:sp>
        <p:nvSpPr>
          <p:cNvPr id="54" name="Rectangle 53"/>
          <p:cNvSpPr/>
          <p:nvPr/>
        </p:nvSpPr>
        <p:spPr>
          <a:xfrm>
            <a:off x="3474720" y="5276088"/>
            <a:ext cx="1188720" cy="365760"/>
          </a:xfrm>
          <a:prstGeom prst="rect">
            <a:avLst/>
          </a:prstGeom>
          <a:solidFill>
            <a:srgbClr val="BD93F9"/>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474720" y="5312664"/>
            <a:ext cx="1188720" cy="310896"/>
          </a:xfrm>
          <a:prstGeom prst="rect">
            <a:avLst/>
          </a:prstGeom>
          <a:noFill/>
        </p:spPr>
        <p:txBody>
          <a:bodyPr wrap="square">
            <a:spAutoFit/>
          </a:bodyPr>
          <a:lstStyle/>
          <a:p>
            <a:pPr algn="ctr"/>
            <a:r>
              <a:rPr sz="700" b="1" i="0">
                <a:solidFill>
                  <a:srgbClr val="FFFFFF"/>
                </a:solidFill>
                <a:latin typeface="Calibri"/>
              </a:rPr>
              <a:t>Evidence
sqli-extract.txt</a:t>
            </a:r>
          </a:p>
        </p:txBody>
      </p:sp>
      <p:sp>
        <p:nvSpPr>
          <p:cNvPr id="56" name="Rectangle 55"/>
          <p:cNvSpPr/>
          <p:nvPr/>
        </p:nvSpPr>
        <p:spPr>
          <a:xfrm>
            <a:off x="4617720" y="4636008"/>
            <a:ext cx="1188720" cy="365760"/>
          </a:xfrm>
          <a:prstGeom prst="rect">
            <a:avLst/>
          </a:prstGeom>
          <a:solidFill>
            <a:srgbClr val="BD93F9"/>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17720" y="4672584"/>
            <a:ext cx="1188720" cy="310896"/>
          </a:xfrm>
          <a:prstGeom prst="rect">
            <a:avLst/>
          </a:prstGeom>
          <a:noFill/>
        </p:spPr>
        <p:txBody>
          <a:bodyPr wrap="square">
            <a:spAutoFit/>
          </a:bodyPr>
          <a:lstStyle/>
          <a:p>
            <a:pPr algn="ctr"/>
            <a:r>
              <a:rPr sz="700" b="1" i="0">
                <a:solidFill>
                  <a:srgbClr val="FFFFFF"/>
                </a:solidFill>
                <a:latin typeface="Calibri"/>
              </a:rPr>
              <a:t>Evidence
admin-panel.png</a:t>
            </a:r>
          </a:p>
        </p:txBody>
      </p:sp>
      <p:sp>
        <p:nvSpPr>
          <p:cNvPr id="58" name="Rectangle 57"/>
          <p:cNvSpPr/>
          <p:nvPr/>
        </p:nvSpPr>
        <p:spPr>
          <a:xfrm>
            <a:off x="4617720" y="5276088"/>
            <a:ext cx="1188720" cy="365760"/>
          </a:xfrm>
          <a:prstGeom prst="rect">
            <a:avLst/>
          </a:prstGeom>
          <a:solidFill>
            <a:srgbClr val="BD93F9"/>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17720" y="5312664"/>
            <a:ext cx="1188720" cy="310896"/>
          </a:xfrm>
          <a:prstGeom prst="rect">
            <a:avLst/>
          </a:prstGeom>
          <a:noFill/>
        </p:spPr>
        <p:txBody>
          <a:bodyPr wrap="square">
            <a:spAutoFit/>
          </a:bodyPr>
          <a:lstStyle/>
          <a:p>
            <a:pPr algn="ctr"/>
            <a:r>
              <a:rPr sz="700" b="1" i="0">
                <a:solidFill>
                  <a:srgbClr val="FFFFFF"/>
                </a:solidFill>
                <a:latin typeface="Calibri"/>
              </a:rPr>
              <a:t>Evidence
webshell-rce.png</a:t>
            </a:r>
          </a:p>
        </p:txBody>
      </p:sp>
      <p:sp>
        <p:nvSpPr>
          <p:cNvPr id="60" name="TextBox 59"/>
          <p:cNvSpPr txBox="1"/>
          <p:nvPr/>
        </p:nvSpPr>
        <p:spPr>
          <a:xfrm>
            <a:off x="3200400" y="1499616"/>
            <a:ext cx="914400" cy="164592"/>
          </a:xfrm>
          <a:prstGeom prst="rect">
            <a:avLst/>
          </a:prstGeom>
          <a:noFill/>
        </p:spPr>
        <p:txBody>
          <a:bodyPr wrap="square">
            <a:spAutoFit/>
          </a:bodyPr>
          <a:lstStyle/>
          <a:p>
            <a:pPr algn="l"/>
            <a:r>
              <a:rPr sz="700" b="0" i="1">
                <a:solidFill>
                  <a:srgbClr val="A0AAB8"/>
                </a:solidFill>
                <a:latin typeface="Calibri"/>
              </a:rPr>
              <a:t>runs</a:t>
            </a:r>
          </a:p>
        </p:txBody>
      </p:sp>
      <p:sp>
        <p:nvSpPr>
          <p:cNvPr id="61" name="TextBox 60"/>
          <p:cNvSpPr txBox="1"/>
          <p:nvPr/>
        </p:nvSpPr>
        <p:spPr>
          <a:xfrm>
            <a:off x="4352544" y="3730752"/>
            <a:ext cx="914400" cy="164592"/>
          </a:xfrm>
          <a:prstGeom prst="rect">
            <a:avLst/>
          </a:prstGeom>
          <a:noFill/>
        </p:spPr>
        <p:txBody>
          <a:bodyPr wrap="square">
            <a:spAutoFit/>
          </a:bodyPr>
          <a:lstStyle/>
          <a:p>
            <a:pPr algn="l"/>
            <a:r>
              <a:rPr sz="700" b="0" i="1">
                <a:solidFill>
                  <a:srgbClr val="A0AAB8"/>
                </a:solidFill>
                <a:latin typeface="Calibri"/>
              </a:rPr>
              <a:t>uses</a:t>
            </a:r>
          </a:p>
        </p:txBody>
      </p:sp>
      <p:sp>
        <p:nvSpPr>
          <p:cNvPr id="62" name="TextBox 61"/>
          <p:cNvSpPr txBox="1"/>
          <p:nvPr/>
        </p:nvSpPr>
        <p:spPr>
          <a:xfrm>
            <a:off x="4160520" y="3236976"/>
            <a:ext cx="914400" cy="164592"/>
          </a:xfrm>
          <a:prstGeom prst="rect">
            <a:avLst/>
          </a:prstGeom>
          <a:noFill/>
        </p:spPr>
        <p:txBody>
          <a:bodyPr wrap="square">
            <a:spAutoFit/>
          </a:bodyPr>
          <a:lstStyle/>
          <a:p>
            <a:pPr algn="l"/>
            <a:r>
              <a:rPr sz="700" b="0" i="1">
                <a:solidFill>
                  <a:srgbClr val="A0AAB8"/>
                </a:solidFill>
                <a:latin typeface="Calibri"/>
              </a:rPr>
              <a:t>has_ep</a:t>
            </a:r>
          </a:p>
        </p:txBody>
      </p:sp>
      <p:sp>
        <p:nvSpPr>
          <p:cNvPr id="63" name="TextBox 62"/>
          <p:cNvSpPr txBox="1"/>
          <p:nvPr/>
        </p:nvSpPr>
        <p:spPr>
          <a:xfrm>
            <a:off x="2194560" y="4389120"/>
            <a:ext cx="914400" cy="164592"/>
          </a:xfrm>
          <a:prstGeom prst="rect">
            <a:avLst/>
          </a:prstGeom>
          <a:noFill/>
        </p:spPr>
        <p:txBody>
          <a:bodyPr wrap="square">
            <a:spAutoFit/>
          </a:bodyPr>
          <a:lstStyle/>
          <a:p>
            <a:pPr algn="l"/>
            <a:r>
              <a:rPr sz="700" b="0" i="1">
                <a:solidFill>
                  <a:srgbClr val="A0AAB8"/>
                </a:solidFill>
                <a:latin typeface="Calibri"/>
              </a:rPr>
              <a:t>affected_by</a:t>
            </a:r>
          </a:p>
        </p:txBody>
      </p:sp>
      <p:sp>
        <p:nvSpPr>
          <p:cNvPr id="64" name="TextBox 63"/>
          <p:cNvSpPr txBox="1"/>
          <p:nvPr/>
        </p:nvSpPr>
        <p:spPr>
          <a:xfrm>
            <a:off x="1005840" y="4389120"/>
            <a:ext cx="914400" cy="164592"/>
          </a:xfrm>
          <a:prstGeom prst="rect">
            <a:avLst/>
          </a:prstGeom>
          <a:noFill/>
        </p:spPr>
        <p:txBody>
          <a:bodyPr wrap="square">
            <a:spAutoFit/>
          </a:bodyPr>
          <a:lstStyle/>
          <a:p>
            <a:pPr algn="l"/>
            <a:r>
              <a:rPr sz="700" b="0" i="1">
                <a:solidFill>
                  <a:srgbClr val="A0AAB8"/>
                </a:solidFill>
                <a:latin typeface="Calibri"/>
              </a:rPr>
              <a:t>has_param</a:t>
            </a:r>
          </a:p>
        </p:txBody>
      </p:sp>
      <p:sp>
        <p:nvSpPr>
          <p:cNvPr id="65" name="TextBox 64"/>
          <p:cNvSpPr txBox="1"/>
          <p:nvPr/>
        </p:nvSpPr>
        <p:spPr>
          <a:xfrm>
            <a:off x="3383280" y="4389120"/>
            <a:ext cx="914400" cy="164592"/>
          </a:xfrm>
          <a:prstGeom prst="rect">
            <a:avLst/>
          </a:prstGeom>
          <a:noFill/>
        </p:spPr>
        <p:txBody>
          <a:bodyPr wrap="square">
            <a:spAutoFit/>
          </a:bodyPr>
          <a:lstStyle/>
          <a:p>
            <a:pPr algn="l"/>
            <a:r>
              <a:rPr sz="700" b="0" i="1">
                <a:solidFill>
                  <a:srgbClr val="A0AAB8"/>
                </a:solidFill>
                <a:latin typeface="Calibri"/>
              </a:rPr>
              <a:t>affected_by</a:t>
            </a:r>
          </a:p>
        </p:txBody>
      </p:sp>
      <p:sp>
        <p:nvSpPr>
          <p:cNvPr id="66" name="TextBox 65"/>
          <p:cNvSpPr txBox="1"/>
          <p:nvPr/>
        </p:nvSpPr>
        <p:spPr>
          <a:xfrm>
            <a:off x="3566160" y="5047488"/>
            <a:ext cx="914400" cy="164592"/>
          </a:xfrm>
          <a:prstGeom prst="rect">
            <a:avLst/>
          </a:prstGeom>
          <a:noFill/>
        </p:spPr>
        <p:txBody>
          <a:bodyPr wrap="square">
            <a:spAutoFit/>
          </a:bodyPr>
          <a:lstStyle/>
          <a:p>
            <a:pPr algn="l"/>
            <a:r>
              <a:rPr sz="700" b="0" i="1">
                <a:solidFill>
                  <a:srgbClr val="A0AAB8"/>
                </a:solidFill>
                <a:latin typeface="Calibri"/>
              </a:rPr>
              <a:t>validated_by</a:t>
            </a:r>
          </a:p>
        </p:txBody>
      </p:sp>
      <p:sp>
        <p:nvSpPr>
          <p:cNvPr id="67" name="Rectangle 66"/>
          <p:cNvSpPr/>
          <p:nvPr/>
        </p:nvSpPr>
        <p:spPr>
          <a:xfrm>
            <a:off x="384048" y="6400800"/>
            <a:ext cx="164592" cy="16459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85216" y="6382512"/>
            <a:ext cx="1188720" cy="201168"/>
          </a:xfrm>
          <a:prstGeom prst="rect">
            <a:avLst/>
          </a:prstGeom>
          <a:noFill/>
        </p:spPr>
        <p:txBody>
          <a:bodyPr wrap="square">
            <a:spAutoFit/>
          </a:bodyPr>
          <a:lstStyle/>
          <a:p>
            <a:pPr algn="l"/>
            <a:r>
              <a:rPr sz="800" b="0" i="0">
                <a:solidFill>
                  <a:srgbClr val="A0AAB8"/>
                </a:solidFill>
                <a:latin typeface="Calibri"/>
              </a:rPr>
              <a:t>Infrastructure</a:t>
            </a:r>
          </a:p>
        </p:txBody>
      </p:sp>
      <p:sp>
        <p:nvSpPr>
          <p:cNvPr id="69" name="Rectangle 68"/>
          <p:cNvSpPr/>
          <p:nvPr/>
        </p:nvSpPr>
        <p:spPr>
          <a:xfrm>
            <a:off x="1801368" y="6400800"/>
            <a:ext cx="164592" cy="16459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002536" y="6382512"/>
            <a:ext cx="1188720" cy="201168"/>
          </a:xfrm>
          <a:prstGeom prst="rect">
            <a:avLst/>
          </a:prstGeom>
          <a:noFill/>
        </p:spPr>
        <p:txBody>
          <a:bodyPr wrap="square">
            <a:spAutoFit/>
          </a:bodyPr>
          <a:lstStyle/>
          <a:p>
            <a:pPr algn="l"/>
            <a:r>
              <a:rPr sz="800" b="0" i="0">
                <a:solidFill>
                  <a:srgbClr val="A0AAB8"/>
                </a:solidFill>
                <a:latin typeface="Calibri"/>
              </a:rPr>
              <a:t>Application</a:t>
            </a:r>
          </a:p>
        </p:txBody>
      </p:sp>
      <p:sp>
        <p:nvSpPr>
          <p:cNvPr id="71" name="Rectangle 70"/>
          <p:cNvSpPr/>
          <p:nvPr/>
        </p:nvSpPr>
        <p:spPr>
          <a:xfrm>
            <a:off x="3218688" y="6400800"/>
            <a:ext cx="164592" cy="16459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419856" y="6382512"/>
            <a:ext cx="1188720" cy="201168"/>
          </a:xfrm>
          <a:prstGeom prst="rect">
            <a:avLst/>
          </a:prstGeom>
          <a:noFill/>
        </p:spPr>
        <p:txBody>
          <a:bodyPr wrap="square">
            <a:spAutoFit/>
          </a:bodyPr>
          <a:lstStyle/>
          <a:p>
            <a:pPr algn="l"/>
            <a:r>
              <a:rPr sz="800" b="0" i="0">
                <a:solidFill>
                  <a:srgbClr val="A0AAB8"/>
                </a:solidFill>
                <a:latin typeface="Calibri"/>
              </a:rPr>
              <a:t>Vulnerability</a:t>
            </a:r>
          </a:p>
        </p:txBody>
      </p:sp>
      <p:sp>
        <p:nvSpPr>
          <p:cNvPr id="73" name="Rectangle 72"/>
          <p:cNvSpPr/>
          <p:nvPr/>
        </p:nvSpPr>
        <p:spPr>
          <a:xfrm>
            <a:off x="4636008" y="6400800"/>
            <a:ext cx="164592" cy="16459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837176" y="6382512"/>
            <a:ext cx="1188720" cy="201168"/>
          </a:xfrm>
          <a:prstGeom prst="rect">
            <a:avLst/>
          </a:prstGeom>
          <a:noFill/>
        </p:spPr>
        <p:txBody>
          <a:bodyPr wrap="square">
            <a:spAutoFit/>
          </a:bodyPr>
          <a:lstStyle/>
          <a:p>
            <a:pPr algn="l"/>
            <a:r>
              <a:rPr sz="800" b="0" i="0">
                <a:solidFill>
                  <a:srgbClr val="A0AAB8"/>
                </a:solidFill>
                <a:latin typeface="Calibri"/>
              </a:rPr>
              <a:t>Evidence</a:t>
            </a:r>
          </a:p>
        </p:txBody>
      </p:sp>
      <p:sp>
        <p:nvSpPr>
          <p:cNvPr id="75" name="Rectangle 74"/>
          <p:cNvSpPr/>
          <p:nvPr/>
        </p:nvSpPr>
        <p:spPr>
          <a:xfrm>
            <a:off x="6263640" y="2011680"/>
            <a:ext cx="201168" cy="4389120"/>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72200" y="3931920"/>
            <a:ext cx="502920" cy="502920"/>
          </a:xfrm>
          <a:prstGeom prst="rect">
            <a:avLst/>
          </a:prstGeom>
          <a:noFill/>
        </p:spPr>
        <p:txBody>
          <a:bodyPr wrap="square">
            <a:spAutoFit/>
          </a:bodyPr>
          <a:lstStyle/>
          <a:p>
            <a:pPr algn="ctr"/>
            <a:r>
              <a:rPr sz="700" b="1" i="0">
                <a:solidFill>
                  <a:srgbClr val="FFFFFF"/>
                </a:solidFill>
                <a:latin typeface="Calibri"/>
              </a:rPr>
              <a:t>STRICT
SEPARATION</a:t>
            </a:r>
          </a:p>
        </p:txBody>
      </p:sp>
      <p:sp>
        <p:nvSpPr>
          <p:cNvPr id="77" name="Rectangle 76"/>
          <p:cNvSpPr/>
          <p:nvPr/>
        </p:nvSpPr>
        <p:spPr>
          <a:xfrm>
            <a:off x="6510528" y="822960"/>
            <a:ext cx="5571439" cy="5870448"/>
          </a:xfrm>
          <a:prstGeom prst="rect">
            <a:avLst/>
          </a:prstGeom>
          <a:solidFill>
            <a:srgbClr val="120A00"/>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620256" y="896112"/>
            <a:ext cx="5388559" cy="237744"/>
          </a:xfrm>
          <a:prstGeom prst="rect">
            <a:avLst/>
          </a:prstGeom>
          <a:noFill/>
        </p:spPr>
        <p:txBody>
          <a:bodyPr wrap="square">
            <a:spAutoFit/>
          </a:bodyPr>
          <a:lstStyle/>
          <a:p>
            <a:pPr algn="l"/>
            <a:r>
              <a:rPr sz="1400" b="1" i="0">
                <a:solidFill>
                  <a:srgbClr val="FFD700"/>
                </a:solidFill>
                <a:latin typeface="Calibri"/>
              </a:rPr>
              <a:t>APG — Attack Path Graph</a:t>
            </a:r>
          </a:p>
        </p:txBody>
      </p:sp>
      <p:sp>
        <p:nvSpPr>
          <p:cNvPr id="79" name="TextBox 78"/>
          <p:cNvSpPr txBox="1"/>
          <p:nvPr/>
        </p:nvSpPr>
        <p:spPr>
          <a:xfrm>
            <a:off x="6620256" y="1133856"/>
            <a:ext cx="5388559" cy="201168"/>
          </a:xfrm>
          <a:prstGeom prst="rect">
            <a:avLst/>
          </a:prstGeom>
          <a:noFill/>
        </p:spPr>
        <p:txBody>
          <a:bodyPr wrap="square">
            <a:spAutoFit/>
          </a:bodyPr>
          <a:lstStyle/>
          <a:p>
            <a:pPr algn="l"/>
            <a:r>
              <a:rPr sz="850" b="0" i="1">
                <a:solidFill>
                  <a:srgbClr val="A0AAB8"/>
                </a:solidFill>
                <a:latin typeface="Calibri"/>
              </a:rPr>
              <a:t>Inferred Opportunity  ·  Commander reasons from ASG vulnerabilities — no raw scan data</a:t>
            </a:r>
          </a:p>
        </p:txBody>
      </p:sp>
      <p:sp>
        <p:nvSpPr>
          <p:cNvPr id="80" name="Rectangle 79"/>
          <p:cNvSpPr/>
          <p:nvPr/>
        </p:nvSpPr>
        <p:spPr>
          <a:xfrm>
            <a:off x="6601968" y="1389888"/>
            <a:ext cx="5370271" cy="237744"/>
          </a:xfrm>
          <a:prstGeom prst="rect">
            <a:avLst/>
          </a:prstGeom>
          <a:solidFill>
            <a:srgbClr val="1A1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647688" y="1417320"/>
            <a:ext cx="5278831" cy="201168"/>
          </a:xfrm>
          <a:prstGeom prst="rect">
            <a:avLst/>
          </a:prstGeom>
          <a:noFill/>
        </p:spPr>
        <p:txBody>
          <a:bodyPr wrap="square">
            <a:spAutoFit/>
          </a:bodyPr>
          <a:lstStyle/>
          <a:p>
            <a:pPr algn="l"/>
            <a:r>
              <a:rPr sz="950" b="1" i="0">
                <a:solidFill>
                  <a:srgbClr val="FFFFFF"/>
                </a:solidFill>
                <a:latin typeface="Calibri"/>
              </a:rPr>
              <a:t>Chain-01: SQLi → RCE  risk: 9.1↑  ✓ VALIDATED</a:t>
            </a:r>
          </a:p>
        </p:txBody>
      </p:sp>
      <p:sp>
        <p:nvSpPr>
          <p:cNvPr id="82" name="Rectangle 81"/>
          <p:cNvSpPr/>
          <p:nvPr/>
        </p:nvSpPr>
        <p:spPr>
          <a:xfrm>
            <a:off x="6601968" y="1627632"/>
            <a:ext cx="1707794" cy="548640"/>
          </a:xfrm>
          <a:prstGeom prst="rect">
            <a:avLst/>
          </a:prstGeom>
          <a:solidFill>
            <a:srgbClr val="0A180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647688" y="1645920"/>
            <a:ext cx="1634642" cy="493776"/>
          </a:xfrm>
          <a:prstGeom prst="rect">
            <a:avLst/>
          </a:prstGeom>
          <a:noFill/>
        </p:spPr>
        <p:txBody>
          <a:bodyPr wrap="square">
            <a:spAutoFit/>
          </a:bodyPr>
          <a:lstStyle/>
          <a:p>
            <a:pPr algn="ctr"/>
            <a:r>
              <a:rPr sz="750" b="0" i="0">
                <a:solidFill>
                  <a:srgbClr val="FFFFFF"/>
                </a:solidFill>
                <a:latin typeface="Calibri"/>
              </a:rPr>
              <a:t>SQLMap
WP_Query
SQLi confirmed</a:t>
            </a:r>
          </a:p>
        </p:txBody>
      </p:sp>
      <p:cxnSp>
        <p:nvCxnSpPr>
          <p:cNvPr id="84" name="Connector 83"/>
          <p:cNvCxnSpPr/>
          <p:nvPr/>
        </p:nvCxnSpPr>
        <p:spPr>
          <a:xfrm>
            <a:off x="8309762.333333333" y="1901952"/>
            <a:ext cx="54864.0" cy="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8364626" y="1627632"/>
            <a:ext cx="1707794" cy="548640"/>
          </a:xfrm>
          <a:prstGeom prst="rect">
            <a:avLst/>
          </a:prstGeom>
          <a:solidFill>
            <a:srgbClr val="0A180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410346" y="1645920"/>
            <a:ext cx="1634642" cy="493776"/>
          </a:xfrm>
          <a:prstGeom prst="rect">
            <a:avLst/>
          </a:prstGeom>
          <a:noFill/>
        </p:spPr>
        <p:txBody>
          <a:bodyPr wrap="square">
            <a:spAutoFit/>
          </a:bodyPr>
          <a:lstStyle/>
          <a:p>
            <a:pPr algn="ctr"/>
            <a:r>
              <a:rPr sz="750" b="0" i="0">
                <a:solidFill>
                  <a:srgbClr val="FFFFFF"/>
                </a:solidFill>
                <a:latin typeface="Calibri"/>
              </a:rPr>
              <a:t>SQLMap
dump users
hash cracked</a:t>
            </a:r>
          </a:p>
        </p:txBody>
      </p:sp>
      <p:cxnSp>
        <p:nvCxnSpPr>
          <p:cNvPr id="87" name="Connector 86"/>
          <p:cNvCxnSpPr/>
          <p:nvPr/>
        </p:nvCxnSpPr>
        <p:spPr>
          <a:xfrm>
            <a:off x="10072420.666666666" y="1901952"/>
            <a:ext cx="54864.0" cy="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8" name="Rectangle 87"/>
          <p:cNvSpPr/>
          <p:nvPr/>
        </p:nvSpPr>
        <p:spPr>
          <a:xfrm>
            <a:off x="10127284" y="1627632"/>
            <a:ext cx="1707794" cy="548640"/>
          </a:xfrm>
          <a:prstGeom prst="rect">
            <a:avLst/>
          </a:prstGeom>
          <a:solidFill>
            <a:srgbClr val="0A180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0173004" y="1645920"/>
            <a:ext cx="1634642" cy="493776"/>
          </a:xfrm>
          <a:prstGeom prst="rect">
            <a:avLst/>
          </a:prstGeom>
          <a:noFill/>
        </p:spPr>
        <p:txBody>
          <a:bodyPr wrap="square">
            <a:spAutoFit/>
          </a:bodyPr>
          <a:lstStyle/>
          <a:p>
            <a:pPr algn="ctr"/>
            <a:r>
              <a:rPr sz="750" b="0" i="0">
                <a:solidFill>
                  <a:srgbClr val="FFFFFF"/>
                </a:solidFill>
                <a:latin typeface="Calibri"/>
              </a:rPr>
              <a:t>Metasploit
webshell
Full RCE</a:t>
            </a:r>
          </a:p>
        </p:txBody>
      </p:sp>
      <p:sp>
        <p:nvSpPr>
          <p:cNvPr id="90" name="Rectangle 89"/>
          <p:cNvSpPr/>
          <p:nvPr/>
        </p:nvSpPr>
        <p:spPr>
          <a:xfrm>
            <a:off x="6601968" y="2176272"/>
            <a:ext cx="5370271" cy="256032"/>
          </a:xfrm>
          <a:prstGeom prst="rect">
            <a:avLst/>
          </a:prstGeom>
          <a:solidFill>
            <a:srgbClr val="200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647688" y="2212848"/>
            <a:ext cx="5278831" cy="201168"/>
          </a:xfrm>
          <a:prstGeom prst="rect">
            <a:avLst/>
          </a:prstGeom>
          <a:noFill/>
        </p:spPr>
        <p:txBody>
          <a:bodyPr wrap="square">
            <a:spAutoFit/>
          </a:bodyPr>
          <a:lstStyle/>
          <a:p>
            <a:pPr algn="l"/>
            <a:r>
              <a:rPr sz="800" b="1" i="0">
                <a:solidFill>
                  <a:srgbClr val="FFFFFF"/>
                </a:solidFill>
                <a:latin typeface="Calibri"/>
              </a:rPr>
              <a:t>IMPACT  CRITICAL  ·  Full RCE · Customer PII exposed</a:t>
            </a:r>
          </a:p>
        </p:txBody>
      </p:sp>
      <p:sp>
        <p:nvSpPr>
          <p:cNvPr id="92" name="Rectangle 91"/>
          <p:cNvSpPr/>
          <p:nvPr/>
        </p:nvSpPr>
        <p:spPr>
          <a:xfrm>
            <a:off x="6601968" y="2505456"/>
            <a:ext cx="5370271" cy="237744"/>
          </a:xfrm>
          <a:prstGeom prst="rect">
            <a:avLst/>
          </a:prstGeom>
          <a:solidFill>
            <a:srgbClr val="0A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647688" y="2532888"/>
            <a:ext cx="5278831" cy="201168"/>
          </a:xfrm>
          <a:prstGeom prst="rect">
            <a:avLst/>
          </a:prstGeom>
          <a:noFill/>
        </p:spPr>
        <p:txBody>
          <a:bodyPr wrap="square">
            <a:spAutoFit/>
          </a:bodyPr>
          <a:lstStyle/>
          <a:p>
            <a:pPr algn="l"/>
            <a:r>
              <a:rPr sz="950" b="1" i="0">
                <a:solidFill>
                  <a:srgbClr val="FFFFFF"/>
                </a:solidFill>
                <a:latin typeface="Calibri"/>
              </a:rPr>
              <a:t>Chain-02: IDOR → Orders  risk: 7.5  ✓ VALIDATED</a:t>
            </a:r>
          </a:p>
        </p:txBody>
      </p:sp>
      <p:sp>
        <p:nvSpPr>
          <p:cNvPr id="94" name="Rectangle 93"/>
          <p:cNvSpPr/>
          <p:nvPr/>
        </p:nvSpPr>
        <p:spPr>
          <a:xfrm>
            <a:off x="6601968" y="2743200"/>
            <a:ext cx="2589123" cy="548640"/>
          </a:xfrm>
          <a:prstGeom prst="rect">
            <a:avLst/>
          </a:prstGeom>
          <a:solidFill>
            <a:srgbClr val="0A180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647688" y="2761488"/>
            <a:ext cx="2515971" cy="493776"/>
          </a:xfrm>
          <a:prstGeom prst="rect">
            <a:avLst/>
          </a:prstGeom>
          <a:noFill/>
        </p:spPr>
        <p:txBody>
          <a:bodyPr wrap="square">
            <a:spAutoFit/>
          </a:bodyPr>
          <a:lstStyle/>
          <a:p>
            <a:pPr algn="ctr"/>
            <a:r>
              <a:rPr sz="750" b="0" i="0">
                <a:solidFill>
                  <a:srgbClr val="FFFFFF"/>
                </a:solidFill>
                <a:latin typeface="Calibri"/>
              </a:rPr>
              <a:t>SQLMap
IDOR param
confirmed</a:t>
            </a:r>
          </a:p>
        </p:txBody>
      </p:sp>
      <p:cxnSp>
        <p:nvCxnSpPr>
          <p:cNvPr id="96" name="Connector 95"/>
          <p:cNvCxnSpPr/>
          <p:nvPr/>
        </p:nvCxnSpPr>
        <p:spPr>
          <a:xfrm>
            <a:off x="9191091.5" y="3017520"/>
            <a:ext cx="54864.0" cy="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7" name="Rectangle 96"/>
          <p:cNvSpPr/>
          <p:nvPr/>
        </p:nvSpPr>
        <p:spPr>
          <a:xfrm>
            <a:off x="9245955" y="2743200"/>
            <a:ext cx="2589123" cy="548640"/>
          </a:xfrm>
          <a:prstGeom prst="rect">
            <a:avLst/>
          </a:prstGeom>
          <a:solidFill>
            <a:srgbClr val="0A180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291675" y="2761488"/>
            <a:ext cx="2515971" cy="493776"/>
          </a:xfrm>
          <a:prstGeom prst="rect">
            <a:avLst/>
          </a:prstGeom>
          <a:noFill/>
        </p:spPr>
        <p:txBody>
          <a:bodyPr wrap="square">
            <a:spAutoFit/>
          </a:bodyPr>
          <a:lstStyle/>
          <a:p>
            <a:pPr algn="ctr"/>
            <a:r>
              <a:rPr sz="750" b="0" i="0">
                <a:solidFill>
                  <a:srgbClr val="FFFFFF"/>
                </a:solidFill>
                <a:latin typeface="Calibri"/>
              </a:rPr>
              <a:t>HTTP GET
all orders
PII exposed</a:t>
            </a:r>
          </a:p>
        </p:txBody>
      </p:sp>
      <p:sp>
        <p:nvSpPr>
          <p:cNvPr id="99" name="Rectangle 98"/>
          <p:cNvSpPr/>
          <p:nvPr/>
        </p:nvSpPr>
        <p:spPr>
          <a:xfrm>
            <a:off x="6601968" y="3291840"/>
            <a:ext cx="5370271" cy="256032"/>
          </a:xfrm>
          <a:prstGeom prst="rect">
            <a:avLst/>
          </a:prstGeom>
          <a:solidFill>
            <a:srgbClr val="200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647688" y="3328416"/>
            <a:ext cx="5278831" cy="201168"/>
          </a:xfrm>
          <a:prstGeom prst="rect">
            <a:avLst/>
          </a:prstGeom>
          <a:noFill/>
        </p:spPr>
        <p:txBody>
          <a:bodyPr wrap="square">
            <a:spAutoFit/>
          </a:bodyPr>
          <a:lstStyle/>
          <a:p>
            <a:pPr algn="l"/>
            <a:r>
              <a:rPr sz="800" b="1" i="0">
                <a:solidFill>
                  <a:srgbClr val="FFFFFF"/>
                </a:solidFill>
                <a:latin typeface="Calibri"/>
              </a:rPr>
              <a:t>IMPACT  HIGH  ·  All orders + PII exposed</a:t>
            </a:r>
          </a:p>
        </p:txBody>
      </p:sp>
      <p:sp>
        <p:nvSpPr>
          <p:cNvPr id="101" name="Rectangle 100"/>
          <p:cNvSpPr/>
          <p:nvPr/>
        </p:nvSpPr>
        <p:spPr>
          <a:xfrm>
            <a:off x="6601968" y="3621024"/>
            <a:ext cx="5370271" cy="237744"/>
          </a:xfrm>
          <a:prstGeom prst="rect">
            <a:avLst/>
          </a:prstGeom>
          <a:solidFill>
            <a:srgbClr val="161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647688" y="3648456"/>
            <a:ext cx="5278831" cy="201168"/>
          </a:xfrm>
          <a:prstGeom prst="rect">
            <a:avLst/>
          </a:prstGeom>
          <a:noFill/>
        </p:spPr>
        <p:txBody>
          <a:bodyPr wrap="square">
            <a:spAutoFit/>
          </a:bodyPr>
          <a:lstStyle/>
          <a:p>
            <a:pPr algn="l"/>
            <a:r>
              <a:rPr sz="950" b="1" i="0">
                <a:solidFill>
                  <a:srgbClr val="FFFFFF"/>
                </a:solidFill>
                <a:latin typeface="Calibri"/>
              </a:rPr>
              <a:t>Chain-03: Blind SQLi → Creds  risk: 8.1  ✓ VALIDATED</a:t>
            </a:r>
          </a:p>
        </p:txBody>
      </p:sp>
      <p:sp>
        <p:nvSpPr>
          <p:cNvPr id="103" name="Rectangle 102"/>
          <p:cNvSpPr/>
          <p:nvPr/>
        </p:nvSpPr>
        <p:spPr>
          <a:xfrm>
            <a:off x="6601968" y="3858768"/>
            <a:ext cx="2589123" cy="548640"/>
          </a:xfrm>
          <a:prstGeom prst="rect">
            <a:avLst/>
          </a:prstGeom>
          <a:solidFill>
            <a:srgbClr val="0A180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6647688" y="3877056"/>
            <a:ext cx="2515971" cy="493776"/>
          </a:xfrm>
          <a:prstGeom prst="rect">
            <a:avLst/>
          </a:prstGeom>
          <a:noFill/>
        </p:spPr>
        <p:txBody>
          <a:bodyPr wrap="square">
            <a:spAutoFit/>
          </a:bodyPr>
          <a:lstStyle/>
          <a:p>
            <a:pPr algn="ctr"/>
            <a:r>
              <a:rPr sz="750" b="0" i="0">
                <a:solidFill>
                  <a:srgbClr val="FFFFFF"/>
                </a:solidFill>
                <a:latin typeface="Calibri"/>
              </a:rPr>
              <a:t>SQLMap
blind SQLi
staging login</a:t>
            </a:r>
          </a:p>
        </p:txBody>
      </p:sp>
      <p:cxnSp>
        <p:nvCxnSpPr>
          <p:cNvPr id="105" name="Connector 104"/>
          <p:cNvCxnSpPr/>
          <p:nvPr/>
        </p:nvCxnSpPr>
        <p:spPr>
          <a:xfrm>
            <a:off x="9191091.5" y="4133088"/>
            <a:ext cx="54864.0" cy="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06" name="Rectangle 105"/>
          <p:cNvSpPr/>
          <p:nvPr/>
        </p:nvSpPr>
        <p:spPr>
          <a:xfrm>
            <a:off x="9245955" y="3858768"/>
            <a:ext cx="2589123" cy="548640"/>
          </a:xfrm>
          <a:prstGeom prst="rect">
            <a:avLst/>
          </a:prstGeom>
          <a:solidFill>
            <a:srgbClr val="0A180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9291675" y="3877056"/>
            <a:ext cx="2515971" cy="493776"/>
          </a:xfrm>
          <a:prstGeom prst="rect">
            <a:avLst/>
          </a:prstGeom>
          <a:noFill/>
        </p:spPr>
        <p:txBody>
          <a:bodyPr wrap="square">
            <a:spAutoFit/>
          </a:bodyPr>
          <a:lstStyle/>
          <a:p>
            <a:pPr algn="ctr"/>
            <a:r>
              <a:rPr sz="750" b="0" i="0">
                <a:solidFill>
                  <a:srgbClr val="FFFFFF"/>
                </a:solidFill>
                <a:latin typeface="Calibri"/>
              </a:rPr>
              <a:t>Extract
DB creds
reuse risk</a:t>
            </a:r>
          </a:p>
        </p:txBody>
      </p:sp>
      <p:sp>
        <p:nvSpPr>
          <p:cNvPr id="108" name="Rectangle 107"/>
          <p:cNvSpPr/>
          <p:nvPr/>
        </p:nvSpPr>
        <p:spPr>
          <a:xfrm>
            <a:off x="6601968" y="4407408"/>
            <a:ext cx="5370271" cy="256032"/>
          </a:xfrm>
          <a:prstGeom prst="rect">
            <a:avLst/>
          </a:prstGeom>
          <a:solidFill>
            <a:srgbClr val="200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647688" y="4443984"/>
            <a:ext cx="5278831" cy="201168"/>
          </a:xfrm>
          <a:prstGeom prst="rect">
            <a:avLst/>
          </a:prstGeom>
          <a:noFill/>
        </p:spPr>
        <p:txBody>
          <a:bodyPr wrap="square">
            <a:spAutoFit/>
          </a:bodyPr>
          <a:lstStyle/>
          <a:p>
            <a:pPr algn="l"/>
            <a:r>
              <a:rPr sz="800" b="1" i="0">
                <a:solidFill>
                  <a:srgbClr val="FFFFFF"/>
                </a:solidFill>
                <a:latin typeface="Calibri"/>
              </a:rPr>
              <a:t>IMPACT  HIGH  ·  DB credentials extracted · reuse risk</a:t>
            </a:r>
          </a:p>
        </p:txBody>
      </p:sp>
      <p:sp>
        <p:nvSpPr>
          <p:cNvPr id="110" name="Rectangle 109"/>
          <p:cNvSpPr/>
          <p:nvPr/>
        </p:nvSpPr>
        <p:spPr>
          <a:xfrm>
            <a:off x="6601968" y="4791456"/>
            <a:ext cx="5370271"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6647688" y="4828032"/>
            <a:ext cx="5297119" cy="182880"/>
          </a:xfrm>
          <a:prstGeom prst="rect">
            <a:avLst/>
          </a:prstGeom>
          <a:noFill/>
        </p:spPr>
        <p:txBody>
          <a:bodyPr wrap="square">
            <a:spAutoFit/>
          </a:bodyPr>
          <a:lstStyle/>
          <a:p>
            <a:pPr algn="ctr"/>
            <a:r>
              <a:rPr sz="800" b="1" i="0">
                <a:solidFill>
                  <a:srgbClr val="0A0D1A"/>
                </a:solidFill>
                <a:latin typeface="Calibri"/>
              </a:rPr>
              <a:t>APG Priority Queue:  #1 Chain-01 · 9.1  ·  #2 Chain-03 · 8.1  ·  #3 Chain-02 · 7.5  ·  #4 Chain-04 · 7.0</a:t>
            </a:r>
          </a:p>
        </p:txBody>
      </p:sp>
      <p:sp>
        <p:nvSpPr>
          <p:cNvPr id="112" name="TextBox 111"/>
          <p:cNvSpPr txBox="1"/>
          <p:nvPr/>
        </p:nvSpPr>
        <p:spPr>
          <a:xfrm>
            <a:off x="6647688" y="5010912"/>
            <a:ext cx="5297119" cy="164592"/>
          </a:xfrm>
          <a:prstGeom prst="rect">
            <a:avLst/>
          </a:prstGeom>
          <a:noFill/>
        </p:spPr>
        <p:txBody>
          <a:bodyPr wrap="square">
            <a:spAutoFit/>
          </a:bodyPr>
          <a:lstStyle/>
          <a:p>
            <a:pPr algn="ctr"/>
            <a:r>
              <a:rPr sz="750" b="0" i="0">
                <a:solidFill>
                  <a:srgbClr val="0A0D1A"/>
                </a:solidFill>
                <a:latin typeface="Calibri"/>
              </a:rPr>
              <a:t>· Commander re-ranks on every status change</a:t>
            </a:r>
          </a:p>
        </p:txBody>
      </p:sp>
      <p:sp>
        <p:nvSpPr>
          <p:cNvPr id="113" name="TextBox 112"/>
          <p:cNvSpPr txBox="1"/>
          <p:nvPr/>
        </p:nvSpPr>
        <p:spPr>
          <a:xfrm>
            <a:off x="274320" y="6455664"/>
            <a:ext cx="11643055" cy="219456"/>
          </a:xfrm>
          <a:prstGeom prst="rect">
            <a:avLst/>
          </a:prstGeom>
          <a:noFill/>
        </p:spPr>
        <p:txBody>
          <a:bodyPr wrap="square">
            <a:spAutoFit/>
          </a:bodyPr>
          <a:lstStyle/>
          <a:p>
            <a:pPr algn="l"/>
            <a:r>
              <a:rPr sz="800" b="0" i="1">
                <a:solidFill>
                  <a:srgbClr val="A0AAB8"/>
                </a:solidFill>
                <a:latin typeface="Calibri"/>
              </a:rPr>
              <a:t>Separation Principle: Discovery agents write only to the ASG — they never reason about chains.  The Commander writes only to the APG — it never runs tools.  No agent conflates discovered facts with hypothesised attack reasoning.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BD93F9"/>
                </a:solidFill>
                <a:latin typeface="Calibri"/>
              </a:rPr>
              <a:t>AGENT ARCHITECTURE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800" b="1" i="0">
                <a:solidFill>
                  <a:srgbClr val="FFFFFF"/>
                </a:solidFill>
                <a:latin typeface="Calibri"/>
              </a:rPr>
              <a:t>Context-Isolated Agents — Spawn · Execute · Return · Discard</a:t>
            </a:r>
          </a:p>
        </p:txBody>
      </p:sp>
      <p:sp>
        <p:nvSpPr>
          <p:cNvPr id="7" name="TextBox 6"/>
          <p:cNvSpPr txBox="1"/>
          <p:nvPr/>
        </p:nvSpPr>
        <p:spPr>
          <a:xfrm>
            <a:off x="11780215" y="6355080"/>
            <a:ext cx="384048" cy="411480"/>
          </a:xfrm>
          <a:prstGeom prst="rect">
            <a:avLst/>
          </a:prstGeom>
          <a:noFill/>
        </p:spPr>
        <p:txBody>
          <a:bodyPr wrap="square">
            <a:spAutoFit/>
          </a:bodyPr>
          <a:lstStyle/>
          <a:p>
            <a:pPr algn="r"/>
            <a:r>
              <a:rPr sz="1300" b="1" i="0">
                <a:solidFill>
                  <a:srgbClr val="BD93F9"/>
                </a:solidFill>
                <a:latin typeface="Calibri"/>
              </a:rPr>
              <a:t>07</a:t>
            </a:r>
          </a:p>
        </p:txBody>
      </p:sp>
      <p:sp>
        <p:nvSpPr>
          <p:cNvPr id="8" name="Rectangle 7"/>
          <p:cNvSpPr/>
          <p:nvPr/>
        </p:nvSpPr>
        <p:spPr>
          <a:xfrm>
            <a:off x="274320" y="914400"/>
            <a:ext cx="4617720" cy="5742432"/>
          </a:xfrm>
          <a:prstGeom prst="rect">
            <a:avLst/>
          </a:prstGeom>
          <a:solidFill>
            <a:srgbClr val="080618"/>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987552"/>
            <a:ext cx="4617720" cy="219456"/>
          </a:xfrm>
          <a:prstGeom prst="rect">
            <a:avLst/>
          </a:prstGeom>
          <a:noFill/>
        </p:spPr>
        <p:txBody>
          <a:bodyPr wrap="square">
            <a:spAutoFit/>
          </a:bodyPr>
          <a:lstStyle/>
          <a:p>
            <a:pPr algn="ctr"/>
            <a:r>
              <a:rPr sz="1000" b="1" i="0">
                <a:solidFill>
                  <a:srgbClr val="BD93F9"/>
                </a:solidFill>
                <a:latin typeface="Calibri"/>
              </a:rPr>
              <a:t>CONTEXT ISOLATION MODEL</a:t>
            </a:r>
          </a:p>
        </p:txBody>
      </p:sp>
      <p:sp>
        <p:nvSpPr>
          <p:cNvPr id="10" name="Rectangle 9"/>
          <p:cNvSpPr/>
          <p:nvPr/>
        </p:nvSpPr>
        <p:spPr>
          <a:xfrm>
            <a:off x="411480" y="1243584"/>
            <a:ext cx="4343400" cy="25603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252728"/>
            <a:ext cx="4343400" cy="219456"/>
          </a:xfrm>
          <a:prstGeom prst="rect">
            <a:avLst/>
          </a:prstGeom>
          <a:noFill/>
        </p:spPr>
        <p:txBody>
          <a:bodyPr wrap="square">
            <a:spAutoFit/>
          </a:bodyPr>
          <a:lstStyle/>
          <a:p>
            <a:pPr algn="ctr"/>
            <a:r>
              <a:rPr sz="950" b="1" i="0">
                <a:solidFill>
                  <a:srgbClr val="0A0D1A"/>
                </a:solidFill>
                <a:latin typeface="Calibri"/>
              </a:rPr>
              <a:t>COMMANDER AGENT</a:t>
            </a:r>
          </a:p>
        </p:txBody>
      </p:sp>
      <p:sp>
        <p:nvSpPr>
          <p:cNvPr id="12" name="Rectangle 11"/>
          <p:cNvSpPr/>
          <p:nvPr/>
        </p:nvSpPr>
        <p:spPr>
          <a:xfrm>
            <a:off x="411480" y="1499616"/>
            <a:ext cx="4343400" cy="256032"/>
          </a:xfrm>
          <a:prstGeom prst="rect">
            <a:avLst/>
          </a:prstGeom>
          <a:solidFill>
            <a:srgbClr val="00243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1517904"/>
            <a:ext cx="4288536" cy="201168"/>
          </a:xfrm>
          <a:prstGeom prst="rect">
            <a:avLst/>
          </a:prstGeom>
          <a:noFill/>
        </p:spPr>
        <p:txBody>
          <a:bodyPr wrap="square">
            <a:spAutoFit/>
          </a:bodyPr>
          <a:lstStyle/>
          <a:p>
            <a:pPr algn="ctr"/>
            <a:r>
              <a:rPr sz="900" b="0" i="1">
                <a:solidFill>
                  <a:srgbClr val="FFFFFF"/>
                </a:solidFill>
                <a:latin typeface="Calibri"/>
              </a:rPr>
              <a:t>Reads ASG + APG → decides next action</a:t>
            </a:r>
          </a:p>
        </p:txBody>
      </p:sp>
      <p:sp>
        <p:nvSpPr>
          <p:cNvPr id="14" name="TextBox 13"/>
          <p:cNvSpPr txBox="1"/>
          <p:nvPr/>
        </p:nvSpPr>
        <p:spPr>
          <a:xfrm>
            <a:off x="411480" y="1801368"/>
            <a:ext cx="4343400" cy="164592"/>
          </a:xfrm>
          <a:prstGeom prst="rect">
            <a:avLst/>
          </a:prstGeom>
          <a:noFill/>
        </p:spPr>
        <p:txBody>
          <a:bodyPr wrap="square">
            <a:spAutoFit/>
          </a:bodyPr>
          <a:lstStyle/>
          <a:p>
            <a:pPr algn="ctr"/>
            <a:r>
              <a:rPr sz="800" b="0" i="1">
                <a:solidFill>
                  <a:srgbClr val="A0AAB8"/>
                </a:solidFill>
                <a:latin typeface="Calibri"/>
              </a:rPr>
              <a:t>spawn with scoped context</a:t>
            </a:r>
          </a:p>
        </p:txBody>
      </p:sp>
      <p:cxnSp>
        <p:nvCxnSpPr>
          <p:cNvPr id="15" name="Connector 14"/>
          <p:cNvCxnSpPr/>
          <p:nvPr/>
        </p:nvCxnSpPr>
        <p:spPr>
          <a:xfrm>
            <a:off x="2583180.0" y="1938528"/>
            <a:ext cx="0.0" cy="164592"/>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4048" y="2121408"/>
            <a:ext cx="4398264" cy="3017520"/>
          </a:xfrm>
          <a:prstGeom prst="rect">
            <a:avLst/>
          </a:prstGeom>
          <a:solidFill>
            <a:srgbClr val="040414"/>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 y="2176272"/>
            <a:ext cx="4288536" cy="201168"/>
          </a:xfrm>
          <a:prstGeom prst="rect">
            <a:avLst/>
          </a:prstGeom>
          <a:noFill/>
        </p:spPr>
        <p:txBody>
          <a:bodyPr wrap="square">
            <a:spAutoFit/>
          </a:bodyPr>
          <a:lstStyle/>
          <a:p>
            <a:pPr algn="l"/>
            <a:r>
              <a:rPr sz="850" b="1" i="0">
                <a:solidFill>
                  <a:srgbClr val="A0AAB8"/>
                </a:solidFill>
                <a:latin typeface="Calibri"/>
              </a:rPr>
              <a:t>ISOLATED AGENT CONTEXT  (fresh per task)</a:t>
            </a:r>
          </a:p>
        </p:txBody>
      </p:sp>
      <p:sp>
        <p:nvSpPr>
          <p:cNvPr id="18" name="Rectangle 17"/>
          <p:cNvSpPr/>
          <p:nvPr/>
        </p:nvSpPr>
        <p:spPr>
          <a:xfrm>
            <a:off x="438912" y="2432304"/>
            <a:ext cx="4288536" cy="548640"/>
          </a:xfrm>
          <a:prstGeom prst="rect">
            <a:avLst/>
          </a:prstGeom>
          <a:solidFill>
            <a:srgbClr val="0A0A20"/>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87168"/>
            <a:ext cx="1097280" cy="201168"/>
          </a:xfrm>
          <a:prstGeom prst="rect">
            <a:avLst/>
          </a:prstGeom>
          <a:noFill/>
        </p:spPr>
        <p:txBody>
          <a:bodyPr wrap="square">
            <a:spAutoFit/>
          </a:bodyPr>
          <a:lstStyle/>
          <a:p>
            <a:pPr algn="l"/>
            <a:r>
              <a:rPr sz="900" b="1" i="0">
                <a:solidFill>
                  <a:srgbClr val="39FF14"/>
                </a:solidFill>
                <a:latin typeface="Calibri"/>
              </a:rPr>
              <a:t>ASG SLICE</a:t>
            </a:r>
          </a:p>
        </p:txBody>
      </p:sp>
      <p:sp>
        <p:nvSpPr>
          <p:cNvPr id="20" name="TextBox 19"/>
          <p:cNvSpPr txBox="1"/>
          <p:nvPr/>
        </p:nvSpPr>
        <p:spPr>
          <a:xfrm>
            <a:off x="1645920" y="2487168"/>
            <a:ext cx="3063240" cy="201168"/>
          </a:xfrm>
          <a:prstGeom prst="rect">
            <a:avLst/>
          </a:prstGeom>
          <a:noFill/>
        </p:spPr>
        <p:txBody>
          <a:bodyPr wrap="square">
            <a:spAutoFit/>
          </a:bodyPr>
          <a:lstStyle/>
          <a:p>
            <a:pPr algn="l"/>
            <a:r>
              <a:rPr sz="850" b="0" i="1">
                <a:solidFill>
                  <a:srgbClr val="FFFFFF"/>
                </a:solidFill>
                <a:latin typeface="Calibri"/>
              </a:rPr>
              <a:t>Only nodes relevant to this task</a:t>
            </a:r>
          </a:p>
        </p:txBody>
      </p:sp>
      <p:sp>
        <p:nvSpPr>
          <p:cNvPr id="21" name="Rectangle 20"/>
          <p:cNvSpPr/>
          <p:nvPr/>
        </p:nvSpPr>
        <p:spPr>
          <a:xfrm>
            <a:off x="438912" y="3090672"/>
            <a:ext cx="4288536" cy="548640"/>
          </a:xfrm>
          <a:prstGeom prst="rect">
            <a:avLst/>
          </a:prstGeom>
          <a:solidFill>
            <a:srgbClr val="0A0A20"/>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3145536"/>
            <a:ext cx="1097280" cy="201168"/>
          </a:xfrm>
          <a:prstGeom prst="rect">
            <a:avLst/>
          </a:prstGeom>
          <a:noFill/>
        </p:spPr>
        <p:txBody>
          <a:bodyPr wrap="square">
            <a:spAutoFit/>
          </a:bodyPr>
          <a:lstStyle/>
          <a:p>
            <a:pPr algn="l"/>
            <a:r>
              <a:rPr sz="900" b="1" i="0">
                <a:solidFill>
                  <a:srgbClr val="FFD700"/>
                </a:solidFill>
                <a:latin typeface="Calibri"/>
              </a:rPr>
              <a:t>APG SLICE</a:t>
            </a:r>
          </a:p>
        </p:txBody>
      </p:sp>
      <p:sp>
        <p:nvSpPr>
          <p:cNvPr id="23" name="TextBox 22"/>
          <p:cNvSpPr txBox="1"/>
          <p:nvPr/>
        </p:nvSpPr>
        <p:spPr>
          <a:xfrm>
            <a:off x="1645920" y="3145536"/>
            <a:ext cx="3063240" cy="201168"/>
          </a:xfrm>
          <a:prstGeom prst="rect">
            <a:avLst/>
          </a:prstGeom>
          <a:noFill/>
        </p:spPr>
        <p:txBody>
          <a:bodyPr wrap="square">
            <a:spAutoFit/>
          </a:bodyPr>
          <a:lstStyle/>
          <a:p>
            <a:pPr algn="l"/>
            <a:r>
              <a:rPr sz="850" b="0" i="1">
                <a:solidFill>
                  <a:srgbClr val="FFFFFF"/>
                </a:solidFill>
                <a:latin typeface="Calibri"/>
              </a:rPr>
              <a:t>Relevant AttackChains (if any)</a:t>
            </a:r>
          </a:p>
        </p:txBody>
      </p:sp>
      <p:sp>
        <p:nvSpPr>
          <p:cNvPr id="24" name="Rectangle 23"/>
          <p:cNvSpPr/>
          <p:nvPr/>
        </p:nvSpPr>
        <p:spPr>
          <a:xfrm>
            <a:off x="438912" y="3749040"/>
            <a:ext cx="4288536" cy="548640"/>
          </a:xfrm>
          <a:prstGeom prst="rect">
            <a:avLst/>
          </a:prstGeom>
          <a:solidFill>
            <a:srgbClr val="0A0A20"/>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3776" y="3803904"/>
            <a:ext cx="1097280" cy="201168"/>
          </a:xfrm>
          <a:prstGeom prst="rect">
            <a:avLst/>
          </a:prstGeom>
          <a:noFill/>
        </p:spPr>
        <p:txBody>
          <a:bodyPr wrap="square">
            <a:spAutoFit/>
          </a:bodyPr>
          <a:lstStyle/>
          <a:p>
            <a:pPr algn="l"/>
            <a:r>
              <a:rPr sz="900" b="1" i="0">
                <a:solidFill>
                  <a:srgbClr val="FF4545"/>
                </a:solidFill>
                <a:latin typeface="Calibri"/>
              </a:rPr>
              <a:t>TOOL SET</a:t>
            </a:r>
          </a:p>
        </p:txBody>
      </p:sp>
      <p:sp>
        <p:nvSpPr>
          <p:cNvPr id="26" name="TextBox 25"/>
          <p:cNvSpPr txBox="1"/>
          <p:nvPr/>
        </p:nvSpPr>
        <p:spPr>
          <a:xfrm>
            <a:off x="1645920" y="3803904"/>
            <a:ext cx="3063240" cy="201168"/>
          </a:xfrm>
          <a:prstGeom prst="rect">
            <a:avLst/>
          </a:prstGeom>
          <a:noFill/>
        </p:spPr>
        <p:txBody>
          <a:bodyPr wrap="square">
            <a:spAutoFit/>
          </a:bodyPr>
          <a:lstStyle/>
          <a:p>
            <a:pPr algn="l"/>
            <a:r>
              <a:rPr sz="850" b="0" i="1">
                <a:solidFill>
                  <a:srgbClr val="FFFFFF"/>
                </a:solidFill>
                <a:latin typeface="Calibri"/>
              </a:rPr>
              <a:t>Authorized tools only — no others</a:t>
            </a:r>
          </a:p>
        </p:txBody>
      </p:sp>
      <p:sp>
        <p:nvSpPr>
          <p:cNvPr id="27" name="Rectangle 26"/>
          <p:cNvSpPr/>
          <p:nvPr/>
        </p:nvSpPr>
        <p:spPr>
          <a:xfrm>
            <a:off x="438912" y="4407408"/>
            <a:ext cx="4288536" cy="548640"/>
          </a:xfrm>
          <a:prstGeom prst="rect">
            <a:avLst/>
          </a:prstGeom>
          <a:solidFill>
            <a:srgbClr val="0A0A2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4462272"/>
            <a:ext cx="1097280" cy="201168"/>
          </a:xfrm>
          <a:prstGeom prst="rect">
            <a:avLst/>
          </a:prstGeom>
          <a:noFill/>
        </p:spPr>
        <p:txBody>
          <a:bodyPr wrap="square">
            <a:spAutoFit/>
          </a:bodyPr>
          <a:lstStyle/>
          <a:p>
            <a:pPr algn="l"/>
            <a:r>
              <a:rPr sz="900" b="1" i="0">
                <a:solidFill>
                  <a:srgbClr val="00E5FF"/>
                </a:solidFill>
                <a:latin typeface="Calibri"/>
              </a:rPr>
              <a:t>TASK SPEC</a:t>
            </a:r>
          </a:p>
        </p:txBody>
      </p:sp>
      <p:sp>
        <p:nvSpPr>
          <p:cNvPr id="29" name="TextBox 28"/>
          <p:cNvSpPr txBox="1"/>
          <p:nvPr/>
        </p:nvSpPr>
        <p:spPr>
          <a:xfrm>
            <a:off x="1645920" y="4462272"/>
            <a:ext cx="3063240" cy="201168"/>
          </a:xfrm>
          <a:prstGeom prst="rect">
            <a:avLst/>
          </a:prstGeom>
          <a:noFill/>
        </p:spPr>
        <p:txBody>
          <a:bodyPr wrap="square">
            <a:spAutoFit/>
          </a:bodyPr>
          <a:lstStyle/>
          <a:p>
            <a:pPr algn="l"/>
            <a:r>
              <a:rPr sz="850" b="0" i="1">
                <a:solidFill>
                  <a:srgbClr val="FFFFFF"/>
                </a:solidFill>
                <a:latin typeface="Calibri"/>
              </a:rPr>
              <a:t>Commander's current plan item</a:t>
            </a:r>
          </a:p>
        </p:txBody>
      </p:sp>
      <p:sp>
        <p:nvSpPr>
          <p:cNvPr id="30" name="Rectangle 29"/>
          <p:cNvSpPr/>
          <p:nvPr/>
        </p:nvSpPr>
        <p:spPr>
          <a:xfrm>
            <a:off x="384048" y="5230368"/>
            <a:ext cx="4398264" cy="566928"/>
          </a:xfrm>
          <a:prstGeom prst="rect">
            <a:avLst/>
          </a:prstGeom>
          <a:solidFill>
            <a:srgbClr val="041404"/>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 y="5285232"/>
            <a:ext cx="4288536" cy="219456"/>
          </a:xfrm>
          <a:prstGeom prst="rect">
            <a:avLst/>
          </a:prstGeom>
          <a:noFill/>
        </p:spPr>
        <p:txBody>
          <a:bodyPr wrap="square">
            <a:spAutoFit/>
          </a:bodyPr>
          <a:lstStyle/>
          <a:p>
            <a:pPr algn="ctr"/>
            <a:r>
              <a:rPr sz="950" b="1" i="0">
                <a:solidFill>
                  <a:srgbClr val="39FF14"/>
                </a:solidFill>
                <a:latin typeface="Calibri"/>
              </a:rPr>
              <a:t>RETURNS: Structured ASG Delta (new nodes + edges only)</a:t>
            </a:r>
          </a:p>
        </p:txBody>
      </p:sp>
      <p:sp>
        <p:nvSpPr>
          <p:cNvPr id="32" name="TextBox 31"/>
          <p:cNvSpPr txBox="1"/>
          <p:nvPr/>
        </p:nvSpPr>
        <p:spPr>
          <a:xfrm>
            <a:off x="438912" y="5504688"/>
            <a:ext cx="4288536" cy="201168"/>
          </a:xfrm>
          <a:prstGeom prst="rect">
            <a:avLst/>
          </a:prstGeom>
          <a:noFill/>
        </p:spPr>
        <p:txBody>
          <a:bodyPr wrap="square">
            <a:spAutoFit/>
          </a:bodyPr>
          <a:lstStyle/>
          <a:p>
            <a:pPr algn="ctr"/>
            <a:r>
              <a:rPr sz="850" b="0" i="1">
                <a:solidFill>
                  <a:srgbClr val="A0AAB8"/>
                </a:solidFill>
                <a:latin typeface="Calibri"/>
              </a:rPr>
              <a:t>Working context discarded — no raw history passes to Commander</a:t>
            </a:r>
          </a:p>
        </p:txBody>
      </p:sp>
      <p:sp>
        <p:nvSpPr>
          <p:cNvPr id="33" name="Rectangle 32"/>
          <p:cNvSpPr/>
          <p:nvPr/>
        </p:nvSpPr>
        <p:spPr>
          <a:xfrm>
            <a:off x="384048" y="5888736"/>
            <a:ext cx="4398264" cy="274320"/>
          </a:xfrm>
          <a:prstGeom prst="rect">
            <a:avLst/>
          </a:prstGeom>
          <a:solidFill>
            <a:srgbClr val="061006"/>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5925312"/>
            <a:ext cx="4270248" cy="201168"/>
          </a:xfrm>
          <a:prstGeom prst="rect">
            <a:avLst/>
          </a:prstGeom>
          <a:noFill/>
        </p:spPr>
        <p:txBody>
          <a:bodyPr wrap="square">
            <a:spAutoFit/>
          </a:bodyPr>
          <a:lstStyle/>
          <a:p>
            <a:pPr algn="l"/>
            <a:r>
              <a:rPr sz="900" b="0" i="0">
                <a:solidFill>
                  <a:srgbClr val="39FF14"/>
                </a:solidFill>
                <a:latin typeface="Calibri"/>
              </a:rPr>
              <a:t>✓ Commander context stays clean</a:t>
            </a:r>
          </a:p>
        </p:txBody>
      </p:sp>
      <p:sp>
        <p:nvSpPr>
          <p:cNvPr id="35" name="Rectangle 34"/>
          <p:cNvSpPr/>
          <p:nvPr/>
        </p:nvSpPr>
        <p:spPr>
          <a:xfrm>
            <a:off x="384048" y="6217920"/>
            <a:ext cx="4398264" cy="274320"/>
          </a:xfrm>
          <a:prstGeom prst="rect">
            <a:avLst/>
          </a:prstGeom>
          <a:solidFill>
            <a:srgbClr val="061006"/>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6254496"/>
            <a:ext cx="4270248" cy="201168"/>
          </a:xfrm>
          <a:prstGeom prst="rect">
            <a:avLst/>
          </a:prstGeom>
          <a:noFill/>
        </p:spPr>
        <p:txBody>
          <a:bodyPr wrap="square">
            <a:spAutoFit/>
          </a:bodyPr>
          <a:lstStyle/>
          <a:p>
            <a:pPr algn="l"/>
            <a:r>
              <a:rPr sz="900" b="0" i="0">
                <a:solidFill>
                  <a:srgbClr val="39FF14"/>
                </a:solidFill>
                <a:latin typeface="Calibri"/>
              </a:rPr>
              <a:t>✓ Agents can’t contaminate each other</a:t>
            </a:r>
          </a:p>
        </p:txBody>
      </p:sp>
      <p:sp>
        <p:nvSpPr>
          <p:cNvPr id="37" name="Rectangle 36"/>
          <p:cNvSpPr/>
          <p:nvPr/>
        </p:nvSpPr>
        <p:spPr>
          <a:xfrm>
            <a:off x="384048" y="6547104"/>
            <a:ext cx="4398264" cy="274320"/>
          </a:xfrm>
          <a:prstGeom prst="rect">
            <a:avLst/>
          </a:prstGeom>
          <a:solidFill>
            <a:srgbClr val="180606"/>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6583680"/>
            <a:ext cx="4270248" cy="201168"/>
          </a:xfrm>
          <a:prstGeom prst="rect">
            <a:avLst/>
          </a:prstGeom>
          <a:noFill/>
        </p:spPr>
        <p:txBody>
          <a:bodyPr wrap="square">
            <a:spAutoFit/>
          </a:bodyPr>
          <a:lstStyle/>
          <a:p>
            <a:pPr algn="l"/>
            <a:r>
              <a:rPr sz="900" b="0" i="0">
                <a:solidFill>
                  <a:srgbClr val="FF4545"/>
                </a:solidFill>
                <a:latin typeface="Calibri"/>
              </a:rPr>
              <a:t>✓ High-risk refusals don’t bias planning</a:t>
            </a:r>
          </a:p>
        </p:txBody>
      </p:sp>
      <p:sp>
        <p:nvSpPr>
          <p:cNvPr id="39" name="Rectangle 38"/>
          <p:cNvSpPr/>
          <p:nvPr/>
        </p:nvSpPr>
        <p:spPr>
          <a:xfrm>
            <a:off x="5074920" y="914400"/>
            <a:ext cx="3474720" cy="1792224"/>
          </a:xfrm>
          <a:prstGeom prst="rect">
            <a:avLst/>
          </a:prstGeom>
          <a:solidFill>
            <a:srgbClr val="080C20"/>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269480" y="950976"/>
            <a:ext cx="1225296"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69480" y="969264"/>
            <a:ext cx="1225296" cy="182880"/>
          </a:xfrm>
          <a:prstGeom prst="rect">
            <a:avLst/>
          </a:prstGeom>
          <a:noFill/>
        </p:spPr>
        <p:txBody>
          <a:bodyPr wrap="square">
            <a:spAutoFit/>
          </a:bodyPr>
          <a:lstStyle/>
          <a:p>
            <a:pPr algn="ctr"/>
            <a:r>
              <a:rPr sz="750" b="1" i="0">
                <a:solidFill>
                  <a:srgbClr val="FFFFFF"/>
                </a:solidFill>
                <a:latin typeface="Calibri"/>
              </a:rPr>
              <a:t>ORCHESTRATION</a:t>
            </a:r>
          </a:p>
        </p:txBody>
      </p:sp>
      <p:sp>
        <p:nvSpPr>
          <p:cNvPr id="42" name="TextBox 41"/>
          <p:cNvSpPr txBox="1"/>
          <p:nvPr/>
        </p:nvSpPr>
        <p:spPr>
          <a:xfrm>
            <a:off x="5166360" y="969264"/>
            <a:ext cx="2103120" cy="274320"/>
          </a:xfrm>
          <a:prstGeom prst="rect">
            <a:avLst/>
          </a:prstGeom>
          <a:noFill/>
        </p:spPr>
        <p:txBody>
          <a:bodyPr wrap="square">
            <a:spAutoFit/>
          </a:bodyPr>
          <a:lstStyle/>
          <a:p>
            <a:pPr algn="l"/>
            <a:r>
              <a:rPr sz="1400" b="1" i="0">
                <a:solidFill>
                  <a:srgbClr val="FFD700"/>
                </a:solidFill>
                <a:latin typeface="Calibri"/>
              </a:rPr>
              <a:t>👑 Commander</a:t>
            </a:r>
          </a:p>
        </p:txBody>
      </p:sp>
      <p:sp>
        <p:nvSpPr>
          <p:cNvPr id="43" name="TextBox 42"/>
          <p:cNvSpPr txBox="1"/>
          <p:nvPr/>
        </p:nvSpPr>
        <p:spPr>
          <a:xfrm>
            <a:off x="5166360" y="1261872"/>
            <a:ext cx="3291840" cy="237744"/>
          </a:xfrm>
          <a:prstGeom prst="rect">
            <a:avLst/>
          </a:prstGeom>
          <a:noFill/>
        </p:spPr>
        <p:txBody>
          <a:bodyPr wrap="square">
            <a:spAutoFit/>
          </a:bodyPr>
          <a:lstStyle/>
          <a:p>
            <a:pPr algn="l"/>
            <a:r>
              <a:rPr sz="900" b="0" i="1">
                <a:solidFill>
                  <a:srgbClr val="A0AAB8"/>
                </a:solidFill>
                <a:latin typeface="Calibri"/>
              </a:rPr>
              <a:t>Reads the dual graph. Plans. Delegates. Never runs tools.</a:t>
            </a:r>
          </a:p>
        </p:txBody>
      </p:sp>
      <p:sp>
        <p:nvSpPr>
          <p:cNvPr id="44" name="Rectangle 43"/>
          <p:cNvSpPr/>
          <p:nvPr/>
        </p:nvSpPr>
        <p:spPr>
          <a:xfrm>
            <a:off x="5148072" y="1536192"/>
            <a:ext cx="3328416" cy="219456"/>
          </a:xfrm>
          <a:prstGeom prst="rect">
            <a:avLst/>
          </a:prstGeom>
          <a:solidFill>
            <a:srgbClr val="0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84648" y="1554480"/>
            <a:ext cx="3273552" cy="182880"/>
          </a:xfrm>
          <a:prstGeom prst="rect">
            <a:avLst/>
          </a:prstGeom>
          <a:noFill/>
        </p:spPr>
        <p:txBody>
          <a:bodyPr wrap="square">
            <a:spAutoFit/>
          </a:bodyPr>
          <a:lstStyle/>
          <a:p>
            <a:pPr algn="l"/>
            <a:r>
              <a:rPr sz="850" b="1" i="0">
                <a:solidFill>
                  <a:srgbClr val="FFD700"/>
                </a:solidFill>
                <a:latin typeface="Calibri"/>
              </a:rPr>
              <a:t>No tools — reasons over ASG + APG</a:t>
            </a:r>
          </a:p>
        </p:txBody>
      </p:sp>
      <p:sp>
        <p:nvSpPr>
          <p:cNvPr id="46" name="TextBox 45"/>
          <p:cNvSpPr txBox="1"/>
          <p:nvPr/>
        </p:nvSpPr>
        <p:spPr>
          <a:xfrm>
            <a:off x="5166360" y="1810512"/>
            <a:ext cx="3291840" cy="804672"/>
          </a:xfrm>
          <a:prstGeom prst="rect">
            <a:avLst/>
          </a:prstGeom>
          <a:noFill/>
        </p:spPr>
        <p:txBody>
          <a:bodyPr wrap="square">
            <a:spAutoFit/>
          </a:bodyPr>
          <a:lstStyle/>
          <a:p>
            <a:pPr algn="l"/>
            <a:r>
              <a:rPr sz="900" b="0" i="0">
                <a:solidFill>
                  <a:srgbClr val="FFFFFF"/>
                </a:solidFill>
                <a:latin typeface="Calibri"/>
              </a:rPr>
              <a:t>Only agent that writes to APG. Approves High-risk ops via mailbox.</a:t>
            </a:r>
          </a:p>
        </p:txBody>
      </p:sp>
      <p:sp>
        <p:nvSpPr>
          <p:cNvPr id="47" name="Rectangle 46"/>
          <p:cNvSpPr/>
          <p:nvPr/>
        </p:nvSpPr>
        <p:spPr>
          <a:xfrm>
            <a:off x="8622792" y="914400"/>
            <a:ext cx="3474720" cy="1792224"/>
          </a:xfrm>
          <a:prstGeom prst="rect">
            <a:avLst/>
          </a:prstGeom>
          <a:solidFill>
            <a:srgbClr val="080C20"/>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817352" y="950976"/>
            <a:ext cx="1225296"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817352" y="969264"/>
            <a:ext cx="1225296" cy="182880"/>
          </a:xfrm>
          <a:prstGeom prst="rect">
            <a:avLst/>
          </a:prstGeom>
          <a:noFill/>
        </p:spPr>
        <p:txBody>
          <a:bodyPr wrap="square">
            <a:spAutoFit/>
          </a:bodyPr>
          <a:lstStyle/>
          <a:p>
            <a:pPr algn="ctr"/>
            <a:r>
              <a:rPr sz="750" b="1" i="0">
                <a:solidFill>
                  <a:srgbClr val="0A0D1A"/>
                </a:solidFill>
                <a:latin typeface="Calibri"/>
              </a:rPr>
              <a:t>PHASE 1</a:t>
            </a:r>
          </a:p>
        </p:txBody>
      </p:sp>
      <p:sp>
        <p:nvSpPr>
          <p:cNvPr id="50" name="TextBox 49"/>
          <p:cNvSpPr txBox="1"/>
          <p:nvPr/>
        </p:nvSpPr>
        <p:spPr>
          <a:xfrm>
            <a:off x="8714232" y="969264"/>
            <a:ext cx="2103120" cy="274320"/>
          </a:xfrm>
          <a:prstGeom prst="rect">
            <a:avLst/>
          </a:prstGeom>
          <a:noFill/>
        </p:spPr>
        <p:txBody>
          <a:bodyPr wrap="square">
            <a:spAutoFit/>
          </a:bodyPr>
          <a:lstStyle/>
          <a:p>
            <a:pPr algn="l"/>
            <a:r>
              <a:rPr sz="1400" b="1" i="0">
                <a:solidFill>
                  <a:srgbClr val="39FF14"/>
                </a:solidFill>
                <a:latin typeface="Calibri"/>
              </a:rPr>
              <a:t>Recon</a:t>
            </a:r>
          </a:p>
        </p:txBody>
      </p:sp>
      <p:sp>
        <p:nvSpPr>
          <p:cNvPr id="51" name="TextBox 50"/>
          <p:cNvSpPr txBox="1"/>
          <p:nvPr/>
        </p:nvSpPr>
        <p:spPr>
          <a:xfrm>
            <a:off x="8714232" y="1261872"/>
            <a:ext cx="3291840" cy="237744"/>
          </a:xfrm>
          <a:prstGeom prst="rect">
            <a:avLst/>
          </a:prstGeom>
          <a:noFill/>
        </p:spPr>
        <p:txBody>
          <a:bodyPr wrap="square">
            <a:spAutoFit/>
          </a:bodyPr>
          <a:lstStyle/>
          <a:p>
            <a:pPr algn="l"/>
            <a:r>
              <a:rPr sz="900" b="0" i="1">
                <a:solidFill>
                  <a:srgbClr val="A0AAB8"/>
                </a:solidFill>
                <a:latin typeface="Calibri"/>
              </a:rPr>
              <a:t>External reconnaissance and host discovery.</a:t>
            </a:r>
          </a:p>
        </p:txBody>
      </p:sp>
      <p:sp>
        <p:nvSpPr>
          <p:cNvPr id="52" name="Rectangle 51"/>
          <p:cNvSpPr/>
          <p:nvPr/>
        </p:nvSpPr>
        <p:spPr>
          <a:xfrm>
            <a:off x="8695944" y="1536192"/>
            <a:ext cx="3328416" cy="219456"/>
          </a:xfrm>
          <a:prstGeom prst="rect">
            <a:avLst/>
          </a:prstGeom>
          <a:solidFill>
            <a:srgbClr val="002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732520" y="1554480"/>
            <a:ext cx="3273552" cy="182880"/>
          </a:xfrm>
          <a:prstGeom prst="rect">
            <a:avLst/>
          </a:prstGeom>
          <a:noFill/>
        </p:spPr>
        <p:txBody>
          <a:bodyPr wrap="square">
            <a:spAutoFit/>
          </a:bodyPr>
          <a:lstStyle/>
          <a:p>
            <a:pPr algn="l"/>
            <a:r>
              <a:rPr sz="850" b="1" i="0">
                <a:solidFill>
                  <a:srgbClr val="39FF14"/>
                </a:solidFill>
                <a:latin typeface="Calibri"/>
              </a:rPr>
              <a:t>Amass · httpx · Nmap</a:t>
            </a:r>
          </a:p>
        </p:txBody>
      </p:sp>
      <p:sp>
        <p:nvSpPr>
          <p:cNvPr id="54" name="TextBox 53"/>
          <p:cNvSpPr txBox="1"/>
          <p:nvPr/>
        </p:nvSpPr>
        <p:spPr>
          <a:xfrm>
            <a:off x="8714232" y="1810512"/>
            <a:ext cx="3291840" cy="804672"/>
          </a:xfrm>
          <a:prstGeom prst="rect">
            <a:avLst/>
          </a:prstGeom>
          <a:noFill/>
        </p:spPr>
        <p:txBody>
          <a:bodyPr wrap="square">
            <a:spAutoFit/>
          </a:bodyPr>
          <a:lstStyle/>
          <a:p>
            <a:pPr algn="l"/>
            <a:r>
              <a:rPr sz="900" b="0" i="0">
                <a:solidFill>
                  <a:srgbClr val="FFFFFF"/>
                </a:solidFill>
                <a:latin typeface="Calibri"/>
              </a:rPr>
              <a:t>Writes Domain, Host, Port, Service nodes to ASG.</a:t>
            </a:r>
          </a:p>
        </p:txBody>
      </p:sp>
      <p:sp>
        <p:nvSpPr>
          <p:cNvPr id="55" name="Rectangle 54"/>
          <p:cNvSpPr/>
          <p:nvPr/>
        </p:nvSpPr>
        <p:spPr>
          <a:xfrm>
            <a:off x="5074920" y="2788920"/>
            <a:ext cx="3474720" cy="1792224"/>
          </a:xfrm>
          <a:prstGeom prst="rect">
            <a:avLst/>
          </a:prstGeom>
          <a:solidFill>
            <a:srgbClr val="080C20"/>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269480" y="2825496"/>
            <a:ext cx="1225296"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269480" y="2843784"/>
            <a:ext cx="1225296" cy="182880"/>
          </a:xfrm>
          <a:prstGeom prst="rect">
            <a:avLst/>
          </a:prstGeom>
          <a:noFill/>
        </p:spPr>
        <p:txBody>
          <a:bodyPr wrap="square">
            <a:spAutoFit/>
          </a:bodyPr>
          <a:lstStyle/>
          <a:p>
            <a:pPr algn="ctr"/>
            <a:r>
              <a:rPr sz="750" b="1" i="0">
                <a:solidFill>
                  <a:srgbClr val="FFFFFF"/>
                </a:solidFill>
                <a:latin typeface="Calibri"/>
              </a:rPr>
              <a:t>PHASE 2</a:t>
            </a:r>
          </a:p>
        </p:txBody>
      </p:sp>
      <p:sp>
        <p:nvSpPr>
          <p:cNvPr id="58" name="TextBox 57"/>
          <p:cNvSpPr txBox="1"/>
          <p:nvPr/>
        </p:nvSpPr>
        <p:spPr>
          <a:xfrm>
            <a:off x="5166360" y="2843784"/>
            <a:ext cx="2103120" cy="274320"/>
          </a:xfrm>
          <a:prstGeom prst="rect">
            <a:avLst/>
          </a:prstGeom>
          <a:noFill/>
        </p:spPr>
        <p:txBody>
          <a:bodyPr wrap="square">
            <a:spAutoFit/>
          </a:bodyPr>
          <a:lstStyle/>
          <a:p>
            <a:pPr algn="l"/>
            <a:r>
              <a:rPr sz="1400" b="1" i="0">
                <a:solidFill>
                  <a:srgbClr val="00E5FF"/>
                </a:solidFill>
                <a:latin typeface="Calibri"/>
              </a:rPr>
              <a:t>Analysis</a:t>
            </a:r>
          </a:p>
        </p:txBody>
      </p:sp>
      <p:sp>
        <p:nvSpPr>
          <p:cNvPr id="59" name="TextBox 58"/>
          <p:cNvSpPr txBox="1"/>
          <p:nvPr/>
        </p:nvSpPr>
        <p:spPr>
          <a:xfrm>
            <a:off x="5166360" y="3136392"/>
            <a:ext cx="3291840" cy="237744"/>
          </a:xfrm>
          <a:prstGeom prst="rect">
            <a:avLst/>
          </a:prstGeom>
          <a:noFill/>
        </p:spPr>
        <p:txBody>
          <a:bodyPr wrap="square">
            <a:spAutoFit/>
          </a:bodyPr>
          <a:lstStyle/>
          <a:p>
            <a:pPr algn="l"/>
            <a:r>
              <a:rPr sz="900" b="0" i="1">
                <a:solidFill>
                  <a:srgbClr val="A0AAB8"/>
                </a:solidFill>
                <a:latin typeface="Calibri"/>
              </a:rPr>
              <a:t>Deep enumeration and vulnerability discovery.</a:t>
            </a:r>
          </a:p>
        </p:txBody>
      </p:sp>
      <p:sp>
        <p:nvSpPr>
          <p:cNvPr id="60" name="Rectangle 59"/>
          <p:cNvSpPr/>
          <p:nvPr/>
        </p:nvSpPr>
        <p:spPr>
          <a:xfrm>
            <a:off x="5148072" y="3410712"/>
            <a:ext cx="3328416" cy="219456"/>
          </a:xfrm>
          <a:prstGeom prst="rect">
            <a:avLst/>
          </a:prstGeom>
          <a:solidFill>
            <a:srgbClr val="00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184648" y="3429000"/>
            <a:ext cx="3273552" cy="182880"/>
          </a:xfrm>
          <a:prstGeom prst="rect">
            <a:avLst/>
          </a:prstGeom>
          <a:noFill/>
        </p:spPr>
        <p:txBody>
          <a:bodyPr wrap="square">
            <a:spAutoFit/>
          </a:bodyPr>
          <a:lstStyle/>
          <a:p>
            <a:pPr algn="l"/>
            <a:r>
              <a:rPr sz="850" b="1" i="0">
                <a:solidFill>
                  <a:srgbClr val="00E5FF"/>
                </a:solidFill>
                <a:latin typeface="Calibri"/>
              </a:rPr>
              <a:t>WhatWeb · Gobuster · ffuf · Nuclei · ZAP</a:t>
            </a:r>
          </a:p>
        </p:txBody>
      </p:sp>
      <p:sp>
        <p:nvSpPr>
          <p:cNvPr id="62" name="TextBox 61"/>
          <p:cNvSpPr txBox="1"/>
          <p:nvPr/>
        </p:nvSpPr>
        <p:spPr>
          <a:xfrm>
            <a:off x="5166360" y="3685032"/>
            <a:ext cx="3291840" cy="804672"/>
          </a:xfrm>
          <a:prstGeom prst="rect">
            <a:avLst/>
          </a:prstGeom>
          <a:noFill/>
        </p:spPr>
        <p:txBody>
          <a:bodyPr wrap="square">
            <a:spAutoFit/>
          </a:bodyPr>
          <a:lstStyle/>
          <a:p>
            <a:pPr algn="l"/>
            <a:r>
              <a:rPr sz="900" b="0" i="0">
                <a:solidFill>
                  <a:srgbClr val="FFFFFF"/>
                </a:solidFill>
                <a:latin typeface="Calibri"/>
              </a:rPr>
              <a:t>Writes Technology, Endpoint, Parameter, Vulnerability nodes.</a:t>
            </a:r>
          </a:p>
        </p:txBody>
      </p:sp>
      <p:sp>
        <p:nvSpPr>
          <p:cNvPr id="63" name="Rectangle 62"/>
          <p:cNvSpPr/>
          <p:nvPr/>
        </p:nvSpPr>
        <p:spPr>
          <a:xfrm>
            <a:off x="8622792" y="2788920"/>
            <a:ext cx="3474720" cy="1792224"/>
          </a:xfrm>
          <a:prstGeom prst="rect">
            <a:avLst/>
          </a:prstGeom>
          <a:solidFill>
            <a:srgbClr val="080C20"/>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817352" y="2825496"/>
            <a:ext cx="1225296"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817352" y="2843784"/>
            <a:ext cx="1225296" cy="182880"/>
          </a:xfrm>
          <a:prstGeom prst="rect">
            <a:avLst/>
          </a:prstGeom>
          <a:noFill/>
        </p:spPr>
        <p:txBody>
          <a:bodyPr wrap="square">
            <a:spAutoFit/>
          </a:bodyPr>
          <a:lstStyle/>
          <a:p>
            <a:pPr algn="ctr"/>
            <a:r>
              <a:rPr sz="750" b="1" i="0">
                <a:solidFill>
                  <a:srgbClr val="FFFFFF"/>
                </a:solidFill>
                <a:latin typeface="Calibri"/>
              </a:rPr>
              <a:t>INTELLIGENCE</a:t>
            </a:r>
          </a:p>
        </p:txBody>
      </p:sp>
      <p:sp>
        <p:nvSpPr>
          <p:cNvPr id="66" name="TextBox 65"/>
          <p:cNvSpPr txBox="1"/>
          <p:nvPr/>
        </p:nvSpPr>
        <p:spPr>
          <a:xfrm>
            <a:off x="8714232" y="2843784"/>
            <a:ext cx="2103120" cy="274320"/>
          </a:xfrm>
          <a:prstGeom prst="rect">
            <a:avLst/>
          </a:prstGeom>
          <a:noFill/>
        </p:spPr>
        <p:txBody>
          <a:bodyPr wrap="square">
            <a:spAutoFit/>
          </a:bodyPr>
          <a:lstStyle/>
          <a:p>
            <a:pPr algn="l"/>
            <a:r>
              <a:rPr sz="1400" b="1" i="0">
                <a:solidFill>
                  <a:srgbClr val="FFD700"/>
                </a:solidFill>
                <a:latin typeface="Calibri"/>
              </a:rPr>
              <a:t>Research</a:t>
            </a:r>
          </a:p>
        </p:txBody>
      </p:sp>
      <p:sp>
        <p:nvSpPr>
          <p:cNvPr id="67" name="TextBox 66"/>
          <p:cNvSpPr txBox="1"/>
          <p:nvPr/>
        </p:nvSpPr>
        <p:spPr>
          <a:xfrm>
            <a:off x="8714232" y="3136392"/>
            <a:ext cx="3291840" cy="237744"/>
          </a:xfrm>
          <a:prstGeom prst="rect">
            <a:avLst/>
          </a:prstGeom>
          <a:noFill/>
        </p:spPr>
        <p:txBody>
          <a:bodyPr wrap="square">
            <a:spAutoFit/>
          </a:bodyPr>
          <a:lstStyle/>
          <a:p>
            <a:pPr algn="l"/>
            <a:r>
              <a:rPr sz="900" b="0" i="1">
                <a:solidFill>
                  <a:srgbClr val="A0AAB8"/>
                </a:solidFill>
                <a:latin typeface="Calibri"/>
              </a:rPr>
              <a:t>Live CVE grounding — only agent with outbound internet access.</a:t>
            </a:r>
          </a:p>
        </p:txBody>
      </p:sp>
      <p:sp>
        <p:nvSpPr>
          <p:cNvPr id="68" name="Rectangle 67"/>
          <p:cNvSpPr/>
          <p:nvPr/>
        </p:nvSpPr>
        <p:spPr>
          <a:xfrm>
            <a:off x="8695944" y="3410712"/>
            <a:ext cx="3328416" cy="219456"/>
          </a:xfrm>
          <a:prstGeom prst="rect">
            <a:avLst/>
          </a:prstGeom>
          <a:solidFill>
            <a:srgbClr val="261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732520" y="3429000"/>
            <a:ext cx="3273552" cy="182880"/>
          </a:xfrm>
          <a:prstGeom prst="rect">
            <a:avLst/>
          </a:prstGeom>
          <a:noFill/>
        </p:spPr>
        <p:txBody>
          <a:bodyPr wrap="square">
            <a:spAutoFit/>
          </a:bodyPr>
          <a:lstStyle/>
          <a:p>
            <a:pPr algn="l"/>
            <a:r>
              <a:rPr sz="850" b="1" i="0">
                <a:solidFill>
                  <a:srgbClr val="FFD700"/>
                </a:solidFill>
                <a:latin typeface="Calibri"/>
              </a:rPr>
              <a:t>NVD · Exploit-DB · GitHub · Vendor Advisories</a:t>
            </a:r>
          </a:p>
        </p:txBody>
      </p:sp>
      <p:sp>
        <p:nvSpPr>
          <p:cNvPr id="70" name="TextBox 69"/>
          <p:cNvSpPr txBox="1"/>
          <p:nvPr/>
        </p:nvSpPr>
        <p:spPr>
          <a:xfrm>
            <a:off x="8714232" y="3685032"/>
            <a:ext cx="3291840" cy="804672"/>
          </a:xfrm>
          <a:prstGeom prst="rect">
            <a:avLst/>
          </a:prstGeom>
          <a:noFill/>
        </p:spPr>
        <p:txBody>
          <a:bodyPr wrap="square">
            <a:spAutoFit/>
          </a:bodyPr>
          <a:lstStyle/>
          <a:p>
            <a:pPr algn="l"/>
            <a:r>
              <a:rPr sz="900" b="0" i="0">
                <a:solidFill>
                  <a:srgbClr val="FFFFFF"/>
                </a:solidFill>
                <a:latin typeface="Calibri"/>
              </a:rPr>
              <a:t>Enriches ASG Vulnerability nodes with real-time CVSS + PoC data.</a:t>
            </a:r>
          </a:p>
        </p:txBody>
      </p:sp>
      <p:sp>
        <p:nvSpPr>
          <p:cNvPr id="71" name="Rectangle 70"/>
          <p:cNvSpPr/>
          <p:nvPr/>
        </p:nvSpPr>
        <p:spPr>
          <a:xfrm>
            <a:off x="5074920" y="4663440"/>
            <a:ext cx="3474720" cy="1792224"/>
          </a:xfrm>
          <a:prstGeom prst="rect">
            <a:avLst/>
          </a:prstGeom>
          <a:solidFill>
            <a:srgbClr val="080C2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7269480" y="4700016"/>
            <a:ext cx="1225296"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269480" y="4718304"/>
            <a:ext cx="1225296" cy="182880"/>
          </a:xfrm>
          <a:prstGeom prst="rect">
            <a:avLst/>
          </a:prstGeom>
          <a:noFill/>
        </p:spPr>
        <p:txBody>
          <a:bodyPr wrap="square">
            <a:spAutoFit/>
          </a:bodyPr>
          <a:lstStyle/>
          <a:p>
            <a:pPr algn="ctr"/>
            <a:r>
              <a:rPr sz="750" b="1" i="0">
                <a:solidFill>
                  <a:srgbClr val="FFFFFF"/>
                </a:solidFill>
                <a:latin typeface="Calibri"/>
              </a:rPr>
              <a:t>PHASE 3</a:t>
            </a:r>
          </a:p>
        </p:txBody>
      </p:sp>
      <p:sp>
        <p:nvSpPr>
          <p:cNvPr id="74" name="TextBox 73"/>
          <p:cNvSpPr txBox="1"/>
          <p:nvPr/>
        </p:nvSpPr>
        <p:spPr>
          <a:xfrm>
            <a:off x="5166360" y="4718304"/>
            <a:ext cx="2103120" cy="274320"/>
          </a:xfrm>
          <a:prstGeom prst="rect">
            <a:avLst/>
          </a:prstGeom>
          <a:noFill/>
        </p:spPr>
        <p:txBody>
          <a:bodyPr wrap="square">
            <a:spAutoFit/>
          </a:bodyPr>
          <a:lstStyle/>
          <a:p>
            <a:pPr algn="l"/>
            <a:r>
              <a:rPr sz="1400" b="1" i="0">
                <a:solidFill>
                  <a:srgbClr val="FF4545"/>
                </a:solidFill>
                <a:latin typeface="Calibri"/>
              </a:rPr>
              <a:t>Validation</a:t>
            </a:r>
          </a:p>
        </p:txBody>
      </p:sp>
      <p:sp>
        <p:nvSpPr>
          <p:cNvPr id="75" name="TextBox 74"/>
          <p:cNvSpPr txBox="1"/>
          <p:nvPr/>
        </p:nvSpPr>
        <p:spPr>
          <a:xfrm>
            <a:off x="5166360" y="5010912"/>
            <a:ext cx="3291840" cy="237744"/>
          </a:xfrm>
          <a:prstGeom prst="rect">
            <a:avLst/>
          </a:prstGeom>
          <a:noFill/>
        </p:spPr>
        <p:txBody>
          <a:bodyPr wrap="square">
            <a:spAutoFit/>
          </a:bodyPr>
          <a:lstStyle/>
          <a:p>
            <a:pPr algn="l"/>
            <a:r>
              <a:rPr sz="900" b="0" i="1">
                <a:solidFill>
                  <a:srgbClr val="A0AAB8"/>
                </a:solidFill>
                <a:latin typeface="Calibri"/>
              </a:rPr>
              <a:t>Proves vulnerabilities are real and exploitable.</a:t>
            </a:r>
          </a:p>
        </p:txBody>
      </p:sp>
      <p:sp>
        <p:nvSpPr>
          <p:cNvPr id="76" name="Rectangle 75"/>
          <p:cNvSpPr/>
          <p:nvPr/>
        </p:nvSpPr>
        <p:spPr>
          <a:xfrm>
            <a:off x="5148072" y="5285232"/>
            <a:ext cx="3328416" cy="219456"/>
          </a:xfrm>
          <a:prstGeom prst="rect">
            <a:avLst/>
          </a:prstGeom>
          <a:solidFill>
            <a:srgbClr val="2804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184648" y="5303520"/>
            <a:ext cx="3273552" cy="182880"/>
          </a:xfrm>
          <a:prstGeom prst="rect">
            <a:avLst/>
          </a:prstGeom>
          <a:noFill/>
        </p:spPr>
        <p:txBody>
          <a:bodyPr wrap="square">
            <a:spAutoFit/>
          </a:bodyPr>
          <a:lstStyle/>
          <a:p>
            <a:pPr algn="l"/>
            <a:r>
              <a:rPr sz="850" b="1" i="0">
                <a:solidFill>
                  <a:srgbClr val="FF4545"/>
                </a:solidFill>
                <a:latin typeface="Calibri"/>
              </a:rPr>
              <a:t>SQLMap · Metasploit</a:t>
            </a:r>
          </a:p>
        </p:txBody>
      </p:sp>
      <p:sp>
        <p:nvSpPr>
          <p:cNvPr id="78" name="TextBox 77"/>
          <p:cNvSpPr txBox="1"/>
          <p:nvPr/>
        </p:nvSpPr>
        <p:spPr>
          <a:xfrm>
            <a:off x="5166360" y="5559552"/>
            <a:ext cx="3291840" cy="804672"/>
          </a:xfrm>
          <a:prstGeom prst="rect">
            <a:avLst/>
          </a:prstGeom>
          <a:noFill/>
        </p:spPr>
        <p:txBody>
          <a:bodyPr wrap="square">
            <a:spAutoFit/>
          </a:bodyPr>
          <a:lstStyle/>
          <a:p>
            <a:pPr algn="l"/>
            <a:r>
              <a:rPr sz="900" b="0" i="0">
                <a:solidFill>
                  <a:srgbClr val="FFFFFF"/>
                </a:solidFill>
                <a:latin typeface="Calibri"/>
              </a:rPr>
              <a:t>Self-debugging loop: Diagnose → Contextualize → Adapt → Cap (×3).</a:t>
            </a:r>
          </a:p>
        </p:txBody>
      </p:sp>
      <p:sp>
        <p:nvSpPr>
          <p:cNvPr id="79" name="Rectangle 78"/>
          <p:cNvSpPr/>
          <p:nvPr/>
        </p:nvSpPr>
        <p:spPr>
          <a:xfrm>
            <a:off x="8622792" y="4663440"/>
            <a:ext cx="3474720" cy="1792224"/>
          </a:xfrm>
          <a:prstGeom prst="rect">
            <a:avLst/>
          </a:prstGeom>
          <a:solidFill>
            <a:srgbClr val="080C20"/>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817352" y="4700016"/>
            <a:ext cx="1225296" cy="2194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817352" y="4718304"/>
            <a:ext cx="1225296" cy="182880"/>
          </a:xfrm>
          <a:prstGeom prst="rect">
            <a:avLst/>
          </a:prstGeom>
          <a:noFill/>
        </p:spPr>
        <p:txBody>
          <a:bodyPr wrap="square">
            <a:spAutoFit/>
          </a:bodyPr>
          <a:lstStyle/>
          <a:p>
            <a:pPr algn="ctr"/>
            <a:r>
              <a:rPr sz="750" b="1" i="0">
                <a:solidFill>
                  <a:srgbClr val="FFFFFF"/>
                </a:solidFill>
                <a:latin typeface="Calibri"/>
              </a:rPr>
              <a:t>PHASE 3</a:t>
            </a:r>
          </a:p>
        </p:txBody>
      </p:sp>
      <p:sp>
        <p:nvSpPr>
          <p:cNvPr id="82" name="TextBox 81"/>
          <p:cNvSpPr txBox="1"/>
          <p:nvPr/>
        </p:nvSpPr>
        <p:spPr>
          <a:xfrm>
            <a:off x="8714232" y="4718304"/>
            <a:ext cx="2103120" cy="274320"/>
          </a:xfrm>
          <a:prstGeom prst="rect">
            <a:avLst/>
          </a:prstGeom>
          <a:noFill/>
        </p:spPr>
        <p:txBody>
          <a:bodyPr wrap="square">
            <a:spAutoFit/>
          </a:bodyPr>
          <a:lstStyle/>
          <a:p>
            <a:pPr algn="l"/>
            <a:r>
              <a:rPr sz="1400" b="1" i="0">
                <a:solidFill>
                  <a:srgbClr val="BD93F9"/>
                </a:solidFill>
                <a:latin typeface="Calibri"/>
              </a:rPr>
              <a:t>Evidence</a:t>
            </a:r>
          </a:p>
        </p:txBody>
      </p:sp>
      <p:sp>
        <p:nvSpPr>
          <p:cNvPr id="83" name="TextBox 82"/>
          <p:cNvSpPr txBox="1"/>
          <p:nvPr/>
        </p:nvSpPr>
        <p:spPr>
          <a:xfrm>
            <a:off x="8714232" y="5010912"/>
            <a:ext cx="3291840" cy="237744"/>
          </a:xfrm>
          <a:prstGeom prst="rect">
            <a:avLst/>
          </a:prstGeom>
          <a:noFill/>
        </p:spPr>
        <p:txBody>
          <a:bodyPr wrap="square">
            <a:spAutoFit/>
          </a:bodyPr>
          <a:lstStyle/>
          <a:p>
            <a:pPr algn="l"/>
            <a:r>
              <a:rPr sz="900" b="0" i="1">
                <a:solidFill>
                  <a:srgbClr val="A0AAB8"/>
                </a:solidFill>
                <a:latin typeface="Calibri"/>
              </a:rPr>
              <a:t>Captures proof artifacts for every validated finding.</a:t>
            </a:r>
          </a:p>
        </p:txBody>
      </p:sp>
      <p:sp>
        <p:nvSpPr>
          <p:cNvPr id="84" name="Rectangle 83"/>
          <p:cNvSpPr/>
          <p:nvPr/>
        </p:nvSpPr>
        <p:spPr>
          <a:xfrm>
            <a:off x="8695944" y="5285232"/>
            <a:ext cx="3328416" cy="219456"/>
          </a:xfrm>
          <a:prstGeom prst="rect">
            <a:avLst/>
          </a:prstGeom>
          <a:solidFill>
            <a:srgbClr val="180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732520" y="5303520"/>
            <a:ext cx="3273552" cy="182880"/>
          </a:xfrm>
          <a:prstGeom prst="rect">
            <a:avLst/>
          </a:prstGeom>
          <a:noFill/>
        </p:spPr>
        <p:txBody>
          <a:bodyPr wrap="square">
            <a:spAutoFit/>
          </a:bodyPr>
          <a:lstStyle/>
          <a:p>
            <a:pPr algn="l"/>
            <a:r>
              <a:rPr sz="850" b="1" i="0">
                <a:solidFill>
                  <a:srgbClr val="BD93F9"/>
                </a:solidFill>
                <a:latin typeface="Calibri"/>
              </a:rPr>
              <a:t>EyeWitness</a:t>
            </a:r>
          </a:p>
        </p:txBody>
      </p:sp>
      <p:sp>
        <p:nvSpPr>
          <p:cNvPr id="86" name="TextBox 85"/>
          <p:cNvSpPr txBox="1"/>
          <p:nvPr/>
        </p:nvSpPr>
        <p:spPr>
          <a:xfrm>
            <a:off x="8714232" y="5559552"/>
            <a:ext cx="3291840" cy="804672"/>
          </a:xfrm>
          <a:prstGeom prst="rect">
            <a:avLst/>
          </a:prstGeom>
          <a:noFill/>
        </p:spPr>
        <p:txBody>
          <a:bodyPr wrap="square">
            <a:spAutoFit/>
          </a:bodyPr>
          <a:lstStyle/>
          <a:p>
            <a:pPr algn="l"/>
            <a:r>
              <a:rPr sz="900" b="0" i="0">
                <a:solidFill>
                  <a:srgbClr val="FFFFFF"/>
                </a:solidFill>
                <a:latin typeface="Calibri"/>
              </a:rPr>
              <a:t>Links Evidence nodes to ASG findings via validated_by edges.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00E5FF"/>
                </a:solidFill>
                <a:latin typeface="Calibri"/>
              </a:rPr>
              <a:t>AGENT ARCHITECTURE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000" b="1" i="0">
                <a:solidFill>
                  <a:srgbClr val="FFFFFF"/>
                </a:solidFill>
                <a:latin typeface="Calibri"/>
              </a:rPr>
              <a:t>Context-Isolated Agent Spawn Lifecycle</a:t>
            </a:r>
          </a:p>
        </p:txBody>
      </p:sp>
      <p:sp>
        <p:nvSpPr>
          <p:cNvPr id="7" name="TextBox 6"/>
          <p:cNvSpPr txBox="1"/>
          <p:nvPr/>
        </p:nvSpPr>
        <p:spPr>
          <a:xfrm>
            <a:off x="274320" y="822960"/>
            <a:ext cx="11430000" cy="237744"/>
          </a:xfrm>
          <a:prstGeom prst="rect">
            <a:avLst/>
          </a:prstGeom>
          <a:noFill/>
        </p:spPr>
        <p:txBody>
          <a:bodyPr wrap="square">
            <a:spAutoFit/>
          </a:bodyPr>
          <a:lstStyle/>
          <a:p>
            <a:pPr algn="l"/>
            <a:r>
              <a:rPr sz="1000" b="0" i="1">
                <a:solidFill>
                  <a:srgbClr val="A0AAB8"/>
                </a:solidFill>
                <a:latin typeface="Calibri"/>
              </a:rPr>
              <a:t>Every agent is born fresh · does exactly one job · dies clean · leaves only structured graph state behind</a:t>
            </a:r>
          </a:p>
        </p:txBody>
      </p:sp>
      <p:sp>
        <p:nvSpPr>
          <p:cNvPr id="8" name="TextBox 7"/>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08</a:t>
            </a:r>
          </a:p>
        </p:txBody>
      </p:sp>
      <p:sp>
        <p:nvSpPr>
          <p:cNvPr id="9" name="Rectangle 8"/>
          <p:cNvSpPr/>
          <p:nvPr/>
        </p:nvSpPr>
        <p:spPr>
          <a:xfrm>
            <a:off x="274320" y="1143000"/>
            <a:ext cx="7863840" cy="5440680"/>
          </a:xfrm>
          <a:prstGeom prst="rect">
            <a:avLst/>
          </a:prstGeom>
          <a:solidFill>
            <a:srgbClr val="060814"/>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1197864"/>
            <a:ext cx="128016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216152"/>
            <a:ext cx="1280160" cy="219456"/>
          </a:xfrm>
          <a:prstGeom prst="rect">
            <a:avLst/>
          </a:prstGeom>
          <a:noFill/>
        </p:spPr>
        <p:txBody>
          <a:bodyPr wrap="square">
            <a:spAutoFit/>
          </a:bodyPr>
          <a:lstStyle/>
          <a:p>
            <a:pPr algn="ctr"/>
            <a:r>
              <a:rPr sz="950" b="1" i="0">
                <a:solidFill>
                  <a:srgbClr val="0A0D1A"/>
                </a:solidFill>
                <a:latin typeface="Calibri"/>
              </a:rPr>
              <a:t>Commander</a:t>
            </a:r>
          </a:p>
        </p:txBody>
      </p:sp>
      <p:sp>
        <p:nvSpPr>
          <p:cNvPr id="12" name="Rectangle 11"/>
          <p:cNvSpPr/>
          <p:nvPr/>
        </p:nvSpPr>
        <p:spPr>
          <a:xfrm>
            <a:off x="987552" y="149047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87552" y="189280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87552" y="229514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87552" y="269748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7552" y="309981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87552" y="350215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87552" y="390448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87552" y="430682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87552" y="470916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87552" y="511149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87552" y="551383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87552" y="591616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74519" y="1197864"/>
            <a:ext cx="1280160" cy="25603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74519" y="1216152"/>
            <a:ext cx="1280160" cy="219456"/>
          </a:xfrm>
          <a:prstGeom prst="rect">
            <a:avLst/>
          </a:prstGeom>
          <a:noFill/>
        </p:spPr>
        <p:txBody>
          <a:bodyPr wrap="square">
            <a:spAutoFit/>
          </a:bodyPr>
          <a:lstStyle/>
          <a:p>
            <a:pPr algn="ctr"/>
            <a:r>
              <a:rPr sz="950" b="1" i="0">
                <a:solidFill>
                  <a:srgbClr val="0A0D1A"/>
                </a:solidFill>
                <a:latin typeface="Calibri"/>
              </a:rPr>
              <a:t>Agent</a:t>
            </a:r>
          </a:p>
        </p:txBody>
      </p:sp>
      <p:sp>
        <p:nvSpPr>
          <p:cNvPr id="26" name="Rectangle 25"/>
          <p:cNvSpPr/>
          <p:nvPr/>
        </p:nvSpPr>
        <p:spPr>
          <a:xfrm>
            <a:off x="2496311" y="149047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496311" y="189280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496311" y="229514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496311" y="269748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496311" y="309981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496311" y="350215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496311" y="390448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496311" y="430682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496311" y="470916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496311" y="511149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496311" y="551383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496311" y="591616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00400" y="1197864"/>
            <a:ext cx="1280160" cy="2560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1216152"/>
            <a:ext cx="1280160" cy="219456"/>
          </a:xfrm>
          <a:prstGeom prst="rect">
            <a:avLst/>
          </a:prstGeom>
          <a:noFill/>
        </p:spPr>
        <p:txBody>
          <a:bodyPr wrap="square">
            <a:spAutoFit/>
          </a:bodyPr>
          <a:lstStyle/>
          <a:p>
            <a:pPr algn="ctr"/>
            <a:r>
              <a:rPr sz="950" b="1" i="0">
                <a:solidFill>
                  <a:srgbClr val="0A0D1A"/>
                </a:solidFill>
                <a:latin typeface="Calibri"/>
              </a:rPr>
              <a:t>Risk Gate</a:t>
            </a:r>
          </a:p>
        </p:txBody>
      </p:sp>
      <p:sp>
        <p:nvSpPr>
          <p:cNvPr id="40" name="Rectangle 39"/>
          <p:cNvSpPr/>
          <p:nvPr/>
        </p:nvSpPr>
        <p:spPr>
          <a:xfrm>
            <a:off x="3822192" y="149047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822192" y="189280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822192" y="229514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822192" y="269748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822192" y="309981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822192" y="350215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822192" y="390448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822192" y="430682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822192" y="470916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822192" y="511149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822192" y="551383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822192" y="591616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663440" y="1197864"/>
            <a:ext cx="1280160" cy="25603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663440" y="1216152"/>
            <a:ext cx="1280160" cy="219456"/>
          </a:xfrm>
          <a:prstGeom prst="rect">
            <a:avLst/>
          </a:prstGeom>
          <a:noFill/>
        </p:spPr>
        <p:txBody>
          <a:bodyPr wrap="square">
            <a:spAutoFit/>
          </a:bodyPr>
          <a:lstStyle/>
          <a:p>
            <a:pPr algn="ctr"/>
            <a:r>
              <a:rPr sz="950" b="1" i="0">
                <a:solidFill>
                  <a:srgbClr val="FFFFFF"/>
                </a:solidFill>
                <a:latin typeface="Calibri"/>
              </a:rPr>
              <a:t>Tool Adapter</a:t>
            </a:r>
          </a:p>
        </p:txBody>
      </p:sp>
      <p:sp>
        <p:nvSpPr>
          <p:cNvPr id="54" name="Rectangle 53"/>
          <p:cNvSpPr/>
          <p:nvPr/>
        </p:nvSpPr>
        <p:spPr>
          <a:xfrm>
            <a:off x="5285232" y="149047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285232" y="189280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285232" y="229514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285232" y="269748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85232" y="309981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285232" y="350215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85232" y="390448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285232" y="430682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285232" y="470916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285232" y="511149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85232" y="551383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285232" y="591616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400800" y="1197864"/>
            <a:ext cx="1280160"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0800" y="1216152"/>
            <a:ext cx="1280160" cy="219456"/>
          </a:xfrm>
          <a:prstGeom prst="rect">
            <a:avLst/>
          </a:prstGeom>
          <a:noFill/>
        </p:spPr>
        <p:txBody>
          <a:bodyPr wrap="square">
            <a:spAutoFit/>
          </a:bodyPr>
          <a:lstStyle/>
          <a:p>
            <a:pPr algn="ctr"/>
            <a:r>
              <a:rPr sz="950" b="1" i="0">
                <a:solidFill>
                  <a:srgbClr val="0A0D1A"/>
                </a:solidFill>
                <a:latin typeface="Calibri"/>
              </a:rPr>
              <a:t>ASG</a:t>
            </a:r>
          </a:p>
        </p:txBody>
      </p:sp>
      <p:sp>
        <p:nvSpPr>
          <p:cNvPr id="68" name="Rectangle 67"/>
          <p:cNvSpPr/>
          <p:nvPr/>
        </p:nvSpPr>
        <p:spPr>
          <a:xfrm>
            <a:off x="7022592" y="149047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022592" y="189280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7022592" y="229514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7022592" y="269748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7022592" y="309981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022592" y="350215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022592" y="390448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022592" y="430682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022592" y="470916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022592" y="511149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022592" y="551383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022592" y="591616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0" name="Connector 79"/>
          <p:cNvCxnSpPr/>
          <p:nvPr/>
        </p:nvCxnSpPr>
        <p:spPr>
          <a:xfrm>
            <a:off x="1005840" y="1673352"/>
            <a:ext cx="868679" cy="0"/>
          </a:xfrm>
          <a:prstGeom prst="line">
            <a:avLst/>
          </a:prstGeom>
          <a:ln w="12700">
            <a:solidFill>
              <a:srgbClr val="FFFF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1005840" y="1490472"/>
            <a:ext cx="1325879" cy="256032"/>
          </a:xfrm>
          <a:prstGeom prst="rect">
            <a:avLst/>
          </a:prstGeom>
          <a:noFill/>
        </p:spPr>
        <p:txBody>
          <a:bodyPr wrap="square">
            <a:spAutoFit/>
          </a:bodyPr>
          <a:lstStyle/>
          <a:p>
            <a:pPr algn="l"/>
            <a:r>
              <a:rPr sz="750" b="0" i="0">
                <a:solidFill>
                  <a:srgbClr val="FFFFFF"/>
                </a:solidFill>
                <a:latin typeface="Calibri"/>
              </a:rPr>
              <a:t>spawn(ASG slice + task + toolset)</a:t>
            </a:r>
          </a:p>
        </p:txBody>
      </p:sp>
      <p:cxnSp>
        <p:nvCxnSpPr>
          <p:cNvPr id="82" name="Connector 81"/>
          <p:cNvCxnSpPr/>
          <p:nvPr/>
        </p:nvCxnSpPr>
        <p:spPr>
          <a:xfrm>
            <a:off x="2514600" y="2039112"/>
            <a:ext cx="685800" cy="0"/>
          </a:xfrm>
          <a:prstGeom prst="line">
            <a:avLst/>
          </a:prstGeom>
          <a:ln w="12700">
            <a:solidFill>
              <a:srgbClr val="FFFF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2514600" y="1856232"/>
            <a:ext cx="1143000" cy="256032"/>
          </a:xfrm>
          <a:prstGeom prst="rect">
            <a:avLst/>
          </a:prstGeom>
          <a:noFill/>
        </p:spPr>
        <p:txBody>
          <a:bodyPr wrap="square">
            <a:spAutoFit/>
          </a:bodyPr>
          <a:lstStyle/>
          <a:p>
            <a:pPr algn="l"/>
            <a:r>
              <a:rPr sz="750" b="0" i="0">
                <a:solidFill>
                  <a:srgbClr val="FFFFFF"/>
                </a:solidFill>
                <a:latin typeface="Calibri"/>
              </a:rPr>
              <a:t>tool_call(WhatWeb) — LOW risk</a:t>
            </a:r>
          </a:p>
        </p:txBody>
      </p:sp>
      <p:sp>
        <p:nvSpPr>
          <p:cNvPr id="84" name="Rectangle 83"/>
          <p:cNvSpPr/>
          <p:nvPr/>
        </p:nvSpPr>
        <p:spPr>
          <a:xfrm>
            <a:off x="3200400" y="2203704"/>
            <a:ext cx="0"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200400" y="2203704"/>
            <a:ext cx="0"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3200400" y="2203704"/>
            <a:ext cx="0"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3200400" y="2203704"/>
            <a:ext cx="0"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3200400" y="2203704"/>
            <a:ext cx="0"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3200400" y="2203704"/>
            <a:ext cx="0"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3200400" y="2020824"/>
            <a:ext cx="457200" cy="256032"/>
          </a:xfrm>
          <a:prstGeom prst="rect">
            <a:avLst/>
          </a:prstGeom>
          <a:noFill/>
        </p:spPr>
        <p:txBody>
          <a:bodyPr wrap="square">
            <a:spAutoFit/>
          </a:bodyPr>
          <a:lstStyle/>
          <a:p>
            <a:pPr algn="l"/>
            <a:r>
              <a:rPr sz="750" b="0" i="0">
                <a:solidFill>
                  <a:srgbClr val="39FF14"/>
                </a:solidFill>
                <a:latin typeface="Calibri"/>
              </a:rPr>
              <a:t>→ execute immediately</a:t>
            </a:r>
          </a:p>
        </p:txBody>
      </p:sp>
      <p:cxnSp>
        <p:nvCxnSpPr>
          <p:cNvPr id="91" name="Connector 90"/>
          <p:cNvCxnSpPr/>
          <p:nvPr/>
        </p:nvCxnSpPr>
        <p:spPr>
          <a:xfrm>
            <a:off x="3200400" y="2386584"/>
            <a:ext cx="1463040" cy="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3200400" y="2203704"/>
            <a:ext cx="1920240" cy="256032"/>
          </a:xfrm>
          <a:prstGeom prst="rect">
            <a:avLst/>
          </a:prstGeom>
          <a:noFill/>
        </p:spPr>
        <p:txBody>
          <a:bodyPr wrap="square">
            <a:spAutoFit/>
          </a:bodyPr>
          <a:lstStyle/>
          <a:p>
            <a:pPr algn="l"/>
            <a:r>
              <a:rPr sz="750" b="0" i="0">
                <a:solidFill>
                  <a:srgbClr val="A0AAB8"/>
                </a:solidFill>
                <a:latin typeface="Calibri"/>
              </a:rPr>
              <a:t>execute(WhatWeb)</a:t>
            </a:r>
          </a:p>
        </p:txBody>
      </p:sp>
      <p:sp>
        <p:nvSpPr>
          <p:cNvPr id="93" name="Rectangle 92"/>
          <p:cNvSpPr/>
          <p:nvPr/>
        </p:nvSpPr>
        <p:spPr>
          <a:xfrm>
            <a:off x="4663440" y="2569464"/>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4305300" y="2569464"/>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947160" y="2569464"/>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3589020" y="2569464"/>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3230880" y="2569464"/>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2872740" y="2569464"/>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514600" y="2386584"/>
            <a:ext cx="2606040" cy="256032"/>
          </a:xfrm>
          <a:prstGeom prst="rect">
            <a:avLst/>
          </a:prstGeom>
          <a:noFill/>
        </p:spPr>
        <p:txBody>
          <a:bodyPr wrap="square">
            <a:spAutoFit/>
          </a:bodyPr>
          <a:lstStyle/>
          <a:p>
            <a:pPr algn="l"/>
            <a:r>
              <a:rPr sz="750" b="0" i="0">
                <a:solidFill>
                  <a:srgbClr val="A0AAB8"/>
                </a:solidFill>
                <a:latin typeface="Calibri"/>
              </a:rPr>
              <a:t>structured findings [tech: WP 5.9.3]</a:t>
            </a:r>
          </a:p>
        </p:txBody>
      </p:sp>
      <p:cxnSp>
        <p:nvCxnSpPr>
          <p:cNvPr id="100" name="Connector 99"/>
          <p:cNvCxnSpPr/>
          <p:nvPr/>
        </p:nvCxnSpPr>
        <p:spPr>
          <a:xfrm>
            <a:off x="2514600" y="2935224"/>
            <a:ext cx="685800" cy="0"/>
          </a:xfrm>
          <a:prstGeom prst="line">
            <a:avLst/>
          </a:prstGeom>
          <a:ln w="12700">
            <a:solidFill>
              <a:srgbClr val="FFFF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2514600" y="2752344"/>
            <a:ext cx="1143000" cy="256032"/>
          </a:xfrm>
          <a:prstGeom prst="rect">
            <a:avLst/>
          </a:prstGeom>
          <a:noFill/>
        </p:spPr>
        <p:txBody>
          <a:bodyPr wrap="square">
            <a:spAutoFit/>
          </a:bodyPr>
          <a:lstStyle/>
          <a:p>
            <a:pPr algn="l"/>
            <a:r>
              <a:rPr sz="750" b="0" i="0">
                <a:solidFill>
                  <a:srgbClr val="FFFFFF"/>
                </a:solidFill>
                <a:latin typeface="Calibri"/>
              </a:rPr>
              <a:t>tool_call(Gobuster) — MED risk</a:t>
            </a:r>
          </a:p>
        </p:txBody>
      </p:sp>
      <p:sp>
        <p:nvSpPr>
          <p:cNvPr id="102" name="Rectangle 101"/>
          <p:cNvSpPr/>
          <p:nvPr/>
        </p:nvSpPr>
        <p:spPr>
          <a:xfrm>
            <a:off x="3200400" y="30998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3200400" y="30998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3200400" y="30998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3200400" y="30998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3200400" y="30998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3200400" y="30998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3200400" y="2916936"/>
            <a:ext cx="457200" cy="256032"/>
          </a:xfrm>
          <a:prstGeom prst="rect">
            <a:avLst/>
          </a:prstGeom>
          <a:noFill/>
        </p:spPr>
        <p:txBody>
          <a:bodyPr wrap="square">
            <a:spAutoFit/>
          </a:bodyPr>
          <a:lstStyle/>
          <a:p>
            <a:pPr algn="l"/>
            <a:r>
              <a:rPr sz="750" b="0" i="0">
                <a:solidFill>
                  <a:srgbClr val="FFD700"/>
                </a:solidFill>
                <a:latin typeface="Calibri"/>
              </a:rPr>
              <a:t>LLM Classif… → EXECUTE</a:t>
            </a:r>
          </a:p>
        </p:txBody>
      </p:sp>
      <p:cxnSp>
        <p:nvCxnSpPr>
          <p:cNvPr id="109" name="Connector 108"/>
          <p:cNvCxnSpPr/>
          <p:nvPr/>
        </p:nvCxnSpPr>
        <p:spPr>
          <a:xfrm>
            <a:off x="3200400" y="3282696"/>
            <a:ext cx="1463040" cy="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10" name="TextBox 109"/>
          <p:cNvSpPr txBox="1"/>
          <p:nvPr/>
        </p:nvSpPr>
        <p:spPr>
          <a:xfrm>
            <a:off x="3200400" y="3099816"/>
            <a:ext cx="1920240" cy="256032"/>
          </a:xfrm>
          <a:prstGeom prst="rect">
            <a:avLst/>
          </a:prstGeom>
          <a:noFill/>
        </p:spPr>
        <p:txBody>
          <a:bodyPr wrap="square">
            <a:spAutoFit/>
          </a:bodyPr>
          <a:lstStyle/>
          <a:p>
            <a:pPr algn="l"/>
            <a:r>
              <a:rPr sz="750" b="0" i="0">
                <a:solidFill>
                  <a:srgbClr val="A0AAB8"/>
                </a:solidFill>
                <a:latin typeface="Calibri"/>
              </a:rPr>
              <a:t>execute(Gobuster)</a:t>
            </a:r>
          </a:p>
        </p:txBody>
      </p:sp>
      <p:sp>
        <p:nvSpPr>
          <p:cNvPr id="111" name="Rectangle 110"/>
          <p:cNvSpPr/>
          <p:nvPr/>
        </p:nvSpPr>
        <p:spPr>
          <a:xfrm>
            <a:off x="4663440" y="3465576"/>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4305300" y="3465576"/>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3947160" y="3465576"/>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3589020" y="3465576"/>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3230880" y="3465576"/>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2872740" y="3465576"/>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514600" y="3282696"/>
            <a:ext cx="2606040" cy="256032"/>
          </a:xfrm>
          <a:prstGeom prst="rect">
            <a:avLst/>
          </a:prstGeom>
          <a:noFill/>
        </p:spPr>
        <p:txBody>
          <a:bodyPr wrap="square">
            <a:spAutoFit/>
          </a:bodyPr>
          <a:lstStyle/>
          <a:p>
            <a:pPr algn="l"/>
            <a:r>
              <a:rPr sz="750" b="0" i="0">
                <a:solidFill>
                  <a:srgbClr val="A0AAB8"/>
                </a:solidFill>
                <a:latin typeface="Calibri"/>
              </a:rPr>
              <a:t>structured findings [endpoint: /backup/…]</a:t>
            </a:r>
          </a:p>
        </p:txBody>
      </p:sp>
      <p:cxnSp>
        <p:nvCxnSpPr>
          <p:cNvPr id="118" name="Connector 117"/>
          <p:cNvCxnSpPr/>
          <p:nvPr/>
        </p:nvCxnSpPr>
        <p:spPr>
          <a:xfrm>
            <a:off x="2514600" y="3831336"/>
            <a:ext cx="685800" cy="0"/>
          </a:xfrm>
          <a:prstGeom prst="line">
            <a:avLst/>
          </a:prstGeom>
          <a:ln w="1270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19" name="TextBox 118"/>
          <p:cNvSpPr txBox="1"/>
          <p:nvPr/>
        </p:nvSpPr>
        <p:spPr>
          <a:xfrm>
            <a:off x="2514600" y="3648456"/>
            <a:ext cx="1143000" cy="256032"/>
          </a:xfrm>
          <a:prstGeom prst="rect">
            <a:avLst/>
          </a:prstGeom>
          <a:noFill/>
        </p:spPr>
        <p:txBody>
          <a:bodyPr wrap="square">
            <a:spAutoFit/>
          </a:bodyPr>
          <a:lstStyle/>
          <a:p>
            <a:pPr algn="l"/>
            <a:r>
              <a:rPr sz="750" b="0" i="0">
                <a:solidFill>
                  <a:srgbClr val="FF4545"/>
                </a:solidFill>
                <a:latin typeface="Calibri"/>
              </a:rPr>
              <a:t>tool_call(SQLMap) — HIGH risk</a:t>
            </a:r>
          </a:p>
        </p:txBody>
      </p:sp>
      <p:sp>
        <p:nvSpPr>
          <p:cNvPr id="120" name="Rectangle 119"/>
          <p:cNvSpPr/>
          <p:nvPr/>
        </p:nvSpPr>
        <p:spPr>
          <a:xfrm>
            <a:off x="1024128" y="40142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024128" y="40142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024128" y="40142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024128" y="40142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024128" y="40142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024128" y="40142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024128" y="3831336"/>
            <a:ext cx="457200" cy="256032"/>
          </a:xfrm>
          <a:prstGeom prst="rect">
            <a:avLst/>
          </a:prstGeom>
          <a:noFill/>
        </p:spPr>
        <p:txBody>
          <a:bodyPr wrap="square">
            <a:spAutoFit/>
          </a:bodyPr>
          <a:lstStyle/>
          <a:p>
            <a:pPr algn="l"/>
            <a:r>
              <a:rPr sz="750" b="0" i="0">
                <a:solidFill>
                  <a:srgbClr val="FFD700"/>
                </a:solidFill>
                <a:latin typeface="Calibri"/>
              </a:rPr>
              <a:t>Commander Mailbox —
approval request</a:t>
            </a:r>
          </a:p>
        </p:txBody>
      </p:sp>
      <p:cxnSp>
        <p:nvCxnSpPr>
          <p:cNvPr id="127" name="Connector 126"/>
          <p:cNvCxnSpPr/>
          <p:nvPr/>
        </p:nvCxnSpPr>
        <p:spPr>
          <a:xfrm>
            <a:off x="1024128" y="4562856"/>
            <a:ext cx="2176272" cy="0"/>
          </a:xfrm>
          <a:prstGeom prst="line">
            <a:avLst/>
          </a:prstGeom>
          <a:ln w="1270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1024128" y="4379976"/>
            <a:ext cx="2633472" cy="256032"/>
          </a:xfrm>
          <a:prstGeom prst="rect">
            <a:avLst/>
          </a:prstGeom>
          <a:noFill/>
        </p:spPr>
        <p:txBody>
          <a:bodyPr wrap="square">
            <a:spAutoFit/>
          </a:bodyPr>
          <a:lstStyle/>
          <a:p>
            <a:pPr algn="l"/>
            <a:r>
              <a:rPr sz="750" b="0" i="0">
                <a:solidFill>
                  <a:srgbClr val="39FF14"/>
                </a:solidFill>
                <a:latin typeface="Calibri"/>
              </a:rPr>
              <a:t>APPROVED
(scope valid, chain intent ok)</a:t>
            </a:r>
          </a:p>
        </p:txBody>
      </p:sp>
      <p:cxnSp>
        <p:nvCxnSpPr>
          <p:cNvPr id="129" name="Connector 128"/>
          <p:cNvCxnSpPr/>
          <p:nvPr/>
        </p:nvCxnSpPr>
        <p:spPr>
          <a:xfrm>
            <a:off x="3200400" y="4928615"/>
            <a:ext cx="1463040" cy="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4663440" y="5294376"/>
            <a:ext cx="1737360" cy="0"/>
          </a:xfrm>
          <a:prstGeom prst="line">
            <a:avLst/>
          </a:prstGeom>
          <a:ln w="1270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31" name="TextBox 130"/>
          <p:cNvSpPr txBox="1"/>
          <p:nvPr/>
        </p:nvSpPr>
        <p:spPr>
          <a:xfrm>
            <a:off x="4663440" y="5111496"/>
            <a:ext cx="2194560" cy="256032"/>
          </a:xfrm>
          <a:prstGeom prst="rect">
            <a:avLst/>
          </a:prstGeom>
          <a:noFill/>
        </p:spPr>
        <p:txBody>
          <a:bodyPr wrap="square">
            <a:spAutoFit/>
          </a:bodyPr>
          <a:lstStyle/>
          <a:p>
            <a:pPr algn="l"/>
            <a:r>
              <a:rPr sz="750" b="0" i="0">
                <a:solidFill>
                  <a:srgbClr val="39FF14"/>
                </a:solidFill>
                <a:latin typeface="Calibri"/>
              </a:rPr>
              <a:t>write delta [Tech node][Endpoint node][Vuln node]</a:t>
            </a:r>
          </a:p>
        </p:txBody>
      </p:sp>
      <p:sp>
        <p:nvSpPr>
          <p:cNvPr id="132" name="Rectangle 131"/>
          <p:cNvSpPr/>
          <p:nvPr/>
        </p:nvSpPr>
        <p:spPr>
          <a:xfrm>
            <a:off x="2514600" y="5660136"/>
            <a:ext cx="-186309"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2266188" y="5660136"/>
            <a:ext cx="-186309"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2017776" y="5660136"/>
            <a:ext cx="-186309"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769364" y="5660136"/>
            <a:ext cx="-186309"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520952" y="5660136"/>
            <a:ext cx="-186309"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272540" y="5660136"/>
            <a:ext cx="-186309"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024128" y="5477256"/>
            <a:ext cx="1947672" cy="256032"/>
          </a:xfrm>
          <a:prstGeom prst="rect">
            <a:avLst/>
          </a:prstGeom>
          <a:noFill/>
        </p:spPr>
        <p:txBody>
          <a:bodyPr wrap="square">
            <a:spAutoFit/>
          </a:bodyPr>
          <a:lstStyle/>
          <a:p>
            <a:pPr algn="l"/>
            <a:r>
              <a:rPr sz="750" b="0" i="0">
                <a:solidFill>
                  <a:srgbClr val="A0AAB8"/>
                </a:solidFill>
                <a:latin typeface="Calibri"/>
              </a:rPr>
              <a:t>return structured ASG delta</a:t>
            </a:r>
          </a:p>
        </p:txBody>
      </p:sp>
      <p:sp>
        <p:nvSpPr>
          <p:cNvPr id="139" name="Rectangle 138"/>
          <p:cNvSpPr/>
          <p:nvPr/>
        </p:nvSpPr>
        <p:spPr>
          <a:xfrm>
            <a:off x="320040" y="5742432"/>
            <a:ext cx="2103120" cy="768096"/>
          </a:xfrm>
          <a:prstGeom prst="rect">
            <a:avLst/>
          </a:prstGeom>
          <a:solidFill>
            <a:srgbClr val="061606"/>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365760" y="5779008"/>
            <a:ext cx="2011680" cy="694944"/>
          </a:xfrm>
          <a:prstGeom prst="rect">
            <a:avLst/>
          </a:prstGeom>
          <a:noFill/>
        </p:spPr>
        <p:txBody>
          <a:bodyPr wrap="square">
            <a:spAutoFit/>
          </a:bodyPr>
          <a:lstStyle/>
          <a:p>
            <a:pPr algn="l"/>
            <a:r>
              <a:rPr sz="800" b="0" i="0">
                <a:solidFill>
                  <a:srgbClr val="39FF14"/>
                </a:solidFill>
                <a:latin typeface="Calibri"/>
              </a:rPr>
              <a:t>Commander reads new Vuln nodes
→ seeds APG Chain-01</a:t>
            </a:r>
          </a:p>
        </p:txBody>
      </p:sp>
      <p:sp>
        <p:nvSpPr>
          <p:cNvPr id="141" name="Rectangle 140"/>
          <p:cNvSpPr/>
          <p:nvPr/>
        </p:nvSpPr>
        <p:spPr>
          <a:xfrm>
            <a:off x="2560320" y="5742432"/>
            <a:ext cx="2743200" cy="768096"/>
          </a:xfrm>
          <a:prstGeom prst="rect">
            <a:avLst/>
          </a:prstGeom>
          <a:solidFill>
            <a:srgbClr val="120800"/>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2651760" y="5779008"/>
            <a:ext cx="2560320" cy="694944"/>
          </a:xfrm>
          <a:prstGeom prst="rect">
            <a:avLst/>
          </a:prstGeom>
          <a:noFill/>
        </p:spPr>
        <p:txBody>
          <a:bodyPr wrap="square">
            <a:spAutoFit/>
          </a:bodyPr>
          <a:lstStyle/>
          <a:p>
            <a:pPr algn="l"/>
            <a:r>
              <a:rPr sz="800" b="0" i="0">
                <a:solidFill>
                  <a:srgbClr val="FFD700"/>
                </a:solidFill>
                <a:latin typeface="Calibri"/>
              </a:rPr>
              <a:t>🗑️ Working context DISCARDED
Raw tool output · history · reasoning → gone</a:t>
            </a:r>
          </a:p>
        </p:txBody>
      </p:sp>
      <p:sp>
        <p:nvSpPr>
          <p:cNvPr id="143" name="Rectangle 142"/>
          <p:cNvSpPr/>
          <p:nvPr/>
        </p:nvSpPr>
        <p:spPr>
          <a:xfrm>
            <a:off x="8366760" y="1143000"/>
            <a:ext cx="3687775" cy="2066543"/>
          </a:xfrm>
          <a:prstGeom prst="rect">
            <a:avLst/>
          </a:prstGeom>
          <a:solidFill>
            <a:srgbClr val="081020"/>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8476488" y="1216152"/>
            <a:ext cx="3504895" cy="237744"/>
          </a:xfrm>
          <a:prstGeom prst="rect">
            <a:avLst/>
          </a:prstGeom>
          <a:noFill/>
        </p:spPr>
        <p:txBody>
          <a:bodyPr wrap="square">
            <a:spAutoFit/>
          </a:bodyPr>
          <a:lstStyle/>
          <a:p>
            <a:pPr algn="l"/>
            <a:r>
              <a:rPr sz="1200" b="1" i="0">
                <a:solidFill>
                  <a:srgbClr val="FFFFFF"/>
                </a:solidFill>
                <a:latin typeface="Calibri"/>
              </a:rPr>
              <a:t>Agent Spawn Package</a:t>
            </a:r>
          </a:p>
        </p:txBody>
      </p:sp>
      <p:sp>
        <p:nvSpPr>
          <p:cNvPr id="145" name="Rectangle 144"/>
          <p:cNvSpPr/>
          <p:nvPr/>
        </p:nvSpPr>
        <p:spPr>
          <a:xfrm>
            <a:off x="8439912" y="1490472"/>
            <a:ext cx="3541471" cy="256032"/>
          </a:xfrm>
          <a:prstGeom prst="rect">
            <a:avLst/>
          </a:prstGeom>
          <a:solidFill>
            <a:srgbClr val="04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8476488" y="1517904"/>
            <a:ext cx="3486607" cy="201168"/>
          </a:xfrm>
          <a:prstGeom prst="rect">
            <a:avLst/>
          </a:prstGeom>
          <a:noFill/>
        </p:spPr>
        <p:txBody>
          <a:bodyPr wrap="square">
            <a:spAutoFit/>
          </a:bodyPr>
          <a:lstStyle/>
          <a:p>
            <a:pPr algn="l"/>
            <a:r>
              <a:rPr sz="800" b="0" i="0">
                <a:solidFill>
                  <a:srgbClr val="39FF14"/>
                </a:solidFill>
                <a:latin typeface="Calibri"/>
              </a:rPr>
              <a:t>● ASG SLICE  Only nodes relevant to this task — not the full graph</a:t>
            </a:r>
          </a:p>
        </p:txBody>
      </p:sp>
      <p:sp>
        <p:nvSpPr>
          <p:cNvPr id="147" name="Rectangle 146"/>
          <p:cNvSpPr/>
          <p:nvPr/>
        </p:nvSpPr>
        <p:spPr>
          <a:xfrm>
            <a:off x="8439912" y="1801368"/>
            <a:ext cx="3541471" cy="256032"/>
          </a:xfrm>
          <a:prstGeom prst="rect">
            <a:avLst/>
          </a:prstGeom>
          <a:solidFill>
            <a:srgbClr val="04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8476488" y="1828800"/>
            <a:ext cx="3486607" cy="201168"/>
          </a:xfrm>
          <a:prstGeom prst="rect">
            <a:avLst/>
          </a:prstGeom>
          <a:noFill/>
        </p:spPr>
        <p:txBody>
          <a:bodyPr wrap="square">
            <a:spAutoFit/>
          </a:bodyPr>
          <a:lstStyle/>
          <a:p>
            <a:pPr algn="l"/>
            <a:r>
              <a:rPr sz="800" b="0" i="0">
                <a:solidFill>
                  <a:srgbClr val="FFD700"/>
                </a:solidFill>
                <a:latin typeface="Calibri"/>
              </a:rPr>
              <a:t>● APG SLICE  Relevant AttackChains only (Validation tasks)</a:t>
            </a:r>
          </a:p>
        </p:txBody>
      </p:sp>
      <p:sp>
        <p:nvSpPr>
          <p:cNvPr id="149" name="Rectangle 148"/>
          <p:cNvSpPr/>
          <p:nvPr/>
        </p:nvSpPr>
        <p:spPr>
          <a:xfrm>
            <a:off x="8439912" y="2112264"/>
            <a:ext cx="3541471" cy="256032"/>
          </a:xfrm>
          <a:prstGeom prst="rect">
            <a:avLst/>
          </a:prstGeom>
          <a:solidFill>
            <a:srgbClr val="04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8476488" y="2139696"/>
            <a:ext cx="3486607" cy="201168"/>
          </a:xfrm>
          <a:prstGeom prst="rect">
            <a:avLst/>
          </a:prstGeom>
          <a:noFill/>
        </p:spPr>
        <p:txBody>
          <a:bodyPr wrap="square">
            <a:spAutoFit/>
          </a:bodyPr>
          <a:lstStyle/>
          <a:p>
            <a:pPr algn="l"/>
            <a:r>
              <a:rPr sz="800" b="0" i="0">
                <a:solidFill>
                  <a:srgbClr val="FF4545"/>
                </a:solidFill>
                <a:latin typeface="Calibri"/>
              </a:rPr>
              <a:t>● TOOL SET  Authorized tools only — no others available</a:t>
            </a:r>
          </a:p>
        </p:txBody>
      </p:sp>
      <p:sp>
        <p:nvSpPr>
          <p:cNvPr id="151" name="Rectangle 150"/>
          <p:cNvSpPr/>
          <p:nvPr/>
        </p:nvSpPr>
        <p:spPr>
          <a:xfrm>
            <a:off x="8439912" y="2423160"/>
            <a:ext cx="3541471" cy="256032"/>
          </a:xfrm>
          <a:prstGeom prst="rect">
            <a:avLst/>
          </a:prstGeom>
          <a:solidFill>
            <a:srgbClr val="04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476488" y="2450592"/>
            <a:ext cx="3486607" cy="201168"/>
          </a:xfrm>
          <a:prstGeom prst="rect">
            <a:avLst/>
          </a:prstGeom>
          <a:noFill/>
        </p:spPr>
        <p:txBody>
          <a:bodyPr wrap="square">
            <a:spAutoFit/>
          </a:bodyPr>
          <a:lstStyle/>
          <a:p>
            <a:pPr algn="l"/>
            <a:r>
              <a:rPr sz="800" b="0" i="0">
                <a:solidFill>
                  <a:srgbClr val="00E5FF"/>
                </a:solidFill>
                <a:latin typeface="Calibri"/>
              </a:rPr>
              <a:t>● TASK SPEC  Commander's current plan item — exact objective</a:t>
            </a:r>
          </a:p>
        </p:txBody>
      </p:sp>
      <p:sp>
        <p:nvSpPr>
          <p:cNvPr id="153" name="Rectangle 152"/>
          <p:cNvSpPr/>
          <p:nvPr/>
        </p:nvSpPr>
        <p:spPr>
          <a:xfrm>
            <a:off x="8439912" y="2734056"/>
            <a:ext cx="3541471" cy="256032"/>
          </a:xfrm>
          <a:prstGeom prst="rect">
            <a:avLst/>
          </a:prstGeom>
          <a:solidFill>
            <a:srgbClr val="04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8476488" y="2761488"/>
            <a:ext cx="3486607" cy="201168"/>
          </a:xfrm>
          <a:prstGeom prst="rect">
            <a:avLst/>
          </a:prstGeom>
          <a:noFill/>
        </p:spPr>
        <p:txBody>
          <a:bodyPr wrap="square">
            <a:spAutoFit/>
          </a:bodyPr>
          <a:lstStyle/>
          <a:p>
            <a:pPr algn="l"/>
            <a:r>
              <a:rPr sz="800" b="0" i="0">
                <a:solidFill>
                  <a:srgbClr val="BD93F9"/>
                </a:solidFill>
                <a:latin typeface="Calibri"/>
              </a:rPr>
              <a:t>● KNOWLEDGE DOCS  Vuln-class expert docs (Analysis + Validation)</a:t>
            </a:r>
          </a:p>
        </p:txBody>
      </p:sp>
      <p:sp>
        <p:nvSpPr>
          <p:cNvPr id="155" name="Rectangle 154"/>
          <p:cNvSpPr/>
          <p:nvPr/>
        </p:nvSpPr>
        <p:spPr>
          <a:xfrm>
            <a:off x="8439912" y="3044952"/>
            <a:ext cx="3541471" cy="237744"/>
          </a:xfrm>
          <a:prstGeom prst="rect">
            <a:avLst/>
          </a:prstGeom>
          <a:solidFill>
            <a:srgbClr val="021404"/>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8476488" y="3081528"/>
            <a:ext cx="3486607" cy="201168"/>
          </a:xfrm>
          <a:prstGeom prst="rect">
            <a:avLst/>
          </a:prstGeom>
          <a:noFill/>
        </p:spPr>
        <p:txBody>
          <a:bodyPr wrap="square">
            <a:spAutoFit/>
          </a:bodyPr>
          <a:lstStyle/>
          <a:p>
            <a:pPr algn="ctr"/>
            <a:r>
              <a:rPr sz="850" b="1" i="0">
                <a:solidFill>
                  <a:srgbClr val="39FF14"/>
                </a:solidFill>
                <a:latin typeface="Calibri"/>
              </a:rPr>
              <a:t>Returns: Structured ASG Delta (new nodes + edges only)</a:t>
            </a:r>
          </a:p>
        </p:txBody>
      </p:sp>
      <p:sp>
        <p:nvSpPr>
          <p:cNvPr id="157" name="TextBox 156"/>
          <p:cNvSpPr txBox="1"/>
          <p:nvPr/>
        </p:nvSpPr>
        <p:spPr>
          <a:xfrm>
            <a:off x="8439912" y="3319272"/>
            <a:ext cx="3541471" cy="237744"/>
          </a:xfrm>
          <a:prstGeom prst="rect">
            <a:avLst/>
          </a:prstGeom>
          <a:noFill/>
        </p:spPr>
        <p:txBody>
          <a:bodyPr wrap="square">
            <a:spAutoFit/>
          </a:bodyPr>
          <a:lstStyle/>
          <a:p>
            <a:pPr algn="ctr"/>
            <a:r>
              <a:rPr sz="750" b="0" i="1">
                <a:solidFill>
                  <a:srgbClr val="A0AAB8"/>
                </a:solidFill>
                <a:latin typeface="Calibri"/>
              </a:rPr>
              <a:t>Raw tool output · conversation history · intermediate reasoning → DISCARDED</a:t>
            </a:r>
          </a:p>
        </p:txBody>
      </p:sp>
      <p:sp>
        <p:nvSpPr>
          <p:cNvPr id="158" name="Rectangle 157"/>
          <p:cNvSpPr/>
          <p:nvPr/>
        </p:nvSpPr>
        <p:spPr>
          <a:xfrm>
            <a:off x="8366760" y="3593592"/>
            <a:ext cx="3687775" cy="950976"/>
          </a:xfrm>
          <a:prstGeom prst="rect">
            <a:avLst/>
          </a:prstGeom>
          <a:solidFill>
            <a:srgbClr val="04081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458200" y="3648456"/>
            <a:ext cx="3504895" cy="237744"/>
          </a:xfrm>
          <a:prstGeom prst="rect">
            <a:avLst/>
          </a:prstGeom>
          <a:noFill/>
        </p:spPr>
        <p:txBody>
          <a:bodyPr wrap="square">
            <a:spAutoFit/>
          </a:bodyPr>
          <a:lstStyle/>
          <a:p>
            <a:pPr algn="l"/>
            <a:r>
              <a:rPr sz="1000" b="1" i="0">
                <a:solidFill>
                  <a:srgbClr val="00E5FF"/>
                </a:solidFill>
                <a:latin typeface="Calibri"/>
              </a:rPr>
              <a:t>☑ Commander Stays Clean</a:t>
            </a:r>
          </a:p>
        </p:txBody>
      </p:sp>
      <p:sp>
        <p:nvSpPr>
          <p:cNvPr id="160" name="TextBox 159"/>
          <p:cNvSpPr txBox="1"/>
          <p:nvPr/>
        </p:nvSpPr>
        <p:spPr>
          <a:xfrm>
            <a:off x="8458200" y="3904488"/>
            <a:ext cx="3504895" cy="566928"/>
          </a:xfrm>
          <a:prstGeom prst="rect">
            <a:avLst/>
          </a:prstGeom>
          <a:noFill/>
        </p:spPr>
        <p:txBody>
          <a:bodyPr wrap="square">
            <a:spAutoFit/>
          </a:bodyPr>
          <a:lstStyle/>
          <a:p>
            <a:pPr algn="l"/>
            <a:r>
              <a:rPr sz="850" b="0" i="0">
                <a:solidFill>
                  <a:srgbClr val="A0AAB8"/>
                </a:solidFill>
                <a:latin typeface="Calibri"/>
              </a:rPr>
              <a:t>Commander only ever sees ASG/APG state — never thousands of lines of raw tool output. Reasoning context stays surgically focused.</a:t>
            </a:r>
          </a:p>
        </p:txBody>
      </p:sp>
      <p:sp>
        <p:nvSpPr>
          <p:cNvPr id="161" name="Rectangle 160"/>
          <p:cNvSpPr/>
          <p:nvPr/>
        </p:nvSpPr>
        <p:spPr>
          <a:xfrm>
            <a:off x="8366760" y="4599432"/>
            <a:ext cx="3687775" cy="950976"/>
          </a:xfrm>
          <a:prstGeom prst="rect">
            <a:avLst/>
          </a:prstGeom>
          <a:solidFill>
            <a:srgbClr val="040818"/>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8458200" y="4654296"/>
            <a:ext cx="3504895" cy="237744"/>
          </a:xfrm>
          <a:prstGeom prst="rect">
            <a:avLst/>
          </a:prstGeom>
          <a:noFill/>
        </p:spPr>
        <p:txBody>
          <a:bodyPr wrap="square">
            <a:spAutoFit/>
          </a:bodyPr>
          <a:lstStyle/>
          <a:p>
            <a:pPr algn="l"/>
            <a:r>
              <a:rPr sz="1000" b="1" i="0">
                <a:solidFill>
                  <a:srgbClr val="BD93F9"/>
                </a:solidFill>
                <a:latin typeface="Calibri"/>
              </a:rPr>
              <a:t>☑ Agents Can’t Contaminate</a:t>
            </a:r>
          </a:p>
        </p:txBody>
      </p:sp>
      <p:sp>
        <p:nvSpPr>
          <p:cNvPr id="163" name="TextBox 162"/>
          <p:cNvSpPr txBox="1"/>
          <p:nvPr/>
        </p:nvSpPr>
        <p:spPr>
          <a:xfrm>
            <a:off x="8458200" y="4910328"/>
            <a:ext cx="3504895" cy="566928"/>
          </a:xfrm>
          <a:prstGeom prst="rect">
            <a:avLst/>
          </a:prstGeom>
          <a:noFill/>
        </p:spPr>
        <p:txBody>
          <a:bodyPr wrap="square">
            <a:spAutoFit/>
          </a:bodyPr>
          <a:lstStyle/>
          <a:p>
            <a:pPr algn="l"/>
            <a:r>
              <a:rPr sz="850" b="0" i="0">
                <a:solidFill>
                  <a:srgbClr val="A0AAB8"/>
                </a:solidFill>
                <a:latin typeface="Calibri"/>
              </a:rPr>
              <a:t>Agent A's verbose history never appears in Agent B's context. Knowledge passes only through the ASG. No shared memory. No cross-pollution.</a:t>
            </a:r>
          </a:p>
        </p:txBody>
      </p:sp>
      <p:sp>
        <p:nvSpPr>
          <p:cNvPr id="164" name="Rectangle 163"/>
          <p:cNvSpPr/>
          <p:nvPr/>
        </p:nvSpPr>
        <p:spPr>
          <a:xfrm>
            <a:off x="8366760" y="5605272"/>
            <a:ext cx="3687775" cy="950976"/>
          </a:xfrm>
          <a:prstGeom prst="rect">
            <a:avLst/>
          </a:prstGeom>
          <a:solidFill>
            <a:srgbClr val="040818"/>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8458200" y="5660136"/>
            <a:ext cx="3504895" cy="237744"/>
          </a:xfrm>
          <a:prstGeom prst="rect">
            <a:avLst/>
          </a:prstGeom>
          <a:noFill/>
        </p:spPr>
        <p:txBody>
          <a:bodyPr wrap="square">
            <a:spAutoFit/>
          </a:bodyPr>
          <a:lstStyle/>
          <a:p>
            <a:pPr algn="l"/>
            <a:r>
              <a:rPr sz="1000" b="1" i="0">
                <a:solidFill>
                  <a:srgbClr val="FF4545"/>
                </a:solidFill>
                <a:latin typeface="Calibri"/>
              </a:rPr>
              <a:t>☑ Rejections Don’t Bias Planning</a:t>
            </a:r>
          </a:p>
        </p:txBody>
      </p:sp>
      <p:sp>
        <p:nvSpPr>
          <p:cNvPr id="166" name="TextBox 165"/>
          <p:cNvSpPr txBox="1"/>
          <p:nvPr/>
        </p:nvSpPr>
        <p:spPr>
          <a:xfrm>
            <a:off x="8458200" y="5916168"/>
            <a:ext cx="3504895" cy="566928"/>
          </a:xfrm>
          <a:prstGeom prst="rect">
            <a:avLst/>
          </a:prstGeom>
          <a:noFill/>
        </p:spPr>
        <p:txBody>
          <a:bodyPr wrap="square">
            <a:spAutoFit/>
          </a:bodyPr>
          <a:lstStyle/>
          <a:p>
            <a:pPr algn="l"/>
            <a:r>
              <a:rPr sz="850" b="0" i="0">
                <a:solidFill>
                  <a:srgbClr val="A0AAB8"/>
                </a:solidFill>
                <a:latin typeface="Calibri"/>
              </a:rPr>
              <a:t>When Commander rejects a High-risk tool call, that rejection never appears in the Commander's own context. Refusals don't accumulate and skew future decisions.</a:t>
            </a:r>
          </a:p>
        </p:txBody>
      </p:sp>
      <p:sp>
        <p:nvSpPr>
          <p:cNvPr id="167" name="Rectangle 166"/>
          <p:cNvSpPr/>
          <p:nvPr/>
        </p:nvSpPr>
        <p:spPr>
          <a:xfrm>
            <a:off x="8366760" y="6647688"/>
            <a:ext cx="3687775" cy="457200"/>
          </a:xfrm>
          <a:prstGeom prst="rect">
            <a:avLst/>
          </a:prstGeom>
          <a:solidFill>
            <a:srgbClr val="0A18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8458200" y="6702552"/>
            <a:ext cx="3504895" cy="365760"/>
          </a:xfrm>
          <a:prstGeom prst="rect">
            <a:avLst/>
          </a:prstGeom>
          <a:noFill/>
        </p:spPr>
        <p:txBody>
          <a:bodyPr wrap="square">
            <a:spAutoFit/>
          </a:bodyPr>
          <a:lstStyle/>
          <a:p>
            <a:pPr algn="l"/>
            <a:r>
              <a:rPr sz="800" b="0" i="0">
                <a:solidFill>
                  <a:srgbClr val="39FF14"/>
                </a:solidFill>
                <a:latin typeface="Calibri"/>
              </a:rPr>
              <a:t>🔴 Result: Long missions with many agents produce the same reasoning quality as single-agent tasks — context quality does not degrade with mission complexity.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4545"/>
                </a:solidFill>
                <a:latin typeface="Calibri"/>
              </a:rPr>
              <a:t>OFFENSIVE TOOL CATALOGUE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800" b="1" i="0">
                <a:solidFill>
                  <a:srgbClr val="FFFFFF"/>
                </a:solidFill>
                <a:latin typeface="Calibri"/>
              </a:rPr>
              <a:t>11 Industry-Standard Security Tools — AI Agent Operated</a:t>
            </a:r>
          </a:p>
        </p:txBody>
      </p:sp>
      <p:sp>
        <p:nvSpPr>
          <p:cNvPr id="7" name="TextBox 6"/>
          <p:cNvSpPr txBox="1"/>
          <p:nvPr/>
        </p:nvSpPr>
        <p:spPr>
          <a:xfrm>
            <a:off x="11780215" y="6355080"/>
            <a:ext cx="384048" cy="411480"/>
          </a:xfrm>
          <a:prstGeom prst="rect">
            <a:avLst/>
          </a:prstGeom>
          <a:noFill/>
        </p:spPr>
        <p:txBody>
          <a:bodyPr wrap="square">
            <a:spAutoFit/>
          </a:bodyPr>
          <a:lstStyle/>
          <a:p>
            <a:pPr algn="r"/>
            <a:r>
              <a:rPr sz="1300" b="1" i="0">
                <a:solidFill>
                  <a:srgbClr val="FF4545"/>
                </a:solidFill>
                <a:latin typeface="Calibri"/>
              </a:rPr>
              <a:t>09</a:t>
            </a:r>
          </a:p>
        </p:txBody>
      </p:sp>
      <p:sp>
        <p:nvSpPr>
          <p:cNvPr id="8" name="Rectangle 7"/>
          <p:cNvSpPr/>
          <p:nvPr/>
        </p:nvSpPr>
        <p:spPr>
          <a:xfrm>
            <a:off x="274320" y="960120"/>
            <a:ext cx="3931920" cy="29260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96696"/>
            <a:ext cx="3749040" cy="219456"/>
          </a:xfrm>
          <a:prstGeom prst="rect">
            <a:avLst/>
          </a:prstGeom>
          <a:noFill/>
        </p:spPr>
        <p:txBody>
          <a:bodyPr wrap="square">
            <a:spAutoFit/>
          </a:bodyPr>
          <a:lstStyle/>
          <a:p>
            <a:pPr algn="ctr"/>
            <a:r>
              <a:rPr sz="1000" b="1" i="0">
                <a:solidFill>
                  <a:srgbClr val="0A0D1A"/>
                </a:solidFill>
                <a:latin typeface="Calibri"/>
              </a:rPr>
              <a:t>PHASE 1  ·  RECONNAISSANCE</a:t>
            </a:r>
          </a:p>
        </p:txBody>
      </p:sp>
      <p:sp>
        <p:nvSpPr>
          <p:cNvPr id="10" name="Rectangle 9"/>
          <p:cNvSpPr/>
          <p:nvPr/>
        </p:nvSpPr>
        <p:spPr>
          <a:xfrm>
            <a:off x="4315968" y="960120"/>
            <a:ext cx="4078224" cy="29260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07408" y="996696"/>
            <a:ext cx="3895344" cy="219456"/>
          </a:xfrm>
          <a:prstGeom prst="rect">
            <a:avLst/>
          </a:prstGeom>
          <a:noFill/>
        </p:spPr>
        <p:txBody>
          <a:bodyPr wrap="square">
            <a:spAutoFit/>
          </a:bodyPr>
          <a:lstStyle/>
          <a:p>
            <a:pPr algn="ctr"/>
            <a:r>
              <a:rPr sz="1000" b="1" i="0">
                <a:solidFill>
                  <a:srgbClr val="0A0D1A"/>
                </a:solidFill>
                <a:latin typeface="Calibri"/>
              </a:rPr>
              <a:t>PHASE 2  ·  ANALYSIS</a:t>
            </a:r>
          </a:p>
        </p:txBody>
      </p:sp>
      <p:sp>
        <p:nvSpPr>
          <p:cNvPr id="12" name="Rectangle 11"/>
          <p:cNvSpPr/>
          <p:nvPr/>
        </p:nvSpPr>
        <p:spPr>
          <a:xfrm>
            <a:off x="8503920" y="960120"/>
            <a:ext cx="1783080" cy="29260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996696"/>
            <a:ext cx="1600200" cy="219456"/>
          </a:xfrm>
          <a:prstGeom prst="rect">
            <a:avLst/>
          </a:prstGeom>
          <a:noFill/>
        </p:spPr>
        <p:txBody>
          <a:bodyPr wrap="square">
            <a:spAutoFit/>
          </a:bodyPr>
          <a:lstStyle/>
          <a:p>
            <a:pPr algn="ctr"/>
            <a:r>
              <a:rPr sz="1000" b="1" i="0">
                <a:solidFill>
                  <a:srgbClr val="FFFFFF"/>
                </a:solidFill>
                <a:latin typeface="Calibri"/>
              </a:rPr>
              <a:t>PHASE 3  ·  VALIDATION</a:t>
            </a:r>
          </a:p>
        </p:txBody>
      </p:sp>
      <p:sp>
        <p:nvSpPr>
          <p:cNvPr id="14" name="Rectangle 13"/>
          <p:cNvSpPr/>
          <p:nvPr/>
        </p:nvSpPr>
        <p:spPr>
          <a:xfrm>
            <a:off x="10351008" y="960120"/>
            <a:ext cx="1709928" cy="29260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42448" y="996696"/>
            <a:ext cx="1527048" cy="219456"/>
          </a:xfrm>
          <a:prstGeom prst="rect">
            <a:avLst/>
          </a:prstGeom>
          <a:noFill/>
        </p:spPr>
        <p:txBody>
          <a:bodyPr wrap="square">
            <a:spAutoFit/>
          </a:bodyPr>
          <a:lstStyle/>
          <a:p>
            <a:pPr algn="ctr"/>
            <a:r>
              <a:rPr sz="1000" b="1" i="0">
                <a:solidFill>
                  <a:srgbClr val="FFFFFF"/>
                </a:solidFill>
                <a:latin typeface="Calibri"/>
              </a:rPr>
              <a:t>PHASE 3  ·  EVIDENCE</a:t>
            </a:r>
          </a:p>
        </p:txBody>
      </p:sp>
      <p:sp>
        <p:nvSpPr>
          <p:cNvPr id="16" name="Rectangle 15"/>
          <p:cNvSpPr/>
          <p:nvPr/>
        </p:nvSpPr>
        <p:spPr>
          <a:xfrm>
            <a:off x="274320" y="1307592"/>
            <a:ext cx="3931920" cy="1581912"/>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 y="1307592"/>
            <a:ext cx="384048" cy="158191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1933956"/>
            <a:ext cx="384048" cy="329184"/>
          </a:xfrm>
          <a:prstGeom prst="rect">
            <a:avLst/>
          </a:prstGeom>
          <a:noFill/>
        </p:spPr>
        <p:txBody>
          <a:bodyPr wrap="square">
            <a:spAutoFit/>
          </a:bodyPr>
          <a:lstStyle/>
          <a:p>
            <a:pPr algn="ctr"/>
            <a:r>
              <a:rPr sz="1800" b="1" i="0">
                <a:solidFill>
                  <a:srgbClr val="0A0D1A"/>
                </a:solidFill>
                <a:latin typeface="Calibri"/>
              </a:rPr>
              <a:t>1</a:t>
            </a:r>
          </a:p>
        </p:txBody>
      </p:sp>
      <p:sp>
        <p:nvSpPr>
          <p:cNvPr id="19" name="TextBox 18"/>
          <p:cNvSpPr txBox="1"/>
          <p:nvPr/>
        </p:nvSpPr>
        <p:spPr>
          <a:xfrm>
            <a:off x="731520" y="1380744"/>
            <a:ext cx="3401568" cy="256032"/>
          </a:xfrm>
          <a:prstGeom prst="rect">
            <a:avLst/>
          </a:prstGeom>
          <a:noFill/>
        </p:spPr>
        <p:txBody>
          <a:bodyPr wrap="square">
            <a:spAutoFit/>
          </a:bodyPr>
          <a:lstStyle/>
          <a:p>
            <a:pPr algn="ctr"/>
            <a:r>
              <a:rPr sz="1300" b="1" i="0">
                <a:solidFill>
                  <a:srgbClr val="39FF14"/>
                </a:solidFill>
                <a:latin typeface="Calibri"/>
              </a:rPr>
              <a:t>Amass</a:t>
            </a:r>
          </a:p>
        </p:txBody>
      </p:sp>
      <p:sp>
        <p:nvSpPr>
          <p:cNvPr id="20" name="TextBox 19"/>
          <p:cNvSpPr txBox="1"/>
          <p:nvPr/>
        </p:nvSpPr>
        <p:spPr>
          <a:xfrm>
            <a:off x="731520" y="1636776"/>
            <a:ext cx="3401568" cy="201168"/>
          </a:xfrm>
          <a:prstGeom prst="rect">
            <a:avLst/>
          </a:prstGeom>
          <a:noFill/>
        </p:spPr>
        <p:txBody>
          <a:bodyPr wrap="square">
            <a:spAutoFit/>
          </a:bodyPr>
          <a:lstStyle/>
          <a:p>
            <a:pPr algn="ctr"/>
            <a:r>
              <a:rPr sz="850" b="0" i="1">
                <a:solidFill>
                  <a:srgbClr val="A0AAB8"/>
                </a:solidFill>
                <a:latin typeface="Calibri"/>
              </a:rPr>
              <a:t>Subdomain Enumeration · Recon Agent</a:t>
            </a:r>
          </a:p>
        </p:txBody>
      </p:sp>
      <p:sp>
        <p:nvSpPr>
          <p:cNvPr id="21" name="TextBox 20"/>
          <p:cNvSpPr txBox="1"/>
          <p:nvPr/>
        </p:nvSpPr>
        <p:spPr>
          <a:xfrm>
            <a:off x="731520" y="1837944"/>
            <a:ext cx="3401568" cy="960120"/>
          </a:xfrm>
          <a:prstGeom prst="rect">
            <a:avLst/>
          </a:prstGeom>
          <a:noFill/>
        </p:spPr>
        <p:txBody>
          <a:bodyPr wrap="square">
            <a:spAutoFit/>
          </a:bodyPr>
          <a:lstStyle/>
          <a:p>
            <a:pPr algn="ctr"/>
            <a:r>
              <a:rPr sz="900" b="0" i="0">
                <a:solidFill>
                  <a:srgbClr val="FFFFFF"/>
                </a:solidFill>
                <a:latin typeface="Calibri"/>
              </a:rPr>
              <a:t>DNS brute-force · certificate transparency logs · passive OSINT. Discovers all external subdomains and maps attack surface entry points.</a:t>
            </a:r>
          </a:p>
        </p:txBody>
      </p:sp>
      <p:sp>
        <p:nvSpPr>
          <p:cNvPr id="22" name="Rectangle 21"/>
          <p:cNvSpPr/>
          <p:nvPr/>
        </p:nvSpPr>
        <p:spPr>
          <a:xfrm>
            <a:off x="274320" y="2944368"/>
            <a:ext cx="3931920" cy="1581912"/>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2944368"/>
            <a:ext cx="384048" cy="158191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3570732"/>
            <a:ext cx="384048" cy="329184"/>
          </a:xfrm>
          <a:prstGeom prst="rect">
            <a:avLst/>
          </a:prstGeom>
          <a:noFill/>
        </p:spPr>
        <p:txBody>
          <a:bodyPr wrap="square">
            <a:spAutoFit/>
          </a:bodyPr>
          <a:lstStyle/>
          <a:p>
            <a:pPr algn="ctr"/>
            <a:r>
              <a:rPr sz="1800" b="1" i="0">
                <a:solidFill>
                  <a:srgbClr val="0A0D1A"/>
                </a:solidFill>
                <a:latin typeface="Calibri"/>
              </a:rPr>
              <a:t>2</a:t>
            </a:r>
          </a:p>
        </p:txBody>
      </p:sp>
      <p:sp>
        <p:nvSpPr>
          <p:cNvPr id="25" name="TextBox 24"/>
          <p:cNvSpPr txBox="1"/>
          <p:nvPr/>
        </p:nvSpPr>
        <p:spPr>
          <a:xfrm>
            <a:off x="731520" y="3017520"/>
            <a:ext cx="3401568" cy="256032"/>
          </a:xfrm>
          <a:prstGeom prst="rect">
            <a:avLst/>
          </a:prstGeom>
          <a:noFill/>
        </p:spPr>
        <p:txBody>
          <a:bodyPr wrap="square">
            <a:spAutoFit/>
          </a:bodyPr>
          <a:lstStyle/>
          <a:p>
            <a:pPr algn="ctr"/>
            <a:r>
              <a:rPr sz="1300" b="1" i="0">
                <a:solidFill>
                  <a:srgbClr val="39FF14"/>
                </a:solidFill>
                <a:latin typeface="Calibri"/>
              </a:rPr>
              <a:t>httpx</a:t>
            </a:r>
          </a:p>
        </p:txBody>
      </p:sp>
      <p:sp>
        <p:nvSpPr>
          <p:cNvPr id="26" name="TextBox 25"/>
          <p:cNvSpPr txBox="1"/>
          <p:nvPr/>
        </p:nvSpPr>
        <p:spPr>
          <a:xfrm>
            <a:off x="731520" y="3273552"/>
            <a:ext cx="3401568" cy="201168"/>
          </a:xfrm>
          <a:prstGeom prst="rect">
            <a:avLst/>
          </a:prstGeom>
          <a:noFill/>
        </p:spPr>
        <p:txBody>
          <a:bodyPr wrap="square">
            <a:spAutoFit/>
          </a:bodyPr>
          <a:lstStyle/>
          <a:p>
            <a:pPr algn="ctr"/>
            <a:r>
              <a:rPr sz="850" b="0" i="1">
                <a:solidFill>
                  <a:srgbClr val="A0AAB8"/>
                </a:solidFill>
                <a:latin typeface="Calibri"/>
              </a:rPr>
              <a:t>Live Host Probing · Recon Agent</a:t>
            </a:r>
          </a:p>
        </p:txBody>
      </p:sp>
      <p:sp>
        <p:nvSpPr>
          <p:cNvPr id="27" name="TextBox 26"/>
          <p:cNvSpPr txBox="1"/>
          <p:nvPr/>
        </p:nvSpPr>
        <p:spPr>
          <a:xfrm>
            <a:off x="731520" y="3474720"/>
            <a:ext cx="3401568" cy="960120"/>
          </a:xfrm>
          <a:prstGeom prst="rect">
            <a:avLst/>
          </a:prstGeom>
          <a:noFill/>
        </p:spPr>
        <p:txBody>
          <a:bodyPr wrap="square">
            <a:spAutoFit/>
          </a:bodyPr>
          <a:lstStyle/>
          <a:p>
            <a:pPr algn="ctr"/>
            <a:r>
              <a:rPr sz="900" b="0" i="0">
                <a:solidFill>
                  <a:srgbClr val="FFFFFF"/>
                </a:solidFill>
                <a:latin typeface="Calibri"/>
              </a:rPr>
              <a:t>Validates which discovered hosts respond over HTTP/HTTPS. Identifies web servers, status codes, redirects, TLS details.</a:t>
            </a:r>
          </a:p>
        </p:txBody>
      </p:sp>
      <p:sp>
        <p:nvSpPr>
          <p:cNvPr id="28" name="Rectangle 27"/>
          <p:cNvSpPr/>
          <p:nvPr/>
        </p:nvSpPr>
        <p:spPr>
          <a:xfrm>
            <a:off x="274320" y="4581144"/>
            <a:ext cx="3931920" cy="1581912"/>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4320" y="4581144"/>
            <a:ext cx="384048" cy="158191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4320" y="5207508"/>
            <a:ext cx="384048" cy="329184"/>
          </a:xfrm>
          <a:prstGeom prst="rect">
            <a:avLst/>
          </a:prstGeom>
          <a:noFill/>
        </p:spPr>
        <p:txBody>
          <a:bodyPr wrap="square">
            <a:spAutoFit/>
          </a:bodyPr>
          <a:lstStyle/>
          <a:p>
            <a:pPr algn="ctr"/>
            <a:r>
              <a:rPr sz="1800" b="1" i="0">
                <a:solidFill>
                  <a:srgbClr val="0A0D1A"/>
                </a:solidFill>
                <a:latin typeface="Calibri"/>
              </a:rPr>
              <a:t>3</a:t>
            </a:r>
          </a:p>
        </p:txBody>
      </p:sp>
      <p:sp>
        <p:nvSpPr>
          <p:cNvPr id="31" name="TextBox 30"/>
          <p:cNvSpPr txBox="1"/>
          <p:nvPr/>
        </p:nvSpPr>
        <p:spPr>
          <a:xfrm>
            <a:off x="731520" y="4654296"/>
            <a:ext cx="3401568" cy="256032"/>
          </a:xfrm>
          <a:prstGeom prst="rect">
            <a:avLst/>
          </a:prstGeom>
          <a:noFill/>
        </p:spPr>
        <p:txBody>
          <a:bodyPr wrap="square">
            <a:spAutoFit/>
          </a:bodyPr>
          <a:lstStyle/>
          <a:p>
            <a:pPr algn="ctr"/>
            <a:r>
              <a:rPr sz="1300" b="1" i="0">
                <a:solidFill>
                  <a:srgbClr val="39FF14"/>
                </a:solidFill>
                <a:latin typeface="Calibri"/>
              </a:rPr>
              <a:t>Nmap</a:t>
            </a:r>
          </a:p>
        </p:txBody>
      </p:sp>
      <p:sp>
        <p:nvSpPr>
          <p:cNvPr id="32" name="TextBox 31"/>
          <p:cNvSpPr txBox="1"/>
          <p:nvPr/>
        </p:nvSpPr>
        <p:spPr>
          <a:xfrm>
            <a:off x="731520" y="4910328"/>
            <a:ext cx="3401568" cy="201168"/>
          </a:xfrm>
          <a:prstGeom prst="rect">
            <a:avLst/>
          </a:prstGeom>
          <a:noFill/>
        </p:spPr>
        <p:txBody>
          <a:bodyPr wrap="square">
            <a:spAutoFit/>
          </a:bodyPr>
          <a:lstStyle/>
          <a:p>
            <a:pPr algn="ctr"/>
            <a:r>
              <a:rPr sz="850" b="0" i="1">
                <a:solidFill>
                  <a:srgbClr val="A0AAB8"/>
                </a:solidFill>
                <a:latin typeface="Calibri"/>
              </a:rPr>
              <a:t>Port + Service Scan · Recon Agent</a:t>
            </a:r>
          </a:p>
        </p:txBody>
      </p:sp>
      <p:sp>
        <p:nvSpPr>
          <p:cNvPr id="33" name="TextBox 32"/>
          <p:cNvSpPr txBox="1"/>
          <p:nvPr/>
        </p:nvSpPr>
        <p:spPr>
          <a:xfrm>
            <a:off x="731520" y="5111496"/>
            <a:ext cx="3401568" cy="960120"/>
          </a:xfrm>
          <a:prstGeom prst="rect">
            <a:avLst/>
          </a:prstGeom>
          <a:noFill/>
        </p:spPr>
        <p:txBody>
          <a:bodyPr wrap="square">
            <a:spAutoFit/>
          </a:bodyPr>
          <a:lstStyle/>
          <a:p>
            <a:pPr algn="ctr"/>
            <a:r>
              <a:rPr sz="900" b="0" i="0">
                <a:solidFill>
                  <a:srgbClr val="FFFFFF"/>
                </a:solidFill>
                <a:latin typeface="Calibri"/>
              </a:rPr>
              <a:t>Port scanning, service fingerprinting, OS detection. Optional NSE script execution for vuln detection on open services.</a:t>
            </a:r>
          </a:p>
        </p:txBody>
      </p:sp>
      <p:sp>
        <p:nvSpPr>
          <p:cNvPr id="34" name="Rectangle 33"/>
          <p:cNvSpPr/>
          <p:nvPr/>
        </p:nvSpPr>
        <p:spPr>
          <a:xfrm>
            <a:off x="4315968" y="1307592"/>
            <a:ext cx="4078224" cy="936345"/>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315968" y="1307592"/>
            <a:ext cx="384048" cy="936345"/>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15968" y="1611172"/>
            <a:ext cx="384048" cy="329184"/>
          </a:xfrm>
          <a:prstGeom prst="rect">
            <a:avLst/>
          </a:prstGeom>
          <a:noFill/>
        </p:spPr>
        <p:txBody>
          <a:bodyPr wrap="square">
            <a:spAutoFit/>
          </a:bodyPr>
          <a:lstStyle/>
          <a:p>
            <a:pPr algn="ctr"/>
            <a:r>
              <a:rPr sz="1800" b="1" i="0">
                <a:solidFill>
                  <a:srgbClr val="0A0D1A"/>
                </a:solidFill>
                <a:latin typeface="Calibri"/>
              </a:rPr>
              <a:t>4</a:t>
            </a:r>
          </a:p>
        </p:txBody>
      </p:sp>
      <p:sp>
        <p:nvSpPr>
          <p:cNvPr id="37" name="TextBox 36"/>
          <p:cNvSpPr txBox="1"/>
          <p:nvPr/>
        </p:nvSpPr>
        <p:spPr>
          <a:xfrm>
            <a:off x="4773168" y="1380744"/>
            <a:ext cx="3547872" cy="256032"/>
          </a:xfrm>
          <a:prstGeom prst="rect">
            <a:avLst/>
          </a:prstGeom>
          <a:noFill/>
        </p:spPr>
        <p:txBody>
          <a:bodyPr wrap="square">
            <a:spAutoFit/>
          </a:bodyPr>
          <a:lstStyle/>
          <a:p>
            <a:pPr algn="ctr"/>
            <a:r>
              <a:rPr sz="1300" b="1" i="0">
                <a:solidFill>
                  <a:srgbClr val="00E5FF"/>
                </a:solidFill>
                <a:latin typeface="Calibri"/>
              </a:rPr>
              <a:t>WhatWeb</a:t>
            </a:r>
          </a:p>
        </p:txBody>
      </p:sp>
      <p:sp>
        <p:nvSpPr>
          <p:cNvPr id="38" name="TextBox 37"/>
          <p:cNvSpPr txBox="1"/>
          <p:nvPr/>
        </p:nvSpPr>
        <p:spPr>
          <a:xfrm>
            <a:off x="4773168" y="1636776"/>
            <a:ext cx="3547872" cy="201168"/>
          </a:xfrm>
          <a:prstGeom prst="rect">
            <a:avLst/>
          </a:prstGeom>
          <a:noFill/>
        </p:spPr>
        <p:txBody>
          <a:bodyPr wrap="square">
            <a:spAutoFit/>
          </a:bodyPr>
          <a:lstStyle/>
          <a:p>
            <a:pPr algn="ctr"/>
            <a:r>
              <a:rPr sz="850" b="0" i="1">
                <a:solidFill>
                  <a:srgbClr val="A0AAB8"/>
                </a:solidFill>
                <a:latin typeface="Calibri"/>
              </a:rPr>
              <a:t>Technology Fingerprinting · Analysis Agent</a:t>
            </a:r>
          </a:p>
        </p:txBody>
      </p:sp>
      <p:sp>
        <p:nvSpPr>
          <p:cNvPr id="39" name="TextBox 38"/>
          <p:cNvSpPr txBox="1"/>
          <p:nvPr/>
        </p:nvSpPr>
        <p:spPr>
          <a:xfrm>
            <a:off x="4773168" y="1837944"/>
            <a:ext cx="3547872" cy="314553"/>
          </a:xfrm>
          <a:prstGeom prst="rect">
            <a:avLst/>
          </a:prstGeom>
          <a:noFill/>
        </p:spPr>
        <p:txBody>
          <a:bodyPr wrap="square">
            <a:spAutoFit/>
          </a:bodyPr>
          <a:lstStyle/>
          <a:p>
            <a:pPr algn="ctr"/>
            <a:r>
              <a:rPr sz="900" b="0" i="0">
                <a:solidFill>
                  <a:srgbClr val="FFFFFF"/>
                </a:solidFill>
                <a:latin typeface="Calibri"/>
              </a:rPr>
              <a:t>Identifies CMS, frameworks, server software, JS libraries, and versions from HTTP responses. Seeds Technology nodes for the ASG.</a:t>
            </a:r>
          </a:p>
        </p:txBody>
      </p:sp>
      <p:sp>
        <p:nvSpPr>
          <p:cNvPr id="40" name="Rectangle 39"/>
          <p:cNvSpPr/>
          <p:nvPr/>
        </p:nvSpPr>
        <p:spPr>
          <a:xfrm>
            <a:off x="4315968" y="2289657"/>
            <a:ext cx="4078224" cy="936345"/>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315968" y="2289657"/>
            <a:ext cx="384048" cy="936345"/>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15968" y="2593238"/>
            <a:ext cx="384048" cy="329184"/>
          </a:xfrm>
          <a:prstGeom prst="rect">
            <a:avLst/>
          </a:prstGeom>
          <a:noFill/>
        </p:spPr>
        <p:txBody>
          <a:bodyPr wrap="square">
            <a:spAutoFit/>
          </a:bodyPr>
          <a:lstStyle/>
          <a:p>
            <a:pPr algn="ctr"/>
            <a:r>
              <a:rPr sz="1800" b="1" i="0">
                <a:solidFill>
                  <a:srgbClr val="0A0D1A"/>
                </a:solidFill>
                <a:latin typeface="Calibri"/>
              </a:rPr>
              <a:t>5</a:t>
            </a:r>
          </a:p>
        </p:txBody>
      </p:sp>
      <p:sp>
        <p:nvSpPr>
          <p:cNvPr id="43" name="TextBox 42"/>
          <p:cNvSpPr txBox="1"/>
          <p:nvPr/>
        </p:nvSpPr>
        <p:spPr>
          <a:xfrm>
            <a:off x="4773168" y="2362809"/>
            <a:ext cx="3547872" cy="256032"/>
          </a:xfrm>
          <a:prstGeom prst="rect">
            <a:avLst/>
          </a:prstGeom>
          <a:noFill/>
        </p:spPr>
        <p:txBody>
          <a:bodyPr wrap="square">
            <a:spAutoFit/>
          </a:bodyPr>
          <a:lstStyle/>
          <a:p>
            <a:pPr algn="ctr"/>
            <a:r>
              <a:rPr sz="1300" b="1" i="0">
                <a:solidFill>
                  <a:srgbClr val="00E5FF"/>
                </a:solidFill>
                <a:latin typeface="Calibri"/>
              </a:rPr>
              <a:t>Gobuster</a:t>
            </a:r>
          </a:p>
        </p:txBody>
      </p:sp>
      <p:sp>
        <p:nvSpPr>
          <p:cNvPr id="44" name="TextBox 43"/>
          <p:cNvSpPr txBox="1"/>
          <p:nvPr/>
        </p:nvSpPr>
        <p:spPr>
          <a:xfrm>
            <a:off x="4773168" y="2618841"/>
            <a:ext cx="3547872" cy="201168"/>
          </a:xfrm>
          <a:prstGeom prst="rect">
            <a:avLst/>
          </a:prstGeom>
          <a:noFill/>
        </p:spPr>
        <p:txBody>
          <a:bodyPr wrap="square">
            <a:spAutoFit/>
          </a:bodyPr>
          <a:lstStyle/>
          <a:p>
            <a:pPr algn="ctr"/>
            <a:r>
              <a:rPr sz="850" b="0" i="1">
                <a:solidFill>
                  <a:srgbClr val="A0AAB8"/>
                </a:solidFill>
                <a:latin typeface="Calibri"/>
              </a:rPr>
              <a:t>Directory Brute-Force · Analysis Agent</a:t>
            </a:r>
          </a:p>
        </p:txBody>
      </p:sp>
      <p:sp>
        <p:nvSpPr>
          <p:cNvPr id="45" name="TextBox 44"/>
          <p:cNvSpPr txBox="1"/>
          <p:nvPr/>
        </p:nvSpPr>
        <p:spPr>
          <a:xfrm>
            <a:off x="4773168" y="2820009"/>
            <a:ext cx="3547872" cy="314553"/>
          </a:xfrm>
          <a:prstGeom prst="rect">
            <a:avLst/>
          </a:prstGeom>
          <a:noFill/>
        </p:spPr>
        <p:txBody>
          <a:bodyPr wrap="square">
            <a:spAutoFit/>
          </a:bodyPr>
          <a:lstStyle/>
          <a:p>
            <a:pPr algn="ctr"/>
            <a:r>
              <a:rPr sz="900" b="0" i="0">
                <a:solidFill>
                  <a:srgbClr val="FFFFFF"/>
                </a:solidFill>
                <a:latin typeface="Calibri"/>
              </a:rPr>
              <a:t>Discovers hidden paths, admin panels, backup files, and exposed resources via wordlist-based HTTP path enumeration.</a:t>
            </a:r>
          </a:p>
        </p:txBody>
      </p:sp>
      <p:sp>
        <p:nvSpPr>
          <p:cNvPr id="46" name="Rectangle 45"/>
          <p:cNvSpPr/>
          <p:nvPr/>
        </p:nvSpPr>
        <p:spPr>
          <a:xfrm>
            <a:off x="4315968" y="3271723"/>
            <a:ext cx="4078224" cy="936345"/>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315968" y="3271723"/>
            <a:ext cx="384048" cy="936345"/>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315968" y="3575304"/>
            <a:ext cx="384048" cy="329184"/>
          </a:xfrm>
          <a:prstGeom prst="rect">
            <a:avLst/>
          </a:prstGeom>
          <a:noFill/>
        </p:spPr>
        <p:txBody>
          <a:bodyPr wrap="square">
            <a:spAutoFit/>
          </a:bodyPr>
          <a:lstStyle/>
          <a:p>
            <a:pPr algn="ctr"/>
            <a:r>
              <a:rPr sz="1800" b="1" i="0">
                <a:solidFill>
                  <a:srgbClr val="0A0D1A"/>
                </a:solidFill>
                <a:latin typeface="Calibri"/>
              </a:rPr>
              <a:t>6</a:t>
            </a:r>
          </a:p>
        </p:txBody>
      </p:sp>
      <p:sp>
        <p:nvSpPr>
          <p:cNvPr id="49" name="TextBox 48"/>
          <p:cNvSpPr txBox="1"/>
          <p:nvPr/>
        </p:nvSpPr>
        <p:spPr>
          <a:xfrm>
            <a:off x="4773168" y="3344875"/>
            <a:ext cx="3547872" cy="256032"/>
          </a:xfrm>
          <a:prstGeom prst="rect">
            <a:avLst/>
          </a:prstGeom>
          <a:noFill/>
        </p:spPr>
        <p:txBody>
          <a:bodyPr wrap="square">
            <a:spAutoFit/>
          </a:bodyPr>
          <a:lstStyle/>
          <a:p>
            <a:pPr algn="ctr"/>
            <a:r>
              <a:rPr sz="1300" b="1" i="0">
                <a:solidFill>
                  <a:srgbClr val="00E5FF"/>
                </a:solidFill>
                <a:latin typeface="Calibri"/>
              </a:rPr>
              <a:t>ffuf</a:t>
            </a:r>
          </a:p>
        </p:txBody>
      </p:sp>
      <p:sp>
        <p:nvSpPr>
          <p:cNvPr id="50" name="TextBox 49"/>
          <p:cNvSpPr txBox="1"/>
          <p:nvPr/>
        </p:nvSpPr>
        <p:spPr>
          <a:xfrm>
            <a:off x="4773168" y="3600907"/>
            <a:ext cx="3547872" cy="201168"/>
          </a:xfrm>
          <a:prstGeom prst="rect">
            <a:avLst/>
          </a:prstGeom>
          <a:noFill/>
        </p:spPr>
        <p:txBody>
          <a:bodyPr wrap="square">
            <a:spAutoFit/>
          </a:bodyPr>
          <a:lstStyle/>
          <a:p>
            <a:pPr algn="ctr"/>
            <a:r>
              <a:rPr sz="850" b="0" i="1">
                <a:solidFill>
                  <a:srgbClr val="A0AAB8"/>
                </a:solidFill>
                <a:latin typeface="Calibri"/>
              </a:rPr>
              <a:t>API + Parameter Fuzzing · Analysis Agent</a:t>
            </a:r>
          </a:p>
        </p:txBody>
      </p:sp>
      <p:sp>
        <p:nvSpPr>
          <p:cNvPr id="51" name="TextBox 50"/>
          <p:cNvSpPr txBox="1"/>
          <p:nvPr/>
        </p:nvSpPr>
        <p:spPr>
          <a:xfrm>
            <a:off x="4773168" y="3802075"/>
            <a:ext cx="3547872" cy="314553"/>
          </a:xfrm>
          <a:prstGeom prst="rect">
            <a:avLst/>
          </a:prstGeom>
          <a:noFill/>
        </p:spPr>
        <p:txBody>
          <a:bodyPr wrap="square">
            <a:spAutoFit/>
          </a:bodyPr>
          <a:lstStyle/>
          <a:p>
            <a:pPr algn="ctr"/>
            <a:r>
              <a:rPr sz="900" b="0" i="0">
                <a:solidFill>
                  <a:srgbClr val="FFFFFF"/>
                </a:solidFill>
                <a:latin typeface="Calibri"/>
              </a:rPr>
              <a:t>Fast web fuzzer for API route discovery, parameter fuzzing, virtual host enumeration, and undocumented endpoint identification.</a:t>
            </a:r>
          </a:p>
        </p:txBody>
      </p:sp>
      <p:sp>
        <p:nvSpPr>
          <p:cNvPr id="52" name="Rectangle 51"/>
          <p:cNvSpPr/>
          <p:nvPr/>
        </p:nvSpPr>
        <p:spPr>
          <a:xfrm>
            <a:off x="4315968" y="4253788"/>
            <a:ext cx="4078224" cy="936345"/>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315968" y="4253788"/>
            <a:ext cx="384048" cy="936345"/>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15968" y="4557369"/>
            <a:ext cx="384048" cy="329184"/>
          </a:xfrm>
          <a:prstGeom prst="rect">
            <a:avLst/>
          </a:prstGeom>
          <a:noFill/>
        </p:spPr>
        <p:txBody>
          <a:bodyPr wrap="square">
            <a:spAutoFit/>
          </a:bodyPr>
          <a:lstStyle/>
          <a:p>
            <a:pPr algn="ctr"/>
            <a:r>
              <a:rPr sz="1800" b="1" i="0">
                <a:solidFill>
                  <a:srgbClr val="0A0D1A"/>
                </a:solidFill>
                <a:latin typeface="Calibri"/>
              </a:rPr>
              <a:t>7</a:t>
            </a:r>
          </a:p>
        </p:txBody>
      </p:sp>
      <p:sp>
        <p:nvSpPr>
          <p:cNvPr id="55" name="TextBox 54"/>
          <p:cNvSpPr txBox="1"/>
          <p:nvPr/>
        </p:nvSpPr>
        <p:spPr>
          <a:xfrm>
            <a:off x="4773168" y="4326940"/>
            <a:ext cx="3547872" cy="256032"/>
          </a:xfrm>
          <a:prstGeom prst="rect">
            <a:avLst/>
          </a:prstGeom>
          <a:noFill/>
        </p:spPr>
        <p:txBody>
          <a:bodyPr wrap="square">
            <a:spAutoFit/>
          </a:bodyPr>
          <a:lstStyle/>
          <a:p>
            <a:pPr algn="ctr"/>
            <a:r>
              <a:rPr sz="1300" b="1" i="0">
                <a:solidFill>
                  <a:srgbClr val="00E5FF"/>
                </a:solidFill>
                <a:latin typeface="Calibri"/>
              </a:rPr>
              <a:t>Nuclei</a:t>
            </a:r>
          </a:p>
        </p:txBody>
      </p:sp>
      <p:sp>
        <p:nvSpPr>
          <p:cNvPr id="56" name="TextBox 55"/>
          <p:cNvSpPr txBox="1"/>
          <p:nvPr/>
        </p:nvSpPr>
        <p:spPr>
          <a:xfrm>
            <a:off x="4773168" y="4582972"/>
            <a:ext cx="3547872" cy="201168"/>
          </a:xfrm>
          <a:prstGeom prst="rect">
            <a:avLst/>
          </a:prstGeom>
          <a:noFill/>
        </p:spPr>
        <p:txBody>
          <a:bodyPr wrap="square">
            <a:spAutoFit/>
          </a:bodyPr>
          <a:lstStyle/>
          <a:p>
            <a:pPr algn="ctr"/>
            <a:r>
              <a:rPr sz="850" b="0" i="1">
                <a:solidFill>
                  <a:srgbClr val="A0AAB8"/>
                </a:solidFill>
                <a:latin typeface="Calibri"/>
              </a:rPr>
              <a:t>Template-Based Vuln Scan · Analysis Agent</a:t>
            </a:r>
          </a:p>
        </p:txBody>
      </p:sp>
      <p:sp>
        <p:nvSpPr>
          <p:cNvPr id="57" name="TextBox 56"/>
          <p:cNvSpPr txBox="1"/>
          <p:nvPr/>
        </p:nvSpPr>
        <p:spPr>
          <a:xfrm>
            <a:off x="4773168" y="4784140"/>
            <a:ext cx="3547872" cy="314553"/>
          </a:xfrm>
          <a:prstGeom prst="rect">
            <a:avLst/>
          </a:prstGeom>
          <a:noFill/>
        </p:spPr>
        <p:txBody>
          <a:bodyPr wrap="square">
            <a:spAutoFit/>
          </a:bodyPr>
          <a:lstStyle/>
          <a:p>
            <a:pPr algn="ctr"/>
            <a:r>
              <a:rPr sz="900" b="0" i="0">
                <a:solidFill>
                  <a:srgbClr val="FFFFFF"/>
                </a:solidFill>
                <a:latin typeface="Calibri"/>
              </a:rPr>
              <a:t>Matches discovered services and technologies against a library of CVE and misconfiguration templates for automated vulnerability detection.</a:t>
            </a:r>
          </a:p>
        </p:txBody>
      </p:sp>
      <p:sp>
        <p:nvSpPr>
          <p:cNvPr id="58" name="Rectangle 57"/>
          <p:cNvSpPr/>
          <p:nvPr/>
        </p:nvSpPr>
        <p:spPr>
          <a:xfrm>
            <a:off x="4315968" y="5235854"/>
            <a:ext cx="4078224" cy="936345"/>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315968" y="5235854"/>
            <a:ext cx="384048" cy="936345"/>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315968" y="5539435"/>
            <a:ext cx="384048" cy="329184"/>
          </a:xfrm>
          <a:prstGeom prst="rect">
            <a:avLst/>
          </a:prstGeom>
          <a:noFill/>
        </p:spPr>
        <p:txBody>
          <a:bodyPr wrap="square">
            <a:spAutoFit/>
          </a:bodyPr>
          <a:lstStyle/>
          <a:p>
            <a:pPr algn="ctr"/>
            <a:r>
              <a:rPr sz="1800" b="1" i="0">
                <a:solidFill>
                  <a:srgbClr val="0A0D1A"/>
                </a:solidFill>
                <a:latin typeface="Calibri"/>
              </a:rPr>
              <a:t>8</a:t>
            </a:r>
          </a:p>
        </p:txBody>
      </p:sp>
      <p:sp>
        <p:nvSpPr>
          <p:cNvPr id="61" name="TextBox 60"/>
          <p:cNvSpPr txBox="1"/>
          <p:nvPr/>
        </p:nvSpPr>
        <p:spPr>
          <a:xfrm>
            <a:off x="4773168" y="5309006"/>
            <a:ext cx="3547872" cy="256032"/>
          </a:xfrm>
          <a:prstGeom prst="rect">
            <a:avLst/>
          </a:prstGeom>
          <a:noFill/>
        </p:spPr>
        <p:txBody>
          <a:bodyPr wrap="square">
            <a:spAutoFit/>
          </a:bodyPr>
          <a:lstStyle/>
          <a:p>
            <a:pPr algn="ctr"/>
            <a:r>
              <a:rPr sz="1300" b="1" i="0">
                <a:solidFill>
                  <a:srgbClr val="00E5FF"/>
                </a:solidFill>
                <a:latin typeface="Calibri"/>
              </a:rPr>
              <a:t>OWASP ZAP</a:t>
            </a:r>
          </a:p>
        </p:txBody>
      </p:sp>
      <p:sp>
        <p:nvSpPr>
          <p:cNvPr id="62" name="TextBox 61"/>
          <p:cNvSpPr txBox="1"/>
          <p:nvPr/>
        </p:nvSpPr>
        <p:spPr>
          <a:xfrm>
            <a:off x="4773168" y="5565038"/>
            <a:ext cx="3547872" cy="201168"/>
          </a:xfrm>
          <a:prstGeom prst="rect">
            <a:avLst/>
          </a:prstGeom>
          <a:noFill/>
        </p:spPr>
        <p:txBody>
          <a:bodyPr wrap="square">
            <a:spAutoFit/>
          </a:bodyPr>
          <a:lstStyle/>
          <a:p>
            <a:pPr algn="ctr"/>
            <a:r>
              <a:rPr sz="850" b="0" i="1">
                <a:solidFill>
                  <a:srgbClr val="A0AAB8"/>
                </a:solidFill>
                <a:latin typeface="Calibri"/>
              </a:rPr>
              <a:t>Active Web App Scan · Analysis Agent</a:t>
            </a:r>
          </a:p>
        </p:txBody>
      </p:sp>
      <p:sp>
        <p:nvSpPr>
          <p:cNvPr id="63" name="TextBox 62"/>
          <p:cNvSpPr txBox="1"/>
          <p:nvPr/>
        </p:nvSpPr>
        <p:spPr>
          <a:xfrm>
            <a:off x="4773168" y="5766206"/>
            <a:ext cx="3547872" cy="314553"/>
          </a:xfrm>
          <a:prstGeom prst="rect">
            <a:avLst/>
          </a:prstGeom>
          <a:noFill/>
        </p:spPr>
        <p:txBody>
          <a:bodyPr wrap="square">
            <a:spAutoFit/>
          </a:bodyPr>
          <a:lstStyle/>
          <a:p>
            <a:pPr algn="ctr"/>
            <a:r>
              <a:rPr sz="900" b="0" i="0">
                <a:solidFill>
                  <a:srgbClr val="FFFFFF"/>
                </a:solidFill>
                <a:latin typeface="Calibri"/>
              </a:rPr>
              <a:t>Crawls and actively tests for OWASP Top 10: XSS, CSRF, injection flaws, authentication weaknesses, and insecure direct object references.</a:t>
            </a:r>
          </a:p>
        </p:txBody>
      </p:sp>
      <p:sp>
        <p:nvSpPr>
          <p:cNvPr id="64" name="Rectangle 63"/>
          <p:cNvSpPr/>
          <p:nvPr/>
        </p:nvSpPr>
        <p:spPr>
          <a:xfrm>
            <a:off x="8503920" y="1307592"/>
            <a:ext cx="1783080" cy="2400300"/>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503920" y="1307592"/>
            <a:ext cx="384048" cy="24003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03920" y="2343150"/>
            <a:ext cx="384048" cy="329184"/>
          </a:xfrm>
          <a:prstGeom prst="rect">
            <a:avLst/>
          </a:prstGeom>
          <a:noFill/>
        </p:spPr>
        <p:txBody>
          <a:bodyPr wrap="square">
            <a:spAutoFit/>
          </a:bodyPr>
          <a:lstStyle/>
          <a:p>
            <a:pPr algn="ctr"/>
            <a:r>
              <a:rPr sz="1800" b="1" i="0">
                <a:solidFill>
                  <a:srgbClr val="0A0D1A"/>
                </a:solidFill>
                <a:latin typeface="Calibri"/>
              </a:rPr>
              <a:t>9</a:t>
            </a:r>
          </a:p>
        </p:txBody>
      </p:sp>
      <p:sp>
        <p:nvSpPr>
          <p:cNvPr id="67" name="TextBox 66"/>
          <p:cNvSpPr txBox="1"/>
          <p:nvPr/>
        </p:nvSpPr>
        <p:spPr>
          <a:xfrm>
            <a:off x="8961120" y="1380744"/>
            <a:ext cx="1252728" cy="256032"/>
          </a:xfrm>
          <a:prstGeom prst="rect">
            <a:avLst/>
          </a:prstGeom>
          <a:noFill/>
        </p:spPr>
        <p:txBody>
          <a:bodyPr wrap="square">
            <a:spAutoFit/>
          </a:bodyPr>
          <a:lstStyle/>
          <a:p>
            <a:pPr algn="ctr"/>
            <a:r>
              <a:rPr sz="1300" b="1" i="0">
                <a:solidFill>
                  <a:srgbClr val="FF4545"/>
                </a:solidFill>
                <a:latin typeface="Calibri"/>
              </a:rPr>
              <a:t>SQLMap</a:t>
            </a:r>
          </a:p>
        </p:txBody>
      </p:sp>
      <p:sp>
        <p:nvSpPr>
          <p:cNvPr id="68" name="TextBox 67"/>
          <p:cNvSpPr txBox="1"/>
          <p:nvPr/>
        </p:nvSpPr>
        <p:spPr>
          <a:xfrm>
            <a:off x="8961120" y="1636776"/>
            <a:ext cx="1252728" cy="201168"/>
          </a:xfrm>
          <a:prstGeom prst="rect">
            <a:avLst/>
          </a:prstGeom>
          <a:noFill/>
        </p:spPr>
        <p:txBody>
          <a:bodyPr wrap="square">
            <a:spAutoFit/>
          </a:bodyPr>
          <a:lstStyle/>
          <a:p>
            <a:pPr algn="ctr"/>
            <a:r>
              <a:rPr sz="850" b="0" i="1">
                <a:solidFill>
                  <a:srgbClr val="A0AAB8"/>
                </a:solidFill>
                <a:latin typeface="Calibri"/>
              </a:rPr>
              <a:t>SQL Injection Validation · Validation Agent</a:t>
            </a:r>
          </a:p>
        </p:txBody>
      </p:sp>
      <p:sp>
        <p:nvSpPr>
          <p:cNvPr id="69" name="TextBox 68"/>
          <p:cNvSpPr txBox="1"/>
          <p:nvPr/>
        </p:nvSpPr>
        <p:spPr>
          <a:xfrm>
            <a:off x="8961120" y="1837944"/>
            <a:ext cx="1252728" cy="1778508"/>
          </a:xfrm>
          <a:prstGeom prst="rect">
            <a:avLst/>
          </a:prstGeom>
          <a:noFill/>
        </p:spPr>
        <p:txBody>
          <a:bodyPr wrap="square">
            <a:spAutoFit/>
          </a:bodyPr>
          <a:lstStyle/>
          <a:p>
            <a:pPr algn="ctr"/>
            <a:r>
              <a:rPr sz="900" b="0" i="0">
                <a:solidFill>
                  <a:srgbClr val="FFFFFF"/>
                </a:solidFill>
                <a:latin typeface="Calibri"/>
              </a:rPr>
              <a:t>Automated SQLi detection and exploitation. Confirms injection points, extracts database data, tests for OS-level access escalation.</a:t>
            </a:r>
          </a:p>
        </p:txBody>
      </p:sp>
      <p:sp>
        <p:nvSpPr>
          <p:cNvPr id="70" name="Rectangle 69"/>
          <p:cNvSpPr/>
          <p:nvPr/>
        </p:nvSpPr>
        <p:spPr>
          <a:xfrm>
            <a:off x="8503920" y="3762756"/>
            <a:ext cx="1783080" cy="2400300"/>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8503920" y="3762756"/>
            <a:ext cx="384048" cy="24003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503920" y="4798314"/>
            <a:ext cx="384048" cy="329184"/>
          </a:xfrm>
          <a:prstGeom prst="rect">
            <a:avLst/>
          </a:prstGeom>
          <a:noFill/>
        </p:spPr>
        <p:txBody>
          <a:bodyPr wrap="square">
            <a:spAutoFit/>
          </a:bodyPr>
          <a:lstStyle/>
          <a:p>
            <a:pPr algn="ctr"/>
            <a:r>
              <a:rPr sz="1800" b="1" i="0">
                <a:solidFill>
                  <a:srgbClr val="0A0D1A"/>
                </a:solidFill>
                <a:latin typeface="Calibri"/>
              </a:rPr>
              <a:t>10</a:t>
            </a:r>
          </a:p>
        </p:txBody>
      </p:sp>
      <p:sp>
        <p:nvSpPr>
          <p:cNvPr id="73" name="TextBox 72"/>
          <p:cNvSpPr txBox="1"/>
          <p:nvPr/>
        </p:nvSpPr>
        <p:spPr>
          <a:xfrm>
            <a:off x="8961120" y="3835908"/>
            <a:ext cx="1252728" cy="256032"/>
          </a:xfrm>
          <a:prstGeom prst="rect">
            <a:avLst/>
          </a:prstGeom>
          <a:noFill/>
        </p:spPr>
        <p:txBody>
          <a:bodyPr wrap="square">
            <a:spAutoFit/>
          </a:bodyPr>
          <a:lstStyle/>
          <a:p>
            <a:pPr algn="ctr"/>
            <a:r>
              <a:rPr sz="1300" b="1" i="0">
                <a:solidFill>
                  <a:srgbClr val="FF4545"/>
                </a:solidFill>
                <a:latin typeface="Calibri"/>
              </a:rPr>
              <a:t>Metasploit</a:t>
            </a:r>
          </a:p>
        </p:txBody>
      </p:sp>
      <p:sp>
        <p:nvSpPr>
          <p:cNvPr id="74" name="TextBox 73"/>
          <p:cNvSpPr txBox="1"/>
          <p:nvPr/>
        </p:nvSpPr>
        <p:spPr>
          <a:xfrm>
            <a:off x="8961120" y="4091940"/>
            <a:ext cx="1252728" cy="201168"/>
          </a:xfrm>
          <a:prstGeom prst="rect">
            <a:avLst/>
          </a:prstGeom>
          <a:noFill/>
        </p:spPr>
        <p:txBody>
          <a:bodyPr wrap="square">
            <a:spAutoFit/>
          </a:bodyPr>
          <a:lstStyle/>
          <a:p>
            <a:pPr algn="ctr"/>
            <a:r>
              <a:rPr sz="850" b="0" i="1">
                <a:solidFill>
                  <a:srgbClr val="A0AAB8"/>
                </a:solidFill>
                <a:latin typeface="Calibri"/>
              </a:rPr>
              <a:t>Exploit + RCE Demo · Validation Agent</a:t>
            </a:r>
          </a:p>
        </p:txBody>
      </p:sp>
      <p:sp>
        <p:nvSpPr>
          <p:cNvPr id="75" name="TextBox 74"/>
          <p:cNvSpPr txBox="1"/>
          <p:nvPr/>
        </p:nvSpPr>
        <p:spPr>
          <a:xfrm>
            <a:off x="8961120" y="4293108"/>
            <a:ext cx="1252728" cy="1778508"/>
          </a:xfrm>
          <a:prstGeom prst="rect">
            <a:avLst/>
          </a:prstGeom>
          <a:noFill/>
        </p:spPr>
        <p:txBody>
          <a:bodyPr wrap="square">
            <a:spAutoFit/>
          </a:bodyPr>
          <a:lstStyle/>
          <a:p>
            <a:pPr algn="ctr"/>
            <a:r>
              <a:rPr sz="900" b="0" i="0">
                <a:solidFill>
                  <a:srgbClr val="FFFFFF"/>
                </a:solidFill>
                <a:latin typeface="Calibri"/>
              </a:rPr>
              <a:t>Executes known exploits against identified vulnerabilities. Validates APG ChainSteps, demonstrates impact, achieves proof of exploitation.</a:t>
            </a:r>
          </a:p>
        </p:txBody>
      </p:sp>
      <p:sp>
        <p:nvSpPr>
          <p:cNvPr id="76" name="Rectangle 75"/>
          <p:cNvSpPr/>
          <p:nvPr/>
        </p:nvSpPr>
        <p:spPr>
          <a:xfrm>
            <a:off x="10351008" y="1307592"/>
            <a:ext cx="1709928" cy="4855464"/>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0351008" y="1307592"/>
            <a:ext cx="384048" cy="4855464"/>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351008" y="3570732"/>
            <a:ext cx="384048" cy="329184"/>
          </a:xfrm>
          <a:prstGeom prst="rect">
            <a:avLst/>
          </a:prstGeom>
          <a:noFill/>
        </p:spPr>
        <p:txBody>
          <a:bodyPr wrap="square">
            <a:spAutoFit/>
          </a:bodyPr>
          <a:lstStyle/>
          <a:p>
            <a:pPr algn="ctr"/>
            <a:r>
              <a:rPr sz="1800" b="1" i="0">
                <a:solidFill>
                  <a:srgbClr val="0A0D1A"/>
                </a:solidFill>
                <a:latin typeface="Calibri"/>
              </a:rPr>
              <a:t>11</a:t>
            </a:r>
          </a:p>
        </p:txBody>
      </p:sp>
      <p:sp>
        <p:nvSpPr>
          <p:cNvPr id="79" name="TextBox 78"/>
          <p:cNvSpPr txBox="1"/>
          <p:nvPr/>
        </p:nvSpPr>
        <p:spPr>
          <a:xfrm>
            <a:off x="10808208" y="1380744"/>
            <a:ext cx="1179576" cy="256032"/>
          </a:xfrm>
          <a:prstGeom prst="rect">
            <a:avLst/>
          </a:prstGeom>
          <a:noFill/>
        </p:spPr>
        <p:txBody>
          <a:bodyPr wrap="square">
            <a:spAutoFit/>
          </a:bodyPr>
          <a:lstStyle/>
          <a:p>
            <a:pPr algn="ctr"/>
            <a:r>
              <a:rPr sz="1300" b="1" i="0">
                <a:solidFill>
                  <a:srgbClr val="BD93F9"/>
                </a:solidFill>
                <a:latin typeface="Calibri"/>
              </a:rPr>
              <a:t>EyeWitness</a:t>
            </a:r>
          </a:p>
        </p:txBody>
      </p:sp>
      <p:sp>
        <p:nvSpPr>
          <p:cNvPr id="80" name="TextBox 79"/>
          <p:cNvSpPr txBox="1"/>
          <p:nvPr/>
        </p:nvSpPr>
        <p:spPr>
          <a:xfrm>
            <a:off x="10808208" y="1636776"/>
            <a:ext cx="1179576" cy="201168"/>
          </a:xfrm>
          <a:prstGeom prst="rect">
            <a:avLst/>
          </a:prstGeom>
          <a:noFill/>
        </p:spPr>
        <p:txBody>
          <a:bodyPr wrap="square">
            <a:spAutoFit/>
          </a:bodyPr>
          <a:lstStyle/>
          <a:p>
            <a:pPr algn="ctr"/>
            <a:r>
              <a:rPr sz="850" b="0" i="1">
                <a:solidFill>
                  <a:srgbClr val="A0AAB8"/>
                </a:solidFill>
                <a:latin typeface="Calibri"/>
              </a:rPr>
              <a:t>Screenshot Evidence · Evidence Agent</a:t>
            </a:r>
          </a:p>
        </p:txBody>
      </p:sp>
      <p:sp>
        <p:nvSpPr>
          <p:cNvPr id="81" name="TextBox 80"/>
          <p:cNvSpPr txBox="1"/>
          <p:nvPr/>
        </p:nvSpPr>
        <p:spPr>
          <a:xfrm>
            <a:off x="10808208" y="1837944"/>
            <a:ext cx="1179576" cy="4233672"/>
          </a:xfrm>
          <a:prstGeom prst="rect">
            <a:avLst/>
          </a:prstGeom>
          <a:noFill/>
        </p:spPr>
        <p:txBody>
          <a:bodyPr wrap="square">
            <a:spAutoFit/>
          </a:bodyPr>
          <a:lstStyle/>
          <a:p>
            <a:pPr algn="ctr"/>
            <a:r>
              <a:rPr sz="900" b="0" i="0">
                <a:solidFill>
                  <a:srgbClr val="FFFFFF"/>
                </a:solidFill>
                <a:latin typeface="Calibri"/>
              </a:rPr>
              <a:t>Headless screenshot capture of web pages, exposed panels, and API responses. Produces visual proof artifacts linked to ASG Evidence nodes.</a:t>
            </a:r>
          </a:p>
        </p:txBody>
      </p:sp>
      <p:sp>
        <p:nvSpPr>
          <p:cNvPr id="82" name="Rectangle 81"/>
          <p:cNvSpPr/>
          <p:nvPr/>
        </p:nvSpPr>
        <p:spPr>
          <a:xfrm>
            <a:off x="274320" y="6236208"/>
            <a:ext cx="11643055" cy="402336"/>
          </a:xfrm>
          <a:prstGeom prst="rect">
            <a:avLst/>
          </a:prstGeom>
          <a:solidFill>
            <a:srgbClr val="080820"/>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11480" y="6291072"/>
            <a:ext cx="11368735" cy="292608"/>
          </a:xfrm>
          <a:prstGeom prst="rect">
            <a:avLst/>
          </a:prstGeom>
          <a:noFill/>
        </p:spPr>
        <p:txBody>
          <a:bodyPr wrap="square">
            <a:spAutoFit/>
          </a:bodyPr>
          <a:lstStyle/>
          <a:p>
            <a:pPr algn="l"/>
            <a:r>
              <a:rPr sz="950" b="0" i="0">
                <a:solidFill>
                  <a:srgbClr val="FFFFFF"/>
                </a:solidFill>
                <a:latin typeface="Calibri"/>
              </a:rPr>
              <a:t>🔒  Every tool is wrapped in a Tool Adapter — agents reason about targets, not command syntax.  No irreversible offensive operation executes without Commander-level scope validation.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BD93F9"/>
                </a:solidFill>
                <a:latin typeface="Calibri"/>
              </a:rPr>
              <a:t>TOOL ADAPTER LAYER</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800" b="1" i="0">
                <a:solidFill>
                  <a:srgbClr val="FFFFFF"/>
                </a:solidFill>
                <a:latin typeface="Calibri"/>
              </a:rPr>
              <a:t>Tool Risk Gate — Every Tool Call’s Journey</a:t>
            </a:r>
          </a:p>
        </p:txBody>
      </p:sp>
      <p:sp>
        <p:nvSpPr>
          <p:cNvPr id="7" name="TextBox 6"/>
          <p:cNvSpPr txBox="1"/>
          <p:nvPr/>
        </p:nvSpPr>
        <p:spPr>
          <a:xfrm>
            <a:off x="274320" y="822960"/>
            <a:ext cx="11430000" cy="237744"/>
          </a:xfrm>
          <a:prstGeom prst="rect">
            <a:avLst/>
          </a:prstGeom>
          <a:noFill/>
        </p:spPr>
        <p:txBody>
          <a:bodyPr wrap="square">
            <a:spAutoFit/>
          </a:bodyPr>
          <a:lstStyle/>
          <a:p>
            <a:pPr algn="l"/>
            <a:r>
              <a:rPr sz="1000" b="0" i="1">
                <a:solidFill>
                  <a:srgbClr val="A0AAB8"/>
                </a:solidFill>
                <a:latin typeface="Calibri"/>
              </a:rPr>
              <a:t>No tool executes without passing this gate  ·  No irreversible operation runs without Commander-level scope validation</a:t>
            </a:r>
          </a:p>
        </p:txBody>
      </p:sp>
      <p:sp>
        <p:nvSpPr>
          <p:cNvPr id="8" name="TextBox 7"/>
          <p:cNvSpPr txBox="1"/>
          <p:nvPr/>
        </p:nvSpPr>
        <p:spPr>
          <a:xfrm>
            <a:off x="11780215" y="6355080"/>
            <a:ext cx="384048" cy="411480"/>
          </a:xfrm>
          <a:prstGeom prst="rect">
            <a:avLst/>
          </a:prstGeom>
          <a:noFill/>
        </p:spPr>
        <p:txBody>
          <a:bodyPr wrap="square">
            <a:spAutoFit/>
          </a:bodyPr>
          <a:lstStyle/>
          <a:p>
            <a:pPr algn="r"/>
            <a:r>
              <a:rPr sz="1300" b="1" i="0">
                <a:solidFill>
                  <a:srgbClr val="BD93F9"/>
                </a:solidFill>
                <a:latin typeface="Calibri"/>
              </a:rPr>
              <a:t>10</a:t>
            </a:r>
          </a:p>
        </p:txBody>
      </p:sp>
      <p:sp>
        <p:nvSpPr>
          <p:cNvPr id="9" name="Rectangle 8"/>
          <p:cNvSpPr/>
          <p:nvPr/>
        </p:nvSpPr>
        <p:spPr>
          <a:xfrm>
            <a:off x="274320" y="1115568"/>
            <a:ext cx="7680960" cy="5605272"/>
          </a:xfrm>
          <a:prstGeom prst="rect">
            <a:avLst/>
          </a:prstGeom>
          <a:solidFill>
            <a:srgbClr val="040612"/>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86962916240" y="1243584"/>
            <a:ext cx="2377440" cy="475488"/>
          </a:xfrm>
          <a:prstGeom prst="rect">
            <a:avLst/>
          </a:prstGeom>
          <a:solidFill>
            <a:srgbClr val="102038"/>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6962916240" y="1298448"/>
            <a:ext cx="2377440" cy="384048"/>
          </a:xfrm>
          <a:prstGeom prst="rect">
            <a:avLst/>
          </a:prstGeom>
          <a:noFill/>
        </p:spPr>
        <p:txBody>
          <a:bodyPr wrap="square">
            <a:spAutoFit/>
          </a:bodyPr>
          <a:lstStyle/>
          <a:p>
            <a:pPr algn="ctr"/>
            <a:r>
              <a:rPr sz="900" b="1" i="0">
                <a:solidFill>
                  <a:srgbClr val="FFFFFF"/>
                </a:solidFill>
                <a:latin typeface="Calibri"/>
              </a:rPr>
              <a:t>🤖 Agent requests tool call
Tool: Gobuster · Target: shopvault.io</a:t>
            </a:r>
          </a:p>
        </p:txBody>
      </p:sp>
      <p:sp>
        <p:nvSpPr>
          <p:cNvPr id="12" name="Rectangle 11"/>
          <p:cNvSpPr/>
          <p:nvPr/>
        </p:nvSpPr>
        <p:spPr>
          <a:xfrm>
            <a:off x="-1086962916240" y="1865376"/>
            <a:ext cx="2377440" cy="438912"/>
          </a:xfrm>
          <a:prstGeom prst="rect">
            <a:avLst/>
          </a:prstGeom>
          <a:solidFill>
            <a:srgbClr val="201030"/>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6962916240" y="1920240"/>
            <a:ext cx="2377440" cy="347472"/>
          </a:xfrm>
          <a:prstGeom prst="rect">
            <a:avLst/>
          </a:prstGeom>
          <a:noFill/>
        </p:spPr>
        <p:txBody>
          <a:bodyPr wrap="square">
            <a:spAutoFit/>
          </a:bodyPr>
          <a:lstStyle/>
          <a:p>
            <a:pPr algn="ctr"/>
            <a:r>
              <a:rPr sz="900" b="1" i="0">
                <a:solidFill>
                  <a:srgbClr val="BD93F9"/>
                </a:solidFill>
                <a:latin typeface="Calibri"/>
              </a:rPr>
              <a:t>🧿 PreToolUse Hook fires
CONTINUE / BLOCK / MODIFY</a:t>
            </a:r>
          </a:p>
        </p:txBody>
      </p:sp>
      <p:sp>
        <p:nvSpPr>
          <p:cNvPr id="14" name="Rectangle 13"/>
          <p:cNvSpPr/>
          <p:nvPr/>
        </p:nvSpPr>
        <p:spPr>
          <a:xfrm>
            <a:off x="-1086962916240" y="2432304"/>
            <a:ext cx="2377440" cy="438912"/>
          </a:xfrm>
          <a:prstGeom prst="rect">
            <a:avLst/>
          </a:prstGeom>
          <a:solidFill>
            <a:srgbClr val="101810"/>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86962916240" y="2487168"/>
            <a:ext cx="2377440" cy="347472"/>
          </a:xfrm>
          <a:prstGeom prst="rect">
            <a:avLst/>
          </a:prstGeom>
          <a:noFill/>
        </p:spPr>
        <p:txBody>
          <a:bodyPr wrap="square">
            <a:spAutoFit/>
          </a:bodyPr>
          <a:lstStyle/>
          <a:p>
            <a:pPr algn="ctr"/>
            <a:r>
              <a:rPr sz="900" b="1" i="0">
                <a:solidFill>
                  <a:srgbClr val="A0AAB8"/>
                </a:solidFill>
                <a:latin typeface="Calibri"/>
              </a:rPr>
              <a:t>🔍 Scope Check
Target in scope? Tool authorized?</a:t>
            </a:r>
          </a:p>
        </p:txBody>
      </p:sp>
      <p:sp>
        <p:nvSpPr>
          <p:cNvPr id="16" name="Rectangle 15"/>
          <p:cNvSpPr/>
          <p:nvPr/>
        </p:nvSpPr>
        <p:spPr>
          <a:xfrm>
            <a:off x="-1086962916240" y="2999232"/>
            <a:ext cx="2377440" cy="384048"/>
          </a:xfrm>
          <a:prstGeom prst="rect">
            <a:avLst/>
          </a:prstGeom>
          <a:solidFill>
            <a:srgbClr val="FF4545"/>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86962916240" y="3054096"/>
            <a:ext cx="2377440" cy="292608"/>
          </a:xfrm>
          <a:prstGeom prst="rect">
            <a:avLst/>
          </a:prstGeom>
          <a:noFill/>
        </p:spPr>
        <p:txBody>
          <a:bodyPr wrap="square">
            <a:spAutoFit/>
          </a:bodyPr>
          <a:lstStyle/>
          <a:p>
            <a:pPr algn="ctr"/>
            <a:r>
              <a:rPr sz="1000" b="1" i="0">
                <a:solidFill>
                  <a:srgbClr val="0A0D1A"/>
                </a:solidFill>
                <a:latin typeface="Calibri"/>
              </a:rPr>
              <a:t>🔴 Risk Classification
LOW · MED · HIGH</a:t>
            </a:r>
          </a:p>
        </p:txBody>
      </p:sp>
      <p:cxnSp>
        <p:nvCxnSpPr>
          <p:cNvPr id="18" name="Connector 17"/>
          <p:cNvCxnSpPr/>
          <p:nvPr/>
        </p:nvCxnSpPr>
        <p:spPr>
          <a:xfrm>
            <a:off x="2651760" y="1719072"/>
            <a:ext cx="0" cy="109728"/>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651760" y="2304288"/>
            <a:ext cx="0" cy="109728"/>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651760" y="2871216"/>
            <a:ext cx="0" cy="109728"/>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1520" y="3200400"/>
            <a:ext cx="1280160" cy="201168"/>
          </a:xfrm>
          <a:prstGeom prst="rect">
            <a:avLst/>
          </a:prstGeom>
          <a:noFill/>
        </p:spPr>
        <p:txBody>
          <a:bodyPr wrap="square">
            <a:spAutoFit/>
          </a:bodyPr>
          <a:lstStyle/>
          <a:p>
            <a:pPr algn="l"/>
            <a:r>
              <a:rPr sz="800" b="0" i="0">
                <a:solidFill>
                  <a:srgbClr val="39FF14"/>
                </a:solidFill>
                <a:latin typeface="Calibri"/>
              </a:rPr>
              <a:t>LOW</a:t>
            </a:r>
          </a:p>
        </p:txBody>
      </p:sp>
      <p:cxnSp>
        <p:nvCxnSpPr>
          <p:cNvPr id="22" name="Connector 21"/>
          <p:cNvCxnSpPr/>
          <p:nvPr/>
        </p:nvCxnSpPr>
        <p:spPr>
          <a:xfrm>
            <a:off x="-1086962916240" y="3191256"/>
            <a:ext cx="1086964882200" cy="0"/>
          </a:xfrm>
          <a:prstGeom prst="line">
            <a:avLst/>
          </a:prstGeom>
          <a:ln w="1270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777240" y="3566160"/>
            <a:ext cx="1371600" cy="438912"/>
          </a:xfrm>
          <a:prstGeom prst="rect">
            <a:avLst/>
          </a:prstGeom>
          <a:solidFill>
            <a:srgbClr val="062006"/>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3621024"/>
            <a:ext cx="1371600" cy="347472"/>
          </a:xfrm>
          <a:prstGeom prst="rect">
            <a:avLst/>
          </a:prstGeom>
          <a:noFill/>
        </p:spPr>
        <p:txBody>
          <a:bodyPr wrap="square">
            <a:spAutoFit/>
          </a:bodyPr>
          <a:lstStyle/>
          <a:p>
            <a:pPr algn="ctr"/>
            <a:r>
              <a:rPr sz="850" b="1" i="0">
                <a:solidFill>
                  <a:srgbClr val="39FF14"/>
                </a:solidFill>
                <a:latin typeface="Calibri"/>
              </a:rPr>
              <a:t>✅ Execute immediately
Scope check only</a:t>
            </a:r>
          </a:p>
        </p:txBody>
      </p:sp>
      <p:sp>
        <p:nvSpPr>
          <p:cNvPr id="25" name="TextBox 24"/>
          <p:cNvSpPr txBox="1"/>
          <p:nvPr/>
        </p:nvSpPr>
        <p:spPr>
          <a:xfrm>
            <a:off x="2468880" y="3419856"/>
            <a:ext cx="1280160" cy="201168"/>
          </a:xfrm>
          <a:prstGeom prst="rect">
            <a:avLst/>
          </a:prstGeom>
          <a:noFill/>
        </p:spPr>
        <p:txBody>
          <a:bodyPr wrap="square">
            <a:spAutoFit/>
          </a:bodyPr>
          <a:lstStyle/>
          <a:p>
            <a:pPr algn="l"/>
            <a:r>
              <a:rPr sz="800" b="0" i="0">
                <a:solidFill>
                  <a:srgbClr val="FFD700"/>
                </a:solidFill>
                <a:latin typeface="Calibri"/>
              </a:rPr>
              <a:t>MED</a:t>
            </a:r>
          </a:p>
        </p:txBody>
      </p:sp>
      <p:sp>
        <p:nvSpPr>
          <p:cNvPr id="26" name="Rectangle 25"/>
          <p:cNvSpPr/>
          <p:nvPr/>
        </p:nvSpPr>
        <p:spPr>
          <a:xfrm>
            <a:off x="-1086962916240" y="3566160"/>
            <a:ext cx="2377440" cy="438912"/>
          </a:xfrm>
          <a:prstGeom prst="rect">
            <a:avLst/>
          </a:prstGeom>
          <a:solidFill>
            <a:srgbClr val="281800"/>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86962916240" y="3621024"/>
            <a:ext cx="2377440" cy="347472"/>
          </a:xfrm>
          <a:prstGeom prst="rect">
            <a:avLst/>
          </a:prstGeom>
          <a:noFill/>
        </p:spPr>
        <p:txBody>
          <a:bodyPr wrap="square">
            <a:spAutoFit/>
          </a:bodyPr>
          <a:lstStyle/>
          <a:p>
            <a:pPr algn="ctr"/>
            <a:r>
              <a:rPr sz="900" b="1" i="0">
                <a:solidFill>
                  <a:srgbClr val="FFD700"/>
                </a:solidFill>
                <a:latin typeface="Calibri"/>
              </a:rPr>
              <a:t>🔴 LLM Classifier
Fast filter → CoT pass</a:t>
            </a:r>
          </a:p>
        </p:txBody>
      </p:sp>
      <p:cxnSp>
        <p:nvCxnSpPr>
          <p:cNvPr id="28" name="Connector 27"/>
          <p:cNvCxnSpPr/>
          <p:nvPr/>
        </p:nvCxnSpPr>
        <p:spPr>
          <a:xfrm>
            <a:off x="2651760" y="3383280"/>
            <a:ext cx="0" cy="18288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086962934528" y="4032504"/>
            <a:ext cx="914400" cy="201168"/>
          </a:xfrm>
          <a:prstGeom prst="rect">
            <a:avLst/>
          </a:prstGeom>
          <a:noFill/>
        </p:spPr>
        <p:txBody>
          <a:bodyPr wrap="square">
            <a:spAutoFit/>
          </a:bodyPr>
          <a:lstStyle/>
          <a:p>
            <a:pPr algn="l"/>
            <a:r>
              <a:rPr sz="800" b="0" i="0">
                <a:solidFill>
                  <a:srgbClr val="39FF14"/>
                </a:solidFill>
                <a:latin typeface="Calibri"/>
              </a:rPr>
              <a:t>EXECUTE</a:t>
            </a:r>
          </a:p>
        </p:txBody>
      </p:sp>
      <p:sp>
        <p:nvSpPr>
          <p:cNvPr id="30" name="TextBox 29"/>
          <p:cNvSpPr txBox="1"/>
          <p:nvPr/>
        </p:nvSpPr>
        <p:spPr>
          <a:xfrm>
            <a:off x="3063240" y="4032504"/>
            <a:ext cx="1005840" cy="201168"/>
          </a:xfrm>
          <a:prstGeom prst="rect">
            <a:avLst/>
          </a:prstGeom>
          <a:noFill/>
        </p:spPr>
        <p:txBody>
          <a:bodyPr wrap="square">
            <a:spAutoFit/>
          </a:bodyPr>
          <a:lstStyle/>
          <a:p>
            <a:pPr algn="l"/>
            <a:r>
              <a:rPr sz="800" b="0" i="0">
                <a:solidFill>
                  <a:srgbClr val="FF4545"/>
                </a:solidFill>
                <a:latin typeface="Calibri"/>
              </a:rPr>
              <a:t>ESCALATE</a:t>
            </a:r>
          </a:p>
        </p:txBody>
      </p:sp>
      <p:sp>
        <p:nvSpPr>
          <p:cNvPr id="31" name="Rectangle 30"/>
          <p:cNvSpPr/>
          <p:nvPr/>
        </p:nvSpPr>
        <p:spPr>
          <a:xfrm>
            <a:off x="-1086962934528" y="4279392"/>
            <a:ext cx="1371600" cy="475488"/>
          </a:xfrm>
          <a:prstGeom prst="rect">
            <a:avLst/>
          </a:prstGeom>
          <a:solidFill>
            <a:srgbClr val="041804"/>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86962934528" y="4334256"/>
            <a:ext cx="1371600" cy="384048"/>
          </a:xfrm>
          <a:prstGeom prst="rect">
            <a:avLst/>
          </a:prstGeom>
          <a:noFill/>
        </p:spPr>
        <p:txBody>
          <a:bodyPr wrap="square">
            <a:spAutoFit/>
          </a:bodyPr>
          <a:lstStyle/>
          <a:p>
            <a:pPr algn="ctr"/>
            <a:r>
              <a:rPr sz="850" b="1" i="0">
                <a:solidFill>
                  <a:srgbClr val="39FF14"/>
                </a:solidFill>
                <a:latin typeface="Calibri"/>
              </a:rPr>
              <a:t>✅ Proceed to
Tool Adapter</a:t>
            </a:r>
          </a:p>
        </p:txBody>
      </p:sp>
      <p:sp>
        <p:nvSpPr>
          <p:cNvPr id="33" name="Rectangle 32"/>
          <p:cNvSpPr/>
          <p:nvPr/>
        </p:nvSpPr>
        <p:spPr>
          <a:xfrm>
            <a:off x="2834640" y="4279392"/>
            <a:ext cx="1463040" cy="475488"/>
          </a:xfrm>
          <a:prstGeom prst="rect">
            <a:avLst/>
          </a:prstGeom>
          <a:solidFill>
            <a:srgbClr val="1A0A00"/>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34640" y="4334256"/>
            <a:ext cx="1463040" cy="384048"/>
          </a:xfrm>
          <a:prstGeom prst="rect">
            <a:avLst/>
          </a:prstGeom>
          <a:noFill/>
        </p:spPr>
        <p:txBody>
          <a:bodyPr wrap="square">
            <a:spAutoFit/>
          </a:bodyPr>
          <a:lstStyle/>
          <a:p>
            <a:pPr algn="ctr"/>
            <a:r>
              <a:rPr sz="850" b="1" i="0">
                <a:solidFill>
                  <a:srgbClr val="FFD700"/>
                </a:solidFill>
                <a:latin typeface="Calibri"/>
              </a:rPr>
              <a:t>⬆ Route to
Commander Mailbox</a:t>
            </a:r>
          </a:p>
        </p:txBody>
      </p:sp>
      <p:sp>
        <p:nvSpPr>
          <p:cNvPr id="35" name="TextBox 34"/>
          <p:cNvSpPr txBox="1"/>
          <p:nvPr/>
        </p:nvSpPr>
        <p:spPr>
          <a:xfrm>
            <a:off x="5303520" y="3200400"/>
            <a:ext cx="1280160" cy="201168"/>
          </a:xfrm>
          <a:prstGeom prst="rect">
            <a:avLst/>
          </a:prstGeom>
          <a:noFill/>
        </p:spPr>
        <p:txBody>
          <a:bodyPr wrap="square">
            <a:spAutoFit/>
          </a:bodyPr>
          <a:lstStyle/>
          <a:p>
            <a:pPr algn="l"/>
            <a:r>
              <a:rPr sz="800" b="0" i="0">
                <a:solidFill>
                  <a:srgbClr val="FF4545"/>
                </a:solidFill>
                <a:latin typeface="Calibri"/>
              </a:rPr>
              <a:t>HIGH</a:t>
            </a:r>
          </a:p>
        </p:txBody>
      </p:sp>
      <p:cxnSp>
        <p:nvCxnSpPr>
          <p:cNvPr id="36" name="Connector 35"/>
          <p:cNvCxnSpPr/>
          <p:nvPr/>
        </p:nvCxnSpPr>
        <p:spPr>
          <a:xfrm flipH="1">
            <a:off x="5394960" y="3191256"/>
            <a:ext cx="1086962824800" cy="0"/>
          </a:xfrm>
          <a:prstGeom prst="line">
            <a:avLst/>
          </a:prstGeom>
          <a:ln w="1270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394960" y="3566160"/>
            <a:ext cx="2331720" cy="438912"/>
          </a:xfrm>
          <a:prstGeom prst="rect">
            <a:avLst/>
          </a:prstGeom>
          <a:solidFill>
            <a:srgbClr val="280808"/>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94960" y="3621024"/>
            <a:ext cx="2331720" cy="347472"/>
          </a:xfrm>
          <a:prstGeom prst="rect">
            <a:avLst/>
          </a:prstGeom>
          <a:noFill/>
        </p:spPr>
        <p:txBody>
          <a:bodyPr wrap="square">
            <a:spAutoFit/>
          </a:bodyPr>
          <a:lstStyle/>
          <a:p>
            <a:pPr algn="ctr"/>
            <a:r>
              <a:rPr sz="900" b="1" i="0">
                <a:solidFill>
                  <a:srgbClr val="FFFFFF"/>
                </a:solidFill>
                <a:latin typeface="Calibri"/>
              </a:rPr>
              <a:t>🖥️ Commander Mailbox
Human-in-the-loop slot</a:t>
            </a:r>
          </a:p>
        </p:txBody>
      </p:sp>
      <p:cxnSp>
        <p:nvCxnSpPr>
          <p:cNvPr id="39" name="Connector 38"/>
          <p:cNvCxnSpPr/>
          <p:nvPr/>
        </p:nvCxnSpPr>
        <p:spPr>
          <a:xfrm flipH="1">
            <a:off x="5394960" y="3191256"/>
            <a:ext cx="1086962824800" cy="594360"/>
          </a:xfrm>
          <a:prstGeom prst="line">
            <a:avLst/>
          </a:prstGeom>
          <a:ln w="1270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349240" y="4059936"/>
            <a:ext cx="914400" cy="201168"/>
          </a:xfrm>
          <a:prstGeom prst="rect">
            <a:avLst/>
          </a:prstGeom>
          <a:noFill/>
        </p:spPr>
        <p:txBody>
          <a:bodyPr wrap="square">
            <a:spAutoFit/>
          </a:bodyPr>
          <a:lstStyle/>
          <a:p>
            <a:pPr algn="l"/>
            <a:r>
              <a:rPr sz="750" b="0" i="0">
                <a:solidFill>
                  <a:srgbClr val="39FF14"/>
                </a:solidFill>
                <a:latin typeface="Calibri"/>
              </a:rPr>
              <a:t>✅ APPROVE</a:t>
            </a:r>
          </a:p>
        </p:txBody>
      </p:sp>
      <p:sp>
        <p:nvSpPr>
          <p:cNvPr id="41" name="TextBox 40"/>
          <p:cNvSpPr txBox="1"/>
          <p:nvPr/>
        </p:nvSpPr>
        <p:spPr>
          <a:xfrm>
            <a:off x="6217920" y="4059936"/>
            <a:ext cx="822960" cy="201168"/>
          </a:xfrm>
          <a:prstGeom prst="rect">
            <a:avLst/>
          </a:prstGeom>
          <a:noFill/>
        </p:spPr>
        <p:txBody>
          <a:bodyPr wrap="square">
            <a:spAutoFit/>
          </a:bodyPr>
          <a:lstStyle/>
          <a:p>
            <a:pPr algn="l"/>
            <a:r>
              <a:rPr sz="750" b="0" i="0">
                <a:solidFill>
                  <a:srgbClr val="FF4545"/>
                </a:solidFill>
                <a:latin typeface="Calibri"/>
              </a:rPr>
              <a:t>❌ REJECT</a:t>
            </a:r>
          </a:p>
        </p:txBody>
      </p:sp>
      <p:sp>
        <p:nvSpPr>
          <p:cNvPr id="42" name="TextBox 41"/>
          <p:cNvSpPr txBox="1"/>
          <p:nvPr/>
        </p:nvSpPr>
        <p:spPr>
          <a:xfrm>
            <a:off x="6995160" y="4059936"/>
            <a:ext cx="822960" cy="201168"/>
          </a:xfrm>
          <a:prstGeom prst="rect">
            <a:avLst/>
          </a:prstGeom>
          <a:noFill/>
        </p:spPr>
        <p:txBody>
          <a:bodyPr wrap="square">
            <a:spAutoFit/>
          </a:bodyPr>
          <a:lstStyle/>
          <a:p>
            <a:pPr algn="l"/>
            <a:r>
              <a:rPr sz="750" b="0" i="0">
                <a:solidFill>
                  <a:srgbClr val="FFD700"/>
                </a:solidFill>
                <a:latin typeface="Calibri"/>
              </a:rPr>
              <a:t>📝 MODIFY</a:t>
            </a:r>
          </a:p>
        </p:txBody>
      </p:sp>
      <p:sp>
        <p:nvSpPr>
          <p:cNvPr id="43" name="Rectangle 42"/>
          <p:cNvSpPr/>
          <p:nvPr/>
        </p:nvSpPr>
        <p:spPr>
          <a:xfrm>
            <a:off x="5349240" y="4279392"/>
            <a:ext cx="868680" cy="384048"/>
          </a:xfrm>
          <a:prstGeom prst="rect">
            <a:avLst/>
          </a:prstGeom>
          <a:solidFill>
            <a:srgbClr val="041604"/>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49240" y="4334256"/>
            <a:ext cx="868680" cy="292608"/>
          </a:xfrm>
          <a:prstGeom prst="rect">
            <a:avLst/>
          </a:prstGeom>
          <a:noFill/>
        </p:spPr>
        <p:txBody>
          <a:bodyPr wrap="square">
            <a:spAutoFit/>
          </a:bodyPr>
          <a:lstStyle/>
          <a:p>
            <a:pPr algn="ctr"/>
            <a:r>
              <a:rPr sz="800" b="1" i="0">
                <a:solidFill>
                  <a:srgbClr val="39FF14"/>
                </a:solidFill>
                <a:latin typeface="Calibri"/>
              </a:rPr>
              <a:t>Proceed to
Tool Adapter</a:t>
            </a:r>
          </a:p>
        </p:txBody>
      </p:sp>
      <p:sp>
        <p:nvSpPr>
          <p:cNvPr id="45" name="Rectangle 44"/>
          <p:cNvSpPr/>
          <p:nvPr/>
        </p:nvSpPr>
        <p:spPr>
          <a:xfrm>
            <a:off x="6199632" y="4279392"/>
            <a:ext cx="804672" cy="384048"/>
          </a:xfrm>
          <a:prstGeom prst="rect">
            <a:avLst/>
          </a:prstGeom>
          <a:solidFill>
            <a:srgbClr val="1A0404"/>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99632" y="4334256"/>
            <a:ext cx="804672" cy="292608"/>
          </a:xfrm>
          <a:prstGeom prst="rect">
            <a:avLst/>
          </a:prstGeom>
          <a:noFill/>
        </p:spPr>
        <p:txBody>
          <a:bodyPr wrap="square">
            <a:spAutoFit/>
          </a:bodyPr>
          <a:lstStyle/>
          <a:p>
            <a:pPr algn="ctr"/>
            <a:r>
              <a:rPr sz="750" b="1" i="0">
                <a:solidFill>
                  <a:srgbClr val="FF4545"/>
                </a:solidFill>
                <a:latin typeface="Calibri"/>
              </a:rPr>
              <a:t>Cancelled
Annotated to APG</a:t>
            </a:r>
          </a:p>
        </p:txBody>
      </p:sp>
      <p:sp>
        <p:nvSpPr>
          <p:cNvPr id="47" name="Rectangle 46"/>
          <p:cNvSpPr/>
          <p:nvPr/>
        </p:nvSpPr>
        <p:spPr>
          <a:xfrm>
            <a:off x="6967728" y="4279392"/>
            <a:ext cx="713232" cy="384048"/>
          </a:xfrm>
          <a:prstGeom prst="rect">
            <a:avLst/>
          </a:prstGeom>
          <a:solidFill>
            <a:srgbClr val="1A1000"/>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67728" y="4334256"/>
            <a:ext cx="713232" cy="292608"/>
          </a:xfrm>
          <a:prstGeom prst="rect">
            <a:avLst/>
          </a:prstGeom>
          <a:noFill/>
        </p:spPr>
        <p:txBody>
          <a:bodyPr wrap="square">
            <a:spAutoFit/>
          </a:bodyPr>
          <a:lstStyle/>
          <a:p>
            <a:pPr algn="ctr"/>
            <a:r>
              <a:rPr sz="750" b="1" i="0">
                <a:solidFill>
                  <a:srgbClr val="FFD700"/>
                </a:solidFill>
                <a:latin typeface="Calibri"/>
              </a:rPr>
              <a:t>Params adjusted
then approved</a:t>
            </a:r>
          </a:p>
        </p:txBody>
      </p:sp>
      <p:sp>
        <p:nvSpPr>
          <p:cNvPr id="49" name="Rectangle 48"/>
          <p:cNvSpPr/>
          <p:nvPr/>
        </p:nvSpPr>
        <p:spPr>
          <a:xfrm>
            <a:off x="-1086962916240" y="4937760"/>
            <a:ext cx="2377440" cy="548640"/>
          </a:xfrm>
          <a:prstGeom prst="rect">
            <a:avLst/>
          </a:prstGeom>
          <a:solidFill>
            <a:srgbClr val="100622"/>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86962916240" y="4992624"/>
            <a:ext cx="2377440" cy="457200"/>
          </a:xfrm>
          <a:prstGeom prst="rect">
            <a:avLst/>
          </a:prstGeom>
          <a:noFill/>
        </p:spPr>
        <p:txBody>
          <a:bodyPr wrap="square">
            <a:spAutoFit/>
          </a:bodyPr>
          <a:lstStyle/>
          <a:p>
            <a:pPr algn="ctr"/>
            <a:r>
              <a:rPr sz="850" b="1" i="0">
                <a:solidFill>
                  <a:srgbClr val="BD93F9"/>
                </a:solidFill>
                <a:latin typeface="Calibri"/>
              </a:rPr>
              <a:t>⚙️ Tool Adapter executes
Run tool → parse raw output → structured JSON
→ discard raw</a:t>
            </a:r>
          </a:p>
        </p:txBody>
      </p:sp>
      <p:cxnSp>
        <p:nvCxnSpPr>
          <p:cNvPr id="51" name="Connector 50"/>
          <p:cNvCxnSpPr/>
          <p:nvPr/>
        </p:nvCxnSpPr>
        <p:spPr>
          <a:xfrm>
            <a:off x="-1086962230440" y="4754880"/>
            <a:ext cx="1086964882200" cy="18288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1086962916240" y="5559552"/>
            <a:ext cx="2377440" cy="384048"/>
          </a:xfrm>
          <a:prstGeom prst="rect">
            <a:avLst/>
          </a:prstGeom>
          <a:solidFill>
            <a:srgbClr val="201030"/>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86962916240" y="5614416"/>
            <a:ext cx="2377440" cy="292608"/>
          </a:xfrm>
          <a:prstGeom prst="rect">
            <a:avLst/>
          </a:prstGeom>
          <a:noFill/>
        </p:spPr>
        <p:txBody>
          <a:bodyPr wrap="square">
            <a:spAutoFit/>
          </a:bodyPr>
          <a:lstStyle/>
          <a:p>
            <a:pPr algn="ctr"/>
            <a:r>
              <a:rPr sz="900" b="1" i="0">
                <a:solidFill>
                  <a:srgbClr val="BD93F9"/>
                </a:solidFill>
                <a:latin typeface="Calibri"/>
              </a:rPr>
              <a:t>🧿 PostToolUse Hook fires
log · alert · validate · block write</a:t>
            </a:r>
          </a:p>
        </p:txBody>
      </p:sp>
      <p:cxnSp>
        <p:nvCxnSpPr>
          <p:cNvPr id="54" name="Connector 53"/>
          <p:cNvCxnSpPr/>
          <p:nvPr/>
        </p:nvCxnSpPr>
        <p:spPr>
          <a:xfrm>
            <a:off x="2651760" y="5486400"/>
            <a:ext cx="0" cy="73152"/>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1086962934528" y="6016752"/>
            <a:ext cx="1371600" cy="420624"/>
          </a:xfrm>
          <a:prstGeom prst="rect">
            <a:avLst/>
          </a:prstGeom>
          <a:solidFill>
            <a:srgbClr val="062006"/>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86962934528" y="6071616"/>
            <a:ext cx="1371600" cy="329184"/>
          </a:xfrm>
          <a:prstGeom prst="rect">
            <a:avLst/>
          </a:prstGeom>
          <a:noFill/>
        </p:spPr>
        <p:txBody>
          <a:bodyPr wrap="square">
            <a:spAutoFit/>
          </a:bodyPr>
          <a:lstStyle/>
          <a:p>
            <a:pPr algn="ctr"/>
            <a:r>
              <a:rPr sz="800" b="1" i="0">
                <a:solidFill>
                  <a:srgbClr val="39FF14"/>
                </a:solidFill>
                <a:latin typeface="Calibri"/>
              </a:rPr>
              <a:t>● Nodes + edges
written to ASG</a:t>
            </a:r>
          </a:p>
        </p:txBody>
      </p:sp>
      <p:sp>
        <p:nvSpPr>
          <p:cNvPr id="57" name="TextBox 56"/>
          <p:cNvSpPr txBox="1"/>
          <p:nvPr/>
        </p:nvSpPr>
        <p:spPr>
          <a:xfrm>
            <a:off x="-1086962971104" y="6455664"/>
            <a:ext cx="457200" cy="201168"/>
          </a:xfrm>
          <a:prstGeom prst="rect">
            <a:avLst/>
          </a:prstGeom>
          <a:noFill/>
        </p:spPr>
        <p:txBody>
          <a:bodyPr wrap="square">
            <a:spAutoFit/>
          </a:bodyPr>
          <a:lstStyle/>
          <a:p>
            <a:pPr algn="l"/>
            <a:r>
              <a:rPr sz="750" b="0" i="0">
                <a:solidFill>
                  <a:srgbClr val="39FF14"/>
                </a:solidFill>
                <a:latin typeface="Calibri"/>
              </a:rPr>
              <a:t>ASG</a:t>
            </a:r>
          </a:p>
        </p:txBody>
      </p:sp>
      <p:sp>
        <p:nvSpPr>
          <p:cNvPr id="58" name="Rectangle 57"/>
          <p:cNvSpPr/>
          <p:nvPr/>
        </p:nvSpPr>
        <p:spPr>
          <a:xfrm>
            <a:off x="2743200" y="6016752"/>
            <a:ext cx="1554480" cy="420624"/>
          </a:xfrm>
          <a:prstGeom prst="rect">
            <a:avLst/>
          </a:prstGeom>
          <a:solidFill>
            <a:srgbClr val="041024"/>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743200" y="6071616"/>
            <a:ext cx="1554480" cy="329184"/>
          </a:xfrm>
          <a:prstGeom prst="rect">
            <a:avLst/>
          </a:prstGeom>
          <a:noFill/>
        </p:spPr>
        <p:txBody>
          <a:bodyPr wrap="square">
            <a:spAutoFit/>
          </a:bodyPr>
          <a:lstStyle/>
          <a:p>
            <a:pPr algn="ctr"/>
            <a:r>
              <a:rPr sz="800" b="1" i="0">
                <a:solidFill>
                  <a:srgbClr val="00E5FF"/>
                </a:solidFill>
                <a:latin typeface="Calibri"/>
              </a:rPr>
              <a:t>🤖 Agent receives
compact summary only</a:t>
            </a:r>
          </a:p>
        </p:txBody>
      </p:sp>
      <p:sp>
        <p:nvSpPr>
          <p:cNvPr id="60" name="TextBox 59"/>
          <p:cNvSpPr txBox="1"/>
          <p:nvPr/>
        </p:nvSpPr>
        <p:spPr>
          <a:xfrm>
            <a:off x="3017520" y="6455664"/>
            <a:ext cx="640080" cy="201168"/>
          </a:xfrm>
          <a:prstGeom prst="rect">
            <a:avLst/>
          </a:prstGeom>
          <a:noFill/>
        </p:spPr>
        <p:txBody>
          <a:bodyPr wrap="square">
            <a:spAutoFit/>
          </a:bodyPr>
          <a:lstStyle/>
          <a:p>
            <a:pPr algn="l"/>
            <a:r>
              <a:rPr sz="750" b="0" i="0">
                <a:solidFill>
                  <a:srgbClr val="00E5FF"/>
                </a:solidFill>
                <a:latin typeface="Calibri"/>
              </a:rPr>
              <a:t>Agent</a:t>
            </a:r>
          </a:p>
        </p:txBody>
      </p:sp>
      <p:cxnSp>
        <p:nvCxnSpPr>
          <p:cNvPr id="61" name="Connector 60"/>
          <p:cNvCxnSpPr/>
          <p:nvPr/>
        </p:nvCxnSpPr>
        <p:spPr>
          <a:xfrm>
            <a:off x="2103120" y="5943600"/>
            <a:ext cx="0" cy="73152"/>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108960" y="5943600"/>
            <a:ext cx="0" cy="73152"/>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8092440" y="1115568"/>
            <a:ext cx="3962095" cy="2084831"/>
          </a:xfrm>
          <a:prstGeom prst="rect">
            <a:avLst/>
          </a:prstGeom>
          <a:solidFill>
            <a:srgbClr val="081020"/>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202168" y="1188720"/>
            <a:ext cx="3779215" cy="237744"/>
          </a:xfrm>
          <a:prstGeom prst="rect">
            <a:avLst/>
          </a:prstGeom>
          <a:noFill/>
        </p:spPr>
        <p:txBody>
          <a:bodyPr wrap="square">
            <a:spAutoFit/>
          </a:bodyPr>
          <a:lstStyle/>
          <a:p>
            <a:pPr algn="l"/>
            <a:r>
              <a:rPr sz="1000" b="1" i="0">
                <a:solidFill>
                  <a:srgbClr val="BD93F9"/>
                </a:solidFill>
                <a:latin typeface="Calibri"/>
              </a:rPr>
              <a:t>🧠 LLM Permission Classifier — Medium-Risk Calls</a:t>
            </a:r>
          </a:p>
        </p:txBody>
      </p:sp>
      <p:sp>
        <p:nvSpPr>
          <p:cNvPr id="65" name="Rectangle 64"/>
          <p:cNvSpPr/>
          <p:nvPr/>
        </p:nvSpPr>
        <p:spPr>
          <a:xfrm>
            <a:off x="8183880" y="1463040"/>
            <a:ext cx="3779215" cy="402336"/>
          </a:xfrm>
          <a:prstGeom prst="rect">
            <a:avLst/>
          </a:prstGeom>
          <a:solidFill>
            <a:srgbClr val="061606"/>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238744" y="1499616"/>
            <a:ext cx="3687775" cy="182880"/>
          </a:xfrm>
          <a:prstGeom prst="rect">
            <a:avLst/>
          </a:prstGeom>
          <a:noFill/>
        </p:spPr>
        <p:txBody>
          <a:bodyPr wrap="square">
            <a:spAutoFit/>
          </a:bodyPr>
          <a:lstStyle/>
          <a:p>
            <a:pPr algn="l"/>
            <a:r>
              <a:rPr sz="900" b="1" i="0">
                <a:solidFill>
                  <a:srgbClr val="39FF14"/>
                </a:solidFill>
                <a:latin typeface="Calibri"/>
              </a:rPr>
              <a:t>Fast Filter (instant)</a:t>
            </a:r>
          </a:p>
        </p:txBody>
      </p:sp>
      <p:sp>
        <p:nvSpPr>
          <p:cNvPr id="67" name="TextBox 66"/>
          <p:cNvSpPr txBox="1"/>
          <p:nvPr/>
        </p:nvSpPr>
        <p:spPr>
          <a:xfrm>
            <a:off x="8238744" y="1664208"/>
            <a:ext cx="3687775" cy="201168"/>
          </a:xfrm>
          <a:prstGeom prst="rect">
            <a:avLst/>
          </a:prstGeom>
          <a:noFill/>
        </p:spPr>
        <p:txBody>
          <a:bodyPr wrap="square">
            <a:spAutoFit/>
          </a:bodyPr>
          <a:lstStyle/>
          <a:p>
            <a:pPr algn="l"/>
            <a:r>
              <a:rPr sz="800" b="0" i="0">
                <a:solidFill>
                  <a:srgbClr val="FFFFFF"/>
                </a:solidFill>
                <a:latin typeface="Calibri"/>
              </a:rPr>
              <a:t>Obviously safe? → EXECUTE immediately
Obviously risky? → ESCALATE immediately</a:t>
            </a:r>
          </a:p>
        </p:txBody>
      </p:sp>
      <p:sp>
        <p:nvSpPr>
          <p:cNvPr id="68" name="Rectangle 67"/>
          <p:cNvSpPr/>
          <p:nvPr/>
        </p:nvSpPr>
        <p:spPr>
          <a:xfrm>
            <a:off x="8183880" y="1956816"/>
            <a:ext cx="3779215" cy="274320"/>
          </a:xfrm>
          <a:prstGeom prst="rect">
            <a:avLst/>
          </a:prstGeom>
          <a:solidFill>
            <a:srgbClr val="06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238744" y="1993392"/>
            <a:ext cx="3687775" cy="201168"/>
          </a:xfrm>
          <a:prstGeom prst="rect">
            <a:avLst/>
          </a:prstGeom>
          <a:noFill/>
        </p:spPr>
        <p:txBody>
          <a:bodyPr wrap="square">
            <a:spAutoFit/>
          </a:bodyPr>
          <a:lstStyle/>
          <a:p>
            <a:pPr algn="l"/>
            <a:r>
              <a:rPr sz="750" b="0" i="0">
                <a:solidFill>
                  <a:srgbClr val="00E5FF"/>
                </a:solidFill>
                <a:latin typeface="Calibri"/>
              </a:rPr>
              <a:t>Axis 1: SCOPE ALIGNMENT  Is the target in declared assessment scope?</a:t>
            </a:r>
          </a:p>
        </p:txBody>
      </p:sp>
      <p:sp>
        <p:nvSpPr>
          <p:cNvPr id="70" name="Rectangle 69"/>
          <p:cNvSpPr/>
          <p:nvPr/>
        </p:nvSpPr>
        <p:spPr>
          <a:xfrm>
            <a:off x="8183880" y="2286000"/>
            <a:ext cx="3779215" cy="274320"/>
          </a:xfrm>
          <a:prstGeom prst="rect">
            <a:avLst/>
          </a:prstGeom>
          <a:solidFill>
            <a:srgbClr val="06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238744" y="2322576"/>
            <a:ext cx="3687775" cy="201168"/>
          </a:xfrm>
          <a:prstGeom prst="rect">
            <a:avLst/>
          </a:prstGeom>
          <a:noFill/>
        </p:spPr>
        <p:txBody>
          <a:bodyPr wrap="square">
            <a:spAutoFit/>
          </a:bodyPr>
          <a:lstStyle/>
          <a:p>
            <a:pPr algn="l"/>
            <a:r>
              <a:rPr sz="750" b="0" i="0">
                <a:solidFill>
                  <a:srgbClr val="FFD700"/>
                </a:solidFill>
                <a:latin typeface="Calibri"/>
              </a:rPr>
              <a:t>Axis 2: CHAIN INTENT  Is this call consistent with the active APG AttackChain?</a:t>
            </a:r>
          </a:p>
        </p:txBody>
      </p:sp>
      <p:sp>
        <p:nvSpPr>
          <p:cNvPr id="72" name="Rectangle 71"/>
          <p:cNvSpPr/>
          <p:nvPr/>
        </p:nvSpPr>
        <p:spPr>
          <a:xfrm>
            <a:off x="8183880" y="2615184"/>
            <a:ext cx="3779215" cy="274320"/>
          </a:xfrm>
          <a:prstGeom prst="rect">
            <a:avLst/>
          </a:prstGeom>
          <a:solidFill>
            <a:srgbClr val="06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238744" y="2651760"/>
            <a:ext cx="3687775" cy="201168"/>
          </a:xfrm>
          <a:prstGeom prst="rect">
            <a:avLst/>
          </a:prstGeom>
          <a:noFill/>
        </p:spPr>
        <p:txBody>
          <a:bodyPr wrap="square">
            <a:spAutoFit/>
          </a:bodyPr>
          <a:lstStyle/>
          <a:p>
            <a:pPr algn="l"/>
            <a:r>
              <a:rPr sz="750" b="0" i="0">
                <a:solidFill>
                  <a:srgbClr val="FF4545"/>
                </a:solidFill>
                <a:latin typeface="Calibri"/>
              </a:rPr>
              <a:t>Axis 3: PARAMETER SAFETY  Do params exhibit prompt injection patterns or scope drift?</a:t>
            </a:r>
          </a:p>
        </p:txBody>
      </p:sp>
      <p:sp>
        <p:nvSpPr>
          <p:cNvPr id="74" name="Rectangle 73"/>
          <p:cNvSpPr/>
          <p:nvPr/>
        </p:nvSpPr>
        <p:spPr>
          <a:xfrm>
            <a:off x="8183880" y="2944368"/>
            <a:ext cx="1789023" cy="329184"/>
          </a:xfrm>
          <a:prstGeom prst="rect">
            <a:avLst/>
          </a:prstGeom>
          <a:solidFill>
            <a:srgbClr val="042004"/>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183880" y="2999232"/>
            <a:ext cx="1789023" cy="219456"/>
          </a:xfrm>
          <a:prstGeom prst="rect">
            <a:avLst/>
          </a:prstGeom>
          <a:noFill/>
        </p:spPr>
        <p:txBody>
          <a:bodyPr wrap="square">
            <a:spAutoFit/>
          </a:bodyPr>
          <a:lstStyle/>
          <a:p>
            <a:pPr algn="ctr"/>
            <a:r>
              <a:rPr sz="1000" b="1" i="0">
                <a:solidFill>
                  <a:srgbClr val="39FF14"/>
                </a:solidFill>
                <a:latin typeface="Calibri"/>
              </a:rPr>
              <a:t>✅ EXECUTE</a:t>
            </a:r>
          </a:p>
        </p:txBody>
      </p:sp>
      <p:sp>
        <p:nvSpPr>
          <p:cNvPr id="76" name="Rectangle 75"/>
          <p:cNvSpPr/>
          <p:nvPr/>
        </p:nvSpPr>
        <p:spPr>
          <a:xfrm>
            <a:off x="10027767" y="2944368"/>
            <a:ext cx="1843887" cy="329184"/>
          </a:xfrm>
          <a:prstGeom prst="rect">
            <a:avLst/>
          </a:prstGeom>
          <a:solidFill>
            <a:srgbClr val="200404"/>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027767" y="2999232"/>
            <a:ext cx="1843887" cy="219456"/>
          </a:xfrm>
          <a:prstGeom prst="rect">
            <a:avLst/>
          </a:prstGeom>
          <a:noFill/>
        </p:spPr>
        <p:txBody>
          <a:bodyPr wrap="square">
            <a:spAutoFit/>
          </a:bodyPr>
          <a:lstStyle/>
          <a:p>
            <a:pPr algn="ctr"/>
            <a:r>
              <a:rPr sz="1000" b="1" i="0">
                <a:solidFill>
                  <a:srgbClr val="FF4545"/>
                </a:solidFill>
                <a:latin typeface="Calibri"/>
              </a:rPr>
              <a:t>⬆ ESCALATE</a:t>
            </a:r>
          </a:p>
        </p:txBody>
      </p:sp>
      <p:sp>
        <p:nvSpPr>
          <p:cNvPr id="78" name="TextBox 77"/>
          <p:cNvSpPr txBox="1"/>
          <p:nvPr/>
        </p:nvSpPr>
        <p:spPr>
          <a:xfrm>
            <a:off x="8183880" y="3401568"/>
            <a:ext cx="3779215" cy="237744"/>
          </a:xfrm>
          <a:prstGeom prst="rect">
            <a:avLst/>
          </a:prstGeom>
          <a:noFill/>
        </p:spPr>
        <p:txBody>
          <a:bodyPr wrap="square">
            <a:spAutoFit/>
          </a:bodyPr>
          <a:lstStyle/>
          <a:p>
            <a:pPr algn="l"/>
            <a:r>
              <a:rPr sz="1100" b="1" i="0">
                <a:solidFill>
                  <a:srgbClr val="FFFFFF"/>
                </a:solidFill>
                <a:latin typeface="Calibri"/>
              </a:rPr>
              <a:t>Tool Risk Tier Summary</a:t>
            </a:r>
          </a:p>
        </p:txBody>
      </p:sp>
      <p:sp>
        <p:nvSpPr>
          <p:cNvPr id="79" name="Rectangle 78"/>
          <p:cNvSpPr/>
          <p:nvPr/>
        </p:nvSpPr>
        <p:spPr>
          <a:xfrm>
            <a:off x="8183880" y="3694176"/>
            <a:ext cx="3779215" cy="694944"/>
          </a:xfrm>
          <a:prstGeom prst="rect">
            <a:avLst/>
          </a:prstGeom>
          <a:solidFill>
            <a:srgbClr val="060818"/>
          </a:solidFill>
          <a:ln w="762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183880" y="3694176"/>
            <a:ext cx="201168" cy="69494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439912" y="3749040"/>
            <a:ext cx="3459175" cy="237744"/>
          </a:xfrm>
          <a:prstGeom prst="rect">
            <a:avLst/>
          </a:prstGeom>
          <a:noFill/>
        </p:spPr>
        <p:txBody>
          <a:bodyPr wrap="square">
            <a:spAutoFit/>
          </a:bodyPr>
          <a:lstStyle/>
          <a:p>
            <a:pPr algn="l"/>
            <a:r>
              <a:rPr sz="950" b="1" i="0">
                <a:solidFill>
                  <a:srgbClr val="39FF14"/>
                </a:solidFill>
                <a:latin typeface="Calibri"/>
              </a:rPr>
              <a:t>LOW  Scope check only</a:t>
            </a:r>
          </a:p>
        </p:txBody>
      </p:sp>
      <p:sp>
        <p:nvSpPr>
          <p:cNvPr id="82" name="TextBox 81"/>
          <p:cNvSpPr txBox="1"/>
          <p:nvPr/>
        </p:nvSpPr>
        <p:spPr>
          <a:xfrm>
            <a:off x="8439912" y="4005072"/>
            <a:ext cx="3459175" cy="329184"/>
          </a:xfrm>
          <a:prstGeom prst="rect">
            <a:avLst/>
          </a:prstGeom>
          <a:noFill/>
        </p:spPr>
        <p:txBody>
          <a:bodyPr wrap="square">
            <a:spAutoFit/>
          </a:bodyPr>
          <a:lstStyle/>
          <a:p>
            <a:pPr algn="l"/>
            <a:r>
              <a:rPr sz="850" b="0" i="1">
                <a:solidFill>
                  <a:srgbClr val="A0AAB8"/>
                </a:solidFill>
                <a:latin typeface="Calibri"/>
              </a:rPr>
              <a:t>Amass · httpx · WhatWeb · EyeWitness</a:t>
            </a:r>
          </a:p>
        </p:txBody>
      </p:sp>
      <p:sp>
        <p:nvSpPr>
          <p:cNvPr id="83" name="Rectangle 82"/>
          <p:cNvSpPr/>
          <p:nvPr/>
        </p:nvSpPr>
        <p:spPr>
          <a:xfrm>
            <a:off x="8183880" y="4443984"/>
            <a:ext cx="3779215" cy="694944"/>
          </a:xfrm>
          <a:prstGeom prst="rect">
            <a:avLst/>
          </a:prstGeom>
          <a:solidFill>
            <a:srgbClr val="060818"/>
          </a:solidFill>
          <a:ln w="762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183880" y="4443984"/>
            <a:ext cx="201168" cy="6949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439912" y="4498848"/>
            <a:ext cx="3459175" cy="237744"/>
          </a:xfrm>
          <a:prstGeom prst="rect">
            <a:avLst/>
          </a:prstGeom>
          <a:noFill/>
        </p:spPr>
        <p:txBody>
          <a:bodyPr wrap="square">
            <a:spAutoFit/>
          </a:bodyPr>
          <a:lstStyle/>
          <a:p>
            <a:pPr algn="l"/>
            <a:r>
              <a:rPr sz="950" b="1" i="0">
                <a:solidFill>
                  <a:srgbClr val="FFD700"/>
                </a:solidFill>
                <a:latin typeface="Calibri"/>
              </a:rPr>
              <a:t>MED  LLM Classifier → exec/esc</a:t>
            </a:r>
          </a:p>
        </p:txBody>
      </p:sp>
      <p:sp>
        <p:nvSpPr>
          <p:cNvPr id="86" name="TextBox 85"/>
          <p:cNvSpPr txBox="1"/>
          <p:nvPr/>
        </p:nvSpPr>
        <p:spPr>
          <a:xfrm>
            <a:off x="8439912" y="4754880"/>
            <a:ext cx="3459175" cy="329184"/>
          </a:xfrm>
          <a:prstGeom prst="rect">
            <a:avLst/>
          </a:prstGeom>
          <a:noFill/>
        </p:spPr>
        <p:txBody>
          <a:bodyPr wrap="square">
            <a:spAutoFit/>
          </a:bodyPr>
          <a:lstStyle/>
          <a:p>
            <a:pPr algn="l"/>
            <a:r>
              <a:rPr sz="850" b="0" i="1">
                <a:solidFill>
                  <a:srgbClr val="A0AAB8"/>
                </a:solidFill>
                <a:latin typeface="Calibri"/>
              </a:rPr>
              <a:t>Nmap · Gobuster · ffuf · Nuclei · ZAP</a:t>
            </a:r>
          </a:p>
        </p:txBody>
      </p:sp>
      <p:sp>
        <p:nvSpPr>
          <p:cNvPr id="87" name="Rectangle 86"/>
          <p:cNvSpPr/>
          <p:nvPr/>
        </p:nvSpPr>
        <p:spPr>
          <a:xfrm>
            <a:off x="8183880" y="5193792"/>
            <a:ext cx="3779215" cy="694944"/>
          </a:xfrm>
          <a:prstGeom prst="rect">
            <a:avLst/>
          </a:prstGeom>
          <a:solidFill>
            <a:srgbClr val="060818"/>
          </a:solidFill>
          <a:ln w="762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183880" y="5193792"/>
            <a:ext cx="201168" cy="69494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439912" y="5248656"/>
            <a:ext cx="3459175" cy="237744"/>
          </a:xfrm>
          <a:prstGeom prst="rect">
            <a:avLst/>
          </a:prstGeom>
          <a:noFill/>
        </p:spPr>
        <p:txBody>
          <a:bodyPr wrap="square">
            <a:spAutoFit/>
          </a:bodyPr>
          <a:lstStyle/>
          <a:p>
            <a:pPr algn="l"/>
            <a:r>
              <a:rPr sz="950" b="1" i="0">
                <a:solidFill>
                  <a:srgbClr val="FF4545"/>
                </a:solidFill>
                <a:latin typeface="Calibri"/>
              </a:rPr>
              <a:t>HIGH  Commander Mailbox approval</a:t>
            </a:r>
          </a:p>
        </p:txBody>
      </p:sp>
      <p:sp>
        <p:nvSpPr>
          <p:cNvPr id="90" name="TextBox 89"/>
          <p:cNvSpPr txBox="1"/>
          <p:nvPr/>
        </p:nvSpPr>
        <p:spPr>
          <a:xfrm>
            <a:off x="8439912" y="5504688"/>
            <a:ext cx="3459175" cy="329184"/>
          </a:xfrm>
          <a:prstGeom prst="rect">
            <a:avLst/>
          </a:prstGeom>
          <a:noFill/>
        </p:spPr>
        <p:txBody>
          <a:bodyPr wrap="square">
            <a:spAutoFit/>
          </a:bodyPr>
          <a:lstStyle/>
          <a:p>
            <a:pPr algn="l"/>
            <a:r>
              <a:rPr sz="850" b="0" i="1">
                <a:solidFill>
                  <a:srgbClr val="A0AAB8"/>
                </a:solidFill>
                <a:latin typeface="Calibri"/>
              </a:rPr>
              <a:t>SQLMap · Metasploit</a:t>
            </a:r>
          </a:p>
        </p:txBody>
      </p:sp>
      <p:sp>
        <p:nvSpPr>
          <p:cNvPr id="91" name="Rectangle 90"/>
          <p:cNvSpPr/>
          <p:nvPr/>
        </p:nvSpPr>
        <p:spPr>
          <a:xfrm>
            <a:off x="8183880" y="6016752"/>
            <a:ext cx="3779215" cy="676656"/>
          </a:xfrm>
          <a:prstGeom prst="rect">
            <a:avLst/>
          </a:prstGeom>
          <a:solidFill>
            <a:srgbClr val="100600"/>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38744" y="6071616"/>
            <a:ext cx="3687775" cy="219456"/>
          </a:xfrm>
          <a:prstGeom prst="rect">
            <a:avLst/>
          </a:prstGeom>
          <a:noFill/>
        </p:spPr>
        <p:txBody>
          <a:bodyPr wrap="square">
            <a:spAutoFit/>
          </a:bodyPr>
          <a:lstStyle/>
          <a:p>
            <a:pPr algn="l"/>
            <a:r>
              <a:rPr sz="950" b="1" i="0">
                <a:solidFill>
                  <a:srgbClr val="FFD700"/>
                </a:solidFill>
                <a:latin typeface="Calibri"/>
              </a:rPr>
              <a:t>🔒 Critical Safety Property</a:t>
            </a:r>
          </a:p>
        </p:txBody>
      </p:sp>
      <p:sp>
        <p:nvSpPr>
          <p:cNvPr id="93" name="TextBox 92"/>
          <p:cNvSpPr txBox="1"/>
          <p:nvPr/>
        </p:nvSpPr>
        <p:spPr>
          <a:xfrm>
            <a:off x="8238744" y="6309360"/>
            <a:ext cx="3687775" cy="365760"/>
          </a:xfrm>
          <a:prstGeom prst="rect">
            <a:avLst/>
          </a:prstGeom>
          <a:noFill/>
        </p:spPr>
        <p:txBody>
          <a:bodyPr wrap="square">
            <a:spAutoFit/>
          </a:bodyPr>
          <a:lstStyle/>
          <a:p>
            <a:pPr algn="l"/>
            <a:r>
              <a:rPr sz="850" b="0" i="0">
                <a:solidFill>
                  <a:srgbClr val="A0AAB8"/>
                </a:solidFill>
                <a:latin typeface="Calibri"/>
              </a:rPr>
              <a:t>No irreversible offensive operation executes without Commander-level scope validation. No Medium-tier call executes without LLM classifier approval.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D700"/>
                </a:solidFill>
                <a:latin typeface="Calibri"/>
              </a:rPr>
              <a:t>AUTONOMOUS PLANNING CYCLE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600" b="1" i="0">
                <a:solidFill>
                  <a:srgbClr val="FFFFFF"/>
                </a:solidFill>
                <a:latin typeface="Calibri"/>
              </a:rPr>
              <a:t>Commander Loop — Graph-Grounded, Event-Driven, Self-Terminating</a:t>
            </a:r>
          </a:p>
        </p:txBody>
      </p:sp>
      <p:sp>
        <p:nvSpPr>
          <p:cNvPr id="7" name="TextBox 6"/>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11</a:t>
            </a:r>
          </a:p>
        </p:txBody>
      </p:sp>
      <p:sp>
        <p:nvSpPr>
          <p:cNvPr id="8" name="Rectangle 7"/>
          <p:cNvSpPr/>
          <p:nvPr/>
        </p:nvSpPr>
        <p:spPr>
          <a:xfrm>
            <a:off x="274320" y="914400"/>
            <a:ext cx="7818120" cy="5779008"/>
          </a:xfrm>
          <a:prstGeom prst="rect">
            <a:avLst/>
          </a:prstGeom>
          <a:solidFill>
            <a:srgbClr val="060614"/>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2336" y="987552"/>
            <a:ext cx="7543800" cy="219456"/>
          </a:xfrm>
          <a:prstGeom prst="rect">
            <a:avLst/>
          </a:prstGeom>
          <a:noFill/>
        </p:spPr>
        <p:txBody>
          <a:bodyPr wrap="square">
            <a:spAutoFit/>
          </a:bodyPr>
          <a:lstStyle/>
          <a:p>
            <a:pPr algn="l"/>
            <a:r>
              <a:rPr sz="1000" b="1" i="0">
                <a:solidFill>
                  <a:srgbClr val="FFD700"/>
                </a:solidFill>
                <a:latin typeface="Calibri"/>
              </a:rPr>
              <a:t>Core Planning Loop — Commander runs this every iteration</a:t>
            </a:r>
          </a:p>
        </p:txBody>
      </p:sp>
      <p:sp>
        <p:nvSpPr>
          <p:cNvPr id="10" name="Rectangle 9"/>
          <p:cNvSpPr/>
          <p:nvPr/>
        </p:nvSpPr>
        <p:spPr>
          <a:xfrm>
            <a:off x="3017520" y="1280160"/>
            <a:ext cx="2331720" cy="34747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17520" y="1316736"/>
            <a:ext cx="2331720" cy="274320"/>
          </a:xfrm>
          <a:prstGeom prst="rect">
            <a:avLst/>
          </a:prstGeom>
          <a:noFill/>
        </p:spPr>
        <p:txBody>
          <a:bodyPr wrap="square">
            <a:spAutoFit/>
          </a:bodyPr>
          <a:lstStyle/>
          <a:p>
            <a:pPr algn="ctr"/>
            <a:r>
              <a:rPr sz="1300" b="1" i="0">
                <a:solidFill>
                  <a:srgbClr val="0A0D1A"/>
                </a:solidFill>
                <a:latin typeface="Calibri"/>
              </a:rPr>
              <a:t>🚀  MISSION START</a:t>
            </a:r>
          </a:p>
        </p:txBody>
      </p:sp>
      <p:sp>
        <p:nvSpPr>
          <p:cNvPr id="12" name="Rectangle 11"/>
          <p:cNvSpPr/>
          <p:nvPr/>
        </p:nvSpPr>
        <p:spPr>
          <a:xfrm>
            <a:off x="777240" y="1810512"/>
            <a:ext cx="2286000" cy="530352"/>
          </a:xfrm>
          <a:prstGeom prst="rect">
            <a:avLst/>
          </a:prstGeom>
          <a:solidFill>
            <a:srgbClr val="161200"/>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1847088"/>
            <a:ext cx="2212848" cy="457200"/>
          </a:xfrm>
          <a:prstGeom prst="rect">
            <a:avLst/>
          </a:prstGeom>
          <a:noFill/>
        </p:spPr>
        <p:txBody>
          <a:bodyPr wrap="square">
            <a:spAutoFit/>
          </a:bodyPr>
          <a:lstStyle/>
          <a:p>
            <a:pPr algn="ctr"/>
            <a:r>
              <a:rPr sz="850" b="0" i="0">
                <a:solidFill>
                  <a:srgbClr val="FFFFFF"/>
                </a:solidFill>
                <a:latin typeface="Calibri"/>
              </a:rPr>
              <a:t>🟠 OBSERVE ASG
Unexplored nodes? New Vulns?
New Technology nodes?</a:t>
            </a:r>
          </a:p>
        </p:txBody>
      </p:sp>
      <p:sp>
        <p:nvSpPr>
          <p:cNvPr id="14" name="Rectangle 13"/>
          <p:cNvSpPr/>
          <p:nvPr/>
        </p:nvSpPr>
        <p:spPr>
          <a:xfrm>
            <a:off x="4251959" y="1810512"/>
            <a:ext cx="2286000" cy="530352"/>
          </a:xfrm>
          <a:prstGeom prst="rect">
            <a:avLst/>
          </a:prstGeom>
          <a:solidFill>
            <a:srgbClr val="101000"/>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88535" y="1847088"/>
            <a:ext cx="2212848" cy="457200"/>
          </a:xfrm>
          <a:prstGeom prst="rect">
            <a:avLst/>
          </a:prstGeom>
          <a:noFill/>
        </p:spPr>
        <p:txBody>
          <a:bodyPr wrap="square">
            <a:spAutoFit/>
          </a:bodyPr>
          <a:lstStyle/>
          <a:p>
            <a:pPr algn="ctr"/>
            <a:r>
              <a:rPr sz="850" b="0" i="0">
                <a:solidFill>
                  <a:srgbClr val="FFFFFF"/>
                </a:solidFill>
                <a:latin typeface="Calibri"/>
              </a:rPr>
              <a:t>🟠 OBSERVE APG
Hypothesized chains?
VALIDATED / RULED_OUT?</a:t>
            </a:r>
          </a:p>
        </p:txBody>
      </p:sp>
      <p:sp>
        <p:nvSpPr>
          <p:cNvPr id="16" name="TextBox 15"/>
          <p:cNvSpPr txBox="1"/>
          <p:nvPr/>
        </p:nvSpPr>
        <p:spPr>
          <a:xfrm>
            <a:off x="6720840" y="1947672"/>
            <a:ext cx="1280160" cy="201168"/>
          </a:xfrm>
          <a:prstGeom prst="rect">
            <a:avLst/>
          </a:prstGeom>
          <a:noFill/>
        </p:spPr>
        <p:txBody>
          <a:bodyPr wrap="square">
            <a:spAutoFit/>
          </a:bodyPr>
          <a:lstStyle/>
          <a:p>
            <a:pPr algn="l"/>
            <a:r>
              <a:rPr sz="800" b="0" i="1">
                <a:solidFill>
                  <a:srgbClr val="A0AAB8"/>
                </a:solidFill>
                <a:latin typeface="Calibri"/>
              </a:rPr>
              <a:t>no — continue</a:t>
            </a:r>
          </a:p>
        </p:txBody>
      </p:sp>
      <p:sp>
        <p:nvSpPr>
          <p:cNvPr id="17" name="Rectangle 16"/>
          <p:cNvSpPr/>
          <p:nvPr/>
        </p:nvSpPr>
        <p:spPr>
          <a:xfrm>
            <a:off x="2148839" y="2523744"/>
            <a:ext cx="2331720" cy="530352"/>
          </a:xfrm>
          <a:prstGeom prst="rect">
            <a:avLst/>
          </a:prstGeom>
          <a:solidFill>
            <a:srgbClr val="001028"/>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85415" y="2560320"/>
            <a:ext cx="2258568" cy="457200"/>
          </a:xfrm>
          <a:prstGeom prst="rect">
            <a:avLst/>
          </a:prstGeom>
          <a:noFill/>
        </p:spPr>
        <p:txBody>
          <a:bodyPr wrap="square">
            <a:spAutoFit/>
          </a:bodyPr>
          <a:lstStyle/>
          <a:p>
            <a:pPr algn="ctr"/>
            <a:r>
              <a:rPr sz="850" b="0" i="0">
                <a:solidFill>
                  <a:srgbClr val="FFFFFF"/>
                </a:solidFill>
                <a:latin typeface="Calibri"/>
              </a:rPr>
              <a:t>🔵 REASON
Given ASG + APG state:
What is the best next action?</a:t>
            </a:r>
          </a:p>
        </p:txBody>
      </p:sp>
      <p:sp>
        <p:nvSpPr>
          <p:cNvPr id="19" name="Rectangle 18"/>
          <p:cNvSpPr/>
          <p:nvPr/>
        </p:nvSpPr>
        <p:spPr>
          <a:xfrm>
            <a:off x="2423160" y="3218688"/>
            <a:ext cx="1691640" cy="36576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23160" y="3255264"/>
            <a:ext cx="1691640" cy="292608"/>
          </a:xfrm>
          <a:prstGeom prst="rect">
            <a:avLst/>
          </a:prstGeom>
          <a:noFill/>
        </p:spPr>
        <p:txBody>
          <a:bodyPr wrap="square">
            <a:spAutoFit/>
          </a:bodyPr>
          <a:lstStyle/>
          <a:p>
            <a:pPr algn="ctr"/>
            <a:r>
              <a:rPr sz="1300" b="1" i="0">
                <a:solidFill>
                  <a:srgbClr val="0A0D1A"/>
                </a:solidFill>
                <a:latin typeface="Calibri"/>
              </a:rPr>
              <a:t>DECIDE</a:t>
            </a:r>
          </a:p>
        </p:txBody>
      </p:sp>
      <p:sp>
        <p:nvSpPr>
          <p:cNvPr id="21" name="TextBox 20"/>
          <p:cNvSpPr txBox="1"/>
          <p:nvPr/>
        </p:nvSpPr>
        <p:spPr>
          <a:xfrm>
            <a:off x="1188720" y="3328416"/>
            <a:ext cx="914400" cy="201168"/>
          </a:xfrm>
          <a:prstGeom prst="rect">
            <a:avLst/>
          </a:prstGeom>
          <a:noFill/>
        </p:spPr>
        <p:txBody>
          <a:bodyPr wrap="square">
            <a:spAutoFit/>
          </a:bodyPr>
          <a:lstStyle/>
          <a:p>
            <a:pPr algn="l"/>
            <a:r>
              <a:rPr sz="800" b="0" i="1">
                <a:solidFill>
                  <a:srgbClr val="A0AAB8"/>
                </a:solidFill>
                <a:latin typeface="Calibri"/>
              </a:rPr>
              <a:t>ASG gaps</a:t>
            </a:r>
          </a:p>
        </p:txBody>
      </p:sp>
      <p:sp>
        <p:nvSpPr>
          <p:cNvPr id="22" name="TextBox 21"/>
          <p:cNvSpPr txBox="1"/>
          <p:nvPr/>
        </p:nvSpPr>
        <p:spPr>
          <a:xfrm>
            <a:off x="2880360" y="3621024"/>
            <a:ext cx="731520" cy="201168"/>
          </a:xfrm>
          <a:prstGeom prst="rect">
            <a:avLst/>
          </a:prstGeom>
          <a:noFill/>
        </p:spPr>
        <p:txBody>
          <a:bodyPr wrap="square">
            <a:spAutoFit/>
          </a:bodyPr>
          <a:lstStyle/>
          <a:p>
            <a:pPr algn="ctr"/>
            <a:r>
              <a:rPr sz="800" b="0" i="1">
                <a:solidFill>
                  <a:srgbClr val="A0AAB8"/>
                </a:solidFill>
                <a:latin typeface="Calibri"/>
              </a:rPr>
              <a:t>both</a:t>
            </a:r>
          </a:p>
        </p:txBody>
      </p:sp>
      <p:sp>
        <p:nvSpPr>
          <p:cNvPr id="23" name="TextBox 22"/>
          <p:cNvSpPr txBox="1"/>
          <p:nvPr/>
        </p:nvSpPr>
        <p:spPr>
          <a:xfrm>
            <a:off x="4251959" y="3328416"/>
            <a:ext cx="1005840" cy="201168"/>
          </a:xfrm>
          <a:prstGeom prst="rect">
            <a:avLst/>
          </a:prstGeom>
          <a:noFill/>
        </p:spPr>
        <p:txBody>
          <a:bodyPr wrap="square">
            <a:spAutoFit/>
          </a:bodyPr>
          <a:lstStyle/>
          <a:p>
            <a:pPr algn="l"/>
            <a:r>
              <a:rPr sz="800" b="0" i="1">
                <a:solidFill>
                  <a:srgbClr val="A0AAB8"/>
                </a:solidFill>
                <a:latin typeface="Calibri"/>
              </a:rPr>
              <a:t>APG chains</a:t>
            </a:r>
          </a:p>
        </p:txBody>
      </p:sp>
      <p:sp>
        <p:nvSpPr>
          <p:cNvPr id="24" name="Rectangle 23"/>
          <p:cNvSpPr/>
          <p:nvPr/>
        </p:nvSpPr>
        <p:spPr>
          <a:xfrm>
            <a:off x="548640" y="3803904"/>
            <a:ext cx="1371600" cy="530352"/>
          </a:xfrm>
          <a:prstGeom prst="rect">
            <a:avLst/>
          </a:prstGeom>
          <a:solidFill>
            <a:srgbClr val="061806"/>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3840480"/>
            <a:ext cx="1298448" cy="457200"/>
          </a:xfrm>
          <a:prstGeom prst="rect">
            <a:avLst/>
          </a:prstGeom>
          <a:noFill/>
        </p:spPr>
        <p:txBody>
          <a:bodyPr wrap="square">
            <a:spAutoFit/>
          </a:bodyPr>
          <a:lstStyle/>
          <a:p>
            <a:pPr algn="ctr"/>
            <a:r>
              <a:rPr sz="850" b="0" i="0">
                <a:solidFill>
                  <a:srgbClr val="39FF14"/>
                </a:solidFill>
                <a:latin typeface="Calibri"/>
              </a:rPr>
              <a:t>🔍 EXPLORE
Spawn Discovery
Agent</a:t>
            </a:r>
          </a:p>
        </p:txBody>
      </p:sp>
      <p:sp>
        <p:nvSpPr>
          <p:cNvPr id="26" name="Rectangle 25"/>
          <p:cNvSpPr/>
          <p:nvPr/>
        </p:nvSpPr>
        <p:spPr>
          <a:xfrm>
            <a:off x="2148839" y="3803904"/>
            <a:ext cx="1417320" cy="530352"/>
          </a:xfrm>
          <a:prstGeom prst="rect">
            <a:avLst/>
          </a:prstGeom>
          <a:solidFill>
            <a:srgbClr val="161400"/>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185415" y="3840480"/>
            <a:ext cx="1344168" cy="457200"/>
          </a:xfrm>
          <a:prstGeom prst="rect">
            <a:avLst/>
          </a:prstGeom>
          <a:noFill/>
        </p:spPr>
        <p:txBody>
          <a:bodyPr wrap="square">
            <a:spAutoFit/>
          </a:bodyPr>
          <a:lstStyle/>
          <a:p>
            <a:pPr algn="ctr"/>
            <a:r>
              <a:rPr sz="850" b="0" i="0">
                <a:solidFill>
                  <a:srgbClr val="FFD700"/>
                </a:solidFill>
                <a:latin typeface="Calibri"/>
              </a:rPr>
              <a:t>⚡ PARALLEL
Weigh priority
both paths</a:t>
            </a:r>
          </a:p>
        </p:txBody>
      </p:sp>
      <p:sp>
        <p:nvSpPr>
          <p:cNvPr id="28" name="Rectangle 27"/>
          <p:cNvSpPr/>
          <p:nvPr/>
        </p:nvSpPr>
        <p:spPr>
          <a:xfrm>
            <a:off x="3703320" y="3803904"/>
            <a:ext cx="1417320" cy="530352"/>
          </a:xfrm>
          <a:prstGeom prst="rect">
            <a:avLst/>
          </a:prstGeom>
          <a:solidFill>
            <a:srgbClr val="200606"/>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739896" y="3840480"/>
            <a:ext cx="1344168" cy="457200"/>
          </a:xfrm>
          <a:prstGeom prst="rect">
            <a:avLst/>
          </a:prstGeom>
          <a:noFill/>
        </p:spPr>
        <p:txBody>
          <a:bodyPr wrap="square">
            <a:spAutoFit/>
          </a:bodyPr>
          <a:lstStyle/>
          <a:p>
            <a:pPr algn="ctr"/>
            <a:r>
              <a:rPr sz="850" b="0" i="0">
                <a:solidFill>
                  <a:srgbClr val="FF4545"/>
                </a:solidFill>
                <a:latin typeface="Calibri"/>
              </a:rPr>
              <a:t>🔴 VALIDATE
Spawn Validation
Agent</a:t>
            </a:r>
          </a:p>
        </p:txBody>
      </p:sp>
      <p:sp>
        <p:nvSpPr>
          <p:cNvPr id="30" name="Rectangle 29"/>
          <p:cNvSpPr/>
          <p:nvPr/>
        </p:nvSpPr>
        <p:spPr>
          <a:xfrm>
            <a:off x="5212080" y="3803904"/>
            <a:ext cx="1554480" cy="530352"/>
          </a:xfrm>
          <a:prstGeom prst="rect">
            <a:avLst/>
          </a:prstGeom>
          <a:solidFill>
            <a:srgbClr val="100826"/>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48656" y="3840480"/>
            <a:ext cx="1481328" cy="457200"/>
          </a:xfrm>
          <a:prstGeom prst="rect">
            <a:avLst/>
          </a:prstGeom>
          <a:noFill/>
        </p:spPr>
        <p:txBody>
          <a:bodyPr wrap="square">
            <a:spAutoFit/>
          </a:bodyPr>
          <a:lstStyle/>
          <a:p>
            <a:pPr algn="ctr"/>
            <a:r>
              <a:rPr sz="850" b="0" i="0">
                <a:solidFill>
                  <a:srgbClr val="BD93F9"/>
                </a:solidFill>
                <a:latin typeface="Calibri"/>
              </a:rPr>
              <a:t>🛡️ CYCLE GUARD
Repeated calls?
Fixation detected?</a:t>
            </a:r>
          </a:p>
        </p:txBody>
      </p:sp>
      <p:sp>
        <p:nvSpPr>
          <p:cNvPr id="32" name="TextBox 31"/>
          <p:cNvSpPr txBox="1"/>
          <p:nvPr/>
        </p:nvSpPr>
        <p:spPr>
          <a:xfrm>
            <a:off x="5029200" y="4041648"/>
            <a:ext cx="640080" cy="201168"/>
          </a:xfrm>
          <a:prstGeom prst="rect">
            <a:avLst/>
          </a:prstGeom>
          <a:noFill/>
        </p:spPr>
        <p:txBody>
          <a:bodyPr wrap="square">
            <a:spAutoFit/>
          </a:bodyPr>
          <a:lstStyle/>
          <a:p>
            <a:pPr algn="l"/>
            <a:r>
              <a:rPr sz="750" b="0" i="1">
                <a:solidFill>
                  <a:srgbClr val="A0AAB8"/>
                </a:solidFill>
                <a:latin typeface="Calibri"/>
              </a:rPr>
              <a:t>guard</a:t>
            </a:r>
          </a:p>
        </p:txBody>
      </p:sp>
      <p:sp>
        <p:nvSpPr>
          <p:cNvPr id="33" name="TextBox 32"/>
          <p:cNvSpPr txBox="1"/>
          <p:nvPr/>
        </p:nvSpPr>
        <p:spPr>
          <a:xfrm>
            <a:off x="3474720" y="4041648"/>
            <a:ext cx="731520" cy="201168"/>
          </a:xfrm>
          <a:prstGeom prst="rect">
            <a:avLst/>
          </a:prstGeom>
          <a:noFill/>
        </p:spPr>
        <p:txBody>
          <a:bodyPr wrap="square">
            <a:spAutoFit/>
          </a:bodyPr>
          <a:lstStyle/>
          <a:p>
            <a:pPr algn="l"/>
            <a:r>
              <a:rPr sz="750" b="0" i="1">
                <a:solidFill>
                  <a:srgbClr val="A0AAB8"/>
                </a:solidFill>
                <a:latin typeface="Calibri"/>
              </a:rPr>
              <a:t>normal</a:t>
            </a:r>
          </a:p>
        </p:txBody>
      </p:sp>
      <p:sp>
        <p:nvSpPr>
          <p:cNvPr id="34" name="TextBox 33"/>
          <p:cNvSpPr txBox="1"/>
          <p:nvPr/>
        </p:nvSpPr>
        <p:spPr>
          <a:xfrm>
            <a:off x="6126480" y="3931920"/>
            <a:ext cx="1645920" cy="292608"/>
          </a:xfrm>
          <a:prstGeom prst="rect">
            <a:avLst/>
          </a:prstGeom>
          <a:noFill/>
        </p:spPr>
        <p:txBody>
          <a:bodyPr wrap="square">
            <a:spAutoFit/>
          </a:bodyPr>
          <a:lstStyle/>
          <a:p>
            <a:pPr algn="l"/>
            <a:r>
              <a:rPr sz="800" b="0" i="1">
                <a:solidFill>
                  <a:srgbClr val="FF4545"/>
                </a:solidFill>
                <a:latin typeface="Calibri"/>
              </a:rPr>
              <a:t>REFLECTOR or
FORCE RE-PLAN</a:t>
            </a:r>
          </a:p>
        </p:txBody>
      </p:sp>
      <p:sp>
        <p:nvSpPr>
          <p:cNvPr id="35" name="Rectangle 34"/>
          <p:cNvSpPr/>
          <p:nvPr/>
        </p:nvSpPr>
        <p:spPr>
          <a:xfrm>
            <a:off x="1508760" y="4498848"/>
            <a:ext cx="3291840" cy="384048"/>
          </a:xfrm>
          <a:prstGeom prst="rect">
            <a:avLst/>
          </a:prstGeom>
          <a:solidFill>
            <a:srgbClr val="100A00"/>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545336" y="4535424"/>
            <a:ext cx="3218688" cy="310896"/>
          </a:xfrm>
          <a:prstGeom prst="rect">
            <a:avLst/>
          </a:prstGeom>
          <a:noFill/>
        </p:spPr>
        <p:txBody>
          <a:bodyPr wrap="square">
            <a:spAutoFit/>
          </a:bodyPr>
          <a:lstStyle/>
          <a:p>
            <a:pPr algn="ctr"/>
            <a:r>
              <a:rPr sz="850" b="0" i="0">
                <a:solidFill>
                  <a:srgbClr val="FFD700"/>
                </a:solidFill>
                <a:latin typeface="Calibri"/>
              </a:rPr>
              <a:t>⚡ AGENT EXECUTES
Tools → Risk Gate → ASG writes</a:t>
            </a:r>
          </a:p>
        </p:txBody>
      </p:sp>
      <p:sp>
        <p:nvSpPr>
          <p:cNvPr id="37" name="Rectangle 36"/>
          <p:cNvSpPr/>
          <p:nvPr/>
        </p:nvSpPr>
        <p:spPr>
          <a:xfrm>
            <a:off x="438912" y="5010912"/>
            <a:ext cx="1645920" cy="512064"/>
          </a:xfrm>
          <a:prstGeom prst="rect">
            <a:avLst/>
          </a:prstGeom>
          <a:solidFill>
            <a:srgbClr val="041604"/>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488" y="5047488"/>
            <a:ext cx="1572768" cy="438912"/>
          </a:xfrm>
          <a:prstGeom prst="rect">
            <a:avLst/>
          </a:prstGeom>
          <a:noFill/>
        </p:spPr>
        <p:txBody>
          <a:bodyPr wrap="square">
            <a:spAutoFit/>
          </a:bodyPr>
          <a:lstStyle/>
          <a:p>
            <a:pPr algn="ctr"/>
            <a:r>
              <a:rPr sz="850" b="0" i="0">
                <a:solidFill>
                  <a:srgbClr val="39FF14"/>
                </a:solidFill>
                <a:latin typeface="Calibri"/>
              </a:rPr>
              <a:t>👤 UPDATE ASG
New nodes + edges
from returning agent</a:t>
            </a:r>
          </a:p>
        </p:txBody>
      </p:sp>
      <p:sp>
        <p:nvSpPr>
          <p:cNvPr id="39" name="Rectangle 38"/>
          <p:cNvSpPr/>
          <p:nvPr/>
        </p:nvSpPr>
        <p:spPr>
          <a:xfrm>
            <a:off x="2286000" y="5010912"/>
            <a:ext cx="1645920" cy="512064"/>
          </a:xfrm>
          <a:prstGeom prst="rect">
            <a:avLst/>
          </a:prstGeom>
          <a:solidFill>
            <a:srgbClr val="141000"/>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322576" y="5047488"/>
            <a:ext cx="1572768" cy="438912"/>
          </a:xfrm>
          <a:prstGeom prst="rect">
            <a:avLst/>
          </a:prstGeom>
          <a:noFill/>
        </p:spPr>
        <p:txBody>
          <a:bodyPr wrap="square">
            <a:spAutoFit/>
          </a:bodyPr>
          <a:lstStyle/>
          <a:p>
            <a:pPr algn="ctr"/>
            <a:r>
              <a:rPr sz="850" b="0" i="0">
                <a:solidFill>
                  <a:srgbClr val="FFD700"/>
                </a:solidFill>
                <a:latin typeface="Calibri"/>
              </a:rPr>
              <a:t>👤 UPDATE APG
Chain status changed?
Re-prioritize queue</a:t>
            </a:r>
          </a:p>
        </p:txBody>
      </p:sp>
      <p:sp>
        <p:nvSpPr>
          <p:cNvPr id="41" name="Rectangle 40"/>
          <p:cNvSpPr/>
          <p:nvPr/>
        </p:nvSpPr>
        <p:spPr>
          <a:xfrm>
            <a:off x="4133088" y="5010912"/>
            <a:ext cx="1737360" cy="512064"/>
          </a:xfrm>
          <a:prstGeom prst="rect">
            <a:avLst/>
          </a:prstGeom>
          <a:solidFill>
            <a:srgbClr val="041814"/>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69664" y="5047488"/>
            <a:ext cx="1664208" cy="438912"/>
          </a:xfrm>
          <a:prstGeom prst="rect">
            <a:avLst/>
          </a:prstGeom>
          <a:noFill/>
        </p:spPr>
        <p:txBody>
          <a:bodyPr wrap="square">
            <a:spAutoFit/>
          </a:bodyPr>
          <a:lstStyle/>
          <a:p>
            <a:pPr algn="ctr"/>
            <a:r>
              <a:rPr sz="850" b="0" i="0">
                <a:solidFill>
                  <a:srgbClr val="FFFFFF"/>
                </a:solidFill>
                <a:latin typeface="Calibri"/>
              </a:rPr>
              <a:t>✅ TERM CHECK
ASG exhausted?
AND APG resolved?</a:t>
            </a:r>
          </a:p>
        </p:txBody>
      </p:sp>
      <p:sp>
        <p:nvSpPr>
          <p:cNvPr id="43" name="TextBox 42"/>
          <p:cNvSpPr txBox="1"/>
          <p:nvPr/>
        </p:nvSpPr>
        <p:spPr>
          <a:xfrm>
            <a:off x="4389120" y="5541264"/>
            <a:ext cx="1371600" cy="201168"/>
          </a:xfrm>
          <a:prstGeom prst="rect">
            <a:avLst/>
          </a:prstGeom>
          <a:noFill/>
        </p:spPr>
        <p:txBody>
          <a:bodyPr wrap="square">
            <a:spAutoFit/>
          </a:bodyPr>
          <a:lstStyle/>
          <a:p>
            <a:pPr algn="l"/>
            <a:r>
              <a:rPr sz="800" b="0" i="1">
                <a:solidFill>
                  <a:srgbClr val="39FF14"/>
                </a:solidFill>
                <a:latin typeface="Calibri"/>
              </a:rPr>
              <a:t>yes — both true</a:t>
            </a:r>
          </a:p>
        </p:txBody>
      </p:sp>
      <p:sp>
        <p:nvSpPr>
          <p:cNvPr id="44" name="Rectangle 43"/>
          <p:cNvSpPr/>
          <p:nvPr/>
        </p:nvSpPr>
        <p:spPr>
          <a:xfrm>
            <a:off x="5394960" y="5760720"/>
            <a:ext cx="2377440" cy="438912"/>
          </a:xfrm>
          <a:prstGeom prst="rect">
            <a:avLst/>
          </a:prstGeom>
          <a:solidFill>
            <a:srgbClr val="042010"/>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0" y="5797296"/>
            <a:ext cx="2194560" cy="365760"/>
          </a:xfrm>
          <a:prstGeom prst="rect">
            <a:avLst/>
          </a:prstGeom>
          <a:noFill/>
        </p:spPr>
        <p:txBody>
          <a:bodyPr wrap="square">
            <a:spAutoFit/>
          </a:bodyPr>
          <a:lstStyle/>
          <a:p>
            <a:pPr algn="ctr"/>
            <a:r>
              <a:rPr sz="850" b="1" i="0">
                <a:solidFill>
                  <a:srgbClr val="39FF14"/>
                </a:solidFill>
                <a:latin typeface="Calibri"/>
              </a:rPr>
              <a:t>📝 Mission
complete —
spawn report</a:t>
            </a:r>
          </a:p>
        </p:txBody>
      </p:sp>
      <p:sp>
        <p:nvSpPr>
          <p:cNvPr id="46" name="TextBox 45"/>
          <p:cNvSpPr txBox="1"/>
          <p:nvPr/>
        </p:nvSpPr>
        <p:spPr>
          <a:xfrm>
            <a:off x="384048" y="6437376"/>
            <a:ext cx="7598664" cy="219456"/>
          </a:xfrm>
          <a:prstGeom prst="rect">
            <a:avLst/>
          </a:prstGeom>
          <a:noFill/>
        </p:spPr>
        <p:txBody>
          <a:bodyPr wrap="square">
            <a:spAutoFit/>
          </a:bodyPr>
          <a:lstStyle/>
          <a:p>
            <a:pPr algn="l"/>
            <a:r>
              <a:rPr sz="800" b="0" i="1">
                <a:solidFill>
                  <a:srgbClr val="A0AAB8"/>
                </a:solidFill>
                <a:latin typeface="Calibri"/>
              </a:rPr>
              <a:t>Every Commander decision traces to a graph event.  Every re-plan is triggered by a node write.  Mission ends only when the graph demands it — not when a timer fires.</a:t>
            </a:r>
          </a:p>
        </p:txBody>
      </p:sp>
      <p:sp>
        <p:nvSpPr>
          <p:cNvPr id="47" name="Rectangle 46"/>
          <p:cNvSpPr/>
          <p:nvPr/>
        </p:nvSpPr>
        <p:spPr>
          <a:xfrm>
            <a:off x="8229600" y="914400"/>
            <a:ext cx="3824935" cy="5779008"/>
          </a:xfrm>
          <a:prstGeom prst="rect">
            <a:avLst/>
          </a:prstGeom>
          <a:solidFill>
            <a:srgbClr val="060818"/>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339328" y="987552"/>
            <a:ext cx="3642055" cy="237744"/>
          </a:xfrm>
          <a:prstGeom prst="rect">
            <a:avLst/>
          </a:prstGeom>
          <a:noFill/>
        </p:spPr>
        <p:txBody>
          <a:bodyPr wrap="square">
            <a:spAutoFit/>
          </a:bodyPr>
          <a:lstStyle/>
          <a:p>
            <a:pPr algn="l"/>
            <a:r>
              <a:rPr sz="1100" b="1" i="0">
                <a:solidFill>
                  <a:srgbClr val="FFFFFF"/>
                </a:solidFill>
                <a:latin typeface="Calibri"/>
              </a:rPr>
              <a:t>What Triggers a Re-Plan</a:t>
            </a:r>
          </a:p>
        </p:txBody>
      </p:sp>
      <p:sp>
        <p:nvSpPr>
          <p:cNvPr id="49" name="Rectangle 48"/>
          <p:cNvSpPr/>
          <p:nvPr/>
        </p:nvSpPr>
        <p:spPr>
          <a:xfrm>
            <a:off x="8302752" y="1280160"/>
            <a:ext cx="3678631" cy="237744"/>
          </a:xfrm>
          <a:prstGeom prst="rect">
            <a:avLst/>
          </a:prstGeom>
          <a:solidFill>
            <a:srgbClr val="0616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57616" y="1316736"/>
            <a:ext cx="3587191" cy="164592"/>
          </a:xfrm>
          <a:prstGeom prst="rect">
            <a:avLst/>
          </a:prstGeom>
          <a:noFill/>
        </p:spPr>
        <p:txBody>
          <a:bodyPr wrap="square">
            <a:spAutoFit/>
          </a:bodyPr>
          <a:lstStyle/>
          <a:p>
            <a:pPr algn="l"/>
            <a:r>
              <a:rPr sz="900" b="1" i="0">
                <a:solidFill>
                  <a:srgbClr val="39FF14"/>
                </a:solidFill>
                <a:latin typeface="Calibri"/>
              </a:rPr>
              <a:t>ASG Trigger Events</a:t>
            </a:r>
          </a:p>
        </p:txBody>
      </p:sp>
      <p:sp>
        <p:nvSpPr>
          <p:cNvPr id="51" name="Rectangle 50"/>
          <p:cNvSpPr/>
          <p:nvPr/>
        </p:nvSpPr>
        <p:spPr>
          <a:xfrm>
            <a:off x="8302752" y="1554480"/>
            <a:ext cx="3678631" cy="219456"/>
          </a:xfrm>
          <a:prstGeom prst="rect">
            <a:avLst/>
          </a:prstGeom>
          <a:solidFill>
            <a:srgbClr val="040C04"/>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57616" y="1581912"/>
            <a:ext cx="3587191" cy="164592"/>
          </a:xfrm>
          <a:prstGeom prst="rect">
            <a:avLst/>
          </a:prstGeom>
          <a:noFill/>
        </p:spPr>
        <p:txBody>
          <a:bodyPr wrap="square">
            <a:spAutoFit/>
          </a:bodyPr>
          <a:lstStyle/>
          <a:p>
            <a:pPr algn="l"/>
            <a:r>
              <a:rPr sz="800" b="0" i="0">
                <a:solidFill>
                  <a:srgbClr val="FFFFFF"/>
                </a:solidFill>
                <a:latin typeface="Calibri"/>
              </a:rPr>
              <a:t>🟩 New Vulnerability node → seed APG chain?</a:t>
            </a:r>
          </a:p>
        </p:txBody>
      </p:sp>
      <p:sp>
        <p:nvSpPr>
          <p:cNvPr id="53" name="Rectangle 52"/>
          <p:cNvSpPr/>
          <p:nvPr/>
        </p:nvSpPr>
        <p:spPr>
          <a:xfrm>
            <a:off x="8302752" y="1810512"/>
            <a:ext cx="3678631" cy="219456"/>
          </a:xfrm>
          <a:prstGeom prst="rect">
            <a:avLst/>
          </a:prstGeom>
          <a:solidFill>
            <a:srgbClr val="040C04"/>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357616" y="1837944"/>
            <a:ext cx="3587191" cy="164592"/>
          </a:xfrm>
          <a:prstGeom prst="rect">
            <a:avLst/>
          </a:prstGeom>
          <a:noFill/>
        </p:spPr>
        <p:txBody>
          <a:bodyPr wrap="square">
            <a:spAutoFit/>
          </a:bodyPr>
          <a:lstStyle/>
          <a:p>
            <a:pPr algn="l"/>
            <a:r>
              <a:rPr sz="800" b="0" i="0">
                <a:solidFill>
                  <a:srgbClr val="FFFFFF"/>
                </a:solidFill>
                <a:latin typeface="Calibri"/>
              </a:rPr>
              <a:t>🟩 New Technology node → spawn Research Agent</a:t>
            </a:r>
          </a:p>
        </p:txBody>
      </p:sp>
      <p:sp>
        <p:nvSpPr>
          <p:cNvPr id="55" name="Rectangle 54"/>
          <p:cNvSpPr/>
          <p:nvPr/>
        </p:nvSpPr>
        <p:spPr>
          <a:xfrm>
            <a:off x="8302752" y="2066544"/>
            <a:ext cx="3678631" cy="219456"/>
          </a:xfrm>
          <a:prstGeom prst="rect">
            <a:avLst/>
          </a:prstGeom>
          <a:solidFill>
            <a:srgbClr val="040C04"/>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57616" y="2093976"/>
            <a:ext cx="3587191" cy="164592"/>
          </a:xfrm>
          <a:prstGeom prst="rect">
            <a:avLst/>
          </a:prstGeom>
          <a:noFill/>
        </p:spPr>
        <p:txBody>
          <a:bodyPr wrap="square">
            <a:spAutoFit/>
          </a:bodyPr>
          <a:lstStyle/>
          <a:p>
            <a:pPr algn="l"/>
            <a:r>
              <a:rPr sz="800" b="0" i="0">
                <a:solidFill>
                  <a:srgbClr val="FFFFFF"/>
                </a:solidFill>
                <a:latin typeface="Calibri"/>
              </a:rPr>
              <a:t>🟩 New Endpoint node → probe with Analysis Agent</a:t>
            </a:r>
          </a:p>
        </p:txBody>
      </p:sp>
      <p:sp>
        <p:nvSpPr>
          <p:cNvPr id="57" name="Rectangle 56"/>
          <p:cNvSpPr/>
          <p:nvPr/>
        </p:nvSpPr>
        <p:spPr>
          <a:xfrm>
            <a:off x="8302752" y="2359152"/>
            <a:ext cx="3678631" cy="237744"/>
          </a:xfrm>
          <a:prstGeom prst="rect">
            <a:avLst/>
          </a:prstGeom>
          <a:solidFill>
            <a:srgbClr val="181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357616" y="2395728"/>
            <a:ext cx="3587191" cy="164592"/>
          </a:xfrm>
          <a:prstGeom prst="rect">
            <a:avLst/>
          </a:prstGeom>
          <a:noFill/>
        </p:spPr>
        <p:txBody>
          <a:bodyPr wrap="square">
            <a:spAutoFit/>
          </a:bodyPr>
          <a:lstStyle/>
          <a:p>
            <a:pPr algn="l"/>
            <a:r>
              <a:rPr sz="900" b="1" i="0">
                <a:solidFill>
                  <a:srgbClr val="FFD700"/>
                </a:solidFill>
                <a:latin typeface="Calibri"/>
              </a:rPr>
              <a:t>APG Trigger Events</a:t>
            </a:r>
          </a:p>
        </p:txBody>
      </p:sp>
      <p:sp>
        <p:nvSpPr>
          <p:cNvPr id="59" name="Rectangle 58"/>
          <p:cNvSpPr/>
          <p:nvPr/>
        </p:nvSpPr>
        <p:spPr>
          <a:xfrm>
            <a:off x="8302752" y="2633472"/>
            <a:ext cx="3678631" cy="219456"/>
          </a:xfrm>
          <a:prstGeom prst="rect">
            <a:avLst/>
          </a:prstGeom>
          <a:solidFill>
            <a:srgbClr val="0C0800"/>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57616" y="2660904"/>
            <a:ext cx="3587191" cy="164592"/>
          </a:xfrm>
          <a:prstGeom prst="rect">
            <a:avLst/>
          </a:prstGeom>
          <a:noFill/>
        </p:spPr>
        <p:txBody>
          <a:bodyPr wrap="square">
            <a:spAutoFit/>
          </a:bodyPr>
          <a:lstStyle/>
          <a:p>
            <a:pPr algn="l"/>
            <a:r>
              <a:rPr sz="800" b="0" i="0">
                <a:solidFill>
                  <a:srgbClr val="FFD700"/>
                </a:solidFill>
                <a:latin typeface="Calibri"/>
              </a:rPr>
              <a:t>☑ Chain → PARTIALLY_VALIDATED → re-rank all</a:t>
            </a:r>
          </a:p>
        </p:txBody>
      </p:sp>
      <p:sp>
        <p:nvSpPr>
          <p:cNvPr id="61" name="Rectangle 60"/>
          <p:cNvSpPr/>
          <p:nvPr/>
        </p:nvSpPr>
        <p:spPr>
          <a:xfrm>
            <a:off x="8302752" y="2889504"/>
            <a:ext cx="3678631" cy="219456"/>
          </a:xfrm>
          <a:prstGeom prst="rect">
            <a:avLst/>
          </a:prstGeom>
          <a:solidFill>
            <a:srgbClr val="0C0800"/>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357616" y="2916936"/>
            <a:ext cx="3587191" cy="164592"/>
          </a:xfrm>
          <a:prstGeom prst="rect">
            <a:avLst/>
          </a:prstGeom>
          <a:noFill/>
        </p:spPr>
        <p:txBody>
          <a:bodyPr wrap="square">
            <a:spAutoFit/>
          </a:bodyPr>
          <a:lstStyle/>
          <a:p>
            <a:pPr algn="l"/>
            <a:r>
              <a:rPr sz="800" b="0" i="0">
                <a:solidFill>
                  <a:srgbClr val="39FF14"/>
                </a:solidFill>
                <a:latin typeface="Calibri"/>
              </a:rPr>
              <a:t>✅ Chain → VALIDATED → pursue next chain</a:t>
            </a:r>
          </a:p>
        </p:txBody>
      </p:sp>
      <p:sp>
        <p:nvSpPr>
          <p:cNvPr id="63" name="Rectangle 62"/>
          <p:cNvSpPr/>
          <p:nvPr/>
        </p:nvSpPr>
        <p:spPr>
          <a:xfrm>
            <a:off x="8302752" y="3145536"/>
            <a:ext cx="3678631" cy="219456"/>
          </a:xfrm>
          <a:prstGeom prst="rect">
            <a:avLst/>
          </a:prstGeom>
          <a:solidFill>
            <a:srgbClr val="0C0800"/>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357616" y="3172968"/>
            <a:ext cx="3587191" cy="164592"/>
          </a:xfrm>
          <a:prstGeom prst="rect">
            <a:avLst/>
          </a:prstGeom>
          <a:noFill/>
        </p:spPr>
        <p:txBody>
          <a:bodyPr wrap="square">
            <a:spAutoFit/>
          </a:bodyPr>
          <a:lstStyle/>
          <a:p>
            <a:pPr algn="l"/>
            <a:r>
              <a:rPr sz="800" b="0" i="0">
                <a:solidFill>
                  <a:srgbClr val="FF4545"/>
                </a:solidFill>
                <a:latin typeface="Calibri"/>
              </a:rPr>
              <a:t>❌ Chain → RULED_OUT → remove, re-prioritize</a:t>
            </a:r>
          </a:p>
        </p:txBody>
      </p:sp>
      <p:sp>
        <p:nvSpPr>
          <p:cNvPr id="65" name="Rectangle 64"/>
          <p:cNvSpPr/>
          <p:nvPr/>
        </p:nvSpPr>
        <p:spPr>
          <a:xfrm>
            <a:off x="8302752" y="3438144"/>
            <a:ext cx="3678631" cy="237744"/>
          </a:xfrm>
          <a:prstGeom prst="rect">
            <a:avLst/>
          </a:prstGeom>
          <a:solidFill>
            <a:srgbClr val="140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57616" y="3474720"/>
            <a:ext cx="3587191" cy="164592"/>
          </a:xfrm>
          <a:prstGeom prst="rect">
            <a:avLst/>
          </a:prstGeom>
          <a:noFill/>
        </p:spPr>
        <p:txBody>
          <a:bodyPr wrap="square">
            <a:spAutoFit/>
          </a:bodyPr>
          <a:lstStyle/>
          <a:p>
            <a:pPr algn="l"/>
            <a:r>
              <a:rPr sz="900" b="1" i="0">
                <a:solidFill>
                  <a:srgbClr val="BD93F9"/>
                </a:solidFill>
                <a:latin typeface="Calibri"/>
              </a:rPr>
              <a:t>Cycle Guard Events</a:t>
            </a:r>
          </a:p>
        </p:txBody>
      </p:sp>
      <p:sp>
        <p:nvSpPr>
          <p:cNvPr id="67" name="Rectangle 66"/>
          <p:cNvSpPr/>
          <p:nvPr/>
        </p:nvSpPr>
        <p:spPr>
          <a:xfrm>
            <a:off x="8302752" y="3712464"/>
            <a:ext cx="3678631" cy="219456"/>
          </a:xfrm>
          <a:prstGeom prst="rect">
            <a:avLst/>
          </a:prstGeom>
          <a:solidFill>
            <a:srgbClr val="0A0418"/>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357616" y="3739896"/>
            <a:ext cx="3587191" cy="164592"/>
          </a:xfrm>
          <a:prstGeom prst="rect">
            <a:avLst/>
          </a:prstGeom>
          <a:noFill/>
        </p:spPr>
        <p:txBody>
          <a:bodyPr wrap="square">
            <a:spAutoFit/>
          </a:bodyPr>
          <a:lstStyle/>
          <a:p>
            <a:pPr algn="l"/>
            <a:r>
              <a:rPr sz="800" b="0" i="0">
                <a:solidFill>
                  <a:srgbClr val="FFFFFF"/>
                </a:solidFill>
                <a:latin typeface="Calibri"/>
              </a:rPr>
              <a:t>🔁 Same tool call repeated ×3 → Force re-plan</a:t>
            </a:r>
          </a:p>
        </p:txBody>
      </p:sp>
      <p:sp>
        <p:nvSpPr>
          <p:cNvPr id="69" name="Rectangle 68"/>
          <p:cNvSpPr/>
          <p:nvPr/>
        </p:nvSpPr>
        <p:spPr>
          <a:xfrm>
            <a:off x="8302752" y="3968496"/>
            <a:ext cx="3678631" cy="219456"/>
          </a:xfrm>
          <a:prstGeom prst="rect">
            <a:avLst/>
          </a:prstGeom>
          <a:solidFill>
            <a:srgbClr val="0A0418"/>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357616" y="3995928"/>
            <a:ext cx="3587191" cy="164592"/>
          </a:xfrm>
          <a:prstGeom prst="rect">
            <a:avLst/>
          </a:prstGeom>
          <a:noFill/>
        </p:spPr>
        <p:txBody>
          <a:bodyPr wrap="square">
            <a:spAutoFit/>
          </a:bodyPr>
          <a:lstStyle/>
          <a:p>
            <a:pPr algn="l"/>
            <a:r>
              <a:rPr sz="800" b="0" i="0">
                <a:solidFill>
                  <a:srgbClr val="FFFFFF"/>
                </a:solidFill>
                <a:latin typeface="Calibri"/>
              </a:rPr>
              <a:t>💥 Repeated different failures → Reflector</a:t>
            </a:r>
          </a:p>
        </p:txBody>
      </p:sp>
      <p:sp>
        <p:nvSpPr>
          <p:cNvPr id="71" name="Rectangle 70"/>
          <p:cNvSpPr/>
          <p:nvPr/>
        </p:nvSpPr>
        <p:spPr>
          <a:xfrm>
            <a:off x="8302752" y="4242816"/>
            <a:ext cx="3678631" cy="237744"/>
          </a:xfrm>
          <a:prstGeom prst="rect">
            <a:avLst/>
          </a:prstGeom>
          <a:solidFill>
            <a:srgbClr val="0416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357616" y="4279392"/>
            <a:ext cx="3587191" cy="164592"/>
          </a:xfrm>
          <a:prstGeom prst="rect">
            <a:avLst/>
          </a:prstGeom>
          <a:noFill/>
        </p:spPr>
        <p:txBody>
          <a:bodyPr wrap="square">
            <a:spAutoFit/>
          </a:bodyPr>
          <a:lstStyle/>
          <a:p>
            <a:pPr algn="l"/>
            <a:r>
              <a:rPr sz="900" b="1" i="0">
                <a:solidFill>
                  <a:srgbClr val="39FF14"/>
                </a:solidFill>
                <a:latin typeface="Calibri"/>
              </a:rPr>
              <a:t>Dual Termination Condition</a:t>
            </a:r>
          </a:p>
        </p:txBody>
      </p:sp>
      <p:sp>
        <p:nvSpPr>
          <p:cNvPr id="73" name="Rectangle 72"/>
          <p:cNvSpPr/>
          <p:nvPr/>
        </p:nvSpPr>
        <p:spPr>
          <a:xfrm>
            <a:off x="8302752" y="4535424"/>
            <a:ext cx="1784451" cy="749808"/>
          </a:xfrm>
          <a:prstGeom prst="rect">
            <a:avLst/>
          </a:prstGeom>
          <a:solidFill>
            <a:srgbClr val="041404"/>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339328" y="4590288"/>
            <a:ext cx="1711299" cy="658368"/>
          </a:xfrm>
          <a:prstGeom prst="rect">
            <a:avLst/>
          </a:prstGeom>
          <a:noFill/>
        </p:spPr>
        <p:txBody>
          <a:bodyPr wrap="square">
            <a:spAutoFit/>
          </a:bodyPr>
          <a:lstStyle/>
          <a:p>
            <a:pPr algn="ctr"/>
            <a:r>
              <a:rPr sz="800" b="0" i="0">
                <a:solidFill>
                  <a:srgbClr val="FFFFFF"/>
                </a:solidFill>
                <a:latin typeface="Calibri"/>
              </a:rPr>
              <a:t>✅ ASG Exhausted
Every node investigated
by appropriate agent</a:t>
            </a:r>
          </a:p>
        </p:txBody>
      </p:sp>
      <p:sp>
        <p:nvSpPr>
          <p:cNvPr id="75" name="Rectangle 74"/>
          <p:cNvSpPr/>
          <p:nvPr/>
        </p:nvSpPr>
        <p:spPr>
          <a:xfrm>
            <a:off x="10142067" y="4535424"/>
            <a:ext cx="1784451" cy="749808"/>
          </a:xfrm>
          <a:prstGeom prst="rect">
            <a:avLst/>
          </a:prstGeom>
          <a:solidFill>
            <a:srgbClr val="041404"/>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178643" y="4590288"/>
            <a:ext cx="1711299" cy="658368"/>
          </a:xfrm>
          <a:prstGeom prst="rect">
            <a:avLst/>
          </a:prstGeom>
          <a:noFill/>
        </p:spPr>
        <p:txBody>
          <a:bodyPr wrap="square">
            <a:spAutoFit/>
          </a:bodyPr>
          <a:lstStyle/>
          <a:p>
            <a:pPr algn="ctr"/>
            <a:r>
              <a:rPr sz="800" b="0" i="0">
                <a:solidFill>
                  <a:srgbClr val="FFFFFF"/>
                </a:solidFill>
                <a:latin typeface="Calibri"/>
              </a:rPr>
              <a:t>✅ APG Resolved
All chains VALIDATED
or RULED_OUT</a:t>
            </a:r>
          </a:p>
        </p:txBody>
      </p:sp>
      <p:sp>
        <p:nvSpPr>
          <p:cNvPr id="77" name="TextBox 76"/>
          <p:cNvSpPr txBox="1"/>
          <p:nvPr/>
        </p:nvSpPr>
        <p:spPr>
          <a:xfrm>
            <a:off x="10014051" y="4736592"/>
            <a:ext cx="201168" cy="402336"/>
          </a:xfrm>
          <a:prstGeom prst="rect">
            <a:avLst/>
          </a:prstGeom>
          <a:noFill/>
        </p:spPr>
        <p:txBody>
          <a:bodyPr wrap="square">
            <a:spAutoFit/>
          </a:bodyPr>
          <a:lstStyle/>
          <a:p>
            <a:pPr algn="ctr"/>
            <a:r>
              <a:rPr sz="900" b="1" i="0">
                <a:solidFill>
                  <a:srgbClr val="FFD700"/>
                </a:solidFill>
                <a:latin typeface="Calibri"/>
              </a:rPr>
              <a:t>A
N
D</a:t>
            </a:r>
          </a:p>
        </p:txBody>
      </p:sp>
      <p:sp>
        <p:nvSpPr>
          <p:cNvPr id="78" name="Rectangle 77"/>
          <p:cNvSpPr/>
          <p:nvPr/>
        </p:nvSpPr>
        <p:spPr>
          <a:xfrm>
            <a:off x="8302752" y="5340096"/>
            <a:ext cx="3678631" cy="310896"/>
          </a:xfrm>
          <a:prstGeom prst="rect">
            <a:avLst/>
          </a:prstGeom>
          <a:solidFill>
            <a:srgbClr val="042210"/>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357616" y="5394960"/>
            <a:ext cx="3587191" cy="219456"/>
          </a:xfrm>
          <a:prstGeom prst="rect">
            <a:avLst/>
          </a:prstGeom>
          <a:noFill/>
        </p:spPr>
        <p:txBody>
          <a:bodyPr wrap="square">
            <a:spAutoFit/>
          </a:bodyPr>
          <a:lstStyle/>
          <a:p>
            <a:pPr algn="ctr"/>
            <a:r>
              <a:rPr sz="900" b="1" i="0">
                <a:solidFill>
                  <a:srgbClr val="39FF14"/>
                </a:solidFill>
                <a:latin typeface="Calibri"/>
              </a:rPr>
              <a:t>✅ BOTH TRUE → Report Agent spawned → MISSION COMPLETE</a:t>
            </a:r>
          </a:p>
        </p:txBody>
      </p:sp>
      <p:sp>
        <p:nvSpPr>
          <p:cNvPr id="80" name="TextBox 79"/>
          <p:cNvSpPr txBox="1"/>
          <p:nvPr/>
        </p:nvSpPr>
        <p:spPr>
          <a:xfrm>
            <a:off x="8302752" y="5705856"/>
            <a:ext cx="3678631" cy="237744"/>
          </a:xfrm>
          <a:prstGeom prst="rect">
            <a:avLst/>
          </a:prstGeom>
          <a:noFill/>
        </p:spPr>
        <p:txBody>
          <a:bodyPr wrap="square">
            <a:spAutoFit/>
          </a:bodyPr>
          <a:lstStyle/>
          <a:p>
            <a:pPr algn="l"/>
            <a:r>
              <a:rPr sz="800" b="0" i="1">
                <a:solidFill>
                  <a:srgbClr val="FFD700"/>
                </a:solidFill>
                <a:latin typeface="Calibri"/>
              </a:rPr>
              <a:t>⚠️ Timer-based systems stop mid-chain.  CMatrix requires dual-graph resolution.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64008"/>
            <a:ext cx="7315200" cy="246888"/>
          </a:xfrm>
          <a:prstGeom prst="rect">
            <a:avLst/>
          </a:prstGeom>
          <a:solidFill>
            <a:srgbClr val="0A0D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4008"/>
            <a:ext cx="7315200" cy="246888"/>
          </a:xfrm>
          <a:prstGeom prst="rect">
            <a:avLst/>
          </a:prstGeom>
          <a:noFill/>
        </p:spPr>
        <p:txBody>
          <a:bodyPr wrap="square">
            <a:spAutoFit/>
          </a:bodyPr>
          <a:lstStyle/>
          <a:p>
            <a:pPr algn="l"/>
            <a:r>
              <a:rPr sz="1000" b="1" i="0">
                <a:solidFill>
                  <a:srgbClr val="00E5FF"/>
                </a:solidFill>
                <a:latin typeface="Calibri"/>
              </a:rPr>
              <a:t>AUTONOMOUS PLANNING CYCLE</a:t>
            </a:r>
          </a:p>
        </p:txBody>
      </p:sp>
      <p:sp>
        <p:nvSpPr>
          <p:cNvPr id="7" name="Rectangle 6"/>
          <p:cNvSpPr/>
          <p:nvPr/>
        </p:nvSpPr>
        <p:spPr>
          <a:xfrm>
            <a:off x="274320" y="283464"/>
            <a:ext cx="10515600" cy="457200"/>
          </a:xfrm>
          <a:prstGeom prst="rect">
            <a:avLst/>
          </a:prstGeom>
          <a:solidFill>
            <a:srgbClr val="0A0D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283464"/>
            <a:ext cx="10515600" cy="457200"/>
          </a:xfrm>
          <a:prstGeom prst="rect">
            <a:avLst/>
          </a:prstGeom>
          <a:noFill/>
        </p:spPr>
        <p:txBody>
          <a:bodyPr wrap="square">
            <a:spAutoFit/>
          </a:bodyPr>
          <a:lstStyle/>
          <a:p>
            <a:pPr algn="l"/>
            <a:r>
              <a:rPr sz="2400" b="1" i="0">
                <a:solidFill>
                  <a:srgbClr val="E8ECF4"/>
                </a:solidFill>
                <a:latin typeface="Calibri"/>
              </a:rPr>
              <a:t>Dual Termination &amp; Context Compaction</a:t>
            </a:r>
          </a:p>
        </p:txBody>
      </p:sp>
      <p:cxnSp>
        <p:nvCxnSpPr>
          <p:cNvPr id="9" name="Connector 8"/>
          <p:cNvCxnSpPr/>
          <p:nvPr/>
        </p:nvCxnSpPr>
        <p:spPr>
          <a:xfrm>
            <a:off x="6035040" y="914400"/>
            <a:ext cx="0" cy="5623560"/>
          </a:xfrm>
          <a:prstGeom prst="line">
            <a:avLst/>
          </a:prstGeom>
          <a:ln w="12700">
            <a:solidFill>
              <a:srgbClr val="23283A"/>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274320" y="932688"/>
            <a:ext cx="5577840" cy="274320"/>
          </a:xfrm>
          <a:prstGeom prst="rect">
            <a:avLst/>
          </a:prstGeom>
          <a:solidFill>
            <a:srgbClr val="0A0D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932688"/>
            <a:ext cx="3200400" cy="274320"/>
          </a:xfrm>
          <a:prstGeom prst="rect">
            <a:avLst/>
          </a:prstGeom>
          <a:noFill/>
        </p:spPr>
        <p:txBody>
          <a:bodyPr wrap="square">
            <a:spAutoFit/>
          </a:bodyPr>
          <a:lstStyle/>
          <a:p>
            <a:pPr algn="l"/>
            <a:r>
              <a:rPr sz="1300" b="1" i="0">
                <a:solidFill>
                  <a:srgbClr val="E8ECF4"/>
                </a:solidFill>
                <a:latin typeface="Calibri"/>
              </a:rPr>
              <a:t>DUAL TERMINATION CONDITION</a:t>
            </a:r>
          </a:p>
        </p:txBody>
      </p:sp>
      <p:sp>
        <p:nvSpPr>
          <p:cNvPr id="12" name="TextBox 11"/>
          <p:cNvSpPr txBox="1"/>
          <p:nvPr/>
        </p:nvSpPr>
        <p:spPr>
          <a:xfrm>
            <a:off x="3200400" y="932688"/>
            <a:ext cx="2651760" cy="274320"/>
          </a:xfrm>
          <a:prstGeom prst="rect">
            <a:avLst/>
          </a:prstGeom>
          <a:noFill/>
        </p:spPr>
        <p:txBody>
          <a:bodyPr wrap="square">
            <a:spAutoFit/>
          </a:bodyPr>
          <a:lstStyle/>
          <a:p>
            <a:pPr algn="l"/>
            <a:r>
              <a:rPr sz="1100" b="0" i="1">
                <a:solidFill>
                  <a:srgbClr val="A0AAB8"/>
                </a:solidFill>
                <a:latin typeface="Calibri"/>
              </a:rPr>
              <a:t>  —  why both must be true</a:t>
            </a:r>
          </a:p>
        </p:txBody>
      </p:sp>
      <p:sp>
        <p:nvSpPr>
          <p:cNvPr id="13" name="Rectangle 12"/>
          <p:cNvSpPr/>
          <p:nvPr/>
        </p:nvSpPr>
        <p:spPr>
          <a:xfrm>
            <a:off x="274320" y="1298448"/>
            <a:ext cx="2606040" cy="1207008"/>
          </a:xfrm>
          <a:prstGeom prst="rect">
            <a:avLst/>
          </a:prstGeom>
          <a:solidFill>
            <a:srgbClr val="0E1A06"/>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 y="1371600"/>
            <a:ext cx="2386584" cy="274320"/>
          </a:xfrm>
          <a:prstGeom prst="rect">
            <a:avLst/>
          </a:prstGeom>
          <a:noFill/>
        </p:spPr>
        <p:txBody>
          <a:bodyPr wrap="square">
            <a:spAutoFit/>
          </a:bodyPr>
          <a:lstStyle/>
          <a:p>
            <a:pPr algn="l"/>
            <a:r>
              <a:rPr sz="1150" b="1" i="0">
                <a:solidFill>
                  <a:srgbClr val="39FF14"/>
                </a:solidFill>
                <a:latin typeface="Calibri"/>
              </a:rPr>
              <a:t>ASG exhausted?</a:t>
            </a:r>
          </a:p>
        </p:txBody>
      </p:sp>
      <p:sp>
        <p:nvSpPr>
          <p:cNvPr id="15" name="TextBox 14"/>
          <p:cNvSpPr txBox="1"/>
          <p:nvPr/>
        </p:nvSpPr>
        <p:spPr>
          <a:xfrm>
            <a:off x="384048" y="1664208"/>
            <a:ext cx="2386584" cy="804672"/>
          </a:xfrm>
          <a:prstGeom prst="rect">
            <a:avLst/>
          </a:prstGeom>
          <a:noFill/>
        </p:spPr>
        <p:txBody>
          <a:bodyPr wrap="square">
            <a:spAutoFit/>
          </a:bodyPr>
          <a:lstStyle/>
          <a:p>
            <a:pPr algn="l"/>
            <a:r>
              <a:rPr sz="850" b="0" i="0">
                <a:solidFill>
                  <a:srgbClr val="A0AAB8"/>
                </a:solidFill>
                <a:latin typeface="Calibri"/>
              </a:rPr>
              <a:t>Every Domain, Host, Port, Service, Technology, Endpoint, and Parameter node has been investigated by the appropriate agent.</a:t>
            </a:r>
          </a:p>
        </p:txBody>
      </p:sp>
      <p:sp>
        <p:nvSpPr>
          <p:cNvPr id="16" name="Rectangle 15"/>
          <p:cNvSpPr/>
          <p:nvPr/>
        </p:nvSpPr>
        <p:spPr>
          <a:xfrm>
            <a:off x="3246120" y="1298448"/>
            <a:ext cx="2606040" cy="1207008"/>
          </a:xfrm>
          <a:prstGeom prst="rect">
            <a:avLst/>
          </a:prstGeom>
          <a:solidFill>
            <a:srgbClr val="1E1804"/>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55848" y="1371600"/>
            <a:ext cx="2386584" cy="274320"/>
          </a:xfrm>
          <a:prstGeom prst="rect">
            <a:avLst/>
          </a:prstGeom>
          <a:noFill/>
        </p:spPr>
        <p:txBody>
          <a:bodyPr wrap="square">
            <a:spAutoFit/>
          </a:bodyPr>
          <a:lstStyle/>
          <a:p>
            <a:pPr algn="l"/>
            <a:r>
              <a:rPr sz="1150" b="1" i="0">
                <a:solidFill>
                  <a:srgbClr val="FFD700"/>
                </a:solidFill>
                <a:latin typeface="Calibri"/>
              </a:rPr>
              <a:t>APG resolved?</a:t>
            </a:r>
          </a:p>
        </p:txBody>
      </p:sp>
      <p:sp>
        <p:nvSpPr>
          <p:cNvPr id="18" name="TextBox 17"/>
          <p:cNvSpPr txBox="1"/>
          <p:nvPr/>
        </p:nvSpPr>
        <p:spPr>
          <a:xfrm>
            <a:off x="3355848" y="1664208"/>
            <a:ext cx="2386584" cy="804672"/>
          </a:xfrm>
          <a:prstGeom prst="rect">
            <a:avLst/>
          </a:prstGeom>
          <a:noFill/>
        </p:spPr>
        <p:txBody>
          <a:bodyPr wrap="square">
            <a:spAutoFit/>
          </a:bodyPr>
          <a:lstStyle/>
          <a:p>
            <a:pPr algn="l"/>
            <a:r>
              <a:rPr sz="850" b="0" i="0">
                <a:solidFill>
                  <a:srgbClr val="A0AAB8"/>
                </a:solidFill>
                <a:latin typeface="Calibri"/>
              </a:rPr>
              <a:t>Every AttackChain sits in a terminal state — VALIDATED or RULED_OUT. None left HYPOTHESIZED or PARTIALLY_VALIDATED.</a:t>
            </a:r>
          </a:p>
        </p:txBody>
      </p:sp>
      <p:sp>
        <p:nvSpPr>
          <p:cNvPr id="19" name="Rectangle 18"/>
          <p:cNvSpPr/>
          <p:nvPr/>
        </p:nvSpPr>
        <p:spPr>
          <a:xfrm>
            <a:off x="274320" y="2670048"/>
            <a:ext cx="2606040" cy="1078992"/>
          </a:xfrm>
          <a:prstGeom prst="rect">
            <a:avLst/>
          </a:prstGeom>
          <a:solidFill>
            <a:srgbClr val="220808"/>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 y="2734056"/>
            <a:ext cx="2386584" cy="237744"/>
          </a:xfrm>
          <a:prstGeom prst="rect">
            <a:avLst/>
          </a:prstGeom>
          <a:noFill/>
        </p:spPr>
        <p:txBody>
          <a:bodyPr wrap="square">
            <a:spAutoFit/>
          </a:bodyPr>
          <a:lstStyle/>
          <a:p>
            <a:pPr algn="l"/>
            <a:r>
              <a:rPr sz="950" b="1" i="0">
                <a:solidFill>
                  <a:srgbClr val="FF4545"/>
                </a:solidFill>
                <a:latin typeface="Calibri"/>
              </a:rPr>
              <a:t>❌ ASG only — NOT DONE</a:t>
            </a:r>
          </a:p>
        </p:txBody>
      </p:sp>
      <p:sp>
        <p:nvSpPr>
          <p:cNvPr id="21" name="TextBox 20"/>
          <p:cNvSpPr txBox="1"/>
          <p:nvPr/>
        </p:nvSpPr>
        <p:spPr>
          <a:xfrm>
            <a:off x="384048" y="2980944"/>
            <a:ext cx="2386584" cy="713232"/>
          </a:xfrm>
          <a:prstGeom prst="rect">
            <a:avLst/>
          </a:prstGeom>
          <a:noFill/>
        </p:spPr>
        <p:txBody>
          <a:bodyPr wrap="square">
            <a:spAutoFit/>
          </a:bodyPr>
          <a:lstStyle/>
          <a:p>
            <a:pPr algn="l"/>
            <a:r>
              <a:rPr sz="800" b="0" i="0">
                <a:solidFill>
                  <a:srgbClr val="A0AAB8"/>
                </a:solidFill>
                <a:latin typeface="Calibri"/>
              </a:rPr>
              <a:t>Surface fully explored but chains still open. Attack reasoning is unfinished.</a:t>
            </a:r>
          </a:p>
        </p:txBody>
      </p:sp>
      <p:sp>
        <p:nvSpPr>
          <p:cNvPr id="22" name="Rectangle 21"/>
          <p:cNvSpPr/>
          <p:nvPr/>
        </p:nvSpPr>
        <p:spPr>
          <a:xfrm>
            <a:off x="3246120" y="2670048"/>
            <a:ext cx="2606040" cy="1078992"/>
          </a:xfrm>
          <a:prstGeom prst="rect">
            <a:avLst/>
          </a:prstGeom>
          <a:solidFill>
            <a:srgbClr val="220808"/>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55848" y="2734056"/>
            <a:ext cx="2386584" cy="237744"/>
          </a:xfrm>
          <a:prstGeom prst="rect">
            <a:avLst/>
          </a:prstGeom>
          <a:noFill/>
        </p:spPr>
        <p:txBody>
          <a:bodyPr wrap="square">
            <a:spAutoFit/>
          </a:bodyPr>
          <a:lstStyle/>
          <a:p>
            <a:pPr algn="l"/>
            <a:r>
              <a:rPr sz="950" b="1" i="0">
                <a:solidFill>
                  <a:srgbClr val="FF4545"/>
                </a:solidFill>
                <a:latin typeface="Calibri"/>
              </a:rPr>
              <a:t>❌ APG only — NOT DONE</a:t>
            </a:r>
          </a:p>
        </p:txBody>
      </p:sp>
      <p:sp>
        <p:nvSpPr>
          <p:cNvPr id="24" name="TextBox 23"/>
          <p:cNvSpPr txBox="1"/>
          <p:nvPr/>
        </p:nvSpPr>
        <p:spPr>
          <a:xfrm>
            <a:off x="3355848" y="2980944"/>
            <a:ext cx="2386584" cy="713232"/>
          </a:xfrm>
          <a:prstGeom prst="rect">
            <a:avLst/>
          </a:prstGeom>
          <a:noFill/>
        </p:spPr>
        <p:txBody>
          <a:bodyPr wrap="square">
            <a:spAutoFit/>
          </a:bodyPr>
          <a:lstStyle/>
          <a:p>
            <a:pPr algn="l"/>
            <a:r>
              <a:rPr sz="800" b="0" i="0">
                <a:solidFill>
                  <a:srgbClr val="A0AAB8"/>
                </a:solidFill>
                <a:latin typeface="Calibri"/>
              </a:rPr>
              <a:t>All chains resolved, but new ASG nodes were just written — they might seed new chains.</a:t>
            </a:r>
          </a:p>
        </p:txBody>
      </p:sp>
      <p:sp>
        <p:nvSpPr>
          <p:cNvPr id="25" name="Rectangle 24"/>
          <p:cNvSpPr/>
          <p:nvPr/>
        </p:nvSpPr>
        <p:spPr>
          <a:xfrm>
            <a:off x="274320" y="3822191"/>
            <a:ext cx="2606040" cy="1078992"/>
          </a:xfrm>
          <a:prstGeom prst="rect">
            <a:avLst/>
          </a:prstGeom>
          <a:solidFill>
            <a:srgbClr val="220808"/>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4048" y="3886200"/>
            <a:ext cx="2386584" cy="237744"/>
          </a:xfrm>
          <a:prstGeom prst="rect">
            <a:avLst/>
          </a:prstGeom>
          <a:noFill/>
        </p:spPr>
        <p:txBody>
          <a:bodyPr wrap="square">
            <a:spAutoFit/>
          </a:bodyPr>
          <a:lstStyle/>
          <a:p>
            <a:pPr algn="l"/>
            <a:r>
              <a:rPr sz="950" b="1" i="0">
                <a:solidFill>
                  <a:srgbClr val="FF4545"/>
                </a:solidFill>
                <a:latin typeface="Calibri"/>
              </a:rPr>
              <a:t>❌ Neither — NOT DONE</a:t>
            </a:r>
          </a:p>
        </p:txBody>
      </p:sp>
      <p:sp>
        <p:nvSpPr>
          <p:cNvPr id="27" name="TextBox 26"/>
          <p:cNvSpPr txBox="1"/>
          <p:nvPr/>
        </p:nvSpPr>
        <p:spPr>
          <a:xfrm>
            <a:off x="384048" y="4133087"/>
            <a:ext cx="2386584" cy="713232"/>
          </a:xfrm>
          <a:prstGeom prst="rect">
            <a:avLst/>
          </a:prstGeom>
          <a:noFill/>
        </p:spPr>
        <p:txBody>
          <a:bodyPr wrap="square">
            <a:spAutoFit/>
          </a:bodyPr>
          <a:lstStyle/>
          <a:p>
            <a:pPr algn="l"/>
            <a:r>
              <a:rPr sz="800" b="0" i="0">
                <a:solidFill>
                  <a:srgbClr val="A0AAB8"/>
                </a:solidFill>
                <a:latin typeface="Calibri"/>
              </a:rPr>
              <a:t>Both conditions incomplete. Mission continues.</a:t>
            </a:r>
          </a:p>
        </p:txBody>
      </p:sp>
      <p:sp>
        <p:nvSpPr>
          <p:cNvPr id="28" name="Rectangle 27"/>
          <p:cNvSpPr/>
          <p:nvPr/>
        </p:nvSpPr>
        <p:spPr>
          <a:xfrm>
            <a:off x="3246120" y="3822191"/>
            <a:ext cx="2606040" cy="1078992"/>
          </a:xfrm>
          <a:prstGeom prst="rect">
            <a:avLst/>
          </a:prstGeom>
          <a:solidFill>
            <a:srgbClr val="0C2008"/>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55848" y="3886200"/>
            <a:ext cx="2386584" cy="237744"/>
          </a:xfrm>
          <a:prstGeom prst="rect">
            <a:avLst/>
          </a:prstGeom>
          <a:noFill/>
        </p:spPr>
        <p:txBody>
          <a:bodyPr wrap="square">
            <a:spAutoFit/>
          </a:bodyPr>
          <a:lstStyle/>
          <a:p>
            <a:pPr algn="l"/>
            <a:r>
              <a:rPr sz="950" b="1" i="0">
                <a:solidFill>
                  <a:srgbClr val="39FF14"/>
                </a:solidFill>
                <a:latin typeface="Calibri"/>
              </a:rPr>
              <a:t>✅ Both true — MISSION COMPLETE</a:t>
            </a:r>
          </a:p>
        </p:txBody>
      </p:sp>
      <p:sp>
        <p:nvSpPr>
          <p:cNvPr id="30" name="TextBox 29"/>
          <p:cNvSpPr txBox="1"/>
          <p:nvPr/>
        </p:nvSpPr>
        <p:spPr>
          <a:xfrm>
            <a:off x="3355848" y="4133087"/>
            <a:ext cx="2386584" cy="713232"/>
          </a:xfrm>
          <a:prstGeom prst="rect">
            <a:avLst/>
          </a:prstGeom>
          <a:noFill/>
        </p:spPr>
        <p:txBody>
          <a:bodyPr wrap="square">
            <a:spAutoFit/>
          </a:bodyPr>
          <a:lstStyle/>
          <a:p>
            <a:pPr algn="l"/>
            <a:r>
              <a:rPr sz="800" b="0" i="0">
                <a:solidFill>
                  <a:srgbClr val="A0AAB8"/>
                </a:solidFill>
                <a:latin typeface="Calibri"/>
              </a:rPr>
              <a:t>ASG fully mapped, every attack opportunity proven or disproven. Report Agent spawned.</a:t>
            </a:r>
          </a:p>
        </p:txBody>
      </p:sp>
      <p:sp>
        <p:nvSpPr>
          <p:cNvPr id="31" name="Rectangle 30"/>
          <p:cNvSpPr/>
          <p:nvPr/>
        </p:nvSpPr>
        <p:spPr>
          <a:xfrm>
            <a:off x="274320" y="5029200"/>
            <a:ext cx="5577840" cy="1005840"/>
          </a:xfrm>
          <a:prstGeom prst="rect">
            <a:avLst/>
          </a:prstGeom>
          <a:solidFill>
            <a:srgbClr val="150C28"/>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5120640"/>
            <a:ext cx="1371600" cy="822960"/>
          </a:xfrm>
          <a:prstGeom prst="rect">
            <a:avLst/>
          </a:prstGeom>
          <a:noFill/>
        </p:spPr>
        <p:txBody>
          <a:bodyPr wrap="square">
            <a:spAutoFit/>
          </a:bodyPr>
          <a:lstStyle/>
          <a:p>
            <a:pPr algn="l"/>
            <a:r>
              <a:rPr sz="900" b="1" i="0">
                <a:solidFill>
                  <a:srgbClr val="BD93F9"/>
                </a:solidFill>
                <a:latin typeface="Calibri"/>
              </a:rPr>
              <a:t>Why existing systems fail:  </a:t>
            </a:r>
          </a:p>
        </p:txBody>
      </p:sp>
      <p:sp>
        <p:nvSpPr>
          <p:cNvPr id="33" name="TextBox 32"/>
          <p:cNvSpPr txBox="1"/>
          <p:nvPr/>
        </p:nvSpPr>
        <p:spPr>
          <a:xfrm>
            <a:off x="1691640" y="5120640"/>
            <a:ext cx="4069080" cy="822960"/>
          </a:xfrm>
          <a:prstGeom prst="rect">
            <a:avLst/>
          </a:prstGeom>
          <a:noFill/>
        </p:spPr>
        <p:txBody>
          <a:bodyPr wrap="square">
            <a:spAutoFit/>
          </a:bodyPr>
          <a:lstStyle/>
          <a:p>
            <a:pPr algn="l"/>
            <a:r>
              <a:rPr sz="900" b="0" i="0">
                <a:solidFill>
                  <a:srgbClr val="D8C9F5"/>
                </a:solidFill>
                <a:latin typeface="Calibri"/>
              </a:rPr>
              <a:t>timer-based execution stops mid-chain; task-queue-based systems can't express APG resolution at all. CMatrix is the only architecture that evaluates both conditions simultaneously.</a:t>
            </a:r>
          </a:p>
        </p:txBody>
      </p:sp>
      <p:sp>
        <p:nvSpPr>
          <p:cNvPr id="34" name="TextBox 33"/>
          <p:cNvSpPr txBox="1"/>
          <p:nvPr/>
        </p:nvSpPr>
        <p:spPr>
          <a:xfrm>
            <a:off x="6263640" y="932688"/>
            <a:ext cx="3200400" cy="274320"/>
          </a:xfrm>
          <a:prstGeom prst="rect">
            <a:avLst/>
          </a:prstGeom>
          <a:noFill/>
        </p:spPr>
        <p:txBody>
          <a:bodyPr wrap="square">
            <a:spAutoFit/>
          </a:bodyPr>
          <a:lstStyle/>
          <a:p>
            <a:pPr algn="l"/>
            <a:r>
              <a:rPr sz="1300" b="1" i="0">
                <a:solidFill>
                  <a:srgbClr val="E8ECF4"/>
                </a:solidFill>
                <a:latin typeface="Calibri"/>
              </a:rPr>
              <a:t>CONTEXT COMPACTION</a:t>
            </a:r>
          </a:p>
        </p:txBody>
      </p:sp>
      <p:sp>
        <p:nvSpPr>
          <p:cNvPr id="35" name="TextBox 34"/>
          <p:cNvSpPr txBox="1"/>
          <p:nvPr/>
        </p:nvSpPr>
        <p:spPr>
          <a:xfrm>
            <a:off x="8961120" y="932688"/>
            <a:ext cx="2953512" cy="274320"/>
          </a:xfrm>
          <a:prstGeom prst="rect">
            <a:avLst/>
          </a:prstGeom>
          <a:noFill/>
        </p:spPr>
        <p:txBody>
          <a:bodyPr wrap="square">
            <a:spAutoFit/>
          </a:bodyPr>
          <a:lstStyle/>
          <a:p>
            <a:pPr algn="l"/>
            <a:r>
              <a:rPr sz="1100" b="0" i="1">
                <a:solidFill>
                  <a:srgbClr val="A0AAB8"/>
                </a:solidFill>
                <a:latin typeface="Calibri"/>
              </a:rPr>
              <a:t>  —  how long missions stay sharp</a:t>
            </a:r>
          </a:p>
        </p:txBody>
      </p:sp>
      <p:sp>
        <p:nvSpPr>
          <p:cNvPr id="36" name="Rectangle 35"/>
          <p:cNvSpPr/>
          <p:nvPr/>
        </p:nvSpPr>
        <p:spPr>
          <a:xfrm>
            <a:off x="6263640" y="1298448"/>
            <a:ext cx="5650992" cy="868680"/>
          </a:xfrm>
          <a:prstGeom prst="rect">
            <a:avLst/>
          </a:prstGeom>
          <a:solidFill>
            <a:srgbClr val="0E1A06"/>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0" y="1371600"/>
            <a:ext cx="5376672" cy="219456"/>
          </a:xfrm>
          <a:prstGeom prst="rect">
            <a:avLst/>
          </a:prstGeom>
          <a:noFill/>
        </p:spPr>
        <p:txBody>
          <a:bodyPr wrap="square">
            <a:spAutoFit/>
          </a:bodyPr>
          <a:lstStyle/>
          <a:p>
            <a:pPr algn="l"/>
            <a:r>
              <a:rPr sz="900" b="1" i="0">
                <a:solidFill>
                  <a:srgbClr val="39FF14"/>
                </a:solidFill>
                <a:latin typeface="Calibri"/>
              </a:rPr>
              <a:t>NORMAL OPERATION</a:t>
            </a:r>
          </a:p>
        </p:txBody>
      </p:sp>
      <p:sp>
        <p:nvSpPr>
          <p:cNvPr id="38" name="TextBox 37"/>
          <p:cNvSpPr txBox="1"/>
          <p:nvPr/>
        </p:nvSpPr>
        <p:spPr>
          <a:xfrm>
            <a:off x="6400800" y="1591056"/>
            <a:ext cx="5376672" cy="237744"/>
          </a:xfrm>
          <a:prstGeom prst="rect">
            <a:avLst/>
          </a:prstGeom>
          <a:noFill/>
        </p:spPr>
        <p:txBody>
          <a:bodyPr wrap="square">
            <a:spAutoFit/>
          </a:bodyPr>
          <a:lstStyle/>
          <a:p>
            <a:pPr algn="l"/>
            <a:r>
              <a:rPr sz="1150" b="1" i="0">
                <a:solidFill>
                  <a:srgbClr val="E8ECF4"/>
                </a:solidFill>
                <a:latin typeface="Calibri"/>
              </a:rPr>
              <a:t>MicroCompact — every tool call</a:t>
            </a:r>
          </a:p>
        </p:txBody>
      </p:sp>
      <p:sp>
        <p:nvSpPr>
          <p:cNvPr id="39" name="TextBox 38"/>
          <p:cNvSpPr txBox="1"/>
          <p:nvPr/>
        </p:nvSpPr>
        <p:spPr>
          <a:xfrm>
            <a:off x="6400800" y="1847088"/>
            <a:ext cx="5376672" cy="246888"/>
          </a:xfrm>
          <a:prstGeom prst="rect">
            <a:avLst/>
          </a:prstGeom>
          <a:noFill/>
        </p:spPr>
        <p:txBody>
          <a:bodyPr wrap="square">
            <a:spAutoFit/>
          </a:bodyPr>
          <a:lstStyle/>
          <a:p>
            <a:pPr algn="l"/>
            <a:r>
              <a:rPr sz="900" b="0" i="0">
                <a:solidFill>
                  <a:srgbClr val="A0AAB8"/>
                </a:solidFill>
                <a:latin typeface="Calibri"/>
              </a:rPr>
              <a:t>Raw tool output is discarded immediately; the agent sees only a 3-line summary.</a:t>
            </a:r>
          </a:p>
        </p:txBody>
      </p:sp>
      <p:sp>
        <p:nvSpPr>
          <p:cNvPr id="40" name="TextBox 39"/>
          <p:cNvSpPr txBox="1"/>
          <p:nvPr/>
        </p:nvSpPr>
        <p:spPr>
          <a:xfrm>
            <a:off x="6263640" y="2194560"/>
            <a:ext cx="5650992" cy="182880"/>
          </a:xfrm>
          <a:prstGeom prst="rect">
            <a:avLst/>
          </a:prstGeom>
          <a:noFill/>
        </p:spPr>
        <p:txBody>
          <a:bodyPr wrap="square">
            <a:spAutoFit/>
          </a:bodyPr>
          <a:lstStyle/>
          <a:p>
            <a:pPr algn="l"/>
            <a:r>
              <a:rPr sz="850" b="0" i="1">
                <a:solidFill>
                  <a:srgbClr val="A0AAB8"/>
                </a:solidFill>
                <a:latin typeface="Calibri"/>
              </a:rPr>
              <a:t>context grows  ↓</a:t>
            </a:r>
          </a:p>
        </p:txBody>
      </p:sp>
      <p:sp>
        <p:nvSpPr>
          <p:cNvPr id="41" name="Rectangle 40"/>
          <p:cNvSpPr/>
          <p:nvPr/>
        </p:nvSpPr>
        <p:spPr>
          <a:xfrm>
            <a:off x="6263640" y="2395728"/>
            <a:ext cx="5650992" cy="868680"/>
          </a:xfrm>
          <a:prstGeom prst="rect">
            <a:avLst/>
          </a:prstGeom>
          <a:solidFill>
            <a:srgbClr val="1E1804"/>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0" y="2468880"/>
            <a:ext cx="5376672" cy="219456"/>
          </a:xfrm>
          <a:prstGeom prst="rect">
            <a:avLst/>
          </a:prstGeom>
          <a:noFill/>
        </p:spPr>
        <p:txBody>
          <a:bodyPr wrap="square">
            <a:spAutoFit/>
          </a:bodyPr>
          <a:lstStyle/>
          <a:p>
            <a:pPr algn="l"/>
            <a:r>
              <a:rPr sz="900" b="1" i="0">
                <a:solidFill>
                  <a:srgbClr val="FFD700"/>
                </a:solidFill>
                <a:latin typeface="Calibri"/>
              </a:rPr>
              <a:t>AUTOCOMPACT  ·  @ 60% context</a:t>
            </a:r>
          </a:p>
        </p:txBody>
      </p:sp>
      <p:sp>
        <p:nvSpPr>
          <p:cNvPr id="43" name="TextBox 42"/>
          <p:cNvSpPr txBox="1"/>
          <p:nvPr/>
        </p:nvSpPr>
        <p:spPr>
          <a:xfrm>
            <a:off x="6400800" y="2688336"/>
            <a:ext cx="5376672" cy="237744"/>
          </a:xfrm>
          <a:prstGeom prst="rect">
            <a:avLst/>
          </a:prstGeom>
          <a:noFill/>
        </p:spPr>
        <p:txBody>
          <a:bodyPr wrap="square">
            <a:spAutoFit/>
          </a:bodyPr>
          <a:lstStyle/>
          <a:p>
            <a:pPr algn="l"/>
            <a:r>
              <a:rPr sz="1150" b="1" i="0">
                <a:solidFill>
                  <a:srgbClr val="E8ECF4"/>
                </a:solidFill>
                <a:latin typeface="Calibri"/>
              </a:rPr>
              <a:t>Older turns summarized by a scoped LLM call</a:t>
            </a:r>
          </a:p>
        </p:txBody>
      </p:sp>
      <p:sp>
        <p:nvSpPr>
          <p:cNvPr id="44" name="TextBox 43"/>
          <p:cNvSpPr txBox="1"/>
          <p:nvPr/>
        </p:nvSpPr>
        <p:spPr>
          <a:xfrm>
            <a:off x="6400800" y="2944368"/>
            <a:ext cx="5376672" cy="246888"/>
          </a:xfrm>
          <a:prstGeom prst="rect">
            <a:avLst/>
          </a:prstGeom>
          <a:noFill/>
        </p:spPr>
        <p:txBody>
          <a:bodyPr wrap="square">
            <a:spAutoFit/>
          </a:bodyPr>
          <a:lstStyle/>
          <a:p>
            <a:pPr algn="l"/>
            <a:r>
              <a:rPr sz="900" b="0" i="0">
                <a:solidFill>
                  <a:srgbClr val="A0AAB8"/>
                </a:solidFill>
                <a:latin typeface="Calibri"/>
              </a:rPr>
              <a:t>The summary replaces raw conversation turns. The agent continues uninterrupted.</a:t>
            </a:r>
          </a:p>
        </p:txBody>
      </p:sp>
      <p:sp>
        <p:nvSpPr>
          <p:cNvPr id="45" name="TextBox 44"/>
          <p:cNvSpPr txBox="1"/>
          <p:nvPr/>
        </p:nvSpPr>
        <p:spPr>
          <a:xfrm>
            <a:off x="6263640" y="3291840"/>
            <a:ext cx="5650992" cy="182880"/>
          </a:xfrm>
          <a:prstGeom prst="rect">
            <a:avLst/>
          </a:prstGeom>
          <a:noFill/>
        </p:spPr>
        <p:txBody>
          <a:bodyPr wrap="square">
            <a:spAutoFit/>
          </a:bodyPr>
          <a:lstStyle/>
          <a:p>
            <a:pPr algn="l"/>
            <a:r>
              <a:rPr sz="850" b="0" i="1">
                <a:solidFill>
                  <a:srgbClr val="A0AAB8"/>
                </a:solidFill>
                <a:latin typeface="Calibri"/>
              </a:rPr>
              <a:t>context grows  ↓</a:t>
            </a:r>
          </a:p>
        </p:txBody>
      </p:sp>
      <p:sp>
        <p:nvSpPr>
          <p:cNvPr id="46" name="Rectangle 45"/>
          <p:cNvSpPr/>
          <p:nvPr/>
        </p:nvSpPr>
        <p:spPr>
          <a:xfrm>
            <a:off x="6263640" y="3493008"/>
            <a:ext cx="5650992" cy="1051560"/>
          </a:xfrm>
          <a:prstGeom prst="rect">
            <a:avLst/>
          </a:prstGeom>
          <a:solidFill>
            <a:srgbClr val="061A28"/>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0" y="3566160"/>
            <a:ext cx="5376672" cy="219456"/>
          </a:xfrm>
          <a:prstGeom prst="rect">
            <a:avLst/>
          </a:prstGeom>
          <a:noFill/>
        </p:spPr>
        <p:txBody>
          <a:bodyPr wrap="square">
            <a:spAutoFit/>
          </a:bodyPr>
          <a:lstStyle/>
          <a:p>
            <a:pPr algn="l"/>
            <a:r>
              <a:rPr sz="900" b="1" i="0">
                <a:solidFill>
                  <a:srgbClr val="00E5FF"/>
                </a:solidFill>
                <a:latin typeface="Calibri"/>
              </a:rPr>
              <a:t>FULLCOMPACT  ·  @ 85% context</a:t>
            </a:r>
          </a:p>
        </p:txBody>
      </p:sp>
      <p:sp>
        <p:nvSpPr>
          <p:cNvPr id="48" name="TextBox 47"/>
          <p:cNvSpPr txBox="1"/>
          <p:nvPr/>
        </p:nvSpPr>
        <p:spPr>
          <a:xfrm>
            <a:off x="6400800" y="3785615"/>
            <a:ext cx="5376672" cy="237744"/>
          </a:xfrm>
          <a:prstGeom prst="rect">
            <a:avLst/>
          </a:prstGeom>
          <a:noFill/>
        </p:spPr>
        <p:txBody>
          <a:bodyPr wrap="square">
            <a:spAutoFit/>
          </a:bodyPr>
          <a:lstStyle/>
          <a:p>
            <a:pPr algn="l"/>
            <a:r>
              <a:rPr sz="1150" b="1" i="0">
                <a:solidFill>
                  <a:srgbClr val="E8ECF4"/>
                </a:solidFill>
                <a:latin typeface="Calibri"/>
              </a:rPr>
              <a:t>Entire history rebuilt from scratch</a:t>
            </a:r>
          </a:p>
        </p:txBody>
      </p:sp>
      <p:sp>
        <p:nvSpPr>
          <p:cNvPr id="49" name="TextBox 48"/>
          <p:cNvSpPr txBox="1"/>
          <p:nvPr/>
        </p:nvSpPr>
        <p:spPr>
          <a:xfrm>
            <a:off x="6400800" y="4041648"/>
            <a:ext cx="5376672" cy="429768"/>
          </a:xfrm>
          <a:prstGeom prst="rect">
            <a:avLst/>
          </a:prstGeom>
          <a:noFill/>
        </p:spPr>
        <p:txBody>
          <a:bodyPr wrap="square">
            <a:spAutoFit/>
          </a:bodyPr>
          <a:lstStyle/>
          <a:p>
            <a:pPr algn="l"/>
            <a:r>
              <a:rPr sz="900" b="0" i="0">
                <a:solidFill>
                  <a:srgbClr val="A0AAB8"/>
                </a:solidFill>
                <a:latin typeface="Calibri"/>
              </a:rPr>
              <a:t>Reconstructed from: current ASG snapshot · current APG priorities · last N tool results. Zero intelligence lost — everything important already lives in the graph.</a:t>
            </a:r>
          </a:p>
        </p:txBody>
      </p:sp>
      <p:sp>
        <p:nvSpPr>
          <p:cNvPr id="50" name="TextBox 49"/>
          <p:cNvSpPr txBox="1"/>
          <p:nvPr/>
        </p:nvSpPr>
        <p:spPr>
          <a:xfrm>
            <a:off x="6263640" y="4590288"/>
            <a:ext cx="5650992" cy="201168"/>
          </a:xfrm>
          <a:prstGeom prst="rect">
            <a:avLst/>
          </a:prstGeom>
          <a:noFill/>
        </p:spPr>
        <p:txBody>
          <a:bodyPr wrap="square">
            <a:spAutoFit/>
          </a:bodyPr>
          <a:lstStyle/>
          <a:p>
            <a:pPr algn="l"/>
            <a:r>
              <a:rPr sz="850" b="0" i="1">
                <a:solidFill>
                  <a:srgbClr val="A0AAB8"/>
                </a:solidFill>
                <a:latin typeface="Calibri"/>
              </a:rPr>
              <a:t>fresh context  →  loops back to Normal Operation  ↺</a:t>
            </a:r>
          </a:p>
        </p:txBody>
      </p:sp>
      <p:sp>
        <p:nvSpPr>
          <p:cNvPr id="51" name="Rectangle 50"/>
          <p:cNvSpPr/>
          <p:nvPr/>
        </p:nvSpPr>
        <p:spPr>
          <a:xfrm>
            <a:off x="6263640" y="5029200"/>
            <a:ext cx="5650992" cy="1005840"/>
          </a:xfrm>
          <a:prstGeom prst="rect">
            <a:avLst/>
          </a:prstGeom>
          <a:solidFill>
            <a:srgbClr val="0C2008"/>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0" y="5120640"/>
            <a:ext cx="1371600" cy="822960"/>
          </a:xfrm>
          <a:prstGeom prst="rect">
            <a:avLst/>
          </a:prstGeom>
          <a:noFill/>
        </p:spPr>
        <p:txBody>
          <a:bodyPr wrap="square">
            <a:spAutoFit/>
          </a:bodyPr>
          <a:lstStyle/>
          <a:p>
            <a:pPr algn="l"/>
            <a:r>
              <a:rPr sz="900" b="1" i="0">
                <a:solidFill>
                  <a:srgbClr val="39FF14"/>
                </a:solidFill>
                <a:latin typeface="Calibri"/>
              </a:rPr>
              <a:t>The ASG is the key:  </a:t>
            </a:r>
          </a:p>
        </p:txBody>
      </p:sp>
      <p:sp>
        <p:nvSpPr>
          <p:cNvPr id="53" name="TextBox 52"/>
          <p:cNvSpPr txBox="1"/>
          <p:nvPr/>
        </p:nvSpPr>
        <p:spPr>
          <a:xfrm>
            <a:off x="7680960" y="5120640"/>
            <a:ext cx="4142232" cy="822960"/>
          </a:xfrm>
          <a:prstGeom prst="rect">
            <a:avLst/>
          </a:prstGeom>
          <a:noFill/>
        </p:spPr>
        <p:txBody>
          <a:bodyPr wrap="square">
            <a:spAutoFit/>
          </a:bodyPr>
          <a:lstStyle/>
          <a:p>
            <a:pPr algn="l"/>
            <a:r>
              <a:rPr sz="900" b="0" i="0">
                <a:solidFill>
                  <a:srgbClr val="C8F5BD"/>
                </a:solidFill>
                <a:latin typeface="Calibri"/>
              </a:rPr>
              <a:t>conversation history is expendable because every discovery lives permanently in the graph. That's what makes FullCompact safe — nothing important is ever lost.</a:t>
            </a:r>
          </a:p>
        </p:txBody>
      </p:sp>
      <p:sp>
        <p:nvSpPr>
          <p:cNvPr id="54" name="TextBox 53"/>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5486400" cy="246888"/>
          </a:xfrm>
          <a:prstGeom prst="rect">
            <a:avLst/>
          </a:prstGeom>
          <a:noFill/>
        </p:spPr>
        <p:txBody>
          <a:bodyPr wrap="square">
            <a:spAutoFit/>
          </a:bodyPr>
          <a:lstStyle/>
          <a:p>
            <a:pPr algn="l"/>
            <a:r>
              <a:rPr sz="1000" b="1" i="0">
                <a:solidFill>
                  <a:srgbClr val="FFD700"/>
                </a:solidFill>
                <a:latin typeface="Calibri"/>
              </a:rPr>
              <a:t>ATTACK CHAIN LIFECYCLE</a:t>
            </a:r>
          </a:p>
        </p:txBody>
      </p:sp>
      <p:sp>
        <p:nvSpPr>
          <p:cNvPr id="6" name="TextBox 5"/>
          <p:cNvSpPr txBox="1"/>
          <p:nvPr/>
        </p:nvSpPr>
        <p:spPr>
          <a:xfrm>
            <a:off x="274320" y="283464"/>
            <a:ext cx="10972800" cy="466344"/>
          </a:xfrm>
          <a:prstGeom prst="rect">
            <a:avLst/>
          </a:prstGeom>
          <a:noFill/>
        </p:spPr>
        <p:txBody>
          <a:bodyPr wrap="square">
            <a:spAutoFit/>
          </a:bodyPr>
          <a:lstStyle/>
          <a:p>
            <a:pPr algn="l"/>
            <a:r>
              <a:rPr sz="2400" b="1" i="0">
                <a:solidFill>
                  <a:srgbClr val="FFFFFF"/>
                </a:solidFill>
                <a:latin typeface="Calibri"/>
              </a:rPr>
              <a:t>APG Chain State Machine + Validation Agent Self-Debugging Loop</a:t>
            </a:r>
          </a:p>
        </p:txBody>
      </p:sp>
      <p:sp>
        <p:nvSpPr>
          <p:cNvPr id="7" name="Rectangle 6"/>
          <p:cNvSpPr/>
          <p:nvPr/>
        </p:nvSpPr>
        <p:spPr>
          <a:xfrm>
            <a:off x="228600" y="804672"/>
            <a:ext cx="2331720" cy="1783080"/>
          </a:xfrm>
          <a:prstGeom prst="rect">
            <a:avLst/>
          </a:prstGeom>
          <a:solidFill>
            <a:srgbClr val="504000"/>
          </a:solidFill>
          <a:ln w="254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804672"/>
            <a:ext cx="2331720"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8600" y="841248"/>
            <a:ext cx="2331720" cy="237744"/>
          </a:xfrm>
          <a:prstGeom prst="rect">
            <a:avLst/>
          </a:prstGeom>
          <a:noFill/>
        </p:spPr>
        <p:txBody>
          <a:bodyPr wrap="square">
            <a:spAutoFit/>
          </a:bodyPr>
          <a:lstStyle/>
          <a:p>
            <a:pPr algn="ctr"/>
            <a:r>
              <a:rPr sz="950" b="1" i="0">
                <a:solidFill>
                  <a:srgbClr val="0A0D1A"/>
                </a:solidFill>
                <a:latin typeface="Calibri"/>
              </a:rPr>
              <a:t>HYPOTHESIZED</a:t>
            </a:r>
          </a:p>
        </p:txBody>
      </p:sp>
      <p:sp>
        <p:nvSpPr>
          <p:cNvPr id="10" name="TextBox 9"/>
          <p:cNvSpPr txBox="1"/>
          <p:nvPr/>
        </p:nvSpPr>
        <p:spPr>
          <a:xfrm>
            <a:off x="320040" y="1133856"/>
            <a:ext cx="2167128" cy="804672"/>
          </a:xfrm>
          <a:prstGeom prst="rect">
            <a:avLst/>
          </a:prstGeom>
          <a:noFill/>
        </p:spPr>
        <p:txBody>
          <a:bodyPr wrap="square">
            <a:spAutoFit/>
          </a:bodyPr>
          <a:lstStyle/>
          <a:p>
            <a:pPr algn="l"/>
            <a:r>
              <a:rPr sz="900" b="0" i="0">
                <a:solidFill>
                  <a:srgbClr val="A0AAB8"/>
                </a:solidFill>
                <a:latin typeface="Calibri"/>
              </a:rPr>
              <a:t>Commander inferred a possible chain from ASG Vulnerability nodes. Not yet tested.</a:t>
            </a:r>
          </a:p>
        </p:txBody>
      </p:sp>
      <p:sp>
        <p:nvSpPr>
          <p:cNvPr id="11" name="Rectangle 10"/>
          <p:cNvSpPr/>
          <p:nvPr/>
        </p:nvSpPr>
        <p:spPr>
          <a:xfrm>
            <a:off x="2798064" y="804672"/>
            <a:ext cx="2331720" cy="1783080"/>
          </a:xfrm>
          <a:prstGeom prst="rect">
            <a:avLst/>
          </a:prstGeom>
          <a:solidFill>
            <a:srgbClr val="284008"/>
          </a:solidFill>
          <a:ln w="254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98064" y="804672"/>
            <a:ext cx="233172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98064" y="841248"/>
            <a:ext cx="2331720" cy="237744"/>
          </a:xfrm>
          <a:prstGeom prst="rect">
            <a:avLst/>
          </a:prstGeom>
          <a:noFill/>
        </p:spPr>
        <p:txBody>
          <a:bodyPr wrap="square">
            <a:spAutoFit/>
          </a:bodyPr>
          <a:lstStyle/>
          <a:p>
            <a:pPr algn="ctr"/>
            <a:r>
              <a:rPr sz="950" b="1" i="0">
                <a:solidFill>
                  <a:srgbClr val="0A0D1A"/>
                </a:solidFill>
                <a:latin typeface="Calibri"/>
              </a:rPr>
              <a:t>PARTIALLY VALIDATED</a:t>
            </a:r>
          </a:p>
        </p:txBody>
      </p:sp>
      <p:sp>
        <p:nvSpPr>
          <p:cNvPr id="14" name="TextBox 13"/>
          <p:cNvSpPr txBox="1"/>
          <p:nvPr/>
        </p:nvSpPr>
        <p:spPr>
          <a:xfrm>
            <a:off x="2889504" y="1133856"/>
            <a:ext cx="2167128" cy="804672"/>
          </a:xfrm>
          <a:prstGeom prst="rect">
            <a:avLst/>
          </a:prstGeom>
          <a:noFill/>
        </p:spPr>
        <p:txBody>
          <a:bodyPr wrap="square">
            <a:spAutoFit/>
          </a:bodyPr>
          <a:lstStyle/>
          <a:p>
            <a:pPr algn="l"/>
            <a:r>
              <a:rPr sz="900" b="0" i="0">
                <a:solidFill>
                  <a:srgbClr val="A0AAB8"/>
                </a:solidFill>
                <a:latin typeface="Calibri"/>
              </a:rPr>
              <a:t>One or more ChainSteps confirmed. Chain not complete end-to-end. Validation in progress.</a:t>
            </a:r>
          </a:p>
        </p:txBody>
      </p:sp>
      <p:sp>
        <p:nvSpPr>
          <p:cNvPr id="15" name="Rectangle 14"/>
          <p:cNvSpPr/>
          <p:nvPr/>
        </p:nvSpPr>
        <p:spPr>
          <a:xfrm>
            <a:off x="7024420" y="804672"/>
            <a:ext cx="2331720" cy="1783080"/>
          </a:xfrm>
          <a:prstGeom prst="rect">
            <a:avLst/>
          </a:prstGeom>
          <a:solidFill>
            <a:srgbClr val="06280E"/>
          </a:solidFill>
          <a:ln w="254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24420" y="804672"/>
            <a:ext cx="233172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24420" y="841248"/>
            <a:ext cx="2331720" cy="237744"/>
          </a:xfrm>
          <a:prstGeom prst="rect">
            <a:avLst/>
          </a:prstGeom>
          <a:noFill/>
        </p:spPr>
        <p:txBody>
          <a:bodyPr wrap="square">
            <a:spAutoFit/>
          </a:bodyPr>
          <a:lstStyle/>
          <a:p>
            <a:pPr algn="ctr"/>
            <a:r>
              <a:rPr sz="950" b="1" i="0">
                <a:solidFill>
                  <a:srgbClr val="0A0D1A"/>
                </a:solidFill>
                <a:latin typeface="Calibri"/>
              </a:rPr>
              <a:t>VALIDATED</a:t>
            </a:r>
          </a:p>
        </p:txBody>
      </p:sp>
      <p:sp>
        <p:nvSpPr>
          <p:cNvPr id="18" name="TextBox 17"/>
          <p:cNvSpPr txBox="1"/>
          <p:nvPr/>
        </p:nvSpPr>
        <p:spPr>
          <a:xfrm>
            <a:off x="7115860" y="1133856"/>
            <a:ext cx="2167128" cy="804672"/>
          </a:xfrm>
          <a:prstGeom prst="rect">
            <a:avLst/>
          </a:prstGeom>
          <a:noFill/>
        </p:spPr>
        <p:txBody>
          <a:bodyPr wrap="square">
            <a:spAutoFit/>
          </a:bodyPr>
          <a:lstStyle/>
          <a:p>
            <a:pPr algn="l"/>
            <a:r>
              <a:rPr sz="900" b="0" i="0">
                <a:solidFill>
                  <a:srgbClr val="A0AAB8"/>
                </a:solidFill>
                <a:latin typeface="Calibri"/>
              </a:rPr>
              <a:t>All ChainSteps confirmed with linked Evidence. Impact demonstrated. Mission success for this chain.</a:t>
            </a:r>
          </a:p>
        </p:txBody>
      </p:sp>
      <p:sp>
        <p:nvSpPr>
          <p:cNvPr id="19" name="Rectangle 18"/>
          <p:cNvSpPr/>
          <p:nvPr/>
        </p:nvSpPr>
        <p:spPr>
          <a:xfrm>
            <a:off x="9558223" y="804672"/>
            <a:ext cx="2331720" cy="1783080"/>
          </a:xfrm>
          <a:prstGeom prst="rect">
            <a:avLst/>
          </a:prstGeom>
          <a:solidFill>
            <a:srgbClr val="280808"/>
          </a:solidFill>
          <a:ln w="254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558223" y="813816"/>
            <a:ext cx="2331720" cy="27432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93808" y="804672"/>
            <a:ext cx="1554480" cy="237744"/>
          </a:xfrm>
          <a:prstGeom prst="rect">
            <a:avLst/>
          </a:prstGeom>
          <a:noFill/>
        </p:spPr>
        <p:txBody>
          <a:bodyPr wrap="square">
            <a:spAutoFit/>
          </a:bodyPr>
          <a:lstStyle/>
          <a:p>
            <a:pPr algn="l"/>
            <a:r>
              <a:rPr sz="950" b="1" i="0">
                <a:solidFill>
                  <a:srgbClr val="0A0D1A"/>
                </a:solidFill>
                <a:latin typeface="Calibri"/>
              </a:rPr>
              <a:t>RULED_OUT</a:t>
            </a:r>
          </a:p>
        </p:txBody>
      </p:sp>
      <p:sp>
        <p:nvSpPr>
          <p:cNvPr id="22" name="TextBox 21"/>
          <p:cNvSpPr txBox="1"/>
          <p:nvPr/>
        </p:nvSpPr>
        <p:spPr>
          <a:xfrm>
            <a:off x="9640519" y="1133856"/>
            <a:ext cx="2167128" cy="804672"/>
          </a:xfrm>
          <a:prstGeom prst="rect">
            <a:avLst/>
          </a:prstGeom>
          <a:noFill/>
        </p:spPr>
        <p:txBody>
          <a:bodyPr wrap="square">
            <a:spAutoFit/>
          </a:bodyPr>
          <a:lstStyle/>
          <a:p>
            <a:pPr algn="l"/>
            <a:r>
              <a:rPr sz="900" b="0" i="0">
                <a:solidFill>
                  <a:srgbClr val="A0AAB8"/>
                </a:solidFill>
                <a:latin typeface="Calibri"/>
              </a:rPr>
              <a:t>A required ChainStep failed after max retries. Chain not exploitable as hypothesized. Commander re-plans.</a:t>
            </a:r>
          </a:p>
        </p:txBody>
      </p:sp>
      <p:cxnSp>
        <p:nvCxnSpPr>
          <p:cNvPr id="23" name="Connector 22"/>
          <p:cNvCxnSpPr/>
          <p:nvPr/>
        </p:nvCxnSpPr>
        <p:spPr>
          <a:xfrm>
            <a:off x="2560320" y="1696212"/>
            <a:ext cx="237744" cy="0"/>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038344" y="1531620"/>
            <a:ext cx="329184" cy="329184"/>
          </a:xfrm>
          <a:prstGeom prst="rect">
            <a:avLst/>
          </a:prstGeom>
          <a:solidFill>
            <a:srgbClr val="FFD700"/>
          </a:solidFill>
          <a:ln w="1016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5367528" y="1696212"/>
            <a:ext cx="1656892" cy="0"/>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528462" y="1395374"/>
            <a:ext cx="1097280" cy="219456"/>
          </a:xfrm>
          <a:prstGeom prst="rect">
            <a:avLst/>
          </a:prstGeom>
          <a:noFill/>
        </p:spPr>
        <p:txBody>
          <a:bodyPr wrap="square">
            <a:spAutoFit/>
          </a:bodyPr>
          <a:lstStyle/>
          <a:p>
            <a:pPr algn="l"/>
            <a:r>
              <a:rPr sz="800" b="0" i="1">
                <a:solidFill>
                  <a:srgbClr val="39FF14"/>
                </a:solidFill>
                <a:latin typeface="Calibri"/>
              </a:rPr>
              <a:t>chain succeeds</a:t>
            </a:r>
          </a:p>
        </p:txBody>
      </p:sp>
      <p:sp>
        <p:nvSpPr>
          <p:cNvPr id="27" name="TextBox 26"/>
          <p:cNvSpPr txBox="1"/>
          <p:nvPr/>
        </p:nvSpPr>
        <p:spPr>
          <a:xfrm>
            <a:off x="7834579" y="2775204"/>
            <a:ext cx="1234440" cy="219456"/>
          </a:xfrm>
          <a:prstGeom prst="rect">
            <a:avLst/>
          </a:prstGeom>
          <a:noFill/>
        </p:spPr>
        <p:txBody>
          <a:bodyPr wrap="square">
            <a:spAutoFit/>
          </a:bodyPr>
          <a:lstStyle/>
          <a:p>
            <a:pPr algn="l"/>
            <a:r>
              <a:rPr sz="800" b="0" i="1">
                <a:solidFill>
                  <a:srgbClr val="FF4545"/>
                </a:solidFill>
                <a:latin typeface="Calibri"/>
              </a:rPr>
              <a:t>step fails after cap</a:t>
            </a:r>
          </a:p>
        </p:txBody>
      </p:sp>
      <p:sp>
        <p:nvSpPr>
          <p:cNvPr id="28" name="Rectangle 27"/>
          <p:cNvSpPr/>
          <p:nvPr/>
        </p:nvSpPr>
        <p:spPr>
          <a:xfrm>
            <a:off x="212140" y="3630168"/>
            <a:ext cx="7132320" cy="1755648"/>
          </a:xfrm>
          <a:prstGeom prst="rect">
            <a:avLst/>
          </a:prstGeom>
          <a:solidFill>
            <a:srgbClr val="080C1E"/>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12140" y="3630168"/>
            <a:ext cx="7132320" cy="2560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12140" y="3666744"/>
            <a:ext cx="7132320" cy="228600"/>
          </a:xfrm>
          <a:prstGeom prst="rect">
            <a:avLst/>
          </a:prstGeom>
          <a:noFill/>
        </p:spPr>
        <p:txBody>
          <a:bodyPr wrap="square">
            <a:spAutoFit/>
          </a:bodyPr>
          <a:lstStyle/>
          <a:p>
            <a:pPr algn="l"/>
            <a:r>
              <a:rPr sz="900" b="1" i="0">
                <a:solidFill>
                  <a:srgbClr val="0A0D1A"/>
                </a:solidFill>
                <a:latin typeface="Calibri"/>
              </a:rPr>
              <a:t>🎯  Validation Agent — Self-Debugging Loop  (on ChainStep failure)</a:t>
            </a:r>
          </a:p>
        </p:txBody>
      </p:sp>
      <p:sp>
        <p:nvSpPr>
          <p:cNvPr id="31" name="Rectangle 30"/>
          <p:cNvSpPr/>
          <p:nvPr/>
        </p:nvSpPr>
        <p:spPr>
          <a:xfrm>
            <a:off x="349300" y="3950208"/>
            <a:ext cx="1429207" cy="1371600"/>
          </a:xfrm>
          <a:prstGeom prst="rect">
            <a:avLst/>
          </a:prstGeom>
          <a:solidFill>
            <a:srgbClr val="10142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49300" y="3950208"/>
            <a:ext cx="1429207"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9300" y="3986784"/>
            <a:ext cx="1429207" cy="219456"/>
          </a:xfrm>
          <a:prstGeom prst="rect">
            <a:avLst/>
          </a:prstGeom>
          <a:noFill/>
        </p:spPr>
        <p:txBody>
          <a:bodyPr wrap="square">
            <a:spAutoFit/>
          </a:bodyPr>
          <a:lstStyle/>
          <a:p>
            <a:pPr algn="ctr"/>
            <a:r>
              <a:rPr sz="800" b="1" i="0">
                <a:solidFill>
                  <a:srgbClr val="0A0D1A"/>
                </a:solidFill>
                <a:latin typeface="Calibri"/>
              </a:rPr>
              <a:t>ATTEMPT</a:t>
            </a:r>
          </a:p>
        </p:txBody>
      </p:sp>
      <p:sp>
        <p:nvSpPr>
          <p:cNvPr id="34" name="TextBox 33"/>
          <p:cNvSpPr txBox="1"/>
          <p:nvPr/>
        </p:nvSpPr>
        <p:spPr>
          <a:xfrm>
            <a:off x="404164" y="4224528"/>
            <a:ext cx="1356055" cy="201168"/>
          </a:xfrm>
          <a:prstGeom prst="rect">
            <a:avLst/>
          </a:prstGeom>
          <a:noFill/>
        </p:spPr>
        <p:txBody>
          <a:bodyPr wrap="square">
            <a:spAutoFit/>
          </a:bodyPr>
          <a:lstStyle/>
          <a:p>
            <a:pPr algn="l"/>
            <a:r>
              <a:rPr sz="800" b="0" i="0">
                <a:solidFill>
                  <a:srgbClr val="A0AAB8"/>
                </a:solidFill>
                <a:latin typeface="Calibri"/>
              </a:rPr>
              <a:t>Execute tool</a:t>
            </a:r>
          </a:p>
        </p:txBody>
      </p:sp>
      <p:sp>
        <p:nvSpPr>
          <p:cNvPr id="35" name="TextBox 34"/>
          <p:cNvSpPr txBox="1"/>
          <p:nvPr/>
        </p:nvSpPr>
        <p:spPr>
          <a:xfrm>
            <a:off x="404164" y="4443984"/>
            <a:ext cx="1356055" cy="201168"/>
          </a:xfrm>
          <a:prstGeom prst="rect">
            <a:avLst/>
          </a:prstGeom>
          <a:noFill/>
        </p:spPr>
        <p:txBody>
          <a:bodyPr wrap="square">
            <a:spAutoFit/>
          </a:bodyPr>
          <a:lstStyle/>
          <a:p>
            <a:pPr algn="l"/>
            <a:r>
              <a:rPr sz="800" b="0" i="0">
                <a:solidFill>
                  <a:srgbClr val="A0AAB8"/>
                </a:solidFill>
                <a:latin typeface="Calibri"/>
              </a:rPr>
              <a:t>against target</a:t>
            </a:r>
          </a:p>
        </p:txBody>
      </p:sp>
      <p:sp>
        <p:nvSpPr>
          <p:cNvPr id="36" name="Rectangle 35"/>
          <p:cNvSpPr/>
          <p:nvPr/>
        </p:nvSpPr>
        <p:spPr>
          <a:xfrm>
            <a:off x="1850745" y="3950208"/>
            <a:ext cx="1429207" cy="1371600"/>
          </a:xfrm>
          <a:prstGeom prst="rect">
            <a:avLst/>
          </a:prstGeom>
          <a:solidFill>
            <a:srgbClr val="10142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50745" y="3950208"/>
            <a:ext cx="1429207"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850745" y="3986784"/>
            <a:ext cx="1429207" cy="219456"/>
          </a:xfrm>
          <a:prstGeom prst="rect">
            <a:avLst/>
          </a:prstGeom>
          <a:noFill/>
        </p:spPr>
        <p:txBody>
          <a:bodyPr wrap="square">
            <a:spAutoFit/>
          </a:bodyPr>
          <a:lstStyle/>
          <a:p>
            <a:pPr algn="ctr"/>
            <a:r>
              <a:rPr sz="800" b="1" i="0">
                <a:solidFill>
                  <a:srgbClr val="0A0D1A"/>
                </a:solidFill>
                <a:latin typeface="Calibri"/>
              </a:rPr>
              <a:t>DIAGNOSE</a:t>
            </a:r>
          </a:p>
        </p:txBody>
      </p:sp>
      <p:sp>
        <p:nvSpPr>
          <p:cNvPr id="39" name="TextBox 38"/>
          <p:cNvSpPr txBox="1"/>
          <p:nvPr/>
        </p:nvSpPr>
        <p:spPr>
          <a:xfrm>
            <a:off x="1905609" y="4224528"/>
            <a:ext cx="1356055" cy="201168"/>
          </a:xfrm>
          <a:prstGeom prst="rect">
            <a:avLst/>
          </a:prstGeom>
          <a:noFill/>
        </p:spPr>
        <p:txBody>
          <a:bodyPr wrap="square">
            <a:spAutoFit/>
          </a:bodyPr>
          <a:lstStyle/>
          <a:p>
            <a:pPr algn="l"/>
            <a:r>
              <a:rPr sz="800" b="0" i="0">
                <a:solidFill>
                  <a:srgbClr val="A0AAB8"/>
                </a:solidFill>
                <a:latin typeface="Calibri"/>
              </a:rPr>
              <a:t>Analyze failure:</a:t>
            </a:r>
          </a:p>
        </p:txBody>
      </p:sp>
      <p:sp>
        <p:nvSpPr>
          <p:cNvPr id="40" name="TextBox 39"/>
          <p:cNvSpPr txBox="1"/>
          <p:nvPr/>
        </p:nvSpPr>
        <p:spPr>
          <a:xfrm>
            <a:off x="1905609" y="4443984"/>
            <a:ext cx="1356055" cy="201168"/>
          </a:xfrm>
          <a:prstGeom prst="rect">
            <a:avLst/>
          </a:prstGeom>
          <a:noFill/>
        </p:spPr>
        <p:txBody>
          <a:bodyPr wrap="square">
            <a:spAutoFit/>
          </a:bodyPr>
          <a:lstStyle/>
          <a:p>
            <a:pPr algn="l"/>
            <a:r>
              <a:rPr sz="800" b="0" i="0">
                <a:solidFill>
                  <a:srgbClr val="A0AAB8"/>
                </a:solidFill>
                <a:latin typeface="Calibri"/>
              </a:rPr>
              <a:t>wrong param · auth</a:t>
            </a:r>
          </a:p>
        </p:txBody>
      </p:sp>
      <p:sp>
        <p:nvSpPr>
          <p:cNvPr id="41" name="TextBox 40"/>
          <p:cNvSpPr txBox="1"/>
          <p:nvPr/>
        </p:nvSpPr>
        <p:spPr>
          <a:xfrm>
            <a:off x="1905609" y="4663440"/>
            <a:ext cx="1356055" cy="201168"/>
          </a:xfrm>
          <a:prstGeom prst="rect">
            <a:avLst/>
          </a:prstGeom>
          <a:noFill/>
        </p:spPr>
        <p:txBody>
          <a:bodyPr wrap="square">
            <a:spAutoFit/>
          </a:bodyPr>
          <a:lstStyle/>
          <a:p>
            <a:pPr algn="l"/>
            <a:r>
              <a:rPr sz="800" b="0" i="0">
                <a:solidFill>
                  <a:srgbClr val="A0AAB8"/>
                </a:solidFill>
                <a:latin typeface="Calibri"/>
              </a:rPr>
              <a:t>version mismatch</a:t>
            </a:r>
          </a:p>
        </p:txBody>
      </p:sp>
      <p:sp>
        <p:nvSpPr>
          <p:cNvPr id="42" name="Rectangle 41"/>
          <p:cNvSpPr/>
          <p:nvPr/>
        </p:nvSpPr>
        <p:spPr>
          <a:xfrm>
            <a:off x="3353104" y="3950208"/>
            <a:ext cx="1429207" cy="1371600"/>
          </a:xfrm>
          <a:prstGeom prst="rect">
            <a:avLst/>
          </a:prstGeom>
          <a:solidFill>
            <a:srgbClr val="101428"/>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353104" y="3950208"/>
            <a:ext cx="1429207"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53104" y="3986784"/>
            <a:ext cx="1429207" cy="219456"/>
          </a:xfrm>
          <a:prstGeom prst="rect">
            <a:avLst/>
          </a:prstGeom>
          <a:noFill/>
        </p:spPr>
        <p:txBody>
          <a:bodyPr wrap="square">
            <a:spAutoFit/>
          </a:bodyPr>
          <a:lstStyle/>
          <a:p>
            <a:pPr algn="ctr"/>
            <a:r>
              <a:rPr sz="800" b="1" i="0">
                <a:solidFill>
                  <a:srgbClr val="0A0D1A"/>
                </a:solidFill>
                <a:latin typeface="Calibri"/>
              </a:rPr>
              <a:t>CONTEXTUALIZE</a:t>
            </a:r>
          </a:p>
        </p:txBody>
      </p:sp>
      <p:sp>
        <p:nvSpPr>
          <p:cNvPr id="45" name="TextBox 44"/>
          <p:cNvSpPr txBox="1"/>
          <p:nvPr/>
        </p:nvSpPr>
        <p:spPr>
          <a:xfrm>
            <a:off x="3407968" y="4224528"/>
            <a:ext cx="1356055" cy="201168"/>
          </a:xfrm>
          <a:prstGeom prst="rect">
            <a:avLst/>
          </a:prstGeom>
          <a:noFill/>
        </p:spPr>
        <p:txBody>
          <a:bodyPr wrap="square">
            <a:spAutoFit/>
          </a:bodyPr>
          <a:lstStyle/>
          <a:p>
            <a:pPr algn="l"/>
            <a:r>
              <a:rPr sz="800" b="0" i="0">
                <a:solidFill>
                  <a:srgbClr val="A0AAB8"/>
                </a:solidFill>
                <a:latin typeface="Calibri"/>
              </a:rPr>
              <a:t>Query ASG for</a:t>
            </a:r>
          </a:p>
        </p:txBody>
      </p:sp>
      <p:sp>
        <p:nvSpPr>
          <p:cNvPr id="46" name="TextBox 45"/>
          <p:cNvSpPr txBox="1"/>
          <p:nvPr/>
        </p:nvSpPr>
        <p:spPr>
          <a:xfrm>
            <a:off x="3407968" y="4443984"/>
            <a:ext cx="1356055" cy="201168"/>
          </a:xfrm>
          <a:prstGeom prst="rect">
            <a:avLst/>
          </a:prstGeom>
          <a:noFill/>
        </p:spPr>
        <p:txBody>
          <a:bodyPr wrap="square">
            <a:spAutoFit/>
          </a:bodyPr>
          <a:lstStyle/>
          <a:p>
            <a:pPr algn="l"/>
            <a:r>
              <a:rPr sz="800" b="0" i="0">
                <a:solidFill>
                  <a:srgbClr val="A0AAB8"/>
                </a:solidFill>
                <a:latin typeface="Calibri"/>
              </a:rPr>
              <a:t>additional node</a:t>
            </a:r>
          </a:p>
        </p:txBody>
      </p:sp>
      <p:sp>
        <p:nvSpPr>
          <p:cNvPr id="47" name="TextBox 46"/>
          <p:cNvSpPr txBox="1"/>
          <p:nvPr/>
        </p:nvSpPr>
        <p:spPr>
          <a:xfrm>
            <a:off x="3407968" y="4663440"/>
            <a:ext cx="1356055" cy="201168"/>
          </a:xfrm>
          <a:prstGeom prst="rect">
            <a:avLst/>
          </a:prstGeom>
          <a:noFill/>
        </p:spPr>
        <p:txBody>
          <a:bodyPr wrap="square">
            <a:spAutoFit/>
          </a:bodyPr>
          <a:lstStyle/>
          <a:p>
            <a:pPr algn="l"/>
            <a:r>
              <a:rPr sz="800" b="0" i="0">
                <a:solidFill>
                  <a:srgbClr val="A0AAB8"/>
                </a:solidFill>
                <a:latin typeface="Calibri"/>
              </a:rPr>
              <a:t>attributes</a:t>
            </a:r>
          </a:p>
        </p:txBody>
      </p:sp>
      <p:sp>
        <p:nvSpPr>
          <p:cNvPr id="48" name="Rectangle 47"/>
          <p:cNvSpPr/>
          <p:nvPr/>
        </p:nvSpPr>
        <p:spPr>
          <a:xfrm>
            <a:off x="4854549" y="3950208"/>
            <a:ext cx="1429207" cy="1371600"/>
          </a:xfrm>
          <a:prstGeom prst="rect">
            <a:avLst/>
          </a:prstGeom>
          <a:solidFill>
            <a:srgbClr val="101428"/>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854549" y="3950208"/>
            <a:ext cx="1429207"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54549" y="3986784"/>
            <a:ext cx="1429207" cy="219456"/>
          </a:xfrm>
          <a:prstGeom prst="rect">
            <a:avLst/>
          </a:prstGeom>
          <a:noFill/>
        </p:spPr>
        <p:txBody>
          <a:bodyPr wrap="square">
            <a:spAutoFit/>
          </a:bodyPr>
          <a:lstStyle/>
          <a:p>
            <a:pPr algn="ctr"/>
            <a:r>
              <a:rPr sz="800" b="1" i="0">
                <a:solidFill>
                  <a:srgbClr val="0A0D1A"/>
                </a:solidFill>
                <a:latin typeface="Calibri"/>
              </a:rPr>
              <a:t>ADAPT</a:t>
            </a:r>
          </a:p>
        </p:txBody>
      </p:sp>
      <p:sp>
        <p:nvSpPr>
          <p:cNvPr id="51" name="TextBox 50"/>
          <p:cNvSpPr txBox="1"/>
          <p:nvPr/>
        </p:nvSpPr>
        <p:spPr>
          <a:xfrm>
            <a:off x="4909413" y="4224528"/>
            <a:ext cx="1356055" cy="201168"/>
          </a:xfrm>
          <a:prstGeom prst="rect">
            <a:avLst/>
          </a:prstGeom>
          <a:noFill/>
        </p:spPr>
        <p:txBody>
          <a:bodyPr wrap="square">
            <a:spAutoFit/>
          </a:bodyPr>
          <a:lstStyle/>
          <a:p>
            <a:pPr algn="l"/>
            <a:r>
              <a:rPr sz="800" b="0" i="0">
                <a:solidFill>
                  <a:srgbClr val="A0AAB8"/>
                </a:solidFill>
                <a:latin typeface="Calibri"/>
              </a:rPr>
              <a:t>Modify tool call</a:t>
            </a:r>
          </a:p>
        </p:txBody>
      </p:sp>
      <p:sp>
        <p:nvSpPr>
          <p:cNvPr id="52" name="TextBox 51"/>
          <p:cNvSpPr txBox="1"/>
          <p:nvPr/>
        </p:nvSpPr>
        <p:spPr>
          <a:xfrm>
            <a:off x="4909413" y="4443984"/>
            <a:ext cx="1356055" cy="201168"/>
          </a:xfrm>
          <a:prstGeom prst="rect">
            <a:avLst/>
          </a:prstGeom>
          <a:noFill/>
        </p:spPr>
        <p:txBody>
          <a:bodyPr wrap="square">
            <a:spAutoFit/>
          </a:bodyPr>
          <a:lstStyle/>
          <a:p>
            <a:pPr algn="l"/>
            <a:r>
              <a:rPr sz="800" b="0" i="0">
                <a:solidFill>
                  <a:srgbClr val="A0AAB8"/>
                </a:solidFill>
                <a:latin typeface="Calibri"/>
              </a:rPr>
              <a:t>based on diagnosis</a:t>
            </a:r>
          </a:p>
        </p:txBody>
      </p:sp>
      <p:sp>
        <p:nvSpPr>
          <p:cNvPr id="53" name="TextBox 52"/>
          <p:cNvSpPr txBox="1"/>
          <p:nvPr/>
        </p:nvSpPr>
        <p:spPr>
          <a:xfrm>
            <a:off x="4909413" y="4663440"/>
            <a:ext cx="1356055" cy="201168"/>
          </a:xfrm>
          <a:prstGeom prst="rect">
            <a:avLst/>
          </a:prstGeom>
          <a:noFill/>
        </p:spPr>
        <p:txBody>
          <a:bodyPr wrap="square">
            <a:spAutoFit/>
          </a:bodyPr>
          <a:lstStyle/>
          <a:p>
            <a:pPr algn="l"/>
            <a:r>
              <a:rPr sz="800" b="0" i="0">
                <a:solidFill>
                  <a:srgbClr val="A0AAB8"/>
                </a:solidFill>
                <a:latin typeface="Calibri"/>
              </a:rPr>
              <a:t>+ context</a:t>
            </a:r>
          </a:p>
        </p:txBody>
      </p:sp>
      <p:sp>
        <p:nvSpPr>
          <p:cNvPr id="54" name="Rectangle 53"/>
          <p:cNvSpPr/>
          <p:nvPr/>
        </p:nvSpPr>
        <p:spPr>
          <a:xfrm>
            <a:off x="6356908" y="3950208"/>
            <a:ext cx="850392" cy="1371600"/>
          </a:xfrm>
          <a:prstGeom prst="rect">
            <a:avLst/>
          </a:prstGeom>
          <a:solidFill>
            <a:srgbClr val="220808"/>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356908" y="3950208"/>
            <a:ext cx="850392"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56908" y="3986784"/>
            <a:ext cx="850392" cy="219456"/>
          </a:xfrm>
          <a:prstGeom prst="rect">
            <a:avLst/>
          </a:prstGeom>
          <a:noFill/>
        </p:spPr>
        <p:txBody>
          <a:bodyPr wrap="square">
            <a:spAutoFit/>
          </a:bodyPr>
          <a:lstStyle/>
          <a:p>
            <a:pPr algn="ctr"/>
            <a:r>
              <a:rPr sz="800" b="1" i="0">
                <a:solidFill>
                  <a:srgbClr val="0A0D1A"/>
                </a:solidFill>
                <a:latin typeface="Calibri"/>
              </a:rPr>
              <a:t>CAP  (×3 max)</a:t>
            </a:r>
          </a:p>
        </p:txBody>
      </p:sp>
      <p:sp>
        <p:nvSpPr>
          <p:cNvPr id="57" name="TextBox 56"/>
          <p:cNvSpPr txBox="1"/>
          <p:nvPr/>
        </p:nvSpPr>
        <p:spPr>
          <a:xfrm>
            <a:off x="6411772" y="4224528"/>
            <a:ext cx="758952" cy="1078992"/>
          </a:xfrm>
          <a:prstGeom prst="rect">
            <a:avLst/>
          </a:prstGeom>
          <a:noFill/>
        </p:spPr>
        <p:txBody>
          <a:bodyPr wrap="square">
            <a:spAutoFit/>
          </a:bodyPr>
          <a:lstStyle/>
          <a:p>
            <a:pPr algn="l"/>
            <a:r>
              <a:rPr sz="800" b="0" i="0">
                <a:solidFill>
                  <a:srgbClr val="A0AAB8"/>
                </a:solidFill>
                <a:latin typeface="Calibri"/>
              </a:rPr>
              <a:t>→ Mark ChainStep
   RULED_OUT
→ Write failure
   to ASG node</a:t>
            </a:r>
          </a:p>
        </p:txBody>
      </p:sp>
      <p:sp>
        <p:nvSpPr>
          <p:cNvPr id="58" name="TextBox 57"/>
          <p:cNvSpPr txBox="1"/>
          <p:nvPr/>
        </p:nvSpPr>
        <p:spPr>
          <a:xfrm>
            <a:off x="1777593" y="5404104"/>
            <a:ext cx="2286000" cy="210312"/>
          </a:xfrm>
          <a:prstGeom prst="rect">
            <a:avLst/>
          </a:prstGeom>
          <a:noFill/>
        </p:spPr>
        <p:txBody>
          <a:bodyPr wrap="square">
            <a:spAutoFit/>
          </a:bodyPr>
          <a:lstStyle/>
          <a:p>
            <a:pPr algn="l"/>
            <a:r>
              <a:rPr sz="750" b="0" i="1">
                <a:solidFill>
                  <a:srgbClr val="39FF14"/>
                </a:solidFill>
                <a:latin typeface="Calibri"/>
              </a:rPr>
              <a:t>retry (up to cap)</a:t>
            </a:r>
          </a:p>
        </p:txBody>
      </p:sp>
      <p:sp>
        <p:nvSpPr>
          <p:cNvPr id="59" name="Rectangle 58"/>
          <p:cNvSpPr/>
          <p:nvPr/>
        </p:nvSpPr>
        <p:spPr>
          <a:xfrm>
            <a:off x="7435900" y="3630168"/>
            <a:ext cx="4620463" cy="2965399"/>
          </a:xfrm>
          <a:prstGeom prst="rect">
            <a:avLst/>
          </a:prstGeom>
          <a:solidFill>
            <a:srgbClr val="0E0C04"/>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435900" y="3630168"/>
            <a:ext cx="4620463"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35900" y="3666744"/>
            <a:ext cx="4620463" cy="228600"/>
          </a:xfrm>
          <a:prstGeom prst="rect">
            <a:avLst/>
          </a:prstGeom>
          <a:noFill/>
        </p:spPr>
        <p:txBody>
          <a:bodyPr wrap="square">
            <a:spAutoFit/>
          </a:bodyPr>
          <a:lstStyle/>
          <a:p>
            <a:pPr algn="l"/>
            <a:r>
              <a:rPr sz="900" b="1" i="0">
                <a:solidFill>
                  <a:srgbClr val="0A0D1A"/>
                </a:solidFill>
                <a:latin typeface="Calibri"/>
              </a:rPr>
              <a:t>Risk Score + Chain Priority</a:t>
            </a:r>
          </a:p>
        </p:txBody>
      </p:sp>
      <p:sp>
        <p:nvSpPr>
          <p:cNvPr id="62" name="TextBox 61"/>
          <p:cNvSpPr txBox="1"/>
          <p:nvPr/>
        </p:nvSpPr>
        <p:spPr>
          <a:xfrm>
            <a:off x="7527340" y="3941064"/>
            <a:ext cx="4453128" cy="246888"/>
          </a:xfrm>
          <a:prstGeom prst="rect">
            <a:avLst/>
          </a:prstGeom>
          <a:noFill/>
        </p:spPr>
        <p:txBody>
          <a:bodyPr wrap="square">
            <a:spAutoFit/>
          </a:bodyPr>
          <a:lstStyle/>
          <a:p>
            <a:pPr algn="l"/>
            <a:r>
              <a:rPr sz="1000" b="1" i="0">
                <a:solidFill>
                  <a:srgbClr val="FFD700"/>
                </a:solidFill>
                <a:latin typeface="Calibri"/>
              </a:rPr>
              <a:t>risk_score = CVSS × Exploitability × Impact</a:t>
            </a:r>
          </a:p>
        </p:txBody>
      </p:sp>
      <p:sp>
        <p:nvSpPr>
          <p:cNvPr id="63" name="TextBox 62"/>
          <p:cNvSpPr txBox="1"/>
          <p:nvPr/>
        </p:nvSpPr>
        <p:spPr>
          <a:xfrm>
            <a:off x="7527340" y="4215384"/>
            <a:ext cx="4453128" cy="356616"/>
          </a:xfrm>
          <a:prstGeom prst="rect">
            <a:avLst/>
          </a:prstGeom>
          <a:noFill/>
        </p:spPr>
        <p:txBody>
          <a:bodyPr wrap="square">
            <a:spAutoFit/>
          </a:bodyPr>
          <a:lstStyle/>
          <a:p>
            <a:pPr algn="l"/>
            <a:r>
              <a:rPr sz="850" b="0" i="0">
                <a:solidFill>
                  <a:srgbClr val="A0AAB8"/>
                </a:solidFill>
                <a:latin typeface="Calibri"/>
              </a:rPr>
              <a:t>Priority = rank across all HYPOTHESIZED + PARTIALLY_VALIDATED chains. Commander pursues highest-priority chain first — re-ranks on every status change.</a:t>
            </a:r>
          </a:p>
        </p:txBody>
      </p:sp>
      <p:sp>
        <p:nvSpPr>
          <p:cNvPr id="64" name="Rectangle 63"/>
          <p:cNvSpPr/>
          <p:nvPr/>
        </p:nvSpPr>
        <p:spPr>
          <a:xfrm>
            <a:off x="7527340" y="4745736"/>
            <a:ext cx="4453128" cy="237744"/>
          </a:xfrm>
          <a:prstGeom prst="rect">
            <a:avLst/>
          </a:prstGeom>
          <a:solidFill>
            <a:srgbClr val="2218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563916" y="4773168"/>
            <a:ext cx="4389120" cy="219456"/>
          </a:xfrm>
          <a:prstGeom prst="rect">
            <a:avLst/>
          </a:prstGeom>
          <a:noFill/>
        </p:spPr>
        <p:txBody>
          <a:bodyPr wrap="square">
            <a:spAutoFit/>
          </a:bodyPr>
          <a:lstStyle/>
          <a:p>
            <a:pPr algn="l"/>
            <a:r>
              <a:rPr sz="850" b="1" i="0">
                <a:solidFill>
                  <a:srgbClr val="FFD700"/>
                </a:solidFill>
                <a:latin typeface="Calibri"/>
              </a:rPr>
              <a:t>shopvault.io  —  APG Chain Priority Order</a:t>
            </a:r>
          </a:p>
        </p:txBody>
      </p:sp>
      <p:sp>
        <p:nvSpPr>
          <p:cNvPr id="66" name="Rectangle 65"/>
          <p:cNvSpPr/>
          <p:nvPr/>
        </p:nvSpPr>
        <p:spPr>
          <a:xfrm>
            <a:off x="7527340" y="5020056"/>
            <a:ext cx="4453128" cy="347472"/>
          </a:xfrm>
          <a:prstGeom prst="rect">
            <a:avLst/>
          </a:prstGeom>
          <a:solidFill>
            <a:srgbClr val="181202"/>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563916" y="5074920"/>
            <a:ext cx="201168" cy="228600"/>
          </a:xfrm>
          <a:prstGeom prst="rect">
            <a:avLst/>
          </a:prstGeom>
          <a:noFill/>
        </p:spPr>
        <p:txBody>
          <a:bodyPr wrap="square">
            <a:spAutoFit/>
          </a:bodyPr>
          <a:lstStyle/>
          <a:p>
            <a:pPr algn="l"/>
            <a:r>
              <a:rPr sz="900" b="1" i="0">
                <a:solidFill>
                  <a:srgbClr val="FF4545"/>
                </a:solidFill>
                <a:latin typeface="Calibri"/>
              </a:rPr>
              <a:t>1</a:t>
            </a:r>
          </a:p>
        </p:txBody>
      </p:sp>
      <p:sp>
        <p:nvSpPr>
          <p:cNvPr id="68" name="TextBox 67"/>
          <p:cNvSpPr txBox="1"/>
          <p:nvPr/>
        </p:nvSpPr>
        <p:spPr>
          <a:xfrm>
            <a:off x="7783372" y="5084064"/>
            <a:ext cx="3931920" cy="219456"/>
          </a:xfrm>
          <a:prstGeom prst="rect">
            <a:avLst/>
          </a:prstGeom>
          <a:noFill/>
        </p:spPr>
        <p:txBody>
          <a:bodyPr wrap="square">
            <a:spAutoFit/>
          </a:bodyPr>
          <a:lstStyle/>
          <a:p>
            <a:pPr algn="l"/>
            <a:r>
              <a:rPr sz="850" b="0" i="0">
                <a:solidFill>
                  <a:srgbClr val="A0AAB8"/>
                </a:solidFill>
                <a:latin typeface="Calibri"/>
              </a:rPr>
              <a:t>Chain-01  —  CVE-2022-21661 SQLi → RCE</a:t>
            </a:r>
          </a:p>
        </p:txBody>
      </p:sp>
      <p:sp>
        <p:nvSpPr>
          <p:cNvPr id="69" name="TextBox 68"/>
          <p:cNvSpPr txBox="1"/>
          <p:nvPr/>
        </p:nvSpPr>
        <p:spPr>
          <a:xfrm>
            <a:off x="11550700" y="5065776"/>
            <a:ext cx="384048" cy="237744"/>
          </a:xfrm>
          <a:prstGeom prst="rect">
            <a:avLst/>
          </a:prstGeom>
          <a:noFill/>
        </p:spPr>
        <p:txBody>
          <a:bodyPr wrap="square">
            <a:spAutoFit/>
          </a:bodyPr>
          <a:lstStyle/>
          <a:p>
            <a:pPr algn="r"/>
            <a:r>
              <a:rPr sz="950" b="1" i="0">
                <a:solidFill>
                  <a:srgbClr val="FF4545"/>
                </a:solidFill>
                <a:latin typeface="Calibri"/>
              </a:rPr>
              <a:t>9.1</a:t>
            </a:r>
          </a:p>
        </p:txBody>
      </p:sp>
      <p:sp>
        <p:nvSpPr>
          <p:cNvPr id="70" name="Rectangle 69"/>
          <p:cNvSpPr/>
          <p:nvPr/>
        </p:nvSpPr>
        <p:spPr>
          <a:xfrm>
            <a:off x="7527340" y="5385816"/>
            <a:ext cx="4453128" cy="347472"/>
          </a:xfrm>
          <a:prstGeom prst="rect">
            <a:avLst/>
          </a:prstGeom>
          <a:solidFill>
            <a:srgbClr val="120C02"/>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563916" y="5440680"/>
            <a:ext cx="201168" cy="228600"/>
          </a:xfrm>
          <a:prstGeom prst="rect">
            <a:avLst/>
          </a:prstGeom>
          <a:noFill/>
        </p:spPr>
        <p:txBody>
          <a:bodyPr wrap="square">
            <a:spAutoFit/>
          </a:bodyPr>
          <a:lstStyle/>
          <a:p>
            <a:pPr algn="l"/>
            <a:r>
              <a:rPr sz="900" b="1" i="0">
                <a:solidFill>
                  <a:srgbClr val="FFD700"/>
                </a:solidFill>
                <a:latin typeface="Calibri"/>
              </a:rPr>
              <a:t>2</a:t>
            </a:r>
          </a:p>
        </p:txBody>
      </p:sp>
      <p:sp>
        <p:nvSpPr>
          <p:cNvPr id="72" name="TextBox 71"/>
          <p:cNvSpPr txBox="1"/>
          <p:nvPr/>
        </p:nvSpPr>
        <p:spPr>
          <a:xfrm>
            <a:off x="7783372" y="5449824"/>
            <a:ext cx="3931920" cy="219456"/>
          </a:xfrm>
          <a:prstGeom prst="rect">
            <a:avLst/>
          </a:prstGeom>
          <a:noFill/>
        </p:spPr>
        <p:txBody>
          <a:bodyPr wrap="square">
            <a:spAutoFit/>
          </a:bodyPr>
          <a:lstStyle/>
          <a:p>
            <a:pPr algn="l"/>
            <a:r>
              <a:rPr sz="850" b="0" i="0">
                <a:solidFill>
                  <a:srgbClr val="A0AAB8"/>
                </a:solidFill>
                <a:latin typeface="Calibri"/>
              </a:rPr>
              <a:t>Chain-03  —  Blind SQLi on staging → DB creds</a:t>
            </a:r>
          </a:p>
        </p:txBody>
      </p:sp>
      <p:sp>
        <p:nvSpPr>
          <p:cNvPr id="73" name="TextBox 72"/>
          <p:cNvSpPr txBox="1"/>
          <p:nvPr/>
        </p:nvSpPr>
        <p:spPr>
          <a:xfrm>
            <a:off x="11550700" y="5431536"/>
            <a:ext cx="384048" cy="237744"/>
          </a:xfrm>
          <a:prstGeom prst="rect">
            <a:avLst/>
          </a:prstGeom>
          <a:noFill/>
        </p:spPr>
        <p:txBody>
          <a:bodyPr wrap="square">
            <a:spAutoFit/>
          </a:bodyPr>
          <a:lstStyle/>
          <a:p>
            <a:pPr algn="r"/>
            <a:r>
              <a:rPr sz="950" b="1" i="0">
                <a:solidFill>
                  <a:srgbClr val="FFD700"/>
                </a:solidFill>
                <a:latin typeface="Calibri"/>
              </a:rPr>
              <a:t>8.1</a:t>
            </a:r>
          </a:p>
        </p:txBody>
      </p:sp>
      <p:sp>
        <p:nvSpPr>
          <p:cNvPr id="74" name="Rectangle 73"/>
          <p:cNvSpPr/>
          <p:nvPr/>
        </p:nvSpPr>
        <p:spPr>
          <a:xfrm>
            <a:off x="7527340" y="5751576"/>
            <a:ext cx="4453128" cy="347472"/>
          </a:xfrm>
          <a:prstGeom prst="rect">
            <a:avLst/>
          </a:prstGeom>
          <a:solidFill>
            <a:srgbClr val="181202"/>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63916" y="5806440"/>
            <a:ext cx="201168" cy="228600"/>
          </a:xfrm>
          <a:prstGeom prst="rect">
            <a:avLst/>
          </a:prstGeom>
          <a:noFill/>
        </p:spPr>
        <p:txBody>
          <a:bodyPr wrap="square">
            <a:spAutoFit/>
          </a:bodyPr>
          <a:lstStyle/>
          <a:p>
            <a:pPr algn="l"/>
            <a:r>
              <a:rPr sz="900" b="1" i="0">
                <a:solidFill>
                  <a:srgbClr val="FFD700"/>
                </a:solidFill>
                <a:latin typeface="Calibri"/>
              </a:rPr>
              <a:t>3</a:t>
            </a:r>
          </a:p>
        </p:txBody>
      </p:sp>
      <p:sp>
        <p:nvSpPr>
          <p:cNvPr id="76" name="TextBox 75"/>
          <p:cNvSpPr txBox="1"/>
          <p:nvPr/>
        </p:nvSpPr>
        <p:spPr>
          <a:xfrm>
            <a:off x="7783372" y="5815584"/>
            <a:ext cx="3931920" cy="219456"/>
          </a:xfrm>
          <a:prstGeom prst="rect">
            <a:avLst/>
          </a:prstGeom>
          <a:noFill/>
        </p:spPr>
        <p:txBody>
          <a:bodyPr wrap="square">
            <a:spAutoFit/>
          </a:bodyPr>
          <a:lstStyle/>
          <a:p>
            <a:pPr algn="l"/>
            <a:r>
              <a:rPr sz="850" b="0" i="0">
                <a:solidFill>
                  <a:srgbClr val="A0AAB8"/>
                </a:solidFill>
                <a:latin typeface="Calibri"/>
              </a:rPr>
              <a:t>Chain-02  —  IDOR on /api/v1/orders → PII</a:t>
            </a:r>
          </a:p>
        </p:txBody>
      </p:sp>
      <p:sp>
        <p:nvSpPr>
          <p:cNvPr id="77" name="TextBox 76"/>
          <p:cNvSpPr txBox="1"/>
          <p:nvPr/>
        </p:nvSpPr>
        <p:spPr>
          <a:xfrm>
            <a:off x="11550700" y="5797296"/>
            <a:ext cx="384048" cy="237744"/>
          </a:xfrm>
          <a:prstGeom prst="rect">
            <a:avLst/>
          </a:prstGeom>
          <a:noFill/>
        </p:spPr>
        <p:txBody>
          <a:bodyPr wrap="square">
            <a:spAutoFit/>
          </a:bodyPr>
          <a:lstStyle/>
          <a:p>
            <a:pPr algn="r"/>
            <a:r>
              <a:rPr sz="950" b="1" i="0">
                <a:solidFill>
                  <a:srgbClr val="FFD700"/>
                </a:solidFill>
                <a:latin typeface="Calibri"/>
              </a:rPr>
              <a:t>7.5</a:t>
            </a:r>
          </a:p>
        </p:txBody>
      </p:sp>
      <p:sp>
        <p:nvSpPr>
          <p:cNvPr id="78" name="Rectangle 77"/>
          <p:cNvSpPr/>
          <p:nvPr/>
        </p:nvSpPr>
        <p:spPr>
          <a:xfrm>
            <a:off x="7527340" y="6117336"/>
            <a:ext cx="4453128" cy="347472"/>
          </a:xfrm>
          <a:prstGeom prst="rect">
            <a:avLst/>
          </a:prstGeom>
          <a:solidFill>
            <a:srgbClr val="120C02"/>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563916" y="6172200"/>
            <a:ext cx="201168" cy="228600"/>
          </a:xfrm>
          <a:prstGeom prst="rect">
            <a:avLst/>
          </a:prstGeom>
          <a:noFill/>
        </p:spPr>
        <p:txBody>
          <a:bodyPr wrap="square">
            <a:spAutoFit/>
          </a:bodyPr>
          <a:lstStyle/>
          <a:p>
            <a:pPr algn="l"/>
            <a:r>
              <a:rPr sz="900" b="1" i="0">
                <a:solidFill>
                  <a:srgbClr val="BD93F9"/>
                </a:solidFill>
                <a:latin typeface="Calibri"/>
              </a:rPr>
              <a:t>4</a:t>
            </a:r>
          </a:p>
        </p:txBody>
      </p:sp>
      <p:sp>
        <p:nvSpPr>
          <p:cNvPr id="80" name="TextBox 79"/>
          <p:cNvSpPr txBox="1"/>
          <p:nvPr/>
        </p:nvSpPr>
        <p:spPr>
          <a:xfrm>
            <a:off x="7783372" y="6181344"/>
            <a:ext cx="3931920" cy="219456"/>
          </a:xfrm>
          <a:prstGeom prst="rect">
            <a:avLst/>
          </a:prstGeom>
          <a:noFill/>
        </p:spPr>
        <p:txBody>
          <a:bodyPr wrap="square">
            <a:spAutoFit/>
          </a:bodyPr>
          <a:lstStyle/>
          <a:p>
            <a:pPr algn="l"/>
            <a:r>
              <a:rPr sz="850" b="0" i="0">
                <a:solidFill>
                  <a:srgbClr val="A0AAB8"/>
                </a:solidFill>
                <a:latin typeface="Calibri"/>
              </a:rPr>
              <a:t>Chain-04  —  Direct DB backup download → PII</a:t>
            </a:r>
          </a:p>
        </p:txBody>
      </p:sp>
      <p:sp>
        <p:nvSpPr>
          <p:cNvPr id="81" name="TextBox 80"/>
          <p:cNvSpPr txBox="1"/>
          <p:nvPr/>
        </p:nvSpPr>
        <p:spPr>
          <a:xfrm>
            <a:off x="11550700" y="6163056"/>
            <a:ext cx="384048" cy="237744"/>
          </a:xfrm>
          <a:prstGeom prst="rect">
            <a:avLst/>
          </a:prstGeom>
          <a:noFill/>
        </p:spPr>
        <p:txBody>
          <a:bodyPr wrap="square">
            <a:spAutoFit/>
          </a:bodyPr>
          <a:lstStyle/>
          <a:p>
            <a:pPr algn="r"/>
            <a:r>
              <a:rPr sz="950" b="1" i="0">
                <a:solidFill>
                  <a:srgbClr val="BD93F9"/>
                </a:solidFill>
                <a:latin typeface="Calibri"/>
              </a:rPr>
              <a:t>N/A</a:t>
            </a:r>
          </a:p>
        </p:txBody>
      </p:sp>
      <p:sp>
        <p:nvSpPr>
          <p:cNvPr id="82" name="TextBox 81"/>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73152"/>
            <a:ext cx="7315200" cy="265176"/>
          </a:xfrm>
          <a:prstGeom prst="rect">
            <a:avLst/>
          </a:prstGeom>
          <a:noFill/>
        </p:spPr>
        <p:txBody>
          <a:bodyPr wrap="square">
            <a:spAutoFit/>
          </a:bodyPr>
          <a:lstStyle/>
          <a:p>
            <a:pPr algn="l"/>
            <a:r>
              <a:rPr sz="1100" b="1" i="0">
                <a:solidFill>
                  <a:srgbClr val="00BFD8"/>
                </a:solidFill>
                <a:latin typeface="Calibri"/>
              </a:rPr>
              <a:t>CROSS-MISSION LEARNING</a:t>
            </a:r>
          </a:p>
        </p:txBody>
      </p:sp>
      <p:sp>
        <p:nvSpPr>
          <p:cNvPr id="6" name="TextBox 5"/>
          <p:cNvSpPr txBox="1"/>
          <p:nvPr/>
        </p:nvSpPr>
        <p:spPr>
          <a:xfrm>
            <a:off x="274320" y="347472"/>
            <a:ext cx="11430000" cy="493776"/>
          </a:xfrm>
          <a:prstGeom prst="rect">
            <a:avLst/>
          </a:prstGeom>
          <a:noFill/>
        </p:spPr>
        <p:txBody>
          <a:bodyPr wrap="square">
            <a:spAutoFit/>
          </a:bodyPr>
          <a:lstStyle/>
          <a:p>
            <a:pPr algn="l"/>
            <a:r>
              <a:rPr sz="2600" b="1" i="0">
                <a:solidFill>
                  <a:srgbClr val="FFFFFF"/>
                </a:solidFill>
                <a:latin typeface="Calibri"/>
              </a:rPr>
              <a:t>Experience Store + Attack Strategy Library — CMatrix Gets Smarter Each Mission</a:t>
            </a:r>
          </a:p>
        </p:txBody>
      </p:sp>
      <p:sp>
        <p:nvSpPr>
          <p:cNvPr id="7" name="Rectangle 6"/>
          <p:cNvSpPr/>
          <p:nvPr/>
        </p:nvSpPr>
        <p:spPr>
          <a:xfrm>
            <a:off x="274320" y="1005840"/>
            <a:ext cx="2286000" cy="914400"/>
          </a:xfrm>
          <a:prstGeom prst="rect">
            <a:avLst/>
          </a:prstGeom>
          <a:solidFill>
            <a:srgbClr val="061420"/>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143000"/>
            <a:ext cx="2011680" cy="493776"/>
          </a:xfrm>
          <a:prstGeom prst="rect">
            <a:avLst/>
          </a:prstGeom>
          <a:noFill/>
        </p:spPr>
        <p:txBody>
          <a:bodyPr wrap="square">
            <a:spAutoFit/>
          </a:bodyPr>
          <a:lstStyle/>
          <a:p>
            <a:pPr algn="ctr"/>
            <a:r>
              <a:rPr sz="1300" b="1" i="0">
                <a:solidFill>
                  <a:srgbClr val="00E5FF"/>
                </a:solidFill>
                <a:latin typeface="Calibri"/>
              </a:rPr>
              <a:t>Mission N
(completed)</a:t>
            </a:r>
          </a:p>
        </p:txBody>
      </p:sp>
      <p:cxnSp>
        <p:nvCxnSpPr>
          <p:cNvPr id="9" name="Connector 8"/>
          <p:cNvCxnSpPr/>
          <p:nvPr/>
        </p:nvCxnSpPr>
        <p:spPr>
          <a:xfrm>
            <a:off x="2560320" y="1463040"/>
            <a:ext cx="1188719" cy="0"/>
          </a:xfrm>
          <a:prstGeom prst="line">
            <a:avLst/>
          </a:prstGeom>
          <a:ln w="190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578608" y="1115568"/>
            <a:ext cx="1024128" cy="484632"/>
          </a:xfrm>
          <a:prstGeom prst="rect">
            <a:avLst/>
          </a:prstGeom>
          <a:noFill/>
        </p:spPr>
        <p:txBody>
          <a:bodyPr wrap="square">
            <a:spAutoFit/>
          </a:bodyPr>
          <a:lstStyle/>
          <a:p>
            <a:pPr algn="l"/>
            <a:r>
              <a:rPr sz="850" b="0" i="1">
                <a:solidFill>
                  <a:srgbClr val="A0AAB8"/>
                </a:solidFill>
                <a:latin typeface="Calibri"/>
              </a:rPr>
              <a:t>Report Agent writes
validated chains</a:t>
            </a:r>
          </a:p>
        </p:txBody>
      </p:sp>
      <p:sp>
        <p:nvSpPr>
          <p:cNvPr id="11" name="Rectangle 10"/>
          <p:cNvSpPr/>
          <p:nvPr/>
        </p:nvSpPr>
        <p:spPr>
          <a:xfrm>
            <a:off x="3749039" y="1005840"/>
            <a:ext cx="2286000" cy="914400"/>
          </a:xfrm>
          <a:prstGeom prst="rect">
            <a:avLst/>
          </a:prstGeom>
          <a:solidFill>
            <a:srgbClr val="04201E"/>
          </a:solidFill>
          <a:ln w="2540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99332" y="1042416"/>
            <a:ext cx="2148840" cy="466344"/>
          </a:xfrm>
          <a:prstGeom prst="rect">
            <a:avLst/>
          </a:prstGeom>
          <a:noFill/>
        </p:spPr>
        <p:txBody>
          <a:bodyPr wrap="square">
            <a:spAutoFit/>
          </a:bodyPr>
          <a:lstStyle/>
          <a:p>
            <a:pPr algn="ctr"/>
            <a:r>
              <a:rPr sz="1200" b="1" i="0">
                <a:solidFill>
                  <a:srgbClr val="00BFD8"/>
                </a:solidFill>
                <a:latin typeface="Calibri"/>
              </a:rPr>
              <a:t>Cross-Mission
Experience Store</a:t>
            </a:r>
          </a:p>
        </p:txBody>
      </p:sp>
      <p:sp>
        <p:nvSpPr>
          <p:cNvPr id="13" name="TextBox 12"/>
          <p:cNvSpPr txBox="1"/>
          <p:nvPr/>
        </p:nvSpPr>
        <p:spPr>
          <a:xfrm>
            <a:off x="3799332" y="1517904"/>
            <a:ext cx="2148840" cy="365760"/>
          </a:xfrm>
          <a:prstGeom prst="rect">
            <a:avLst/>
          </a:prstGeom>
          <a:noFill/>
        </p:spPr>
        <p:txBody>
          <a:bodyPr wrap="square">
            <a:spAutoFit/>
          </a:bodyPr>
          <a:lstStyle/>
          <a:p>
            <a:pPr algn="ctr"/>
            <a:r>
              <a:rPr sz="900" b="0" i="1">
                <a:solidFill>
                  <a:srgbClr val="A0AAB8"/>
                </a:solidFill>
                <a:latin typeface="Calibri"/>
              </a:rPr>
              <a:t>RAG-backed · persistent
across all missions</a:t>
            </a:r>
          </a:p>
        </p:txBody>
      </p:sp>
      <p:cxnSp>
        <p:nvCxnSpPr>
          <p:cNvPr id="14" name="Connector 13"/>
          <p:cNvCxnSpPr/>
          <p:nvPr/>
        </p:nvCxnSpPr>
        <p:spPr>
          <a:xfrm>
            <a:off x="6126480" y="1463040"/>
            <a:ext cx="1188720" cy="0"/>
          </a:xfrm>
          <a:prstGeom prst="line">
            <a:avLst/>
          </a:prstGeom>
          <a:ln w="1905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4768" y="1097280"/>
            <a:ext cx="1024128" cy="356616"/>
          </a:xfrm>
          <a:prstGeom prst="rect">
            <a:avLst/>
          </a:prstGeom>
          <a:noFill/>
        </p:spPr>
        <p:txBody>
          <a:bodyPr wrap="square">
            <a:spAutoFit/>
          </a:bodyPr>
          <a:lstStyle/>
          <a:p>
            <a:pPr algn="l"/>
            <a:r>
              <a:rPr sz="850" b="0" i="1">
                <a:solidFill>
                  <a:srgbClr val="FFD700"/>
                </a:solidFill>
                <a:latin typeface="Calibri"/>
              </a:rPr>
              <a:t>Crystallize
(&gt;=2 missions)</a:t>
            </a:r>
          </a:p>
        </p:txBody>
      </p:sp>
      <p:sp>
        <p:nvSpPr>
          <p:cNvPr id="16" name="Rectangle 15"/>
          <p:cNvSpPr/>
          <p:nvPr/>
        </p:nvSpPr>
        <p:spPr>
          <a:xfrm>
            <a:off x="7315200" y="1074420"/>
            <a:ext cx="2148840" cy="859536"/>
          </a:xfrm>
          <a:prstGeom prst="rect">
            <a:avLst/>
          </a:prstGeom>
          <a:solidFill>
            <a:srgbClr val="201804"/>
          </a:solidFill>
          <a:ln w="254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7" y="1097280"/>
            <a:ext cx="1951329" cy="466344"/>
          </a:xfrm>
          <a:prstGeom prst="rect">
            <a:avLst/>
          </a:prstGeom>
          <a:noFill/>
        </p:spPr>
        <p:txBody>
          <a:bodyPr wrap="square">
            <a:spAutoFit/>
          </a:bodyPr>
          <a:lstStyle/>
          <a:p>
            <a:pPr algn="ctr"/>
            <a:r>
              <a:rPr sz="1200" b="1" i="0">
                <a:solidFill>
                  <a:srgbClr val="FFD700"/>
                </a:solidFill>
                <a:latin typeface="Calibri"/>
              </a:rPr>
              <a:t>Attack Strategy
Library</a:t>
            </a:r>
          </a:p>
        </p:txBody>
      </p:sp>
      <p:sp>
        <p:nvSpPr>
          <p:cNvPr id="18" name="TextBox 17"/>
          <p:cNvSpPr txBox="1"/>
          <p:nvPr/>
        </p:nvSpPr>
        <p:spPr>
          <a:xfrm>
            <a:off x="7406640" y="1499616"/>
            <a:ext cx="2148840" cy="365760"/>
          </a:xfrm>
          <a:prstGeom prst="rect">
            <a:avLst/>
          </a:prstGeom>
          <a:noFill/>
        </p:spPr>
        <p:txBody>
          <a:bodyPr wrap="square">
            <a:spAutoFit/>
          </a:bodyPr>
          <a:lstStyle/>
          <a:p>
            <a:pPr algn="ctr"/>
            <a:r>
              <a:rPr sz="900" b="0" i="1">
                <a:solidFill>
                  <a:srgbClr val="A0AAB8"/>
                </a:solidFill>
                <a:latin typeface="Calibri"/>
              </a:rPr>
              <a:t>Named strategies · confidence scores
technology-fingerprint indexed</a:t>
            </a:r>
          </a:p>
        </p:txBody>
      </p:sp>
      <p:cxnSp>
        <p:nvCxnSpPr>
          <p:cNvPr id="19" name="Connector 18"/>
          <p:cNvCxnSpPr/>
          <p:nvPr/>
        </p:nvCxnSpPr>
        <p:spPr>
          <a:xfrm>
            <a:off x="9692640" y="1463040"/>
            <a:ext cx="1097280" cy="0"/>
          </a:xfrm>
          <a:prstGeom prst="line">
            <a:avLst/>
          </a:prstGeom>
          <a:ln w="190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60636" y="1097280"/>
            <a:ext cx="1024128" cy="356616"/>
          </a:xfrm>
          <a:prstGeom prst="rect">
            <a:avLst/>
          </a:prstGeom>
          <a:noFill/>
        </p:spPr>
        <p:txBody>
          <a:bodyPr wrap="square">
            <a:spAutoFit/>
          </a:bodyPr>
          <a:lstStyle/>
          <a:p>
            <a:pPr algn="l"/>
            <a:r>
              <a:rPr sz="850" b="0" i="1">
                <a:solidFill>
                  <a:srgbClr val="A0AAB8"/>
                </a:solidFill>
                <a:latin typeface="Calibri"/>
              </a:rPr>
              <a:t>Pre-ranked seeds
at mission start</a:t>
            </a:r>
          </a:p>
        </p:txBody>
      </p:sp>
      <p:sp>
        <p:nvSpPr>
          <p:cNvPr id="21" name="Rectangle 20"/>
          <p:cNvSpPr/>
          <p:nvPr/>
        </p:nvSpPr>
        <p:spPr>
          <a:xfrm>
            <a:off x="10789920" y="1014984"/>
            <a:ext cx="1143000" cy="914400"/>
          </a:xfrm>
          <a:prstGeom prst="rect">
            <a:avLst/>
          </a:prstGeom>
          <a:solidFill>
            <a:srgbClr val="062010"/>
          </a:solidFill>
          <a:ln w="190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831068" y="1097280"/>
            <a:ext cx="1051560" cy="466344"/>
          </a:xfrm>
          <a:prstGeom prst="rect">
            <a:avLst/>
          </a:prstGeom>
          <a:noFill/>
        </p:spPr>
        <p:txBody>
          <a:bodyPr wrap="square">
            <a:spAutoFit/>
          </a:bodyPr>
          <a:lstStyle/>
          <a:p>
            <a:pPr algn="ctr"/>
            <a:r>
              <a:rPr sz="1200" b="1" i="0">
                <a:solidFill>
                  <a:srgbClr val="39FF14"/>
                </a:solidFill>
                <a:latin typeface="Calibri"/>
              </a:rPr>
              <a:t>Mission
N+1</a:t>
            </a:r>
          </a:p>
        </p:txBody>
      </p:sp>
      <p:sp>
        <p:nvSpPr>
          <p:cNvPr id="23" name="TextBox 22"/>
          <p:cNvSpPr txBox="1"/>
          <p:nvPr/>
        </p:nvSpPr>
        <p:spPr>
          <a:xfrm>
            <a:off x="6517843" y="1956816"/>
            <a:ext cx="3657600" cy="219456"/>
          </a:xfrm>
          <a:prstGeom prst="rect">
            <a:avLst/>
          </a:prstGeom>
          <a:noFill/>
        </p:spPr>
        <p:txBody>
          <a:bodyPr wrap="square">
            <a:spAutoFit/>
          </a:bodyPr>
          <a:lstStyle/>
          <a:p>
            <a:pPr algn="l"/>
            <a:r>
              <a:rPr sz="850" b="0" i="1">
                <a:solidFill>
                  <a:srgbClr val="A0AAB8"/>
                </a:solidFill>
                <a:latin typeface="Calibri"/>
              </a:rPr>
              <a:t>Candidate chain hypotheses injected into Commander context</a:t>
            </a:r>
          </a:p>
        </p:txBody>
      </p:sp>
      <p:sp>
        <p:nvSpPr>
          <p:cNvPr id="24" name="Rectangle 23"/>
          <p:cNvSpPr/>
          <p:nvPr/>
        </p:nvSpPr>
        <p:spPr>
          <a:xfrm>
            <a:off x="274320" y="2212848"/>
            <a:ext cx="5669280" cy="4160520"/>
          </a:xfrm>
          <a:prstGeom prst="rect">
            <a:avLst/>
          </a:prstGeom>
          <a:solidFill>
            <a:srgbClr val="041818"/>
          </a:solidFill>
          <a:ln w="190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2212848"/>
            <a:ext cx="5669280" cy="36576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4048" y="2267712"/>
            <a:ext cx="5486400" cy="274320"/>
          </a:xfrm>
          <a:prstGeom prst="rect">
            <a:avLst/>
          </a:prstGeom>
          <a:noFill/>
        </p:spPr>
        <p:txBody>
          <a:bodyPr wrap="square">
            <a:spAutoFit/>
          </a:bodyPr>
          <a:lstStyle/>
          <a:p>
            <a:pPr algn="l"/>
            <a:r>
              <a:rPr sz="1200" b="1" i="0">
                <a:solidFill>
                  <a:srgbClr val="0A0D1A"/>
                </a:solidFill>
                <a:latin typeface="Calibri"/>
              </a:rPr>
              <a:t>Cross-Mission Experience Store</a:t>
            </a:r>
          </a:p>
        </p:txBody>
      </p:sp>
      <p:sp>
        <p:nvSpPr>
          <p:cNvPr id="27" name="Rectangle 26"/>
          <p:cNvSpPr/>
          <p:nvPr/>
        </p:nvSpPr>
        <p:spPr>
          <a:xfrm>
            <a:off x="384048" y="2670048"/>
            <a:ext cx="5449824" cy="859536"/>
          </a:xfrm>
          <a:prstGeom prst="rect">
            <a:avLst/>
          </a:prstGeom>
          <a:solidFill>
            <a:srgbClr val="062222"/>
          </a:solidFill>
          <a:ln w="1016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488" y="2724912"/>
            <a:ext cx="5321808" cy="265176"/>
          </a:xfrm>
          <a:prstGeom prst="rect">
            <a:avLst/>
          </a:prstGeom>
          <a:noFill/>
        </p:spPr>
        <p:txBody>
          <a:bodyPr wrap="square">
            <a:spAutoFit/>
          </a:bodyPr>
          <a:lstStyle/>
          <a:p>
            <a:pPr algn="l"/>
            <a:r>
              <a:rPr sz="1100" b="1" i="0">
                <a:solidFill>
                  <a:srgbClr val="00BFD8"/>
                </a:solidFill>
                <a:latin typeface="Calibri"/>
              </a:rPr>
              <a:t>What it stores</a:t>
            </a:r>
          </a:p>
        </p:txBody>
      </p:sp>
      <p:sp>
        <p:nvSpPr>
          <p:cNvPr id="29" name="TextBox 28"/>
          <p:cNvSpPr txBox="1"/>
          <p:nvPr/>
        </p:nvSpPr>
        <p:spPr>
          <a:xfrm>
            <a:off x="475488" y="2962656"/>
            <a:ext cx="5321808" cy="502920"/>
          </a:xfrm>
          <a:prstGeom prst="rect">
            <a:avLst/>
          </a:prstGeom>
          <a:noFill/>
        </p:spPr>
        <p:txBody>
          <a:bodyPr wrap="square">
            <a:spAutoFit/>
          </a:bodyPr>
          <a:lstStyle/>
          <a:p>
            <a:pPr algn="l"/>
            <a:r>
              <a:rPr sz="950" b="0" i="0">
                <a:solidFill>
                  <a:srgbClr val="A0AAB8"/>
                </a:solidFill>
                <a:latin typeface="Calibri"/>
              </a:rPr>
              <a:t>Per-mission · per-chain raw records of validated exploitation outcomes. Target technology fingerprint · CVE · successful tool invocation · ChainStep sequence · mission outcome.</a:t>
            </a:r>
          </a:p>
        </p:txBody>
      </p:sp>
      <p:sp>
        <p:nvSpPr>
          <p:cNvPr id="30" name="Rectangle 29"/>
          <p:cNvSpPr/>
          <p:nvPr/>
        </p:nvSpPr>
        <p:spPr>
          <a:xfrm>
            <a:off x="384048" y="3566160"/>
            <a:ext cx="5449824" cy="859536"/>
          </a:xfrm>
          <a:prstGeom prst="rect">
            <a:avLst/>
          </a:prstGeom>
          <a:solidFill>
            <a:srgbClr val="062222"/>
          </a:solidFill>
          <a:ln w="1016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5488" y="3621024"/>
            <a:ext cx="5321808" cy="265176"/>
          </a:xfrm>
          <a:prstGeom prst="rect">
            <a:avLst/>
          </a:prstGeom>
          <a:noFill/>
        </p:spPr>
        <p:txBody>
          <a:bodyPr wrap="square">
            <a:spAutoFit/>
          </a:bodyPr>
          <a:lstStyle/>
          <a:p>
            <a:pPr algn="l"/>
            <a:r>
              <a:rPr sz="1100" b="1" i="0">
                <a:solidFill>
                  <a:srgbClr val="00BFD8"/>
                </a:solidFill>
                <a:latin typeface="Calibri"/>
              </a:rPr>
              <a:t>When it's written</a:t>
            </a:r>
          </a:p>
        </p:txBody>
      </p:sp>
      <p:sp>
        <p:nvSpPr>
          <p:cNvPr id="32" name="TextBox 31"/>
          <p:cNvSpPr txBox="1"/>
          <p:nvPr/>
        </p:nvSpPr>
        <p:spPr>
          <a:xfrm>
            <a:off x="475488" y="3858768"/>
            <a:ext cx="5321808" cy="502920"/>
          </a:xfrm>
          <a:prstGeom prst="rect">
            <a:avLst/>
          </a:prstGeom>
          <a:noFill/>
        </p:spPr>
        <p:txBody>
          <a:bodyPr wrap="square">
            <a:spAutoFit/>
          </a:bodyPr>
          <a:lstStyle/>
          <a:p>
            <a:pPr algn="l"/>
            <a:r>
              <a:rPr sz="950" b="0" i="0">
                <a:solidFill>
                  <a:srgbClr val="A0AAB8"/>
                </a:solidFill>
                <a:latin typeface="Calibri"/>
              </a:rPr>
              <a:t>Report Agent writes one entry for every chain with terminal status VALIDATED at mission close.</a:t>
            </a:r>
          </a:p>
        </p:txBody>
      </p:sp>
      <p:sp>
        <p:nvSpPr>
          <p:cNvPr id="33" name="Rectangle 32"/>
          <p:cNvSpPr/>
          <p:nvPr/>
        </p:nvSpPr>
        <p:spPr>
          <a:xfrm>
            <a:off x="384048" y="4462272"/>
            <a:ext cx="5449824" cy="859536"/>
          </a:xfrm>
          <a:prstGeom prst="rect">
            <a:avLst/>
          </a:prstGeom>
          <a:solidFill>
            <a:srgbClr val="062222"/>
          </a:solidFill>
          <a:ln w="1016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5488" y="4517136"/>
            <a:ext cx="5321808" cy="265176"/>
          </a:xfrm>
          <a:prstGeom prst="rect">
            <a:avLst/>
          </a:prstGeom>
          <a:noFill/>
        </p:spPr>
        <p:txBody>
          <a:bodyPr wrap="square">
            <a:spAutoFit/>
          </a:bodyPr>
          <a:lstStyle/>
          <a:p>
            <a:pPr algn="l"/>
            <a:r>
              <a:rPr sz="1100" b="1" i="0">
                <a:solidFill>
                  <a:srgbClr val="00BFD8"/>
                </a:solidFill>
                <a:latin typeface="Calibri"/>
              </a:rPr>
              <a:t>When it's read</a:t>
            </a:r>
          </a:p>
        </p:txBody>
      </p:sp>
      <p:sp>
        <p:nvSpPr>
          <p:cNvPr id="35" name="TextBox 34"/>
          <p:cNvSpPr txBox="1"/>
          <p:nvPr/>
        </p:nvSpPr>
        <p:spPr>
          <a:xfrm>
            <a:off x="475488" y="4754880"/>
            <a:ext cx="5321808" cy="502920"/>
          </a:xfrm>
          <a:prstGeom prst="rect">
            <a:avLst/>
          </a:prstGeom>
          <a:noFill/>
        </p:spPr>
        <p:txBody>
          <a:bodyPr wrap="square">
            <a:spAutoFit/>
          </a:bodyPr>
          <a:lstStyle/>
          <a:p>
            <a:pPr algn="l"/>
            <a:r>
              <a:rPr sz="950" b="0" i="0">
                <a:solidFill>
                  <a:srgbClr val="A0AAB8"/>
                </a:solidFill>
                <a:latin typeface="Calibri"/>
              </a:rPr>
              <a:t>Commander queries immediately after Recon Agent writes first Technology nodes to ASG — before Analysis begins. Retrieved records become candidate chain hypotheses.</a:t>
            </a:r>
          </a:p>
        </p:txBody>
      </p:sp>
      <p:sp>
        <p:nvSpPr>
          <p:cNvPr id="36" name="Rectangle 35"/>
          <p:cNvSpPr/>
          <p:nvPr/>
        </p:nvSpPr>
        <p:spPr>
          <a:xfrm>
            <a:off x="384048" y="5358384"/>
            <a:ext cx="5449824" cy="859536"/>
          </a:xfrm>
          <a:prstGeom prst="rect">
            <a:avLst/>
          </a:prstGeom>
          <a:solidFill>
            <a:srgbClr val="062222"/>
          </a:solidFill>
          <a:ln w="1016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488" y="5413248"/>
            <a:ext cx="5321808" cy="265176"/>
          </a:xfrm>
          <a:prstGeom prst="rect">
            <a:avLst/>
          </a:prstGeom>
          <a:noFill/>
        </p:spPr>
        <p:txBody>
          <a:bodyPr wrap="square">
            <a:spAutoFit/>
          </a:bodyPr>
          <a:lstStyle/>
          <a:p>
            <a:pPr algn="l"/>
            <a:r>
              <a:rPr sz="1100" b="1" i="0">
                <a:solidFill>
                  <a:srgbClr val="00BFD8"/>
                </a:solidFill>
                <a:latin typeface="Calibri"/>
              </a:rPr>
              <a:t>Research origin</a:t>
            </a:r>
          </a:p>
        </p:txBody>
      </p:sp>
      <p:sp>
        <p:nvSpPr>
          <p:cNvPr id="38" name="TextBox 37"/>
          <p:cNvSpPr txBox="1"/>
          <p:nvPr/>
        </p:nvSpPr>
        <p:spPr>
          <a:xfrm>
            <a:off x="475488" y="5650992"/>
            <a:ext cx="5321808" cy="502920"/>
          </a:xfrm>
          <a:prstGeom prst="rect">
            <a:avLst/>
          </a:prstGeom>
          <a:noFill/>
        </p:spPr>
        <p:txBody>
          <a:bodyPr wrap="square">
            <a:spAutoFit/>
          </a:bodyPr>
          <a:lstStyle/>
          <a:p>
            <a:pPr algn="l"/>
            <a:r>
              <a:rPr sz="950" b="0" i="0">
                <a:solidFill>
                  <a:srgbClr val="A0AAB8"/>
                </a:solidFill>
                <a:latin typeface="Calibri"/>
              </a:rPr>
              <a:t>Generalizes AutoAttacker's within-mission experience-reuse mechanism to cross-mission scope. AutoAttacker reuses subtasks within one session; CMatrix accumulates across every mission ever run.</a:t>
            </a:r>
          </a:p>
        </p:txBody>
      </p:sp>
      <p:sp>
        <p:nvSpPr>
          <p:cNvPr id="39" name="Rectangle 38"/>
          <p:cNvSpPr/>
          <p:nvPr/>
        </p:nvSpPr>
        <p:spPr>
          <a:xfrm>
            <a:off x="6172200" y="2212848"/>
            <a:ext cx="5833872" cy="4160520"/>
          </a:xfrm>
          <a:prstGeom prst="rect">
            <a:avLst/>
          </a:prstGeom>
          <a:solidFill>
            <a:srgbClr val="1C1404"/>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72200" y="2212848"/>
            <a:ext cx="5833872" cy="36576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81928" y="2267712"/>
            <a:ext cx="5650992" cy="274320"/>
          </a:xfrm>
          <a:prstGeom prst="rect">
            <a:avLst/>
          </a:prstGeom>
          <a:noFill/>
        </p:spPr>
        <p:txBody>
          <a:bodyPr wrap="square">
            <a:spAutoFit/>
          </a:bodyPr>
          <a:lstStyle/>
          <a:p>
            <a:pPr algn="l"/>
            <a:r>
              <a:rPr sz="1200" b="1" i="0">
                <a:solidFill>
                  <a:srgbClr val="0A0D1A"/>
                </a:solidFill>
                <a:latin typeface="Calibri"/>
              </a:rPr>
              <a:t>Attack Strategy Library</a:t>
            </a:r>
          </a:p>
        </p:txBody>
      </p:sp>
      <p:sp>
        <p:nvSpPr>
          <p:cNvPr id="42" name="Rectangle 41"/>
          <p:cNvSpPr/>
          <p:nvPr/>
        </p:nvSpPr>
        <p:spPr>
          <a:xfrm>
            <a:off x="6281928" y="2670048"/>
            <a:ext cx="5614416" cy="859536"/>
          </a:xfrm>
          <a:prstGeom prst="rect">
            <a:avLst/>
          </a:prstGeom>
          <a:solidFill>
            <a:srgbClr val="221806"/>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73368" y="2724912"/>
            <a:ext cx="5486400" cy="265176"/>
          </a:xfrm>
          <a:prstGeom prst="rect">
            <a:avLst/>
          </a:prstGeom>
          <a:noFill/>
        </p:spPr>
        <p:txBody>
          <a:bodyPr wrap="square">
            <a:spAutoFit/>
          </a:bodyPr>
          <a:lstStyle/>
          <a:p>
            <a:pPr algn="l"/>
            <a:r>
              <a:rPr sz="1100" b="1" i="0">
                <a:solidFill>
                  <a:srgbClr val="FFD700"/>
                </a:solidFill>
                <a:latin typeface="Calibri"/>
              </a:rPr>
              <a:t>What it stores</a:t>
            </a:r>
          </a:p>
        </p:txBody>
      </p:sp>
      <p:sp>
        <p:nvSpPr>
          <p:cNvPr id="44" name="TextBox 43"/>
          <p:cNvSpPr txBox="1"/>
          <p:nvPr/>
        </p:nvSpPr>
        <p:spPr>
          <a:xfrm>
            <a:off x="6373368" y="2962656"/>
            <a:ext cx="5486400" cy="502920"/>
          </a:xfrm>
          <a:prstGeom prst="rect">
            <a:avLst/>
          </a:prstGeom>
          <a:noFill/>
        </p:spPr>
        <p:txBody>
          <a:bodyPr wrap="square">
            <a:spAutoFit/>
          </a:bodyPr>
          <a:lstStyle/>
          <a:p>
            <a:pPr algn="l"/>
            <a:r>
              <a:rPr sz="950" b="0" i="0">
                <a:solidFill>
                  <a:srgbClr val="A0AAB8"/>
                </a:solidFill>
                <a:latin typeface="Calibri"/>
              </a:rPr>
              <a:t>Generalized attack procedures distilled from multiple validated outcomes against the same target technology class. Named strategies (e.g. STRAT-WP-SQLI-001) with confidence scores.</a:t>
            </a:r>
          </a:p>
        </p:txBody>
      </p:sp>
      <p:sp>
        <p:nvSpPr>
          <p:cNvPr id="45" name="Rectangle 44"/>
          <p:cNvSpPr/>
          <p:nvPr/>
        </p:nvSpPr>
        <p:spPr>
          <a:xfrm>
            <a:off x="6281928" y="3566160"/>
            <a:ext cx="5614416" cy="859536"/>
          </a:xfrm>
          <a:prstGeom prst="rect">
            <a:avLst/>
          </a:prstGeom>
          <a:solidFill>
            <a:srgbClr val="221806"/>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73368" y="3621024"/>
            <a:ext cx="5486400" cy="265176"/>
          </a:xfrm>
          <a:prstGeom prst="rect">
            <a:avLst/>
          </a:prstGeom>
          <a:noFill/>
        </p:spPr>
        <p:txBody>
          <a:bodyPr wrap="square">
            <a:spAutoFit/>
          </a:bodyPr>
          <a:lstStyle/>
          <a:p>
            <a:pPr algn="l"/>
            <a:r>
              <a:rPr sz="1100" b="1" i="0">
                <a:solidFill>
                  <a:srgbClr val="FFD700"/>
                </a:solidFill>
                <a:latin typeface="Calibri"/>
              </a:rPr>
              <a:t>Crystallization threshold</a:t>
            </a:r>
          </a:p>
        </p:txBody>
      </p:sp>
      <p:sp>
        <p:nvSpPr>
          <p:cNvPr id="47" name="TextBox 46"/>
          <p:cNvSpPr txBox="1"/>
          <p:nvPr/>
        </p:nvSpPr>
        <p:spPr>
          <a:xfrm>
            <a:off x="6373368" y="3858768"/>
            <a:ext cx="5486400" cy="502920"/>
          </a:xfrm>
          <a:prstGeom prst="rect">
            <a:avLst/>
          </a:prstGeom>
          <a:noFill/>
        </p:spPr>
        <p:txBody>
          <a:bodyPr wrap="square">
            <a:spAutoFit/>
          </a:bodyPr>
          <a:lstStyle/>
          <a:p>
            <a:pPr algn="l"/>
            <a:r>
              <a:rPr sz="950" b="0" i="0">
                <a:solidFill>
                  <a:srgbClr val="A0AAB8"/>
                </a:solidFill>
                <a:latin typeface="Calibri"/>
              </a:rPr>
              <a:t>Same technology fingerprint (e.g. WordPress 5.x + WooCommerce + Nginx) produces validated AttackChain in 2 or more independent missions → Commander triggers crystallization.</a:t>
            </a:r>
          </a:p>
        </p:txBody>
      </p:sp>
      <p:sp>
        <p:nvSpPr>
          <p:cNvPr id="48" name="Rectangle 47"/>
          <p:cNvSpPr/>
          <p:nvPr/>
        </p:nvSpPr>
        <p:spPr>
          <a:xfrm>
            <a:off x="6281928" y="4462272"/>
            <a:ext cx="5614416" cy="859536"/>
          </a:xfrm>
          <a:prstGeom prst="rect">
            <a:avLst/>
          </a:prstGeom>
          <a:solidFill>
            <a:srgbClr val="221806"/>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73368" y="4517136"/>
            <a:ext cx="5486400" cy="265176"/>
          </a:xfrm>
          <a:prstGeom prst="rect">
            <a:avLst/>
          </a:prstGeom>
          <a:noFill/>
        </p:spPr>
        <p:txBody>
          <a:bodyPr wrap="square">
            <a:spAutoFit/>
          </a:bodyPr>
          <a:lstStyle/>
          <a:p>
            <a:pPr algn="l"/>
            <a:r>
              <a:rPr sz="1100" b="1" i="0">
                <a:solidFill>
                  <a:srgbClr val="FFD700"/>
                </a:solidFill>
                <a:latin typeface="Calibri"/>
              </a:rPr>
              <a:t>When it's used</a:t>
            </a:r>
          </a:p>
        </p:txBody>
      </p:sp>
      <p:sp>
        <p:nvSpPr>
          <p:cNvPr id="50" name="TextBox 49"/>
          <p:cNvSpPr txBox="1"/>
          <p:nvPr/>
        </p:nvSpPr>
        <p:spPr>
          <a:xfrm>
            <a:off x="6373368" y="4754880"/>
            <a:ext cx="5486400" cy="502920"/>
          </a:xfrm>
          <a:prstGeom prst="rect">
            <a:avLst/>
          </a:prstGeom>
          <a:noFill/>
        </p:spPr>
        <p:txBody>
          <a:bodyPr wrap="square">
            <a:spAutoFit/>
          </a:bodyPr>
          <a:lstStyle/>
          <a:p>
            <a:pPr algn="l"/>
            <a:r>
              <a:rPr sz="950" b="0" i="0">
                <a:solidFill>
                  <a:srgbClr val="A0AAB8"/>
                </a:solidFill>
                <a:latin typeface="Calibri"/>
              </a:rPr>
              <a:t>Retrieved at mission start. Strategies are injected as pre-ranked APG AttackChain seeds — prioritized above zero-prior chains because they carry validated track record.</a:t>
            </a:r>
          </a:p>
        </p:txBody>
      </p:sp>
      <p:sp>
        <p:nvSpPr>
          <p:cNvPr id="51" name="Rectangle 50"/>
          <p:cNvSpPr/>
          <p:nvPr/>
        </p:nvSpPr>
        <p:spPr>
          <a:xfrm>
            <a:off x="6281928" y="5358384"/>
            <a:ext cx="5614416" cy="859536"/>
          </a:xfrm>
          <a:prstGeom prst="rect">
            <a:avLst/>
          </a:prstGeom>
          <a:solidFill>
            <a:srgbClr val="221806"/>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3368" y="5413248"/>
            <a:ext cx="5486400" cy="265176"/>
          </a:xfrm>
          <a:prstGeom prst="rect">
            <a:avLst/>
          </a:prstGeom>
          <a:noFill/>
        </p:spPr>
        <p:txBody>
          <a:bodyPr wrap="square">
            <a:spAutoFit/>
          </a:bodyPr>
          <a:lstStyle/>
          <a:p>
            <a:pPr algn="l"/>
            <a:r>
              <a:rPr sz="1100" b="1" i="0">
                <a:solidFill>
                  <a:srgbClr val="FFD700"/>
                </a:solidFill>
                <a:latin typeface="Calibri"/>
              </a:rPr>
              <a:t>Why it matters</a:t>
            </a:r>
          </a:p>
        </p:txBody>
      </p:sp>
      <p:sp>
        <p:nvSpPr>
          <p:cNvPr id="53" name="TextBox 52"/>
          <p:cNvSpPr txBox="1"/>
          <p:nvPr/>
        </p:nvSpPr>
        <p:spPr>
          <a:xfrm>
            <a:off x="6373368" y="5650992"/>
            <a:ext cx="5486400" cy="502920"/>
          </a:xfrm>
          <a:prstGeom prst="rect">
            <a:avLst/>
          </a:prstGeom>
          <a:noFill/>
        </p:spPr>
        <p:txBody>
          <a:bodyPr wrap="square">
            <a:spAutoFit/>
          </a:bodyPr>
          <a:lstStyle/>
          <a:p>
            <a:pPr algn="l"/>
            <a:r>
              <a:rPr sz="950" b="0" i="0">
                <a:solidFill>
                  <a:srgbClr val="A0AAB8"/>
                </a:solidFill>
                <a:latin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p>
        </p:txBody>
      </p:sp>
      <p:sp>
        <p:nvSpPr>
          <p:cNvPr id="54" name="TextBox 53"/>
          <p:cNvSpPr txBox="1"/>
          <p:nvPr/>
        </p:nvSpPr>
        <p:spPr>
          <a:xfrm>
            <a:off x="11780215" y="6355080"/>
            <a:ext cx="384048" cy="411480"/>
          </a:xfrm>
          <a:prstGeom prst="rect">
            <a:avLst/>
          </a:prstGeom>
          <a:noFill/>
        </p:spPr>
        <p:txBody>
          <a:bodyPr wrap="square">
            <a:spAutoFit/>
          </a:bodyPr>
          <a:lstStyle/>
          <a:p>
            <a:pPr algn="r"/>
            <a:r>
              <a:rPr sz="1300" b="1" i="0">
                <a:solidFill>
                  <a:srgbClr val="00BFD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4572000" cy="246888"/>
          </a:xfrm>
          <a:prstGeom prst="rect">
            <a:avLst/>
          </a:prstGeom>
          <a:noFill/>
        </p:spPr>
        <p:txBody>
          <a:bodyPr wrap="square">
            <a:spAutoFit/>
          </a:bodyPr>
          <a:lstStyle/>
          <a:p>
            <a:pPr algn="l"/>
            <a:r>
              <a:rPr sz="1000" b="1" i="0">
                <a:solidFill>
                  <a:srgbClr val="FFD700"/>
                </a:solidFill>
                <a:latin typeface="Calibri"/>
              </a:rPr>
              <a:t>REAL-WORLD SCENARIO</a:t>
            </a:r>
          </a:p>
        </p:txBody>
      </p:sp>
      <p:sp>
        <p:nvSpPr>
          <p:cNvPr id="6" name="TextBox 5"/>
          <p:cNvSpPr txBox="1"/>
          <p:nvPr/>
        </p:nvSpPr>
        <p:spPr>
          <a:xfrm>
            <a:off x="274320" y="283464"/>
            <a:ext cx="11430000" cy="466344"/>
          </a:xfrm>
          <a:prstGeom prst="rect">
            <a:avLst/>
          </a:prstGeom>
          <a:noFill/>
        </p:spPr>
        <p:txBody>
          <a:bodyPr wrap="square">
            <a:spAutoFit/>
          </a:bodyPr>
          <a:lstStyle/>
          <a:p>
            <a:pPr algn="l"/>
            <a:r>
              <a:rPr sz="2400" b="1" i="0">
                <a:solidFill>
                  <a:srgbClr val="FFFFFF"/>
                </a:solidFill>
                <a:latin typeface="Calibri"/>
              </a:rPr>
              <a:t>Mission: shopvault.io — Black-Box Assessment — Zero Manual Commands</a:t>
            </a:r>
          </a:p>
        </p:txBody>
      </p:sp>
      <p:sp>
        <p:nvSpPr>
          <p:cNvPr id="7" name="Rectangle 6"/>
          <p:cNvSpPr/>
          <p:nvPr/>
        </p:nvSpPr>
        <p:spPr>
          <a:xfrm>
            <a:off x="164592" y="768096"/>
            <a:ext cx="11862511" cy="347472"/>
          </a:xfrm>
          <a:prstGeom prst="rect">
            <a:avLst/>
          </a:prstGeom>
          <a:solidFill>
            <a:srgbClr val="101004"/>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822960"/>
            <a:ext cx="11597335" cy="228600"/>
          </a:xfrm>
          <a:prstGeom prst="rect">
            <a:avLst/>
          </a:prstGeom>
          <a:noFill/>
        </p:spPr>
        <p:txBody>
          <a:bodyPr wrap="square">
            <a:spAutoFit/>
          </a:bodyPr>
          <a:lstStyle/>
          <a:p>
            <a:pPr algn="l"/>
            <a:r>
              <a:rPr sz="900" b="0" i="1">
                <a:solidFill>
                  <a:srgbClr val="FFD700"/>
                </a:solidFill>
                <a:latin typeface="Calibri"/>
              </a:rPr>
              <a:t>Scope: all subdomains · web applications · REST APIs of shopvault.io  ·  Mode: Black-Box (zero prior knowledge)  ·  Operator configures root domain + scope → presses start.</a:t>
            </a:r>
          </a:p>
        </p:txBody>
      </p:sp>
      <p:sp>
        <p:nvSpPr>
          <p:cNvPr id="9" name="Rectangle 8"/>
          <p:cNvSpPr/>
          <p:nvPr/>
        </p:nvSpPr>
        <p:spPr>
          <a:xfrm>
            <a:off x="164592" y="1188720"/>
            <a:ext cx="2395728" cy="5010912"/>
          </a:xfrm>
          <a:prstGeom prst="rect">
            <a:avLst/>
          </a:prstGeom>
          <a:solidFill>
            <a:srgbClr val="041408"/>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4592" y="1188720"/>
            <a:ext cx="2395728" cy="457200"/>
          </a:xfrm>
          <a:prstGeom prst="rect">
            <a:avLst/>
          </a:prstGeom>
          <a:solidFill>
            <a:srgbClr val="08101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7744" y="1243584"/>
            <a:ext cx="2286000" cy="402336"/>
          </a:xfrm>
          <a:prstGeom prst="rect">
            <a:avLst/>
          </a:prstGeom>
          <a:noFill/>
        </p:spPr>
        <p:txBody>
          <a:bodyPr wrap="square">
            <a:spAutoFit/>
          </a:bodyPr>
          <a:lstStyle/>
          <a:p>
            <a:pPr algn="l"/>
            <a:r>
              <a:rPr sz="1000" b="1" i="0">
                <a:solidFill>
                  <a:srgbClr val="39FF14"/>
                </a:solidFill>
                <a:latin typeface="Calibri"/>
              </a:rPr>
              <a:t>PHASE 1
Reconnaissance</a:t>
            </a:r>
          </a:p>
        </p:txBody>
      </p:sp>
      <p:sp>
        <p:nvSpPr>
          <p:cNvPr id="12" name="TextBox 11"/>
          <p:cNvSpPr txBox="1"/>
          <p:nvPr/>
        </p:nvSpPr>
        <p:spPr>
          <a:xfrm>
            <a:off x="237744" y="1719072"/>
            <a:ext cx="2286000" cy="219456"/>
          </a:xfrm>
          <a:prstGeom prst="rect">
            <a:avLst/>
          </a:prstGeom>
          <a:noFill/>
        </p:spPr>
        <p:txBody>
          <a:bodyPr wrap="square">
            <a:spAutoFit/>
          </a:bodyPr>
          <a:lstStyle/>
          <a:p>
            <a:pPr algn="l"/>
            <a:r>
              <a:rPr sz="850" b="1" i="0">
                <a:solidFill>
                  <a:srgbClr val="39FF14"/>
                </a:solidFill>
                <a:latin typeface="Calibri"/>
              </a:rPr>
              <a:t>🕵️ Recon Agent</a:t>
            </a:r>
          </a:p>
        </p:txBody>
      </p:sp>
      <p:sp>
        <p:nvSpPr>
          <p:cNvPr id="13" name="Rectangle 12"/>
          <p:cNvSpPr/>
          <p:nvPr/>
        </p:nvSpPr>
        <p:spPr>
          <a:xfrm>
            <a:off x="237744" y="1920240"/>
            <a:ext cx="2249424" cy="182880"/>
          </a:xfrm>
          <a:prstGeom prst="rect">
            <a:avLst/>
          </a:prstGeom>
          <a:solidFill>
            <a:srgbClr val="081022"/>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1929384"/>
            <a:ext cx="2212848" cy="201168"/>
          </a:xfrm>
          <a:prstGeom prst="rect">
            <a:avLst/>
          </a:prstGeom>
          <a:noFill/>
        </p:spPr>
        <p:txBody>
          <a:bodyPr wrap="square">
            <a:spAutoFit/>
          </a:bodyPr>
          <a:lstStyle/>
          <a:p>
            <a:pPr algn="l"/>
            <a:r>
              <a:rPr sz="700" b="1" i="0">
                <a:solidFill>
                  <a:srgbClr val="39FF14"/>
                </a:solidFill>
                <a:latin typeface="Calibri"/>
              </a:rPr>
              <a:t>Amass  ·  httpx  ·  Nmap</a:t>
            </a:r>
          </a:p>
        </p:txBody>
      </p:sp>
      <p:sp>
        <p:nvSpPr>
          <p:cNvPr id="15" name="Rectangle 14"/>
          <p:cNvSpPr/>
          <p:nvPr/>
        </p:nvSpPr>
        <p:spPr>
          <a:xfrm>
            <a:off x="237744" y="2157984"/>
            <a:ext cx="2249424" cy="969264"/>
          </a:xfrm>
          <a:prstGeom prst="rect">
            <a:avLst/>
          </a:prstGeom>
          <a:solidFill>
            <a:srgbClr val="080E1C"/>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7744" y="2157984"/>
            <a:ext cx="45720" cy="96926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2194560"/>
            <a:ext cx="2121408" cy="219456"/>
          </a:xfrm>
          <a:prstGeom prst="rect">
            <a:avLst/>
          </a:prstGeom>
          <a:noFill/>
        </p:spPr>
        <p:txBody>
          <a:bodyPr wrap="square">
            <a:spAutoFit/>
          </a:bodyPr>
          <a:lstStyle/>
          <a:p>
            <a:pPr algn="l"/>
            <a:r>
              <a:rPr sz="800" b="1" i="0">
                <a:solidFill>
                  <a:srgbClr val="39FF14"/>
                </a:solidFill>
                <a:latin typeface="Calibri"/>
              </a:rPr>
              <a:t>Amass</a:t>
            </a:r>
          </a:p>
        </p:txBody>
      </p:sp>
      <p:sp>
        <p:nvSpPr>
          <p:cNvPr id="18" name="TextBox 17"/>
          <p:cNvSpPr txBox="1"/>
          <p:nvPr/>
        </p:nvSpPr>
        <p:spPr>
          <a:xfrm>
            <a:off x="310896" y="2395728"/>
            <a:ext cx="2121408" cy="201168"/>
          </a:xfrm>
          <a:prstGeom prst="rect">
            <a:avLst/>
          </a:prstGeom>
          <a:noFill/>
        </p:spPr>
        <p:txBody>
          <a:bodyPr wrap="square">
            <a:spAutoFit/>
          </a:bodyPr>
          <a:lstStyle/>
          <a:p>
            <a:pPr algn="l"/>
            <a:r>
              <a:rPr sz="800" b="0" i="0">
                <a:solidFill>
                  <a:srgbClr val="A0AAB8"/>
                </a:solidFill>
                <a:latin typeface="Calibri"/>
              </a:rPr>
              <a:t>14 subdomains discovered</a:t>
            </a:r>
          </a:p>
        </p:txBody>
      </p:sp>
      <p:sp>
        <p:nvSpPr>
          <p:cNvPr id="19" name="TextBox 18"/>
          <p:cNvSpPr txBox="1"/>
          <p:nvPr/>
        </p:nvSpPr>
        <p:spPr>
          <a:xfrm>
            <a:off x="310896" y="2596896"/>
            <a:ext cx="2121408" cy="201168"/>
          </a:xfrm>
          <a:prstGeom prst="rect">
            <a:avLst/>
          </a:prstGeom>
          <a:noFill/>
        </p:spPr>
        <p:txBody>
          <a:bodyPr wrap="square">
            <a:spAutoFit/>
          </a:bodyPr>
          <a:lstStyle/>
          <a:p>
            <a:pPr algn="l"/>
            <a:r>
              <a:rPr sz="800" b="0" i="0">
                <a:solidFill>
                  <a:srgbClr val="A0AAB8"/>
                </a:solidFill>
                <a:latin typeface="Calibri"/>
              </a:rPr>
              <a:t>api · admin · staging · pay · ...</a:t>
            </a:r>
          </a:p>
        </p:txBody>
      </p:sp>
      <p:sp>
        <p:nvSpPr>
          <p:cNvPr id="20" name="Rectangle 19"/>
          <p:cNvSpPr/>
          <p:nvPr/>
        </p:nvSpPr>
        <p:spPr>
          <a:xfrm>
            <a:off x="237744" y="3184855"/>
            <a:ext cx="2249424" cy="1874519"/>
          </a:xfrm>
          <a:prstGeom prst="rect">
            <a:avLst/>
          </a:prstGeom>
          <a:solidFill>
            <a:srgbClr val="080E1C"/>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37744" y="3184855"/>
            <a:ext cx="45720" cy="1874519"/>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0896" y="3221431"/>
            <a:ext cx="2121408" cy="219456"/>
          </a:xfrm>
          <a:prstGeom prst="rect">
            <a:avLst/>
          </a:prstGeom>
          <a:noFill/>
        </p:spPr>
        <p:txBody>
          <a:bodyPr wrap="square">
            <a:spAutoFit/>
          </a:bodyPr>
          <a:lstStyle/>
          <a:p>
            <a:pPr algn="l"/>
            <a:r>
              <a:rPr sz="800" b="1" i="0">
                <a:solidFill>
                  <a:srgbClr val="39FF14"/>
                </a:solidFill>
                <a:latin typeface="Calibri"/>
              </a:rPr>
              <a:t>httpx</a:t>
            </a:r>
          </a:p>
        </p:txBody>
      </p:sp>
      <p:sp>
        <p:nvSpPr>
          <p:cNvPr id="23" name="TextBox 22"/>
          <p:cNvSpPr txBox="1"/>
          <p:nvPr/>
        </p:nvSpPr>
        <p:spPr>
          <a:xfrm>
            <a:off x="310896" y="3422599"/>
            <a:ext cx="2121408" cy="201168"/>
          </a:xfrm>
          <a:prstGeom prst="rect">
            <a:avLst/>
          </a:prstGeom>
          <a:noFill/>
        </p:spPr>
        <p:txBody>
          <a:bodyPr wrap="square">
            <a:spAutoFit/>
          </a:bodyPr>
          <a:lstStyle/>
          <a:p>
            <a:pPr algn="l"/>
            <a:r>
              <a:rPr sz="800" b="0" i="0">
                <a:solidFill>
                  <a:srgbClr val="A0AAB8"/>
                </a:solidFill>
                <a:latin typeface="Calibri"/>
              </a:rPr>
              <a:t>11 live hosts confirmed</a:t>
            </a:r>
          </a:p>
        </p:txBody>
      </p:sp>
      <p:sp>
        <p:nvSpPr>
          <p:cNvPr id="24" name="TextBox 23"/>
          <p:cNvSpPr txBox="1"/>
          <p:nvPr/>
        </p:nvSpPr>
        <p:spPr>
          <a:xfrm>
            <a:off x="310896" y="3623767"/>
            <a:ext cx="2121408" cy="201168"/>
          </a:xfrm>
          <a:prstGeom prst="rect">
            <a:avLst/>
          </a:prstGeom>
          <a:noFill/>
        </p:spPr>
        <p:txBody>
          <a:bodyPr wrap="square">
            <a:spAutoFit/>
          </a:bodyPr>
          <a:lstStyle/>
          <a:p>
            <a:pPr algn="l"/>
            <a:r>
              <a:rPr sz="800" b="0" i="0">
                <a:solidFill>
                  <a:srgbClr val="A0AAB8"/>
                </a:solidFill>
                <a:latin typeface="Calibri"/>
              </a:rPr>
              <a:t>staging returns unexpected 200</a:t>
            </a:r>
          </a:p>
        </p:txBody>
      </p:sp>
      <p:sp>
        <p:nvSpPr>
          <p:cNvPr id="25" name="Rectangle 24"/>
          <p:cNvSpPr/>
          <p:nvPr/>
        </p:nvSpPr>
        <p:spPr>
          <a:xfrm>
            <a:off x="237744" y="5116981"/>
            <a:ext cx="2249424" cy="1179576"/>
          </a:xfrm>
          <a:prstGeom prst="rect">
            <a:avLst/>
          </a:prstGeom>
          <a:solidFill>
            <a:srgbClr val="080E1C"/>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7744" y="5116981"/>
            <a:ext cx="45720" cy="1179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10896" y="5153557"/>
            <a:ext cx="2121408" cy="219456"/>
          </a:xfrm>
          <a:prstGeom prst="rect">
            <a:avLst/>
          </a:prstGeom>
          <a:noFill/>
        </p:spPr>
        <p:txBody>
          <a:bodyPr wrap="square">
            <a:spAutoFit/>
          </a:bodyPr>
          <a:lstStyle/>
          <a:p>
            <a:pPr algn="l"/>
            <a:r>
              <a:rPr sz="800" b="1" i="0">
                <a:solidFill>
                  <a:srgbClr val="39FF14"/>
                </a:solidFill>
                <a:latin typeface="Calibri"/>
              </a:rPr>
              <a:t>Nmap</a:t>
            </a:r>
          </a:p>
        </p:txBody>
      </p:sp>
      <p:sp>
        <p:nvSpPr>
          <p:cNvPr id="28" name="TextBox 27"/>
          <p:cNvSpPr txBox="1"/>
          <p:nvPr/>
        </p:nvSpPr>
        <p:spPr>
          <a:xfrm>
            <a:off x="310896" y="5354725"/>
            <a:ext cx="2121408" cy="201168"/>
          </a:xfrm>
          <a:prstGeom prst="rect">
            <a:avLst/>
          </a:prstGeom>
          <a:noFill/>
        </p:spPr>
        <p:txBody>
          <a:bodyPr wrap="square">
            <a:spAutoFit/>
          </a:bodyPr>
          <a:lstStyle/>
          <a:p>
            <a:pPr algn="l"/>
            <a:r>
              <a:rPr sz="800" b="0" i="0">
                <a:solidFill>
                  <a:srgbClr val="A0AAB8"/>
                </a:solidFill>
                <a:latin typeface="Calibri"/>
              </a:rPr>
              <a:t>Ports 80, 443, 8080, 8443 open</a:t>
            </a:r>
          </a:p>
        </p:txBody>
      </p:sp>
      <p:sp>
        <p:nvSpPr>
          <p:cNvPr id="29" name="TextBox 28"/>
          <p:cNvSpPr txBox="1"/>
          <p:nvPr/>
        </p:nvSpPr>
        <p:spPr>
          <a:xfrm>
            <a:off x="310896" y="5555893"/>
            <a:ext cx="2121408" cy="201168"/>
          </a:xfrm>
          <a:prstGeom prst="rect">
            <a:avLst/>
          </a:prstGeom>
          <a:noFill/>
        </p:spPr>
        <p:txBody>
          <a:bodyPr wrap="square">
            <a:spAutoFit/>
          </a:bodyPr>
          <a:lstStyle/>
          <a:p>
            <a:pPr algn="l"/>
            <a:r>
              <a:rPr sz="800" b="0" i="0">
                <a:solidFill>
                  <a:srgbClr val="A0AAB8"/>
                </a:solidFill>
                <a:latin typeface="Calibri"/>
              </a:rPr>
              <a:t>pay.shopvault.io: expired TLS</a:t>
            </a:r>
          </a:p>
        </p:txBody>
      </p:sp>
      <p:sp>
        <p:nvSpPr>
          <p:cNvPr id="30" name="Rectangle 29"/>
          <p:cNvSpPr/>
          <p:nvPr/>
        </p:nvSpPr>
        <p:spPr>
          <a:xfrm>
            <a:off x="164592" y="5797296"/>
            <a:ext cx="2395728" cy="402336"/>
          </a:xfrm>
          <a:prstGeom prst="rect">
            <a:avLst/>
          </a:prstGeom>
          <a:solidFill>
            <a:srgbClr val="060C18"/>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6032" y="5852160"/>
            <a:ext cx="2258568" cy="219456"/>
          </a:xfrm>
          <a:prstGeom prst="rect">
            <a:avLst/>
          </a:prstGeom>
          <a:noFill/>
        </p:spPr>
        <p:txBody>
          <a:bodyPr wrap="square">
            <a:spAutoFit/>
          </a:bodyPr>
          <a:lstStyle/>
          <a:p>
            <a:pPr algn="l"/>
            <a:r>
              <a:rPr sz="850" b="1" i="0">
                <a:solidFill>
                  <a:srgbClr val="39FF14"/>
                </a:solidFill>
                <a:latin typeface="Calibri"/>
              </a:rPr>
              <a:t>ASG ← 37 new nodes</a:t>
            </a:r>
          </a:p>
        </p:txBody>
      </p:sp>
      <p:cxnSp>
        <p:nvCxnSpPr>
          <p:cNvPr id="32" name="Connector 31"/>
          <p:cNvCxnSpPr/>
          <p:nvPr/>
        </p:nvCxnSpPr>
        <p:spPr>
          <a:xfrm>
            <a:off x="2560320" y="1417320"/>
            <a:ext cx="54864" cy="0"/>
          </a:xfrm>
          <a:prstGeom prst="line">
            <a:avLst/>
          </a:prstGeom>
          <a:ln w="228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2615184" y="1188720"/>
            <a:ext cx="3474720" cy="5010912"/>
          </a:xfrm>
          <a:prstGeom prst="rect">
            <a:avLst/>
          </a:prstGeom>
          <a:solidFill>
            <a:srgbClr val="041018"/>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615184" y="1188720"/>
            <a:ext cx="3474720" cy="457200"/>
          </a:xfrm>
          <a:prstGeom prst="rect">
            <a:avLst/>
          </a:prstGeom>
          <a:solidFill>
            <a:srgbClr val="08101C"/>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688336" y="1243584"/>
            <a:ext cx="3364992" cy="402336"/>
          </a:xfrm>
          <a:prstGeom prst="rect">
            <a:avLst/>
          </a:prstGeom>
          <a:noFill/>
        </p:spPr>
        <p:txBody>
          <a:bodyPr wrap="square">
            <a:spAutoFit/>
          </a:bodyPr>
          <a:lstStyle/>
          <a:p>
            <a:pPr algn="l"/>
            <a:r>
              <a:rPr sz="1000" b="1" i="0">
                <a:solidFill>
                  <a:srgbClr val="00E5FF"/>
                </a:solidFill>
                <a:latin typeface="Calibri"/>
              </a:rPr>
              <a:t>PHASE 2
Analysis + Intel</a:t>
            </a:r>
          </a:p>
        </p:txBody>
      </p:sp>
      <p:sp>
        <p:nvSpPr>
          <p:cNvPr id="36" name="TextBox 35"/>
          <p:cNvSpPr txBox="1"/>
          <p:nvPr/>
        </p:nvSpPr>
        <p:spPr>
          <a:xfrm>
            <a:off x="2688336" y="1719072"/>
            <a:ext cx="3364992" cy="219456"/>
          </a:xfrm>
          <a:prstGeom prst="rect">
            <a:avLst/>
          </a:prstGeom>
          <a:noFill/>
        </p:spPr>
        <p:txBody>
          <a:bodyPr wrap="square">
            <a:spAutoFit/>
          </a:bodyPr>
          <a:lstStyle/>
          <a:p>
            <a:pPr algn="l"/>
            <a:r>
              <a:rPr sz="850" b="1" i="0">
                <a:solidFill>
                  <a:srgbClr val="00E5FF"/>
                </a:solidFill>
                <a:latin typeface="Calibri"/>
              </a:rPr>
              <a:t>🔬 Analysis + 🔍 Research</a:t>
            </a:r>
          </a:p>
        </p:txBody>
      </p:sp>
      <p:sp>
        <p:nvSpPr>
          <p:cNvPr id="37" name="Rectangle 36"/>
          <p:cNvSpPr/>
          <p:nvPr/>
        </p:nvSpPr>
        <p:spPr>
          <a:xfrm>
            <a:off x="2688336" y="1920240"/>
            <a:ext cx="3328416" cy="182880"/>
          </a:xfrm>
          <a:prstGeom prst="rect">
            <a:avLst/>
          </a:prstGeom>
          <a:solidFill>
            <a:srgbClr val="081022"/>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24912" y="1929384"/>
            <a:ext cx="3291840" cy="201168"/>
          </a:xfrm>
          <a:prstGeom prst="rect">
            <a:avLst/>
          </a:prstGeom>
          <a:noFill/>
        </p:spPr>
        <p:txBody>
          <a:bodyPr wrap="square">
            <a:spAutoFit/>
          </a:bodyPr>
          <a:lstStyle/>
          <a:p>
            <a:pPr algn="l"/>
            <a:r>
              <a:rPr sz="700" b="1" i="0">
                <a:solidFill>
                  <a:srgbClr val="00E5FF"/>
                </a:solidFill>
                <a:latin typeface="Calibri"/>
              </a:rPr>
              <a:t>WhatWeb  ·  Gobuster  ·  ffuf  ·  Nuclei  ·  ZAP</a:t>
            </a:r>
          </a:p>
        </p:txBody>
      </p:sp>
      <p:sp>
        <p:nvSpPr>
          <p:cNvPr id="39" name="Rectangle 38"/>
          <p:cNvSpPr/>
          <p:nvPr/>
        </p:nvSpPr>
        <p:spPr>
          <a:xfrm>
            <a:off x="2688336" y="2157984"/>
            <a:ext cx="3328416" cy="832104"/>
          </a:xfrm>
          <a:prstGeom prst="rect">
            <a:avLst/>
          </a:prstGeom>
          <a:solidFill>
            <a:srgbClr val="080E1C"/>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688336" y="2157984"/>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61488" y="2194560"/>
            <a:ext cx="3200400" cy="219456"/>
          </a:xfrm>
          <a:prstGeom prst="rect">
            <a:avLst/>
          </a:prstGeom>
          <a:noFill/>
        </p:spPr>
        <p:txBody>
          <a:bodyPr wrap="square">
            <a:spAutoFit/>
          </a:bodyPr>
          <a:lstStyle/>
          <a:p>
            <a:pPr algn="l"/>
            <a:r>
              <a:rPr sz="800" b="1" i="0">
                <a:solidFill>
                  <a:srgbClr val="00E5FF"/>
                </a:solidFill>
                <a:latin typeface="Calibri"/>
              </a:rPr>
              <a:t>WhatWeb</a:t>
            </a:r>
          </a:p>
        </p:txBody>
      </p:sp>
      <p:sp>
        <p:nvSpPr>
          <p:cNvPr id="42" name="TextBox 41"/>
          <p:cNvSpPr txBox="1"/>
          <p:nvPr/>
        </p:nvSpPr>
        <p:spPr>
          <a:xfrm>
            <a:off x="2761488" y="2395728"/>
            <a:ext cx="3200400" cy="201168"/>
          </a:xfrm>
          <a:prstGeom prst="rect">
            <a:avLst/>
          </a:prstGeom>
          <a:noFill/>
        </p:spPr>
        <p:txBody>
          <a:bodyPr wrap="square">
            <a:spAutoFit/>
          </a:bodyPr>
          <a:lstStyle/>
          <a:p>
            <a:pPr algn="l"/>
            <a:r>
              <a:rPr sz="800" b="0" i="0">
                <a:solidFill>
                  <a:srgbClr val="A0AAB8"/>
                </a:solidFill>
                <a:latin typeface="Calibri"/>
              </a:rPr>
              <a:t>WordPress 5.9.3 · Django API</a:t>
            </a:r>
          </a:p>
        </p:txBody>
      </p:sp>
      <p:sp>
        <p:nvSpPr>
          <p:cNvPr id="43" name="TextBox 42"/>
          <p:cNvSpPr txBox="1"/>
          <p:nvPr/>
        </p:nvSpPr>
        <p:spPr>
          <a:xfrm>
            <a:off x="2761488" y="2596896"/>
            <a:ext cx="3200400" cy="201168"/>
          </a:xfrm>
          <a:prstGeom prst="rect">
            <a:avLst/>
          </a:prstGeom>
          <a:noFill/>
        </p:spPr>
        <p:txBody>
          <a:bodyPr wrap="square">
            <a:spAutoFit/>
          </a:bodyPr>
          <a:lstStyle/>
          <a:p>
            <a:pPr algn="l"/>
            <a:r>
              <a:rPr sz="800" b="0" i="0">
                <a:solidFill>
                  <a:srgbClr val="A0AAB8"/>
                </a:solidFill>
                <a:latin typeface="Calibri"/>
              </a:rPr>
              <a:t>→ Research: CVE-2022-21661 (CVSS 8.8)</a:t>
            </a:r>
          </a:p>
        </p:txBody>
      </p:sp>
      <p:sp>
        <p:nvSpPr>
          <p:cNvPr id="44" name="Rectangle 43"/>
          <p:cNvSpPr/>
          <p:nvPr/>
        </p:nvSpPr>
        <p:spPr>
          <a:xfrm>
            <a:off x="2688336" y="2990088"/>
            <a:ext cx="3328416" cy="832104"/>
          </a:xfrm>
          <a:prstGeom prst="rect">
            <a:avLst/>
          </a:prstGeom>
          <a:solidFill>
            <a:srgbClr val="080E1C"/>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688336" y="2990088"/>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761488" y="3026664"/>
            <a:ext cx="3200400" cy="219456"/>
          </a:xfrm>
          <a:prstGeom prst="rect">
            <a:avLst/>
          </a:prstGeom>
          <a:noFill/>
        </p:spPr>
        <p:txBody>
          <a:bodyPr wrap="square">
            <a:spAutoFit/>
          </a:bodyPr>
          <a:lstStyle/>
          <a:p>
            <a:pPr algn="l"/>
            <a:r>
              <a:rPr sz="800" b="1" i="0">
                <a:solidFill>
                  <a:srgbClr val="00E5FF"/>
                </a:solidFill>
                <a:latin typeface="Calibri"/>
              </a:rPr>
              <a:t>Gobuster</a:t>
            </a:r>
          </a:p>
        </p:txBody>
      </p:sp>
      <p:sp>
        <p:nvSpPr>
          <p:cNvPr id="47" name="TextBox 46"/>
          <p:cNvSpPr txBox="1"/>
          <p:nvPr/>
        </p:nvSpPr>
        <p:spPr>
          <a:xfrm>
            <a:off x="2761488" y="3227832"/>
            <a:ext cx="3200400" cy="201168"/>
          </a:xfrm>
          <a:prstGeom prst="rect">
            <a:avLst/>
          </a:prstGeom>
          <a:noFill/>
        </p:spPr>
        <p:txBody>
          <a:bodyPr wrap="square">
            <a:spAutoFit/>
          </a:bodyPr>
          <a:lstStyle/>
          <a:p>
            <a:pPr algn="l"/>
            <a:r>
              <a:rPr sz="800" b="0" i="0">
                <a:solidFill>
                  <a:srgbClr val="A0AAB8"/>
                </a:solidFill>
                <a:latin typeface="Calibri"/>
              </a:rPr>
              <a:t>/backup/db_export_2023.sql EXPOSED</a:t>
            </a:r>
          </a:p>
        </p:txBody>
      </p:sp>
      <p:sp>
        <p:nvSpPr>
          <p:cNvPr id="48" name="TextBox 47"/>
          <p:cNvSpPr txBox="1"/>
          <p:nvPr/>
        </p:nvSpPr>
        <p:spPr>
          <a:xfrm>
            <a:off x="2761488" y="3429000"/>
            <a:ext cx="3200400" cy="201168"/>
          </a:xfrm>
          <a:prstGeom prst="rect">
            <a:avLst/>
          </a:prstGeom>
          <a:noFill/>
        </p:spPr>
        <p:txBody>
          <a:bodyPr wrap="square">
            <a:spAutoFit/>
          </a:bodyPr>
          <a:lstStyle/>
          <a:p>
            <a:pPr algn="l"/>
            <a:r>
              <a:rPr sz="800" b="0" i="0">
                <a:solidFill>
                  <a:srgbClr val="A0AAB8"/>
                </a:solidFill>
                <a:latin typeface="Calibri"/>
              </a:rPr>
              <a:t>/admin/users · /admin/login</a:t>
            </a:r>
          </a:p>
        </p:txBody>
      </p:sp>
      <p:sp>
        <p:nvSpPr>
          <p:cNvPr id="49" name="Rectangle 48"/>
          <p:cNvSpPr/>
          <p:nvPr/>
        </p:nvSpPr>
        <p:spPr>
          <a:xfrm>
            <a:off x="2688336" y="3822192"/>
            <a:ext cx="3328416" cy="832104"/>
          </a:xfrm>
          <a:prstGeom prst="rect">
            <a:avLst/>
          </a:prstGeom>
          <a:solidFill>
            <a:srgbClr val="080E1C"/>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688336" y="3822192"/>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761488" y="3858768"/>
            <a:ext cx="3200400" cy="219456"/>
          </a:xfrm>
          <a:prstGeom prst="rect">
            <a:avLst/>
          </a:prstGeom>
          <a:noFill/>
        </p:spPr>
        <p:txBody>
          <a:bodyPr wrap="square">
            <a:spAutoFit/>
          </a:bodyPr>
          <a:lstStyle/>
          <a:p>
            <a:pPr algn="l"/>
            <a:r>
              <a:rPr sz="800" b="1" i="0">
                <a:solidFill>
                  <a:srgbClr val="00E5FF"/>
                </a:solidFill>
                <a:latin typeface="Calibri"/>
              </a:rPr>
              <a:t>ffuf</a:t>
            </a:r>
          </a:p>
        </p:txBody>
      </p:sp>
      <p:sp>
        <p:nvSpPr>
          <p:cNvPr id="52" name="TextBox 51"/>
          <p:cNvSpPr txBox="1"/>
          <p:nvPr/>
        </p:nvSpPr>
        <p:spPr>
          <a:xfrm>
            <a:off x="2761488" y="4059936"/>
            <a:ext cx="3200400" cy="201168"/>
          </a:xfrm>
          <a:prstGeom prst="rect">
            <a:avLst/>
          </a:prstGeom>
          <a:noFill/>
        </p:spPr>
        <p:txBody>
          <a:bodyPr wrap="square">
            <a:spAutoFit/>
          </a:bodyPr>
          <a:lstStyle/>
          <a:p>
            <a:pPr algn="l"/>
            <a:r>
              <a:rPr sz="800" b="0" i="0">
                <a:solidFill>
                  <a:srgbClr val="A0AAB8"/>
                </a:solidFill>
                <a:latin typeface="Calibri"/>
              </a:rPr>
              <a:t>IDOR: user_id param unsanitized</a:t>
            </a:r>
          </a:p>
        </p:txBody>
      </p:sp>
      <p:sp>
        <p:nvSpPr>
          <p:cNvPr id="53" name="TextBox 52"/>
          <p:cNvSpPr txBox="1"/>
          <p:nvPr/>
        </p:nvSpPr>
        <p:spPr>
          <a:xfrm>
            <a:off x="2761488" y="4261104"/>
            <a:ext cx="3200400" cy="201168"/>
          </a:xfrm>
          <a:prstGeom prst="rect">
            <a:avLst/>
          </a:prstGeom>
          <a:noFill/>
        </p:spPr>
        <p:txBody>
          <a:bodyPr wrap="square">
            <a:spAutoFit/>
          </a:bodyPr>
          <a:lstStyle/>
          <a:p>
            <a:pPr algn="l"/>
            <a:r>
              <a:rPr sz="800" b="0" i="0">
                <a:solidFill>
                  <a:srgbClr val="A0AAB8"/>
                </a:solidFill>
                <a:latin typeface="Calibri"/>
              </a:rPr>
              <a:t>/api/v1/internal/users found</a:t>
            </a:r>
          </a:p>
        </p:txBody>
      </p:sp>
      <p:sp>
        <p:nvSpPr>
          <p:cNvPr id="54" name="Rectangle 53"/>
          <p:cNvSpPr/>
          <p:nvPr/>
        </p:nvSpPr>
        <p:spPr>
          <a:xfrm>
            <a:off x="2688336" y="4654296"/>
            <a:ext cx="3328416" cy="832104"/>
          </a:xfrm>
          <a:prstGeom prst="rect">
            <a:avLst/>
          </a:prstGeom>
          <a:solidFill>
            <a:srgbClr val="080E1C"/>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688336" y="4654296"/>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761488" y="4690872"/>
            <a:ext cx="3200400" cy="219456"/>
          </a:xfrm>
          <a:prstGeom prst="rect">
            <a:avLst/>
          </a:prstGeom>
          <a:noFill/>
        </p:spPr>
        <p:txBody>
          <a:bodyPr wrap="square">
            <a:spAutoFit/>
          </a:bodyPr>
          <a:lstStyle/>
          <a:p>
            <a:pPr algn="l"/>
            <a:r>
              <a:rPr sz="800" b="1" i="0">
                <a:solidFill>
                  <a:srgbClr val="00E5FF"/>
                </a:solidFill>
                <a:latin typeface="Calibri"/>
              </a:rPr>
              <a:t>ZAP</a:t>
            </a:r>
          </a:p>
        </p:txBody>
      </p:sp>
      <p:sp>
        <p:nvSpPr>
          <p:cNvPr id="57" name="TextBox 56"/>
          <p:cNvSpPr txBox="1"/>
          <p:nvPr/>
        </p:nvSpPr>
        <p:spPr>
          <a:xfrm>
            <a:off x="2761488" y="4892040"/>
            <a:ext cx="3200400" cy="201168"/>
          </a:xfrm>
          <a:prstGeom prst="rect">
            <a:avLst/>
          </a:prstGeom>
          <a:noFill/>
        </p:spPr>
        <p:txBody>
          <a:bodyPr wrap="square">
            <a:spAutoFit/>
          </a:bodyPr>
          <a:lstStyle/>
          <a:p>
            <a:pPr algn="l"/>
            <a:r>
              <a:rPr sz="800" b="0" i="0">
                <a:solidFill>
                  <a:srgbClr val="A0AAB8"/>
                </a:solidFill>
                <a:latin typeface="Calibri"/>
              </a:rPr>
              <a:t>XSS on /search?q=</a:t>
            </a:r>
          </a:p>
        </p:txBody>
      </p:sp>
      <p:sp>
        <p:nvSpPr>
          <p:cNvPr id="58" name="TextBox 57"/>
          <p:cNvSpPr txBox="1"/>
          <p:nvPr/>
        </p:nvSpPr>
        <p:spPr>
          <a:xfrm>
            <a:off x="2761488" y="5093208"/>
            <a:ext cx="3200400" cy="201168"/>
          </a:xfrm>
          <a:prstGeom prst="rect">
            <a:avLst/>
          </a:prstGeom>
          <a:noFill/>
        </p:spPr>
        <p:txBody>
          <a:bodyPr wrap="square">
            <a:spAutoFit/>
          </a:bodyPr>
          <a:lstStyle/>
          <a:p>
            <a:pPr algn="l"/>
            <a:r>
              <a:rPr sz="800" b="0" i="0">
                <a:solidFill>
                  <a:srgbClr val="A0AAB8"/>
                </a:solidFill>
                <a:latin typeface="Calibri"/>
              </a:rPr>
              <a:t>SQL error on staging login</a:t>
            </a:r>
          </a:p>
        </p:txBody>
      </p:sp>
      <p:sp>
        <p:nvSpPr>
          <p:cNvPr id="59" name="Rectangle 58"/>
          <p:cNvSpPr/>
          <p:nvPr/>
        </p:nvSpPr>
        <p:spPr>
          <a:xfrm>
            <a:off x="2615184" y="5797296"/>
            <a:ext cx="3474720" cy="402336"/>
          </a:xfrm>
          <a:prstGeom prst="rect">
            <a:avLst/>
          </a:prstGeom>
          <a:solidFill>
            <a:srgbClr val="060C1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706624" y="5852160"/>
            <a:ext cx="3337560" cy="219456"/>
          </a:xfrm>
          <a:prstGeom prst="rect">
            <a:avLst/>
          </a:prstGeom>
          <a:noFill/>
        </p:spPr>
        <p:txBody>
          <a:bodyPr wrap="square">
            <a:spAutoFit/>
          </a:bodyPr>
          <a:lstStyle/>
          <a:p>
            <a:pPr algn="l"/>
            <a:r>
              <a:rPr sz="850" b="1" i="0">
                <a:solidFill>
                  <a:srgbClr val="00E5FF"/>
                </a:solidFill>
                <a:latin typeface="Calibri"/>
              </a:rPr>
              <a:t>ASG ← 61 nodes</a:t>
            </a:r>
          </a:p>
        </p:txBody>
      </p:sp>
      <p:sp>
        <p:nvSpPr>
          <p:cNvPr id="61" name="TextBox 60"/>
          <p:cNvSpPr txBox="1"/>
          <p:nvPr/>
        </p:nvSpPr>
        <p:spPr>
          <a:xfrm>
            <a:off x="2706624" y="6044184"/>
            <a:ext cx="3337560" cy="182880"/>
          </a:xfrm>
          <a:prstGeom prst="rect">
            <a:avLst/>
          </a:prstGeom>
          <a:noFill/>
        </p:spPr>
        <p:txBody>
          <a:bodyPr wrap="square">
            <a:spAutoFit/>
          </a:bodyPr>
          <a:lstStyle/>
          <a:p>
            <a:pPr algn="l"/>
            <a:r>
              <a:rPr sz="850" b="1" i="0">
                <a:solidFill>
                  <a:srgbClr val="00E5FF"/>
                </a:solidFill>
                <a:latin typeface="Calibri"/>
              </a:rPr>
              <a:t>APG ← 3 chains seeded</a:t>
            </a:r>
          </a:p>
        </p:txBody>
      </p:sp>
      <p:cxnSp>
        <p:nvCxnSpPr>
          <p:cNvPr id="62" name="Connector 61"/>
          <p:cNvCxnSpPr/>
          <p:nvPr/>
        </p:nvCxnSpPr>
        <p:spPr>
          <a:xfrm>
            <a:off x="6089904" y="1417320"/>
            <a:ext cx="54864" cy="0"/>
          </a:xfrm>
          <a:prstGeom prst="line">
            <a:avLst/>
          </a:prstGeom>
          <a:ln w="2286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6144768" y="1188720"/>
            <a:ext cx="3639312" cy="5010912"/>
          </a:xfrm>
          <a:prstGeom prst="rect">
            <a:avLst/>
          </a:prstGeom>
          <a:solidFill>
            <a:srgbClr val="180606"/>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144768" y="1188720"/>
            <a:ext cx="3639312" cy="457200"/>
          </a:xfrm>
          <a:prstGeom prst="rect">
            <a:avLst/>
          </a:prstGeom>
          <a:solidFill>
            <a:srgbClr val="08101C"/>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0" y="1243584"/>
            <a:ext cx="3529584" cy="402336"/>
          </a:xfrm>
          <a:prstGeom prst="rect">
            <a:avLst/>
          </a:prstGeom>
          <a:noFill/>
        </p:spPr>
        <p:txBody>
          <a:bodyPr wrap="square">
            <a:spAutoFit/>
          </a:bodyPr>
          <a:lstStyle/>
          <a:p>
            <a:pPr algn="l"/>
            <a:r>
              <a:rPr sz="1000" b="1" i="0">
                <a:solidFill>
                  <a:srgbClr val="FF4545"/>
                </a:solidFill>
                <a:latin typeface="Calibri"/>
              </a:rPr>
              <a:t>PHASE 3
Validation</a:t>
            </a:r>
          </a:p>
        </p:txBody>
      </p:sp>
      <p:sp>
        <p:nvSpPr>
          <p:cNvPr id="66" name="TextBox 65"/>
          <p:cNvSpPr txBox="1"/>
          <p:nvPr/>
        </p:nvSpPr>
        <p:spPr>
          <a:xfrm>
            <a:off x="6217920" y="1719072"/>
            <a:ext cx="3529584" cy="219456"/>
          </a:xfrm>
          <a:prstGeom prst="rect">
            <a:avLst/>
          </a:prstGeom>
          <a:noFill/>
        </p:spPr>
        <p:txBody>
          <a:bodyPr wrap="square">
            <a:spAutoFit/>
          </a:bodyPr>
          <a:lstStyle/>
          <a:p>
            <a:pPr algn="l"/>
            <a:r>
              <a:rPr sz="850" b="1" i="0">
                <a:solidFill>
                  <a:srgbClr val="FF4545"/>
                </a:solidFill>
                <a:latin typeface="Calibri"/>
              </a:rPr>
              <a:t>🎯 Validation + 📸 Evidence</a:t>
            </a:r>
          </a:p>
        </p:txBody>
      </p:sp>
      <p:sp>
        <p:nvSpPr>
          <p:cNvPr id="67" name="Rectangle 66"/>
          <p:cNvSpPr/>
          <p:nvPr/>
        </p:nvSpPr>
        <p:spPr>
          <a:xfrm>
            <a:off x="6217920" y="1920240"/>
            <a:ext cx="3493008" cy="182880"/>
          </a:xfrm>
          <a:prstGeom prst="rect">
            <a:avLst/>
          </a:prstGeom>
          <a:solidFill>
            <a:srgbClr val="081022"/>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254496" y="1929384"/>
            <a:ext cx="3456432" cy="201168"/>
          </a:xfrm>
          <a:prstGeom prst="rect">
            <a:avLst/>
          </a:prstGeom>
          <a:noFill/>
        </p:spPr>
        <p:txBody>
          <a:bodyPr wrap="square">
            <a:spAutoFit/>
          </a:bodyPr>
          <a:lstStyle/>
          <a:p>
            <a:pPr algn="l"/>
            <a:r>
              <a:rPr sz="700" b="1" i="0">
                <a:solidFill>
                  <a:srgbClr val="FF4545"/>
                </a:solidFill>
                <a:latin typeface="Calibri"/>
              </a:rPr>
              <a:t>SQLMap  ·  Metasploit  ·  EyeWitness</a:t>
            </a:r>
          </a:p>
        </p:txBody>
      </p:sp>
      <p:sp>
        <p:nvSpPr>
          <p:cNvPr id="69" name="Rectangle 68"/>
          <p:cNvSpPr/>
          <p:nvPr/>
        </p:nvSpPr>
        <p:spPr>
          <a:xfrm>
            <a:off x="6217920" y="2157984"/>
            <a:ext cx="3493008" cy="854964"/>
          </a:xfrm>
          <a:prstGeom prst="rect">
            <a:avLst/>
          </a:prstGeom>
          <a:solidFill>
            <a:srgbClr val="080E1C"/>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17920" y="2157984"/>
            <a:ext cx="45720" cy="85496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91072" y="2194560"/>
            <a:ext cx="3364992" cy="219456"/>
          </a:xfrm>
          <a:prstGeom prst="rect">
            <a:avLst/>
          </a:prstGeom>
          <a:noFill/>
        </p:spPr>
        <p:txBody>
          <a:bodyPr wrap="square">
            <a:spAutoFit/>
          </a:bodyPr>
          <a:lstStyle/>
          <a:p>
            <a:pPr algn="l"/>
            <a:r>
              <a:rPr sz="800" b="1" i="0">
                <a:solidFill>
                  <a:srgbClr val="FF4545"/>
                </a:solidFill>
                <a:latin typeface="Calibri"/>
              </a:rPr>
              <a:t>Chain-01</a:t>
            </a:r>
          </a:p>
        </p:txBody>
      </p:sp>
      <p:sp>
        <p:nvSpPr>
          <p:cNvPr id="72" name="TextBox 71"/>
          <p:cNvSpPr txBox="1"/>
          <p:nvPr/>
        </p:nvSpPr>
        <p:spPr>
          <a:xfrm>
            <a:off x="6291072" y="2377440"/>
            <a:ext cx="3364992" cy="201168"/>
          </a:xfrm>
          <a:prstGeom prst="rect">
            <a:avLst/>
          </a:prstGeom>
          <a:noFill/>
        </p:spPr>
        <p:txBody>
          <a:bodyPr wrap="square">
            <a:spAutoFit/>
          </a:bodyPr>
          <a:lstStyle/>
          <a:p>
            <a:pPr algn="l"/>
            <a:r>
              <a:rPr sz="800" b="1" i="0">
                <a:solidFill>
                  <a:srgbClr val="FF4545"/>
                </a:solidFill>
                <a:latin typeface="Calibri"/>
              </a:rPr>
              <a:t>(risk 8.8)</a:t>
            </a:r>
          </a:p>
        </p:txBody>
      </p:sp>
      <p:sp>
        <p:nvSpPr>
          <p:cNvPr id="73" name="TextBox 72"/>
          <p:cNvSpPr txBox="1"/>
          <p:nvPr/>
        </p:nvSpPr>
        <p:spPr>
          <a:xfrm>
            <a:off x="6291072" y="2560320"/>
            <a:ext cx="3364992" cy="201168"/>
          </a:xfrm>
          <a:prstGeom prst="rect">
            <a:avLst/>
          </a:prstGeom>
          <a:noFill/>
        </p:spPr>
        <p:txBody>
          <a:bodyPr wrap="square">
            <a:spAutoFit/>
          </a:bodyPr>
          <a:lstStyle/>
          <a:p>
            <a:pPr algn="l"/>
            <a:r>
              <a:rPr sz="800" b="0" i="0">
                <a:solidFill>
                  <a:srgbClr val="A0AAB8"/>
                </a:solidFill>
                <a:latin typeface="Calibri"/>
              </a:rPr>
              <a:t>SQLMap → SQLi confirmed</a:t>
            </a:r>
          </a:p>
        </p:txBody>
      </p:sp>
      <p:sp>
        <p:nvSpPr>
          <p:cNvPr id="74" name="TextBox 73"/>
          <p:cNvSpPr txBox="1"/>
          <p:nvPr/>
        </p:nvSpPr>
        <p:spPr>
          <a:xfrm>
            <a:off x="6291072" y="2761488"/>
            <a:ext cx="3364992" cy="201168"/>
          </a:xfrm>
          <a:prstGeom prst="rect">
            <a:avLst/>
          </a:prstGeom>
          <a:noFill/>
        </p:spPr>
        <p:txBody>
          <a:bodyPr wrap="square">
            <a:spAutoFit/>
          </a:bodyPr>
          <a:lstStyle/>
          <a:p>
            <a:pPr algn="l"/>
            <a:r>
              <a:rPr sz="800" b="0" i="0">
                <a:solidFill>
                  <a:srgbClr val="A0AAB8"/>
                </a:solidFill>
                <a:latin typeface="Calibri"/>
              </a:rPr>
              <a:t>Admin hash cracked → Metasploit → RCE</a:t>
            </a:r>
          </a:p>
        </p:txBody>
      </p:sp>
      <p:sp>
        <p:nvSpPr>
          <p:cNvPr id="75" name="TextBox 74"/>
          <p:cNvSpPr txBox="1"/>
          <p:nvPr/>
        </p:nvSpPr>
        <p:spPr>
          <a:xfrm>
            <a:off x="6291072" y="2962656"/>
            <a:ext cx="3364992" cy="201168"/>
          </a:xfrm>
          <a:prstGeom prst="rect">
            <a:avLst/>
          </a:prstGeom>
          <a:noFill/>
        </p:spPr>
        <p:txBody>
          <a:bodyPr wrap="square">
            <a:spAutoFit/>
          </a:bodyPr>
          <a:lstStyle/>
          <a:p>
            <a:pPr algn="l"/>
            <a:r>
              <a:rPr sz="800" b="0" i="0">
                <a:solidFill>
                  <a:srgbClr val="A0AAB8"/>
                </a:solidFill>
                <a:latin typeface="Calibri"/>
              </a:rPr>
              <a:t>Status: VALIDATED (escalated 9.1)</a:t>
            </a:r>
          </a:p>
        </p:txBody>
      </p:sp>
      <p:sp>
        <p:nvSpPr>
          <p:cNvPr id="76" name="Rectangle 75"/>
          <p:cNvSpPr/>
          <p:nvPr/>
        </p:nvSpPr>
        <p:spPr>
          <a:xfrm>
            <a:off x="6217920" y="3017520"/>
            <a:ext cx="3493008" cy="854964"/>
          </a:xfrm>
          <a:prstGeom prst="rect">
            <a:avLst/>
          </a:prstGeom>
          <a:solidFill>
            <a:srgbClr val="080E1C"/>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217920" y="3017520"/>
            <a:ext cx="45720" cy="85496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291072" y="3054096"/>
            <a:ext cx="3364992" cy="219456"/>
          </a:xfrm>
          <a:prstGeom prst="rect">
            <a:avLst/>
          </a:prstGeom>
          <a:noFill/>
        </p:spPr>
        <p:txBody>
          <a:bodyPr wrap="square">
            <a:spAutoFit/>
          </a:bodyPr>
          <a:lstStyle/>
          <a:p>
            <a:pPr algn="l"/>
            <a:r>
              <a:rPr sz="800" b="1" i="0">
                <a:solidFill>
                  <a:srgbClr val="FF4545"/>
                </a:solidFill>
                <a:latin typeface="Calibri"/>
              </a:rPr>
              <a:t>Chain-02</a:t>
            </a:r>
          </a:p>
        </p:txBody>
      </p:sp>
      <p:sp>
        <p:nvSpPr>
          <p:cNvPr id="79" name="TextBox 78"/>
          <p:cNvSpPr txBox="1"/>
          <p:nvPr/>
        </p:nvSpPr>
        <p:spPr>
          <a:xfrm>
            <a:off x="6291072" y="3236976"/>
            <a:ext cx="3364992" cy="201168"/>
          </a:xfrm>
          <a:prstGeom prst="rect">
            <a:avLst/>
          </a:prstGeom>
          <a:noFill/>
        </p:spPr>
        <p:txBody>
          <a:bodyPr wrap="square">
            <a:spAutoFit/>
          </a:bodyPr>
          <a:lstStyle/>
          <a:p>
            <a:pPr algn="l"/>
            <a:r>
              <a:rPr sz="800" b="1" i="0">
                <a:solidFill>
                  <a:srgbClr val="FF4545"/>
                </a:solidFill>
                <a:latin typeface="Calibri"/>
              </a:rPr>
              <a:t>(risk 7.5)</a:t>
            </a:r>
          </a:p>
        </p:txBody>
      </p:sp>
      <p:sp>
        <p:nvSpPr>
          <p:cNvPr id="80" name="TextBox 79"/>
          <p:cNvSpPr txBox="1"/>
          <p:nvPr/>
        </p:nvSpPr>
        <p:spPr>
          <a:xfrm>
            <a:off x="6291072" y="3419856"/>
            <a:ext cx="3364992" cy="201168"/>
          </a:xfrm>
          <a:prstGeom prst="rect">
            <a:avLst/>
          </a:prstGeom>
          <a:noFill/>
        </p:spPr>
        <p:txBody>
          <a:bodyPr wrap="square">
            <a:spAutoFit/>
          </a:bodyPr>
          <a:lstStyle/>
          <a:p>
            <a:pPr algn="l"/>
            <a:r>
              <a:rPr sz="800" b="0" i="0">
                <a:solidFill>
                  <a:srgbClr val="A0AAB8"/>
                </a:solidFill>
                <a:latin typeface="Calibri"/>
              </a:rPr>
              <a:t>SQLMap on user_id → IDOR confirmed</a:t>
            </a:r>
          </a:p>
        </p:txBody>
      </p:sp>
      <p:sp>
        <p:nvSpPr>
          <p:cNvPr id="81" name="TextBox 80"/>
          <p:cNvSpPr txBox="1"/>
          <p:nvPr/>
        </p:nvSpPr>
        <p:spPr>
          <a:xfrm>
            <a:off x="6291072" y="3621024"/>
            <a:ext cx="3364992" cy="201168"/>
          </a:xfrm>
          <a:prstGeom prst="rect">
            <a:avLst/>
          </a:prstGeom>
          <a:noFill/>
        </p:spPr>
        <p:txBody>
          <a:bodyPr wrap="square">
            <a:spAutoFit/>
          </a:bodyPr>
          <a:lstStyle/>
          <a:p>
            <a:pPr algn="l"/>
            <a:r>
              <a:rPr sz="800" b="0" i="0">
                <a:solidFill>
                  <a:srgbClr val="A0AAB8"/>
                </a:solidFill>
                <a:latin typeface="Calibri"/>
              </a:rPr>
              <a:t>Any customer orders accessible</a:t>
            </a:r>
          </a:p>
        </p:txBody>
      </p:sp>
      <p:sp>
        <p:nvSpPr>
          <p:cNvPr id="82" name="Rectangle 81"/>
          <p:cNvSpPr/>
          <p:nvPr/>
        </p:nvSpPr>
        <p:spPr>
          <a:xfrm>
            <a:off x="6217920" y="3877056"/>
            <a:ext cx="3493008" cy="854964"/>
          </a:xfrm>
          <a:prstGeom prst="rect">
            <a:avLst/>
          </a:prstGeom>
          <a:solidFill>
            <a:srgbClr val="080E1C"/>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17920" y="3877056"/>
            <a:ext cx="45720" cy="85496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291072" y="3913632"/>
            <a:ext cx="3364992" cy="219456"/>
          </a:xfrm>
          <a:prstGeom prst="rect">
            <a:avLst/>
          </a:prstGeom>
          <a:noFill/>
        </p:spPr>
        <p:txBody>
          <a:bodyPr wrap="square">
            <a:spAutoFit/>
          </a:bodyPr>
          <a:lstStyle/>
          <a:p>
            <a:pPr algn="l"/>
            <a:r>
              <a:rPr sz="800" b="1" i="0">
                <a:solidFill>
                  <a:srgbClr val="FF4545"/>
                </a:solidFill>
                <a:latin typeface="Calibri"/>
              </a:rPr>
              <a:t>Chain-03</a:t>
            </a:r>
          </a:p>
        </p:txBody>
      </p:sp>
      <p:sp>
        <p:nvSpPr>
          <p:cNvPr id="85" name="TextBox 84"/>
          <p:cNvSpPr txBox="1"/>
          <p:nvPr/>
        </p:nvSpPr>
        <p:spPr>
          <a:xfrm>
            <a:off x="6291072" y="4096512"/>
            <a:ext cx="3364992" cy="201168"/>
          </a:xfrm>
          <a:prstGeom prst="rect">
            <a:avLst/>
          </a:prstGeom>
          <a:noFill/>
        </p:spPr>
        <p:txBody>
          <a:bodyPr wrap="square">
            <a:spAutoFit/>
          </a:bodyPr>
          <a:lstStyle/>
          <a:p>
            <a:pPr algn="l"/>
            <a:r>
              <a:rPr sz="800" b="1" i="0">
                <a:solidFill>
                  <a:srgbClr val="FF4545"/>
                </a:solidFill>
                <a:latin typeface="Calibri"/>
              </a:rPr>
              <a:t>(risk 8.1)</a:t>
            </a:r>
          </a:p>
        </p:txBody>
      </p:sp>
      <p:sp>
        <p:nvSpPr>
          <p:cNvPr id="86" name="TextBox 85"/>
          <p:cNvSpPr txBox="1"/>
          <p:nvPr/>
        </p:nvSpPr>
        <p:spPr>
          <a:xfrm>
            <a:off x="6291072" y="4279392"/>
            <a:ext cx="3364992" cy="201168"/>
          </a:xfrm>
          <a:prstGeom prst="rect">
            <a:avLst/>
          </a:prstGeom>
          <a:noFill/>
        </p:spPr>
        <p:txBody>
          <a:bodyPr wrap="square">
            <a:spAutoFit/>
          </a:bodyPr>
          <a:lstStyle/>
          <a:p>
            <a:pPr algn="l"/>
            <a:r>
              <a:rPr sz="800" b="0" i="0">
                <a:solidFill>
                  <a:srgbClr val="A0AAB8"/>
                </a:solidFill>
                <a:latin typeface="Calibri"/>
              </a:rPr>
              <a:t>Blind SQLi on staging → DB creds</a:t>
            </a:r>
          </a:p>
        </p:txBody>
      </p:sp>
      <p:sp>
        <p:nvSpPr>
          <p:cNvPr id="87" name="TextBox 86"/>
          <p:cNvSpPr txBox="1"/>
          <p:nvPr/>
        </p:nvSpPr>
        <p:spPr>
          <a:xfrm>
            <a:off x="6291072" y="4480560"/>
            <a:ext cx="3364992" cy="201168"/>
          </a:xfrm>
          <a:prstGeom prst="rect">
            <a:avLst/>
          </a:prstGeom>
          <a:noFill/>
        </p:spPr>
        <p:txBody>
          <a:bodyPr wrap="square">
            <a:spAutoFit/>
          </a:bodyPr>
          <a:lstStyle/>
          <a:p>
            <a:pPr algn="l"/>
            <a:r>
              <a:rPr sz="800" b="0" i="0">
                <a:solidFill>
                  <a:srgbClr val="A0AAB8"/>
                </a:solidFill>
                <a:latin typeface="Calibri"/>
              </a:rPr>
              <a:t>Credential reuse risk flagged</a:t>
            </a:r>
          </a:p>
        </p:txBody>
      </p:sp>
      <p:sp>
        <p:nvSpPr>
          <p:cNvPr id="88" name="Rectangle 87"/>
          <p:cNvSpPr/>
          <p:nvPr/>
        </p:nvSpPr>
        <p:spPr>
          <a:xfrm>
            <a:off x="6217920" y="4736592"/>
            <a:ext cx="3493008" cy="854964"/>
          </a:xfrm>
          <a:prstGeom prst="rect">
            <a:avLst/>
          </a:prstGeom>
          <a:solidFill>
            <a:srgbClr val="080E1C"/>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217920" y="4736592"/>
            <a:ext cx="45720" cy="85496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291072" y="4773168"/>
            <a:ext cx="3364992" cy="219456"/>
          </a:xfrm>
          <a:prstGeom prst="rect">
            <a:avLst/>
          </a:prstGeom>
          <a:noFill/>
        </p:spPr>
        <p:txBody>
          <a:bodyPr wrap="square">
            <a:spAutoFit/>
          </a:bodyPr>
          <a:lstStyle/>
          <a:p>
            <a:pPr algn="l"/>
            <a:r>
              <a:rPr sz="800" b="1" i="0">
                <a:solidFill>
                  <a:srgbClr val="FF4545"/>
                </a:solidFill>
                <a:latin typeface="Calibri"/>
              </a:rPr>
              <a:t>Chain-04</a:t>
            </a:r>
          </a:p>
        </p:txBody>
      </p:sp>
      <p:sp>
        <p:nvSpPr>
          <p:cNvPr id="91" name="TextBox 90"/>
          <p:cNvSpPr txBox="1"/>
          <p:nvPr/>
        </p:nvSpPr>
        <p:spPr>
          <a:xfrm>
            <a:off x="6291072" y="4956048"/>
            <a:ext cx="3364992" cy="201168"/>
          </a:xfrm>
          <a:prstGeom prst="rect">
            <a:avLst/>
          </a:prstGeom>
          <a:noFill/>
        </p:spPr>
        <p:txBody>
          <a:bodyPr wrap="square">
            <a:spAutoFit/>
          </a:bodyPr>
          <a:lstStyle/>
          <a:p>
            <a:pPr algn="l"/>
            <a:r>
              <a:rPr sz="800" b="1" i="0">
                <a:solidFill>
                  <a:srgbClr val="FF4545"/>
                </a:solidFill>
                <a:latin typeface="Calibri"/>
              </a:rPr>
              <a:t>(validated instantly)</a:t>
            </a:r>
          </a:p>
        </p:txBody>
      </p:sp>
      <p:sp>
        <p:nvSpPr>
          <p:cNvPr id="92" name="TextBox 91"/>
          <p:cNvSpPr txBox="1"/>
          <p:nvPr/>
        </p:nvSpPr>
        <p:spPr>
          <a:xfrm>
            <a:off x="6291072" y="5138928"/>
            <a:ext cx="3364992" cy="201168"/>
          </a:xfrm>
          <a:prstGeom prst="rect">
            <a:avLst/>
          </a:prstGeom>
          <a:noFill/>
        </p:spPr>
        <p:txBody>
          <a:bodyPr wrap="square">
            <a:spAutoFit/>
          </a:bodyPr>
          <a:lstStyle/>
          <a:p>
            <a:pPr algn="l"/>
            <a:r>
              <a:rPr sz="800" b="0" i="0">
                <a:solidFill>
                  <a:srgbClr val="A0AAB8"/>
                </a:solidFill>
                <a:latin typeface="Calibri"/>
              </a:rPr>
              <a:t>Direct GET on exposed DB backup file</a:t>
            </a:r>
          </a:p>
        </p:txBody>
      </p:sp>
      <p:sp>
        <p:nvSpPr>
          <p:cNvPr id="93" name="TextBox 92"/>
          <p:cNvSpPr txBox="1"/>
          <p:nvPr/>
        </p:nvSpPr>
        <p:spPr>
          <a:xfrm>
            <a:off x="6291072" y="5340096"/>
            <a:ext cx="3364992" cy="201168"/>
          </a:xfrm>
          <a:prstGeom prst="rect">
            <a:avLst/>
          </a:prstGeom>
          <a:noFill/>
        </p:spPr>
        <p:txBody>
          <a:bodyPr wrap="square">
            <a:spAutoFit/>
          </a:bodyPr>
          <a:lstStyle/>
          <a:p>
            <a:pPr algn="l"/>
            <a:r>
              <a:rPr sz="800" b="0" i="0">
                <a:solidFill>
                  <a:srgbClr val="A0AAB8"/>
                </a:solidFill>
                <a:latin typeface="Calibri"/>
              </a:rPr>
              <a:t>Misconfiguration → full PII exposure, no agent needed</a:t>
            </a:r>
          </a:p>
        </p:txBody>
      </p:sp>
      <p:sp>
        <p:nvSpPr>
          <p:cNvPr id="94" name="Rectangle 93"/>
          <p:cNvSpPr/>
          <p:nvPr/>
        </p:nvSpPr>
        <p:spPr>
          <a:xfrm>
            <a:off x="6144768" y="5797296"/>
            <a:ext cx="3639312" cy="402336"/>
          </a:xfrm>
          <a:prstGeom prst="rect">
            <a:avLst/>
          </a:prstGeom>
          <a:solidFill>
            <a:srgbClr val="060C18"/>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236208" y="5852160"/>
            <a:ext cx="3502152" cy="201168"/>
          </a:xfrm>
          <a:prstGeom prst="rect">
            <a:avLst/>
          </a:prstGeom>
          <a:noFill/>
        </p:spPr>
        <p:txBody>
          <a:bodyPr wrap="square">
            <a:spAutoFit/>
          </a:bodyPr>
          <a:lstStyle/>
          <a:p>
            <a:pPr algn="l"/>
            <a:r>
              <a:rPr sz="850" b="1" i="0">
                <a:solidFill>
                  <a:srgbClr val="FF4545"/>
                </a:solidFill>
                <a:latin typeface="Calibri"/>
              </a:rPr>
              <a:t>APG ← 4 chains VALIDATED</a:t>
            </a:r>
          </a:p>
        </p:txBody>
      </p:sp>
      <p:sp>
        <p:nvSpPr>
          <p:cNvPr id="96" name="TextBox 95"/>
          <p:cNvSpPr txBox="1"/>
          <p:nvPr/>
        </p:nvSpPr>
        <p:spPr>
          <a:xfrm>
            <a:off x="6236208" y="6044184"/>
            <a:ext cx="3502152" cy="182880"/>
          </a:xfrm>
          <a:prstGeom prst="rect">
            <a:avLst/>
          </a:prstGeom>
          <a:noFill/>
        </p:spPr>
        <p:txBody>
          <a:bodyPr wrap="square">
            <a:spAutoFit/>
          </a:bodyPr>
          <a:lstStyle/>
          <a:p>
            <a:pPr algn="l"/>
            <a:r>
              <a:rPr sz="850" b="1" i="0">
                <a:solidFill>
                  <a:srgbClr val="FF4545"/>
                </a:solidFill>
                <a:latin typeface="Calibri"/>
              </a:rPr>
              <a:t>ASG ← Evidence nodes linked</a:t>
            </a:r>
          </a:p>
        </p:txBody>
      </p:sp>
      <p:cxnSp>
        <p:nvCxnSpPr>
          <p:cNvPr id="97" name="Connector 96"/>
          <p:cNvCxnSpPr/>
          <p:nvPr/>
        </p:nvCxnSpPr>
        <p:spPr>
          <a:xfrm>
            <a:off x="9784080" y="1417320"/>
            <a:ext cx="54864" cy="0"/>
          </a:xfrm>
          <a:prstGeom prst="line">
            <a:avLst/>
          </a:prstGeom>
          <a:ln w="2286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8" name="Rectangle 97"/>
          <p:cNvSpPr/>
          <p:nvPr/>
        </p:nvSpPr>
        <p:spPr>
          <a:xfrm>
            <a:off x="9838944" y="1188720"/>
            <a:ext cx="2212848" cy="5010912"/>
          </a:xfrm>
          <a:prstGeom prst="rect">
            <a:avLst/>
          </a:prstGeom>
          <a:solidFill>
            <a:srgbClr val="1008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9838944" y="1188720"/>
            <a:ext cx="2212848" cy="457200"/>
          </a:xfrm>
          <a:prstGeom prst="rect">
            <a:avLst/>
          </a:prstGeom>
          <a:solidFill>
            <a:srgbClr val="0810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912096" y="1243584"/>
            <a:ext cx="2121408" cy="402336"/>
          </a:xfrm>
          <a:prstGeom prst="rect">
            <a:avLst/>
          </a:prstGeom>
          <a:noFill/>
        </p:spPr>
        <p:txBody>
          <a:bodyPr wrap="square">
            <a:spAutoFit/>
          </a:bodyPr>
          <a:lstStyle/>
          <a:p>
            <a:pPr algn="l"/>
            <a:r>
              <a:rPr sz="1000" b="1" i="0">
                <a:solidFill>
                  <a:srgbClr val="BD93F9"/>
                </a:solidFill>
                <a:latin typeface="Calibri"/>
              </a:rPr>
              <a:t>PHASE 4
Report</a:t>
            </a:r>
          </a:p>
        </p:txBody>
      </p:sp>
      <p:sp>
        <p:nvSpPr>
          <p:cNvPr id="101" name="TextBox 100"/>
          <p:cNvSpPr txBox="1"/>
          <p:nvPr/>
        </p:nvSpPr>
        <p:spPr>
          <a:xfrm>
            <a:off x="9912096" y="1719072"/>
            <a:ext cx="2121408" cy="219456"/>
          </a:xfrm>
          <a:prstGeom prst="rect">
            <a:avLst/>
          </a:prstGeom>
          <a:noFill/>
        </p:spPr>
        <p:txBody>
          <a:bodyPr wrap="square">
            <a:spAutoFit/>
          </a:bodyPr>
          <a:lstStyle/>
          <a:p>
            <a:pPr algn="l"/>
            <a:r>
              <a:rPr sz="850" b="1" i="0">
                <a:solidFill>
                  <a:srgbClr val="BD93F9"/>
                </a:solidFill>
                <a:latin typeface="Calibri"/>
              </a:rPr>
              <a:t>📝 Report Agent</a:t>
            </a:r>
          </a:p>
        </p:txBody>
      </p:sp>
      <p:sp>
        <p:nvSpPr>
          <p:cNvPr id="102" name="Rectangle 101"/>
          <p:cNvSpPr/>
          <p:nvPr/>
        </p:nvSpPr>
        <p:spPr>
          <a:xfrm>
            <a:off x="9912096" y="1920240"/>
            <a:ext cx="2061057" cy="182880"/>
          </a:xfrm>
          <a:prstGeom prst="rect">
            <a:avLst/>
          </a:prstGeom>
          <a:solidFill>
            <a:srgbClr val="081022"/>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9948672" y="1929384"/>
            <a:ext cx="2024481" cy="201168"/>
          </a:xfrm>
          <a:prstGeom prst="rect">
            <a:avLst/>
          </a:prstGeom>
          <a:noFill/>
        </p:spPr>
        <p:txBody>
          <a:bodyPr wrap="square">
            <a:spAutoFit/>
          </a:bodyPr>
          <a:lstStyle/>
          <a:p>
            <a:pPr algn="l"/>
            <a:r>
              <a:rPr sz="700" b="1" i="0">
                <a:solidFill>
                  <a:srgbClr val="BD93F9"/>
                </a:solidFill>
                <a:latin typeface="Calibri"/>
              </a:rPr>
              <a:t>Reads ASG + APG</a:t>
            </a:r>
          </a:p>
        </p:txBody>
      </p:sp>
      <p:sp>
        <p:nvSpPr>
          <p:cNvPr id="104" name="Rectangle 103"/>
          <p:cNvSpPr/>
          <p:nvPr/>
        </p:nvSpPr>
        <p:spPr>
          <a:xfrm>
            <a:off x="9912096" y="2157984"/>
            <a:ext cx="2061057" cy="3493008"/>
          </a:xfrm>
          <a:prstGeom prst="rect">
            <a:avLst/>
          </a:prstGeom>
          <a:solidFill>
            <a:srgbClr val="080E1C"/>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912096" y="2157984"/>
            <a:ext cx="45720" cy="349300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9985248" y="2194560"/>
            <a:ext cx="2024481" cy="219456"/>
          </a:xfrm>
          <a:prstGeom prst="rect">
            <a:avLst/>
          </a:prstGeom>
          <a:noFill/>
        </p:spPr>
        <p:txBody>
          <a:bodyPr wrap="square">
            <a:spAutoFit/>
          </a:bodyPr>
          <a:lstStyle/>
          <a:p>
            <a:pPr algn="l"/>
            <a:r>
              <a:rPr sz="800" b="1" i="0">
                <a:solidFill>
                  <a:srgbClr val="BD93F9"/>
                </a:solidFill>
                <a:latin typeface="Calibri"/>
              </a:rPr>
              <a:t>Output</a:t>
            </a:r>
          </a:p>
        </p:txBody>
      </p:sp>
      <p:sp>
        <p:nvSpPr>
          <p:cNvPr id="107" name="TextBox 106"/>
          <p:cNvSpPr txBox="1"/>
          <p:nvPr/>
        </p:nvSpPr>
        <p:spPr>
          <a:xfrm>
            <a:off x="9985248" y="2432304"/>
            <a:ext cx="2024481" cy="201168"/>
          </a:xfrm>
          <a:prstGeom prst="rect">
            <a:avLst/>
          </a:prstGeom>
          <a:noFill/>
        </p:spPr>
        <p:txBody>
          <a:bodyPr wrap="square">
            <a:spAutoFit/>
          </a:bodyPr>
          <a:lstStyle/>
          <a:p>
            <a:pPr algn="l"/>
            <a:r>
              <a:rPr sz="800" b="0" i="0">
                <a:solidFill>
                  <a:srgbClr val="A0AAB8"/>
                </a:solidFill>
                <a:latin typeface="Calibri"/>
              </a:rPr>
              <a:t>Executive summary · 4 validated chains</a:t>
            </a:r>
          </a:p>
        </p:txBody>
      </p:sp>
      <p:sp>
        <p:nvSpPr>
          <p:cNvPr id="108" name="TextBox 107"/>
          <p:cNvSpPr txBox="1"/>
          <p:nvPr/>
        </p:nvSpPr>
        <p:spPr>
          <a:xfrm>
            <a:off x="9985248" y="2633472"/>
            <a:ext cx="2024481" cy="201168"/>
          </a:xfrm>
          <a:prstGeom prst="rect">
            <a:avLst/>
          </a:prstGeom>
          <a:noFill/>
        </p:spPr>
        <p:txBody>
          <a:bodyPr wrap="square">
            <a:spAutoFit/>
          </a:bodyPr>
          <a:lstStyle/>
          <a:p>
            <a:pPr algn="l"/>
            <a:r>
              <a:rPr sz="800" b="0" i="0">
                <a:solidFill>
                  <a:srgbClr val="A0AAB8"/>
                </a:solidFill>
                <a:latin typeface="Calibri"/>
              </a:rPr>
              <a:t>RCE + IDOR + SQLi + exposed DB backup</a:t>
            </a:r>
          </a:p>
        </p:txBody>
      </p:sp>
      <p:sp>
        <p:nvSpPr>
          <p:cNvPr id="109" name="TextBox 108"/>
          <p:cNvSpPr txBox="1"/>
          <p:nvPr/>
        </p:nvSpPr>
        <p:spPr>
          <a:xfrm>
            <a:off x="9985248" y="2834640"/>
            <a:ext cx="2024481" cy="201168"/>
          </a:xfrm>
          <a:prstGeom prst="rect">
            <a:avLst/>
          </a:prstGeom>
          <a:noFill/>
        </p:spPr>
        <p:txBody>
          <a:bodyPr wrap="square">
            <a:spAutoFit/>
          </a:bodyPr>
          <a:lstStyle/>
          <a:p>
            <a:pPr algn="l"/>
            <a:r>
              <a:rPr sz="800" b="0" i="0">
                <a:solidFill>
                  <a:srgbClr val="A0AAB8"/>
                </a:solidFill>
                <a:latin typeface="Calibri"/>
              </a:rPr>
              <a:t>11 vuln entries · full attack surface map</a:t>
            </a:r>
          </a:p>
        </p:txBody>
      </p:sp>
      <p:sp>
        <p:nvSpPr>
          <p:cNvPr id="110" name="TextBox 109"/>
          <p:cNvSpPr txBox="1"/>
          <p:nvPr/>
        </p:nvSpPr>
        <p:spPr>
          <a:xfrm>
            <a:off x="9985248" y="3035808"/>
            <a:ext cx="2024481" cy="201168"/>
          </a:xfrm>
          <a:prstGeom prst="rect">
            <a:avLst/>
          </a:prstGeom>
          <a:noFill/>
        </p:spPr>
        <p:txBody>
          <a:bodyPr wrap="square">
            <a:spAutoFit/>
          </a:bodyPr>
          <a:lstStyle/>
          <a:p>
            <a:pPr algn="l"/>
            <a:r>
              <a:rPr sz="800" b="0" i="0">
                <a:solidFill>
                  <a:srgbClr val="A0AAB8"/>
                </a:solidFill>
                <a:latin typeface="Calibri"/>
              </a:rPr>
              <a:t>Evidence at every ChainStep</a:t>
            </a:r>
          </a:p>
        </p:txBody>
      </p:sp>
      <p:sp>
        <p:nvSpPr>
          <p:cNvPr id="111" name="Rectangle 110"/>
          <p:cNvSpPr/>
          <p:nvPr/>
        </p:nvSpPr>
        <p:spPr>
          <a:xfrm>
            <a:off x="9838944" y="5797296"/>
            <a:ext cx="2212848" cy="402336"/>
          </a:xfrm>
          <a:prstGeom prst="rect">
            <a:avLst/>
          </a:prstGeom>
          <a:solidFill>
            <a:srgbClr val="060C18"/>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930384" y="5888736"/>
            <a:ext cx="2061057" cy="219456"/>
          </a:xfrm>
          <a:prstGeom prst="rect">
            <a:avLst/>
          </a:prstGeom>
          <a:noFill/>
        </p:spPr>
        <p:txBody>
          <a:bodyPr wrap="square">
            <a:spAutoFit/>
          </a:bodyPr>
          <a:lstStyle/>
          <a:p>
            <a:pPr algn="l"/>
            <a:r>
              <a:rPr sz="850" b="1" i="0">
                <a:solidFill>
                  <a:srgbClr val="BD93F9"/>
                </a:solidFill>
                <a:latin typeface="Calibri"/>
              </a:rPr>
              <a:t>ZERO manual commands</a:t>
            </a:r>
          </a:p>
        </p:txBody>
      </p:sp>
      <p:sp>
        <p:nvSpPr>
          <p:cNvPr id="113" name="Rectangle 112"/>
          <p:cNvSpPr/>
          <p:nvPr/>
        </p:nvSpPr>
        <p:spPr>
          <a:xfrm>
            <a:off x="164592" y="6199632"/>
            <a:ext cx="11862511" cy="493776"/>
          </a:xfrm>
          <a:prstGeom prst="rect">
            <a:avLst/>
          </a:prstGeom>
          <a:solidFill>
            <a:srgbClr val="0810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201168" y="6227064"/>
            <a:ext cx="1664208" cy="365760"/>
          </a:xfrm>
          <a:prstGeom prst="rect">
            <a:avLst/>
          </a:prstGeom>
          <a:noFill/>
        </p:spPr>
        <p:txBody>
          <a:bodyPr wrap="square">
            <a:spAutoFit/>
          </a:bodyPr>
          <a:lstStyle/>
          <a:p>
            <a:pPr algn="l"/>
            <a:r>
              <a:rPr sz="1800" b="1" i="0">
                <a:solidFill>
                  <a:srgbClr val="39FF14"/>
                </a:solidFill>
                <a:latin typeface="Calibri"/>
              </a:rPr>
              <a:t>14</a:t>
            </a:r>
          </a:p>
        </p:txBody>
      </p:sp>
      <p:sp>
        <p:nvSpPr>
          <p:cNvPr id="115" name="TextBox 114"/>
          <p:cNvSpPr txBox="1"/>
          <p:nvPr/>
        </p:nvSpPr>
        <p:spPr>
          <a:xfrm>
            <a:off x="201168" y="6565392"/>
            <a:ext cx="1664208" cy="210312"/>
          </a:xfrm>
          <a:prstGeom prst="rect">
            <a:avLst/>
          </a:prstGeom>
          <a:noFill/>
        </p:spPr>
        <p:txBody>
          <a:bodyPr wrap="square">
            <a:spAutoFit/>
          </a:bodyPr>
          <a:lstStyle/>
          <a:p>
            <a:pPr algn="l"/>
            <a:r>
              <a:rPr sz="750" b="0" i="0">
                <a:solidFill>
                  <a:srgbClr val="A0AAB8"/>
                </a:solidFill>
                <a:latin typeface="Calibri"/>
              </a:rPr>
              <a:t>subdomains</a:t>
            </a:r>
          </a:p>
        </p:txBody>
      </p:sp>
      <p:sp>
        <p:nvSpPr>
          <p:cNvPr id="116" name="TextBox 115"/>
          <p:cNvSpPr txBox="1"/>
          <p:nvPr/>
        </p:nvSpPr>
        <p:spPr>
          <a:xfrm>
            <a:off x="1864461" y="6227064"/>
            <a:ext cx="1664208" cy="365760"/>
          </a:xfrm>
          <a:prstGeom prst="rect">
            <a:avLst/>
          </a:prstGeom>
          <a:noFill/>
        </p:spPr>
        <p:txBody>
          <a:bodyPr wrap="square">
            <a:spAutoFit/>
          </a:bodyPr>
          <a:lstStyle/>
          <a:p>
            <a:pPr algn="l"/>
            <a:r>
              <a:rPr sz="1800" b="1" i="0">
                <a:solidFill>
                  <a:srgbClr val="39FF14"/>
                </a:solidFill>
                <a:latin typeface="Calibri"/>
              </a:rPr>
              <a:t>11</a:t>
            </a:r>
          </a:p>
        </p:txBody>
      </p:sp>
      <p:sp>
        <p:nvSpPr>
          <p:cNvPr id="117" name="TextBox 116"/>
          <p:cNvSpPr txBox="1"/>
          <p:nvPr/>
        </p:nvSpPr>
        <p:spPr>
          <a:xfrm>
            <a:off x="1864461" y="6565392"/>
            <a:ext cx="1664208" cy="210312"/>
          </a:xfrm>
          <a:prstGeom prst="rect">
            <a:avLst/>
          </a:prstGeom>
          <a:noFill/>
        </p:spPr>
        <p:txBody>
          <a:bodyPr wrap="square">
            <a:spAutoFit/>
          </a:bodyPr>
          <a:lstStyle/>
          <a:p>
            <a:pPr algn="l"/>
            <a:r>
              <a:rPr sz="750" b="0" i="0">
                <a:solidFill>
                  <a:srgbClr val="A0AAB8"/>
                </a:solidFill>
                <a:latin typeface="Calibri"/>
              </a:rPr>
              <a:t>live hosts</a:t>
            </a:r>
          </a:p>
        </p:txBody>
      </p:sp>
      <p:sp>
        <p:nvSpPr>
          <p:cNvPr id="118" name="TextBox 117"/>
          <p:cNvSpPr txBox="1"/>
          <p:nvPr/>
        </p:nvSpPr>
        <p:spPr>
          <a:xfrm>
            <a:off x="3527755" y="6227064"/>
            <a:ext cx="1664208" cy="365760"/>
          </a:xfrm>
          <a:prstGeom prst="rect">
            <a:avLst/>
          </a:prstGeom>
          <a:noFill/>
        </p:spPr>
        <p:txBody>
          <a:bodyPr wrap="square">
            <a:spAutoFit/>
          </a:bodyPr>
          <a:lstStyle/>
          <a:p>
            <a:pPr algn="l"/>
            <a:r>
              <a:rPr sz="1800" b="1" i="0">
                <a:solidFill>
                  <a:srgbClr val="00E5FF"/>
                </a:solidFill>
                <a:latin typeface="Calibri"/>
              </a:rPr>
              <a:t>28</a:t>
            </a:r>
          </a:p>
        </p:txBody>
      </p:sp>
      <p:sp>
        <p:nvSpPr>
          <p:cNvPr id="119" name="TextBox 118"/>
          <p:cNvSpPr txBox="1"/>
          <p:nvPr/>
        </p:nvSpPr>
        <p:spPr>
          <a:xfrm>
            <a:off x="3527755" y="6565392"/>
            <a:ext cx="1664208" cy="210312"/>
          </a:xfrm>
          <a:prstGeom prst="rect">
            <a:avLst/>
          </a:prstGeom>
          <a:noFill/>
        </p:spPr>
        <p:txBody>
          <a:bodyPr wrap="square">
            <a:spAutoFit/>
          </a:bodyPr>
          <a:lstStyle/>
          <a:p>
            <a:pPr algn="l"/>
            <a:r>
              <a:rPr sz="750" b="0" i="0">
                <a:solidFill>
                  <a:srgbClr val="A0AAB8"/>
                </a:solidFill>
                <a:latin typeface="Calibri"/>
              </a:rPr>
              <a:t>open ports</a:t>
            </a:r>
          </a:p>
        </p:txBody>
      </p:sp>
      <p:sp>
        <p:nvSpPr>
          <p:cNvPr id="120" name="TextBox 119"/>
          <p:cNvSpPr txBox="1"/>
          <p:nvPr/>
        </p:nvSpPr>
        <p:spPr>
          <a:xfrm>
            <a:off x="5191048" y="6227064"/>
            <a:ext cx="1664208" cy="365760"/>
          </a:xfrm>
          <a:prstGeom prst="rect">
            <a:avLst/>
          </a:prstGeom>
          <a:noFill/>
        </p:spPr>
        <p:txBody>
          <a:bodyPr wrap="square">
            <a:spAutoFit/>
          </a:bodyPr>
          <a:lstStyle/>
          <a:p>
            <a:pPr algn="l"/>
            <a:r>
              <a:rPr sz="1800" b="1" i="0">
                <a:solidFill>
                  <a:srgbClr val="00E5FF"/>
                </a:solidFill>
                <a:latin typeface="Calibri"/>
              </a:rPr>
              <a:t>19</a:t>
            </a:r>
          </a:p>
        </p:txBody>
      </p:sp>
      <p:sp>
        <p:nvSpPr>
          <p:cNvPr id="121" name="TextBox 120"/>
          <p:cNvSpPr txBox="1"/>
          <p:nvPr/>
        </p:nvSpPr>
        <p:spPr>
          <a:xfrm>
            <a:off x="5191048" y="6565392"/>
            <a:ext cx="1664208" cy="210312"/>
          </a:xfrm>
          <a:prstGeom prst="rect">
            <a:avLst/>
          </a:prstGeom>
          <a:noFill/>
        </p:spPr>
        <p:txBody>
          <a:bodyPr wrap="square">
            <a:spAutoFit/>
          </a:bodyPr>
          <a:lstStyle/>
          <a:p>
            <a:pPr algn="l"/>
            <a:r>
              <a:rPr sz="750" b="0" i="0">
                <a:solidFill>
                  <a:srgbClr val="A0AAB8"/>
                </a:solidFill>
                <a:latin typeface="Calibri"/>
              </a:rPr>
              <a:t>endpoints</a:t>
            </a:r>
          </a:p>
        </p:txBody>
      </p:sp>
      <p:sp>
        <p:nvSpPr>
          <p:cNvPr id="122" name="TextBox 121"/>
          <p:cNvSpPr txBox="1"/>
          <p:nvPr/>
        </p:nvSpPr>
        <p:spPr>
          <a:xfrm>
            <a:off x="6854342" y="6227064"/>
            <a:ext cx="1664208" cy="365760"/>
          </a:xfrm>
          <a:prstGeom prst="rect">
            <a:avLst/>
          </a:prstGeom>
          <a:noFill/>
        </p:spPr>
        <p:txBody>
          <a:bodyPr wrap="square">
            <a:spAutoFit/>
          </a:bodyPr>
          <a:lstStyle/>
          <a:p>
            <a:pPr algn="l"/>
            <a:r>
              <a:rPr sz="1800" b="1" i="0">
                <a:solidFill>
                  <a:srgbClr val="FFD700"/>
                </a:solidFill>
                <a:latin typeface="Calibri"/>
              </a:rPr>
              <a:t>11</a:t>
            </a:r>
          </a:p>
        </p:txBody>
      </p:sp>
      <p:sp>
        <p:nvSpPr>
          <p:cNvPr id="123" name="TextBox 122"/>
          <p:cNvSpPr txBox="1"/>
          <p:nvPr/>
        </p:nvSpPr>
        <p:spPr>
          <a:xfrm>
            <a:off x="6854342" y="6565392"/>
            <a:ext cx="1664208" cy="210312"/>
          </a:xfrm>
          <a:prstGeom prst="rect">
            <a:avLst/>
          </a:prstGeom>
          <a:noFill/>
        </p:spPr>
        <p:txBody>
          <a:bodyPr wrap="square">
            <a:spAutoFit/>
          </a:bodyPr>
          <a:lstStyle/>
          <a:p>
            <a:pPr algn="l"/>
            <a:r>
              <a:rPr sz="750" b="0" i="0">
                <a:solidFill>
                  <a:srgbClr val="A0AAB8"/>
                </a:solidFill>
                <a:latin typeface="Calibri"/>
              </a:rPr>
              <a:t>vulnerabilities</a:t>
            </a:r>
          </a:p>
        </p:txBody>
      </p:sp>
      <p:sp>
        <p:nvSpPr>
          <p:cNvPr id="124" name="TextBox 123"/>
          <p:cNvSpPr txBox="1"/>
          <p:nvPr/>
        </p:nvSpPr>
        <p:spPr>
          <a:xfrm>
            <a:off x="8517636" y="6227064"/>
            <a:ext cx="1664208" cy="365760"/>
          </a:xfrm>
          <a:prstGeom prst="rect">
            <a:avLst/>
          </a:prstGeom>
          <a:noFill/>
        </p:spPr>
        <p:txBody>
          <a:bodyPr wrap="square">
            <a:spAutoFit/>
          </a:bodyPr>
          <a:lstStyle/>
          <a:p>
            <a:pPr algn="l"/>
            <a:r>
              <a:rPr sz="1800" b="1" i="0">
                <a:solidFill>
                  <a:srgbClr val="FF4545"/>
                </a:solidFill>
                <a:latin typeface="Calibri"/>
              </a:rPr>
              <a:t>4</a:t>
            </a:r>
          </a:p>
        </p:txBody>
      </p:sp>
      <p:sp>
        <p:nvSpPr>
          <p:cNvPr id="125" name="TextBox 124"/>
          <p:cNvSpPr txBox="1"/>
          <p:nvPr/>
        </p:nvSpPr>
        <p:spPr>
          <a:xfrm>
            <a:off x="8517636" y="6565392"/>
            <a:ext cx="1664208" cy="210312"/>
          </a:xfrm>
          <a:prstGeom prst="rect">
            <a:avLst/>
          </a:prstGeom>
          <a:noFill/>
        </p:spPr>
        <p:txBody>
          <a:bodyPr wrap="square">
            <a:spAutoFit/>
          </a:bodyPr>
          <a:lstStyle/>
          <a:p>
            <a:pPr algn="l"/>
            <a:r>
              <a:rPr sz="750" b="0" i="0">
                <a:solidFill>
                  <a:srgbClr val="A0AAB8"/>
                </a:solidFill>
                <a:latin typeface="Calibri"/>
              </a:rPr>
              <a:t>validated chains</a:t>
            </a:r>
          </a:p>
        </p:txBody>
      </p:sp>
      <p:sp>
        <p:nvSpPr>
          <p:cNvPr id="126" name="TextBox 125"/>
          <p:cNvSpPr txBox="1"/>
          <p:nvPr/>
        </p:nvSpPr>
        <p:spPr>
          <a:xfrm>
            <a:off x="10180929" y="6227064"/>
            <a:ext cx="1664208" cy="365760"/>
          </a:xfrm>
          <a:prstGeom prst="rect">
            <a:avLst/>
          </a:prstGeom>
          <a:noFill/>
        </p:spPr>
        <p:txBody>
          <a:bodyPr wrap="square">
            <a:spAutoFit/>
          </a:bodyPr>
          <a:lstStyle/>
          <a:p>
            <a:pPr algn="l"/>
            <a:r>
              <a:rPr sz="1800" b="1" i="0">
                <a:solidFill>
                  <a:srgbClr val="BD93F9"/>
                </a:solidFill>
                <a:latin typeface="Calibri"/>
              </a:rPr>
              <a:t>0</a:t>
            </a:r>
          </a:p>
        </p:txBody>
      </p:sp>
      <p:sp>
        <p:nvSpPr>
          <p:cNvPr id="127" name="TextBox 126"/>
          <p:cNvSpPr txBox="1"/>
          <p:nvPr/>
        </p:nvSpPr>
        <p:spPr>
          <a:xfrm>
            <a:off x="10180929" y="6565392"/>
            <a:ext cx="1664208" cy="210312"/>
          </a:xfrm>
          <a:prstGeom prst="rect">
            <a:avLst/>
          </a:prstGeom>
          <a:noFill/>
        </p:spPr>
        <p:txBody>
          <a:bodyPr wrap="square">
            <a:spAutoFit/>
          </a:bodyPr>
          <a:lstStyle/>
          <a:p>
            <a:pPr algn="l"/>
            <a:r>
              <a:rPr sz="750" b="0" i="0">
                <a:solidFill>
                  <a:srgbClr val="A0AAB8"/>
                </a:solidFill>
                <a:latin typeface="Calibri"/>
              </a:rPr>
              <a:t>manual commands</a:t>
            </a:r>
          </a:p>
        </p:txBody>
      </p:sp>
      <p:sp>
        <p:nvSpPr>
          <p:cNvPr id="128" name="TextBox 127"/>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73152" y="73152"/>
            <a:ext cx="12045391" cy="6711696"/>
          </a:xfrm>
          <a:prstGeom prst="rect">
            <a:avLst/>
          </a:prstGeom>
          <a:no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56032"/>
            <a:ext cx="7315200" cy="256032"/>
          </a:xfrm>
          <a:prstGeom prst="rect">
            <a:avLst/>
          </a:prstGeom>
          <a:solidFill>
            <a:srgbClr val="0A0D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56032"/>
            <a:ext cx="7315200" cy="256032"/>
          </a:xfrm>
          <a:prstGeom prst="rect">
            <a:avLst/>
          </a:prstGeom>
          <a:noFill/>
        </p:spPr>
        <p:txBody>
          <a:bodyPr wrap="square">
            <a:spAutoFit/>
          </a:bodyPr>
          <a:lstStyle/>
          <a:p>
            <a:pPr algn="l"/>
            <a:r>
              <a:rPr sz="1000" b="1" i="0">
                <a:solidFill>
                  <a:srgbClr val="FFD700"/>
                </a:solidFill>
                <a:latin typeface="Calibri"/>
              </a:rPr>
              <a:t>CHAIN-01 TRACEABILITY</a:t>
            </a:r>
          </a:p>
        </p:txBody>
      </p:sp>
      <p:sp>
        <p:nvSpPr>
          <p:cNvPr id="5" name="TextBox 4"/>
          <p:cNvSpPr txBox="1"/>
          <p:nvPr/>
        </p:nvSpPr>
        <p:spPr>
          <a:xfrm>
            <a:off x="11185855" y="256032"/>
            <a:ext cx="548640" cy="256032"/>
          </a:xfrm>
          <a:prstGeom prst="rect">
            <a:avLst/>
          </a:prstGeom>
          <a:noFill/>
        </p:spPr>
        <p:txBody>
          <a:bodyPr wrap="square">
            <a:spAutoFit/>
          </a:bodyPr>
          <a:lstStyle/>
          <a:p>
            <a:pPr algn="l"/>
            <a:r>
              <a:rPr sz="1400" b="1" i="0">
                <a:solidFill>
                  <a:srgbClr val="FFD700"/>
                </a:solidFill>
                <a:latin typeface="Calibri"/>
              </a:rPr>
              <a:t>16</a:t>
            </a:r>
          </a:p>
        </p:txBody>
      </p:sp>
      <p:sp>
        <p:nvSpPr>
          <p:cNvPr id="6" name="TextBox 5"/>
          <p:cNvSpPr txBox="1"/>
          <p:nvPr/>
        </p:nvSpPr>
        <p:spPr>
          <a:xfrm>
            <a:off x="457200" y="530352"/>
            <a:ext cx="11277295" cy="502920"/>
          </a:xfrm>
          <a:prstGeom prst="rect">
            <a:avLst/>
          </a:prstGeom>
          <a:noFill/>
        </p:spPr>
        <p:txBody>
          <a:bodyPr wrap="square">
            <a:spAutoFit/>
          </a:bodyPr>
          <a:lstStyle/>
          <a:p>
            <a:pPr algn="l"/>
            <a:r>
              <a:rPr sz="2800" b="1" i="0">
                <a:solidFill>
                  <a:srgbClr val="E8ECF4"/>
                </a:solidFill>
                <a:latin typeface="Calibri"/>
              </a:rPr>
              <a:t>Chain-01 Full Traceability — From Recon to Evidence</a:t>
            </a:r>
          </a:p>
        </p:txBody>
      </p:sp>
      <p:sp>
        <p:nvSpPr>
          <p:cNvPr id="7" name="TextBox 6"/>
          <p:cNvSpPr txBox="1"/>
          <p:nvPr/>
        </p:nvSpPr>
        <p:spPr>
          <a:xfrm>
            <a:off x="457200" y="1051560"/>
            <a:ext cx="11277295" cy="274320"/>
          </a:xfrm>
          <a:prstGeom prst="rect">
            <a:avLst/>
          </a:prstGeom>
          <a:noFill/>
        </p:spPr>
        <p:txBody>
          <a:bodyPr wrap="square">
            <a:spAutoFit/>
          </a:bodyPr>
          <a:lstStyle/>
          <a:p>
            <a:pPr algn="l"/>
            <a:r>
              <a:rPr sz="1250" b="0" i="1">
                <a:solidFill>
                  <a:srgbClr val="A0AAB8"/>
                </a:solidFill>
                <a:latin typeface="Calibri"/>
              </a:rPr>
              <a:t>Every claim in the final report follows this exact path through the dual graph — nothing is ever asserted without evidence.</a:t>
            </a:r>
          </a:p>
        </p:txBody>
      </p:sp>
      <p:sp>
        <p:nvSpPr>
          <p:cNvPr id="8" name="TextBox 7"/>
          <p:cNvSpPr txBox="1"/>
          <p:nvPr/>
        </p:nvSpPr>
        <p:spPr>
          <a:xfrm>
            <a:off x="457200" y="1444752"/>
            <a:ext cx="11277295" cy="201168"/>
          </a:xfrm>
          <a:prstGeom prst="rect">
            <a:avLst/>
          </a:prstGeom>
          <a:noFill/>
        </p:spPr>
        <p:txBody>
          <a:bodyPr wrap="square">
            <a:spAutoFit/>
          </a:bodyPr>
          <a:lstStyle/>
          <a:p>
            <a:pPr algn="l"/>
            <a:r>
              <a:rPr sz="1050" b="1" i="0">
                <a:solidFill>
                  <a:srgbClr val="FF4545"/>
                </a:solidFill>
                <a:latin typeface="Calibri"/>
              </a:rPr>
              <a:t>ASG · DISCOVERY  —  RECON TO VULNERABILITY</a:t>
            </a:r>
          </a:p>
        </p:txBody>
      </p:sp>
      <p:sp>
        <p:nvSpPr>
          <p:cNvPr id="9" name="Rectangle 8"/>
          <p:cNvSpPr/>
          <p:nvPr/>
        </p:nvSpPr>
        <p:spPr>
          <a:xfrm>
            <a:off x="457200" y="1682496"/>
            <a:ext cx="1711756" cy="566928"/>
          </a:xfrm>
          <a:prstGeom prst="rect">
            <a:avLst/>
          </a:prstGeom>
          <a:solidFill>
            <a:srgbClr val="10141F"/>
          </a:solidFill>
          <a:ln w="10160">
            <a:solidFill>
              <a:srgbClr val="5A63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728216"/>
            <a:ext cx="1565452" cy="182880"/>
          </a:xfrm>
          <a:prstGeom prst="rect">
            <a:avLst/>
          </a:prstGeom>
          <a:noFill/>
        </p:spPr>
        <p:txBody>
          <a:bodyPr wrap="square">
            <a:spAutoFit/>
          </a:bodyPr>
          <a:lstStyle/>
          <a:p>
            <a:pPr algn="l"/>
            <a:r>
              <a:rPr sz="850" b="1" i="0">
                <a:solidFill>
                  <a:srgbClr val="7E8AA0"/>
                </a:solidFill>
                <a:latin typeface="Calibri"/>
              </a:rPr>
              <a:t>DOMAIN</a:t>
            </a:r>
          </a:p>
        </p:txBody>
      </p:sp>
      <p:sp>
        <p:nvSpPr>
          <p:cNvPr id="11" name="TextBox 10"/>
          <p:cNvSpPr txBox="1"/>
          <p:nvPr/>
        </p:nvSpPr>
        <p:spPr>
          <a:xfrm>
            <a:off x="530352" y="1929384"/>
            <a:ext cx="1565452" cy="274320"/>
          </a:xfrm>
          <a:prstGeom prst="rect">
            <a:avLst/>
          </a:prstGeom>
          <a:noFill/>
        </p:spPr>
        <p:txBody>
          <a:bodyPr wrap="square">
            <a:spAutoFit/>
          </a:bodyPr>
          <a:lstStyle/>
          <a:p>
            <a:pPr algn="l"/>
            <a:r>
              <a:rPr sz="1100" b="1" i="0">
                <a:solidFill>
                  <a:srgbClr val="E8ECF4"/>
                </a:solidFill>
                <a:latin typeface="Calibri"/>
              </a:rPr>
              <a:t>shopvault.io</a:t>
            </a:r>
          </a:p>
        </p:txBody>
      </p:sp>
      <p:sp>
        <p:nvSpPr>
          <p:cNvPr id="12" name="TextBox 11"/>
          <p:cNvSpPr txBox="1"/>
          <p:nvPr/>
        </p:nvSpPr>
        <p:spPr>
          <a:xfrm>
            <a:off x="2168956" y="1682496"/>
            <a:ext cx="201168" cy="566928"/>
          </a:xfrm>
          <a:prstGeom prst="rect">
            <a:avLst/>
          </a:prstGeom>
          <a:noFill/>
        </p:spPr>
        <p:txBody>
          <a:bodyPr wrap="square">
            <a:spAutoFit/>
          </a:bodyPr>
          <a:lstStyle/>
          <a:p>
            <a:pPr algn="ctr"/>
            <a:r>
              <a:rPr sz="1500" b="0" i="0">
                <a:solidFill>
                  <a:srgbClr val="7E8AA0"/>
                </a:solidFill>
                <a:latin typeface="Calibri"/>
              </a:rPr>
              <a:t>→</a:t>
            </a:r>
          </a:p>
        </p:txBody>
      </p:sp>
      <p:sp>
        <p:nvSpPr>
          <p:cNvPr id="13" name="Rectangle 12"/>
          <p:cNvSpPr/>
          <p:nvPr/>
        </p:nvSpPr>
        <p:spPr>
          <a:xfrm>
            <a:off x="2370124" y="1682496"/>
            <a:ext cx="1711756" cy="566928"/>
          </a:xfrm>
          <a:prstGeom prst="rect">
            <a:avLst/>
          </a:prstGeom>
          <a:solidFill>
            <a:srgbClr val="10141F"/>
          </a:solidFill>
          <a:ln w="10160">
            <a:solidFill>
              <a:srgbClr val="5A63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43276" y="1728216"/>
            <a:ext cx="1565452" cy="182880"/>
          </a:xfrm>
          <a:prstGeom prst="rect">
            <a:avLst/>
          </a:prstGeom>
          <a:noFill/>
        </p:spPr>
        <p:txBody>
          <a:bodyPr wrap="square">
            <a:spAutoFit/>
          </a:bodyPr>
          <a:lstStyle/>
          <a:p>
            <a:pPr algn="l"/>
            <a:r>
              <a:rPr sz="850" b="1" i="0">
                <a:solidFill>
                  <a:srgbClr val="7E8AA0"/>
                </a:solidFill>
                <a:latin typeface="Calibri"/>
              </a:rPr>
              <a:t>HOST</a:t>
            </a:r>
          </a:p>
        </p:txBody>
      </p:sp>
      <p:sp>
        <p:nvSpPr>
          <p:cNvPr id="15" name="TextBox 14"/>
          <p:cNvSpPr txBox="1"/>
          <p:nvPr/>
        </p:nvSpPr>
        <p:spPr>
          <a:xfrm>
            <a:off x="2443276" y="1929384"/>
            <a:ext cx="1565452" cy="274320"/>
          </a:xfrm>
          <a:prstGeom prst="rect">
            <a:avLst/>
          </a:prstGeom>
          <a:noFill/>
        </p:spPr>
        <p:txBody>
          <a:bodyPr wrap="square">
            <a:spAutoFit/>
          </a:bodyPr>
          <a:lstStyle/>
          <a:p>
            <a:pPr algn="l"/>
            <a:r>
              <a:rPr sz="1100" b="1" i="0">
                <a:solidFill>
                  <a:srgbClr val="E8ECF4"/>
                </a:solidFill>
                <a:latin typeface="Calibri"/>
              </a:rPr>
              <a:t>192.168.1.10</a:t>
            </a:r>
          </a:p>
        </p:txBody>
      </p:sp>
      <p:sp>
        <p:nvSpPr>
          <p:cNvPr id="16" name="TextBox 15"/>
          <p:cNvSpPr txBox="1"/>
          <p:nvPr/>
        </p:nvSpPr>
        <p:spPr>
          <a:xfrm>
            <a:off x="4081880" y="1682496"/>
            <a:ext cx="201168" cy="566928"/>
          </a:xfrm>
          <a:prstGeom prst="rect">
            <a:avLst/>
          </a:prstGeom>
          <a:noFill/>
        </p:spPr>
        <p:txBody>
          <a:bodyPr wrap="square">
            <a:spAutoFit/>
          </a:bodyPr>
          <a:lstStyle/>
          <a:p>
            <a:pPr algn="ctr"/>
            <a:r>
              <a:rPr sz="1500" b="0" i="0">
                <a:solidFill>
                  <a:srgbClr val="7E8AA0"/>
                </a:solidFill>
                <a:latin typeface="Calibri"/>
              </a:rPr>
              <a:t>→</a:t>
            </a:r>
          </a:p>
        </p:txBody>
      </p:sp>
      <p:sp>
        <p:nvSpPr>
          <p:cNvPr id="17" name="Rectangle 16"/>
          <p:cNvSpPr/>
          <p:nvPr/>
        </p:nvSpPr>
        <p:spPr>
          <a:xfrm>
            <a:off x="4283048" y="1682496"/>
            <a:ext cx="1711756" cy="566928"/>
          </a:xfrm>
          <a:prstGeom prst="rect">
            <a:avLst/>
          </a:prstGeom>
          <a:solidFill>
            <a:srgbClr val="10141F"/>
          </a:solidFill>
          <a:ln w="10160">
            <a:solidFill>
              <a:srgbClr val="5A63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56200" y="1728216"/>
            <a:ext cx="1565452" cy="182880"/>
          </a:xfrm>
          <a:prstGeom prst="rect">
            <a:avLst/>
          </a:prstGeom>
          <a:noFill/>
        </p:spPr>
        <p:txBody>
          <a:bodyPr wrap="square">
            <a:spAutoFit/>
          </a:bodyPr>
          <a:lstStyle/>
          <a:p>
            <a:pPr algn="l"/>
            <a:r>
              <a:rPr sz="850" b="1" i="0">
                <a:solidFill>
                  <a:srgbClr val="7E8AA0"/>
                </a:solidFill>
                <a:latin typeface="Calibri"/>
              </a:rPr>
              <a:t>PORT</a:t>
            </a:r>
          </a:p>
        </p:txBody>
      </p:sp>
      <p:sp>
        <p:nvSpPr>
          <p:cNvPr id="19" name="TextBox 18"/>
          <p:cNvSpPr txBox="1"/>
          <p:nvPr/>
        </p:nvSpPr>
        <p:spPr>
          <a:xfrm>
            <a:off x="4356200" y="1929384"/>
            <a:ext cx="1565452" cy="274320"/>
          </a:xfrm>
          <a:prstGeom prst="rect">
            <a:avLst/>
          </a:prstGeom>
          <a:noFill/>
        </p:spPr>
        <p:txBody>
          <a:bodyPr wrap="square">
            <a:spAutoFit/>
          </a:bodyPr>
          <a:lstStyle/>
          <a:p>
            <a:pPr algn="l"/>
            <a:r>
              <a:rPr sz="1100" b="1" i="0">
                <a:solidFill>
                  <a:srgbClr val="E8ECF4"/>
                </a:solidFill>
                <a:latin typeface="Calibri"/>
              </a:rPr>
              <a:t>:443</a:t>
            </a:r>
          </a:p>
        </p:txBody>
      </p:sp>
      <p:sp>
        <p:nvSpPr>
          <p:cNvPr id="20" name="TextBox 19"/>
          <p:cNvSpPr txBox="1"/>
          <p:nvPr/>
        </p:nvSpPr>
        <p:spPr>
          <a:xfrm>
            <a:off x="5994804" y="1682496"/>
            <a:ext cx="201168" cy="566928"/>
          </a:xfrm>
          <a:prstGeom prst="rect">
            <a:avLst/>
          </a:prstGeom>
          <a:noFill/>
        </p:spPr>
        <p:txBody>
          <a:bodyPr wrap="square">
            <a:spAutoFit/>
          </a:bodyPr>
          <a:lstStyle/>
          <a:p>
            <a:pPr algn="ctr"/>
            <a:r>
              <a:rPr sz="1500" b="0" i="0">
                <a:solidFill>
                  <a:srgbClr val="7E8AA0"/>
                </a:solidFill>
                <a:latin typeface="Calibri"/>
              </a:rPr>
              <a:t>→</a:t>
            </a:r>
          </a:p>
        </p:txBody>
      </p:sp>
      <p:sp>
        <p:nvSpPr>
          <p:cNvPr id="21" name="Rectangle 20"/>
          <p:cNvSpPr/>
          <p:nvPr/>
        </p:nvSpPr>
        <p:spPr>
          <a:xfrm>
            <a:off x="6195972" y="1682496"/>
            <a:ext cx="1711756" cy="566928"/>
          </a:xfrm>
          <a:prstGeom prst="rect">
            <a:avLst/>
          </a:prstGeom>
          <a:solidFill>
            <a:srgbClr val="10141F"/>
          </a:solidFill>
          <a:ln w="10160">
            <a:solidFill>
              <a:srgbClr val="5A63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9124" y="1728216"/>
            <a:ext cx="1565452" cy="182880"/>
          </a:xfrm>
          <a:prstGeom prst="rect">
            <a:avLst/>
          </a:prstGeom>
          <a:noFill/>
        </p:spPr>
        <p:txBody>
          <a:bodyPr wrap="square">
            <a:spAutoFit/>
          </a:bodyPr>
          <a:lstStyle/>
          <a:p>
            <a:pPr algn="l"/>
            <a:r>
              <a:rPr sz="850" b="1" i="0">
                <a:solidFill>
                  <a:srgbClr val="7E8AA0"/>
                </a:solidFill>
                <a:latin typeface="Calibri"/>
              </a:rPr>
              <a:t>SERVICE</a:t>
            </a:r>
          </a:p>
        </p:txBody>
      </p:sp>
      <p:sp>
        <p:nvSpPr>
          <p:cNvPr id="23" name="TextBox 22"/>
          <p:cNvSpPr txBox="1"/>
          <p:nvPr/>
        </p:nvSpPr>
        <p:spPr>
          <a:xfrm>
            <a:off x="6269124" y="1929384"/>
            <a:ext cx="1565452" cy="274320"/>
          </a:xfrm>
          <a:prstGeom prst="rect">
            <a:avLst/>
          </a:prstGeom>
          <a:noFill/>
        </p:spPr>
        <p:txBody>
          <a:bodyPr wrap="square">
            <a:spAutoFit/>
          </a:bodyPr>
          <a:lstStyle/>
          <a:p>
            <a:pPr algn="l"/>
            <a:r>
              <a:rPr sz="1100" b="1" i="0">
                <a:solidFill>
                  <a:srgbClr val="E8ECF4"/>
                </a:solidFill>
                <a:latin typeface="Calibri"/>
              </a:rPr>
              <a:t>Nginx 1.18.0</a:t>
            </a:r>
          </a:p>
        </p:txBody>
      </p:sp>
      <p:sp>
        <p:nvSpPr>
          <p:cNvPr id="24" name="TextBox 23"/>
          <p:cNvSpPr txBox="1"/>
          <p:nvPr/>
        </p:nvSpPr>
        <p:spPr>
          <a:xfrm>
            <a:off x="7907728" y="1682496"/>
            <a:ext cx="201168" cy="566928"/>
          </a:xfrm>
          <a:prstGeom prst="rect">
            <a:avLst/>
          </a:prstGeom>
          <a:noFill/>
        </p:spPr>
        <p:txBody>
          <a:bodyPr wrap="square">
            <a:spAutoFit/>
          </a:bodyPr>
          <a:lstStyle/>
          <a:p>
            <a:pPr algn="ctr"/>
            <a:r>
              <a:rPr sz="1500" b="0" i="0">
                <a:solidFill>
                  <a:srgbClr val="7E8AA0"/>
                </a:solidFill>
                <a:latin typeface="Calibri"/>
              </a:rPr>
              <a:t>→</a:t>
            </a:r>
          </a:p>
        </p:txBody>
      </p:sp>
      <p:sp>
        <p:nvSpPr>
          <p:cNvPr id="25" name="Rectangle 24"/>
          <p:cNvSpPr/>
          <p:nvPr/>
        </p:nvSpPr>
        <p:spPr>
          <a:xfrm>
            <a:off x="8108896" y="1682496"/>
            <a:ext cx="1711756" cy="566928"/>
          </a:xfrm>
          <a:prstGeom prst="rect">
            <a:avLst/>
          </a:prstGeom>
          <a:solidFill>
            <a:srgbClr val="10141F"/>
          </a:solidFill>
          <a:ln w="10160">
            <a:solidFill>
              <a:srgbClr val="5A63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82048" y="1728216"/>
            <a:ext cx="1565452" cy="182880"/>
          </a:xfrm>
          <a:prstGeom prst="rect">
            <a:avLst/>
          </a:prstGeom>
          <a:noFill/>
        </p:spPr>
        <p:txBody>
          <a:bodyPr wrap="square">
            <a:spAutoFit/>
          </a:bodyPr>
          <a:lstStyle/>
          <a:p>
            <a:pPr algn="l"/>
            <a:r>
              <a:rPr sz="850" b="1" i="0">
                <a:solidFill>
                  <a:srgbClr val="7E8AA0"/>
                </a:solidFill>
                <a:latin typeface="Calibri"/>
              </a:rPr>
              <a:t>TECHNOLOGY</a:t>
            </a:r>
          </a:p>
        </p:txBody>
      </p:sp>
      <p:sp>
        <p:nvSpPr>
          <p:cNvPr id="27" name="TextBox 26"/>
          <p:cNvSpPr txBox="1"/>
          <p:nvPr/>
        </p:nvSpPr>
        <p:spPr>
          <a:xfrm>
            <a:off x="8182048" y="1929384"/>
            <a:ext cx="1565452" cy="274320"/>
          </a:xfrm>
          <a:prstGeom prst="rect">
            <a:avLst/>
          </a:prstGeom>
          <a:noFill/>
        </p:spPr>
        <p:txBody>
          <a:bodyPr wrap="square">
            <a:spAutoFit/>
          </a:bodyPr>
          <a:lstStyle/>
          <a:p>
            <a:pPr algn="l"/>
            <a:r>
              <a:rPr sz="1100" b="1" i="0">
                <a:solidFill>
                  <a:srgbClr val="E8ECF4"/>
                </a:solidFill>
                <a:latin typeface="Calibri"/>
              </a:rPr>
              <a:t>WordPress 5.9.3</a:t>
            </a:r>
          </a:p>
        </p:txBody>
      </p:sp>
      <p:sp>
        <p:nvSpPr>
          <p:cNvPr id="28" name="TextBox 27"/>
          <p:cNvSpPr txBox="1"/>
          <p:nvPr/>
        </p:nvSpPr>
        <p:spPr>
          <a:xfrm>
            <a:off x="9820652" y="1682496"/>
            <a:ext cx="201168" cy="566928"/>
          </a:xfrm>
          <a:prstGeom prst="rect">
            <a:avLst/>
          </a:prstGeom>
          <a:noFill/>
        </p:spPr>
        <p:txBody>
          <a:bodyPr wrap="square">
            <a:spAutoFit/>
          </a:bodyPr>
          <a:lstStyle/>
          <a:p>
            <a:pPr algn="ctr"/>
            <a:r>
              <a:rPr sz="1500" b="0" i="0">
                <a:solidFill>
                  <a:srgbClr val="7E8AA0"/>
                </a:solidFill>
                <a:latin typeface="Calibri"/>
              </a:rPr>
              <a:t>→</a:t>
            </a:r>
          </a:p>
        </p:txBody>
      </p:sp>
      <p:sp>
        <p:nvSpPr>
          <p:cNvPr id="29" name="Rectangle 28"/>
          <p:cNvSpPr/>
          <p:nvPr/>
        </p:nvSpPr>
        <p:spPr>
          <a:xfrm>
            <a:off x="10021820" y="1682496"/>
            <a:ext cx="1711756" cy="566928"/>
          </a:xfrm>
          <a:prstGeom prst="rect">
            <a:avLst/>
          </a:prstGeom>
          <a:solidFill>
            <a:srgbClr val="220808"/>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4972" y="1728216"/>
            <a:ext cx="1565452" cy="182880"/>
          </a:xfrm>
          <a:prstGeom prst="rect">
            <a:avLst/>
          </a:prstGeom>
          <a:noFill/>
        </p:spPr>
        <p:txBody>
          <a:bodyPr wrap="square">
            <a:spAutoFit/>
          </a:bodyPr>
          <a:lstStyle/>
          <a:p>
            <a:pPr algn="l"/>
            <a:r>
              <a:rPr sz="850" b="1" i="0">
                <a:solidFill>
                  <a:srgbClr val="FF4545"/>
                </a:solidFill>
                <a:latin typeface="Calibri"/>
              </a:rPr>
              <a:t>VULNERABILITY</a:t>
            </a:r>
          </a:p>
        </p:txBody>
      </p:sp>
      <p:sp>
        <p:nvSpPr>
          <p:cNvPr id="31" name="TextBox 30"/>
          <p:cNvSpPr txBox="1"/>
          <p:nvPr/>
        </p:nvSpPr>
        <p:spPr>
          <a:xfrm>
            <a:off x="10094972" y="1929384"/>
            <a:ext cx="1565452" cy="274320"/>
          </a:xfrm>
          <a:prstGeom prst="rect">
            <a:avLst/>
          </a:prstGeom>
          <a:noFill/>
        </p:spPr>
        <p:txBody>
          <a:bodyPr wrap="square">
            <a:spAutoFit/>
          </a:bodyPr>
          <a:lstStyle/>
          <a:p>
            <a:pPr algn="l"/>
            <a:r>
              <a:rPr sz="1050" b="1" i="0">
                <a:solidFill>
                  <a:srgbClr val="E8ECF4"/>
                </a:solidFill>
                <a:latin typeface="Calibri"/>
              </a:rPr>
              <a:t>CVE-2022-21661  ·  CVSS 8.8</a:t>
            </a:r>
          </a:p>
        </p:txBody>
      </p:sp>
      <p:sp>
        <p:nvSpPr>
          <p:cNvPr id="32" name="TextBox 31"/>
          <p:cNvSpPr txBox="1"/>
          <p:nvPr/>
        </p:nvSpPr>
        <p:spPr>
          <a:xfrm>
            <a:off x="457200" y="2304288"/>
            <a:ext cx="11277295" cy="182880"/>
          </a:xfrm>
          <a:prstGeom prst="rect">
            <a:avLst/>
          </a:prstGeom>
          <a:noFill/>
        </p:spPr>
        <p:txBody>
          <a:bodyPr wrap="square">
            <a:spAutoFit/>
          </a:bodyPr>
          <a:lstStyle/>
          <a:p>
            <a:pPr algn="l"/>
            <a:r>
              <a:rPr sz="950" b="0" i="1">
                <a:solidFill>
                  <a:srgbClr val="7E8AA0"/>
                </a:solidFill>
                <a:latin typeface="Calibri"/>
              </a:rPr>
              <a:t>starts_at:  Vulnerability node  →  Commander seeds APG AttackChain</a:t>
            </a:r>
          </a:p>
        </p:txBody>
      </p:sp>
      <p:sp>
        <p:nvSpPr>
          <p:cNvPr id="33" name="Rectangle 32"/>
          <p:cNvSpPr/>
          <p:nvPr/>
        </p:nvSpPr>
        <p:spPr>
          <a:xfrm>
            <a:off x="457200" y="2505456"/>
            <a:ext cx="2094890" cy="1417320"/>
          </a:xfrm>
          <a:prstGeom prst="rect">
            <a:avLst/>
          </a:prstGeom>
          <a:solidFill>
            <a:srgbClr val="1E1804"/>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5216" y="2615184"/>
            <a:ext cx="1837943" cy="201168"/>
          </a:xfrm>
          <a:prstGeom prst="rect">
            <a:avLst/>
          </a:prstGeom>
          <a:noFill/>
        </p:spPr>
        <p:txBody>
          <a:bodyPr wrap="square">
            <a:spAutoFit/>
          </a:bodyPr>
          <a:lstStyle/>
          <a:p>
            <a:pPr algn="l"/>
            <a:r>
              <a:rPr sz="950" b="1" i="0">
                <a:solidFill>
                  <a:srgbClr val="FFD700"/>
                </a:solidFill>
                <a:latin typeface="Calibri"/>
              </a:rPr>
              <a:t>🟡 APG · ATTACKCHAIN</a:t>
            </a:r>
          </a:p>
        </p:txBody>
      </p:sp>
      <p:sp>
        <p:nvSpPr>
          <p:cNvPr id="35" name="TextBox 34"/>
          <p:cNvSpPr txBox="1"/>
          <p:nvPr/>
        </p:nvSpPr>
        <p:spPr>
          <a:xfrm>
            <a:off x="585216" y="2871216"/>
            <a:ext cx="1837943" cy="237744"/>
          </a:xfrm>
          <a:prstGeom prst="rect">
            <a:avLst/>
          </a:prstGeom>
          <a:noFill/>
        </p:spPr>
        <p:txBody>
          <a:bodyPr wrap="square">
            <a:spAutoFit/>
          </a:bodyPr>
          <a:lstStyle/>
          <a:p>
            <a:pPr algn="l"/>
            <a:r>
              <a:rPr sz="1350" b="1" i="0">
                <a:solidFill>
                  <a:srgbClr val="E8ECF4"/>
                </a:solidFill>
                <a:latin typeface="Calibri"/>
              </a:rPr>
              <a:t>Chain-01</a:t>
            </a:r>
          </a:p>
        </p:txBody>
      </p:sp>
      <p:sp>
        <p:nvSpPr>
          <p:cNvPr id="36" name="TextBox 35"/>
          <p:cNvSpPr txBox="1"/>
          <p:nvPr/>
        </p:nvSpPr>
        <p:spPr>
          <a:xfrm>
            <a:off x="585216" y="3108960"/>
            <a:ext cx="1837943" cy="237744"/>
          </a:xfrm>
          <a:prstGeom prst="rect">
            <a:avLst/>
          </a:prstGeom>
          <a:noFill/>
        </p:spPr>
        <p:txBody>
          <a:bodyPr wrap="square">
            <a:spAutoFit/>
          </a:bodyPr>
          <a:lstStyle/>
          <a:p>
            <a:pPr algn="l"/>
            <a:r>
              <a:rPr sz="1350" b="1" i="0">
                <a:solidFill>
                  <a:srgbClr val="E8ECF4"/>
                </a:solidFill>
                <a:latin typeface="Calibri"/>
              </a:rPr>
              <a:t>risk_score: 9.1</a:t>
            </a:r>
          </a:p>
        </p:txBody>
      </p:sp>
      <p:sp>
        <p:nvSpPr>
          <p:cNvPr id="37" name="TextBox 36"/>
          <p:cNvSpPr txBox="1"/>
          <p:nvPr/>
        </p:nvSpPr>
        <p:spPr>
          <a:xfrm>
            <a:off x="585216" y="3538727"/>
            <a:ext cx="1837943" cy="310896"/>
          </a:xfrm>
          <a:prstGeom prst="rect">
            <a:avLst/>
          </a:prstGeom>
          <a:noFill/>
        </p:spPr>
        <p:txBody>
          <a:bodyPr wrap="square">
            <a:spAutoFit/>
          </a:bodyPr>
          <a:lstStyle/>
          <a:p>
            <a:pPr algn="l"/>
            <a:r>
              <a:rPr sz="950" b="0" i="0">
                <a:solidFill>
                  <a:srgbClr val="A0AAB8"/>
                </a:solidFill>
                <a:latin typeface="Calibri"/>
              </a:rPr>
              <a:t>status: VALIDATED</a:t>
            </a:r>
          </a:p>
        </p:txBody>
      </p:sp>
      <p:sp>
        <p:nvSpPr>
          <p:cNvPr id="38" name="TextBox 37"/>
          <p:cNvSpPr txBox="1"/>
          <p:nvPr/>
        </p:nvSpPr>
        <p:spPr>
          <a:xfrm>
            <a:off x="2552090" y="2505456"/>
            <a:ext cx="201168" cy="1417320"/>
          </a:xfrm>
          <a:prstGeom prst="rect">
            <a:avLst/>
          </a:prstGeom>
          <a:noFill/>
        </p:spPr>
        <p:txBody>
          <a:bodyPr wrap="square">
            <a:spAutoFit/>
          </a:bodyPr>
          <a:lstStyle/>
          <a:p>
            <a:pPr algn="ctr"/>
            <a:r>
              <a:rPr sz="1500" b="0" i="0">
                <a:solidFill>
                  <a:srgbClr val="7E8AA0"/>
                </a:solidFill>
                <a:latin typeface="Calibri"/>
              </a:rPr>
              <a:t>→</a:t>
            </a:r>
          </a:p>
        </p:txBody>
      </p:sp>
      <p:sp>
        <p:nvSpPr>
          <p:cNvPr id="39" name="TextBox 38"/>
          <p:cNvSpPr txBox="1"/>
          <p:nvPr/>
        </p:nvSpPr>
        <p:spPr>
          <a:xfrm>
            <a:off x="2186330" y="3941064"/>
            <a:ext cx="932688" cy="164592"/>
          </a:xfrm>
          <a:prstGeom prst="rect">
            <a:avLst/>
          </a:prstGeom>
          <a:noFill/>
        </p:spPr>
        <p:txBody>
          <a:bodyPr wrap="square">
            <a:spAutoFit/>
          </a:bodyPr>
          <a:lstStyle/>
          <a:p>
            <a:pPr algn="l"/>
            <a:r>
              <a:rPr sz="750" b="0" i="1">
                <a:solidFill>
                  <a:srgbClr val="7E8AA0"/>
                </a:solidFill>
                <a:latin typeface="Calibri"/>
              </a:rPr>
              <a:t>starts_at</a:t>
            </a:r>
          </a:p>
        </p:txBody>
      </p:sp>
      <p:sp>
        <p:nvSpPr>
          <p:cNvPr id="40" name="Rectangle 39"/>
          <p:cNvSpPr/>
          <p:nvPr/>
        </p:nvSpPr>
        <p:spPr>
          <a:xfrm>
            <a:off x="2753258" y="2505456"/>
            <a:ext cx="2094890" cy="1417320"/>
          </a:xfrm>
          <a:prstGeom prst="rect">
            <a:avLst/>
          </a:prstGeom>
          <a:solidFill>
            <a:srgbClr val="0E1A06"/>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881274" y="2615184"/>
            <a:ext cx="1837943" cy="201168"/>
          </a:xfrm>
          <a:prstGeom prst="rect">
            <a:avLst/>
          </a:prstGeom>
          <a:noFill/>
        </p:spPr>
        <p:txBody>
          <a:bodyPr wrap="square">
            <a:spAutoFit/>
          </a:bodyPr>
          <a:lstStyle/>
          <a:p>
            <a:pPr algn="l"/>
            <a:r>
              <a:rPr sz="950" b="1" i="0">
                <a:solidFill>
                  <a:srgbClr val="39FF14"/>
                </a:solidFill>
                <a:latin typeface="Calibri"/>
              </a:rPr>
              <a:t>CHAINSTEP 1</a:t>
            </a:r>
          </a:p>
        </p:txBody>
      </p:sp>
      <p:sp>
        <p:nvSpPr>
          <p:cNvPr id="42" name="TextBox 41"/>
          <p:cNvSpPr txBox="1"/>
          <p:nvPr/>
        </p:nvSpPr>
        <p:spPr>
          <a:xfrm>
            <a:off x="2881274" y="2871216"/>
            <a:ext cx="1837943" cy="237744"/>
          </a:xfrm>
          <a:prstGeom prst="rect">
            <a:avLst/>
          </a:prstGeom>
          <a:noFill/>
        </p:spPr>
        <p:txBody>
          <a:bodyPr wrap="square">
            <a:spAutoFit/>
          </a:bodyPr>
          <a:lstStyle/>
          <a:p>
            <a:pPr algn="l"/>
            <a:r>
              <a:rPr sz="1350" b="1" i="0">
                <a:solidFill>
                  <a:srgbClr val="E8ECF4"/>
                </a:solidFill>
                <a:latin typeface="Calibri"/>
              </a:rPr>
              <a:t>SQLMap →</a:t>
            </a:r>
          </a:p>
        </p:txBody>
      </p:sp>
      <p:sp>
        <p:nvSpPr>
          <p:cNvPr id="43" name="TextBox 42"/>
          <p:cNvSpPr txBox="1"/>
          <p:nvPr/>
        </p:nvSpPr>
        <p:spPr>
          <a:xfrm>
            <a:off x="2881274" y="3108960"/>
            <a:ext cx="1837943" cy="237744"/>
          </a:xfrm>
          <a:prstGeom prst="rect">
            <a:avLst/>
          </a:prstGeom>
          <a:noFill/>
        </p:spPr>
        <p:txBody>
          <a:bodyPr wrap="square">
            <a:spAutoFit/>
          </a:bodyPr>
          <a:lstStyle/>
          <a:p>
            <a:pPr algn="l"/>
            <a:r>
              <a:rPr sz="1350" b="1" i="0">
                <a:solidFill>
                  <a:srgbClr val="E8ECF4"/>
                </a:solidFill>
                <a:latin typeface="Calibri"/>
              </a:rPr>
              <a:t>WP_Query SQLi</a:t>
            </a:r>
          </a:p>
        </p:txBody>
      </p:sp>
      <p:sp>
        <p:nvSpPr>
          <p:cNvPr id="44" name="TextBox 43"/>
          <p:cNvSpPr txBox="1"/>
          <p:nvPr/>
        </p:nvSpPr>
        <p:spPr>
          <a:xfrm>
            <a:off x="2881274" y="3538727"/>
            <a:ext cx="1837943" cy="310896"/>
          </a:xfrm>
          <a:prstGeom prst="rect">
            <a:avLst/>
          </a:prstGeom>
          <a:noFill/>
        </p:spPr>
        <p:txBody>
          <a:bodyPr wrap="square">
            <a:spAutoFit/>
          </a:bodyPr>
          <a:lstStyle/>
          <a:p>
            <a:pPr algn="l"/>
            <a:r>
              <a:rPr sz="950" b="0" i="0">
                <a:solidFill>
                  <a:srgbClr val="A0AAB8"/>
                </a:solidFill>
                <a:latin typeface="Calibri"/>
              </a:rPr>
              <a:t>status: VALIDATED</a:t>
            </a:r>
          </a:p>
        </p:txBody>
      </p:sp>
      <p:sp>
        <p:nvSpPr>
          <p:cNvPr id="45" name="TextBox 44"/>
          <p:cNvSpPr txBox="1"/>
          <p:nvPr/>
        </p:nvSpPr>
        <p:spPr>
          <a:xfrm>
            <a:off x="4848148" y="2505456"/>
            <a:ext cx="201168" cy="1417320"/>
          </a:xfrm>
          <a:prstGeom prst="rect">
            <a:avLst/>
          </a:prstGeom>
          <a:noFill/>
        </p:spPr>
        <p:txBody>
          <a:bodyPr wrap="square">
            <a:spAutoFit/>
          </a:bodyPr>
          <a:lstStyle/>
          <a:p>
            <a:pPr algn="ctr"/>
            <a:r>
              <a:rPr sz="1500" b="0" i="0">
                <a:solidFill>
                  <a:srgbClr val="7E8AA0"/>
                </a:solidFill>
                <a:latin typeface="Calibri"/>
              </a:rPr>
              <a:t>→</a:t>
            </a:r>
          </a:p>
        </p:txBody>
      </p:sp>
      <p:sp>
        <p:nvSpPr>
          <p:cNvPr id="46" name="TextBox 45"/>
          <p:cNvSpPr txBox="1"/>
          <p:nvPr/>
        </p:nvSpPr>
        <p:spPr>
          <a:xfrm>
            <a:off x="4481474" y="3941064"/>
            <a:ext cx="932688" cy="164592"/>
          </a:xfrm>
          <a:prstGeom prst="rect">
            <a:avLst/>
          </a:prstGeom>
          <a:noFill/>
        </p:spPr>
        <p:txBody>
          <a:bodyPr wrap="square">
            <a:spAutoFit/>
          </a:bodyPr>
          <a:lstStyle/>
          <a:p>
            <a:pPr algn="l"/>
            <a:r>
              <a:rPr sz="750" b="0" i="1">
                <a:solidFill>
                  <a:srgbClr val="7E8AA0"/>
                </a:solidFill>
                <a:latin typeface="Calibri"/>
              </a:rPr>
              <a:t>next_step</a:t>
            </a:r>
          </a:p>
        </p:txBody>
      </p:sp>
      <p:sp>
        <p:nvSpPr>
          <p:cNvPr id="47" name="Rectangle 46"/>
          <p:cNvSpPr/>
          <p:nvPr/>
        </p:nvSpPr>
        <p:spPr>
          <a:xfrm>
            <a:off x="5048402" y="2505456"/>
            <a:ext cx="2094890" cy="1417320"/>
          </a:xfrm>
          <a:prstGeom prst="rect">
            <a:avLst/>
          </a:prstGeom>
          <a:solidFill>
            <a:srgbClr val="0E1A06"/>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176418" y="2615184"/>
            <a:ext cx="1837943" cy="201168"/>
          </a:xfrm>
          <a:prstGeom prst="rect">
            <a:avLst/>
          </a:prstGeom>
          <a:noFill/>
        </p:spPr>
        <p:txBody>
          <a:bodyPr wrap="square">
            <a:spAutoFit/>
          </a:bodyPr>
          <a:lstStyle/>
          <a:p>
            <a:pPr algn="l"/>
            <a:r>
              <a:rPr sz="950" b="1" i="0">
                <a:solidFill>
                  <a:srgbClr val="39FF14"/>
                </a:solidFill>
                <a:latin typeface="Calibri"/>
              </a:rPr>
              <a:t>CHAINSTEP 2</a:t>
            </a:r>
          </a:p>
        </p:txBody>
      </p:sp>
      <p:sp>
        <p:nvSpPr>
          <p:cNvPr id="49" name="TextBox 48"/>
          <p:cNvSpPr txBox="1"/>
          <p:nvPr/>
        </p:nvSpPr>
        <p:spPr>
          <a:xfrm>
            <a:off x="5176418" y="2871216"/>
            <a:ext cx="1837943" cy="237744"/>
          </a:xfrm>
          <a:prstGeom prst="rect">
            <a:avLst/>
          </a:prstGeom>
          <a:noFill/>
        </p:spPr>
        <p:txBody>
          <a:bodyPr wrap="square">
            <a:spAutoFit/>
          </a:bodyPr>
          <a:lstStyle/>
          <a:p>
            <a:pPr algn="l"/>
            <a:r>
              <a:rPr sz="1350" b="1" i="0">
                <a:solidFill>
                  <a:srgbClr val="E8ECF4"/>
                </a:solidFill>
                <a:latin typeface="Calibri"/>
              </a:rPr>
              <a:t>SQLMap dump →</a:t>
            </a:r>
          </a:p>
        </p:txBody>
      </p:sp>
      <p:sp>
        <p:nvSpPr>
          <p:cNvPr id="50" name="TextBox 49"/>
          <p:cNvSpPr txBox="1"/>
          <p:nvPr/>
        </p:nvSpPr>
        <p:spPr>
          <a:xfrm>
            <a:off x="5176418" y="3108960"/>
            <a:ext cx="1837943" cy="237744"/>
          </a:xfrm>
          <a:prstGeom prst="rect">
            <a:avLst/>
          </a:prstGeom>
          <a:noFill/>
        </p:spPr>
        <p:txBody>
          <a:bodyPr wrap="square">
            <a:spAutoFit/>
          </a:bodyPr>
          <a:lstStyle/>
          <a:p>
            <a:pPr algn="l"/>
            <a:r>
              <a:rPr sz="1350" b="1" i="0">
                <a:solidFill>
                  <a:srgbClr val="E8ECF4"/>
                </a:solidFill>
                <a:latin typeface="Calibri"/>
              </a:rPr>
              <a:t>hash cracked</a:t>
            </a:r>
          </a:p>
        </p:txBody>
      </p:sp>
      <p:sp>
        <p:nvSpPr>
          <p:cNvPr id="51" name="TextBox 50"/>
          <p:cNvSpPr txBox="1"/>
          <p:nvPr/>
        </p:nvSpPr>
        <p:spPr>
          <a:xfrm>
            <a:off x="5176418" y="3538727"/>
            <a:ext cx="1837943" cy="310896"/>
          </a:xfrm>
          <a:prstGeom prst="rect">
            <a:avLst/>
          </a:prstGeom>
          <a:noFill/>
        </p:spPr>
        <p:txBody>
          <a:bodyPr wrap="square">
            <a:spAutoFit/>
          </a:bodyPr>
          <a:lstStyle/>
          <a:p>
            <a:pPr algn="l"/>
            <a:r>
              <a:rPr sz="950" b="0" i="0">
                <a:solidFill>
                  <a:srgbClr val="A0AAB8"/>
                </a:solidFill>
                <a:latin typeface="Calibri"/>
              </a:rPr>
              <a:t>status: VALIDATED</a:t>
            </a:r>
          </a:p>
        </p:txBody>
      </p:sp>
      <p:sp>
        <p:nvSpPr>
          <p:cNvPr id="52" name="TextBox 51"/>
          <p:cNvSpPr txBox="1"/>
          <p:nvPr/>
        </p:nvSpPr>
        <p:spPr>
          <a:xfrm>
            <a:off x="7143292" y="2505456"/>
            <a:ext cx="201168" cy="1417320"/>
          </a:xfrm>
          <a:prstGeom prst="rect">
            <a:avLst/>
          </a:prstGeom>
          <a:noFill/>
        </p:spPr>
        <p:txBody>
          <a:bodyPr wrap="square">
            <a:spAutoFit/>
          </a:bodyPr>
          <a:lstStyle/>
          <a:p>
            <a:pPr algn="ctr"/>
            <a:r>
              <a:rPr sz="1500" b="0" i="0">
                <a:solidFill>
                  <a:srgbClr val="7E8AA0"/>
                </a:solidFill>
                <a:latin typeface="Calibri"/>
              </a:rPr>
              <a:t>→</a:t>
            </a:r>
          </a:p>
        </p:txBody>
      </p:sp>
      <p:sp>
        <p:nvSpPr>
          <p:cNvPr id="53" name="TextBox 52"/>
          <p:cNvSpPr txBox="1"/>
          <p:nvPr/>
        </p:nvSpPr>
        <p:spPr>
          <a:xfrm>
            <a:off x="6777532" y="3941064"/>
            <a:ext cx="932688" cy="164592"/>
          </a:xfrm>
          <a:prstGeom prst="rect">
            <a:avLst/>
          </a:prstGeom>
          <a:noFill/>
        </p:spPr>
        <p:txBody>
          <a:bodyPr wrap="square">
            <a:spAutoFit/>
          </a:bodyPr>
          <a:lstStyle/>
          <a:p>
            <a:pPr algn="l"/>
            <a:r>
              <a:rPr sz="750" b="0" i="1">
                <a:solidFill>
                  <a:srgbClr val="7E8AA0"/>
                </a:solidFill>
                <a:latin typeface="Calibri"/>
              </a:rPr>
              <a:t>next_step</a:t>
            </a:r>
          </a:p>
        </p:txBody>
      </p:sp>
      <p:sp>
        <p:nvSpPr>
          <p:cNvPr id="54" name="Rectangle 53"/>
          <p:cNvSpPr/>
          <p:nvPr/>
        </p:nvSpPr>
        <p:spPr>
          <a:xfrm>
            <a:off x="7344460" y="2505456"/>
            <a:ext cx="2094890" cy="1417320"/>
          </a:xfrm>
          <a:prstGeom prst="rect">
            <a:avLst/>
          </a:prstGeom>
          <a:solidFill>
            <a:srgbClr val="0E1A06"/>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72476" y="2615184"/>
            <a:ext cx="1837943" cy="201168"/>
          </a:xfrm>
          <a:prstGeom prst="rect">
            <a:avLst/>
          </a:prstGeom>
          <a:noFill/>
        </p:spPr>
        <p:txBody>
          <a:bodyPr wrap="square">
            <a:spAutoFit/>
          </a:bodyPr>
          <a:lstStyle/>
          <a:p>
            <a:pPr algn="l"/>
            <a:r>
              <a:rPr sz="950" b="1" i="0">
                <a:solidFill>
                  <a:srgbClr val="39FF14"/>
                </a:solidFill>
                <a:latin typeface="Calibri"/>
              </a:rPr>
              <a:t>CHAINSTEP 3</a:t>
            </a:r>
          </a:p>
        </p:txBody>
      </p:sp>
      <p:sp>
        <p:nvSpPr>
          <p:cNvPr id="56" name="TextBox 55"/>
          <p:cNvSpPr txBox="1"/>
          <p:nvPr/>
        </p:nvSpPr>
        <p:spPr>
          <a:xfrm>
            <a:off x="7472476" y="2871216"/>
            <a:ext cx="1837943" cy="237744"/>
          </a:xfrm>
          <a:prstGeom prst="rect">
            <a:avLst/>
          </a:prstGeom>
          <a:noFill/>
        </p:spPr>
        <p:txBody>
          <a:bodyPr wrap="square">
            <a:spAutoFit/>
          </a:bodyPr>
          <a:lstStyle/>
          <a:p>
            <a:pPr algn="l"/>
            <a:r>
              <a:rPr sz="1350" b="1" i="0">
                <a:solidFill>
                  <a:srgbClr val="E8ECF4"/>
                </a:solidFill>
                <a:latin typeface="Calibri"/>
              </a:rPr>
              <a:t>Metasploit →</a:t>
            </a:r>
          </a:p>
        </p:txBody>
      </p:sp>
      <p:sp>
        <p:nvSpPr>
          <p:cNvPr id="57" name="TextBox 56"/>
          <p:cNvSpPr txBox="1"/>
          <p:nvPr/>
        </p:nvSpPr>
        <p:spPr>
          <a:xfrm>
            <a:off x="7472476" y="3108960"/>
            <a:ext cx="1837943" cy="237744"/>
          </a:xfrm>
          <a:prstGeom prst="rect">
            <a:avLst/>
          </a:prstGeom>
          <a:noFill/>
        </p:spPr>
        <p:txBody>
          <a:bodyPr wrap="square">
            <a:spAutoFit/>
          </a:bodyPr>
          <a:lstStyle/>
          <a:p>
            <a:pPr algn="l"/>
            <a:r>
              <a:rPr sz="1350" b="1" i="0">
                <a:solidFill>
                  <a:srgbClr val="E8ECF4"/>
                </a:solidFill>
                <a:latin typeface="Calibri"/>
              </a:rPr>
              <a:t>Web shell</a:t>
            </a:r>
          </a:p>
        </p:txBody>
      </p:sp>
      <p:sp>
        <p:nvSpPr>
          <p:cNvPr id="58" name="TextBox 57"/>
          <p:cNvSpPr txBox="1"/>
          <p:nvPr/>
        </p:nvSpPr>
        <p:spPr>
          <a:xfrm>
            <a:off x="7472476" y="3538727"/>
            <a:ext cx="1837943" cy="310896"/>
          </a:xfrm>
          <a:prstGeom prst="rect">
            <a:avLst/>
          </a:prstGeom>
          <a:noFill/>
        </p:spPr>
        <p:txBody>
          <a:bodyPr wrap="square">
            <a:spAutoFit/>
          </a:bodyPr>
          <a:lstStyle/>
          <a:p>
            <a:pPr algn="l"/>
            <a:r>
              <a:rPr sz="950" b="0" i="0">
                <a:solidFill>
                  <a:srgbClr val="A0AAB8"/>
                </a:solidFill>
                <a:latin typeface="Calibri"/>
              </a:rPr>
              <a:t>status: VALIDATED</a:t>
            </a:r>
          </a:p>
        </p:txBody>
      </p:sp>
      <p:sp>
        <p:nvSpPr>
          <p:cNvPr id="59" name="TextBox 58"/>
          <p:cNvSpPr txBox="1"/>
          <p:nvPr/>
        </p:nvSpPr>
        <p:spPr>
          <a:xfrm>
            <a:off x="9439350" y="2505456"/>
            <a:ext cx="201168" cy="1417320"/>
          </a:xfrm>
          <a:prstGeom prst="rect">
            <a:avLst/>
          </a:prstGeom>
          <a:noFill/>
        </p:spPr>
        <p:txBody>
          <a:bodyPr wrap="square">
            <a:spAutoFit/>
          </a:bodyPr>
          <a:lstStyle/>
          <a:p>
            <a:pPr algn="ctr"/>
            <a:r>
              <a:rPr sz="1500" b="0" i="0">
                <a:solidFill>
                  <a:srgbClr val="7E8AA0"/>
                </a:solidFill>
                <a:latin typeface="Calibri"/>
              </a:rPr>
              <a:t>→</a:t>
            </a:r>
          </a:p>
        </p:txBody>
      </p:sp>
      <p:sp>
        <p:nvSpPr>
          <p:cNvPr id="60" name="TextBox 59"/>
          <p:cNvSpPr txBox="1"/>
          <p:nvPr/>
        </p:nvSpPr>
        <p:spPr>
          <a:xfrm>
            <a:off x="9072676" y="3941064"/>
            <a:ext cx="932688" cy="164592"/>
          </a:xfrm>
          <a:prstGeom prst="rect">
            <a:avLst/>
          </a:prstGeom>
          <a:noFill/>
        </p:spPr>
        <p:txBody>
          <a:bodyPr wrap="square">
            <a:spAutoFit/>
          </a:bodyPr>
          <a:lstStyle/>
          <a:p>
            <a:pPr algn="l"/>
            <a:r>
              <a:rPr sz="750" b="0" i="1">
                <a:solidFill>
                  <a:srgbClr val="7E8AA0"/>
                </a:solidFill>
                <a:latin typeface="Calibri"/>
              </a:rPr>
              <a:t>achieves</a:t>
            </a:r>
          </a:p>
        </p:txBody>
      </p:sp>
      <p:sp>
        <p:nvSpPr>
          <p:cNvPr id="61" name="Rectangle 60"/>
          <p:cNvSpPr/>
          <p:nvPr/>
        </p:nvSpPr>
        <p:spPr>
          <a:xfrm>
            <a:off x="9639604" y="2505456"/>
            <a:ext cx="2094890" cy="1417320"/>
          </a:xfrm>
          <a:prstGeom prst="rect">
            <a:avLst/>
          </a:prstGeom>
          <a:solidFill>
            <a:srgbClr val="150C28"/>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767620" y="2615184"/>
            <a:ext cx="1837943" cy="201168"/>
          </a:xfrm>
          <a:prstGeom prst="rect">
            <a:avLst/>
          </a:prstGeom>
          <a:noFill/>
        </p:spPr>
        <p:txBody>
          <a:bodyPr wrap="square">
            <a:spAutoFit/>
          </a:bodyPr>
          <a:lstStyle/>
          <a:p>
            <a:pPr algn="l"/>
            <a:r>
              <a:rPr sz="950" b="1" i="0">
                <a:solidFill>
                  <a:srgbClr val="BD93F9"/>
                </a:solidFill>
                <a:latin typeface="Calibri"/>
              </a:rPr>
              <a:t>🟣 IMPACT</a:t>
            </a:r>
          </a:p>
        </p:txBody>
      </p:sp>
      <p:sp>
        <p:nvSpPr>
          <p:cNvPr id="63" name="TextBox 62"/>
          <p:cNvSpPr txBox="1"/>
          <p:nvPr/>
        </p:nvSpPr>
        <p:spPr>
          <a:xfrm>
            <a:off x="9767620" y="2871216"/>
            <a:ext cx="1837943" cy="237744"/>
          </a:xfrm>
          <a:prstGeom prst="rect">
            <a:avLst/>
          </a:prstGeom>
          <a:noFill/>
        </p:spPr>
        <p:txBody>
          <a:bodyPr wrap="square">
            <a:spAutoFit/>
          </a:bodyPr>
          <a:lstStyle/>
          <a:p>
            <a:pPr algn="l"/>
            <a:r>
              <a:rPr sz="1350" b="1" i="0">
                <a:solidFill>
                  <a:srgbClr val="E8ECF4"/>
                </a:solidFill>
                <a:latin typeface="Calibri"/>
              </a:rPr>
              <a:t>RCE on shopvault.io</a:t>
            </a:r>
          </a:p>
        </p:txBody>
      </p:sp>
      <p:sp>
        <p:nvSpPr>
          <p:cNvPr id="64" name="TextBox 63"/>
          <p:cNvSpPr txBox="1"/>
          <p:nvPr/>
        </p:nvSpPr>
        <p:spPr>
          <a:xfrm>
            <a:off x="9767620" y="3538727"/>
            <a:ext cx="1837943" cy="310896"/>
          </a:xfrm>
          <a:prstGeom prst="rect">
            <a:avLst/>
          </a:prstGeom>
          <a:noFill/>
        </p:spPr>
        <p:txBody>
          <a:bodyPr wrap="square">
            <a:spAutoFit/>
          </a:bodyPr>
          <a:lstStyle/>
          <a:p>
            <a:pPr algn="l"/>
            <a:r>
              <a:rPr sz="950" b="0" i="0">
                <a:solidFill>
                  <a:srgbClr val="A0AAB8"/>
                </a:solidFill>
                <a:latin typeface="Calibri"/>
              </a:rPr>
              <a:t>Customer PII accessible</a:t>
            </a:r>
          </a:p>
        </p:txBody>
      </p:sp>
      <p:sp>
        <p:nvSpPr>
          <p:cNvPr id="65" name="TextBox 64"/>
          <p:cNvSpPr txBox="1"/>
          <p:nvPr/>
        </p:nvSpPr>
        <p:spPr>
          <a:xfrm>
            <a:off x="2753258" y="3977639"/>
            <a:ext cx="2094890" cy="164592"/>
          </a:xfrm>
          <a:prstGeom prst="rect">
            <a:avLst/>
          </a:prstGeom>
          <a:noFill/>
        </p:spPr>
        <p:txBody>
          <a:bodyPr wrap="square">
            <a:spAutoFit/>
          </a:bodyPr>
          <a:lstStyle/>
          <a:p>
            <a:pPr algn="l"/>
            <a:r>
              <a:rPr sz="750" b="0" i="1">
                <a:solidFill>
                  <a:srgbClr val="7E8AA0"/>
                </a:solidFill>
                <a:latin typeface="Calibri"/>
              </a:rPr>
              <a:t>supported_by</a:t>
            </a:r>
          </a:p>
        </p:txBody>
      </p:sp>
      <p:cxnSp>
        <p:nvCxnSpPr>
          <p:cNvPr id="66" name="Connector 65"/>
          <p:cNvCxnSpPr/>
          <p:nvPr/>
        </p:nvCxnSpPr>
        <p:spPr>
          <a:xfrm>
            <a:off x="3800703.0" y="3922776"/>
            <a:ext cx="0.0" cy="384048"/>
          </a:xfrm>
          <a:prstGeom prst="line">
            <a:avLst/>
          </a:prstGeom>
          <a:ln w="12700">
            <a:solidFill>
              <a:srgbClr val="5A6378"/>
            </a:solidFill>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2753258" y="4306824"/>
            <a:ext cx="2094890" cy="777240"/>
          </a:xfrm>
          <a:prstGeom prst="rect">
            <a:avLst/>
          </a:prstGeom>
          <a:solidFill>
            <a:srgbClr val="150C28"/>
          </a:solidFill>
          <a:ln w="12700">
            <a:solidFill>
              <a:srgbClr val="3A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862986" y="4398264"/>
            <a:ext cx="1875434" cy="182880"/>
          </a:xfrm>
          <a:prstGeom prst="rect">
            <a:avLst/>
          </a:prstGeom>
          <a:noFill/>
        </p:spPr>
        <p:txBody>
          <a:bodyPr wrap="square">
            <a:spAutoFit/>
          </a:bodyPr>
          <a:lstStyle/>
          <a:p>
            <a:pPr algn="l"/>
            <a:r>
              <a:rPr sz="850" b="1" i="0">
                <a:solidFill>
                  <a:srgbClr val="BD93F9"/>
                </a:solidFill>
                <a:latin typeface="Calibri"/>
              </a:rPr>
              <a:t>📎 ASG · EVIDENCE</a:t>
            </a:r>
          </a:p>
        </p:txBody>
      </p:sp>
      <p:sp>
        <p:nvSpPr>
          <p:cNvPr id="69" name="TextBox 68"/>
          <p:cNvSpPr txBox="1"/>
          <p:nvPr/>
        </p:nvSpPr>
        <p:spPr>
          <a:xfrm>
            <a:off x="2862986" y="4636008"/>
            <a:ext cx="1875434" cy="365760"/>
          </a:xfrm>
          <a:prstGeom prst="rect">
            <a:avLst/>
          </a:prstGeom>
          <a:noFill/>
        </p:spPr>
        <p:txBody>
          <a:bodyPr wrap="square">
            <a:spAutoFit/>
          </a:bodyPr>
          <a:lstStyle/>
          <a:p>
            <a:pPr algn="l"/>
            <a:r>
              <a:rPr sz="1050" b="1" i="0">
                <a:solidFill>
                  <a:srgbClr val="E8ECF4"/>
                </a:solidFill>
                <a:latin typeface="Calibri"/>
              </a:rPr>
              <a:t>sqli-extraction.txt</a:t>
            </a:r>
          </a:p>
        </p:txBody>
      </p:sp>
      <p:sp>
        <p:nvSpPr>
          <p:cNvPr id="70" name="TextBox 69"/>
          <p:cNvSpPr txBox="1"/>
          <p:nvPr/>
        </p:nvSpPr>
        <p:spPr>
          <a:xfrm>
            <a:off x="5048402" y="3977639"/>
            <a:ext cx="2094890" cy="164592"/>
          </a:xfrm>
          <a:prstGeom prst="rect">
            <a:avLst/>
          </a:prstGeom>
          <a:noFill/>
        </p:spPr>
        <p:txBody>
          <a:bodyPr wrap="square">
            <a:spAutoFit/>
          </a:bodyPr>
          <a:lstStyle/>
          <a:p>
            <a:pPr algn="l"/>
            <a:r>
              <a:rPr sz="750" b="0" i="1">
                <a:solidFill>
                  <a:srgbClr val="7E8AA0"/>
                </a:solidFill>
                <a:latin typeface="Calibri"/>
              </a:rPr>
              <a:t>supported_by</a:t>
            </a:r>
          </a:p>
        </p:txBody>
      </p:sp>
      <p:cxnSp>
        <p:nvCxnSpPr>
          <p:cNvPr id="71" name="Connector 70"/>
          <p:cNvCxnSpPr/>
          <p:nvPr/>
        </p:nvCxnSpPr>
        <p:spPr>
          <a:xfrm>
            <a:off x="6095847.0" y="3922776"/>
            <a:ext cx="0.0" cy="384048"/>
          </a:xfrm>
          <a:prstGeom prst="line">
            <a:avLst/>
          </a:prstGeom>
          <a:ln w="12700">
            <a:solidFill>
              <a:srgbClr val="5A6378"/>
            </a:solidFill>
          </a:ln>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5048402" y="4306824"/>
            <a:ext cx="2094890" cy="777240"/>
          </a:xfrm>
          <a:prstGeom prst="rect">
            <a:avLst/>
          </a:prstGeom>
          <a:solidFill>
            <a:srgbClr val="150C28"/>
          </a:solidFill>
          <a:ln w="12700">
            <a:solidFill>
              <a:srgbClr val="3A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158130" y="4398264"/>
            <a:ext cx="1875434" cy="182880"/>
          </a:xfrm>
          <a:prstGeom prst="rect">
            <a:avLst/>
          </a:prstGeom>
          <a:noFill/>
        </p:spPr>
        <p:txBody>
          <a:bodyPr wrap="square">
            <a:spAutoFit/>
          </a:bodyPr>
          <a:lstStyle/>
          <a:p>
            <a:pPr algn="l"/>
            <a:r>
              <a:rPr sz="850" b="1" i="0">
                <a:solidFill>
                  <a:srgbClr val="BD93F9"/>
                </a:solidFill>
                <a:latin typeface="Calibri"/>
              </a:rPr>
              <a:t>📎 ASG · EVIDENCE</a:t>
            </a:r>
          </a:p>
        </p:txBody>
      </p:sp>
      <p:sp>
        <p:nvSpPr>
          <p:cNvPr id="74" name="TextBox 73"/>
          <p:cNvSpPr txBox="1"/>
          <p:nvPr/>
        </p:nvSpPr>
        <p:spPr>
          <a:xfrm>
            <a:off x="5158130" y="4636008"/>
            <a:ext cx="1875434" cy="365760"/>
          </a:xfrm>
          <a:prstGeom prst="rect">
            <a:avLst/>
          </a:prstGeom>
          <a:noFill/>
        </p:spPr>
        <p:txBody>
          <a:bodyPr wrap="square">
            <a:spAutoFit/>
          </a:bodyPr>
          <a:lstStyle/>
          <a:p>
            <a:pPr algn="l"/>
            <a:r>
              <a:rPr sz="1050" b="1" i="0">
                <a:solidFill>
                  <a:srgbClr val="E8ECF4"/>
                </a:solidFill>
                <a:latin typeface="Calibri"/>
              </a:rPr>
              <a:t>user-table-dump.png</a:t>
            </a:r>
          </a:p>
        </p:txBody>
      </p:sp>
      <p:sp>
        <p:nvSpPr>
          <p:cNvPr id="75" name="TextBox 74"/>
          <p:cNvSpPr txBox="1"/>
          <p:nvPr/>
        </p:nvSpPr>
        <p:spPr>
          <a:xfrm>
            <a:off x="7344460" y="3977639"/>
            <a:ext cx="2094890" cy="164592"/>
          </a:xfrm>
          <a:prstGeom prst="rect">
            <a:avLst/>
          </a:prstGeom>
          <a:noFill/>
        </p:spPr>
        <p:txBody>
          <a:bodyPr wrap="square">
            <a:spAutoFit/>
          </a:bodyPr>
          <a:lstStyle/>
          <a:p>
            <a:pPr algn="l"/>
            <a:r>
              <a:rPr sz="750" b="0" i="1">
                <a:solidFill>
                  <a:srgbClr val="7E8AA0"/>
                </a:solidFill>
                <a:latin typeface="Calibri"/>
              </a:rPr>
              <a:t>supported_by</a:t>
            </a:r>
          </a:p>
        </p:txBody>
      </p:sp>
      <p:cxnSp>
        <p:nvCxnSpPr>
          <p:cNvPr id="76" name="Connector 75"/>
          <p:cNvCxnSpPr/>
          <p:nvPr/>
        </p:nvCxnSpPr>
        <p:spPr>
          <a:xfrm>
            <a:off x="8391905.0" y="3922776"/>
            <a:ext cx="0.0" cy="384048"/>
          </a:xfrm>
          <a:prstGeom prst="line">
            <a:avLst/>
          </a:prstGeom>
          <a:ln w="12700">
            <a:solidFill>
              <a:srgbClr val="5A6378"/>
            </a:solidFill>
          </a:ln>
        </p:spPr>
        <p:style>
          <a:lnRef idx="2">
            <a:schemeClr val="accent1"/>
          </a:lnRef>
          <a:fillRef idx="0">
            <a:schemeClr val="accent1"/>
          </a:fillRef>
          <a:effectRef idx="1">
            <a:schemeClr val="accent1"/>
          </a:effectRef>
          <a:fontRef idx="minor">
            <a:schemeClr val="tx1"/>
          </a:fontRef>
        </p:style>
      </p:cxnSp>
      <p:sp>
        <p:nvSpPr>
          <p:cNvPr id="77" name="Rectangle 76"/>
          <p:cNvSpPr/>
          <p:nvPr/>
        </p:nvSpPr>
        <p:spPr>
          <a:xfrm>
            <a:off x="7344460" y="4306824"/>
            <a:ext cx="2094890" cy="777240"/>
          </a:xfrm>
          <a:prstGeom prst="rect">
            <a:avLst/>
          </a:prstGeom>
          <a:solidFill>
            <a:srgbClr val="150C28"/>
          </a:solidFill>
          <a:ln w="12700">
            <a:solidFill>
              <a:srgbClr val="3A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454188" y="4398264"/>
            <a:ext cx="1875434" cy="182880"/>
          </a:xfrm>
          <a:prstGeom prst="rect">
            <a:avLst/>
          </a:prstGeom>
          <a:noFill/>
        </p:spPr>
        <p:txBody>
          <a:bodyPr wrap="square">
            <a:spAutoFit/>
          </a:bodyPr>
          <a:lstStyle/>
          <a:p>
            <a:pPr algn="l"/>
            <a:r>
              <a:rPr sz="850" b="1" i="0">
                <a:solidFill>
                  <a:srgbClr val="BD93F9"/>
                </a:solidFill>
                <a:latin typeface="Calibri"/>
              </a:rPr>
              <a:t>📎 ASG · EVIDENCE</a:t>
            </a:r>
          </a:p>
        </p:txBody>
      </p:sp>
      <p:sp>
        <p:nvSpPr>
          <p:cNvPr id="79" name="TextBox 78"/>
          <p:cNvSpPr txBox="1"/>
          <p:nvPr/>
        </p:nvSpPr>
        <p:spPr>
          <a:xfrm>
            <a:off x="7454188" y="4636008"/>
            <a:ext cx="1875434" cy="365760"/>
          </a:xfrm>
          <a:prstGeom prst="rect">
            <a:avLst/>
          </a:prstGeom>
          <a:noFill/>
        </p:spPr>
        <p:txBody>
          <a:bodyPr wrap="square">
            <a:spAutoFit/>
          </a:bodyPr>
          <a:lstStyle/>
          <a:p>
            <a:pPr algn="l"/>
            <a:r>
              <a:rPr sz="1050" b="1" i="0">
                <a:solidFill>
                  <a:srgbClr val="E8ECF4"/>
                </a:solidFill>
                <a:latin typeface="Calibri"/>
              </a:rPr>
              <a:t>webshell-rce.png</a:t>
            </a:r>
          </a:p>
        </p:txBody>
      </p:sp>
      <p:sp>
        <p:nvSpPr>
          <p:cNvPr id="80" name="TextBox 79"/>
          <p:cNvSpPr txBox="1"/>
          <p:nvPr/>
        </p:nvSpPr>
        <p:spPr>
          <a:xfrm>
            <a:off x="9639604" y="3977639"/>
            <a:ext cx="2094890" cy="164592"/>
          </a:xfrm>
          <a:prstGeom prst="rect">
            <a:avLst/>
          </a:prstGeom>
          <a:noFill/>
        </p:spPr>
        <p:txBody>
          <a:bodyPr wrap="square">
            <a:spAutoFit/>
          </a:bodyPr>
          <a:lstStyle/>
          <a:p>
            <a:pPr algn="l"/>
            <a:r>
              <a:rPr sz="750" b="0" i="1">
                <a:solidFill>
                  <a:srgbClr val="7E8AA0"/>
                </a:solidFill>
                <a:latin typeface="Calibri"/>
              </a:rPr>
              <a:t>supported_by</a:t>
            </a:r>
          </a:p>
        </p:txBody>
      </p:sp>
      <p:cxnSp>
        <p:nvCxnSpPr>
          <p:cNvPr id="81" name="Connector 80"/>
          <p:cNvCxnSpPr/>
          <p:nvPr/>
        </p:nvCxnSpPr>
        <p:spPr>
          <a:xfrm>
            <a:off x="10687049.0" y="3922776"/>
            <a:ext cx="0.0" cy="384048"/>
          </a:xfrm>
          <a:prstGeom prst="line">
            <a:avLst/>
          </a:prstGeom>
          <a:ln w="12700">
            <a:solidFill>
              <a:srgbClr val="5A6378"/>
            </a:solidFill>
          </a:ln>
        </p:spPr>
        <p:style>
          <a:lnRef idx="2">
            <a:schemeClr val="accent1"/>
          </a:lnRef>
          <a:fillRef idx="0">
            <a:schemeClr val="accent1"/>
          </a:fillRef>
          <a:effectRef idx="1">
            <a:schemeClr val="accent1"/>
          </a:effectRef>
          <a:fontRef idx="minor">
            <a:schemeClr val="tx1"/>
          </a:fontRef>
        </p:style>
      </p:cxnSp>
      <p:sp>
        <p:nvSpPr>
          <p:cNvPr id="82" name="Rectangle 81"/>
          <p:cNvSpPr/>
          <p:nvPr/>
        </p:nvSpPr>
        <p:spPr>
          <a:xfrm>
            <a:off x="9639604" y="4306824"/>
            <a:ext cx="2094890" cy="777240"/>
          </a:xfrm>
          <a:prstGeom prst="rect">
            <a:avLst/>
          </a:prstGeom>
          <a:solidFill>
            <a:srgbClr val="150C28"/>
          </a:solidFill>
          <a:ln w="12700">
            <a:solidFill>
              <a:srgbClr val="3A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749332" y="4398264"/>
            <a:ext cx="1875434" cy="182880"/>
          </a:xfrm>
          <a:prstGeom prst="rect">
            <a:avLst/>
          </a:prstGeom>
          <a:noFill/>
        </p:spPr>
        <p:txBody>
          <a:bodyPr wrap="square">
            <a:spAutoFit/>
          </a:bodyPr>
          <a:lstStyle/>
          <a:p>
            <a:pPr algn="l"/>
            <a:r>
              <a:rPr sz="850" b="1" i="0">
                <a:solidFill>
                  <a:srgbClr val="BD93F9"/>
                </a:solidFill>
                <a:latin typeface="Calibri"/>
              </a:rPr>
              <a:t>📎 ASG · EVIDENCE</a:t>
            </a:r>
          </a:p>
        </p:txBody>
      </p:sp>
      <p:sp>
        <p:nvSpPr>
          <p:cNvPr id="84" name="TextBox 83"/>
          <p:cNvSpPr txBox="1"/>
          <p:nvPr/>
        </p:nvSpPr>
        <p:spPr>
          <a:xfrm>
            <a:off x="9749332" y="4636008"/>
            <a:ext cx="1875434" cy="365760"/>
          </a:xfrm>
          <a:prstGeom prst="rect">
            <a:avLst/>
          </a:prstGeom>
          <a:noFill/>
        </p:spPr>
        <p:txBody>
          <a:bodyPr wrap="square">
            <a:spAutoFit/>
          </a:bodyPr>
          <a:lstStyle/>
          <a:p>
            <a:pPr algn="l"/>
            <a:r>
              <a:rPr sz="1050" b="1" i="0">
                <a:solidFill>
                  <a:srgbClr val="E8ECF4"/>
                </a:solidFill>
                <a:latin typeface="Calibri"/>
              </a:rPr>
              <a:t>pii-sample.json</a:t>
            </a:r>
          </a:p>
        </p:txBody>
      </p:sp>
      <p:sp>
        <p:nvSpPr>
          <p:cNvPr id="85" name="Rectangle 84"/>
          <p:cNvSpPr/>
          <p:nvPr/>
        </p:nvSpPr>
        <p:spPr>
          <a:xfrm>
            <a:off x="457200" y="5266944"/>
            <a:ext cx="11277295" cy="566928"/>
          </a:xfrm>
          <a:prstGeom prst="rect">
            <a:avLst/>
          </a:prstGeom>
          <a:solidFill>
            <a:srgbClr val="10141F"/>
          </a:solidFill>
          <a:ln w="10160">
            <a:solidFill>
              <a:srgbClr val="5A63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1792" y="5330952"/>
            <a:ext cx="1828800" cy="438912"/>
          </a:xfrm>
          <a:prstGeom prst="rect">
            <a:avLst/>
          </a:prstGeom>
          <a:noFill/>
        </p:spPr>
        <p:txBody>
          <a:bodyPr wrap="square">
            <a:spAutoFit/>
          </a:bodyPr>
          <a:lstStyle/>
          <a:p>
            <a:pPr algn="l"/>
            <a:r>
              <a:rPr sz="1050" b="1" i="0">
                <a:solidFill>
                  <a:srgbClr val="E8ECF4"/>
                </a:solidFill>
                <a:latin typeface="Calibri"/>
              </a:rPr>
              <a:t>Reading this diagram:  </a:t>
            </a:r>
          </a:p>
        </p:txBody>
      </p:sp>
      <p:sp>
        <p:nvSpPr>
          <p:cNvPr id="87" name="TextBox 86"/>
          <p:cNvSpPr txBox="1"/>
          <p:nvPr/>
        </p:nvSpPr>
        <p:spPr>
          <a:xfrm>
            <a:off x="2377440" y="5330952"/>
            <a:ext cx="9052560" cy="438912"/>
          </a:xfrm>
          <a:prstGeom prst="rect">
            <a:avLst/>
          </a:prstGeom>
          <a:noFill/>
        </p:spPr>
        <p:txBody>
          <a:bodyPr wrap="square">
            <a:spAutoFit/>
          </a:bodyPr>
          <a:lstStyle/>
          <a:p>
            <a:pPr algn="l"/>
            <a:r>
              <a:rPr sz="1050" b="0" i="0">
                <a:solidFill>
                  <a:srgbClr val="A0AAB8"/>
                </a:solidFill>
                <a:latin typeface="Calibri"/>
              </a:rPr>
              <a:t>start at the recon chips (ASG facts) → follow starts_at to the Chain (APG reasoning) → step through the ChainSteps in order → arrive at the Impact → follow supported_by back to the Evidence files (ASG proof).</a:t>
            </a:r>
          </a:p>
        </p:txBody>
      </p:sp>
      <p:sp>
        <p:nvSpPr>
          <p:cNvPr id="88" name="TextBox 87"/>
          <p:cNvSpPr txBox="1"/>
          <p:nvPr/>
        </p:nvSpPr>
        <p:spPr>
          <a:xfrm>
            <a:off x="457200" y="5998464"/>
            <a:ext cx="2255824" cy="384048"/>
          </a:xfrm>
          <a:prstGeom prst="rect">
            <a:avLst/>
          </a:prstGeom>
          <a:noFill/>
        </p:spPr>
        <p:txBody>
          <a:bodyPr wrap="square">
            <a:spAutoFit/>
          </a:bodyPr>
          <a:lstStyle/>
          <a:p>
            <a:pPr algn="l"/>
            <a:r>
              <a:rPr sz="2400" b="1" i="0">
                <a:solidFill>
                  <a:srgbClr val="FFD700"/>
                </a:solidFill>
                <a:latin typeface="Calibri"/>
              </a:rPr>
              <a:t>8.8 → 9.1</a:t>
            </a:r>
          </a:p>
        </p:txBody>
      </p:sp>
      <p:sp>
        <p:nvSpPr>
          <p:cNvPr id="89" name="TextBox 88"/>
          <p:cNvSpPr txBox="1"/>
          <p:nvPr/>
        </p:nvSpPr>
        <p:spPr>
          <a:xfrm>
            <a:off x="457200" y="6382512"/>
            <a:ext cx="2255824" cy="201168"/>
          </a:xfrm>
          <a:prstGeom prst="rect">
            <a:avLst/>
          </a:prstGeom>
          <a:noFill/>
        </p:spPr>
        <p:txBody>
          <a:bodyPr wrap="square">
            <a:spAutoFit/>
          </a:bodyPr>
          <a:lstStyle/>
          <a:p>
            <a:pPr algn="l"/>
            <a:r>
              <a:rPr sz="900" b="0" i="0">
                <a:solidFill>
                  <a:srgbClr val="7E8AA0"/>
                </a:solidFill>
                <a:latin typeface="Calibri"/>
              </a:rPr>
              <a:t>risk_score escalated</a:t>
            </a:r>
          </a:p>
        </p:txBody>
      </p:sp>
      <p:sp>
        <p:nvSpPr>
          <p:cNvPr id="90" name="TextBox 89"/>
          <p:cNvSpPr txBox="1"/>
          <p:nvPr/>
        </p:nvSpPr>
        <p:spPr>
          <a:xfrm>
            <a:off x="2713024" y="5998464"/>
            <a:ext cx="2255824" cy="384048"/>
          </a:xfrm>
          <a:prstGeom prst="rect">
            <a:avLst/>
          </a:prstGeom>
          <a:noFill/>
        </p:spPr>
        <p:txBody>
          <a:bodyPr wrap="square">
            <a:spAutoFit/>
          </a:bodyPr>
          <a:lstStyle/>
          <a:p>
            <a:pPr algn="l"/>
            <a:r>
              <a:rPr sz="2400" b="1" i="0">
                <a:solidFill>
                  <a:srgbClr val="FF4545"/>
                </a:solidFill>
                <a:latin typeface="Calibri"/>
              </a:rPr>
              <a:t>6</a:t>
            </a:r>
          </a:p>
        </p:txBody>
      </p:sp>
      <p:sp>
        <p:nvSpPr>
          <p:cNvPr id="91" name="TextBox 90"/>
          <p:cNvSpPr txBox="1"/>
          <p:nvPr/>
        </p:nvSpPr>
        <p:spPr>
          <a:xfrm>
            <a:off x="2713024" y="6382512"/>
            <a:ext cx="2255824" cy="201168"/>
          </a:xfrm>
          <a:prstGeom prst="rect">
            <a:avLst/>
          </a:prstGeom>
          <a:noFill/>
        </p:spPr>
        <p:txBody>
          <a:bodyPr wrap="square">
            <a:spAutoFit/>
          </a:bodyPr>
          <a:lstStyle/>
          <a:p>
            <a:pPr algn="l"/>
            <a:r>
              <a:rPr sz="900" b="0" i="0">
                <a:solidFill>
                  <a:srgbClr val="7E8AA0"/>
                </a:solidFill>
                <a:latin typeface="Calibri"/>
              </a:rPr>
              <a:t>recon-to-CVE hops traced</a:t>
            </a:r>
          </a:p>
        </p:txBody>
      </p:sp>
      <p:sp>
        <p:nvSpPr>
          <p:cNvPr id="92" name="TextBox 91"/>
          <p:cNvSpPr txBox="1"/>
          <p:nvPr/>
        </p:nvSpPr>
        <p:spPr>
          <a:xfrm>
            <a:off x="4967935" y="5998464"/>
            <a:ext cx="2255824" cy="384048"/>
          </a:xfrm>
          <a:prstGeom prst="rect">
            <a:avLst/>
          </a:prstGeom>
          <a:noFill/>
        </p:spPr>
        <p:txBody>
          <a:bodyPr wrap="square">
            <a:spAutoFit/>
          </a:bodyPr>
          <a:lstStyle/>
          <a:p>
            <a:pPr algn="l"/>
            <a:r>
              <a:rPr sz="2400" b="1" i="0">
                <a:solidFill>
                  <a:srgbClr val="39FF14"/>
                </a:solidFill>
                <a:latin typeface="Calibri"/>
              </a:rPr>
              <a:t>3</a:t>
            </a:r>
          </a:p>
        </p:txBody>
      </p:sp>
      <p:sp>
        <p:nvSpPr>
          <p:cNvPr id="93" name="TextBox 92"/>
          <p:cNvSpPr txBox="1"/>
          <p:nvPr/>
        </p:nvSpPr>
        <p:spPr>
          <a:xfrm>
            <a:off x="4967935" y="6382512"/>
            <a:ext cx="2255824" cy="201168"/>
          </a:xfrm>
          <a:prstGeom prst="rect">
            <a:avLst/>
          </a:prstGeom>
          <a:noFill/>
        </p:spPr>
        <p:txBody>
          <a:bodyPr wrap="square">
            <a:spAutoFit/>
          </a:bodyPr>
          <a:lstStyle/>
          <a:p>
            <a:pPr algn="l"/>
            <a:r>
              <a:rPr sz="900" b="0" i="0">
                <a:solidFill>
                  <a:srgbClr val="7E8AA0"/>
                </a:solidFill>
                <a:latin typeface="Calibri"/>
              </a:rPr>
              <a:t>VALIDATED ChainSteps</a:t>
            </a:r>
          </a:p>
        </p:txBody>
      </p:sp>
      <p:sp>
        <p:nvSpPr>
          <p:cNvPr id="94" name="TextBox 93"/>
          <p:cNvSpPr txBox="1"/>
          <p:nvPr/>
        </p:nvSpPr>
        <p:spPr>
          <a:xfrm>
            <a:off x="7223760" y="5998464"/>
            <a:ext cx="2255824" cy="384048"/>
          </a:xfrm>
          <a:prstGeom prst="rect">
            <a:avLst/>
          </a:prstGeom>
          <a:noFill/>
        </p:spPr>
        <p:txBody>
          <a:bodyPr wrap="square">
            <a:spAutoFit/>
          </a:bodyPr>
          <a:lstStyle/>
          <a:p>
            <a:pPr algn="l"/>
            <a:r>
              <a:rPr sz="2400" b="1" i="0">
                <a:solidFill>
                  <a:srgbClr val="BD93F9"/>
                </a:solidFill>
                <a:latin typeface="Calibri"/>
              </a:rPr>
              <a:t>4</a:t>
            </a:r>
          </a:p>
        </p:txBody>
      </p:sp>
      <p:sp>
        <p:nvSpPr>
          <p:cNvPr id="95" name="TextBox 94"/>
          <p:cNvSpPr txBox="1"/>
          <p:nvPr/>
        </p:nvSpPr>
        <p:spPr>
          <a:xfrm>
            <a:off x="7223760" y="6382512"/>
            <a:ext cx="2255824" cy="201168"/>
          </a:xfrm>
          <a:prstGeom prst="rect">
            <a:avLst/>
          </a:prstGeom>
          <a:noFill/>
        </p:spPr>
        <p:txBody>
          <a:bodyPr wrap="square">
            <a:spAutoFit/>
          </a:bodyPr>
          <a:lstStyle/>
          <a:p>
            <a:pPr algn="l"/>
            <a:r>
              <a:rPr sz="900" b="0" i="0">
                <a:solidFill>
                  <a:srgbClr val="7E8AA0"/>
                </a:solidFill>
                <a:latin typeface="Calibri"/>
              </a:rPr>
              <a:t>Evidence artifacts linked</a:t>
            </a:r>
          </a:p>
        </p:txBody>
      </p:sp>
      <p:sp>
        <p:nvSpPr>
          <p:cNvPr id="96" name="TextBox 95"/>
          <p:cNvSpPr txBox="1"/>
          <p:nvPr/>
        </p:nvSpPr>
        <p:spPr>
          <a:xfrm>
            <a:off x="9478670" y="5998464"/>
            <a:ext cx="2255824" cy="384048"/>
          </a:xfrm>
          <a:prstGeom prst="rect">
            <a:avLst/>
          </a:prstGeom>
          <a:noFill/>
        </p:spPr>
        <p:txBody>
          <a:bodyPr wrap="square">
            <a:spAutoFit/>
          </a:bodyPr>
          <a:lstStyle/>
          <a:p>
            <a:pPr algn="l"/>
            <a:r>
              <a:rPr sz="2400" b="1" i="0">
                <a:solidFill>
                  <a:srgbClr val="00E5FF"/>
                </a:solidFill>
                <a:latin typeface="Calibri"/>
              </a:rPr>
              <a:t>0</a:t>
            </a:r>
          </a:p>
        </p:txBody>
      </p:sp>
      <p:sp>
        <p:nvSpPr>
          <p:cNvPr id="97" name="TextBox 96"/>
          <p:cNvSpPr txBox="1"/>
          <p:nvPr/>
        </p:nvSpPr>
        <p:spPr>
          <a:xfrm>
            <a:off x="9478670" y="6382512"/>
            <a:ext cx="2255824" cy="201168"/>
          </a:xfrm>
          <a:prstGeom prst="rect">
            <a:avLst/>
          </a:prstGeom>
          <a:noFill/>
        </p:spPr>
        <p:txBody>
          <a:bodyPr wrap="square">
            <a:spAutoFit/>
          </a:bodyPr>
          <a:lstStyle/>
          <a:p>
            <a:pPr algn="l"/>
            <a:r>
              <a:rPr sz="900" b="0" i="0">
                <a:solidFill>
                  <a:srgbClr val="7E8AA0"/>
                </a:solidFill>
                <a:latin typeface="Calibri"/>
              </a:rPr>
              <a:t>manual commands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D700"/>
                </a:solidFill>
                <a:latin typeface="Calibri"/>
              </a:rPr>
              <a:t>NOVEL CONTRIBUTION</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200" b="1" i="0">
                <a:solidFill>
                  <a:srgbClr val="FFFFFF"/>
                </a:solidFill>
                <a:latin typeface="Calibri"/>
              </a:rPr>
              <a:t>What Makes CMatrix a Research Contribution</a:t>
            </a:r>
          </a:p>
        </p:txBody>
      </p:sp>
      <p:sp>
        <p:nvSpPr>
          <p:cNvPr id="7" name="Rectangle 6"/>
          <p:cNvSpPr/>
          <p:nvPr/>
        </p:nvSpPr>
        <p:spPr>
          <a:xfrm>
            <a:off x="274320" y="1097280"/>
            <a:ext cx="11643055" cy="512064"/>
          </a:xfrm>
          <a:prstGeom prst="rect">
            <a:avLst/>
          </a:prstGeom>
          <a:solidFill>
            <a:srgbClr val="121002"/>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0332" y="1207008"/>
            <a:ext cx="11430000" cy="292608"/>
          </a:xfrm>
          <a:prstGeom prst="rect">
            <a:avLst/>
          </a:prstGeom>
          <a:noFill/>
        </p:spPr>
        <p:txBody>
          <a:bodyPr wrap="square">
            <a:spAutoFit/>
          </a:bodyPr>
          <a:lstStyle/>
          <a:p>
            <a:pPr algn="l"/>
            <a:r>
              <a:rPr sz="1300" b="0" i="1">
                <a:solidFill>
                  <a:srgbClr val="FFD700"/>
                </a:solidFill>
                <a:latin typeface="Calibri"/>
              </a:rPr>
              <a:t>First autonomous VAPT system to maintain two strictly separated, continuously evolving graph structures - one for discovered reality, one for inferred attack opportunity.</a:t>
            </a:r>
          </a:p>
        </p:txBody>
      </p:sp>
      <p:sp>
        <p:nvSpPr>
          <p:cNvPr id="9" name="Rectangle 8"/>
          <p:cNvSpPr/>
          <p:nvPr/>
        </p:nvSpPr>
        <p:spPr>
          <a:xfrm>
            <a:off x="274320" y="1783080"/>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1783080"/>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 y="1801368"/>
            <a:ext cx="466344" cy="292608"/>
          </a:xfrm>
          <a:prstGeom prst="rect">
            <a:avLst/>
          </a:prstGeom>
          <a:noFill/>
        </p:spPr>
        <p:txBody>
          <a:bodyPr wrap="square">
            <a:spAutoFit/>
          </a:bodyPr>
          <a:lstStyle/>
          <a:p>
            <a:pPr algn="ctr"/>
            <a:r>
              <a:rPr sz="1100" b="1" i="0">
                <a:solidFill>
                  <a:srgbClr val="0A0D1A"/>
                </a:solidFill>
                <a:latin typeface="Calibri"/>
              </a:rPr>
              <a:t>C1</a:t>
            </a:r>
          </a:p>
        </p:txBody>
      </p:sp>
      <p:sp>
        <p:nvSpPr>
          <p:cNvPr id="12" name="TextBox 11"/>
          <p:cNvSpPr txBox="1"/>
          <p:nvPr/>
        </p:nvSpPr>
        <p:spPr>
          <a:xfrm>
            <a:off x="850392" y="1801368"/>
            <a:ext cx="3182112" cy="292608"/>
          </a:xfrm>
          <a:prstGeom prst="rect">
            <a:avLst/>
          </a:prstGeom>
          <a:noFill/>
        </p:spPr>
        <p:txBody>
          <a:bodyPr wrap="square">
            <a:spAutoFit/>
          </a:bodyPr>
          <a:lstStyle/>
          <a:p>
            <a:pPr algn="l"/>
            <a:r>
              <a:rPr sz="1200" b="1" i="0">
                <a:solidFill>
                  <a:srgbClr val="FFFFFF"/>
                </a:solidFill>
                <a:latin typeface="Calibri"/>
              </a:rPr>
              <a:t>Dual-Graph World Model</a:t>
            </a:r>
          </a:p>
        </p:txBody>
      </p:sp>
      <p:sp>
        <p:nvSpPr>
          <p:cNvPr id="13" name="TextBox 12"/>
          <p:cNvSpPr txBox="1"/>
          <p:nvPr/>
        </p:nvSpPr>
        <p:spPr>
          <a:xfrm>
            <a:off x="384048" y="2167128"/>
            <a:ext cx="3630168" cy="685800"/>
          </a:xfrm>
          <a:prstGeom prst="rect">
            <a:avLst/>
          </a:prstGeom>
          <a:noFill/>
        </p:spPr>
        <p:txBody>
          <a:bodyPr wrap="square">
            <a:spAutoFit/>
          </a:bodyPr>
          <a:lstStyle/>
          <a:p>
            <a:pPr algn="l"/>
            <a:r>
              <a:rPr sz="1050" b="0" i="0">
                <a:solidFill>
                  <a:srgbClr val="A0AAB8"/>
                </a:solidFill>
                <a:latin typeface="Calibri"/>
              </a:rPr>
              <a:t>ASG (discovered reality) &amp; APG (inferred opportunity) are strictly separated with enforced write ownership.</a:t>
            </a:r>
          </a:p>
        </p:txBody>
      </p:sp>
      <p:sp>
        <p:nvSpPr>
          <p:cNvPr id="14" name="Rectangle 13"/>
          <p:cNvSpPr/>
          <p:nvPr/>
        </p:nvSpPr>
        <p:spPr>
          <a:xfrm>
            <a:off x="4187952" y="1783080"/>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87952" y="1783080"/>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0" y="1801368"/>
            <a:ext cx="466344" cy="292608"/>
          </a:xfrm>
          <a:prstGeom prst="rect">
            <a:avLst/>
          </a:prstGeom>
          <a:noFill/>
        </p:spPr>
        <p:txBody>
          <a:bodyPr wrap="square">
            <a:spAutoFit/>
          </a:bodyPr>
          <a:lstStyle/>
          <a:p>
            <a:pPr algn="ctr"/>
            <a:r>
              <a:rPr sz="1100" b="1" i="0">
                <a:solidFill>
                  <a:srgbClr val="0A0D1A"/>
                </a:solidFill>
                <a:latin typeface="Calibri"/>
              </a:rPr>
              <a:t>C2</a:t>
            </a:r>
          </a:p>
        </p:txBody>
      </p:sp>
      <p:sp>
        <p:nvSpPr>
          <p:cNvPr id="17" name="TextBox 16"/>
          <p:cNvSpPr txBox="1"/>
          <p:nvPr/>
        </p:nvSpPr>
        <p:spPr>
          <a:xfrm>
            <a:off x="4764024" y="1801368"/>
            <a:ext cx="3182112" cy="292608"/>
          </a:xfrm>
          <a:prstGeom prst="rect">
            <a:avLst/>
          </a:prstGeom>
          <a:noFill/>
        </p:spPr>
        <p:txBody>
          <a:bodyPr wrap="square">
            <a:spAutoFit/>
          </a:bodyPr>
          <a:lstStyle/>
          <a:p>
            <a:pPr algn="l"/>
            <a:r>
              <a:rPr sz="1200" b="1" i="0">
                <a:solidFill>
                  <a:srgbClr val="FFFFFF"/>
                </a:solidFill>
                <a:latin typeface="Calibri"/>
              </a:rPr>
              <a:t>Graph-Driven Re-Planning</a:t>
            </a:r>
          </a:p>
        </p:txBody>
      </p:sp>
      <p:sp>
        <p:nvSpPr>
          <p:cNvPr id="18" name="TextBox 17"/>
          <p:cNvSpPr txBox="1"/>
          <p:nvPr/>
        </p:nvSpPr>
        <p:spPr>
          <a:xfrm>
            <a:off x="4297680" y="2167128"/>
            <a:ext cx="3630168" cy="685800"/>
          </a:xfrm>
          <a:prstGeom prst="rect">
            <a:avLst/>
          </a:prstGeom>
          <a:noFill/>
        </p:spPr>
        <p:txBody>
          <a:bodyPr wrap="square">
            <a:spAutoFit/>
          </a:bodyPr>
          <a:lstStyle/>
          <a:p>
            <a:pPr algn="l"/>
            <a:r>
              <a:rPr sz="1050" b="0" i="0">
                <a:solidFill>
                  <a:srgbClr val="A0AAB8"/>
                </a:solidFill>
                <a:latin typeface="Calibri"/>
              </a:rPr>
              <a:t>Re-planning fires on explicit graph triggers (e.g., new vuln node seeds a chain) rather than arbitrary schedules.</a:t>
            </a:r>
          </a:p>
        </p:txBody>
      </p:sp>
      <p:sp>
        <p:nvSpPr>
          <p:cNvPr id="19" name="Rectangle 18"/>
          <p:cNvSpPr/>
          <p:nvPr/>
        </p:nvSpPr>
        <p:spPr>
          <a:xfrm>
            <a:off x="8101583" y="1783080"/>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01583" y="1783080"/>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9871" y="1801368"/>
            <a:ext cx="466344" cy="292608"/>
          </a:xfrm>
          <a:prstGeom prst="rect">
            <a:avLst/>
          </a:prstGeom>
          <a:noFill/>
        </p:spPr>
        <p:txBody>
          <a:bodyPr wrap="square">
            <a:spAutoFit/>
          </a:bodyPr>
          <a:lstStyle/>
          <a:p>
            <a:pPr algn="ctr"/>
            <a:r>
              <a:rPr sz="1100" b="1" i="0">
                <a:solidFill>
                  <a:srgbClr val="0A0D1A"/>
                </a:solidFill>
                <a:latin typeface="Calibri"/>
              </a:rPr>
              <a:t>C3</a:t>
            </a:r>
          </a:p>
        </p:txBody>
      </p:sp>
      <p:sp>
        <p:nvSpPr>
          <p:cNvPr id="22" name="TextBox 21"/>
          <p:cNvSpPr txBox="1"/>
          <p:nvPr/>
        </p:nvSpPr>
        <p:spPr>
          <a:xfrm>
            <a:off x="8677655" y="1801368"/>
            <a:ext cx="3182112" cy="292608"/>
          </a:xfrm>
          <a:prstGeom prst="rect">
            <a:avLst/>
          </a:prstGeom>
          <a:noFill/>
        </p:spPr>
        <p:txBody>
          <a:bodyPr wrap="square">
            <a:spAutoFit/>
          </a:bodyPr>
          <a:lstStyle/>
          <a:p>
            <a:pPr algn="l"/>
            <a:r>
              <a:rPr sz="1200" b="1" i="0">
                <a:solidFill>
                  <a:srgbClr val="FFFFFF"/>
                </a:solidFill>
                <a:latin typeface="Calibri"/>
              </a:rPr>
              <a:t>APG Attack Chain Lifecycle with Evidence Traceability</a:t>
            </a:r>
          </a:p>
        </p:txBody>
      </p:sp>
      <p:sp>
        <p:nvSpPr>
          <p:cNvPr id="23" name="TextBox 22"/>
          <p:cNvSpPr txBox="1"/>
          <p:nvPr/>
        </p:nvSpPr>
        <p:spPr>
          <a:xfrm>
            <a:off x="8211311" y="2167128"/>
            <a:ext cx="3630168" cy="685800"/>
          </a:xfrm>
          <a:prstGeom prst="rect">
            <a:avLst/>
          </a:prstGeom>
          <a:noFill/>
        </p:spPr>
        <p:txBody>
          <a:bodyPr wrap="square">
            <a:spAutoFit/>
          </a:bodyPr>
          <a:lstStyle/>
          <a:p>
            <a:pPr algn="l"/>
            <a:r>
              <a:rPr sz="1050" b="0" i="0">
                <a:solidFill>
                  <a:srgbClr val="A0AAB8"/>
                </a:solidFill>
                <a:latin typeface="Calibri"/>
              </a:rPr>
              <a:t>Attack chains are first-class entities: risk-scored, prioritized, lifecycle-tracked. Every ChainStep links to ASG Evidence via supported_by.</a:t>
            </a:r>
          </a:p>
        </p:txBody>
      </p:sp>
      <p:sp>
        <p:nvSpPr>
          <p:cNvPr id="24" name="Rectangle 23"/>
          <p:cNvSpPr/>
          <p:nvPr/>
        </p:nvSpPr>
        <p:spPr>
          <a:xfrm>
            <a:off x="274320" y="3035808"/>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3035808"/>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2608" y="3054096"/>
            <a:ext cx="466344" cy="292608"/>
          </a:xfrm>
          <a:prstGeom prst="rect">
            <a:avLst/>
          </a:prstGeom>
          <a:noFill/>
        </p:spPr>
        <p:txBody>
          <a:bodyPr wrap="square">
            <a:spAutoFit/>
          </a:bodyPr>
          <a:lstStyle/>
          <a:p>
            <a:pPr algn="ctr"/>
            <a:r>
              <a:rPr sz="1100" b="1" i="0">
                <a:solidFill>
                  <a:srgbClr val="0A0D1A"/>
                </a:solidFill>
                <a:latin typeface="Calibri"/>
              </a:rPr>
              <a:t>C4</a:t>
            </a:r>
          </a:p>
        </p:txBody>
      </p:sp>
      <p:sp>
        <p:nvSpPr>
          <p:cNvPr id="27" name="TextBox 26"/>
          <p:cNvSpPr txBox="1"/>
          <p:nvPr/>
        </p:nvSpPr>
        <p:spPr>
          <a:xfrm>
            <a:off x="850392" y="3054096"/>
            <a:ext cx="3182112" cy="292608"/>
          </a:xfrm>
          <a:prstGeom prst="rect">
            <a:avLst/>
          </a:prstGeom>
          <a:noFill/>
        </p:spPr>
        <p:txBody>
          <a:bodyPr wrap="square">
            <a:spAutoFit/>
          </a:bodyPr>
          <a:lstStyle/>
          <a:p>
            <a:pPr algn="l"/>
            <a:r>
              <a:rPr sz="1200" b="1" i="0">
                <a:solidFill>
                  <a:srgbClr val="FFFFFF"/>
                </a:solidFill>
                <a:latin typeface="Calibri"/>
              </a:rPr>
              <a:t>ASG-Aware Parallel Dispatch</a:t>
            </a:r>
          </a:p>
        </p:txBody>
      </p:sp>
      <p:sp>
        <p:nvSpPr>
          <p:cNvPr id="28" name="TextBox 27"/>
          <p:cNvSpPr txBox="1"/>
          <p:nvPr/>
        </p:nvSpPr>
        <p:spPr>
          <a:xfrm>
            <a:off x="384048" y="3419856"/>
            <a:ext cx="3630168" cy="685800"/>
          </a:xfrm>
          <a:prstGeom prst="rect">
            <a:avLst/>
          </a:prstGeom>
          <a:noFill/>
        </p:spPr>
        <p:txBody>
          <a:bodyPr wrap="square">
            <a:spAutoFit/>
          </a:bodyPr>
          <a:lstStyle/>
          <a:p>
            <a:pPr algn="l"/>
            <a:r>
              <a:rPr sz="1050" b="0" i="0">
                <a:solidFill>
                  <a:srgbClr val="A0AAB8"/>
                </a:solidFill>
                <a:latin typeface="Calibri"/>
              </a:rPr>
              <a:t>Dependency-safe concurrent tool execution using the ASG itself as the dependency graph, instead of a task scheduler.</a:t>
            </a:r>
          </a:p>
        </p:txBody>
      </p:sp>
      <p:sp>
        <p:nvSpPr>
          <p:cNvPr id="29" name="Rectangle 28"/>
          <p:cNvSpPr/>
          <p:nvPr/>
        </p:nvSpPr>
        <p:spPr>
          <a:xfrm>
            <a:off x="4187952" y="3035808"/>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87952" y="3035808"/>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3054096"/>
            <a:ext cx="466344" cy="292608"/>
          </a:xfrm>
          <a:prstGeom prst="rect">
            <a:avLst/>
          </a:prstGeom>
          <a:noFill/>
        </p:spPr>
        <p:txBody>
          <a:bodyPr wrap="square">
            <a:spAutoFit/>
          </a:bodyPr>
          <a:lstStyle/>
          <a:p>
            <a:pPr algn="ctr"/>
            <a:r>
              <a:rPr sz="1100" b="1" i="0">
                <a:solidFill>
                  <a:srgbClr val="0A0D1A"/>
                </a:solidFill>
                <a:latin typeface="Calibri"/>
              </a:rPr>
              <a:t>C5</a:t>
            </a:r>
          </a:p>
        </p:txBody>
      </p:sp>
      <p:sp>
        <p:nvSpPr>
          <p:cNvPr id="32" name="TextBox 31"/>
          <p:cNvSpPr txBox="1"/>
          <p:nvPr/>
        </p:nvSpPr>
        <p:spPr>
          <a:xfrm>
            <a:off x="4764024" y="3054096"/>
            <a:ext cx="3182112" cy="292608"/>
          </a:xfrm>
          <a:prstGeom prst="rect">
            <a:avLst/>
          </a:prstGeom>
          <a:noFill/>
        </p:spPr>
        <p:txBody>
          <a:bodyPr wrap="square">
            <a:spAutoFit/>
          </a:bodyPr>
          <a:lstStyle/>
          <a:p>
            <a:pPr algn="l"/>
            <a:r>
              <a:rPr sz="1200" b="1" i="0">
                <a:solidFill>
                  <a:srgbClr val="FFFFFF"/>
                </a:solidFill>
                <a:latin typeface="Calibri"/>
              </a:rPr>
              <a:t>Tool Risk Gate + Mailbox</a:t>
            </a:r>
          </a:p>
        </p:txBody>
      </p:sp>
      <p:sp>
        <p:nvSpPr>
          <p:cNvPr id="33" name="TextBox 32"/>
          <p:cNvSpPr txBox="1"/>
          <p:nvPr/>
        </p:nvSpPr>
        <p:spPr>
          <a:xfrm>
            <a:off x="4297680" y="3419856"/>
            <a:ext cx="3630168" cy="685800"/>
          </a:xfrm>
          <a:prstGeom prst="rect">
            <a:avLst/>
          </a:prstGeom>
          <a:noFill/>
        </p:spPr>
        <p:txBody>
          <a:bodyPr wrap="square">
            <a:spAutoFit/>
          </a:bodyPr>
          <a:lstStyle/>
          <a:p>
            <a:pPr algn="l"/>
            <a:r>
              <a:rPr sz="1050" b="0" i="0">
                <a:solidFill>
                  <a:srgbClr val="A0AAB8"/>
                </a:solidFill>
                <a:latin typeface="Calibri"/>
              </a:rPr>
              <a:t>Every tool call is risk-classified before execution. High-risk ops route to Commander for human-in-the-loop approval.</a:t>
            </a:r>
          </a:p>
        </p:txBody>
      </p:sp>
      <p:sp>
        <p:nvSpPr>
          <p:cNvPr id="34" name="Rectangle 33"/>
          <p:cNvSpPr/>
          <p:nvPr/>
        </p:nvSpPr>
        <p:spPr>
          <a:xfrm>
            <a:off x="8101583" y="3035808"/>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01583" y="3035808"/>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19871" y="3054096"/>
            <a:ext cx="466344" cy="292608"/>
          </a:xfrm>
          <a:prstGeom prst="rect">
            <a:avLst/>
          </a:prstGeom>
          <a:noFill/>
        </p:spPr>
        <p:txBody>
          <a:bodyPr wrap="square">
            <a:spAutoFit/>
          </a:bodyPr>
          <a:lstStyle/>
          <a:p>
            <a:pPr algn="ctr"/>
            <a:r>
              <a:rPr sz="1100" b="1" i="0">
                <a:solidFill>
                  <a:srgbClr val="0A0D1A"/>
                </a:solidFill>
                <a:latin typeface="Calibri"/>
              </a:rPr>
              <a:t>C6</a:t>
            </a:r>
          </a:p>
        </p:txBody>
      </p:sp>
      <p:sp>
        <p:nvSpPr>
          <p:cNvPr id="37" name="TextBox 36"/>
          <p:cNvSpPr txBox="1"/>
          <p:nvPr/>
        </p:nvSpPr>
        <p:spPr>
          <a:xfrm>
            <a:off x="8677655" y="3054096"/>
            <a:ext cx="3182112" cy="292608"/>
          </a:xfrm>
          <a:prstGeom prst="rect">
            <a:avLst/>
          </a:prstGeom>
          <a:noFill/>
        </p:spPr>
        <p:txBody>
          <a:bodyPr wrap="square">
            <a:spAutoFit/>
          </a:bodyPr>
          <a:lstStyle/>
          <a:p>
            <a:pPr algn="l"/>
            <a:r>
              <a:rPr sz="1200" b="1" i="0">
                <a:solidFill>
                  <a:srgbClr val="FFFFFF"/>
                </a:solidFill>
                <a:latin typeface="Calibri"/>
              </a:rPr>
              <a:t>Lossless Context Compaction</a:t>
            </a:r>
          </a:p>
        </p:txBody>
      </p:sp>
      <p:sp>
        <p:nvSpPr>
          <p:cNvPr id="38" name="TextBox 37"/>
          <p:cNvSpPr txBox="1"/>
          <p:nvPr/>
        </p:nvSpPr>
        <p:spPr>
          <a:xfrm>
            <a:off x="8211311" y="3419856"/>
            <a:ext cx="3630168" cy="685800"/>
          </a:xfrm>
          <a:prstGeom prst="rect">
            <a:avLst/>
          </a:prstGeom>
          <a:noFill/>
        </p:spPr>
        <p:txBody>
          <a:bodyPr wrap="square">
            <a:spAutoFit/>
          </a:bodyPr>
          <a:lstStyle/>
          <a:p>
            <a:pPr algn="l"/>
            <a:r>
              <a:rPr sz="1050" b="0" i="0">
                <a:solidFill>
                  <a:srgbClr val="A0AAB8"/>
                </a:solidFill>
                <a:latin typeface="Calibri"/>
              </a:rPr>
              <a:t>ASG-backed three-layer compaction scheme reduces conversation history to near-zero without losing discovered findings.</a:t>
            </a:r>
          </a:p>
        </p:txBody>
      </p:sp>
      <p:sp>
        <p:nvSpPr>
          <p:cNvPr id="39" name="Rectangle 38"/>
          <p:cNvSpPr/>
          <p:nvPr/>
        </p:nvSpPr>
        <p:spPr>
          <a:xfrm>
            <a:off x="274320" y="4288536"/>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74320" y="4288536"/>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92608" y="4306824"/>
            <a:ext cx="466344" cy="292608"/>
          </a:xfrm>
          <a:prstGeom prst="rect">
            <a:avLst/>
          </a:prstGeom>
          <a:noFill/>
        </p:spPr>
        <p:txBody>
          <a:bodyPr wrap="square">
            <a:spAutoFit/>
          </a:bodyPr>
          <a:lstStyle/>
          <a:p>
            <a:pPr algn="ctr"/>
            <a:r>
              <a:rPr sz="1100" b="1" i="0">
                <a:solidFill>
                  <a:srgbClr val="0A0D1A"/>
                </a:solidFill>
                <a:latin typeface="Calibri"/>
              </a:rPr>
              <a:t>C7</a:t>
            </a:r>
          </a:p>
        </p:txBody>
      </p:sp>
      <p:sp>
        <p:nvSpPr>
          <p:cNvPr id="42" name="TextBox 41"/>
          <p:cNvSpPr txBox="1"/>
          <p:nvPr/>
        </p:nvSpPr>
        <p:spPr>
          <a:xfrm>
            <a:off x="850392" y="4306824"/>
            <a:ext cx="3182112" cy="292608"/>
          </a:xfrm>
          <a:prstGeom prst="rect">
            <a:avLst/>
          </a:prstGeom>
          <a:noFill/>
        </p:spPr>
        <p:txBody>
          <a:bodyPr wrap="square">
            <a:spAutoFit/>
          </a:bodyPr>
          <a:lstStyle/>
          <a:p>
            <a:pPr algn="l"/>
            <a:r>
              <a:rPr sz="1200" b="1" i="0">
                <a:solidFill>
                  <a:srgbClr val="FFFFFF"/>
                </a:solidFill>
                <a:latin typeface="Calibri"/>
              </a:rPr>
              <a:t>Methodology-as-Config</a:t>
            </a:r>
          </a:p>
        </p:txBody>
      </p:sp>
      <p:sp>
        <p:nvSpPr>
          <p:cNvPr id="43" name="TextBox 42"/>
          <p:cNvSpPr txBox="1"/>
          <p:nvPr/>
        </p:nvSpPr>
        <p:spPr>
          <a:xfrm>
            <a:off x="384048" y="4672584"/>
            <a:ext cx="3630168" cy="685800"/>
          </a:xfrm>
          <a:prstGeom prst="rect">
            <a:avLst/>
          </a:prstGeom>
          <a:noFill/>
        </p:spPr>
        <p:txBody>
          <a:bodyPr wrap="square">
            <a:spAutoFit/>
          </a:bodyPr>
          <a:lstStyle/>
          <a:p>
            <a:pPr algn="l"/>
            <a:r>
              <a:rPr sz="1050" b="0" i="0">
                <a:solidFill>
                  <a:srgbClr val="A0AAB8"/>
                </a:solidFill>
                <a:latin typeface="Calibri"/>
              </a:rPr>
              <a:t>Commander's planning policy is encoded as a versioned natural-language document, allowing methodology benchmarking.</a:t>
            </a:r>
          </a:p>
        </p:txBody>
      </p:sp>
      <p:sp>
        <p:nvSpPr>
          <p:cNvPr id="44" name="Rectangle 43"/>
          <p:cNvSpPr/>
          <p:nvPr/>
        </p:nvSpPr>
        <p:spPr>
          <a:xfrm>
            <a:off x="4187952" y="4288536"/>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87952" y="4288536"/>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206240" y="4306824"/>
            <a:ext cx="466344" cy="292608"/>
          </a:xfrm>
          <a:prstGeom prst="rect">
            <a:avLst/>
          </a:prstGeom>
          <a:noFill/>
        </p:spPr>
        <p:txBody>
          <a:bodyPr wrap="square">
            <a:spAutoFit/>
          </a:bodyPr>
          <a:lstStyle/>
          <a:p>
            <a:pPr algn="ctr"/>
            <a:r>
              <a:rPr sz="1100" b="1" i="0">
                <a:solidFill>
                  <a:srgbClr val="0A0D1A"/>
                </a:solidFill>
                <a:latin typeface="Calibri"/>
              </a:rPr>
              <a:t>C8</a:t>
            </a:r>
          </a:p>
        </p:txBody>
      </p:sp>
      <p:sp>
        <p:nvSpPr>
          <p:cNvPr id="47" name="TextBox 46"/>
          <p:cNvSpPr txBox="1"/>
          <p:nvPr/>
        </p:nvSpPr>
        <p:spPr>
          <a:xfrm>
            <a:off x="4764024" y="4306824"/>
            <a:ext cx="3182112" cy="292608"/>
          </a:xfrm>
          <a:prstGeom prst="rect">
            <a:avLst/>
          </a:prstGeom>
          <a:noFill/>
        </p:spPr>
        <p:txBody>
          <a:bodyPr wrap="square">
            <a:spAutoFit/>
          </a:bodyPr>
          <a:lstStyle/>
          <a:p>
            <a:pPr algn="l"/>
            <a:r>
              <a:rPr sz="1200" b="1" i="0">
                <a:solidFill>
                  <a:srgbClr val="FFFFFF"/>
                </a:solidFill>
                <a:latin typeface="Calibri"/>
              </a:rPr>
              <a:t>Dual-Graph Termination</a:t>
            </a:r>
          </a:p>
        </p:txBody>
      </p:sp>
      <p:sp>
        <p:nvSpPr>
          <p:cNvPr id="48" name="TextBox 47"/>
          <p:cNvSpPr txBox="1"/>
          <p:nvPr/>
        </p:nvSpPr>
        <p:spPr>
          <a:xfrm>
            <a:off x="4297680" y="4672584"/>
            <a:ext cx="3630168" cy="685800"/>
          </a:xfrm>
          <a:prstGeom prst="rect">
            <a:avLst/>
          </a:prstGeom>
          <a:noFill/>
        </p:spPr>
        <p:txBody>
          <a:bodyPr wrap="square">
            <a:spAutoFit/>
          </a:bodyPr>
          <a:lstStyle/>
          <a:p>
            <a:pPr algn="l"/>
            <a:r>
              <a:rPr sz="1050" b="0" i="0">
                <a:solidFill>
                  <a:srgbClr val="A0AAB8"/>
                </a:solidFill>
                <a:latin typeface="Calibri"/>
              </a:rPr>
              <a:t>Mission completion is formally defined as the conjunction of ASG exhaustion (no unexplored nodes) and APG resolution.</a:t>
            </a:r>
          </a:p>
        </p:txBody>
      </p:sp>
      <p:sp>
        <p:nvSpPr>
          <p:cNvPr id="49" name="Rectangle 48"/>
          <p:cNvSpPr/>
          <p:nvPr/>
        </p:nvSpPr>
        <p:spPr>
          <a:xfrm>
            <a:off x="8101583" y="4288536"/>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101583" y="4288536"/>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19871" y="4306824"/>
            <a:ext cx="466344" cy="292608"/>
          </a:xfrm>
          <a:prstGeom prst="rect">
            <a:avLst/>
          </a:prstGeom>
          <a:noFill/>
        </p:spPr>
        <p:txBody>
          <a:bodyPr wrap="square">
            <a:spAutoFit/>
          </a:bodyPr>
          <a:lstStyle/>
          <a:p>
            <a:pPr algn="ctr"/>
            <a:r>
              <a:rPr sz="1100" b="1" i="0">
                <a:solidFill>
                  <a:srgbClr val="0A0D1A"/>
                </a:solidFill>
                <a:latin typeface="Calibri"/>
              </a:rPr>
              <a:t>C9</a:t>
            </a:r>
          </a:p>
        </p:txBody>
      </p:sp>
      <p:sp>
        <p:nvSpPr>
          <p:cNvPr id="52" name="TextBox 51"/>
          <p:cNvSpPr txBox="1"/>
          <p:nvPr/>
        </p:nvSpPr>
        <p:spPr>
          <a:xfrm>
            <a:off x="8677655" y="4306824"/>
            <a:ext cx="3182112" cy="292608"/>
          </a:xfrm>
          <a:prstGeom prst="rect">
            <a:avLst/>
          </a:prstGeom>
          <a:noFill/>
        </p:spPr>
        <p:txBody>
          <a:bodyPr wrap="square">
            <a:spAutoFit/>
          </a:bodyPr>
          <a:lstStyle/>
          <a:p>
            <a:pPr algn="l"/>
            <a:r>
              <a:rPr sz="1200" b="1" i="0">
                <a:solidFill>
                  <a:srgbClr val="FFFFFF"/>
                </a:solidFill>
                <a:latin typeface="Calibri"/>
              </a:rPr>
              <a:t>Live CVE Grounding</a:t>
            </a:r>
          </a:p>
        </p:txBody>
      </p:sp>
      <p:sp>
        <p:nvSpPr>
          <p:cNvPr id="53" name="TextBox 52"/>
          <p:cNvSpPr txBox="1"/>
          <p:nvPr/>
        </p:nvSpPr>
        <p:spPr>
          <a:xfrm>
            <a:off x="8211311" y="4672584"/>
            <a:ext cx="3630168" cy="685800"/>
          </a:xfrm>
          <a:prstGeom prst="rect">
            <a:avLst/>
          </a:prstGeom>
          <a:noFill/>
        </p:spPr>
        <p:txBody>
          <a:bodyPr wrap="square">
            <a:spAutoFit/>
          </a:bodyPr>
          <a:lstStyle/>
          <a:p>
            <a:pPr algn="l"/>
            <a:r>
              <a:rPr sz="1050" b="0" i="0">
                <a:solidFill>
                  <a:srgbClr val="A0AAB8"/>
                </a:solidFill>
                <a:latin typeface="Calibri"/>
              </a:rPr>
              <a:t>Real-time vulnerability enrichment and exploit feasibility research via a scoped agent, written back into the ASG.</a:t>
            </a:r>
          </a:p>
        </p:txBody>
      </p:sp>
      <p:sp>
        <p:nvSpPr>
          <p:cNvPr id="54" name="Rectangle 53"/>
          <p:cNvSpPr/>
          <p:nvPr/>
        </p:nvSpPr>
        <p:spPr>
          <a:xfrm>
            <a:off x="274320" y="5541264"/>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74320" y="5541264"/>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92608" y="5559552"/>
            <a:ext cx="466344" cy="292608"/>
          </a:xfrm>
          <a:prstGeom prst="rect">
            <a:avLst/>
          </a:prstGeom>
          <a:noFill/>
        </p:spPr>
        <p:txBody>
          <a:bodyPr wrap="square">
            <a:spAutoFit/>
          </a:bodyPr>
          <a:lstStyle/>
          <a:p>
            <a:pPr algn="ctr"/>
            <a:r>
              <a:rPr sz="1100" b="1" i="0">
                <a:solidFill>
                  <a:srgbClr val="0A0D1A"/>
                </a:solidFill>
                <a:latin typeface="Calibri"/>
              </a:rPr>
              <a:t>C10</a:t>
            </a:r>
          </a:p>
        </p:txBody>
      </p:sp>
      <p:sp>
        <p:nvSpPr>
          <p:cNvPr id="57" name="TextBox 56"/>
          <p:cNvSpPr txBox="1"/>
          <p:nvPr/>
        </p:nvSpPr>
        <p:spPr>
          <a:xfrm>
            <a:off x="850392" y="5559552"/>
            <a:ext cx="3182112" cy="292608"/>
          </a:xfrm>
          <a:prstGeom prst="rect">
            <a:avLst/>
          </a:prstGeom>
          <a:noFill/>
        </p:spPr>
        <p:txBody>
          <a:bodyPr wrap="square">
            <a:spAutoFit/>
          </a:bodyPr>
          <a:lstStyle/>
          <a:p>
            <a:pPr algn="l"/>
            <a:r>
              <a:rPr sz="1200" b="1" i="0">
                <a:solidFill>
                  <a:srgbClr val="FFFFFF"/>
                </a:solidFill>
                <a:latin typeface="Calibri"/>
              </a:rPr>
              <a:t>Cross-Mission Experience</a:t>
            </a:r>
          </a:p>
        </p:txBody>
      </p:sp>
      <p:sp>
        <p:nvSpPr>
          <p:cNvPr id="58" name="TextBox 57"/>
          <p:cNvSpPr txBox="1"/>
          <p:nvPr/>
        </p:nvSpPr>
        <p:spPr>
          <a:xfrm>
            <a:off x="384048" y="5925312"/>
            <a:ext cx="3630168" cy="685800"/>
          </a:xfrm>
          <a:prstGeom prst="rect">
            <a:avLst/>
          </a:prstGeom>
          <a:noFill/>
        </p:spPr>
        <p:txBody>
          <a:bodyPr wrap="square">
            <a:spAutoFit/>
          </a:bodyPr>
          <a:lstStyle/>
          <a:p>
            <a:pPr algn="l"/>
            <a:r>
              <a:rPr sz="1050" b="0" i="0">
                <a:solidFill>
                  <a:srgbClr val="A0AAB8"/>
                </a:solidFill>
                <a:latin typeface="Calibri"/>
              </a:rPr>
              <a:t>Persistent RAG-backed store of validated exploitation outcomes across missions to seed APG hypotheses at mission start.</a:t>
            </a:r>
          </a:p>
        </p:txBody>
      </p:sp>
      <p:sp>
        <p:nvSpPr>
          <p:cNvPr id="59" name="Rectangle 58"/>
          <p:cNvSpPr/>
          <p:nvPr/>
        </p:nvSpPr>
        <p:spPr>
          <a:xfrm>
            <a:off x="4187952" y="5541264"/>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187952" y="5541264"/>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06240" y="5559552"/>
            <a:ext cx="466344" cy="292608"/>
          </a:xfrm>
          <a:prstGeom prst="rect">
            <a:avLst/>
          </a:prstGeom>
          <a:noFill/>
        </p:spPr>
        <p:txBody>
          <a:bodyPr wrap="square">
            <a:spAutoFit/>
          </a:bodyPr>
          <a:lstStyle/>
          <a:p>
            <a:pPr algn="ctr"/>
            <a:r>
              <a:rPr sz="1100" b="1" i="0">
                <a:solidFill>
                  <a:srgbClr val="0A0D1A"/>
                </a:solidFill>
                <a:latin typeface="Calibri"/>
              </a:rPr>
              <a:t>C11</a:t>
            </a:r>
          </a:p>
        </p:txBody>
      </p:sp>
      <p:sp>
        <p:nvSpPr>
          <p:cNvPr id="62" name="TextBox 61"/>
          <p:cNvSpPr txBox="1"/>
          <p:nvPr/>
        </p:nvSpPr>
        <p:spPr>
          <a:xfrm>
            <a:off x="4764024" y="5559552"/>
            <a:ext cx="3182112" cy="292608"/>
          </a:xfrm>
          <a:prstGeom prst="rect">
            <a:avLst/>
          </a:prstGeom>
          <a:noFill/>
        </p:spPr>
        <p:txBody>
          <a:bodyPr wrap="square">
            <a:spAutoFit/>
          </a:bodyPr>
          <a:lstStyle/>
          <a:p>
            <a:pPr algn="l"/>
            <a:r>
              <a:rPr sz="1200" b="1" i="0">
                <a:solidFill>
                  <a:srgbClr val="FFFFFF"/>
                </a:solidFill>
                <a:latin typeface="Calibri"/>
              </a:rPr>
              <a:t>Attack Strategy Library</a:t>
            </a:r>
          </a:p>
        </p:txBody>
      </p:sp>
      <p:sp>
        <p:nvSpPr>
          <p:cNvPr id="63" name="TextBox 62"/>
          <p:cNvSpPr txBox="1"/>
          <p:nvPr/>
        </p:nvSpPr>
        <p:spPr>
          <a:xfrm>
            <a:off x="4297680" y="5925312"/>
            <a:ext cx="3630168" cy="685800"/>
          </a:xfrm>
          <a:prstGeom prst="rect">
            <a:avLst/>
          </a:prstGeom>
          <a:noFill/>
        </p:spPr>
        <p:txBody>
          <a:bodyPr wrap="square">
            <a:spAutoFit/>
          </a:bodyPr>
          <a:lstStyle/>
          <a:p>
            <a:pPr algn="l"/>
            <a:r>
              <a:rPr sz="1050" b="0" i="0">
                <a:solidFill>
                  <a:srgbClr val="A0AAB8"/>
                </a:solidFill>
                <a:latin typeface="Calibri"/>
              </a:rPr>
              <a:t>Crystallizes validated chains into parameterized strategies when the same target fingerprint succeeds across missions.</a:t>
            </a:r>
          </a:p>
        </p:txBody>
      </p:sp>
      <p:sp>
        <p:nvSpPr>
          <p:cNvPr id="64" name="Rectangle 63"/>
          <p:cNvSpPr/>
          <p:nvPr/>
        </p:nvSpPr>
        <p:spPr>
          <a:xfrm>
            <a:off x="8101583" y="5541264"/>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101583" y="5541264"/>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119871" y="5559552"/>
            <a:ext cx="466344" cy="292608"/>
          </a:xfrm>
          <a:prstGeom prst="rect">
            <a:avLst/>
          </a:prstGeom>
          <a:noFill/>
        </p:spPr>
        <p:txBody>
          <a:bodyPr wrap="square">
            <a:spAutoFit/>
          </a:bodyPr>
          <a:lstStyle/>
          <a:p>
            <a:pPr algn="ctr"/>
            <a:r>
              <a:rPr sz="1100" b="1" i="0">
                <a:solidFill>
                  <a:srgbClr val="0A0D1A"/>
                </a:solidFill>
                <a:latin typeface="Calibri"/>
              </a:rPr>
              <a:t>C12</a:t>
            </a:r>
          </a:p>
        </p:txBody>
      </p:sp>
      <p:sp>
        <p:nvSpPr>
          <p:cNvPr id="67" name="TextBox 66"/>
          <p:cNvSpPr txBox="1"/>
          <p:nvPr/>
        </p:nvSpPr>
        <p:spPr>
          <a:xfrm>
            <a:off x="8677655" y="5559552"/>
            <a:ext cx="3182112" cy="292608"/>
          </a:xfrm>
          <a:prstGeom prst="rect">
            <a:avLst/>
          </a:prstGeom>
          <a:noFill/>
        </p:spPr>
        <p:txBody>
          <a:bodyPr wrap="square">
            <a:spAutoFit/>
          </a:bodyPr>
          <a:lstStyle/>
          <a:p>
            <a:pPr algn="l"/>
            <a:r>
              <a:rPr sz="1200" b="1" i="0">
                <a:solidFill>
                  <a:srgbClr val="FFFFFF"/>
                </a:solidFill>
                <a:latin typeface="Calibri"/>
              </a:rPr>
              <a:t>Trajectory Export Dataset</a:t>
            </a:r>
          </a:p>
        </p:txBody>
      </p:sp>
      <p:sp>
        <p:nvSpPr>
          <p:cNvPr id="68" name="TextBox 67"/>
          <p:cNvSpPr txBox="1"/>
          <p:nvPr/>
        </p:nvSpPr>
        <p:spPr>
          <a:xfrm>
            <a:off x="8211311" y="5925312"/>
            <a:ext cx="3630168" cy="685800"/>
          </a:xfrm>
          <a:prstGeom prst="rect">
            <a:avLst/>
          </a:prstGeom>
          <a:noFill/>
        </p:spPr>
        <p:txBody>
          <a:bodyPr wrap="square">
            <a:spAutoFit/>
          </a:bodyPr>
          <a:lstStyle/>
          <a:p>
            <a:pPr algn="l"/>
            <a:r>
              <a:rPr sz="1050" b="0" i="0">
                <a:solidFill>
                  <a:srgbClr val="A0AAB8"/>
                </a:solidFill>
                <a:latin typeface="Calibri"/>
              </a:rPr>
              <a:t>Every mission produces a machine-readable decision log capturing ASG/APG triggers, rationale, and actions taken.</a:t>
            </a:r>
          </a:p>
        </p:txBody>
      </p:sp>
      <p:sp>
        <p:nvSpPr>
          <p:cNvPr id="69" name="TextBox 68"/>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46888"/>
          </a:xfrm>
          <a:prstGeom prst="rect">
            <a:avLst/>
          </a:prstGeom>
          <a:noFill/>
        </p:spPr>
        <p:txBody>
          <a:bodyPr wrap="square">
            <a:spAutoFit/>
          </a:bodyPr>
          <a:lstStyle/>
          <a:p>
            <a:pPr algn="l"/>
            <a:r>
              <a:rPr sz="1000" b="1" i="0">
                <a:solidFill>
                  <a:srgbClr val="FFD700"/>
                </a:solidFill>
                <a:latin typeface="Calibri"/>
              </a:rPr>
              <a:t>EVALUATION PLAN</a:t>
            </a:r>
          </a:p>
        </p:txBody>
      </p:sp>
      <p:sp>
        <p:nvSpPr>
          <p:cNvPr id="6" name="TextBox 5"/>
          <p:cNvSpPr txBox="1"/>
          <p:nvPr/>
        </p:nvSpPr>
        <p:spPr>
          <a:xfrm>
            <a:off x="274320" y="292608"/>
            <a:ext cx="11430000" cy="585216"/>
          </a:xfrm>
          <a:prstGeom prst="rect">
            <a:avLst/>
          </a:prstGeom>
          <a:noFill/>
        </p:spPr>
        <p:txBody>
          <a:bodyPr wrap="square">
            <a:spAutoFit/>
          </a:bodyPr>
          <a:lstStyle/>
          <a:p>
            <a:pPr algn="l"/>
            <a:r>
              <a:rPr sz="3200" b="1" i="0">
                <a:solidFill>
                  <a:srgbClr val="FFFFFF"/>
                </a:solidFill>
                <a:latin typeface="Calibri"/>
              </a:rPr>
              <a:t>How We Will Validate CMatrix Claims Empirically</a:t>
            </a:r>
          </a:p>
        </p:txBody>
      </p:sp>
      <p:sp>
        <p:nvSpPr>
          <p:cNvPr id="7" name="Rectangle 6"/>
          <p:cNvSpPr/>
          <p:nvPr/>
        </p:nvSpPr>
        <p:spPr>
          <a:xfrm>
            <a:off x="201168" y="987552"/>
            <a:ext cx="5852160" cy="2286000"/>
          </a:xfrm>
          <a:prstGeom prst="rect">
            <a:avLst/>
          </a:prstGeom>
          <a:solidFill>
            <a:srgbClr val="0C1022"/>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987552"/>
            <a:ext cx="5852160" cy="29260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1168" y="1024128"/>
            <a:ext cx="5852160" cy="246888"/>
          </a:xfrm>
          <a:prstGeom prst="rect">
            <a:avLst/>
          </a:prstGeom>
          <a:noFill/>
        </p:spPr>
        <p:txBody>
          <a:bodyPr wrap="square">
            <a:spAutoFit/>
          </a:bodyPr>
          <a:lstStyle/>
          <a:p>
            <a:pPr algn="l"/>
            <a:r>
              <a:rPr sz="1000" b="1" i="0">
                <a:solidFill>
                  <a:srgbClr val="0A0D1A"/>
                </a:solidFill>
                <a:latin typeface="Calibri"/>
              </a:rPr>
              <a:t>EVALUATION PLATFORMS</a:t>
            </a:r>
          </a:p>
        </p:txBody>
      </p:sp>
      <p:sp>
        <p:nvSpPr>
          <p:cNvPr id="10" name="Rectangle 9"/>
          <p:cNvSpPr/>
          <p:nvPr/>
        </p:nvSpPr>
        <p:spPr>
          <a:xfrm>
            <a:off x="292608" y="1335024"/>
            <a:ext cx="5669280" cy="566928"/>
          </a:xfrm>
          <a:prstGeom prst="rect">
            <a:avLst/>
          </a:prstGeom>
          <a:solidFill>
            <a:srgbClr val="081424"/>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048" y="1371600"/>
            <a:ext cx="5559552" cy="246888"/>
          </a:xfrm>
          <a:prstGeom prst="rect">
            <a:avLst/>
          </a:prstGeom>
          <a:noFill/>
        </p:spPr>
        <p:txBody>
          <a:bodyPr wrap="square">
            <a:spAutoFit/>
          </a:bodyPr>
          <a:lstStyle/>
          <a:p>
            <a:pPr algn="l"/>
            <a:r>
              <a:rPr sz="1000" b="1" i="0">
                <a:solidFill>
                  <a:srgbClr val="00E5FF"/>
                </a:solidFill>
                <a:latin typeface="Calibri"/>
              </a:rPr>
              <a:t>HackTheBox (HTB)</a:t>
            </a:r>
          </a:p>
        </p:txBody>
      </p:sp>
      <p:sp>
        <p:nvSpPr>
          <p:cNvPr id="12" name="TextBox 11"/>
          <p:cNvSpPr txBox="1"/>
          <p:nvPr/>
        </p:nvSpPr>
        <p:spPr>
          <a:xfrm>
            <a:off x="384048" y="1627632"/>
            <a:ext cx="5559552" cy="228600"/>
          </a:xfrm>
          <a:prstGeom prst="rect">
            <a:avLst/>
          </a:prstGeom>
          <a:noFill/>
        </p:spPr>
        <p:txBody>
          <a:bodyPr wrap="square">
            <a:spAutoFit/>
          </a:bodyPr>
          <a:lstStyle/>
          <a:p>
            <a:pPr algn="l"/>
            <a:r>
              <a:rPr sz="900" b="0" i="0">
                <a:solidFill>
                  <a:srgbClr val="A0AAB8"/>
                </a:solidFill>
                <a:latin typeface="Calibri"/>
              </a:rPr>
              <a:t>Retired machines — Linux + Windows — known ground-truth vulnerabilities for coverage scoring.</a:t>
            </a:r>
          </a:p>
        </p:txBody>
      </p:sp>
      <p:sp>
        <p:nvSpPr>
          <p:cNvPr id="13" name="Rectangle 12"/>
          <p:cNvSpPr/>
          <p:nvPr/>
        </p:nvSpPr>
        <p:spPr>
          <a:xfrm>
            <a:off x="292608" y="1956816"/>
            <a:ext cx="5669280" cy="566928"/>
          </a:xfrm>
          <a:prstGeom prst="rect">
            <a:avLst/>
          </a:prstGeom>
          <a:solidFill>
            <a:srgbClr val="081424"/>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 y="1993392"/>
            <a:ext cx="5559552" cy="246888"/>
          </a:xfrm>
          <a:prstGeom prst="rect">
            <a:avLst/>
          </a:prstGeom>
          <a:noFill/>
        </p:spPr>
        <p:txBody>
          <a:bodyPr wrap="square">
            <a:spAutoFit/>
          </a:bodyPr>
          <a:lstStyle/>
          <a:p>
            <a:pPr algn="l"/>
            <a:r>
              <a:rPr sz="1000" b="1" i="0">
                <a:solidFill>
                  <a:srgbClr val="39FF14"/>
                </a:solidFill>
                <a:latin typeface="Calibri"/>
              </a:rPr>
              <a:t>TryHackMe (THM)</a:t>
            </a:r>
          </a:p>
        </p:txBody>
      </p:sp>
      <p:sp>
        <p:nvSpPr>
          <p:cNvPr id="15" name="TextBox 14"/>
          <p:cNvSpPr txBox="1"/>
          <p:nvPr/>
        </p:nvSpPr>
        <p:spPr>
          <a:xfrm>
            <a:off x="384048" y="2249424"/>
            <a:ext cx="5559552" cy="228600"/>
          </a:xfrm>
          <a:prstGeom prst="rect">
            <a:avLst/>
          </a:prstGeom>
          <a:noFill/>
        </p:spPr>
        <p:txBody>
          <a:bodyPr wrap="square">
            <a:spAutoFit/>
          </a:bodyPr>
          <a:lstStyle/>
          <a:p>
            <a:pPr algn="l"/>
            <a:r>
              <a:rPr sz="900" b="0" i="0">
                <a:solidFill>
                  <a:srgbClr val="A0AAB8"/>
                </a:solidFill>
                <a:latin typeface="Calibri"/>
              </a:rPr>
              <a:t>Guided CTF environments with intentionally vulnerable web applications and APIs.</a:t>
            </a:r>
          </a:p>
        </p:txBody>
      </p:sp>
      <p:sp>
        <p:nvSpPr>
          <p:cNvPr id="16" name="Rectangle 15"/>
          <p:cNvSpPr/>
          <p:nvPr/>
        </p:nvSpPr>
        <p:spPr>
          <a:xfrm>
            <a:off x="292608" y="2578608"/>
            <a:ext cx="5669280" cy="566928"/>
          </a:xfrm>
          <a:prstGeom prst="rect">
            <a:avLst/>
          </a:prstGeom>
          <a:solidFill>
            <a:srgbClr val="081424"/>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4048" y="2615184"/>
            <a:ext cx="5559552" cy="246888"/>
          </a:xfrm>
          <a:prstGeom prst="rect">
            <a:avLst/>
          </a:prstGeom>
          <a:noFill/>
        </p:spPr>
        <p:txBody>
          <a:bodyPr wrap="square">
            <a:spAutoFit/>
          </a:bodyPr>
          <a:lstStyle/>
          <a:p>
            <a:pPr algn="l"/>
            <a:r>
              <a:rPr sz="1000" b="1" i="0">
                <a:solidFill>
                  <a:srgbClr val="FFD700"/>
                </a:solidFill>
                <a:latin typeface="Calibri"/>
              </a:rPr>
              <a:t>Custom Lab VMs</a:t>
            </a:r>
          </a:p>
        </p:txBody>
      </p:sp>
      <p:sp>
        <p:nvSpPr>
          <p:cNvPr id="18" name="TextBox 17"/>
          <p:cNvSpPr txBox="1"/>
          <p:nvPr/>
        </p:nvSpPr>
        <p:spPr>
          <a:xfrm>
            <a:off x="384048" y="2871216"/>
            <a:ext cx="5559552" cy="228600"/>
          </a:xfrm>
          <a:prstGeom prst="rect">
            <a:avLst/>
          </a:prstGeom>
          <a:noFill/>
        </p:spPr>
        <p:txBody>
          <a:bodyPr wrap="square">
            <a:spAutoFit/>
          </a:bodyPr>
          <a:lstStyle/>
          <a:p>
            <a:pPr algn="l"/>
            <a:r>
              <a:rPr sz="900" b="0" i="0">
                <a:solidFill>
                  <a:srgbClr val="A0AAB8"/>
                </a:solidFill>
                <a:latin typeface="Calibri"/>
              </a:rPr>
              <a:t>Controlled WordPress + Django stack mirroring shopvault.io for repeatable A/B testing.</a:t>
            </a:r>
          </a:p>
        </p:txBody>
      </p:sp>
      <p:sp>
        <p:nvSpPr>
          <p:cNvPr id="19" name="Rectangle 18"/>
          <p:cNvSpPr/>
          <p:nvPr/>
        </p:nvSpPr>
        <p:spPr>
          <a:xfrm>
            <a:off x="201168" y="3364992"/>
            <a:ext cx="5852160" cy="3291840"/>
          </a:xfrm>
          <a:prstGeom prst="rect">
            <a:avLst/>
          </a:prstGeom>
          <a:solidFill>
            <a:srgbClr val="0E0C04"/>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01168" y="3364992"/>
            <a:ext cx="5852160" cy="29260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1168" y="3401568"/>
            <a:ext cx="5852160" cy="246888"/>
          </a:xfrm>
          <a:prstGeom prst="rect">
            <a:avLst/>
          </a:prstGeom>
          <a:noFill/>
        </p:spPr>
        <p:txBody>
          <a:bodyPr wrap="square">
            <a:spAutoFit/>
          </a:bodyPr>
          <a:lstStyle/>
          <a:p>
            <a:pPr algn="l"/>
            <a:r>
              <a:rPr sz="1000" b="1" i="0">
                <a:solidFill>
                  <a:srgbClr val="0A0D1A"/>
                </a:solidFill>
                <a:latin typeface="Calibri"/>
              </a:rPr>
              <a:t>RESEARCH QUESTIONS</a:t>
            </a:r>
          </a:p>
        </p:txBody>
      </p:sp>
      <p:sp>
        <p:nvSpPr>
          <p:cNvPr id="22" name="Rectangle 21"/>
          <p:cNvSpPr/>
          <p:nvPr/>
        </p:nvSpPr>
        <p:spPr>
          <a:xfrm>
            <a:off x="292608" y="3712463"/>
            <a:ext cx="519379" cy="64008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5468" y="3877055"/>
            <a:ext cx="484632" cy="246888"/>
          </a:xfrm>
          <a:prstGeom prst="rect">
            <a:avLst/>
          </a:prstGeom>
          <a:noFill/>
        </p:spPr>
        <p:txBody>
          <a:bodyPr wrap="square">
            <a:spAutoFit/>
          </a:bodyPr>
          <a:lstStyle/>
          <a:p>
            <a:pPr algn="l"/>
            <a:r>
              <a:rPr sz="1000" b="1" i="0">
                <a:solidFill>
                  <a:srgbClr val="0A0D1A"/>
                </a:solidFill>
                <a:latin typeface="Calibri"/>
              </a:rPr>
              <a:t>RQ 1</a:t>
            </a:r>
          </a:p>
        </p:txBody>
      </p:sp>
      <p:sp>
        <p:nvSpPr>
          <p:cNvPr id="24" name="TextBox 23"/>
          <p:cNvSpPr txBox="1"/>
          <p:nvPr/>
        </p:nvSpPr>
        <p:spPr>
          <a:xfrm>
            <a:off x="768096" y="3749039"/>
            <a:ext cx="5175504" cy="585216"/>
          </a:xfrm>
          <a:prstGeom prst="rect">
            <a:avLst/>
          </a:prstGeom>
          <a:noFill/>
        </p:spPr>
        <p:txBody>
          <a:bodyPr wrap="square">
            <a:spAutoFit/>
          </a:bodyPr>
          <a:lstStyle/>
          <a:p>
            <a:pPr algn="l"/>
            <a:r>
              <a:rPr sz="900" b="0" i="0">
                <a:solidFill>
                  <a:srgbClr val="A0AAB8"/>
                </a:solidFill>
                <a:latin typeface="Calibri"/>
              </a:rPr>
              <a:t>Does the dual-graph architecture improve vulnerability coverage compared to a flat-memory baseline?</a:t>
            </a:r>
          </a:p>
        </p:txBody>
      </p:sp>
      <p:sp>
        <p:nvSpPr>
          <p:cNvPr id="25" name="Rectangle 24"/>
          <p:cNvSpPr/>
          <p:nvPr/>
        </p:nvSpPr>
        <p:spPr>
          <a:xfrm>
            <a:off x="292608" y="4462272"/>
            <a:ext cx="519379" cy="64008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15468" y="4626864"/>
            <a:ext cx="484632" cy="246888"/>
          </a:xfrm>
          <a:prstGeom prst="rect">
            <a:avLst/>
          </a:prstGeom>
          <a:noFill/>
        </p:spPr>
        <p:txBody>
          <a:bodyPr wrap="square">
            <a:spAutoFit/>
          </a:bodyPr>
          <a:lstStyle/>
          <a:p>
            <a:pPr algn="l"/>
            <a:r>
              <a:rPr sz="1000" b="1" i="0">
                <a:solidFill>
                  <a:srgbClr val="0A0D1A"/>
                </a:solidFill>
                <a:latin typeface="Calibri"/>
              </a:rPr>
              <a:t>RQ 2</a:t>
            </a:r>
          </a:p>
        </p:txBody>
      </p:sp>
      <p:sp>
        <p:nvSpPr>
          <p:cNvPr id="27" name="TextBox 26"/>
          <p:cNvSpPr txBox="1"/>
          <p:nvPr/>
        </p:nvSpPr>
        <p:spPr>
          <a:xfrm>
            <a:off x="768096" y="4498848"/>
            <a:ext cx="5175504" cy="585216"/>
          </a:xfrm>
          <a:prstGeom prst="rect">
            <a:avLst/>
          </a:prstGeom>
          <a:noFill/>
        </p:spPr>
        <p:txBody>
          <a:bodyPr wrap="square">
            <a:spAutoFit/>
          </a:bodyPr>
          <a:lstStyle/>
          <a:p>
            <a:pPr algn="l"/>
            <a:r>
              <a:rPr sz="900" b="0" i="0">
                <a:solidFill>
                  <a:srgbClr val="A0AAB8"/>
                </a:solidFill>
                <a:latin typeface="Calibri"/>
              </a:rPr>
              <a:t>Does formal dual termination reduce false-early-stops vs timer-based termination?</a:t>
            </a:r>
          </a:p>
        </p:txBody>
      </p:sp>
      <p:sp>
        <p:nvSpPr>
          <p:cNvPr id="28" name="Rectangle 27"/>
          <p:cNvSpPr/>
          <p:nvPr/>
        </p:nvSpPr>
        <p:spPr>
          <a:xfrm>
            <a:off x="292608" y="5212080"/>
            <a:ext cx="519379" cy="64008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5468" y="5376672"/>
            <a:ext cx="484632" cy="246888"/>
          </a:xfrm>
          <a:prstGeom prst="rect">
            <a:avLst/>
          </a:prstGeom>
          <a:noFill/>
        </p:spPr>
        <p:txBody>
          <a:bodyPr wrap="square">
            <a:spAutoFit/>
          </a:bodyPr>
          <a:lstStyle/>
          <a:p>
            <a:pPr algn="l"/>
            <a:r>
              <a:rPr sz="1000" b="1" i="0">
                <a:solidFill>
                  <a:srgbClr val="0A0D1A"/>
                </a:solidFill>
                <a:latin typeface="Calibri"/>
              </a:rPr>
              <a:t>RQ 3</a:t>
            </a:r>
          </a:p>
        </p:txBody>
      </p:sp>
      <p:sp>
        <p:nvSpPr>
          <p:cNvPr id="30" name="TextBox 29"/>
          <p:cNvSpPr txBox="1"/>
          <p:nvPr/>
        </p:nvSpPr>
        <p:spPr>
          <a:xfrm>
            <a:off x="768096" y="5248656"/>
            <a:ext cx="5175504" cy="585216"/>
          </a:xfrm>
          <a:prstGeom prst="rect">
            <a:avLst/>
          </a:prstGeom>
          <a:noFill/>
        </p:spPr>
        <p:txBody>
          <a:bodyPr wrap="square">
            <a:spAutoFit/>
          </a:bodyPr>
          <a:lstStyle/>
          <a:p>
            <a:pPr algn="l"/>
            <a:r>
              <a:rPr sz="900" b="0" i="0">
                <a:solidFill>
                  <a:srgbClr val="A0AAB8"/>
                </a:solidFill>
                <a:latin typeface="Calibri"/>
              </a:rPr>
              <a:t>Does cross-mission learning measurably reduce time-to-finding on repeat target-type engagements?</a:t>
            </a:r>
          </a:p>
        </p:txBody>
      </p:sp>
      <p:sp>
        <p:nvSpPr>
          <p:cNvPr id="31" name="Rectangle 30"/>
          <p:cNvSpPr/>
          <p:nvPr/>
        </p:nvSpPr>
        <p:spPr>
          <a:xfrm>
            <a:off x="292608" y="5961888"/>
            <a:ext cx="519379" cy="64008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15468" y="6126480"/>
            <a:ext cx="484632" cy="246888"/>
          </a:xfrm>
          <a:prstGeom prst="rect">
            <a:avLst/>
          </a:prstGeom>
          <a:noFill/>
        </p:spPr>
        <p:txBody>
          <a:bodyPr wrap="square">
            <a:spAutoFit/>
          </a:bodyPr>
          <a:lstStyle/>
          <a:p>
            <a:pPr algn="l"/>
            <a:r>
              <a:rPr sz="1000" b="1" i="0">
                <a:solidFill>
                  <a:srgbClr val="0A0D1A"/>
                </a:solidFill>
                <a:latin typeface="Calibri"/>
              </a:rPr>
              <a:t>RQ 4</a:t>
            </a:r>
          </a:p>
        </p:txBody>
      </p:sp>
      <p:sp>
        <p:nvSpPr>
          <p:cNvPr id="33" name="TextBox 32"/>
          <p:cNvSpPr txBox="1"/>
          <p:nvPr/>
        </p:nvSpPr>
        <p:spPr>
          <a:xfrm>
            <a:off x="768096" y="5998464"/>
            <a:ext cx="5175504" cy="585216"/>
          </a:xfrm>
          <a:prstGeom prst="rect">
            <a:avLst/>
          </a:prstGeom>
          <a:noFill/>
        </p:spPr>
        <p:txBody>
          <a:bodyPr wrap="square">
            <a:spAutoFit/>
          </a:bodyPr>
          <a:lstStyle/>
          <a:p>
            <a:pPr algn="l"/>
            <a:r>
              <a:rPr sz="900" b="0" i="0">
                <a:solidFill>
                  <a:srgbClr val="A0AAB8"/>
                </a:solidFill>
                <a:latin typeface="Calibri"/>
              </a:rPr>
              <a:t>Does the risk gate reduce unintended offensive actions without significantly reducing coverage?</a:t>
            </a:r>
          </a:p>
        </p:txBody>
      </p:sp>
      <p:sp>
        <p:nvSpPr>
          <p:cNvPr id="34" name="Rectangle 33"/>
          <p:cNvSpPr/>
          <p:nvPr/>
        </p:nvSpPr>
        <p:spPr>
          <a:xfrm>
            <a:off x="6181344" y="987552"/>
            <a:ext cx="5809183" cy="2103120"/>
          </a:xfrm>
          <a:prstGeom prst="rect">
            <a:avLst/>
          </a:prstGeom>
          <a:solidFill>
            <a:srgbClr val="061408"/>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81344" y="987552"/>
            <a:ext cx="5809183" cy="29260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81344" y="1024128"/>
            <a:ext cx="5809183" cy="246888"/>
          </a:xfrm>
          <a:prstGeom prst="rect">
            <a:avLst/>
          </a:prstGeom>
          <a:noFill/>
        </p:spPr>
        <p:txBody>
          <a:bodyPr wrap="square">
            <a:spAutoFit/>
          </a:bodyPr>
          <a:lstStyle/>
          <a:p>
            <a:pPr algn="l"/>
            <a:r>
              <a:rPr sz="1000" b="1" i="0">
                <a:solidFill>
                  <a:srgbClr val="0A0D1A"/>
                </a:solidFill>
                <a:latin typeface="Calibri"/>
              </a:rPr>
              <a:t>EVALUATION METRICS</a:t>
            </a:r>
          </a:p>
        </p:txBody>
      </p:sp>
      <p:sp>
        <p:nvSpPr>
          <p:cNvPr id="37" name="Rectangle 36"/>
          <p:cNvSpPr/>
          <p:nvPr/>
        </p:nvSpPr>
        <p:spPr>
          <a:xfrm>
            <a:off x="6272784" y="1335024"/>
            <a:ext cx="5626303" cy="310896"/>
          </a:xfrm>
          <a:prstGeom prst="rect">
            <a:avLst/>
          </a:prstGeom>
          <a:solidFill>
            <a:srgbClr val="061C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45936" y="1371600"/>
            <a:ext cx="1691640" cy="228600"/>
          </a:xfrm>
          <a:prstGeom prst="rect">
            <a:avLst/>
          </a:prstGeom>
          <a:noFill/>
        </p:spPr>
        <p:txBody>
          <a:bodyPr wrap="square">
            <a:spAutoFit/>
          </a:bodyPr>
          <a:lstStyle/>
          <a:p>
            <a:pPr algn="l"/>
            <a:r>
              <a:rPr sz="900" b="1" i="0">
                <a:solidFill>
                  <a:srgbClr val="39FF14"/>
                </a:solidFill>
                <a:latin typeface="Calibri"/>
              </a:rPr>
              <a:t>Vulnerability Coverage</a:t>
            </a:r>
          </a:p>
        </p:txBody>
      </p:sp>
      <p:sp>
        <p:nvSpPr>
          <p:cNvPr id="39" name="TextBox 38"/>
          <p:cNvSpPr txBox="1"/>
          <p:nvPr/>
        </p:nvSpPr>
        <p:spPr>
          <a:xfrm>
            <a:off x="8083296" y="1371600"/>
            <a:ext cx="3797503" cy="228600"/>
          </a:xfrm>
          <a:prstGeom prst="rect">
            <a:avLst/>
          </a:prstGeom>
          <a:noFill/>
        </p:spPr>
        <p:txBody>
          <a:bodyPr wrap="square">
            <a:spAutoFit/>
          </a:bodyPr>
          <a:lstStyle/>
          <a:p>
            <a:pPr algn="l"/>
            <a:r>
              <a:rPr sz="900" b="0" i="0">
                <a:solidFill>
                  <a:srgbClr val="A0AAB8"/>
                </a:solidFill>
                <a:latin typeface="Calibri"/>
              </a:rPr>
              <a:t>% of known vulns discovered vs ground truth per machine</a:t>
            </a:r>
          </a:p>
        </p:txBody>
      </p:sp>
      <p:sp>
        <p:nvSpPr>
          <p:cNvPr id="40" name="Rectangle 39"/>
          <p:cNvSpPr/>
          <p:nvPr/>
        </p:nvSpPr>
        <p:spPr>
          <a:xfrm>
            <a:off x="6272784" y="1682496"/>
            <a:ext cx="5626303" cy="310896"/>
          </a:xfrm>
          <a:prstGeom prst="rect">
            <a:avLst/>
          </a:prstGeom>
          <a:solidFill>
            <a:srgbClr val="061C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45936" y="1719072"/>
            <a:ext cx="1691640" cy="228600"/>
          </a:xfrm>
          <a:prstGeom prst="rect">
            <a:avLst/>
          </a:prstGeom>
          <a:noFill/>
        </p:spPr>
        <p:txBody>
          <a:bodyPr wrap="square">
            <a:spAutoFit/>
          </a:bodyPr>
          <a:lstStyle/>
          <a:p>
            <a:pPr algn="l"/>
            <a:r>
              <a:rPr sz="900" b="1" i="0">
                <a:solidFill>
                  <a:srgbClr val="39FF14"/>
                </a:solidFill>
                <a:latin typeface="Calibri"/>
              </a:rPr>
              <a:t>Chain Precision</a:t>
            </a:r>
          </a:p>
        </p:txBody>
      </p:sp>
      <p:sp>
        <p:nvSpPr>
          <p:cNvPr id="42" name="TextBox 41"/>
          <p:cNvSpPr txBox="1"/>
          <p:nvPr/>
        </p:nvSpPr>
        <p:spPr>
          <a:xfrm>
            <a:off x="8083296" y="1719072"/>
            <a:ext cx="3797503" cy="228600"/>
          </a:xfrm>
          <a:prstGeom prst="rect">
            <a:avLst/>
          </a:prstGeom>
          <a:noFill/>
        </p:spPr>
        <p:txBody>
          <a:bodyPr wrap="square">
            <a:spAutoFit/>
          </a:bodyPr>
          <a:lstStyle/>
          <a:p>
            <a:pPr algn="l"/>
            <a:r>
              <a:rPr sz="900" b="0" i="0">
                <a:solidFill>
                  <a:srgbClr val="A0AAB8"/>
                </a:solidFill>
                <a:latin typeface="Calibri"/>
              </a:rPr>
              <a:t>% of APG AttackChains that result in VALIDATED status</a:t>
            </a:r>
          </a:p>
        </p:txBody>
      </p:sp>
      <p:sp>
        <p:nvSpPr>
          <p:cNvPr id="43" name="Rectangle 42"/>
          <p:cNvSpPr/>
          <p:nvPr/>
        </p:nvSpPr>
        <p:spPr>
          <a:xfrm>
            <a:off x="6272784" y="2029968"/>
            <a:ext cx="5626303" cy="310896"/>
          </a:xfrm>
          <a:prstGeom prst="rect">
            <a:avLst/>
          </a:prstGeom>
          <a:solidFill>
            <a:srgbClr val="061C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45936" y="2066544"/>
            <a:ext cx="1691640" cy="228600"/>
          </a:xfrm>
          <a:prstGeom prst="rect">
            <a:avLst/>
          </a:prstGeom>
          <a:noFill/>
        </p:spPr>
        <p:txBody>
          <a:bodyPr wrap="square">
            <a:spAutoFit/>
          </a:bodyPr>
          <a:lstStyle/>
          <a:p>
            <a:pPr algn="l"/>
            <a:r>
              <a:rPr sz="900" b="1" i="0">
                <a:solidFill>
                  <a:srgbClr val="39FF14"/>
                </a:solidFill>
                <a:latin typeface="Calibri"/>
              </a:rPr>
              <a:t>Time-to-Finding</a:t>
            </a:r>
          </a:p>
        </p:txBody>
      </p:sp>
      <p:sp>
        <p:nvSpPr>
          <p:cNvPr id="45" name="TextBox 44"/>
          <p:cNvSpPr txBox="1"/>
          <p:nvPr/>
        </p:nvSpPr>
        <p:spPr>
          <a:xfrm>
            <a:off x="8083296" y="2066544"/>
            <a:ext cx="3797503" cy="228600"/>
          </a:xfrm>
          <a:prstGeom prst="rect">
            <a:avLst/>
          </a:prstGeom>
          <a:noFill/>
        </p:spPr>
        <p:txBody>
          <a:bodyPr wrap="square">
            <a:spAutoFit/>
          </a:bodyPr>
          <a:lstStyle/>
          <a:p>
            <a:pPr algn="l"/>
            <a:r>
              <a:rPr sz="900" b="0" i="0">
                <a:solidFill>
                  <a:srgbClr val="A0AAB8"/>
                </a:solidFill>
                <a:latin typeface="Calibri"/>
              </a:rPr>
              <a:t>Wall-clock time from mission start to first VALIDATED chain</a:t>
            </a:r>
          </a:p>
        </p:txBody>
      </p:sp>
      <p:sp>
        <p:nvSpPr>
          <p:cNvPr id="46" name="Rectangle 45"/>
          <p:cNvSpPr/>
          <p:nvPr/>
        </p:nvSpPr>
        <p:spPr>
          <a:xfrm>
            <a:off x="6272784" y="2377440"/>
            <a:ext cx="5626303" cy="310896"/>
          </a:xfrm>
          <a:prstGeom prst="rect">
            <a:avLst/>
          </a:prstGeom>
          <a:solidFill>
            <a:srgbClr val="061C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45936" y="2414016"/>
            <a:ext cx="1691640" cy="228600"/>
          </a:xfrm>
          <a:prstGeom prst="rect">
            <a:avLst/>
          </a:prstGeom>
          <a:noFill/>
        </p:spPr>
        <p:txBody>
          <a:bodyPr wrap="square">
            <a:spAutoFit/>
          </a:bodyPr>
          <a:lstStyle/>
          <a:p>
            <a:pPr algn="l"/>
            <a:r>
              <a:rPr sz="900" b="1" i="0">
                <a:solidFill>
                  <a:srgbClr val="39FF14"/>
                </a:solidFill>
                <a:latin typeface="Calibri"/>
              </a:rPr>
              <a:t>False Early-Stop Rate</a:t>
            </a:r>
          </a:p>
        </p:txBody>
      </p:sp>
      <p:sp>
        <p:nvSpPr>
          <p:cNvPr id="48" name="TextBox 47"/>
          <p:cNvSpPr txBox="1"/>
          <p:nvPr/>
        </p:nvSpPr>
        <p:spPr>
          <a:xfrm>
            <a:off x="8083296" y="2414016"/>
            <a:ext cx="3797503" cy="228600"/>
          </a:xfrm>
          <a:prstGeom prst="rect">
            <a:avLst/>
          </a:prstGeom>
          <a:noFill/>
        </p:spPr>
        <p:txBody>
          <a:bodyPr wrap="square">
            <a:spAutoFit/>
          </a:bodyPr>
          <a:lstStyle/>
          <a:p>
            <a:pPr algn="l"/>
            <a:r>
              <a:rPr sz="900" b="0" i="0">
                <a:solidFill>
                  <a:srgbClr val="A0AAB8"/>
                </a:solidFill>
                <a:latin typeface="Calibri"/>
              </a:rPr>
              <a:t>% of missions terminated before surface exhaustion</a:t>
            </a:r>
          </a:p>
        </p:txBody>
      </p:sp>
      <p:sp>
        <p:nvSpPr>
          <p:cNvPr id="49" name="Rectangle 48"/>
          <p:cNvSpPr/>
          <p:nvPr/>
        </p:nvSpPr>
        <p:spPr>
          <a:xfrm>
            <a:off x="6272784" y="2724912"/>
            <a:ext cx="5626303" cy="310896"/>
          </a:xfrm>
          <a:prstGeom prst="rect">
            <a:avLst/>
          </a:prstGeom>
          <a:solidFill>
            <a:srgbClr val="061C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45936" y="2761488"/>
            <a:ext cx="1691640" cy="228600"/>
          </a:xfrm>
          <a:prstGeom prst="rect">
            <a:avLst/>
          </a:prstGeom>
          <a:noFill/>
        </p:spPr>
        <p:txBody>
          <a:bodyPr wrap="square">
            <a:spAutoFit/>
          </a:bodyPr>
          <a:lstStyle/>
          <a:p>
            <a:pPr algn="l"/>
            <a:r>
              <a:rPr sz="900" b="1" i="0">
                <a:solidFill>
                  <a:srgbClr val="39FF14"/>
                </a:solidFill>
                <a:latin typeface="Calibri"/>
              </a:rPr>
              <a:t>Tool Call Efficiency</a:t>
            </a:r>
          </a:p>
        </p:txBody>
      </p:sp>
      <p:sp>
        <p:nvSpPr>
          <p:cNvPr id="51" name="TextBox 50"/>
          <p:cNvSpPr txBox="1"/>
          <p:nvPr/>
        </p:nvSpPr>
        <p:spPr>
          <a:xfrm>
            <a:off x="8083296" y="2761488"/>
            <a:ext cx="3797503" cy="228600"/>
          </a:xfrm>
          <a:prstGeom prst="rect">
            <a:avLst/>
          </a:prstGeom>
          <a:noFill/>
        </p:spPr>
        <p:txBody>
          <a:bodyPr wrap="square">
            <a:spAutoFit/>
          </a:bodyPr>
          <a:lstStyle/>
          <a:p>
            <a:pPr algn="l"/>
            <a:r>
              <a:rPr sz="900" b="0" i="0">
                <a:solidFill>
                  <a:srgbClr val="A0AAB8"/>
                </a:solidFill>
                <a:latin typeface="Calibri"/>
              </a:rPr>
              <a:t>Mean tool calls to first VALIDATED chain per target</a:t>
            </a:r>
          </a:p>
        </p:txBody>
      </p:sp>
      <p:sp>
        <p:nvSpPr>
          <p:cNvPr id="52" name="Rectangle 51"/>
          <p:cNvSpPr/>
          <p:nvPr/>
        </p:nvSpPr>
        <p:spPr>
          <a:xfrm>
            <a:off x="6181344" y="3182112"/>
            <a:ext cx="5809183" cy="1463040"/>
          </a:xfrm>
          <a:prstGeom prst="rect">
            <a:avLst/>
          </a:prstGeom>
          <a:solidFill>
            <a:srgbClr val="180808"/>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1344" y="3182112"/>
            <a:ext cx="5809183" cy="29260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81344" y="3218688"/>
            <a:ext cx="5809183" cy="246888"/>
          </a:xfrm>
          <a:prstGeom prst="rect">
            <a:avLst/>
          </a:prstGeom>
          <a:noFill/>
        </p:spPr>
        <p:txBody>
          <a:bodyPr wrap="square">
            <a:spAutoFit/>
          </a:bodyPr>
          <a:lstStyle/>
          <a:p>
            <a:pPr algn="l"/>
            <a:r>
              <a:rPr sz="1000" b="1" i="0">
                <a:solidFill>
                  <a:srgbClr val="FFFFFF"/>
                </a:solidFill>
                <a:latin typeface="Calibri"/>
              </a:rPr>
              <a:t>BASELINES</a:t>
            </a:r>
          </a:p>
        </p:txBody>
      </p:sp>
      <p:sp>
        <p:nvSpPr>
          <p:cNvPr id="55" name="TextBox 54"/>
          <p:cNvSpPr txBox="1"/>
          <p:nvPr/>
        </p:nvSpPr>
        <p:spPr>
          <a:xfrm>
            <a:off x="6327648" y="3529584"/>
            <a:ext cx="5553151" cy="228600"/>
          </a:xfrm>
          <a:prstGeom prst="rect">
            <a:avLst/>
          </a:prstGeom>
          <a:noFill/>
        </p:spPr>
        <p:txBody>
          <a:bodyPr wrap="square">
            <a:spAutoFit/>
          </a:bodyPr>
          <a:lstStyle/>
          <a:p>
            <a:pPr algn="l"/>
            <a:r>
              <a:rPr sz="900" b="0" i="0">
                <a:solidFill>
                  <a:srgbClr val="A0AAB8"/>
                </a:solidFill>
                <a:latin typeface="Calibri"/>
              </a:rPr>
              <a:t>✕  PentestGPT:  Task-tree memory, no ASG/APG graph split  →  tests RQ1</a:t>
            </a:r>
          </a:p>
        </p:txBody>
      </p:sp>
      <p:sp>
        <p:nvSpPr>
          <p:cNvPr id="56" name="TextBox 55"/>
          <p:cNvSpPr txBox="1"/>
          <p:nvPr/>
        </p:nvSpPr>
        <p:spPr>
          <a:xfrm>
            <a:off x="6327648" y="3895344"/>
            <a:ext cx="5553151" cy="228600"/>
          </a:xfrm>
          <a:prstGeom prst="rect">
            <a:avLst/>
          </a:prstGeom>
          <a:noFill/>
        </p:spPr>
        <p:txBody>
          <a:bodyPr wrap="square">
            <a:spAutoFit/>
          </a:bodyPr>
          <a:lstStyle/>
          <a:p>
            <a:pPr algn="l"/>
            <a:r>
              <a:rPr sz="900" b="0" i="0">
                <a:solidFill>
                  <a:srgbClr val="A0AAB8"/>
                </a:solidFill>
                <a:latin typeface="Calibri"/>
              </a:rPr>
              <a:t>✕  VulnBot:  Single unified PTG, no surface/path separation  →  tests RQ1</a:t>
            </a:r>
          </a:p>
        </p:txBody>
      </p:sp>
      <p:sp>
        <p:nvSpPr>
          <p:cNvPr id="57" name="TextBox 56"/>
          <p:cNvSpPr txBox="1"/>
          <p:nvPr/>
        </p:nvSpPr>
        <p:spPr>
          <a:xfrm>
            <a:off x="6327648" y="4261104"/>
            <a:ext cx="5553151" cy="228600"/>
          </a:xfrm>
          <a:prstGeom prst="rect">
            <a:avLst/>
          </a:prstGeom>
          <a:noFill/>
        </p:spPr>
        <p:txBody>
          <a:bodyPr wrap="square">
            <a:spAutoFit/>
          </a:bodyPr>
          <a:lstStyle/>
          <a:p>
            <a:pPr algn="l"/>
            <a:r>
              <a:rPr sz="900" b="0" i="0">
                <a:solidFill>
                  <a:srgbClr val="A0AAB8"/>
                </a:solidFill>
                <a:latin typeface="Calibri"/>
              </a:rPr>
              <a:t>✕  PentestAgent:  RAG-retrieval memory, no cross-mission learning  →  tests RQ3</a:t>
            </a:r>
          </a:p>
        </p:txBody>
      </p:sp>
      <p:sp>
        <p:nvSpPr>
          <p:cNvPr id="58" name="Rectangle 57"/>
          <p:cNvSpPr/>
          <p:nvPr/>
        </p:nvSpPr>
        <p:spPr>
          <a:xfrm>
            <a:off x="6181344" y="4736592"/>
            <a:ext cx="5809183" cy="1920240"/>
          </a:xfrm>
          <a:prstGeom prst="rect">
            <a:avLst/>
          </a:prstGeom>
          <a:solidFill>
            <a:srgbClr val="081022"/>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181344" y="4736592"/>
            <a:ext cx="5809183" cy="29260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81344" y="4773168"/>
            <a:ext cx="5809183" cy="246888"/>
          </a:xfrm>
          <a:prstGeom prst="rect">
            <a:avLst/>
          </a:prstGeom>
          <a:noFill/>
        </p:spPr>
        <p:txBody>
          <a:bodyPr wrap="square">
            <a:spAutoFit/>
          </a:bodyPr>
          <a:lstStyle/>
          <a:p>
            <a:pPr algn="l"/>
            <a:r>
              <a:rPr sz="1000" b="1" i="0">
                <a:solidFill>
                  <a:srgbClr val="0A0D1A"/>
                </a:solidFill>
                <a:latin typeface="Calibri"/>
              </a:rPr>
              <a:t>ABLATION STUDY</a:t>
            </a:r>
          </a:p>
        </p:txBody>
      </p:sp>
      <p:sp>
        <p:nvSpPr>
          <p:cNvPr id="61" name="Rectangle 60"/>
          <p:cNvSpPr/>
          <p:nvPr/>
        </p:nvSpPr>
        <p:spPr>
          <a:xfrm>
            <a:off x="6272784" y="5084064"/>
            <a:ext cx="5626303" cy="365760"/>
          </a:xfrm>
          <a:prstGeom prst="rect">
            <a:avLst/>
          </a:prstGeom>
          <a:solidFill>
            <a:srgbClr val="0C0E26"/>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345936" y="5138928"/>
            <a:ext cx="1463040" cy="228600"/>
          </a:xfrm>
          <a:prstGeom prst="rect">
            <a:avLst/>
          </a:prstGeom>
          <a:noFill/>
        </p:spPr>
        <p:txBody>
          <a:bodyPr wrap="square">
            <a:spAutoFit/>
          </a:bodyPr>
          <a:lstStyle/>
          <a:p>
            <a:pPr algn="l"/>
            <a:r>
              <a:rPr sz="900" b="1" i="0">
                <a:solidFill>
                  <a:srgbClr val="BD93F9"/>
                </a:solidFill>
                <a:latin typeface="Calibri"/>
              </a:rPr>
              <a:t>A1 — No dual-graph</a:t>
            </a:r>
          </a:p>
        </p:txBody>
      </p:sp>
      <p:sp>
        <p:nvSpPr>
          <p:cNvPr id="63" name="TextBox 62"/>
          <p:cNvSpPr txBox="1"/>
          <p:nvPr/>
        </p:nvSpPr>
        <p:spPr>
          <a:xfrm>
            <a:off x="7845552" y="5138928"/>
            <a:ext cx="3998671" cy="365760"/>
          </a:xfrm>
          <a:prstGeom prst="rect">
            <a:avLst/>
          </a:prstGeom>
          <a:noFill/>
        </p:spPr>
        <p:txBody>
          <a:bodyPr wrap="square">
            <a:spAutoFit/>
          </a:bodyPr>
          <a:lstStyle/>
          <a:p>
            <a:pPr algn="l"/>
            <a:r>
              <a:rPr sz="900" b="0" i="0">
                <a:solidFill>
                  <a:srgbClr val="A0AAB8"/>
                </a:solidFill>
                <a:latin typeface="Calibri"/>
              </a:rPr>
              <a:t>CMatrix with flat history only (remove ASG + APG)</a:t>
            </a:r>
          </a:p>
        </p:txBody>
      </p:sp>
      <p:sp>
        <p:nvSpPr>
          <p:cNvPr id="64" name="Rectangle 63"/>
          <p:cNvSpPr/>
          <p:nvPr/>
        </p:nvSpPr>
        <p:spPr>
          <a:xfrm>
            <a:off x="6272784" y="5504688"/>
            <a:ext cx="5626303" cy="365760"/>
          </a:xfrm>
          <a:prstGeom prst="rect">
            <a:avLst/>
          </a:prstGeom>
          <a:solidFill>
            <a:srgbClr val="0C0E26"/>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45936" y="5559552"/>
            <a:ext cx="1463040" cy="228600"/>
          </a:xfrm>
          <a:prstGeom prst="rect">
            <a:avLst/>
          </a:prstGeom>
          <a:noFill/>
        </p:spPr>
        <p:txBody>
          <a:bodyPr wrap="square">
            <a:spAutoFit/>
          </a:bodyPr>
          <a:lstStyle/>
          <a:p>
            <a:pPr algn="l"/>
            <a:r>
              <a:rPr sz="900" b="1" i="0">
                <a:solidFill>
                  <a:srgbClr val="BD93F9"/>
                </a:solidFill>
                <a:latin typeface="Calibri"/>
              </a:rPr>
              <a:t>A2 — ASG only</a:t>
            </a:r>
          </a:p>
        </p:txBody>
      </p:sp>
      <p:sp>
        <p:nvSpPr>
          <p:cNvPr id="66" name="TextBox 65"/>
          <p:cNvSpPr txBox="1"/>
          <p:nvPr/>
        </p:nvSpPr>
        <p:spPr>
          <a:xfrm>
            <a:off x="7845552" y="5559552"/>
            <a:ext cx="3998671" cy="365760"/>
          </a:xfrm>
          <a:prstGeom prst="rect">
            <a:avLst/>
          </a:prstGeom>
          <a:noFill/>
        </p:spPr>
        <p:txBody>
          <a:bodyPr wrap="square">
            <a:spAutoFit/>
          </a:bodyPr>
          <a:lstStyle/>
          <a:p>
            <a:pPr algn="l"/>
            <a:r>
              <a:rPr sz="900" b="0" i="0">
                <a:solidFill>
                  <a:srgbClr val="A0AAB8"/>
                </a:solidFill>
                <a:latin typeface="Calibri"/>
              </a:rPr>
              <a:t>CMatrix with ASG discovery but no APG reasoning</a:t>
            </a:r>
          </a:p>
        </p:txBody>
      </p:sp>
      <p:sp>
        <p:nvSpPr>
          <p:cNvPr id="67" name="Rectangle 66"/>
          <p:cNvSpPr/>
          <p:nvPr/>
        </p:nvSpPr>
        <p:spPr>
          <a:xfrm>
            <a:off x="6272784" y="5925312"/>
            <a:ext cx="5626303" cy="365760"/>
          </a:xfrm>
          <a:prstGeom prst="rect">
            <a:avLst/>
          </a:prstGeom>
          <a:solidFill>
            <a:srgbClr val="0C0E26"/>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45936" y="5980176"/>
            <a:ext cx="1463040" cy="228600"/>
          </a:xfrm>
          <a:prstGeom prst="rect">
            <a:avLst/>
          </a:prstGeom>
          <a:noFill/>
        </p:spPr>
        <p:txBody>
          <a:bodyPr wrap="square">
            <a:spAutoFit/>
          </a:bodyPr>
          <a:lstStyle/>
          <a:p>
            <a:pPr algn="l"/>
            <a:r>
              <a:rPr sz="900" b="1" i="0">
                <a:solidFill>
                  <a:srgbClr val="BD93F9"/>
                </a:solidFill>
                <a:latin typeface="Calibri"/>
              </a:rPr>
              <a:t>A3 — No compaction</a:t>
            </a:r>
          </a:p>
        </p:txBody>
      </p:sp>
      <p:sp>
        <p:nvSpPr>
          <p:cNvPr id="69" name="TextBox 68"/>
          <p:cNvSpPr txBox="1"/>
          <p:nvPr/>
        </p:nvSpPr>
        <p:spPr>
          <a:xfrm>
            <a:off x="7845552" y="5980176"/>
            <a:ext cx="3998671" cy="365760"/>
          </a:xfrm>
          <a:prstGeom prst="rect">
            <a:avLst/>
          </a:prstGeom>
          <a:noFill/>
        </p:spPr>
        <p:txBody>
          <a:bodyPr wrap="square">
            <a:spAutoFit/>
          </a:bodyPr>
          <a:lstStyle/>
          <a:p>
            <a:pPr algn="l"/>
            <a:r>
              <a:rPr sz="900" b="0" i="0">
                <a:solidFill>
                  <a:srgbClr val="A0AAB8"/>
                </a:solidFill>
                <a:latin typeface="Calibri"/>
              </a:rPr>
              <a:t>CMatrix with unlimited raw history, no lossless context compaction</a:t>
            </a:r>
          </a:p>
        </p:txBody>
      </p:sp>
      <p:sp>
        <p:nvSpPr>
          <p:cNvPr id="70" name="Rectangle 69"/>
          <p:cNvSpPr/>
          <p:nvPr/>
        </p:nvSpPr>
        <p:spPr>
          <a:xfrm>
            <a:off x="6272784" y="6217920"/>
            <a:ext cx="5626303" cy="365760"/>
          </a:xfrm>
          <a:prstGeom prst="rect">
            <a:avLst/>
          </a:prstGeom>
          <a:solidFill>
            <a:srgbClr val="0C0E26"/>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45936" y="6272784"/>
            <a:ext cx="1463040" cy="228600"/>
          </a:xfrm>
          <a:prstGeom prst="rect">
            <a:avLst/>
          </a:prstGeom>
          <a:noFill/>
        </p:spPr>
        <p:txBody>
          <a:bodyPr wrap="square">
            <a:spAutoFit/>
          </a:bodyPr>
          <a:lstStyle/>
          <a:p>
            <a:pPr algn="l"/>
            <a:r>
              <a:rPr sz="900" b="1" i="0">
                <a:solidFill>
                  <a:srgbClr val="BD93F9"/>
                </a:solidFill>
                <a:latin typeface="Calibri"/>
              </a:rPr>
              <a:t>A4 — No learning</a:t>
            </a:r>
          </a:p>
        </p:txBody>
      </p:sp>
      <p:sp>
        <p:nvSpPr>
          <p:cNvPr id="72" name="TextBox 71"/>
          <p:cNvSpPr txBox="1"/>
          <p:nvPr/>
        </p:nvSpPr>
        <p:spPr>
          <a:xfrm>
            <a:off x="7845552" y="6272784"/>
            <a:ext cx="3998671" cy="365760"/>
          </a:xfrm>
          <a:prstGeom prst="rect">
            <a:avLst/>
          </a:prstGeom>
          <a:noFill/>
        </p:spPr>
        <p:txBody>
          <a:bodyPr wrap="square">
            <a:spAutoFit/>
          </a:bodyPr>
          <a:lstStyle/>
          <a:p>
            <a:pPr algn="l"/>
            <a:r>
              <a:rPr sz="900" b="0" i="0">
                <a:solidFill>
                  <a:srgbClr val="A0AAB8"/>
                </a:solidFill>
                <a:latin typeface="Calibri"/>
              </a:rPr>
              <a:t>CMatrix without cross-mission experience and attack strategy library</a:t>
            </a:r>
          </a:p>
        </p:txBody>
      </p:sp>
      <p:sp>
        <p:nvSpPr>
          <p:cNvPr id="73" name="TextBox 72"/>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73152"/>
            <a:ext cx="4572000" cy="237744"/>
          </a:xfrm>
          <a:prstGeom prst="rect">
            <a:avLst/>
          </a:prstGeom>
          <a:noFill/>
        </p:spPr>
        <p:txBody>
          <a:bodyPr wrap="square">
            <a:spAutoFit/>
          </a:bodyPr>
          <a:lstStyle/>
          <a:p>
            <a:pPr algn="l"/>
            <a:r>
              <a:rPr sz="1000" b="1" i="0">
                <a:solidFill>
                  <a:srgbClr val="00E5FF"/>
                </a:solidFill>
                <a:latin typeface="Calibri"/>
              </a:rPr>
              <a:t>SUMMARY</a:t>
            </a:r>
          </a:p>
        </p:txBody>
      </p:sp>
      <p:sp>
        <p:nvSpPr>
          <p:cNvPr id="6" name="TextBox 5"/>
          <p:cNvSpPr txBox="1"/>
          <p:nvPr/>
        </p:nvSpPr>
        <p:spPr>
          <a:xfrm>
            <a:off x="274320" y="310896"/>
            <a:ext cx="11430000" cy="475488"/>
          </a:xfrm>
          <a:prstGeom prst="rect">
            <a:avLst/>
          </a:prstGeom>
          <a:noFill/>
        </p:spPr>
        <p:txBody>
          <a:bodyPr wrap="square">
            <a:spAutoFit/>
          </a:bodyPr>
          <a:lstStyle/>
          <a:p>
            <a:pPr algn="l"/>
            <a:r>
              <a:rPr sz="2800" b="1" i="0">
                <a:solidFill>
                  <a:srgbClr val="FFFFFF"/>
                </a:solidFill>
                <a:latin typeface="Calibri"/>
              </a:rPr>
              <a:t>CMatrix — What We Built, What We Claim, What We Need</a:t>
            </a:r>
          </a:p>
        </p:txBody>
      </p:sp>
      <p:sp>
        <p:nvSpPr>
          <p:cNvPr id="7" name="Rectangle 6"/>
          <p:cNvSpPr/>
          <p:nvPr/>
        </p:nvSpPr>
        <p:spPr>
          <a:xfrm>
            <a:off x="274320" y="841248"/>
            <a:ext cx="10058400" cy="27432"/>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987552"/>
            <a:ext cx="5029200" cy="1508760"/>
          </a:xfrm>
          <a:prstGeom prst="rect">
            <a:avLst/>
          </a:prstGeom>
          <a:solidFill>
            <a:srgbClr val="041222"/>
          </a:solidFill>
          <a:ln w="203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1042416"/>
            <a:ext cx="4846320" cy="201168"/>
          </a:xfrm>
          <a:prstGeom prst="rect">
            <a:avLst/>
          </a:prstGeom>
          <a:noFill/>
        </p:spPr>
        <p:txBody>
          <a:bodyPr wrap="square">
            <a:spAutoFit/>
          </a:bodyPr>
          <a:lstStyle/>
          <a:p>
            <a:pPr algn="l"/>
            <a:r>
              <a:rPr sz="1000" b="1" i="0">
                <a:solidFill>
                  <a:srgbClr val="00E5FF"/>
                </a:solidFill>
                <a:latin typeface="Calibri"/>
              </a:rPr>
              <a:t>WHAT CMATRIX IS</a:t>
            </a:r>
          </a:p>
        </p:txBody>
      </p:sp>
      <p:sp>
        <p:nvSpPr>
          <p:cNvPr id="10" name="TextBox 9"/>
          <p:cNvSpPr txBox="1"/>
          <p:nvPr/>
        </p:nvSpPr>
        <p:spPr>
          <a:xfrm>
            <a:off x="402336" y="1298448"/>
            <a:ext cx="4809744" cy="1152144"/>
          </a:xfrm>
          <a:prstGeom prst="rect">
            <a:avLst/>
          </a:prstGeom>
          <a:noFill/>
        </p:spPr>
        <p:txBody>
          <a:bodyPr wrap="square">
            <a:spAutoFit/>
          </a:bodyPr>
          <a:lstStyle/>
          <a:p>
            <a:pPr algn="l"/>
            <a:r>
              <a:rPr sz="1050" b="0" i="0">
                <a:solidFill>
                  <a:srgbClr val="A0AAB8"/>
                </a:solidFill>
                <a:latin typeface="Calibri"/>
              </a:rPr>
              <a:t>A dual-graph-guided, LLM-orchestrated multi-agent framework for autonomous Vulnerability Assessment and Penetration Testing.  It maintains two strictly separated graph structures — the ASG (what the target is) and the APG (what can be done to it) — and uses both to plan, dispatch, validate, and formally terminate a complete VAPT engagement without human intervention.</a:t>
            </a:r>
          </a:p>
        </p:txBody>
      </p:sp>
      <p:sp>
        <p:nvSpPr>
          <p:cNvPr id="11" name="Rectangle 10"/>
          <p:cNvSpPr/>
          <p:nvPr/>
        </p:nvSpPr>
        <p:spPr>
          <a:xfrm>
            <a:off x="274320" y="2615184"/>
            <a:ext cx="5029200" cy="4105656"/>
          </a:xfrm>
          <a:prstGeom prst="rect">
            <a:avLst/>
          </a:prstGeom>
          <a:solidFill>
            <a:srgbClr val="04180C"/>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048" y="2670048"/>
            <a:ext cx="4846320" cy="201168"/>
          </a:xfrm>
          <a:prstGeom prst="rect">
            <a:avLst/>
          </a:prstGeom>
          <a:noFill/>
        </p:spPr>
        <p:txBody>
          <a:bodyPr wrap="square">
            <a:spAutoFit/>
          </a:bodyPr>
          <a:lstStyle/>
          <a:p>
            <a:pPr algn="l"/>
            <a:r>
              <a:rPr sz="1000" b="1" i="0">
                <a:solidFill>
                  <a:srgbClr val="39FF14"/>
                </a:solidFill>
                <a:latin typeface="Calibri"/>
              </a:rPr>
              <a:t>CURRENT STATUS</a:t>
            </a:r>
          </a:p>
        </p:txBody>
      </p:sp>
      <p:sp>
        <p:nvSpPr>
          <p:cNvPr id="13" name="TextBox 12"/>
          <p:cNvSpPr txBox="1"/>
          <p:nvPr/>
        </p:nvSpPr>
        <p:spPr>
          <a:xfrm>
            <a:off x="402336" y="2926080"/>
            <a:ext cx="4809744" cy="292608"/>
          </a:xfrm>
          <a:prstGeom prst="rect">
            <a:avLst/>
          </a:prstGeom>
          <a:noFill/>
        </p:spPr>
        <p:txBody>
          <a:bodyPr wrap="square">
            <a:spAutoFit/>
          </a:bodyPr>
          <a:lstStyle/>
          <a:p>
            <a:pPr algn="l"/>
            <a:r>
              <a:rPr sz="1050" b="1" i="0">
                <a:solidFill>
                  <a:srgbClr val="FFFFFF"/>
                </a:solidFill>
                <a:latin typeface="Calibri"/>
              </a:rPr>
              <a:t>We are currently in the architecture proposal phase, prior to implementation.</a:t>
            </a:r>
          </a:p>
        </p:txBody>
      </p:sp>
      <p:sp>
        <p:nvSpPr>
          <p:cNvPr id="14" name="TextBox 13"/>
          <p:cNvSpPr txBox="1"/>
          <p:nvPr/>
        </p:nvSpPr>
        <p:spPr>
          <a:xfrm>
            <a:off x="402336" y="3291840"/>
            <a:ext cx="4809744" cy="310896"/>
          </a:xfrm>
          <a:prstGeom prst="rect">
            <a:avLst/>
          </a:prstGeom>
          <a:noFill/>
        </p:spPr>
        <p:txBody>
          <a:bodyPr wrap="square">
            <a:spAutoFit/>
          </a:bodyPr>
          <a:lstStyle/>
          <a:p>
            <a:pPr algn="l"/>
            <a:r>
              <a:rPr sz="900" b="0" i="0">
                <a:solidFill>
                  <a:srgbClr val="A0AAB8"/>
                </a:solidFill>
                <a:latin typeface="Calibri"/>
              </a:rPr>
              <a:t>→  All 12 contributions are fully specified at the architecture level - no implementation has begun.</a:t>
            </a:r>
          </a:p>
        </p:txBody>
      </p:sp>
      <p:sp>
        <p:nvSpPr>
          <p:cNvPr id="15" name="TextBox 14"/>
          <p:cNvSpPr txBox="1"/>
          <p:nvPr/>
        </p:nvSpPr>
        <p:spPr>
          <a:xfrm>
            <a:off x="402336" y="3639312"/>
            <a:ext cx="4809744" cy="310896"/>
          </a:xfrm>
          <a:prstGeom prst="rect">
            <a:avLst/>
          </a:prstGeom>
          <a:noFill/>
        </p:spPr>
        <p:txBody>
          <a:bodyPr wrap="square">
            <a:spAutoFit/>
          </a:bodyPr>
          <a:lstStyle/>
          <a:p>
            <a:pPr algn="l"/>
            <a:r>
              <a:rPr sz="900" b="0" i="0">
                <a:solidFill>
                  <a:srgbClr val="A0AAB8"/>
                </a:solidFill>
                <a:latin typeface="Calibri"/>
              </a:rPr>
              <a:t>→  Some contributions are more load-bearing than others - prioritization hasn't been finalized.</a:t>
            </a:r>
          </a:p>
        </p:txBody>
      </p:sp>
      <p:sp>
        <p:nvSpPr>
          <p:cNvPr id="16" name="TextBox 15"/>
          <p:cNvSpPr txBox="1"/>
          <p:nvPr/>
        </p:nvSpPr>
        <p:spPr>
          <a:xfrm>
            <a:off x="402336" y="3986784"/>
            <a:ext cx="4809744" cy="310896"/>
          </a:xfrm>
          <a:prstGeom prst="rect">
            <a:avLst/>
          </a:prstGeom>
          <a:noFill/>
        </p:spPr>
        <p:txBody>
          <a:bodyPr wrap="square">
            <a:spAutoFit/>
          </a:bodyPr>
          <a:lstStyle/>
          <a:p>
            <a:pPr algn="l"/>
            <a:r>
              <a:rPr sz="900" b="0" i="0">
                <a:solidFill>
                  <a:srgbClr val="A0AAB8"/>
                </a:solidFill>
                <a:latin typeface="Calibri"/>
              </a:rPr>
              <a:t>→  HTB/THM evaluation plan is outlined but not yet run.</a:t>
            </a:r>
          </a:p>
        </p:txBody>
      </p:sp>
      <p:sp>
        <p:nvSpPr>
          <p:cNvPr id="17" name="TextBox 16"/>
          <p:cNvSpPr txBox="1"/>
          <p:nvPr/>
        </p:nvSpPr>
        <p:spPr>
          <a:xfrm>
            <a:off x="402336" y="4334256"/>
            <a:ext cx="4809744" cy="310896"/>
          </a:xfrm>
          <a:prstGeom prst="rect">
            <a:avLst/>
          </a:prstGeom>
          <a:noFill/>
        </p:spPr>
        <p:txBody>
          <a:bodyPr wrap="square">
            <a:spAutoFit/>
          </a:bodyPr>
          <a:lstStyle/>
          <a:p>
            <a:pPr algn="l"/>
            <a:r>
              <a:rPr sz="900" b="0" i="0">
                <a:solidFill>
                  <a:srgbClr val="A0AAB8"/>
                </a:solidFill>
                <a:latin typeface="Calibri"/>
              </a:rPr>
              <a:t>→  This meeting is seeking scope and direction sign-off before implementation work starts.</a:t>
            </a:r>
          </a:p>
        </p:txBody>
      </p:sp>
      <p:sp>
        <p:nvSpPr>
          <p:cNvPr id="18" name="Rectangle 17"/>
          <p:cNvSpPr/>
          <p:nvPr/>
        </p:nvSpPr>
        <p:spPr>
          <a:xfrm>
            <a:off x="402336" y="5559552"/>
            <a:ext cx="2331720" cy="1097280"/>
          </a:xfrm>
          <a:prstGeom prst="rect">
            <a:avLst/>
          </a:prstGeom>
          <a:solidFill>
            <a:srgbClr val="062210"/>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5614416"/>
            <a:ext cx="2148840" cy="548640"/>
          </a:xfrm>
          <a:prstGeom prst="rect">
            <a:avLst/>
          </a:prstGeom>
          <a:noFill/>
        </p:spPr>
        <p:txBody>
          <a:bodyPr wrap="square">
            <a:spAutoFit/>
          </a:bodyPr>
          <a:lstStyle/>
          <a:p>
            <a:pPr algn="ctr"/>
            <a:r>
              <a:rPr sz="3200" b="1" i="0">
                <a:solidFill>
                  <a:srgbClr val="39FF14"/>
                </a:solidFill>
                <a:latin typeface="Calibri"/>
              </a:rPr>
              <a:t>12 / 12</a:t>
            </a:r>
          </a:p>
        </p:txBody>
      </p:sp>
      <p:sp>
        <p:nvSpPr>
          <p:cNvPr id="20" name="TextBox 19"/>
          <p:cNvSpPr txBox="1"/>
          <p:nvPr/>
        </p:nvSpPr>
        <p:spPr>
          <a:xfrm>
            <a:off x="493776" y="6217920"/>
            <a:ext cx="2148840" cy="274320"/>
          </a:xfrm>
          <a:prstGeom prst="rect">
            <a:avLst/>
          </a:prstGeom>
          <a:noFill/>
        </p:spPr>
        <p:txBody>
          <a:bodyPr wrap="square">
            <a:spAutoFit/>
          </a:bodyPr>
          <a:lstStyle/>
          <a:p>
            <a:pPr algn="ctr"/>
            <a:r>
              <a:rPr sz="900" b="0" i="0">
                <a:solidFill>
                  <a:srgbClr val="A0AAB8"/>
                </a:solidFill>
                <a:latin typeface="Calibri"/>
              </a:rPr>
              <a:t>Contributions specified</a:t>
            </a:r>
          </a:p>
        </p:txBody>
      </p:sp>
      <p:sp>
        <p:nvSpPr>
          <p:cNvPr id="21" name="Rectangle 20"/>
          <p:cNvSpPr/>
          <p:nvPr/>
        </p:nvSpPr>
        <p:spPr>
          <a:xfrm>
            <a:off x="2798064" y="5559552"/>
            <a:ext cx="2331720" cy="1097280"/>
          </a:xfrm>
          <a:prstGeom prst="rect">
            <a:avLst/>
          </a:prstGeom>
          <a:solidFill>
            <a:srgbClr val="141414"/>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89504" y="5614416"/>
            <a:ext cx="2148840" cy="548640"/>
          </a:xfrm>
          <a:prstGeom prst="rect">
            <a:avLst/>
          </a:prstGeom>
          <a:noFill/>
        </p:spPr>
        <p:txBody>
          <a:bodyPr wrap="square">
            <a:spAutoFit/>
          </a:bodyPr>
          <a:lstStyle/>
          <a:p>
            <a:pPr algn="ctr"/>
            <a:r>
              <a:rPr sz="3200" b="1" i="0">
                <a:solidFill>
                  <a:srgbClr val="8A8A8A"/>
                </a:solidFill>
                <a:latin typeface="Calibri"/>
              </a:rPr>
              <a:t>0 / 12</a:t>
            </a:r>
          </a:p>
        </p:txBody>
      </p:sp>
      <p:sp>
        <p:nvSpPr>
          <p:cNvPr id="23" name="TextBox 22"/>
          <p:cNvSpPr txBox="1"/>
          <p:nvPr/>
        </p:nvSpPr>
        <p:spPr>
          <a:xfrm>
            <a:off x="2889504" y="6217920"/>
            <a:ext cx="2148840" cy="274320"/>
          </a:xfrm>
          <a:prstGeom prst="rect">
            <a:avLst/>
          </a:prstGeom>
          <a:noFill/>
        </p:spPr>
        <p:txBody>
          <a:bodyPr wrap="square">
            <a:spAutoFit/>
          </a:bodyPr>
          <a:lstStyle/>
          <a:p>
            <a:pPr algn="ctr"/>
            <a:r>
              <a:rPr sz="900" b="0" i="0">
                <a:solidFill>
                  <a:srgbClr val="A0AAB8"/>
                </a:solidFill>
                <a:latin typeface="Calibri"/>
              </a:rPr>
              <a:t>Contributions implemented</a:t>
            </a:r>
          </a:p>
        </p:txBody>
      </p:sp>
      <p:sp>
        <p:nvSpPr>
          <p:cNvPr id="24" name="Rectangle 23"/>
          <p:cNvSpPr/>
          <p:nvPr/>
        </p:nvSpPr>
        <p:spPr>
          <a:xfrm>
            <a:off x="5504688" y="987552"/>
            <a:ext cx="6485839" cy="2779776"/>
          </a:xfrm>
          <a:prstGeom prst="rect">
            <a:avLst/>
          </a:prstGeom>
          <a:solidFill>
            <a:srgbClr val="1612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1042416"/>
            <a:ext cx="6302959" cy="201168"/>
          </a:xfrm>
          <a:prstGeom prst="rect">
            <a:avLst/>
          </a:prstGeom>
          <a:noFill/>
        </p:spPr>
        <p:txBody>
          <a:bodyPr wrap="square">
            <a:spAutoFit/>
          </a:bodyPr>
          <a:lstStyle/>
          <a:p>
            <a:pPr algn="l"/>
            <a:r>
              <a:rPr sz="1000" b="1" i="0">
                <a:solidFill>
                  <a:srgbClr val="FFD700"/>
                </a:solidFill>
                <a:latin typeface="Calibri"/>
              </a:rPr>
              <a:t>WHAT WE CLAIM</a:t>
            </a:r>
          </a:p>
        </p:txBody>
      </p:sp>
      <p:sp>
        <p:nvSpPr>
          <p:cNvPr id="26" name="Rectangle 25"/>
          <p:cNvSpPr/>
          <p:nvPr/>
        </p:nvSpPr>
        <p:spPr>
          <a:xfrm>
            <a:off x="5596128" y="1298448"/>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1335024"/>
            <a:ext cx="6211519" cy="457200"/>
          </a:xfrm>
          <a:prstGeom prst="rect">
            <a:avLst/>
          </a:prstGeom>
          <a:noFill/>
        </p:spPr>
        <p:txBody>
          <a:bodyPr wrap="square">
            <a:spAutoFit/>
          </a:bodyPr>
          <a:lstStyle/>
          <a:p>
            <a:pPr algn="l"/>
            <a:r>
              <a:rPr sz="900" b="0" i="0">
                <a:solidFill>
                  <a:srgbClr val="A0AAB8"/>
                </a:solidFill>
                <a:latin typeface="Calibri"/>
              </a:rPr>
              <a:t>→  CMatrix is the first autonomous VAPT system to maintain two strictly separated, 
      continuously evolving graph structures for simultaneous discovery and attack reasoning.</a:t>
            </a:r>
          </a:p>
        </p:txBody>
      </p:sp>
      <p:sp>
        <p:nvSpPr>
          <p:cNvPr id="28" name="Rectangle 27"/>
          <p:cNvSpPr/>
          <p:nvPr/>
        </p:nvSpPr>
        <p:spPr>
          <a:xfrm>
            <a:off x="5596128" y="1883664"/>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0" y="1920240"/>
            <a:ext cx="6211519" cy="457200"/>
          </a:xfrm>
          <a:prstGeom prst="rect">
            <a:avLst/>
          </a:prstGeom>
          <a:noFill/>
        </p:spPr>
        <p:txBody>
          <a:bodyPr wrap="square">
            <a:spAutoFit/>
          </a:bodyPr>
          <a:lstStyle/>
          <a:p>
            <a:pPr algn="l"/>
            <a:r>
              <a:rPr sz="900" b="0" i="0">
                <a:solidFill>
                  <a:srgbClr val="A0AAB8"/>
                </a:solidFill>
                <a:latin typeface="Calibri"/>
              </a:rPr>
              <a:t>→  Formal dual termination provides a theoretically sound, verifiable completion criterion that prior systems cannot express.</a:t>
            </a:r>
          </a:p>
        </p:txBody>
      </p:sp>
      <p:sp>
        <p:nvSpPr>
          <p:cNvPr id="30" name="Rectangle 29"/>
          <p:cNvSpPr/>
          <p:nvPr/>
        </p:nvSpPr>
        <p:spPr>
          <a:xfrm>
            <a:off x="5596128" y="2468880"/>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0" y="2505456"/>
            <a:ext cx="6211519" cy="457200"/>
          </a:xfrm>
          <a:prstGeom prst="rect">
            <a:avLst/>
          </a:prstGeom>
          <a:noFill/>
        </p:spPr>
        <p:txBody>
          <a:bodyPr wrap="square">
            <a:spAutoFit/>
          </a:bodyPr>
          <a:lstStyle/>
          <a:p>
            <a:pPr algn="l"/>
            <a:r>
              <a:rPr sz="900" b="0" i="0">
                <a:solidFill>
                  <a:srgbClr val="A0AAB8"/>
                </a:solidFill>
                <a:latin typeface="Calibri"/>
              </a:rPr>
              <a:t>→  Cross-mission learning accumulates validated exploitation outcomes across all missions — 
      a capability no prior published VAPT system demonstrates.</a:t>
            </a:r>
          </a:p>
        </p:txBody>
      </p:sp>
      <p:sp>
        <p:nvSpPr>
          <p:cNvPr id="32" name="Rectangle 31"/>
          <p:cNvSpPr/>
          <p:nvPr/>
        </p:nvSpPr>
        <p:spPr>
          <a:xfrm>
            <a:off x="5596128" y="3054096"/>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0" y="3090672"/>
            <a:ext cx="6211519" cy="457200"/>
          </a:xfrm>
          <a:prstGeom prst="rect">
            <a:avLst/>
          </a:prstGeom>
          <a:noFill/>
        </p:spPr>
        <p:txBody>
          <a:bodyPr wrap="square">
            <a:spAutoFit/>
          </a:bodyPr>
          <a:lstStyle/>
          <a:p>
            <a:pPr algn="l"/>
            <a:r>
              <a:rPr sz="900" b="0" i="0">
                <a:solidFill>
                  <a:srgbClr val="A0AAB8"/>
                </a:solidFill>
                <a:latin typeface="Calibri"/>
              </a:rPr>
              <a:t>→  The architecture produces a machine-readable decision trace usable for training security-specialized LLMs.</a:t>
            </a:r>
          </a:p>
        </p:txBody>
      </p:sp>
      <p:sp>
        <p:nvSpPr>
          <p:cNvPr id="34" name="Rectangle 33"/>
          <p:cNvSpPr/>
          <p:nvPr/>
        </p:nvSpPr>
        <p:spPr>
          <a:xfrm>
            <a:off x="5504688" y="3877056"/>
            <a:ext cx="6485839" cy="2834640"/>
          </a:xfrm>
          <a:prstGeom prst="rect">
            <a:avLst/>
          </a:prstGeom>
          <a:solidFill>
            <a:srgbClr val="041410"/>
          </a:solidFill>
          <a:ln w="203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4688" y="3877056"/>
            <a:ext cx="6485839" cy="292608"/>
          </a:xfrm>
          <a:prstGeom prst="rect">
            <a:avLst/>
          </a:prstGeom>
          <a:solidFill>
            <a:srgbClr val="0A0D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14416" y="3913632"/>
            <a:ext cx="6302959" cy="237744"/>
          </a:xfrm>
          <a:prstGeom prst="rect">
            <a:avLst/>
          </a:prstGeom>
          <a:noFill/>
        </p:spPr>
        <p:txBody>
          <a:bodyPr wrap="square">
            <a:spAutoFit/>
          </a:bodyPr>
          <a:lstStyle/>
          <a:p>
            <a:pPr algn="l"/>
            <a:r>
              <a:rPr sz="1000" b="1" i="0">
                <a:solidFill>
                  <a:srgbClr val="0A0D1A"/>
                </a:solidFill>
                <a:latin typeface="Calibri"/>
              </a:rPr>
              <a:t>WHAT WE ARE ASKING FOR</a:t>
            </a:r>
          </a:p>
        </p:txBody>
      </p:sp>
      <p:sp>
        <p:nvSpPr>
          <p:cNvPr id="37" name="Rectangle 36"/>
          <p:cNvSpPr/>
          <p:nvPr/>
        </p:nvSpPr>
        <p:spPr>
          <a:xfrm>
            <a:off x="5596128" y="4224528"/>
            <a:ext cx="6302959" cy="566928"/>
          </a:xfrm>
          <a:prstGeom prst="rect">
            <a:avLst/>
          </a:prstGeom>
          <a:solidFill>
            <a:srgbClr val="061C16"/>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87568" y="4261104"/>
            <a:ext cx="6193231" cy="201168"/>
          </a:xfrm>
          <a:prstGeom prst="rect">
            <a:avLst/>
          </a:prstGeom>
          <a:noFill/>
        </p:spPr>
        <p:txBody>
          <a:bodyPr wrap="square">
            <a:spAutoFit/>
          </a:bodyPr>
          <a:lstStyle/>
          <a:p>
            <a:pPr algn="l"/>
            <a:r>
              <a:rPr sz="1000" b="1" i="0">
                <a:solidFill>
                  <a:srgbClr val="00E5FF"/>
                </a:solidFill>
                <a:latin typeface="Calibri"/>
              </a:rPr>
              <a:t>Feedback on Scope</a:t>
            </a:r>
          </a:p>
        </p:txBody>
      </p:sp>
      <p:sp>
        <p:nvSpPr>
          <p:cNvPr id="39" name="TextBox 38"/>
          <p:cNvSpPr txBox="1"/>
          <p:nvPr/>
        </p:nvSpPr>
        <p:spPr>
          <a:xfrm>
            <a:off x="5687568" y="4480560"/>
            <a:ext cx="6193231" cy="274320"/>
          </a:xfrm>
          <a:prstGeom prst="rect">
            <a:avLst/>
          </a:prstGeom>
          <a:noFill/>
        </p:spPr>
        <p:txBody>
          <a:bodyPr wrap="square">
            <a:spAutoFit/>
          </a:bodyPr>
          <a:lstStyle/>
          <a:p>
            <a:pPr algn="l"/>
            <a:r>
              <a:rPr sz="900" b="0" i="0">
                <a:solidFill>
                  <a:srgbClr val="A0AAB8"/>
                </a:solidFill>
                <a:latin typeface="Calibri"/>
              </a:rPr>
              <a:t>Are the 12 contributions appropriately scoped for our thesis?</a:t>
            </a:r>
          </a:p>
        </p:txBody>
      </p:sp>
      <p:sp>
        <p:nvSpPr>
          <p:cNvPr id="40" name="Rectangle 39"/>
          <p:cNvSpPr/>
          <p:nvPr/>
        </p:nvSpPr>
        <p:spPr>
          <a:xfrm>
            <a:off x="5596128" y="4846320"/>
            <a:ext cx="6302959" cy="566928"/>
          </a:xfrm>
          <a:prstGeom prst="rect">
            <a:avLst/>
          </a:prstGeom>
          <a:solidFill>
            <a:srgbClr val="061C16"/>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87568" y="4882896"/>
            <a:ext cx="6193231" cy="201168"/>
          </a:xfrm>
          <a:prstGeom prst="rect">
            <a:avLst/>
          </a:prstGeom>
          <a:noFill/>
        </p:spPr>
        <p:txBody>
          <a:bodyPr wrap="square">
            <a:spAutoFit/>
          </a:bodyPr>
          <a:lstStyle/>
          <a:p>
            <a:pPr algn="l"/>
            <a:r>
              <a:rPr sz="1000" b="1" i="0">
                <a:solidFill>
                  <a:srgbClr val="00E5FF"/>
                </a:solidFill>
                <a:latin typeface="Calibri"/>
              </a:rPr>
              <a:t>Evaluation Guidance</a:t>
            </a:r>
          </a:p>
        </p:txBody>
      </p:sp>
      <p:sp>
        <p:nvSpPr>
          <p:cNvPr id="42" name="TextBox 41"/>
          <p:cNvSpPr txBox="1"/>
          <p:nvPr/>
        </p:nvSpPr>
        <p:spPr>
          <a:xfrm>
            <a:off x="5687568" y="5102352"/>
            <a:ext cx="6193231" cy="274320"/>
          </a:xfrm>
          <a:prstGeom prst="rect">
            <a:avLst/>
          </a:prstGeom>
          <a:noFill/>
        </p:spPr>
        <p:txBody>
          <a:bodyPr wrap="square">
            <a:spAutoFit/>
          </a:bodyPr>
          <a:lstStyle/>
          <a:p>
            <a:pPr algn="l"/>
            <a:r>
              <a:rPr sz="900" b="0" i="0">
                <a:solidFill>
                  <a:srgbClr val="A0AAB8"/>
                </a:solidFill>
                <a:latin typeface="Calibri"/>
              </a:rPr>
              <a:t>Is the HTB/THM ablation plan sufficient to prove the core claims?</a:t>
            </a:r>
          </a:p>
        </p:txBody>
      </p:sp>
      <p:sp>
        <p:nvSpPr>
          <p:cNvPr id="43" name="Rectangle 42"/>
          <p:cNvSpPr/>
          <p:nvPr/>
        </p:nvSpPr>
        <p:spPr>
          <a:xfrm>
            <a:off x="5596128" y="5468112"/>
            <a:ext cx="6302959" cy="566928"/>
          </a:xfrm>
          <a:prstGeom prst="rect">
            <a:avLst/>
          </a:prstGeom>
          <a:solidFill>
            <a:srgbClr val="061C16"/>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87568" y="5504688"/>
            <a:ext cx="6193231" cy="201168"/>
          </a:xfrm>
          <a:prstGeom prst="rect">
            <a:avLst/>
          </a:prstGeom>
          <a:noFill/>
        </p:spPr>
        <p:txBody>
          <a:bodyPr wrap="square">
            <a:spAutoFit/>
          </a:bodyPr>
          <a:lstStyle/>
          <a:p>
            <a:pPr algn="l"/>
            <a:r>
              <a:rPr sz="1000" b="1" i="0">
                <a:solidFill>
                  <a:srgbClr val="00E5FF"/>
                </a:solidFill>
                <a:latin typeface="Calibri"/>
              </a:rPr>
              <a:t>Implementation Priority</a:t>
            </a:r>
          </a:p>
        </p:txBody>
      </p:sp>
      <p:sp>
        <p:nvSpPr>
          <p:cNvPr id="45" name="TextBox 44"/>
          <p:cNvSpPr txBox="1"/>
          <p:nvPr/>
        </p:nvSpPr>
        <p:spPr>
          <a:xfrm>
            <a:off x="5687568" y="5724144"/>
            <a:ext cx="6193231" cy="274320"/>
          </a:xfrm>
          <a:prstGeom prst="rect">
            <a:avLst/>
          </a:prstGeom>
          <a:noFill/>
        </p:spPr>
        <p:txBody>
          <a:bodyPr wrap="square">
            <a:spAutoFit/>
          </a:bodyPr>
          <a:lstStyle/>
          <a:p>
            <a:pPr algn="l"/>
            <a:r>
              <a:rPr sz="900" b="0" i="0">
                <a:solidFill>
                  <a:srgbClr val="A0AAB8"/>
                </a:solidFill>
                <a:latin typeface="Calibri"/>
              </a:rPr>
              <a:t>Which of the 12 contributions should be fully implemented vs theoretically validated?</a:t>
            </a:r>
          </a:p>
        </p:txBody>
      </p:sp>
      <p:sp>
        <p:nvSpPr>
          <p:cNvPr id="46" name="Rectangle 45"/>
          <p:cNvSpPr/>
          <p:nvPr/>
        </p:nvSpPr>
        <p:spPr>
          <a:xfrm>
            <a:off x="5596128" y="6089904"/>
            <a:ext cx="6302959" cy="566928"/>
          </a:xfrm>
          <a:prstGeom prst="rect">
            <a:avLst/>
          </a:prstGeom>
          <a:solidFill>
            <a:srgbClr val="061C16"/>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687568" y="6126480"/>
            <a:ext cx="6193231" cy="201168"/>
          </a:xfrm>
          <a:prstGeom prst="rect">
            <a:avLst/>
          </a:prstGeom>
          <a:noFill/>
        </p:spPr>
        <p:txBody>
          <a:bodyPr wrap="square">
            <a:spAutoFit/>
          </a:bodyPr>
          <a:lstStyle/>
          <a:p>
            <a:pPr algn="l"/>
            <a:r>
              <a:rPr sz="1000" b="1" i="0">
                <a:solidFill>
                  <a:srgbClr val="00E5FF"/>
                </a:solidFill>
                <a:latin typeface="Calibri"/>
              </a:rPr>
              <a:t>Publication Venue</a:t>
            </a:r>
          </a:p>
        </p:txBody>
      </p:sp>
      <p:sp>
        <p:nvSpPr>
          <p:cNvPr id="48" name="TextBox 47"/>
          <p:cNvSpPr txBox="1"/>
          <p:nvPr/>
        </p:nvSpPr>
        <p:spPr>
          <a:xfrm>
            <a:off x="5687568" y="6345936"/>
            <a:ext cx="6193231" cy="274320"/>
          </a:xfrm>
          <a:prstGeom prst="rect">
            <a:avLst/>
          </a:prstGeom>
          <a:noFill/>
        </p:spPr>
        <p:txBody>
          <a:bodyPr wrap="square">
            <a:spAutoFit/>
          </a:bodyPr>
          <a:lstStyle/>
          <a:p>
            <a:pPr algn="l"/>
            <a:r>
              <a:rPr sz="900" b="0" i="0">
                <a:solidFill>
                  <a:srgbClr val="A0AAB8"/>
                </a:solidFill>
                <a:latin typeface="Calibri"/>
              </a:rPr>
              <a:t>USENIX Security / IEEE S&amp;P / ACSAC — which tier matches the contribution level?</a:t>
            </a:r>
          </a:p>
        </p:txBody>
      </p:sp>
      <p:sp>
        <p:nvSpPr>
          <p:cNvPr id="49" name="TextBox 48"/>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