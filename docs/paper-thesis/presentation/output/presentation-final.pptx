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2a6c61ddc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f2a6c61ddc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2a6c61ddc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f2a6c61ddc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2a466b45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f2a466b452_4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2a466b452_6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3f2a466b452_6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2a466b452_8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f2a466b452_8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9" name="Google Shape;429;g3f2a466b452_8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2a466b45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3f2a466b452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f2a466b452_0_1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g3f2a466b452_0_1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g3f2a466b452_0_1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f2a8d4718c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g3f2a8d4718c_1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24" name="Google Shape;824;g3f2a8d4718c_1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2a6c61ddc_0_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g3f2a6c61ddc_0_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16" name="Google Shape;916;g3f2a6c61ddc_0_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2a466b452_0_7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g3f2a466b452_0_79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g3f2a466b452_0_7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2a466b452_0_5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1" name="Google Shape;1061;g3f2a466b452_0_5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f2a466b452_0_8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0" name="Google Shape;1140;g3f2a466b452_0_8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f2a466b45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8" name="Google Shape;1198;g3f2a466b452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f2a6c61ddc_0_30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3f2a6c61ddc_0_30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9" name="Google Shape;1309;g3f2a6c61ddc_0_30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3f2af5c44bc_19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5" name="Google Shape;1475;g3f2af5c44bc_1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3f2af5c44bc_19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1" name="Google Shape;1551;g3f2af5c44bc_19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1" name="Shape 91"/>
        <p:cNvGrpSpPr/>
        <p:nvPr/>
      </p:nvGrpSpPr>
      <p:grpSpPr>
        <a:xfrm>
          <a:off x="0" y="0"/>
          <a:ext cx="0" cy="0"/>
          <a:chOff x="0" y="0"/>
          <a:chExt cx="0" cy="0"/>
        </a:xfrm>
      </p:grpSpPr>
      <p:sp>
        <p:nvSpPr>
          <p:cNvPr id="92" name="Google Shape;92;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4" name="Google Shape;9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6" name="Google Shape;10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3" name="Google Shape;113;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9" name="Google Shape;119;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0" name="Google Shape;120;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1" name="Google Shape;121;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2" name="Google Shape;1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0" name="Shape 130"/>
        <p:cNvGrpSpPr/>
        <p:nvPr/>
      </p:nvGrpSpPr>
      <p:grpSpPr>
        <a:xfrm>
          <a:off x="0" y="0"/>
          <a:ext cx="0" cy="0"/>
          <a:chOff x="0" y="0"/>
          <a:chExt cx="0" cy="0"/>
        </a:xfrm>
      </p:grpSpPr>
      <p:sp>
        <p:nvSpPr>
          <p:cNvPr id="131" name="Google Shape;131;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3" name="Google Shape;133;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4" name="Google Shape;1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7" name="Shape 137"/>
        <p:cNvGrpSpPr/>
        <p:nvPr/>
      </p:nvGrpSpPr>
      <p:grpSpPr>
        <a:xfrm>
          <a:off x="0" y="0"/>
          <a:ext cx="0" cy="0"/>
          <a:chOff x="0" y="0"/>
          <a:chExt cx="0" cy="0"/>
        </a:xfrm>
      </p:grpSpPr>
      <p:sp>
        <p:nvSpPr>
          <p:cNvPr id="138" name="Google Shape;138;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3"/>
          <p:cNvSpPr/>
          <p:nvPr>
            <p:ph idx="2" type="pic"/>
          </p:nvPr>
        </p:nvSpPr>
        <p:spPr>
          <a:xfrm>
            <a:off x="1792288" y="612775"/>
            <a:ext cx="5486400" cy="4114800"/>
          </a:xfrm>
          <a:prstGeom prst="rect">
            <a:avLst/>
          </a:prstGeom>
          <a:noFill/>
          <a:ln>
            <a:noFill/>
          </a:ln>
        </p:spPr>
      </p:sp>
      <p:sp>
        <p:nvSpPr>
          <p:cNvPr id="140" name="Google Shape;140;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1" name="Google Shape;1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4" name="Shape 144"/>
        <p:cNvGrpSpPr/>
        <p:nvPr/>
      </p:nvGrpSpPr>
      <p:grpSpPr>
        <a:xfrm>
          <a:off x="0" y="0"/>
          <a:ext cx="0" cy="0"/>
          <a:chOff x="0" y="0"/>
          <a:chExt cx="0" cy="0"/>
        </a:xfrm>
      </p:grpSpPr>
      <p:sp>
        <p:nvSpPr>
          <p:cNvPr id="145" name="Google Shape;1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0" name="Shape 150"/>
        <p:cNvGrpSpPr/>
        <p:nvPr/>
      </p:nvGrpSpPr>
      <p:grpSpPr>
        <a:xfrm>
          <a:off x="0" y="0"/>
          <a:ext cx="0" cy="0"/>
          <a:chOff x="0" y="0"/>
          <a:chExt cx="0" cy="0"/>
        </a:xfrm>
      </p:grpSpPr>
      <p:sp>
        <p:nvSpPr>
          <p:cNvPr id="151" name="Google Shape;151;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6" name="Shape 15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8" name="Shape 1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3" name="Google Shape;8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6" name="Google Shape;8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62" name="Shape 162"/>
        <p:cNvGrpSpPr/>
        <p:nvPr/>
      </p:nvGrpSpPr>
      <p:grpSpPr>
        <a:xfrm>
          <a:off x="0" y="0"/>
          <a:ext cx="0" cy="0"/>
          <a:chOff x="0" y="0"/>
          <a:chExt cx="0" cy="0"/>
        </a:xfrm>
      </p:grpSpPr>
      <p:sp>
        <p:nvSpPr>
          <p:cNvPr id="163" name="Google Shape;163;p29"/>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29"/>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29"/>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29"/>
          <p:cNvSpPr txBox="1"/>
          <p:nvPr/>
        </p:nvSpPr>
        <p:spPr>
          <a:xfrm>
            <a:off x="457200" y="777240"/>
            <a:ext cx="7315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E5FF"/>
                </a:solidFill>
                <a:latin typeface="Calibri"/>
                <a:ea typeface="Calibri"/>
                <a:cs typeface="Calibri"/>
                <a:sym typeface="Calibri"/>
              </a:rPr>
              <a:t>RESEARCH PRESENTATION</a:t>
            </a:r>
            <a:endParaRPr b="0" i="0" sz="1400" u="none" cap="none" strike="noStrike">
              <a:solidFill>
                <a:srgbClr val="000000"/>
              </a:solidFill>
              <a:latin typeface="Arial"/>
              <a:ea typeface="Arial"/>
              <a:cs typeface="Arial"/>
              <a:sym typeface="Arial"/>
            </a:endParaRPr>
          </a:p>
        </p:txBody>
      </p:sp>
      <p:sp>
        <p:nvSpPr>
          <p:cNvPr id="167" name="Google Shape;167;p29"/>
          <p:cNvSpPr txBox="1"/>
          <p:nvPr/>
        </p:nvSpPr>
        <p:spPr>
          <a:xfrm>
            <a:off x="457200" y="1205412"/>
            <a:ext cx="8075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Calibri"/>
                <a:ea typeface="Calibri"/>
                <a:cs typeface="Calibri"/>
                <a:sym typeface="Calibri"/>
              </a:rPr>
              <a:t>CMatrix</a:t>
            </a:r>
            <a:endParaRPr b="0" i="0" sz="1400" u="none" cap="none" strike="noStrike">
              <a:solidFill>
                <a:srgbClr val="000000"/>
              </a:solidFill>
              <a:latin typeface="Arial"/>
              <a:ea typeface="Arial"/>
              <a:cs typeface="Arial"/>
              <a:sym typeface="Arial"/>
            </a:endParaRPr>
          </a:p>
        </p:txBody>
      </p:sp>
      <p:sp>
        <p:nvSpPr>
          <p:cNvPr id="168" name="Google Shape;168;p29"/>
          <p:cNvSpPr txBox="1"/>
          <p:nvPr/>
        </p:nvSpPr>
        <p:spPr>
          <a:xfrm>
            <a:off x="457200" y="2609725"/>
            <a:ext cx="80757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Dual-Graph-Guided LLM-Orchestrated </a:t>
            </a:r>
            <a:endParaRPr b="0" i="1" sz="22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Multi-Agent Framework for Autonomous </a:t>
            </a:r>
            <a:endParaRPr b="0" i="1" sz="22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E5FF"/>
                </a:solidFill>
                <a:latin typeface="Calibri"/>
                <a:ea typeface="Calibri"/>
                <a:cs typeface="Calibri"/>
                <a:sym typeface="Calibri"/>
              </a:rPr>
              <a:t>Vulnerability Assessment and Penetration Testing </a:t>
            </a:r>
            <a:r>
              <a:rPr b="0" i="1" lang="en-US" sz="2200" u="none" cap="none" strike="noStrike">
                <a:solidFill>
                  <a:srgbClr val="00E5FF"/>
                </a:solidFill>
                <a:latin typeface="Calibri"/>
                <a:ea typeface="Calibri"/>
                <a:cs typeface="Calibri"/>
                <a:sym typeface="Calibri"/>
              </a:rPr>
              <a:t>(VAPT)</a:t>
            </a:r>
            <a:endParaRPr b="0" i="0" sz="1800" u="none" cap="none" strike="noStrike">
              <a:solidFill>
                <a:schemeClr val="dk1"/>
              </a:solidFill>
              <a:latin typeface="Calibri"/>
              <a:ea typeface="Calibri"/>
              <a:cs typeface="Calibri"/>
              <a:sym typeface="Calibri"/>
            </a:endParaRPr>
          </a:p>
        </p:txBody>
      </p:sp>
      <p:sp>
        <p:nvSpPr>
          <p:cNvPr id="169" name="Google Shape;169;p29"/>
          <p:cNvSpPr/>
          <p:nvPr/>
        </p:nvSpPr>
        <p:spPr>
          <a:xfrm>
            <a:off x="45720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29"/>
          <p:cNvSpPr txBox="1"/>
          <p:nvPr/>
        </p:nvSpPr>
        <p:spPr>
          <a:xfrm>
            <a:off x="54864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Autonomous Pentesting</a:t>
            </a:r>
            <a:endParaRPr b="0" i="0" sz="1400" u="none" cap="none" strike="noStrike">
              <a:solidFill>
                <a:srgbClr val="000000"/>
              </a:solidFill>
              <a:latin typeface="Arial"/>
              <a:ea typeface="Arial"/>
              <a:cs typeface="Arial"/>
              <a:sym typeface="Arial"/>
            </a:endParaRPr>
          </a:p>
        </p:txBody>
      </p:sp>
      <p:sp>
        <p:nvSpPr>
          <p:cNvPr id="171" name="Google Shape;171;p29"/>
          <p:cNvSpPr/>
          <p:nvPr/>
        </p:nvSpPr>
        <p:spPr>
          <a:xfrm>
            <a:off x="324612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9"/>
          <p:cNvSpPr txBox="1"/>
          <p:nvPr/>
        </p:nvSpPr>
        <p:spPr>
          <a:xfrm>
            <a:off x="333756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AI Agent Orchestration</a:t>
            </a:r>
            <a:endParaRPr b="0" i="0" sz="1400" u="none" cap="none" strike="noStrike">
              <a:solidFill>
                <a:srgbClr val="000000"/>
              </a:solidFill>
              <a:latin typeface="Arial"/>
              <a:ea typeface="Arial"/>
              <a:cs typeface="Arial"/>
              <a:sym typeface="Arial"/>
            </a:endParaRPr>
          </a:p>
        </p:txBody>
      </p:sp>
      <p:sp>
        <p:nvSpPr>
          <p:cNvPr id="173" name="Google Shape;173;p29"/>
          <p:cNvSpPr/>
          <p:nvPr/>
        </p:nvSpPr>
        <p:spPr>
          <a:xfrm>
            <a:off x="603504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4" name="Google Shape;174;p29"/>
          <p:cNvSpPr txBox="1"/>
          <p:nvPr/>
        </p:nvSpPr>
        <p:spPr>
          <a:xfrm>
            <a:off x="612648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Attack Graph Reasoning</a:t>
            </a:r>
            <a:endParaRPr b="0" i="0" sz="1400" u="none" cap="none" strike="noStrike">
              <a:solidFill>
                <a:srgbClr val="000000"/>
              </a:solidFill>
              <a:latin typeface="Arial"/>
              <a:ea typeface="Arial"/>
              <a:cs typeface="Arial"/>
              <a:sym typeface="Arial"/>
            </a:endParaRPr>
          </a:p>
        </p:txBody>
      </p:sp>
      <p:sp>
        <p:nvSpPr>
          <p:cNvPr id="175" name="Google Shape;175;p29"/>
          <p:cNvSpPr txBox="1"/>
          <p:nvPr/>
        </p:nvSpPr>
        <p:spPr>
          <a:xfrm>
            <a:off x="457200" y="4754880"/>
            <a:ext cx="73152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0AAB8"/>
                </a:solidFill>
                <a:latin typeface="Calibri"/>
                <a:ea typeface="Calibri"/>
                <a:cs typeface="Calibri"/>
                <a:sym typeface="Calibri"/>
              </a:rPr>
              <a:t>Supervisor Meeting  ·  June 2026</a:t>
            </a:r>
            <a:endParaRPr b="0" i="0" sz="1400" u="none" cap="none" strike="noStrike">
              <a:solidFill>
                <a:srgbClr val="000000"/>
              </a:solidFill>
              <a:latin typeface="Arial"/>
              <a:ea typeface="Arial"/>
              <a:cs typeface="Arial"/>
              <a:sym typeface="Arial"/>
            </a:endParaRPr>
          </a:p>
        </p:txBody>
      </p:sp>
      <p:sp>
        <p:nvSpPr>
          <p:cNvPr id="176" name="Google Shape;176;p29"/>
          <p:cNvSpPr txBox="1"/>
          <p:nvPr/>
        </p:nvSpPr>
        <p:spPr>
          <a:xfrm>
            <a:off x="457200" y="5138925"/>
            <a:ext cx="80757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0AAB8"/>
                </a:solidFill>
                <a:latin typeface="Calibri"/>
                <a:ea typeface="Calibri"/>
                <a:cs typeface="Calibri"/>
                <a:sym typeface="Calibri"/>
              </a:rPr>
              <a:t>Black-Box · Grey-Box  ·  Network  ·  Web  ·  REST API</a:t>
            </a:r>
            <a:endParaRPr b="0" i="0" sz="1400" u="none" cap="none" strike="noStrike">
              <a:solidFill>
                <a:srgbClr val="000000"/>
              </a:solidFill>
              <a:latin typeface="Arial"/>
              <a:ea typeface="Arial"/>
              <a:cs typeface="Arial"/>
              <a:sym typeface="Arial"/>
            </a:endParaRPr>
          </a:p>
        </p:txBody>
      </p:sp>
      <p:sp>
        <p:nvSpPr>
          <p:cNvPr id="177" name="Google Shape;177;p29"/>
          <p:cNvSpPr/>
          <p:nvPr/>
        </p:nvSpPr>
        <p:spPr>
          <a:xfrm>
            <a:off x="8823975" y="777250"/>
            <a:ext cx="3223800" cy="213360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THESIS SUPERVISOR</a:t>
            </a:r>
            <a:endParaRPr b="1">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Dr. Md. Abdur Razzaque</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E5FF"/>
                </a:solidFill>
                <a:latin typeface="Calibri"/>
                <a:ea typeface="Calibri"/>
                <a:cs typeface="Calibri"/>
                <a:sym typeface="Calibri"/>
              </a:rPr>
              <a:t>Professor &amp; Chairman</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0AAB8"/>
                </a:solidFill>
                <a:latin typeface="Calibri"/>
                <a:ea typeface="Calibri"/>
                <a:cs typeface="Calibri"/>
                <a:sym typeface="Calibri"/>
              </a:rPr>
              <a:t>Dept. of Computer Science &amp; Engineering</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0AAB8"/>
                </a:solidFill>
                <a:latin typeface="Calibri"/>
                <a:ea typeface="Calibri"/>
                <a:cs typeface="Calibri"/>
                <a:sym typeface="Calibri"/>
              </a:rPr>
              <a:t>University of Dhaka</a:t>
            </a:r>
            <a:endParaRPr/>
          </a:p>
        </p:txBody>
      </p:sp>
      <p:sp>
        <p:nvSpPr>
          <p:cNvPr id="178" name="Google Shape;178;p29"/>
          <p:cNvSpPr/>
          <p:nvPr/>
        </p:nvSpPr>
        <p:spPr>
          <a:xfrm>
            <a:off x="8823975" y="3048003"/>
            <a:ext cx="3223800" cy="2743200"/>
          </a:xfrm>
          <a:prstGeom prst="rect">
            <a:avLst/>
          </a:prstGeom>
          <a:solidFill>
            <a:srgbClr val="10162B"/>
          </a:solidFill>
          <a:ln cap="flat" cmpd="sng" w="19050">
            <a:solidFill>
              <a:srgbClr val="39FF14"/>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PRESENTED BY</a:t>
            </a:r>
            <a:endParaRPr b="1" sz="1300">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Nishan Paul</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E5FF"/>
                </a:solidFill>
                <a:latin typeface="Calibri"/>
                <a:ea typeface="Calibri"/>
                <a:cs typeface="Calibri"/>
                <a:sym typeface="Calibri"/>
              </a:rPr>
              <a:t>Reg. 55</a:t>
            </a:r>
            <a:endParaRPr b="1" sz="1300">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Md Rakibur Rahman</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E5FF"/>
                </a:solidFill>
                <a:latin typeface="Calibri"/>
                <a:ea typeface="Calibri"/>
                <a:cs typeface="Calibri"/>
                <a:sym typeface="Calibri"/>
              </a:rPr>
              <a:t>Reg. 49</a:t>
            </a:r>
            <a:endParaRPr sz="1000">
              <a:solidFill>
                <a:srgbClr val="A0AAB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lang="en-US" sz="1000">
                <a:solidFill>
                  <a:srgbClr val="A0AAB8"/>
                </a:solidFill>
                <a:latin typeface="Calibri"/>
                <a:ea typeface="Calibri"/>
                <a:cs typeface="Calibri"/>
                <a:sym typeface="Calibri"/>
              </a:rPr>
              <a:t>July 2025 </a:t>
            </a:r>
            <a:r>
              <a:rPr lang="en-US">
                <a:solidFill>
                  <a:srgbClr val="A0AAB8"/>
                </a:solidFill>
                <a:latin typeface="Calibri"/>
                <a:ea typeface="Calibri"/>
                <a:cs typeface="Calibri"/>
                <a:sym typeface="Calibri"/>
              </a:rPr>
              <a:t>· </a:t>
            </a:r>
            <a:r>
              <a:rPr b="0" i="0" lang="en-US" sz="1000" u="none" cap="none" strike="noStrike">
                <a:solidFill>
                  <a:srgbClr val="A0AAB8"/>
                </a:solidFill>
                <a:latin typeface="Calibri"/>
                <a:ea typeface="Calibri"/>
                <a:cs typeface="Calibri"/>
                <a:sym typeface="Calibri"/>
              </a:rPr>
              <a:t>Batch 05 </a:t>
            </a:r>
            <a:endParaRPr sz="1000">
              <a:solidFill>
                <a:srgbClr val="A0AAB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lang="en-US" sz="1000">
                <a:solidFill>
                  <a:srgbClr val="A0AAB8"/>
                </a:solidFill>
                <a:latin typeface="Calibri"/>
                <a:ea typeface="Calibri"/>
                <a:cs typeface="Calibri"/>
                <a:sym typeface="Calibri"/>
              </a:rPr>
              <a:t>Professional Masters in Information and Cyber Security</a:t>
            </a:r>
            <a:endParaRPr sz="1200">
              <a:solidFill>
                <a:srgbClr val="A0AAB8"/>
              </a:solidFill>
              <a:latin typeface="Calibri"/>
              <a:ea typeface="Calibri"/>
              <a:cs typeface="Calibri"/>
              <a:sym typeface="Calibri"/>
            </a:endParaRPr>
          </a:p>
        </p:txBody>
      </p:sp>
      <p:sp>
        <p:nvSpPr>
          <p:cNvPr id="179" name="Google Shape;179;p29"/>
          <p:cNvSpPr txBox="1"/>
          <p:nvPr/>
        </p:nvSpPr>
        <p:spPr>
          <a:xfrm>
            <a:off x="11801986"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83" name="Shape 183"/>
        <p:cNvGrpSpPr/>
        <p:nvPr/>
      </p:nvGrpSpPr>
      <p:grpSpPr>
        <a:xfrm>
          <a:off x="0" y="0"/>
          <a:ext cx="0" cy="0"/>
          <a:chOff x="0" y="0"/>
          <a:chExt cx="0" cy="0"/>
        </a:xfrm>
      </p:grpSpPr>
      <p:sp>
        <p:nvSpPr>
          <p:cNvPr id="184" name="Google Shape;184;p30"/>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30"/>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30"/>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30"/>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4545"/>
                </a:solidFill>
                <a:latin typeface="Calibri"/>
                <a:ea typeface="Calibri"/>
                <a:cs typeface="Calibri"/>
                <a:sym typeface="Calibri"/>
              </a:rPr>
              <a:t>THE PROBLEM</a:t>
            </a:r>
            <a:endParaRPr/>
          </a:p>
        </p:txBody>
      </p:sp>
      <p:sp>
        <p:nvSpPr>
          <p:cNvPr id="188" name="Google Shape;188;p30"/>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a:solidFill>
                  <a:srgbClr val="FFFFFF"/>
                </a:solidFill>
                <a:latin typeface="Calibri"/>
                <a:ea typeface="Calibri"/>
                <a:cs typeface="Calibri"/>
                <a:sym typeface="Calibri"/>
              </a:rPr>
              <a:t>What Existing VAPT Systems Get Wrong</a:t>
            </a:r>
            <a:endParaRPr/>
          </a:p>
        </p:txBody>
      </p:sp>
      <p:sp>
        <p:nvSpPr>
          <p:cNvPr id="189" name="Google Shape;189;p30"/>
          <p:cNvSpPr/>
          <p:nvPr/>
        </p:nvSpPr>
        <p:spPr>
          <a:xfrm>
            <a:off x="274320" y="120700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30"/>
          <p:cNvSpPr txBox="1"/>
          <p:nvPr/>
        </p:nvSpPr>
        <p:spPr>
          <a:xfrm>
            <a:off x="384048" y="129844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1" name="Google Shape;191;p30"/>
          <p:cNvSpPr txBox="1"/>
          <p:nvPr/>
        </p:nvSpPr>
        <p:spPr>
          <a:xfrm>
            <a:off x="713232" y="128016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No Structured World Model</a:t>
            </a:r>
            <a:endParaRPr/>
          </a:p>
        </p:txBody>
      </p:sp>
      <p:sp>
        <p:nvSpPr>
          <p:cNvPr id="192" name="Google Shape;192;p30"/>
          <p:cNvSpPr txBox="1"/>
          <p:nvPr/>
        </p:nvSpPr>
        <p:spPr>
          <a:xfrm>
            <a:off x="713232" y="160934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Systems reason from flat conversation history or task queues — no graph of what the target actually is.</a:t>
            </a:r>
            <a:endParaRPr/>
          </a:p>
        </p:txBody>
      </p:sp>
      <p:sp>
        <p:nvSpPr>
          <p:cNvPr id="193" name="Google Shape;193;p30"/>
          <p:cNvSpPr/>
          <p:nvPr/>
        </p:nvSpPr>
        <p:spPr>
          <a:xfrm>
            <a:off x="274320" y="229504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30"/>
          <p:cNvSpPr txBox="1"/>
          <p:nvPr/>
        </p:nvSpPr>
        <p:spPr>
          <a:xfrm>
            <a:off x="384048" y="238648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5" name="Google Shape;195;p30"/>
          <p:cNvSpPr txBox="1"/>
          <p:nvPr/>
        </p:nvSpPr>
        <p:spPr>
          <a:xfrm>
            <a:off x="713232" y="236820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No Attack Path Reasoning</a:t>
            </a:r>
            <a:endParaRPr/>
          </a:p>
        </p:txBody>
      </p:sp>
      <p:sp>
        <p:nvSpPr>
          <p:cNvPr id="196" name="Google Shape;196;p30"/>
          <p:cNvSpPr txBox="1"/>
          <p:nvPr/>
        </p:nvSpPr>
        <p:spPr>
          <a:xfrm>
            <a:off x="713232" y="269738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Finished tasks are logged, not understood. Systems cannot represent which vulnerabilities chain together or why.</a:t>
            </a:r>
            <a:endParaRPr/>
          </a:p>
        </p:txBody>
      </p:sp>
      <p:sp>
        <p:nvSpPr>
          <p:cNvPr id="197" name="Google Shape;197;p30"/>
          <p:cNvSpPr/>
          <p:nvPr/>
        </p:nvSpPr>
        <p:spPr>
          <a:xfrm>
            <a:off x="274320" y="338308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30"/>
          <p:cNvSpPr txBox="1"/>
          <p:nvPr/>
        </p:nvSpPr>
        <p:spPr>
          <a:xfrm>
            <a:off x="384048" y="347452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9" name="Google Shape;199;p30"/>
          <p:cNvSpPr txBox="1"/>
          <p:nvPr/>
        </p:nvSpPr>
        <p:spPr>
          <a:xfrm>
            <a:off x="713232" y="345624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Fragile Re-Planning</a:t>
            </a:r>
            <a:endParaRPr/>
          </a:p>
        </p:txBody>
      </p:sp>
      <p:sp>
        <p:nvSpPr>
          <p:cNvPr id="200" name="Google Shape;200;p30"/>
          <p:cNvSpPr txBox="1"/>
          <p:nvPr/>
        </p:nvSpPr>
        <p:spPr>
          <a:xfrm>
            <a:off x="713232" y="378542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Dynamic re-planning is ad-hoc. There is no formal trigger grounded in discovered evidence.</a:t>
            </a:r>
            <a:endParaRPr/>
          </a:p>
        </p:txBody>
      </p:sp>
      <p:sp>
        <p:nvSpPr>
          <p:cNvPr id="201" name="Google Shape;201;p30"/>
          <p:cNvSpPr/>
          <p:nvPr/>
        </p:nvSpPr>
        <p:spPr>
          <a:xfrm>
            <a:off x="274320" y="447112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30"/>
          <p:cNvSpPr txBox="1"/>
          <p:nvPr/>
        </p:nvSpPr>
        <p:spPr>
          <a:xfrm>
            <a:off x="384048" y="456256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203" name="Google Shape;203;p30"/>
          <p:cNvSpPr txBox="1"/>
          <p:nvPr/>
        </p:nvSpPr>
        <p:spPr>
          <a:xfrm>
            <a:off x="713232" y="454428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Arbitrary Termination</a:t>
            </a:r>
            <a:endParaRPr/>
          </a:p>
        </p:txBody>
      </p:sp>
      <p:sp>
        <p:nvSpPr>
          <p:cNvPr id="204" name="Google Shape;204;p30"/>
          <p:cNvSpPr txBox="1"/>
          <p:nvPr/>
        </p:nvSpPr>
        <p:spPr>
          <a:xfrm>
            <a:off x="713232" y="487346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Missions end on time-limits or empty queues — not because the attack surface and all chains are truly exhausted.</a:t>
            </a:r>
            <a:endParaRPr/>
          </a:p>
        </p:txBody>
      </p:sp>
      <p:sp>
        <p:nvSpPr>
          <p:cNvPr id="205" name="Google Shape;205;p30"/>
          <p:cNvSpPr/>
          <p:nvPr/>
        </p:nvSpPr>
        <p:spPr>
          <a:xfrm>
            <a:off x="5943600" y="1207008"/>
            <a:ext cx="5943600" cy="233172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30"/>
          <p:cNvSpPr txBox="1"/>
          <p:nvPr/>
        </p:nvSpPr>
        <p:spPr>
          <a:xfrm>
            <a:off x="6080760" y="1252728"/>
            <a:ext cx="54864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000">
                <a:solidFill>
                  <a:srgbClr val="00E5FF"/>
                </a:solidFill>
                <a:latin typeface="Calibri"/>
                <a:ea typeface="Calibri"/>
                <a:cs typeface="Calibri"/>
                <a:sym typeface="Calibri"/>
              </a:rPr>
              <a:t>“</a:t>
            </a:r>
            <a:endParaRPr/>
          </a:p>
        </p:txBody>
      </p:sp>
      <p:sp>
        <p:nvSpPr>
          <p:cNvPr id="207" name="Google Shape;207;p30"/>
          <p:cNvSpPr txBox="1"/>
          <p:nvPr/>
        </p:nvSpPr>
        <p:spPr>
          <a:xfrm>
            <a:off x="6126480" y="1709928"/>
            <a:ext cx="5577840" cy="1463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a:solidFill>
                  <a:srgbClr val="FFFFFF"/>
                </a:solidFill>
                <a:latin typeface="Calibri"/>
                <a:ea typeface="Calibri"/>
                <a:cs typeface="Calibri"/>
                <a:sym typeface="Calibri"/>
              </a:rPr>
              <a:t>They automate tool execution. CMatrix automates the reasoning of a professional penetration tester.</a:t>
            </a:r>
            <a:endParaRPr/>
          </a:p>
        </p:txBody>
      </p:sp>
      <p:sp>
        <p:nvSpPr>
          <p:cNvPr id="208" name="Google Shape;208;p30"/>
          <p:cNvSpPr txBox="1"/>
          <p:nvPr/>
        </p:nvSpPr>
        <p:spPr>
          <a:xfrm>
            <a:off x="6126480" y="3218688"/>
            <a:ext cx="55778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a:solidFill>
                  <a:srgbClr val="A0AAB8"/>
                </a:solidFill>
                <a:latin typeface="Calibri"/>
                <a:ea typeface="Calibri"/>
                <a:cs typeface="Calibri"/>
                <a:sym typeface="Calibri"/>
              </a:rPr>
              <a:t>— CMatrix Design Philosophy</a:t>
            </a:r>
            <a:endParaRPr/>
          </a:p>
        </p:txBody>
      </p:sp>
      <p:sp>
        <p:nvSpPr>
          <p:cNvPr id="209" name="Google Shape;209;p30"/>
          <p:cNvSpPr/>
          <p:nvPr/>
        </p:nvSpPr>
        <p:spPr>
          <a:xfrm>
            <a:off x="5943600" y="3675887"/>
            <a:ext cx="5943600" cy="34747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30"/>
          <p:cNvSpPr txBox="1"/>
          <p:nvPr/>
        </p:nvSpPr>
        <p:spPr>
          <a:xfrm>
            <a:off x="6126480" y="3703320"/>
            <a:ext cx="5669280" cy="30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a:solidFill>
                  <a:srgbClr val="FFFFFF"/>
                </a:solidFill>
                <a:latin typeface="Calibri"/>
                <a:ea typeface="Calibri"/>
                <a:cs typeface="Calibri"/>
                <a:sym typeface="Calibri"/>
              </a:rPr>
              <a:t>⚠  ROOT CAUSE</a:t>
            </a:r>
            <a:endParaRPr/>
          </a:p>
        </p:txBody>
      </p:sp>
      <p:sp>
        <p:nvSpPr>
          <p:cNvPr id="211" name="Google Shape;211;p30"/>
          <p:cNvSpPr/>
          <p:nvPr/>
        </p:nvSpPr>
        <p:spPr>
          <a:xfrm>
            <a:off x="5943600" y="4041648"/>
            <a:ext cx="5943600" cy="129844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30"/>
          <p:cNvSpPr txBox="1"/>
          <p:nvPr/>
        </p:nvSpPr>
        <p:spPr>
          <a:xfrm>
            <a:off x="6126480" y="4114800"/>
            <a:ext cx="5623560" cy="11521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a:solidFill>
                  <a:srgbClr val="A0AAB8"/>
                </a:solidFill>
                <a:latin typeface="Calibri"/>
                <a:ea typeface="Calibri"/>
                <a:cs typeface="Calibri"/>
                <a:sym typeface="Calibri"/>
              </a:rPr>
              <a:t>Existing systems have no structured model of the target environment and no structured model of what attack paths are possible.  They know what they did — not what the target is, or what can be done to it.</a:t>
            </a:r>
            <a:endParaRPr/>
          </a:p>
        </p:txBody>
      </p:sp>
      <p:sp>
        <p:nvSpPr>
          <p:cNvPr id="213" name="Google Shape;213;p30"/>
          <p:cNvSpPr/>
          <p:nvPr/>
        </p:nvSpPr>
        <p:spPr>
          <a:xfrm>
            <a:off x="274320" y="5559552"/>
            <a:ext cx="11643055" cy="777240"/>
          </a:xfrm>
          <a:prstGeom prst="rect">
            <a:avLst/>
          </a:prstGeom>
          <a:solidFill>
            <a:srgbClr val="0514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30"/>
          <p:cNvSpPr txBox="1"/>
          <p:nvPr/>
        </p:nvSpPr>
        <p:spPr>
          <a:xfrm>
            <a:off x="457200" y="5650992"/>
            <a:ext cx="11277295"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00E5FF"/>
                </a:solidFill>
                <a:latin typeface="Calibri"/>
                <a:ea typeface="Calibri"/>
                <a:cs typeface="Calibri"/>
                <a:sym typeface="Calibri"/>
              </a:rPr>
              <a:t>CMatrix Solution →  Dual-graph world model: ASG captures discovered reality  ·  APG captures inferred attack opportunity</a:t>
            </a:r>
            <a:endParaRPr/>
          </a:p>
        </p:txBody>
      </p:sp>
      <p:sp>
        <p:nvSpPr>
          <p:cNvPr id="215" name="Google Shape;215;p30"/>
          <p:cNvSpPr txBox="1"/>
          <p:nvPr/>
        </p:nvSpPr>
        <p:spPr>
          <a:xfrm>
            <a:off x="11794729"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4545"/>
                </a:solidFill>
                <a:latin typeface="Calibri"/>
                <a:ea typeface="Calibri"/>
                <a:cs typeface="Calibri"/>
                <a:sym typeface="Calibri"/>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p:nvPr/>
        </p:nvSpPr>
        <p:spPr>
          <a:xfrm>
            <a:off x="0" y="0"/>
            <a:ext cx="12192000" cy="9144000"/>
          </a:xfrm>
          <a:prstGeom prst="rect">
            <a:avLst/>
          </a:prstGeom>
          <a:solidFill>
            <a:srgbClr val="0A0D1A"/>
          </a:solid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1" name="Google Shape;221;p31"/>
          <p:cNvSpPr/>
          <p:nvPr/>
        </p:nvSpPr>
        <p:spPr>
          <a:xfrm>
            <a:off x="0" y="0"/>
            <a:ext cx="73200" cy="9144000"/>
          </a:xfrm>
          <a:prstGeom prst="rect">
            <a:avLst/>
          </a:prstGeom>
          <a:solidFill>
            <a:srgbClr val="BD93F9"/>
          </a:solid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2" name="Google Shape;222;p31"/>
          <p:cNvSpPr/>
          <p:nvPr/>
        </p:nvSpPr>
        <p:spPr>
          <a:xfrm>
            <a:off x="146667" y="60000"/>
            <a:ext cx="3333300" cy="159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67"/>
              <a:buFont typeface="Arial"/>
              <a:buNone/>
            </a:pPr>
            <a:r>
              <a:rPr b="1" i="0" lang="en-US" sz="1000" u="none" cap="none" strike="noStrike">
                <a:solidFill>
                  <a:srgbClr val="BD93F9"/>
                </a:solidFill>
                <a:latin typeface="Calibri"/>
                <a:ea typeface="Calibri"/>
                <a:cs typeface="Calibri"/>
                <a:sym typeface="Calibri"/>
              </a:rPr>
              <a:t>FOUNDATIONS &amp; INSPIRATIONS</a:t>
            </a:r>
            <a:endParaRPr b="0" i="0" sz="1000" u="none" cap="none" strike="noStrike">
              <a:solidFill>
                <a:srgbClr val="000000"/>
              </a:solidFill>
              <a:latin typeface="Calibri"/>
              <a:ea typeface="Calibri"/>
              <a:cs typeface="Calibri"/>
              <a:sym typeface="Calibri"/>
            </a:endParaRPr>
          </a:p>
        </p:txBody>
      </p:sp>
      <p:sp>
        <p:nvSpPr>
          <p:cNvPr id="223" name="Google Shape;223;p31"/>
          <p:cNvSpPr/>
          <p:nvPr/>
        </p:nvSpPr>
        <p:spPr>
          <a:xfrm>
            <a:off x="11525333" y="60000"/>
            <a:ext cx="600000" cy="159900"/>
          </a:xfrm>
          <a:prstGeom prst="rect">
            <a:avLst/>
          </a:prstGeom>
          <a:noFill/>
          <a:ln>
            <a:noFill/>
          </a:ln>
        </p:spPr>
        <p:txBody>
          <a:bodyPr anchorCtr="0" anchor="t"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2133"/>
              <a:buFont typeface="Arial"/>
              <a:buNone/>
            </a:pPr>
            <a:r>
              <a:rPr b="1" i="0" lang="en-US" sz="2133" u="none" cap="none" strike="noStrike">
                <a:solidFill>
                  <a:srgbClr val="A0AAB8"/>
                </a:solidFill>
                <a:latin typeface="Calibri"/>
                <a:ea typeface="Calibri"/>
                <a:cs typeface="Calibri"/>
                <a:sym typeface="Calibri"/>
              </a:rPr>
              <a:t>03</a:t>
            </a:r>
            <a:endParaRPr b="0" i="0" sz="1867" u="none" cap="none" strike="noStrike">
              <a:solidFill>
                <a:srgbClr val="000000"/>
              </a:solidFill>
              <a:latin typeface="Calibri"/>
              <a:ea typeface="Calibri"/>
              <a:cs typeface="Calibri"/>
              <a:sym typeface="Calibri"/>
            </a:endParaRPr>
          </a:p>
        </p:txBody>
      </p:sp>
      <p:sp>
        <p:nvSpPr>
          <p:cNvPr id="224" name="Google Shape;224;p31"/>
          <p:cNvSpPr/>
          <p:nvPr/>
        </p:nvSpPr>
        <p:spPr>
          <a:xfrm>
            <a:off x="146667" y="229333"/>
            <a:ext cx="11898600" cy="4533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933"/>
              <a:buFont typeface="Arial"/>
              <a:buNone/>
            </a:pPr>
            <a:r>
              <a:rPr b="1" i="0" lang="en-US" sz="2933" u="none" cap="none" strike="noStrike">
                <a:solidFill>
                  <a:srgbClr val="FFFFFF"/>
                </a:solidFill>
                <a:latin typeface="Calibri"/>
                <a:ea typeface="Calibri"/>
                <a:cs typeface="Calibri"/>
                <a:sym typeface="Calibri"/>
              </a:rPr>
              <a:t>Academic Papers + Open-Source Repositories That Shaped CMatrix</a:t>
            </a:r>
            <a:endParaRPr b="0" i="0" sz="1867" u="none" cap="none" strike="noStrike">
              <a:solidFill>
                <a:srgbClr val="000000"/>
              </a:solidFill>
              <a:latin typeface="Calibri"/>
              <a:ea typeface="Calibri"/>
              <a:cs typeface="Calibri"/>
              <a:sym typeface="Calibri"/>
            </a:endParaRPr>
          </a:p>
        </p:txBody>
      </p:sp>
      <p:sp>
        <p:nvSpPr>
          <p:cNvPr id="225" name="Google Shape;225;p31"/>
          <p:cNvSpPr/>
          <p:nvPr/>
        </p:nvSpPr>
        <p:spPr>
          <a:xfrm>
            <a:off x="146675" y="704000"/>
            <a:ext cx="5902800" cy="234900"/>
          </a:xfrm>
          <a:prstGeom prst="rect">
            <a:avLst/>
          </a:prstGeom>
          <a:solidFill>
            <a:srgbClr val="10162B"/>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600"/>
              <a:buFont typeface="Arial"/>
              <a:buNone/>
            </a:pPr>
            <a:r>
              <a:rPr b="1" i="0" lang="en-US" sz="1200" u="none" cap="none" strike="noStrike">
                <a:solidFill>
                  <a:srgbClr val="BD93F9"/>
                </a:solidFill>
                <a:latin typeface="Calibri"/>
                <a:ea typeface="Calibri"/>
                <a:cs typeface="Calibri"/>
                <a:sym typeface="Calibri"/>
              </a:rPr>
              <a:t>📄  ACADEMIC PAPERS</a:t>
            </a:r>
            <a:endParaRPr b="0" i="0" sz="1200" u="none" cap="none" strike="noStrike">
              <a:solidFill>
                <a:srgbClr val="000000"/>
              </a:solidFill>
              <a:latin typeface="Calibri"/>
              <a:ea typeface="Calibri"/>
              <a:cs typeface="Calibri"/>
              <a:sym typeface="Calibri"/>
            </a:endParaRPr>
          </a:p>
        </p:txBody>
      </p:sp>
      <p:sp>
        <p:nvSpPr>
          <p:cNvPr id="226" name="Google Shape;226;p31"/>
          <p:cNvSpPr/>
          <p:nvPr/>
        </p:nvSpPr>
        <p:spPr>
          <a:xfrm>
            <a:off x="6142675" y="704000"/>
            <a:ext cx="5902800" cy="234900"/>
          </a:xfrm>
          <a:prstGeom prst="rect">
            <a:avLst/>
          </a:prstGeom>
          <a:solidFill>
            <a:srgbClr val="10162B"/>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600"/>
              <a:buFont typeface="Arial"/>
              <a:buNone/>
            </a:pPr>
            <a:r>
              <a:rPr b="1" i="0" lang="en-US" sz="1200" u="none" cap="none" strike="noStrike">
                <a:solidFill>
                  <a:srgbClr val="BD93F9"/>
                </a:solidFill>
                <a:latin typeface="Calibri"/>
                <a:ea typeface="Calibri"/>
                <a:cs typeface="Calibri"/>
                <a:sym typeface="Calibri"/>
              </a:rPr>
              <a:t>💻  OPEN-SOURCE REPOSITORIES</a:t>
            </a:r>
            <a:endParaRPr b="0" i="0" sz="1200" u="none" cap="none" strike="noStrike">
              <a:solidFill>
                <a:srgbClr val="000000"/>
              </a:solidFill>
              <a:latin typeface="Calibri"/>
              <a:ea typeface="Calibri"/>
              <a:cs typeface="Calibri"/>
              <a:sym typeface="Calibri"/>
            </a:endParaRPr>
          </a:p>
        </p:txBody>
      </p:sp>
      <p:sp>
        <p:nvSpPr>
          <p:cNvPr id="227" name="Google Shape;227;p31"/>
          <p:cNvSpPr/>
          <p:nvPr/>
        </p:nvSpPr>
        <p:spPr>
          <a:xfrm>
            <a:off x="146675" y="975000"/>
            <a:ext cx="5902800" cy="996900"/>
          </a:xfrm>
          <a:prstGeom prst="rect">
            <a:avLst/>
          </a:prstGeom>
          <a:solidFill>
            <a:srgbClr val="081420"/>
          </a:solidFill>
          <a:ln cap="flat" cmpd="sng" w="25400">
            <a:solidFill>
              <a:srgbClr val="00E5FF"/>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8" name="Google Shape;228;p31"/>
          <p:cNvSpPr/>
          <p:nvPr/>
        </p:nvSpPr>
        <p:spPr>
          <a:xfrm>
            <a:off x="146675" y="974998"/>
            <a:ext cx="342900" cy="996900"/>
          </a:xfrm>
          <a:prstGeom prst="rect">
            <a:avLst/>
          </a:prstGeom>
          <a:solidFill>
            <a:srgbClr val="00E5FF"/>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A0D1A"/>
                </a:solidFill>
                <a:latin typeface="Calibri"/>
                <a:ea typeface="Calibri"/>
                <a:cs typeface="Calibri"/>
                <a:sym typeface="Calibri"/>
              </a:rPr>
              <a:t>1</a:t>
            </a:r>
            <a:endParaRPr b="1" sz="1700">
              <a:solidFill>
                <a:srgbClr val="0A0D1A"/>
              </a:solidFill>
              <a:latin typeface="Calibri"/>
              <a:ea typeface="Calibri"/>
              <a:cs typeface="Calibri"/>
              <a:sym typeface="Calibri"/>
            </a:endParaRPr>
          </a:p>
        </p:txBody>
      </p:sp>
      <p:sp>
        <p:nvSpPr>
          <p:cNvPr id="229" name="Google Shape;229;p31"/>
          <p:cNvSpPr/>
          <p:nvPr/>
        </p:nvSpPr>
        <p:spPr>
          <a:xfrm>
            <a:off x="546725" y="974998"/>
            <a:ext cx="5356200" cy="996900"/>
          </a:xfrm>
          <a:prstGeom prst="rect">
            <a:avLst/>
          </a:prstGeom>
          <a:solidFill>
            <a:srgbClr val="000000">
              <a:alpha val="0"/>
            </a:srgbClr>
          </a:solidFill>
          <a:ln>
            <a:noFill/>
          </a:ln>
        </p:spPr>
        <p:txBody>
          <a:bodyPr anchorCtr="0" anchor="t" bIns="45000" lIns="121900" spcFirstLastPara="1" rIns="121900" wrap="square" tIns="45000">
            <a:noAutofit/>
          </a:bodyPr>
          <a:lstStyle/>
          <a:p>
            <a:pPr indent="0" lvl="0" marL="0" rtl="0" algn="l">
              <a:spcBef>
                <a:spcPts val="27"/>
              </a:spcBef>
              <a:spcAft>
                <a:spcPts val="0"/>
              </a:spcAft>
              <a:buNone/>
            </a:pPr>
            <a:r>
              <a:rPr b="1" lang="en-US" sz="1203">
                <a:solidFill>
                  <a:srgbClr val="00E5FF"/>
                </a:solidFill>
                <a:latin typeface="Calibri"/>
                <a:ea typeface="Calibri"/>
                <a:cs typeface="Calibri"/>
                <a:sym typeface="Calibri"/>
              </a:rPr>
              <a:t>PentestGPT</a:t>
            </a:r>
            <a:endParaRPr b="1" sz="1203">
              <a:solidFill>
                <a:srgbClr val="00E5FF"/>
              </a:solidFill>
              <a:latin typeface="Calibri"/>
              <a:ea typeface="Calibri"/>
              <a:cs typeface="Calibri"/>
              <a:sym typeface="Calibri"/>
            </a:endParaRPr>
          </a:p>
          <a:p>
            <a:pPr indent="0" lvl="0" marL="0" rtl="0" algn="l">
              <a:spcBef>
                <a:spcPts val="27"/>
              </a:spcBef>
              <a:spcAft>
                <a:spcPts val="0"/>
              </a:spcAft>
              <a:buNone/>
            </a:pPr>
            <a:r>
              <a:rPr b="0" i="1" lang="en-US" sz="879">
                <a:solidFill>
                  <a:srgbClr val="A0AAB8"/>
                </a:solidFill>
                <a:latin typeface="Calibri"/>
                <a:ea typeface="Calibri"/>
                <a:cs typeface="Calibri"/>
                <a:sym typeface="Calibri"/>
              </a:rPr>
              <a:t>USENIX Security '24</a:t>
            </a:r>
            <a:endParaRPr b="1" sz="879">
              <a:solidFill>
                <a:srgbClr val="00E5FF"/>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Tripartite Reasoning / Generation / Parsing pipeline.</a:t>
            </a:r>
            <a:endParaRPr b="1" sz="879">
              <a:solidFill>
                <a:srgbClr val="00E5FF"/>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Pentesting Task Tree as long-session context memory.</a:t>
            </a:r>
            <a:endParaRPr b="1" sz="879">
              <a:solidFill>
                <a:srgbClr val="00E5FF"/>
              </a:solidFill>
              <a:latin typeface="Calibri"/>
              <a:ea typeface="Calibri"/>
              <a:cs typeface="Calibri"/>
              <a:sym typeface="Calibri"/>
            </a:endParaRPr>
          </a:p>
          <a:p>
            <a:pPr indent="0" lvl="0" marL="0" rtl="0" algn="l">
              <a:spcBef>
                <a:spcPts val="27"/>
              </a:spcBef>
              <a:spcAft>
                <a:spcPts val="0"/>
              </a:spcAft>
              <a:buNone/>
            </a:pPr>
            <a:r>
              <a:rPr b="0" i="1" lang="en-US" sz="833">
                <a:solidFill>
                  <a:srgbClr val="00E5FF"/>
                </a:solidFill>
                <a:latin typeface="Calibri"/>
                <a:ea typeface="Calibri"/>
                <a:cs typeface="Calibri"/>
                <a:sym typeface="Calibri"/>
              </a:rPr>
              <a:t>Gap: Task Tree records tasks performed — not discovered facts. No structured target model; no representation of what can be done to it.</a:t>
            </a:r>
            <a:endParaRPr b="1" sz="833">
              <a:solidFill>
                <a:srgbClr val="00E5FF"/>
              </a:solidFill>
              <a:latin typeface="Calibri"/>
              <a:ea typeface="Calibri"/>
              <a:cs typeface="Calibri"/>
              <a:sym typeface="Calibri"/>
            </a:endParaRPr>
          </a:p>
        </p:txBody>
      </p:sp>
      <p:sp>
        <p:nvSpPr>
          <p:cNvPr id="230" name="Google Shape;230;p31"/>
          <p:cNvSpPr/>
          <p:nvPr/>
        </p:nvSpPr>
        <p:spPr>
          <a:xfrm>
            <a:off x="146675" y="2109032"/>
            <a:ext cx="5902800" cy="996900"/>
          </a:xfrm>
          <a:prstGeom prst="rect">
            <a:avLst/>
          </a:prstGeom>
          <a:solidFill>
            <a:srgbClr val="081420"/>
          </a:solidFill>
          <a:ln cap="flat" cmpd="sng" w="25400">
            <a:solidFill>
              <a:srgbClr val="39FF14"/>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1" name="Google Shape;231;p31"/>
          <p:cNvSpPr/>
          <p:nvPr/>
        </p:nvSpPr>
        <p:spPr>
          <a:xfrm>
            <a:off x="146675" y="2109035"/>
            <a:ext cx="342900" cy="996900"/>
          </a:xfrm>
          <a:prstGeom prst="rect">
            <a:avLst/>
          </a:prstGeom>
          <a:solidFill>
            <a:srgbClr val="39FF1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A0D1A"/>
                </a:solidFill>
                <a:latin typeface="Calibri"/>
                <a:ea typeface="Calibri"/>
                <a:cs typeface="Calibri"/>
                <a:sym typeface="Calibri"/>
              </a:rPr>
              <a:t>2</a:t>
            </a:r>
            <a:endParaRPr b="1" sz="1700">
              <a:solidFill>
                <a:srgbClr val="0A0D1A"/>
              </a:solidFill>
              <a:latin typeface="Calibri"/>
              <a:ea typeface="Calibri"/>
              <a:cs typeface="Calibri"/>
              <a:sym typeface="Calibri"/>
            </a:endParaRPr>
          </a:p>
        </p:txBody>
      </p:sp>
      <p:sp>
        <p:nvSpPr>
          <p:cNvPr id="232" name="Google Shape;232;p31"/>
          <p:cNvSpPr/>
          <p:nvPr/>
        </p:nvSpPr>
        <p:spPr>
          <a:xfrm>
            <a:off x="546725" y="2109035"/>
            <a:ext cx="5356200" cy="996900"/>
          </a:xfrm>
          <a:prstGeom prst="rect">
            <a:avLst/>
          </a:prstGeom>
          <a:solidFill>
            <a:srgbClr val="000000">
              <a:alpha val="0"/>
            </a:srgbClr>
          </a:solidFill>
          <a:ln>
            <a:noFill/>
          </a:ln>
        </p:spPr>
        <p:txBody>
          <a:bodyPr anchorCtr="0" anchor="t" bIns="45000" lIns="121900" spcFirstLastPara="1" rIns="121900" wrap="square" tIns="45000">
            <a:noAutofit/>
          </a:bodyPr>
          <a:lstStyle/>
          <a:p>
            <a:pPr indent="0" lvl="0" marL="0" rtl="0" algn="l">
              <a:spcBef>
                <a:spcPts val="27"/>
              </a:spcBef>
              <a:spcAft>
                <a:spcPts val="0"/>
              </a:spcAft>
              <a:buNone/>
            </a:pPr>
            <a:r>
              <a:rPr b="1" lang="en-US" sz="1203">
                <a:solidFill>
                  <a:srgbClr val="39FF14"/>
                </a:solidFill>
                <a:latin typeface="Calibri"/>
                <a:ea typeface="Calibri"/>
                <a:cs typeface="Calibri"/>
                <a:sym typeface="Calibri"/>
              </a:rPr>
              <a:t>AutoAttacker</a:t>
            </a:r>
            <a:endParaRPr b="1" sz="1203">
              <a:solidFill>
                <a:srgbClr val="39FF14"/>
              </a:solidFill>
              <a:latin typeface="Calibri"/>
              <a:ea typeface="Calibri"/>
              <a:cs typeface="Calibri"/>
              <a:sym typeface="Calibri"/>
            </a:endParaRPr>
          </a:p>
          <a:p>
            <a:pPr indent="0" lvl="0" marL="0" rtl="0" algn="l">
              <a:spcBef>
                <a:spcPts val="27"/>
              </a:spcBef>
              <a:spcAft>
                <a:spcPts val="0"/>
              </a:spcAft>
              <a:buNone/>
            </a:pPr>
            <a:r>
              <a:rPr b="0" i="1" lang="en-US" sz="879">
                <a:solidFill>
                  <a:srgbClr val="A0AAB8"/>
                </a:solidFill>
                <a:latin typeface="Calibri"/>
                <a:ea typeface="Calibri"/>
                <a:cs typeface="Calibri"/>
                <a:sym typeface="Calibri"/>
              </a:rPr>
              <a:t>arXiv '24 — Xu et al.</a:t>
            </a:r>
            <a:endParaRPr b="1" sz="879">
              <a:solidFill>
                <a:srgbClr val="39FF14"/>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Modular planner / summarizer / code-generator for post-breach automation.</a:t>
            </a:r>
            <a:endParaRPr b="1" sz="879">
              <a:solidFill>
                <a:srgbClr val="39FF14"/>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Experience manager reuses attack subtasks within one mission.</a:t>
            </a:r>
            <a:endParaRPr b="1" sz="879">
              <a:solidFill>
                <a:srgbClr val="39FF14"/>
              </a:solidFill>
              <a:latin typeface="Calibri"/>
              <a:ea typeface="Calibri"/>
              <a:cs typeface="Calibri"/>
              <a:sym typeface="Calibri"/>
            </a:endParaRPr>
          </a:p>
          <a:p>
            <a:pPr indent="0" lvl="0" marL="0" rtl="0" algn="l">
              <a:spcBef>
                <a:spcPts val="27"/>
              </a:spcBef>
              <a:spcAft>
                <a:spcPts val="0"/>
              </a:spcAft>
              <a:buNone/>
            </a:pPr>
            <a:r>
              <a:rPr b="0" i="1" lang="en-US" sz="833">
                <a:solidFill>
                  <a:srgbClr val="39FF14"/>
                </a:solidFill>
                <a:latin typeface="Calibri"/>
                <a:ea typeface="Calibri"/>
                <a:cs typeface="Calibri"/>
                <a:sym typeface="Calibri"/>
              </a:rPr>
              <a:t>Gap: Experience reuse bounded to a single mission. Every new mission resets to zero knowledge — no cross-mission accumulation.</a:t>
            </a:r>
            <a:endParaRPr b="1" sz="833">
              <a:solidFill>
                <a:srgbClr val="39FF14"/>
              </a:solidFill>
              <a:latin typeface="Calibri"/>
              <a:ea typeface="Calibri"/>
              <a:cs typeface="Calibri"/>
              <a:sym typeface="Calibri"/>
            </a:endParaRPr>
          </a:p>
        </p:txBody>
      </p:sp>
      <p:sp>
        <p:nvSpPr>
          <p:cNvPr id="233" name="Google Shape;233;p31"/>
          <p:cNvSpPr/>
          <p:nvPr/>
        </p:nvSpPr>
        <p:spPr>
          <a:xfrm>
            <a:off x="146675" y="3243064"/>
            <a:ext cx="5902800" cy="996900"/>
          </a:xfrm>
          <a:prstGeom prst="rect">
            <a:avLst/>
          </a:prstGeom>
          <a:solidFill>
            <a:srgbClr val="081420"/>
          </a:solidFill>
          <a:ln cap="flat" cmpd="sng" w="25400">
            <a:solidFill>
              <a:srgbClr val="FFD7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4" name="Google Shape;234;p31"/>
          <p:cNvSpPr/>
          <p:nvPr/>
        </p:nvSpPr>
        <p:spPr>
          <a:xfrm>
            <a:off x="146675" y="3243062"/>
            <a:ext cx="342900" cy="996900"/>
          </a:xfrm>
          <a:prstGeom prst="rect">
            <a:avLst/>
          </a:prstGeom>
          <a:solidFill>
            <a:srgbClr val="FFD700"/>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A0D1A"/>
                </a:solidFill>
                <a:latin typeface="Calibri"/>
                <a:ea typeface="Calibri"/>
                <a:cs typeface="Calibri"/>
                <a:sym typeface="Calibri"/>
              </a:rPr>
              <a:t>3</a:t>
            </a:r>
            <a:endParaRPr b="1" sz="1700">
              <a:solidFill>
                <a:srgbClr val="0A0D1A"/>
              </a:solidFill>
              <a:latin typeface="Calibri"/>
              <a:ea typeface="Calibri"/>
              <a:cs typeface="Calibri"/>
              <a:sym typeface="Calibri"/>
            </a:endParaRPr>
          </a:p>
        </p:txBody>
      </p:sp>
      <p:sp>
        <p:nvSpPr>
          <p:cNvPr id="235" name="Google Shape;235;p31"/>
          <p:cNvSpPr/>
          <p:nvPr/>
        </p:nvSpPr>
        <p:spPr>
          <a:xfrm>
            <a:off x="546725" y="3243062"/>
            <a:ext cx="5356200" cy="996900"/>
          </a:xfrm>
          <a:prstGeom prst="rect">
            <a:avLst/>
          </a:prstGeom>
          <a:solidFill>
            <a:srgbClr val="000000">
              <a:alpha val="0"/>
            </a:srgbClr>
          </a:solidFill>
          <a:ln>
            <a:noFill/>
          </a:ln>
        </p:spPr>
        <p:txBody>
          <a:bodyPr anchorCtr="0" anchor="t" bIns="45000" lIns="121900" spcFirstLastPara="1" rIns="121900" wrap="square" tIns="45000">
            <a:noAutofit/>
          </a:bodyPr>
          <a:lstStyle/>
          <a:p>
            <a:pPr indent="0" lvl="0" marL="0" rtl="0" algn="l">
              <a:spcBef>
                <a:spcPts val="27"/>
              </a:spcBef>
              <a:spcAft>
                <a:spcPts val="0"/>
              </a:spcAft>
              <a:buNone/>
            </a:pPr>
            <a:r>
              <a:rPr b="1" lang="en-US" sz="1203">
                <a:solidFill>
                  <a:srgbClr val="FFD700"/>
                </a:solidFill>
                <a:latin typeface="Calibri"/>
                <a:ea typeface="Calibri"/>
                <a:cs typeface="Calibri"/>
                <a:sym typeface="Calibri"/>
              </a:rPr>
              <a:t>Teams of LLM Agents (HPTSA)</a:t>
            </a:r>
            <a:endParaRPr b="1" sz="1203">
              <a:solidFill>
                <a:srgbClr val="FFD700"/>
              </a:solidFill>
              <a:latin typeface="Calibri"/>
              <a:ea typeface="Calibri"/>
              <a:cs typeface="Calibri"/>
              <a:sym typeface="Calibri"/>
            </a:endParaRPr>
          </a:p>
          <a:p>
            <a:pPr indent="0" lvl="0" marL="0" rtl="0" algn="l">
              <a:spcBef>
                <a:spcPts val="27"/>
              </a:spcBef>
              <a:spcAft>
                <a:spcPts val="0"/>
              </a:spcAft>
              <a:buNone/>
            </a:pPr>
            <a:r>
              <a:rPr b="0" i="1" lang="en-US" sz="879">
                <a:solidFill>
                  <a:srgbClr val="A0AAB8"/>
                </a:solidFill>
                <a:latin typeface="Calibri"/>
                <a:ea typeface="Calibri"/>
                <a:cs typeface="Calibri"/>
                <a:sym typeface="Calibri"/>
              </a:rPr>
              <a:t>arXiv '24 — Zhu et al.</a:t>
            </a:r>
            <a:endParaRPr b="1" sz="879">
              <a:solidFill>
                <a:srgbClr val="FFD700"/>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Hierarchical planner delegates to task-specific sub-agents.</a:t>
            </a:r>
            <a:endParaRPr b="1" sz="879">
              <a:solidFill>
                <a:srgbClr val="FFD700"/>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Task-specific document injection improves zero-day exploitation by 2.1x.</a:t>
            </a:r>
            <a:endParaRPr b="1" sz="879">
              <a:solidFill>
                <a:srgbClr val="FFD700"/>
              </a:solidFill>
              <a:latin typeface="Calibri"/>
              <a:ea typeface="Calibri"/>
              <a:cs typeface="Calibri"/>
              <a:sym typeface="Calibri"/>
            </a:endParaRPr>
          </a:p>
          <a:p>
            <a:pPr indent="0" lvl="0" marL="0" rtl="0" algn="l">
              <a:spcBef>
                <a:spcPts val="27"/>
              </a:spcBef>
              <a:spcAft>
                <a:spcPts val="0"/>
              </a:spcAft>
              <a:buNone/>
            </a:pPr>
            <a:r>
              <a:rPr b="0" i="1" lang="en-US" sz="833">
                <a:solidFill>
                  <a:srgbClr val="FFD700"/>
                </a:solidFill>
                <a:latin typeface="Calibri"/>
                <a:ea typeface="Calibri"/>
                <a:cs typeface="Calibri"/>
                <a:sym typeface="Calibri"/>
              </a:rPr>
              <a:t>Gap: No structured attack graph. No formal representation of which vulnerabilities chain together or how far a chain has been validated.</a:t>
            </a:r>
            <a:endParaRPr b="1" sz="833">
              <a:solidFill>
                <a:srgbClr val="FFD700"/>
              </a:solidFill>
              <a:latin typeface="Calibri"/>
              <a:ea typeface="Calibri"/>
              <a:cs typeface="Calibri"/>
              <a:sym typeface="Calibri"/>
            </a:endParaRPr>
          </a:p>
        </p:txBody>
      </p:sp>
      <p:sp>
        <p:nvSpPr>
          <p:cNvPr id="236" name="Google Shape;236;p31"/>
          <p:cNvSpPr/>
          <p:nvPr/>
        </p:nvSpPr>
        <p:spPr>
          <a:xfrm>
            <a:off x="146675" y="4377096"/>
            <a:ext cx="5902800" cy="996900"/>
          </a:xfrm>
          <a:prstGeom prst="rect">
            <a:avLst/>
          </a:prstGeom>
          <a:solidFill>
            <a:srgbClr val="081420"/>
          </a:solidFill>
          <a:ln cap="flat" cmpd="sng" w="25400">
            <a:solidFill>
              <a:srgbClr val="FF4545"/>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7" name="Google Shape;237;p31"/>
          <p:cNvSpPr/>
          <p:nvPr/>
        </p:nvSpPr>
        <p:spPr>
          <a:xfrm>
            <a:off x="146675" y="4377099"/>
            <a:ext cx="342900" cy="996900"/>
          </a:xfrm>
          <a:prstGeom prst="rect">
            <a:avLst/>
          </a:prstGeom>
          <a:solidFill>
            <a:srgbClr val="FF4545"/>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A0D1A"/>
                </a:solidFill>
                <a:latin typeface="Calibri"/>
                <a:ea typeface="Calibri"/>
                <a:cs typeface="Calibri"/>
                <a:sym typeface="Calibri"/>
              </a:rPr>
              <a:t>4</a:t>
            </a:r>
            <a:endParaRPr b="1" sz="1700">
              <a:solidFill>
                <a:srgbClr val="0A0D1A"/>
              </a:solidFill>
              <a:latin typeface="Calibri"/>
              <a:ea typeface="Calibri"/>
              <a:cs typeface="Calibri"/>
              <a:sym typeface="Calibri"/>
            </a:endParaRPr>
          </a:p>
        </p:txBody>
      </p:sp>
      <p:sp>
        <p:nvSpPr>
          <p:cNvPr id="238" name="Google Shape;238;p31"/>
          <p:cNvSpPr/>
          <p:nvPr/>
        </p:nvSpPr>
        <p:spPr>
          <a:xfrm>
            <a:off x="546725" y="4377099"/>
            <a:ext cx="5356200" cy="996900"/>
          </a:xfrm>
          <a:prstGeom prst="rect">
            <a:avLst/>
          </a:prstGeom>
          <a:solidFill>
            <a:srgbClr val="000000">
              <a:alpha val="0"/>
            </a:srgbClr>
          </a:solidFill>
          <a:ln>
            <a:noFill/>
          </a:ln>
        </p:spPr>
        <p:txBody>
          <a:bodyPr anchorCtr="0" anchor="t" bIns="45000" lIns="121900" spcFirstLastPara="1" rIns="121900" wrap="square" tIns="45000">
            <a:noAutofit/>
          </a:bodyPr>
          <a:lstStyle/>
          <a:p>
            <a:pPr indent="0" lvl="0" marL="0" rtl="0" algn="l">
              <a:spcBef>
                <a:spcPts val="27"/>
              </a:spcBef>
              <a:spcAft>
                <a:spcPts val="0"/>
              </a:spcAft>
              <a:buNone/>
            </a:pPr>
            <a:r>
              <a:rPr b="1" lang="en-US" sz="1203">
                <a:solidFill>
                  <a:srgbClr val="FF4545"/>
                </a:solidFill>
                <a:latin typeface="Calibri"/>
                <a:ea typeface="Calibri"/>
                <a:cs typeface="Calibri"/>
                <a:sym typeface="Calibri"/>
              </a:rPr>
              <a:t>PentestAgent</a:t>
            </a:r>
            <a:endParaRPr b="1" sz="1203">
              <a:solidFill>
                <a:srgbClr val="FF4545"/>
              </a:solidFill>
              <a:latin typeface="Calibri"/>
              <a:ea typeface="Calibri"/>
              <a:cs typeface="Calibri"/>
              <a:sym typeface="Calibri"/>
            </a:endParaRPr>
          </a:p>
          <a:p>
            <a:pPr indent="0" lvl="0" marL="0" rtl="0" algn="l">
              <a:spcBef>
                <a:spcPts val="27"/>
              </a:spcBef>
              <a:spcAft>
                <a:spcPts val="0"/>
              </a:spcAft>
              <a:buNone/>
            </a:pPr>
            <a:r>
              <a:rPr b="0" i="1" lang="en-US" sz="879">
                <a:solidFill>
                  <a:srgbClr val="A0AAB8"/>
                </a:solidFill>
                <a:latin typeface="Calibri"/>
                <a:ea typeface="Calibri"/>
                <a:cs typeface="Calibri"/>
                <a:sym typeface="Calibri"/>
              </a:rPr>
              <a:t>AsiaCCS '25 — Shen et al.</a:t>
            </a:r>
            <a:endParaRPr b="1" sz="879">
              <a:solidFill>
                <a:srgbClr val="FF4545"/>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Planning agent with RAG-backed shared memory.</a:t>
            </a:r>
            <a:endParaRPr b="1" sz="879">
              <a:solidFill>
                <a:srgbClr val="FF4545"/>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Execution agent self-diagnoses failed exploits before abandoning.</a:t>
            </a:r>
            <a:endParaRPr b="1" sz="879">
              <a:solidFill>
                <a:srgbClr val="FF4545"/>
              </a:solidFill>
              <a:latin typeface="Calibri"/>
              <a:ea typeface="Calibri"/>
              <a:cs typeface="Calibri"/>
              <a:sym typeface="Calibri"/>
            </a:endParaRPr>
          </a:p>
          <a:p>
            <a:pPr indent="0" lvl="0" marL="0" rtl="0" algn="l">
              <a:spcBef>
                <a:spcPts val="27"/>
              </a:spcBef>
              <a:spcAft>
                <a:spcPts val="0"/>
              </a:spcAft>
              <a:buNone/>
            </a:pPr>
            <a:r>
              <a:rPr b="0" i="1" lang="en-US" sz="833">
                <a:solidFill>
                  <a:srgbClr val="FF4545"/>
                </a:solidFill>
                <a:latin typeface="Calibri"/>
                <a:ea typeface="Calibri"/>
                <a:cs typeface="Calibri"/>
                <a:sym typeface="Calibri"/>
              </a:rPr>
              <a:t>Gap: RAG memory conflates discovery facts with reasoning hypotheses. Termination on empty task queue — attack surface may be unexplored.</a:t>
            </a:r>
            <a:endParaRPr b="1" sz="833">
              <a:solidFill>
                <a:srgbClr val="FF4545"/>
              </a:solidFill>
              <a:latin typeface="Calibri"/>
              <a:ea typeface="Calibri"/>
              <a:cs typeface="Calibri"/>
              <a:sym typeface="Calibri"/>
            </a:endParaRPr>
          </a:p>
        </p:txBody>
      </p:sp>
      <p:sp>
        <p:nvSpPr>
          <p:cNvPr id="239" name="Google Shape;239;p31"/>
          <p:cNvSpPr/>
          <p:nvPr/>
        </p:nvSpPr>
        <p:spPr>
          <a:xfrm>
            <a:off x="146675" y="5511128"/>
            <a:ext cx="5902800" cy="996900"/>
          </a:xfrm>
          <a:prstGeom prst="rect">
            <a:avLst/>
          </a:prstGeom>
          <a:solidFill>
            <a:srgbClr val="081420"/>
          </a:solidFill>
          <a:ln cap="flat" cmpd="sng" w="25400">
            <a:solidFill>
              <a:srgbClr val="00BFD8"/>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0" name="Google Shape;240;p31"/>
          <p:cNvSpPr/>
          <p:nvPr/>
        </p:nvSpPr>
        <p:spPr>
          <a:xfrm>
            <a:off x="146675" y="5511127"/>
            <a:ext cx="342900" cy="996900"/>
          </a:xfrm>
          <a:prstGeom prst="rect">
            <a:avLst/>
          </a:prstGeom>
          <a:solidFill>
            <a:srgbClr val="00BFD8"/>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0A0D1A"/>
                </a:solidFill>
                <a:latin typeface="Calibri"/>
                <a:ea typeface="Calibri"/>
                <a:cs typeface="Calibri"/>
                <a:sym typeface="Calibri"/>
              </a:rPr>
              <a:t>5</a:t>
            </a:r>
            <a:endParaRPr b="1" sz="1700">
              <a:solidFill>
                <a:srgbClr val="0A0D1A"/>
              </a:solidFill>
              <a:latin typeface="Calibri"/>
              <a:ea typeface="Calibri"/>
              <a:cs typeface="Calibri"/>
              <a:sym typeface="Calibri"/>
            </a:endParaRPr>
          </a:p>
        </p:txBody>
      </p:sp>
      <p:sp>
        <p:nvSpPr>
          <p:cNvPr id="241" name="Google Shape;241;p31"/>
          <p:cNvSpPr/>
          <p:nvPr/>
        </p:nvSpPr>
        <p:spPr>
          <a:xfrm>
            <a:off x="546725" y="5511127"/>
            <a:ext cx="5356200" cy="996900"/>
          </a:xfrm>
          <a:prstGeom prst="rect">
            <a:avLst/>
          </a:prstGeom>
          <a:solidFill>
            <a:srgbClr val="000000">
              <a:alpha val="0"/>
            </a:srgbClr>
          </a:solidFill>
          <a:ln>
            <a:noFill/>
          </a:ln>
        </p:spPr>
        <p:txBody>
          <a:bodyPr anchorCtr="0" anchor="t" bIns="45000" lIns="121900" spcFirstLastPara="1" rIns="121900" wrap="square" tIns="45000">
            <a:noAutofit/>
          </a:bodyPr>
          <a:lstStyle/>
          <a:p>
            <a:pPr indent="0" lvl="0" marL="0" rtl="0" algn="l">
              <a:spcBef>
                <a:spcPts val="27"/>
              </a:spcBef>
              <a:spcAft>
                <a:spcPts val="0"/>
              </a:spcAft>
              <a:buNone/>
            </a:pPr>
            <a:r>
              <a:rPr b="1" lang="en-US" sz="1203">
                <a:solidFill>
                  <a:srgbClr val="00BFD8"/>
                </a:solidFill>
                <a:latin typeface="Calibri"/>
                <a:ea typeface="Calibri"/>
                <a:cs typeface="Calibri"/>
                <a:sym typeface="Calibri"/>
              </a:rPr>
              <a:t>VulnBot</a:t>
            </a:r>
            <a:endParaRPr b="1" sz="1203">
              <a:solidFill>
                <a:srgbClr val="00BFD8"/>
              </a:solidFill>
              <a:latin typeface="Calibri"/>
              <a:ea typeface="Calibri"/>
              <a:cs typeface="Calibri"/>
              <a:sym typeface="Calibri"/>
            </a:endParaRPr>
          </a:p>
          <a:p>
            <a:pPr indent="0" lvl="0" marL="0" rtl="0" algn="l">
              <a:spcBef>
                <a:spcPts val="27"/>
              </a:spcBef>
              <a:spcAft>
                <a:spcPts val="0"/>
              </a:spcAft>
              <a:buNone/>
            </a:pPr>
            <a:r>
              <a:rPr b="0" i="1" lang="en-US" sz="879">
                <a:solidFill>
                  <a:srgbClr val="A0AAB8"/>
                </a:solidFill>
                <a:latin typeface="Calibri"/>
                <a:ea typeface="Calibri"/>
                <a:cs typeface="Calibri"/>
                <a:sym typeface="Calibri"/>
              </a:rPr>
              <a:t>arXiv '25 — Kong et al.</a:t>
            </a:r>
            <a:endParaRPr b="1" sz="879">
              <a:solidFill>
                <a:srgbClr val="00BFD8"/>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Five-module pipeline around a Penetration Task Graph.</a:t>
            </a:r>
            <a:endParaRPr b="1" sz="879">
              <a:solidFill>
                <a:srgbClr val="00BFD8"/>
              </a:solidFill>
              <a:latin typeface="Calibri"/>
              <a:ea typeface="Calibri"/>
              <a:cs typeface="Calibri"/>
              <a:sym typeface="Calibri"/>
            </a:endParaRPr>
          </a:p>
          <a:p>
            <a:pPr indent="0" lvl="0" marL="0" rtl="0" algn="l">
              <a:spcBef>
                <a:spcPts val="27"/>
              </a:spcBef>
              <a:spcAft>
                <a:spcPts val="0"/>
              </a:spcAft>
              <a:buNone/>
            </a:pPr>
            <a:r>
              <a:rPr b="0" i="0" lang="en-US" sz="879">
                <a:solidFill>
                  <a:srgbClr val="CCCCCC"/>
                </a:solidFill>
                <a:latin typeface="Calibri"/>
                <a:ea typeface="Calibri"/>
                <a:cs typeface="Calibri"/>
                <a:sym typeface="Calibri"/>
              </a:rPr>
              <a:t>Summarizer condenses phase output to prevent history leakage.</a:t>
            </a:r>
            <a:endParaRPr b="1" sz="879">
              <a:solidFill>
                <a:srgbClr val="00BFD8"/>
              </a:solidFill>
              <a:latin typeface="Calibri"/>
              <a:ea typeface="Calibri"/>
              <a:cs typeface="Calibri"/>
              <a:sym typeface="Calibri"/>
            </a:endParaRPr>
          </a:p>
          <a:p>
            <a:pPr indent="0" lvl="0" marL="0" rtl="0" algn="l">
              <a:spcBef>
                <a:spcPts val="27"/>
              </a:spcBef>
              <a:spcAft>
                <a:spcPts val="0"/>
              </a:spcAft>
              <a:buNone/>
            </a:pPr>
            <a:r>
              <a:rPr b="0" i="1" lang="en-US" sz="833">
                <a:solidFill>
                  <a:srgbClr val="00BFD8"/>
                </a:solidFill>
                <a:latin typeface="Calibri"/>
                <a:ea typeface="Calibri"/>
                <a:cs typeface="Calibri"/>
                <a:sym typeface="Calibri"/>
              </a:rPr>
              <a:t>Gap: No formal attack graph. Context compaction is ad-hoc. No lifecycle for attack chains: no risk scoring or formal chain resolution.</a:t>
            </a:r>
            <a:endParaRPr b="1" sz="833">
              <a:solidFill>
                <a:srgbClr val="00BFD8"/>
              </a:solidFill>
              <a:latin typeface="Calibri"/>
              <a:ea typeface="Calibri"/>
              <a:cs typeface="Calibri"/>
              <a:sym typeface="Calibri"/>
            </a:endParaRPr>
          </a:p>
        </p:txBody>
      </p:sp>
      <p:sp>
        <p:nvSpPr>
          <p:cNvPr id="242" name="Google Shape;242;p31"/>
          <p:cNvSpPr/>
          <p:nvPr/>
        </p:nvSpPr>
        <p:spPr>
          <a:xfrm>
            <a:off x="6142675" y="975000"/>
            <a:ext cx="5902800" cy="1752900"/>
          </a:xfrm>
          <a:prstGeom prst="rect">
            <a:avLst/>
          </a:prstGeom>
          <a:solidFill>
            <a:srgbClr val="081420"/>
          </a:solidFill>
          <a:ln cap="flat" cmpd="sng" w="25400">
            <a:solidFill>
              <a:srgbClr val="39FF14"/>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3" name="Google Shape;243;p31"/>
          <p:cNvSpPr/>
          <p:nvPr/>
        </p:nvSpPr>
        <p:spPr>
          <a:xfrm>
            <a:off x="6142673" y="974998"/>
            <a:ext cx="342900" cy="1752900"/>
          </a:xfrm>
          <a:prstGeom prst="rect">
            <a:avLst/>
          </a:prstGeom>
          <a:solidFill>
            <a:srgbClr val="39FF1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0A0D1A"/>
                </a:solidFill>
                <a:latin typeface="Calibri"/>
                <a:ea typeface="Calibri"/>
                <a:cs typeface="Calibri"/>
                <a:sym typeface="Calibri"/>
              </a:rPr>
              <a:t>6</a:t>
            </a:r>
            <a:endParaRPr b="1" sz="2600">
              <a:solidFill>
                <a:srgbClr val="0A0D1A"/>
              </a:solidFill>
              <a:latin typeface="Calibri"/>
              <a:ea typeface="Calibri"/>
              <a:cs typeface="Calibri"/>
              <a:sym typeface="Calibri"/>
            </a:endParaRPr>
          </a:p>
        </p:txBody>
      </p:sp>
      <p:sp>
        <p:nvSpPr>
          <p:cNvPr id="244" name="Google Shape;244;p31"/>
          <p:cNvSpPr/>
          <p:nvPr/>
        </p:nvSpPr>
        <p:spPr>
          <a:xfrm>
            <a:off x="6542723" y="974998"/>
            <a:ext cx="5356200" cy="1752900"/>
          </a:xfrm>
          <a:prstGeom prst="rect">
            <a:avLst/>
          </a:prstGeom>
          <a:solidFill>
            <a:srgbClr val="000000">
              <a:alpha val="0"/>
            </a:srgbClr>
          </a:solidFill>
          <a:ln>
            <a:noFill/>
          </a:ln>
        </p:spPr>
        <p:txBody>
          <a:bodyPr anchorCtr="0" anchor="ctr" bIns="60925" lIns="121900" spcFirstLastPara="1" rIns="121900" wrap="square" tIns="60925">
            <a:noAutofit/>
          </a:bodyPr>
          <a:lstStyle/>
          <a:p>
            <a:pPr indent="0" lvl="0" marL="0" rtl="0" algn="l">
              <a:spcBef>
                <a:spcPts val="27"/>
              </a:spcBef>
              <a:spcAft>
                <a:spcPts val="0"/>
              </a:spcAft>
              <a:buNone/>
            </a:pPr>
            <a:r>
              <a:rPr b="1" lang="en-US" sz="1700">
                <a:solidFill>
                  <a:srgbClr val="39FF14"/>
                </a:solidFill>
                <a:latin typeface="Calibri"/>
                <a:ea typeface="Calibri"/>
                <a:cs typeface="Calibri"/>
                <a:sym typeface="Calibri"/>
              </a:rPr>
              <a:t>PentAGI</a:t>
            </a:r>
            <a:endParaRPr b="1" sz="1700">
              <a:solidFill>
                <a:srgbClr val="39FF14"/>
              </a:solidFill>
              <a:latin typeface="Calibri"/>
              <a:ea typeface="Calibri"/>
              <a:cs typeface="Calibri"/>
              <a:sym typeface="Calibri"/>
            </a:endParaRPr>
          </a:p>
          <a:p>
            <a:pPr indent="0" lvl="0" marL="0" rtl="0" algn="l">
              <a:spcBef>
                <a:spcPts val="27"/>
              </a:spcBef>
              <a:spcAft>
                <a:spcPts val="0"/>
              </a:spcAft>
              <a:buNone/>
            </a:pPr>
            <a:r>
              <a:rPr b="0" i="1" lang="en-US" sz="1300">
                <a:solidFill>
                  <a:srgbClr val="A0AAB8"/>
                </a:solidFill>
                <a:latin typeface="Calibri"/>
                <a:ea typeface="Calibri"/>
                <a:cs typeface="Calibri"/>
                <a:sym typeface="Calibri"/>
              </a:rPr>
              <a:t>vxcontrol/pentagi</a:t>
            </a:r>
            <a:endParaRPr b="1" sz="1300">
              <a:solidFill>
                <a:srgbClr val="39FF14"/>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Production multi-agent pentesting platform.</a:t>
            </a:r>
            <a:endParaRPr b="1" sz="1300">
              <a:solidFill>
                <a:srgbClr val="39FF14"/>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Adviser detects agent fixation; Reflector nudges stuck agents.</a:t>
            </a:r>
            <a:endParaRPr b="1" sz="1300">
              <a:solidFill>
                <a:srgbClr val="39FF14"/>
              </a:solidFill>
              <a:latin typeface="Calibri"/>
              <a:ea typeface="Calibri"/>
              <a:cs typeface="Calibri"/>
              <a:sym typeface="Calibri"/>
            </a:endParaRPr>
          </a:p>
          <a:p>
            <a:pPr indent="0" lvl="0" marL="0" rtl="0" algn="l">
              <a:spcBef>
                <a:spcPts val="27"/>
              </a:spcBef>
              <a:spcAft>
                <a:spcPts val="0"/>
              </a:spcAft>
              <a:buNone/>
            </a:pPr>
            <a:r>
              <a:rPr b="0" i="1" lang="en-US" sz="1250">
                <a:solidFill>
                  <a:srgbClr val="39FF14"/>
                </a:solidFill>
                <a:latin typeface="Calibri"/>
                <a:ea typeface="Calibri"/>
                <a:cs typeface="Calibri"/>
                <a:sym typeface="Calibri"/>
              </a:rPr>
              <a:t>Gap: Fixation detection is reactive — fires after repeated tool calls. No proactive graph-driven surface-exhaustion check.</a:t>
            </a:r>
            <a:endParaRPr b="1" sz="1250">
              <a:solidFill>
                <a:srgbClr val="39FF14"/>
              </a:solidFill>
              <a:latin typeface="Calibri"/>
              <a:ea typeface="Calibri"/>
              <a:cs typeface="Calibri"/>
              <a:sym typeface="Calibri"/>
            </a:endParaRPr>
          </a:p>
        </p:txBody>
      </p:sp>
      <p:sp>
        <p:nvSpPr>
          <p:cNvPr id="245" name="Google Shape;245;p31"/>
          <p:cNvSpPr/>
          <p:nvPr/>
        </p:nvSpPr>
        <p:spPr>
          <a:xfrm>
            <a:off x="6142675" y="2865053"/>
            <a:ext cx="5902800" cy="1752900"/>
          </a:xfrm>
          <a:prstGeom prst="rect">
            <a:avLst/>
          </a:prstGeom>
          <a:solidFill>
            <a:srgbClr val="081420"/>
          </a:solidFill>
          <a:ln cap="flat" cmpd="sng" w="25400">
            <a:solidFill>
              <a:srgbClr val="FFD7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6" name="Google Shape;246;p31"/>
          <p:cNvSpPr/>
          <p:nvPr/>
        </p:nvSpPr>
        <p:spPr>
          <a:xfrm>
            <a:off x="6142673" y="2865053"/>
            <a:ext cx="342900" cy="1752900"/>
          </a:xfrm>
          <a:prstGeom prst="rect">
            <a:avLst/>
          </a:prstGeom>
          <a:solidFill>
            <a:srgbClr val="FFD700"/>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0A0D1A"/>
                </a:solidFill>
                <a:latin typeface="Calibri"/>
                <a:ea typeface="Calibri"/>
                <a:cs typeface="Calibri"/>
                <a:sym typeface="Calibri"/>
              </a:rPr>
              <a:t>7</a:t>
            </a:r>
            <a:endParaRPr b="1" sz="2600">
              <a:solidFill>
                <a:srgbClr val="0A0D1A"/>
              </a:solidFill>
              <a:latin typeface="Calibri"/>
              <a:ea typeface="Calibri"/>
              <a:cs typeface="Calibri"/>
              <a:sym typeface="Calibri"/>
            </a:endParaRPr>
          </a:p>
        </p:txBody>
      </p:sp>
      <p:sp>
        <p:nvSpPr>
          <p:cNvPr id="247" name="Google Shape;247;p31"/>
          <p:cNvSpPr/>
          <p:nvPr/>
        </p:nvSpPr>
        <p:spPr>
          <a:xfrm>
            <a:off x="6542723" y="2865053"/>
            <a:ext cx="5356200" cy="1752900"/>
          </a:xfrm>
          <a:prstGeom prst="rect">
            <a:avLst/>
          </a:prstGeom>
          <a:solidFill>
            <a:srgbClr val="000000">
              <a:alpha val="0"/>
            </a:srgbClr>
          </a:solidFill>
          <a:ln>
            <a:noFill/>
          </a:ln>
        </p:spPr>
        <p:txBody>
          <a:bodyPr anchorCtr="0" anchor="ctr" bIns="60925" lIns="121900" spcFirstLastPara="1" rIns="121900" wrap="square" tIns="60925">
            <a:noAutofit/>
          </a:bodyPr>
          <a:lstStyle/>
          <a:p>
            <a:pPr indent="0" lvl="0" marL="0" rtl="0" algn="l">
              <a:spcBef>
                <a:spcPts val="27"/>
              </a:spcBef>
              <a:spcAft>
                <a:spcPts val="0"/>
              </a:spcAft>
              <a:buNone/>
            </a:pPr>
            <a:r>
              <a:rPr b="1" lang="en-US" sz="1700">
                <a:solidFill>
                  <a:srgbClr val="FFD700"/>
                </a:solidFill>
                <a:latin typeface="Calibri"/>
                <a:ea typeface="Calibri"/>
                <a:cs typeface="Calibri"/>
                <a:sym typeface="Calibri"/>
              </a:rPr>
              <a:t>Claude Code</a:t>
            </a:r>
            <a:endParaRPr b="1" sz="1700">
              <a:solidFill>
                <a:srgbClr val="FFD700"/>
              </a:solidFill>
              <a:latin typeface="Calibri"/>
              <a:ea typeface="Calibri"/>
              <a:cs typeface="Calibri"/>
              <a:sym typeface="Calibri"/>
            </a:endParaRPr>
          </a:p>
          <a:p>
            <a:pPr indent="0" lvl="0" marL="0" rtl="0" algn="l">
              <a:spcBef>
                <a:spcPts val="27"/>
              </a:spcBef>
              <a:spcAft>
                <a:spcPts val="0"/>
              </a:spcAft>
              <a:buNone/>
            </a:pPr>
            <a:r>
              <a:rPr b="0" i="1" lang="en-US" sz="1300">
                <a:solidFill>
                  <a:srgbClr val="A0AAB8"/>
                </a:solidFill>
                <a:latin typeface="Calibri"/>
                <a:ea typeface="Calibri"/>
                <a:cs typeface="Calibri"/>
                <a:sym typeface="Calibri"/>
              </a:rPr>
              <a:t>Anthropic — yasasbanukaofficial/claude-code</a:t>
            </a:r>
            <a:endParaRPr b="1" sz="1300">
              <a:solidFill>
                <a:srgbClr val="FFD700"/>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Two-stage fast-filter + chain-of-thought tool-call permission classifier.</a:t>
            </a:r>
            <a:endParaRPr b="1" sz="1300">
              <a:solidFill>
                <a:srgbClr val="FFD700"/>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27-event named hook architecture for operator intervention.</a:t>
            </a:r>
            <a:endParaRPr b="1" sz="1300">
              <a:solidFill>
                <a:srgbClr val="FFD700"/>
              </a:solidFill>
              <a:latin typeface="Calibri"/>
              <a:ea typeface="Calibri"/>
              <a:cs typeface="Calibri"/>
              <a:sym typeface="Calibri"/>
            </a:endParaRPr>
          </a:p>
          <a:p>
            <a:pPr indent="0" lvl="0" marL="0" rtl="0" algn="l">
              <a:spcBef>
                <a:spcPts val="27"/>
              </a:spcBef>
              <a:spcAft>
                <a:spcPts val="0"/>
              </a:spcAft>
              <a:buNone/>
            </a:pPr>
            <a:r>
              <a:rPr b="0" i="1" lang="en-US" sz="1250">
                <a:solidFill>
                  <a:srgbClr val="FFD700"/>
                </a:solidFill>
                <a:latin typeface="Calibri"/>
                <a:ea typeface="Calibri"/>
                <a:cs typeface="Calibri"/>
                <a:sym typeface="Calibri"/>
              </a:rPr>
              <a:t>Gap: Permission classification is general-purpose — not domain-aware. No offensive risk tier, scope enforcement, or security-intent routing.</a:t>
            </a:r>
            <a:endParaRPr b="1" sz="1250">
              <a:solidFill>
                <a:srgbClr val="FFD700"/>
              </a:solidFill>
              <a:latin typeface="Calibri"/>
              <a:ea typeface="Calibri"/>
              <a:cs typeface="Calibri"/>
              <a:sym typeface="Calibri"/>
            </a:endParaRPr>
          </a:p>
        </p:txBody>
      </p:sp>
      <p:sp>
        <p:nvSpPr>
          <p:cNvPr id="248" name="Google Shape;248;p31"/>
          <p:cNvSpPr/>
          <p:nvPr/>
        </p:nvSpPr>
        <p:spPr>
          <a:xfrm>
            <a:off x="6142675" y="4755106"/>
            <a:ext cx="5902800" cy="1752900"/>
          </a:xfrm>
          <a:prstGeom prst="rect">
            <a:avLst/>
          </a:prstGeom>
          <a:solidFill>
            <a:srgbClr val="081420"/>
          </a:solidFill>
          <a:ln cap="flat" cmpd="sng" w="25400">
            <a:solidFill>
              <a:srgbClr val="00E5FF"/>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9" name="Google Shape;249;p31"/>
          <p:cNvSpPr/>
          <p:nvPr/>
        </p:nvSpPr>
        <p:spPr>
          <a:xfrm>
            <a:off x="6142673" y="4755109"/>
            <a:ext cx="342900" cy="1752900"/>
          </a:xfrm>
          <a:prstGeom prst="rect">
            <a:avLst/>
          </a:prstGeom>
          <a:solidFill>
            <a:srgbClr val="00E5FF"/>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600">
                <a:solidFill>
                  <a:srgbClr val="0A0D1A"/>
                </a:solidFill>
                <a:latin typeface="Calibri"/>
                <a:ea typeface="Calibri"/>
                <a:cs typeface="Calibri"/>
                <a:sym typeface="Calibri"/>
              </a:rPr>
              <a:t>8</a:t>
            </a:r>
            <a:endParaRPr b="1" sz="2600">
              <a:solidFill>
                <a:srgbClr val="0A0D1A"/>
              </a:solidFill>
              <a:latin typeface="Calibri"/>
              <a:ea typeface="Calibri"/>
              <a:cs typeface="Calibri"/>
              <a:sym typeface="Calibri"/>
            </a:endParaRPr>
          </a:p>
        </p:txBody>
      </p:sp>
      <p:sp>
        <p:nvSpPr>
          <p:cNvPr id="250" name="Google Shape;250;p31"/>
          <p:cNvSpPr/>
          <p:nvPr/>
        </p:nvSpPr>
        <p:spPr>
          <a:xfrm>
            <a:off x="6542723" y="4755109"/>
            <a:ext cx="5356200" cy="1752900"/>
          </a:xfrm>
          <a:prstGeom prst="rect">
            <a:avLst/>
          </a:prstGeom>
          <a:solidFill>
            <a:srgbClr val="000000">
              <a:alpha val="0"/>
            </a:srgbClr>
          </a:solidFill>
          <a:ln>
            <a:noFill/>
          </a:ln>
        </p:spPr>
        <p:txBody>
          <a:bodyPr anchorCtr="0" anchor="ctr" bIns="60925" lIns="121900" spcFirstLastPara="1" rIns="121900" wrap="square" tIns="60925">
            <a:noAutofit/>
          </a:bodyPr>
          <a:lstStyle/>
          <a:p>
            <a:pPr indent="0" lvl="0" marL="0" rtl="0" algn="l">
              <a:spcBef>
                <a:spcPts val="27"/>
              </a:spcBef>
              <a:spcAft>
                <a:spcPts val="0"/>
              </a:spcAft>
              <a:buNone/>
            </a:pPr>
            <a:r>
              <a:rPr b="1" lang="en-US" sz="1700">
                <a:solidFill>
                  <a:srgbClr val="00E5FF"/>
                </a:solidFill>
                <a:latin typeface="Calibri"/>
                <a:ea typeface="Calibri"/>
                <a:cs typeface="Calibri"/>
                <a:sym typeface="Calibri"/>
              </a:rPr>
              <a:t>Hermes Agent</a:t>
            </a:r>
            <a:endParaRPr b="1" sz="1700">
              <a:solidFill>
                <a:srgbClr val="00E5FF"/>
              </a:solidFill>
              <a:latin typeface="Calibri"/>
              <a:ea typeface="Calibri"/>
              <a:cs typeface="Calibri"/>
              <a:sym typeface="Calibri"/>
            </a:endParaRPr>
          </a:p>
          <a:p>
            <a:pPr indent="0" lvl="0" marL="0" rtl="0" algn="l">
              <a:spcBef>
                <a:spcPts val="27"/>
              </a:spcBef>
              <a:spcAft>
                <a:spcPts val="0"/>
              </a:spcAft>
              <a:buNone/>
            </a:pPr>
            <a:r>
              <a:rPr b="0" i="1" lang="en-US" sz="1300">
                <a:solidFill>
                  <a:srgbClr val="A0AAB8"/>
                </a:solidFill>
                <a:latin typeface="Calibri"/>
                <a:ea typeface="Calibri"/>
                <a:cs typeface="Calibri"/>
                <a:sym typeface="Calibri"/>
              </a:rPr>
              <a:t>NousResearch/hermes-agent</a:t>
            </a:r>
            <a:endParaRPr b="1" sz="1300">
              <a:solidFill>
                <a:srgbClr val="00E5FF"/>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Closed learning loop: skill crystallization from completed tasks.</a:t>
            </a:r>
            <a:endParaRPr b="1" sz="1300">
              <a:solidFill>
                <a:srgbClr val="00E5FF"/>
              </a:solidFill>
              <a:latin typeface="Calibri"/>
              <a:ea typeface="Calibri"/>
              <a:cs typeface="Calibri"/>
              <a:sym typeface="Calibri"/>
            </a:endParaRPr>
          </a:p>
          <a:p>
            <a:pPr indent="0" lvl="0" marL="0" rtl="0" algn="l">
              <a:spcBef>
                <a:spcPts val="27"/>
              </a:spcBef>
              <a:spcAft>
                <a:spcPts val="0"/>
              </a:spcAft>
              <a:buNone/>
            </a:pPr>
            <a:r>
              <a:rPr b="0" i="0" lang="en-US" sz="1300">
                <a:solidFill>
                  <a:srgbClr val="CCCCCC"/>
                </a:solidFill>
                <a:latin typeface="Calibri"/>
                <a:ea typeface="Calibri"/>
                <a:cs typeface="Calibri"/>
                <a:sym typeface="Calibri"/>
              </a:rPr>
              <a:t>Structured trajectory export for SFT/RL training via DSPy + Atropos.</a:t>
            </a:r>
            <a:endParaRPr b="1" sz="1300">
              <a:solidFill>
                <a:srgbClr val="00E5FF"/>
              </a:solidFill>
              <a:latin typeface="Calibri"/>
              <a:ea typeface="Calibri"/>
              <a:cs typeface="Calibri"/>
              <a:sym typeface="Calibri"/>
            </a:endParaRPr>
          </a:p>
          <a:p>
            <a:pPr indent="0" lvl="0" marL="0" rtl="0" algn="l">
              <a:spcBef>
                <a:spcPts val="27"/>
              </a:spcBef>
              <a:spcAft>
                <a:spcPts val="0"/>
              </a:spcAft>
              <a:buNone/>
            </a:pPr>
            <a:r>
              <a:rPr b="0" i="1" lang="en-US" sz="1250">
                <a:solidFill>
                  <a:srgbClr val="00E5FF"/>
                </a:solidFill>
                <a:latin typeface="Calibri"/>
                <a:ea typeface="Calibri"/>
                <a:cs typeface="Calibri"/>
                <a:sym typeface="Calibri"/>
              </a:rPr>
              <a:t>Gap: Skill crystallization and trajectory export are general-purpose. No security-domain indexing, APG integration, or dual-graph event format.</a:t>
            </a:r>
            <a:endParaRPr b="1" sz="1250">
              <a:solidFill>
                <a:srgbClr val="00E5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54" name="Shape 254"/>
        <p:cNvGrpSpPr/>
        <p:nvPr/>
      </p:nvGrpSpPr>
      <p:grpSpPr>
        <a:xfrm>
          <a:off x="0" y="0"/>
          <a:ext cx="0" cy="0"/>
          <a:chOff x="0" y="0"/>
          <a:chExt cx="0" cy="0"/>
        </a:xfrm>
      </p:grpSpPr>
      <p:sp>
        <p:nvSpPr>
          <p:cNvPr id="255" name="Google Shape;255;p32"/>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6" name="Google Shape;256;p32"/>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p32"/>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8" name="Google Shape;258;p32"/>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E5FF"/>
                </a:solidFill>
                <a:latin typeface="Calibri"/>
                <a:ea typeface="Calibri"/>
                <a:cs typeface="Calibri"/>
                <a:sym typeface="Calibri"/>
              </a:rPr>
              <a:t>SCOPE</a:t>
            </a:r>
            <a:endParaRPr/>
          </a:p>
        </p:txBody>
      </p:sp>
      <p:sp>
        <p:nvSpPr>
          <p:cNvPr id="259" name="Google Shape;259;p32"/>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FFFFFF"/>
                </a:solidFill>
                <a:latin typeface="Calibri"/>
                <a:ea typeface="Calibri"/>
                <a:cs typeface="Calibri"/>
                <a:sym typeface="Calibri"/>
              </a:rPr>
              <a:t>What CMatrix Assesses — and What It Does Not</a:t>
            </a:r>
            <a:endParaRPr/>
          </a:p>
        </p:txBody>
      </p:sp>
      <p:sp>
        <p:nvSpPr>
          <p:cNvPr id="260" name="Google Shape;260;p32"/>
          <p:cNvSpPr/>
          <p:nvPr/>
        </p:nvSpPr>
        <p:spPr>
          <a:xfrm>
            <a:off x="201168" y="987552"/>
            <a:ext cx="5394960" cy="5321810"/>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1" name="Google Shape;261;p32"/>
          <p:cNvSpPr/>
          <p:nvPr/>
        </p:nvSpPr>
        <p:spPr>
          <a:xfrm>
            <a:off x="201168" y="987552"/>
            <a:ext cx="5394960" cy="31089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2" name="Google Shape;262;p32"/>
          <p:cNvSpPr txBox="1"/>
          <p:nvPr/>
        </p:nvSpPr>
        <p:spPr>
          <a:xfrm>
            <a:off x="310896" y="1033272"/>
            <a:ext cx="521208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0A0D1A"/>
                </a:solidFill>
                <a:latin typeface="Calibri"/>
                <a:ea typeface="Calibri"/>
                <a:cs typeface="Calibri"/>
                <a:sym typeface="Calibri"/>
              </a:rPr>
              <a:t>✓  IN SCOPE</a:t>
            </a:r>
            <a:endParaRPr/>
          </a:p>
        </p:txBody>
      </p:sp>
      <p:sp>
        <p:nvSpPr>
          <p:cNvPr id="263" name="Google Shape;263;p32"/>
          <p:cNvSpPr/>
          <p:nvPr/>
        </p:nvSpPr>
        <p:spPr>
          <a:xfrm>
            <a:off x="310896" y="1389888"/>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32"/>
          <p:cNvSpPr txBox="1"/>
          <p:nvPr/>
        </p:nvSpPr>
        <p:spPr>
          <a:xfrm>
            <a:off x="402336" y="1435608"/>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Web Applications</a:t>
            </a:r>
            <a:endParaRPr/>
          </a:p>
        </p:txBody>
      </p:sp>
      <p:sp>
        <p:nvSpPr>
          <p:cNvPr id="265" name="Google Shape;265;p32"/>
          <p:cNvSpPr txBox="1"/>
          <p:nvPr/>
        </p:nvSpPr>
        <p:spPr>
          <a:xfrm>
            <a:off x="402336" y="1664208"/>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HTTP/HTTPS services, CMS, REST APIs, GraphQL endpoints.</a:t>
            </a:r>
            <a:endParaRPr/>
          </a:p>
        </p:txBody>
      </p:sp>
      <p:sp>
        <p:nvSpPr>
          <p:cNvPr id="266" name="Google Shape;266;p32"/>
          <p:cNvSpPr/>
          <p:nvPr/>
        </p:nvSpPr>
        <p:spPr>
          <a:xfrm>
            <a:off x="310896" y="2225650"/>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7" name="Google Shape;267;p32"/>
          <p:cNvSpPr txBox="1"/>
          <p:nvPr/>
        </p:nvSpPr>
        <p:spPr>
          <a:xfrm>
            <a:off x="402336" y="2271370"/>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Network Services</a:t>
            </a:r>
            <a:endParaRPr/>
          </a:p>
        </p:txBody>
      </p:sp>
      <p:sp>
        <p:nvSpPr>
          <p:cNvPr id="268" name="Google Shape;268;p32"/>
          <p:cNvSpPr txBox="1"/>
          <p:nvPr/>
        </p:nvSpPr>
        <p:spPr>
          <a:xfrm>
            <a:off x="402336" y="2499970"/>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Exposed ports, services, TLS/SSL, open protocols.</a:t>
            </a:r>
            <a:endParaRPr/>
          </a:p>
        </p:txBody>
      </p:sp>
      <p:sp>
        <p:nvSpPr>
          <p:cNvPr id="269" name="Google Shape;269;p32"/>
          <p:cNvSpPr/>
          <p:nvPr/>
        </p:nvSpPr>
        <p:spPr>
          <a:xfrm>
            <a:off x="310896" y="3061412"/>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0" name="Google Shape;270;p32"/>
          <p:cNvSpPr txBox="1"/>
          <p:nvPr/>
        </p:nvSpPr>
        <p:spPr>
          <a:xfrm>
            <a:off x="402336" y="3107132"/>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API Attack Surface</a:t>
            </a:r>
            <a:endParaRPr/>
          </a:p>
        </p:txBody>
      </p:sp>
      <p:sp>
        <p:nvSpPr>
          <p:cNvPr id="271" name="Google Shape;271;p32"/>
          <p:cNvSpPr txBox="1"/>
          <p:nvPr/>
        </p:nvSpPr>
        <p:spPr>
          <a:xfrm>
            <a:off x="402336" y="3335732"/>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REST endpoints, parameter injection, IDOR, auth bypass.</a:t>
            </a:r>
            <a:endParaRPr/>
          </a:p>
        </p:txBody>
      </p:sp>
      <p:sp>
        <p:nvSpPr>
          <p:cNvPr id="272" name="Google Shape;272;p32"/>
          <p:cNvSpPr/>
          <p:nvPr/>
        </p:nvSpPr>
        <p:spPr>
          <a:xfrm>
            <a:off x="310896" y="3897174"/>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3" name="Google Shape;273;p32"/>
          <p:cNvSpPr txBox="1"/>
          <p:nvPr/>
        </p:nvSpPr>
        <p:spPr>
          <a:xfrm>
            <a:off x="402336" y="3942894"/>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Black-Box Mode</a:t>
            </a:r>
            <a:endParaRPr/>
          </a:p>
        </p:txBody>
      </p:sp>
      <p:sp>
        <p:nvSpPr>
          <p:cNvPr id="274" name="Google Shape;274;p32"/>
          <p:cNvSpPr txBox="1"/>
          <p:nvPr/>
        </p:nvSpPr>
        <p:spPr>
          <a:xfrm>
            <a:off x="402336" y="4171494"/>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Zero prior knowledge. Operator provides: root domain + scope declaration only.</a:t>
            </a:r>
            <a:endParaRPr/>
          </a:p>
        </p:txBody>
      </p:sp>
      <p:sp>
        <p:nvSpPr>
          <p:cNvPr id="275" name="Google Shape;275;p32"/>
          <p:cNvSpPr/>
          <p:nvPr/>
        </p:nvSpPr>
        <p:spPr>
          <a:xfrm>
            <a:off x="310896" y="4732936"/>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6" name="Google Shape;276;p32"/>
          <p:cNvSpPr txBox="1"/>
          <p:nvPr/>
        </p:nvSpPr>
        <p:spPr>
          <a:xfrm>
            <a:off x="402336" y="4778656"/>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Grey-Box Mode</a:t>
            </a:r>
            <a:endParaRPr/>
          </a:p>
        </p:txBody>
      </p:sp>
      <p:sp>
        <p:nvSpPr>
          <p:cNvPr id="277" name="Google Shape;277;p32"/>
          <p:cNvSpPr txBox="1"/>
          <p:nvPr/>
        </p:nvSpPr>
        <p:spPr>
          <a:xfrm>
            <a:off x="402336" y="5007256"/>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Partial knowledge. Operator additionally provides: known IP ranges, credentials, network topology fragments. ASG Host nodes are pre-seeded.</a:t>
            </a:r>
            <a:endParaRPr/>
          </a:p>
        </p:txBody>
      </p:sp>
      <p:sp>
        <p:nvSpPr>
          <p:cNvPr id="278" name="Google Shape;278;p32"/>
          <p:cNvSpPr/>
          <p:nvPr/>
        </p:nvSpPr>
        <p:spPr>
          <a:xfrm>
            <a:off x="310896" y="5568698"/>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32"/>
          <p:cNvSpPr txBox="1"/>
          <p:nvPr/>
        </p:nvSpPr>
        <p:spPr>
          <a:xfrm>
            <a:off x="402336" y="5614418"/>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Authorised Assessments</a:t>
            </a:r>
            <a:endParaRPr/>
          </a:p>
        </p:txBody>
      </p:sp>
      <p:sp>
        <p:nvSpPr>
          <p:cNvPr id="280" name="Google Shape;280;p32"/>
          <p:cNvSpPr txBox="1"/>
          <p:nvPr/>
        </p:nvSpPr>
        <p:spPr>
          <a:xfrm>
            <a:off x="402336" y="5843018"/>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CMatrix operates only within declared scope. Scope check fires before every tool execution at the Risk Gate.</a:t>
            </a:r>
            <a:endParaRPr/>
          </a:p>
        </p:txBody>
      </p:sp>
      <p:sp>
        <p:nvSpPr>
          <p:cNvPr id="281" name="Google Shape;281;p32"/>
          <p:cNvSpPr/>
          <p:nvPr/>
        </p:nvSpPr>
        <p:spPr>
          <a:xfrm>
            <a:off x="5779008" y="987552"/>
            <a:ext cx="4480560" cy="3108960"/>
          </a:xfrm>
          <a:prstGeom prst="rect">
            <a:avLst/>
          </a:prstGeom>
          <a:solidFill>
            <a:srgbClr val="1C0808"/>
          </a:solidFill>
          <a:ln cap="flat" cmpd="sng" w="228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2" name="Google Shape;282;p32"/>
          <p:cNvSpPr/>
          <p:nvPr/>
        </p:nvSpPr>
        <p:spPr>
          <a:xfrm>
            <a:off x="5779008" y="987552"/>
            <a:ext cx="4480560" cy="31089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32"/>
          <p:cNvSpPr txBox="1"/>
          <p:nvPr/>
        </p:nvSpPr>
        <p:spPr>
          <a:xfrm>
            <a:off x="5888736" y="1033272"/>
            <a:ext cx="429768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  OUT OF SCOPE</a:t>
            </a:r>
            <a:endParaRPr/>
          </a:p>
        </p:txBody>
      </p:sp>
      <p:sp>
        <p:nvSpPr>
          <p:cNvPr id="284" name="Google Shape;284;p32"/>
          <p:cNvSpPr/>
          <p:nvPr/>
        </p:nvSpPr>
        <p:spPr>
          <a:xfrm>
            <a:off x="5888736" y="1389888"/>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32"/>
          <p:cNvSpPr txBox="1"/>
          <p:nvPr/>
        </p:nvSpPr>
        <p:spPr>
          <a:xfrm>
            <a:off x="5980176" y="1444752"/>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White-Box  (source code review, SAST)</a:t>
            </a:r>
            <a:endParaRPr/>
          </a:p>
        </p:txBody>
      </p:sp>
      <p:sp>
        <p:nvSpPr>
          <p:cNvPr id="286" name="Google Shape;286;p32"/>
          <p:cNvSpPr/>
          <p:nvPr/>
        </p:nvSpPr>
        <p:spPr>
          <a:xfrm>
            <a:off x="5888736" y="1828800"/>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7" name="Google Shape;287;p32"/>
          <p:cNvSpPr txBox="1"/>
          <p:nvPr/>
        </p:nvSpPr>
        <p:spPr>
          <a:xfrm>
            <a:off x="5980176" y="1883664"/>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Mobile Applications  (iOS, Android)</a:t>
            </a:r>
            <a:endParaRPr/>
          </a:p>
        </p:txBody>
      </p:sp>
      <p:sp>
        <p:nvSpPr>
          <p:cNvPr id="288" name="Google Shape;288;p32"/>
          <p:cNvSpPr/>
          <p:nvPr/>
        </p:nvSpPr>
        <p:spPr>
          <a:xfrm>
            <a:off x="5888736" y="2267712"/>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32"/>
          <p:cNvSpPr txBox="1"/>
          <p:nvPr/>
        </p:nvSpPr>
        <p:spPr>
          <a:xfrm>
            <a:off x="5980176" y="2322576"/>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Cloud / IoT Infrastructure  (AWS, Azure, embedded devices)</a:t>
            </a:r>
            <a:endParaRPr/>
          </a:p>
        </p:txBody>
      </p:sp>
      <p:sp>
        <p:nvSpPr>
          <p:cNvPr id="290" name="Google Shape;290;p32"/>
          <p:cNvSpPr/>
          <p:nvPr/>
        </p:nvSpPr>
        <p:spPr>
          <a:xfrm>
            <a:off x="5888736" y="2706624"/>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1" name="Google Shape;291;p32"/>
          <p:cNvSpPr txBox="1"/>
          <p:nvPr/>
        </p:nvSpPr>
        <p:spPr>
          <a:xfrm>
            <a:off x="5980176" y="2761488"/>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Wireless Networks  (Wi-Fi, Bluetooth, RF)</a:t>
            </a:r>
            <a:endParaRPr/>
          </a:p>
        </p:txBody>
      </p:sp>
      <p:sp>
        <p:nvSpPr>
          <p:cNvPr id="292" name="Google Shape;292;p32"/>
          <p:cNvSpPr/>
          <p:nvPr/>
        </p:nvSpPr>
        <p:spPr>
          <a:xfrm>
            <a:off x="5888736" y="3145536"/>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3" name="Google Shape;293;p32"/>
          <p:cNvSpPr txBox="1"/>
          <p:nvPr/>
        </p:nvSpPr>
        <p:spPr>
          <a:xfrm>
            <a:off x="5980176" y="3200400"/>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Active Directory / Domain Services</a:t>
            </a:r>
            <a:endParaRPr/>
          </a:p>
        </p:txBody>
      </p:sp>
      <p:sp>
        <p:nvSpPr>
          <p:cNvPr id="294" name="Google Shape;294;p32"/>
          <p:cNvSpPr/>
          <p:nvPr/>
        </p:nvSpPr>
        <p:spPr>
          <a:xfrm>
            <a:off x="5888736" y="3584448"/>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5" name="Google Shape;295;p32"/>
          <p:cNvSpPr txBox="1"/>
          <p:nvPr/>
        </p:nvSpPr>
        <p:spPr>
          <a:xfrm>
            <a:off x="5980176" y="3639312"/>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Physical / Social Engineering Attacks</a:t>
            </a:r>
            <a:endParaRPr/>
          </a:p>
        </p:txBody>
      </p:sp>
      <p:sp>
        <p:nvSpPr>
          <p:cNvPr id="296" name="Google Shape;296;p32"/>
          <p:cNvSpPr/>
          <p:nvPr/>
        </p:nvSpPr>
        <p:spPr>
          <a:xfrm>
            <a:off x="5779008" y="4206240"/>
            <a:ext cx="4480560" cy="1719072"/>
          </a:xfrm>
          <a:prstGeom prst="rect">
            <a:avLst/>
          </a:prstGeom>
          <a:solidFill>
            <a:srgbClr val="06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7" name="Google Shape;297;p32"/>
          <p:cNvSpPr/>
          <p:nvPr/>
        </p:nvSpPr>
        <p:spPr>
          <a:xfrm>
            <a:off x="5779008" y="4206240"/>
            <a:ext cx="448056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8" name="Google Shape;298;p32"/>
          <p:cNvSpPr txBox="1"/>
          <p:nvPr/>
        </p:nvSpPr>
        <p:spPr>
          <a:xfrm>
            <a:off x="5870448" y="4242816"/>
            <a:ext cx="4315968"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0A0D1A"/>
                </a:solidFill>
                <a:latin typeface="Calibri"/>
                <a:ea typeface="Calibri"/>
                <a:cs typeface="Calibri"/>
                <a:sym typeface="Calibri"/>
              </a:rPr>
              <a:t>OPERATOR CONFIGURATION  (one-time, before mission start)</a:t>
            </a:r>
            <a:endParaRPr/>
          </a:p>
        </p:txBody>
      </p:sp>
      <p:sp>
        <p:nvSpPr>
          <p:cNvPr id="299" name="Google Shape;299;p32"/>
          <p:cNvSpPr txBox="1"/>
          <p:nvPr/>
        </p:nvSpPr>
        <p:spPr>
          <a:xfrm>
            <a:off x="5943600" y="4553712"/>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Root domain (e.g. shopvault.io)</a:t>
            </a:r>
            <a:endParaRPr/>
          </a:p>
        </p:txBody>
      </p:sp>
      <p:sp>
        <p:nvSpPr>
          <p:cNvPr id="300" name="Google Shape;300;p32"/>
          <p:cNvSpPr txBox="1"/>
          <p:nvPr/>
        </p:nvSpPr>
        <p:spPr>
          <a:xfrm>
            <a:off x="5943600" y="4864608"/>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Scope declaration  (all subdomains · web apps · APIs)</a:t>
            </a:r>
            <a:endParaRPr/>
          </a:p>
        </p:txBody>
      </p:sp>
      <p:sp>
        <p:nvSpPr>
          <p:cNvPr id="301" name="Google Shape;301;p32"/>
          <p:cNvSpPr txBox="1"/>
          <p:nvPr/>
        </p:nvSpPr>
        <p:spPr>
          <a:xfrm>
            <a:off x="5943600" y="5175504"/>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Assessment mode  (Black-Box or Grey-Box)</a:t>
            </a:r>
            <a:endParaRPr/>
          </a:p>
        </p:txBody>
      </p:sp>
      <p:sp>
        <p:nvSpPr>
          <p:cNvPr id="302" name="Google Shape;302;p32"/>
          <p:cNvSpPr txBox="1"/>
          <p:nvPr/>
        </p:nvSpPr>
        <p:spPr>
          <a:xfrm>
            <a:off x="5943600" y="5486400"/>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Grey-Box extras if applicable  (IP ranges, credentials)</a:t>
            </a:r>
            <a:endParaRPr/>
          </a:p>
        </p:txBody>
      </p:sp>
      <p:sp>
        <p:nvSpPr>
          <p:cNvPr id="303" name="Google Shape;303;p32"/>
          <p:cNvSpPr txBox="1"/>
          <p:nvPr/>
        </p:nvSpPr>
        <p:spPr>
          <a:xfrm>
            <a:off x="5815550" y="5980897"/>
            <a:ext cx="42063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50" u="none" cap="none" strike="noStrike">
                <a:solidFill>
                  <a:srgbClr val="A0AAB8"/>
                </a:solidFill>
                <a:latin typeface="Calibri"/>
                <a:ea typeface="Calibri"/>
                <a:cs typeface="Calibri"/>
                <a:sym typeface="Calibri"/>
              </a:rPr>
              <a:t>All subsequent tool calls, reasoning, and reporting are fully autonomous —</a:t>
            </a:r>
            <a:endParaRPr b="0" i="1" sz="950" u="none" cap="none" strike="noStrike">
              <a:solidFill>
                <a:srgbClr val="A0AAB8"/>
              </a:solidFill>
              <a:latin typeface="Calibri"/>
              <a:ea typeface="Calibri"/>
              <a:cs typeface="Calibri"/>
              <a:sym typeface="Calibri"/>
            </a:endParaRPr>
          </a:p>
          <a:p>
            <a:pPr indent="0" lvl="0" marL="0" marR="0" rtl="0" algn="l">
              <a:spcBef>
                <a:spcPts val="0"/>
              </a:spcBef>
              <a:spcAft>
                <a:spcPts val="0"/>
              </a:spcAft>
              <a:buNone/>
            </a:pPr>
            <a:r>
              <a:rPr b="0" i="1" lang="en-US" sz="950" u="none" cap="none" strike="noStrike">
                <a:solidFill>
                  <a:srgbClr val="A0AAB8"/>
                </a:solidFill>
                <a:latin typeface="Calibri"/>
                <a:ea typeface="Calibri"/>
                <a:cs typeface="Calibri"/>
                <a:sym typeface="Calibri"/>
              </a:rPr>
              <a:t>zero manual commands during the assessment.</a:t>
            </a:r>
            <a:endParaRPr/>
          </a:p>
        </p:txBody>
      </p:sp>
      <p:sp>
        <p:nvSpPr>
          <p:cNvPr id="304" name="Google Shape;304;p32"/>
          <p:cNvSpPr txBox="1"/>
          <p:nvPr/>
        </p:nvSpPr>
        <p:spPr>
          <a:xfrm>
            <a:off x="11801986"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u="none" cap="none" strike="noStrike">
                <a:solidFill>
                  <a:srgbClr val="00E5FF"/>
                </a:solidFill>
                <a:latin typeface="Calibri"/>
                <a:ea typeface="Calibri"/>
                <a:cs typeface="Calibri"/>
                <a:sym typeface="Calibri"/>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308" name="Shape 308"/>
        <p:cNvGrpSpPr/>
        <p:nvPr/>
      </p:nvGrpSpPr>
      <p:grpSpPr>
        <a:xfrm>
          <a:off x="0" y="0"/>
          <a:ext cx="0" cy="0"/>
          <a:chOff x="0" y="0"/>
          <a:chExt cx="0" cy="0"/>
        </a:xfrm>
      </p:grpSpPr>
      <p:sp>
        <p:nvSpPr>
          <p:cNvPr id="309" name="Google Shape;309;p33"/>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33"/>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33"/>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33"/>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SYSTEM ARCHITECTURE</a:t>
            </a:r>
            <a:endParaRPr b="0" i="0" sz="1400" u="none" cap="none" strike="noStrike">
              <a:solidFill>
                <a:srgbClr val="000000"/>
              </a:solidFill>
              <a:latin typeface="Arial"/>
              <a:ea typeface="Arial"/>
              <a:cs typeface="Arial"/>
              <a:sym typeface="Arial"/>
            </a:endParaRPr>
          </a:p>
        </p:txBody>
      </p:sp>
      <p:sp>
        <p:nvSpPr>
          <p:cNvPr id="313" name="Google Shape;313;p33"/>
          <p:cNvSpPr txBox="1"/>
          <p:nvPr/>
        </p:nvSpPr>
        <p:spPr>
          <a:xfrm>
            <a:off x="274320" y="301752"/>
            <a:ext cx="1005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CMatrix — Three-Tier Architecture Overview</a:t>
            </a:r>
            <a:endParaRPr b="0" i="0" sz="1400" u="none" cap="none" strike="noStrike">
              <a:solidFill>
                <a:srgbClr val="000000"/>
              </a:solidFill>
              <a:latin typeface="Arial"/>
              <a:ea typeface="Arial"/>
              <a:cs typeface="Arial"/>
              <a:sym typeface="Arial"/>
            </a:endParaRPr>
          </a:p>
        </p:txBody>
      </p:sp>
      <p:sp>
        <p:nvSpPr>
          <p:cNvPr id="314" name="Google Shape;314;p33"/>
          <p:cNvSpPr/>
          <p:nvPr/>
        </p:nvSpPr>
        <p:spPr>
          <a:xfrm>
            <a:off x="164592" y="804672"/>
            <a:ext cx="11862511" cy="1280160"/>
          </a:xfrm>
          <a:prstGeom prst="rect">
            <a:avLst/>
          </a:prstGeom>
          <a:solidFill>
            <a:srgbClr val="061020"/>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33"/>
          <p:cNvSpPr txBox="1"/>
          <p:nvPr/>
        </p:nvSpPr>
        <p:spPr>
          <a:xfrm>
            <a:off x="201168" y="850392"/>
            <a:ext cx="14630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① ORCHESTRATION</a:t>
            </a:r>
            <a:endParaRPr b="0" i="0" sz="1400" u="none" cap="none" strike="noStrike">
              <a:solidFill>
                <a:srgbClr val="000000"/>
              </a:solidFill>
              <a:latin typeface="Arial"/>
              <a:ea typeface="Arial"/>
              <a:cs typeface="Arial"/>
              <a:sym typeface="Arial"/>
            </a:endParaRPr>
          </a:p>
        </p:txBody>
      </p:sp>
      <p:sp>
        <p:nvSpPr>
          <p:cNvPr id="316" name="Google Shape;316;p33"/>
          <p:cNvSpPr/>
          <p:nvPr/>
        </p:nvSpPr>
        <p:spPr>
          <a:xfrm>
            <a:off x="320040" y="1060704"/>
            <a:ext cx="1554480" cy="877824"/>
          </a:xfrm>
          <a:prstGeom prst="rect">
            <a:avLst/>
          </a:prstGeom>
          <a:solidFill>
            <a:srgbClr val="0C182E"/>
          </a:solidFill>
          <a:ln cap="flat" cmpd="sng" w="10150">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33"/>
          <p:cNvSpPr txBox="1"/>
          <p:nvPr/>
        </p:nvSpPr>
        <p:spPr>
          <a:xfrm>
            <a:off x="320040" y="1115568"/>
            <a:ext cx="15544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A0AAB8"/>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sp>
        <p:nvSpPr>
          <p:cNvPr id="318" name="Google Shape;318;p33"/>
          <p:cNvSpPr txBox="1"/>
          <p:nvPr/>
        </p:nvSpPr>
        <p:spPr>
          <a:xfrm>
            <a:off x="320040" y="1371600"/>
            <a:ext cx="155448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Target · Scope · Mode</a:t>
            </a:r>
            <a:endParaRPr b="0" i="0" sz="1400" u="none" cap="none" strike="noStrike">
              <a:solidFill>
                <a:srgbClr val="000000"/>
              </a:solidFill>
              <a:latin typeface="Arial"/>
              <a:ea typeface="Arial"/>
              <a:cs typeface="Arial"/>
              <a:sym typeface="Arial"/>
            </a:endParaRPr>
          </a:p>
        </p:txBody>
      </p:sp>
      <p:cxnSp>
        <p:nvCxnSpPr>
          <p:cNvPr id="319" name="Google Shape;319;p33"/>
          <p:cNvCxnSpPr/>
          <p:nvPr/>
        </p:nvCxnSpPr>
        <p:spPr>
          <a:xfrm>
            <a:off x="1874520" y="0"/>
            <a:ext cx="210311"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20" name="Google Shape;320;p33"/>
          <p:cNvSpPr txBox="1"/>
          <p:nvPr/>
        </p:nvSpPr>
        <p:spPr>
          <a:xfrm>
            <a:off x="1901952" y="1225296"/>
            <a:ext cx="82296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303848"/>
                </a:solidFill>
                <a:latin typeface="Calibri"/>
                <a:ea typeface="Calibri"/>
                <a:cs typeface="Calibri"/>
                <a:sym typeface="Calibri"/>
              </a:rPr>
              <a:t>mission config</a:t>
            </a:r>
            <a:endParaRPr b="0" i="0" sz="1400" u="none" cap="none" strike="noStrike">
              <a:solidFill>
                <a:srgbClr val="000000"/>
              </a:solidFill>
              <a:latin typeface="Arial"/>
              <a:ea typeface="Arial"/>
              <a:cs typeface="Arial"/>
              <a:sym typeface="Arial"/>
            </a:endParaRPr>
          </a:p>
        </p:txBody>
      </p:sp>
      <p:sp>
        <p:nvSpPr>
          <p:cNvPr id="321" name="Google Shape;321;p33"/>
          <p:cNvSpPr/>
          <p:nvPr/>
        </p:nvSpPr>
        <p:spPr>
          <a:xfrm>
            <a:off x="2084831" y="941832"/>
            <a:ext cx="2834640" cy="1005840"/>
          </a:xfrm>
          <a:prstGeom prst="rect">
            <a:avLst/>
          </a:prstGeom>
          <a:solidFill>
            <a:srgbClr val="04162E"/>
          </a:solidFill>
          <a:ln cap="flat" cmpd="sng" w="254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p33"/>
          <p:cNvSpPr/>
          <p:nvPr/>
        </p:nvSpPr>
        <p:spPr>
          <a:xfrm>
            <a:off x="2084831" y="941832"/>
            <a:ext cx="283464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p33"/>
          <p:cNvSpPr txBox="1"/>
          <p:nvPr/>
        </p:nvSpPr>
        <p:spPr>
          <a:xfrm>
            <a:off x="2084831" y="969264"/>
            <a:ext cx="283464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324" name="Google Shape;324;p33"/>
          <p:cNvSpPr txBox="1"/>
          <p:nvPr/>
        </p:nvSpPr>
        <p:spPr>
          <a:xfrm>
            <a:off x="2194250" y="1212425"/>
            <a:ext cx="2632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Reads ASG + APG state </a:t>
            </a:r>
            <a:endParaRPr b="0" i="0" sz="800" u="none" cap="none" strike="noStrike">
              <a:solidFill>
                <a:srgbClr val="A0AAB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lang="en-US" sz="800">
                <a:solidFill>
                  <a:srgbClr val="A0AAB8"/>
                </a:solidFill>
                <a:latin typeface="Calibri"/>
                <a:ea typeface="Calibri"/>
                <a:cs typeface="Calibri"/>
                <a:sym typeface="Calibri"/>
              </a:rPr>
              <a:t>• Plans &amp; delegates tasks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Seeds APG AttackChains from Vulnerability nodes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Approves High-risk ops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Writes to APG only</a:t>
            </a:r>
            <a:endParaRPr sz="800">
              <a:solidFill>
                <a:srgbClr val="A0AAB8"/>
              </a:solidFill>
              <a:latin typeface="Calibri"/>
              <a:ea typeface="Calibri"/>
              <a:cs typeface="Calibri"/>
              <a:sym typeface="Calibri"/>
            </a:endParaRPr>
          </a:p>
        </p:txBody>
      </p:sp>
      <p:sp>
        <p:nvSpPr>
          <p:cNvPr id="325" name="Google Shape;325;p33"/>
          <p:cNvSpPr/>
          <p:nvPr/>
        </p:nvSpPr>
        <p:spPr>
          <a:xfrm>
            <a:off x="5120640" y="1060704"/>
            <a:ext cx="6793992" cy="877824"/>
          </a:xfrm>
          <a:prstGeom prst="rect">
            <a:avLst/>
          </a:prstGeom>
          <a:solidFill>
            <a:srgbClr val="100C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6" name="Google Shape;326;p33"/>
          <p:cNvSpPr txBox="1"/>
          <p:nvPr/>
        </p:nvSpPr>
        <p:spPr>
          <a:xfrm>
            <a:off x="5120640" y="1115568"/>
            <a:ext cx="6793992"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VAPT PROTOCOL PROMPT</a:t>
            </a:r>
            <a:endParaRPr b="0" i="0" sz="1400" u="none" cap="none" strike="noStrike">
              <a:solidFill>
                <a:srgbClr val="000000"/>
              </a:solidFill>
              <a:latin typeface="Arial"/>
              <a:ea typeface="Arial"/>
              <a:cs typeface="Arial"/>
              <a:sym typeface="Arial"/>
            </a:endParaRPr>
          </a:p>
        </p:txBody>
      </p:sp>
      <p:sp>
        <p:nvSpPr>
          <p:cNvPr id="327" name="Google Shape;327;p33"/>
          <p:cNvSpPr txBox="1"/>
          <p:nvPr/>
        </p:nvSpPr>
        <p:spPr>
          <a:xfrm>
            <a:off x="5212080" y="1353312"/>
            <a:ext cx="6611112"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Phase rules · Re-plan triggers · Termination conditions · Methodology-as-config (C7)</a:t>
            </a:r>
            <a:endParaRPr b="0" i="0" sz="1400" u="none" cap="none" strike="noStrike">
              <a:solidFill>
                <a:srgbClr val="000000"/>
              </a:solidFill>
              <a:latin typeface="Arial"/>
              <a:ea typeface="Arial"/>
              <a:cs typeface="Arial"/>
              <a:sym typeface="Arial"/>
            </a:endParaRPr>
          </a:p>
        </p:txBody>
      </p:sp>
      <p:cxnSp>
        <p:nvCxnSpPr>
          <p:cNvPr id="328" name="Google Shape;328;p33"/>
          <p:cNvCxnSpPr/>
          <p:nvPr/>
        </p:nvCxnSpPr>
        <p:spPr>
          <a:xfrm>
            <a:off x="4919471" y="0"/>
            <a:ext cx="201169" cy="0"/>
          </a:xfrm>
          <a:prstGeom prst="straightConnector1">
            <a:avLst/>
          </a:prstGeom>
          <a:noFill/>
          <a:ln cap="flat" cmpd="sng" w="12700">
            <a:solidFill>
              <a:srgbClr val="BD93F9"/>
            </a:solidFill>
            <a:prstDash val="solid"/>
            <a:round/>
            <a:headEnd len="med" w="med" type="stealth"/>
            <a:tailEnd len="med" w="med" type="stealth"/>
          </a:ln>
          <a:effectLst>
            <a:outerShdw blurRad="40000" rotWithShape="0" dir="5400000" dist="20000">
              <a:srgbClr val="000000">
                <a:alpha val="38039"/>
              </a:srgbClr>
            </a:outerShdw>
          </a:effectLst>
        </p:spPr>
      </p:cxnSp>
      <p:sp>
        <p:nvSpPr>
          <p:cNvPr id="329" name="Google Shape;329;p33"/>
          <p:cNvSpPr/>
          <p:nvPr/>
        </p:nvSpPr>
        <p:spPr>
          <a:xfrm>
            <a:off x="164592" y="2139696"/>
            <a:ext cx="11862511" cy="1682496"/>
          </a:xfrm>
          <a:prstGeom prst="rect">
            <a:avLst/>
          </a:prstGeom>
          <a:solidFill>
            <a:srgbClr val="0514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0" name="Google Shape;330;p33"/>
          <p:cNvSpPr txBox="1"/>
          <p:nvPr/>
        </p:nvSpPr>
        <p:spPr>
          <a:xfrm>
            <a:off x="201168" y="2185416"/>
            <a:ext cx="23774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② DUAL-GRAPH WORLD MODEL</a:t>
            </a:r>
            <a:endParaRPr b="0" i="0" sz="1400" u="none" cap="none" strike="noStrike">
              <a:solidFill>
                <a:srgbClr val="000000"/>
              </a:solidFill>
              <a:latin typeface="Arial"/>
              <a:ea typeface="Arial"/>
              <a:cs typeface="Arial"/>
              <a:sym typeface="Arial"/>
            </a:endParaRPr>
          </a:p>
        </p:txBody>
      </p:sp>
      <p:sp>
        <p:nvSpPr>
          <p:cNvPr id="331" name="Google Shape;331;p33"/>
          <p:cNvSpPr/>
          <p:nvPr/>
        </p:nvSpPr>
        <p:spPr>
          <a:xfrm>
            <a:off x="320040" y="2414016"/>
            <a:ext cx="5050980" cy="1298448"/>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p33"/>
          <p:cNvSpPr/>
          <p:nvPr/>
        </p:nvSpPr>
        <p:spPr>
          <a:xfrm>
            <a:off x="320040" y="2414016"/>
            <a:ext cx="505098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3" name="Google Shape;333;p33"/>
          <p:cNvSpPr txBox="1"/>
          <p:nvPr/>
        </p:nvSpPr>
        <p:spPr>
          <a:xfrm>
            <a:off x="320040" y="2450592"/>
            <a:ext cx="50509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SURFACE GRAPH  (ASG)</a:t>
            </a:r>
            <a:endParaRPr b="0" i="0" sz="1400" u="none" cap="none" strike="noStrike">
              <a:solidFill>
                <a:srgbClr val="000000"/>
              </a:solidFill>
              <a:latin typeface="Arial"/>
              <a:ea typeface="Arial"/>
              <a:cs typeface="Arial"/>
              <a:sym typeface="Arial"/>
            </a:endParaRPr>
          </a:p>
        </p:txBody>
      </p:sp>
      <p:sp>
        <p:nvSpPr>
          <p:cNvPr id="334" name="Google Shape;334;p33"/>
          <p:cNvSpPr/>
          <p:nvPr/>
        </p:nvSpPr>
        <p:spPr>
          <a:xfrm>
            <a:off x="457200"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5" name="Google Shape;335;p33"/>
          <p:cNvSpPr txBox="1"/>
          <p:nvPr/>
        </p:nvSpPr>
        <p:spPr>
          <a:xfrm>
            <a:off x="457200"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336" name="Google Shape;336;p33"/>
          <p:cNvSpPr/>
          <p:nvPr/>
        </p:nvSpPr>
        <p:spPr>
          <a:xfrm>
            <a:off x="1261872"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7" name="Google Shape;337;p33"/>
          <p:cNvSpPr txBox="1"/>
          <p:nvPr/>
        </p:nvSpPr>
        <p:spPr>
          <a:xfrm>
            <a:off x="1261872"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338" name="Google Shape;338;p33"/>
          <p:cNvSpPr/>
          <p:nvPr/>
        </p:nvSpPr>
        <p:spPr>
          <a:xfrm>
            <a:off x="2066544"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p33"/>
          <p:cNvSpPr txBox="1"/>
          <p:nvPr/>
        </p:nvSpPr>
        <p:spPr>
          <a:xfrm>
            <a:off x="2066544"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340" name="Google Shape;340;p33"/>
          <p:cNvSpPr/>
          <p:nvPr/>
        </p:nvSpPr>
        <p:spPr>
          <a:xfrm>
            <a:off x="2871216"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1" name="Google Shape;341;p33"/>
          <p:cNvSpPr txBox="1"/>
          <p:nvPr/>
        </p:nvSpPr>
        <p:spPr>
          <a:xfrm>
            <a:off x="2871216"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342" name="Google Shape;342;p33"/>
          <p:cNvSpPr/>
          <p:nvPr/>
        </p:nvSpPr>
        <p:spPr>
          <a:xfrm>
            <a:off x="3675888"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p33"/>
          <p:cNvSpPr txBox="1"/>
          <p:nvPr/>
        </p:nvSpPr>
        <p:spPr>
          <a:xfrm>
            <a:off x="3675888"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344" name="Google Shape;344;p33"/>
          <p:cNvSpPr/>
          <p:nvPr/>
        </p:nvSpPr>
        <p:spPr>
          <a:xfrm>
            <a:off x="45720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33"/>
          <p:cNvSpPr txBox="1"/>
          <p:nvPr/>
        </p:nvSpPr>
        <p:spPr>
          <a:xfrm>
            <a:off x="45720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346" name="Google Shape;346;p33"/>
          <p:cNvSpPr/>
          <p:nvPr/>
        </p:nvSpPr>
        <p:spPr>
          <a:xfrm>
            <a:off x="146304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7" name="Google Shape;347;p33"/>
          <p:cNvSpPr txBox="1"/>
          <p:nvPr/>
        </p:nvSpPr>
        <p:spPr>
          <a:xfrm>
            <a:off x="146304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348" name="Google Shape;348;p33"/>
          <p:cNvSpPr/>
          <p:nvPr/>
        </p:nvSpPr>
        <p:spPr>
          <a:xfrm>
            <a:off x="246888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33"/>
          <p:cNvSpPr txBox="1"/>
          <p:nvPr/>
        </p:nvSpPr>
        <p:spPr>
          <a:xfrm>
            <a:off x="246888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350" name="Google Shape;350;p33"/>
          <p:cNvSpPr/>
          <p:nvPr/>
        </p:nvSpPr>
        <p:spPr>
          <a:xfrm>
            <a:off x="347472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1" name="Google Shape;351;p33"/>
          <p:cNvSpPr txBox="1"/>
          <p:nvPr/>
        </p:nvSpPr>
        <p:spPr>
          <a:xfrm>
            <a:off x="347472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52" name="Google Shape;352;p33"/>
          <p:cNvSpPr txBox="1"/>
          <p:nvPr/>
        </p:nvSpPr>
        <p:spPr>
          <a:xfrm>
            <a:off x="429768" y="3300984"/>
            <a:ext cx="48681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60C070"/>
                </a:solidFill>
                <a:latin typeface="Calibri"/>
                <a:ea typeface="Calibri"/>
                <a:cs typeface="Calibri"/>
                <a:sym typeface="Calibri"/>
              </a:rPr>
              <a:t>Discovered Reality — confirmed facts only. Never contains hypotheses.</a:t>
            </a:r>
            <a:endParaRPr b="0" i="0" sz="1400" u="none" cap="none" strike="noStrike">
              <a:solidFill>
                <a:srgbClr val="000000"/>
              </a:solidFill>
              <a:latin typeface="Arial"/>
              <a:ea typeface="Arial"/>
              <a:cs typeface="Arial"/>
              <a:sym typeface="Arial"/>
            </a:endParaRPr>
          </a:p>
        </p:txBody>
      </p:sp>
      <p:sp>
        <p:nvSpPr>
          <p:cNvPr id="353" name="Google Shape;353;p33"/>
          <p:cNvSpPr/>
          <p:nvPr/>
        </p:nvSpPr>
        <p:spPr>
          <a:xfrm>
            <a:off x="6652260" y="2414016"/>
            <a:ext cx="5326380" cy="1298448"/>
          </a:xfrm>
          <a:prstGeom prst="rect">
            <a:avLst/>
          </a:prstGeom>
          <a:solidFill>
            <a:srgbClr val="1E1004"/>
          </a:solidFill>
          <a:ln cap="flat" cmpd="sng" w="228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4" name="Google Shape;354;p33"/>
          <p:cNvSpPr/>
          <p:nvPr/>
        </p:nvSpPr>
        <p:spPr>
          <a:xfrm>
            <a:off x="6652260" y="2414016"/>
            <a:ext cx="532638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5" name="Google Shape;355;p33"/>
          <p:cNvSpPr txBox="1"/>
          <p:nvPr/>
        </p:nvSpPr>
        <p:spPr>
          <a:xfrm>
            <a:off x="6652260" y="2450592"/>
            <a:ext cx="53263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PATH GRAPH  (APG)</a:t>
            </a:r>
            <a:endParaRPr b="0" i="0" sz="1400" u="none" cap="none" strike="noStrike">
              <a:solidFill>
                <a:srgbClr val="000000"/>
              </a:solidFill>
              <a:latin typeface="Arial"/>
              <a:ea typeface="Arial"/>
              <a:cs typeface="Arial"/>
              <a:sym typeface="Arial"/>
            </a:endParaRPr>
          </a:p>
        </p:txBody>
      </p:sp>
      <p:sp>
        <p:nvSpPr>
          <p:cNvPr id="356" name="Google Shape;356;p33"/>
          <p:cNvSpPr/>
          <p:nvPr/>
        </p:nvSpPr>
        <p:spPr>
          <a:xfrm>
            <a:off x="67894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7" name="Google Shape;357;p33"/>
          <p:cNvSpPr txBox="1"/>
          <p:nvPr/>
        </p:nvSpPr>
        <p:spPr>
          <a:xfrm>
            <a:off x="67894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AttackChain</a:t>
            </a:r>
            <a:endParaRPr b="0" i="0" sz="1400" u="none" cap="none" strike="noStrike">
              <a:solidFill>
                <a:srgbClr val="000000"/>
              </a:solidFill>
              <a:latin typeface="Arial"/>
              <a:ea typeface="Arial"/>
              <a:cs typeface="Arial"/>
              <a:sym typeface="Arial"/>
            </a:endParaRPr>
          </a:p>
        </p:txBody>
      </p:sp>
      <p:sp>
        <p:nvSpPr>
          <p:cNvPr id="358" name="Google Shape;358;p33"/>
          <p:cNvSpPr/>
          <p:nvPr/>
        </p:nvSpPr>
        <p:spPr>
          <a:xfrm>
            <a:off x="81610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p33"/>
          <p:cNvSpPr txBox="1"/>
          <p:nvPr/>
        </p:nvSpPr>
        <p:spPr>
          <a:xfrm>
            <a:off x="81610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ChainStep</a:t>
            </a:r>
            <a:endParaRPr b="0" i="0" sz="1400" u="none" cap="none" strike="noStrike">
              <a:solidFill>
                <a:srgbClr val="000000"/>
              </a:solidFill>
              <a:latin typeface="Arial"/>
              <a:ea typeface="Arial"/>
              <a:cs typeface="Arial"/>
              <a:sym typeface="Arial"/>
            </a:endParaRPr>
          </a:p>
        </p:txBody>
      </p:sp>
      <p:sp>
        <p:nvSpPr>
          <p:cNvPr id="360" name="Google Shape;360;p33"/>
          <p:cNvSpPr/>
          <p:nvPr/>
        </p:nvSpPr>
        <p:spPr>
          <a:xfrm>
            <a:off x="95326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1" name="Google Shape;361;p33"/>
          <p:cNvSpPr txBox="1"/>
          <p:nvPr/>
        </p:nvSpPr>
        <p:spPr>
          <a:xfrm>
            <a:off x="95326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362" name="Google Shape;362;p33"/>
          <p:cNvSpPr txBox="1"/>
          <p:nvPr/>
        </p:nvSpPr>
        <p:spPr>
          <a:xfrm>
            <a:off x="6761988" y="3035808"/>
            <a:ext cx="514296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risk_score  ·  validation_status  ·  priority</a:t>
            </a:r>
            <a:endParaRPr b="0" i="0" sz="1400" u="none" cap="none" strike="noStrike">
              <a:solidFill>
                <a:srgbClr val="000000"/>
              </a:solidFill>
              <a:latin typeface="Arial"/>
              <a:ea typeface="Arial"/>
              <a:cs typeface="Arial"/>
              <a:sym typeface="Arial"/>
            </a:endParaRPr>
          </a:p>
        </p:txBody>
      </p:sp>
      <p:sp>
        <p:nvSpPr>
          <p:cNvPr id="363" name="Google Shape;363;p33"/>
          <p:cNvSpPr txBox="1"/>
          <p:nvPr/>
        </p:nvSpPr>
        <p:spPr>
          <a:xfrm>
            <a:off x="6761988" y="3282696"/>
            <a:ext cx="514296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C09020"/>
                </a:solidFill>
                <a:latin typeface="Calibri"/>
                <a:ea typeface="Calibri"/>
                <a:cs typeface="Calibri"/>
                <a:sym typeface="Calibri"/>
              </a:rPr>
              <a:t>Inferred Opportunity — attack reasoning only. Never contains raw scan data.</a:t>
            </a:r>
            <a:endParaRPr b="0" i="0" sz="1400" u="none" cap="none" strike="noStrike">
              <a:solidFill>
                <a:srgbClr val="000000"/>
              </a:solidFill>
              <a:latin typeface="Arial"/>
              <a:ea typeface="Arial"/>
              <a:cs typeface="Arial"/>
              <a:sym typeface="Arial"/>
            </a:endParaRPr>
          </a:p>
        </p:txBody>
      </p:sp>
      <p:sp>
        <p:nvSpPr>
          <p:cNvPr id="364" name="Google Shape;364;p33"/>
          <p:cNvSpPr/>
          <p:nvPr/>
        </p:nvSpPr>
        <p:spPr>
          <a:xfrm>
            <a:off x="5600700" y="2414016"/>
            <a:ext cx="1005840" cy="1298448"/>
          </a:xfrm>
          <a:prstGeom prst="rect">
            <a:avLst/>
          </a:prstGeom>
          <a:solidFill>
            <a:srgbClr val="0610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5" name="Google Shape;365;p33"/>
          <p:cNvSpPr txBox="1"/>
          <p:nvPr/>
        </p:nvSpPr>
        <p:spPr>
          <a:xfrm>
            <a:off x="5600700" y="2706624"/>
            <a:ext cx="100584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A0AAB8"/>
                </a:solidFill>
                <a:latin typeface="Calibri"/>
                <a:ea typeface="Calibri"/>
                <a:cs typeface="Calibri"/>
                <a:sym typeface="Calibri"/>
              </a:rPr>
              <a:t>STRICT SEPARATION</a:t>
            </a:r>
            <a:endParaRPr b="0" i="0" sz="1400" u="none" cap="none" strike="noStrike">
              <a:solidFill>
                <a:srgbClr val="000000"/>
              </a:solidFill>
              <a:latin typeface="Arial"/>
              <a:ea typeface="Arial"/>
              <a:cs typeface="Arial"/>
              <a:sym typeface="Arial"/>
            </a:endParaRPr>
          </a:p>
        </p:txBody>
      </p:sp>
      <p:sp>
        <p:nvSpPr>
          <p:cNvPr id="366" name="Google Shape;366;p33"/>
          <p:cNvSpPr/>
          <p:nvPr/>
        </p:nvSpPr>
        <p:spPr>
          <a:xfrm>
            <a:off x="6094476" y="2414016"/>
            <a:ext cx="18288" cy="129844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67" name="Google Shape;367;p33"/>
          <p:cNvCxnSpPr/>
          <p:nvPr/>
        </p:nvCxnSpPr>
        <p:spPr>
          <a:xfrm>
            <a:off x="0" y="3712464"/>
            <a:ext cx="0" cy="201168"/>
          </a:xfrm>
          <a:prstGeom prst="straightConnector1">
            <a:avLst/>
          </a:prstGeom>
          <a:noFill/>
          <a:ln cap="flat" cmpd="sng" w="101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68" name="Google Shape;368;p33"/>
          <p:cNvCxnSpPr/>
          <p:nvPr/>
        </p:nvCxnSpPr>
        <p:spPr>
          <a:xfrm>
            <a:off x="0" y="2084832"/>
            <a:ext cx="0" cy="54864"/>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69" name="Google Shape;369;p33"/>
          <p:cNvCxnSpPr/>
          <p:nvPr/>
        </p:nvCxnSpPr>
        <p:spPr>
          <a:xfrm rot="10800000">
            <a:off x="0" y="2084832"/>
            <a:ext cx="0" cy="54864"/>
          </a:xfrm>
          <a:prstGeom prst="straightConnector1">
            <a:avLst/>
          </a:prstGeom>
          <a:noFill/>
          <a:ln cap="flat" cmpd="sng" w="127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370" name="Google Shape;370;p33"/>
          <p:cNvSpPr/>
          <p:nvPr/>
        </p:nvSpPr>
        <p:spPr>
          <a:xfrm>
            <a:off x="164592" y="3877056"/>
            <a:ext cx="11862511" cy="2724912"/>
          </a:xfrm>
          <a:prstGeom prst="rect">
            <a:avLst/>
          </a:prstGeom>
          <a:solidFill>
            <a:srgbClr val="0A08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p33"/>
          <p:cNvSpPr txBox="1"/>
          <p:nvPr/>
        </p:nvSpPr>
        <p:spPr>
          <a:xfrm>
            <a:off x="201168" y="3913632"/>
            <a:ext cx="10972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③ SPECIALIZED AGENTS  +  TOOL ADAPTER LAYER</a:t>
            </a:r>
            <a:endParaRPr b="0" i="0" sz="1400" u="none" cap="none" strike="noStrike">
              <a:solidFill>
                <a:srgbClr val="000000"/>
              </a:solidFill>
              <a:latin typeface="Arial"/>
              <a:ea typeface="Arial"/>
              <a:cs typeface="Arial"/>
              <a:sym typeface="Arial"/>
            </a:endParaRPr>
          </a:p>
        </p:txBody>
      </p:sp>
      <p:sp>
        <p:nvSpPr>
          <p:cNvPr id="372" name="Google Shape;372;p33"/>
          <p:cNvSpPr/>
          <p:nvPr/>
        </p:nvSpPr>
        <p:spPr>
          <a:xfrm>
            <a:off x="320040" y="4133088"/>
            <a:ext cx="1287780" cy="2404872"/>
          </a:xfrm>
          <a:prstGeom prst="rect">
            <a:avLst/>
          </a:prstGeom>
          <a:solidFill>
            <a:srgbClr val="0C0E22"/>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3" name="Google Shape;373;p33"/>
          <p:cNvSpPr/>
          <p:nvPr/>
        </p:nvSpPr>
        <p:spPr>
          <a:xfrm>
            <a:off x="320040" y="4133088"/>
            <a:ext cx="128778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33"/>
          <p:cNvSpPr txBox="1"/>
          <p:nvPr/>
        </p:nvSpPr>
        <p:spPr>
          <a:xfrm>
            <a:off x="32004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Recon</a:t>
            </a:r>
            <a:endParaRPr b="0" i="0" sz="1400" u="none" cap="none" strike="noStrike">
              <a:solidFill>
                <a:srgbClr val="000000"/>
              </a:solidFill>
              <a:latin typeface="Arial"/>
              <a:ea typeface="Arial"/>
              <a:cs typeface="Arial"/>
              <a:sym typeface="Arial"/>
            </a:endParaRPr>
          </a:p>
        </p:txBody>
      </p:sp>
      <p:sp>
        <p:nvSpPr>
          <p:cNvPr id="375" name="Google Shape;375;p33"/>
          <p:cNvSpPr txBox="1"/>
          <p:nvPr/>
        </p:nvSpPr>
        <p:spPr>
          <a:xfrm>
            <a:off x="374904" y="4407408"/>
            <a:ext cx="1196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39FF14"/>
                </a:solidFill>
                <a:latin typeface="Calibri"/>
                <a:ea typeface="Calibri"/>
                <a:cs typeface="Calibri"/>
                <a:sym typeface="Calibri"/>
              </a:rPr>
              <a:t>· </a:t>
            </a:r>
            <a:r>
              <a:rPr b="0" i="0" lang="en-US" sz="700" u="none" cap="none" strike="noStrike">
                <a:solidFill>
                  <a:srgbClr val="39FF14"/>
                </a:solidFill>
                <a:latin typeface="Calibri"/>
                <a:ea typeface="Calibri"/>
                <a:cs typeface="Calibri"/>
                <a:sym typeface="Calibri"/>
              </a:rPr>
              <a:t>Amass </a:t>
            </a:r>
            <a:endParaRPr b="0" i="0" sz="700" u="none" cap="none" strike="noStrike">
              <a:solidFill>
                <a:srgbClr val="39FF1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 httpx </a:t>
            </a:r>
            <a:endParaRPr b="0" i="0" sz="700" u="none" cap="none" strike="noStrike">
              <a:solidFill>
                <a:srgbClr val="39FF1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 Nmap</a:t>
            </a:r>
            <a:endParaRPr b="0" i="0" sz="1400" u="none" cap="none" strike="noStrike">
              <a:solidFill>
                <a:srgbClr val="000000"/>
              </a:solidFill>
              <a:latin typeface="Arial"/>
              <a:ea typeface="Arial"/>
              <a:cs typeface="Arial"/>
              <a:sym typeface="Arial"/>
            </a:endParaRPr>
          </a:p>
        </p:txBody>
      </p:sp>
      <p:cxnSp>
        <p:nvCxnSpPr>
          <p:cNvPr id="376" name="Google Shape;376;p33"/>
          <p:cNvCxnSpPr/>
          <p:nvPr/>
        </p:nvCxnSpPr>
        <p:spPr>
          <a:xfrm>
            <a:off x="0" y="2130552"/>
            <a:ext cx="0" cy="2002536"/>
          </a:xfrm>
          <a:prstGeom prst="straightConnector1">
            <a:avLst/>
          </a:prstGeom>
          <a:noFill/>
          <a:ln cap="flat" cmpd="sng" w="95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77" name="Google Shape;377;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78" name="Google Shape;378;p33"/>
          <p:cNvSpPr/>
          <p:nvPr/>
        </p:nvSpPr>
        <p:spPr>
          <a:xfrm>
            <a:off x="1662684" y="4133088"/>
            <a:ext cx="1287780" cy="2404872"/>
          </a:xfrm>
          <a:prstGeom prst="rect">
            <a:avLst/>
          </a:prstGeom>
          <a:solidFill>
            <a:srgbClr val="0C0E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9" name="Google Shape;379;p33"/>
          <p:cNvSpPr/>
          <p:nvPr/>
        </p:nvSpPr>
        <p:spPr>
          <a:xfrm>
            <a:off x="1662684" y="4133088"/>
            <a:ext cx="128778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33"/>
          <p:cNvSpPr txBox="1"/>
          <p:nvPr/>
        </p:nvSpPr>
        <p:spPr>
          <a:xfrm>
            <a:off x="1662684"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Analysis</a:t>
            </a:r>
            <a:endParaRPr b="0" i="0" sz="1400" u="none" cap="none" strike="noStrike">
              <a:solidFill>
                <a:srgbClr val="000000"/>
              </a:solidFill>
              <a:latin typeface="Arial"/>
              <a:ea typeface="Arial"/>
              <a:cs typeface="Arial"/>
              <a:sym typeface="Arial"/>
            </a:endParaRPr>
          </a:p>
        </p:txBody>
      </p:sp>
      <p:sp>
        <p:nvSpPr>
          <p:cNvPr id="381" name="Google Shape;381;p33"/>
          <p:cNvSpPr txBox="1"/>
          <p:nvPr/>
        </p:nvSpPr>
        <p:spPr>
          <a:xfrm>
            <a:off x="1717548" y="4407408"/>
            <a:ext cx="11964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00E5FF"/>
                </a:solidFill>
                <a:latin typeface="Calibri"/>
                <a:ea typeface="Calibri"/>
                <a:cs typeface="Calibri"/>
                <a:sym typeface="Calibri"/>
              </a:rPr>
              <a:t>· </a:t>
            </a:r>
            <a:r>
              <a:rPr b="0" i="0" lang="en-US" sz="700" u="none" cap="none" strike="noStrike">
                <a:solidFill>
                  <a:srgbClr val="00E5FF"/>
                </a:solidFill>
                <a:latin typeface="Calibri"/>
                <a:ea typeface="Calibri"/>
                <a:cs typeface="Calibri"/>
                <a:sym typeface="Calibri"/>
              </a:rPr>
              <a:t>WhatWeb</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 Gobuster </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ffuf </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Nuclei</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 ZAP</a:t>
            </a:r>
            <a:endParaRPr b="0" i="0" sz="1400" u="none" cap="none" strike="noStrike">
              <a:solidFill>
                <a:srgbClr val="000000"/>
              </a:solidFill>
              <a:latin typeface="Arial"/>
              <a:ea typeface="Arial"/>
              <a:cs typeface="Arial"/>
              <a:sym typeface="Arial"/>
            </a:endParaRPr>
          </a:p>
        </p:txBody>
      </p:sp>
      <p:cxnSp>
        <p:nvCxnSpPr>
          <p:cNvPr id="382" name="Google Shape;382;p33"/>
          <p:cNvCxnSpPr/>
          <p:nvPr/>
        </p:nvCxnSpPr>
        <p:spPr>
          <a:xfrm>
            <a:off x="0" y="2130552"/>
            <a:ext cx="0" cy="2002536"/>
          </a:xfrm>
          <a:prstGeom prst="straightConnector1">
            <a:avLst/>
          </a:prstGeom>
          <a:noFill/>
          <a:ln cap="flat" cmpd="sng" w="95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83" name="Google Shape;383;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84" name="Google Shape;384;p33"/>
          <p:cNvSpPr/>
          <p:nvPr/>
        </p:nvSpPr>
        <p:spPr>
          <a:xfrm>
            <a:off x="3005328" y="4133088"/>
            <a:ext cx="1287780" cy="2404872"/>
          </a:xfrm>
          <a:prstGeom prst="rect">
            <a:avLst/>
          </a:prstGeom>
          <a:solidFill>
            <a:srgbClr val="0C0E22"/>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5" name="Google Shape;385;p33"/>
          <p:cNvSpPr/>
          <p:nvPr/>
        </p:nvSpPr>
        <p:spPr>
          <a:xfrm>
            <a:off x="3005328" y="4133088"/>
            <a:ext cx="128778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33"/>
          <p:cNvSpPr txBox="1"/>
          <p:nvPr/>
        </p:nvSpPr>
        <p:spPr>
          <a:xfrm>
            <a:off x="3005328"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Research</a:t>
            </a:r>
            <a:endParaRPr b="0" i="0" sz="1400" u="none" cap="none" strike="noStrike">
              <a:solidFill>
                <a:srgbClr val="000000"/>
              </a:solidFill>
              <a:latin typeface="Arial"/>
              <a:ea typeface="Arial"/>
              <a:cs typeface="Arial"/>
              <a:sym typeface="Arial"/>
            </a:endParaRPr>
          </a:p>
        </p:txBody>
      </p:sp>
      <p:sp>
        <p:nvSpPr>
          <p:cNvPr id="387" name="Google Shape;387;p33"/>
          <p:cNvSpPr txBox="1"/>
          <p:nvPr/>
        </p:nvSpPr>
        <p:spPr>
          <a:xfrm>
            <a:off x="3060192" y="4407408"/>
            <a:ext cx="1196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FFD700"/>
                </a:solidFill>
                <a:latin typeface="Calibri"/>
                <a:ea typeface="Calibri"/>
                <a:cs typeface="Calibri"/>
                <a:sym typeface="Calibri"/>
              </a:rPr>
              <a:t>· </a:t>
            </a:r>
            <a:r>
              <a:rPr b="0" i="0" lang="en-US" sz="700" u="none" cap="none" strike="noStrike">
                <a:solidFill>
                  <a:srgbClr val="FFD700"/>
                </a:solidFill>
                <a:latin typeface="Calibri"/>
                <a:ea typeface="Calibri"/>
                <a:cs typeface="Calibri"/>
                <a:sym typeface="Calibri"/>
              </a:rPr>
              <a:t>NVD</a:t>
            </a:r>
            <a:endParaRPr b="0" i="0" sz="700" u="none" cap="none" strike="noStrike">
              <a:solidFill>
                <a:srgbClr val="FFD7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 Exploit-DB </a:t>
            </a:r>
            <a:endParaRPr b="0" i="0" sz="700" u="none" cap="none" strike="noStrike">
              <a:solidFill>
                <a:srgbClr val="FFD7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 GitHub</a:t>
            </a:r>
            <a:endParaRPr b="0" i="0" sz="1400" u="none" cap="none" strike="noStrike">
              <a:solidFill>
                <a:srgbClr val="000000"/>
              </a:solidFill>
              <a:latin typeface="Arial"/>
              <a:ea typeface="Arial"/>
              <a:cs typeface="Arial"/>
              <a:sym typeface="Arial"/>
            </a:endParaRPr>
          </a:p>
        </p:txBody>
      </p:sp>
      <p:cxnSp>
        <p:nvCxnSpPr>
          <p:cNvPr id="388" name="Google Shape;388;p33"/>
          <p:cNvCxnSpPr/>
          <p:nvPr/>
        </p:nvCxnSpPr>
        <p:spPr>
          <a:xfrm>
            <a:off x="0" y="2130552"/>
            <a:ext cx="0" cy="2002536"/>
          </a:xfrm>
          <a:prstGeom prst="straightConnector1">
            <a:avLst/>
          </a:prstGeom>
          <a:noFill/>
          <a:ln cap="flat" cmpd="sng" w="95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89" name="Google Shape;389;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90" name="Google Shape;390;p33"/>
          <p:cNvSpPr/>
          <p:nvPr/>
        </p:nvSpPr>
        <p:spPr>
          <a:xfrm>
            <a:off x="4347972" y="4133088"/>
            <a:ext cx="1287780" cy="2404872"/>
          </a:xfrm>
          <a:prstGeom prst="rect">
            <a:avLst/>
          </a:prstGeom>
          <a:solidFill>
            <a:srgbClr val="0C0E22"/>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1" name="Google Shape;391;p33"/>
          <p:cNvSpPr/>
          <p:nvPr/>
        </p:nvSpPr>
        <p:spPr>
          <a:xfrm>
            <a:off x="4347972" y="4133088"/>
            <a:ext cx="128778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2" name="Google Shape;392;p33"/>
          <p:cNvSpPr txBox="1"/>
          <p:nvPr/>
        </p:nvSpPr>
        <p:spPr>
          <a:xfrm>
            <a:off x="4347972"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393" name="Google Shape;393;p33"/>
          <p:cNvSpPr txBox="1"/>
          <p:nvPr/>
        </p:nvSpPr>
        <p:spPr>
          <a:xfrm>
            <a:off x="4402836" y="4407408"/>
            <a:ext cx="119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FF4545"/>
                </a:solidFill>
                <a:latin typeface="Calibri"/>
                <a:ea typeface="Calibri"/>
                <a:cs typeface="Calibri"/>
                <a:sym typeface="Calibri"/>
              </a:rPr>
              <a:t>· </a:t>
            </a:r>
            <a:r>
              <a:rPr b="0" i="0" lang="en-US" sz="700" u="none" cap="none" strike="noStrike">
                <a:solidFill>
                  <a:srgbClr val="FF4545"/>
                </a:solidFill>
                <a:latin typeface="Calibri"/>
                <a:ea typeface="Calibri"/>
                <a:cs typeface="Calibri"/>
                <a:sym typeface="Calibri"/>
              </a:rPr>
              <a:t>SQLMap</a:t>
            </a:r>
            <a:endParaRPr b="0" i="0" sz="700" u="none" cap="none" strike="noStrike">
              <a:solidFill>
                <a:srgbClr val="FF454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4545"/>
                </a:solidFill>
                <a:latin typeface="Calibri"/>
                <a:ea typeface="Calibri"/>
                <a:cs typeface="Calibri"/>
                <a:sym typeface="Calibri"/>
              </a:rPr>
              <a:t> · Metasploit</a:t>
            </a:r>
            <a:endParaRPr b="0" i="0" sz="1400" u="none" cap="none" strike="noStrike">
              <a:solidFill>
                <a:srgbClr val="000000"/>
              </a:solidFill>
              <a:latin typeface="Arial"/>
              <a:ea typeface="Arial"/>
              <a:cs typeface="Arial"/>
              <a:sym typeface="Arial"/>
            </a:endParaRPr>
          </a:p>
        </p:txBody>
      </p:sp>
      <p:cxnSp>
        <p:nvCxnSpPr>
          <p:cNvPr id="394" name="Google Shape;394;p33"/>
          <p:cNvCxnSpPr/>
          <p:nvPr/>
        </p:nvCxnSpPr>
        <p:spPr>
          <a:xfrm>
            <a:off x="0" y="2130552"/>
            <a:ext cx="0" cy="2002536"/>
          </a:xfrm>
          <a:prstGeom prst="straightConnector1">
            <a:avLst/>
          </a:prstGeom>
          <a:noFill/>
          <a:ln cap="flat" cmpd="sng" w="95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95" name="Google Shape;395;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96" name="Google Shape;396;p33"/>
          <p:cNvSpPr/>
          <p:nvPr/>
        </p:nvSpPr>
        <p:spPr>
          <a:xfrm>
            <a:off x="5690616" y="4133088"/>
            <a:ext cx="1287780" cy="2404872"/>
          </a:xfrm>
          <a:prstGeom prst="rect">
            <a:avLst/>
          </a:prstGeom>
          <a:solidFill>
            <a:srgbClr val="0C0E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7" name="Google Shape;397;p33"/>
          <p:cNvSpPr/>
          <p:nvPr/>
        </p:nvSpPr>
        <p:spPr>
          <a:xfrm>
            <a:off x="5690616" y="4133088"/>
            <a:ext cx="128778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8" name="Google Shape;398;p33"/>
          <p:cNvSpPr txBox="1"/>
          <p:nvPr/>
        </p:nvSpPr>
        <p:spPr>
          <a:xfrm>
            <a:off x="5690616"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99" name="Google Shape;399;p33"/>
          <p:cNvSpPr txBox="1"/>
          <p:nvPr/>
        </p:nvSpPr>
        <p:spPr>
          <a:xfrm>
            <a:off x="5745480"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cxnSp>
        <p:nvCxnSpPr>
          <p:cNvPr id="400" name="Google Shape;400;p33"/>
          <p:cNvCxnSpPr/>
          <p:nvPr/>
        </p:nvCxnSpPr>
        <p:spPr>
          <a:xfrm>
            <a:off x="0" y="2130552"/>
            <a:ext cx="0" cy="2002536"/>
          </a:xfrm>
          <a:prstGeom prst="straightConnector1">
            <a:avLst/>
          </a:prstGeom>
          <a:noFill/>
          <a:ln cap="flat" cmpd="sng" w="9525">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cxnSp>
        <p:nvCxnSpPr>
          <p:cNvPr id="401" name="Google Shape;401;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402" name="Google Shape;402;p33"/>
          <p:cNvSpPr/>
          <p:nvPr/>
        </p:nvSpPr>
        <p:spPr>
          <a:xfrm>
            <a:off x="7033260" y="4133088"/>
            <a:ext cx="1287780" cy="2404872"/>
          </a:xfrm>
          <a:prstGeom prst="rect">
            <a:avLst/>
          </a:prstGeom>
          <a:solidFill>
            <a:srgbClr val="0C0E22"/>
          </a:solidFill>
          <a:ln cap="flat" cmpd="sng" w="152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3" name="Google Shape;403;p33"/>
          <p:cNvSpPr/>
          <p:nvPr/>
        </p:nvSpPr>
        <p:spPr>
          <a:xfrm>
            <a:off x="7033260" y="4133088"/>
            <a:ext cx="1287780" cy="219456"/>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4" name="Google Shape;404;p33"/>
          <p:cNvSpPr txBox="1"/>
          <p:nvPr/>
        </p:nvSpPr>
        <p:spPr>
          <a:xfrm>
            <a:off x="703326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405" name="Google Shape;405;p33"/>
          <p:cNvSpPr txBox="1"/>
          <p:nvPr/>
        </p:nvSpPr>
        <p:spPr>
          <a:xfrm>
            <a:off x="708812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A0AAB8"/>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cxnSp>
        <p:nvCxnSpPr>
          <p:cNvPr id="406" name="Google Shape;406;p33"/>
          <p:cNvCxnSpPr/>
          <p:nvPr/>
        </p:nvCxnSpPr>
        <p:spPr>
          <a:xfrm>
            <a:off x="0" y="2130552"/>
            <a:ext cx="0" cy="2002536"/>
          </a:xfrm>
          <a:prstGeom prst="straightConnector1">
            <a:avLst/>
          </a:prstGeom>
          <a:noFill/>
          <a:ln cap="flat" cmpd="sng" w="9525">
            <a:solidFill>
              <a:srgbClr val="A0AAB8"/>
            </a:solidFill>
            <a:prstDash val="solid"/>
            <a:round/>
            <a:headEnd len="med" w="med" type="stealth"/>
            <a:tailEnd len="sm" w="sm" type="none"/>
          </a:ln>
          <a:effectLst>
            <a:outerShdw blurRad="40000" rotWithShape="0" dir="5400000" dist="20000">
              <a:srgbClr val="000000">
                <a:alpha val="38039"/>
              </a:srgbClr>
            </a:outerShdw>
          </a:effectLst>
        </p:spPr>
      </p:cxnSp>
      <p:sp>
        <p:nvSpPr>
          <p:cNvPr id="407" name="Google Shape;407;p33"/>
          <p:cNvSpPr/>
          <p:nvPr/>
        </p:nvSpPr>
        <p:spPr>
          <a:xfrm>
            <a:off x="8538375" y="4133100"/>
            <a:ext cx="3452100" cy="2404800"/>
          </a:xfrm>
          <a:prstGeom prst="rect">
            <a:avLst/>
          </a:prstGeom>
          <a:solidFill>
            <a:srgbClr val="0A081E"/>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8" name="Google Shape;408;p33"/>
          <p:cNvSpPr/>
          <p:nvPr/>
        </p:nvSpPr>
        <p:spPr>
          <a:xfrm>
            <a:off x="8538425" y="4133100"/>
            <a:ext cx="3452100" cy="23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9" name="Google Shape;409;p33"/>
          <p:cNvSpPr txBox="1"/>
          <p:nvPr/>
        </p:nvSpPr>
        <p:spPr>
          <a:xfrm>
            <a:off x="9284025" y="4160525"/>
            <a:ext cx="2016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TOOL ADAPTER LAYER</a:t>
            </a:r>
            <a:endParaRPr b="0" i="0" sz="1400" u="none" cap="none" strike="noStrike">
              <a:solidFill>
                <a:srgbClr val="000000"/>
              </a:solidFill>
              <a:latin typeface="Arial"/>
              <a:ea typeface="Arial"/>
              <a:cs typeface="Arial"/>
              <a:sym typeface="Arial"/>
            </a:endParaRPr>
          </a:p>
        </p:txBody>
      </p:sp>
      <p:sp>
        <p:nvSpPr>
          <p:cNvPr id="410" name="Google Shape;410;p33"/>
          <p:cNvSpPr/>
          <p:nvPr/>
        </p:nvSpPr>
        <p:spPr>
          <a:xfrm>
            <a:off x="8732520" y="4407408"/>
            <a:ext cx="3166567" cy="649224"/>
          </a:xfrm>
          <a:prstGeom prst="rect">
            <a:avLst/>
          </a:prstGeom>
          <a:solidFill>
            <a:srgbClr val="100C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1" name="Google Shape;411;p33"/>
          <p:cNvSpPr/>
          <p:nvPr/>
        </p:nvSpPr>
        <p:spPr>
          <a:xfrm>
            <a:off x="8571269" y="4407400"/>
            <a:ext cx="457500" cy="649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2" name="Google Shape;412;p33"/>
          <p:cNvSpPr txBox="1"/>
          <p:nvPr/>
        </p:nvSpPr>
        <p:spPr>
          <a:xfrm>
            <a:off x="8597800" y="4631963"/>
            <a:ext cx="4575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LOW</a:t>
            </a:r>
            <a:endParaRPr b="0" i="0" sz="1400" u="none" cap="none" strike="noStrike">
              <a:solidFill>
                <a:srgbClr val="000000"/>
              </a:solidFill>
              <a:latin typeface="Arial"/>
              <a:ea typeface="Arial"/>
              <a:cs typeface="Arial"/>
              <a:sym typeface="Arial"/>
            </a:endParaRPr>
          </a:p>
        </p:txBody>
      </p:sp>
      <p:sp>
        <p:nvSpPr>
          <p:cNvPr id="413" name="Google Shape;413;p33"/>
          <p:cNvSpPr txBox="1"/>
          <p:nvPr/>
        </p:nvSpPr>
        <p:spPr>
          <a:xfrm>
            <a:off x="9116568" y="4503409"/>
            <a:ext cx="27552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Passive</a:t>
            </a:r>
            <a:endParaRPr b="0" i="0" sz="1400" u="none" cap="none" strike="noStrike">
              <a:solidFill>
                <a:srgbClr val="000000"/>
              </a:solidFill>
              <a:latin typeface="Arial"/>
              <a:ea typeface="Arial"/>
              <a:cs typeface="Arial"/>
              <a:sym typeface="Arial"/>
            </a:endParaRPr>
          </a:p>
        </p:txBody>
      </p:sp>
      <p:sp>
        <p:nvSpPr>
          <p:cNvPr id="414" name="Google Shape;414;p33"/>
          <p:cNvSpPr txBox="1"/>
          <p:nvPr/>
        </p:nvSpPr>
        <p:spPr>
          <a:xfrm>
            <a:off x="9116568" y="4686289"/>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Execute immediately</a:t>
            </a:r>
            <a:endParaRPr b="0" i="0" sz="1400" u="none" cap="none" strike="noStrike">
              <a:solidFill>
                <a:srgbClr val="000000"/>
              </a:solidFill>
              <a:latin typeface="Arial"/>
              <a:ea typeface="Arial"/>
              <a:cs typeface="Arial"/>
              <a:sym typeface="Arial"/>
            </a:endParaRPr>
          </a:p>
        </p:txBody>
      </p:sp>
      <p:sp>
        <p:nvSpPr>
          <p:cNvPr id="415" name="Google Shape;415;p33"/>
          <p:cNvSpPr/>
          <p:nvPr/>
        </p:nvSpPr>
        <p:spPr>
          <a:xfrm>
            <a:off x="8732520" y="5111496"/>
            <a:ext cx="3166567" cy="649224"/>
          </a:xfrm>
          <a:prstGeom prst="rect">
            <a:avLst/>
          </a:prstGeom>
          <a:solidFill>
            <a:srgbClr val="100C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6" name="Google Shape;416;p33"/>
          <p:cNvSpPr/>
          <p:nvPr/>
        </p:nvSpPr>
        <p:spPr>
          <a:xfrm>
            <a:off x="8571269" y="5111500"/>
            <a:ext cx="457500" cy="649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7" name="Google Shape;417;p33"/>
          <p:cNvSpPr txBox="1"/>
          <p:nvPr/>
        </p:nvSpPr>
        <p:spPr>
          <a:xfrm>
            <a:off x="8546703" y="5336043"/>
            <a:ext cx="508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MED</a:t>
            </a:r>
            <a:endParaRPr b="0" i="0" sz="1400" u="none" cap="none" strike="noStrike">
              <a:solidFill>
                <a:srgbClr val="000000"/>
              </a:solidFill>
              <a:latin typeface="Arial"/>
              <a:ea typeface="Arial"/>
              <a:cs typeface="Arial"/>
              <a:sym typeface="Arial"/>
            </a:endParaRPr>
          </a:p>
        </p:txBody>
      </p:sp>
      <p:sp>
        <p:nvSpPr>
          <p:cNvPr id="418" name="Google Shape;418;p33"/>
          <p:cNvSpPr txBox="1"/>
          <p:nvPr/>
        </p:nvSpPr>
        <p:spPr>
          <a:xfrm>
            <a:off x="9116568" y="5129784"/>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Active</a:t>
            </a:r>
            <a:endParaRPr b="0" i="0" sz="1400" u="none" cap="none" strike="noStrike">
              <a:solidFill>
                <a:srgbClr val="000000"/>
              </a:solidFill>
              <a:latin typeface="Arial"/>
              <a:ea typeface="Arial"/>
              <a:cs typeface="Arial"/>
              <a:sym typeface="Arial"/>
            </a:endParaRPr>
          </a:p>
        </p:txBody>
      </p:sp>
      <p:sp>
        <p:nvSpPr>
          <p:cNvPr id="419" name="Google Shape;419;p33"/>
          <p:cNvSpPr txBox="1"/>
          <p:nvPr/>
        </p:nvSpPr>
        <p:spPr>
          <a:xfrm>
            <a:off x="9116568" y="5390377"/>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LLM Classifier → exec/escalate</a:t>
            </a:r>
            <a:endParaRPr b="0" i="0" sz="1400" u="none" cap="none" strike="noStrike">
              <a:solidFill>
                <a:srgbClr val="000000"/>
              </a:solidFill>
              <a:latin typeface="Arial"/>
              <a:ea typeface="Arial"/>
              <a:cs typeface="Arial"/>
              <a:sym typeface="Arial"/>
            </a:endParaRPr>
          </a:p>
        </p:txBody>
      </p:sp>
      <p:sp>
        <p:nvSpPr>
          <p:cNvPr id="420" name="Google Shape;420;p33"/>
          <p:cNvSpPr/>
          <p:nvPr/>
        </p:nvSpPr>
        <p:spPr>
          <a:xfrm>
            <a:off x="8732520" y="5815584"/>
            <a:ext cx="3166567" cy="649224"/>
          </a:xfrm>
          <a:prstGeom prst="rect">
            <a:avLst/>
          </a:prstGeom>
          <a:solidFill>
            <a:srgbClr val="100C24"/>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1" name="Google Shape;421;p33"/>
          <p:cNvSpPr/>
          <p:nvPr/>
        </p:nvSpPr>
        <p:spPr>
          <a:xfrm>
            <a:off x="8571200" y="5815575"/>
            <a:ext cx="457500" cy="649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2" name="Google Shape;422;p33"/>
          <p:cNvSpPr txBox="1"/>
          <p:nvPr/>
        </p:nvSpPr>
        <p:spPr>
          <a:xfrm>
            <a:off x="8546703" y="6040136"/>
            <a:ext cx="508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HIGH</a:t>
            </a:r>
            <a:endParaRPr b="0" i="0" sz="1400" u="none" cap="none" strike="noStrike">
              <a:solidFill>
                <a:srgbClr val="000000"/>
              </a:solidFill>
              <a:latin typeface="Arial"/>
              <a:ea typeface="Arial"/>
              <a:cs typeface="Arial"/>
              <a:sym typeface="Arial"/>
            </a:endParaRPr>
          </a:p>
        </p:txBody>
      </p:sp>
      <p:sp>
        <p:nvSpPr>
          <p:cNvPr id="423" name="Google Shape;423;p33"/>
          <p:cNvSpPr txBox="1"/>
          <p:nvPr/>
        </p:nvSpPr>
        <p:spPr>
          <a:xfrm>
            <a:off x="9116568" y="5833872"/>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Exploit</a:t>
            </a:r>
            <a:endParaRPr b="0" i="0" sz="1400" u="none" cap="none" strike="noStrike">
              <a:solidFill>
                <a:srgbClr val="000000"/>
              </a:solidFill>
              <a:latin typeface="Arial"/>
              <a:ea typeface="Arial"/>
              <a:cs typeface="Arial"/>
              <a:sym typeface="Arial"/>
            </a:endParaRPr>
          </a:p>
        </p:txBody>
      </p:sp>
      <p:sp>
        <p:nvSpPr>
          <p:cNvPr id="424" name="Google Shape;424;p33"/>
          <p:cNvSpPr txBox="1"/>
          <p:nvPr/>
        </p:nvSpPr>
        <p:spPr>
          <a:xfrm>
            <a:off x="9116568" y="6094465"/>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 Mailbox approval</a:t>
            </a:r>
            <a:endParaRPr b="0" i="0" sz="1400" u="none" cap="none" strike="noStrike">
              <a:solidFill>
                <a:srgbClr val="000000"/>
              </a:solidFill>
              <a:latin typeface="Arial"/>
              <a:ea typeface="Arial"/>
              <a:cs typeface="Arial"/>
              <a:sym typeface="Arial"/>
            </a:endParaRPr>
          </a:p>
        </p:txBody>
      </p:sp>
      <p:sp>
        <p:nvSpPr>
          <p:cNvPr id="425" name="Google Shape;425;p33"/>
          <p:cNvSpPr txBox="1"/>
          <p:nvPr/>
        </p:nvSpPr>
        <p:spPr>
          <a:xfrm>
            <a:off x="11622735" y="61539"/>
            <a:ext cx="508725" cy="292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30" name="Shape 430"/>
        <p:cNvGrpSpPr/>
        <p:nvPr/>
      </p:nvGrpSpPr>
      <p:grpSpPr>
        <a:xfrm>
          <a:off x="0" y="0"/>
          <a:ext cx="0" cy="0"/>
          <a:chOff x="0" y="0"/>
          <a:chExt cx="0" cy="0"/>
        </a:xfrm>
      </p:grpSpPr>
      <p:sp>
        <p:nvSpPr>
          <p:cNvPr id="431" name="Google Shape;431;p34"/>
          <p:cNvSpPr/>
          <p:nvPr/>
        </p:nvSpPr>
        <p:spPr>
          <a:xfrm>
            <a:off x="365760" y="73152"/>
            <a:ext cx="1097280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1100"/>
              <a:buFont typeface="Arial"/>
              <a:buNone/>
            </a:pPr>
            <a:r>
              <a:rPr b="1" i="0" lang="en-US" sz="1100" u="none" cap="none" strike="noStrike">
                <a:solidFill>
                  <a:srgbClr val="7FFF00"/>
                </a:solidFill>
                <a:latin typeface="Arial"/>
                <a:ea typeface="Arial"/>
                <a:cs typeface="Arial"/>
                <a:sym typeface="Arial"/>
              </a:rPr>
              <a:t>DUAL-GRAPH WORLD MODEL</a:t>
            </a:r>
            <a:endParaRPr b="0" i="0" sz="1100" u="none" cap="none" strike="noStrike">
              <a:solidFill>
                <a:schemeClr val="dk1"/>
              </a:solidFill>
              <a:latin typeface="Calibri"/>
              <a:ea typeface="Calibri"/>
              <a:cs typeface="Calibri"/>
              <a:sym typeface="Calibri"/>
            </a:endParaRPr>
          </a:p>
        </p:txBody>
      </p:sp>
      <p:sp>
        <p:nvSpPr>
          <p:cNvPr id="432" name="Google Shape;432;p34"/>
          <p:cNvSpPr/>
          <p:nvPr/>
        </p:nvSpPr>
        <p:spPr>
          <a:xfrm>
            <a:off x="365760" y="292608"/>
            <a:ext cx="11216640" cy="438912"/>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Two Strictly Separated Knowledge Layers</a:t>
            </a:r>
            <a:endParaRPr b="0" i="0" sz="2800" u="none" cap="none" strike="noStrike">
              <a:solidFill>
                <a:schemeClr val="dk1"/>
              </a:solidFill>
              <a:latin typeface="Calibri"/>
              <a:ea typeface="Calibri"/>
              <a:cs typeface="Calibri"/>
              <a:sym typeface="Calibri"/>
            </a:endParaRPr>
          </a:p>
        </p:txBody>
      </p:sp>
      <p:sp>
        <p:nvSpPr>
          <p:cNvPr id="433" name="Google Shape;433;p34"/>
          <p:cNvSpPr/>
          <p:nvPr/>
        </p:nvSpPr>
        <p:spPr>
          <a:xfrm>
            <a:off x="11582520" y="186952"/>
            <a:ext cx="426600" cy="2439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chemeClr val="dk1"/>
              </a:buClr>
              <a:buSzPts val="1300"/>
              <a:buFont typeface="Arial"/>
              <a:buNone/>
            </a:pPr>
            <a:r>
              <a:rPr b="1" i="0" lang="en-US" sz="1300" u="none" cap="none" strike="noStrike">
                <a:solidFill>
                  <a:srgbClr val="39FF14"/>
                </a:solidFill>
                <a:latin typeface="Calibri"/>
                <a:ea typeface="Calibri"/>
                <a:cs typeface="Calibri"/>
                <a:sym typeface="Calibri"/>
              </a:rPr>
              <a:t>0</a:t>
            </a:r>
            <a:r>
              <a:rPr b="1" lang="en-US" sz="1300">
                <a:solidFill>
                  <a:srgbClr val="39FF14"/>
                </a:solidFill>
                <a:latin typeface="Calibri"/>
                <a:ea typeface="Calibri"/>
                <a:cs typeface="Calibri"/>
                <a:sym typeface="Calibri"/>
              </a:rPr>
              <a:t>6</a:t>
            </a:r>
            <a:endParaRPr b="0" i="0" sz="14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444444"/>
              </a:buClr>
              <a:buSzPts val="1100"/>
              <a:buFont typeface="Arial"/>
              <a:buNone/>
            </a:pPr>
            <a:r>
              <a:t/>
            </a:r>
            <a:endParaRPr b="0" i="0" sz="1100" u="none" cap="none" strike="noStrike">
              <a:solidFill>
                <a:srgbClr val="444444"/>
              </a:solidFill>
              <a:latin typeface="Arial"/>
              <a:ea typeface="Arial"/>
              <a:cs typeface="Arial"/>
              <a:sym typeface="Arial"/>
            </a:endParaRPr>
          </a:p>
        </p:txBody>
      </p:sp>
      <p:sp>
        <p:nvSpPr>
          <p:cNvPr id="434" name="Google Shape;434;p34"/>
          <p:cNvSpPr/>
          <p:nvPr/>
        </p:nvSpPr>
        <p:spPr>
          <a:xfrm>
            <a:off x="182880" y="804672"/>
            <a:ext cx="5547300" cy="5632800"/>
          </a:xfrm>
          <a:prstGeom prst="rect">
            <a:avLst/>
          </a:prstGeom>
          <a:solidFill>
            <a:srgbClr val="0D1A0D"/>
          </a:solidFill>
          <a:ln cap="flat" cmpd="sng" w="190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4"/>
          <p:cNvSpPr/>
          <p:nvPr/>
        </p:nvSpPr>
        <p:spPr>
          <a:xfrm>
            <a:off x="304800" y="853440"/>
            <a:ext cx="524256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1400"/>
              <a:buFont typeface="Arial"/>
              <a:buNone/>
            </a:pPr>
            <a:r>
              <a:rPr b="1" i="0" lang="en-US" sz="1400" u="none" cap="none" strike="noStrike">
                <a:solidFill>
                  <a:srgbClr val="7FFF00"/>
                </a:solidFill>
                <a:latin typeface="Arial"/>
                <a:ea typeface="Arial"/>
                <a:cs typeface="Arial"/>
                <a:sym typeface="Arial"/>
              </a:rPr>
              <a:t>ASG — Attack Surface Graph</a:t>
            </a:r>
            <a:endParaRPr b="0" i="0" sz="1400" u="none" cap="none" strike="noStrike">
              <a:solidFill>
                <a:schemeClr val="dk1"/>
              </a:solidFill>
              <a:latin typeface="Calibri"/>
              <a:ea typeface="Calibri"/>
              <a:cs typeface="Calibri"/>
              <a:sym typeface="Calibri"/>
            </a:endParaRPr>
          </a:p>
        </p:txBody>
      </p:sp>
      <p:sp>
        <p:nvSpPr>
          <p:cNvPr id="436" name="Google Shape;436;p34"/>
          <p:cNvSpPr/>
          <p:nvPr/>
        </p:nvSpPr>
        <p:spPr>
          <a:xfrm>
            <a:off x="304800" y="1097280"/>
            <a:ext cx="5242560" cy="18288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1" lang="en-US" sz="900" u="none" cap="none" strike="noStrike">
                <a:solidFill>
                  <a:srgbClr val="7FFF00"/>
                </a:solidFill>
                <a:latin typeface="Arial"/>
                <a:ea typeface="Arial"/>
                <a:cs typeface="Arial"/>
                <a:sym typeface="Arial"/>
              </a:rPr>
              <a:t>Discovered Reality  ·  Every node = confirmed by tool  ·  Every edge = confirmed relationship</a:t>
            </a:r>
            <a:endParaRPr b="0" i="0" sz="900" u="none" cap="none" strike="noStrike">
              <a:solidFill>
                <a:schemeClr val="dk1"/>
              </a:solidFill>
              <a:latin typeface="Calibri"/>
              <a:ea typeface="Calibri"/>
              <a:cs typeface="Calibri"/>
              <a:sym typeface="Calibri"/>
            </a:endParaRPr>
          </a:p>
        </p:txBody>
      </p:sp>
      <p:sp>
        <p:nvSpPr>
          <p:cNvPr id="437" name="Google Shape;437;p34"/>
          <p:cNvSpPr/>
          <p:nvPr/>
        </p:nvSpPr>
        <p:spPr>
          <a:xfrm>
            <a:off x="268224" y="1341120"/>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4"/>
          <p:cNvSpPr/>
          <p:nvPr/>
        </p:nvSpPr>
        <p:spPr>
          <a:xfrm>
            <a:off x="292608"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Domain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shopvault.io</a:t>
            </a:r>
            <a:endParaRPr b="0" i="0" sz="800" u="none" cap="none" strike="noStrike">
              <a:solidFill>
                <a:schemeClr val="dk1"/>
              </a:solidFill>
              <a:latin typeface="Calibri"/>
              <a:ea typeface="Calibri"/>
              <a:cs typeface="Calibri"/>
              <a:sym typeface="Calibri"/>
            </a:endParaRPr>
          </a:p>
        </p:txBody>
      </p:sp>
      <p:sp>
        <p:nvSpPr>
          <p:cNvPr id="439" name="Google Shape;439;p34"/>
          <p:cNvSpPr/>
          <p:nvPr/>
        </p:nvSpPr>
        <p:spPr>
          <a:xfrm>
            <a:off x="268224" y="2003145"/>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34"/>
          <p:cNvSpPr/>
          <p:nvPr/>
        </p:nvSpPr>
        <p:spPr>
          <a:xfrm>
            <a:off x="292608"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10.0.0.1</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Ubuntu 22</a:t>
            </a:r>
            <a:endParaRPr b="0" i="0" sz="800" u="none" cap="none" strike="noStrike">
              <a:solidFill>
                <a:schemeClr val="dk1"/>
              </a:solidFill>
              <a:latin typeface="Calibri"/>
              <a:ea typeface="Calibri"/>
              <a:cs typeface="Calibri"/>
              <a:sym typeface="Calibri"/>
            </a:endParaRPr>
          </a:p>
        </p:txBody>
      </p:sp>
      <p:sp>
        <p:nvSpPr>
          <p:cNvPr id="441" name="Google Shape;441;p34"/>
          <p:cNvSpPr/>
          <p:nvPr/>
        </p:nvSpPr>
        <p:spPr>
          <a:xfrm>
            <a:off x="268224" y="2665171"/>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34"/>
          <p:cNvSpPr/>
          <p:nvPr/>
        </p:nvSpPr>
        <p:spPr>
          <a:xfrm>
            <a:off x="292608" y="266517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Debian 11</a:t>
            </a:r>
            <a:endParaRPr b="0" i="0" sz="800" u="none" cap="none" strike="noStrike">
              <a:solidFill>
                <a:schemeClr val="dk1"/>
              </a:solidFill>
              <a:latin typeface="Calibri"/>
              <a:ea typeface="Calibri"/>
              <a:cs typeface="Calibri"/>
              <a:sym typeface="Calibri"/>
            </a:endParaRPr>
          </a:p>
        </p:txBody>
      </p:sp>
      <p:sp>
        <p:nvSpPr>
          <p:cNvPr id="443" name="Google Shape;443;p34"/>
          <p:cNvSpPr/>
          <p:nvPr/>
        </p:nvSpPr>
        <p:spPr>
          <a:xfrm>
            <a:off x="268225" y="3327200"/>
            <a:ext cx="910200" cy="4146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4"/>
          <p:cNvSpPr/>
          <p:nvPr/>
        </p:nvSpPr>
        <p:spPr>
          <a:xfrm>
            <a:off x="292600" y="3327200"/>
            <a:ext cx="877800" cy="414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api.shopvault</a:t>
            </a:r>
            <a:endParaRPr b="0" i="0" sz="800" u="none" cap="none" strike="noStrike">
              <a:solidFill>
                <a:schemeClr val="dk1"/>
              </a:solidFill>
              <a:latin typeface="Calibri"/>
              <a:ea typeface="Calibri"/>
              <a:cs typeface="Calibri"/>
              <a:sym typeface="Calibri"/>
            </a:endParaRPr>
          </a:p>
        </p:txBody>
      </p:sp>
      <p:sp>
        <p:nvSpPr>
          <p:cNvPr id="445" name="Google Shape;445;p34"/>
          <p:cNvSpPr/>
          <p:nvPr/>
        </p:nvSpPr>
        <p:spPr>
          <a:xfrm>
            <a:off x="1280160"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34"/>
          <p:cNvSpPr/>
          <p:nvPr/>
        </p:nvSpPr>
        <p:spPr>
          <a:xfrm>
            <a:off x="1304544"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:443</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47" name="Google Shape;447;p34"/>
          <p:cNvSpPr/>
          <p:nvPr/>
        </p:nvSpPr>
        <p:spPr>
          <a:xfrm>
            <a:off x="1280160"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4"/>
          <p:cNvSpPr/>
          <p:nvPr/>
        </p:nvSpPr>
        <p:spPr>
          <a:xfrm>
            <a:off x="1304544"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:22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49" name="Google Shape;449;p34"/>
          <p:cNvSpPr/>
          <p:nvPr/>
        </p:nvSpPr>
        <p:spPr>
          <a:xfrm>
            <a:off x="1280160"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4"/>
          <p:cNvSpPr/>
          <p:nvPr/>
        </p:nvSpPr>
        <p:spPr>
          <a:xfrm>
            <a:off x="1304544"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:8080</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unenc</a:t>
            </a:r>
            <a:endParaRPr b="0" i="0" sz="800" u="none" cap="none" strike="noStrike">
              <a:solidFill>
                <a:schemeClr val="dk1"/>
              </a:solidFill>
              <a:latin typeface="Calibri"/>
              <a:ea typeface="Calibri"/>
              <a:cs typeface="Calibri"/>
              <a:sym typeface="Calibri"/>
            </a:endParaRPr>
          </a:p>
        </p:txBody>
      </p:sp>
      <p:sp>
        <p:nvSpPr>
          <p:cNvPr id="451" name="Google Shape;451;p34"/>
          <p:cNvSpPr/>
          <p:nvPr/>
        </p:nvSpPr>
        <p:spPr>
          <a:xfrm>
            <a:off x="1280160" y="365820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4"/>
          <p:cNvSpPr/>
          <p:nvPr/>
        </p:nvSpPr>
        <p:spPr>
          <a:xfrm>
            <a:off x="1304544"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53" name="Google Shape;453;p34"/>
          <p:cNvSpPr/>
          <p:nvPr/>
        </p:nvSpPr>
        <p:spPr>
          <a:xfrm>
            <a:off x="2292096"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4"/>
          <p:cNvSpPr/>
          <p:nvPr/>
        </p:nvSpPr>
        <p:spPr>
          <a:xfrm>
            <a:off x="2316480"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Nginx 1.18</a:t>
            </a:r>
            <a:endParaRPr b="0" i="0" sz="800" u="none" cap="none" strike="noStrike">
              <a:solidFill>
                <a:schemeClr val="dk1"/>
              </a:solidFill>
              <a:latin typeface="Calibri"/>
              <a:ea typeface="Calibri"/>
              <a:cs typeface="Calibri"/>
              <a:sym typeface="Calibri"/>
            </a:endParaRPr>
          </a:p>
        </p:txBody>
      </p:sp>
      <p:sp>
        <p:nvSpPr>
          <p:cNvPr id="455" name="Google Shape;455;p34"/>
          <p:cNvSpPr/>
          <p:nvPr/>
        </p:nvSpPr>
        <p:spPr>
          <a:xfrm>
            <a:off x="2292096"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4"/>
          <p:cNvSpPr/>
          <p:nvPr/>
        </p:nvSpPr>
        <p:spPr>
          <a:xfrm>
            <a:off x="2316480"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OpenSSH 8.9</a:t>
            </a:r>
            <a:endParaRPr b="0" i="0" sz="800" u="none" cap="none" strike="noStrike">
              <a:solidFill>
                <a:schemeClr val="dk1"/>
              </a:solidFill>
              <a:latin typeface="Calibri"/>
              <a:ea typeface="Calibri"/>
              <a:cs typeface="Calibri"/>
              <a:sym typeface="Calibri"/>
            </a:endParaRPr>
          </a:p>
        </p:txBody>
      </p:sp>
      <p:sp>
        <p:nvSpPr>
          <p:cNvPr id="457" name="Google Shape;457;p34"/>
          <p:cNvSpPr/>
          <p:nvPr/>
        </p:nvSpPr>
        <p:spPr>
          <a:xfrm>
            <a:off x="2292096"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34"/>
          <p:cNvSpPr/>
          <p:nvPr/>
        </p:nvSpPr>
        <p:spPr>
          <a:xfrm>
            <a:off x="2316480"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plain</a:t>
            </a:r>
            <a:endParaRPr b="0" i="0" sz="800" u="none" cap="none" strike="noStrike">
              <a:solidFill>
                <a:schemeClr val="dk1"/>
              </a:solidFill>
              <a:latin typeface="Calibri"/>
              <a:ea typeface="Calibri"/>
              <a:cs typeface="Calibri"/>
              <a:sym typeface="Calibri"/>
            </a:endParaRPr>
          </a:p>
        </p:txBody>
      </p:sp>
      <p:sp>
        <p:nvSpPr>
          <p:cNvPr id="459" name="Google Shape;459;p34"/>
          <p:cNvSpPr/>
          <p:nvPr/>
        </p:nvSpPr>
        <p:spPr>
          <a:xfrm>
            <a:off x="2292096" y="3658209"/>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4"/>
          <p:cNvSpPr/>
          <p:nvPr/>
        </p:nvSpPr>
        <p:spPr>
          <a:xfrm>
            <a:off x="2316480"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WordPress 5.9</a:t>
            </a:r>
            <a:endParaRPr b="0" i="0" sz="800" u="none" cap="none" strike="noStrike">
              <a:solidFill>
                <a:schemeClr val="dk1"/>
              </a:solidFill>
              <a:latin typeface="Calibri"/>
              <a:ea typeface="Calibri"/>
              <a:cs typeface="Calibri"/>
              <a:sym typeface="Calibri"/>
            </a:endParaRPr>
          </a:p>
        </p:txBody>
      </p:sp>
      <p:sp>
        <p:nvSpPr>
          <p:cNvPr id="461" name="Google Shape;461;p34"/>
          <p:cNvSpPr/>
          <p:nvPr/>
        </p:nvSpPr>
        <p:spPr>
          <a:xfrm>
            <a:off x="2292096" y="4320235"/>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34"/>
          <p:cNvSpPr/>
          <p:nvPr/>
        </p:nvSpPr>
        <p:spPr>
          <a:xfrm>
            <a:off x="2316480" y="432023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WooCommerce</a:t>
            </a:r>
            <a:endParaRPr b="0" i="0" sz="800" u="none" cap="none" strike="noStrike">
              <a:solidFill>
                <a:schemeClr val="dk1"/>
              </a:solidFill>
              <a:latin typeface="Calibri"/>
              <a:ea typeface="Calibri"/>
              <a:cs typeface="Calibri"/>
              <a:sym typeface="Calibri"/>
            </a:endParaRPr>
          </a:p>
        </p:txBody>
      </p:sp>
      <p:sp>
        <p:nvSpPr>
          <p:cNvPr id="463" name="Google Shape;463;p34"/>
          <p:cNvSpPr/>
          <p:nvPr/>
        </p:nvSpPr>
        <p:spPr>
          <a:xfrm>
            <a:off x="2292096" y="4982261"/>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4"/>
          <p:cNvSpPr/>
          <p:nvPr/>
        </p:nvSpPr>
        <p:spPr>
          <a:xfrm>
            <a:off x="2316480" y="498226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Django 4.1</a:t>
            </a:r>
            <a:endParaRPr b="0" i="0" sz="800" u="none" cap="none" strike="noStrike">
              <a:solidFill>
                <a:schemeClr val="dk1"/>
              </a:solidFill>
              <a:latin typeface="Calibri"/>
              <a:ea typeface="Calibri"/>
              <a:cs typeface="Calibri"/>
              <a:sym typeface="Calibri"/>
            </a:endParaRPr>
          </a:p>
        </p:txBody>
      </p:sp>
      <p:sp>
        <p:nvSpPr>
          <p:cNvPr id="465" name="Google Shape;465;p34"/>
          <p:cNvSpPr/>
          <p:nvPr/>
        </p:nvSpPr>
        <p:spPr>
          <a:xfrm>
            <a:off x="3304032" y="1341120"/>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4"/>
          <p:cNvSpPr/>
          <p:nvPr/>
        </p:nvSpPr>
        <p:spPr>
          <a:xfrm>
            <a:off x="3328416"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/wp-admin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HIGH</a:t>
            </a:r>
            <a:endParaRPr b="0" i="0" sz="800" u="none" cap="none" strike="noStrike">
              <a:solidFill>
                <a:schemeClr val="dk1"/>
              </a:solidFill>
              <a:latin typeface="Calibri"/>
              <a:ea typeface="Calibri"/>
              <a:cs typeface="Calibri"/>
              <a:sym typeface="Calibri"/>
            </a:endParaRPr>
          </a:p>
        </p:txBody>
      </p:sp>
      <p:sp>
        <p:nvSpPr>
          <p:cNvPr id="467" name="Google Shape;467;p34"/>
          <p:cNvSpPr/>
          <p:nvPr/>
        </p:nvSpPr>
        <p:spPr>
          <a:xfrm>
            <a:off x="3304032" y="2003145"/>
            <a:ext cx="877824" cy="414528"/>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4"/>
          <p:cNvSpPr/>
          <p:nvPr/>
        </p:nvSpPr>
        <p:spPr>
          <a:xfrm>
            <a:off x="3328416"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/backup/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db_export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CRITICAL</a:t>
            </a:r>
            <a:endParaRPr b="0" i="0" sz="800" u="none" cap="none" strike="noStrike">
              <a:solidFill>
                <a:schemeClr val="dk1"/>
              </a:solidFill>
              <a:latin typeface="Calibri"/>
              <a:ea typeface="Calibri"/>
              <a:cs typeface="Calibri"/>
              <a:sym typeface="Calibri"/>
            </a:endParaRPr>
          </a:p>
        </p:txBody>
      </p:sp>
      <p:sp>
        <p:nvSpPr>
          <p:cNvPr id="469" name="Google Shape;469;p34"/>
          <p:cNvSpPr/>
          <p:nvPr/>
        </p:nvSpPr>
        <p:spPr>
          <a:xfrm>
            <a:off x="3328420" y="2530996"/>
            <a:ext cx="877800" cy="414600"/>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34"/>
          <p:cNvSpPr/>
          <p:nvPr/>
        </p:nvSpPr>
        <p:spPr>
          <a:xfrm>
            <a:off x="3352825" y="2580975"/>
            <a:ext cx="829200" cy="330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/api/orders</a:t>
            </a:r>
            <a:endParaRPr b="0" i="0" sz="800" u="none" cap="none" strike="noStrike">
              <a:solidFill>
                <a:schemeClr val="dk1"/>
              </a:solidFill>
              <a:latin typeface="Calibri"/>
              <a:ea typeface="Calibri"/>
              <a:cs typeface="Calibri"/>
              <a:sym typeface="Calibri"/>
            </a:endParaRPr>
          </a:p>
        </p:txBody>
      </p:sp>
      <p:sp>
        <p:nvSpPr>
          <p:cNvPr id="471" name="Google Shape;471;p34"/>
          <p:cNvSpPr/>
          <p:nvPr/>
        </p:nvSpPr>
        <p:spPr>
          <a:xfrm>
            <a:off x="3304025" y="3212525"/>
            <a:ext cx="1014000" cy="529200"/>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34"/>
          <p:cNvSpPr/>
          <p:nvPr/>
        </p:nvSpPr>
        <p:spPr>
          <a:xfrm>
            <a:off x="3303000" y="3202813"/>
            <a:ext cx="1014000" cy="529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/api/users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undocumented</a:t>
            </a:r>
            <a:endParaRPr b="0" i="0" sz="800" u="none" cap="none" strike="noStrike">
              <a:solidFill>
                <a:schemeClr val="dk1"/>
              </a:solidFill>
              <a:latin typeface="Calibri"/>
              <a:ea typeface="Calibri"/>
              <a:cs typeface="Calibri"/>
              <a:sym typeface="Calibri"/>
            </a:endParaRPr>
          </a:p>
        </p:txBody>
      </p:sp>
      <p:sp>
        <p:nvSpPr>
          <p:cNvPr id="473" name="Google Shape;473;p34"/>
          <p:cNvSpPr/>
          <p:nvPr/>
        </p:nvSpPr>
        <p:spPr>
          <a:xfrm>
            <a:off x="3304032" y="3989223"/>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4"/>
          <p:cNvSpPr/>
          <p:nvPr/>
        </p:nvSpPr>
        <p:spPr>
          <a:xfrm>
            <a:off x="3328416" y="398922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Param</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user_id=?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injectable</a:t>
            </a:r>
            <a:endParaRPr b="0" i="0" sz="800" u="none" cap="none" strike="noStrike">
              <a:solidFill>
                <a:schemeClr val="dk1"/>
              </a:solidFill>
              <a:latin typeface="Calibri"/>
              <a:ea typeface="Calibri"/>
              <a:cs typeface="Calibri"/>
              <a:sym typeface="Calibri"/>
            </a:endParaRPr>
          </a:p>
        </p:txBody>
      </p:sp>
      <p:sp>
        <p:nvSpPr>
          <p:cNvPr id="475" name="Google Shape;475;p34"/>
          <p:cNvSpPr/>
          <p:nvPr/>
        </p:nvSpPr>
        <p:spPr>
          <a:xfrm>
            <a:off x="3304025" y="4536575"/>
            <a:ext cx="877800" cy="529200"/>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34"/>
          <p:cNvSpPr/>
          <p:nvPr/>
        </p:nvSpPr>
        <p:spPr>
          <a:xfrm>
            <a:off x="3328425" y="4536550"/>
            <a:ext cx="829200" cy="529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CVE-2022-21661</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SQLi CVSS 8.8</a:t>
            </a:r>
            <a:endParaRPr b="0" i="0" sz="800" u="none" cap="none" strike="noStrike">
              <a:solidFill>
                <a:schemeClr val="dk1"/>
              </a:solidFill>
              <a:latin typeface="Calibri"/>
              <a:ea typeface="Calibri"/>
              <a:cs typeface="Calibri"/>
              <a:sym typeface="Calibri"/>
            </a:endParaRPr>
          </a:p>
        </p:txBody>
      </p:sp>
      <p:sp>
        <p:nvSpPr>
          <p:cNvPr id="477" name="Google Shape;477;p34"/>
          <p:cNvSpPr/>
          <p:nvPr/>
        </p:nvSpPr>
        <p:spPr>
          <a:xfrm>
            <a:off x="3247275" y="5273000"/>
            <a:ext cx="934500" cy="454800"/>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34"/>
          <p:cNvSpPr/>
          <p:nvPr/>
        </p:nvSpPr>
        <p:spPr>
          <a:xfrm>
            <a:off x="3247275" y="5325675"/>
            <a:ext cx="910200" cy="3048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IDOR /orders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Severity:HIGH</a:t>
            </a:r>
            <a:endParaRPr b="0" i="0" sz="800" u="none" cap="none" strike="noStrike">
              <a:solidFill>
                <a:schemeClr val="dk1"/>
              </a:solidFill>
              <a:latin typeface="Calibri"/>
              <a:ea typeface="Calibri"/>
              <a:cs typeface="Calibri"/>
              <a:sym typeface="Calibri"/>
            </a:endParaRPr>
          </a:p>
        </p:txBody>
      </p:sp>
      <p:sp>
        <p:nvSpPr>
          <p:cNvPr id="479" name="Google Shape;479;p34"/>
          <p:cNvSpPr/>
          <p:nvPr/>
        </p:nvSpPr>
        <p:spPr>
          <a:xfrm>
            <a:off x="4567914" y="4651213"/>
            <a:ext cx="1014000" cy="414600"/>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4"/>
          <p:cNvSpPr/>
          <p:nvPr/>
        </p:nvSpPr>
        <p:spPr>
          <a:xfrm>
            <a:off x="4595437" y="4651175"/>
            <a:ext cx="910200" cy="414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sqli-extract.txt</a:t>
            </a:r>
            <a:endParaRPr b="0" i="0" sz="800" u="none" cap="none" strike="noStrike">
              <a:solidFill>
                <a:schemeClr val="dk1"/>
              </a:solidFill>
              <a:latin typeface="Calibri"/>
              <a:ea typeface="Calibri"/>
              <a:cs typeface="Calibri"/>
              <a:sym typeface="Calibri"/>
            </a:endParaRPr>
          </a:p>
        </p:txBody>
      </p:sp>
      <p:sp>
        <p:nvSpPr>
          <p:cNvPr id="481" name="Google Shape;481;p34"/>
          <p:cNvSpPr/>
          <p:nvPr/>
        </p:nvSpPr>
        <p:spPr>
          <a:xfrm>
            <a:off x="4315968" y="5313273"/>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4"/>
          <p:cNvSpPr/>
          <p:nvPr/>
        </p:nvSpPr>
        <p:spPr>
          <a:xfrm>
            <a:off x="4340352" y="531327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admin-panel.png</a:t>
            </a:r>
            <a:endParaRPr b="0" i="0" sz="800" u="none" cap="none" strike="noStrike">
              <a:solidFill>
                <a:schemeClr val="dk1"/>
              </a:solidFill>
              <a:latin typeface="Calibri"/>
              <a:ea typeface="Calibri"/>
              <a:cs typeface="Calibri"/>
              <a:sym typeface="Calibri"/>
            </a:endParaRPr>
          </a:p>
        </p:txBody>
      </p:sp>
      <p:sp>
        <p:nvSpPr>
          <p:cNvPr id="483" name="Google Shape;483;p34"/>
          <p:cNvSpPr/>
          <p:nvPr/>
        </p:nvSpPr>
        <p:spPr>
          <a:xfrm>
            <a:off x="4315968" y="5754624"/>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4"/>
          <p:cNvSpPr/>
          <p:nvPr/>
        </p:nvSpPr>
        <p:spPr>
          <a:xfrm>
            <a:off x="4340352" y="575462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webshell-rce.png</a:t>
            </a:r>
            <a:endParaRPr b="0" i="0" sz="800" u="none" cap="none" strike="noStrike">
              <a:solidFill>
                <a:schemeClr val="dk1"/>
              </a:solidFill>
              <a:latin typeface="Calibri"/>
              <a:ea typeface="Calibri"/>
              <a:cs typeface="Calibri"/>
              <a:sym typeface="Calibri"/>
            </a:endParaRPr>
          </a:p>
        </p:txBody>
      </p:sp>
      <p:cxnSp>
        <p:nvCxnSpPr>
          <p:cNvPr id="485" name="Google Shape;485;p34"/>
          <p:cNvCxnSpPr/>
          <p:nvPr/>
        </p:nvCxnSpPr>
        <p:spPr>
          <a:xfrm>
            <a:off x="1146048" y="1548384"/>
            <a:ext cx="134112" cy="331013"/>
          </a:xfrm>
          <a:prstGeom prst="straightConnector1">
            <a:avLst/>
          </a:prstGeom>
          <a:noFill/>
          <a:ln cap="flat" cmpd="sng" w="9525">
            <a:solidFill>
              <a:srgbClr val="7FFF00"/>
            </a:solidFill>
            <a:prstDash val="solid"/>
            <a:round/>
            <a:headEnd len="sm" w="sm" type="none"/>
            <a:tailEnd len="med" w="med" type="stealth"/>
          </a:ln>
        </p:spPr>
      </p:cxnSp>
      <p:sp>
        <p:nvSpPr>
          <p:cNvPr id="486" name="Google Shape;486;p34"/>
          <p:cNvSpPr/>
          <p:nvPr/>
        </p:nvSpPr>
        <p:spPr>
          <a:xfrm>
            <a:off x="1054528" y="1453650"/>
            <a:ext cx="5853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has_host</a:t>
            </a:r>
            <a:endParaRPr b="0" i="0" sz="600" u="none" cap="none" strike="noStrike">
              <a:solidFill>
                <a:schemeClr val="lt1"/>
              </a:solidFill>
              <a:latin typeface="Calibri"/>
              <a:ea typeface="Calibri"/>
              <a:cs typeface="Calibri"/>
              <a:sym typeface="Calibri"/>
            </a:endParaRPr>
          </a:p>
        </p:txBody>
      </p:sp>
      <p:cxnSp>
        <p:nvCxnSpPr>
          <p:cNvPr id="487" name="Google Shape;487;p34"/>
          <p:cNvCxnSpPr/>
          <p:nvPr/>
        </p:nvCxnSpPr>
        <p:spPr>
          <a:xfrm>
            <a:off x="1146048" y="2210409"/>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488" name="Google Shape;488;p34"/>
          <p:cNvCxnSpPr/>
          <p:nvPr/>
        </p:nvCxnSpPr>
        <p:spPr>
          <a:xfrm>
            <a:off x="1146048" y="2872435"/>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489" name="Google Shape;489;p34"/>
          <p:cNvCxnSpPr/>
          <p:nvPr/>
        </p:nvCxnSpPr>
        <p:spPr>
          <a:xfrm>
            <a:off x="1173975" y="3463250"/>
            <a:ext cx="106500" cy="402000"/>
          </a:xfrm>
          <a:prstGeom prst="straightConnector1">
            <a:avLst/>
          </a:prstGeom>
          <a:noFill/>
          <a:ln cap="flat" cmpd="sng" w="9525">
            <a:solidFill>
              <a:srgbClr val="7FFF00"/>
            </a:solidFill>
            <a:prstDash val="solid"/>
            <a:round/>
            <a:headEnd len="sm" w="sm" type="none"/>
            <a:tailEnd len="med" w="med" type="stealth"/>
          </a:ln>
        </p:spPr>
      </p:cxnSp>
      <p:cxnSp>
        <p:nvCxnSpPr>
          <p:cNvPr id="490" name="Google Shape;490;p34"/>
          <p:cNvCxnSpPr/>
          <p:nvPr/>
        </p:nvCxnSpPr>
        <p:spPr>
          <a:xfrm>
            <a:off x="2157984" y="1879397"/>
            <a:ext cx="134112" cy="12192"/>
          </a:xfrm>
          <a:prstGeom prst="straightConnector1">
            <a:avLst/>
          </a:prstGeom>
          <a:noFill/>
          <a:ln cap="flat" cmpd="sng" w="9525">
            <a:solidFill>
              <a:srgbClr val="7FFF00"/>
            </a:solidFill>
            <a:prstDash val="solid"/>
            <a:round/>
            <a:headEnd len="sm" w="sm" type="none"/>
            <a:tailEnd len="med" w="med" type="stealth"/>
          </a:ln>
        </p:spPr>
      </p:cxnSp>
      <p:sp>
        <p:nvSpPr>
          <p:cNvPr id="491" name="Google Shape;491;p34"/>
          <p:cNvSpPr/>
          <p:nvPr/>
        </p:nvSpPr>
        <p:spPr>
          <a:xfrm>
            <a:off x="1993325" y="1453632"/>
            <a:ext cx="487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runs</a:t>
            </a:r>
            <a:endParaRPr b="0" i="0" sz="600" u="none" cap="none" strike="noStrike">
              <a:solidFill>
                <a:schemeClr val="lt1"/>
              </a:solidFill>
              <a:latin typeface="Calibri"/>
              <a:ea typeface="Calibri"/>
              <a:cs typeface="Calibri"/>
              <a:sym typeface="Calibri"/>
            </a:endParaRPr>
          </a:p>
        </p:txBody>
      </p:sp>
      <p:cxnSp>
        <p:nvCxnSpPr>
          <p:cNvPr id="492" name="Google Shape;492;p34"/>
          <p:cNvCxnSpPr/>
          <p:nvPr/>
        </p:nvCxnSpPr>
        <p:spPr>
          <a:xfrm>
            <a:off x="2157984" y="2541423"/>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493" name="Google Shape;493;p34"/>
          <p:cNvCxnSpPr/>
          <p:nvPr/>
        </p:nvCxnSpPr>
        <p:spPr>
          <a:xfrm>
            <a:off x="2157984" y="3203448"/>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494" name="Google Shape;494;p34"/>
          <p:cNvCxnSpPr/>
          <p:nvPr/>
        </p:nvCxnSpPr>
        <p:spPr>
          <a:xfrm>
            <a:off x="2157984" y="3865473"/>
            <a:ext cx="134112" cy="12192"/>
          </a:xfrm>
          <a:prstGeom prst="straightConnector1">
            <a:avLst/>
          </a:prstGeom>
          <a:noFill/>
          <a:ln cap="flat" cmpd="sng" w="9525">
            <a:solidFill>
              <a:srgbClr val="00D4FF"/>
            </a:solidFill>
            <a:prstDash val="solid"/>
            <a:round/>
            <a:headEnd len="sm" w="sm" type="none"/>
            <a:tailEnd len="med" w="med" type="stealth"/>
          </a:ln>
        </p:spPr>
      </p:cxnSp>
      <p:sp>
        <p:nvSpPr>
          <p:cNvPr id="495" name="Google Shape;495;p34"/>
          <p:cNvSpPr/>
          <p:nvPr/>
        </p:nvSpPr>
        <p:spPr>
          <a:xfrm>
            <a:off x="1969013" y="3455195"/>
            <a:ext cx="487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uses</a:t>
            </a:r>
            <a:endParaRPr b="0" i="0" sz="600" u="none" cap="none" strike="noStrike">
              <a:solidFill>
                <a:schemeClr val="lt1"/>
              </a:solidFill>
              <a:latin typeface="Calibri"/>
              <a:ea typeface="Calibri"/>
              <a:cs typeface="Calibri"/>
              <a:sym typeface="Calibri"/>
            </a:endParaRPr>
          </a:p>
        </p:txBody>
      </p:sp>
      <p:cxnSp>
        <p:nvCxnSpPr>
          <p:cNvPr id="496" name="Google Shape;496;p34"/>
          <p:cNvCxnSpPr>
            <a:stCxn id="466" idx="2"/>
            <a:endCxn id="468" idx="0"/>
          </p:cNvCxnSpPr>
          <p:nvPr/>
        </p:nvCxnSpPr>
        <p:spPr>
          <a:xfrm>
            <a:off x="3742944" y="1755648"/>
            <a:ext cx="0" cy="247500"/>
          </a:xfrm>
          <a:prstGeom prst="straightConnector1">
            <a:avLst/>
          </a:prstGeom>
          <a:noFill/>
          <a:ln cap="flat" cmpd="sng" w="9525">
            <a:solidFill>
              <a:srgbClr val="00D4FF"/>
            </a:solidFill>
            <a:prstDash val="solid"/>
            <a:round/>
            <a:headEnd len="sm" w="sm" type="none"/>
            <a:tailEnd len="med" w="med" type="stealth"/>
          </a:ln>
        </p:spPr>
      </p:cxnSp>
      <p:sp>
        <p:nvSpPr>
          <p:cNvPr id="497" name="Google Shape;497;p34"/>
          <p:cNvSpPr/>
          <p:nvPr/>
        </p:nvSpPr>
        <p:spPr>
          <a:xfrm>
            <a:off x="3145525" y="1800200"/>
            <a:ext cx="535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has_ep</a:t>
            </a:r>
            <a:endParaRPr b="0" i="0" sz="600" u="none" cap="none" strike="noStrike">
              <a:solidFill>
                <a:schemeClr val="lt1"/>
              </a:solidFill>
              <a:latin typeface="Calibri"/>
              <a:ea typeface="Calibri"/>
              <a:cs typeface="Calibri"/>
              <a:sym typeface="Calibri"/>
            </a:endParaRPr>
          </a:p>
        </p:txBody>
      </p:sp>
      <p:cxnSp>
        <p:nvCxnSpPr>
          <p:cNvPr id="498" name="Google Shape;498;p34"/>
          <p:cNvCxnSpPr/>
          <p:nvPr/>
        </p:nvCxnSpPr>
        <p:spPr>
          <a:xfrm>
            <a:off x="3169920" y="1879397"/>
            <a:ext cx="134112" cy="331013"/>
          </a:xfrm>
          <a:prstGeom prst="straightConnector1">
            <a:avLst/>
          </a:prstGeom>
          <a:noFill/>
          <a:ln cap="flat" cmpd="sng" w="9525">
            <a:solidFill>
              <a:srgbClr val="FF5252"/>
            </a:solidFill>
            <a:prstDash val="solid"/>
            <a:round/>
            <a:headEnd len="sm" w="sm" type="none"/>
            <a:tailEnd len="med" w="med" type="stealth"/>
          </a:ln>
        </p:spPr>
      </p:cxnSp>
      <p:cxnSp>
        <p:nvCxnSpPr>
          <p:cNvPr id="499" name="Google Shape;499;p34"/>
          <p:cNvCxnSpPr/>
          <p:nvPr/>
        </p:nvCxnSpPr>
        <p:spPr>
          <a:xfrm>
            <a:off x="3169920" y="3865473"/>
            <a:ext cx="134112" cy="993039"/>
          </a:xfrm>
          <a:prstGeom prst="straightConnector1">
            <a:avLst/>
          </a:prstGeom>
          <a:noFill/>
          <a:ln cap="flat" cmpd="sng" w="9525">
            <a:solidFill>
              <a:srgbClr val="FF5252"/>
            </a:solidFill>
            <a:prstDash val="solid"/>
            <a:round/>
            <a:headEnd len="sm" w="sm" type="none"/>
            <a:tailEnd len="med" w="med" type="stealth"/>
          </a:ln>
        </p:spPr>
      </p:cxnSp>
      <p:sp>
        <p:nvSpPr>
          <p:cNvPr id="500" name="Google Shape;500;p34"/>
          <p:cNvSpPr/>
          <p:nvPr/>
        </p:nvSpPr>
        <p:spPr>
          <a:xfrm>
            <a:off x="2446525" y="4117275"/>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affected_by</a:t>
            </a:r>
            <a:endParaRPr b="0" i="0" sz="600" u="none" cap="none" strike="noStrike">
              <a:solidFill>
                <a:schemeClr val="lt1"/>
              </a:solidFill>
              <a:latin typeface="Calibri"/>
              <a:ea typeface="Calibri"/>
              <a:cs typeface="Calibri"/>
              <a:sym typeface="Calibri"/>
            </a:endParaRPr>
          </a:p>
        </p:txBody>
      </p:sp>
      <p:cxnSp>
        <p:nvCxnSpPr>
          <p:cNvPr id="501" name="Google Shape;501;p34"/>
          <p:cNvCxnSpPr>
            <a:endCxn id="472" idx="0"/>
          </p:cNvCxnSpPr>
          <p:nvPr/>
        </p:nvCxnSpPr>
        <p:spPr>
          <a:xfrm flipH="1">
            <a:off x="3810000" y="2964313"/>
            <a:ext cx="219000" cy="238500"/>
          </a:xfrm>
          <a:prstGeom prst="straightConnector1">
            <a:avLst/>
          </a:prstGeom>
          <a:noFill/>
          <a:ln cap="flat" cmpd="sng" w="9525">
            <a:solidFill>
              <a:srgbClr val="00D4FF"/>
            </a:solidFill>
            <a:prstDash val="solid"/>
            <a:round/>
            <a:headEnd len="sm" w="sm" type="none"/>
            <a:tailEnd len="med" w="med" type="stealth"/>
          </a:ln>
        </p:spPr>
      </p:cxnSp>
      <p:sp>
        <p:nvSpPr>
          <p:cNvPr id="502" name="Google Shape;502;p34"/>
          <p:cNvSpPr/>
          <p:nvPr/>
        </p:nvSpPr>
        <p:spPr>
          <a:xfrm>
            <a:off x="4055872" y="2978150"/>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has_param</a:t>
            </a:r>
            <a:endParaRPr b="0" i="0" sz="600" u="none" cap="none" strike="noStrike">
              <a:solidFill>
                <a:schemeClr val="lt1"/>
              </a:solidFill>
              <a:latin typeface="Calibri"/>
              <a:ea typeface="Calibri"/>
              <a:cs typeface="Calibri"/>
              <a:sym typeface="Calibri"/>
            </a:endParaRPr>
          </a:p>
        </p:txBody>
      </p:sp>
      <p:sp>
        <p:nvSpPr>
          <p:cNvPr id="503" name="Google Shape;503;p34"/>
          <p:cNvSpPr/>
          <p:nvPr/>
        </p:nvSpPr>
        <p:spPr>
          <a:xfrm>
            <a:off x="3810000" y="5110313"/>
            <a:ext cx="6516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affected_by</a:t>
            </a:r>
            <a:endParaRPr b="0" i="0" sz="600" u="none" cap="none" strike="noStrike">
              <a:solidFill>
                <a:schemeClr val="lt1"/>
              </a:solidFill>
              <a:latin typeface="Calibri"/>
              <a:ea typeface="Calibri"/>
              <a:cs typeface="Calibri"/>
              <a:sym typeface="Calibri"/>
            </a:endParaRPr>
          </a:p>
        </p:txBody>
      </p:sp>
      <p:cxnSp>
        <p:nvCxnSpPr>
          <p:cNvPr id="504" name="Google Shape;504;p34"/>
          <p:cNvCxnSpPr>
            <a:endCxn id="480" idx="1"/>
          </p:cNvCxnSpPr>
          <p:nvPr/>
        </p:nvCxnSpPr>
        <p:spPr>
          <a:xfrm>
            <a:off x="4181737" y="4858475"/>
            <a:ext cx="413700" cy="0"/>
          </a:xfrm>
          <a:prstGeom prst="straightConnector1">
            <a:avLst/>
          </a:prstGeom>
          <a:noFill/>
          <a:ln cap="flat" cmpd="sng" w="9525">
            <a:solidFill>
              <a:srgbClr val="9C27B0"/>
            </a:solidFill>
            <a:prstDash val="solid"/>
            <a:round/>
            <a:headEnd len="sm" w="sm" type="none"/>
            <a:tailEnd len="med" w="med" type="stealth"/>
          </a:ln>
        </p:spPr>
      </p:cxnSp>
      <p:sp>
        <p:nvSpPr>
          <p:cNvPr id="505" name="Google Shape;505;p34"/>
          <p:cNvSpPr/>
          <p:nvPr/>
        </p:nvSpPr>
        <p:spPr>
          <a:xfrm>
            <a:off x="4713214" y="5110325"/>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validated_by</a:t>
            </a:r>
            <a:endParaRPr b="0" i="0" sz="600" u="none" cap="none" strike="noStrike">
              <a:solidFill>
                <a:schemeClr val="lt1"/>
              </a:solidFill>
              <a:latin typeface="Calibri"/>
              <a:ea typeface="Calibri"/>
              <a:cs typeface="Calibri"/>
              <a:sym typeface="Calibri"/>
            </a:endParaRPr>
          </a:p>
        </p:txBody>
      </p:sp>
      <p:cxnSp>
        <p:nvCxnSpPr>
          <p:cNvPr id="506" name="Google Shape;506;p34"/>
          <p:cNvCxnSpPr>
            <a:endCxn id="482" idx="0"/>
          </p:cNvCxnSpPr>
          <p:nvPr/>
        </p:nvCxnSpPr>
        <p:spPr>
          <a:xfrm>
            <a:off x="4181880" y="4858473"/>
            <a:ext cx="573000" cy="454800"/>
          </a:xfrm>
          <a:prstGeom prst="straightConnector1">
            <a:avLst/>
          </a:prstGeom>
          <a:noFill/>
          <a:ln cap="flat" cmpd="sng" w="9525">
            <a:solidFill>
              <a:srgbClr val="9C27B0"/>
            </a:solidFill>
            <a:prstDash val="solid"/>
            <a:round/>
            <a:headEnd len="sm" w="sm" type="none"/>
            <a:tailEnd len="med" w="med" type="stealth"/>
          </a:ln>
        </p:spPr>
      </p:cxnSp>
      <p:cxnSp>
        <p:nvCxnSpPr>
          <p:cNvPr id="507" name="Google Shape;507;p34"/>
          <p:cNvCxnSpPr/>
          <p:nvPr/>
        </p:nvCxnSpPr>
        <p:spPr>
          <a:xfrm>
            <a:off x="4181856" y="4858512"/>
            <a:ext cx="134112" cy="1103376"/>
          </a:xfrm>
          <a:prstGeom prst="straightConnector1">
            <a:avLst/>
          </a:prstGeom>
          <a:noFill/>
          <a:ln cap="flat" cmpd="sng" w="9525">
            <a:solidFill>
              <a:srgbClr val="9C27B0"/>
            </a:solidFill>
            <a:prstDash val="solid"/>
            <a:round/>
            <a:headEnd len="sm" w="sm" type="none"/>
            <a:tailEnd len="med" w="med" type="stealth"/>
          </a:ln>
        </p:spPr>
      </p:cxnSp>
      <p:sp>
        <p:nvSpPr>
          <p:cNvPr id="508" name="Google Shape;508;p34"/>
          <p:cNvSpPr/>
          <p:nvPr/>
        </p:nvSpPr>
        <p:spPr>
          <a:xfrm>
            <a:off x="182880" y="6193536"/>
            <a:ext cx="5547360" cy="243840"/>
          </a:xfrm>
          <a:prstGeom prst="rect">
            <a:avLst/>
          </a:prstGeom>
          <a:solidFill>
            <a:srgbClr val="0D1A0D"/>
          </a:solidFill>
          <a:ln cap="flat" cmpd="sng" w="9525">
            <a:solidFill>
              <a:srgbClr val="33333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34"/>
          <p:cNvSpPr/>
          <p:nvPr/>
        </p:nvSpPr>
        <p:spPr>
          <a:xfrm>
            <a:off x="304800" y="6205728"/>
            <a:ext cx="5242560" cy="20726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Infrastructure  </a:t>
            </a:r>
            <a:r>
              <a:rPr b="0" i="0" lang="en-US" sz="800" u="none" cap="none" strike="noStrike">
                <a:solidFill>
                  <a:srgbClr val="00D4FF"/>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Application  </a:t>
            </a:r>
            <a:r>
              <a:rPr b="0" i="0" lang="en-US" sz="800" u="none" cap="none" strike="noStrike">
                <a:solidFill>
                  <a:srgbClr val="FF5252"/>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Vulnerability  </a:t>
            </a:r>
            <a:r>
              <a:rPr b="0" i="0" lang="en-US" sz="800" u="none" cap="none" strike="noStrike">
                <a:solidFill>
                  <a:srgbClr val="9C27B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p:txBody>
      </p:sp>
      <p:cxnSp>
        <p:nvCxnSpPr>
          <p:cNvPr id="510" name="Google Shape;510;p34"/>
          <p:cNvCxnSpPr/>
          <p:nvPr/>
        </p:nvCxnSpPr>
        <p:spPr>
          <a:xfrm>
            <a:off x="5943568" y="786347"/>
            <a:ext cx="12300" cy="5632800"/>
          </a:xfrm>
          <a:prstGeom prst="straightConnector1">
            <a:avLst/>
          </a:prstGeom>
          <a:noFill/>
          <a:ln cap="flat" cmpd="sng" w="12700">
            <a:solidFill>
              <a:srgbClr val="00FFFF"/>
            </a:solidFill>
            <a:prstDash val="dash"/>
            <a:round/>
            <a:headEnd len="sm" w="sm" type="none"/>
            <a:tailEnd len="sm" w="sm" type="none"/>
          </a:ln>
        </p:spPr>
      </p:cxnSp>
      <p:sp>
        <p:nvSpPr>
          <p:cNvPr id="511" name="Google Shape;511;p34"/>
          <p:cNvSpPr/>
          <p:nvPr/>
        </p:nvSpPr>
        <p:spPr>
          <a:xfrm>
            <a:off x="5650960" y="3456395"/>
            <a:ext cx="5853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STRICT</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SEPARATION</a:t>
            </a:r>
            <a:endParaRPr b="0" i="0" sz="700" u="none" cap="none" strike="noStrike">
              <a:solidFill>
                <a:schemeClr val="dk1"/>
              </a:solidFill>
              <a:latin typeface="Calibri"/>
              <a:ea typeface="Calibri"/>
              <a:cs typeface="Calibri"/>
              <a:sym typeface="Calibri"/>
            </a:endParaRPr>
          </a:p>
        </p:txBody>
      </p:sp>
      <p:sp>
        <p:nvSpPr>
          <p:cNvPr id="512" name="Google Shape;512;p34"/>
          <p:cNvSpPr/>
          <p:nvPr/>
        </p:nvSpPr>
        <p:spPr>
          <a:xfrm>
            <a:off x="6156960" y="804672"/>
            <a:ext cx="5852160" cy="5632704"/>
          </a:xfrm>
          <a:prstGeom prst="rect">
            <a:avLst/>
          </a:prstGeom>
          <a:solidFill>
            <a:srgbClr val="1A0E00"/>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4"/>
          <p:cNvSpPr/>
          <p:nvPr/>
        </p:nvSpPr>
        <p:spPr>
          <a:xfrm>
            <a:off x="6278880" y="853440"/>
            <a:ext cx="560832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1400"/>
              <a:buFont typeface="Arial"/>
              <a:buNone/>
            </a:pPr>
            <a:r>
              <a:rPr b="1" i="0" lang="en-US" sz="1400" u="none" cap="none" strike="noStrike">
                <a:solidFill>
                  <a:srgbClr val="FFC107"/>
                </a:solidFill>
                <a:latin typeface="Arial"/>
                <a:ea typeface="Arial"/>
                <a:cs typeface="Arial"/>
                <a:sym typeface="Arial"/>
              </a:rPr>
              <a:t>APG — Attack Path Graph</a:t>
            </a:r>
            <a:endParaRPr b="0" i="0" sz="1400" u="none" cap="none" strike="noStrike">
              <a:solidFill>
                <a:schemeClr val="dk1"/>
              </a:solidFill>
              <a:latin typeface="Calibri"/>
              <a:ea typeface="Calibri"/>
              <a:cs typeface="Calibri"/>
              <a:sym typeface="Calibri"/>
            </a:endParaRPr>
          </a:p>
        </p:txBody>
      </p:sp>
      <p:sp>
        <p:nvSpPr>
          <p:cNvPr id="514" name="Google Shape;514;p34"/>
          <p:cNvSpPr/>
          <p:nvPr/>
        </p:nvSpPr>
        <p:spPr>
          <a:xfrm>
            <a:off x="6278880" y="1097280"/>
            <a:ext cx="5608320" cy="18288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1" lang="en-US" sz="900" u="none" cap="none" strike="noStrike">
                <a:solidFill>
                  <a:srgbClr val="FFC107"/>
                </a:solidFill>
                <a:latin typeface="Arial"/>
                <a:ea typeface="Arial"/>
                <a:cs typeface="Arial"/>
                <a:sym typeface="Arial"/>
              </a:rPr>
              <a:t>Inferred Opportunity  ·  Commander reasons from ASG vulnerabilities — no raw scan data</a:t>
            </a:r>
            <a:endParaRPr b="0" i="0" sz="900" u="none" cap="none" strike="noStrike">
              <a:solidFill>
                <a:schemeClr val="dk1"/>
              </a:solidFill>
              <a:latin typeface="Calibri"/>
              <a:ea typeface="Calibri"/>
              <a:cs typeface="Calibri"/>
              <a:sym typeface="Calibri"/>
            </a:endParaRPr>
          </a:p>
        </p:txBody>
      </p:sp>
      <p:sp>
        <p:nvSpPr>
          <p:cNvPr id="515" name="Google Shape;515;p34"/>
          <p:cNvSpPr/>
          <p:nvPr/>
        </p:nvSpPr>
        <p:spPr>
          <a:xfrm>
            <a:off x="625449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4"/>
          <p:cNvSpPr/>
          <p:nvPr/>
        </p:nvSpPr>
        <p:spPr>
          <a:xfrm>
            <a:off x="633984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Chain-01: SQLi → RCE</a:t>
            </a:r>
            <a:r>
              <a:rPr b="1" i="0" lang="en-US" sz="900" u="none" cap="none" strike="noStrike">
                <a:solidFill>
                  <a:srgbClr val="FF5252"/>
                </a:solidFill>
                <a:latin typeface="Arial"/>
                <a:ea typeface="Arial"/>
                <a:cs typeface="Arial"/>
                <a:sym typeface="Arial"/>
              </a:rPr>
              <a:t>  risk: 9.1↑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17" name="Google Shape;517;p34"/>
          <p:cNvSpPr/>
          <p:nvPr/>
        </p:nvSpPr>
        <p:spPr>
          <a:xfrm>
            <a:off x="6339850" y="1755650"/>
            <a:ext cx="829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4"/>
          <p:cNvSpPr/>
          <p:nvPr/>
        </p:nvSpPr>
        <p:spPr>
          <a:xfrm>
            <a:off x="6364225" y="1852395"/>
            <a:ext cx="7479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WP_Que</a:t>
            </a:r>
            <a:r>
              <a:rPr b="0" i="0" lang="en-US" sz="800" u="none" cap="none" strike="noStrike">
                <a:solidFill>
                  <a:srgbClr val="7FFF00"/>
                </a:solidFill>
                <a:latin typeface="Arial"/>
                <a:ea typeface="Arial"/>
                <a:cs typeface="Arial"/>
                <a:sym typeface="Arial"/>
              </a:rPr>
              <a:t>r</a:t>
            </a:r>
            <a:r>
              <a:rPr b="0" i="0" lang="en-US" sz="800" u="none" cap="none" strike="noStrike">
                <a:solidFill>
                  <a:srgbClr val="7FFF00"/>
                </a:solidFill>
                <a:latin typeface="Arial"/>
                <a:ea typeface="Arial"/>
                <a:cs typeface="Arial"/>
                <a:sym typeface="Arial"/>
              </a:rPr>
              <a:t>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SQLi confirmed</a:t>
            </a:r>
            <a:endParaRPr b="0" i="0" sz="800" u="none" cap="none" strike="noStrike">
              <a:solidFill>
                <a:schemeClr val="dk1"/>
              </a:solidFill>
              <a:latin typeface="Calibri"/>
              <a:ea typeface="Calibri"/>
              <a:cs typeface="Calibri"/>
              <a:sym typeface="Calibri"/>
            </a:endParaRPr>
          </a:p>
        </p:txBody>
      </p:sp>
      <p:sp>
        <p:nvSpPr>
          <p:cNvPr id="519" name="Google Shape;519;p34"/>
          <p:cNvSpPr/>
          <p:nvPr/>
        </p:nvSpPr>
        <p:spPr>
          <a:xfrm>
            <a:off x="7087616"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20" name="Google Shape;520;p34"/>
          <p:cNvSpPr/>
          <p:nvPr/>
        </p:nvSpPr>
        <p:spPr>
          <a:xfrm>
            <a:off x="7246112" y="1755654"/>
            <a:ext cx="747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4"/>
          <p:cNvSpPr/>
          <p:nvPr/>
        </p:nvSpPr>
        <p:spPr>
          <a:xfrm>
            <a:off x="7270499" y="1852396"/>
            <a:ext cx="6990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dump users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hash cracked</a:t>
            </a:r>
            <a:endParaRPr b="0" i="0" sz="800" u="none" cap="none" strike="noStrike">
              <a:solidFill>
                <a:schemeClr val="dk1"/>
              </a:solidFill>
              <a:latin typeface="Calibri"/>
              <a:ea typeface="Calibri"/>
              <a:cs typeface="Calibri"/>
              <a:sym typeface="Calibri"/>
            </a:endParaRPr>
          </a:p>
        </p:txBody>
      </p:sp>
      <p:sp>
        <p:nvSpPr>
          <p:cNvPr id="522" name="Google Shape;522;p34"/>
          <p:cNvSpPr/>
          <p:nvPr/>
        </p:nvSpPr>
        <p:spPr>
          <a:xfrm>
            <a:off x="7993888"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23" name="Google Shape;523;p34"/>
          <p:cNvSpPr/>
          <p:nvPr/>
        </p:nvSpPr>
        <p:spPr>
          <a:xfrm>
            <a:off x="8071099" y="1755650"/>
            <a:ext cx="829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4"/>
          <p:cNvSpPr/>
          <p:nvPr/>
        </p:nvSpPr>
        <p:spPr>
          <a:xfrm>
            <a:off x="8127975" y="1852395"/>
            <a:ext cx="7479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Metasploit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webshell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Full RCE</a:t>
            </a:r>
            <a:endParaRPr b="0" i="0" sz="800" u="none" cap="none" strike="noStrike">
              <a:solidFill>
                <a:schemeClr val="dk1"/>
              </a:solidFill>
              <a:latin typeface="Calibri"/>
              <a:ea typeface="Calibri"/>
              <a:cs typeface="Calibri"/>
              <a:sym typeface="Calibri"/>
            </a:endParaRPr>
          </a:p>
        </p:txBody>
      </p:sp>
      <p:sp>
        <p:nvSpPr>
          <p:cNvPr id="525" name="Google Shape;525;p34"/>
          <p:cNvSpPr/>
          <p:nvPr/>
        </p:nvSpPr>
        <p:spPr>
          <a:xfrm>
            <a:off x="6339850" y="3054100"/>
            <a:ext cx="2560200" cy="5292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4"/>
          <p:cNvSpPr/>
          <p:nvPr/>
        </p:nvSpPr>
        <p:spPr>
          <a:xfrm>
            <a:off x="6427560" y="3132461"/>
            <a:ext cx="24408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RCE · Customer PII exposed</a:t>
            </a:r>
            <a:endParaRPr b="0" i="0" sz="800" u="none" cap="none" strike="noStrike">
              <a:solidFill>
                <a:schemeClr val="dk1"/>
              </a:solidFill>
              <a:latin typeface="Calibri"/>
              <a:ea typeface="Calibri"/>
              <a:cs typeface="Calibri"/>
              <a:sym typeface="Calibri"/>
            </a:endParaRPr>
          </a:p>
        </p:txBody>
      </p:sp>
      <p:sp>
        <p:nvSpPr>
          <p:cNvPr id="527" name="Google Shape;527;p34"/>
          <p:cNvSpPr/>
          <p:nvPr/>
        </p:nvSpPr>
        <p:spPr>
          <a:xfrm>
            <a:off x="918057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4"/>
          <p:cNvSpPr/>
          <p:nvPr/>
        </p:nvSpPr>
        <p:spPr>
          <a:xfrm>
            <a:off x="926592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Chain-02: IDOR → Orders</a:t>
            </a:r>
            <a:r>
              <a:rPr b="1" i="0" lang="en-US" sz="900" u="none" cap="none" strike="noStrike">
                <a:solidFill>
                  <a:srgbClr val="FF5252"/>
                </a:solidFill>
                <a:latin typeface="Arial"/>
                <a:ea typeface="Arial"/>
                <a:cs typeface="Arial"/>
                <a:sym typeface="Arial"/>
              </a:rPr>
              <a:t>  risk: 7.5</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29" name="Google Shape;529;p34"/>
          <p:cNvSpPr/>
          <p:nvPr/>
        </p:nvSpPr>
        <p:spPr>
          <a:xfrm>
            <a:off x="9265920" y="1755654"/>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4"/>
          <p:cNvSpPr/>
          <p:nvPr/>
        </p:nvSpPr>
        <p:spPr>
          <a:xfrm>
            <a:off x="9290300" y="1852395"/>
            <a:ext cx="1152000" cy="816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IDOR param</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confirmed</a:t>
            </a:r>
            <a:endParaRPr b="0" i="0" sz="800" u="none" cap="none" strike="noStrike">
              <a:solidFill>
                <a:schemeClr val="dk1"/>
              </a:solidFill>
              <a:latin typeface="Calibri"/>
              <a:ea typeface="Calibri"/>
              <a:cs typeface="Calibri"/>
              <a:sym typeface="Calibri"/>
            </a:endParaRPr>
          </a:p>
        </p:txBody>
      </p:sp>
      <p:sp>
        <p:nvSpPr>
          <p:cNvPr id="531" name="Google Shape;531;p34"/>
          <p:cNvSpPr/>
          <p:nvPr/>
        </p:nvSpPr>
        <p:spPr>
          <a:xfrm>
            <a:off x="10466832"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32" name="Google Shape;532;p34"/>
          <p:cNvSpPr/>
          <p:nvPr/>
        </p:nvSpPr>
        <p:spPr>
          <a:xfrm>
            <a:off x="10625327" y="1755654"/>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4"/>
          <p:cNvSpPr/>
          <p:nvPr/>
        </p:nvSpPr>
        <p:spPr>
          <a:xfrm>
            <a:off x="10649700" y="1852395"/>
            <a:ext cx="1152000" cy="816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all orders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PII exposed</a:t>
            </a:r>
            <a:endParaRPr b="0" i="0" sz="800" u="none" cap="none" strike="noStrike">
              <a:solidFill>
                <a:schemeClr val="dk1"/>
              </a:solidFill>
              <a:latin typeface="Calibri"/>
              <a:ea typeface="Calibri"/>
              <a:cs typeface="Calibri"/>
              <a:sym typeface="Calibri"/>
            </a:endParaRPr>
          </a:p>
        </p:txBody>
      </p:sp>
      <p:sp>
        <p:nvSpPr>
          <p:cNvPr id="534" name="Google Shape;534;p34"/>
          <p:cNvSpPr/>
          <p:nvPr/>
        </p:nvSpPr>
        <p:spPr>
          <a:xfrm>
            <a:off x="9265930" y="3054100"/>
            <a:ext cx="2560200" cy="5292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34"/>
          <p:cNvSpPr/>
          <p:nvPr/>
        </p:nvSpPr>
        <p:spPr>
          <a:xfrm>
            <a:off x="9298975" y="3132461"/>
            <a:ext cx="24408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All orders + PII exposed</a:t>
            </a:r>
            <a:endParaRPr b="0" i="0" sz="800" u="none" cap="none" strike="noStrike">
              <a:solidFill>
                <a:schemeClr val="dk1"/>
              </a:solidFill>
              <a:latin typeface="Calibri"/>
              <a:ea typeface="Calibri"/>
              <a:cs typeface="Calibri"/>
              <a:sym typeface="Calibri"/>
            </a:endParaRPr>
          </a:p>
        </p:txBody>
      </p:sp>
      <p:sp>
        <p:nvSpPr>
          <p:cNvPr id="536" name="Google Shape;536;p34"/>
          <p:cNvSpPr/>
          <p:nvPr/>
        </p:nvSpPr>
        <p:spPr>
          <a:xfrm>
            <a:off x="6254500" y="3785625"/>
            <a:ext cx="2730900" cy="222450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4"/>
          <p:cNvSpPr/>
          <p:nvPr/>
        </p:nvSpPr>
        <p:spPr>
          <a:xfrm>
            <a:off x="633984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Chain-03: Blind SQLi → Creds</a:t>
            </a:r>
            <a:r>
              <a:rPr b="1" i="0" lang="en-US" sz="900" u="none" cap="none" strike="noStrike">
                <a:solidFill>
                  <a:srgbClr val="FF5252"/>
                </a:solidFill>
                <a:latin typeface="Arial"/>
                <a:ea typeface="Arial"/>
                <a:cs typeface="Arial"/>
                <a:sym typeface="Arial"/>
              </a:rPr>
              <a:t>  risk: 8.1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38" name="Google Shape;538;p34"/>
          <p:cNvSpPr/>
          <p:nvPr/>
        </p:nvSpPr>
        <p:spPr>
          <a:xfrm>
            <a:off x="6339850" y="4196475"/>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4"/>
          <p:cNvSpPr/>
          <p:nvPr/>
        </p:nvSpPr>
        <p:spPr>
          <a:xfrm>
            <a:off x="6364235" y="4293209"/>
            <a:ext cx="11520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blind SQLi</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staging login</a:t>
            </a:r>
            <a:endParaRPr b="0" i="0" sz="800" u="none" cap="none" strike="noStrike">
              <a:solidFill>
                <a:schemeClr val="dk1"/>
              </a:solidFill>
              <a:latin typeface="Calibri"/>
              <a:ea typeface="Calibri"/>
              <a:cs typeface="Calibri"/>
              <a:sym typeface="Calibri"/>
            </a:endParaRPr>
          </a:p>
        </p:txBody>
      </p:sp>
      <p:sp>
        <p:nvSpPr>
          <p:cNvPr id="540" name="Google Shape;540;p34"/>
          <p:cNvSpPr/>
          <p:nvPr/>
        </p:nvSpPr>
        <p:spPr>
          <a:xfrm>
            <a:off x="7540752" y="4666488"/>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41" name="Google Shape;541;p34"/>
          <p:cNvSpPr/>
          <p:nvPr/>
        </p:nvSpPr>
        <p:spPr>
          <a:xfrm>
            <a:off x="7699256" y="4196475"/>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34"/>
          <p:cNvSpPr/>
          <p:nvPr/>
        </p:nvSpPr>
        <p:spPr>
          <a:xfrm>
            <a:off x="7723639" y="4293209"/>
            <a:ext cx="11520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Extract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DB creds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reuse risk</a:t>
            </a:r>
            <a:endParaRPr b="0" i="0" sz="800" u="none" cap="none" strike="noStrike">
              <a:solidFill>
                <a:schemeClr val="dk1"/>
              </a:solidFill>
              <a:latin typeface="Calibri"/>
              <a:ea typeface="Calibri"/>
              <a:cs typeface="Calibri"/>
              <a:sym typeface="Calibri"/>
            </a:endParaRPr>
          </a:p>
        </p:txBody>
      </p:sp>
      <p:sp>
        <p:nvSpPr>
          <p:cNvPr id="543" name="Google Shape;543;p34"/>
          <p:cNvSpPr/>
          <p:nvPr/>
        </p:nvSpPr>
        <p:spPr>
          <a:xfrm>
            <a:off x="6339900" y="5420161"/>
            <a:ext cx="2560200" cy="5292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4"/>
          <p:cNvSpPr/>
          <p:nvPr/>
        </p:nvSpPr>
        <p:spPr>
          <a:xfrm>
            <a:off x="6376485" y="5498537"/>
            <a:ext cx="24873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DB credentials extracted · reuse risk</a:t>
            </a:r>
            <a:endParaRPr b="0" i="0" sz="800" u="none" cap="none" strike="noStrike">
              <a:solidFill>
                <a:schemeClr val="dk1"/>
              </a:solidFill>
              <a:latin typeface="Calibri"/>
              <a:ea typeface="Calibri"/>
              <a:cs typeface="Calibri"/>
              <a:sym typeface="Calibri"/>
            </a:endParaRPr>
          </a:p>
        </p:txBody>
      </p:sp>
      <p:sp>
        <p:nvSpPr>
          <p:cNvPr id="545" name="Google Shape;545;p34"/>
          <p:cNvSpPr/>
          <p:nvPr/>
        </p:nvSpPr>
        <p:spPr>
          <a:xfrm>
            <a:off x="9180573" y="3785625"/>
            <a:ext cx="2730900" cy="222450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34"/>
          <p:cNvSpPr/>
          <p:nvPr/>
        </p:nvSpPr>
        <p:spPr>
          <a:xfrm>
            <a:off x="926592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Chain-04: Exposed Backup</a:t>
            </a:r>
            <a:r>
              <a:rPr b="1" i="0" lang="en-US" sz="900" u="none" cap="none" strike="noStrike">
                <a:solidFill>
                  <a:srgbClr val="FF5252"/>
                </a:solidFill>
                <a:latin typeface="Arial"/>
                <a:ea typeface="Arial"/>
                <a:cs typeface="Arial"/>
                <a:sym typeface="Arial"/>
              </a:rPr>
              <a:t>  risk: 7.0</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47" name="Google Shape;547;p34"/>
          <p:cNvSpPr/>
          <p:nvPr/>
        </p:nvSpPr>
        <p:spPr>
          <a:xfrm>
            <a:off x="9265926" y="4196475"/>
            <a:ext cx="2560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34"/>
          <p:cNvSpPr/>
          <p:nvPr/>
        </p:nvSpPr>
        <p:spPr>
          <a:xfrm>
            <a:off x="9290306" y="4293209"/>
            <a:ext cx="25116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/backup/*.sql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public file · no auth</a:t>
            </a:r>
            <a:endParaRPr b="0" i="0" sz="800" u="none" cap="none" strike="noStrike">
              <a:solidFill>
                <a:schemeClr val="dk1"/>
              </a:solidFill>
              <a:latin typeface="Calibri"/>
              <a:ea typeface="Calibri"/>
              <a:cs typeface="Calibri"/>
              <a:sym typeface="Calibri"/>
            </a:endParaRPr>
          </a:p>
        </p:txBody>
      </p:sp>
      <p:sp>
        <p:nvSpPr>
          <p:cNvPr id="549" name="Google Shape;549;p34"/>
          <p:cNvSpPr/>
          <p:nvPr/>
        </p:nvSpPr>
        <p:spPr>
          <a:xfrm>
            <a:off x="9265980" y="5420161"/>
            <a:ext cx="2560200" cy="5292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4"/>
          <p:cNvSpPr/>
          <p:nvPr/>
        </p:nvSpPr>
        <p:spPr>
          <a:xfrm>
            <a:off x="9302563" y="5498537"/>
            <a:ext cx="24873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PII DB download · no exploit needed</a:t>
            </a:r>
            <a:endParaRPr b="0" i="0" sz="800" u="none" cap="none" strike="noStrike">
              <a:solidFill>
                <a:schemeClr val="dk1"/>
              </a:solidFill>
              <a:latin typeface="Calibri"/>
              <a:ea typeface="Calibri"/>
              <a:cs typeface="Calibri"/>
              <a:sym typeface="Calibri"/>
            </a:endParaRPr>
          </a:p>
        </p:txBody>
      </p:sp>
      <p:sp>
        <p:nvSpPr>
          <p:cNvPr id="551" name="Google Shape;551;p34"/>
          <p:cNvSpPr/>
          <p:nvPr/>
        </p:nvSpPr>
        <p:spPr>
          <a:xfrm>
            <a:off x="6156950" y="6106375"/>
            <a:ext cx="5852100" cy="330900"/>
          </a:xfrm>
          <a:prstGeom prst="rect">
            <a:avLst/>
          </a:prstGeom>
          <a:solidFill>
            <a:srgbClr val="1A1000"/>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34"/>
          <p:cNvSpPr/>
          <p:nvPr/>
        </p:nvSpPr>
        <p:spPr>
          <a:xfrm>
            <a:off x="6248350" y="6126201"/>
            <a:ext cx="5669400" cy="268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APG Priority Queue:  </a:t>
            </a:r>
            <a:r>
              <a:rPr b="0" i="0" lang="en-US" sz="800" u="none" cap="none" strike="noStrike">
                <a:solidFill>
                  <a:srgbClr val="BBBBBB"/>
                </a:solidFill>
                <a:latin typeface="Arial"/>
                <a:ea typeface="Arial"/>
                <a:cs typeface="Arial"/>
                <a:sym typeface="Arial"/>
              </a:rPr>
              <a:t>#1 Chain-01 · 9.1  ·  #2 Chain-03 · 8.1  ·  #3 Chain-02 · 7.5  ·  #4 Chain-04 · 7.0  </a:t>
            </a:r>
            <a:endParaRPr b="0" i="0" sz="800" u="none" cap="none" strike="noStrike">
              <a:solidFill>
                <a:srgbClr val="BBBBBB"/>
              </a:solidFill>
              <a:latin typeface="Arial"/>
              <a:ea typeface="Arial"/>
              <a:cs typeface="Arial"/>
              <a:sym typeface="Arial"/>
            </a:endParaRPr>
          </a:p>
          <a:p>
            <a:pPr indent="457200" lvl="0" marL="457200" marR="0" rtl="0" algn="ctr">
              <a:lnSpc>
                <a:spcPct val="100000"/>
              </a:lnSpc>
              <a:spcBef>
                <a:spcPts val="0"/>
              </a:spcBef>
              <a:spcAft>
                <a:spcPts val="0"/>
              </a:spcAft>
              <a:buClr>
                <a:srgbClr val="FFC107"/>
              </a:buClr>
              <a:buSzPts val="800"/>
              <a:buFont typeface="Arial"/>
              <a:buNone/>
            </a:pPr>
            <a:r>
              <a:rPr lang="en-US" sz="800">
                <a:solidFill>
                  <a:srgbClr val="BBBBBB"/>
                </a:solidFill>
              </a:rPr>
              <a:t>    </a:t>
            </a:r>
            <a:r>
              <a:rPr b="0" i="0" lang="en-US" sz="800" u="none" cap="none" strike="noStrike">
                <a:solidFill>
                  <a:srgbClr val="BBBBBB"/>
                </a:solidFill>
                <a:latin typeface="Arial"/>
                <a:ea typeface="Arial"/>
                <a:cs typeface="Arial"/>
                <a:sym typeface="Arial"/>
              </a:rPr>
              <a:t>·  Commander re-ranks on every status change</a:t>
            </a:r>
            <a:endParaRPr b="0" i="0" sz="800" u="none" cap="none" strike="noStrike">
              <a:solidFill>
                <a:schemeClr val="dk1"/>
              </a:solidFill>
              <a:latin typeface="Calibri"/>
              <a:ea typeface="Calibri"/>
              <a:cs typeface="Calibri"/>
              <a:sym typeface="Calibri"/>
            </a:endParaRPr>
          </a:p>
        </p:txBody>
      </p:sp>
      <p:sp>
        <p:nvSpPr>
          <p:cNvPr id="553" name="Google Shape;553;p34"/>
          <p:cNvSpPr/>
          <p:nvPr/>
        </p:nvSpPr>
        <p:spPr>
          <a:xfrm>
            <a:off x="182880" y="6473952"/>
            <a:ext cx="1182624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34"/>
          <p:cNvSpPr/>
          <p:nvPr/>
        </p:nvSpPr>
        <p:spPr>
          <a:xfrm>
            <a:off x="304800" y="6486144"/>
            <a:ext cx="1158240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Separation Principle:  Discovery agents write only to the ASG — they never reason about chains.  The Commander writes only to the APG — it never runs tools.  No agent conflates discovered facts with hypothesised attack reasoning.</a:t>
            </a:r>
            <a:endParaRPr b="0" i="0" sz="800" u="none" cap="none" strike="noStrike">
              <a:solidFill>
                <a:schemeClr val="dk1"/>
              </a:solidFill>
              <a:latin typeface="Calibri"/>
              <a:ea typeface="Calibri"/>
              <a:cs typeface="Calibri"/>
              <a:sym typeface="Calibri"/>
            </a:endParaRPr>
          </a:p>
        </p:txBody>
      </p:sp>
      <p:cxnSp>
        <p:nvCxnSpPr>
          <p:cNvPr id="555" name="Google Shape;555;p34"/>
          <p:cNvCxnSpPr>
            <a:stCxn id="474" idx="3"/>
            <a:endCxn id="478" idx="2"/>
          </p:cNvCxnSpPr>
          <p:nvPr/>
        </p:nvCxnSpPr>
        <p:spPr>
          <a:xfrm flipH="1">
            <a:off x="3702372" y="4196487"/>
            <a:ext cx="455100" cy="1434000"/>
          </a:xfrm>
          <a:prstGeom prst="bentConnector4">
            <a:avLst>
              <a:gd fmla="val -328983" name="adj1"/>
              <a:gd fmla="val 142619" name="adj2"/>
            </a:avLst>
          </a:prstGeom>
          <a:noFill/>
          <a:ln cap="flat" cmpd="sng" w="9525">
            <a:solidFill>
              <a:srgbClr val="FF5252"/>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559" name="Shape 559"/>
        <p:cNvGrpSpPr/>
        <p:nvPr/>
      </p:nvGrpSpPr>
      <p:grpSpPr>
        <a:xfrm>
          <a:off x="0" y="0"/>
          <a:ext cx="0" cy="0"/>
          <a:chOff x="0" y="0"/>
          <a:chExt cx="0" cy="0"/>
        </a:xfrm>
      </p:grpSpPr>
      <p:sp>
        <p:nvSpPr>
          <p:cNvPr id="560" name="Google Shape;560;p35"/>
          <p:cNvSpPr/>
          <p:nvPr/>
        </p:nvSpPr>
        <p:spPr>
          <a:xfrm>
            <a:off x="0" y="0"/>
            <a:ext cx="54900"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35"/>
          <p:cNvSpPr/>
          <p:nvPr/>
        </p:nvSpPr>
        <p:spPr>
          <a:xfrm>
            <a:off x="54864" y="0"/>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2" name="Google Shape;562;p35"/>
          <p:cNvSpPr/>
          <p:nvPr/>
        </p:nvSpPr>
        <p:spPr>
          <a:xfrm>
            <a:off x="54864" y="6821424"/>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3" name="Google Shape;563;p35"/>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AGENT ARCHITECTURE</a:t>
            </a:r>
            <a:endParaRPr b="0" i="0" sz="1400" u="none" cap="none" strike="noStrike">
              <a:solidFill>
                <a:srgbClr val="000000"/>
              </a:solidFill>
              <a:latin typeface="Arial"/>
              <a:ea typeface="Arial"/>
              <a:cs typeface="Arial"/>
              <a:sym typeface="Arial"/>
            </a:endParaRPr>
          </a:p>
        </p:txBody>
      </p:sp>
      <p:sp>
        <p:nvSpPr>
          <p:cNvPr id="564" name="Google Shape;564;p35"/>
          <p:cNvSpPr txBox="1"/>
          <p:nvPr/>
        </p:nvSpPr>
        <p:spPr>
          <a:xfrm>
            <a:off x="274320" y="292608"/>
            <a:ext cx="10058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Context-Isolated Agents — Spawn · Execute · Return · Discard</a:t>
            </a:r>
            <a:endParaRPr b="0" i="0" sz="1400" u="none" cap="none" strike="noStrike">
              <a:solidFill>
                <a:srgbClr val="000000"/>
              </a:solidFill>
              <a:latin typeface="Arial"/>
              <a:ea typeface="Arial"/>
              <a:cs typeface="Arial"/>
              <a:sym typeface="Arial"/>
            </a:endParaRPr>
          </a:p>
        </p:txBody>
      </p:sp>
      <p:sp>
        <p:nvSpPr>
          <p:cNvPr id="565" name="Google Shape;565;p35"/>
          <p:cNvSpPr/>
          <p:nvPr/>
        </p:nvSpPr>
        <p:spPr>
          <a:xfrm>
            <a:off x="164600" y="804675"/>
            <a:ext cx="4434900" cy="5888700"/>
          </a:xfrm>
          <a:prstGeom prst="rect">
            <a:avLst/>
          </a:prstGeom>
          <a:solidFill>
            <a:srgbClr val="080C20"/>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6" name="Google Shape;566;p35"/>
          <p:cNvSpPr txBox="1"/>
          <p:nvPr/>
        </p:nvSpPr>
        <p:spPr>
          <a:xfrm>
            <a:off x="164592" y="859536"/>
            <a:ext cx="44349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CONTEXT ISOLATION MODEL</a:t>
            </a:r>
            <a:endParaRPr b="0" i="0" sz="1400" u="none" cap="none" strike="noStrike">
              <a:solidFill>
                <a:srgbClr val="000000"/>
              </a:solidFill>
              <a:latin typeface="Arial"/>
              <a:ea typeface="Arial"/>
              <a:cs typeface="Arial"/>
              <a:sym typeface="Arial"/>
            </a:endParaRPr>
          </a:p>
        </p:txBody>
      </p:sp>
      <p:sp>
        <p:nvSpPr>
          <p:cNvPr id="567" name="Google Shape;567;p35"/>
          <p:cNvSpPr/>
          <p:nvPr/>
        </p:nvSpPr>
        <p:spPr>
          <a:xfrm>
            <a:off x="987552" y="1152144"/>
            <a:ext cx="2743200" cy="502800"/>
          </a:xfrm>
          <a:prstGeom prst="rect">
            <a:avLst/>
          </a:prstGeom>
          <a:solidFill>
            <a:srgbClr val="041832"/>
          </a:solidFill>
          <a:ln cap="flat" cmpd="sng" w="228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8" name="Google Shape;568;p35"/>
          <p:cNvSpPr/>
          <p:nvPr/>
        </p:nvSpPr>
        <p:spPr>
          <a:xfrm>
            <a:off x="987552" y="1152144"/>
            <a:ext cx="2743200" cy="183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9" name="Google Shape;569;p35"/>
          <p:cNvSpPr txBox="1"/>
          <p:nvPr/>
        </p:nvSpPr>
        <p:spPr>
          <a:xfrm>
            <a:off x="987552" y="1170432"/>
            <a:ext cx="27432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570" name="Google Shape;570;p35"/>
          <p:cNvSpPr txBox="1"/>
          <p:nvPr/>
        </p:nvSpPr>
        <p:spPr>
          <a:xfrm>
            <a:off x="987552" y="1353312"/>
            <a:ext cx="27432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Reads ASG + APG → decides next action</a:t>
            </a:r>
            <a:endParaRPr b="0" i="0" sz="1400" u="none" cap="none" strike="noStrike">
              <a:solidFill>
                <a:srgbClr val="000000"/>
              </a:solidFill>
              <a:latin typeface="Arial"/>
              <a:ea typeface="Arial"/>
              <a:cs typeface="Arial"/>
              <a:sym typeface="Arial"/>
            </a:endParaRPr>
          </a:p>
        </p:txBody>
      </p:sp>
      <p:cxnSp>
        <p:nvCxnSpPr>
          <p:cNvPr id="571" name="Google Shape;571;p35"/>
          <p:cNvCxnSpPr/>
          <p:nvPr/>
        </p:nvCxnSpPr>
        <p:spPr>
          <a:xfrm>
            <a:off x="0" y="1655064"/>
            <a:ext cx="0" cy="228600"/>
          </a:xfrm>
          <a:prstGeom prst="straightConnector1">
            <a:avLst/>
          </a:prstGeom>
          <a:noFill/>
          <a:ln cap="flat" cmpd="sng" w="190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572" name="Google Shape;572;p35"/>
          <p:cNvSpPr txBox="1"/>
          <p:nvPr/>
        </p:nvSpPr>
        <p:spPr>
          <a:xfrm>
            <a:off x="2455164" y="1673352"/>
            <a:ext cx="16458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BD93F9"/>
                </a:solidFill>
                <a:latin typeface="Calibri"/>
                <a:ea typeface="Calibri"/>
                <a:cs typeface="Calibri"/>
                <a:sym typeface="Calibri"/>
              </a:rPr>
              <a:t>spawn with scoped context</a:t>
            </a:r>
            <a:endParaRPr b="0" i="0" sz="1400" u="none" cap="none" strike="noStrike">
              <a:solidFill>
                <a:srgbClr val="000000"/>
              </a:solidFill>
              <a:latin typeface="Arial"/>
              <a:ea typeface="Arial"/>
              <a:cs typeface="Arial"/>
              <a:sym typeface="Arial"/>
            </a:endParaRPr>
          </a:p>
        </p:txBody>
      </p:sp>
      <p:sp>
        <p:nvSpPr>
          <p:cNvPr id="573" name="Google Shape;573;p35"/>
          <p:cNvSpPr/>
          <p:nvPr/>
        </p:nvSpPr>
        <p:spPr>
          <a:xfrm>
            <a:off x="365750" y="1947675"/>
            <a:ext cx="4032600" cy="2758500"/>
          </a:xfrm>
          <a:prstGeom prst="rect">
            <a:avLst/>
          </a:prstGeom>
          <a:solidFill>
            <a:srgbClr val="0A102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35"/>
          <p:cNvSpPr/>
          <p:nvPr/>
        </p:nvSpPr>
        <p:spPr>
          <a:xfrm>
            <a:off x="365760" y="1947672"/>
            <a:ext cx="4032600" cy="219600"/>
          </a:xfrm>
          <a:prstGeom prst="rect">
            <a:avLst/>
          </a:prstGeom>
          <a:solidFill>
            <a:srgbClr val="2010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5" name="Google Shape;575;p35"/>
          <p:cNvSpPr txBox="1"/>
          <p:nvPr/>
        </p:nvSpPr>
        <p:spPr>
          <a:xfrm>
            <a:off x="365760" y="1984248"/>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ISOLATED AGENT CONTEXT  (fresh per task)</a:t>
            </a:r>
            <a:endParaRPr b="0" i="0" sz="1400" u="none" cap="none" strike="noStrike">
              <a:solidFill>
                <a:srgbClr val="000000"/>
              </a:solidFill>
              <a:latin typeface="Arial"/>
              <a:ea typeface="Arial"/>
              <a:cs typeface="Arial"/>
              <a:sym typeface="Arial"/>
            </a:endParaRPr>
          </a:p>
        </p:txBody>
      </p:sp>
      <p:sp>
        <p:nvSpPr>
          <p:cNvPr id="576" name="Google Shape;576;p35"/>
          <p:cNvSpPr/>
          <p:nvPr/>
        </p:nvSpPr>
        <p:spPr>
          <a:xfrm>
            <a:off x="457200" y="2221998"/>
            <a:ext cx="3849600" cy="512100"/>
          </a:xfrm>
          <a:prstGeom prst="rect">
            <a:avLst/>
          </a:prstGeom>
          <a:solidFill>
            <a:srgbClr val="04160A"/>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35"/>
          <p:cNvSpPr txBox="1"/>
          <p:nvPr/>
        </p:nvSpPr>
        <p:spPr>
          <a:xfrm>
            <a:off x="530352" y="225856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ASG SLICE</a:t>
            </a:r>
            <a:endParaRPr b="0" i="0" sz="1400" u="none" cap="none" strike="noStrike">
              <a:solidFill>
                <a:srgbClr val="000000"/>
              </a:solidFill>
              <a:latin typeface="Arial"/>
              <a:ea typeface="Arial"/>
              <a:cs typeface="Arial"/>
              <a:sym typeface="Arial"/>
            </a:endParaRPr>
          </a:p>
        </p:txBody>
      </p:sp>
      <p:sp>
        <p:nvSpPr>
          <p:cNvPr id="578" name="Google Shape;578;p35"/>
          <p:cNvSpPr txBox="1"/>
          <p:nvPr/>
        </p:nvSpPr>
        <p:spPr>
          <a:xfrm>
            <a:off x="1572768" y="225856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Only nodes relevant to this task</a:t>
            </a:r>
            <a:endParaRPr b="0" i="0" sz="1400" u="none" cap="none" strike="noStrike">
              <a:solidFill>
                <a:srgbClr val="000000"/>
              </a:solidFill>
              <a:latin typeface="Arial"/>
              <a:ea typeface="Arial"/>
              <a:cs typeface="Arial"/>
              <a:sym typeface="Arial"/>
            </a:endParaRPr>
          </a:p>
        </p:txBody>
      </p:sp>
      <p:sp>
        <p:nvSpPr>
          <p:cNvPr id="579" name="Google Shape;579;p35"/>
          <p:cNvSpPr/>
          <p:nvPr/>
        </p:nvSpPr>
        <p:spPr>
          <a:xfrm>
            <a:off x="457200" y="2814064"/>
            <a:ext cx="3849600" cy="502800"/>
          </a:xfrm>
          <a:prstGeom prst="rect">
            <a:avLst/>
          </a:prstGeom>
          <a:solidFill>
            <a:srgbClr val="1A1002"/>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0" name="Google Shape;580;p35"/>
          <p:cNvSpPr txBox="1"/>
          <p:nvPr/>
        </p:nvSpPr>
        <p:spPr>
          <a:xfrm>
            <a:off x="530352" y="2850646"/>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D700"/>
                </a:solidFill>
                <a:latin typeface="Calibri"/>
                <a:ea typeface="Calibri"/>
                <a:cs typeface="Calibri"/>
                <a:sym typeface="Calibri"/>
              </a:rPr>
              <a:t>APG SLICE</a:t>
            </a:r>
            <a:endParaRPr b="0" i="0" sz="1400" u="none" cap="none" strike="noStrike">
              <a:solidFill>
                <a:srgbClr val="000000"/>
              </a:solidFill>
              <a:latin typeface="Arial"/>
              <a:ea typeface="Arial"/>
              <a:cs typeface="Arial"/>
              <a:sym typeface="Arial"/>
            </a:endParaRPr>
          </a:p>
        </p:txBody>
      </p:sp>
      <p:sp>
        <p:nvSpPr>
          <p:cNvPr id="581" name="Google Shape;581;p35"/>
          <p:cNvSpPr txBox="1"/>
          <p:nvPr/>
        </p:nvSpPr>
        <p:spPr>
          <a:xfrm>
            <a:off x="1572768" y="2850646"/>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Relevant AttackChains (if any)</a:t>
            </a:r>
            <a:endParaRPr b="0" i="0" sz="1400" u="none" cap="none" strike="noStrike">
              <a:solidFill>
                <a:srgbClr val="000000"/>
              </a:solidFill>
              <a:latin typeface="Arial"/>
              <a:ea typeface="Arial"/>
              <a:cs typeface="Arial"/>
              <a:sym typeface="Arial"/>
            </a:endParaRPr>
          </a:p>
        </p:txBody>
      </p:sp>
      <p:sp>
        <p:nvSpPr>
          <p:cNvPr id="582" name="Google Shape;582;p35"/>
          <p:cNvSpPr/>
          <p:nvPr/>
        </p:nvSpPr>
        <p:spPr>
          <a:xfrm>
            <a:off x="434350" y="3409824"/>
            <a:ext cx="3849600" cy="502800"/>
          </a:xfrm>
          <a:prstGeom prst="rect">
            <a:avLst/>
          </a:prstGeom>
          <a:solidFill>
            <a:srgbClr val="180606"/>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3" name="Google Shape;583;p35"/>
          <p:cNvSpPr txBox="1"/>
          <p:nvPr/>
        </p:nvSpPr>
        <p:spPr>
          <a:xfrm>
            <a:off x="507502" y="344639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TOOL SET</a:t>
            </a:r>
            <a:endParaRPr b="0" i="0" sz="1400" u="none" cap="none" strike="noStrike">
              <a:solidFill>
                <a:srgbClr val="000000"/>
              </a:solidFill>
              <a:latin typeface="Arial"/>
              <a:ea typeface="Arial"/>
              <a:cs typeface="Arial"/>
              <a:sym typeface="Arial"/>
            </a:endParaRPr>
          </a:p>
        </p:txBody>
      </p:sp>
      <p:sp>
        <p:nvSpPr>
          <p:cNvPr id="584" name="Google Shape;584;p35"/>
          <p:cNvSpPr txBox="1"/>
          <p:nvPr/>
        </p:nvSpPr>
        <p:spPr>
          <a:xfrm>
            <a:off x="1549918" y="344639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Authorized tools only — no others</a:t>
            </a:r>
            <a:endParaRPr b="0" i="0" sz="1400" u="none" cap="none" strike="noStrike">
              <a:solidFill>
                <a:srgbClr val="000000"/>
              </a:solidFill>
              <a:latin typeface="Arial"/>
              <a:ea typeface="Arial"/>
              <a:cs typeface="Arial"/>
              <a:sym typeface="Arial"/>
            </a:endParaRPr>
          </a:p>
        </p:txBody>
      </p:sp>
      <p:sp>
        <p:nvSpPr>
          <p:cNvPr id="585" name="Google Shape;585;p35"/>
          <p:cNvSpPr/>
          <p:nvPr/>
        </p:nvSpPr>
        <p:spPr>
          <a:xfrm>
            <a:off x="434350" y="4009554"/>
            <a:ext cx="3849600" cy="438900"/>
          </a:xfrm>
          <a:prstGeom prst="rect">
            <a:avLst/>
          </a:prstGeom>
          <a:solidFill>
            <a:srgbClr val="04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35"/>
          <p:cNvSpPr txBox="1"/>
          <p:nvPr/>
        </p:nvSpPr>
        <p:spPr>
          <a:xfrm>
            <a:off x="507502" y="404613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TASK SPEC</a:t>
            </a:r>
            <a:endParaRPr b="0" i="0" sz="1400" u="none" cap="none" strike="noStrike">
              <a:solidFill>
                <a:srgbClr val="000000"/>
              </a:solidFill>
              <a:latin typeface="Arial"/>
              <a:ea typeface="Arial"/>
              <a:cs typeface="Arial"/>
              <a:sym typeface="Arial"/>
            </a:endParaRPr>
          </a:p>
        </p:txBody>
      </p:sp>
      <p:sp>
        <p:nvSpPr>
          <p:cNvPr id="587" name="Google Shape;587;p35"/>
          <p:cNvSpPr txBox="1"/>
          <p:nvPr/>
        </p:nvSpPr>
        <p:spPr>
          <a:xfrm>
            <a:off x="1549918" y="404613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Commander's current plan item</a:t>
            </a:r>
            <a:endParaRPr b="0" i="0" sz="1400" u="none" cap="none" strike="noStrike">
              <a:solidFill>
                <a:srgbClr val="000000"/>
              </a:solidFill>
              <a:latin typeface="Arial"/>
              <a:ea typeface="Arial"/>
              <a:cs typeface="Arial"/>
              <a:sym typeface="Arial"/>
            </a:endParaRPr>
          </a:p>
        </p:txBody>
      </p:sp>
      <p:cxnSp>
        <p:nvCxnSpPr>
          <p:cNvPr id="588" name="Google Shape;588;p35"/>
          <p:cNvCxnSpPr/>
          <p:nvPr/>
        </p:nvCxnSpPr>
        <p:spPr>
          <a:xfrm>
            <a:off x="0" y="5148072"/>
            <a:ext cx="0" cy="29250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589" name="Google Shape;589;p35"/>
          <p:cNvSpPr/>
          <p:nvPr/>
        </p:nvSpPr>
        <p:spPr>
          <a:xfrm>
            <a:off x="397735" y="4907932"/>
            <a:ext cx="4032600" cy="512100"/>
          </a:xfrm>
          <a:prstGeom prst="rect">
            <a:avLst/>
          </a:prstGeom>
          <a:solidFill>
            <a:srgbClr val="041E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0" name="Google Shape;590;p35"/>
          <p:cNvSpPr txBox="1"/>
          <p:nvPr/>
        </p:nvSpPr>
        <p:spPr>
          <a:xfrm>
            <a:off x="397735" y="4976546"/>
            <a:ext cx="4032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RETURNS: Structured ASG Delta (new nodes + edges only)</a:t>
            </a:r>
            <a:endParaRPr b="0" i="0" sz="1400" u="none" cap="none" strike="noStrike">
              <a:solidFill>
                <a:srgbClr val="000000"/>
              </a:solidFill>
              <a:latin typeface="Arial"/>
              <a:ea typeface="Arial"/>
              <a:cs typeface="Arial"/>
              <a:sym typeface="Arial"/>
            </a:endParaRPr>
          </a:p>
        </p:txBody>
      </p:sp>
      <p:sp>
        <p:nvSpPr>
          <p:cNvPr id="591" name="Google Shape;591;p35"/>
          <p:cNvSpPr txBox="1"/>
          <p:nvPr/>
        </p:nvSpPr>
        <p:spPr>
          <a:xfrm>
            <a:off x="397735" y="5202614"/>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Working context discarded — no raw history passes to Commander</a:t>
            </a:r>
            <a:endParaRPr b="0" i="0" sz="1400" u="none" cap="none" strike="noStrike">
              <a:solidFill>
                <a:srgbClr val="000000"/>
              </a:solidFill>
              <a:latin typeface="Arial"/>
              <a:ea typeface="Arial"/>
              <a:cs typeface="Arial"/>
              <a:sym typeface="Arial"/>
            </a:endParaRPr>
          </a:p>
        </p:txBody>
      </p:sp>
      <p:sp>
        <p:nvSpPr>
          <p:cNvPr id="592" name="Google Shape;592;p35"/>
          <p:cNvSpPr/>
          <p:nvPr/>
        </p:nvSpPr>
        <p:spPr>
          <a:xfrm>
            <a:off x="397735" y="5551486"/>
            <a:ext cx="4032600" cy="219600"/>
          </a:xfrm>
          <a:prstGeom prst="rect">
            <a:avLst/>
          </a:prstGeom>
          <a:solidFill>
            <a:srgbClr val="0C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3" name="Google Shape;593;p35"/>
          <p:cNvSpPr txBox="1"/>
          <p:nvPr/>
        </p:nvSpPr>
        <p:spPr>
          <a:xfrm>
            <a:off x="489175" y="5578918"/>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E5FF"/>
                </a:solidFill>
                <a:latin typeface="Calibri"/>
                <a:ea typeface="Calibri"/>
                <a:cs typeface="Calibri"/>
                <a:sym typeface="Calibri"/>
              </a:rPr>
              <a:t>✓  Commander context stays clean</a:t>
            </a:r>
            <a:endParaRPr b="0" i="0" sz="1400" u="none" cap="none" strike="noStrike">
              <a:solidFill>
                <a:srgbClr val="000000"/>
              </a:solidFill>
              <a:latin typeface="Arial"/>
              <a:ea typeface="Arial"/>
              <a:cs typeface="Arial"/>
              <a:sym typeface="Arial"/>
            </a:endParaRPr>
          </a:p>
        </p:txBody>
      </p:sp>
      <p:sp>
        <p:nvSpPr>
          <p:cNvPr id="594" name="Google Shape;594;p35"/>
          <p:cNvSpPr/>
          <p:nvPr/>
        </p:nvSpPr>
        <p:spPr>
          <a:xfrm>
            <a:off x="397735" y="5829211"/>
            <a:ext cx="4032600" cy="219600"/>
          </a:xfrm>
          <a:prstGeom prst="rect">
            <a:avLst/>
          </a:prstGeom>
          <a:solidFill>
            <a:srgbClr val="0C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5"/>
          <p:cNvSpPr txBox="1"/>
          <p:nvPr/>
        </p:nvSpPr>
        <p:spPr>
          <a:xfrm>
            <a:off x="489175" y="5856643"/>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BD93F9"/>
                </a:solidFill>
                <a:latin typeface="Calibri"/>
                <a:ea typeface="Calibri"/>
                <a:cs typeface="Calibri"/>
                <a:sym typeface="Calibri"/>
              </a:rPr>
              <a:t>✓  Agents can't contaminate each other</a:t>
            </a:r>
            <a:endParaRPr b="0" i="0" sz="1400" u="none" cap="none" strike="noStrike">
              <a:solidFill>
                <a:srgbClr val="000000"/>
              </a:solidFill>
              <a:latin typeface="Arial"/>
              <a:ea typeface="Arial"/>
              <a:cs typeface="Arial"/>
              <a:sym typeface="Arial"/>
            </a:endParaRPr>
          </a:p>
        </p:txBody>
      </p:sp>
      <p:sp>
        <p:nvSpPr>
          <p:cNvPr id="596" name="Google Shape;596;p35"/>
          <p:cNvSpPr/>
          <p:nvPr/>
        </p:nvSpPr>
        <p:spPr>
          <a:xfrm>
            <a:off x="397735" y="6134374"/>
            <a:ext cx="4032600" cy="219600"/>
          </a:xfrm>
          <a:prstGeom prst="rect">
            <a:avLst/>
          </a:prstGeom>
          <a:solidFill>
            <a:srgbClr val="0C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5"/>
          <p:cNvSpPr txBox="1"/>
          <p:nvPr/>
        </p:nvSpPr>
        <p:spPr>
          <a:xfrm>
            <a:off x="466425" y="6114981"/>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4545"/>
                </a:solidFill>
                <a:latin typeface="Calibri"/>
                <a:ea typeface="Calibri"/>
                <a:cs typeface="Calibri"/>
                <a:sym typeface="Calibri"/>
              </a:rPr>
              <a:t>✓  High-risk refusals don't bias planning</a:t>
            </a:r>
            <a:endParaRPr b="0" i="0" sz="1400" u="none" cap="none" strike="noStrike">
              <a:solidFill>
                <a:srgbClr val="000000"/>
              </a:solidFill>
              <a:latin typeface="Arial"/>
              <a:ea typeface="Arial"/>
              <a:cs typeface="Arial"/>
              <a:sym typeface="Arial"/>
            </a:endParaRPr>
          </a:p>
        </p:txBody>
      </p:sp>
      <p:sp>
        <p:nvSpPr>
          <p:cNvPr id="598" name="Google Shape;598;p35"/>
          <p:cNvSpPr/>
          <p:nvPr/>
        </p:nvSpPr>
        <p:spPr>
          <a:xfrm>
            <a:off x="4773168" y="822960"/>
            <a:ext cx="3572100" cy="1896000"/>
          </a:xfrm>
          <a:prstGeom prst="rect">
            <a:avLst/>
          </a:prstGeom>
          <a:solidFill>
            <a:srgbClr val="10162B"/>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5"/>
          <p:cNvSpPr/>
          <p:nvPr/>
        </p:nvSpPr>
        <p:spPr>
          <a:xfrm>
            <a:off x="7339431" y="822960"/>
            <a:ext cx="1005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5"/>
          <p:cNvSpPr txBox="1"/>
          <p:nvPr/>
        </p:nvSpPr>
        <p:spPr>
          <a:xfrm>
            <a:off x="7339431" y="850392"/>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ORCHESTRATION</a:t>
            </a:r>
            <a:endParaRPr b="0" i="0" sz="1400" u="none" cap="none" strike="noStrike">
              <a:solidFill>
                <a:srgbClr val="000000"/>
              </a:solidFill>
              <a:latin typeface="Arial"/>
              <a:ea typeface="Arial"/>
              <a:cs typeface="Arial"/>
              <a:sym typeface="Arial"/>
            </a:endParaRPr>
          </a:p>
        </p:txBody>
      </p:sp>
      <p:sp>
        <p:nvSpPr>
          <p:cNvPr id="601" name="Google Shape;601;p35"/>
          <p:cNvSpPr txBox="1"/>
          <p:nvPr/>
        </p:nvSpPr>
        <p:spPr>
          <a:xfrm>
            <a:off x="4864608" y="859536"/>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E5FF"/>
                </a:solidFill>
                <a:latin typeface="Calibri"/>
                <a:ea typeface="Calibri"/>
                <a:cs typeface="Calibri"/>
                <a:sym typeface="Calibri"/>
              </a:rPr>
              <a:t>👑 Commander</a:t>
            </a:r>
            <a:endParaRPr b="0" i="0" sz="1400" u="none" cap="none" strike="noStrike">
              <a:solidFill>
                <a:srgbClr val="000000"/>
              </a:solidFill>
              <a:latin typeface="Arial"/>
              <a:ea typeface="Arial"/>
              <a:cs typeface="Arial"/>
              <a:sym typeface="Arial"/>
            </a:endParaRPr>
          </a:p>
        </p:txBody>
      </p:sp>
      <p:sp>
        <p:nvSpPr>
          <p:cNvPr id="602" name="Google Shape;602;p35"/>
          <p:cNvSpPr/>
          <p:nvPr/>
        </p:nvSpPr>
        <p:spPr>
          <a:xfrm>
            <a:off x="4864608" y="1133856"/>
            <a:ext cx="3389100" cy="183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3" name="Google Shape;603;p35"/>
          <p:cNvSpPr txBox="1"/>
          <p:nvPr/>
        </p:nvSpPr>
        <p:spPr>
          <a:xfrm>
            <a:off x="4864608" y="117043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Reads the dual graph. Plans. Delegates. Never runs tools.</a:t>
            </a:r>
            <a:endParaRPr b="0" i="0" sz="1400" u="none" cap="none" strike="noStrike">
              <a:solidFill>
                <a:srgbClr val="000000"/>
              </a:solidFill>
              <a:latin typeface="Arial"/>
              <a:ea typeface="Arial"/>
              <a:cs typeface="Arial"/>
              <a:sym typeface="Arial"/>
            </a:endParaRPr>
          </a:p>
        </p:txBody>
      </p:sp>
      <p:sp>
        <p:nvSpPr>
          <p:cNvPr id="604" name="Google Shape;604;p35"/>
          <p:cNvSpPr/>
          <p:nvPr/>
        </p:nvSpPr>
        <p:spPr>
          <a:xfrm>
            <a:off x="4864608" y="1417320"/>
            <a:ext cx="3389100" cy="2196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5" name="Google Shape;605;p35"/>
          <p:cNvSpPr txBox="1"/>
          <p:nvPr/>
        </p:nvSpPr>
        <p:spPr>
          <a:xfrm>
            <a:off x="4937760" y="1435608"/>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No tools — reasons over ASG + APG</a:t>
            </a:r>
            <a:endParaRPr b="0" i="0" sz="1400" u="none" cap="none" strike="noStrike">
              <a:solidFill>
                <a:srgbClr val="000000"/>
              </a:solidFill>
              <a:latin typeface="Arial"/>
              <a:ea typeface="Arial"/>
              <a:cs typeface="Arial"/>
              <a:sym typeface="Arial"/>
            </a:endParaRPr>
          </a:p>
        </p:txBody>
      </p:sp>
      <p:sp>
        <p:nvSpPr>
          <p:cNvPr id="606" name="Google Shape;606;p35"/>
          <p:cNvSpPr txBox="1"/>
          <p:nvPr/>
        </p:nvSpPr>
        <p:spPr>
          <a:xfrm>
            <a:off x="4864608" y="167335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Only agent that writes to APG. Approves High-risk ops via mailbox.</a:t>
            </a:r>
            <a:endParaRPr b="0" i="0" sz="1400" u="none" cap="none" strike="noStrike">
              <a:solidFill>
                <a:srgbClr val="000000"/>
              </a:solidFill>
              <a:latin typeface="Arial"/>
              <a:ea typeface="Arial"/>
              <a:cs typeface="Arial"/>
              <a:sym typeface="Arial"/>
            </a:endParaRPr>
          </a:p>
        </p:txBody>
      </p:sp>
      <p:sp>
        <p:nvSpPr>
          <p:cNvPr id="607" name="Google Shape;607;p35"/>
          <p:cNvSpPr/>
          <p:nvPr/>
        </p:nvSpPr>
        <p:spPr>
          <a:xfrm>
            <a:off x="8454999" y="822960"/>
            <a:ext cx="3572100" cy="1896000"/>
          </a:xfrm>
          <a:prstGeom prst="rect">
            <a:avLst/>
          </a:prstGeom>
          <a:solidFill>
            <a:srgbClr val="10162B"/>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8" name="Google Shape;608;p35"/>
          <p:cNvSpPr/>
          <p:nvPr/>
        </p:nvSpPr>
        <p:spPr>
          <a:xfrm>
            <a:off x="11021263" y="822960"/>
            <a:ext cx="1005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5"/>
          <p:cNvSpPr txBox="1"/>
          <p:nvPr/>
        </p:nvSpPr>
        <p:spPr>
          <a:xfrm>
            <a:off x="11021263" y="850392"/>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p:txBody>
      </p:sp>
      <p:sp>
        <p:nvSpPr>
          <p:cNvPr id="610" name="Google Shape;610;p35"/>
          <p:cNvSpPr txBox="1"/>
          <p:nvPr/>
        </p:nvSpPr>
        <p:spPr>
          <a:xfrm>
            <a:off x="8546439" y="859536"/>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 Recon</a:t>
            </a:r>
            <a:endParaRPr b="0" i="0" sz="1400" u="none" cap="none" strike="noStrike">
              <a:solidFill>
                <a:srgbClr val="000000"/>
              </a:solidFill>
              <a:latin typeface="Arial"/>
              <a:ea typeface="Arial"/>
              <a:cs typeface="Arial"/>
              <a:sym typeface="Arial"/>
            </a:endParaRPr>
          </a:p>
        </p:txBody>
      </p:sp>
      <p:sp>
        <p:nvSpPr>
          <p:cNvPr id="611" name="Google Shape;611;p35"/>
          <p:cNvSpPr/>
          <p:nvPr/>
        </p:nvSpPr>
        <p:spPr>
          <a:xfrm>
            <a:off x="8546439" y="1133856"/>
            <a:ext cx="3389100" cy="183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5"/>
          <p:cNvSpPr txBox="1"/>
          <p:nvPr/>
        </p:nvSpPr>
        <p:spPr>
          <a:xfrm>
            <a:off x="8546439" y="117043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External reconnaissance and host discovery.</a:t>
            </a:r>
            <a:endParaRPr b="0" i="0" sz="1400" u="none" cap="none" strike="noStrike">
              <a:solidFill>
                <a:srgbClr val="000000"/>
              </a:solidFill>
              <a:latin typeface="Arial"/>
              <a:ea typeface="Arial"/>
              <a:cs typeface="Arial"/>
              <a:sym typeface="Arial"/>
            </a:endParaRPr>
          </a:p>
        </p:txBody>
      </p:sp>
      <p:sp>
        <p:nvSpPr>
          <p:cNvPr id="613" name="Google Shape;613;p35"/>
          <p:cNvSpPr/>
          <p:nvPr/>
        </p:nvSpPr>
        <p:spPr>
          <a:xfrm>
            <a:off x="8546439" y="1417320"/>
            <a:ext cx="3389100" cy="2196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5"/>
          <p:cNvSpPr txBox="1"/>
          <p:nvPr/>
        </p:nvSpPr>
        <p:spPr>
          <a:xfrm>
            <a:off x="8619591" y="1435608"/>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615" name="Google Shape;615;p35"/>
          <p:cNvSpPr txBox="1"/>
          <p:nvPr/>
        </p:nvSpPr>
        <p:spPr>
          <a:xfrm>
            <a:off x="8546439" y="167335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Domain, Host, Port, Service nodes to ASG.</a:t>
            </a:r>
            <a:endParaRPr b="0" i="0" sz="1400" u="none" cap="none" strike="noStrike">
              <a:solidFill>
                <a:srgbClr val="000000"/>
              </a:solidFill>
              <a:latin typeface="Arial"/>
              <a:ea typeface="Arial"/>
              <a:cs typeface="Arial"/>
              <a:sym typeface="Arial"/>
            </a:endParaRPr>
          </a:p>
        </p:txBody>
      </p:sp>
      <p:sp>
        <p:nvSpPr>
          <p:cNvPr id="616" name="Google Shape;616;p35"/>
          <p:cNvSpPr/>
          <p:nvPr/>
        </p:nvSpPr>
        <p:spPr>
          <a:xfrm>
            <a:off x="4773168" y="2810256"/>
            <a:ext cx="3572100" cy="1896000"/>
          </a:xfrm>
          <a:prstGeom prst="rect">
            <a:avLst/>
          </a:prstGeom>
          <a:solidFill>
            <a:srgbClr val="10162B"/>
          </a:solidFill>
          <a:ln cap="flat" cmpd="sng" w="1777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5"/>
          <p:cNvSpPr/>
          <p:nvPr/>
        </p:nvSpPr>
        <p:spPr>
          <a:xfrm>
            <a:off x="7339431" y="2810256"/>
            <a:ext cx="1005900" cy="219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5"/>
          <p:cNvSpPr txBox="1"/>
          <p:nvPr/>
        </p:nvSpPr>
        <p:spPr>
          <a:xfrm>
            <a:off x="7339431" y="2837688"/>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p:txBody>
      </p:sp>
      <p:sp>
        <p:nvSpPr>
          <p:cNvPr id="619" name="Google Shape;619;p35"/>
          <p:cNvSpPr txBox="1"/>
          <p:nvPr/>
        </p:nvSpPr>
        <p:spPr>
          <a:xfrm>
            <a:off x="4864608" y="2846832"/>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 Analysis</a:t>
            </a:r>
            <a:endParaRPr b="0" i="0" sz="1400" u="none" cap="none" strike="noStrike">
              <a:solidFill>
                <a:srgbClr val="000000"/>
              </a:solidFill>
              <a:latin typeface="Arial"/>
              <a:ea typeface="Arial"/>
              <a:cs typeface="Arial"/>
              <a:sym typeface="Arial"/>
            </a:endParaRPr>
          </a:p>
        </p:txBody>
      </p:sp>
      <p:sp>
        <p:nvSpPr>
          <p:cNvPr id="620" name="Google Shape;620;p35"/>
          <p:cNvSpPr/>
          <p:nvPr/>
        </p:nvSpPr>
        <p:spPr>
          <a:xfrm>
            <a:off x="4864608" y="3121152"/>
            <a:ext cx="3389100" cy="183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5"/>
          <p:cNvSpPr txBox="1"/>
          <p:nvPr/>
        </p:nvSpPr>
        <p:spPr>
          <a:xfrm>
            <a:off x="4864608" y="315772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Deep enumeration and vulnerability discovery.</a:t>
            </a:r>
            <a:endParaRPr b="0" i="0" sz="1400" u="none" cap="none" strike="noStrike">
              <a:solidFill>
                <a:srgbClr val="000000"/>
              </a:solidFill>
              <a:latin typeface="Arial"/>
              <a:ea typeface="Arial"/>
              <a:cs typeface="Arial"/>
              <a:sym typeface="Arial"/>
            </a:endParaRPr>
          </a:p>
        </p:txBody>
      </p:sp>
      <p:sp>
        <p:nvSpPr>
          <p:cNvPr id="622" name="Google Shape;622;p35"/>
          <p:cNvSpPr/>
          <p:nvPr/>
        </p:nvSpPr>
        <p:spPr>
          <a:xfrm>
            <a:off x="4864608" y="3404616"/>
            <a:ext cx="3389100" cy="219600"/>
          </a:xfrm>
          <a:prstGeom prst="rect">
            <a:avLst/>
          </a:prstGeom>
          <a:solidFill>
            <a:srgbClr val="0810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5"/>
          <p:cNvSpPr txBox="1"/>
          <p:nvPr/>
        </p:nvSpPr>
        <p:spPr>
          <a:xfrm>
            <a:off x="4937760" y="3422904"/>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BFD8"/>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624" name="Google Shape;624;p35"/>
          <p:cNvSpPr txBox="1"/>
          <p:nvPr/>
        </p:nvSpPr>
        <p:spPr>
          <a:xfrm>
            <a:off x="4864608" y="366064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Technology, Endpoint, Parameter, Vulnerability nodes.</a:t>
            </a:r>
            <a:endParaRPr b="0" i="0" sz="1400" u="none" cap="none" strike="noStrike">
              <a:solidFill>
                <a:srgbClr val="000000"/>
              </a:solidFill>
              <a:latin typeface="Arial"/>
              <a:ea typeface="Arial"/>
              <a:cs typeface="Arial"/>
              <a:sym typeface="Arial"/>
            </a:endParaRPr>
          </a:p>
        </p:txBody>
      </p:sp>
      <p:sp>
        <p:nvSpPr>
          <p:cNvPr id="625" name="Google Shape;625;p35"/>
          <p:cNvSpPr/>
          <p:nvPr/>
        </p:nvSpPr>
        <p:spPr>
          <a:xfrm>
            <a:off x="8454999" y="2810256"/>
            <a:ext cx="3572100" cy="1896000"/>
          </a:xfrm>
          <a:prstGeom prst="rect">
            <a:avLst/>
          </a:prstGeom>
          <a:solidFill>
            <a:srgbClr val="10162B"/>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5"/>
          <p:cNvSpPr/>
          <p:nvPr/>
        </p:nvSpPr>
        <p:spPr>
          <a:xfrm>
            <a:off x="11021263" y="2810256"/>
            <a:ext cx="1005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5"/>
          <p:cNvSpPr txBox="1"/>
          <p:nvPr/>
        </p:nvSpPr>
        <p:spPr>
          <a:xfrm>
            <a:off x="11021263" y="2837688"/>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INTELLIGENCE</a:t>
            </a:r>
            <a:endParaRPr b="0" i="0" sz="1400" u="none" cap="none" strike="noStrike">
              <a:solidFill>
                <a:srgbClr val="000000"/>
              </a:solidFill>
              <a:latin typeface="Arial"/>
              <a:ea typeface="Arial"/>
              <a:cs typeface="Arial"/>
              <a:sym typeface="Arial"/>
            </a:endParaRPr>
          </a:p>
        </p:txBody>
      </p:sp>
      <p:sp>
        <p:nvSpPr>
          <p:cNvPr id="628" name="Google Shape;628;p35"/>
          <p:cNvSpPr txBox="1"/>
          <p:nvPr/>
        </p:nvSpPr>
        <p:spPr>
          <a:xfrm>
            <a:off x="8546439" y="2846832"/>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 Research</a:t>
            </a:r>
            <a:endParaRPr b="0" i="0" sz="1400" u="none" cap="none" strike="noStrike">
              <a:solidFill>
                <a:srgbClr val="000000"/>
              </a:solidFill>
              <a:latin typeface="Arial"/>
              <a:ea typeface="Arial"/>
              <a:cs typeface="Arial"/>
              <a:sym typeface="Arial"/>
            </a:endParaRPr>
          </a:p>
        </p:txBody>
      </p:sp>
      <p:sp>
        <p:nvSpPr>
          <p:cNvPr id="629" name="Google Shape;629;p35"/>
          <p:cNvSpPr/>
          <p:nvPr/>
        </p:nvSpPr>
        <p:spPr>
          <a:xfrm>
            <a:off x="8546439" y="3121152"/>
            <a:ext cx="3389100" cy="183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0" name="Google Shape;630;p35"/>
          <p:cNvSpPr txBox="1"/>
          <p:nvPr/>
        </p:nvSpPr>
        <p:spPr>
          <a:xfrm>
            <a:off x="8546439" y="315772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Live CVE grounding — only agent with outbound internet access.</a:t>
            </a:r>
            <a:endParaRPr b="0" i="0" sz="1400" u="none" cap="none" strike="noStrike">
              <a:solidFill>
                <a:srgbClr val="000000"/>
              </a:solidFill>
              <a:latin typeface="Arial"/>
              <a:ea typeface="Arial"/>
              <a:cs typeface="Arial"/>
              <a:sym typeface="Arial"/>
            </a:endParaRPr>
          </a:p>
        </p:txBody>
      </p:sp>
      <p:sp>
        <p:nvSpPr>
          <p:cNvPr id="631" name="Google Shape;631;p35"/>
          <p:cNvSpPr/>
          <p:nvPr/>
        </p:nvSpPr>
        <p:spPr>
          <a:xfrm>
            <a:off x="8546439" y="3404616"/>
            <a:ext cx="3389100" cy="219600"/>
          </a:xfrm>
          <a:prstGeom prst="rect">
            <a:avLst/>
          </a:prstGeom>
          <a:solidFill>
            <a:srgbClr val="08102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2" name="Google Shape;632;p35"/>
          <p:cNvSpPr txBox="1"/>
          <p:nvPr/>
        </p:nvSpPr>
        <p:spPr>
          <a:xfrm>
            <a:off x="8619591" y="3422904"/>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NVD · Exploit-DB · GitHub · Vendor Advisories</a:t>
            </a:r>
            <a:endParaRPr b="0" i="0" sz="1400" u="none" cap="none" strike="noStrike">
              <a:solidFill>
                <a:srgbClr val="000000"/>
              </a:solidFill>
              <a:latin typeface="Arial"/>
              <a:ea typeface="Arial"/>
              <a:cs typeface="Arial"/>
              <a:sym typeface="Arial"/>
            </a:endParaRPr>
          </a:p>
        </p:txBody>
      </p:sp>
      <p:sp>
        <p:nvSpPr>
          <p:cNvPr id="633" name="Google Shape;633;p35"/>
          <p:cNvSpPr txBox="1"/>
          <p:nvPr/>
        </p:nvSpPr>
        <p:spPr>
          <a:xfrm>
            <a:off x="8546439" y="366064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Enriches ASG Vulnerability nodes with real-time CVSS + PoC data.</a:t>
            </a:r>
            <a:endParaRPr b="0" i="0" sz="1400" u="none" cap="none" strike="noStrike">
              <a:solidFill>
                <a:srgbClr val="000000"/>
              </a:solidFill>
              <a:latin typeface="Arial"/>
              <a:ea typeface="Arial"/>
              <a:cs typeface="Arial"/>
              <a:sym typeface="Arial"/>
            </a:endParaRPr>
          </a:p>
        </p:txBody>
      </p:sp>
      <p:sp>
        <p:nvSpPr>
          <p:cNvPr id="634" name="Google Shape;634;p35"/>
          <p:cNvSpPr/>
          <p:nvPr/>
        </p:nvSpPr>
        <p:spPr>
          <a:xfrm>
            <a:off x="4773168" y="4797552"/>
            <a:ext cx="3572100" cy="1896000"/>
          </a:xfrm>
          <a:prstGeom prst="rect">
            <a:avLst/>
          </a:prstGeom>
          <a:solidFill>
            <a:srgbClr val="10162B"/>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35"/>
          <p:cNvSpPr/>
          <p:nvPr/>
        </p:nvSpPr>
        <p:spPr>
          <a:xfrm>
            <a:off x="7339431" y="4797552"/>
            <a:ext cx="10059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35"/>
          <p:cNvSpPr txBox="1"/>
          <p:nvPr/>
        </p:nvSpPr>
        <p:spPr>
          <a:xfrm>
            <a:off x="7339431" y="4824984"/>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637" name="Google Shape;637;p35"/>
          <p:cNvSpPr txBox="1"/>
          <p:nvPr/>
        </p:nvSpPr>
        <p:spPr>
          <a:xfrm>
            <a:off x="4864608" y="4834128"/>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4545"/>
                </a:solidFill>
                <a:latin typeface="Calibri"/>
                <a:ea typeface="Calibri"/>
                <a:cs typeface="Calibri"/>
                <a:sym typeface="Calibri"/>
              </a:rPr>
              <a:t>🎯 Validation</a:t>
            </a:r>
            <a:endParaRPr b="0" i="0" sz="1400" u="none" cap="none" strike="noStrike">
              <a:solidFill>
                <a:srgbClr val="000000"/>
              </a:solidFill>
              <a:latin typeface="Arial"/>
              <a:ea typeface="Arial"/>
              <a:cs typeface="Arial"/>
              <a:sym typeface="Arial"/>
            </a:endParaRPr>
          </a:p>
        </p:txBody>
      </p:sp>
      <p:sp>
        <p:nvSpPr>
          <p:cNvPr id="638" name="Google Shape;638;p35"/>
          <p:cNvSpPr/>
          <p:nvPr/>
        </p:nvSpPr>
        <p:spPr>
          <a:xfrm>
            <a:off x="4864608" y="5108448"/>
            <a:ext cx="3389100" cy="183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35"/>
          <p:cNvSpPr txBox="1"/>
          <p:nvPr/>
        </p:nvSpPr>
        <p:spPr>
          <a:xfrm>
            <a:off x="4864608" y="514502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Proves vulnerabilities are real and exploitable.</a:t>
            </a:r>
            <a:endParaRPr b="0" i="0" sz="1400" u="none" cap="none" strike="noStrike">
              <a:solidFill>
                <a:srgbClr val="000000"/>
              </a:solidFill>
              <a:latin typeface="Arial"/>
              <a:ea typeface="Arial"/>
              <a:cs typeface="Arial"/>
              <a:sym typeface="Arial"/>
            </a:endParaRPr>
          </a:p>
        </p:txBody>
      </p:sp>
      <p:sp>
        <p:nvSpPr>
          <p:cNvPr id="640" name="Google Shape;640;p35"/>
          <p:cNvSpPr/>
          <p:nvPr/>
        </p:nvSpPr>
        <p:spPr>
          <a:xfrm>
            <a:off x="4864608" y="5391912"/>
            <a:ext cx="3389100" cy="2196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35"/>
          <p:cNvSpPr txBox="1"/>
          <p:nvPr/>
        </p:nvSpPr>
        <p:spPr>
          <a:xfrm>
            <a:off x="4937760" y="5410200"/>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sp>
        <p:nvSpPr>
          <p:cNvPr id="642" name="Google Shape;642;p35"/>
          <p:cNvSpPr txBox="1"/>
          <p:nvPr/>
        </p:nvSpPr>
        <p:spPr>
          <a:xfrm>
            <a:off x="4864608" y="564794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Self-debugging loop: Diagnose → Contextualize → Adapt → Cap (×3).</a:t>
            </a:r>
            <a:endParaRPr b="0" i="0" sz="1400" u="none" cap="none" strike="noStrike">
              <a:solidFill>
                <a:srgbClr val="000000"/>
              </a:solidFill>
              <a:latin typeface="Arial"/>
              <a:ea typeface="Arial"/>
              <a:cs typeface="Arial"/>
              <a:sym typeface="Arial"/>
            </a:endParaRPr>
          </a:p>
        </p:txBody>
      </p:sp>
      <p:sp>
        <p:nvSpPr>
          <p:cNvPr id="643" name="Google Shape;643;p35"/>
          <p:cNvSpPr/>
          <p:nvPr/>
        </p:nvSpPr>
        <p:spPr>
          <a:xfrm>
            <a:off x="8454999" y="4797552"/>
            <a:ext cx="3572100" cy="1896000"/>
          </a:xfrm>
          <a:prstGeom prst="rect">
            <a:avLst/>
          </a:prstGeom>
          <a:solidFill>
            <a:srgbClr val="10162B"/>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4" name="Google Shape;644;p35"/>
          <p:cNvSpPr/>
          <p:nvPr/>
        </p:nvSpPr>
        <p:spPr>
          <a:xfrm>
            <a:off x="11021263" y="4797552"/>
            <a:ext cx="1005900" cy="219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35"/>
          <p:cNvSpPr txBox="1"/>
          <p:nvPr/>
        </p:nvSpPr>
        <p:spPr>
          <a:xfrm>
            <a:off x="11021263" y="4824984"/>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646" name="Google Shape;646;p35"/>
          <p:cNvSpPr txBox="1"/>
          <p:nvPr/>
        </p:nvSpPr>
        <p:spPr>
          <a:xfrm>
            <a:off x="8546439" y="4834128"/>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D93F9"/>
                </a:solidFill>
                <a:latin typeface="Calibri"/>
                <a:ea typeface="Calibri"/>
                <a:cs typeface="Calibri"/>
                <a:sym typeface="Calibri"/>
              </a:rPr>
              <a:t>📸 Evidence</a:t>
            </a:r>
            <a:endParaRPr b="0" i="0" sz="1400" u="none" cap="none" strike="noStrike">
              <a:solidFill>
                <a:srgbClr val="000000"/>
              </a:solidFill>
              <a:latin typeface="Arial"/>
              <a:ea typeface="Arial"/>
              <a:cs typeface="Arial"/>
              <a:sym typeface="Arial"/>
            </a:endParaRPr>
          </a:p>
        </p:txBody>
      </p:sp>
      <p:sp>
        <p:nvSpPr>
          <p:cNvPr id="647" name="Google Shape;647;p35"/>
          <p:cNvSpPr/>
          <p:nvPr/>
        </p:nvSpPr>
        <p:spPr>
          <a:xfrm>
            <a:off x="8546439" y="5108448"/>
            <a:ext cx="3389100" cy="183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8" name="Google Shape;648;p35"/>
          <p:cNvSpPr txBox="1"/>
          <p:nvPr/>
        </p:nvSpPr>
        <p:spPr>
          <a:xfrm>
            <a:off x="8546439" y="514502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Captures proof artifacts for every validated finding.</a:t>
            </a:r>
            <a:endParaRPr b="0" i="0" sz="1400" u="none" cap="none" strike="noStrike">
              <a:solidFill>
                <a:srgbClr val="000000"/>
              </a:solidFill>
              <a:latin typeface="Arial"/>
              <a:ea typeface="Arial"/>
              <a:cs typeface="Arial"/>
              <a:sym typeface="Arial"/>
            </a:endParaRPr>
          </a:p>
        </p:txBody>
      </p:sp>
      <p:sp>
        <p:nvSpPr>
          <p:cNvPr id="649" name="Google Shape;649;p35"/>
          <p:cNvSpPr/>
          <p:nvPr/>
        </p:nvSpPr>
        <p:spPr>
          <a:xfrm>
            <a:off x="8546439" y="5391912"/>
            <a:ext cx="3389100" cy="2196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35"/>
          <p:cNvSpPr txBox="1"/>
          <p:nvPr/>
        </p:nvSpPr>
        <p:spPr>
          <a:xfrm>
            <a:off x="8619591" y="5410200"/>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651" name="Google Shape;651;p35"/>
          <p:cNvSpPr txBox="1"/>
          <p:nvPr/>
        </p:nvSpPr>
        <p:spPr>
          <a:xfrm>
            <a:off x="8546439" y="564794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Links Evidence nodes to ASG findings via validated_by edges.</a:t>
            </a:r>
            <a:endParaRPr b="0" i="0" sz="1400" u="none" cap="none" strike="noStrike">
              <a:solidFill>
                <a:srgbClr val="000000"/>
              </a:solidFill>
              <a:latin typeface="Arial"/>
              <a:ea typeface="Arial"/>
              <a:cs typeface="Arial"/>
              <a:sym typeface="Arial"/>
            </a:endParaRPr>
          </a:p>
        </p:txBody>
      </p:sp>
      <p:sp>
        <p:nvSpPr>
          <p:cNvPr id="652" name="Google Shape;652;p35"/>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0</a:t>
            </a:r>
            <a:r>
              <a:rPr b="1" lang="en-US" sz="1300">
                <a:solidFill>
                  <a:srgbClr val="BD93F9"/>
                </a:solidFill>
                <a:latin typeface="Calibri"/>
                <a:ea typeface="Calibri"/>
                <a:cs typeface="Calibri"/>
                <a:sym typeface="Calibri"/>
              </a:rPr>
              <a:t>7</a:t>
            </a:r>
            <a:endParaRPr b="1" sz="1300">
              <a:solidFill>
                <a:srgbClr val="BD93F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657" name="Shape 657"/>
        <p:cNvGrpSpPr/>
        <p:nvPr/>
      </p:nvGrpSpPr>
      <p:grpSpPr>
        <a:xfrm>
          <a:off x="0" y="0"/>
          <a:ext cx="0" cy="0"/>
          <a:chOff x="0" y="0"/>
          <a:chExt cx="0" cy="0"/>
        </a:xfrm>
      </p:grpSpPr>
      <p:sp>
        <p:nvSpPr>
          <p:cNvPr id="658" name="Google Shape;658;p36"/>
          <p:cNvSpPr/>
          <p:nvPr/>
        </p:nvSpPr>
        <p:spPr>
          <a:xfrm>
            <a:off x="365760" y="121920"/>
            <a:ext cx="60960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AGENT ARCHITECTURE</a:t>
            </a:r>
            <a:endParaRPr b="0" i="0" sz="1100" u="none" cap="none" strike="noStrike">
              <a:solidFill>
                <a:schemeClr val="dk1"/>
              </a:solidFill>
              <a:latin typeface="Calibri"/>
              <a:ea typeface="Calibri"/>
              <a:cs typeface="Calibri"/>
              <a:sym typeface="Calibri"/>
            </a:endParaRPr>
          </a:p>
        </p:txBody>
      </p:sp>
      <p:sp>
        <p:nvSpPr>
          <p:cNvPr id="659" name="Google Shape;659;p36"/>
          <p:cNvSpPr/>
          <p:nvPr/>
        </p:nvSpPr>
        <p:spPr>
          <a:xfrm>
            <a:off x="365760" y="341376"/>
            <a:ext cx="114606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Context-Isolated Agent Spawn Lifecycle</a:t>
            </a:r>
            <a:endParaRPr b="0" i="0" sz="2300" u="none" cap="none" strike="noStrike">
              <a:solidFill>
                <a:schemeClr val="dk1"/>
              </a:solidFill>
              <a:latin typeface="Calibri"/>
              <a:ea typeface="Calibri"/>
              <a:cs typeface="Calibri"/>
              <a:sym typeface="Calibri"/>
            </a:endParaRPr>
          </a:p>
        </p:txBody>
      </p:sp>
      <p:sp>
        <p:nvSpPr>
          <p:cNvPr id="660" name="Google Shape;660;p36"/>
          <p:cNvSpPr/>
          <p:nvPr/>
        </p:nvSpPr>
        <p:spPr>
          <a:xfrm>
            <a:off x="365760" y="755904"/>
            <a:ext cx="114606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Every agent is born fresh · does exactly one job · dies clean · leaves only structured graph state behind</a:t>
            </a:r>
            <a:endParaRPr b="0" i="0" sz="1000" u="none" cap="none" strike="noStrike">
              <a:solidFill>
                <a:schemeClr val="dk1"/>
              </a:solidFill>
              <a:latin typeface="Calibri"/>
              <a:ea typeface="Calibri"/>
              <a:cs typeface="Calibri"/>
              <a:sym typeface="Calibri"/>
            </a:endParaRPr>
          </a:p>
        </p:txBody>
      </p:sp>
      <p:sp>
        <p:nvSpPr>
          <p:cNvPr id="661" name="Google Shape;661;p36"/>
          <p:cNvSpPr/>
          <p:nvPr/>
        </p:nvSpPr>
        <p:spPr>
          <a:xfrm>
            <a:off x="341376" y="1048512"/>
            <a:ext cx="7315200" cy="5486400"/>
          </a:xfrm>
          <a:prstGeom prst="roundRect">
            <a:avLst>
              <a:gd fmla="val 1778" name="adj"/>
            </a:avLst>
          </a:prstGeom>
          <a:solidFill>
            <a:srgbClr val="060E1C"/>
          </a:solidFill>
          <a:ln cap="flat" cmpd="sng" w="10150">
            <a:solidFill>
              <a:srgbClr val="1E2D4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2" name="Google Shape;662;p36"/>
          <p:cNvSpPr/>
          <p:nvPr/>
        </p:nvSpPr>
        <p:spPr>
          <a:xfrm>
            <a:off x="548640" y="1097280"/>
            <a:ext cx="1097400" cy="390000"/>
          </a:xfrm>
          <a:prstGeom prst="roundRect">
            <a:avLst>
              <a:gd fmla="val 15625" name="adj"/>
            </a:avLst>
          </a:prstGeom>
          <a:solidFill>
            <a:srgbClr val="0D1A2E"/>
          </a:solidFill>
          <a:ln cap="flat" cmpd="sng" w="12700">
            <a:solidFill>
              <a:srgbClr val="00D4FF"/>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3" name="Google Shape;663;p36"/>
          <p:cNvSpPr/>
          <p:nvPr/>
        </p:nvSpPr>
        <p:spPr>
          <a:xfrm>
            <a:off x="548640"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Commander</a:t>
            </a:r>
            <a:endParaRPr b="0" i="0" sz="800" u="none" cap="none" strike="noStrike">
              <a:solidFill>
                <a:schemeClr val="dk1"/>
              </a:solidFill>
              <a:latin typeface="Calibri"/>
              <a:ea typeface="Calibri"/>
              <a:cs typeface="Calibri"/>
              <a:sym typeface="Calibri"/>
            </a:endParaRPr>
          </a:p>
        </p:txBody>
      </p:sp>
      <p:cxnSp>
        <p:nvCxnSpPr>
          <p:cNvPr id="664" name="Google Shape;664;p36"/>
          <p:cNvCxnSpPr/>
          <p:nvPr/>
        </p:nvCxnSpPr>
        <p:spPr>
          <a:xfrm>
            <a:off x="1097280"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65" name="Google Shape;665;p36"/>
          <p:cNvSpPr/>
          <p:nvPr/>
        </p:nvSpPr>
        <p:spPr>
          <a:xfrm>
            <a:off x="2097024" y="1097280"/>
            <a:ext cx="1097400" cy="390000"/>
          </a:xfrm>
          <a:prstGeom prst="roundRect">
            <a:avLst>
              <a:gd fmla="val 15625" name="adj"/>
            </a:avLst>
          </a:prstGeom>
          <a:solidFill>
            <a:srgbClr val="0D1A2E"/>
          </a:solidFill>
          <a:ln cap="flat" cmpd="sng" w="12700">
            <a:solidFill>
              <a:srgbClr val="CE93D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6" name="Google Shape;666;p36"/>
          <p:cNvSpPr/>
          <p:nvPr/>
        </p:nvSpPr>
        <p:spPr>
          <a:xfrm>
            <a:off x="2097024"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Agent</a:t>
            </a:r>
            <a:endParaRPr b="0" i="0" sz="800" u="none" cap="none" strike="noStrike">
              <a:solidFill>
                <a:schemeClr val="dk1"/>
              </a:solidFill>
              <a:latin typeface="Calibri"/>
              <a:ea typeface="Calibri"/>
              <a:cs typeface="Calibri"/>
              <a:sym typeface="Calibri"/>
            </a:endParaRPr>
          </a:p>
        </p:txBody>
      </p:sp>
      <p:cxnSp>
        <p:nvCxnSpPr>
          <p:cNvPr id="667" name="Google Shape;667;p36"/>
          <p:cNvCxnSpPr/>
          <p:nvPr/>
        </p:nvCxnSpPr>
        <p:spPr>
          <a:xfrm>
            <a:off x="2645664"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68" name="Google Shape;668;p36"/>
          <p:cNvSpPr/>
          <p:nvPr/>
        </p:nvSpPr>
        <p:spPr>
          <a:xfrm>
            <a:off x="3645408" y="1097280"/>
            <a:ext cx="1097400" cy="390000"/>
          </a:xfrm>
          <a:prstGeom prst="roundRect">
            <a:avLst>
              <a:gd fmla="val 15625" name="adj"/>
            </a:avLst>
          </a:prstGeom>
          <a:solidFill>
            <a:srgbClr val="0D1A2E"/>
          </a:solidFill>
          <a:ln cap="flat" cmpd="sng" w="12700">
            <a:solidFill>
              <a:srgbClr val="FFC107"/>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9" name="Google Shape;669;p36"/>
          <p:cNvSpPr/>
          <p:nvPr/>
        </p:nvSpPr>
        <p:spPr>
          <a:xfrm>
            <a:off x="3645408"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Gate</a:t>
            </a:r>
            <a:endParaRPr b="0" i="0" sz="800" u="none" cap="none" strike="noStrike">
              <a:solidFill>
                <a:schemeClr val="dk1"/>
              </a:solidFill>
              <a:latin typeface="Calibri"/>
              <a:ea typeface="Calibri"/>
              <a:cs typeface="Calibri"/>
              <a:sym typeface="Calibri"/>
            </a:endParaRPr>
          </a:p>
        </p:txBody>
      </p:sp>
      <p:cxnSp>
        <p:nvCxnSpPr>
          <p:cNvPr id="670" name="Google Shape;670;p36"/>
          <p:cNvCxnSpPr/>
          <p:nvPr/>
        </p:nvCxnSpPr>
        <p:spPr>
          <a:xfrm>
            <a:off x="4194048"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71" name="Google Shape;671;p36"/>
          <p:cNvSpPr/>
          <p:nvPr/>
        </p:nvSpPr>
        <p:spPr>
          <a:xfrm>
            <a:off x="5071080" y="1085355"/>
            <a:ext cx="1097400" cy="390000"/>
          </a:xfrm>
          <a:prstGeom prst="roundRect">
            <a:avLst>
              <a:gd fmla="val 15625" name="adj"/>
            </a:avLst>
          </a:prstGeom>
          <a:solidFill>
            <a:srgbClr val="0D1A2E"/>
          </a:solidFill>
          <a:ln cap="flat" cmpd="sng" w="12700">
            <a:solidFill>
              <a:srgbClr val="88888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2" name="Google Shape;672;p36"/>
          <p:cNvSpPr/>
          <p:nvPr/>
        </p:nvSpPr>
        <p:spPr>
          <a:xfrm>
            <a:off x="5170800" y="1134100"/>
            <a:ext cx="908700" cy="2925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Tool Adapter</a:t>
            </a:r>
            <a:endParaRPr b="0" i="0" sz="800" u="none" cap="none" strike="noStrike">
              <a:solidFill>
                <a:schemeClr val="dk1"/>
              </a:solidFill>
              <a:latin typeface="Calibri"/>
              <a:ea typeface="Calibri"/>
              <a:cs typeface="Calibri"/>
              <a:sym typeface="Calibri"/>
            </a:endParaRPr>
          </a:p>
        </p:txBody>
      </p:sp>
      <p:cxnSp>
        <p:nvCxnSpPr>
          <p:cNvPr id="673" name="Google Shape;673;p36"/>
          <p:cNvCxnSpPr/>
          <p:nvPr/>
        </p:nvCxnSpPr>
        <p:spPr>
          <a:xfrm>
            <a:off x="5742432"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74" name="Google Shape;674;p36"/>
          <p:cNvSpPr/>
          <p:nvPr/>
        </p:nvSpPr>
        <p:spPr>
          <a:xfrm>
            <a:off x="6496775" y="1097275"/>
            <a:ext cx="933300" cy="390000"/>
          </a:xfrm>
          <a:prstGeom prst="roundRect">
            <a:avLst>
              <a:gd fmla="val 15625" name="adj"/>
            </a:avLst>
          </a:prstGeom>
          <a:solidFill>
            <a:srgbClr val="0D1A2E"/>
          </a:solidFill>
          <a:ln cap="flat" cmpd="sng" w="12700">
            <a:solidFill>
              <a:srgbClr val="7FFF00"/>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5" name="Google Shape;675;p36"/>
          <p:cNvSpPr/>
          <p:nvPr/>
        </p:nvSpPr>
        <p:spPr>
          <a:xfrm>
            <a:off x="6521425" y="1097275"/>
            <a:ext cx="9087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a:t>
            </a:r>
            <a:endParaRPr b="0" i="0" sz="800" u="none" cap="none" strike="noStrike">
              <a:solidFill>
                <a:schemeClr val="dk1"/>
              </a:solidFill>
              <a:latin typeface="Calibri"/>
              <a:ea typeface="Calibri"/>
              <a:cs typeface="Calibri"/>
              <a:sym typeface="Calibri"/>
            </a:endParaRPr>
          </a:p>
        </p:txBody>
      </p:sp>
      <p:cxnSp>
        <p:nvCxnSpPr>
          <p:cNvPr id="676" name="Google Shape;676;p36"/>
          <p:cNvCxnSpPr/>
          <p:nvPr/>
        </p:nvCxnSpPr>
        <p:spPr>
          <a:xfrm>
            <a:off x="7114716" y="1487424"/>
            <a:ext cx="0" cy="4827900"/>
          </a:xfrm>
          <a:prstGeom prst="straightConnector1">
            <a:avLst/>
          </a:prstGeom>
          <a:noFill/>
          <a:ln cap="flat" cmpd="sng" w="9525">
            <a:solidFill>
              <a:srgbClr val="1E2D45"/>
            </a:solidFill>
            <a:prstDash val="dash"/>
            <a:round/>
            <a:headEnd len="sm" w="sm" type="none"/>
            <a:tailEnd len="sm" w="sm" type="none"/>
          </a:ln>
        </p:spPr>
      </p:cxnSp>
      <p:cxnSp>
        <p:nvCxnSpPr>
          <p:cNvPr id="677" name="Google Shape;677;p36"/>
          <p:cNvCxnSpPr/>
          <p:nvPr/>
        </p:nvCxnSpPr>
        <p:spPr>
          <a:xfrm>
            <a:off x="1097280" y="1755648"/>
            <a:ext cx="1548300" cy="0"/>
          </a:xfrm>
          <a:prstGeom prst="straightConnector1">
            <a:avLst/>
          </a:prstGeom>
          <a:noFill/>
          <a:ln cap="flat" cmpd="sng" w="9525">
            <a:solidFill>
              <a:srgbClr val="00D4FF"/>
            </a:solidFill>
            <a:prstDash val="solid"/>
            <a:round/>
            <a:headEnd len="sm" w="sm" type="none"/>
            <a:tailEnd len="med" w="med" type="triangle"/>
          </a:ln>
        </p:spPr>
      </p:cxnSp>
      <p:sp>
        <p:nvSpPr>
          <p:cNvPr id="678" name="Google Shape;678;p36"/>
          <p:cNvSpPr/>
          <p:nvPr/>
        </p:nvSpPr>
        <p:spPr>
          <a:xfrm>
            <a:off x="1200912" y="1584960"/>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spawn(ASG slice + task + toolset)</a:t>
            </a:r>
            <a:endParaRPr b="0" i="0" sz="700" u="none" cap="none" strike="noStrike">
              <a:solidFill>
                <a:schemeClr val="dk1"/>
              </a:solidFill>
              <a:latin typeface="Calibri"/>
              <a:ea typeface="Calibri"/>
              <a:cs typeface="Calibri"/>
              <a:sym typeface="Calibri"/>
            </a:endParaRPr>
          </a:p>
        </p:txBody>
      </p:sp>
      <p:cxnSp>
        <p:nvCxnSpPr>
          <p:cNvPr id="679" name="Google Shape;679;p36"/>
          <p:cNvCxnSpPr/>
          <p:nvPr/>
        </p:nvCxnSpPr>
        <p:spPr>
          <a:xfrm>
            <a:off x="2645664" y="2097024"/>
            <a:ext cx="1548300" cy="0"/>
          </a:xfrm>
          <a:prstGeom prst="straightConnector1">
            <a:avLst/>
          </a:prstGeom>
          <a:noFill/>
          <a:ln cap="flat" cmpd="sng" w="9525">
            <a:solidFill>
              <a:srgbClr val="CE93D8"/>
            </a:solidFill>
            <a:prstDash val="solid"/>
            <a:round/>
            <a:headEnd len="sm" w="sm" type="none"/>
            <a:tailEnd len="med" w="med" type="triangle"/>
          </a:ln>
        </p:spPr>
      </p:cxnSp>
      <p:sp>
        <p:nvSpPr>
          <p:cNvPr id="680" name="Google Shape;680;p36"/>
          <p:cNvSpPr/>
          <p:nvPr/>
        </p:nvSpPr>
        <p:spPr>
          <a:xfrm>
            <a:off x="2749296" y="1926336"/>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tool_call(WhatWeb) — LOW risk</a:t>
            </a:r>
            <a:endParaRPr b="0" i="0" sz="700" u="none" cap="none" strike="noStrike">
              <a:solidFill>
                <a:schemeClr val="dk1"/>
              </a:solidFill>
              <a:latin typeface="Calibri"/>
              <a:ea typeface="Calibri"/>
              <a:cs typeface="Calibri"/>
              <a:sym typeface="Calibri"/>
            </a:endParaRPr>
          </a:p>
        </p:txBody>
      </p:sp>
      <p:cxnSp>
        <p:nvCxnSpPr>
          <p:cNvPr id="681" name="Google Shape;681;p36"/>
          <p:cNvCxnSpPr/>
          <p:nvPr/>
        </p:nvCxnSpPr>
        <p:spPr>
          <a:xfrm>
            <a:off x="2645664" y="2316480"/>
            <a:ext cx="1548300" cy="0"/>
          </a:xfrm>
          <a:prstGeom prst="straightConnector1">
            <a:avLst/>
          </a:prstGeom>
          <a:noFill/>
          <a:ln cap="flat" cmpd="sng" w="9525">
            <a:solidFill>
              <a:srgbClr val="FFC107"/>
            </a:solidFill>
            <a:prstDash val="dash"/>
            <a:round/>
            <a:headEnd len="med" w="med" type="triangle"/>
            <a:tailEnd len="sm" w="sm" type="none"/>
          </a:ln>
        </p:spPr>
      </p:cxnSp>
      <p:sp>
        <p:nvSpPr>
          <p:cNvPr id="682" name="Google Shape;682;p36"/>
          <p:cNvSpPr/>
          <p:nvPr/>
        </p:nvSpPr>
        <p:spPr>
          <a:xfrm>
            <a:off x="2749296" y="2145792"/>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 execute immediately</a:t>
            </a:r>
            <a:endParaRPr b="0" i="0" sz="700" u="none" cap="none" strike="noStrike">
              <a:solidFill>
                <a:schemeClr val="dk1"/>
              </a:solidFill>
              <a:latin typeface="Calibri"/>
              <a:ea typeface="Calibri"/>
              <a:cs typeface="Calibri"/>
              <a:sym typeface="Calibri"/>
            </a:endParaRPr>
          </a:p>
        </p:txBody>
      </p:sp>
      <p:cxnSp>
        <p:nvCxnSpPr>
          <p:cNvPr id="683" name="Google Shape;683;p36"/>
          <p:cNvCxnSpPr/>
          <p:nvPr/>
        </p:nvCxnSpPr>
        <p:spPr>
          <a:xfrm>
            <a:off x="4194048" y="2535936"/>
            <a:ext cx="1548300" cy="0"/>
          </a:xfrm>
          <a:prstGeom prst="straightConnector1">
            <a:avLst/>
          </a:prstGeom>
          <a:noFill/>
          <a:ln cap="flat" cmpd="sng" w="9525">
            <a:solidFill>
              <a:srgbClr val="FFC107"/>
            </a:solidFill>
            <a:prstDash val="solid"/>
            <a:round/>
            <a:headEnd len="sm" w="sm" type="none"/>
            <a:tailEnd len="med" w="med" type="triangle"/>
          </a:ln>
        </p:spPr>
      </p:cxnSp>
      <p:sp>
        <p:nvSpPr>
          <p:cNvPr id="684" name="Google Shape;684;p36"/>
          <p:cNvSpPr/>
          <p:nvPr/>
        </p:nvSpPr>
        <p:spPr>
          <a:xfrm>
            <a:off x="4297680" y="236524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execute(WhatWeb)</a:t>
            </a:r>
            <a:endParaRPr b="0" i="0" sz="700" u="none" cap="none" strike="noStrike">
              <a:solidFill>
                <a:schemeClr val="dk1"/>
              </a:solidFill>
              <a:latin typeface="Calibri"/>
              <a:ea typeface="Calibri"/>
              <a:cs typeface="Calibri"/>
              <a:sym typeface="Calibri"/>
            </a:endParaRPr>
          </a:p>
        </p:txBody>
      </p:sp>
      <p:cxnSp>
        <p:nvCxnSpPr>
          <p:cNvPr id="685" name="Google Shape;685;p36"/>
          <p:cNvCxnSpPr/>
          <p:nvPr/>
        </p:nvCxnSpPr>
        <p:spPr>
          <a:xfrm>
            <a:off x="2645664" y="2779776"/>
            <a:ext cx="3096900" cy="0"/>
          </a:xfrm>
          <a:prstGeom prst="straightConnector1">
            <a:avLst/>
          </a:prstGeom>
          <a:noFill/>
          <a:ln cap="flat" cmpd="sng" w="9525">
            <a:solidFill>
              <a:srgbClr val="888888"/>
            </a:solidFill>
            <a:prstDash val="dash"/>
            <a:round/>
            <a:headEnd len="med" w="med" type="triangle"/>
            <a:tailEnd len="sm" w="sm" type="none"/>
          </a:ln>
        </p:spPr>
      </p:cxnSp>
      <p:sp>
        <p:nvSpPr>
          <p:cNvPr id="686" name="Google Shape;686;p36"/>
          <p:cNvSpPr/>
          <p:nvPr/>
        </p:nvSpPr>
        <p:spPr>
          <a:xfrm>
            <a:off x="3523488" y="260908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700" u="none" cap="none" strike="noStrike">
                <a:solidFill>
                  <a:schemeClr val="lt1"/>
                </a:solidFill>
                <a:latin typeface="Calibri"/>
                <a:ea typeface="Calibri"/>
                <a:cs typeface="Calibri"/>
                <a:sym typeface="Calibri"/>
              </a:rPr>
              <a:t>structured findings {tech: WP 5.9.3}</a:t>
            </a:r>
            <a:endParaRPr b="0" i="0" sz="700" u="none" cap="none" strike="noStrike">
              <a:solidFill>
                <a:schemeClr val="lt1"/>
              </a:solidFill>
              <a:latin typeface="Calibri"/>
              <a:ea typeface="Calibri"/>
              <a:cs typeface="Calibri"/>
              <a:sym typeface="Calibri"/>
            </a:endParaRPr>
          </a:p>
        </p:txBody>
      </p:sp>
      <p:cxnSp>
        <p:nvCxnSpPr>
          <p:cNvPr id="687" name="Google Shape;687;p36"/>
          <p:cNvCxnSpPr/>
          <p:nvPr/>
        </p:nvCxnSpPr>
        <p:spPr>
          <a:xfrm>
            <a:off x="2645664" y="3169920"/>
            <a:ext cx="1548300" cy="0"/>
          </a:xfrm>
          <a:prstGeom prst="straightConnector1">
            <a:avLst/>
          </a:prstGeom>
          <a:noFill/>
          <a:ln cap="flat" cmpd="sng" w="9525">
            <a:solidFill>
              <a:srgbClr val="CE93D8"/>
            </a:solidFill>
            <a:prstDash val="solid"/>
            <a:round/>
            <a:headEnd len="sm" w="sm" type="none"/>
            <a:tailEnd len="med" w="med" type="triangle"/>
          </a:ln>
        </p:spPr>
      </p:cxnSp>
      <p:sp>
        <p:nvSpPr>
          <p:cNvPr id="688" name="Google Shape;688;p36"/>
          <p:cNvSpPr/>
          <p:nvPr/>
        </p:nvSpPr>
        <p:spPr>
          <a:xfrm>
            <a:off x="2749296" y="2999232"/>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tool_call(Gobuster) — MED risk</a:t>
            </a:r>
            <a:endParaRPr b="0" i="0" sz="700" u="none" cap="none" strike="noStrike">
              <a:solidFill>
                <a:schemeClr val="dk1"/>
              </a:solidFill>
              <a:latin typeface="Calibri"/>
              <a:ea typeface="Calibri"/>
              <a:cs typeface="Calibri"/>
              <a:sym typeface="Calibri"/>
            </a:endParaRPr>
          </a:p>
        </p:txBody>
      </p:sp>
      <p:cxnSp>
        <p:nvCxnSpPr>
          <p:cNvPr id="689" name="Google Shape;689;p36"/>
          <p:cNvCxnSpPr/>
          <p:nvPr/>
        </p:nvCxnSpPr>
        <p:spPr>
          <a:xfrm>
            <a:off x="1097280" y="3389376"/>
            <a:ext cx="3096900" cy="0"/>
          </a:xfrm>
          <a:prstGeom prst="straightConnector1">
            <a:avLst/>
          </a:prstGeom>
          <a:noFill/>
          <a:ln cap="flat" cmpd="sng" w="9525">
            <a:solidFill>
              <a:srgbClr val="FFC107"/>
            </a:solidFill>
            <a:prstDash val="solid"/>
            <a:round/>
            <a:headEnd len="sm" w="sm" type="none"/>
            <a:tailEnd len="med" w="med" type="triangle"/>
          </a:ln>
        </p:spPr>
      </p:cxnSp>
      <p:sp>
        <p:nvSpPr>
          <p:cNvPr id="690" name="Google Shape;690;p36"/>
          <p:cNvSpPr/>
          <p:nvPr/>
        </p:nvSpPr>
        <p:spPr>
          <a:xfrm>
            <a:off x="1975104" y="321868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LLM Classifier → EXECUTE</a:t>
            </a:r>
            <a:endParaRPr b="0" i="0" sz="700" u="none" cap="none" strike="noStrike">
              <a:solidFill>
                <a:schemeClr val="dk1"/>
              </a:solidFill>
              <a:latin typeface="Calibri"/>
              <a:ea typeface="Calibri"/>
              <a:cs typeface="Calibri"/>
              <a:sym typeface="Calibri"/>
            </a:endParaRPr>
          </a:p>
        </p:txBody>
      </p:sp>
      <p:cxnSp>
        <p:nvCxnSpPr>
          <p:cNvPr id="691" name="Google Shape;691;p36"/>
          <p:cNvCxnSpPr/>
          <p:nvPr/>
        </p:nvCxnSpPr>
        <p:spPr>
          <a:xfrm>
            <a:off x="4194048" y="3608832"/>
            <a:ext cx="1548300" cy="0"/>
          </a:xfrm>
          <a:prstGeom prst="straightConnector1">
            <a:avLst/>
          </a:prstGeom>
          <a:noFill/>
          <a:ln cap="flat" cmpd="sng" w="9525">
            <a:solidFill>
              <a:srgbClr val="FFC107"/>
            </a:solidFill>
            <a:prstDash val="solid"/>
            <a:round/>
            <a:headEnd len="sm" w="sm" type="none"/>
            <a:tailEnd len="med" w="med" type="triangle"/>
          </a:ln>
        </p:spPr>
      </p:cxnSp>
      <p:sp>
        <p:nvSpPr>
          <p:cNvPr id="692" name="Google Shape;692;p36"/>
          <p:cNvSpPr/>
          <p:nvPr/>
        </p:nvSpPr>
        <p:spPr>
          <a:xfrm>
            <a:off x="4297680" y="3438144"/>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execute(Gobuster)</a:t>
            </a:r>
            <a:endParaRPr b="0" i="0" sz="700" u="none" cap="none" strike="noStrike">
              <a:solidFill>
                <a:schemeClr val="dk1"/>
              </a:solidFill>
              <a:latin typeface="Calibri"/>
              <a:ea typeface="Calibri"/>
              <a:cs typeface="Calibri"/>
              <a:sym typeface="Calibri"/>
            </a:endParaRPr>
          </a:p>
        </p:txBody>
      </p:sp>
      <p:cxnSp>
        <p:nvCxnSpPr>
          <p:cNvPr id="693" name="Google Shape;693;p36"/>
          <p:cNvCxnSpPr/>
          <p:nvPr/>
        </p:nvCxnSpPr>
        <p:spPr>
          <a:xfrm>
            <a:off x="2645664" y="3852672"/>
            <a:ext cx="3096900" cy="0"/>
          </a:xfrm>
          <a:prstGeom prst="straightConnector1">
            <a:avLst/>
          </a:prstGeom>
          <a:noFill/>
          <a:ln cap="flat" cmpd="sng" w="9525">
            <a:solidFill>
              <a:srgbClr val="888888"/>
            </a:solidFill>
            <a:prstDash val="dash"/>
            <a:round/>
            <a:headEnd len="med" w="med" type="triangle"/>
            <a:tailEnd len="sm" w="sm" type="none"/>
          </a:ln>
        </p:spPr>
      </p:cxnSp>
      <p:sp>
        <p:nvSpPr>
          <p:cNvPr id="694" name="Google Shape;694;p36"/>
          <p:cNvSpPr/>
          <p:nvPr/>
        </p:nvSpPr>
        <p:spPr>
          <a:xfrm>
            <a:off x="3523500" y="3681975"/>
            <a:ext cx="15483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700" u="none" cap="none" strike="noStrike">
                <a:solidFill>
                  <a:schemeClr val="lt1"/>
                </a:solidFill>
                <a:latin typeface="Calibri"/>
                <a:ea typeface="Calibri"/>
                <a:cs typeface="Calibri"/>
                <a:sym typeface="Calibri"/>
              </a:rPr>
              <a:t>structured findings {endpoint: /backup/...}</a:t>
            </a:r>
            <a:endParaRPr b="0" i="0" sz="700" u="none" cap="none" strike="noStrike">
              <a:solidFill>
                <a:schemeClr val="lt1"/>
              </a:solidFill>
              <a:latin typeface="Calibri"/>
              <a:ea typeface="Calibri"/>
              <a:cs typeface="Calibri"/>
              <a:sym typeface="Calibri"/>
            </a:endParaRPr>
          </a:p>
        </p:txBody>
      </p:sp>
      <p:cxnSp>
        <p:nvCxnSpPr>
          <p:cNvPr id="695" name="Google Shape;695;p36"/>
          <p:cNvCxnSpPr/>
          <p:nvPr/>
        </p:nvCxnSpPr>
        <p:spPr>
          <a:xfrm>
            <a:off x="2645664" y="4242816"/>
            <a:ext cx="1548300" cy="0"/>
          </a:xfrm>
          <a:prstGeom prst="straightConnector1">
            <a:avLst/>
          </a:prstGeom>
          <a:noFill/>
          <a:ln cap="flat" cmpd="sng" w="9525">
            <a:solidFill>
              <a:srgbClr val="FF5252"/>
            </a:solidFill>
            <a:prstDash val="solid"/>
            <a:round/>
            <a:headEnd len="sm" w="sm" type="none"/>
            <a:tailEnd len="med" w="med" type="triangle"/>
          </a:ln>
        </p:spPr>
      </p:cxnSp>
      <p:sp>
        <p:nvSpPr>
          <p:cNvPr id="696" name="Google Shape;696;p36"/>
          <p:cNvSpPr/>
          <p:nvPr/>
        </p:nvSpPr>
        <p:spPr>
          <a:xfrm>
            <a:off x="2749296" y="407212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tool_call(SQLMap) — HIGH risk</a:t>
            </a:r>
            <a:endParaRPr b="0" i="0" sz="700" u="none" cap="none" strike="noStrike">
              <a:solidFill>
                <a:schemeClr val="dk1"/>
              </a:solidFill>
              <a:latin typeface="Calibri"/>
              <a:ea typeface="Calibri"/>
              <a:cs typeface="Calibri"/>
              <a:sym typeface="Calibri"/>
            </a:endParaRPr>
          </a:p>
        </p:txBody>
      </p:sp>
      <p:cxnSp>
        <p:nvCxnSpPr>
          <p:cNvPr id="697" name="Google Shape;697;p36"/>
          <p:cNvCxnSpPr/>
          <p:nvPr/>
        </p:nvCxnSpPr>
        <p:spPr>
          <a:xfrm>
            <a:off x="1097280" y="4462272"/>
            <a:ext cx="3096900" cy="0"/>
          </a:xfrm>
          <a:prstGeom prst="straightConnector1">
            <a:avLst/>
          </a:prstGeom>
          <a:noFill/>
          <a:ln cap="flat" cmpd="sng" w="9525">
            <a:solidFill>
              <a:srgbClr val="FF5252"/>
            </a:solidFill>
            <a:prstDash val="solid"/>
            <a:round/>
            <a:headEnd len="sm" w="sm" type="none"/>
            <a:tailEnd len="med" w="med" type="triangle"/>
          </a:ln>
        </p:spPr>
      </p:cxnSp>
      <p:sp>
        <p:nvSpPr>
          <p:cNvPr id="698" name="Google Shape;698;p36"/>
          <p:cNvSpPr/>
          <p:nvPr/>
        </p:nvSpPr>
        <p:spPr>
          <a:xfrm>
            <a:off x="1167437" y="4175700"/>
            <a:ext cx="1511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Commander Mailbox — </a:t>
            </a:r>
            <a:endParaRPr b="0" i="0" sz="700" u="none" cap="none" strike="noStrike">
              <a:solidFill>
                <a:srgbClr val="FF5252"/>
              </a:solidFill>
              <a:latin typeface="Calibri"/>
              <a:ea typeface="Calibri"/>
              <a:cs typeface="Calibri"/>
              <a:sym typeface="Calibri"/>
            </a:endParaRPr>
          </a:p>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approval request</a:t>
            </a:r>
            <a:endParaRPr b="0" i="0" sz="700" u="none" cap="none" strike="noStrike">
              <a:solidFill>
                <a:schemeClr val="dk1"/>
              </a:solidFill>
              <a:latin typeface="Calibri"/>
              <a:ea typeface="Calibri"/>
              <a:cs typeface="Calibri"/>
              <a:sym typeface="Calibri"/>
            </a:endParaRPr>
          </a:p>
        </p:txBody>
      </p:sp>
      <p:cxnSp>
        <p:nvCxnSpPr>
          <p:cNvPr id="699" name="Google Shape;699;p36"/>
          <p:cNvCxnSpPr/>
          <p:nvPr/>
        </p:nvCxnSpPr>
        <p:spPr>
          <a:xfrm>
            <a:off x="1097280" y="4681728"/>
            <a:ext cx="3096900" cy="0"/>
          </a:xfrm>
          <a:prstGeom prst="straightConnector1">
            <a:avLst/>
          </a:prstGeom>
          <a:noFill/>
          <a:ln cap="flat" cmpd="sng" w="9525">
            <a:solidFill>
              <a:srgbClr val="00D4FF"/>
            </a:solidFill>
            <a:prstDash val="dash"/>
            <a:round/>
            <a:headEnd len="med" w="med" type="triangle"/>
            <a:tailEnd len="sm" w="sm" type="none"/>
          </a:ln>
        </p:spPr>
      </p:cxnSp>
      <p:sp>
        <p:nvSpPr>
          <p:cNvPr id="700" name="Google Shape;700;p36"/>
          <p:cNvSpPr/>
          <p:nvPr/>
        </p:nvSpPr>
        <p:spPr>
          <a:xfrm>
            <a:off x="1228454" y="4709115"/>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APPROVED </a:t>
            </a:r>
            <a:endParaRPr b="0" i="0" sz="700" u="none" cap="none" strike="noStrike">
              <a:solidFill>
                <a:srgbClr val="00D4FF"/>
              </a:solidFill>
              <a:latin typeface="Calibri"/>
              <a:ea typeface="Calibri"/>
              <a:cs typeface="Calibri"/>
              <a:sym typeface="Calibri"/>
            </a:endParaRPr>
          </a:p>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(scope valid, chain intent ok)</a:t>
            </a:r>
            <a:endParaRPr b="0" i="0" sz="700" u="none" cap="none" strike="noStrike">
              <a:solidFill>
                <a:schemeClr val="dk1"/>
              </a:solidFill>
              <a:latin typeface="Calibri"/>
              <a:ea typeface="Calibri"/>
              <a:cs typeface="Calibri"/>
              <a:sym typeface="Calibri"/>
            </a:endParaRPr>
          </a:p>
        </p:txBody>
      </p:sp>
      <p:cxnSp>
        <p:nvCxnSpPr>
          <p:cNvPr id="701" name="Google Shape;701;p36"/>
          <p:cNvCxnSpPr/>
          <p:nvPr/>
        </p:nvCxnSpPr>
        <p:spPr>
          <a:xfrm flipH="1" rot="10800000">
            <a:off x="2645664" y="5057772"/>
            <a:ext cx="4476600" cy="14100"/>
          </a:xfrm>
          <a:prstGeom prst="straightConnector1">
            <a:avLst/>
          </a:prstGeom>
          <a:noFill/>
          <a:ln cap="flat" cmpd="sng" w="9525">
            <a:solidFill>
              <a:srgbClr val="7FFF00"/>
            </a:solidFill>
            <a:prstDash val="solid"/>
            <a:round/>
            <a:headEnd len="sm" w="sm" type="none"/>
            <a:tailEnd len="med" w="med" type="triangle"/>
          </a:ln>
        </p:spPr>
      </p:cxnSp>
      <p:sp>
        <p:nvSpPr>
          <p:cNvPr id="702" name="Google Shape;702;p36"/>
          <p:cNvSpPr/>
          <p:nvPr/>
        </p:nvSpPr>
        <p:spPr>
          <a:xfrm>
            <a:off x="4297671" y="4803675"/>
            <a:ext cx="2345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write delta [Tech node][Endpoint node][Vuln node]</a:t>
            </a:r>
            <a:endParaRPr b="0" i="0" sz="700" u="none" cap="none" strike="noStrike">
              <a:solidFill>
                <a:schemeClr val="dk1"/>
              </a:solidFill>
              <a:latin typeface="Calibri"/>
              <a:ea typeface="Calibri"/>
              <a:cs typeface="Calibri"/>
              <a:sym typeface="Calibri"/>
            </a:endParaRPr>
          </a:p>
        </p:txBody>
      </p:sp>
      <p:cxnSp>
        <p:nvCxnSpPr>
          <p:cNvPr id="703" name="Google Shape;703;p36"/>
          <p:cNvCxnSpPr/>
          <p:nvPr/>
        </p:nvCxnSpPr>
        <p:spPr>
          <a:xfrm>
            <a:off x="1097280" y="5413248"/>
            <a:ext cx="1548300" cy="0"/>
          </a:xfrm>
          <a:prstGeom prst="straightConnector1">
            <a:avLst/>
          </a:prstGeom>
          <a:noFill/>
          <a:ln cap="flat" cmpd="sng" w="9525">
            <a:solidFill>
              <a:srgbClr val="CE93D8"/>
            </a:solidFill>
            <a:prstDash val="solid"/>
            <a:round/>
            <a:headEnd len="sm" w="sm" type="none"/>
            <a:tailEnd len="med" w="med" type="triangle"/>
          </a:ln>
        </p:spPr>
      </p:cxnSp>
      <p:sp>
        <p:nvSpPr>
          <p:cNvPr id="704" name="Google Shape;704;p36"/>
          <p:cNvSpPr/>
          <p:nvPr/>
        </p:nvSpPr>
        <p:spPr>
          <a:xfrm>
            <a:off x="1200912" y="5242560"/>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return structured ASG delta</a:t>
            </a:r>
            <a:endParaRPr b="0" i="0" sz="700" u="none" cap="none" strike="noStrike">
              <a:solidFill>
                <a:schemeClr val="dk1"/>
              </a:solidFill>
              <a:latin typeface="Calibri"/>
              <a:ea typeface="Calibri"/>
              <a:cs typeface="Calibri"/>
              <a:sym typeface="Calibri"/>
            </a:endParaRPr>
          </a:p>
        </p:txBody>
      </p:sp>
      <p:sp>
        <p:nvSpPr>
          <p:cNvPr id="705" name="Google Shape;705;p36"/>
          <p:cNvSpPr/>
          <p:nvPr/>
        </p:nvSpPr>
        <p:spPr>
          <a:xfrm>
            <a:off x="2590800" y="1755648"/>
            <a:ext cx="109800" cy="3657600"/>
          </a:xfrm>
          <a:prstGeom prst="rect">
            <a:avLst/>
          </a:prstGeom>
          <a:solidFill>
            <a:srgbClr val="0D1A2E"/>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6" name="Google Shape;706;p36"/>
          <p:cNvSpPr/>
          <p:nvPr/>
        </p:nvSpPr>
        <p:spPr>
          <a:xfrm>
            <a:off x="1042416" y="4462272"/>
            <a:ext cx="109800" cy="341400"/>
          </a:xfrm>
          <a:prstGeom prst="rect">
            <a:avLst/>
          </a:prstGeom>
          <a:solidFill>
            <a:srgbClr val="0D1A2E"/>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7" name="Google Shape;707;p36"/>
          <p:cNvSpPr/>
          <p:nvPr/>
        </p:nvSpPr>
        <p:spPr>
          <a:xfrm>
            <a:off x="2097024" y="5547360"/>
            <a:ext cx="1828800" cy="341400"/>
          </a:xfrm>
          <a:prstGeom prst="roundRect">
            <a:avLst>
              <a:gd fmla="val 14286" name="adj"/>
            </a:avLst>
          </a:prstGeom>
          <a:solidFill>
            <a:srgbClr val="0A1A08"/>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8" name="Google Shape;708;p36"/>
          <p:cNvSpPr/>
          <p:nvPr/>
        </p:nvSpPr>
        <p:spPr>
          <a:xfrm>
            <a:off x="2097024" y="5547360"/>
            <a:ext cx="1828800" cy="3414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 Working context DISCARDED</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Raw tool output · history · reasoning → gone</a:t>
            </a:r>
            <a:endParaRPr b="0" i="0" sz="700" u="none" cap="none" strike="noStrike">
              <a:solidFill>
                <a:schemeClr val="dk1"/>
              </a:solidFill>
              <a:latin typeface="Calibri"/>
              <a:ea typeface="Calibri"/>
              <a:cs typeface="Calibri"/>
              <a:sym typeface="Calibri"/>
            </a:endParaRPr>
          </a:p>
        </p:txBody>
      </p:sp>
      <p:sp>
        <p:nvSpPr>
          <p:cNvPr id="709" name="Google Shape;709;p36"/>
          <p:cNvSpPr/>
          <p:nvPr/>
        </p:nvSpPr>
        <p:spPr>
          <a:xfrm>
            <a:off x="548640" y="5547360"/>
            <a:ext cx="1341000" cy="341400"/>
          </a:xfrm>
          <a:prstGeom prst="roundRect">
            <a:avLst>
              <a:gd fmla="val 14286" name="adj"/>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0" name="Google Shape;710;p36"/>
          <p:cNvSpPr/>
          <p:nvPr/>
        </p:nvSpPr>
        <p:spPr>
          <a:xfrm>
            <a:off x="548640" y="5547360"/>
            <a:ext cx="1341000" cy="3414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Commander reads new Vuln nodes → seeds APG Chain-01</a:t>
            </a:r>
            <a:endParaRPr b="0" i="0" sz="700" u="none" cap="none" strike="noStrike">
              <a:solidFill>
                <a:schemeClr val="dk1"/>
              </a:solidFill>
              <a:latin typeface="Calibri"/>
              <a:ea typeface="Calibri"/>
              <a:cs typeface="Calibri"/>
              <a:sym typeface="Calibri"/>
            </a:endParaRPr>
          </a:p>
        </p:txBody>
      </p:sp>
      <p:sp>
        <p:nvSpPr>
          <p:cNvPr id="711" name="Google Shape;711;p36"/>
          <p:cNvSpPr/>
          <p:nvPr/>
        </p:nvSpPr>
        <p:spPr>
          <a:xfrm>
            <a:off x="7851650" y="1048500"/>
            <a:ext cx="3950100" cy="2465700"/>
          </a:xfrm>
          <a:prstGeom prst="roundRect">
            <a:avLst>
              <a:gd fmla="val 3902" name="adj"/>
            </a:avLst>
          </a:prstGeom>
          <a:solidFill>
            <a:srgbClr val="0A0C1E"/>
          </a:solidFill>
          <a:ln cap="flat" cmpd="sng" w="114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 name="Google Shape;712;p36"/>
          <p:cNvSpPr/>
          <p:nvPr/>
        </p:nvSpPr>
        <p:spPr>
          <a:xfrm>
            <a:off x="7997952" y="1072896"/>
            <a:ext cx="3657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93D8"/>
              </a:buClr>
              <a:buSzPts val="1100"/>
              <a:buFont typeface="Calibri"/>
              <a:buNone/>
            </a:pPr>
            <a:r>
              <a:rPr b="1" i="0" lang="en-US" sz="1100" u="none" cap="none" strike="noStrike">
                <a:solidFill>
                  <a:srgbClr val="CE93D8"/>
                </a:solidFill>
                <a:latin typeface="Calibri"/>
                <a:ea typeface="Calibri"/>
                <a:cs typeface="Calibri"/>
                <a:sym typeface="Calibri"/>
              </a:rPr>
              <a:t>Agent Spawn Package</a:t>
            </a:r>
            <a:endParaRPr b="0" i="0" sz="1100" u="none" cap="none" strike="noStrike">
              <a:solidFill>
                <a:schemeClr val="dk1"/>
              </a:solidFill>
              <a:latin typeface="Calibri"/>
              <a:ea typeface="Calibri"/>
              <a:cs typeface="Calibri"/>
              <a:sym typeface="Calibri"/>
            </a:endParaRPr>
          </a:p>
        </p:txBody>
      </p:sp>
      <p:sp>
        <p:nvSpPr>
          <p:cNvPr id="713" name="Google Shape;713;p36"/>
          <p:cNvSpPr/>
          <p:nvPr/>
        </p:nvSpPr>
        <p:spPr>
          <a:xfrm>
            <a:off x="7997952" y="1414272"/>
            <a:ext cx="3657600" cy="317100"/>
          </a:xfrm>
          <a:prstGeom prst="roundRect">
            <a:avLst>
              <a:gd fmla="val 15385" name="adj"/>
            </a:avLst>
          </a:prstGeom>
          <a:solidFill>
            <a:srgbClr val="060816"/>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4" name="Google Shape;714;p36"/>
          <p:cNvSpPr/>
          <p:nvPr/>
        </p:nvSpPr>
        <p:spPr>
          <a:xfrm>
            <a:off x="8046720" y="141427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 SLICE  </a:t>
            </a:r>
            <a:r>
              <a:rPr b="0" i="0" lang="en-US" sz="800" u="none" cap="none" strike="noStrike">
                <a:solidFill>
                  <a:srgbClr val="9CA3AF"/>
                </a:solidFill>
                <a:latin typeface="Calibri"/>
                <a:ea typeface="Calibri"/>
                <a:cs typeface="Calibri"/>
                <a:sym typeface="Calibri"/>
              </a:rPr>
              <a:t>Only nodes relevant to this task — not the full graph</a:t>
            </a:r>
            <a:endParaRPr b="0" i="0" sz="800" u="none" cap="none" strike="noStrike">
              <a:solidFill>
                <a:schemeClr val="dk1"/>
              </a:solidFill>
              <a:latin typeface="Calibri"/>
              <a:ea typeface="Calibri"/>
              <a:cs typeface="Calibri"/>
              <a:sym typeface="Calibri"/>
            </a:endParaRPr>
          </a:p>
        </p:txBody>
      </p:sp>
      <p:sp>
        <p:nvSpPr>
          <p:cNvPr id="715" name="Google Shape;715;p36"/>
          <p:cNvSpPr/>
          <p:nvPr/>
        </p:nvSpPr>
        <p:spPr>
          <a:xfrm>
            <a:off x="7997952" y="1780032"/>
            <a:ext cx="3657600" cy="317100"/>
          </a:xfrm>
          <a:prstGeom prst="roundRect">
            <a:avLst>
              <a:gd fmla="val 15385"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6" name="Google Shape;716;p36"/>
          <p:cNvSpPr/>
          <p:nvPr/>
        </p:nvSpPr>
        <p:spPr>
          <a:xfrm>
            <a:off x="8046720" y="178003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APG SLICE  </a:t>
            </a:r>
            <a:r>
              <a:rPr b="0" i="0" lang="en-US" sz="800" u="none" cap="none" strike="noStrike">
                <a:solidFill>
                  <a:srgbClr val="9CA3AF"/>
                </a:solidFill>
                <a:latin typeface="Calibri"/>
                <a:ea typeface="Calibri"/>
                <a:cs typeface="Calibri"/>
                <a:sym typeface="Calibri"/>
              </a:rPr>
              <a:t>Relevant AttackChains only (Validation tasks)</a:t>
            </a:r>
            <a:endParaRPr b="0" i="0" sz="800" u="none" cap="none" strike="noStrike">
              <a:solidFill>
                <a:schemeClr val="dk1"/>
              </a:solidFill>
              <a:latin typeface="Calibri"/>
              <a:ea typeface="Calibri"/>
              <a:cs typeface="Calibri"/>
              <a:sym typeface="Calibri"/>
            </a:endParaRPr>
          </a:p>
        </p:txBody>
      </p:sp>
      <p:sp>
        <p:nvSpPr>
          <p:cNvPr id="717" name="Google Shape;717;p36"/>
          <p:cNvSpPr/>
          <p:nvPr/>
        </p:nvSpPr>
        <p:spPr>
          <a:xfrm>
            <a:off x="7997952" y="2145792"/>
            <a:ext cx="3657600" cy="317100"/>
          </a:xfrm>
          <a:prstGeom prst="roundRect">
            <a:avLst>
              <a:gd fmla="val 15385"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8" name="Google Shape;718;p36"/>
          <p:cNvSpPr/>
          <p:nvPr/>
        </p:nvSpPr>
        <p:spPr>
          <a:xfrm>
            <a:off x="8046720" y="214579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TOOL SET  </a:t>
            </a:r>
            <a:r>
              <a:rPr b="0" i="0" lang="en-US" sz="800" u="none" cap="none" strike="noStrike">
                <a:solidFill>
                  <a:srgbClr val="9CA3AF"/>
                </a:solidFill>
                <a:latin typeface="Calibri"/>
                <a:ea typeface="Calibri"/>
                <a:cs typeface="Calibri"/>
                <a:sym typeface="Calibri"/>
              </a:rPr>
              <a:t>Authorized tools only — no others available</a:t>
            </a:r>
            <a:endParaRPr b="0" i="0" sz="800" u="none" cap="none" strike="noStrike">
              <a:solidFill>
                <a:schemeClr val="dk1"/>
              </a:solidFill>
              <a:latin typeface="Calibri"/>
              <a:ea typeface="Calibri"/>
              <a:cs typeface="Calibri"/>
              <a:sym typeface="Calibri"/>
            </a:endParaRPr>
          </a:p>
        </p:txBody>
      </p:sp>
      <p:sp>
        <p:nvSpPr>
          <p:cNvPr id="719" name="Google Shape;719;p36"/>
          <p:cNvSpPr/>
          <p:nvPr/>
        </p:nvSpPr>
        <p:spPr>
          <a:xfrm>
            <a:off x="7997952" y="2511552"/>
            <a:ext cx="3657600" cy="317100"/>
          </a:xfrm>
          <a:prstGeom prst="roundRect">
            <a:avLst>
              <a:gd fmla="val 15385"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0" name="Google Shape;720;p36"/>
          <p:cNvSpPr/>
          <p:nvPr/>
        </p:nvSpPr>
        <p:spPr>
          <a:xfrm>
            <a:off x="8046720" y="251155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TASK SPEC  </a:t>
            </a:r>
            <a:r>
              <a:rPr b="0" i="0" lang="en-US" sz="800" u="none" cap="none" strike="noStrike">
                <a:solidFill>
                  <a:srgbClr val="9CA3AF"/>
                </a:solidFill>
                <a:latin typeface="Calibri"/>
                <a:ea typeface="Calibri"/>
                <a:cs typeface="Calibri"/>
                <a:sym typeface="Calibri"/>
              </a:rPr>
              <a:t>Commander's current plan item — exact objective</a:t>
            </a:r>
            <a:endParaRPr b="0" i="0" sz="800" u="none" cap="none" strike="noStrike">
              <a:solidFill>
                <a:schemeClr val="dk1"/>
              </a:solidFill>
              <a:latin typeface="Calibri"/>
              <a:ea typeface="Calibri"/>
              <a:cs typeface="Calibri"/>
              <a:sym typeface="Calibri"/>
            </a:endParaRPr>
          </a:p>
        </p:txBody>
      </p:sp>
      <p:sp>
        <p:nvSpPr>
          <p:cNvPr id="721" name="Google Shape;721;p36"/>
          <p:cNvSpPr/>
          <p:nvPr/>
        </p:nvSpPr>
        <p:spPr>
          <a:xfrm>
            <a:off x="7997952" y="2877312"/>
            <a:ext cx="3657600" cy="317100"/>
          </a:xfrm>
          <a:prstGeom prst="roundRect">
            <a:avLst>
              <a:gd fmla="val 15385" name="adj"/>
            </a:avLst>
          </a:prstGeom>
          <a:solidFill>
            <a:srgbClr val="060816"/>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2" name="Google Shape;722;p36"/>
          <p:cNvSpPr/>
          <p:nvPr/>
        </p:nvSpPr>
        <p:spPr>
          <a:xfrm>
            <a:off x="8046720" y="287731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KNOWLEDGE DOCS  </a:t>
            </a:r>
            <a:r>
              <a:rPr b="0" i="0" lang="en-US" sz="800" u="none" cap="none" strike="noStrike">
                <a:solidFill>
                  <a:srgbClr val="9CA3AF"/>
                </a:solidFill>
                <a:latin typeface="Calibri"/>
                <a:ea typeface="Calibri"/>
                <a:cs typeface="Calibri"/>
                <a:sym typeface="Calibri"/>
              </a:rPr>
              <a:t>Vuln-class expert docs (Analysis + Validation)</a:t>
            </a:r>
            <a:endParaRPr b="0" i="0" sz="800" u="none" cap="none" strike="noStrike">
              <a:solidFill>
                <a:schemeClr val="dk1"/>
              </a:solidFill>
              <a:latin typeface="Calibri"/>
              <a:ea typeface="Calibri"/>
              <a:cs typeface="Calibri"/>
              <a:sym typeface="Calibri"/>
            </a:endParaRPr>
          </a:p>
        </p:txBody>
      </p:sp>
      <p:cxnSp>
        <p:nvCxnSpPr>
          <p:cNvPr id="723" name="Google Shape;723;p36"/>
          <p:cNvCxnSpPr/>
          <p:nvPr/>
        </p:nvCxnSpPr>
        <p:spPr>
          <a:xfrm>
            <a:off x="8461248" y="3584448"/>
            <a:ext cx="2730900" cy="0"/>
          </a:xfrm>
          <a:prstGeom prst="straightConnector1">
            <a:avLst/>
          </a:prstGeom>
          <a:noFill/>
          <a:ln cap="flat" cmpd="sng" w="12700">
            <a:solidFill>
              <a:srgbClr val="7FFF00"/>
            </a:solidFill>
            <a:prstDash val="solid"/>
            <a:round/>
            <a:headEnd len="sm" w="sm" type="none"/>
            <a:tailEnd len="med" w="med" type="triangle"/>
          </a:ln>
        </p:spPr>
      </p:cxnSp>
      <p:sp>
        <p:nvSpPr>
          <p:cNvPr id="724" name="Google Shape;724;p36"/>
          <p:cNvSpPr/>
          <p:nvPr/>
        </p:nvSpPr>
        <p:spPr>
          <a:xfrm>
            <a:off x="7997902" y="3237013"/>
            <a:ext cx="3657600" cy="20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Returns: Structured ASG Delta (new nodes + edges only)</a:t>
            </a:r>
            <a:endParaRPr b="0" i="0" sz="800" u="none" cap="none" strike="noStrike">
              <a:solidFill>
                <a:schemeClr val="dk1"/>
              </a:solidFill>
              <a:latin typeface="Calibri"/>
              <a:ea typeface="Calibri"/>
              <a:cs typeface="Calibri"/>
              <a:sym typeface="Calibri"/>
            </a:endParaRPr>
          </a:p>
        </p:txBody>
      </p:sp>
      <p:sp>
        <p:nvSpPr>
          <p:cNvPr id="725" name="Google Shape;725;p36"/>
          <p:cNvSpPr/>
          <p:nvPr/>
        </p:nvSpPr>
        <p:spPr>
          <a:xfrm>
            <a:off x="7997952" y="3608832"/>
            <a:ext cx="3657600" cy="17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700"/>
              <a:buFont typeface="Calibri"/>
              <a:buNone/>
            </a:pPr>
            <a:r>
              <a:rPr b="0" i="1" lang="en-US" sz="700" u="none" cap="none" strike="noStrike">
                <a:solidFill>
                  <a:schemeClr val="lt1"/>
                </a:solidFill>
                <a:latin typeface="Calibri"/>
                <a:ea typeface="Calibri"/>
                <a:cs typeface="Calibri"/>
                <a:sym typeface="Calibri"/>
              </a:rPr>
              <a:t>Raw tool output · conversation history · intermediate reasoning → DISCARDED</a:t>
            </a:r>
            <a:endParaRPr b="0" i="0" sz="700" u="none" cap="none" strike="noStrike">
              <a:solidFill>
                <a:schemeClr val="lt1"/>
              </a:solidFill>
              <a:latin typeface="Calibri"/>
              <a:ea typeface="Calibri"/>
              <a:cs typeface="Calibri"/>
              <a:sym typeface="Calibri"/>
            </a:endParaRPr>
          </a:p>
        </p:txBody>
      </p:sp>
      <p:sp>
        <p:nvSpPr>
          <p:cNvPr id="726" name="Google Shape;726;p36"/>
          <p:cNvSpPr/>
          <p:nvPr/>
        </p:nvSpPr>
        <p:spPr>
          <a:xfrm>
            <a:off x="7851648" y="3852672"/>
            <a:ext cx="3950100" cy="633900"/>
          </a:xfrm>
          <a:prstGeom prst="roundRect">
            <a:avLst>
              <a:gd fmla="val 11538" name="adj"/>
            </a:avLst>
          </a:prstGeom>
          <a:solidFill>
            <a:srgbClr val="041A08"/>
          </a:solidFill>
          <a:ln cap="flat" cmpd="sng" w="11425">
            <a:solidFill>
              <a:srgbClr val="7FFF00"/>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7" name="Google Shape;727;p36"/>
          <p:cNvSpPr/>
          <p:nvPr/>
        </p:nvSpPr>
        <p:spPr>
          <a:xfrm>
            <a:off x="7997952" y="3889248"/>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Commander Stays Clean</a:t>
            </a:r>
            <a:br>
              <a:rPr b="1" i="0" lang="en-US" sz="900" u="none" cap="none" strike="noStrike">
                <a:solidFill>
                  <a:srgbClr val="7FFF00"/>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Commander only ever sees ASG/APG state — never thousands of lines of raw tool output. Reasoning context stays surgically focused.</a:t>
            </a:r>
            <a:endParaRPr b="0" i="0" sz="900" u="none" cap="none" strike="noStrike">
              <a:solidFill>
                <a:schemeClr val="dk1"/>
              </a:solidFill>
              <a:latin typeface="Calibri"/>
              <a:ea typeface="Calibri"/>
              <a:cs typeface="Calibri"/>
              <a:sym typeface="Calibri"/>
            </a:endParaRPr>
          </a:p>
        </p:txBody>
      </p:sp>
      <p:sp>
        <p:nvSpPr>
          <p:cNvPr id="728" name="Google Shape;728;p36"/>
          <p:cNvSpPr/>
          <p:nvPr/>
        </p:nvSpPr>
        <p:spPr>
          <a:xfrm>
            <a:off x="7851648" y="4559808"/>
            <a:ext cx="3950100" cy="633900"/>
          </a:xfrm>
          <a:prstGeom prst="roundRect">
            <a:avLst>
              <a:gd fmla="val 11538" name="adj"/>
            </a:avLst>
          </a:prstGeom>
          <a:solidFill>
            <a:srgbClr val="10081E"/>
          </a:solidFill>
          <a:ln cap="flat" cmpd="sng" w="11425">
            <a:solidFill>
              <a:srgbClr val="CE93D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9" name="Google Shape;729;p36"/>
          <p:cNvSpPr/>
          <p:nvPr/>
        </p:nvSpPr>
        <p:spPr>
          <a:xfrm>
            <a:off x="7997952" y="4596384"/>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900"/>
              <a:buFont typeface="Calibri"/>
              <a:buNone/>
            </a:pPr>
            <a:r>
              <a:rPr b="1" i="0" lang="en-US" sz="900" u="none" cap="none" strike="noStrike">
                <a:solidFill>
                  <a:srgbClr val="CE93D8"/>
                </a:solidFill>
                <a:latin typeface="Calibri"/>
                <a:ea typeface="Calibri"/>
                <a:cs typeface="Calibri"/>
                <a:sym typeface="Calibri"/>
              </a:rPr>
              <a:t>✅ Agents Can't Contaminate</a:t>
            </a:r>
            <a:br>
              <a:rPr b="1" i="0" lang="en-US" sz="900" u="none" cap="none" strike="noStrike">
                <a:solidFill>
                  <a:srgbClr val="CE93D8"/>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Agent A's verbose history never appears in Agent B's context. Knowledge passes only through the ASG. No shared memory. No cross-pollution.</a:t>
            </a:r>
            <a:endParaRPr b="0" i="0" sz="900" u="none" cap="none" strike="noStrike">
              <a:solidFill>
                <a:schemeClr val="dk1"/>
              </a:solidFill>
              <a:latin typeface="Calibri"/>
              <a:ea typeface="Calibri"/>
              <a:cs typeface="Calibri"/>
              <a:sym typeface="Calibri"/>
            </a:endParaRPr>
          </a:p>
        </p:txBody>
      </p:sp>
      <p:sp>
        <p:nvSpPr>
          <p:cNvPr id="730" name="Google Shape;730;p36"/>
          <p:cNvSpPr/>
          <p:nvPr/>
        </p:nvSpPr>
        <p:spPr>
          <a:xfrm>
            <a:off x="7851648" y="5266944"/>
            <a:ext cx="3950100" cy="633900"/>
          </a:xfrm>
          <a:prstGeom prst="roundRect">
            <a:avLst>
              <a:gd fmla="val 11538" name="adj"/>
            </a:avLst>
          </a:prstGeom>
          <a:solidFill>
            <a:srgbClr val="1A0606"/>
          </a:solidFill>
          <a:ln cap="flat" cmpd="sng" w="11425">
            <a:solidFill>
              <a:srgbClr val="FF5252"/>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1" name="Google Shape;731;p36"/>
          <p:cNvSpPr/>
          <p:nvPr/>
        </p:nvSpPr>
        <p:spPr>
          <a:xfrm>
            <a:off x="7997952" y="5303520"/>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Rejections Don't Bias Planning</a:t>
            </a:r>
            <a:br>
              <a:rPr b="1" i="0" lang="en-US" sz="900" u="none" cap="none" strike="noStrike">
                <a:solidFill>
                  <a:srgbClr val="FF5252"/>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When Commander rejects a High-risk tool call, that rejection never appears in the Commander's own context. Refusals don't accumulate and skew future decisions.</a:t>
            </a:r>
            <a:endParaRPr b="0" i="0" sz="900" u="none" cap="none" strike="noStrike">
              <a:solidFill>
                <a:schemeClr val="dk1"/>
              </a:solidFill>
              <a:latin typeface="Calibri"/>
              <a:ea typeface="Calibri"/>
              <a:cs typeface="Calibri"/>
              <a:sym typeface="Calibri"/>
            </a:endParaRPr>
          </a:p>
        </p:txBody>
      </p:sp>
      <p:sp>
        <p:nvSpPr>
          <p:cNvPr id="732" name="Google Shape;732;p36"/>
          <p:cNvSpPr/>
          <p:nvPr/>
        </p:nvSpPr>
        <p:spPr>
          <a:xfrm>
            <a:off x="7851648" y="6181344"/>
            <a:ext cx="3950100" cy="341400"/>
          </a:xfrm>
          <a:prstGeom prst="roundRect">
            <a:avLst>
              <a:gd fmla="val 17857"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3" name="Google Shape;733;p36"/>
          <p:cNvSpPr/>
          <p:nvPr/>
        </p:nvSpPr>
        <p:spPr>
          <a:xfrm>
            <a:off x="7997952" y="6181344"/>
            <a:ext cx="3657600" cy="3414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Result: Long missions with many agents produce the same reasoning quality as single-agent tasks — context quality does not degrade with mission complexity.</a:t>
            </a:r>
            <a:endParaRPr b="0" i="0" sz="800" u="none" cap="none" strike="noStrike">
              <a:solidFill>
                <a:schemeClr val="dk1"/>
              </a:solidFill>
              <a:latin typeface="Calibri"/>
              <a:ea typeface="Calibri"/>
              <a:cs typeface="Calibri"/>
              <a:sym typeface="Calibri"/>
            </a:endParaRPr>
          </a:p>
        </p:txBody>
      </p:sp>
      <p:sp>
        <p:nvSpPr>
          <p:cNvPr id="734" name="Google Shape;734;p36"/>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0</a:t>
            </a:r>
            <a:r>
              <a:rPr b="1" lang="en-US" sz="1300">
                <a:solidFill>
                  <a:srgbClr val="00D4FF"/>
                </a:solidFill>
                <a:latin typeface="Calibri"/>
                <a:ea typeface="Calibri"/>
                <a:cs typeface="Calibri"/>
                <a:sym typeface="Calibri"/>
              </a:rPr>
              <a:t>8</a:t>
            </a:r>
            <a:endParaRPr b="0" i="0" sz="1400" u="none" cap="none" strike="noStrike">
              <a:solidFill>
                <a:srgbClr val="00D4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738" name="Shape 738"/>
        <p:cNvGrpSpPr/>
        <p:nvPr/>
      </p:nvGrpSpPr>
      <p:grpSpPr>
        <a:xfrm>
          <a:off x="0" y="0"/>
          <a:ext cx="0" cy="0"/>
          <a:chOff x="0" y="0"/>
          <a:chExt cx="0" cy="0"/>
        </a:xfrm>
      </p:grpSpPr>
      <p:sp>
        <p:nvSpPr>
          <p:cNvPr id="739" name="Google Shape;739;p37"/>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0" name="Google Shape;740;p37"/>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 name="Google Shape;741;p37"/>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 name="Google Shape;742;p37"/>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4545"/>
                </a:solidFill>
                <a:latin typeface="Calibri"/>
                <a:ea typeface="Calibri"/>
                <a:cs typeface="Calibri"/>
                <a:sym typeface="Calibri"/>
              </a:rPr>
              <a:t>OFFENSIVE TOOL CATALOGUE</a:t>
            </a:r>
            <a:endParaRPr/>
          </a:p>
        </p:txBody>
      </p:sp>
      <p:sp>
        <p:nvSpPr>
          <p:cNvPr id="743" name="Google Shape;743;p37"/>
          <p:cNvSpPr txBox="1"/>
          <p:nvPr/>
        </p:nvSpPr>
        <p:spPr>
          <a:xfrm>
            <a:off x="274320" y="347472"/>
            <a:ext cx="10972800" cy="5669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a:solidFill>
                  <a:srgbClr val="FFFFFF"/>
                </a:solidFill>
                <a:latin typeface="Calibri"/>
                <a:ea typeface="Calibri"/>
                <a:cs typeface="Calibri"/>
                <a:sym typeface="Calibri"/>
              </a:rPr>
              <a:t>11 Industry-Standard Security Tools — AI Agent Operated</a:t>
            </a:r>
            <a:endParaRPr/>
          </a:p>
        </p:txBody>
      </p:sp>
      <p:sp>
        <p:nvSpPr>
          <p:cNvPr id="744" name="Google Shape;744;p37"/>
          <p:cNvSpPr/>
          <p:nvPr/>
        </p:nvSpPr>
        <p:spPr>
          <a:xfrm>
            <a:off x="274320" y="987552"/>
            <a:ext cx="3657600" cy="347472"/>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5" name="Google Shape;745;p37"/>
          <p:cNvSpPr txBox="1"/>
          <p:nvPr/>
        </p:nvSpPr>
        <p:spPr>
          <a:xfrm>
            <a:off x="3657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39FF14"/>
                </a:solidFill>
                <a:latin typeface="Calibri"/>
                <a:ea typeface="Calibri"/>
                <a:cs typeface="Calibri"/>
                <a:sym typeface="Calibri"/>
              </a:rPr>
              <a:t>PHASE 1  ·  RECONNAISSANCE</a:t>
            </a:r>
            <a:endParaRPr/>
          </a:p>
        </p:txBody>
      </p:sp>
      <p:sp>
        <p:nvSpPr>
          <p:cNvPr id="746" name="Google Shape;746;p37"/>
          <p:cNvSpPr/>
          <p:nvPr/>
        </p:nvSpPr>
        <p:spPr>
          <a:xfrm>
            <a:off x="4160520" y="987552"/>
            <a:ext cx="3657600" cy="347472"/>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7" name="Google Shape;747;p37"/>
          <p:cNvSpPr txBox="1"/>
          <p:nvPr/>
        </p:nvSpPr>
        <p:spPr>
          <a:xfrm>
            <a:off x="42519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00E5FF"/>
                </a:solidFill>
                <a:latin typeface="Calibri"/>
                <a:ea typeface="Calibri"/>
                <a:cs typeface="Calibri"/>
                <a:sym typeface="Calibri"/>
              </a:rPr>
              <a:t>PHASE 2  ·  ANALYSIS</a:t>
            </a:r>
            <a:endParaRPr/>
          </a:p>
        </p:txBody>
      </p:sp>
      <p:sp>
        <p:nvSpPr>
          <p:cNvPr id="748" name="Google Shape;748;p37"/>
          <p:cNvSpPr/>
          <p:nvPr/>
        </p:nvSpPr>
        <p:spPr>
          <a:xfrm>
            <a:off x="8412480" y="987552"/>
            <a:ext cx="1828800" cy="347472"/>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 name="Google Shape;749;p37"/>
          <p:cNvSpPr txBox="1"/>
          <p:nvPr/>
        </p:nvSpPr>
        <p:spPr>
          <a:xfrm>
            <a:off x="8503920" y="1042416"/>
            <a:ext cx="16916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FF4545"/>
                </a:solidFill>
                <a:latin typeface="Calibri"/>
                <a:ea typeface="Calibri"/>
                <a:cs typeface="Calibri"/>
                <a:sym typeface="Calibri"/>
              </a:rPr>
              <a:t>PHASE 3  ·  VALIDATION</a:t>
            </a:r>
            <a:endParaRPr/>
          </a:p>
        </p:txBody>
      </p:sp>
      <p:sp>
        <p:nvSpPr>
          <p:cNvPr id="750" name="Google Shape;750;p37"/>
          <p:cNvSpPr/>
          <p:nvPr/>
        </p:nvSpPr>
        <p:spPr>
          <a:xfrm>
            <a:off x="10469880" y="987552"/>
            <a:ext cx="1554480" cy="347472"/>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 name="Google Shape;751;p37"/>
          <p:cNvSpPr txBox="1"/>
          <p:nvPr/>
        </p:nvSpPr>
        <p:spPr>
          <a:xfrm>
            <a:off x="10561320" y="1042416"/>
            <a:ext cx="14173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BD93F9"/>
                </a:solidFill>
                <a:latin typeface="Calibri"/>
                <a:ea typeface="Calibri"/>
                <a:cs typeface="Calibri"/>
                <a:sym typeface="Calibri"/>
              </a:rPr>
              <a:t>PHASE 3  ·  EVIDENCE</a:t>
            </a:r>
            <a:endParaRPr/>
          </a:p>
        </p:txBody>
      </p:sp>
      <p:sp>
        <p:nvSpPr>
          <p:cNvPr id="752" name="Google Shape;752;p37"/>
          <p:cNvSpPr/>
          <p:nvPr/>
        </p:nvSpPr>
        <p:spPr>
          <a:xfrm>
            <a:off x="274320" y="141732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 name="Google Shape;753;p37"/>
          <p:cNvSpPr/>
          <p:nvPr/>
        </p:nvSpPr>
        <p:spPr>
          <a:xfrm>
            <a:off x="274320" y="141732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4" name="Google Shape;754;p37"/>
          <p:cNvSpPr txBox="1"/>
          <p:nvPr/>
        </p:nvSpPr>
        <p:spPr>
          <a:xfrm>
            <a:off x="29260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a:t>
            </a:r>
            <a:endParaRPr/>
          </a:p>
        </p:txBody>
      </p:sp>
      <p:sp>
        <p:nvSpPr>
          <p:cNvPr id="755" name="Google Shape;755;p37"/>
          <p:cNvSpPr txBox="1"/>
          <p:nvPr/>
        </p:nvSpPr>
        <p:spPr>
          <a:xfrm>
            <a:off x="731520" y="147218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Amass</a:t>
            </a:r>
            <a:endParaRPr/>
          </a:p>
        </p:txBody>
      </p:sp>
      <p:sp>
        <p:nvSpPr>
          <p:cNvPr id="756" name="Google Shape;756;p37"/>
          <p:cNvSpPr txBox="1"/>
          <p:nvPr/>
        </p:nvSpPr>
        <p:spPr>
          <a:xfrm>
            <a:off x="731520" y="173736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Subdomain Enumeration  ·  Recon Agent</a:t>
            </a:r>
            <a:endParaRPr/>
          </a:p>
        </p:txBody>
      </p:sp>
      <p:sp>
        <p:nvSpPr>
          <p:cNvPr id="757" name="Google Shape;757;p37"/>
          <p:cNvSpPr txBox="1"/>
          <p:nvPr/>
        </p:nvSpPr>
        <p:spPr>
          <a:xfrm>
            <a:off x="731520" y="194767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DNS brute-force · certificate transparency logs · passive OSINT. Discovers all external subdomains and maps attack surface entry points.</a:t>
            </a:r>
            <a:endParaRPr/>
          </a:p>
        </p:txBody>
      </p:sp>
      <p:sp>
        <p:nvSpPr>
          <p:cNvPr id="758" name="Google Shape;758;p37"/>
          <p:cNvSpPr/>
          <p:nvPr/>
        </p:nvSpPr>
        <p:spPr>
          <a:xfrm>
            <a:off x="274320" y="304800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37"/>
          <p:cNvSpPr/>
          <p:nvPr/>
        </p:nvSpPr>
        <p:spPr>
          <a:xfrm>
            <a:off x="274320" y="304800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0" name="Google Shape;760;p37"/>
          <p:cNvSpPr txBox="1"/>
          <p:nvPr/>
        </p:nvSpPr>
        <p:spPr>
          <a:xfrm>
            <a:off x="2926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2</a:t>
            </a:r>
            <a:endParaRPr/>
          </a:p>
        </p:txBody>
      </p:sp>
      <p:sp>
        <p:nvSpPr>
          <p:cNvPr id="761" name="Google Shape;761;p37"/>
          <p:cNvSpPr txBox="1"/>
          <p:nvPr/>
        </p:nvSpPr>
        <p:spPr>
          <a:xfrm>
            <a:off x="731520" y="310286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httpx</a:t>
            </a:r>
            <a:endParaRPr/>
          </a:p>
        </p:txBody>
      </p:sp>
      <p:sp>
        <p:nvSpPr>
          <p:cNvPr id="762" name="Google Shape;762;p37"/>
          <p:cNvSpPr txBox="1"/>
          <p:nvPr/>
        </p:nvSpPr>
        <p:spPr>
          <a:xfrm>
            <a:off x="731520" y="336804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Live Host Probing  ·  Recon Agent</a:t>
            </a:r>
            <a:endParaRPr/>
          </a:p>
        </p:txBody>
      </p:sp>
      <p:sp>
        <p:nvSpPr>
          <p:cNvPr id="763" name="Google Shape;763;p37"/>
          <p:cNvSpPr txBox="1"/>
          <p:nvPr/>
        </p:nvSpPr>
        <p:spPr>
          <a:xfrm>
            <a:off x="731520" y="357835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Validates which discovered hosts respond over HTTP/HTTPS. Identifies web servers, status codes, redirects, TLS details.</a:t>
            </a:r>
            <a:endParaRPr/>
          </a:p>
        </p:txBody>
      </p:sp>
      <p:sp>
        <p:nvSpPr>
          <p:cNvPr id="764" name="Google Shape;764;p37"/>
          <p:cNvSpPr/>
          <p:nvPr/>
        </p:nvSpPr>
        <p:spPr>
          <a:xfrm>
            <a:off x="274320" y="467868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 name="Google Shape;765;p37"/>
          <p:cNvSpPr/>
          <p:nvPr/>
        </p:nvSpPr>
        <p:spPr>
          <a:xfrm>
            <a:off x="274320" y="467868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 name="Google Shape;766;p37"/>
          <p:cNvSpPr txBox="1"/>
          <p:nvPr/>
        </p:nvSpPr>
        <p:spPr>
          <a:xfrm>
            <a:off x="292608" y="529285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3</a:t>
            </a:r>
            <a:endParaRPr/>
          </a:p>
        </p:txBody>
      </p:sp>
      <p:sp>
        <p:nvSpPr>
          <p:cNvPr id="767" name="Google Shape;767;p37"/>
          <p:cNvSpPr txBox="1"/>
          <p:nvPr/>
        </p:nvSpPr>
        <p:spPr>
          <a:xfrm>
            <a:off x="731520" y="473354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Nmap</a:t>
            </a:r>
            <a:endParaRPr/>
          </a:p>
        </p:txBody>
      </p:sp>
      <p:sp>
        <p:nvSpPr>
          <p:cNvPr id="768" name="Google Shape;768;p37"/>
          <p:cNvSpPr txBox="1"/>
          <p:nvPr/>
        </p:nvSpPr>
        <p:spPr>
          <a:xfrm>
            <a:off x="731520" y="499872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Port + Service Scan  ·  Recon Agent</a:t>
            </a:r>
            <a:endParaRPr/>
          </a:p>
        </p:txBody>
      </p:sp>
      <p:sp>
        <p:nvSpPr>
          <p:cNvPr id="769" name="Google Shape;769;p37"/>
          <p:cNvSpPr txBox="1"/>
          <p:nvPr/>
        </p:nvSpPr>
        <p:spPr>
          <a:xfrm>
            <a:off x="731520" y="520903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Port scanning, service fingerprinting, OS detection. Optional NSE script execution for vuln detection on open services.</a:t>
            </a:r>
            <a:endParaRPr/>
          </a:p>
        </p:txBody>
      </p:sp>
      <p:sp>
        <p:nvSpPr>
          <p:cNvPr id="770" name="Google Shape;770;p37"/>
          <p:cNvSpPr/>
          <p:nvPr/>
        </p:nvSpPr>
        <p:spPr>
          <a:xfrm>
            <a:off x="4160520" y="1417320"/>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 name="Google Shape;771;p37"/>
          <p:cNvSpPr/>
          <p:nvPr/>
        </p:nvSpPr>
        <p:spPr>
          <a:xfrm>
            <a:off x="4160520" y="1417320"/>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2" name="Google Shape;772;p37"/>
          <p:cNvSpPr txBox="1"/>
          <p:nvPr/>
        </p:nvSpPr>
        <p:spPr>
          <a:xfrm>
            <a:off x="4178808" y="1705356"/>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4</a:t>
            </a:r>
            <a:endParaRPr/>
          </a:p>
        </p:txBody>
      </p:sp>
      <p:sp>
        <p:nvSpPr>
          <p:cNvPr id="773" name="Google Shape;773;p37"/>
          <p:cNvSpPr txBox="1"/>
          <p:nvPr/>
        </p:nvSpPr>
        <p:spPr>
          <a:xfrm>
            <a:off x="4617720" y="1472184"/>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WhatWeb</a:t>
            </a:r>
            <a:endParaRPr/>
          </a:p>
        </p:txBody>
      </p:sp>
      <p:sp>
        <p:nvSpPr>
          <p:cNvPr id="774" name="Google Shape;774;p37"/>
          <p:cNvSpPr txBox="1"/>
          <p:nvPr/>
        </p:nvSpPr>
        <p:spPr>
          <a:xfrm>
            <a:off x="4617720" y="1737360"/>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Technology Fingerprinting  ·  Analysis Agent</a:t>
            </a:r>
            <a:endParaRPr/>
          </a:p>
        </p:txBody>
      </p:sp>
      <p:sp>
        <p:nvSpPr>
          <p:cNvPr id="775" name="Google Shape;775;p37"/>
          <p:cNvSpPr txBox="1"/>
          <p:nvPr/>
        </p:nvSpPr>
        <p:spPr>
          <a:xfrm>
            <a:off x="4617720" y="1947672"/>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Identifies CMS, frameworks, server software, JS libraries, and versions from HTTP responses. Seeds Technology nodes for the ASG.</a:t>
            </a:r>
            <a:endParaRPr/>
          </a:p>
        </p:txBody>
      </p:sp>
      <p:sp>
        <p:nvSpPr>
          <p:cNvPr id="776" name="Google Shape;776;p37"/>
          <p:cNvSpPr/>
          <p:nvPr/>
        </p:nvSpPr>
        <p:spPr>
          <a:xfrm>
            <a:off x="4160520" y="2395728"/>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37"/>
          <p:cNvSpPr/>
          <p:nvPr/>
        </p:nvSpPr>
        <p:spPr>
          <a:xfrm>
            <a:off x="4160520" y="2395728"/>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8" name="Google Shape;778;p37"/>
          <p:cNvSpPr txBox="1"/>
          <p:nvPr/>
        </p:nvSpPr>
        <p:spPr>
          <a:xfrm>
            <a:off x="4178808" y="2683764"/>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5</a:t>
            </a:r>
            <a:endParaRPr/>
          </a:p>
        </p:txBody>
      </p:sp>
      <p:sp>
        <p:nvSpPr>
          <p:cNvPr id="779" name="Google Shape;779;p37"/>
          <p:cNvSpPr txBox="1"/>
          <p:nvPr/>
        </p:nvSpPr>
        <p:spPr>
          <a:xfrm>
            <a:off x="4617720" y="2450592"/>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Gobuster</a:t>
            </a:r>
            <a:endParaRPr/>
          </a:p>
        </p:txBody>
      </p:sp>
      <p:sp>
        <p:nvSpPr>
          <p:cNvPr id="780" name="Google Shape;780;p37"/>
          <p:cNvSpPr txBox="1"/>
          <p:nvPr/>
        </p:nvSpPr>
        <p:spPr>
          <a:xfrm>
            <a:off x="4617720" y="2715768"/>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Directory Brute-Force  ·  Analysis Agent</a:t>
            </a:r>
            <a:endParaRPr/>
          </a:p>
        </p:txBody>
      </p:sp>
      <p:sp>
        <p:nvSpPr>
          <p:cNvPr id="781" name="Google Shape;781;p37"/>
          <p:cNvSpPr txBox="1"/>
          <p:nvPr/>
        </p:nvSpPr>
        <p:spPr>
          <a:xfrm>
            <a:off x="4617720" y="2926080"/>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Discovers hidden paths, admin panels, backup files, and exposed resources via wordlist-based HTTP path enumeration.</a:t>
            </a:r>
            <a:endParaRPr/>
          </a:p>
        </p:txBody>
      </p:sp>
      <p:sp>
        <p:nvSpPr>
          <p:cNvPr id="782" name="Google Shape;782;p37"/>
          <p:cNvSpPr/>
          <p:nvPr/>
        </p:nvSpPr>
        <p:spPr>
          <a:xfrm>
            <a:off x="4160520" y="3374136"/>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 name="Google Shape;783;p37"/>
          <p:cNvSpPr/>
          <p:nvPr/>
        </p:nvSpPr>
        <p:spPr>
          <a:xfrm>
            <a:off x="4160520" y="3374136"/>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 name="Google Shape;784;p37"/>
          <p:cNvSpPr txBox="1"/>
          <p:nvPr/>
        </p:nvSpPr>
        <p:spPr>
          <a:xfrm>
            <a:off x="41788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6</a:t>
            </a:r>
            <a:endParaRPr/>
          </a:p>
        </p:txBody>
      </p:sp>
      <p:sp>
        <p:nvSpPr>
          <p:cNvPr id="785" name="Google Shape;785;p37"/>
          <p:cNvSpPr txBox="1"/>
          <p:nvPr/>
        </p:nvSpPr>
        <p:spPr>
          <a:xfrm>
            <a:off x="4617720" y="3429000"/>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ffuf</a:t>
            </a:r>
            <a:endParaRPr/>
          </a:p>
        </p:txBody>
      </p:sp>
      <p:sp>
        <p:nvSpPr>
          <p:cNvPr id="786" name="Google Shape;786;p37"/>
          <p:cNvSpPr txBox="1"/>
          <p:nvPr/>
        </p:nvSpPr>
        <p:spPr>
          <a:xfrm>
            <a:off x="4617720" y="3694176"/>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API + Parameter Fuzzing  ·  Analysis Agent</a:t>
            </a:r>
            <a:endParaRPr/>
          </a:p>
        </p:txBody>
      </p:sp>
      <p:sp>
        <p:nvSpPr>
          <p:cNvPr id="787" name="Google Shape;787;p37"/>
          <p:cNvSpPr txBox="1"/>
          <p:nvPr/>
        </p:nvSpPr>
        <p:spPr>
          <a:xfrm>
            <a:off x="4617720" y="3904488"/>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Fast web fuzzer for API route discovery, parameter fuzzing, virtual host enumeration, and undocumented endpoint identification.</a:t>
            </a:r>
            <a:endParaRPr/>
          </a:p>
        </p:txBody>
      </p:sp>
      <p:sp>
        <p:nvSpPr>
          <p:cNvPr id="788" name="Google Shape;788;p37"/>
          <p:cNvSpPr/>
          <p:nvPr/>
        </p:nvSpPr>
        <p:spPr>
          <a:xfrm>
            <a:off x="4160520" y="4352544"/>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37"/>
          <p:cNvSpPr/>
          <p:nvPr/>
        </p:nvSpPr>
        <p:spPr>
          <a:xfrm>
            <a:off x="4160520" y="4352544"/>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 name="Google Shape;790;p37"/>
          <p:cNvSpPr txBox="1"/>
          <p:nvPr/>
        </p:nvSpPr>
        <p:spPr>
          <a:xfrm>
            <a:off x="4178808" y="4640580"/>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7</a:t>
            </a:r>
            <a:endParaRPr/>
          </a:p>
        </p:txBody>
      </p:sp>
      <p:sp>
        <p:nvSpPr>
          <p:cNvPr id="791" name="Google Shape;791;p37"/>
          <p:cNvSpPr txBox="1"/>
          <p:nvPr/>
        </p:nvSpPr>
        <p:spPr>
          <a:xfrm>
            <a:off x="4617720" y="4407408"/>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Nuclei</a:t>
            </a:r>
            <a:endParaRPr/>
          </a:p>
        </p:txBody>
      </p:sp>
      <p:sp>
        <p:nvSpPr>
          <p:cNvPr id="792" name="Google Shape;792;p37"/>
          <p:cNvSpPr txBox="1"/>
          <p:nvPr/>
        </p:nvSpPr>
        <p:spPr>
          <a:xfrm>
            <a:off x="4617720" y="4672584"/>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Template-Based Vuln Scan  ·  Analysis Agent</a:t>
            </a:r>
            <a:endParaRPr/>
          </a:p>
        </p:txBody>
      </p:sp>
      <p:sp>
        <p:nvSpPr>
          <p:cNvPr id="793" name="Google Shape;793;p37"/>
          <p:cNvSpPr txBox="1"/>
          <p:nvPr/>
        </p:nvSpPr>
        <p:spPr>
          <a:xfrm>
            <a:off x="4617720" y="4882896"/>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Matches discovered services and technologies against a library of CVE and misconfiguration templates for automated vulnerability detection.</a:t>
            </a:r>
            <a:endParaRPr/>
          </a:p>
        </p:txBody>
      </p:sp>
      <p:sp>
        <p:nvSpPr>
          <p:cNvPr id="794" name="Google Shape;794;p37"/>
          <p:cNvSpPr/>
          <p:nvPr/>
        </p:nvSpPr>
        <p:spPr>
          <a:xfrm>
            <a:off x="4160520" y="5330952"/>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37"/>
          <p:cNvSpPr/>
          <p:nvPr/>
        </p:nvSpPr>
        <p:spPr>
          <a:xfrm>
            <a:off x="4160520" y="5330952"/>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37"/>
          <p:cNvSpPr txBox="1"/>
          <p:nvPr/>
        </p:nvSpPr>
        <p:spPr>
          <a:xfrm>
            <a:off x="4178808" y="5618988"/>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8</a:t>
            </a:r>
            <a:endParaRPr/>
          </a:p>
        </p:txBody>
      </p:sp>
      <p:sp>
        <p:nvSpPr>
          <p:cNvPr id="797" name="Google Shape;797;p37"/>
          <p:cNvSpPr txBox="1"/>
          <p:nvPr/>
        </p:nvSpPr>
        <p:spPr>
          <a:xfrm>
            <a:off x="4617720" y="5385816"/>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OWASP ZAP</a:t>
            </a:r>
            <a:endParaRPr/>
          </a:p>
        </p:txBody>
      </p:sp>
      <p:sp>
        <p:nvSpPr>
          <p:cNvPr id="798" name="Google Shape;798;p37"/>
          <p:cNvSpPr txBox="1"/>
          <p:nvPr/>
        </p:nvSpPr>
        <p:spPr>
          <a:xfrm>
            <a:off x="4617720" y="5650992"/>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Active Web App Scan  ·  Analysis Agent</a:t>
            </a:r>
            <a:endParaRPr/>
          </a:p>
        </p:txBody>
      </p:sp>
      <p:sp>
        <p:nvSpPr>
          <p:cNvPr id="799" name="Google Shape;799;p37"/>
          <p:cNvSpPr txBox="1"/>
          <p:nvPr/>
        </p:nvSpPr>
        <p:spPr>
          <a:xfrm>
            <a:off x="4617720" y="5861304"/>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Crawls and actively tests for OWASP Top 10: XSS, CSRF, injection flaws, authentication weaknesses, and insecure direct object references.</a:t>
            </a:r>
            <a:endParaRPr/>
          </a:p>
        </p:txBody>
      </p:sp>
      <p:sp>
        <p:nvSpPr>
          <p:cNvPr id="800" name="Google Shape;800;p37"/>
          <p:cNvSpPr/>
          <p:nvPr/>
        </p:nvSpPr>
        <p:spPr>
          <a:xfrm>
            <a:off x="8412480" y="141732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37"/>
          <p:cNvSpPr/>
          <p:nvPr/>
        </p:nvSpPr>
        <p:spPr>
          <a:xfrm>
            <a:off x="8412475" y="1417325"/>
            <a:ext cx="3657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2" name="Google Shape;802;p37"/>
          <p:cNvSpPr txBox="1"/>
          <p:nvPr/>
        </p:nvSpPr>
        <p:spPr>
          <a:xfrm>
            <a:off x="8430776" y="2031500"/>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9</a:t>
            </a:r>
            <a:endParaRPr/>
          </a:p>
        </p:txBody>
      </p:sp>
      <p:sp>
        <p:nvSpPr>
          <p:cNvPr id="803" name="Google Shape;803;p37"/>
          <p:cNvSpPr txBox="1"/>
          <p:nvPr/>
        </p:nvSpPr>
        <p:spPr>
          <a:xfrm>
            <a:off x="8869680" y="147218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FF4545"/>
                </a:solidFill>
                <a:latin typeface="Calibri"/>
                <a:ea typeface="Calibri"/>
                <a:cs typeface="Calibri"/>
                <a:sym typeface="Calibri"/>
              </a:rPr>
              <a:t>SQLMap</a:t>
            </a:r>
            <a:endParaRPr/>
          </a:p>
        </p:txBody>
      </p:sp>
      <p:sp>
        <p:nvSpPr>
          <p:cNvPr id="804" name="Google Shape;804;p37"/>
          <p:cNvSpPr txBox="1"/>
          <p:nvPr/>
        </p:nvSpPr>
        <p:spPr>
          <a:xfrm>
            <a:off x="8869680" y="173736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SQL Injection Validation  ·  Validation Agent</a:t>
            </a:r>
            <a:endParaRPr/>
          </a:p>
        </p:txBody>
      </p:sp>
      <p:sp>
        <p:nvSpPr>
          <p:cNvPr id="805" name="Google Shape;805;p37"/>
          <p:cNvSpPr txBox="1"/>
          <p:nvPr/>
        </p:nvSpPr>
        <p:spPr>
          <a:xfrm>
            <a:off x="8869680" y="194767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Automated SQLi detection and exploitation. Confirms injection points, extracts database data, tests for OS-level access escalation.</a:t>
            </a:r>
            <a:endParaRPr/>
          </a:p>
        </p:txBody>
      </p:sp>
      <p:sp>
        <p:nvSpPr>
          <p:cNvPr id="806" name="Google Shape;806;p37"/>
          <p:cNvSpPr/>
          <p:nvPr/>
        </p:nvSpPr>
        <p:spPr>
          <a:xfrm>
            <a:off x="8412480" y="304800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37"/>
          <p:cNvSpPr/>
          <p:nvPr/>
        </p:nvSpPr>
        <p:spPr>
          <a:xfrm>
            <a:off x="8412475" y="3048000"/>
            <a:ext cx="3657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 name="Google Shape;808;p37"/>
          <p:cNvSpPr txBox="1"/>
          <p:nvPr/>
        </p:nvSpPr>
        <p:spPr>
          <a:xfrm>
            <a:off x="8430776" y="3662171"/>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10</a:t>
            </a:r>
            <a:endParaRPr/>
          </a:p>
        </p:txBody>
      </p:sp>
      <p:sp>
        <p:nvSpPr>
          <p:cNvPr id="809" name="Google Shape;809;p37"/>
          <p:cNvSpPr txBox="1"/>
          <p:nvPr/>
        </p:nvSpPr>
        <p:spPr>
          <a:xfrm>
            <a:off x="8869680" y="310286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FF4545"/>
                </a:solidFill>
                <a:latin typeface="Calibri"/>
                <a:ea typeface="Calibri"/>
                <a:cs typeface="Calibri"/>
                <a:sym typeface="Calibri"/>
              </a:rPr>
              <a:t>Metasploit</a:t>
            </a:r>
            <a:endParaRPr/>
          </a:p>
        </p:txBody>
      </p:sp>
      <p:sp>
        <p:nvSpPr>
          <p:cNvPr id="810" name="Google Shape;810;p37"/>
          <p:cNvSpPr txBox="1"/>
          <p:nvPr/>
        </p:nvSpPr>
        <p:spPr>
          <a:xfrm>
            <a:off x="8869680" y="336804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Exploit + RCE Demo  ·  Validation Agent</a:t>
            </a:r>
            <a:endParaRPr/>
          </a:p>
        </p:txBody>
      </p:sp>
      <p:sp>
        <p:nvSpPr>
          <p:cNvPr id="811" name="Google Shape;811;p37"/>
          <p:cNvSpPr txBox="1"/>
          <p:nvPr/>
        </p:nvSpPr>
        <p:spPr>
          <a:xfrm>
            <a:off x="8869680" y="357835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Executes known exploits against identified vulnerabilities. Validates APG ChainSteps, demonstrates impact, achieves proof of exploitation.</a:t>
            </a:r>
            <a:endParaRPr/>
          </a:p>
        </p:txBody>
      </p:sp>
      <p:sp>
        <p:nvSpPr>
          <p:cNvPr id="812" name="Google Shape;812;p37"/>
          <p:cNvSpPr/>
          <p:nvPr/>
        </p:nvSpPr>
        <p:spPr>
          <a:xfrm>
            <a:off x="8412480" y="4678680"/>
            <a:ext cx="3566160" cy="1557528"/>
          </a:xfrm>
          <a:prstGeom prst="rect">
            <a:avLst/>
          </a:prstGeom>
          <a:solidFill>
            <a:srgbClr val="10162B"/>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 name="Google Shape;813;p37"/>
          <p:cNvSpPr/>
          <p:nvPr/>
        </p:nvSpPr>
        <p:spPr>
          <a:xfrm>
            <a:off x="8412475" y="4678675"/>
            <a:ext cx="365700" cy="155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4" name="Google Shape;814;p37"/>
          <p:cNvSpPr txBox="1"/>
          <p:nvPr/>
        </p:nvSpPr>
        <p:spPr>
          <a:xfrm>
            <a:off x="8430776" y="5292843"/>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11</a:t>
            </a:r>
            <a:endParaRPr/>
          </a:p>
        </p:txBody>
      </p:sp>
      <p:sp>
        <p:nvSpPr>
          <p:cNvPr id="815" name="Google Shape;815;p37"/>
          <p:cNvSpPr txBox="1"/>
          <p:nvPr/>
        </p:nvSpPr>
        <p:spPr>
          <a:xfrm>
            <a:off x="8869680" y="473354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BD93F9"/>
                </a:solidFill>
                <a:latin typeface="Calibri"/>
                <a:ea typeface="Calibri"/>
                <a:cs typeface="Calibri"/>
                <a:sym typeface="Calibri"/>
              </a:rPr>
              <a:t>EyeWitness</a:t>
            </a:r>
            <a:endParaRPr/>
          </a:p>
        </p:txBody>
      </p:sp>
      <p:sp>
        <p:nvSpPr>
          <p:cNvPr id="816" name="Google Shape;816;p37"/>
          <p:cNvSpPr txBox="1"/>
          <p:nvPr/>
        </p:nvSpPr>
        <p:spPr>
          <a:xfrm>
            <a:off x="8869680" y="499872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Screenshot Evidence  ·  Evidence Agent</a:t>
            </a:r>
            <a:endParaRPr/>
          </a:p>
        </p:txBody>
      </p:sp>
      <p:sp>
        <p:nvSpPr>
          <p:cNvPr id="817" name="Google Shape;817;p37"/>
          <p:cNvSpPr txBox="1"/>
          <p:nvPr/>
        </p:nvSpPr>
        <p:spPr>
          <a:xfrm>
            <a:off x="8869680" y="520903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Headless screenshot capture of web pages, exposed panels, and API responses. Produces visual proof artifacts linked to ASG Evidence nodes.</a:t>
            </a:r>
            <a:endParaRPr/>
          </a:p>
        </p:txBody>
      </p:sp>
      <p:sp>
        <p:nvSpPr>
          <p:cNvPr id="818" name="Google Shape;818;p37"/>
          <p:cNvSpPr/>
          <p:nvPr/>
        </p:nvSpPr>
        <p:spPr>
          <a:xfrm>
            <a:off x="274320" y="6291072"/>
            <a:ext cx="11643055" cy="438912"/>
          </a:xfrm>
          <a:prstGeom prst="rect">
            <a:avLst/>
          </a:prstGeom>
          <a:solidFill>
            <a:srgbClr val="0E081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37"/>
          <p:cNvSpPr txBox="1"/>
          <p:nvPr/>
        </p:nvSpPr>
        <p:spPr>
          <a:xfrm>
            <a:off x="457200" y="6327648"/>
            <a:ext cx="1136873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50">
                <a:solidFill>
                  <a:srgbClr val="BD93F9"/>
                </a:solidFill>
                <a:latin typeface="Calibri"/>
                <a:ea typeface="Calibri"/>
                <a:cs typeface="Calibri"/>
                <a:sym typeface="Calibri"/>
              </a:rPr>
              <a:t>🔒  Every tool is wrapped in a Tool Adapter — agents reason about targets, not command syntax.  No irreversible offensive operation executes without Commander-level scope validation.</a:t>
            </a:r>
            <a:endParaRPr/>
          </a:p>
        </p:txBody>
      </p:sp>
      <p:sp>
        <p:nvSpPr>
          <p:cNvPr id="820" name="Google Shape;820;p37"/>
          <p:cNvSpPr txBox="1"/>
          <p:nvPr/>
        </p:nvSpPr>
        <p:spPr>
          <a:xfrm>
            <a:off x="11804164" y="70395"/>
            <a:ext cx="363583" cy="29238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4545"/>
                </a:solidFill>
                <a:latin typeface="Calibri"/>
                <a:ea typeface="Calibri"/>
                <a:cs typeface="Calibri"/>
                <a:sym typeface="Calibri"/>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825" name="Shape 825"/>
        <p:cNvGrpSpPr/>
        <p:nvPr/>
      </p:nvGrpSpPr>
      <p:grpSpPr>
        <a:xfrm>
          <a:off x="0" y="0"/>
          <a:ext cx="0" cy="0"/>
          <a:chOff x="0" y="0"/>
          <a:chExt cx="0" cy="0"/>
        </a:xfrm>
      </p:grpSpPr>
      <p:sp>
        <p:nvSpPr>
          <p:cNvPr id="826" name="Google Shape;826;p38"/>
          <p:cNvSpPr/>
          <p:nvPr/>
        </p:nvSpPr>
        <p:spPr>
          <a:xfrm>
            <a:off x="365760" y="121920"/>
            <a:ext cx="6096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TOOL ADAPTER LAYER</a:t>
            </a:r>
            <a:endParaRPr b="0" i="0" sz="1100" u="none" cap="none" strike="noStrike">
              <a:solidFill>
                <a:schemeClr val="dk1"/>
              </a:solidFill>
              <a:latin typeface="Calibri"/>
              <a:ea typeface="Calibri"/>
              <a:cs typeface="Calibri"/>
              <a:sym typeface="Calibri"/>
            </a:endParaRPr>
          </a:p>
        </p:txBody>
      </p:sp>
      <p:sp>
        <p:nvSpPr>
          <p:cNvPr id="827" name="Google Shape;827;p38"/>
          <p:cNvSpPr/>
          <p:nvPr/>
        </p:nvSpPr>
        <p:spPr>
          <a:xfrm>
            <a:off x="365760" y="341376"/>
            <a:ext cx="114606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Tool Risk Gate — Every Tool Call's Journey</a:t>
            </a:r>
            <a:endParaRPr b="0" i="0" sz="2300" u="none" cap="none" strike="noStrike">
              <a:solidFill>
                <a:schemeClr val="dk1"/>
              </a:solidFill>
              <a:latin typeface="Calibri"/>
              <a:ea typeface="Calibri"/>
              <a:cs typeface="Calibri"/>
              <a:sym typeface="Calibri"/>
            </a:endParaRPr>
          </a:p>
        </p:txBody>
      </p:sp>
      <p:sp>
        <p:nvSpPr>
          <p:cNvPr id="828" name="Google Shape;828;p38"/>
          <p:cNvSpPr/>
          <p:nvPr/>
        </p:nvSpPr>
        <p:spPr>
          <a:xfrm>
            <a:off x="365760" y="755904"/>
            <a:ext cx="114606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 tool executes without passing this gate  ·  No irreversible operation runs without Commander-level scope validation</a:t>
            </a:r>
            <a:endParaRPr b="0" i="0" sz="1000" u="none" cap="none" strike="noStrike">
              <a:solidFill>
                <a:schemeClr val="dk1"/>
              </a:solidFill>
              <a:latin typeface="Calibri"/>
              <a:ea typeface="Calibri"/>
              <a:cs typeface="Calibri"/>
              <a:sym typeface="Calibri"/>
            </a:endParaRPr>
          </a:p>
        </p:txBody>
      </p:sp>
      <p:sp>
        <p:nvSpPr>
          <p:cNvPr id="829" name="Google Shape;829;p38"/>
          <p:cNvSpPr/>
          <p:nvPr/>
        </p:nvSpPr>
        <p:spPr>
          <a:xfrm>
            <a:off x="2820925" y="1069850"/>
            <a:ext cx="1581900" cy="390000"/>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38"/>
          <p:cNvSpPr/>
          <p:nvPr/>
        </p:nvSpPr>
        <p:spPr>
          <a:xfrm>
            <a:off x="2820925" y="1069850"/>
            <a:ext cx="1581900" cy="3900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Agent requests tool call</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9CA3AF"/>
                </a:solidFill>
                <a:latin typeface="Calibri"/>
                <a:ea typeface="Calibri"/>
                <a:cs typeface="Calibri"/>
                <a:sym typeface="Calibri"/>
              </a:rPr>
              <a:t>Tool: Gobuster · Target: shopvault.io</a:t>
            </a:r>
            <a:endParaRPr b="0" i="0" sz="800" u="none" cap="none" strike="noStrike">
              <a:solidFill>
                <a:schemeClr val="dk1"/>
              </a:solidFill>
              <a:latin typeface="Calibri"/>
              <a:ea typeface="Calibri"/>
              <a:cs typeface="Calibri"/>
              <a:sym typeface="Calibri"/>
            </a:endParaRPr>
          </a:p>
        </p:txBody>
      </p:sp>
      <p:cxnSp>
        <p:nvCxnSpPr>
          <p:cNvPr id="831" name="Google Shape;831;p38"/>
          <p:cNvCxnSpPr>
            <a:stCxn id="830" idx="2"/>
          </p:cNvCxnSpPr>
          <p:nvPr/>
        </p:nvCxnSpPr>
        <p:spPr>
          <a:xfrm>
            <a:off x="3611875" y="1459850"/>
            <a:ext cx="0" cy="163800"/>
          </a:xfrm>
          <a:prstGeom prst="straightConnector1">
            <a:avLst/>
          </a:prstGeom>
          <a:noFill/>
          <a:ln cap="flat" cmpd="sng" w="9525">
            <a:solidFill>
              <a:srgbClr val="444444"/>
            </a:solidFill>
            <a:prstDash val="solid"/>
            <a:round/>
            <a:headEnd len="sm" w="sm" type="none"/>
            <a:tailEnd len="med" w="med" type="triangle"/>
          </a:ln>
        </p:spPr>
      </p:cxnSp>
      <p:sp>
        <p:nvSpPr>
          <p:cNvPr id="832" name="Google Shape;832;p38"/>
          <p:cNvSpPr/>
          <p:nvPr/>
        </p:nvSpPr>
        <p:spPr>
          <a:xfrm>
            <a:off x="2820925" y="1623584"/>
            <a:ext cx="1581900" cy="466500"/>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38"/>
          <p:cNvSpPr/>
          <p:nvPr/>
        </p:nvSpPr>
        <p:spPr>
          <a:xfrm>
            <a:off x="2820925" y="1623584"/>
            <a:ext cx="1581900" cy="4665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PreToolUse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CONTINUE / BLOCK / MODIFY</a:t>
            </a:r>
            <a:endParaRPr b="0" i="0" sz="800" u="none" cap="none" strike="noStrike">
              <a:solidFill>
                <a:schemeClr val="dk1"/>
              </a:solidFill>
              <a:latin typeface="Calibri"/>
              <a:ea typeface="Calibri"/>
              <a:cs typeface="Calibri"/>
              <a:sym typeface="Calibri"/>
            </a:endParaRPr>
          </a:p>
        </p:txBody>
      </p:sp>
      <p:cxnSp>
        <p:nvCxnSpPr>
          <p:cNvPr id="834" name="Google Shape;834;p38"/>
          <p:cNvCxnSpPr>
            <a:endCxn id="835" idx="0"/>
          </p:cNvCxnSpPr>
          <p:nvPr/>
        </p:nvCxnSpPr>
        <p:spPr>
          <a:xfrm>
            <a:off x="3611875" y="2090201"/>
            <a:ext cx="0" cy="155700"/>
          </a:xfrm>
          <a:prstGeom prst="straightConnector1">
            <a:avLst/>
          </a:prstGeom>
          <a:noFill/>
          <a:ln cap="flat" cmpd="sng" w="9525">
            <a:solidFill>
              <a:srgbClr val="444444"/>
            </a:solidFill>
            <a:prstDash val="solid"/>
            <a:round/>
            <a:headEnd len="sm" w="sm" type="none"/>
            <a:tailEnd len="med" w="med" type="triangle"/>
          </a:ln>
        </p:spPr>
      </p:cxnSp>
      <p:sp>
        <p:nvSpPr>
          <p:cNvPr id="836" name="Google Shape;836;p38"/>
          <p:cNvSpPr/>
          <p:nvPr/>
        </p:nvSpPr>
        <p:spPr>
          <a:xfrm>
            <a:off x="2820925" y="2245902"/>
            <a:ext cx="1581900" cy="390000"/>
          </a:xfrm>
          <a:prstGeom prst="roundRect">
            <a:avLst>
              <a:gd fmla="val 11364" name="adj"/>
            </a:avLst>
          </a:prstGeom>
          <a:solidFill>
            <a:srgbClr val="0A0C1E"/>
          </a:solidFill>
          <a:ln cap="flat" cmpd="sng" w="12700">
            <a:solidFill>
              <a:srgbClr val="555555"/>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38"/>
          <p:cNvSpPr/>
          <p:nvPr/>
        </p:nvSpPr>
        <p:spPr>
          <a:xfrm>
            <a:off x="2820925" y="2245901"/>
            <a:ext cx="1581900" cy="3900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Scope Check</a:t>
            </a:r>
            <a:br>
              <a:rPr b="1" i="0" lang="en-US" sz="800" u="none" cap="none" strike="noStrike">
                <a:solidFill>
                  <a:srgbClr val="888888"/>
                </a:solidFill>
                <a:latin typeface="Calibri"/>
                <a:ea typeface="Calibri"/>
                <a:cs typeface="Calibri"/>
                <a:sym typeface="Calibri"/>
              </a:rPr>
            </a:br>
            <a:r>
              <a:rPr b="0" i="0" lang="en-US" sz="700" u="none" cap="none" strike="noStrike">
                <a:solidFill>
                  <a:srgbClr val="666666"/>
                </a:solidFill>
                <a:latin typeface="Calibri"/>
                <a:ea typeface="Calibri"/>
                <a:cs typeface="Calibri"/>
                <a:sym typeface="Calibri"/>
              </a:rPr>
              <a:t>Target in scope? Tool authorized?</a:t>
            </a:r>
            <a:endParaRPr b="0" i="0" sz="800" u="none" cap="none" strike="noStrike">
              <a:solidFill>
                <a:schemeClr val="dk1"/>
              </a:solidFill>
              <a:latin typeface="Calibri"/>
              <a:ea typeface="Calibri"/>
              <a:cs typeface="Calibri"/>
              <a:sym typeface="Calibri"/>
            </a:endParaRPr>
          </a:p>
        </p:txBody>
      </p:sp>
      <p:cxnSp>
        <p:nvCxnSpPr>
          <p:cNvPr id="837" name="Google Shape;837;p38"/>
          <p:cNvCxnSpPr>
            <a:endCxn id="838" idx="0"/>
          </p:cNvCxnSpPr>
          <p:nvPr/>
        </p:nvCxnSpPr>
        <p:spPr>
          <a:xfrm>
            <a:off x="3611900" y="2636026"/>
            <a:ext cx="0" cy="156900"/>
          </a:xfrm>
          <a:prstGeom prst="straightConnector1">
            <a:avLst/>
          </a:prstGeom>
          <a:noFill/>
          <a:ln cap="flat" cmpd="sng" w="9525">
            <a:solidFill>
              <a:srgbClr val="444444"/>
            </a:solidFill>
            <a:prstDash val="solid"/>
            <a:round/>
            <a:headEnd len="sm" w="sm" type="none"/>
            <a:tailEnd len="med" w="med" type="triangle"/>
          </a:ln>
        </p:spPr>
      </p:cxnSp>
      <p:sp>
        <p:nvSpPr>
          <p:cNvPr id="839" name="Google Shape;839;p38"/>
          <p:cNvSpPr/>
          <p:nvPr/>
        </p:nvSpPr>
        <p:spPr>
          <a:xfrm>
            <a:off x="2880350" y="2792926"/>
            <a:ext cx="1463100" cy="341400"/>
          </a:xfrm>
          <a:prstGeom prst="rect">
            <a:avLst/>
          </a:prstGeom>
          <a:solidFill>
            <a:srgbClr val="0A0F1E"/>
          </a:solidFill>
          <a:ln cap="flat" cmpd="sng" w="1270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38"/>
          <p:cNvSpPr/>
          <p:nvPr/>
        </p:nvSpPr>
        <p:spPr>
          <a:xfrm>
            <a:off x="2880350" y="2792926"/>
            <a:ext cx="1463100" cy="341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Classification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LOW · MED · HIGH</a:t>
            </a:r>
            <a:endParaRPr b="0" i="0" sz="800" u="none" cap="none" strike="noStrike">
              <a:solidFill>
                <a:schemeClr val="dk1"/>
              </a:solidFill>
              <a:latin typeface="Calibri"/>
              <a:ea typeface="Calibri"/>
              <a:cs typeface="Calibri"/>
              <a:sym typeface="Calibri"/>
            </a:endParaRPr>
          </a:p>
        </p:txBody>
      </p:sp>
      <p:cxnSp>
        <p:nvCxnSpPr>
          <p:cNvPr id="840" name="Google Shape;840;p38"/>
          <p:cNvCxnSpPr>
            <a:stCxn id="838" idx="1"/>
            <a:endCxn id="841" idx="0"/>
          </p:cNvCxnSpPr>
          <p:nvPr/>
        </p:nvCxnSpPr>
        <p:spPr>
          <a:xfrm flipH="1">
            <a:off x="1239050" y="2963626"/>
            <a:ext cx="1641300" cy="406800"/>
          </a:xfrm>
          <a:prstGeom prst="straightConnector1">
            <a:avLst/>
          </a:prstGeom>
          <a:noFill/>
          <a:ln cap="flat" cmpd="sng" w="9525">
            <a:solidFill>
              <a:srgbClr val="7FFF00"/>
            </a:solidFill>
            <a:prstDash val="solid"/>
            <a:round/>
            <a:headEnd len="sm" w="sm" type="none"/>
            <a:tailEnd len="med" w="med" type="triangle"/>
          </a:ln>
        </p:spPr>
      </p:cxnSp>
      <p:sp>
        <p:nvSpPr>
          <p:cNvPr id="842" name="Google Shape;842;p38"/>
          <p:cNvSpPr/>
          <p:nvPr/>
        </p:nvSpPr>
        <p:spPr>
          <a:xfrm>
            <a:off x="844294" y="3103710"/>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LOW</a:t>
            </a:r>
            <a:endParaRPr b="0" i="0" sz="700" u="none" cap="none" strike="noStrike">
              <a:solidFill>
                <a:schemeClr val="dk1"/>
              </a:solidFill>
              <a:latin typeface="Calibri"/>
              <a:ea typeface="Calibri"/>
              <a:cs typeface="Calibri"/>
              <a:sym typeface="Calibri"/>
            </a:endParaRPr>
          </a:p>
        </p:txBody>
      </p:sp>
      <p:cxnSp>
        <p:nvCxnSpPr>
          <p:cNvPr id="843" name="Google Shape;843;p38"/>
          <p:cNvCxnSpPr>
            <a:stCxn id="838" idx="2"/>
          </p:cNvCxnSpPr>
          <p:nvPr/>
        </p:nvCxnSpPr>
        <p:spPr>
          <a:xfrm>
            <a:off x="3611900" y="3134326"/>
            <a:ext cx="7800" cy="260400"/>
          </a:xfrm>
          <a:prstGeom prst="straightConnector1">
            <a:avLst/>
          </a:prstGeom>
          <a:noFill/>
          <a:ln cap="flat" cmpd="sng" w="9525">
            <a:solidFill>
              <a:srgbClr val="FFC107"/>
            </a:solidFill>
            <a:prstDash val="solid"/>
            <a:round/>
            <a:headEnd len="sm" w="sm" type="none"/>
            <a:tailEnd len="med" w="med" type="triangle"/>
          </a:ln>
        </p:spPr>
      </p:cxnSp>
      <p:sp>
        <p:nvSpPr>
          <p:cNvPr id="844" name="Google Shape;844;p38"/>
          <p:cNvSpPr/>
          <p:nvPr/>
        </p:nvSpPr>
        <p:spPr>
          <a:xfrm>
            <a:off x="3703325" y="3196487"/>
            <a:ext cx="685800" cy="15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MED</a:t>
            </a:r>
            <a:endParaRPr b="0" i="0" sz="700" u="none" cap="none" strike="noStrike">
              <a:solidFill>
                <a:schemeClr val="dk1"/>
              </a:solidFill>
              <a:latin typeface="Calibri"/>
              <a:ea typeface="Calibri"/>
              <a:cs typeface="Calibri"/>
              <a:sym typeface="Calibri"/>
            </a:endParaRPr>
          </a:p>
        </p:txBody>
      </p:sp>
      <p:cxnSp>
        <p:nvCxnSpPr>
          <p:cNvPr id="845" name="Google Shape;845;p38"/>
          <p:cNvCxnSpPr>
            <a:stCxn id="838" idx="3"/>
            <a:endCxn id="846" idx="0"/>
          </p:cNvCxnSpPr>
          <p:nvPr/>
        </p:nvCxnSpPr>
        <p:spPr>
          <a:xfrm>
            <a:off x="4343450" y="2963626"/>
            <a:ext cx="1699200" cy="445200"/>
          </a:xfrm>
          <a:prstGeom prst="straightConnector1">
            <a:avLst/>
          </a:prstGeom>
          <a:noFill/>
          <a:ln cap="flat" cmpd="sng" w="9525">
            <a:solidFill>
              <a:srgbClr val="FF5252"/>
            </a:solidFill>
            <a:prstDash val="solid"/>
            <a:round/>
            <a:headEnd len="sm" w="sm" type="none"/>
            <a:tailEnd len="med" w="med" type="triangle"/>
          </a:ln>
        </p:spPr>
      </p:cxnSp>
      <p:sp>
        <p:nvSpPr>
          <p:cNvPr id="847" name="Google Shape;847;p38"/>
          <p:cNvSpPr/>
          <p:nvPr/>
        </p:nvSpPr>
        <p:spPr>
          <a:xfrm>
            <a:off x="4983475" y="2968235"/>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HIGH</a:t>
            </a:r>
            <a:endParaRPr b="0" i="0" sz="700" u="none" cap="none" strike="noStrike">
              <a:solidFill>
                <a:schemeClr val="dk1"/>
              </a:solidFill>
              <a:latin typeface="Calibri"/>
              <a:ea typeface="Calibri"/>
              <a:cs typeface="Calibri"/>
              <a:sym typeface="Calibri"/>
            </a:endParaRPr>
          </a:p>
        </p:txBody>
      </p:sp>
      <p:sp>
        <p:nvSpPr>
          <p:cNvPr id="848" name="Google Shape;848;p38"/>
          <p:cNvSpPr/>
          <p:nvPr/>
        </p:nvSpPr>
        <p:spPr>
          <a:xfrm>
            <a:off x="448078" y="3370528"/>
            <a:ext cx="1581900" cy="539400"/>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38"/>
          <p:cNvSpPr/>
          <p:nvPr/>
        </p:nvSpPr>
        <p:spPr>
          <a:xfrm>
            <a:off x="448078" y="3370528"/>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Execute immediately</a:t>
            </a:r>
            <a:br>
              <a:rPr b="1" i="0" lang="en-US" sz="800" u="none" cap="none" strike="noStrike">
                <a:solidFill>
                  <a:srgbClr val="7FFF00"/>
                </a:solidFill>
                <a:latin typeface="Calibri"/>
                <a:ea typeface="Calibri"/>
                <a:cs typeface="Calibri"/>
                <a:sym typeface="Calibri"/>
              </a:rPr>
            </a:br>
            <a:r>
              <a:rPr b="0" i="0" lang="en-US" sz="700" u="none" cap="none" strike="noStrike">
                <a:solidFill>
                  <a:srgbClr val="7FFF00"/>
                </a:solidFill>
                <a:latin typeface="Calibri"/>
                <a:ea typeface="Calibri"/>
                <a:cs typeface="Calibri"/>
                <a:sym typeface="Calibri"/>
              </a:rPr>
              <a:t>Scope check only</a:t>
            </a:r>
            <a:endParaRPr b="0" i="0" sz="800" u="none" cap="none" strike="noStrike">
              <a:solidFill>
                <a:schemeClr val="dk1"/>
              </a:solidFill>
              <a:latin typeface="Calibri"/>
              <a:ea typeface="Calibri"/>
              <a:cs typeface="Calibri"/>
              <a:sym typeface="Calibri"/>
            </a:endParaRPr>
          </a:p>
        </p:txBody>
      </p:sp>
      <p:cxnSp>
        <p:nvCxnSpPr>
          <p:cNvPr id="849" name="Google Shape;849;p38"/>
          <p:cNvCxnSpPr>
            <a:endCxn id="850" idx="1"/>
          </p:cNvCxnSpPr>
          <p:nvPr/>
        </p:nvCxnSpPr>
        <p:spPr>
          <a:xfrm>
            <a:off x="1238900" y="3909924"/>
            <a:ext cx="1422000" cy="1325100"/>
          </a:xfrm>
          <a:prstGeom prst="straightConnector1">
            <a:avLst/>
          </a:prstGeom>
          <a:noFill/>
          <a:ln cap="flat" cmpd="sng" w="9525">
            <a:solidFill>
              <a:srgbClr val="7FFF00"/>
            </a:solidFill>
            <a:prstDash val="solid"/>
            <a:round/>
            <a:headEnd len="sm" w="sm" type="none"/>
            <a:tailEnd len="med" w="med" type="triangle"/>
          </a:ln>
        </p:spPr>
      </p:cxnSp>
      <p:sp>
        <p:nvSpPr>
          <p:cNvPr id="851" name="Google Shape;851;p38"/>
          <p:cNvSpPr/>
          <p:nvPr/>
        </p:nvSpPr>
        <p:spPr>
          <a:xfrm>
            <a:off x="2828562" y="3408953"/>
            <a:ext cx="1581900" cy="539400"/>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38"/>
          <p:cNvSpPr/>
          <p:nvPr/>
        </p:nvSpPr>
        <p:spPr>
          <a:xfrm>
            <a:off x="2828562" y="3408953"/>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LLM Classifier</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00D4FF"/>
                </a:solidFill>
                <a:latin typeface="Calibri"/>
                <a:ea typeface="Calibri"/>
                <a:cs typeface="Calibri"/>
                <a:sym typeface="Calibri"/>
              </a:rPr>
              <a:t>Fast filter → CoT pass</a:t>
            </a:r>
            <a:endParaRPr b="0" i="0" sz="800" u="none" cap="none" strike="noStrike">
              <a:solidFill>
                <a:schemeClr val="dk1"/>
              </a:solidFill>
              <a:latin typeface="Calibri"/>
              <a:ea typeface="Calibri"/>
              <a:cs typeface="Calibri"/>
              <a:sym typeface="Calibri"/>
            </a:endParaRPr>
          </a:p>
        </p:txBody>
      </p:sp>
      <p:sp>
        <p:nvSpPr>
          <p:cNvPr id="853" name="Google Shape;853;p38"/>
          <p:cNvSpPr/>
          <p:nvPr/>
        </p:nvSpPr>
        <p:spPr>
          <a:xfrm>
            <a:off x="2263069" y="3995009"/>
            <a:ext cx="7773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EXECUTE</a:t>
            </a:r>
            <a:endParaRPr b="0" i="0" sz="700" u="none" cap="none" strike="noStrike">
              <a:solidFill>
                <a:schemeClr val="dk1"/>
              </a:solidFill>
              <a:latin typeface="Calibri"/>
              <a:ea typeface="Calibri"/>
              <a:cs typeface="Calibri"/>
              <a:sym typeface="Calibri"/>
            </a:endParaRPr>
          </a:p>
        </p:txBody>
      </p:sp>
      <p:sp>
        <p:nvSpPr>
          <p:cNvPr id="854" name="Google Shape;854;p38"/>
          <p:cNvSpPr/>
          <p:nvPr/>
        </p:nvSpPr>
        <p:spPr>
          <a:xfrm>
            <a:off x="4030183" y="3995009"/>
            <a:ext cx="7773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ESCALATE</a:t>
            </a:r>
            <a:endParaRPr b="0" i="0" sz="700" u="none" cap="none" strike="noStrike">
              <a:solidFill>
                <a:schemeClr val="dk1"/>
              </a:solidFill>
              <a:latin typeface="Calibri"/>
              <a:ea typeface="Calibri"/>
              <a:cs typeface="Calibri"/>
              <a:sym typeface="Calibri"/>
            </a:endParaRPr>
          </a:p>
        </p:txBody>
      </p:sp>
      <p:sp>
        <p:nvSpPr>
          <p:cNvPr id="855" name="Google Shape;855;p38"/>
          <p:cNvSpPr/>
          <p:nvPr/>
        </p:nvSpPr>
        <p:spPr>
          <a:xfrm>
            <a:off x="2491740" y="4215384"/>
            <a:ext cx="1097280" cy="539496"/>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38"/>
          <p:cNvSpPr/>
          <p:nvPr/>
        </p:nvSpPr>
        <p:spPr>
          <a:xfrm>
            <a:off x="2491740" y="4215384"/>
            <a:ext cx="109728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 Proceed to</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Tool Adapter</a:t>
            </a:r>
            <a:endParaRPr b="0" i="0" sz="800" u="none" cap="none" strike="noStrike">
              <a:solidFill>
                <a:schemeClr val="dk1"/>
              </a:solidFill>
              <a:latin typeface="Calibri"/>
              <a:ea typeface="Calibri"/>
              <a:cs typeface="Calibri"/>
              <a:sym typeface="Calibri"/>
            </a:endParaRPr>
          </a:p>
        </p:txBody>
      </p:sp>
      <p:cxnSp>
        <p:nvCxnSpPr>
          <p:cNvPr id="857" name="Google Shape;857;p38"/>
          <p:cNvCxnSpPr/>
          <p:nvPr/>
        </p:nvCxnSpPr>
        <p:spPr>
          <a:xfrm>
            <a:off x="3040380" y="4754880"/>
            <a:ext cx="0" cy="246888"/>
          </a:xfrm>
          <a:prstGeom prst="straightConnector1">
            <a:avLst/>
          </a:prstGeom>
          <a:noFill/>
          <a:ln cap="flat" cmpd="sng" w="9525">
            <a:solidFill>
              <a:srgbClr val="7FFF00"/>
            </a:solidFill>
            <a:prstDash val="solid"/>
            <a:round/>
            <a:headEnd len="sm" w="sm" type="none"/>
            <a:tailEnd len="med" w="med" type="triangle"/>
          </a:ln>
        </p:spPr>
      </p:cxnSp>
      <p:sp>
        <p:nvSpPr>
          <p:cNvPr id="858" name="Google Shape;858;p38"/>
          <p:cNvSpPr/>
          <p:nvPr/>
        </p:nvSpPr>
        <p:spPr>
          <a:xfrm>
            <a:off x="3634749" y="4215375"/>
            <a:ext cx="1046700" cy="539400"/>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38"/>
          <p:cNvSpPr/>
          <p:nvPr/>
        </p:nvSpPr>
        <p:spPr>
          <a:xfrm>
            <a:off x="3634750" y="4215375"/>
            <a:ext cx="9831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Route to</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Commander Mailbox</a:t>
            </a:r>
            <a:endParaRPr b="0" i="0" sz="800" u="none" cap="none" strike="noStrike">
              <a:solidFill>
                <a:schemeClr val="dk1"/>
              </a:solidFill>
              <a:latin typeface="Calibri"/>
              <a:ea typeface="Calibri"/>
              <a:cs typeface="Calibri"/>
              <a:sym typeface="Calibri"/>
            </a:endParaRPr>
          </a:p>
        </p:txBody>
      </p:sp>
      <p:cxnSp>
        <p:nvCxnSpPr>
          <p:cNvPr id="860" name="Google Shape;860;p38"/>
          <p:cNvCxnSpPr>
            <a:stCxn id="859" idx="3"/>
          </p:cNvCxnSpPr>
          <p:nvPr/>
        </p:nvCxnSpPr>
        <p:spPr>
          <a:xfrm flipH="1" rot="10800000">
            <a:off x="4617850" y="4468875"/>
            <a:ext cx="260700" cy="16200"/>
          </a:xfrm>
          <a:prstGeom prst="straightConnector1">
            <a:avLst/>
          </a:prstGeom>
          <a:noFill/>
          <a:ln cap="flat" cmpd="sng" w="9525">
            <a:solidFill>
              <a:srgbClr val="FFC107"/>
            </a:solidFill>
            <a:prstDash val="solid"/>
            <a:round/>
            <a:headEnd len="sm" w="sm" type="none"/>
            <a:tailEnd len="med" w="med" type="triangle"/>
          </a:ln>
        </p:spPr>
      </p:cxnSp>
      <p:sp>
        <p:nvSpPr>
          <p:cNvPr id="861" name="Google Shape;861;p38"/>
          <p:cNvSpPr/>
          <p:nvPr/>
        </p:nvSpPr>
        <p:spPr>
          <a:xfrm>
            <a:off x="5251721" y="3408953"/>
            <a:ext cx="1581900" cy="539400"/>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38"/>
          <p:cNvSpPr/>
          <p:nvPr/>
        </p:nvSpPr>
        <p:spPr>
          <a:xfrm>
            <a:off x="5251721" y="3408953"/>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Commander Mailbox</a:t>
            </a:r>
            <a:br>
              <a:rPr b="1" i="0" lang="en-US" sz="800" u="none" cap="none" strike="noStrike">
                <a:solidFill>
                  <a:srgbClr val="FF5252"/>
                </a:solidFill>
                <a:latin typeface="Calibri"/>
                <a:ea typeface="Calibri"/>
                <a:cs typeface="Calibri"/>
                <a:sym typeface="Calibri"/>
              </a:rPr>
            </a:br>
            <a:r>
              <a:rPr b="0" i="0" lang="en-US" sz="700" u="none" cap="none" strike="noStrike">
                <a:solidFill>
                  <a:srgbClr val="FF5252"/>
                </a:solidFill>
                <a:latin typeface="Calibri"/>
                <a:ea typeface="Calibri"/>
                <a:cs typeface="Calibri"/>
                <a:sym typeface="Calibri"/>
              </a:rPr>
              <a:t>Human-in-the-loop slot</a:t>
            </a:r>
            <a:endParaRPr b="0" i="0" sz="800" u="none" cap="none" strike="noStrike">
              <a:solidFill>
                <a:schemeClr val="dk1"/>
              </a:solidFill>
              <a:latin typeface="Calibri"/>
              <a:ea typeface="Calibri"/>
              <a:cs typeface="Calibri"/>
              <a:sym typeface="Calibri"/>
            </a:endParaRPr>
          </a:p>
        </p:txBody>
      </p:sp>
      <p:sp>
        <p:nvSpPr>
          <p:cNvPr id="862" name="Google Shape;862;p38"/>
          <p:cNvSpPr/>
          <p:nvPr/>
        </p:nvSpPr>
        <p:spPr>
          <a:xfrm>
            <a:off x="4617736" y="3774622"/>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APPROVE</a:t>
            </a:r>
            <a:endParaRPr b="0" i="0" sz="700" u="none" cap="none" strike="noStrike">
              <a:solidFill>
                <a:schemeClr val="dk1"/>
              </a:solidFill>
              <a:latin typeface="Calibri"/>
              <a:ea typeface="Calibri"/>
              <a:cs typeface="Calibri"/>
              <a:sym typeface="Calibri"/>
            </a:endParaRPr>
          </a:p>
        </p:txBody>
      </p:sp>
      <p:sp>
        <p:nvSpPr>
          <p:cNvPr id="863" name="Google Shape;863;p38"/>
          <p:cNvSpPr/>
          <p:nvPr/>
        </p:nvSpPr>
        <p:spPr>
          <a:xfrm>
            <a:off x="5315990" y="3995009"/>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 REJECT</a:t>
            </a:r>
            <a:endParaRPr b="0" i="0" sz="700" u="none" cap="none" strike="noStrike">
              <a:solidFill>
                <a:schemeClr val="dk1"/>
              </a:solidFill>
              <a:latin typeface="Calibri"/>
              <a:ea typeface="Calibri"/>
              <a:cs typeface="Calibri"/>
              <a:sym typeface="Calibri"/>
            </a:endParaRPr>
          </a:p>
        </p:txBody>
      </p:sp>
      <p:sp>
        <p:nvSpPr>
          <p:cNvPr id="864" name="Google Shape;864;p38"/>
          <p:cNvSpPr/>
          <p:nvPr/>
        </p:nvSpPr>
        <p:spPr>
          <a:xfrm>
            <a:off x="6102856" y="3995022"/>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 MODIFY</a:t>
            </a:r>
            <a:endParaRPr b="0" i="0" sz="700" u="none" cap="none" strike="noStrike">
              <a:solidFill>
                <a:schemeClr val="dk1"/>
              </a:solidFill>
              <a:latin typeface="Calibri"/>
              <a:ea typeface="Calibri"/>
              <a:cs typeface="Calibri"/>
              <a:sym typeface="Calibri"/>
            </a:endParaRPr>
          </a:p>
        </p:txBody>
      </p:sp>
      <p:sp>
        <p:nvSpPr>
          <p:cNvPr id="865" name="Google Shape;865;p38"/>
          <p:cNvSpPr/>
          <p:nvPr/>
        </p:nvSpPr>
        <p:spPr>
          <a:xfrm>
            <a:off x="4832604" y="4215384"/>
            <a:ext cx="777240" cy="539496"/>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38"/>
          <p:cNvSpPr/>
          <p:nvPr/>
        </p:nvSpPr>
        <p:spPr>
          <a:xfrm>
            <a:off x="4832604"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Proceed to</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Tool Adapter</a:t>
            </a:r>
            <a:endParaRPr b="0" i="0" sz="700" u="none" cap="none" strike="noStrike">
              <a:solidFill>
                <a:schemeClr val="dk1"/>
              </a:solidFill>
              <a:latin typeface="Calibri"/>
              <a:ea typeface="Calibri"/>
              <a:cs typeface="Calibri"/>
              <a:sym typeface="Calibri"/>
            </a:endParaRPr>
          </a:p>
        </p:txBody>
      </p:sp>
      <p:cxnSp>
        <p:nvCxnSpPr>
          <p:cNvPr id="867" name="Google Shape;867;p38"/>
          <p:cNvCxnSpPr/>
          <p:nvPr/>
        </p:nvCxnSpPr>
        <p:spPr>
          <a:xfrm flipH="1">
            <a:off x="4562856" y="4754880"/>
            <a:ext cx="658368" cy="246887"/>
          </a:xfrm>
          <a:prstGeom prst="straightConnector1">
            <a:avLst/>
          </a:prstGeom>
          <a:noFill/>
          <a:ln cap="flat" cmpd="sng" w="9525">
            <a:solidFill>
              <a:srgbClr val="7FFF00"/>
            </a:solidFill>
            <a:prstDash val="solid"/>
            <a:round/>
            <a:headEnd len="sm" w="sm" type="none"/>
            <a:tailEnd len="med" w="med" type="triangle"/>
          </a:ln>
        </p:spPr>
      </p:cxnSp>
      <p:sp>
        <p:nvSpPr>
          <p:cNvPr id="868" name="Google Shape;868;p38"/>
          <p:cNvSpPr/>
          <p:nvPr/>
        </p:nvSpPr>
        <p:spPr>
          <a:xfrm>
            <a:off x="5646420" y="4215384"/>
            <a:ext cx="777240" cy="539496"/>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38"/>
          <p:cNvSpPr/>
          <p:nvPr/>
        </p:nvSpPr>
        <p:spPr>
          <a:xfrm>
            <a:off x="5646420"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Cancelled</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Annotated to APG</a:t>
            </a:r>
            <a:endParaRPr b="0" i="0" sz="700" u="none" cap="none" strike="noStrike">
              <a:solidFill>
                <a:schemeClr val="dk1"/>
              </a:solidFill>
              <a:latin typeface="Calibri"/>
              <a:ea typeface="Calibri"/>
              <a:cs typeface="Calibri"/>
              <a:sym typeface="Calibri"/>
            </a:endParaRPr>
          </a:p>
        </p:txBody>
      </p:sp>
      <p:sp>
        <p:nvSpPr>
          <p:cNvPr id="870" name="Google Shape;870;p38"/>
          <p:cNvSpPr/>
          <p:nvPr/>
        </p:nvSpPr>
        <p:spPr>
          <a:xfrm>
            <a:off x="6460236" y="4215384"/>
            <a:ext cx="777240" cy="539496"/>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38"/>
          <p:cNvSpPr/>
          <p:nvPr/>
        </p:nvSpPr>
        <p:spPr>
          <a:xfrm>
            <a:off x="6460236"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Params adjusted</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then approved</a:t>
            </a:r>
            <a:endParaRPr b="0" i="0" sz="700" u="none" cap="none" strike="noStrike">
              <a:solidFill>
                <a:schemeClr val="dk1"/>
              </a:solidFill>
              <a:latin typeface="Calibri"/>
              <a:ea typeface="Calibri"/>
              <a:cs typeface="Calibri"/>
              <a:sym typeface="Calibri"/>
            </a:endParaRPr>
          </a:p>
        </p:txBody>
      </p:sp>
      <p:sp>
        <p:nvSpPr>
          <p:cNvPr id="872" name="Google Shape;872;p38"/>
          <p:cNvSpPr/>
          <p:nvPr/>
        </p:nvSpPr>
        <p:spPr>
          <a:xfrm>
            <a:off x="2660900" y="5001774"/>
            <a:ext cx="1902000" cy="466500"/>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38"/>
          <p:cNvSpPr/>
          <p:nvPr/>
        </p:nvSpPr>
        <p:spPr>
          <a:xfrm>
            <a:off x="2660900" y="5001774"/>
            <a:ext cx="1902000" cy="4665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Tool Adapter executes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Run tool → parse raw output → structured JSON → discard raw</a:t>
            </a:r>
            <a:endParaRPr b="0" i="0" sz="800" u="none" cap="none" strike="noStrike">
              <a:solidFill>
                <a:schemeClr val="dk1"/>
              </a:solidFill>
              <a:latin typeface="Calibri"/>
              <a:ea typeface="Calibri"/>
              <a:cs typeface="Calibri"/>
              <a:sym typeface="Calibri"/>
            </a:endParaRPr>
          </a:p>
        </p:txBody>
      </p:sp>
      <p:cxnSp>
        <p:nvCxnSpPr>
          <p:cNvPr id="873" name="Google Shape;873;p38"/>
          <p:cNvCxnSpPr>
            <a:stCxn id="850" idx="2"/>
          </p:cNvCxnSpPr>
          <p:nvPr/>
        </p:nvCxnSpPr>
        <p:spPr>
          <a:xfrm>
            <a:off x="3611900" y="5468274"/>
            <a:ext cx="0" cy="164400"/>
          </a:xfrm>
          <a:prstGeom prst="straightConnector1">
            <a:avLst/>
          </a:prstGeom>
          <a:noFill/>
          <a:ln cap="flat" cmpd="sng" w="9525">
            <a:solidFill>
              <a:srgbClr val="444444"/>
            </a:solidFill>
            <a:prstDash val="solid"/>
            <a:round/>
            <a:headEnd len="sm" w="sm" type="none"/>
            <a:tailEnd len="med" w="med" type="triangle"/>
          </a:ln>
        </p:spPr>
      </p:cxnSp>
      <p:sp>
        <p:nvSpPr>
          <p:cNvPr id="874" name="Google Shape;874;p38"/>
          <p:cNvSpPr/>
          <p:nvPr/>
        </p:nvSpPr>
        <p:spPr>
          <a:xfrm>
            <a:off x="2820924" y="5632704"/>
            <a:ext cx="1581912" cy="438912"/>
          </a:xfrm>
          <a:prstGeom prst="roundRect">
            <a:avLst>
              <a:gd fmla="val 13889"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38"/>
          <p:cNvSpPr/>
          <p:nvPr/>
        </p:nvSpPr>
        <p:spPr>
          <a:xfrm>
            <a:off x="2820924" y="5632704"/>
            <a:ext cx="1581912"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PostToolUse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log · alert · validate · block write</a:t>
            </a:r>
            <a:endParaRPr b="0" i="0" sz="800" u="none" cap="none" strike="noStrike">
              <a:solidFill>
                <a:schemeClr val="dk1"/>
              </a:solidFill>
              <a:latin typeface="Calibri"/>
              <a:ea typeface="Calibri"/>
              <a:cs typeface="Calibri"/>
              <a:sym typeface="Calibri"/>
            </a:endParaRPr>
          </a:p>
        </p:txBody>
      </p:sp>
      <p:cxnSp>
        <p:nvCxnSpPr>
          <p:cNvPr id="876" name="Google Shape;876;p38"/>
          <p:cNvCxnSpPr>
            <a:stCxn id="875" idx="1"/>
          </p:cNvCxnSpPr>
          <p:nvPr/>
        </p:nvCxnSpPr>
        <p:spPr>
          <a:xfrm flipH="1">
            <a:off x="2702124" y="5852160"/>
            <a:ext cx="118800" cy="365700"/>
          </a:xfrm>
          <a:prstGeom prst="straightConnector1">
            <a:avLst/>
          </a:prstGeom>
          <a:noFill/>
          <a:ln cap="flat" cmpd="sng" w="9525">
            <a:solidFill>
              <a:srgbClr val="7FFF00"/>
            </a:solidFill>
            <a:prstDash val="solid"/>
            <a:round/>
            <a:headEnd len="sm" w="sm" type="none"/>
            <a:tailEnd len="med" w="med" type="triangle"/>
          </a:ln>
        </p:spPr>
      </p:cxnSp>
      <p:sp>
        <p:nvSpPr>
          <p:cNvPr id="877" name="Google Shape;877;p38"/>
          <p:cNvSpPr/>
          <p:nvPr/>
        </p:nvSpPr>
        <p:spPr>
          <a:xfrm>
            <a:off x="2088512" y="5897895"/>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ASG</a:t>
            </a:r>
            <a:endParaRPr b="0" i="0" sz="700" u="none" cap="none" strike="noStrike">
              <a:solidFill>
                <a:schemeClr val="dk1"/>
              </a:solidFill>
              <a:latin typeface="Calibri"/>
              <a:ea typeface="Calibri"/>
              <a:cs typeface="Calibri"/>
              <a:sym typeface="Calibri"/>
            </a:endParaRPr>
          </a:p>
        </p:txBody>
      </p:sp>
      <p:cxnSp>
        <p:nvCxnSpPr>
          <p:cNvPr id="878" name="Google Shape;878;p38"/>
          <p:cNvCxnSpPr>
            <a:stCxn id="875" idx="3"/>
          </p:cNvCxnSpPr>
          <p:nvPr/>
        </p:nvCxnSpPr>
        <p:spPr>
          <a:xfrm>
            <a:off x="4402836" y="5852160"/>
            <a:ext cx="214800" cy="365700"/>
          </a:xfrm>
          <a:prstGeom prst="straightConnector1">
            <a:avLst/>
          </a:prstGeom>
          <a:noFill/>
          <a:ln cap="flat" cmpd="sng" w="9525">
            <a:solidFill>
              <a:srgbClr val="00D4FF"/>
            </a:solidFill>
            <a:prstDash val="solid"/>
            <a:round/>
            <a:headEnd len="sm" w="sm" type="none"/>
            <a:tailEnd len="med" w="med" type="triangle"/>
          </a:ln>
        </p:spPr>
      </p:cxnSp>
      <p:sp>
        <p:nvSpPr>
          <p:cNvPr id="879" name="Google Shape;879;p38"/>
          <p:cNvSpPr/>
          <p:nvPr/>
        </p:nvSpPr>
        <p:spPr>
          <a:xfrm>
            <a:off x="4617730" y="5897908"/>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Agent</a:t>
            </a:r>
            <a:endParaRPr b="0" i="0" sz="700" u="none" cap="none" strike="noStrike">
              <a:solidFill>
                <a:schemeClr val="dk1"/>
              </a:solidFill>
              <a:latin typeface="Calibri"/>
              <a:ea typeface="Calibri"/>
              <a:cs typeface="Calibri"/>
              <a:sym typeface="Calibri"/>
            </a:endParaRPr>
          </a:p>
        </p:txBody>
      </p:sp>
      <p:sp>
        <p:nvSpPr>
          <p:cNvPr id="880" name="Google Shape;880;p38"/>
          <p:cNvSpPr/>
          <p:nvPr/>
        </p:nvSpPr>
        <p:spPr>
          <a:xfrm>
            <a:off x="2029968" y="6217920"/>
            <a:ext cx="1344168" cy="438912"/>
          </a:xfrm>
          <a:prstGeom prst="roundRect">
            <a:avLst>
              <a:gd fmla="val 13889"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38"/>
          <p:cNvSpPr/>
          <p:nvPr/>
        </p:nvSpPr>
        <p:spPr>
          <a:xfrm>
            <a:off x="2029968" y="6217920"/>
            <a:ext cx="1344168"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Nodes + edges</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written to ASG</a:t>
            </a:r>
            <a:endParaRPr b="0" i="0" sz="700" u="none" cap="none" strike="noStrike">
              <a:solidFill>
                <a:schemeClr val="dk1"/>
              </a:solidFill>
              <a:latin typeface="Calibri"/>
              <a:ea typeface="Calibri"/>
              <a:cs typeface="Calibri"/>
              <a:sym typeface="Calibri"/>
            </a:endParaRPr>
          </a:p>
        </p:txBody>
      </p:sp>
      <p:sp>
        <p:nvSpPr>
          <p:cNvPr id="882" name="Google Shape;882;p38"/>
          <p:cNvSpPr/>
          <p:nvPr/>
        </p:nvSpPr>
        <p:spPr>
          <a:xfrm>
            <a:off x="3886200" y="6217920"/>
            <a:ext cx="1463040" cy="438912"/>
          </a:xfrm>
          <a:prstGeom prst="roundRect">
            <a:avLst>
              <a:gd fmla="val 13889"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38"/>
          <p:cNvSpPr/>
          <p:nvPr/>
        </p:nvSpPr>
        <p:spPr>
          <a:xfrm>
            <a:off x="3886200" y="6217920"/>
            <a:ext cx="1463040"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 Agent receives</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compact summary only</a:t>
            </a:r>
            <a:endParaRPr b="0" i="0" sz="700" u="none" cap="none" strike="noStrike">
              <a:solidFill>
                <a:schemeClr val="dk1"/>
              </a:solidFill>
              <a:latin typeface="Calibri"/>
              <a:ea typeface="Calibri"/>
              <a:cs typeface="Calibri"/>
              <a:sym typeface="Calibri"/>
            </a:endParaRPr>
          </a:p>
        </p:txBody>
      </p:sp>
      <p:sp>
        <p:nvSpPr>
          <p:cNvPr id="884" name="Google Shape;884;p38"/>
          <p:cNvSpPr/>
          <p:nvPr/>
        </p:nvSpPr>
        <p:spPr>
          <a:xfrm>
            <a:off x="7485888" y="1036320"/>
            <a:ext cx="4316100" cy="2682300"/>
          </a:xfrm>
          <a:prstGeom prst="roundRect">
            <a:avLst>
              <a:gd fmla="val 3636" name="adj"/>
            </a:avLst>
          </a:prstGeom>
          <a:solidFill>
            <a:srgbClr val="04162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38"/>
          <p:cNvSpPr/>
          <p:nvPr/>
        </p:nvSpPr>
        <p:spPr>
          <a:xfrm>
            <a:off x="7632192" y="1072896"/>
            <a:ext cx="40233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 LLM Permission Classifier — Medium-Risk Calls</a:t>
            </a:r>
            <a:endParaRPr b="0" i="0" sz="1000" u="none" cap="none" strike="noStrike">
              <a:solidFill>
                <a:schemeClr val="dk1"/>
              </a:solidFill>
              <a:latin typeface="Calibri"/>
              <a:ea typeface="Calibri"/>
              <a:cs typeface="Calibri"/>
              <a:sym typeface="Calibri"/>
            </a:endParaRPr>
          </a:p>
        </p:txBody>
      </p:sp>
      <p:sp>
        <p:nvSpPr>
          <p:cNvPr id="886" name="Google Shape;886;p38"/>
          <p:cNvSpPr/>
          <p:nvPr/>
        </p:nvSpPr>
        <p:spPr>
          <a:xfrm>
            <a:off x="7632192" y="1377696"/>
            <a:ext cx="4023300" cy="487800"/>
          </a:xfrm>
          <a:prstGeom prst="roundRect">
            <a:avLst>
              <a:gd fmla="val 10000" name="adj"/>
            </a:avLst>
          </a:prstGeom>
          <a:solidFill>
            <a:srgbClr val="04100C"/>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38"/>
          <p:cNvSpPr/>
          <p:nvPr/>
        </p:nvSpPr>
        <p:spPr>
          <a:xfrm>
            <a:off x="7680960" y="1377696"/>
            <a:ext cx="3950100" cy="4878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Fast Filter (instant)</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safe? → EXECUTE immediately</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risky? → ESCALATE immediately</a:t>
            </a:r>
            <a:endParaRPr b="0" i="0" sz="800" u="none" cap="none" strike="noStrike">
              <a:solidFill>
                <a:schemeClr val="dk1"/>
              </a:solidFill>
              <a:latin typeface="Calibri"/>
              <a:ea typeface="Calibri"/>
              <a:cs typeface="Calibri"/>
              <a:sym typeface="Calibri"/>
            </a:endParaRPr>
          </a:p>
        </p:txBody>
      </p:sp>
      <p:sp>
        <p:nvSpPr>
          <p:cNvPr id="888" name="Google Shape;888;p38"/>
          <p:cNvSpPr/>
          <p:nvPr/>
        </p:nvSpPr>
        <p:spPr>
          <a:xfrm>
            <a:off x="7632192" y="1914144"/>
            <a:ext cx="4023300" cy="390000"/>
          </a:xfrm>
          <a:prstGeom prst="roundRect">
            <a:avLst>
              <a:gd fmla="val 12500"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38"/>
          <p:cNvSpPr/>
          <p:nvPr/>
        </p:nvSpPr>
        <p:spPr>
          <a:xfrm>
            <a:off x="7680960" y="1914144"/>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Axis 1: SCOPE ALIGNMENT  </a:t>
            </a:r>
            <a:r>
              <a:rPr b="0" i="0" lang="en-US" sz="700" u="none" cap="none" strike="noStrike">
                <a:solidFill>
                  <a:srgbClr val="9CA3AF"/>
                </a:solidFill>
                <a:latin typeface="Calibri"/>
                <a:ea typeface="Calibri"/>
                <a:cs typeface="Calibri"/>
                <a:sym typeface="Calibri"/>
              </a:rPr>
              <a:t>Is the target in declared assessment scope?</a:t>
            </a:r>
            <a:endParaRPr b="0" i="0" sz="800" u="none" cap="none" strike="noStrike">
              <a:solidFill>
                <a:schemeClr val="dk1"/>
              </a:solidFill>
              <a:latin typeface="Calibri"/>
              <a:ea typeface="Calibri"/>
              <a:cs typeface="Calibri"/>
              <a:sym typeface="Calibri"/>
            </a:endParaRPr>
          </a:p>
        </p:txBody>
      </p:sp>
      <p:sp>
        <p:nvSpPr>
          <p:cNvPr id="890" name="Google Shape;890;p38"/>
          <p:cNvSpPr/>
          <p:nvPr/>
        </p:nvSpPr>
        <p:spPr>
          <a:xfrm>
            <a:off x="7632192" y="2353056"/>
            <a:ext cx="4023300" cy="390000"/>
          </a:xfrm>
          <a:prstGeom prst="roundRect">
            <a:avLst>
              <a:gd fmla="val 12500"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38"/>
          <p:cNvSpPr/>
          <p:nvPr/>
        </p:nvSpPr>
        <p:spPr>
          <a:xfrm>
            <a:off x="7680960" y="2353056"/>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Axis 2: CHAIN INTENT  </a:t>
            </a:r>
            <a:r>
              <a:rPr b="0" i="0" lang="en-US" sz="700" u="none" cap="none" strike="noStrike">
                <a:solidFill>
                  <a:srgbClr val="9CA3AF"/>
                </a:solidFill>
                <a:latin typeface="Calibri"/>
                <a:ea typeface="Calibri"/>
                <a:cs typeface="Calibri"/>
                <a:sym typeface="Calibri"/>
              </a:rPr>
              <a:t>Is this call consistent with the active APG AttackChain?</a:t>
            </a:r>
            <a:endParaRPr b="0" i="0" sz="800" u="none" cap="none" strike="noStrike">
              <a:solidFill>
                <a:schemeClr val="dk1"/>
              </a:solidFill>
              <a:latin typeface="Calibri"/>
              <a:ea typeface="Calibri"/>
              <a:cs typeface="Calibri"/>
              <a:sym typeface="Calibri"/>
            </a:endParaRPr>
          </a:p>
        </p:txBody>
      </p:sp>
      <p:sp>
        <p:nvSpPr>
          <p:cNvPr id="892" name="Google Shape;892;p38"/>
          <p:cNvSpPr/>
          <p:nvPr/>
        </p:nvSpPr>
        <p:spPr>
          <a:xfrm>
            <a:off x="7632192" y="2791968"/>
            <a:ext cx="4023300" cy="390000"/>
          </a:xfrm>
          <a:prstGeom prst="roundRect">
            <a:avLst>
              <a:gd fmla="val 12500"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38"/>
          <p:cNvSpPr/>
          <p:nvPr/>
        </p:nvSpPr>
        <p:spPr>
          <a:xfrm>
            <a:off x="7680960" y="2791968"/>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Axis 3: PARAMETER SAFETY  </a:t>
            </a:r>
            <a:r>
              <a:rPr b="0" i="0" lang="en-US" sz="700" u="none" cap="none" strike="noStrike">
                <a:solidFill>
                  <a:srgbClr val="9CA3AF"/>
                </a:solidFill>
                <a:latin typeface="Calibri"/>
                <a:ea typeface="Calibri"/>
                <a:cs typeface="Calibri"/>
                <a:sym typeface="Calibri"/>
              </a:rPr>
              <a:t>Do params exhibit prompt injection patterns or scope drift?</a:t>
            </a:r>
            <a:endParaRPr b="0" i="0" sz="800" u="none" cap="none" strike="noStrike">
              <a:solidFill>
                <a:schemeClr val="dk1"/>
              </a:solidFill>
              <a:latin typeface="Calibri"/>
              <a:ea typeface="Calibri"/>
              <a:cs typeface="Calibri"/>
              <a:sym typeface="Calibri"/>
            </a:endParaRPr>
          </a:p>
        </p:txBody>
      </p:sp>
      <p:sp>
        <p:nvSpPr>
          <p:cNvPr id="894" name="Google Shape;894;p38"/>
          <p:cNvSpPr/>
          <p:nvPr/>
        </p:nvSpPr>
        <p:spPr>
          <a:xfrm>
            <a:off x="7632192" y="3255264"/>
            <a:ext cx="1975200" cy="341400"/>
          </a:xfrm>
          <a:prstGeom prst="roundRect">
            <a:avLst>
              <a:gd fmla="val 14286" name="adj"/>
            </a:avLst>
          </a:prstGeom>
          <a:solidFill>
            <a:srgbClr val="041A08"/>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38"/>
          <p:cNvSpPr/>
          <p:nvPr/>
        </p:nvSpPr>
        <p:spPr>
          <a:xfrm>
            <a:off x="7632192" y="3255264"/>
            <a:ext cx="1975200" cy="34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EXECUTE</a:t>
            </a:r>
            <a:endParaRPr b="0" i="0" sz="900" u="none" cap="none" strike="noStrike">
              <a:solidFill>
                <a:schemeClr val="dk1"/>
              </a:solidFill>
              <a:latin typeface="Calibri"/>
              <a:ea typeface="Calibri"/>
              <a:cs typeface="Calibri"/>
              <a:sym typeface="Calibri"/>
            </a:endParaRPr>
          </a:p>
        </p:txBody>
      </p:sp>
      <p:sp>
        <p:nvSpPr>
          <p:cNvPr id="896" name="Google Shape;896;p38"/>
          <p:cNvSpPr/>
          <p:nvPr/>
        </p:nvSpPr>
        <p:spPr>
          <a:xfrm>
            <a:off x="9680448" y="3255264"/>
            <a:ext cx="1975200" cy="341400"/>
          </a:xfrm>
          <a:prstGeom prst="roundRect">
            <a:avLst>
              <a:gd fmla="val 14286"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38"/>
          <p:cNvSpPr/>
          <p:nvPr/>
        </p:nvSpPr>
        <p:spPr>
          <a:xfrm>
            <a:off x="9680448" y="3255264"/>
            <a:ext cx="1975200" cy="34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ESCALATE</a:t>
            </a:r>
            <a:endParaRPr b="0" i="0" sz="900" u="none" cap="none" strike="noStrike">
              <a:solidFill>
                <a:schemeClr val="dk1"/>
              </a:solidFill>
              <a:latin typeface="Calibri"/>
              <a:ea typeface="Calibri"/>
              <a:cs typeface="Calibri"/>
              <a:sym typeface="Calibri"/>
            </a:endParaRPr>
          </a:p>
        </p:txBody>
      </p:sp>
      <p:sp>
        <p:nvSpPr>
          <p:cNvPr id="898" name="Google Shape;898;p38"/>
          <p:cNvSpPr/>
          <p:nvPr/>
        </p:nvSpPr>
        <p:spPr>
          <a:xfrm>
            <a:off x="7485888" y="3742944"/>
            <a:ext cx="43161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Tool Risk Tier Summary</a:t>
            </a:r>
            <a:endParaRPr b="0" i="0" sz="1000" u="none" cap="none" strike="noStrike">
              <a:solidFill>
                <a:schemeClr val="dk1"/>
              </a:solidFill>
              <a:latin typeface="Calibri"/>
              <a:ea typeface="Calibri"/>
              <a:cs typeface="Calibri"/>
              <a:sym typeface="Calibri"/>
            </a:endParaRPr>
          </a:p>
        </p:txBody>
      </p:sp>
      <p:sp>
        <p:nvSpPr>
          <p:cNvPr id="899" name="Google Shape;899;p38"/>
          <p:cNvSpPr/>
          <p:nvPr/>
        </p:nvSpPr>
        <p:spPr>
          <a:xfrm>
            <a:off x="7485888" y="4047744"/>
            <a:ext cx="4316100" cy="512100"/>
          </a:xfrm>
          <a:prstGeom prst="roundRect">
            <a:avLst>
              <a:gd fmla="val 11905" name="adj"/>
            </a:avLst>
          </a:prstGeom>
          <a:solidFill>
            <a:srgbClr val="041A08"/>
          </a:solidFill>
          <a:ln cap="flat" cmpd="sng" w="11425">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8"/>
          <p:cNvSpPr/>
          <p:nvPr/>
        </p:nvSpPr>
        <p:spPr>
          <a:xfrm>
            <a:off x="7632192" y="4047744"/>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LOW  </a:t>
            </a:r>
            <a:r>
              <a:rPr b="0" i="0" lang="en-US" sz="800" u="none" cap="none" strike="noStrike">
                <a:solidFill>
                  <a:srgbClr val="9CA3AF"/>
                </a:solidFill>
                <a:latin typeface="Calibri"/>
                <a:ea typeface="Calibri"/>
                <a:cs typeface="Calibri"/>
                <a:sym typeface="Calibri"/>
              </a:rPr>
              <a:t>Scope check only</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Amass · httpx · WhatWeb · EyeWitness</a:t>
            </a:r>
            <a:endParaRPr b="0" i="0" sz="900" u="none" cap="none" strike="noStrike">
              <a:solidFill>
                <a:schemeClr val="dk1"/>
              </a:solidFill>
              <a:latin typeface="Calibri"/>
              <a:ea typeface="Calibri"/>
              <a:cs typeface="Calibri"/>
              <a:sym typeface="Calibri"/>
            </a:endParaRPr>
          </a:p>
        </p:txBody>
      </p:sp>
      <p:sp>
        <p:nvSpPr>
          <p:cNvPr id="901" name="Google Shape;901;p38"/>
          <p:cNvSpPr/>
          <p:nvPr/>
        </p:nvSpPr>
        <p:spPr>
          <a:xfrm>
            <a:off x="7485888" y="4632960"/>
            <a:ext cx="4316100" cy="512100"/>
          </a:xfrm>
          <a:prstGeom prst="roundRect">
            <a:avLst>
              <a:gd fmla="val 11905" name="adj"/>
            </a:avLst>
          </a:prstGeom>
          <a:solidFill>
            <a:srgbClr val="1A1002"/>
          </a:solidFill>
          <a:ln cap="flat" cmpd="sng" w="11425">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38"/>
          <p:cNvSpPr/>
          <p:nvPr/>
        </p:nvSpPr>
        <p:spPr>
          <a:xfrm>
            <a:off x="7632192" y="4632960"/>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MED  </a:t>
            </a:r>
            <a:r>
              <a:rPr b="0" i="0" lang="en-US" sz="800" u="none" cap="none" strike="noStrike">
                <a:solidFill>
                  <a:srgbClr val="9CA3AF"/>
                </a:solidFill>
                <a:latin typeface="Calibri"/>
                <a:ea typeface="Calibri"/>
                <a:cs typeface="Calibri"/>
                <a:sym typeface="Calibri"/>
              </a:rPr>
              <a:t>LLM Classifier → exec/esc</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Nmap · Gobuster · ffuf · Nuclei · ZAP</a:t>
            </a:r>
            <a:endParaRPr b="0" i="0" sz="900" u="none" cap="none" strike="noStrike">
              <a:solidFill>
                <a:schemeClr val="dk1"/>
              </a:solidFill>
              <a:latin typeface="Calibri"/>
              <a:ea typeface="Calibri"/>
              <a:cs typeface="Calibri"/>
              <a:sym typeface="Calibri"/>
            </a:endParaRPr>
          </a:p>
        </p:txBody>
      </p:sp>
      <p:sp>
        <p:nvSpPr>
          <p:cNvPr id="903" name="Google Shape;903;p38"/>
          <p:cNvSpPr/>
          <p:nvPr/>
        </p:nvSpPr>
        <p:spPr>
          <a:xfrm>
            <a:off x="7485888" y="5218176"/>
            <a:ext cx="4316100" cy="512100"/>
          </a:xfrm>
          <a:prstGeom prst="roundRect">
            <a:avLst>
              <a:gd fmla="val 11905" name="adj"/>
            </a:avLst>
          </a:prstGeom>
          <a:solidFill>
            <a:srgbClr val="1A0606"/>
          </a:solidFill>
          <a:ln cap="flat" cmpd="sng" w="11425">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38"/>
          <p:cNvSpPr/>
          <p:nvPr/>
        </p:nvSpPr>
        <p:spPr>
          <a:xfrm>
            <a:off x="7632192" y="5218176"/>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HIGH  </a:t>
            </a:r>
            <a:r>
              <a:rPr b="0" i="0" lang="en-US" sz="800" u="none" cap="none" strike="noStrike">
                <a:solidFill>
                  <a:srgbClr val="9CA3AF"/>
                </a:solidFill>
                <a:latin typeface="Calibri"/>
                <a:ea typeface="Calibri"/>
                <a:cs typeface="Calibri"/>
                <a:sym typeface="Calibri"/>
              </a:rPr>
              <a:t>Commander Mailbox approval</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SQLMap · Metasploit</a:t>
            </a:r>
            <a:endParaRPr b="0" i="0" sz="900" u="none" cap="none" strike="noStrike">
              <a:solidFill>
                <a:schemeClr val="dk1"/>
              </a:solidFill>
              <a:latin typeface="Calibri"/>
              <a:ea typeface="Calibri"/>
              <a:cs typeface="Calibri"/>
              <a:sym typeface="Calibri"/>
            </a:endParaRPr>
          </a:p>
        </p:txBody>
      </p:sp>
      <p:sp>
        <p:nvSpPr>
          <p:cNvPr id="905" name="Google Shape;905;p38"/>
          <p:cNvSpPr/>
          <p:nvPr/>
        </p:nvSpPr>
        <p:spPr>
          <a:xfrm>
            <a:off x="7485888" y="5852160"/>
            <a:ext cx="4316100" cy="670500"/>
          </a:xfrm>
          <a:prstGeom prst="roundRect">
            <a:avLst>
              <a:gd fmla="val 10909" name="adj"/>
            </a:avLst>
          </a:prstGeom>
          <a:solidFill>
            <a:srgbClr val="06101E"/>
          </a:solidFill>
          <a:ln cap="flat" cmpd="sng" w="101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8"/>
          <p:cNvSpPr/>
          <p:nvPr/>
        </p:nvSpPr>
        <p:spPr>
          <a:xfrm>
            <a:off x="7632192" y="5852160"/>
            <a:ext cx="4023300" cy="6705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D4FF"/>
              </a:buClr>
              <a:buSzPts val="900"/>
              <a:buFont typeface="Calibri"/>
              <a:buNone/>
            </a:pPr>
            <a:r>
              <a:rPr b="1" i="0" lang="en-US" sz="900" u="none" cap="none" strike="noStrike">
                <a:solidFill>
                  <a:srgbClr val="00D4FF"/>
                </a:solidFill>
                <a:latin typeface="Calibri"/>
                <a:ea typeface="Calibri"/>
                <a:cs typeface="Calibri"/>
                <a:sym typeface="Calibri"/>
              </a:rPr>
              <a:t>🔒 Critical Safety Property</a:t>
            </a:r>
            <a:br>
              <a:rPr b="1" i="0" lang="en-US" sz="900" u="none" cap="none" strike="noStrike">
                <a:solidFill>
                  <a:srgbClr val="00D4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No irreversible offensive operation executes without Commander-level scope validation. No Medium-tier call executes without LLM classifier approval.</a:t>
            </a:r>
            <a:endParaRPr b="0" i="0" sz="900" u="none" cap="none" strike="noStrike">
              <a:solidFill>
                <a:schemeClr val="dk1"/>
              </a:solidFill>
              <a:latin typeface="Calibri"/>
              <a:ea typeface="Calibri"/>
              <a:cs typeface="Calibri"/>
              <a:sym typeface="Calibri"/>
            </a:endParaRPr>
          </a:p>
        </p:txBody>
      </p:sp>
      <p:sp>
        <p:nvSpPr>
          <p:cNvPr id="907" name="Google Shape;907;p38"/>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10</a:t>
            </a:r>
            <a:endParaRPr b="0" i="0" sz="1400" u="none" cap="none" strike="noStrike">
              <a:solidFill>
                <a:srgbClr val="00D4FF"/>
              </a:solidFill>
              <a:latin typeface="Arial"/>
              <a:ea typeface="Arial"/>
              <a:cs typeface="Arial"/>
              <a:sym typeface="Arial"/>
            </a:endParaRPr>
          </a:p>
        </p:txBody>
      </p:sp>
      <p:cxnSp>
        <p:nvCxnSpPr>
          <p:cNvPr id="908" name="Google Shape;908;p38"/>
          <p:cNvCxnSpPr>
            <a:endCxn id="856" idx="0"/>
          </p:cNvCxnSpPr>
          <p:nvPr/>
        </p:nvCxnSpPr>
        <p:spPr>
          <a:xfrm flipH="1">
            <a:off x="3040380" y="3981684"/>
            <a:ext cx="148800" cy="233700"/>
          </a:xfrm>
          <a:prstGeom prst="straightConnector1">
            <a:avLst/>
          </a:prstGeom>
          <a:noFill/>
          <a:ln cap="flat" cmpd="sng" w="9525">
            <a:solidFill>
              <a:srgbClr val="39FF14"/>
            </a:solidFill>
            <a:prstDash val="solid"/>
            <a:round/>
            <a:headEnd len="med" w="med" type="none"/>
            <a:tailEnd len="med" w="med" type="triangle"/>
          </a:ln>
        </p:spPr>
      </p:cxnSp>
      <p:cxnSp>
        <p:nvCxnSpPr>
          <p:cNvPr id="909" name="Google Shape;909;p38"/>
          <p:cNvCxnSpPr>
            <a:endCxn id="859" idx="0"/>
          </p:cNvCxnSpPr>
          <p:nvPr/>
        </p:nvCxnSpPr>
        <p:spPr>
          <a:xfrm>
            <a:off x="3846400" y="3942675"/>
            <a:ext cx="279900" cy="272700"/>
          </a:xfrm>
          <a:prstGeom prst="straightConnector1">
            <a:avLst/>
          </a:prstGeom>
          <a:noFill/>
          <a:ln cap="flat" cmpd="sng" w="9525">
            <a:solidFill>
              <a:srgbClr val="FFC107"/>
            </a:solidFill>
            <a:prstDash val="solid"/>
            <a:round/>
            <a:headEnd len="med" w="med" type="none"/>
            <a:tailEnd len="med" w="med" type="triangle"/>
          </a:ln>
        </p:spPr>
      </p:cxnSp>
      <p:cxnSp>
        <p:nvCxnSpPr>
          <p:cNvPr id="910" name="Google Shape;910;p38"/>
          <p:cNvCxnSpPr>
            <a:endCxn id="866" idx="0"/>
          </p:cNvCxnSpPr>
          <p:nvPr/>
        </p:nvCxnSpPr>
        <p:spPr>
          <a:xfrm flipH="1">
            <a:off x="5221224" y="3942684"/>
            <a:ext cx="61500" cy="272700"/>
          </a:xfrm>
          <a:prstGeom prst="straightConnector1">
            <a:avLst/>
          </a:prstGeom>
          <a:noFill/>
          <a:ln cap="flat" cmpd="sng" w="9525">
            <a:solidFill>
              <a:srgbClr val="39FF14"/>
            </a:solidFill>
            <a:prstDash val="solid"/>
            <a:round/>
            <a:headEnd len="med" w="med" type="none"/>
            <a:tailEnd len="med" w="med" type="triangle"/>
          </a:ln>
        </p:spPr>
      </p:cxnSp>
      <p:cxnSp>
        <p:nvCxnSpPr>
          <p:cNvPr id="911" name="Google Shape;911;p38"/>
          <p:cNvCxnSpPr>
            <a:stCxn id="846" idx="2"/>
            <a:endCxn id="869" idx="0"/>
          </p:cNvCxnSpPr>
          <p:nvPr/>
        </p:nvCxnSpPr>
        <p:spPr>
          <a:xfrm flipH="1">
            <a:off x="6035171" y="3948353"/>
            <a:ext cx="7500" cy="267000"/>
          </a:xfrm>
          <a:prstGeom prst="straightConnector1">
            <a:avLst/>
          </a:prstGeom>
          <a:noFill/>
          <a:ln cap="flat" cmpd="sng" w="9525">
            <a:solidFill>
              <a:srgbClr val="FF4545"/>
            </a:solidFill>
            <a:prstDash val="solid"/>
            <a:round/>
            <a:headEnd len="med" w="med" type="none"/>
            <a:tailEnd len="med" w="med" type="triangle"/>
          </a:ln>
        </p:spPr>
      </p:cxnSp>
      <p:cxnSp>
        <p:nvCxnSpPr>
          <p:cNvPr id="912" name="Google Shape;912;p38"/>
          <p:cNvCxnSpPr>
            <a:stCxn id="846" idx="3"/>
          </p:cNvCxnSpPr>
          <p:nvPr/>
        </p:nvCxnSpPr>
        <p:spPr>
          <a:xfrm>
            <a:off x="6833621" y="3678653"/>
            <a:ext cx="259200" cy="547800"/>
          </a:xfrm>
          <a:prstGeom prst="straightConnector1">
            <a:avLst/>
          </a:prstGeom>
          <a:noFill/>
          <a:ln cap="flat" cmpd="sng" w="9525">
            <a:solidFill>
              <a:srgbClr val="FFC107"/>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17" name="Shape 917"/>
        <p:cNvGrpSpPr/>
        <p:nvPr/>
      </p:nvGrpSpPr>
      <p:grpSpPr>
        <a:xfrm>
          <a:off x="0" y="0"/>
          <a:ext cx="0" cy="0"/>
          <a:chOff x="0" y="0"/>
          <a:chExt cx="0" cy="0"/>
        </a:xfrm>
      </p:grpSpPr>
      <p:sp>
        <p:nvSpPr>
          <p:cNvPr id="918" name="Google Shape;918;p39"/>
          <p:cNvSpPr/>
          <p:nvPr/>
        </p:nvSpPr>
        <p:spPr>
          <a:xfrm>
            <a:off x="365760" y="73152"/>
            <a:ext cx="109728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AUTONOMOUS PLANNING CYCLE</a:t>
            </a:r>
            <a:endParaRPr b="0" i="0" sz="1100" u="none" cap="none" strike="noStrike">
              <a:solidFill>
                <a:schemeClr val="dk1"/>
              </a:solidFill>
              <a:latin typeface="Calibri"/>
              <a:ea typeface="Calibri"/>
              <a:cs typeface="Calibri"/>
              <a:sym typeface="Calibri"/>
            </a:endParaRPr>
          </a:p>
        </p:txBody>
      </p:sp>
      <p:sp>
        <p:nvSpPr>
          <p:cNvPr id="919" name="Google Shape;919;p39"/>
          <p:cNvSpPr/>
          <p:nvPr/>
        </p:nvSpPr>
        <p:spPr>
          <a:xfrm>
            <a:off x="365760" y="292608"/>
            <a:ext cx="11460600" cy="3657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Commander Loop — Graph-Grounded, Event-Driven, Self-Terminating</a:t>
            </a:r>
            <a:endParaRPr b="0" i="0" sz="2300" u="none" cap="none" strike="noStrike">
              <a:solidFill>
                <a:schemeClr val="dk1"/>
              </a:solidFill>
              <a:latin typeface="Calibri"/>
              <a:ea typeface="Calibri"/>
              <a:cs typeface="Calibri"/>
              <a:sym typeface="Calibri"/>
            </a:endParaRPr>
          </a:p>
        </p:txBody>
      </p:sp>
      <p:sp>
        <p:nvSpPr>
          <p:cNvPr id="920" name="Google Shape;920;p39"/>
          <p:cNvSpPr/>
          <p:nvPr/>
        </p:nvSpPr>
        <p:spPr>
          <a:xfrm>
            <a:off x="182880" y="804672"/>
            <a:ext cx="7071300" cy="5632800"/>
          </a:xfrm>
          <a:prstGeom prst="rect">
            <a:avLst/>
          </a:prstGeom>
          <a:solidFill>
            <a:srgbClr val="04100C"/>
          </a:solidFill>
          <a:ln cap="flat" cmpd="sng" w="190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9"/>
          <p:cNvSpPr/>
          <p:nvPr/>
        </p:nvSpPr>
        <p:spPr>
          <a:xfrm>
            <a:off x="304800" y="853440"/>
            <a:ext cx="68274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200"/>
              <a:buFont typeface="Arial"/>
              <a:buNone/>
            </a:pPr>
            <a:r>
              <a:rPr b="1" i="0" lang="en-US" sz="1200" u="none" cap="none" strike="noStrike">
                <a:solidFill>
                  <a:srgbClr val="00D4FF"/>
                </a:solidFill>
                <a:latin typeface="Arial"/>
                <a:ea typeface="Arial"/>
                <a:cs typeface="Arial"/>
                <a:sym typeface="Arial"/>
              </a:rPr>
              <a:t>Core Planning Loop — Commander runs this every iteration</a:t>
            </a:r>
            <a:endParaRPr b="0" i="0" sz="1200" u="none" cap="none" strike="noStrike">
              <a:solidFill>
                <a:schemeClr val="dk1"/>
              </a:solidFill>
              <a:latin typeface="Calibri"/>
              <a:ea typeface="Calibri"/>
              <a:cs typeface="Calibri"/>
              <a:sym typeface="Calibri"/>
            </a:endParaRPr>
          </a:p>
        </p:txBody>
      </p:sp>
      <p:sp>
        <p:nvSpPr>
          <p:cNvPr id="922" name="Google Shape;922;p39"/>
          <p:cNvSpPr/>
          <p:nvPr/>
        </p:nvSpPr>
        <p:spPr>
          <a:xfrm>
            <a:off x="1969125" y="1208350"/>
            <a:ext cx="2218800" cy="304800"/>
          </a:xfrm>
          <a:prstGeom prst="roundRect">
            <a:avLst>
              <a:gd fmla="val 26316" name="adj"/>
            </a:avLst>
          </a:prstGeom>
          <a:solidFill>
            <a:srgbClr val="041A08"/>
          </a:solidFill>
          <a:ln cap="flat" cmpd="sng" w="152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39"/>
          <p:cNvSpPr/>
          <p:nvPr/>
        </p:nvSpPr>
        <p:spPr>
          <a:xfrm>
            <a:off x="2170450" y="1190050"/>
            <a:ext cx="17436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1200"/>
              <a:buFont typeface="Arial"/>
              <a:buNone/>
            </a:pPr>
            <a:r>
              <a:rPr b="1" i="0" lang="en-US" sz="1200" u="none" cap="none" strike="noStrike">
                <a:solidFill>
                  <a:srgbClr val="7FFF00"/>
                </a:solidFill>
                <a:latin typeface="Arial"/>
                <a:ea typeface="Arial"/>
                <a:cs typeface="Arial"/>
                <a:sym typeface="Arial"/>
              </a:rPr>
              <a:t>🚀  MISSION START</a:t>
            </a:r>
            <a:endParaRPr b="0" i="0" sz="1200" u="none" cap="none" strike="noStrike">
              <a:solidFill>
                <a:schemeClr val="dk1"/>
              </a:solidFill>
              <a:latin typeface="Calibri"/>
              <a:ea typeface="Calibri"/>
              <a:cs typeface="Calibri"/>
              <a:sym typeface="Calibri"/>
            </a:endParaRPr>
          </a:p>
        </p:txBody>
      </p:sp>
      <p:sp>
        <p:nvSpPr>
          <p:cNvPr id="924" name="Google Shape;924;p39"/>
          <p:cNvSpPr/>
          <p:nvPr/>
        </p:nvSpPr>
        <p:spPr>
          <a:xfrm>
            <a:off x="268224" y="1780032"/>
            <a:ext cx="21336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39"/>
          <p:cNvSpPr/>
          <p:nvPr/>
        </p:nvSpPr>
        <p:spPr>
          <a:xfrm>
            <a:off x="316992" y="1780032"/>
            <a:ext cx="20361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OBSERVE ASG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Unexplored nodes? New Vulns?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Technology nodes?</a:t>
            </a:r>
            <a:endParaRPr b="0" i="0" sz="800" u="none" cap="none" strike="noStrike">
              <a:solidFill>
                <a:schemeClr val="dk1"/>
              </a:solidFill>
              <a:latin typeface="Calibri"/>
              <a:ea typeface="Calibri"/>
              <a:cs typeface="Calibri"/>
              <a:sym typeface="Calibri"/>
            </a:endParaRPr>
          </a:p>
        </p:txBody>
      </p:sp>
      <p:sp>
        <p:nvSpPr>
          <p:cNvPr id="926" name="Google Shape;926;p39"/>
          <p:cNvSpPr/>
          <p:nvPr/>
        </p:nvSpPr>
        <p:spPr>
          <a:xfrm>
            <a:off x="2584704" y="1780032"/>
            <a:ext cx="21336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39"/>
          <p:cNvSpPr/>
          <p:nvPr/>
        </p:nvSpPr>
        <p:spPr>
          <a:xfrm>
            <a:off x="2633472" y="1780032"/>
            <a:ext cx="20361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OBSERVE APG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Hypothesized chains?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VALIDATED / RULED_OUT?</a:t>
            </a:r>
            <a:endParaRPr b="0" i="0" sz="800" u="none" cap="none" strike="noStrike">
              <a:solidFill>
                <a:schemeClr val="dk1"/>
              </a:solidFill>
              <a:latin typeface="Calibri"/>
              <a:ea typeface="Calibri"/>
              <a:cs typeface="Calibri"/>
              <a:sym typeface="Calibri"/>
            </a:endParaRPr>
          </a:p>
        </p:txBody>
      </p:sp>
      <p:sp>
        <p:nvSpPr>
          <p:cNvPr id="928" name="Google Shape;928;p39"/>
          <p:cNvSpPr/>
          <p:nvPr/>
        </p:nvSpPr>
        <p:spPr>
          <a:xfrm>
            <a:off x="1304544" y="2584704"/>
            <a:ext cx="2316600" cy="633900"/>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39"/>
          <p:cNvSpPr/>
          <p:nvPr/>
        </p:nvSpPr>
        <p:spPr>
          <a:xfrm>
            <a:off x="1353312" y="2584704"/>
            <a:ext cx="22188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REASON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Given ASG + APG state: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What is the best next action?</a:t>
            </a:r>
            <a:endParaRPr b="0" i="0" sz="800" u="none" cap="none" strike="noStrike">
              <a:solidFill>
                <a:schemeClr val="dk1"/>
              </a:solidFill>
              <a:latin typeface="Calibri"/>
              <a:ea typeface="Calibri"/>
              <a:cs typeface="Calibri"/>
              <a:sym typeface="Calibri"/>
            </a:endParaRPr>
          </a:p>
        </p:txBody>
      </p:sp>
      <p:sp>
        <p:nvSpPr>
          <p:cNvPr id="930" name="Google Shape;930;p39"/>
          <p:cNvSpPr/>
          <p:nvPr/>
        </p:nvSpPr>
        <p:spPr>
          <a:xfrm>
            <a:off x="1853175" y="3389375"/>
            <a:ext cx="1219200" cy="390000"/>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39"/>
          <p:cNvSpPr/>
          <p:nvPr/>
        </p:nvSpPr>
        <p:spPr>
          <a:xfrm>
            <a:off x="1853175" y="3462575"/>
            <a:ext cx="1219200" cy="2925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DECIDE</a:t>
            </a:r>
            <a:endParaRPr b="0" i="0" sz="1100" u="none" cap="none" strike="noStrike">
              <a:solidFill>
                <a:schemeClr val="dk1"/>
              </a:solidFill>
              <a:latin typeface="Calibri"/>
              <a:ea typeface="Calibri"/>
              <a:cs typeface="Calibri"/>
              <a:sym typeface="Calibri"/>
            </a:endParaRPr>
          </a:p>
        </p:txBody>
      </p:sp>
      <p:sp>
        <p:nvSpPr>
          <p:cNvPr id="932" name="Google Shape;932;p39"/>
          <p:cNvSpPr/>
          <p:nvPr/>
        </p:nvSpPr>
        <p:spPr>
          <a:xfrm>
            <a:off x="329184" y="4047744"/>
            <a:ext cx="13410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39"/>
          <p:cNvSpPr/>
          <p:nvPr/>
        </p:nvSpPr>
        <p:spPr>
          <a:xfrm>
            <a:off x="377952" y="4047744"/>
            <a:ext cx="12435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EXPLORE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Spawn Discovery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934" name="Google Shape;934;p39"/>
          <p:cNvSpPr/>
          <p:nvPr/>
        </p:nvSpPr>
        <p:spPr>
          <a:xfrm>
            <a:off x="1853184" y="4047744"/>
            <a:ext cx="12192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39"/>
          <p:cNvSpPr/>
          <p:nvPr/>
        </p:nvSpPr>
        <p:spPr>
          <a:xfrm>
            <a:off x="1901952" y="4047744"/>
            <a:ext cx="11217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PARALLEL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Weigh priority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both paths</a:t>
            </a:r>
            <a:endParaRPr b="0" i="0" sz="800" u="none" cap="none" strike="noStrike">
              <a:solidFill>
                <a:schemeClr val="dk1"/>
              </a:solidFill>
              <a:latin typeface="Calibri"/>
              <a:ea typeface="Calibri"/>
              <a:cs typeface="Calibri"/>
              <a:sym typeface="Calibri"/>
            </a:endParaRPr>
          </a:p>
        </p:txBody>
      </p:sp>
      <p:sp>
        <p:nvSpPr>
          <p:cNvPr id="936" name="Google Shape;936;p39"/>
          <p:cNvSpPr/>
          <p:nvPr/>
        </p:nvSpPr>
        <p:spPr>
          <a:xfrm>
            <a:off x="3316224" y="4047744"/>
            <a:ext cx="1341000" cy="633900"/>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39"/>
          <p:cNvSpPr/>
          <p:nvPr/>
        </p:nvSpPr>
        <p:spPr>
          <a:xfrm>
            <a:off x="3364992" y="4047744"/>
            <a:ext cx="12435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VALIDATE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Spawn Validation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938" name="Google Shape;938;p39"/>
          <p:cNvSpPr/>
          <p:nvPr/>
        </p:nvSpPr>
        <p:spPr>
          <a:xfrm>
            <a:off x="1304544" y="4852416"/>
            <a:ext cx="2316600" cy="512100"/>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39"/>
          <p:cNvSpPr/>
          <p:nvPr/>
        </p:nvSpPr>
        <p:spPr>
          <a:xfrm>
            <a:off x="1353312" y="4852416"/>
            <a:ext cx="2218800" cy="5121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 AGENT EXECUTES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Tools → Risk Gate → ASG writes</a:t>
            </a:r>
            <a:endParaRPr b="0" i="0" sz="800" u="none" cap="none" strike="noStrike">
              <a:solidFill>
                <a:schemeClr val="dk1"/>
              </a:solidFill>
              <a:latin typeface="Calibri"/>
              <a:ea typeface="Calibri"/>
              <a:cs typeface="Calibri"/>
              <a:sym typeface="Calibri"/>
            </a:endParaRPr>
          </a:p>
        </p:txBody>
      </p:sp>
      <p:sp>
        <p:nvSpPr>
          <p:cNvPr id="940" name="Google Shape;940;p39"/>
          <p:cNvSpPr/>
          <p:nvPr/>
        </p:nvSpPr>
        <p:spPr>
          <a:xfrm>
            <a:off x="4840224" y="4047744"/>
            <a:ext cx="1828800" cy="633900"/>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39"/>
          <p:cNvSpPr/>
          <p:nvPr/>
        </p:nvSpPr>
        <p:spPr>
          <a:xfrm>
            <a:off x="4888992" y="4047744"/>
            <a:ext cx="17313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CYCLE GUARD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Repeated calls?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Fixation detected?</a:t>
            </a:r>
            <a:endParaRPr b="0" i="0" sz="800" u="none" cap="none" strike="noStrike">
              <a:solidFill>
                <a:schemeClr val="dk1"/>
              </a:solidFill>
              <a:latin typeface="Calibri"/>
              <a:ea typeface="Calibri"/>
              <a:cs typeface="Calibri"/>
              <a:sym typeface="Calibri"/>
            </a:endParaRPr>
          </a:p>
        </p:txBody>
      </p:sp>
      <p:sp>
        <p:nvSpPr>
          <p:cNvPr id="942" name="Google Shape;942;p39"/>
          <p:cNvSpPr/>
          <p:nvPr/>
        </p:nvSpPr>
        <p:spPr>
          <a:xfrm>
            <a:off x="5938150" y="4982550"/>
            <a:ext cx="914400" cy="268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700"/>
              <a:buFont typeface="Arial"/>
              <a:buNone/>
            </a:pPr>
            <a:r>
              <a:rPr b="0" i="1" lang="en-US" sz="600" u="none" cap="none" strike="noStrike">
                <a:solidFill>
                  <a:schemeClr val="lt1"/>
                </a:solidFill>
                <a:latin typeface="Arial"/>
                <a:ea typeface="Arial"/>
                <a:cs typeface="Arial"/>
                <a:sym typeface="Arial"/>
              </a:rPr>
              <a:t>REFLECTOR or </a:t>
            </a:r>
            <a:endParaRPr b="0" i="1" sz="6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FF5252"/>
              </a:buClr>
              <a:buSzPts val="700"/>
              <a:buFont typeface="Arial"/>
              <a:buNone/>
            </a:pPr>
            <a:r>
              <a:rPr b="0" i="1" lang="en-US" sz="600" u="none" cap="none" strike="noStrike">
                <a:solidFill>
                  <a:schemeClr val="lt1"/>
                </a:solidFill>
                <a:latin typeface="Arial"/>
                <a:ea typeface="Arial"/>
                <a:cs typeface="Arial"/>
                <a:sym typeface="Arial"/>
              </a:rPr>
              <a:t>FORCE RE-PLAN</a:t>
            </a:r>
            <a:endParaRPr b="0" i="0" sz="600" u="none" cap="none" strike="noStrike">
              <a:solidFill>
                <a:schemeClr val="lt1"/>
              </a:solidFill>
              <a:latin typeface="Calibri"/>
              <a:ea typeface="Calibri"/>
              <a:cs typeface="Calibri"/>
              <a:sym typeface="Calibri"/>
            </a:endParaRPr>
          </a:p>
        </p:txBody>
      </p:sp>
      <p:sp>
        <p:nvSpPr>
          <p:cNvPr id="943" name="Google Shape;943;p39"/>
          <p:cNvSpPr/>
          <p:nvPr/>
        </p:nvSpPr>
        <p:spPr>
          <a:xfrm>
            <a:off x="329184" y="5547360"/>
            <a:ext cx="16824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39"/>
          <p:cNvSpPr/>
          <p:nvPr/>
        </p:nvSpPr>
        <p:spPr>
          <a:xfrm>
            <a:off x="377952" y="5547360"/>
            <a:ext cx="15849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UPDATE ASG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nodes + edges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from returning agent</a:t>
            </a:r>
            <a:endParaRPr b="0" i="0" sz="800" u="none" cap="none" strike="noStrike">
              <a:solidFill>
                <a:schemeClr val="dk1"/>
              </a:solidFill>
              <a:latin typeface="Calibri"/>
              <a:ea typeface="Calibri"/>
              <a:cs typeface="Calibri"/>
              <a:sym typeface="Calibri"/>
            </a:endParaRPr>
          </a:p>
        </p:txBody>
      </p:sp>
      <p:sp>
        <p:nvSpPr>
          <p:cNvPr id="945" name="Google Shape;945;p39"/>
          <p:cNvSpPr/>
          <p:nvPr/>
        </p:nvSpPr>
        <p:spPr>
          <a:xfrm>
            <a:off x="2157984" y="5547360"/>
            <a:ext cx="16824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39"/>
          <p:cNvSpPr/>
          <p:nvPr/>
        </p:nvSpPr>
        <p:spPr>
          <a:xfrm>
            <a:off x="2206752" y="5547360"/>
            <a:ext cx="15849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UPDATE APG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Chain status changed?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Re-prioritize queue</a:t>
            </a:r>
            <a:endParaRPr b="0" i="0" sz="800" u="none" cap="none" strike="noStrike">
              <a:solidFill>
                <a:schemeClr val="dk1"/>
              </a:solidFill>
              <a:latin typeface="Calibri"/>
              <a:ea typeface="Calibri"/>
              <a:cs typeface="Calibri"/>
              <a:sym typeface="Calibri"/>
            </a:endParaRPr>
          </a:p>
        </p:txBody>
      </p:sp>
      <p:sp>
        <p:nvSpPr>
          <p:cNvPr id="947" name="Google Shape;947;p39"/>
          <p:cNvSpPr/>
          <p:nvPr/>
        </p:nvSpPr>
        <p:spPr>
          <a:xfrm>
            <a:off x="3986778" y="5547350"/>
            <a:ext cx="1188600" cy="633900"/>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39"/>
          <p:cNvSpPr/>
          <p:nvPr/>
        </p:nvSpPr>
        <p:spPr>
          <a:xfrm>
            <a:off x="3974650" y="5547350"/>
            <a:ext cx="11886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TERM CHECK</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ASG exhausted?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AND APG resolved?</a:t>
            </a:r>
            <a:endParaRPr b="0" i="0" sz="800" u="none" cap="none" strike="noStrike">
              <a:solidFill>
                <a:schemeClr val="dk1"/>
              </a:solidFill>
              <a:latin typeface="Calibri"/>
              <a:ea typeface="Calibri"/>
              <a:cs typeface="Calibri"/>
              <a:sym typeface="Calibri"/>
            </a:endParaRPr>
          </a:p>
        </p:txBody>
      </p:sp>
      <p:sp>
        <p:nvSpPr>
          <p:cNvPr id="949" name="Google Shape;949;p39"/>
          <p:cNvSpPr/>
          <p:nvPr/>
        </p:nvSpPr>
        <p:spPr>
          <a:xfrm>
            <a:off x="5240223" y="2121425"/>
            <a:ext cx="853500" cy="170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888888"/>
              </a:buClr>
              <a:buSzPts val="700"/>
              <a:buFont typeface="Arial"/>
              <a:buNone/>
            </a:pPr>
            <a:r>
              <a:rPr b="0" i="0" lang="en-US" sz="700" u="none" cap="none" strike="noStrike">
                <a:solidFill>
                  <a:schemeClr val="lt1"/>
                </a:solidFill>
                <a:latin typeface="Arial"/>
                <a:ea typeface="Arial"/>
                <a:cs typeface="Arial"/>
                <a:sym typeface="Arial"/>
              </a:rPr>
              <a:t>no — continue</a:t>
            </a:r>
            <a:endParaRPr b="0" i="0" sz="700" u="none" cap="none" strike="noStrike">
              <a:solidFill>
                <a:schemeClr val="lt1"/>
              </a:solidFill>
              <a:latin typeface="Calibri"/>
              <a:ea typeface="Calibri"/>
              <a:cs typeface="Calibri"/>
              <a:sym typeface="Calibri"/>
            </a:endParaRPr>
          </a:p>
        </p:txBody>
      </p:sp>
      <p:sp>
        <p:nvSpPr>
          <p:cNvPr id="950" name="Google Shape;950;p39"/>
          <p:cNvSpPr/>
          <p:nvPr/>
        </p:nvSpPr>
        <p:spPr>
          <a:xfrm>
            <a:off x="7437120" y="804672"/>
            <a:ext cx="4572000" cy="5632800"/>
          </a:xfrm>
          <a:prstGeom prst="rect">
            <a:avLst/>
          </a:prstGeom>
          <a:solidFill>
            <a:srgbClr val="0D0D0D"/>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39"/>
          <p:cNvSpPr/>
          <p:nvPr/>
        </p:nvSpPr>
        <p:spPr>
          <a:xfrm>
            <a:off x="7559040" y="853440"/>
            <a:ext cx="43281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1200"/>
              <a:buFont typeface="Arial"/>
              <a:buNone/>
            </a:pPr>
            <a:r>
              <a:rPr b="1" i="0" lang="en-US" sz="1200" u="none" cap="none" strike="noStrike">
                <a:solidFill>
                  <a:srgbClr val="FFC107"/>
                </a:solidFill>
                <a:latin typeface="Arial"/>
                <a:ea typeface="Arial"/>
                <a:cs typeface="Arial"/>
                <a:sym typeface="Arial"/>
              </a:rPr>
              <a:t>What Triggers a Re-Plan</a:t>
            </a:r>
            <a:endParaRPr b="0" i="0" sz="1200" u="none" cap="none" strike="noStrike">
              <a:solidFill>
                <a:schemeClr val="dk1"/>
              </a:solidFill>
              <a:latin typeface="Calibri"/>
              <a:ea typeface="Calibri"/>
              <a:cs typeface="Calibri"/>
              <a:sym typeface="Calibri"/>
            </a:endParaRPr>
          </a:p>
        </p:txBody>
      </p:sp>
      <p:sp>
        <p:nvSpPr>
          <p:cNvPr id="952" name="Google Shape;952;p39"/>
          <p:cNvSpPr/>
          <p:nvPr/>
        </p:nvSpPr>
        <p:spPr>
          <a:xfrm>
            <a:off x="7559040" y="1170432"/>
            <a:ext cx="4328100" cy="1121700"/>
          </a:xfrm>
          <a:prstGeom prst="rect">
            <a:avLst/>
          </a:prstGeom>
          <a:solidFill>
            <a:srgbClr val="062210"/>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9"/>
          <p:cNvSpPr/>
          <p:nvPr/>
        </p:nvSpPr>
        <p:spPr>
          <a:xfrm>
            <a:off x="7620000" y="1194816"/>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ASG Trigger Events</a:t>
            </a:r>
            <a:endParaRPr b="0" i="0" sz="900" u="none" cap="none" strike="noStrike">
              <a:solidFill>
                <a:schemeClr val="dk1"/>
              </a:solidFill>
              <a:latin typeface="Calibri"/>
              <a:ea typeface="Calibri"/>
              <a:cs typeface="Calibri"/>
              <a:sym typeface="Calibri"/>
            </a:endParaRPr>
          </a:p>
        </p:txBody>
      </p:sp>
      <p:sp>
        <p:nvSpPr>
          <p:cNvPr id="954" name="Google Shape;954;p39"/>
          <p:cNvSpPr/>
          <p:nvPr/>
        </p:nvSpPr>
        <p:spPr>
          <a:xfrm>
            <a:off x="7656576" y="1438656"/>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Vulnerability node → seed APG chain?</a:t>
            </a:r>
            <a:endParaRPr b="0" i="0" sz="900" u="none" cap="none" strike="noStrike">
              <a:solidFill>
                <a:schemeClr val="dk1"/>
              </a:solidFill>
              <a:latin typeface="Calibri"/>
              <a:ea typeface="Calibri"/>
              <a:cs typeface="Calibri"/>
              <a:sym typeface="Calibri"/>
            </a:endParaRPr>
          </a:p>
        </p:txBody>
      </p:sp>
      <p:sp>
        <p:nvSpPr>
          <p:cNvPr id="955" name="Google Shape;955;p39"/>
          <p:cNvSpPr/>
          <p:nvPr/>
        </p:nvSpPr>
        <p:spPr>
          <a:xfrm>
            <a:off x="7656576" y="1706880"/>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Technology node → spawn Research Agent</a:t>
            </a:r>
            <a:endParaRPr b="0" i="0" sz="900" u="none" cap="none" strike="noStrike">
              <a:solidFill>
                <a:schemeClr val="dk1"/>
              </a:solidFill>
              <a:latin typeface="Calibri"/>
              <a:ea typeface="Calibri"/>
              <a:cs typeface="Calibri"/>
              <a:sym typeface="Calibri"/>
            </a:endParaRPr>
          </a:p>
        </p:txBody>
      </p:sp>
      <p:sp>
        <p:nvSpPr>
          <p:cNvPr id="956" name="Google Shape;956;p39"/>
          <p:cNvSpPr/>
          <p:nvPr/>
        </p:nvSpPr>
        <p:spPr>
          <a:xfrm>
            <a:off x="7656576" y="1975104"/>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Endpoint node → probe with Analysis Agent</a:t>
            </a:r>
            <a:endParaRPr b="0" i="0" sz="900" u="none" cap="none" strike="noStrike">
              <a:solidFill>
                <a:schemeClr val="dk1"/>
              </a:solidFill>
              <a:latin typeface="Calibri"/>
              <a:ea typeface="Calibri"/>
              <a:cs typeface="Calibri"/>
              <a:sym typeface="Calibri"/>
            </a:endParaRPr>
          </a:p>
        </p:txBody>
      </p:sp>
      <p:sp>
        <p:nvSpPr>
          <p:cNvPr id="957" name="Google Shape;957;p39"/>
          <p:cNvSpPr/>
          <p:nvPr/>
        </p:nvSpPr>
        <p:spPr>
          <a:xfrm>
            <a:off x="7559040" y="2365248"/>
            <a:ext cx="4328100" cy="1121700"/>
          </a:xfrm>
          <a:prstGeom prst="rect">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39"/>
          <p:cNvSpPr/>
          <p:nvPr/>
        </p:nvSpPr>
        <p:spPr>
          <a:xfrm>
            <a:off x="7620000" y="2389632"/>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1" i="0" lang="en-US" sz="900" u="none" cap="none" strike="noStrike">
                <a:solidFill>
                  <a:srgbClr val="FFC107"/>
                </a:solidFill>
                <a:latin typeface="Arial"/>
                <a:ea typeface="Arial"/>
                <a:cs typeface="Arial"/>
                <a:sym typeface="Arial"/>
              </a:rPr>
              <a:t>APG Trigger Events</a:t>
            </a:r>
            <a:endParaRPr b="0" i="0" sz="900" u="none" cap="none" strike="noStrike">
              <a:solidFill>
                <a:schemeClr val="dk1"/>
              </a:solidFill>
              <a:latin typeface="Calibri"/>
              <a:ea typeface="Calibri"/>
              <a:cs typeface="Calibri"/>
              <a:sym typeface="Calibri"/>
            </a:endParaRPr>
          </a:p>
        </p:txBody>
      </p:sp>
      <p:sp>
        <p:nvSpPr>
          <p:cNvPr id="959" name="Google Shape;959;p39"/>
          <p:cNvSpPr/>
          <p:nvPr/>
        </p:nvSpPr>
        <p:spPr>
          <a:xfrm>
            <a:off x="7656576" y="2633472"/>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PARTIALLY_VALIDATED → re-rank all</a:t>
            </a:r>
            <a:endParaRPr b="0" i="0" sz="900" u="none" cap="none" strike="noStrike">
              <a:solidFill>
                <a:schemeClr val="dk1"/>
              </a:solidFill>
              <a:latin typeface="Calibri"/>
              <a:ea typeface="Calibri"/>
              <a:cs typeface="Calibri"/>
              <a:sym typeface="Calibri"/>
            </a:endParaRPr>
          </a:p>
        </p:txBody>
      </p:sp>
      <p:sp>
        <p:nvSpPr>
          <p:cNvPr id="960" name="Google Shape;960;p39"/>
          <p:cNvSpPr/>
          <p:nvPr/>
        </p:nvSpPr>
        <p:spPr>
          <a:xfrm>
            <a:off x="7656576" y="2901696"/>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VALIDATED → pursue next chain</a:t>
            </a:r>
            <a:endParaRPr b="0" i="0" sz="900" u="none" cap="none" strike="noStrike">
              <a:solidFill>
                <a:schemeClr val="dk1"/>
              </a:solidFill>
              <a:latin typeface="Calibri"/>
              <a:ea typeface="Calibri"/>
              <a:cs typeface="Calibri"/>
              <a:sym typeface="Calibri"/>
            </a:endParaRPr>
          </a:p>
        </p:txBody>
      </p:sp>
      <p:sp>
        <p:nvSpPr>
          <p:cNvPr id="961" name="Google Shape;961;p39"/>
          <p:cNvSpPr/>
          <p:nvPr/>
        </p:nvSpPr>
        <p:spPr>
          <a:xfrm>
            <a:off x="7656576" y="3169920"/>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RULED_OUT → remove, re-prioritize</a:t>
            </a:r>
            <a:endParaRPr b="0" i="0" sz="900" u="none" cap="none" strike="noStrike">
              <a:solidFill>
                <a:schemeClr val="dk1"/>
              </a:solidFill>
              <a:latin typeface="Calibri"/>
              <a:ea typeface="Calibri"/>
              <a:cs typeface="Calibri"/>
              <a:sym typeface="Calibri"/>
            </a:endParaRPr>
          </a:p>
        </p:txBody>
      </p:sp>
      <p:sp>
        <p:nvSpPr>
          <p:cNvPr id="962" name="Google Shape;962;p39"/>
          <p:cNvSpPr/>
          <p:nvPr/>
        </p:nvSpPr>
        <p:spPr>
          <a:xfrm>
            <a:off x="7559040" y="3560064"/>
            <a:ext cx="4328100" cy="756000"/>
          </a:xfrm>
          <a:prstGeom prst="rect">
            <a:avLst/>
          </a:prstGeom>
          <a:solidFill>
            <a:srgbClr val="1A0606"/>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39"/>
          <p:cNvSpPr/>
          <p:nvPr/>
        </p:nvSpPr>
        <p:spPr>
          <a:xfrm>
            <a:off x="7620000" y="3584448"/>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1" i="0" lang="en-US" sz="900" u="none" cap="none" strike="noStrike">
                <a:solidFill>
                  <a:srgbClr val="FF5252"/>
                </a:solidFill>
                <a:latin typeface="Arial"/>
                <a:ea typeface="Arial"/>
                <a:cs typeface="Arial"/>
                <a:sym typeface="Arial"/>
              </a:rPr>
              <a:t>Cycle Guard Events</a:t>
            </a:r>
            <a:endParaRPr b="0" i="0" sz="900" u="none" cap="none" strike="noStrike">
              <a:solidFill>
                <a:schemeClr val="dk1"/>
              </a:solidFill>
              <a:latin typeface="Calibri"/>
              <a:ea typeface="Calibri"/>
              <a:cs typeface="Calibri"/>
              <a:sym typeface="Calibri"/>
            </a:endParaRPr>
          </a:p>
        </p:txBody>
      </p:sp>
      <p:sp>
        <p:nvSpPr>
          <p:cNvPr id="964" name="Google Shape;964;p39"/>
          <p:cNvSpPr/>
          <p:nvPr/>
        </p:nvSpPr>
        <p:spPr>
          <a:xfrm>
            <a:off x="7656576" y="3828288"/>
            <a:ext cx="41454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Same tool call repeated ×3 → Force re-plan</a:t>
            </a:r>
            <a:endParaRPr b="0" i="0" sz="900" u="none" cap="none" strike="noStrike">
              <a:solidFill>
                <a:schemeClr val="dk1"/>
              </a:solidFill>
              <a:latin typeface="Calibri"/>
              <a:ea typeface="Calibri"/>
              <a:cs typeface="Calibri"/>
              <a:sym typeface="Calibri"/>
            </a:endParaRPr>
          </a:p>
        </p:txBody>
      </p:sp>
      <p:sp>
        <p:nvSpPr>
          <p:cNvPr id="965" name="Google Shape;965;p39"/>
          <p:cNvSpPr/>
          <p:nvPr/>
        </p:nvSpPr>
        <p:spPr>
          <a:xfrm>
            <a:off x="7656576" y="4072128"/>
            <a:ext cx="41454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Repeated different failures → Reflector</a:t>
            </a:r>
            <a:endParaRPr b="0" i="0" sz="900" u="none" cap="none" strike="noStrike">
              <a:solidFill>
                <a:schemeClr val="dk1"/>
              </a:solidFill>
              <a:latin typeface="Calibri"/>
              <a:ea typeface="Calibri"/>
              <a:cs typeface="Calibri"/>
              <a:sym typeface="Calibri"/>
            </a:endParaRPr>
          </a:p>
        </p:txBody>
      </p:sp>
      <p:sp>
        <p:nvSpPr>
          <p:cNvPr id="966" name="Google Shape;966;p39"/>
          <p:cNvSpPr/>
          <p:nvPr/>
        </p:nvSpPr>
        <p:spPr>
          <a:xfrm>
            <a:off x="7559040" y="4413504"/>
            <a:ext cx="4328100" cy="1902000"/>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39"/>
          <p:cNvSpPr/>
          <p:nvPr/>
        </p:nvSpPr>
        <p:spPr>
          <a:xfrm>
            <a:off x="7620000" y="4462272"/>
            <a:ext cx="42063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Dual Termination Condition</a:t>
            </a:r>
            <a:endParaRPr b="0" i="0" sz="1100" u="none" cap="none" strike="noStrike">
              <a:solidFill>
                <a:schemeClr val="dk1"/>
              </a:solidFill>
              <a:latin typeface="Calibri"/>
              <a:ea typeface="Calibri"/>
              <a:cs typeface="Calibri"/>
              <a:sym typeface="Calibri"/>
            </a:endParaRPr>
          </a:p>
        </p:txBody>
      </p:sp>
      <p:sp>
        <p:nvSpPr>
          <p:cNvPr id="968" name="Google Shape;968;p39"/>
          <p:cNvSpPr/>
          <p:nvPr/>
        </p:nvSpPr>
        <p:spPr>
          <a:xfrm>
            <a:off x="7620000" y="4754880"/>
            <a:ext cx="1981200" cy="7560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39"/>
          <p:cNvSpPr/>
          <p:nvPr/>
        </p:nvSpPr>
        <p:spPr>
          <a:xfrm>
            <a:off x="7656575" y="4876675"/>
            <a:ext cx="1908000" cy="512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ASG Exhausted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Every node investigated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by appropriate agent</a:t>
            </a:r>
            <a:endParaRPr b="0" i="0" sz="800" u="none" cap="none" strike="noStrike">
              <a:solidFill>
                <a:schemeClr val="dk1"/>
              </a:solidFill>
              <a:latin typeface="Calibri"/>
              <a:ea typeface="Calibri"/>
              <a:cs typeface="Calibri"/>
              <a:sym typeface="Calibri"/>
            </a:endParaRPr>
          </a:p>
        </p:txBody>
      </p:sp>
      <p:sp>
        <p:nvSpPr>
          <p:cNvPr id="970" name="Google Shape;970;p39"/>
          <p:cNvSpPr/>
          <p:nvPr/>
        </p:nvSpPr>
        <p:spPr>
          <a:xfrm>
            <a:off x="9820770" y="4730555"/>
            <a:ext cx="1981200" cy="756000"/>
          </a:xfrm>
          <a:prstGeom prst="rect">
            <a:avLst/>
          </a:prstGeom>
          <a:solidFill>
            <a:srgbClr val="1E1004"/>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39"/>
          <p:cNvSpPr/>
          <p:nvPr/>
        </p:nvSpPr>
        <p:spPr>
          <a:xfrm>
            <a:off x="9869547" y="4852350"/>
            <a:ext cx="1908000" cy="512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APG Resolved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All chains VALIDATED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or RULED_OUT</a:t>
            </a:r>
            <a:endParaRPr b="0" i="0" sz="800" u="none" cap="none" strike="noStrike">
              <a:solidFill>
                <a:schemeClr val="dk1"/>
              </a:solidFill>
              <a:latin typeface="Calibri"/>
              <a:ea typeface="Calibri"/>
              <a:cs typeface="Calibri"/>
              <a:sym typeface="Calibri"/>
            </a:endParaRPr>
          </a:p>
        </p:txBody>
      </p:sp>
      <p:sp>
        <p:nvSpPr>
          <p:cNvPr id="972" name="Google Shape;972;p39"/>
          <p:cNvSpPr/>
          <p:nvPr/>
        </p:nvSpPr>
        <p:spPr>
          <a:xfrm>
            <a:off x="9540240" y="5023095"/>
            <a:ext cx="365700" cy="24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AND</a:t>
            </a:r>
            <a:endParaRPr b="0" i="0" sz="900" u="none" cap="none" strike="noStrike">
              <a:solidFill>
                <a:schemeClr val="dk1"/>
              </a:solidFill>
              <a:latin typeface="Calibri"/>
              <a:ea typeface="Calibri"/>
              <a:cs typeface="Calibri"/>
              <a:sym typeface="Calibri"/>
            </a:endParaRPr>
          </a:p>
        </p:txBody>
      </p:sp>
      <p:sp>
        <p:nvSpPr>
          <p:cNvPr id="973" name="Google Shape;973;p39"/>
          <p:cNvSpPr/>
          <p:nvPr/>
        </p:nvSpPr>
        <p:spPr>
          <a:xfrm>
            <a:off x="7620000" y="5583925"/>
            <a:ext cx="4206300" cy="390000"/>
          </a:xfrm>
          <a:prstGeom prst="roundRect">
            <a:avLst>
              <a:gd fmla="val 13043" name="adj"/>
            </a:avLst>
          </a:prstGeom>
          <a:solidFill>
            <a:srgbClr val="041A08"/>
          </a:solidFill>
          <a:ln cap="flat" cmpd="sng" w="1270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39"/>
          <p:cNvSpPr/>
          <p:nvPr/>
        </p:nvSpPr>
        <p:spPr>
          <a:xfrm>
            <a:off x="7656575" y="5657125"/>
            <a:ext cx="4133100" cy="24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 BOTH TRUE → Report Agent spawned → MISSION COMPLETE</a:t>
            </a:r>
            <a:endParaRPr b="0" i="0" sz="900" u="none" cap="none" strike="noStrike">
              <a:solidFill>
                <a:schemeClr val="dk1"/>
              </a:solidFill>
              <a:latin typeface="Calibri"/>
              <a:ea typeface="Calibri"/>
              <a:cs typeface="Calibri"/>
              <a:sym typeface="Calibri"/>
            </a:endParaRPr>
          </a:p>
        </p:txBody>
      </p:sp>
      <p:sp>
        <p:nvSpPr>
          <p:cNvPr id="975" name="Google Shape;975;p39"/>
          <p:cNvSpPr/>
          <p:nvPr/>
        </p:nvSpPr>
        <p:spPr>
          <a:xfrm>
            <a:off x="7619950" y="6046986"/>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9C27B0"/>
              </a:buClr>
              <a:buSzPts val="800"/>
              <a:buFont typeface="Arial"/>
              <a:buNone/>
            </a:pPr>
            <a:r>
              <a:rPr b="0" i="1" lang="en-US" sz="800" u="none" cap="none" strike="noStrike">
                <a:solidFill>
                  <a:srgbClr val="9C27B0"/>
                </a:solidFill>
                <a:latin typeface="Arial"/>
                <a:ea typeface="Arial"/>
                <a:cs typeface="Arial"/>
                <a:sym typeface="Arial"/>
              </a:rPr>
              <a:t>⚠️ Timer-based systems stop mid-chain.  CMatrix requires dual-graph resolution.</a:t>
            </a:r>
            <a:endParaRPr b="0" i="0" sz="800" u="none" cap="none" strike="noStrike">
              <a:solidFill>
                <a:schemeClr val="dk1"/>
              </a:solidFill>
              <a:latin typeface="Calibri"/>
              <a:ea typeface="Calibri"/>
              <a:cs typeface="Calibri"/>
              <a:sym typeface="Calibri"/>
            </a:endParaRPr>
          </a:p>
        </p:txBody>
      </p:sp>
      <p:sp>
        <p:nvSpPr>
          <p:cNvPr id="976" name="Google Shape;976;p39"/>
          <p:cNvSpPr/>
          <p:nvPr/>
        </p:nvSpPr>
        <p:spPr>
          <a:xfrm>
            <a:off x="182880" y="6473952"/>
            <a:ext cx="1182630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39"/>
          <p:cNvSpPr/>
          <p:nvPr/>
        </p:nvSpPr>
        <p:spPr>
          <a:xfrm>
            <a:off x="304800" y="6486144"/>
            <a:ext cx="115824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Every Commander decision traces to a graph event.  Every re-plan is triggered by a node write.  Mission ends only when the graph demands it — not when a timer fires.</a:t>
            </a:r>
            <a:endParaRPr b="0" i="0" sz="800" u="none" cap="none" strike="noStrike">
              <a:solidFill>
                <a:schemeClr val="dk1"/>
              </a:solidFill>
              <a:latin typeface="Calibri"/>
              <a:ea typeface="Calibri"/>
              <a:cs typeface="Calibri"/>
              <a:sym typeface="Calibri"/>
            </a:endParaRPr>
          </a:p>
        </p:txBody>
      </p:sp>
      <p:sp>
        <p:nvSpPr>
          <p:cNvPr id="978" name="Google Shape;978;p39"/>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11</a:t>
            </a:r>
            <a:endParaRPr b="0" i="0" sz="1400" u="none" cap="none" strike="noStrike">
              <a:solidFill>
                <a:srgbClr val="00D4FF"/>
              </a:solidFill>
              <a:latin typeface="Arial"/>
              <a:ea typeface="Arial"/>
              <a:cs typeface="Arial"/>
              <a:sym typeface="Arial"/>
            </a:endParaRPr>
          </a:p>
        </p:txBody>
      </p:sp>
      <p:cxnSp>
        <p:nvCxnSpPr>
          <p:cNvPr id="979" name="Google Shape;979;p39"/>
          <p:cNvCxnSpPr/>
          <p:nvPr/>
        </p:nvCxnSpPr>
        <p:spPr>
          <a:xfrm flipH="1">
            <a:off x="1334925" y="1513150"/>
            <a:ext cx="1743600" cy="267000"/>
          </a:xfrm>
          <a:prstGeom prst="straightConnector1">
            <a:avLst/>
          </a:prstGeom>
          <a:noFill/>
          <a:ln cap="flat" cmpd="sng" w="9525">
            <a:solidFill>
              <a:srgbClr val="7FFF00"/>
            </a:solidFill>
            <a:prstDash val="solid"/>
            <a:round/>
            <a:headEnd len="sm" w="sm" type="none"/>
            <a:tailEnd len="med" w="med" type="stealth"/>
          </a:ln>
        </p:spPr>
      </p:cxnSp>
      <p:cxnSp>
        <p:nvCxnSpPr>
          <p:cNvPr id="980" name="Google Shape;980;p39"/>
          <p:cNvCxnSpPr/>
          <p:nvPr/>
        </p:nvCxnSpPr>
        <p:spPr>
          <a:xfrm>
            <a:off x="3078525" y="1513150"/>
            <a:ext cx="573000" cy="267000"/>
          </a:xfrm>
          <a:prstGeom prst="straightConnector1">
            <a:avLst/>
          </a:prstGeom>
          <a:noFill/>
          <a:ln cap="flat" cmpd="sng" w="9525">
            <a:solidFill>
              <a:srgbClr val="FFC107"/>
            </a:solidFill>
            <a:prstDash val="solid"/>
            <a:round/>
            <a:headEnd len="sm" w="sm" type="none"/>
            <a:tailEnd len="med" w="med" type="stealth"/>
          </a:ln>
        </p:spPr>
      </p:cxnSp>
      <p:cxnSp>
        <p:nvCxnSpPr>
          <p:cNvPr id="981" name="Google Shape;981;p39"/>
          <p:cNvCxnSpPr/>
          <p:nvPr/>
        </p:nvCxnSpPr>
        <p:spPr>
          <a:xfrm>
            <a:off x="1335024" y="2413932"/>
            <a:ext cx="1127700" cy="170700"/>
          </a:xfrm>
          <a:prstGeom prst="straightConnector1">
            <a:avLst/>
          </a:prstGeom>
          <a:noFill/>
          <a:ln cap="flat" cmpd="sng" w="9525">
            <a:solidFill>
              <a:srgbClr val="7FFF00"/>
            </a:solidFill>
            <a:prstDash val="solid"/>
            <a:round/>
            <a:headEnd len="sm" w="sm" type="none"/>
            <a:tailEnd len="med" w="med" type="stealth"/>
          </a:ln>
        </p:spPr>
      </p:cxnSp>
      <p:cxnSp>
        <p:nvCxnSpPr>
          <p:cNvPr id="982" name="Google Shape;982;p39"/>
          <p:cNvCxnSpPr/>
          <p:nvPr/>
        </p:nvCxnSpPr>
        <p:spPr>
          <a:xfrm flipH="1">
            <a:off x="2462904" y="2413932"/>
            <a:ext cx="1188600" cy="170700"/>
          </a:xfrm>
          <a:prstGeom prst="straightConnector1">
            <a:avLst/>
          </a:prstGeom>
          <a:noFill/>
          <a:ln cap="flat" cmpd="sng" w="9525">
            <a:solidFill>
              <a:srgbClr val="FFC107"/>
            </a:solidFill>
            <a:prstDash val="solid"/>
            <a:round/>
            <a:headEnd len="sm" w="sm" type="none"/>
            <a:tailEnd len="med" w="med" type="stealth"/>
          </a:ln>
        </p:spPr>
      </p:cxnSp>
      <p:cxnSp>
        <p:nvCxnSpPr>
          <p:cNvPr id="983" name="Google Shape;983;p39"/>
          <p:cNvCxnSpPr/>
          <p:nvPr/>
        </p:nvCxnSpPr>
        <p:spPr>
          <a:xfrm>
            <a:off x="2462844" y="3218604"/>
            <a:ext cx="0" cy="170700"/>
          </a:xfrm>
          <a:prstGeom prst="straightConnector1">
            <a:avLst/>
          </a:prstGeom>
          <a:noFill/>
          <a:ln cap="flat" cmpd="sng" w="9525">
            <a:solidFill>
              <a:srgbClr val="00D4FF"/>
            </a:solidFill>
            <a:prstDash val="solid"/>
            <a:round/>
            <a:headEnd len="sm" w="sm" type="none"/>
            <a:tailEnd len="med" w="med" type="stealth"/>
          </a:ln>
        </p:spPr>
      </p:cxnSp>
      <p:cxnSp>
        <p:nvCxnSpPr>
          <p:cNvPr id="984" name="Google Shape;984;p39"/>
          <p:cNvCxnSpPr/>
          <p:nvPr/>
        </p:nvCxnSpPr>
        <p:spPr>
          <a:xfrm flipH="1">
            <a:off x="999675" y="3584375"/>
            <a:ext cx="853500" cy="463500"/>
          </a:xfrm>
          <a:prstGeom prst="bentConnector3">
            <a:avLst>
              <a:gd fmla="val 49999" name="adj1"/>
            </a:avLst>
          </a:prstGeom>
          <a:noFill/>
          <a:ln cap="flat" cmpd="sng" w="9525">
            <a:solidFill>
              <a:srgbClr val="7FFF00"/>
            </a:solidFill>
            <a:prstDash val="solid"/>
            <a:round/>
            <a:headEnd len="sm" w="sm" type="none"/>
            <a:tailEnd len="med" w="med" type="stealth"/>
          </a:ln>
        </p:spPr>
      </p:cxnSp>
      <p:sp>
        <p:nvSpPr>
          <p:cNvPr id="985" name="Google Shape;985;p39"/>
          <p:cNvSpPr/>
          <p:nvPr/>
        </p:nvSpPr>
        <p:spPr>
          <a:xfrm>
            <a:off x="1203175" y="3424375"/>
            <a:ext cx="6000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ASG gaps</a:t>
            </a:r>
            <a:endParaRPr/>
          </a:p>
        </p:txBody>
      </p:sp>
      <p:cxnSp>
        <p:nvCxnSpPr>
          <p:cNvPr id="986" name="Google Shape;986;p39"/>
          <p:cNvCxnSpPr/>
          <p:nvPr/>
        </p:nvCxnSpPr>
        <p:spPr>
          <a:xfrm>
            <a:off x="2462775" y="3779375"/>
            <a:ext cx="0" cy="268500"/>
          </a:xfrm>
          <a:prstGeom prst="straightConnector1">
            <a:avLst/>
          </a:prstGeom>
          <a:noFill/>
          <a:ln cap="flat" cmpd="sng" w="9525">
            <a:solidFill>
              <a:srgbClr val="FFC107"/>
            </a:solidFill>
            <a:prstDash val="solid"/>
            <a:round/>
            <a:headEnd len="sm" w="sm" type="none"/>
            <a:tailEnd len="med" w="med" type="stealth"/>
          </a:ln>
        </p:spPr>
      </p:cxnSp>
      <p:sp>
        <p:nvSpPr>
          <p:cNvPr id="987" name="Google Shape;987;p39"/>
          <p:cNvSpPr/>
          <p:nvPr/>
        </p:nvSpPr>
        <p:spPr>
          <a:xfrm>
            <a:off x="2531013" y="3823563"/>
            <a:ext cx="3999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both</a:t>
            </a:r>
            <a:endParaRPr/>
          </a:p>
        </p:txBody>
      </p:sp>
      <p:cxnSp>
        <p:nvCxnSpPr>
          <p:cNvPr id="988" name="Google Shape;988;p39"/>
          <p:cNvCxnSpPr/>
          <p:nvPr/>
        </p:nvCxnSpPr>
        <p:spPr>
          <a:xfrm>
            <a:off x="3072375" y="3584375"/>
            <a:ext cx="914400" cy="463500"/>
          </a:xfrm>
          <a:prstGeom prst="bentConnector3">
            <a:avLst>
              <a:gd fmla="val 98381" name="adj1"/>
            </a:avLst>
          </a:prstGeom>
          <a:noFill/>
          <a:ln cap="flat" cmpd="sng" w="9525">
            <a:solidFill>
              <a:srgbClr val="FF5252"/>
            </a:solidFill>
            <a:prstDash val="solid"/>
            <a:round/>
            <a:headEnd len="sm" w="sm" type="none"/>
            <a:tailEnd len="med" w="med" type="stealth"/>
          </a:ln>
        </p:spPr>
      </p:cxnSp>
      <p:sp>
        <p:nvSpPr>
          <p:cNvPr id="989" name="Google Shape;989;p39"/>
          <p:cNvSpPr/>
          <p:nvPr/>
        </p:nvSpPr>
        <p:spPr>
          <a:xfrm>
            <a:off x="3102375" y="3424375"/>
            <a:ext cx="6501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APG chains</a:t>
            </a:r>
            <a:endParaRPr/>
          </a:p>
        </p:txBody>
      </p:sp>
      <p:cxnSp>
        <p:nvCxnSpPr>
          <p:cNvPr id="990" name="Google Shape;990;p39"/>
          <p:cNvCxnSpPr/>
          <p:nvPr/>
        </p:nvCxnSpPr>
        <p:spPr>
          <a:xfrm>
            <a:off x="999684" y="4681644"/>
            <a:ext cx="604800" cy="170700"/>
          </a:xfrm>
          <a:prstGeom prst="straightConnector1">
            <a:avLst/>
          </a:prstGeom>
          <a:noFill/>
          <a:ln cap="flat" cmpd="sng" w="9525">
            <a:solidFill>
              <a:srgbClr val="7FFF00"/>
            </a:solidFill>
            <a:prstDash val="solid"/>
            <a:round/>
            <a:headEnd len="sm" w="sm" type="none"/>
            <a:tailEnd len="med" w="med" type="stealth"/>
          </a:ln>
        </p:spPr>
      </p:cxnSp>
      <p:cxnSp>
        <p:nvCxnSpPr>
          <p:cNvPr id="991" name="Google Shape;991;p39"/>
          <p:cNvCxnSpPr/>
          <p:nvPr/>
        </p:nvCxnSpPr>
        <p:spPr>
          <a:xfrm>
            <a:off x="2462784" y="4681644"/>
            <a:ext cx="0" cy="170700"/>
          </a:xfrm>
          <a:prstGeom prst="straightConnector1">
            <a:avLst/>
          </a:prstGeom>
          <a:noFill/>
          <a:ln cap="flat" cmpd="sng" w="9525">
            <a:solidFill>
              <a:srgbClr val="FFC107"/>
            </a:solidFill>
            <a:prstDash val="solid"/>
            <a:round/>
            <a:headEnd len="sm" w="sm" type="none"/>
            <a:tailEnd len="med" w="med" type="stealth"/>
          </a:ln>
        </p:spPr>
      </p:cxnSp>
      <p:cxnSp>
        <p:nvCxnSpPr>
          <p:cNvPr id="992" name="Google Shape;992;p39"/>
          <p:cNvCxnSpPr/>
          <p:nvPr/>
        </p:nvCxnSpPr>
        <p:spPr>
          <a:xfrm flipH="1">
            <a:off x="3321024" y="4681644"/>
            <a:ext cx="665700" cy="170700"/>
          </a:xfrm>
          <a:prstGeom prst="straightConnector1">
            <a:avLst/>
          </a:prstGeom>
          <a:noFill/>
          <a:ln cap="flat" cmpd="sng" w="9525">
            <a:solidFill>
              <a:srgbClr val="FF5252"/>
            </a:solidFill>
            <a:prstDash val="solid"/>
            <a:round/>
            <a:headEnd len="sm" w="sm" type="none"/>
            <a:tailEnd len="med" w="med" type="stealth"/>
          </a:ln>
        </p:spPr>
      </p:cxnSp>
      <p:cxnSp>
        <p:nvCxnSpPr>
          <p:cNvPr id="993" name="Google Shape;993;p39"/>
          <p:cNvCxnSpPr>
            <a:endCxn id="941" idx="2"/>
          </p:cNvCxnSpPr>
          <p:nvPr/>
        </p:nvCxnSpPr>
        <p:spPr>
          <a:xfrm flipH="1" rot="10800000">
            <a:off x="3621042" y="4681644"/>
            <a:ext cx="2133600" cy="426900"/>
          </a:xfrm>
          <a:prstGeom prst="bentConnector2">
            <a:avLst/>
          </a:prstGeom>
          <a:noFill/>
          <a:ln cap="flat" cmpd="sng" w="9525">
            <a:solidFill>
              <a:srgbClr val="FF5252"/>
            </a:solidFill>
            <a:prstDash val="solid"/>
            <a:round/>
            <a:headEnd len="sm" w="sm" type="none"/>
            <a:tailEnd len="med" w="med" type="stealth"/>
          </a:ln>
        </p:spPr>
      </p:cxnSp>
      <p:sp>
        <p:nvSpPr>
          <p:cNvPr id="994" name="Google Shape;994;p39"/>
          <p:cNvSpPr/>
          <p:nvPr/>
        </p:nvSpPr>
        <p:spPr>
          <a:xfrm>
            <a:off x="3674419" y="4826843"/>
            <a:ext cx="5001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guard</a:t>
            </a:r>
            <a:endParaRPr/>
          </a:p>
        </p:txBody>
      </p:sp>
      <p:cxnSp>
        <p:nvCxnSpPr>
          <p:cNvPr id="995" name="Google Shape;995;p39"/>
          <p:cNvCxnSpPr>
            <a:endCxn id="944" idx="2"/>
          </p:cNvCxnSpPr>
          <p:nvPr/>
        </p:nvCxnSpPr>
        <p:spPr>
          <a:xfrm flipH="1">
            <a:off x="1170402" y="4715460"/>
            <a:ext cx="4847400" cy="1465800"/>
          </a:xfrm>
          <a:prstGeom prst="bentConnector4">
            <a:avLst>
              <a:gd fmla="val -217" name="adj1"/>
              <a:gd fmla="val 110343" name="adj2"/>
            </a:avLst>
          </a:prstGeom>
          <a:noFill/>
          <a:ln cap="flat" cmpd="sng" w="9525">
            <a:solidFill>
              <a:srgbClr val="7FFF00"/>
            </a:solidFill>
            <a:prstDash val="solid"/>
            <a:round/>
            <a:headEnd len="sm" w="sm" type="none"/>
            <a:tailEnd len="med" w="med" type="stealth"/>
          </a:ln>
        </p:spPr>
      </p:cxnSp>
      <p:sp>
        <p:nvSpPr>
          <p:cNvPr id="996" name="Google Shape;996;p39"/>
          <p:cNvSpPr/>
          <p:nvPr/>
        </p:nvSpPr>
        <p:spPr>
          <a:xfrm>
            <a:off x="4889399" y="4852344"/>
            <a:ext cx="6000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normal</a:t>
            </a:r>
            <a:endParaRPr/>
          </a:p>
        </p:txBody>
      </p:sp>
      <p:cxnSp>
        <p:nvCxnSpPr>
          <p:cNvPr id="997" name="Google Shape;997;p39"/>
          <p:cNvCxnSpPr/>
          <p:nvPr/>
        </p:nvCxnSpPr>
        <p:spPr>
          <a:xfrm>
            <a:off x="2462844" y="5364516"/>
            <a:ext cx="536400" cy="182700"/>
          </a:xfrm>
          <a:prstGeom prst="straightConnector1">
            <a:avLst/>
          </a:prstGeom>
          <a:noFill/>
          <a:ln cap="flat" cmpd="sng" w="9525">
            <a:solidFill>
              <a:srgbClr val="FFC107"/>
            </a:solidFill>
            <a:prstDash val="solid"/>
            <a:round/>
            <a:headEnd len="sm" w="sm" type="none"/>
            <a:tailEnd len="med" w="med" type="stealth"/>
          </a:ln>
        </p:spPr>
      </p:cxnSp>
      <p:cxnSp>
        <p:nvCxnSpPr>
          <p:cNvPr id="998" name="Google Shape;998;p39"/>
          <p:cNvCxnSpPr/>
          <p:nvPr/>
        </p:nvCxnSpPr>
        <p:spPr>
          <a:xfrm>
            <a:off x="3612800" y="5324675"/>
            <a:ext cx="1318500" cy="222600"/>
          </a:xfrm>
          <a:prstGeom prst="bentConnector3">
            <a:avLst>
              <a:gd fmla="val 98769" name="adj1"/>
            </a:avLst>
          </a:prstGeom>
          <a:noFill/>
          <a:ln cap="flat" cmpd="sng" w="9525">
            <a:solidFill>
              <a:srgbClr val="00D4FF"/>
            </a:solidFill>
            <a:prstDash val="solid"/>
            <a:round/>
            <a:headEnd len="sm" w="sm" type="none"/>
            <a:tailEnd len="med" w="med" type="stealth"/>
          </a:ln>
        </p:spPr>
      </p:cxnSp>
      <p:cxnSp>
        <p:nvCxnSpPr>
          <p:cNvPr id="999" name="Google Shape;999;p39"/>
          <p:cNvCxnSpPr/>
          <p:nvPr/>
        </p:nvCxnSpPr>
        <p:spPr>
          <a:xfrm>
            <a:off x="2011584" y="5864310"/>
            <a:ext cx="146400" cy="0"/>
          </a:xfrm>
          <a:prstGeom prst="straightConnector1">
            <a:avLst/>
          </a:prstGeom>
          <a:noFill/>
          <a:ln cap="flat" cmpd="sng" w="9525">
            <a:solidFill>
              <a:srgbClr val="FFC107"/>
            </a:solidFill>
            <a:prstDash val="solid"/>
            <a:round/>
            <a:headEnd len="sm" w="sm" type="none"/>
            <a:tailEnd len="med" w="med" type="stealth"/>
          </a:ln>
        </p:spPr>
      </p:cxnSp>
      <p:cxnSp>
        <p:nvCxnSpPr>
          <p:cNvPr id="1000" name="Google Shape;1000;p39"/>
          <p:cNvCxnSpPr/>
          <p:nvPr/>
        </p:nvCxnSpPr>
        <p:spPr>
          <a:xfrm>
            <a:off x="3840384" y="5864310"/>
            <a:ext cx="146400" cy="0"/>
          </a:xfrm>
          <a:prstGeom prst="straightConnector1">
            <a:avLst/>
          </a:prstGeom>
          <a:noFill/>
          <a:ln cap="flat" cmpd="sng" w="9525">
            <a:solidFill>
              <a:srgbClr val="00D4FF"/>
            </a:solidFill>
            <a:prstDash val="solid"/>
            <a:round/>
            <a:headEnd len="sm" w="sm" type="none"/>
            <a:tailEnd len="med" w="med" type="stealth"/>
          </a:ln>
        </p:spPr>
      </p:cxnSp>
      <p:cxnSp>
        <p:nvCxnSpPr>
          <p:cNvPr id="1001" name="Google Shape;1001;p39"/>
          <p:cNvCxnSpPr>
            <a:endCxn id="927" idx="3"/>
          </p:cNvCxnSpPr>
          <p:nvPr/>
        </p:nvCxnSpPr>
        <p:spPr>
          <a:xfrm flipH="1" rot="5400000">
            <a:off x="4024122" y="2742432"/>
            <a:ext cx="3557700" cy="2266800"/>
          </a:xfrm>
          <a:prstGeom prst="bentConnector2">
            <a:avLst/>
          </a:prstGeom>
          <a:noFill/>
          <a:ln cap="flat" cmpd="sng" w="9525">
            <a:solidFill>
              <a:srgbClr val="00D4FF"/>
            </a:solidFill>
            <a:prstDash val="solid"/>
            <a:round/>
            <a:headEnd len="sm" w="sm" type="none"/>
            <a:tailEnd len="med" w="med" type="stealth"/>
          </a:ln>
        </p:spPr>
      </p:cxnSp>
      <p:cxnSp>
        <p:nvCxnSpPr>
          <p:cNvPr id="1002" name="Google Shape;1002;p39"/>
          <p:cNvCxnSpPr/>
          <p:nvPr/>
        </p:nvCxnSpPr>
        <p:spPr>
          <a:xfrm flipH="1" rot="10800000">
            <a:off x="5180875" y="5654725"/>
            <a:ext cx="1784700" cy="6300"/>
          </a:xfrm>
          <a:prstGeom prst="straightConnector1">
            <a:avLst/>
          </a:prstGeom>
          <a:noFill/>
          <a:ln cap="flat" cmpd="sng" w="9525">
            <a:solidFill>
              <a:srgbClr val="00FFFF"/>
            </a:solidFill>
            <a:prstDash val="solid"/>
            <a:round/>
            <a:headEnd len="med" w="med" type="none"/>
            <a:tailEnd len="med" w="med" type="none"/>
          </a:ln>
        </p:spPr>
      </p:cxnSp>
      <p:sp>
        <p:nvSpPr>
          <p:cNvPr id="1003" name="Google Shape;1003;p39"/>
          <p:cNvSpPr/>
          <p:nvPr/>
        </p:nvSpPr>
        <p:spPr>
          <a:xfrm>
            <a:off x="6152425" y="5785100"/>
            <a:ext cx="1008900" cy="365700"/>
          </a:xfrm>
          <a:prstGeom prst="roundRect">
            <a:avLst>
              <a:gd fmla="val 26316" name="adj"/>
            </a:avLst>
          </a:prstGeom>
          <a:solidFill>
            <a:srgbClr val="041A08"/>
          </a:solidFill>
          <a:ln cap="flat" cmpd="sng" w="152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39"/>
          <p:cNvSpPr/>
          <p:nvPr/>
        </p:nvSpPr>
        <p:spPr>
          <a:xfrm>
            <a:off x="6230125" y="5785100"/>
            <a:ext cx="8535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1200"/>
              <a:buFont typeface="Arial"/>
              <a:buNone/>
            </a:pPr>
            <a:r>
              <a:rPr b="1" i="0" lang="en-US" sz="700" u="none" cap="none" strike="noStrike">
                <a:solidFill>
                  <a:srgbClr val="7FFF00"/>
                </a:solidFill>
                <a:latin typeface="Arial"/>
                <a:ea typeface="Arial"/>
                <a:cs typeface="Arial"/>
                <a:sym typeface="Arial"/>
              </a:rPr>
              <a:t>🚀  </a:t>
            </a:r>
            <a:r>
              <a:rPr lang="en-US" sz="700">
                <a:solidFill>
                  <a:srgbClr val="FFFFFF"/>
                </a:solidFill>
              </a:rPr>
              <a:t>Mission complete — spawn report</a:t>
            </a:r>
            <a:endParaRPr b="0" i="0" sz="700" u="none" cap="none" strike="noStrike">
              <a:solidFill>
                <a:schemeClr val="dk1"/>
              </a:solidFill>
              <a:latin typeface="Calibri"/>
              <a:ea typeface="Calibri"/>
              <a:cs typeface="Calibri"/>
              <a:sym typeface="Calibri"/>
            </a:endParaRPr>
          </a:p>
        </p:txBody>
      </p:sp>
      <p:cxnSp>
        <p:nvCxnSpPr>
          <p:cNvPr id="1005" name="Google Shape;1005;p39"/>
          <p:cNvCxnSpPr>
            <a:endCxn id="1004" idx="1"/>
          </p:cNvCxnSpPr>
          <p:nvPr/>
        </p:nvCxnSpPr>
        <p:spPr>
          <a:xfrm>
            <a:off x="5163325" y="5864150"/>
            <a:ext cx="1066800" cy="103800"/>
          </a:xfrm>
          <a:prstGeom prst="straightConnector1">
            <a:avLst/>
          </a:prstGeom>
          <a:noFill/>
          <a:ln cap="flat" cmpd="sng" w="9525">
            <a:solidFill>
              <a:schemeClr val="dk2"/>
            </a:solidFill>
            <a:prstDash val="solid"/>
            <a:round/>
            <a:headEnd len="med" w="med" type="none"/>
            <a:tailEnd len="med" w="med" type="triangle"/>
          </a:ln>
        </p:spPr>
      </p:cxnSp>
      <p:sp>
        <p:nvSpPr>
          <p:cNvPr id="1006" name="Google Shape;1006;p39"/>
          <p:cNvSpPr/>
          <p:nvPr/>
        </p:nvSpPr>
        <p:spPr>
          <a:xfrm>
            <a:off x="5275998" y="5988238"/>
            <a:ext cx="853500" cy="170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888888"/>
              </a:buClr>
              <a:buSzPts val="700"/>
              <a:buFont typeface="Arial"/>
              <a:buNone/>
            </a:pPr>
            <a:r>
              <a:rPr lang="en-US" sz="600">
                <a:solidFill>
                  <a:srgbClr val="FFFFFF"/>
                </a:solidFill>
              </a:rPr>
              <a:t>yes — both true</a:t>
            </a:r>
            <a:endParaRPr b="0" i="0" sz="600" u="none" cap="none" strike="noStrike">
              <a:solidFill>
                <a:schemeClr val="lt1"/>
              </a:solidFill>
              <a:latin typeface="Calibri"/>
              <a:ea typeface="Calibri"/>
              <a:cs typeface="Calibri"/>
              <a:sym typeface="Calibri"/>
            </a:endParaRPr>
          </a:p>
        </p:txBody>
      </p:sp>
      <p:cxnSp>
        <p:nvCxnSpPr>
          <p:cNvPr id="1007" name="Google Shape;1007;p39"/>
          <p:cNvCxnSpPr>
            <a:stCxn id="939" idx="2"/>
            <a:endCxn id="944" idx="0"/>
          </p:cNvCxnSpPr>
          <p:nvPr/>
        </p:nvCxnSpPr>
        <p:spPr>
          <a:xfrm flipH="1">
            <a:off x="1170312" y="5364516"/>
            <a:ext cx="1292400" cy="182700"/>
          </a:xfrm>
          <a:prstGeom prst="straightConnector1">
            <a:avLst/>
          </a:prstGeom>
          <a:noFill/>
          <a:ln cap="flat" cmpd="sng" w="9525">
            <a:solidFill>
              <a:srgbClr val="7FFF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12" name="Shape 1012"/>
        <p:cNvGrpSpPr/>
        <p:nvPr/>
      </p:nvGrpSpPr>
      <p:grpSpPr>
        <a:xfrm>
          <a:off x="0" y="0"/>
          <a:ext cx="0" cy="0"/>
          <a:chOff x="0" y="0"/>
          <a:chExt cx="0" cy="0"/>
        </a:xfrm>
      </p:grpSpPr>
      <p:sp>
        <p:nvSpPr>
          <p:cNvPr id="1013" name="Google Shape;1013;p40"/>
          <p:cNvSpPr/>
          <p:nvPr/>
        </p:nvSpPr>
        <p:spPr>
          <a:xfrm>
            <a:off x="0" y="0"/>
            <a:ext cx="54900" cy="68580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0"/>
          <p:cNvSpPr/>
          <p:nvPr/>
        </p:nvSpPr>
        <p:spPr>
          <a:xfrm>
            <a:off x="54864" y="0"/>
            <a:ext cx="12134100" cy="366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0"/>
          <p:cNvSpPr/>
          <p:nvPr/>
        </p:nvSpPr>
        <p:spPr>
          <a:xfrm>
            <a:off x="54864" y="6821424"/>
            <a:ext cx="12134100" cy="366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0"/>
          <p:cNvSpPr/>
          <p:nvPr/>
        </p:nvSpPr>
        <p:spPr>
          <a:xfrm>
            <a:off x="274320" y="64008"/>
            <a:ext cx="73152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1000"/>
              <a:buFont typeface="Calibri"/>
              <a:buNone/>
            </a:pPr>
            <a:r>
              <a:rPr b="1" i="0" lang="en-US" sz="1000" u="none" cap="none" strike="noStrike">
                <a:solidFill>
                  <a:srgbClr val="00E5FF"/>
                </a:solidFill>
                <a:latin typeface="Calibri"/>
                <a:ea typeface="Calibri"/>
                <a:cs typeface="Calibri"/>
                <a:sym typeface="Calibri"/>
              </a:rPr>
              <a:t>AUTONOMOUS PLANNING CYCLE</a:t>
            </a:r>
            <a:endParaRPr b="0" i="0" sz="1000" u="none" cap="none" strike="noStrike">
              <a:solidFill>
                <a:schemeClr val="dk1"/>
              </a:solidFill>
              <a:latin typeface="Calibri"/>
              <a:ea typeface="Calibri"/>
              <a:cs typeface="Calibri"/>
              <a:sym typeface="Calibri"/>
            </a:endParaRPr>
          </a:p>
        </p:txBody>
      </p:sp>
      <p:sp>
        <p:nvSpPr>
          <p:cNvPr id="1017" name="Google Shape;1017;p40"/>
          <p:cNvSpPr/>
          <p:nvPr/>
        </p:nvSpPr>
        <p:spPr>
          <a:xfrm>
            <a:off x="274320" y="28346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2400"/>
              <a:buFont typeface="Arial"/>
              <a:buNone/>
            </a:pPr>
            <a:r>
              <a:rPr b="1" i="0" lang="en-US" sz="2400" u="none" cap="none" strike="noStrike">
                <a:solidFill>
                  <a:srgbClr val="E8ECF4"/>
                </a:solidFill>
                <a:latin typeface="Arial"/>
                <a:ea typeface="Arial"/>
                <a:cs typeface="Arial"/>
                <a:sym typeface="Arial"/>
              </a:rPr>
              <a:t>Dual Termination &amp; Context Compaction</a:t>
            </a:r>
            <a:endParaRPr b="0" i="0" sz="2400" u="none" cap="none" strike="noStrike">
              <a:solidFill>
                <a:schemeClr val="dk1"/>
              </a:solidFill>
              <a:latin typeface="Calibri"/>
              <a:ea typeface="Calibri"/>
              <a:cs typeface="Calibri"/>
              <a:sym typeface="Calibri"/>
            </a:endParaRPr>
          </a:p>
        </p:txBody>
      </p:sp>
      <p:cxnSp>
        <p:nvCxnSpPr>
          <p:cNvPr id="1018" name="Google Shape;1018;p40"/>
          <p:cNvCxnSpPr/>
          <p:nvPr/>
        </p:nvCxnSpPr>
        <p:spPr>
          <a:xfrm>
            <a:off x="6035040" y="914400"/>
            <a:ext cx="0" cy="5623500"/>
          </a:xfrm>
          <a:prstGeom prst="straightConnector1">
            <a:avLst/>
          </a:prstGeom>
          <a:noFill/>
          <a:ln cap="flat" cmpd="sng" w="12700">
            <a:solidFill>
              <a:srgbClr val="23283A"/>
            </a:solidFill>
            <a:prstDash val="solid"/>
            <a:round/>
            <a:headEnd len="sm" w="sm" type="none"/>
            <a:tailEnd len="sm" w="sm" type="none"/>
          </a:ln>
        </p:spPr>
      </p:cxnSp>
      <p:sp>
        <p:nvSpPr>
          <p:cNvPr id="1019" name="Google Shape;1019;p40"/>
          <p:cNvSpPr/>
          <p:nvPr/>
        </p:nvSpPr>
        <p:spPr>
          <a:xfrm>
            <a:off x="274320" y="932688"/>
            <a:ext cx="5577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DUAL TERMINATION CONDITION</a:t>
            </a:r>
            <a:r>
              <a:rPr b="0" i="1" lang="en-US" sz="1100" u="none" cap="none" strike="noStrike">
                <a:solidFill>
                  <a:srgbClr val="A0AAB8"/>
                </a:solidFill>
                <a:latin typeface="Calibri"/>
                <a:ea typeface="Calibri"/>
                <a:cs typeface="Calibri"/>
                <a:sym typeface="Calibri"/>
              </a:rPr>
              <a:t>  —  why both must be true</a:t>
            </a:r>
            <a:endParaRPr b="0" i="0" sz="1300" u="none" cap="none" strike="noStrike">
              <a:solidFill>
                <a:schemeClr val="dk1"/>
              </a:solidFill>
              <a:latin typeface="Calibri"/>
              <a:ea typeface="Calibri"/>
              <a:cs typeface="Calibri"/>
              <a:sym typeface="Calibri"/>
            </a:endParaRPr>
          </a:p>
        </p:txBody>
      </p:sp>
      <p:sp>
        <p:nvSpPr>
          <p:cNvPr id="1020" name="Google Shape;1020;p40"/>
          <p:cNvSpPr/>
          <p:nvPr/>
        </p:nvSpPr>
        <p:spPr>
          <a:xfrm>
            <a:off x="274320" y="1298448"/>
            <a:ext cx="2606100" cy="1206900"/>
          </a:xfrm>
          <a:prstGeom prst="roundRect">
            <a:avLst>
              <a:gd fmla="val 4545"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0"/>
          <p:cNvSpPr/>
          <p:nvPr/>
        </p:nvSpPr>
        <p:spPr>
          <a:xfrm>
            <a:off x="384048" y="1371600"/>
            <a:ext cx="2386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1150"/>
              <a:buFont typeface="Calibri"/>
              <a:buNone/>
            </a:pPr>
            <a:r>
              <a:rPr b="1" i="0" lang="en-US" sz="1150" u="none" cap="none" strike="noStrike">
                <a:solidFill>
                  <a:srgbClr val="39FF14"/>
                </a:solidFill>
                <a:latin typeface="Calibri"/>
                <a:ea typeface="Calibri"/>
                <a:cs typeface="Calibri"/>
                <a:sym typeface="Calibri"/>
              </a:rPr>
              <a:t>ASG exhausted?</a:t>
            </a:r>
            <a:endParaRPr b="0" i="0" sz="1150" u="none" cap="none" strike="noStrike">
              <a:solidFill>
                <a:schemeClr val="dk1"/>
              </a:solidFill>
              <a:latin typeface="Calibri"/>
              <a:ea typeface="Calibri"/>
              <a:cs typeface="Calibri"/>
              <a:sym typeface="Calibri"/>
            </a:endParaRPr>
          </a:p>
        </p:txBody>
      </p:sp>
      <p:sp>
        <p:nvSpPr>
          <p:cNvPr id="1022" name="Google Shape;1022;p40"/>
          <p:cNvSpPr/>
          <p:nvPr/>
        </p:nvSpPr>
        <p:spPr>
          <a:xfrm>
            <a:off x="384048" y="1664208"/>
            <a:ext cx="2386500" cy="804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Domain, Host, Port, Service, Technology, Endpoint, and Parameter node has been investigated by the appropriate agent.</a:t>
            </a:r>
            <a:endParaRPr b="0" i="0" sz="850" u="none" cap="none" strike="noStrike">
              <a:solidFill>
                <a:schemeClr val="dk1"/>
              </a:solidFill>
              <a:latin typeface="Calibri"/>
              <a:ea typeface="Calibri"/>
              <a:cs typeface="Calibri"/>
              <a:sym typeface="Calibri"/>
            </a:endParaRPr>
          </a:p>
        </p:txBody>
      </p:sp>
      <p:sp>
        <p:nvSpPr>
          <p:cNvPr id="1023" name="Google Shape;1023;p40"/>
          <p:cNvSpPr/>
          <p:nvPr/>
        </p:nvSpPr>
        <p:spPr>
          <a:xfrm>
            <a:off x="3246120" y="1298448"/>
            <a:ext cx="2606100" cy="1206900"/>
          </a:xfrm>
          <a:prstGeom prst="roundRect">
            <a:avLst>
              <a:gd fmla="val 4545"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0"/>
          <p:cNvSpPr/>
          <p:nvPr/>
        </p:nvSpPr>
        <p:spPr>
          <a:xfrm>
            <a:off x="3355848" y="1371600"/>
            <a:ext cx="2386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150"/>
              <a:buFont typeface="Calibri"/>
              <a:buNone/>
            </a:pPr>
            <a:r>
              <a:rPr b="1" i="0" lang="en-US" sz="1150" u="none" cap="none" strike="noStrike">
                <a:solidFill>
                  <a:srgbClr val="FFD700"/>
                </a:solidFill>
                <a:latin typeface="Calibri"/>
                <a:ea typeface="Calibri"/>
                <a:cs typeface="Calibri"/>
                <a:sym typeface="Calibri"/>
              </a:rPr>
              <a:t>APG resolved?</a:t>
            </a:r>
            <a:endParaRPr b="0" i="0" sz="1150" u="none" cap="none" strike="noStrike">
              <a:solidFill>
                <a:schemeClr val="dk1"/>
              </a:solidFill>
              <a:latin typeface="Calibri"/>
              <a:ea typeface="Calibri"/>
              <a:cs typeface="Calibri"/>
              <a:sym typeface="Calibri"/>
            </a:endParaRPr>
          </a:p>
        </p:txBody>
      </p:sp>
      <p:sp>
        <p:nvSpPr>
          <p:cNvPr id="1025" name="Google Shape;1025;p40"/>
          <p:cNvSpPr/>
          <p:nvPr/>
        </p:nvSpPr>
        <p:spPr>
          <a:xfrm>
            <a:off x="3355848" y="1664208"/>
            <a:ext cx="2386500" cy="804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AttackChain sits in a terminal state — VALIDATED or RULED_OUT. None left HYPOTHESIZED or PARTIALLY_VALIDATED.</a:t>
            </a:r>
            <a:endParaRPr b="0" i="0" sz="850" u="none" cap="none" strike="noStrike">
              <a:solidFill>
                <a:schemeClr val="dk1"/>
              </a:solidFill>
              <a:latin typeface="Calibri"/>
              <a:ea typeface="Calibri"/>
              <a:cs typeface="Calibri"/>
              <a:sym typeface="Calibri"/>
            </a:endParaRPr>
          </a:p>
        </p:txBody>
      </p:sp>
      <p:sp>
        <p:nvSpPr>
          <p:cNvPr id="1026" name="Google Shape;1026;p40"/>
          <p:cNvSpPr/>
          <p:nvPr/>
        </p:nvSpPr>
        <p:spPr>
          <a:xfrm>
            <a:off x="274320" y="2670048"/>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0"/>
          <p:cNvSpPr/>
          <p:nvPr/>
        </p:nvSpPr>
        <p:spPr>
          <a:xfrm>
            <a:off x="384048" y="2734056"/>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ASG only — NOT DONE</a:t>
            </a:r>
            <a:endParaRPr b="0" i="0" sz="950" u="none" cap="none" strike="noStrike">
              <a:solidFill>
                <a:schemeClr val="dk1"/>
              </a:solidFill>
              <a:latin typeface="Calibri"/>
              <a:ea typeface="Calibri"/>
              <a:cs typeface="Calibri"/>
              <a:sym typeface="Calibri"/>
            </a:endParaRPr>
          </a:p>
        </p:txBody>
      </p:sp>
      <p:sp>
        <p:nvSpPr>
          <p:cNvPr id="1028" name="Google Shape;1028;p40"/>
          <p:cNvSpPr/>
          <p:nvPr/>
        </p:nvSpPr>
        <p:spPr>
          <a:xfrm>
            <a:off x="384048" y="2980944"/>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Surface fully explored but chains still open. Attack reasoning is unfinished.</a:t>
            </a:r>
            <a:endParaRPr b="0" i="0" sz="800" u="none" cap="none" strike="noStrike">
              <a:solidFill>
                <a:schemeClr val="dk1"/>
              </a:solidFill>
              <a:latin typeface="Calibri"/>
              <a:ea typeface="Calibri"/>
              <a:cs typeface="Calibri"/>
              <a:sym typeface="Calibri"/>
            </a:endParaRPr>
          </a:p>
        </p:txBody>
      </p:sp>
      <p:sp>
        <p:nvSpPr>
          <p:cNvPr id="1029" name="Google Shape;1029;p40"/>
          <p:cNvSpPr/>
          <p:nvPr/>
        </p:nvSpPr>
        <p:spPr>
          <a:xfrm>
            <a:off x="3246120" y="2670048"/>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0"/>
          <p:cNvSpPr/>
          <p:nvPr/>
        </p:nvSpPr>
        <p:spPr>
          <a:xfrm>
            <a:off x="3355848" y="2734056"/>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APG only — NOT DONE</a:t>
            </a:r>
            <a:endParaRPr b="0" i="0" sz="950" u="none" cap="none" strike="noStrike">
              <a:solidFill>
                <a:schemeClr val="dk1"/>
              </a:solidFill>
              <a:latin typeface="Calibri"/>
              <a:ea typeface="Calibri"/>
              <a:cs typeface="Calibri"/>
              <a:sym typeface="Calibri"/>
            </a:endParaRPr>
          </a:p>
        </p:txBody>
      </p:sp>
      <p:sp>
        <p:nvSpPr>
          <p:cNvPr id="1031" name="Google Shape;1031;p40"/>
          <p:cNvSpPr/>
          <p:nvPr/>
        </p:nvSpPr>
        <p:spPr>
          <a:xfrm>
            <a:off x="3355848" y="2980944"/>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All chains resolved, but new ASG nodes were just written — they might seed new chains.</a:t>
            </a:r>
            <a:endParaRPr b="0" i="0" sz="800" u="none" cap="none" strike="noStrike">
              <a:solidFill>
                <a:schemeClr val="dk1"/>
              </a:solidFill>
              <a:latin typeface="Calibri"/>
              <a:ea typeface="Calibri"/>
              <a:cs typeface="Calibri"/>
              <a:sym typeface="Calibri"/>
            </a:endParaRPr>
          </a:p>
        </p:txBody>
      </p:sp>
      <p:sp>
        <p:nvSpPr>
          <p:cNvPr id="1032" name="Google Shape;1032;p40"/>
          <p:cNvSpPr/>
          <p:nvPr/>
        </p:nvSpPr>
        <p:spPr>
          <a:xfrm>
            <a:off x="274320" y="3822192"/>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0"/>
          <p:cNvSpPr/>
          <p:nvPr/>
        </p:nvSpPr>
        <p:spPr>
          <a:xfrm>
            <a:off x="384048" y="3886200"/>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Neither — NOT DONE</a:t>
            </a:r>
            <a:endParaRPr b="0" i="0" sz="950" u="none" cap="none" strike="noStrike">
              <a:solidFill>
                <a:schemeClr val="dk1"/>
              </a:solidFill>
              <a:latin typeface="Calibri"/>
              <a:ea typeface="Calibri"/>
              <a:cs typeface="Calibri"/>
              <a:sym typeface="Calibri"/>
            </a:endParaRPr>
          </a:p>
        </p:txBody>
      </p:sp>
      <p:sp>
        <p:nvSpPr>
          <p:cNvPr id="1034" name="Google Shape;1034;p40"/>
          <p:cNvSpPr/>
          <p:nvPr/>
        </p:nvSpPr>
        <p:spPr>
          <a:xfrm>
            <a:off x="384048" y="4133088"/>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Both conditions incomplete. Mission continues.</a:t>
            </a:r>
            <a:endParaRPr b="0" i="0" sz="800" u="none" cap="none" strike="noStrike">
              <a:solidFill>
                <a:schemeClr val="dk1"/>
              </a:solidFill>
              <a:latin typeface="Calibri"/>
              <a:ea typeface="Calibri"/>
              <a:cs typeface="Calibri"/>
              <a:sym typeface="Calibri"/>
            </a:endParaRPr>
          </a:p>
        </p:txBody>
      </p:sp>
      <p:sp>
        <p:nvSpPr>
          <p:cNvPr id="1035" name="Google Shape;1035;p40"/>
          <p:cNvSpPr/>
          <p:nvPr/>
        </p:nvSpPr>
        <p:spPr>
          <a:xfrm>
            <a:off x="3246120" y="3822192"/>
            <a:ext cx="2606100" cy="1079100"/>
          </a:xfrm>
          <a:prstGeom prst="roundRect">
            <a:avLst>
              <a:gd fmla="val 508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0"/>
          <p:cNvSpPr/>
          <p:nvPr/>
        </p:nvSpPr>
        <p:spPr>
          <a:xfrm>
            <a:off x="3355848" y="3886200"/>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 Both true — MISSION COMPLETE</a:t>
            </a:r>
            <a:endParaRPr b="0" i="0" sz="950" u="none" cap="none" strike="noStrike">
              <a:solidFill>
                <a:schemeClr val="dk1"/>
              </a:solidFill>
              <a:latin typeface="Calibri"/>
              <a:ea typeface="Calibri"/>
              <a:cs typeface="Calibri"/>
              <a:sym typeface="Calibri"/>
            </a:endParaRPr>
          </a:p>
        </p:txBody>
      </p:sp>
      <p:sp>
        <p:nvSpPr>
          <p:cNvPr id="1037" name="Google Shape;1037;p40"/>
          <p:cNvSpPr/>
          <p:nvPr/>
        </p:nvSpPr>
        <p:spPr>
          <a:xfrm>
            <a:off x="3355848" y="4133088"/>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ASG fully mapped, every attack opportunity proven or disproven. Report Agent spawned.</a:t>
            </a:r>
            <a:endParaRPr b="0" i="0" sz="800" u="none" cap="none" strike="noStrike">
              <a:solidFill>
                <a:schemeClr val="dk1"/>
              </a:solidFill>
              <a:latin typeface="Calibri"/>
              <a:ea typeface="Calibri"/>
              <a:cs typeface="Calibri"/>
              <a:sym typeface="Calibri"/>
            </a:endParaRPr>
          </a:p>
        </p:txBody>
      </p:sp>
      <p:sp>
        <p:nvSpPr>
          <p:cNvPr id="1038" name="Google Shape;1038;p40"/>
          <p:cNvSpPr/>
          <p:nvPr/>
        </p:nvSpPr>
        <p:spPr>
          <a:xfrm>
            <a:off x="274320" y="5029200"/>
            <a:ext cx="5577900" cy="1005900"/>
          </a:xfrm>
          <a:prstGeom prst="roundRect">
            <a:avLst>
              <a:gd fmla="val 5455"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0"/>
          <p:cNvSpPr/>
          <p:nvPr/>
        </p:nvSpPr>
        <p:spPr>
          <a:xfrm>
            <a:off x="411480" y="5120640"/>
            <a:ext cx="53034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D93F9"/>
              </a:buClr>
              <a:buSzPts val="900"/>
              <a:buFont typeface="Calibri"/>
              <a:buNone/>
            </a:pPr>
            <a:r>
              <a:rPr b="1" i="0" lang="en-US" sz="900" u="none" cap="none" strike="noStrike">
                <a:solidFill>
                  <a:srgbClr val="BD93F9"/>
                </a:solidFill>
                <a:latin typeface="Calibri"/>
                <a:ea typeface="Calibri"/>
                <a:cs typeface="Calibri"/>
                <a:sym typeface="Calibri"/>
              </a:rPr>
              <a:t>Why existing systems fail:  </a:t>
            </a:r>
            <a:r>
              <a:rPr b="0" i="0" lang="en-US" sz="900" u="none" cap="none" strike="noStrike">
                <a:solidFill>
                  <a:srgbClr val="D8C9F5"/>
                </a:solidFill>
                <a:latin typeface="Calibri"/>
                <a:ea typeface="Calibri"/>
                <a:cs typeface="Calibri"/>
                <a:sym typeface="Calibri"/>
              </a:rPr>
              <a:t>timer-based execution stops mid-chain; task-queue-based systems can't express APG resolution at all. CMatrix is the only architecture that evaluates both conditions simultaneously.</a:t>
            </a:r>
            <a:endParaRPr b="0" i="0" sz="900" u="none" cap="none" strike="noStrike">
              <a:solidFill>
                <a:schemeClr val="dk1"/>
              </a:solidFill>
              <a:latin typeface="Calibri"/>
              <a:ea typeface="Calibri"/>
              <a:cs typeface="Calibri"/>
              <a:sym typeface="Calibri"/>
            </a:endParaRPr>
          </a:p>
        </p:txBody>
      </p:sp>
      <p:sp>
        <p:nvSpPr>
          <p:cNvPr id="1040" name="Google Shape;1040;p40"/>
          <p:cNvSpPr/>
          <p:nvPr/>
        </p:nvSpPr>
        <p:spPr>
          <a:xfrm>
            <a:off x="6263640" y="932688"/>
            <a:ext cx="5651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CONTEXT COMPACTION</a:t>
            </a:r>
            <a:r>
              <a:rPr b="0" i="1" lang="en-US" sz="1100" u="none" cap="none" strike="noStrike">
                <a:solidFill>
                  <a:srgbClr val="A0AAB8"/>
                </a:solidFill>
                <a:latin typeface="Calibri"/>
                <a:ea typeface="Calibri"/>
                <a:cs typeface="Calibri"/>
                <a:sym typeface="Calibri"/>
              </a:rPr>
              <a:t>  —  how long missions stay sharp</a:t>
            </a:r>
            <a:endParaRPr b="0" i="0" sz="1300" u="none" cap="none" strike="noStrike">
              <a:solidFill>
                <a:schemeClr val="dk1"/>
              </a:solidFill>
              <a:latin typeface="Calibri"/>
              <a:ea typeface="Calibri"/>
              <a:cs typeface="Calibri"/>
              <a:sym typeface="Calibri"/>
            </a:endParaRPr>
          </a:p>
        </p:txBody>
      </p:sp>
      <p:sp>
        <p:nvSpPr>
          <p:cNvPr id="1041" name="Google Shape;1041;p40"/>
          <p:cNvSpPr/>
          <p:nvPr/>
        </p:nvSpPr>
        <p:spPr>
          <a:xfrm>
            <a:off x="6263640" y="1298448"/>
            <a:ext cx="5651100" cy="868800"/>
          </a:xfrm>
          <a:prstGeom prst="roundRect">
            <a:avLst>
              <a:gd fmla="val 6316"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0"/>
          <p:cNvSpPr/>
          <p:nvPr/>
        </p:nvSpPr>
        <p:spPr>
          <a:xfrm>
            <a:off x="6400800" y="137160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NORMAL OPERATION</a:t>
            </a:r>
            <a:endParaRPr b="0" i="0" sz="900" u="none" cap="none" strike="noStrike">
              <a:solidFill>
                <a:schemeClr val="dk1"/>
              </a:solidFill>
              <a:latin typeface="Calibri"/>
              <a:ea typeface="Calibri"/>
              <a:cs typeface="Calibri"/>
              <a:sym typeface="Calibri"/>
            </a:endParaRPr>
          </a:p>
        </p:txBody>
      </p:sp>
      <p:sp>
        <p:nvSpPr>
          <p:cNvPr id="1043" name="Google Shape;1043;p40"/>
          <p:cNvSpPr/>
          <p:nvPr/>
        </p:nvSpPr>
        <p:spPr>
          <a:xfrm>
            <a:off x="6400800" y="159105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MicroCompact — every tool call</a:t>
            </a:r>
            <a:endParaRPr b="0" i="0" sz="1150" u="none" cap="none" strike="noStrike">
              <a:solidFill>
                <a:schemeClr val="dk1"/>
              </a:solidFill>
              <a:latin typeface="Calibri"/>
              <a:ea typeface="Calibri"/>
              <a:cs typeface="Calibri"/>
              <a:sym typeface="Calibri"/>
            </a:endParaRPr>
          </a:p>
        </p:txBody>
      </p:sp>
      <p:sp>
        <p:nvSpPr>
          <p:cNvPr id="1044" name="Google Shape;1044;p40"/>
          <p:cNvSpPr/>
          <p:nvPr/>
        </p:nvSpPr>
        <p:spPr>
          <a:xfrm>
            <a:off x="6400800" y="1847088"/>
            <a:ext cx="5376600" cy="246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Raw tool output is discarded immediately; the agent sees only a 3-line summary.</a:t>
            </a:r>
            <a:endParaRPr b="0" i="0" sz="900" u="none" cap="none" strike="noStrike">
              <a:solidFill>
                <a:schemeClr val="dk1"/>
              </a:solidFill>
              <a:latin typeface="Calibri"/>
              <a:ea typeface="Calibri"/>
              <a:cs typeface="Calibri"/>
              <a:sym typeface="Calibri"/>
            </a:endParaRPr>
          </a:p>
        </p:txBody>
      </p:sp>
      <p:sp>
        <p:nvSpPr>
          <p:cNvPr id="1045" name="Google Shape;1045;p40"/>
          <p:cNvSpPr/>
          <p:nvPr/>
        </p:nvSpPr>
        <p:spPr>
          <a:xfrm>
            <a:off x="6263640" y="2194560"/>
            <a:ext cx="5651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046" name="Google Shape;1046;p40"/>
          <p:cNvSpPr/>
          <p:nvPr/>
        </p:nvSpPr>
        <p:spPr>
          <a:xfrm>
            <a:off x="6263640" y="2395728"/>
            <a:ext cx="5651100" cy="868800"/>
          </a:xfrm>
          <a:prstGeom prst="roundRect">
            <a:avLst>
              <a:gd fmla="val 6316"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0"/>
          <p:cNvSpPr/>
          <p:nvPr/>
        </p:nvSpPr>
        <p:spPr>
          <a:xfrm>
            <a:off x="6400800" y="246888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900"/>
              <a:buFont typeface="Calibri"/>
              <a:buNone/>
            </a:pPr>
            <a:r>
              <a:rPr b="1" i="0" lang="en-US" sz="900" u="none" cap="none" strike="noStrike">
                <a:solidFill>
                  <a:srgbClr val="FFD700"/>
                </a:solidFill>
                <a:latin typeface="Calibri"/>
                <a:ea typeface="Calibri"/>
                <a:cs typeface="Calibri"/>
                <a:sym typeface="Calibri"/>
              </a:rPr>
              <a:t>AUTOCOMPACT  ·  @ 60% context</a:t>
            </a:r>
            <a:endParaRPr b="0" i="0" sz="900" u="none" cap="none" strike="noStrike">
              <a:solidFill>
                <a:schemeClr val="dk1"/>
              </a:solidFill>
              <a:latin typeface="Calibri"/>
              <a:ea typeface="Calibri"/>
              <a:cs typeface="Calibri"/>
              <a:sym typeface="Calibri"/>
            </a:endParaRPr>
          </a:p>
        </p:txBody>
      </p:sp>
      <p:sp>
        <p:nvSpPr>
          <p:cNvPr id="1048" name="Google Shape;1048;p40"/>
          <p:cNvSpPr/>
          <p:nvPr/>
        </p:nvSpPr>
        <p:spPr>
          <a:xfrm>
            <a:off x="6400800" y="268833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Older turns summarized by a scoped LLM call</a:t>
            </a:r>
            <a:endParaRPr b="0" i="0" sz="1150" u="none" cap="none" strike="noStrike">
              <a:solidFill>
                <a:schemeClr val="dk1"/>
              </a:solidFill>
              <a:latin typeface="Calibri"/>
              <a:ea typeface="Calibri"/>
              <a:cs typeface="Calibri"/>
              <a:sym typeface="Calibri"/>
            </a:endParaRPr>
          </a:p>
        </p:txBody>
      </p:sp>
      <p:sp>
        <p:nvSpPr>
          <p:cNvPr id="1049" name="Google Shape;1049;p40"/>
          <p:cNvSpPr/>
          <p:nvPr/>
        </p:nvSpPr>
        <p:spPr>
          <a:xfrm>
            <a:off x="6400800" y="2944368"/>
            <a:ext cx="5376600" cy="246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The summary replaces raw conversation turns. The agent continues uninterrupted.</a:t>
            </a:r>
            <a:endParaRPr b="0" i="0" sz="900" u="none" cap="none" strike="noStrike">
              <a:solidFill>
                <a:schemeClr val="dk1"/>
              </a:solidFill>
              <a:latin typeface="Calibri"/>
              <a:ea typeface="Calibri"/>
              <a:cs typeface="Calibri"/>
              <a:sym typeface="Calibri"/>
            </a:endParaRPr>
          </a:p>
        </p:txBody>
      </p:sp>
      <p:sp>
        <p:nvSpPr>
          <p:cNvPr id="1050" name="Google Shape;1050;p40"/>
          <p:cNvSpPr/>
          <p:nvPr/>
        </p:nvSpPr>
        <p:spPr>
          <a:xfrm>
            <a:off x="6263640" y="3291840"/>
            <a:ext cx="5651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051" name="Google Shape;1051;p40"/>
          <p:cNvSpPr/>
          <p:nvPr/>
        </p:nvSpPr>
        <p:spPr>
          <a:xfrm>
            <a:off x="6263640" y="3493008"/>
            <a:ext cx="5651100" cy="1051500"/>
          </a:xfrm>
          <a:prstGeom prst="roundRect">
            <a:avLst>
              <a:gd fmla="val 5217" name="adj"/>
            </a:avLst>
          </a:prstGeom>
          <a:solidFill>
            <a:srgbClr val="061A28"/>
          </a:solidFill>
          <a:ln cap="flat" cmpd="sng" w="12700">
            <a:solidFill>
              <a:srgbClr val="00E5FF"/>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0"/>
          <p:cNvSpPr/>
          <p:nvPr/>
        </p:nvSpPr>
        <p:spPr>
          <a:xfrm>
            <a:off x="6400800" y="356616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900"/>
              <a:buFont typeface="Calibri"/>
              <a:buNone/>
            </a:pPr>
            <a:r>
              <a:rPr b="1" i="0" lang="en-US" sz="900" u="none" cap="none" strike="noStrike">
                <a:solidFill>
                  <a:srgbClr val="00E5FF"/>
                </a:solidFill>
                <a:latin typeface="Calibri"/>
                <a:ea typeface="Calibri"/>
                <a:cs typeface="Calibri"/>
                <a:sym typeface="Calibri"/>
              </a:rPr>
              <a:t>FULLCOMPACT  ·  @ 85% context</a:t>
            </a:r>
            <a:endParaRPr b="0" i="0" sz="900" u="none" cap="none" strike="noStrike">
              <a:solidFill>
                <a:schemeClr val="dk1"/>
              </a:solidFill>
              <a:latin typeface="Calibri"/>
              <a:ea typeface="Calibri"/>
              <a:cs typeface="Calibri"/>
              <a:sym typeface="Calibri"/>
            </a:endParaRPr>
          </a:p>
        </p:txBody>
      </p:sp>
      <p:sp>
        <p:nvSpPr>
          <p:cNvPr id="1053" name="Google Shape;1053;p40"/>
          <p:cNvSpPr/>
          <p:nvPr/>
        </p:nvSpPr>
        <p:spPr>
          <a:xfrm>
            <a:off x="6400800" y="378561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Entire history rebuilt from scratch</a:t>
            </a:r>
            <a:endParaRPr b="0" i="0" sz="1150" u="none" cap="none" strike="noStrike">
              <a:solidFill>
                <a:schemeClr val="dk1"/>
              </a:solidFill>
              <a:latin typeface="Calibri"/>
              <a:ea typeface="Calibri"/>
              <a:cs typeface="Calibri"/>
              <a:sym typeface="Calibri"/>
            </a:endParaRPr>
          </a:p>
        </p:txBody>
      </p:sp>
      <p:sp>
        <p:nvSpPr>
          <p:cNvPr id="1054" name="Google Shape;1054;p40"/>
          <p:cNvSpPr/>
          <p:nvPr/>
        </p:nvSpPr>
        <p:spPr>
          <a:xfrm>
            <a:off x="6400800" y="4041648"/>
            <a:ext cx="5376600" cy="429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Reconstructed from: current ASG snapshot · current APG priorities · last N tool results. Zero intelligence lost — everything important already lives in the graph.</a:t>
            </a:r>
            <a:endParaRPr b="0" i="0" sz="900" u="none" cap="none" strike="noStrike">
              <a:solidFill>
                <a:schemeClr val="dk1"/>
              </a:solidFill>
              <a:latin typeface="Calibri"/>
              <a:ea typeface="Calibri"/>
              <a:cs typeface="Calibri"/>
              <a:sym typeface="Calibri"/>
            </a:endParaRPr>
          </a:p>
        </p:txBody>
      </p:sp>
      <p:sp>
        <p:nvSpPr>
          <p:cNvPr id="1055" name="Google Shape;1055;p40"/>
          <p:cNvSpPr/>
          <p:nvPr/>
        </p:nvSpPr>
        <p:spPr>
          <a:xfrm>
            <a:off x="6263640" y="4590288"/>
            <a:ext cx="56511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fresh context  →  loops back to Normal Operation  ↺</a:t>
            </a:r>
            <a:endParaRPr b="0" i="0" sz="850" u="none" cap="none" strike="noStrike">
              <a:solidFill>
                <a:schemeClr val="dk1"/>
              </a:solidFill>
              <a:latin typeface="Calibri"/>
              <a:ea typeface="Calibri"/>
              <a:cs typeface="Calibri"/>
              <a:sym typeface="Calibri"/>
            </a:endParaRPr>
          </a:p>
        </p:txBody>
      </p:sp>
      <p:sp>
        <p:nvSpPr>
          <p:cNvPr id="1056" name="Google Shape;1056;p40"/>
          <p:cNvSpPr/>
          <p:nvPr/>
        </p:nvSpPr>
        <p:spPr>
          <a:xfrm>
            <a:off x="6263640" y="5029200"/>
            <a:ext cx="5651100" cy="1005900"/>
          </a:xfrm>
          <a:prstGeom prst="roundRect">
            <a:avLst>
              <a:gd fmla="val 545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40"/>
          <p:cNvSpPr/>
          <p:nvPr/>
        </p:nvSpPr>
        <p:spPr>
          <a:xfrm>
            <a:off x="6400800" y="5120640"/>
            <a:ext cx="53766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The ASG is the key:  </a:t>
            </a:r>
            <a:r>
              <a:rPr b="0" i="0" lang="en-US" sz="900" u="none" cap="none" strike="noStrike">
                <a:solidFill>
                  <a:srgbClr val="C8F5BD"/>
                </a:solidFill>
                <a:latin typeface="Calibri"/>
                <a:ea typeface="Calibri"/>
                <a:cs typeface="Calibri"/>
                <a:sym typeface="Calibri"/>
              </a:rPr>
              <a:t>conversation history is expendable because every discovery lives permanently in the graph. That's what makes FullCompact safe — nothing important is ever lost.</a:t>
            </a:r>
            <a:endParaRPr b="0" i="0" sz="900" u="none" cap="none" strike="noStrike">
              <a:solidFill>
                <a:schemeClr val="dk1"/>
              </a:solidFill>
              <a:latin typeface="Calibri"/>
              <a:ea typeface="Calibri"/>
              <a:cs typeface="Calibri"/>
              <a:sym typeface="Calibri"/>
            </a:endParaRPr>
          </a:p>
        </p:txBody>
      </p:sp>
      <p:sp>
        <p:nvSpPr>
          <p:cNvPr id="1058" name="Google Shape;1058;p40"/>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00D4FF"/>
                </a:solidFill>
                <a:latin typeface="Calibri"/>
                <a:ea typeface="Calibri"/>
                <a:cs typeface="Calibri"/>
                <a:sym typeface="Calibri"/>
              </a:rPr>
              <a:t>12</a:t>
            </a:r>
            <a:endParaRPr b="0" i="0" sz="1400" u="none" cap="none" strike="noStrike">
              <a:solidFill>
                <a:srgbClr val="00D4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62" name="Shape 1062"/>
        <p:cNvGrpSpPr/>
        <p:nvPr/>
      </p:nvGrpSpPr>
      <p:grpSpPr>
        <a:xfrm>
          <a:off x="0" y="0"/>
          <a:ext cx="0" cy="0"/>
          <a:chOff x="0" y="0"/>
          <a:chExt cx="0" cy="0"/>
        </a:xfrm>
      </p:grpSpPr>
      <p:sp>
        <p:nvSpPr>
          <p:cNvPr id="1063" name="Google Shape;1063;p41"/>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4" name="Google Shape;1064;p41"/>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5" name="Google Shape;1065;p41"/>
          <p:cNvSpPr/>
          <p:nvPr/>
        </p:nvSpPr>
        <p:spPr>
          <a:xfrm>
            <a:off x="54876" y="684887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6" name="Google Shape;1066;p41"/>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ATTACK CHAIN LIFECYCLE</a:t>
            </a:r>
            <a:endParaRPr b="0" i="0" sz="1400" u="none" cap="none" strike="noStrike">
              <a:solidFill>
                <a:srgbClr val="000000"/>
              </a:solidFill>
              <a:latin typeface="Arial"/>
              <a:ea typeface="Arial"/>
              <a:cs typeface="Arial"/>
              <a:sym typeface="Arial"/>
            </a:endParaRPr>
          </a:p>
        </p:txBody>
      </p:sp>
      <p:sp>
        <p:nvSpPr>
          <p:cNvPr id="1067" name="Google Shape;1067;p41"/>
          <p:cNvSpPr txBox="1"/>
          <p:nvPr/>
        </p:nvSpPr>
        <p:spPr>
          <a:xfrm>
            <a:off x="274320" y="283464"/>
            <a:ext cx="1097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APG Chain State Machine + Validation Agent Self-Debugging Loop</a:t>
            </a:r>
            <a:endParaRPr b="0" i="0" sz="1400" u="none" cap="none" strike="noStrike">
              <a:solidFill>
                <a:srgbClr val="000000"/>
              </a:solidFill>
              <a:latin typeface="Arial"/>
              <a:ea typeface="Arial"/>
              <a:cs typeface="Arial"/>
              <a:sym typeface="Arial"/>
            </a:endParaRPr>
          </a:p>
        </p:txBody>
      </p:sp>
      <p:sp>
        <p:nvSpPr>
          <p:cNvPr id="1068" name="Google Shape;1068;p41"/>
          <p:cNvSpPr/>
          <p:nvPr/>
        </p:nvSpPr>
        <p:spPr>
          <a:xfrm>
            <a:off x="228600" y="804672"/>
            <a:ext cx="2331600" cy="1783200"/>
          </a:xfrm>
          <a:prstGeom prst="rect">
            <a:avLst/>
          </a:prstGeom>
          <a:solidFill>
            <a:srgbClr val="504000"/>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9" name="Google Shape;1069;p41"/>
          <p:cNvSpPr/>
          <p:nvPr/>
        </p:nvSpPr>
        <p:spPr>
          <a:xfrm>
            <a:off x="228600" y="804672"/>
            <a:ext cx="2331600" cy="27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0" name="Google Shape;1070;p41"/>
          <p:cNvSpPr txBox="1"/>
          <p:nvPr/>
        </p:nvSpPr>
        <p:spPr>
          <a:xfrm>
            <a:off x="228600" y="841248"/>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HYPOTHESIZED</a:t>
            </a:r>
            <a:endParaRPr b="0" i="0" sz="1400" u="none" cap="none" strike="noStrike">
              <a:solidFill>
                <a:srgbClr val="000000"/>
              </a:solidFill>
              <a:latin typeface="Arial"/>
              <a:ea typeface="Arial"/>
              <a:cs typeface="Arial"/>
              <a:sym typeface="Arial"/>
            </a:endParaRPr>
          </a:p>
        </p:txBody>
      </p:sp>
      <p:sp>
        <p:nvSpPr>
          <p:cNvPr id="1071" name="Google Shape;1071;p41"/>
          <p:cNvSpPr txBox="1"/>
          <p:nvPr/>
        </p:nvSpPr>
        <p:spPr>
          <a:xfrm>
            <a:off x="320040"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Commander inferred a possible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from ASG Vulnerability nodes.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Not yet tested.</a:t>
            </a:r>
            <a:endParaRPr b="0" i="0" sz="1400" u="none" cap="none" strike="noStrike">
              <a:solidFill>
                <a:srgbClr val="000000"/>
              </a:solidFill>
              <a:latin typeface="Arial"/>
              <a:ea typeface="Arial"/>
              <a:cs typeface="Arial"/>
              <a:sym typeface="Arial"/>
            </a:endParaRPr>
          </a:p>
        </p:txBody>
      </p:sp>
      <p:sp>
        <p:nvSpPr>
          <p:cNvPr id="1072" name="Google Shape;1072;p41"/>
          <p:cNvSpPr/>
          <p:nvPr/>
        </p:nvSpPr>
        <p:spPr>
          <a:xfrm>
            <a:off x="2798064" y="804672"/>
            <a:ext cx="2331600" cy="1783200"/>
          </a:xfrm>
          <a:prstGeom prst="rect">
            <a:avLst/>
          </a:prstGeom>
          <a:solidFill>
            <a:srgbClr val="284008"/>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3" name="Google Shape;1073;p41"/>
          <p:cNvSpPr/>
          <p:nvPr/>
        </p:nvSpPr>
        <p:spPr>
          <a:xfrm>
            <a:off x="2798064" y="804672"/>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4" name="Google Shape;1074;p41"/>
          <p:cNvSpPr txBox="1"/>
          <p:nvPr/>
        </p:nvSpPr>
        <p:spPr>
          <a:xfrm>
            <a:off x="2798075" y="841249"/>
            <a:ext cx="2331600" cy="45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PARTIALLY VALIDATED</a:t>
            </a:r>
            <a:br>
              <a:rPr b="1" i="0" lang="en-US" sz="950" u="none" cap="none" strike="noStrike">
                <a:solidFill>
                  <a:srgbClr val="0A0D1A"/>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p:txBody>
      </p:sp>
      <p:sp>
        <p:nvSpPr>
          <p:cNvPr id="1075" name="Google Shape;1075;p41"/>
          <p:cNvSpPr txBox="1"/>
          <p:nvPr/>
        </p:nvSpPr>
        <p:spPr>
          <a:xfrm>
            <a:off x="2889504"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One or more ChainSteps confirmed.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not complete end-to-end.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Validation in progress.</a:t>
            </a:r>
            <a:endParaRPr b="0" i="0" sz="1400" u="none" cap="none" strike="noStrike">
              <a:solidFill>
                <a:srgbClr val="000000"/>
              </a:solidFill>
              <a:latin typeface="Arial"/>
              <a:ea typeface="Arial"/>
              <a:cs typeface="Arial"/>
              <a:sym typeface="Arial"/>
            </a:endParaRPr>
          </a:p>
        </p:txBody>
      </p:sp>
      <p:sp>
        <p:nvSpPr>
          <p:cNvPr id="1076" name="Google Shape;1076;p41"/>
          <p:cNvSpPr/>
          <p:nvPr/>
        </p:nvSpPr>
        <p:spPr>
          <a:xfrm>
            <a:off x="5038344" y="1531620"/>
            <a:ext cx="329100" cy="329100"/>
          </a:xfrm>
          <a:prstGeom prst="rect">
            <a:avLst/>
          </a:prstGeom>
          <a:solidFill>
            <a:srgbClr val="FFD700"/>
          </a:solidFill>
          <a:ln cap="flat" cmpd="sng" w="95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7" name="Google Shape;1077;p41"/>
          <p:cNvSpPr/>
          <p:nvPr/>
        </p:nvSpPr>
        <p:spPr>
          <a:xfrm>
            <a:off x="7024155" y="804610"/>
            <a:ext cx="2331600" cy="1783200"/>
          </a:xfrm>
          <a:prstGeom prst="rect">
            <a:avLst/>
          </a:prstGeom>
          <a:solidFill>
            <a:srgbClr val="06280E"/>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8" name="Google Shape;1078;p41"/>
          <p:cNvSpPr/>
          <p:nvPr/>
        </p:nvSpPr>
        <p:spPr>
          <a:xfrm>
            <a:off x="7024155" y="804610"/>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9" name="Google Shape;1079;p41"/>
          <p:cNvSpPr txBox="1"/>
          <p:nvPr/>
        </p:nvSpPr>
        <p:spPr>
          <a:xfrm>
            <a:off x="7024155" y="841186"/>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1080" name="Google Shape;1080;p41"/>
          <p:cNvSpPr txBox="1"/>
          <p:nvPr/>
        </p:nvSpPr>
        <p:spPr>
          <a:xfrm>
            <a:off x="7115595" y="115208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All ChainSteps confirmed with</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linked Evidence. Impact demonstrated.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Mission success for this chain.</a:t>
            </a:r>
            <a:endParaRPr b="0" i="0" sz="1400" u="none" cap="none" strike="noStrike">
              <a:solidFill>
                <a:srgbClr val="000000"/>
              </a:solidFill>
              <a:latin typeface="Arial"/>
              <a:ea typeface="Arial"/>
              <a:cs typeface="Arial"/>
              <a:sym typeface="Arial"/>
            </a:endParaRPr>
          </a:p>
        </p:txBody>
      </p:sp>
      <p:sp>
        <p:nvSpPr>
          <p:cNvPr id="1081" name="Google Shape;1081;p41"/>
          <p:cNvSpPr txBox="1"/>
          <p:nvPr/>
        </p:nvSpPr>
        <p:spPr>
          <a:xfrm>
            <a:off x="5528266" y="1395403"/>
            <a:ext cx="109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39FF14"/>
                </a:solidFill>
                <a:latin typeface="Calibri"/>
                <a:ea typeface="Calibri"/>
                <a:cs typeface="Calibri"/>
                <a:sym typeface="Calibri"/>
              </a:rPr>
              <a:t>chain succeeds</a:t>
            </a:r>
            <a:endParaRPr b="0" i="0" sz="1400" u="none" cap="none" strike="noStrike">
              <a:solidFill>
                <a:srgbClr val="000000"/>
              </a:solidFill>
              <a:latin typeface="Arial"/>
              <a:ea typeface="Arial"/>
              <a:cs typeface="Arial"/>
              <a:sym typeface="Arial"/>
            </a:endParaRPr>
          </a:p>
        </p:txBody>
      </p:sp>
      <p:sp>
        <p:nvSpPr>
          <p:cNvPr id="1082" name="Google Shape;1082;p41"/>
          <p:cNvSpPr/>
          <p:nvPr/>
        </p:nvSpPr>
        <p:spPr>
          <a:xfrm>
            <a:off x="9558355" y="804609"/>
            <a:ext cx="2331600" cy="1783200"/>
          </a:xfrm>
          <a:prstGeom prst="rect">
            <a:avLst/>
          </a:prstGeom>
          <a:solidFill>
            <a:srgbClr val="280808"/>
          </a:solidFill>
          <a:ln cap="flat" cmpd="sng" w="254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3" name="Google Shape;1083;p41"/>
          <p:cNvSpPr/>
          <p:nvPr/>
        </p:nvSpPr>
        <p:spPr>
          <a:xfrm>
            <a:off x="9558350" y="813913"/>
            <a:ext cx="2331600" cy="27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4" name="Google Shape;1084;p41"/>
          <p:cNvSpPr txBox="1"/>
          <p:nvPr/>
        </p:nvSpPr>
        <p:spPr>
          <a:xfrm>
            <a:off x="9893950" y="804613"/>
            <a:ext cx="15543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RULED_OUT</a:t>
            </a:r>
            <a:endParaRPr b="0" i="0" sz="1400" u="none" cap="none" strike="noStrike">
              <a:solidFill>
                <a:srgbClr val="000000"/>
              </a:solidFill>
              <a:latin typeface="Arial"/>
              <a:ea typeface="Arial"/>
              <a:cs typeface="Arial"/>
              <a:sym typeface="Arial"/>
            </a:endParaRPr>
          </a:p>
        </p:txBody>
      </p:sp>
      <p:sp>
        <p:nvSpPr>
          <p:cNvPr id="1085" name="Google Shape;1085;p41"/>
          <p:cNvSpPr txBox="1"/>
          <p:nvPr/>
        </p:nvSpPr>
        <p:spPr>
          <a:xfrm>
            <a:off x="9640545" y="118873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 required ChainStep failed after</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max retries. Chain not exploitable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as hypothesized. Commander re-plans.</a:t>
            </a:r>
            <a:endParaRPr b="0" i="0" sz="1400" u="none" cap="none" strike="noStrike">
              <a:solidFill>
                <a:srgbClr val="000000"/>
              </a:solidFill>
              <a:latin typeface="Arial"/>
              <a:ea typeface="Arial"/>
              <a:cs typeface="Arial"/>
              <a:sym typeface="Arial"/>
            </a:endParaRPr>
          </a:p>
        </p:txBody>
      </p:sp>
      <p:sp>
        <p:nvSpPr>
          <p:cNvPr id="1086" name="Google Shape;1086;p41"/>
          <p:cNvSpPr txBox="1"/>
          <p:nvPr/>
        </p:nvSpPr>
        <p:spPr>
          <a:xfrm>
            <a:off x="7834529" y="2775468"/>
            <a:ext cx="12345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FF4545"/>
                </a:solidFill>
                <a:latin typeface="Calibri"/>
                <a:ea typeface="Calibri"/>
                <a:cs typeface="Calibri"/>
                <a:sym typeface="Calibri"/>
              </a:rPr>
              <a:t>step fails after cap</a:t>
            </a:r>
            <a:endParaRPr b="0" i="0" sz="1400" u="none" cap="none" strike="noStrike">
              <a:solidFill>
                <a:srgbClr val="000000"/>
              </a:solidFill>
              <a:latin typeface="Arial"/>
              <a:ea typeface="Arial"/>
              <a:cs typeface="Arial"/>
              <a:sym typeface="Arial"/>
            </a:endParaRPr>
          </a:p>
        </p:txBody>
      </p:sp>
      <p:sp>
        <p:nvSpPr>
          <p:cNvPr id="1087" name="Google Shape;1087;p41"/>
          <p:cNvSpPr/>
          <p:nvPr/>
        </p:nvSpPr>
        <p:spPr>
          <a:xfrm>
            <a:off x="211779" y="3630170"/>
            <a:ext cx="7132200" cy="1755600"/>
          </a:xfrm>
          <a:prstGeom prst="rect">
            <a:avLst/>
          </a:prstGeom>
          <a:solidFill>
            <a:srgbClr val="080C1E"/>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8" name="Google Shape;1088;p41"/>
          <p:cNvSpPr/>
          <p:nvPr/>
        </p:nvSpPr>
        <p:spPr>
          <a:xfrm>
            <a:off x="211779" y="3630170"/>
            <a:ext cx="7132200" cy="2559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9" name="Google Shape;1089;p41"/>
          <p:cNvSpPr txBox="1"/>
          <p:nvPr/>
        </p:nvSpPr>
        <p:spPr>
          <a:xfrm>
            <a:off x="211779" y="3666746"/>
            <a:ext cx="7132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  Validation Agent — Self-Debugging Loop  (on ChainStep failure)</a:t>
            </a:r>
            <a:endParaRPr b="0" i="0" sz="1400" u="none" cap="none" strike="noStrike">
              <a:solidFill>
                <a:srgbClr val="000000"/>
              </a:solidFill>
              <a:latin typeface="Arial"/>
              <a:ea typeface="Arial"/>
              <a:cs typeface="Arial"/>
              <a:sym typeface="Arial"/>
            </a:endParaRPr>
          </a:p>
        </p:txBody>
      </p:sp>
      <p:sp>
        <p:nvSpPr>
          <p:cNvPr id="1090" name="Google Shape;1090;p41"/>
          <p:cNvSpPr/>
          <p:nvPr/>
        </p:nvSpPr>
        <p:spPr>
          <a:xfrm>
            <a:off x="348940"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1" name="Google Shape;1091;p41"/>
          <p:cNvSpPr/>
          <p:nvPr/>
        </p:nvSpPr>
        <p:spPr>
          <a:xfrm>
            <a:off x="348940"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2" name="Google Shape;1092;p41"/>
          <p:cNvSpPr txBox="1"/>
          <p:nvPr/>
        </p:nvSpPr>
        <p:spPr>
          <a:xfrm>
            <a:off x="348940"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ATTEMPT</a:t>
            </a:r>
            <a:endParaRPr b="0" i="0" sz="1400" u="none" cap="none" strike="noStrike">
              <a:solidFill>
                <a:srgbClr val="000000"/>
              </a:solidFill>
              <a:latin typeface="Arial"/>
              <a:ea typeface="Arial"/>
              <a:cs typeface="Arial"/>
              <a:sym typeface="Arial"/>
            </a:endParaRPr>
          </a:p>
        </p:txBody>
      </p:sp>
      <p:sp>
        <p:nvSpPr>
          <p:cNvPr id="1093" name="Google Shape;1093;p41"/>
          <p:cNvSpPr txBox="1"/>
          <p:nvPr/>
        </p:nvSpPr>
        <p:spPr>
          <a:xfrm>
            <a:off x="403804" y="4206242"/>
            <a:ext cx="133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Execute tool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against target</a:t>
            </a:r>
            <a:endParaRPr b="0" i="0" sz="1400" u="none" cap="none" strike="noStrike">
              <a:solidFill>
                <a:srgbClr val="000000"/>
              </a:solidFill>
              <a:latin typeface="Arial"/>
              <a:ea typeface="Arial"/>
              <a:cs typeface="Arial"/>
              <a:sym typeface="Arial"/>
            </a:endParaRPr>
          </a:p>
        </p:txBody>
      </p:sp>
      <p:sp>
        <p:nvSpPr>
          <p:cNvPr id="1094" name="Google Shape;1094;p41"/>
          <p:cNvSpPr/>
          <p:nvPr/>
        </p:nvSpPr>
        <p:spPr>
          <a:xfrm>
            <a:off x="1850842"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5" name="Google Shape;1095;p41"/>
          <p:cNvSpPr/>
          <p:nvPr/>
        </p:nvSpPr>
        <p:spPr>
          <a:xfrm>
            <a:off x="1850842"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6" name="Google Shape;1096;p41"/>
          <p:cNvSpPr txBox="1"/>
          <p:nvPr/>
        </p:nvSpPr>
        <p:spPr>
          <a:xfrm>
            <a:off x="1850842"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DIAGNOSE</a:t>
            </a:r>
            <a:endParaRPr b="0" i="0" sz="1400" u="none" cap="none" strike="noStrike">
              <a:solidFill>
                <a:srgbClr val="000000"/>
              </a:solidFill>
              <a:latin typeface="Arial"/>
              <a:ea typeface="Arial"/>
              <a:cs typeface="Arial"/>
              <a:sym typeface="Arial"/>
            </a:endParaRPr>
          </a:p>
        </p:txBody>
      </p:sp>
      <p:sp>
        <p:nvSpPr>
          <p:cNvPr id="1097" name="Google Shape;1097;p41"/>
          <p:cNvSpPr txBox="1"/>
          <p:nvPr/>
        </p:nvSpPr>
        <p:spPr>
          <a:xfrm>
            <a:off x="1905706"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Analyze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wrong param · auth</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version mismatch</a:t>
            </a:r>
            <a:endParaRPr b="0" i="0" sz="1400" u="none" cap="none" strike="noStrike">
              <a:solidFill>
                <a:srgbClr val="000000"/>
              </a:solidFill>
              <a:latin typeface="Arial"/>
              <a:ea typeface="Arial"/>
              <a:cs typeface="Arial"/>
              <a:sym typeface="Arial"/>
            </a:endParaRPr>
          </a:p>
        </p:txBody>
      </p:sp>
      <p:sp>
        <p:nvSpPr>
          <p:cNvPr id="1098" name="Google Shape;1098;p41"/>
          <p:cNvSpPr/>
          <p:nvPr/>
        </p:nvSpPr>
        <p:spPr>
          <a:xfrm>
            <a:off x="3352743" y="3950210"/>
            <a:ext cx="1428900" cy="1371600"/>
          </a:xfrm>
          <a:prstGeom prst="rect">
            <a:avLst/>
          </a:prstGeom>
          <a:solidFill>
            <a:srgbClr val="101428"/>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9" name="Google Shape;1099;p41"/>
          <p:cNvSpPr/>
          <p:nvPr/>
        </p:nvSpPr>
        <p:spPr>
          <a:xfrm>
            <a:off x="3352743" y="3950210"/>
            <a:ext cx="1428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0" name="Google Shape;1100;p41"/>
          <p:cNvSpPr txBox="1"/>
          <p:nvPr/>
        </p:nvSpPr>
        <p:spPr>
          <a:xfrm>
            <a:off x="3352743"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CONTEXTUALIZE</a:t>
            </a:r>
            <a:endParaRPr b="0" i="0" sz="1400" u="none" cap="none" strike="noStrike">
              <a:solidFill>
                <a:srgbClr val="000000"/>
              </a:solidFill>
              <a:latin typeface="Arial"/>
              <a:ea typeface="Arial"/>
              <a:cs typeface="Arial"/>
              <a:sym typeface="Arial"/>
            </a:endParaRPr>
          </a:p>
        </p:txBody>
      </p:sp>
      <p:sp>
        <p:nvSpPr>
          <p:cNvPr id="1101" name="Google Shape;1101;p41"/>
          <p:cNvSpPr txBox="1"/>
          <p:nvPr/>
        </p:nvSpPr>
        <p:spPr>
          <a:xfrm>
            <a:off x="3407607"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Query ASG for</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additional node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attributes</a:t>
            </a:r>
            <a:endParaRPr b="0" i="0" sz="1400" u="none" cap="none" strike="noStrike">
              <a:solidFill>
                <a:srgbClr val="000000"/>
              </a:solidFill>
              <a:latin typeface="Arial"/>
              <a:ea typeface="Arial"/>
              <a:cs typeface="Arial"/>
              <a:sym typeface="Arial"/>
            </a:endParaRPr>
          </a:p>
        </p:txBody>
      </p:sp>
      <p:sp>
        <p:nvSpPr>
          <p:cNvPr id="1102" name="Google Shape;1102;p41"/>
          <p:cNvSpPr/>
          <p:nvPr/>
        </p:nvSpPr>
        <p:spPr>
          <a:xfrm>
            <a:off x="4854646" y="3950210"/>
            <a:ext cx="1428900" cy="1371600"/>
          </a:xfrm>
          <a:prstGeom prst="rect">
            <a:avLst/>
          </a:prstGeom>
          <a:solidFill>
            <a:srgbClr val="101428"/>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3" name="Google Shape;1103;p41"/>
          <p:cNvSpPr/>
          <p:nvPr/>
        </p:nvSpPr>
        <p:spPr>
          <a:xfrm>
            <a:off x="4854646" y="3950210"/>
            <a:ext cx="1428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4" name="Google Shape;1104;p41"/>
          <p:cNvSpPr txBox="1"/>
          <p:nvPr/>
        </p:nvSpPr>
        <p:spPr>
          <a:xfrm>
            <a:off x="4854646"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ADAPT</a:t>
            </a:r>
            <a:endParaRPr b="0" i="0" sz="1400" u="none" cap="none" strike="noStrike">
              <a:solidFill>
                <a:srgbClr val="000000"/>
              </a:solidFill>
              <a:latin typeface="Arial"/>
              <a:ea typeface="Arial"/>
              <a:cs typeface="Arial"/>
              <a:sym typeface="Arial"/>
            </a:endParaRPr>
          </a:p>
        </p:txBody>
      </p:sp>
      <p:sp>
        <p:nvSpPr>
          <p:cNvPr id="1105" name="Google Shape;1105;p41"/>
          <p:cNvSpPr txBox="1"/>
          <p:nvPr/>
        </p:nvSpPr>
        <p:spPr>
          <a:xfrm>
            <a:off x="4909510"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Modify tool call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based on diagnosis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context</a:t>
            </a:r>
            <a:endParaRPr b="0" i="0" sz="1400" u="none" cap="none" strike="noStrike">
              <a:solidFill>
                <a:srgbClr val="000000"/>
              </a:solidFill>
              <a:latin typeface="Arial"/>
              <a:ea typeface="Arial"/>
              <a:cs typeface="Arial"/>
              <a:sym typeface="Arial"/>
            </a:endParaRPr>
          </a:p>
        </p:txBody>
      </p:sp>
      <p:sp>
        <p:nvSpPr>
          <p:cNvPr id="1106" name="Google Shape;1106;p41"/>
          <p:cNvSpPr/>
          <p:nvPr/>
        </p:nvSpPr>
        <p:spPr>
          <a:xfrm>
            <a:off x="6356548" y="3950210"/>
            <a:ext cx="850500" cy="1371600"/>
          </a:xfrm>
          <a:prstGeom prst="rect">
            <a:avLst/>
          </a:prstGeom>
          <a:solidFill>
            <a:srgbClr val="22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7" name="Google Shape;1107;p41"/>
          <p:cNvSpPr/>
          <p:nvPr/>
        </p:nvSpPr>
        <p:spPr>
          <a:xfrm>
            <a:off x="6356548" y="3950210"/>
            <a:ext cx="8505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8" name="Google Shape;1108;p41"/>
          <p:cNvSpPr txBox="1"/>
          <p:nvPr/>
        </p:nvSpPr>
        <p:spPr>
          <a:xfrm>
            <a:off x="6356548" y="3977642"/>
            <a:ext cx="8505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CAP  (×3 max)</a:t>
            </a:r>
            <a:endParaRPr b="0" i="0" sz="1400" u="none" cap="none" strike="noStrike">
              <a:solidFill>
                <a:srgbClr val="000000"/>
              </a:solidFill>
              <a:latin typeface="Arial"/>
              <a:ea typeface="Arial"/>
              <a:cs typeface="Arial"/>
              <a:sym typeface="Arial"/>
            </a:endParaRPr>
          </a:p>
        </p:txBody>
      </p:sp>
      <p:sp>
        <p:nvSpPr>
          <p:cNvPr id="1109" name="Google Shape;1109;p41"/>
          <p:cNvSpPr txBox="1"/>
          <p:nvPr/>
        </p:nvSpPr>
        <p:spPr>
          <a:xfrm>
            <a:off x="6411411" y="4206242"/>
            <a:ext cx="75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Mark ChainStep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RULED_OUT</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Write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to ASG node</a:t>
            </a:r>
            <a:endParaRPr b="0" i="0" sz="1400" u="none" cap="none" strike="noStrike">
              <a:solidFill>
                <a:srgbClr val="000000"/>
              </a:solidFill>
              <a:latin typeface="Arial"/>
              <a:ea typeface="Arial"/>
              <a:cs typeface="Arial"/>
              <a:sym typeface="Arial"/>
            </a:endParaRPr>
          </a:p>
        </p:txBody>
      </p:sp>
      <p:cxnSp>
        <p:nvCxnSpPr>
          <p:cNvPr id="1110" name="Google Shape;1110;p41"/>
          <p:cNvCxnSpPr/>
          <p:nvPr/>
        </p:nvCxnSpPr>
        <p:spPr>
          <a:xfrm>
            <a:off x="0" y="6537960"/>
            <a:ext cx="0" cy="0"/>
          </a:xfrm>
          <a:prstGeom prst="straightConnector1">
            <a:avLst/>
          </a:prstGeom>
          <a:noFill/>
          <a:ln cap="flat" cmpd="sng" w="1270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11" name="Google Shape;1111;p41"/>
          <p:cNvSpPr txBox="1"/>
          <p:nvPr/>
        </p:nvSpPr>
        <p:spPr>
          <a:xfrm>
            <a:off x="1777839" y="5417023"/>
            <a:ext cx="22860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39FF14"/>
                </a:solidFill>
                <a:latin typeface="Calibri"/>
                <a:ea typeface="Calibri"/>
                <a:cs typeface="Calibri"/>
                <a:sym typeface="Calibri"/>
              </a:rPr>
              <a:t>retry (up to cap)</a:t>
            </a:r>
            <a:endParaRPr b="0" i="0" sz="1400" u="none" cap="none" strike="noStrike">
              <a:solidFill>
                <a:srgbClr val="000000"/>
              </a:solidFill>
              <a:latin typeface="Arial"/>
              <a:ea typeface="Arial"/>
              <a:cs typeface="Arial"/>
              <a:sym typeface="Arial"/>
            </a:endParaRPr>
          </a:p>
        </p:txBody>
      </p:sp>
      <p:sp>
        <p:nvSpPr>
          <p:cNvPr id="1112" name="Google Shape;1112;p41"/>
          <p:cNvSpPr/>
          <p:nvPr/>
        </p:nvSpPr>
        <p:spPr>
          <a:xfrm>
            <a:off x="7435475" y="3630175"/>
            <a:ext cx="4620600" cy="29652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3" name="Google Shape;1113;p41"/>
          <p:cNvSpPr/>
          <p:nvPr/>
        </p:nvSpPr>
        <p:spPr>
          <a:xfrm>
            <a:off x="7435540" y="3630170"/>
            <a:ext cx="4620600" cy="2559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4" name="Google Shape;1114;p41"/>
          <p:cNvSpPr txBox="1"/>
          <p:nvPr/>
        </p:nvSpPr>
        <p:spPr>
          <a:xfrm>
            <a:off x="7435540" y="3666746"/>
            <a:ext cx="46206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Risk Score + Chain Priority</a:t>
            </a:r>
            <a:endParaRPr b="0" i="0" sz="1400" u="none" cap="none" strike="noStrike">
              <a:solidFill>
                <a:srgbClr val="000000"/>
              </a:solidFill>
              <a:latin typeface="Arial"/>
              <a:ea typeface="Arial"/>
              <a:cs typeface="Arial"/>
              <a:sym typeface="Arial"/>
            </a:endParaRPr>
          </a:p>
        </p:txBody>
      </p:sp>
      <p:sp>
        <p:nvSpPr>
          <p:cNvPr id="1115" name="Google Shape;1115;p41"/>
          <p:cNvSpPr txBox="1"/>
          <p:nvPr/>
        </p:nvSpPr>
        <p:spPr>
          <a:xfrm>
            <a:off x="7526980" y="3941066"/>
            <a:ext cx="44559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risk_score = CVSS × Exploitability × Impact</a:t>
            </a:r>
            <a:endParaRPr b="0" i="0" sz="1400" u="none" cap="none" strike="noStrike">
              <a:solidFill>
                <a:srgbClr val="000000"/>
              </a:solidFill>
              <a:latin typeface="Arial"/>
              <a:ea typeface="Arial"/>
              <a:cs typeface="Arial"/>
              <a:sym typeface="Arial"/>
            </a:endParaRPr>
          </a:p>
        </p:txBody>
      </p:sp>
      <p:sp>
        <p:nvSpPr>
          <p:cNvPr id="1116" name="Google Shape;1116;p41"/>
          <p:cNvSpPr txBox="1"/>
          <p:nvPr/>
        </p:nvSpPr>
        <p:spPr>
          <a:xfrm>
            <a:off x="7526980" y="4215386"/>
            <a:ext cx="44559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Priority = rank across all HYPOTHESIZED + PARTIALLY_VALIDATED chains.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Commander pursues highest-priority chain first — re-ranks on every status change.</a:t>
            </a:r>
            <a:endParaRPr b="0" i="0" sz="1400" u="none" cap="none" strike="noStrike">
              <a:solidFill>
                <a:srgbClr val="000000"/>
              </a:solidFill>
              <a:latin typeface="Arial"/>
              <a:ea typeface="Arial"/>
              <a:cs typeface="Arial"/>
              <a:sym typeface="Arial"/>
            </a:endParaRPr>
          </a:p>
        </p:txBody>
      </p:sp>
      <p:sp>
        <p:nvSpPr>
          <p:cNvPr id="1117" name="Google Shape;1117;p41"/>
          <p:cNvSpPr/>
          <p:nvPr/>
        </p:nvSpPr>
        <p:spPr>
          <a:xfrm>
            <a:off x="7526980" y="4745738"/>
            <a:ext cx="4455900" cy="237600"/>
          </a:xfrm>
          <a:prstGeom prst="rect">
            <a:avLst/>
          </a:prstGeom>
          <a:solidFill>
            <a:srgbClr val="22180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8" name="Google Shape;1118;p41"/>
          <p:cNvSpPr txBox="1"/>
          <p:nvPr/>
        </p:nvSpPr>
        <p:spPr>
          <a:xfrm>
            <a:off x="7563556" y="4773170"/>
            <a:ext cx="43920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shopvault.io  —  APG Chain Priority Order</a:t>
            </a:r>
            <a:endParaRPr b="0" i="0" sz="1400" u="none" cap="none" strike="noStrike">
              <a:solidFill>
                <a:srgbClr val="000000"/>
              </a:solidFill>
              <a:latin typeface="Arial"/>
              <a:ea typeface="Arial"/>
              <a:cs typeface="Arial"/>
              <a:sym typeface="Arial"/>
            </a:endParaRPr>
          </a:p>
        </p:txBody>
      </p:sp>
      <p:sp>
        <p:nvSpPr>
          <p:cNvPr id="1119" name="Google Shape;1119;p41"/>
          <p:cNvSpPr/>
          <p:nvPr/>
        </p:nvSpPr>
        <p:spPr>
          <a:xfrm>
            <a:off x="7526980" y="5020058"/>
            <a:ext cx="4455900" cy="347400"/>
          </a:xfrm>
          <a:prstGeom prst="rect">
            <a:avLst/>
          </a:prstGeom>
          <a:solidFill>
            <a:srgbClr val="18120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0" name="Google Shape;1120;p41"/>
          <p:cNvSpPr txBox="1"/>
          <p:nvPr/>
        </p:nvSpPr>
        <p:spPr>
          <a:xfrm>
            <a:off x="7563556" y="507492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4545"/>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121" name="Google Shape;1121;p41"/>
          <p:cNvSpPr txBox="1"/>
          <p:nvPr/>
        </p:nvSpPr>
        <p:spPr>
          <a:xfrm>
            <a:off x="7783012" y="507492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Chain-01  —  CVE-2022-21661 SQLi → RCE</a:t>
            </a:r>
            <a:endParaRPr b="0" i="0" sz="1400" u="none" cap="none" strike="noStrike">
              <a:solidFill>
                <a:srgbClr val="000000"/>
              </a:solidFill>
              <a:latin typeface="Arial"/>
              <a:ea typeface="Arial"/>
              <a:cs typeface="Arial"/>
              <a:sym typeface="Arial"/>
            </a:endParaRPr>
          </a:p>
        </p:txBody>
      </p:sp>
      <p:sp>
        <p:nvSpPr>
          <p:cNvPr id="1122" name="Google Shape;1122;p41"/>
          <p:cNvSpPr txBox="1"/>
          <p:nvPr/>
        </p:nvSpPr>
        <p:spPr>
          <a:xfrm>
            <a:off x="11553083" y="507492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9.1</a:t>
            </a:r>
            <a:endParaRPr b="0" i="0" sz="1400" u="none" cap="none" strike="noStrike">
              <a:solidFill>
                <a:srgbClr val="000000"/>
              </a:solidFill>
              <a:latin typeface="Arial"/>
              <a:ea typeface="Arial"/>
              <a:cs typeface="Arial"/>
              <a:sym typeface="Arial"/>
            </a:endParaRPr>
          </a:p>
        </p:txBody>
      </p:sp>
      <p:sp>
        <p:nvSpPr>
          <p:cNvPr id="1123" name="Google Shape;1123;p41"/>
          <p:cNvSpPr/>
          <p:nvPr/>
        </p:nvSpPr>
        <p:spPr>
          <a:xfrm>
            <a:off x="7526980" y="5385818"/>
            <a:ext cx="4455900" cy="347400"/>
          </a:xfrm>
          <a:prstGeom prst="rect">
            <a:avLst/>
          </a:prstGeom>
          <a:solidFill>
            <a:srgbClr val="120C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4" name="Google Shape;1124;p41"/>
          <p:cNvSpPr txBox="1"/>
          <p:nvPr/>
        </p:nvSpPr>
        <p:spPr>
          <a:xfrm>
            <a:off x="7563556" y="544068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125" name="Google Shape;1125;p41"/>
          <p:cNvSpPr txBox="1"/>
          <p:nvPr/>
        </p:nvSpPr>
        <p:spPr>
          <a:xfrm>
            <a:off x="7783012" y="544068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Chain-03  —  Blind SQLi on staging → DB creds</a:t>
            </a:r>
            <a:endParaRPr b="0" i="0" sz="1400" u="none" cap="none" strike="noStrike">
              <a:solidFill>
                <a:srgbClr val="000000"/>
              </a:solidFill>
              <a:latin typeface="Arial"/>
              <a:ea typeface="Arial"/>
              <a:cs typeface="Arial"/>
              <a:sym typeface="Arial"/>
            </a:endParaRPr>
          </a:p>
        </p:txBody>
      </p:sp>
      <p:sp>
        <p:nvSpPr>
          <p:cNvPr id="1126" name="Google Shape;1126;p41"/>
          <p:cNvSpPr txBox="1"/>
          <p:nvPr/>
        </p:nvSpPr>
        <p:spPr>
          <a:xfrm>
            <a:off x="11553083" y="544068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8.1</a:t>
            </a:r>
            <a:endParaRPr b="0" i="0" sz="1400" u="none" cap="none" strike="noStrike">
              <a:solidFill>
                <a:srgbClr val="000000"/>
              </a:solidFill>
              <a:latin typeface="Arial"/>
              <a:ea typeface="Arial"/>
              <a:cs typeface="Arial"/>
              <a:sym typeface="Arial"/>
            </a:endParaRPr>
          </a:p>
        </p:txBody>
      </p:sp>
      <p:sp>
        <p:nvSpPr>
          <p:cNvPr id="1127" name="Google Shape;1127;p41"/>
          <p:cNvSpPr/>
          <p:nvPr/>
        </p:nvSpPr>
        <p:spPr>
          <a:xfrm>
            <a:off x="7526980" y="5751578"/>
            <a:ext cx="4455900" cy="347400"/>
          </a:xfrm>
          <a:prstGeom prst="rect">
            <a:avLst/>
          </a:prstGeom>
          <a:solidFill>
            <a:srgbClr val="1812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8" name="Google Shape;1128;p41"/>
          <p:cNvSpPr txBox="1"/>
          <p:nvPr/>
        </p:nvSpPr>
        <p:spPr>
          <a:xfrm>
            <a:off x="7563556" y="580644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129" name="Google Shape;1129;p41"/>
          <p:cNvSpPr txBox="1"/>
          <p:nvPr/>
        </p:nvSpPr>
        <p:spPr>
          <a:xfrm>
            <a:off x="7783012" y="580644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Chain-02  —  IDOR on /api/v1/orders → PII</a:t>
            </a:r>
            <a:endParaRPr b="0" i="0" sz="1400" u="none" cap="none" strike="noStrike">
              <a:solidFill>
                <a:srgbClr val="000000"/>
              </a:solidFill>
              <a:latin typeface="Arial"/>
              <a:ea typeface="Arial"/>
              <a:cs typeface="Arial"/>
              <a:sym typeface="Arial"/>
            </a:endParaRPr>
          </a:p>
        </p:txBody>
      </p:sp>
      <p:sp>
        <p:nvSpPr>
          <p:cNvPr id="1130" name="Google Shape;1130;p41"/>
          <p:cNvSpPr txBox="1"/>
          <p:nvPr/>
        </p:nvSpPr>
        <p:spPr>
          <a:xfrm>
            <a:off x="11553083" y="580644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7.5</a:t>
            </a:r>
            <a:endParaRPr b="0" i="0" sz="1400" u="none" cap="none" strike="noStrike">
              <a:solidFill>
                <a:srgbClr val="000000"/>
              </a:solidFill>
              <a:latin typeface="Arial"/>
              <a:ea typeface="Arial"/>
              <a:cs typeface="Arial"/>
              <a:sym typeface="Arial"/>
            </a:endParaRPr>
          </a:p>
        </p:txBody>
      </p:sp>
      <p:sp>
        <p:nvSpPr>
          <p:cNvPr id="1131" name="Google Shape;1131;p41"/>
          <p:cNvSpPr/>
          <p:nvPr/>
        </p:nvSpPr>
        <p:spPr>
          <a:xfrm>
            <a:off x="7526980" y="6117338"/>
            <a:ext cx="4455900" cy="347400"/>
          </a:xfrm>
          <a:prstGeom prst="rect">
            <a:avLst/>
          </a:prstGeom>
          <a:solidFill>
            <a:srgbClr val="120C0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2" name="Google Shape;1132;p41"/>
          <p:cNvSpPr txBox="1"/>
          <p:nvPr/>
        </p:nvSpPr>
        <p:spPr>
          <a:xfrm>
            <a:off x="7563556" y="617220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133" name="Google Shape;1133;p41"/>
          <p:cNvSpPr txBox="1"/>
          <p:nvPr/>
        </p:nvSpPr>
        <p:spPr>
          <a:xfrm>
            <a:off x="7783012" y="617220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Chain-04  —  Direct DB backup download → PII</a:t>
            </a:r>
            <a:endParaRPr b="0" i="0" sz="1400" u="none" cap="none" strike="noStrike">
              <a:solidFill>
                <a:srgbClr val="000000"/>
              </a:solidFill>
              <a:latin typeface="Arial"/>
              <a:ea typeface="Arial"/>
              <a:cs typeface="Arial"/>
              <a:sym typeface="Arial"/>
            </a:endParaRPr>
          </a:p>
        </p:txBody>
      </p:sp>
      <p:sp>
        <p:nvSpPr>
          <p:cNvPr id="1134" name="Google Shape;1134;p41"/>
          <p:cNvSpPr txBox="1"/>
          <p:nvPr/>
        </p:nvSpPr>
        <p:spPr>
          <a:xfrm>
            <a:off x="11553083" y="617220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N/A</a:t>
            </a:r>
            <a:endParaRPr b="0" i="0" sz="1400" u="none" cap="none" strike="noStrike">
              <a:solidFill>
                <a:srgbClr val="000000"/>
              </a:solidFill>
              <a:latin typeface="Arial"/>
              <a:ea typeface="Arial"/>
              <a:cs typeface="Arial"/>
              <a:sym typeface="Arial"/>
            </a:endParaRPr>
          </a:p>
        </p:txBody>
      </p:sp>
      <p:sp>
        <p:nvSpPr>
          <p:cNvPr id="1135" name="Google Shape;1135;p41"/>
          <p:cNvSpPr txBox="1"/>
          <p:nvPr/>
        </p:nvSpPr>
        <p:spPr>
          <a:xfrm>
            <a:off x="11524920" y="139675"/>
            <a:ext cx="483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FFD700"/>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cxnSp>
        <p:nvCxnSpPr>
          <p:cNvPr id="1136" name="Google Shape;1136;p41"/>
          <p:cNvCxnSpPr>
            <a:stCxn id="1076" idx="3"/>
            <a:endCxn id="1077" idx="1"/>
          </p:cNvCxnSpPr>
          <p:nvPr/>
        </p:nvCxnSpPr>
        <p:spPr>
          <a:xfrm>
            <a:off x="5367444" y="1696170"/>
            <a:ext cx="1656600" cy="0"/>
          </a:xfrm>
          <a:prstGeom prst="straightConnector1">
            <a:avLst/>
          </a:prstGeom>
          <a:noFill/>
          <a:ln cap="flat" cmpd="sng" w="9525">
            <a:solidFill>
              <a:srgbClr val="00FF00"/>
            </a:solidFill>
            <a:prstDash val="solid"/>
            <a:round/>
            <a:headEnd len="sm" w="sm" type="none"/>
            <a:tailEnd len="med" w="med" type="triangle"/>
          </a:ln>
        </p:spPr>
      </p:cxnSp>
      <p:cxnSp>
        <p:nvCxnSpPr>
          <p:cNvPr id="1137" name="Google Shape;1137;p41"/>
          <p:cNvCxnSpPr>
            <a:endCxn id="1082" idx="2"/>
          </p:cNvCxnSpPr>
          <p:nvPr/>
        </p:nvCxnSpPr>
        <p:spPr>
          <a:xfrm>
            <a:off x="5202955" y="1860909"/>
            <a:ext cx="5521200" cy="726900"/>
          </a:xfrm>
          <a:prstGeom prst="curvedConnector4">
            <a:avLst>
              <a:gd fmla="val 14188" name="adj1"/>
              <a:gd fmla="val 162989" name="adj2"/>
            </a:avLst>
          </a:prstGeom>
          <a:noFill/>
          <a:ln cap="flat" cmpd="sng" w="9525">
            <a:solidFill>
              <a:srgbClr val="FF000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141" name="Shape 1141"/>
        <p:cNvGrpSpPr/>
        <p:nvPr/>
      </p:nvGrpSpPr>
      <p:grpSpPr>
        <a:xfrm>
          <a:off x="0" y="0"/>
          <a:ext cx="0" cy="0"/>
          <a:chOff x="0" y="0"/>
          <a:chExt cx="0" cy="0"/>
        </a:xfrm>
      </p:grpSpPr>
      <p:sp>
        <p:nvSpPr>
          <p:cNvPr id="1142" name="Google Shape;1142;p42"/>
          <p:cNvSpPr/>
          <p:nvPr/>
        </p:nvSpPr>
        <p:spPr>
          <a:xfrm>
            <a:off x="0" y="0"/>
            <a:ext cx="54900" cy="68580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3" name="Google Shape;1143;p42"/>
          <p:cNvSpPr/>
          <p:nvPr/>
        </p:nvSpPr>
        <p:spPr>
          <a:xfrm>
            <a:off x="54864" y="0"/>
            <a:ext cx="12136800" cy="36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4" name="Google Shape;1144;p42"/>
          <p:cNvSpPr/>
          <p:nvPr/>
        </p:nvSpPr>
        <p:spPr>
          <a:xfrm>
            <a:off x="54864" y="6821424"/>
            <a:ext cx="12136800" cy="36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5" name="Google Shape;1145;p42"/>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CROSS-MISSION LEARNING</a:t>
            </a:r>
            <a:endParaRPr b="0" i="0" sz="1400" u="none" cap="none" strike="noStrike">
              <a:solidFill>
                <a:srgbClr val="000000"/>
              </a:solidFill>
              <a:latin typeface="Arial"/>
              <a:ea typeface="Arial"/>
              <a:cs typeface="Arial"/>
              <a:sym typeface="Arial"/>
            </a:endParaRPr>
          </a:p>
        </p:txBody>
      </p:sp>
      <p:sp>
        <p:nvSpPr>
          <p:cNvPr id="1146" name="Google Shape;1146;p42"/>
          <p:cNvSpPr txBox="1"/>
          <p:nvPr/>
        </p:nvSpPr>
        <p:spPr>
          <a:xfrm>
            <a:off x="274320" y="347472"/>
            <a:ext cx="11430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Experience Store + Attack Strategy Library — CMatrix Gets Smarter Each Mission</a:t>
            </a:r>
            <a:endParaRPr b="0" i="0" sz="1400" u="none" cap="none" strike="noStrike">
              <a:solidFill>
                <a:srgbClr val="000000"/>
              </a:solidFill>
              <a:latin typeface="Arial"/>
              <a:ea typeface="Arial"/>
              <a:cs typeface="Arial"/>
              <a:sym typeface="Arial"/>
            </a:endParaRPr>
          </a:p>
        </p:txBody>
      </p:sp>
      <p:sp>
        <p:nvSpPr>
          <p:cNvPr id="1147" name="Google Shape;1147;p42"/>
          <p:cNvSpPr/>
          <p:nvPr/>
        </p:nvSpPr>
        <p:spPr>
          <a:xfrm>
            <a:off x="274320" y="1005840"/>
            <a:ext cx="2286000" cy="914400"/>
          </a:xfrm>
          <a:prstGeom prst="rect">
            <a:avLst/>
          </a:prstGeom>
          <a:solidFill>
            <a:srgbClr val="061420"/>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8" name="Google Shape;1148;p42"/>
          <p:cNvSpPr txBox="1"/>
          <p:nvPr/>
        </p:nvSpPr>
        <p:spPr>
          <a:xfrm>
            <a:off x="411480" y="1143000"/>
            <a:ext cx="20118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Mission N</a:t>
            </a:r>
            <a:br>
              <a:rPr b="1" i="0" lang="en-US" sz="1300" u="none" cap="none" strike="noStrike">
                <a:solidFill>
                  <a:srgbClr val="00E5FF"/>
                </a:solidFill>
                <a:latin typeface="Calibri"/>
                <a:ea typeface="Calibri"/>
                <a:cs typeface="Calibri"/>
                <a:sym typeface="Calibri"/>
              </a:rPr>
            </a:br>
            <a:r>
              <a:rPr b="1" i="0" lang="en-US" sz="1300" u="none" cap="none" strike="noStrike">
                <a:solidFill>
                  <a:srgbClr val="00E5FF"/>
                </a:solidFill>
                <a:latin typeface="Calibri"/>
                <a:ea typeface="Calibri"/>
                <a:cs typeface="Calibri"/>
                <a:sym typeface="Calibri"/>
              </a:rPr>
              <a:t>(completed)</a:t>
            </a:r>
            <a:endParaRPr b="0" i="0" sz="1400" u="none" cap="none" strike="noStrike">
              <a:solidFill>
                <a:srgbClr val="000000"/>
              </a:solidFill>
              <a:latin typeface="Arial"/>
              <a:ea typeface="Arial"/>
              <a:cs typeface="Arial"/>
              <a:sym typeface="Arial"/>
            </a:endParaRPr>
          </a:p>
        </p:txBody>
      </p:sp>
      <p:cxnSp>
        <p:nvCxnSpPr>
          <p:cNvPr id="1149" name="Google Shape;1149;p42"/>
          <p:cNvCxnSpPr/>
          <p:nvPr/>
        </p:nvCxnSpPr>
        <p:spPr>
          <a:xfrm>
            <a:off x="2560320" y="0"/>
            <a:ext cx="1097400"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150" name="Google Shape;1150;p42"/>
          <p:cNvSpPr txBox="1"/>
          <p:nvPr/>
        </p:nvSpPr>
        <p:spPr>
          <a:xfrm>
            <a:off x="2578608" y="1097280"/>
            <a:ext cx="1024200" cy="48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Report Agent writes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1151" name="Google Shape;1151;p42"/>
          <p:cNvSpPr/>
          <p:nvPr/>
        </p:nvSpPr>
        <p:spPr>
          <a:xfrm>
            <a:off x="3749050" y="1005725"/>
            <a:ext cx="2286000" cy="914400"/>
          </a:xfrm>
          <a:prstGeom prst="rect">
            <a:avLst/>
          </a:prstGeom>
          <a:solidFill>
            <a:srgbClr val="04201E"/>
          </a:solidFill>
          <a:ln cap="flat" cmpd="sng" w="254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2" name="Google Shape;1152;p42"/>
          <p:cNvSpPr txBox="1"/>
          <p:nvPr/>
        </p:nvSpPr>
        <p:spPr>
          <a:xfrm>
            <a:off x="3799293" y="1042961"/>
            <a:ext cx="2148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Cross-Mission</a:t>
            </a:r>
            <a:br>
              <a:rPr b="1" i="0" lang="en-US" sz="1200" u="none" cap="none" strike="noStrike">
                <a:solidFill>
                  <a:srgbClr val="00BFD8"/>
                </a:solidFill>
                <a:latin typeface="Calibri"/>
                <a:ea typeface="Calibri"/>
                <a:cs typeface="Calibri"/>
                <a:sym typeface="Calibri"/>
              </a:rPr>
            </a:br>
            <a:r>
              <a:rPr b="1" i="0" lang="en-US" sz="1200" u="none" cap="none" strike="noStrike">
                <a:solidFill>
                  <a:srgbClr val="00BFD8"/>
                </a:solidFill>
                <a:latin typeface="Calibri"/>
                <a:ea typeface="Calibri"/>
                <a:cs typeface="Calibri"/>
                <a:sym typeface="Calibri"/>
              </a:rPr>
              <a:t>Experience Store</a:t>
            </a:r>
            <a:endParaRPr b="0" i="0" sz="1400" u="none" cap="none" strike="noStrike">
              <a:solidFill>
                <a:srgbClr val="000000"/>
              </a:solidFill>
              <a:latin typeface="Arial"/>
              <a:ea typeface="Arial"/>
              <a:cs typeface="Arial"/>
              <a:sym typeface="Arial"/>
            </a:endParaRPr>
          </a:p>
        </p:txBody>
      </p:sp>
      <p:sp>
        <p:nvSpPr>
          <p:cNvPr id="1153" name="Google Shape;1153;p42"/>
          <p:cNvSpPr txBox="1"/>
          <p:nvPr/>
        </p:nvSpPr>
        <p:spPr>
          <a:xfrm>
            <a:off x="3799293" y="1473205"/>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RAG-backed · persistent</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across all missions</a:t>
            </a:r>
            <a:endParaRPr b="0" i="0" sz="1400" u="none" cap="none" strike="noStrike">
              <a:solidFill>
                <a:srgbClr val="000000"/>
              </a:solidFill>
              <a:latin typeface="Arial"/>
              <a:ea typeface="Arial"/>
              <a:cs typeface="Arial"/>
              <a:sym typeface="Arial"/>
            </a:endParaRPr>
          </a:p>
        </p:txBody>
      </p:sp>
      <p:cxnSp>
        <p:nvCxnSpPr>
          <p:cNvPr id="1154" name="Google Shape;1154;p42"/>
          <p:cNvCxnSpPr/>
          <p:nvPr/>
        </p:nvCxnSpPr>
        <p:spPr>
          <a:xfrm>
            <a:off x="6126480" y="0"/>
            <a:ext cx="1097400" cy="0"/>
          </a:xfrm>
          <a:prstGeom prst="straightConnector1">
            <a:avLst/>
          </a:prstGeom>
          <a:noFill/>
          <a:ln cap="flat" cmpd="sng" w="190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155" name="Google Shape;1155;p42"/>
          <p:cNvSpPr txBox="1"/>
          <p:nvPr/>
        </p:nvSpPr>
        <p:spPr>
          <a:xfrm>
            <a:off x="6144768" y="105156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Crystallize</a:t>
            </a:r>
            <a:br>
              <a:rPr b="0" i="1" lang="en-US" sz="850" u="none" cap="none" strike="noStrike">
                <a:solidFill>
                  <a:srgbClr val="FFD700"/>
                </a:solidFill>
                <a:latin typeface="Calibri"/>
                <a:ea typeface="Calibri"/>
                <a:cs typeface="Calibri"/>
                <a:sym typeface="Calibri"/>
              </a:rPr>
            </a:br>
            <a:r>
              <a:rPr b="0" i="1" lang="en-US" sz="850" u="none" cap="none" strike="noStrike">
                <a:solidFill>
                  <a:srgbClr val="FFD700"/>
                </a:solidFill>
                <a:latin typeface="Calibri"/>
                <a:ea typeface="Calibri"/>
                <a:cs typeface="Calibri"/>
                <a:sym typeface="Calibri"/>
              </a:rPr>
              <a:t>(&gt;=2 missions)</a:t>
            </a:r>
            <a:endParaRPr b="0" i="0" sz="1400" u="none" cap="none" strike="noStrike">
              <a:solidFill>
                <a:srgbClr val="000000"/>
              </a:solidFill>
              <a:latin typeface="Arial"/>
              <a:ea typeface="Arial"/>
              <a:cs typeface="Arial"/>
              <a:sym typeface="Arial"/>
            </a:endParaRPr>
          </a:p>
        </p:txBody>
      </p:sp>
      <p:sp>
        <p:nvSpPr>
          <p:cNvPr id="1156" name="Google Shape;1156;p42"/>
          <p:cNvSpPr/>
          <p:nvPr/>
        </p:nvSpPr>
        <p:spPr>
          <a:xfrm>
            <a:off x="7315200" y="983100"/>
            <a:ext cx="2148900" cy="859500"/>
          </a:xfrm>
          <a:prstGeom prst="rect">
            <a:avLst/>
          </a:prstGeom>
          <a:solidFill>
            <a:srgbClr val="201804"/>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7" name="Google Shape;1157;p42"/>
          <p:cNvSpPr txBox="1"/>
          <p:nvPr/>
        </p:nvSpPr>
        <p:spPr>
          <a:xfrm>
            <a:off x="7424925" y="1005949"/>
            <a:ext cx="1950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Attack Strategy</a:t>
            </a:r>
            <a:br>
              <a:rPr b="1" i="0" lang="en-US" sz="1200" u="none" cap="none" strike="noStrike">
                <a:solidFill>
                  <a:srgbClr val="FFD700"/>
                </a:solidFill>
                <a:latin typeface="Calibri"/>
                <a:ea typeface="Calibri"/>
                <a:cs typeface="Calibri"/>
                <a:sym typeface="Calibri"/>
              </a:rPr>
            </a:br>
            <a:r>
              <a:rPr b="1" i="0" lang="en-US" sz="1200" u="none" cap="none" strike="noStrike">
                <a:solidFill>
                  <a:srgbClr val="FFD700"/>
                </a:solidFill>
                <a:latin typeface="Calibri"/>
                <a:ea typeface="Calibri"/>
                <a:cs typeface="Calibri"/>
                <a:sym typeface="Calibri"/>
              </a:rPr>
              <a:t>Library</a:t>
            </a:r>
            <a:endParaRPr b="0" i="0" sz="1400" u="none" cap="none" strike="noStrike">
              <a:solidFill>
                <a:srgbClr val="000000"/>
              </a:solidFill>
              <a:latin typeface="Arial"/>
              <a:ea typeface="Arial"/>
              <a:cs typeface="Arial"/>
              <a:sym typeface="Arial"/>
            </a:endParaRPr>
          </a:p>
        </p:txBody>
      </p:sp>
      <p:sp>
        <p:nvSpPr>
          <p:cNvPr id="1158" name="Google Shape;1158;p42"/>
          <p:cNvSpPr txBox="1"/>
          <p:nvPr/>
        </p:nvSpPr>
        <p:spPr>
          <a:xfrm>
            <a:off x="7406640" y="1380743"/>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Named strategies · confidence scores</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technology-fingerprint indexed</a:t>
            </a:r>
            <a:endParaRPr b="0" i="0" sz="1400" u="none" cap="none" strike="noStrike">
              <a:solidFill>
                <a:srgbClr val="000000"/>
              </a:solidFill>
              <a:latin typeface="Arial"/>
              <a:ea typeface="Arial"/>
              <a:cs typeface="Arial"/>
              <a:sym typeface="Arial"/>
            </a:endParaRPr>
          </a:p>
        </p:txBody>
      </p:sp>
      <p:cxnSp>
        <p:nvCxnSpPr>
          <p:cNvPr id="1159" name="Google Shape;1159;p42"/>
          <p:cNvCxnSpPr/>
          <p:nvPr/>
        </p:nvCxnSpPr>
        <p:spPr>
          <a:xfrm>
            <a:off x="9692640" y="0"/>
            <a:ext cx="1097400" cy="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60" name="Google Shape;1160;p42"/>
          <p:cNvSpPr txBox="1"/>
          <p:nvPr/>
        </p:nvSpPr>
        <p:spPr>
          <a:xfrm>
            <a:off x="9660666" y="114758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Pre-ranked seeds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at mission start</a:t>
            </a:r>
            <a:endParaRPr b="0" i="0" sz="1400" u="none" cap="none" strike="noStrike">
              <a:solidFill>
                <a:srgbClr val="000000"/>
              </a:solidFill>
              <a:latin typeface="Arial"/>
              <a:ea typeface="Arial"/>
              <a:cs typeface="Arial"/>
              <a:sym typeface="Arial"/>
            </a:endParaRPr>
          </a:p>
        </p:txBody>
      </p:sp>
      <p:sp>
        <p:nvSpPr>
          <p:cNvPr id="1161" name="Google Shape;1161;p42"/>
          <p:cNvSpPr/>
          <p:nvPr/>
        </p:nvSpPr>
        <p:spPr>
          <a:xfrm>
            <a:off x="10790010" y="923527"/>
            <a:ext cx="1143000" cy="914400"/>
          </a:xfrm>
          <a:prstGeom prst="rect">
            <a:avLst/>
          </a:prstGeom>
          <a:solidFill>
            <a:srgbClr val="062010"/>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2" name="Google Shape;1162;p42"/>
          <p:cNvSpPr txBox="1"/>
          <p:nvPr/>
        </p:nvSpPr>
        <p:spPr>
          <a:xfrm>
            <a:off x="10831105" y="1010406"/>
            <a:ext cx="1051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Mission</a:t>
            </a:r>
            <a:br>
              <a:rPr b="1" i="0" lang="en-US" sz="1200" u="none" cap="none" strike="noStrike">
                <a:solidFill>
                  <a:srgbClr val="39FF14"/>
                </a:solidFill>
                <a:latin typeface="Calibri"/>
                <a:ea typeface="Calibri"/>
                <a:cs typeface="Calibri"/>
                <a:sym typeface="Calibri"/>
              </a:rPr>
            </a:br>
            <a:r>
              <a:rPr b="1" i="0" lang="en-US" sz="1200" u="none" cap="none" strike="noStrike">
                <a:solidFill>
                  <a:srgbClr val="39FF14"/>
                </a:solidFill>
                <a:latin typeface="Calibri"/>
                <a:ea typeface="Calibri"/>
                <a:cs typeface="Calibri"/>
                <a:sym typeface="Calibri"/>
              </a:rPr>
              <a:t>N+1</a:t>
            </a:r>
            <a:endParaRPr b="0" i="0" sz="1400" u="none" cap="none" strike="noStrike">
              <a:solidFill>
                <a:srgbClr val="000000"/>
              </a:solidFill>
              <a:latin typeface="Arial"/>
              <a:ea typeface="Arial"/>
              <a:cs typeface="Arial"/>
              <a:sym typeface="Arial"/>
            </a:endParaRPr>
          </a:p>
        </p:txBody>
      </p:sp>
      <p:cxnSp>
        <p:nvCxnSpPr>
          <p:cNvPr id="1163" name="Google Shape;1163;p42"/>
          <p:cNvCxnSpPr/>
          <p:nvPr/>
        </p:nvCxnSpPr>
        <p:spPr>
          <a:xfrm>
            <a:off x="4937760" y="0"/>
            <a:ext cx="5943600" cy="0"/>
          </a:xfrm>
          <a:prstGeom prst="straightConnector1">
            <a:avLst/>
          </a:prstGeom>
          <a:noFill/>
          <a:ln cap="flat" cmpd="sng" w="19050">
            <a:solidFill>
              <a:srgbClr val="00BFD8"/>
            </a:solidFill>
            <a:prstDash val="solid"/>
            <a:round/>
            <a:headEnd len="med" w="med" type="stealth"/>
            <a:tailEnd len="sm" w="sm" type="none"/>
          </a:ln>
          <a:effectLst>
            <a:outerShdw blurRad="40000" rotWithShape="0" dir="5400000" dist="20000">
              <a:srgbClr val="000000">
                <a:alpha val="38040"/>
              </a:srgbClr>
            </a:outerShdw>
          </a:effectLst>
        </p:spPr>
      </p:cxnSp>
      <p:sp>
        <p:nvSpPr>
          <p:cNvPr id="1164" name="Google Shape;1164;p42"/>
          <p:cNvSpPr txBox="1"/>
          <p:nvPr/>
        </p:nvSpPr>
        <p:spPr>
          <a:xfrm>
            <a:off x="6518140" y="1863501"/>
            <a:ext cx="3657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Candidate chain hypotheses injected into Commander context</a:t>
            </a:r>
            <a:endParaRPr b="0" i="0" sz="1400" u="none" cap="none" strike="noStrike">
              <a:solidFill>
                <a:srgbClr val="000000"/>
              </a:solidFill>
              <a:latin typeface="Arial"/>
              <a:ea typeface="Arial"/>
              <a:cs typeface="Arial"/>
              <a:sym typeface="Arial"/>
            </a:endParaRPr>
          </a:p>
        </p:txBody>
      </p:sp>
      <p:sp>
        <p:nvSpPr>
          <p:cNvPr id="1165" name="Google Shape;1165;p42"/>
          <p:cNvSpPr/>
          <p:nvPr/>
        </p:nvSpPr>
        <p:spPr>
          <a:xfrm>
            <a:off x="274320" y="2212848"/>
            <a:ext cx="5669400" cy="4160400"/>
          </a:xfrm>
          <a:prstGeom prst="rect">
            <a:avLst/>
          </a:prstGeom>
          <a:solidFill>
            <a:srgbClr val="041818"/>
          </a:solidFill>
          <a:ln cap="flat" cmpd="sng" w="190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6" name="Google Shape;1166;p42"/>
          <p:cNvSpPr/>
          <p:nvPr/>
        </p:nvSpPr>
        <p:spPr>
          <a:xfrm>
            <a:off x="274320" y="2212848"/>
            <a:ext cx="5669400" cy="3657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7" name="Google Shape;1167;p42"/>
          <p:cNvSpPr txBox="1"/>
          <p:nvPr/>
        </p:nvSpPr>
        <p:spPr>
          <a:xfrm>
            <a:off x="384048" y="2267712"/>
            <a:ext cx="5486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Cross-Mission Experience Store</a:t>
            </a:r>
            <a:endParaRPr b="0" i="0" sz="1400" u="none" cap="none" strike="noStrike">
              <a:solidFill>
                <a:srgbClr val="000000"/>
              </a:solidFill>
              <a:latin typeface="Arial"/>
              <a:ea typeface="Arial"/>
              <a:cs typeface="Arial"/>
              <a:sym typeface="Arial"/>
            </a:endParaRPr>
          </a:p>
        </p:txBody>
      </p:sp>
      <p:sp>
        <p:nvSpPr>
          <p:cNvPr id="1168" name="Google Shape;1168;p42"/>
          <p:cNvSpPr/>
          <p:nvPr/>
        </p:nvSpPr>
        <p:spPr>
          <a:xfrm>
            <a:off x="384048" y="2670048"/>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9" name="Google Shape;1169;p42"/>
          <p:cNvSpPr txBox="1"/>
          <p:nvPr/>
        </p:nvSpPr>
        <p:spPr>
          <a:xfrm>
            <a:off x="475488" y="2724912"/>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170" name="Google Shape;1170;p42"/>
          <p:cNvSpPr txBox="1"/>
          <p:nvPr/>
        </p:nvSpPr>
        <p:spPr>
          <a:xfrm>
            <a:off x="475488" y="2980944"/>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Per-mission · per-chain raw records of validated exploitation outcomes.</a:t>
            </a:r>
            <a:br>
              <a:rPr b="0" i="0" lang="en-US" sz="950" u="none" cap="none" strike="noStrike">
                <a:solidFill>
                  <a:srgbClr val="A0AAB8"/>
                </a:solidFill>
                <a:latin typeface="Calibri"/>
                <a:ea typeface="Calibri"/>
                <a:cs typeface="Calibri"/>
                <a:sym typeface="Calibri"/>
              </a:rPr>
            </a:br>
            <a:r>
              <a:rPr b="0" i="0" lang="en-US" sz="950" u="none" cap="none" strike="noStrike">
                <a:solidFill>
                  <a:srgbClr val="A0AAB8"/>
                </a:solidFill>
                <a:latin typeface="Calibri"/>
                <a:ea typeface="Calibri"/>
                <a:cs typeface="Calibri"/>
                <a:sym typeface="Calibri"/>
              </a:rPr>
              <a:t>Target technology fingerprint · CVE · successful tool invocation · ChainStep sequence · mission outcome.</a:t>
            </a:r>
            <a:endParaRPr b="0" i="0" sz="1400" u="none" cap="none" strike="noStrike">
              <a:solidFill>
                <a:srgbClr val="000000"/>
              </a:solidFill>
              <a:latin typeface="Arial"/>
              <a:ea typeface="Arial"/>
              <a:cs typeface="Arial"/>
              <a:sym typeface="Arial"/>
            </a:endParaRPr>
          </a:p>
        </p:txBody>
      </p:sp>
      <p:sp>
        <p:nvSpPr>
          <p:cNvPr id="1171" name="Google Shape;1171;p42"/>
          <p:cNvSpPr/>
          <p:nvPr/>
        </p:nvSpPr>
        <p:spPr>
          <a:xfrm>
            <a:off x="384048" y="3566160"/>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2" name="Google Shape;1172;p42"/>
          <p:cNvSpPr txBox="1"/>
          <p:nvPr/>
        </p:nvSpPr>
        <p:spPr>
          <a:xfrm>
            <a:off x="475488" y="3621024"/>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written</a:t>
            </a:r>
            <a:endParaRPr b="0" i="0" sz="1400" u="none" cap="none" strike="noStrike">
              <a:solidFill>
                <a:srgbClr val="000000"/>
              </a:solidFill>
              <a:latin typeface="Arial"/>
              <a:ea typeface="Arial"/>
              <a:cs typeface="Arial"/>
              <a:sym typeface="Arial"/>
            </a:endParaRPr>
          </a:p>
        </p:txBody>
      </p:sp>
      <p:sp>
        <p:nvSpPr>
          <p:cNvPr id="1173" name="Google Shape;1173;p42"/>
          <p:cNvSpPr txBox="1"/>
          <p:nvPr/>
        </p:nvSpPr>
        <p:spPr>
          <a:xfrm>
            <a:off x="475488" y="3877056"/>
            <a:ext cx="53217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Report Agent writes one entry for every chain with terminal status VALIDATED at mission close.</a:t>
            </a:r>
            <a:endParaRPr b="0" i="0" sz="1400" u="none" cap="none" strike="noStrike">
              <a:solidFill>
                <a:srgbClr val="000000"/>
              </a:solidFill>
              <a:latin typeface="Arial"/>
              <a:ea typeface="Arial"/>
              <a:cs typeface="Arial"/>
              <a:sym typeface="Arial"/>
            </a:endParaRPr>
          </a:p>
        </p:txBody>
      </p:sp>
      <p:sp>
        <p:nvSpPr>
          <p:cNvPr id="1174" name="Google Shape;1174;p42"/>
          <p:cNvSpPr/>
          <p:nvPr/>
        </p:nvSpPr>
        <p:spPr>
          <a:xfrm>
            <a:off x="384048" y="4462272"/>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5" name="Google Shape;1175;p42"/>
          <p:cNvSpPr txBox="1"/>
          <p:nvPr/>
        </p:nvSpPr>
        <p:spPr>
          <a:xfrm>
            <a:off x="475488" y="4517136"/>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read</a:t>
            </a:r>
            <a:endParaRPr b="0" i="0" sz="1400" u="none" cap="none" strike="noStrike">
              <a:solidFill>
                <a:srgbClr val="000000"/>
              </a:solidFill>
              <a:latin typeface="Arial"/>
              <a:ea typeface="Arial"/>
              <a:cs typeface="Arial"/>
              <a:sym typeface="Arial"/>
            </a:endParaRPr>
          </a:p>
        </p:txBody>
      </p:sp>
      <p:sp>
        <p:nvSpPr>
          <p:cNvPr id="1176" name="Google Shape;1176;p42"/>
          <p:cNvSpPr txBox="1"/>
          <p:nvPr/>
        </p:nvSpPr>
        <p:spPr>
          <a:xfrm>
            <a:off x="475488" y="4773168"/>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Commander queries immediately after Recon Agent writes first Technology nodes to ASG — before Analysis begins. Retrieved records become candidate chain hypotheses.</a:t>
            </a:r>
            <a:endParaRPr b="0" i="0" sz="1400" u="none" cap="none" strike="noStrike">
              <a:solidFill>
                <a:srgbClr val="000000"/>
              </a:solidFill>
              <a:latin typeface="Arial"/>
              <a:ea typeface="Arial"/>
              <a:cs typeface="Arial"/>
              <a:sym typeface="Arial"/>
            </a:endParaRPr>
          </a:p>
        </p:txBody>
      </p:sp>
      <p:sp>
        <p:nvSpPr>
          <p:cNvPr id="1177" name="Google Shape;1177;p42"/>
          <p:cNvSpPr/>
          <p:nvPr/>
        </p:nvSpPr>
        <p:spPr>
          <a:xfrm>
            <a:off x="384048" y="5358384"/>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8" name="Google Shape;1178;p42"/>
          <p:cNvSpPr txBox="1"/>
          <p:nvPr/>
        </p:nvSpPr>
        <p:spPr>
          <a:xfrm>
            <a:off x="475488" y="5413248"/>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Research origin</a:t>
            </a:r>
            <a:endParaRPr b="0" i="0" sz="1400" u="none" cap="none" strike="noStrike">
              <a:solidFill>
                <a:srgbClr val="000000"/>
              </a:solidFill>
              <a:latin typeface="Arial"/>
              <a:ea typeface="Arial"/>
              <a:cs typeface="Arial"/>
              <a:sym typeface="Arial"/>
            </a:endParaRPr>
          </a:p>
        </p:txBody>
      </p:sp>
      <p:sp>
        <p:nvSpPr>
          <p:cNvPr id="1179" name="Google Shape;1179;p42"/>
          <p:cNvSpPr txBox="1"/>
          <p:nvPr/>
        </p:nvSpPr>
        <p:spPr>
          <a:xfrm>
            <a:off x="475488" y="5669280"/>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Generalizes AutoAttacker's within-mission experience-reuse mechanism to cross-mission scope. AutoAttacker reuses subtasks within one session; CMatrix accumulates across every mission ever run.</a:t>
            </a:r>
            <a:endParaRPr b="0" i="0" sz="1400" u="none" cap="none" strike="noStrike">
              <a:solidFill>
                <a:srgbClr val="000000"/>
              </a:solidFill>
              <a:latin typeface="Arial"/>
              <a:ea typeface="Arial"/>
              <a:cs typeface="Arial"/>
              <a:sym typeface="Arial"/>
            </a:endParaRPr>
          </a:p>
        </p:txBody>
      </p:sp>
      <p:sp>
        <p:nvSpPr>
          <p:cNvPr id="1180" name="Google Shape;1180;p42"/>
          <p:cNvSpPr/>
          <p:nvPr/>
        </p:nvSpPr>
        <p:spPr>
          <a:xfrm>
            <a:off x="6172200" y="2212848"/>
            <a:ext cx="5833800" cy="4160400"/>
          </a:xfrm>
          <a:prstGeom prst="rect">
            <a:avLst/>
          </a:prstGeom>
          <a:solidFill>
            <a:srgbClr val="1C14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1" name="Google Shape;1181;p42"/>
          <p:cNvSpPr/>
          <p:nvPr/>
        </p:nvSpPr>
        <p:spPr>
          <a:xfrm>
            <a:off x="6172200" y="2212848"/>
            <a:ext cx="5833800" cy="3657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2" name="Google Shape;1182;p42"/>
          <p:cNvSpPr txBox="1"/>
          <p:nvPr/>
        </p:nvSpPr>
        <p:spPr>
          <a:xfrm>
            <a:off x="6281928" y="2267712"/>
            <a:ext cx="5651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Attack Strategy Library</a:t>
            </a:r>
            <a:endParaRPr b="0" i="0" sz="1400" u="none" cap="none" strike="noStrike">
              <a:solidFill>
                <a:srgbClr val="000000"/>
              </a:solidFill>
              <a:latin typeface="Arial"/>
              <a:ea typeface="Arial"/>
              <a:cs typeface="Arial"/>
              <a:sym typeface="Arial"/>
            </a:endParaRPr>
          </a:p>
        </p:txBody>
      </p:sp>
      <p:sp>
        <p:nvSpPr>
          <p:cNvPr id="1183" name="Google Shape;1183;p42"/>
          <p:cNvSpPr/>
          <p:nvPr/>
        </p:nvSpPr>
        <p:spPr>
          <a:xfrm>
            <a:off x="6281928" y="2670048"/>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4" name="Google Shape;1184;p42"/>
          <p:cNvSpPr txBox="1"/>
          <p:nvPr/>
        </p:nvSpPr>
        <p:spPr>
          <a:xfrm>
            <a:off x="6373368" y="2724912"/>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185" name="Google Shape;1185;p42"/>
          <p:cNvSpPr txBox="1"/>
          <p:nvPr/>
        </p:nvSpPr>
        <p:spPr>
          <a:xfrm>
            <a:off x="6373368" y="2980944"/>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Generalized attack procedures distilled from multiple validated outcomes against the same target technology class. Named strategies (e.g. STRAT-WP-SQLI-001) with confidence scores.</a:t>
            </a:r>
            <a:endParaRPr b="0" i="0" sz="1400" u="none" cap="none" strike="noStrike">
              <a:solidFill>
                <a:srgbClr val="000000"/>
              </a:solidFill>
              <a:latin typeface="Arial"/>
              <a:ea typeface="Arial"/>
              <a:cs typeface="Arial"/>
              <a:sym typeface="Arial"/>
            </a:endParaRPr>
          </a:p>
        </p:txBody>
      </p:sp>
      <p:sp>
        <p:nvSpPr>
          <p:cNvPr id="1186" name="Google Shape;1186;p42"/>
          <p:cNvSpPr/>
          <p:nvPr/>
        </p:nvSpPr>
        <p:spPr>
          <a:xfrm>
            <a:off x="6281928" y="3566160"/>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7" name="Google Shape;1187;p42"/>
          <p:cNvSpPr txBox="1"/>
          <p:nvPr/>
        </p:nvSpPr>
        <p:spPr>
          <a:xfrm>
            <a:off x="6373368" y="3621024"/>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Crystallization threshold</a:t>
            </a:r>
            <a:endParaRPr b="0" i="0" sz="1400" u="none" cap="none" strike="noStrike">
              <a:solidFill>
                <a:srgbClr val="000000"/>
              </a:solidFill>
              <a:latin typeface="Arial"/>
              <a:ea typeface="Arial"/>
              <a:cs typeface="Arial"/>
              <a:sym typeface="Arial"/>
            </a:endParaRPr>
          </a:p>
        </p:txBody>
      </p:sp>
      <p:sp>
        <p:nvSpPr>
          <p:cNvPr id="1188" name="Google Shape;1188;p42"/>
          <p:cNvSpPr txBox="1"/>
          <p:nvPr/>
        </p:nvSpPr>
        <p:spPr>
          <a:xfrm>
            <a:off x="6373368" y="3877056"/>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Same technology fingerprint (e.g. WordPress 5.x + WooCommerce + Nginx) produces validated AttackChain in 2 or more independent missions → Commander triggers crystallization.</a:t>
            </a:r>
            <a:endParaRPr b="0" i="0" sz="1400" u="none" cap="none" strike="noStrike">
              <a:solidFill>
                <a:srgbClr val="000000"/>
              </a:solidFill>
              <a:latin typeface="Arial"/>
              <a:ea typeface="Arial"/>
              <a:cs typeface="Arial"/>
              <a:sym typeface="Arial"/>
            </a:endParaRPr>
          </a:p>
        </p:txBody>
      </p:sp>
      <p:sp>
        <p:nvSpPr>
          <p:cNvPr id="1189" name="Google Shape;1189;p42"/>
          <p:cNvSpPr/>
          <p:nvPr/>
        </p:nvSpPr>
        <p:spPr>
          <a:xfrm>
            <a:off x="6281928" y="4462272"/>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0" name="Google Shape;1190;p42"/>
          <p:cNvSpPr txBox="1"/>
          <p:nvPr/>
        </p:nvSpPr>
        <p:spPr>
          <a:xfrm>
            <a:off x="6373368" y="4517136"/>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When it's used</a:t>
            </a:r>
            <a:endParaRPr b="0" i="0" sz="1400" u="none" cap="none" strike="noStrike">
              <a:solidFill>
                <a:srgbClr val="000000"/>
              </a:solidFill>
              <a:latin typeface="Arial"/>
              <a:ea typeface="Arial"/>
              <a:cs typeface="Arial"/>
              <a:sym typeface="Arial"/>
            </a:endParaRPr>
          </a:p>
        </p:txBody>
      </p:sp>
      <p:sp>
        <p:nvSpPr>
          <p:cNvPr id="1191" name="Google Shape;1191;p42"/>
          <p:cNvSpPr txBox="1"/>
          <p:nvPr/>
        </p:nvSpPr>
        <p:spPr>
          <a:xfrm>
            <a:off x="6373368" y="4773168"/>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Retrieved at mission start. Strategies are injected as pre-ranked APG AttackChain seeds — prioritized above zero-prior chains because they carry validated track record.</a:t>
            </a:r>
            <a:endParaRPr b="0" i="0" sz="1400" u="none" cap="none" strike="noStrike">
              <a:solidFill>
                <a:srgbClr val="000000"/>
              </a:solidFill>
              <a:latin typeface="Arial"/>
              <a:ea typeface="Arial"/>
              <a:cs typeface="Arial"/>
              <a:sym typeface="Arial"/>
            </a:endParaRPr>
          </a:p>
        </p:txBody>
      </p:sp>
      <p:sp>
        <p:nvSpPr>
          <p:cNvPr id="1192" name="Google Shape;1192;p42"/>
          <p:cNvSpPr/>
          <p:nvPr/>
        </p:nvSpPr>
        <p:spPr>
          <a:xfrm>
            <a:off x="6281928" y="5358384"/>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3" name="Google Shape;1193;p42"/>
          <p:cNvSpPr txBox="1"/>
          <p:nvPr/>
        </p:nvSpPr>
        <p:spPr>
          <a:xfrm>
            <a:off x="6373368" y="5413248"/>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Why it matters</a:t>
            </a:r>
            <a:endParaRPr b="0" i="0" sz="1400" u="none" cap="none" strike="noStrike">
              <a:solidFill>
                <a:srgbClr val="000000"/>
              </a:solidFill>
              <a:latin typeface="Arial"/>
              <a:ea typeface="Arial"/>
              <a:cs typeface="Arial"/>
              <a:sym typeface="Arial"/>
            </a:endParaRPr>
          </a:p>
        </p:txBody>
      </p:sp>
      <p:sp>
        <p:nvSpPr>
          <p:cNvPr id="1194" name="Google Shape;1194;p42"/>
          <p:cNvSpPr txBox="1"/>
          <p:nvPr/>
        </p:nvSpPr>
        <p:spPr>
          <a:xfrm>
            <a:off x="6373368" y="5669280"/>
            <a:ext cx="5486400" cy="5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endParaRPr b="0" i="0" sz="1400" u="none" cap="none" strike="noStrike">
              <a:solidFill>
                <a:srgbClr val="000000"/>
              </a:solidFill>
              <a:latin typeface="Arial"/>
              <a:ea typeface="Arial"/>
              <a:cs typeface="Arial"/>
              <a:sym typeface="Arial"/>
            </a:endParaRPr>
          </a:p>
        </p:txBody>
      </p:sp>
      <p:sp>
        <p:nvSpPr>
          <p:cNvPr id="1195" name="Google Shape;1195;p42"/>
          <p:cNvSpPr txBox="1"/>
          <p:nvPr/>
        </p:nvSpPr>
        <p:spPr>
          <a:xfrm>
            <a:off x="11585450" y="73150"/>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BFD8"/>
                </a:solidFill>
                <a:latin typeface="Calibri"/>
                <a:ea typeface="Calibri"/>
                <a:cs typeface="Calibri"/>
                <a:sym typeface="Calibri"/>
              </a:rPr>
              <a:t>1</a:t>
            </a:r>
            <a:r>
              <a:rPr b="1" lang="en-US" sz="1300">
                <a:solidFill>
                  <a:srgbClr val="00BFD8"/>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199" name="Shape 1199"/>
        <p:cNvGrpSpPr/>
        <p:nvPr/>
      </p:nvGrpSpPr>
      <p:grpSpPr>
        <a:xfrm>
          <a:off x="0" y="0"/>
          <a:ext cx="0" cy="0"/>
          <a:chOff x="0" y="0"/>
          <a:chExt cx="0" cy="0"/>
        </a:xfrm>
      </p:grpSpPr>
      <p:sp>
        <p:nvSpPr>
          <p:cNvPr id="1200" name="Google Shape;1200;p43"/>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1" name="Google Shape;1201;p43"/>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2" name="Google Shape;1202;p43"/>
          <p:cNvSpPr/>
          <p:nvPr/>
        </p:nvSpPr>
        <p:spPr>
          <a:xfrm>
            <a:off x="54864" y="682142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3" name="Google Shape;1203;p43"/>
          <p:cNvSpPr txBox="1"/>
          <p:nvPr/>
        </p:nvSpPr>
        <p:spPr>
          <a:xfrm>
            <a:off x="274320" y="64008"/>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p:txBody>
      </p:sp>
      <p:sp>
        <p:nvSpPr>
          <p:cNvPr id="1204" name="Google Shape;1204;p43"/>
          <p:cNvSpPr txBox="1"/>
          <p:nvPr/>
        </p:nvSpPr>
        <p:spPr>
          <a:xfrm>
            <a:off x="274320" y="283464"/>
            <a:ext cx="11430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Mission: shopvault.io — Black-Box Assessment — Zero Manual Commands</a:t>
            </a:r>
            <a:endParaRPr b="0" i="0" sz="1400" u="none" cap="none" strike="noStrike">
              <a:solidFill>
                <a:srgbClr val="000000"/>
              </a:solidFill>
              <a:latin typeface="Arial"/>
              <a:ea typeface="Arial"/>
              <a:cs typeface="Arial"/>
              <a:sym typeface="Arial"/>
            </a:endParaRPr>
          </a:p>
        </p:txBody>
      </p:sp>
      <p:sp>
        <p:nvSpPr>
          <p:cNvPr id="1205" name="Google Shape;1205;p43"/>
          <p:cNvSpPr/>
          <p:nvPr/>
        </p:nvSpPr>
        <p:spPr>
          <a:xfrm>
            <a:off x="164592" y="768096"/>
            <a:ext cx="11862600" cy="347400"/>
          </a:xfrm>
          <a:prstGeom prst="rect">
            <a:avLst/>
          </a:prstGeom>
          <a:solidFill>
            <a:srgbClr val="101004"/>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6" name="Google Shape;1206;p43"/>
          <p:cNvSpPr txBox="1"/>
          <p:nvPr/>
        </p:nvSpPr>
        <p:spPr>
          <a:xfrm>
            <a:off x="320040" y="822960"/>
            <a:ext cx="115974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FFD700"/>
                </a:solidFill>
                <a:latin typeface="Calibri"/>
                <a:ea typeface="Calibri"/>
                <a:cs typeface="Calibri"/>
                <a:sym typeface="Calibri"/>
              </a:rPr>
              <a:t>Scope: all subdomains · web applications · REST APIs of shopvault.io  ·  Mode: Black-Box (zero prior knowledge)  ·  Operator configures root domain + scope → presses start.</a:t>
            </a:r>
            <a:endParaRPr b="0" i="0" sz="1400" u="none" cap="none" strike="noStrike">
              <a:solidFill>
                <a:srgbClr val="000000"/>
              </a:solidFill>
              <a:latin typeface="Arial"/>
              <a:ea typeface="Arial"/>
              <a:cs typeface="Arial"/>
              <a:sym typeface="Arial"/>
            </a:endParaRPr>
          </a:p>
        </p:txBody>
      </p:sp>
      <p:sp>
        <p:nvSpPr>
          <p:cNvPr id="1207" name="Google Shape;1207;p43"/>
          <p:cNvSpPr/>
          <p:nvPr/>
        </p:nvSpPr>
        <p:spPr>
          <a:xfrm>
            <a:off x="164592" y="1188720"/>
            <a:ext cx="2395800" cy="5010900"/>
          </a:xfrm>
          <a:prstGeom prst="rect">
            <a:avLst/>
          </a:prstGeom>
          <a:solidFill>
            <a:srgbClr val="041408"/>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8" name="Google Shape;1208;p43"/>
          <p:cNvSpPr/>
          <p:nvPr/>
        </p:nvSpPr>
        <p:spPr>
          <a:xfrm>
            <a:off x="164592" y="1188720"/>
            <a:ext cx="2395800" cy="457200"/>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9" name="Google Shape;1209;p43"/>
          <p:cNvSpPr txBox="1"/>
          <p:nvPr/>
        </p:nvSpPr>
        <p:spPr>
          <a:xfrm>
            <a:off x="237744" y="1243584"/>
            <a:ext cx="2286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PHASE 1</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Reconnaissance</a:t>
            </a:r>
            <a:endParaRPr b="0" i="0" sz="1400" u="none" cap="none" strike="noStrike">
              <a:solidFill>
                <a:srgbClr val="000000"/>
              </a:solidFill>
              <a:latin typeface="Arial"/>
              <a:ea typeface="Arial"/>
              <a:cs typeface="Arial"/>
              <a:sym typeface="Arial"/>
            </a:endParaRPr>
          </a:p>
        </p:txBody>
      </p:sp>
      <p:sp>
        <p:nvSpPr>
          <p:cNvPr id="1210" name="Google Shape;1210;p43"/>
          <p:cNvSpPr txBox="1"/>
          <p:nvPr/>
        </p:nvSpPr>
        <p:spPr>
          <a:xfrm>
            <a:off x="237744" y="1700784"/>
            <a:ext cx="2286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 Recon Agent</a:t>
            </a:r>
            <a:endParaRPr b="0" i="0" sz="1400" u="none" cap="none" strike="noStrike">
              <a:solidFill>
                <a:srgbClr val="000000"/>
              </a:solidFill>
              <a:latin typeface="Arial"/>
              <a:ea typeface="Arial"/>
              <a:cs typeface="Arial"/>
              <a:sym typeface="Arial"/>
            </a:endParaRPr>
          </a:p>
        </p:txBody>
      </p:sp>
      <p:sp>
        <p:nvSpPr>
          <p:cNvPr id="1211" name="Google Shape;1211;p43"/>
          <p:cNvSpPr/>
          <p:nvPr/>
        </p:nvSpPr>
        <p:spPr>
          <a:xfrm>
            <a:off x="237744" y="1920240"/>
            <a:ext cx="2249400" cy="1830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2" name="Google Shape;1212;p43"/>
          <p:cNvSpPr txBox="1"/>
          <p:nvPr/>
        </p:nvSpPr>
        <p:spPr>
          <a:xfrm>
            <a:off x="274320" y="1929384"/>
            <a:ext cx="2212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1213" name="Google Shape;1213;p43"/>
          <p:cNvSpPr/>
          <p:nvPr/>
        </p:nvSpPr>
        <p:spPr>
          <a:xfrm>
            <a:off x="237744" y="2157984"/>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4" name="Google Shape;1214;p43"/>
          <p:cNvSpPr/>
          <p:nvPr/>
        </p:nvSpPr>
        <p:spPr>
          <a:xfrm>
            <a:off x="237744" y="2157984"/>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5" name="Google Shape;1215;p43"/>
          <p:cNvSpPr txBox="1"/>
          <p:nvPr/>
        </p:nvSpPr>
        <p:spPr>
          <a:xfrm>
            <a:off x="310896" y="2194560"/>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1216" name="Google Shape;1216;p43"/>
          <p:cNvSpPr txBox="1"/>
          <p:nvPr/>
        </p:nvSpPr>
        <p:spPr>
          <a:xfrm>
            <a:off x="310896" y="2432304"/>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14 subdomains discovered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 · admin · staging · pay · ...</a:t>
            </a:r>
            <a:endParaRPr b="0" i="0" sz="1400" u="none" cap="none" strike="noStrike">
              <a:solidFill>
                <a:srgbClr val="000000"/>
              </a:solidFill>
              <a:latin typeface="Arial"/>
              <a:ea typeface="Arial"/>
              <a:cs typeface="Arial"/>
              <a:sym typeface="Arial"/>
            </a:endParaRPr>
          </a:p>
        </p:txBody>
      </p:sp>
      <p:sp>
        <p:nvSpPr>
          <p:cNvPr id="1217" name="Google Shape;1217;p43"/>
          <p:cNvSpPr/>
          <p:nvPr/>
        </p:nvSpPr>
        <p:spPr>
          <a:xfrm>
            <a:off x="237744" y="3340608"/>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8" name="Google Shape;1218;p43"/>
          <p:cNvSpPr/>
          <p:nvPr/>
        </p:nvSpPr>
        <p:spPr>
          <a:xfrm>
            <a:off x="237744" y="3340608"/>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9" name="Google Shape;1219;p43"/>
          <p:cNvSpPr txBox="1"/>
          <p:nvPr/>
        </p:nvSpPr>
        <p:spPr>
          <a:xfrm>
            <a:off x="310896" y="3377184"/>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1220" name="Google Shape;1220;p43"/>
          <p:cNvSpPr txBox="1"/>
          <p:nvPr/>
        </p:nvSpPr>
        <p:spPr>
          <a:xfrm>
            <a:off x="310896" y="3614928"/>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11 live hosts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staging returns unexpected 200</a:t>
            </a:r>
            <a:endParaRPr b="0" i="0" sz="1400" u="none" cap="none" strike="noStrike">
              <a:solidFill>
                <a:srgbClr val="000000"/>
              </a:solidFill>
              <a:latin typeface="Arial"/>
              <a:ea typeface="Arial"/>
              <a:cs typeface="Arial"/>
              <a:sym typeface="Arial"/>
            </a:endParaRPr>
          </a:p>
        </p:txBody>
      </p:sp>
      <p:sp>
        <p:nvSpPr>
          <p:cNvPr id="1221" name="Google Shape;1221;p43"/>
          <p:cNvSpPr/>
          <p:nvPr/>
        </p:nvSpPr>
        <p:spPr>
          <a:xfrm>
            <a:off x="237744" y="4523232"/>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2" name="Google Shape;1222;p43"/>
          <p:cNvSpPr/>
          <p:nvPr/>
        </p:nvSpPr>
        <p:spPr>
          <a:xfrm>
            <a:off x="237744" y="4523232"/>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3" name="Google Shape;1223;p43"/>
          <p:cNvSpPr txBox="1"/>
          <p:nvPr/>
        </p:nvSpPr>
        <p:spPr>
          <a:xfrm>
            <a:off x="310896" y="4559808"/>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1224" name="Google Shape;1224;p43"/>
          <p:cNvSpPr txBox="1"/>
          <p:nvPr/>
        </p:nvSpPr>
        <p:spPr>
          <a:xfrm>
            <a:off x="310896" y="4797552"/>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Ports 80, 443, 8080, 8443 open</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pay.shopvault.io: expired TLS</a:t>
            </a:r>
            <a:endParaRPr b="0" i="0" sz="1400" u="none" cap="none" strike="noStrike">
              <a:solidFill>
                <a:srgbClr val="000000"/>
              </a:solidFill>
              <a:latin typeface="Arial"/>
              <a:ea typeface="Arial"/>
              <a:cs typeface="Arial"/>
              <a:sym typeface="Arial"/>
            </a:endParaRPr>
          </a:p>
        </p:txBody>
      </p:sp>
      <p:sp>
        <p:nvSpPr>
          <p:cNvPr id="1225" name="Google Shape;1225;p43"/>
          <p:cNvSpPr/>
          <p:nvPr/>
        </p:nvSpPr>
        <p:spPr>
          <a:xfrm>
            <a:off x="164592" y="5797296"/>
            <a:ext cx="2395800" cy="402300"/>
          </a:xfrm>
          <a:prstGeom prst="rect">
            <a:avLst/>
          </a:prstGeom>
          <a:solidFill>
            <a:srgbClr val="060C18"/>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6" name="Google Shape;1226;p43"/>
          <p:cNvSpPr txBox="1"/>
          <p:nvPr/>
        </p:nvSpPr>
        <p:spPr>
          <a:xfrm>
            <a:off x="256032" y="5852160"/>
            <a:ext cx="2258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ASG ← 37 new nodes</a:t>
            </a:r>
            <a:endParaRPr b="0" i="0" sz="1400" u="none" cap="none" strike="noStrike">
              <a:solidFill>
                <a:srgbClr val="000000"/>
              </a:solidFill>
              <a:latin typeface="Arial"/>
              <a:ea typeface="Arial"/>
              <a:cs typeface="Arial"/>
              <a:sym typeface="Arial"/>
            </a:endParaRPr>
          </a:p>
        </p:txBody>
      </p:sp>
      <p:cxnSp>
        <p:nvCxnSpPr>
          <p:cNvPr id="1227" name="Google Shape;1227;p43"/>
          <p:cNvCxnSpPr/>
          <p:nvPr/>
        </p:nvCxnSpPr>
        <p:spPr>
          <a:xfrm>
            <a:off x="2560320" y="1417320"/>
            <a:ext cx="54900" cy="0"/>
          </a:xfrm>
          <a:prstGeom prst="straightConnector1">
            <a:avLst/>
          </a:prstGeom>
          <a:noFill/>
          <a:ln cap="flat" cmpd="sng" w="228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228" name="Google Shape;1228;p43"/>
          <p:cNvSpPr/>
          <p:nvPr/>
        </p:nvSpPr>
        <p:spPr>
          <a:xfrm>
            <a:off x="2615184" y="1188720"/>
            <a:ext cx="3474600" cy="5010900"/>
          </a:xfrm>
          <a:prstGeom prst="rect">
            <a:avLst/>
          </a:prstGeom>
          <a:solidFill>
            <a:srgbClr val="041018"/>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9" name="Google Shape;1229;p43"/>
          <p:cNvSpPr/>
          <p:nvPr/>
        </p:nvSpPr>
        <p:spPr>
          <a:xfrm>
            <a:off x="2615184" y="1188720"/>
            <a:ext cx="3474600" cy="457200"/>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0" name="Google Shape;1230;p43"/>
          <p:cNvSpPr txBox="1"/>
          <p:nvPr/>
        </p:nvSpPr>
        <p:spPr>
          <a:xfrm>
            <a:off x="2688336" y="1243584"/>
            <a:ext cx="3365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PHASE 2</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Analysis + Intel</a:t>
            </a:r>
            <a:endParaRPr b="0" i="0" sz="1400" u="none" cap="none" strike="noStrike">
              <a:solidFill>
                <a:srgbClr val="000000"/>
              </a:solidFill>
              <a:latin typeface="Arial"/>
              <a:ea typeface="Arial"/>
              <a:cs typeface="Arial"/>
              <a:sym typeface="Arial"/>
            </a:endParaRPr>
          </a:p>
        </p:txBody>
      </p:sp>
      <p:sp>
        <p:nvSpPr>
          <p:cNvPr id="1231" name="Google Shape;1231;p43"/>
          <p:cNvSpPr txBox="1"/>
          <p:nvPr/>
        </p:nvSpPr>
        <p:spPr>
          <a:xfrm>
            <a:off x="2688336" y="1700784"/>
            <a:ext cx="33651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 Analysis + 🔍 Research</a:t>
            </a:r>
            <a:endParaRPr b="0" i="0" sz="1400" u="none" cap="none" strike="noStrike">
              <a:solidFill>
                <a:srgbClr val="000000"/>
              </a:solidFill>
              <a:latin typeface="Arial"/>
              <a:ea typeface="Arial"/>
              <a:cs typeface="Arial"/>
              <a:sym typeface="Arial"/>
            </a:endParaRPr>
          </a:p>
        </p:txBody>
      </p:sp>
      <p:sp>
        <p:nvSpPr>
          <p:cNvPr id="1232" name="Google Shape;1232;p43"/>
          <p:cNvSpPr/>
          <p:nvPr/>
        </p:nvSpPr>
        <p:spPr>
          <a:xfrm>
            <a:off x="2688336" y="1920240"/>
            <a:ext cx="3328500" cy="1830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3" name="Google Shape;1233;p43"/>
          <p:cNvSpPr txBox="1"/>
          <p:nvPr/>
        </p:nvSpPr>
        <p:spPr>
          <a:xfrm>
            <a:off x="2724912" y="1929384"/>
            <a:ext cx="3291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1234" name="Google Shape;1234;p43"/>
          <p:cNvSpPr/>
          <p:nvPr/>
        </p:nvSpPr>
        <p:spPr>
          <a:xfrm>
            <a:off x="2688336" y="2157984"/>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5" name="Google Shape;1235;p43"/>
          <p:cNvSpPr/>
          <p:nvPr/>
        </p:nvSpPr>
        <p:spPr>
          <a:xfrm>
            <a:off x="2688336" y="2157984"/>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6" name="Google Shape;1236;p43"/>
          <p:cNvSpPr txBox="1"/>
          <p:nvPr/>
        </p:nvSpPr>
        <p:spPr>
          <a:xfrm>
            <a:off x="2761488" y="2194560"/>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1237" name="Google Shape;1237;p43"/>
          <p:cNvSpPr txBox="1"/>
          <p:nvPr/>
        </p:nvSpPr>
        <p:spPr>
          <a:xfrm>
            <a:off x="2761488" y="2432304"/>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WordPress 5.9.3 · Django API</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Research: CVE-2022-21661 (CVSS 8.8)</a:t>
            </a:r>
            <a:endParaRPr b="0" i="0" sz="1400" u="none" cap="none" strike="noStrike">
              <a:solidFill>
                <a:srgbClr val="000000"/>
              </a:solidFill>
              <a:latin typeface="Arial"/>
              <a:ea typeface="Arial"/>
              <a:cs typeface="Arial"/>
              <a:sym typeface="Arial"/>
            </a:endParaRPr>
          </a:p>
        </p:txBody>
      </p:sp>
      <p:sp>
        <p:nvSpPr>
          <p:cNvPr id="1238" name="Google Shape;1238;p43"/>
          <p:cNvSpPr/>
          <p:nvPr/>
        </p:nvSpPr>
        <p:spPr>
          <a:xfrm>
            <a:off x="2688336" y="3044952"/>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9" name="Google Shape;1239;p43"/>
          <p:cNvSpPr/>
          <p:nvPr/>
        </p:nvSpPr>
        <p:spPr>
          <a:xfrm>
            <a:off x="2688336" y="3044952"/>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0" name="Google Shape;1240;p43"/>
          <p:cNvSpPr txBox="1"/>
          <p:nvPr/>
        </p:nvSpPr>
        <p:spPr>
          <a:xfrm>
            <a:off x="2761488" y="3081528"/>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1241" name="Google Shape;1241;p43"/>
          <p:cNvSpPr txBox="1"/>
          <p:nvPr/>
        </p:nvSpPr>
        <p:spPr>
          <a:xfrm>
            <a:off x="2761488" y="3319272"/>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/backup/db_export_2023.sql EXPOSED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/admin/users · /admin/login</a:t>
            </a:r>
            <a:endParaRPr b="0" i="0" sz="1400" u="none" cap="none" strike="noStrike">
              <a:solidFill>
                <a:srgbClr val="000000"/>
              </a:solidFill>
              <a:latin typeface="Arial"/>
              <a:ea typeface="Arial"/>
              <a:cs typeface="Arial"/>
              <a:sym typeface="Arial"/>
            </a:endParaRPr>
          </a:p>
        </p:txBody>
      </p:sp>
      <p:sp>
        <p:nvSpPr>
          <p:cNvPr id="1242" name="Google Shape;1242;p43"/>
          <p:cNvSpPr/>
          <p:nvPr/>
        </p:nvSpPr>
        <p:spPr>
          <a:xfrm>
            <a:off x="2688336" y="3931920"/>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3" name="Google Shape;1243;p43"/>
          <p:cNvSpPr/>
          <p:nvPr/>
        </p:nvSpPr>
        <p:spPr>
          <a:xfrm>
            <a:off x="2688336" y="3931920"/>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4" name="Google Shape;1244;p43"/>
          <p:cNvSpPr txBox="1"/>
          <p:nvPr/>
        </p:nvSpPr>
        <p:spPr>
          <a:xfrm>
            <a:off x="2761488" y="3968496"/>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1245" name="Google Shape;1245;p43"/>
          <p:cNvSpPr txBox="1"/>
          <p:nvPr/>
        </p:nvSpPr>
        <p:spPr>
          <a:xfrm>
            <a:off x="2761488" y="4206240"/>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IDOR: user_id param unsanitized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/api/v1/internal/users found</a:t>
            </a:r>
            <a:endParaRPr b="0" i="0" sz="1400" u="none" cap="none" strike="noStrike">
              <a:solidFill>
                <a:srgbClr val="000000"/>
              </a:solidFill>
              <a:latin typeface="Arial"/>
              <a:ea typeface="Arial"/>
              <a:cs typeface="Arial"/>
              <a:sym typeface="Arial"/>
            </a:endParaRPr>
          </a:p>
        </p:txBody>
      </p:sp>
      <p:sp>
        <p:nvSpPr>
          <p:cNvPr id="1246" name="Google Shape;1246;p43"/>
          <p:cNvSpPr/>
          <p:nvPr/>
        </p:nvSpPr>
        <p:spPr>
          <a:xfrm>
            <a:off x="2688336" y="4818888"/>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7" name="Google Shape;1247;p43"/>
          <p:cNvSpPr/>
          <p:nvPr/>
        </p:nvSpPr>
        <p:spPr>
          <a:xfrm>
            <a:off x="2688336" y="4818888"/>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8" name="Google Shape;1248;p43"/>
          <p:cNvSpPr txBox="1"/>
          <p:nvPr/>
        </p:nvSpPr>
        <p:spPr>
          <a:xfrm>
            <a:off x="2761488" y="4855464"/>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ZAP</a:t>
            </a:r>
            <a:endParaRPr b="0" i="0" sz="1400" u="none" cap="none" strike="noStrike">
              <a:solidFill>
                <a:srgbClr val="000000"/>
              </a:solidFill>
              <a:latin typeface="Arial"/>
              <a:ea typeface="Arial"/>
              <a:cs typeface="Arial"/>
              <a:sym typeface="Arial"/>
            </a:endParaRPr>
          </a:p>
        </p:txBody>
      </p:sp>
      <p:sp>
        <p:nvSpPr>
          <p:cNvPr id="1249" name="Google Shape;1249;p43"/>
          <p:cNvSpPr txBox="1"/>
          <p:nvPr/>
        </p:nvSpPr>
        <p:spPr>
          <a:xfrm>
            <a:off x="2761488" y="5093208"/>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XSS on /search?q=</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 error on staging login</a:t>
            </a:r>
            <a:endParaRPr b="0" i="0" sz="1400" u="none" cap="none" strike="noStrike">
              <a:solidFill>
                <a:srgbClr val="000000"/>
              </a:solidFill>
              <a:latin typeface="Arial"/>
              <a:ea typeface="Arial"/>
              <a:cs typeface="Arial"/>
              <a:sym typeface="Arial"/>
            </a:endParaRPr>
          </a:p>
        </p:txBody>
      </p:sp>
      <p:sp>
        <p:nvSpPr>
          <p:cNvPr id="1250" name="Google Shape;1250;p43"/>
          <p:cNvSpPr/>
          <p:nvPr/>
        </p:nvSpPr>
        <p:spPr>
          <a:xfrm>
            <a:off x="2615184" y="5797296"/>
            <a:ext cx="3474600" cy="402300"/>
          </a:xfrm>
          <a:prstGeom prst="rect">
            <a:avLst/>
          </a:prstGeom>
          <a:solidFill>
            <a:srgbClr val="060C18"/>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1" name="Google Shape;1251;p43"/>
          <p:cNvSpPr txBox="1"/>
          <p:nvPr/>
        </p:nvSpPr>
        <p:spPr>
          <a:xfrm>
            <a:off x="2706624" y="5852160"/>
            <a:ext cx="33375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ASG ← 61 nodes</a:t>
            </a:r>
            <a:br>
              <a:rPr b="1" i="0" lang="en-US" sz="850" u="none" cap="none" strike="noStrike">
                <a:solidFill>
                  <a:srgbClr val="00E5FF"/>
                </a:solidFill>
                <a:latin typeface="Calibri"/>
                <a:ea typeface="Calibri"/>
                <a:cs typeface="Calibri"/>
                <a:sym typeface="Calibri"/>
              </a:rPr>
            </a:br>
            <a:r>
              <a:rPr b="1" i="0" lang="en-US" sz="850" u="none" cap="none" strike="noStrike">
                <a:solidFill>
                  <a:srgbClr val="00E5FF"/>
                </a:solidFill>
                <a:latin typeface="Calibri"/>
                <a:ea typeface="Calibri"/>
                <a:cs typeface="Calibri"/>
                <a:sym typeface="Calibri"/>
              </a:rPr>
              <a:t>APG ← 3 chains seeded</a:t>
            </a:r>
            <a:endParaRPr b="0" i="0" sz="1400" u="none" cap="none" strike="noStrike">
              <a:solidFill>
                <a:srgbClr val="000000"/>
              </a:solidFill>
              <a:latin typeface="Arial"/>
              <a:ea typeface="Arial"/>
              <a:cs typeface="Arial"/>
              <a:sym typeface="Arial"/>
            </a:endParaRPr>
          </a:p>
        </p:txBody>
      </p:sp>
      <p:cxnSp>
        <p:nvCxnSpPr>
          <p:cNvPr id="1252" name="Google Shape;1252;p43"/>
          <p:cNvCxnSpPr/>
          <p:nvPr/>
        </p:nvCxnSpPr>
        <p:spPr>
          <a:xfrm>
            <a:off x="6089904" y="1417320"/>
            <a:ext cx="549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253" name="Google Shape;1253;p43"/>
          <p:cNvSpPr/>
          <p:nvPr/>
        </p:nvSpPr>
        <p:spPr>
          <a:xfrm>
            <a:off x="6144768" y="1188720"/>
            <a:ext cx="3639300" cy="5010900"/>
          </a:xfrm>
          <a:prstGeom prst="rect">
            <a:avLst/>
          </a:prstGeom>
          <a:solidFill>
            <a:srgbClr val="180606"/>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4" name="Google Shape;1254;p43"/>
          <p:cNvSpPr/>
          <p:nvPr/>
        </p:nvSpPr>
        <p:spPr>
          <a:xfrm>
            <a:off x="6144768" y="1188720"/>
            <a:ext cx="3639300" cy="457200"/>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5" name="Google Shape;1255;p43"/>
          <p:cNvSpPr txBox="1"/>
          <p:nvPr/>
        </p:nvSpPr>
        <p:spPr>
          <a:xfrm>
            <a:off x="6217920" y="1243584"/>
            <a:ext cx="35295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PHASE 3</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1256" name="Google Shape;1256;p43"/>
          <p:cNvSpPr txBox="1"/>
          <p:nvPr/>
        </p:nvSpPr>
        <p:spPr>
          <a:xfrm>
            <a:off x="6217920" y="1700784"/>
            <a:ext cx="35295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 Validation + 📸 Evidence</a:t>
            </a:r>
            <a:endParaRPr b="0" i="0" sz="1400" u="none" cap="none" strike="noStrike">
              <a:solidFill>
                <a:srgbClr val="000000"/>
              </a:solidFill>
              <a:latin typeface="Arial"/>
              <a:ea typeface="Arial"/>
              <a:cs typeface="Arial"/>
              <a:sym typeface="Arial"/>
            </a:endParaRPr>
          </a:p>
        </p:txBody>
      </p:sp>
      <p:sp>
        <p:nvSpPr>
          <p:cNvPr id="1257" name="Google Shape;1257;p43"/>
          <p:cNvSpPr/>
          <p:nvPr/>
        </p:nvSpPr>
        <p:spPr>
          <a:xfrm>
            <a:off x="6217920" y="1920240"/>
            <a:ext cx="3492900" cy="1830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8" name="Google Shape;1258;p43"/>
          <p:cNvSpPr txBox="1"/>
          <p:nvPr/>
        </p:nvSpPr>
        <p:spPr>
          <a:xfrm>
            <a:off x="6254496" y="1929384"/>
            <a:ext cx="34563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4545"/>
                </a:solidFill>
                <a:latin typeface="Calibri"/>
                <a:ea typeface="Calibri"/>
                <a:cs typeface="Calibri"/>
                <a:sym typeface="Calibri"/>
              </a:rPr>
              <a:t>SQLMap  ·  Metasploit  ·  EyeWitness</a:t>
            </a:r>
            <a:endParaRPr b="0" i="0" sz="1400" u="none" cap="none" strike="noStrike">
              <a:solidFill>
                <a:srgbClr val="000000"/>
              </a:solidFill>
              <a:latin typeface="Arial"/>
              <a:ea typeface="Arial"/>
              <a:cs typeface="Arial"/>
              <a:sym typeface="Arial"/>
            </a:endParaRPr>
          </a:p>
        </p:txBody>
      </p:sp>
      <p:sp>
        <p:nvSpPr>
          <p:cNvPr id="1259" name="Google Shape;1259;p43"/>
          <p:cNvSpPr/>
          <p:nvPr/>
        </p:nvSpPr>
        <p:spPr>
          <a:xfrm>
            <a:off x="6217920" y="2157984"/>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0" name="Google Shape;1260;p43"/>
          <p:cNvSpPr/>
          <p:nvPr/>
        </p:nvSpPr>
        <p:spPr>
          <a:xfrm>
            <a:off x="6217920" y="2157984"/>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1" name="Google Shape;1261;p43"/>
          <p:cNvSpPr txBox="1"/>
          <p:nvPr/>
        </p:nvSpPr>
        <p:spPr>
          <a:xfrm>
            <a:off x="6291072" y="21945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Chain-01</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8.8)</a:t>
            </a:r>
            <a:endParaRPr b="0" i="0" sz="1400" u="none" cap="none" strike="noStrike">
              <a:solidFill>
                <a:srgbClr val="000000"/>
              </a:solidFill>
              <a:latin typeface="Arial"/>
              <a:ea typeface="Arial"/>
              <a:cs typeface="Arial"/>
              <a:sym typeface="Arial"/>
            </a:endParaRPr>
          </a:p>
        </p:txBody>
      </p:sp>
      <p:sp>
        <p:nvSpPr>
          <p:cNvPr id="1262" name="Google Shape;1262;p43"/>
          <p:cNvSpPr txBox="1"/>
          <p:nvPr/>
        </p:nvSpPr>
        <p:spPr>
          <a:xfrm>
            <a:off x="6291072" y="2432304"/>
            <a:ext cx="3365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SQLi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 hash cracked → Metasploit → RCE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Status: VALIDATED (escalated 9.1)</a:t>
            </a:r>
            <a:endParaRPr b="0" i="0" sz="1400" u="none" cap="none" strike="noStrike">
              <a:solidFill>
                <a:srgbClr val="000000"/>
              </a:solidFill>
              <a:latin typeface="Arial"/>
              <a:ea typeface="Arial"/>
              <a:cs typeface="Arial"/>
              <a:sym typeface="Arial"/>
            </a:endParaRPr>
          </a:p>
        </p:txBody>
      </p:sp>
      <p:sp>
        <p:nvSpPr>
          <p:cNvPr id="1263" name="Google Shape;1263;p43"/>
          <p:cNvSpPr/>
          <p:nvPr/>
        </p:nvSpPr>
        <p:spPr>
          <a:xfrm>
            <a:off x="6217920" y="3067812"/>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4" name="Google Shape;1264;p43"/>
          <p:cNvSpPr/>
          <p:nvPr/>
        </p:nvSpPr>
        <p:spPr>
          <a:xfrm>
            <a:off x="6217920" y="3067812"/>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5" name="Google Shape;1265;p43"/>
          <p:cNvSpPr txBox="1"/>
          <p:nvPr/>
        </p:nvSpPr>
        <p:spPr>
          <a:xfrm>
            <a:off x="6291072" y="31043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Chain-02</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7.5)</a:t>
            </a:r>
            <a:endParaRPr b="0" i="0" sz="1400" u="none" cap="none" strike="noStrike">
              <a:solidFill>
                <a:srgbClr val="000000"/>
              </a:solidFill>
              <a:latin typeface="Arial"/>
              <a:ea typeface="Arial"/>
              <a:cs typeface="Arial"/>
              <a:sym typeface="Arial"/>
            </a:endParaRPr>
          </a:p>
        </p:txBody>
      </p:sp>
      <p:sp>
        <p:nvSpPr>
          <p:cNvPr id="1266" name="Google Shape;1266;p43"/>
          <p:cNvSpPr txBox="1"/>
          <p:nvPr/>
        </p:nvSpPr>
        <p:spPr>
          <a:xfrm>
            <a:off x="6291072" y="3342132"/>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on user_id → IDOR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Any customer orders accessible</a:t>
            </a:r>
            <a:endParaRPr b="0" i="0" sz="1400" u="none" cap="none" strike="noStrike">
              <a:solidFill>
                <a:srgbClr val="000000"/>
              </a:solidFill>
              <a:latin typeface="Arial"/>
              <a:ea typeface="Arial"/>
              <a:cs typeface="Arial"/>
              <a:sym typeface="Arial"/>
            </a:endParaRPr>
          </a:p>
        </p:txBody>
      </p:sp>
      <p:sp>
        <p:nvSpPr>
          <p:cNvPr id="1267" name="Google Shape;1267;p43"/>
          <p:cNvSpPr/>
          <p:nvPr/>
        </p:nvSpPr>
        <p:spPr>
          <a:xfrm>
            <a:off x="6217920" y="3977640"/>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8" name="Google Shape;1268;p43"/>
          <p:cNvSpPr/>
          <p:nvPr/>
        </p:nvSpPr>
        <p:spPr>
          <a:xfrm>
            <a:off x="6217920" y="3977640"/>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9" name="Google Shape;1269;p43"/>
          <p:cNvSpPr txBox="1"/>
          <p:nvPr/>
        </p:nvSpPr>
        <p:spPr>
          <a:xfrm>
            <a:off x="6291072" y="4014216"/>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Chain-03</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8.1)</a:t>
            </a:r>
            <a:endParaRPr b="0" i="0" sz="1400" u="none" cap="none" strike="noStrike">
              <a:solidFill>
                <a:srgbClr val="000000"/>
              </a:solidFill>
              <a:latin typeface="Arial"/>
              <a:ea typeface="Arial"/>
              <a:cs typeface="Arial"/>
              <a:sym typeface="Arial"/>
            </a:endParaRPr>
          </a:p>
        </p:txBody>
      </p:sp>
      <p:sp>
        <p:nvSpPr>
          <p:cNvPr id="1270" name="Google Shape;1270;p43"/>
          <p:cNvSpPr txBox="1"/>
          <p:nvPr/>
        </p:nvSpPr>
        <p:spPr>
          <a:xfrm>
            <a:off x="6291072" y="42519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Blind SQLi on staging → DB creds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Credential reuse risk flagged</a:t>
            </a:r>
            <a:endParaRPr b="0" i="0" sz="1400" u="none" cap="none" strike="noStrike">
              <a:solidFill>
                <a:srgbClr val="000000"/>
              </a:solidFill>
              <a:latin typeface="Arial"/>
              <a:ea typeface="Arial"/>
              <a:cs typeface="Arial"/>
              <a:sym typeface="Arial"/>
            </a:endParaRPr>
          </a:p>
        </p:txBody>
      </p:sp>
      <p:sp>
        <p:nvSpPr>
          <p:cNvPr id="1271" name="Google Shape;1271;p43"/>
          <p:cNvSpPr/>
          <p:nvPr/>
        </p:nvSpPr>
        <p:spPr>
          <a:xfrm>
            <a:off x="6217920" y="4887468"/>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2" name="Google Shape;1272;p43"/>
          <p:cNvSpPr/>
          <p:nvPr/>
        </p:nvSpPr>
        <p:spPr>
          <a:xfrm>
            <a:off x="6217920" y="4887468"/>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3" name="Google Shape;1273;p43"/>
          <p:cNvSpPr txBox="1"/>
          <p:nvPr/>
        </p:nvSpPr>
        <p:spPr>
          <a:xfrm>
            <a:off x="6291072" y="4924044"/>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Chain-04</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(validated instantly)</a:t>
            </a:r>
            <a:endParaRPr b="0" i="0" sz="1400" u="none" cap="none" strike="noStrike">
              <a:solidFill>
                <a:srgbClr val="000000"/>
              </a:solidFill>
              <a:latin typeface="Arial"/>
              <a:ea typeface="Arial"/>
              <a:cs typeface="Arial"/>
              <a:sym typeface="Arial"/>
            </a:endParaRPr>
          </a:p>
        </p:txBody>
      </p:sp>
      <p:sp>
        <p:nvSpPr>
          <p:cNvPr id="1274" name="Google Shape;1274;p43"/>
          <p:cNvSpPr txBox="1"/>
          <p:nvPr/>
        </p:nvSpPr>
        <p:spPr>
          <a:xfrm>
            <a:off x="6291072" y="51617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Direct GET on exposed DB backup file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Misconfiguration → full PII exposure, no agent needed</a:t>
            </a:r>
            <a:endParaRPr b="0" i="0" sz="1400" u="none" cap="none" strike="noStrike">
              <a:solidFill>
                <a:srgbClr val="000000"/>
              </a:solidFill>
              <a:latin typeface="Arial"/>
              <a:ea typeface="Arial"/>
              <a:cs typeface="Arial"/>
              <a:sym typeface="Arial"/>
            </a:endParaRPr>
          </a:p>
        </p:txBody>
      </p:sp>
      <p:sp>
        <p:nvSpPr>
          <p:cNvPr id="1275" name="Google Shape;1275;p43"/>
          <p:cNvSpPr/>
          <p:nvPr/>
        </p:nvSpPr>
        <p:spPr>
          <a:xfrm>
            <a:off x="6144768" y="5797296"/>
            <a:ext cx="3639300" cy="402300"/>
          </a:xfrm>
          <a:prstGeom prst="rect">
            <a:avLst/>
          </a:prstGeom>
          <a:solidFill>
            <a:srgbClr val="060C18"/>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6" name="Google Shape;1276;p43"/>
          <p:cNvSpPr txBox="1"/>
          <p:nvPr/>
        </p:nvSpPr>
        <p:spPr>
          <a:xfrm>
            <a:off x="6236208" y="5852160"/>
            <a:ext cx="3502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APG ← 4 chains VALIDATED</a:t>
            </a:r>
            <a:br>
              <a:rPr b="1" i="0" lang="en-US" sz="850" u="none" cap="none" strike="noStrike">
                <a:solidFill>
                  <a:srgbClr val="FF4545"/>
                </a:solidFill>
                <a:latin typeface="Calibri"/>
                <a:ea typeface="Calibri"/>
                <a:cs typeface="Calibri"/>
                <a:sym typeface="Calibri"/>
              </a:rPr>
            </a:br>
            <a:r>
              <a:rPr b="1" i="0" lang="en-US" sz="850" u="none" cap="none" strike="noStrike">
                <a:solidFill>
                  <a:srgbClr val="FF4545"/>
                </a:solidFill>
                <a:latin typeface="Calibri"/>
                <a:ea typeface="Calibri"/>
                <a:cs typeface="Calibri"/>
                <a:sym typeface="Calibri"/>
              </a:rPr>
              <a:t>ASG ← Evidence nodes linked</a:t>
            </a:r>
            <a:endParaRPr b="0" i="0" sz="1400" u="none" cap="none" strike="noStrike">
              <a:solidFill>
                <a:srgbClr val="000000"/>
              </a:solidFill>
              <a:latin typeface="Arial"/>
              <a:ea typeface="Arial"/>
              <a:cs typeface="Arial"/>
              <a:sym typeface="Arial"/>
            </a:endParaRPr>
          </a:p>
        </p:txBody>
      </p:sp>
      <p:cxnSp>
        <p:nvCxnSpPr>
          <p:cNvPr id="1277" name="Google Shape;1277;p43"/>
          <p:cNvCxnSpPr/>
          <p:nvPr/>
        </p:nvCxnSpPr>
        <p:spPr>
          <a:xfrm>
            <a:off x="9784080" y="1417320"/>
            <a:ext cx="54900" cy="0"/>
          </a:xfrm>
          <a:prstGeom prst="straightConnector1">
            <a:avLst/>
          </a:prstGeom>
          <a:noFill/>
          <a:ln cap="flat" cmpd="sng" w="228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1278" name="Google Shape;1278;p43"/>
          <p:cNvSpPr/>
          <p:nvPr/>
        </p:nvSpPr>
        <p:spPr>
          <a:xfrm>
            <a:off x="9838950" y="1188725"/>
            <a:ext cx="2212800" cy="5010900"/>
          </a:xfrm>
          <a:prstGeom prst="rect">
            <a:avLst/>
          </a:prstGeom>
          <a:solidFill>
            <a:srgbClr val="1008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9" name="Google Shape;1279;p43"/>
          <p:cNvSpPr/>
          <p:nvPr/>
        </p:nvSpPr>
        <p:spPr>
          <a:xfrm>
            <a:off x="9838950" y="1188725"/>
            <a:ext cx="2212800" cy="457200"/>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0" name="Google Shape;1280;p43"/>
          <p:cNvSpPr txBox="1"/>
          <p:nvPr/>
        </p:nvSpPr>
        <p:spPr>
          <a:xfrm>
            <a:off x="9912100" y="1243575"/>
            <a:ext cx="21213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PHASE 4</a:t>
            </a:r>
            <a:br>
              <a:rPr b="1" i="0" lang="en-US" sz="1000" u="none" cap="none" strike="noStrike">
                <a:solidFill>
                  <a:srgbClr val="BD93F9"/>
                </a:solidFill>
                <a:latin typeface="Calibri"/>
                <a:ea typeface="Calibri"/>
                <a:cs typeface="Calibri"/>
                <a:sym typeface="Calibri"/>
              </a:rPr>
            </a:br>
            <a:r>
              <a:rPr b="1" i="0" lang="en-US" sz="1000" u="none" cap="none" strike="noStrike">
                <a:solidFill>
                  <a:srgbClr val="BD93F9"/>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1281" name="Google Shape;1281;p43"/>
          <p:cNvSpPr txBox="1"/>
          <p:nvPr/>
        </p:nvSpPr>
        <p:spPr>
          <a:xfrm>
            <a:off x="9912100" y="1700775"/>
            <a:ext cx="21213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 Report Agent</a:t>
            </a:r>
            <a:endParaRPr b="0" i="0" sz="1400" u="none" cap="none" strike="noStrike">
              <a:solidFill>
                <a:srgbClr val="000000"/>
              </a:solidFill>
              <a:latin typeface="Arial"/>
              <a:ea typeface="Arial"/>
              <a:cs typeface="Arial"/>
              <a:sym typeface="Arial"/>
            </a:endParaRPr>
          </a:p>
        </p:txBody>
      </p:sp>
      <p:sp>
        <p:nvSpPr>
          <p:cNvPr id="1282" name="Google Shape;1282;p43"/>
          <p:cNvSpPr/>
          <p:nvPr/>
        </p:nvSpPr>
        <p:spPr>
          <a:xfrm>
            <a:off x="9912100" y="1920250"/>
            <a:ext cx="2060700" cy="1830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3" name="Google Shape;1283;p43"/>
          <p:cNvSpPr txBox="1"/>
          <p:nvPr/>
        </p:nvSpPr>
        <p:spPr>
          <a:xfrm>
            <a:off x="9948675" y="1929375"/>
            <a:ext cx="2024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BD93F9"/>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sp>
        <p:nvSpPr>
          <p:cNvPr id="1284" name="Google Shape;1284;p43"/>
          <p:cNvSpPr/>
          <p:nvPr/>
        </p:nvSpPr>
        <p:spPr>
          <a:xfrm>
            <a:off x="9912100" y="2157975"/>
            <a:ext cx="2060700" cy="3492900"/>
          </a:xfrm>
          <a:prstGeom prst="rect">
            <a:avLst/>
          </a:prstGeom>
          <a:solidFill>
            <a:srgbClr val="080E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5" name="Google Shape;1285;p43"/>
          <p:cNvSpPr/>
          <p:nvPr/>
        </p:nvSpPr>
        <p:spPr>
          <a:xfrm>
            <a:off x="9912096" y="2157984"/>
            <a:ext cx="45600" cy="34929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6" name="Google Shape;1286;p43"/>
          <p:cNvSpPr txBox="1"/>
          <p:nvPr/>
        </p:nvSpPr>
        <p:spPr>
          <a:xfrm>
            <a:off x="9985250" y="2194550"/>
            <a:ext cx="20241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1287" name="Google Shape;1287;p43"/>
          <p:cNvSpPr txBox="1"/>
          <p:nvPr/>
        </p:nvSpPr>
        <p:spPr>
          <a:xfrm>
            <a:off x="9985250" y="2432300"/>
            <a:ext cx="2024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Executive summary · 4 validated chains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 IDOR + SQLi + exposed DB backup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11 vuln entries · full attack surface map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Evidence at every ChainStep</a:t>
            </a:r>
            <a:endParaRPr b="0" i="0" sz="1400" u="none" cap="none" strike="noStrike">
              <a:solidFill>
                <a:srgbClr val="000000"/>
              </a:solidFill>
              <a:latin typeface="Arial"/>
              <a:ea typeface="Arial"/>
              <a:cs typeface="Arial"/>
              <a:sym typeface="Arial"/>
            </a:endParaRPr>
          </a:p>
        </p:txBody>
      </p:sp>
      <p:sp>
        <p:nvSpPr>
          <p:cNvPr id="1288" name="Google Shape;1288;p43"/>
          <p:cNvSpPr/>
          <p:nvPr/>
        </p:nvSpPr>
        <p:spPr>
          <a:xfrm>
            <a:off x="9838949" y="5797300"/>
            <a:ext cx="2212800" cy="402300"/>
          </a:xfrm>
          <a:prstGeom prst="rect">
            <a:avLst/>
          </a:prstGeom>
          <a:solidFill>
            <a:srgbClr val="060C18"/>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9" name="Google Shape;1289;p43"/>
          <p:cNvSpPr txBox="1"/>
          <p:nvPr/>
        </p:nvSpPr>
        <p:spPr>
          <a:xfrm>
            <a:off x="9930376" y="5852150"/>
            <a:ext cx="2060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ZERO manual commands</a:t>
            </a:r>
            <a:endParaRPr b="0" i="0" sz="1400" u="none" cap="none" strike="noStrike">
              <a:solidFill>
                <a:srgbClr val="000000"/>
              </a:solidFill>
              <a:latin typeface="Arial"/>
              <a:ea typeface="Arial"/>
              <a:cs typeface="Arial"/>
              <a:sym typeface="Arial"/>
            </a:endParaRPr>
          </a:p>
        </p:txBody>
      </p:sp>
      <p:sp>
        <p:nvSpPr>
          <p:cNvPr id="1290" name="Google Shape;1290;p43"/>
          <p:cNvSpPr/>
          <p:nvPr/>
        </p:nvSpPr>
        <p:spPr>
          <a:xfrm>
            <a:off x="164592" y="6236208"/>
            <a:ext cx="11862600" cy="493800"/>
          </a:xfrm>
          <a:prstGeom prst="rect">
            <a:avLst/>
          </a:prstGeom>
          <a:solidFill>
            <a:srgbClr val="08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1" name="Google Shape;1291;p43"/>
          <p:cNvSpPr txBox="1"/>
          <p:nvPr/>
        </p:nvSpPr>
        <p:spPr>
          <a:xfrm>
            <a:off x="20116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
        <p:nvSpPr>
          <p:cNvPr id="1292" name="Google Shape;1292;p43"/>
          <p:cNvSpPr txBox="1"/>
          <p:nvPr/>
        </p:nvSpPr>
        <p:spPr>
          <a:xfrm>
            <a:off x="20116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subdomains</a:t>
            </a:r>
            <a:endParaRPr b="0" i="0" sz="1400" u="none" cap="none" strike="noStrike">
              <a:solidFill>
                <a:srgbClr val="000000"/>
              </a:solidFill>
              <a:latin typeface="Arial"/>
              <a:ea typeface="Arial"/>
              <a:cs typeface="Arial"/>
              <a:sym typeface="Arial"/>
            </a:endParaRPr>
          </a:p>
        </p:txBody>
      </p:sp>
      <p:sp>
        <p:nvSpPr>
          <p:cNvPr id="1293" name="Google Shape;1293;p43"/>
          <p:cNvSpPr txBox="1"/>
          <p:nvPr/>
        </p:nvSpPr>
        <p:spPr>
          <a:xfrm>
            <a:off x="1864461"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1294" name="Google Shape;1294;p43"/>
          <p:cNvSpPr txBox="1"/>
          <p:nvPr/>
        </p:nvSpPr>
        <p:spPr>
          <a:xfrm>
            <a:off x="1864461"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live hosts</a:t>
            </a:r>
            <a:endParaRPr b="0" i="0" sz="1400" u="none" cap="none" strike="noStrike">
              <a:solidFill>
                <a:srgbClr val="000000"/>
              </a:solidFill>
              <a:latin typeface="Arial"/>
              <a:ea typeface="Arial"/>
              <a:cs typeface="Arial"/>
              <a:sym typeface="Arial"/>
            </a:endParaRPr>
          </a:p>
        </p:txBody>
      </p:sp>
      <p:sp>
        <p:nvSpPr>
          <p:cNvPr id="1295" name="Google Shape;1295;p43"/>
          <p:cNvSpPr txBox="1"/>
          <p:nvPr/>
        </p:nvSpPr>
        <p:spPr>
          <a:xfrm>
            <a:off x="352775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28</a:t>
            </a:r>
            <a:endParaRPr b="0" i="0" sz="1400" u="none" cap="none" strike="noStrike">
              <a:solidFill>
                <a:srgbClr val="000000"/>
              </a:solidFill>
              <a:latin typeface="Arial"/>
              <a:ea typeface="Arial"/>
              <a:cs typeface="Arial"/>
              <a:sym typeface="Arial"/>
            </a:endParaRPr>
          </a:p>
        </p:txBody>
      </p:sp>
      <p:sp>
        <p:nvSpPr>
          <p:cNvPr id="1296" name="Google Shape;1296;p43"/>
          <p:cNvSpPr txBox="1"/>
          <p:nvPr/>
        </p:nvSpPr>
        <p:spPr>
          <a:xfrm>
            <a:off x="352775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open ports</a:t>
            </a:r>
            <a:endParaRPr b="0" i="0" sz="1400" u="none" cap="none" strike="noStrike">
              <a:solidFill>
                <a:srgbClr val="000000"/>
              </a:solidFill>
              <a:latin typeface="Arial"/>
              <a:ea typeface="Arial"/>
              <a:cs typeface="Arial"/>
              <a:sym typeface="Arial"/>
            </a:endParaRPr>
          </a:p>
        </p:txBody>
      </p:sp>
      <p:sp>
        <p:nvSpPr>
          <p:cNvPr id="1297" name="Google Shape;1297;p43"/>
          <p:cNvSpPr txBox="1"/>
          <p:nvPr/>
        </p:nvSpPr>
        <p:spPr>
          <a:xfrm>
            <a:off x="519104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1298" name="Google Shape;1298;p43"/>
          <p:cNvSpPr txBox="1"/>
          <p:nvPr/>
        </p:nvSpPr>
        <p:spPr>
          <a:xfrm>
            <a:off x="519104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endpoints</a:t>
            </a:r>
            <a:endParaRPr b="0" i="0" sz="1400" u="none" cap="none" strike="noStrike">
              <a:solidFill>
                <a:srgbClr val="000000"/>
              </a:solidFill>
              <a:latin typeface="Arial"/>
              <a:ea typeface="Arial"/>
              <a:cs typeface="Arial"/>
              <a:sym typeface="Arial"/>
            </a:endParaRPr>
          </a:p>
        </p:txBody>
      </p:sp>
      <p:sp>
        <p:nvSpPr>
          <p:cNvPr id="1299" name="Google Shape;1299;p43"/>
          <p:cNvSpPr txBox="1"/>
          <p:nvPr/>
        </p:nvSpPr>
        <p:spPr>
          <a:xfrm>
            <a:off x="6854342"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D7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1300" name="Google Shape;1300;p43"/>
          <p:cNvSpPr txBox="1"/>
          <p:nvPr/>
        </p:nvSpPr>
        <p:spPr>
          <a:xfrm>
            <a:off x="6854342"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vulnerabilities</a:t>
            </a:r>
            <a:endParaRPr b="0" i="0" sz="1400" u="none" cap="none" strike="noStrike">
              <a:solidFill>
                <a:srgbClr val="000000"/>
              </a:solidFill>
              <a:latin typeface="Arial"/>
              <a:ea typeface="Arial"/>
              <a:cs typeface="Arial"/>
              <a:sym typeface="Arial"/>
            </a:endParaRPr>
          </a:p>
        </p:txBody>
      </p:sp>
      <p:sp>
        <p:nvSpPr>
          <p:cNvPr id="1301" name="Google Shape;1301;p43"/>
          <p:cNvSpPr txBox="1"/>
          <p:nvPr/>
        </p:nvSpPr>
        <p:spPr>
          <a:xfrm>
            <a:off x="851763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4545"/>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302" name="Google Shape;1302;p43"/>
          <p:cNvSpPr txBox="1"/>
          <p:nvPr/>
        </p:nvSpPr>
        <p:spPr>
          <a:xfrm>
            <a:off x="851763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1303" name="Google Shape;1303;p43"/>
          <p:cNvSpPr txBox="1"/>
          <p:nvPr/>
        </p:nvSpPr>
        <p:spPr>
          <a:xfrm>
            <a:off x="10180929"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D93F9"/>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sp>
        <p:nvSpPr>
          <p:cNvPr id="1304" name="Google Shape;1304;p43"/>
          <p:cNvSpPr txBox="1"/>
          <p:nvPr/>
        </p:nvSpPr>
        <p:spPr>
          <a:xfrm>
            <a:off x="10180929"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manual commands</a:t>
            </a:r>
            <a:endParaRPr b="0" i="0" sz="1400" u="none" cap="none" strike="noStrike">
              <a:solidFill>
                <a:srgbClr val="000000"/>
              </a:solidFill>
              <a:latin typeface="Arial"/>
              <a:ea typeface="Arial"/>
              <a:cs typeface="Arial"/>
              <a:sym typeface="Arial"/>
            </a:endParaRPr>
          </a:p>
        </p:txBody>
      </p:sp>
      <p:sp>
        <p:nvSpPr>
          <p:cNvPr id="1305" name="Google Shape;1305;p43"/>
          <p:cNvSpPr txBox="1"/>
          <p:nvPr/>
        </p:nvSpPr>
        <p:spPr>
          <a:xfrm>
            <a:off x="11704321" y="54850"/>
            <a:ext cx="4023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FFD700"/>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310" name="Shape 1310"/>
        <p:cNvGrpSpPr/>
        <p:nvPr/>
      </p:nvGrpSpPr>
      <p:grpSpPr>
        <a:xfrm>
          <a:off x="0" y="0"/>
          <a:ext cx="0" cy="0"/>
          <a:chOff x="0" y="0"/>
          <a:chExt cx="0" cy="0"/>
        </a:xfrm>
      </p:grpSpPr>
      <p:sp>
        <p:nvSpPr>
          <p:cNvPr id="1311" name="Google Shape;1311;p44"/>
          <p:cNvSpPr/>
          <p:nvPr/>
        </p:nvSpPr>
        <p:spPr>
          <a:xfrm>
            <a:off x="73152" y="73152"/>
            <a:ext cx="12045300" cy="6711600"/>
          </a:xfrm>
          <a:prstGeom prst="rect">
            <a:avLst/>
          </a:prstGeom>
          <a:noFill/>
          <a:ln cap="flat" cmpd="sng" w="19050">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4"/>
          <p:cNvSpPr/>
          <p:nvPr/>
        </p:nvSpPr>
        <p:spPr>
          <a:xfrm>
            <a:off x="457200" y="256032"/>
            <a:ext cx="73152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n-US" sz="1000">
                <a:solidFill>
                  <a:srgbClr val="FFD700"/>
                </a:solidFill>
                <a:latin typeface="Calibri"/>
                <a:ea typeface="Calibri"/>
                <a:cs typeface="Calibri"/>
                <a:sym typeface="Calibri"/>
              </a:rPr>
              <a:t>CHAIN-01 TRACEABILITY</a:t>
            </a:r>
            <a:endParaRPr b="1" sz="1200">
              <a:solidFill>
                <a:srgbClr val="FFD700"/>
              </a:solidFill>
              <a:latin typeface="Calibri"/>
              <a:ea typeface="Calibri"/>
              <a:cs typeface="Calibri"/>
              <a:sym typeface="Calibri"/>
            </a:endParaRPr>
          </a:p>
        </p:txBody>
      </p:sp>
      <p:sp>
        <p:nvSpPr>
          <p:cNvPr id="1313" name="Google Shape;1313;p44"/>
          <p:cNvSpPr/>
          <p:nvPr/>
        </p:nvSpPr>
        <p:spPr>
          <a:xfrm>
            <a:off x="11185855" y="256032"/>
            <a:ext cx="548700" cy="25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D700"/>
              </a:buClr>
              <a:buSzPts val="1400"/>
              <a:buFont typeface="Calibri"/>
              <a:buNone/>
            </a:pPr>
            <a:r>
              <a:rPr b="1" i="0" lang="en-US" sz="1400" u="none" cap="none" strike="noStrike">
                <a:solidFill>
                  <a:srgbClr val="FFD700"/>
                </a:solidFill>
                <a:latin typeface="Calibri"/>
                <a:ea typeface="Calibri"/>
                <a:cs typeface="Calibri"/>
                <a:sym typeface="Calibri"/>
              </a:rPr>
              <a:t>1</a:t>
            </a:r>
            <a:r>
              <a:rPr b="1" lang="en-US">
                <a:solidFill>
                  <a:srgbClr val="FFD700"/>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1314" name="Google Shape;1314;p44"/>
          <p:cNvSpPr/>
          <p:nvPr/>
        </p:nvSpPr>
        <p:spPr>
          <a:xfrm>
            <a:off x="457200" y="530352"/>
            <a:ext cx="11277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2800"/>
              <a:buFont typeface="Calibri"/>
              <a:buNone/>
            </a:pPr>
            <a:r>
              <a:rPr b="1" i="0" lang="en-US" sz="2800" u="none" cap="none" strike="noStrike">
                <a:solidFill>
                  <a:srgbClr val="E8ECF4"/>
                </a:solidFill>
                <a:latin typeface="Calibri"/>
                <a:ea typeface="Calibri"/>
                <a:cs typeface="Calibri"/>
                <a:sym typeface="Calibri"/>
              </a:rPr>
              <a:t>Chain-01 Full Traceability — From Recon to Evidence</a:t>
            </a:r>
            <a:endParaRPr b="0" i="0" sz="2800" u="none" cap="none" strike="noStrike">
              <a:solidFill>
                <a:schemeClr val="dk1"/>
              </a:solidFill>
              <a:latin typeface="Calibri"/>
              <a:ea typeface="Calibri"/>
              <a:cs typeface="Calibri"/>
              <a:sym typeface="Calibri"/>
            </a:endParaRPr>
          </a:p>
        </p:txBody>
      </p:sp>
      <p:sp>
        <p:nvSpPr>
          <p:cNvPr id="1315" name="Google Shape;1315;p44"/>
          <p:cNvSpPr/>
          <p:nvPr/>
        </p:nvSpPr>
        <p:spPr>
          <a:xfrm>
            <a:off x="457200" y="1051560"/>
            <a:ext cx="11277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1250"/>
              <a:buFont typeface="Calibri"/>
              <a:buNone/>
            </a:pPr>
            <a:r>
              <a:rPr b="0" i="1" lang="en-US" sz="1250" u="none" cap="none" strike="noStrike">
                <a:solidFill>
                  <a:srgbClr val="A0AAB8"/>
                </a:solidFill>
                <a:latin typeface="Calibri"/>
                <a:ea typeface="Calibri"/>
                <a:cs typeface="Calibri"/>
                <a:sym typeface="Calibri"/>
              </a:rPr>
              <a:t>Every claim in the final report follows this exact path through the dual graph — nothing is ever asserted without evidence.</a:t>
            </a:r>
            <a:endParaRPr b="0" i="0" sz="1250" u="none" cap="none" strike="noStrike">
              <a:solidFill>
                <a:schemeClr val="dk1"/>
              </a:solidFill>
              <a:latin typeface="Calibri"/>
              <a:ea typeface="Calibri"/>
              <a:cs typeface="Calibri"/>
              <a:sym typeface="Calibri"/>
            </a:endParaRPr>
          </a:p>
        </p:txBody>
      </p:sp>
      <p:sp>
        <p:nvSpPr>
          <p:cNvPr id="1316" name="Google Shape;1316;p44"/>
          <p:cNvSpPr/>
          <p:nvPr/>
        </p:nvSpPr>
        <p:spPr>
          <a:xfrm>
            <a:off x="457200" y="1444752"/>
            <a:ext cx="112773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1050"/>
              <a:buFont typeface="Calibri"/>
              <a:buNone/>
            </a:pPr>
            <a:r>
              <a:rPr b="1" i="0" lang="en-US" sz="1050" u="none" cap="none" strike="noStrike">
                <a:solidFill>
                  <a:srgbClr val="FF4545"/>
                </a:solidFill>
                <a:latin typeface="Calibri"/>
                <a:ea typeface="Calibri"/>
                <a:cs typeface="Calibri"/>
                <a:sym typeface="Calibri"/>
              </a:rPr>
              <a:t>ASG · DISCOVERY  —  RECON TO VULNERABILITY</a:t>
            </a:r>
            <a:endParaRPr b="0" i="0" sz="1050" u="none" cap="none" strike="noStrike">
              <a:solidFill>
                <a:schemeClr val="dk1"/>
              </a:solidFill>
              <a:latin typeface="Calibri"/>
              <a:ea typeface="Calibri"/>
              <a:cs typeface="Calibri"/>
              <a:sym typeface="Calibri"/>
            </a:endParaRPr>
          </a:p>
        </p:txBody>
      </p:sp>
      <p:sp>
        <p:nvSpPr>
          <p:cNvPr id="1317" name="Google Shape;1317;p44"/>
          <p:cNvSpPr/>
          <p:nvPr/>
        </p:nvSpPr>
        <p:spPr>
          <a:xfrm>
            <a:off x="457200" y="1682496"/>
            <a:ext cx="17118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4"/>
          <p:cNvSpPr/>
          <p:nvPr/>
        </p:nvSpPr>
        <p:spPr>
          <a:xfrm>
            <a:off x="530352"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850"/>
              <a:buFont typeface="Calibri"/>
              <a:buNone/>
            </a:pPr>
            <a:r>
              <a:rPr b="1" i="0" lang="en-US" sz="850" u="none" cap="none" strike="noStrike">
                <a:solidFill>
                  <a:srgbClr val="7E8AA0"/>
                </a:solidFill>
                <a:latin typeface="Calibri"/>
                <a:ea typeface="Calibri"/>
                <a:cs typeface="Calibri"/>
                <a:sym typeface="Calibri"/>
              </a:rPr>
              <a:t>DOMAIN</a:t>
            </a:r>
            <a:endParaRPr b="0" i="0" sz="850" u="none" cap="none" strike="noStrike">
              <a:solidFill>
                <a:schemeClr val="dk1"/>
              </a:solidFill>
              <a:latin typeface="Calibri"/>
              <a:ea typeface="Calibri"/>
              <a:cs typeface="Calibri"/>
              <a:sym typeface="Calibri"/>
            </a:endParaRPr>
          </a:p>
        </p:txBody>
      </p:sp>
      <p:sp>
        <p:nvSpPr>
          <p:cNvPr id="1319" name="Google Shape;1319;p44"/>
          <p:cNvSpPr/>
          <p:nvPr/>
        </p:nvSpPr>
        <p:spPr>
          <a:xfrm>
            <a:off x="530352"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00"/>
              <a:buFont typeface="Calibri"/>
              <a:buNone/>
            </a:pPr>
            <a:r>
              <a:rPr b="1" i="0" lang="en-US" sz="1100" u="none" cap="none" strike="noStrike">
                <a:solidFill>
                  <a:srgbClr val="E8ECF4"/>
                </a:solidFill>
                <a:latin typeface="Calibri"/>
                <a:ea typeface="Calibri"/>
                <a:cs typeface="Calibri"/>
                <a:sym typeface="Calibri"/>
              </a:rPr>
              <a:t>shopvault.io</a:t>
            </a:r>
            <a:endParaRPr b="0" i="0" sz="1100" u="none" cap="none" strike="noStrike">
              <a:solidFill>
                <a:schemeClr val="dk1"/>
              </a:solidFill>
              <a:latin typeface="Calibri"/>
              <a:ea typeface="Calibri"/>
              <a:cs typeface="Calibri"/>
              <a:sym typeface="Calibri"/>
            </a:endParaRPr>
          </a:p>
        </p:txBody>
      </p:sp>
      <p:sp>
        <p:nvSpPr>
          <p:cNvPr id="1320" name="Google Shape;1320;p44"/>
          <p:cNvSpPr/>
          <p:nvPr/>
        </p:nvSpPr>
        <p:spPr>
          <a:xfrm>
            <a:off x="2370277" y="1682496"/>
            <a:ext cx="17118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44"/>
          <p:cNvSpPr/>
          <p:nvPr/>
        </p:nvSpPr>
        <p:spPr>
          <a:xfrm>
            <a:off x="2443429"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850"/>
              <a:buFont typeface="Calibri"/>
              <a:buNone/>
            </a:pPr>
            <a:r>
              <a:rPr b="1" i="0" lang="en-US" sz="850" u="none" cap="none" strike="noStrike">
                <a:solidFill>
                  <a:srgbClr val="7E8AA0"/>
                </a:solidFill>
                <a:latin typeface="Calibri"/>
                <a:ea typeface="Calibri"/>
                <a:cs typeface="Calibri"/>
                <a:sym typeface="Calibri"/>
              </a:rPr>
              <a:t>HOST</a:t>
            </a:r>
            <a:endParaRPr b="0" i="0" sz="850" u="none" cap="none" strike="noStrike">
              <a:solidFill>
                <a:schemeClr val="dk1"/>
              </a:solidFill>
              <a:latin typeface="Calibri"/>
              <a:ea typeface="Calibri"/>
              <a:cs typeface="Calibri"/>
              <a:sym typeface="Calibri"/>
            </a:endParaRPr>
          </a:p>
        </p:txBody>
      </p:sp>
      <p:sp>
        <p:nvSpPr>
          <p:cNvPr id="1322" name="Google Shape;1322;p44"/>
          <p:cNvSpPr/>
          <p:nvPr/>
        </p:nvSpPr>
        <p:spPr>
          <a:xfrm>
            <a:off x="2443429"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00"/>
              <a:buFont typeface="Calibri"/>
              <a:buNone/>
            </a:pPr>
            <a:r>
              <a:rPr b="1" i="0" lang="en-US" sz="1100" u="none" cap="none" strike="noStrike">
                <a:solidFill>
                  <a:srgbClr val="E8ECF4"/>
                </a:solidFill>
                <a:latin typeface="Calibri"/>
                <a:ea typeface="Calibri"/>
                <a:cs typeface="Calibri"/>
                <a:sym typeface="Calibri"/>
              </a:rPr>
              <a:t>192.168.1.10</a:t>
            </a:r>
            <a:endParaRPr b="0" i="0" sz="1100" u="none" cap="none" strike="noStrike">
              <a:solidFill>
                <a:schemeClr val="dk1"/>
              </a:solidFill>
              <a:latin typeface="Calibri"/>
              <a:ea typeface="Calibri"/>
              <a:cs typeface="Calibri"/>
              <a:sym typeface="Calibri"/>
            </a:endParaRPr>
          </a:p>
        </p:txBody>
      </p:sp>
      <p:sp>
        <p:nvSpPr>
          <p:cNvPr id="1323" name="Google Shape;1323;p44"/>
          <p:cNvSpPr/>
          <p:nvPr/>
        </p:nvSpPr>
        <p:spPr>
          <a:xfrm>
            <a:off x="4283354" y="1682496"/>
            <a:ext cx="17118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44"/>
          <p:cNvSpPr/>
          <p:nvPr/>
        </p:nvSpPr>
        <p:spPr>
          <a:xfrm>
            <a:off x="4356506"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850"/>
              <a:buFont typeface="Calibri"/>
              <a:buNone/>
            </a:pPr>
            <a:r>
              <a:rPr b="1" i="0" lang="en-US" sz="850" u="none" cap="none" strike="noStrike">
                <a:solidFill>
                  <a:srgbClr val="7E8AA0"/>
                </a:solidFill>
                <a:latin typeface="Calibri"/>
                <a:ea typeface="Calibri"/>
                <a:cs typeface="Calibri"/>
                <a:sym typeface="Calibri"/>
              </a:rPr>
              <a:t>PORT</a:t>
            </a:r>
            <a:endParaRPr b="0" i="0" sz="850" u="none" cap="none" strike="noStrike">
              <a:solidFill>
                <a:schemeClr val="dk1"/>
              </a:solidFill>
              <a:latin typeface="Calibri"/>
              <a:ea typeface="Calibri"/>
              <a:cs typeface="Calibri"/>
              <a:sym typeface="Calibri"/>
            </a:endParaRPr>
          </a:p>
        </p:txBody>
      </p:sp>
      <p:sp>
        <p:nvSpPr>
          <p:cNvPr id="1325" name="Google Shape;1325;p44"/>
          <p:cNvSpPr/>
          <p:nvPr/>
        </p:nvSpPr>
        <p:spPr>
          <a:xfrm>
            <a:off x="4356506"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00"/>
              <a:buFont typeface="Calibri"/>
              <a:buNone/>
            </a:pPr>
            <a:r>
              <a:rPr b="1" i="0" lang="en-US" sz="1100" u="none" cap="none" strike="noStrike">
                <a:solidFill>
                  <a:srgbClr val="E8ECF4"/>
                </a:solidFill>
                <a:latin typeface="Calibri"/>
                <a:ea typeface="Calibri"/>
                <a:cs typeface="Calibri"/>
                <a:sym typeface="Calibri"/>
              </a:rPr>
              <a:t>:443</a:t>
            </a:r>
            <a:endParaRPr b="0" i="0" sz="1100" u="none" cap="none" strike="noStrike">
              <a:solidFill>
                <a:schemeClr val="dk1"/>
              </a:solidFill>
              <a:latin typeface="Calibri"/>
              <a:ea typeface="Calibri"/>
              <a:cs typeface="Calibri"/>
              <a:sym typeface="Calibri"/>
            </a:endParaRPr>
          </a:p>
        </p:txBody>
      </p:sp>
      <p:sp>
        <p:nvSpPr>
          <p:cNvPr id="1326" name="Google Shape;1326;p44"/>
          <p:cNvSpPr/>
          <p:nvPr/>
        </p:nvSpPr>
        <p:spPr>
          <a:xfrm>
            <a:off x="6196432" y="1682496"/>
            <a:ext cx="17118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44"/>
          <p:cNvSpPr/>
          <p:nvPr/>
        </p:nvSpPr>
        <p:spPr>
          <a:xfrm>
            <a:off x="6269584"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850"/>
              <a:buFont typeface="Calibri"/>
              <a:buNone/>
            </a:pPr>
            <a:r>
              <a:rPr b="1" i="0" lang="en-US" sz="850" u="none" cap="none" strike="noStrike">
                <a:solidFill>
                  <a:srgbClr val="7E8AA0"/>
                </a:solidFill>
                <a:latin typeface="Calibri"/>
                <a:ea typeface="Calibri"/>
                <a:cs typeface="Calibri"/>
                <a:sym typeface="Calibri"/>
              </a:rPr>
              <a:t>SERVICE</a:t>
            </a:r>
            <a:endParaRPr b="0" i="0" sz="850" u="none" cap="none" strike="noStrike">
              <a:solidFill>
                <a:schemeClr val="dk1"/>
              </a:solidFill>
              <a:latin typeface="Calibri"/>
              <a:ea typeface="Calibri"/>
              <a:cs typeface="Calibri"/>
              <a:sym typeface="Calibri"/>
            </a:endParaRPr>
          </a:p>
        </p:txBody>
      </p:sp>
      <p:sp>
        <p:nvSpPr>
          <p:cNvPr id="1328" name="Google Shape;1328;p44"/>
          <p:cNvSpPr/>
          <p:nvPr/>
        </p:nvSpPr>
        <p:spPr>
          <a:xfrm>
            <a:off x="6269584"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00"/>
              <a:buFont typeface="Calibri"/>
              <a:buNone/>
            </a:pPr>
            <a:r>
              <a:rPr b="1" i="0" lang="en-US" sz="1100" u="none" cap="none" strike="noStrike">
                <a:solidFill>
                  <a:srgbClr val="E8ECF4"/>
                </a:solidFill>
                <a:latin typeface="Calibri"/>
                <a:ea typeface="Calibri"/>
                <a:cs typeface="Calibri"/>
                <a:sym typeface="Calibri"/>
              </a:rPr>
              <a:t>Nginx 1.18.0</a:t>
            </a:r>
            <a:endParaRPr b="0" i="0" sz="1100" u="none" cap="none" strike="noStrike">
              <a:solidFill>
                <a:schemeClr val="dk1"/>
              </a:solidFill>
              <a:latin typeface="Calibri"/>
              <a:ea typeface="Calibri"/>
              <a:cs typeface="Calibri"/>
              <a:sym typeface="Calibri"/>
            </a:endParaRPr>
          </a:p>
        </p:txBody>
      </p:sp>
      <p:sp>
        <p:nvSpPr>
          <p:cNvPr id="1329" name="Google Shape;1329;p44"/>
          <p:cNvSpPr/>
          <p:nvPr/>
        </p:nvSpPr>
        <p:spPr>
          <a:xfrm>
            <a:off x="8109509" y="1682496"/>
            <a:ext cx="17118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44"/>
          <p:cNvSpPr/>
          <p:nvPr/>
        </p:nvSpPr>
        <p:spPr>
          <a:xfrm>
            <a:off x="8182661"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AA0"/>
              </a:buClr>
              <a:buSzPts val="850"/>
              <a:buFont typeface="Calibri"/>
              <a:buNone/>
            </a:pPr>
            <a:r>
              <a:rPr b="1" i="0" lang="en-US" sz="850" u="none" cap="none" strike="noStrike">
                <a:solidFill>
                  <a:srgbClr val="7E8AA0"/>
                </a:solidFill>
                <a:latin typeface="Calibri"/>
                <a:ea typeface="Calibri"/>
                <a:cs typeface="Calibri"/>
                <a:sym typeface="Calibri"/>
              </a:rPr>
              <a:t>TECHNOLOGY</a:t>
            </a:r>
            <a:endParaRPr b="0" i="0" sz="850" u="none" cap="none" strike="noStrike">
              <a:solidFill>
                <a:schemeClr val="dk1"/>
              </a:solidFill>
              <a:latin typeface="Calibri"/>
              <a:ea typeface="Calibri"/>
              <a:cs typeface="Calibri"/>
              <a:sym typeface="Calibri"/>
            </a:endParaRPr>
          </a:p>
        </p:txBody>
      </p:sp>
      <p:sp>
        <p:nvSpPr>
          <p:cNvPr id="1331" name="Google Shape;1331;p44"/>
          <p:cNvSpPr/>
          <p:nvPr/>
        </p:nvSpPr>
        <p:spPr>
          <a:xfrm>
            <a:off x="8182661"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00"/>
              <a:buFont typeface="Calibri"/>
              <a:buNone/>
            </a:pPr>
            <a:r>
              <a:rPr b="1" i="0" lang="en-US" sz="1100" u="none" cap="none" strike="noStrike">
                <a:solidFill>
                  <a:srgbClr val="E8ECF4"/>
                </a:solidFill>
                <a:latin typeface="Calibri"/>
                <a:ea typeface="Calibri"/>
                <a:cs typeface="Calibri"/>
                <a:sym typeface="Calibri"/>
              </a:rPr>
              <a:t>WordPress 5.9.3</a:t>
            </a:r>
            <a:endParaRPr b="0" i="0" sz="1100" u="none" cap="none" strike="noStrike">
              <a:solidFill>
                <a:schemeClr val="dk1"/>
              </a:solidFill>
              <a:latin typeface="Calibri"/>
              <a:ea typeface="Calibri"/>
              <a:cs typeface="Calibri"/>
              <a:sym typeface="Calibri"/>
            </a:endParaRPr>
          </a:p>
        </p:txBody>
      </p:sp>
      <p:sp>
        <p:nvSpPr>
          <p:cNvPr id="1332" name="Google Shape;1332;p44"/>
          <p:cNvSpPr/>
          <p:nvPr/>
        </p:nvSpPr>
        <p:spPr>
          <a:xfrm>
            <a:off x="10022586" y="1682496"/>
            <a:ext cx="1711800" cy="567000"/>
          </a:xfrm>
          <a:prstGeom prst="roundRect">
            <a:avLst>
              <a:gd fmla="val 8065" name="adj"/>
            </a:avLst>
          </a:prstGeom>
          <a:solidFill>
            <a:srgbClr val="220808"/>
          </a:solidFill>
          <a:ln cap="flat" cmpd="sng" w="15875">
            <a:solidFill>
              <a:srgbClr val="FF4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4"/>
          <p:cNvSpPr/>
          <p:nvPr/>
        </p:nvSpPr>
        <p:spPr>
          <a:xfrm>
            <a:off x="10095738" y="1728216"/>
            <a:ext cx="1565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850"/>
              <a:buFont typeface="Calibri"/>
              <a:buNone/>
            </a:pPr>
            <a:r>
              <a:rPr b="1" i="0" lang="en-US" sz="850" u="none" cap="none" strike="noStrike">
                <a:solidFill>
                  <a:srgbClr val="FF4545"/>
                </a:solidFill>
                <a:latin typeface="Calibri"/>
                <a:ea typeface="Calibri"/>
                <a:cs typeface="Calibri"/>
                <a:sym typeface="Calibri"/>
              </a:rPr>
              <a:t>VULNERABILITY</a:t>
            </a:r>
            <a:endParaRPr b="0" i="0" sz="850" u="none" cap="none" strike="noStrike">
              <a:solidFill>
                <a:schemeClr val="dk1"/>
              </a:solidFill>
              <a:latin typeface="Calibri"/>
              <a:ea typeface="Calibri"/>
              <a:cs typeface="Calibri"/>
              <a:sym typeface="Calibri"/>
            </a:endParaRPr>
          </a:p>
        </p:txBody>
      </p:sp>
      <p:sp>
        <p:nvSpPr>
          <p:cNvPr id="1334" name="Google Shape;1334;p44"/>
          <p:cNvSpPr/>
          <p:nvPr/>
        </p:nvSpPr>
        <p:spPr>
          <a:xfrm>
            <a:off x="10095738" y="1929384"/>
            <a:ext cx="15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CVE-2022-21661  ·  CVSS 8.8</a:t>
            </a:r>
            <a:endParaRPr b="0" i="0" sz="1050" u="none" cap="none" strike="noStrike">
              <a:solidFill>
                <a:schemeClr val="dk1"/>
              </a:solidFill>
              <a:latin typeface="Calibri"/>
              <a:ea typeface="Calibri"/>
              <a:cs typeface="Calibri"/>
              <a:sym typeface="Calibri"/>
            </a:endParaRPr>
          </a:p>
        </p:txBody>
      </p:sp>
      <p:sp>
        <p:nvSpPr>
          <p:cNvPr id="1335" name="Google Shape;1335;p44"/>
          <p:cNvSpPr/>
          <p:nvPr/>
        </p:nvSpPr>
        <p:spPr>
          <a:xfrm>
            <a:off x="2169109" y="1682496"/>
            <a:ext cx="2013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36" name="Google Shape;1336;p44"/>
          <p:cNvSpPr/>
          <p:nvPr/>
        </p:nvSpPr>
        <p:spPr>
          <a:xfrm>
            <a:off x="4082186" y="1682496"/>
            <a:ext cx="2013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37" name="Google Shape;1337;p44"/>
          <p:cNvSpPr/>
          <p:nvPr/>
        </p:nvSpPr>
        <p:spPr>
          <a:xfrm>
            <a:off x="5995264" y="1682496"/>
            <a:ext cx="2013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38" name="Google Shape;1338;p44"/>
          <p:cNvSpPr/>
          <p:nvPr/>
        </p:nvSpPr>
        <p:spPr>
          <a:xfrm>
            <a:off x="7908341" y="1682496"/>
            <a:ext cx="2013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39" name="Google Shape;1339;p44"/>
          <p:cNvSpPr/>
          <p:nvPr/>
        </p:nvSpPr>
        <p:spPr>
          <a:xfrm>
            <a:off x="9821418" y="1682496"/>
            <a:ext cx="2013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40" name="Google Shape;1340;p44"/>
          <p:cNvSpPr/>
          <p:nvPr/>
        </p:nvSpPr>
        <p:spPr>
          <a:xfrm>
            <a:off x="457200" y="2304288"/>
            <a:ext cx="112773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50"/>
              <a:buFont typeface="Calibri"/>
              <a:buNone/>
            </a:pPr>
            <a:r>
              <a:rPr b="0" i="1" lang="en-US" sz="950" u="none" cap="none" strike="noStrike">
                <a:solidFill>
                  <a:srgbClr val="7E8AA0"/>
                </a:solidFill>
                <a:latin typeface="Calibri"/>
                <a:ea typeface="Calibri"/>
                <a:cs typeface="Calibri"/>
                <a:sym typeface="Calibri"/>
              </a:rPr>
              <a:t>starts_at:  Vulnerability node  →  Commander seeds APG AttackChain</a:t>
            </a:r>
            <a:endParaRPr b="0" i="0" sz="950" u="none" cap="none" strike="noStrike">
              <a:solidFill>
                <a:schemeClr val="dk1"/>
              </a:solidFill>
              <a:latin typeface="Calibri"/>
              <a:ea typeface="Calibri"/>
              <a:cs typeface="Calibri"/>
              <a:sym typeface="Calibri"/>
            </a:endParaRPr>
          </a:p>
        </p:txBody>
      </p:sp>
      <p:sp>
        <p:nvSpPr>
          <p:cNvPr id="1341" name="Google Shape;1341;p44"/>
          <p:cNvSpPr/>
          <p:nvPr/>
        </p:nvSpPr>
        <p:spPr>
          <a:xfrm>
            <a:off x="457200" y="2505456"/>
            <a:ext cx="2094600" cy="1417200"/>
          </a:xfrm>
          <a:prstGeom prst="roundRect">
            <a:avLst>
              <a:gd fmla="val 3871" name="adj"/>
            </a:avLst>
          </a:prstGeom>
          <a:solidFill>
            <a:srgbClr val="1E1804"/>
          </a:solidFill>
          <a:ln cap="flat" cmpd="sng" w="12700">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44"/>
          <p:cNvSpPr/>
          <p:nvPr/>
        </p:nvSpPr>
        <p:spPr>
          <a:xfrm>
            <a:off x="585216" y="2615184"/>
            <a:ext cx="1838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950"/>
              <a:buFont typeface="Calibri"/>
              <a:buNone/>
            </a:pPr>
            <a:r>
              <a:rPr b="1" i="0" lang="en-US" sz="950" u="none" cap="none" strike="noStrike">
                <a:solidFill>
                  <a:srgbClr val="FFD700"/>
                </a:solidFill>
                <a:latin typeface="Calibri"/>
                <a:ea typeface="Calibri"/>
                <a:cs typeface="Calibri"/>
                <a:sym typeface="Calibri"/>
              </a:rPr>
              <a:t>🟡 APG · ATTACKCHAIN</a:t>
            </a:r>
            <a:endParaRPr b="0" i="0" sz="950" u="none" cap="none" strike="noStrike">
              <a:solidFill>
                <a:schemeClr val="dk1"/>
              </a:solidFill>
              <a:latin typeface="Calibri"/>
              <a:ea typeface="Calibri"/>
              <a:cs typeface="Calibri"/>
              <a:sym typeface="Calibri"/>
            </a:endParaRPr>
          </a:p>
        </p:txBody>
      </p:sp>
      <p:sp>
        <p:nvSpPr>
          <p:cNvPr id="1343" name="Google Shape;1343;p44"/>
          <p:cNvSpPr/>
          <p:nvPr/>
        </p:nvSpPr>
        <p:spPr>
          <a:xfrm>
            <a:off x="585216" y="2871216"/>
            <a:ext cx="1838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Chain-01</a:t>
            </a:r>
            <a:endParaRPr b="1" i="0" sz="1350" u="none" cap="none" strike="noStrike">
              <a:solidFill>
                <a:srgbClr val="E8ECF4"/>
              </a:solidFill>
              <a:latin typeface="Calibri"/>
              <a:ea typeface="Calibri"/>
              <a:cs typeface="Calibri"/>
              <a:sym typeface="Calibri"/>
            </a:endParaRPr>
          </a:p>
          <a:p>
            <a:pPr indent="0" lvl="0" marL="0" rtl="0" algn="l">
              <a:spcBef>
                <a:spcPts val="0"/>
              </a:spcBef>
              <a:spcAft>
                <a:spcPts val="0"/>
              </a:spcAft>
              <a:buClr>
                <a:srgbClr val="A0AAB8"/>
              </a:buClr>
              <a:buSzPts val="950"/>
              <a:buFont typeface="Calibri"/>
              <a:buNone/>
            </a:pPr>
            <a:r>
              <a:rPr lang="en-US" sz="1100">
                <a:solidFill>
                  <a:schemeClr val="lt1"/>
                </a:solidFill>
                <a:latin typeface="Calibri"/>
                <a:ea typeface="Calibri"/>
                <a:cs typeface="Calibri"/>
                <a:sym typeface="Calibri"/>
              </a:rPr>
              <a:t>risk_score: 9.1</a:t>
            </a:r>
            <a:endParaRPr b="1" sz="1100">
              <a:solidFill>
                <a:schemeClr val="lt1"/>
              </a:solidFill>
              <a:latin typeface="Calibri"/>
              <a:ea typeface="Calibri"/>
              <a:cs typeface="Calibri"/>
              <a:sym typeface="Calibri"/>
            </a:endParaRPr>
          </a:p>
        </p:txBody>
      </p:sp>
      <p:sp>
        <p:nvSpPr>
          <p:cNvPr id="1344" name="Google Shape;1344;p44"/>
          <p:cNvSpPr/>
          <p:nvPr/>
        </p:nvSpPr>
        <p:spPr>
          <a:xfrm>
            <a:off x="585216" y="3538728"/>
            <a:ext cx="1838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950"/>
              <a:buFont typeface="Calibri"/>
              <a:buNone/>
            </a:pPr>
            <a:r>
              <a:rPr b="0" i="0" lang="en-US" sz="950" u="none" cap="none" strike="noStrike">
                <a:solidFill>
                  <a:srgbClr val="A0AAB8"/>
                </a:solidFill>
                <a:latin typeface="Calibri"/>
                <a:ea typeface="Calibri"/>
                <a:cs typeface="Calibri"/>
                <a:sym typeface="Calibri"/>
              </a:rPr>
              <a:t>status: VALIDATED</a:t>
            </a:r>
            <a:endParaRPr b="0" i="0" sz="950" u="none" cap="none" strike="noStrike">
              <a:solidFill>
                <a:schemeClr val="dk1"/>
              </a:solidFill>
              <a:latin typeface="Calibri"/>
              <a:ea typeface="Calibri"/>
              <a:cs typeface="Calibri"/>
              <a:sym typeface="Calibri"/>
            </a:endParaRPr>
          </a:p>
        </p:txBody>
      </p:sp>
      <p:sp>
        <p:nvSpPr>
          <p:cNvPr id="1345" name="Google Shape;1345;p44"/>
          <p:cNvSpPr/>
          <p:nvPr/>
        </p:nvSpPr>
        <p:spPr>
          <a:xfrm>
            <a:off x="2752893" y="2505456"/>
            <a:ext cx="2094600" cy="1417200"/>
          </a:xfrm>
          <a:prstGeom prst="roundRect">
            <a:avLst>
              <a:gd fmla="val 3871" name="adj"/>
            </a:avLst>
          </a:prstGeom>
          <a:solidFill>
            <a:srgbClr val="0E1A06"/>
          </a:solidFill>
          <a:ln cap="flat" cmpd="sng" w="12700">
            <a:solidFill>
              <a:srgbClr val="39FF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44"/>
          <p:cNvSpPr/>
          <p:nvPr/>
        </p:nvSpPr>
        <p:spPr>
          <a:xfrm>
            <a:off x="2880909" y="2615184"/>
            <a:ext cx="1838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CHAINSTEP 1</a:t>
            </a:r>
            <a:endParaRPr b="0" i="0" sz="950" u="none" cap="none" strike="noStrike">
              <a:solidFill>
                <a:schemeClr val="dk1"/>
              </a:solidFill>
              <a:latin typeface="Calibri"/>
              <a:ea typeface="Calibri"/>
              <a:cs typeface="Calibri"/>
              <a:sym typeface="Calibri"/>
            </a:endParaRPr>
          </a:p>
        </p:txBody>
      </p:sp>
      <p:sp>
        <p:nvSpPr>
          <p:cNvPr id="1347" name="Google Shape;1347;p44"/>
          <p:cNvSpPr/>
          <p:nvPr/>
        </p:nvSpPr>
        <p:spPr>
          <a:xfrm>
            <a:off x="2880909" y="2871216"/>
            <a:ext cx="1838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SQLMap → </a:t>
            </a:r>
            <a:endParaRPr b="1" i="0" sz="1350" u="none" cap="none" strike="noStrike">
              <a:solidFill>
                <a:srgbClr val="E8ECF4"/>
              </a:solidFill>
              <a:latin typeface="Calibri"/>
              <a:ea typeface="Calibri"/>
              <a:cs typeface="Calibri"/>
              <a:sym typeface="Calibri"/>
            </a:endParaRPr>
          </a:p>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WP_Query SQLi</a:t>
            </a:r>
            <a:endParaRPr b="0" i="0" sz="1350" u="none" cap="none" strike="noStrike">
              <a:solidFill>
                <a:schemeClr val="dk1"/>
              </a:solidFill>
              <a:latin typeface="Calibri"/>
              <a:ea typeface="Calibri"/>
              <a:cs typeface="Calibri"/>
              <a:sym typeface="Calibri"/>
            </a:endParaRPr>
          </a:p>
        </p:txBody>
      </p:sp>
      <p:sp>
        <p:nvSpPr>
          <p:cNvPr id="1348" name="Google Shape;1348;p44"/>
          <p:cNvSpPr/>
          <p:nvPr/>
        </p:nvSpPr>
        <p:spPr>
          <a:xfrm>
            <a:off x="2880909" y="3538728"/>
            <a:ext cx="1838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950"/>
              <a:buFont typeface="Calibri"/>
              <a:buNone/>
            </a:pPr>
            <a:r>
              <a:rPr b="0" i="0" lang="en-US" sz="950" u="none" cap="none" strike="noStrike">
                <a:solidFill>
                  <a:srgbClr val="A0AAB8"/>
                </a:solidFill>
                <a:latin typeface="Calibri"/>
                <a:ea typeface="Calibri"/>
                <a:cs typeface="Calibri"/>
                <a:sym typeface="Calibri"/>
              </a:rPr>
              <a:t>status: VALIDATED</a:t>
            </a:r>
            <a:endParaRPr b="0" i="0" sz="950" u="none" cap="none" strike="noStrike">
              <a:solidFill>
                <a:schemeClr val="dk1"/>
              </a:solidFill>
              <a:latin typeface="Calibri"/>
              <a:ea typeface="Calibri"/>
              <a:cs typeface="Calibri"/>
              <a:sym typeface="Calibri"/>
            </a:endParaRPr>
          </a:p>
        </p:txBody>
      </p:sp>
      <p:sp>
        <p:nvSpPr>
          <p:cNvPr id="1349" name="Google Shape;1349;p44"/>
          <p:cNvSpPr/>
          <p:nvPr/>
        </p:nvSpPr>
        <p:spPr>
          <a:xfrm>
            <a:off x="5048585" y="2505456"/>
            <a:ext cx="2094600" cy="1417200"/>
          </a:xfrm>
          <a:prstGeom prst="roundRect">
            <a:avLst>
              <a:gd fmla="val 3871" name="adj"/>
            </a:avLst>
          </a:prstGeom>
          <a:solidFill>
            <a:srgbClr val="0E1A06"/>
          </a:solidFill>
          <a:ln cap="flat" cmpd="sng" w="12700">
            <a:solidFill>
              <a:srgbClr val="39FF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44"/>
          <p:cNvSpPr/>
          <p:nvPr/>
        </p:nvSpPr>
        <p:spPr>
          <a:xfrm>
            <a:off x="5176601" y="2615184"/>
            <a:ext cx="1838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CHAINSTEP 2</a:t>
            </a:r>
            <a:endParaRPr b="0" i="0" sz="950" u="none" cap="none" strike="noStrike">
              <a:solidFill>
                <a:schemeClr val="dk1"/>
              </a:solidFill>
              <a:latin typeface="Calibri"/>
              <a:ea typeface="Calibri"/>
              <a:cs typeface="Calibri"/>
              <a:sym typeface="Calibri"/>
            </a:endParaRPr>
          </a:p>
        </p:txBody>
      </p:sp>
      <p:sp>
        <p:nvSpPr>
          <p:cNvPr id="1351" name="Google Shape;1351;p44"/>
          <p:cNvSpPr/>
          <p:nvPr/>
        </p:nvSpPr>
        <p:spPr>
          <a:xfrm>
            <a:off x="5176601" y="2871216"/>
            <a:ext cx="1838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SQLMap dump → </a:t>
            </a:r>
            <a:endParaRPr b="1" i="0" sz="1350" u="none" cap="none" strike="noStrike">
              <a:solidFill>
                <a:srgbClr val="E8ECF4"/>
              </a:solidFill>
              <a:latin typeface="Calibri"/>
              <a:ea typeface="Calibri"/>
              <a:cs typeface="Calibri"/>
              <a:sym typeface="Calibri"/>
            </a:endParaRPr>
          </a:p>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hash cracked</a:t>
            </a:r>
            <a:endParaRPr b="0" i="0" sz="1350" u="none" cap="none" strike="noStrike">
              <a:solidFill>
                <a:schemeClr val="dk1"/>
              </a:solidFill>
              <a:latin typeface="Calibri"/>
              <a:ea typeface="Calibri"/>
              <a:cs typeface="Calibri"/>
              <a:sym typeface="Calibri"/>
            </a:endParaRPr>
          </a:p>
        </p:txBody>
      </p:sp>
      <p:sp>
        <p:nvSpPr>
          <p:cNvPr id="1352" name="Google Shape;1352;p44"/>
          <p:cNvSpPr/>
          <p:nvPr/>
        </p:nvSpPr>
        <p:spPr>
          <a:xfrm>
            <a:off x="5176601" y="3538728"/>
            <a:ext cx="1838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950"/>
              <a:buFont typeface="Calibri"/>
              <a:buNone/>
            </a:pPr>
            <a:r>
              <a:rPr b="0" i="0" lang="en-US" sz="950" u="none" cap="none" strike="noStrike">
                <a:solidFill>
                  <a:srgbClr val="A0AAB8"/>
                </a:solidFill>
                <a:latin typeface="Calibri"/>
                <a:ea typeface="Calibri"/>
                <a:cs typeface="Calibri"/>
                <a:sym typeface="Calibri"/>
              </a:rPr>
              <a:t>status: VALIDATED</a:t>
            </a:r>
            <a:endParaRPr b="0" i="0" sz="950" u="none" cap="none" strike="noStrike">
              <a:solidFill>
                <a:schemeClr val="dk1"/>
              </a:solidFill>
              <a:latin typeface="Calibri"/>
              <a:ea typeface="Calibri"/>
              <a:cs typeface="Calibri"/>
              <a:sym typeface="Calibri"/>
            </a:endParaRPr>
          </a:p>
        </p:txBody>
      </p:sp>
      <p:sp>
        <p:nvSpPr>
          <p:cNvPr id="1353" name="Google Shape;1353;p44"/>
          <p:cNvSpPr/>
          <p:nvPr/>
        </p:nvSpPr>
        <p:spPr>
          <a:xfrm>
            <a:off x="7344278" y="2505456"/>
            <a:ext cx="2094600" cy="1417200"/>
          </a:xfrm>
          <a:prstGeom prst="roundRect">
            <a:avLst>
              <a:gd fmla="val 3871" name="adj"/>
            </a:avLst>
          </a:prstGeom>
          <a:solidFill>
            <a:srgbClr val="0E1A06"/>
          </a:solidFill>
          <a:ln cap="flat" cmpd="sng" w="12700">
            <a:solidFill>
              <a:srgbClr val="39FF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4"/>
          <p:cNvSpPr/>
          <p:nvPr/>
        </p:nvSpPr>
        <p:spPr>
          <a:xfrm>
            <a:off x="7472294" y="2615184"/>
            <a:ext cx="1838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CHAINSTEP 3</a:t>
            </a:r>
            <a:endParaRPr b="0" i="0" sz="950" u="none" cap="none" strike="noStrike">
              <a:solidFill>
                <a:schemeClr val="dk1"/>
              </a:solidFill>
              <a:latin typeface="Calibri"/>
              <a:ea typeface="Calibri"/>
              <a:cs typeface="Calibri"/>
              <a:sym typeface="Calibri"/>
            </a:endParaRPr>
          </a:p>
        </p:txBody>
      </p:sp>
      <p:sp>
        <p:nvSpPr>
          <p:cNvPr id="1355" name="Google Shape;1355;p44"/>
          <p:cNvSpPr/>
          <p:nvPr/>
        </p:nvSpPr>
        <p:spPr>
          <a:xfrm>
            <a:off x="7472294" y="2871216"/>
            <a:ext cx="1838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Metasploit → Web shell</a:t>
            </a:r>
            <a:endParaRPr b="0" i="0" sz="1350" u="none" cap="none" strike="noStrike">
              <a:solidFill>
                <a:schemeClr val="dk1"/>
              </a:solidFill>
              <a:latin typeface="Calibri"/>
              <a:ea typeface="Calibri"/>
              <a:cs typeface="Calibri"/>
              <a:sym typeface="Calibri"/>
            </a:endParaRPr>
          </a:p>
        </p:txBody>
      </p:sp>
      <p:sp>
        <p:nvSpPr>
          <p:cNvPr id="1356" name="Google Shape;1356;p44"/>
          <p:cNvSpPr/>
          <p:nvPr/>
        </p:nvSpPr>
        <p:spPr>
          <a:xfrm>
            <a:off x="7472294" y="3538728"/>
            <a:ext cx="1838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950"/>
              <a:buFont typeface="Calibri"/>
              <a:buNone/>
            </a:pPr>
            <a:r>
              <a:rPr b="0" i="0" lang="en-US" sz="950" u="none" cap="none" strike="noStrike">
                <a:solidFill>
                  <a:srgbClr val="A0AAB8"/>
                </a:solidFill>
                <a:latin typeface="Calibri"/>
                <a:ea typeface="Calibri"/>
                <a:cs typeface="Calibri"/>
                <a:sym typeface="Calibri"/>
              </a:rPr>
              <a:t>status: VALIDATED</a:t>
            </a:r>
            <a:endParaRPr b="0" i="0" sz="950" u="none" cap="none" strike="noStrike">
              <a:solidFill>
                <a:schemeClr val="dk1"/>
              </a:solidFill>
              <a:latin typeface="Calibri"/>
              <a:ea typeface="Calibri"/>
              <a:cs typeface="Calibri"/>
              <a:sym typeface="Calibri"/>
            </a:endParaRPr>
          </a:p>
        </p:txBody>
      </p:sp>
      <p:sp>
        <p:nvSpPr>
          <p:cNvPr id="1357" name="Google Shape;1357;p44"/>
          <p:cNvSpPr/>
          <p:nvPr/>
        </p:nvSpPr>
        <p:spPr>
          <a:xfrm>
            <a:off x="9639971" y="2505456"/>
            <a:ext cx="2094600" cy="1417200"/>
          </a:xfrm>
          <a:prstGeom prst="roundRect">
            <a:avLst>
              <a:gd fmla="val 3871" name="adj"/>
            </a:avLst>
          </a:prstGeom>
          <a:solidFill>
            <a:srgbClr val="150C28"/>
          </a:solidFill>
          <a:ln cap="flat" cmpd="sng" w="12700">
            <a:solidFill>
              <a:srgbClr val="BD93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44"/>
          <p:cNvSpPr/>
          <p:nvPr/>
        </p:nvSpPr>
        <p:spPr>
          <a:xfrm>
            <a:off x="9767987" y="2615184"/>
            <a:ext cx="1838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950"/>
              <a:buFont typeface="Calibri"/>
              <a:buNone/>
            </a:pPr>
            <a:r>
              <a:rPr b="1" i="0" lang="en-US" sz="950" u="none" cap="none" strike="noStrike">
                <a:solidFill>
                  <a:srgbClr val="BD93F9"/>
                </a:solidFill>
                <a:latin typeface="Calibri"/>
                <a:ea typeface="Calibri"/>
                <a:cs typeface="Calibri"/>
                <a:sym typeface="Calibri"/>
              </a:rPr>
              <a:t>🟣 IMPACT</a:t>
            </a:r>
            <a:endParaRPr b="0" i="0" sz="950" u="none" cap="none" strike="noStrike">
              <a:solidFill>
                <a:schemeClr val="dk1"/>
              </a:solidFill>
              <a:latin typeface="Calibri"/>
              <a:ea typeface="Calibri"/>
              <a:cs typeface="Calibri"/>
              <a:sym typeface="Calibri"/>
            </a:endParaRPr>
          </a:p>
        </p:txBody>
      </p:sp>
      <p:sp>
        <p:nvSpPr>
          <p:cNvPr id="1359" name="Google Shape;1359;p44"/>
          <p:cNvSpPr/>
          <p:nvPr/>
        </p:nvSpPr>
        <p:spPr>
          <a:xfrm>
            <a:off x="9767987" y="2871216"/>
            <a:ext cx="1838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50"/>
              <a:buFont typeface="Calibri"/>
              <a:buNone/>
            </a:pPr>
            <a:r>
              <a:rPr b="1" i="0" lang="en-US" sz="1350" u="none" cap="none" strike="noStrike">
                <a:solidFill>
                  <a:srgbClr val="E8ECF4"/>
                </a:solidFill>
                <a:latin typeface="Calibri"/>
                <a:ea typeface="Calibri"/>
                <a:cs typeface="Calibri"/>
                <a:sym typeface="Calibri"/>
              </a:rPr>
              <a:t>RCE on shopvault.io</a:t>
            </a:r>
            <a:endParaRPr b="0" i="0" sz="1350" u="none" cap="none" strike="noStrike">
              <a:solidFill>
                <a:schemeClr val="dk1"/>
              </a:solidFill>
              <a:latin typeface="Calibri"/>
              <a:ea typeface="Calibri"/>
              <a:cs typeface="Calibri"/>
              <a:sym typeface="Calibri"/>
            </a:endParaRPr>
          </a:p>
        </p:txBody>
      </p:sp>
      <p:sp>
        <p:nvSpPr>
          <p:cNvPr id="1360" name="Google Shape;1360;p44"/>
          <p:cNvSpPr/>
          <p:nvPr/>
        </p:nvSpPr>
        <p:spPr>
          <a:xfrm>
            <a:off x="9767987" y="3538728"/>
            <a:ext cx="1838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AAB8"/>
              </a:buClr>
              <a:buSzPts val="950"/>
              <a:buFont typeface="Calibri"/>
              <a:buNone/>
            </a:pPr>
            <a:r>
              <a:rPr b="0" i="0" lang="en-US" sz="950" u="none" cap="none" strike="noStrike">
                <a:solidFill>
                  <a:srgbClr val="A0AAB8"/>
                </a:solidFill>
                <a:latin typeface="Calibri"/>
                <a:ea typeface="Calibri"/>
                <a:cs typeface="Calibri"/>
                <a:sym typeface="Calibri"/>
              </a:rPr>
              <a:t>Customer PII accessible</a:t>
            </a:r>
            <a:endParaRPr b="0" i="0" sz="950" u="none" cap="none" strike="noStrike">
              <a:solidFill>
                <a:schemeClr val="dk1"/>
              </a:solidFill>
              <a:latin typeface="Calibri"/>
              <a:ea typeface="Calibri"/>
              <a:cs typeface="Calibri"/>
              <a:sym typeface="Calibri"/>
            </a:endParaRPr>
          </a:p>
        </p:txBody>
      </p:sp>
      <p:sp>
        <p:nvSpPr>
          <p:cNvPr id="1361" name="Google Shape;1361;p44"/>
          <p:cNvSpPr/>
          <p:nvPr/>
        </p:nvSpPr>
        <p:spPr>
          <a:xfrm>
            <a:off x="2551725" y="2505456"/>
            <a:ext cx="2013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62" name="Google Shape;1362;p44"/>
          <p:cNvSpPr/>
          <p:nvPr/>
        </p:nvSpPr>
        <p:spPr>
          <a:xfrm>
            <a:off x="2185965" y="3904488"/>
            <a:ext cx="932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starts_at</a:t>
            </a:r>
            <a:endParaRPr b="0" i="0" sz="750" u="none" cap="none" strike="noStrike">
              <a:solidFill>
                <a:schemeClr val="dk1"/>
              </a:solidFill>
              <a:latin typeface="Calibri"/>
              <a:ea typeface="Calibri"/>
              <a:cs typeface="Calibri"/>
              <a:sym typeface="Calibri"/>
            </a:endParaRPr>
          </a:p>
        </p:txBody>
      </p:sp>
      <p:sp>
        <p:nvSpPr>
          <p:cNvPr id="1363" name="Google Shape;1363;p44"/>
          <p:cNvSpPr/>
          <p:nvPr/>
        </p:nvSpPr>
        <p:spPr>
          <a:xfrm>
            <a:off x="4847417" y="2505456"/>
            <a:ext cx="2013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64" name="Google Shape;1364;p44"/>
          <p:cNvSpPr/>
          <p:nvPr/>
        </p:nvSpPr>
        <p:spPr>
          <a:xfrm>
            <a:off x="4481657" y="3904488"/>
            <a:ext cx="932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next_step</a:t>
            </a:r>
            <a:endParaRPr b="0" i="0" sz="750" u="none" cap="none" strike="noStrike">
              <a:solidFill>
                <a:schemeClr val="dk1"/>
              </a:solidFill>
              <a:latin typeface="Calibri"/>
              <a:ea typeface="Calibri"/>
              <a:cs typeface="Calibri"/>
              <a:sym typeface="Calibri"/>
            </a:endParaRPr>
          </a:p>
        </p:txBody>
      </p:sp>
      <p:sp>
        <p:nvSpPr>
          <p:cNvPr id="1365" name="Google Shape;1365;p44"/>
          <p:cNvSpPr/>
          <p:nvPr/>
        </p:nvSpPr>
        <p:spPr>
          <a:xfrm>
            <a:off x="7143110" y="2505456"/>
            <a:ext cx="2013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66" name="Google Shape;1366;p44"/>
          <p:cNvSpPr/>
          <p:nvPr/>
        </p:nvSpPr>
        <p:spPr>
          <a:xfrm>
            <a:off x="6777350" y="3904488"/>
            <a:ext cx="932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next_step</a:t>
            </a:r>
            <a:endParaRPr b="0" i="0" sz="750" u="none" cap="none" strike="noStrike">
              <a:solidFill>
                <a:schemeClr val="dk1"/>
              </a:solidFill>
              <a:latin typeface="Calibri"/>
              <a:ea typeface="Calibri"/>
              <a:cs typeface="Calibri"/>
              <a:sym typeface="Calibri"/>
            </a:endParaRPr>
          </a:p>
        </p:txBody>
      </p:sp>
      <p:sp>
        <p:nvSpPr>
          <p:cNvPr id="1367" name="Google Shape;1367;p44"/>
          <p:cNvSpPr/>
          <p:nvPr/>
        </p:nvSpPr>
        <p:spPr>
          <a:xfrm>
            <a:off x="9438803" y="2505456"/>
            <a:ext cx="2013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1500"/>
              <a:buFont typeface="Calibri"/>
              <a:buNone/>
            </a:pPr>
            <a:r>
              <a:rPr b="0" i="0" lang="en-US" sz="1500" u="none" cap="none" strike="noStrike">
                <a:solidFill>
                  <a:srgbClr val="7E8AA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68" name="Google Shape;1368;p44"/>
          <p:cNvSpPr/>
          <p:nvPr/>
        </p:nvSpPr>
        <p:spPr>
          <a:xfrm>
            <a:off x="9073043" y="3904488"/>
            <a:ext cx="932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achieves</a:t>
            </a:r>
            <a:endParaRPr b="0" i="0" sz="750" u="none" cap="none" strike="noStrike">
              <a:solidFill>
                <a:schemeClr val="dk1"/>
              </a:solidFill>
              <a:latin typeface="Calibri"/>
              <a:ea typeface="Calibri"/>
              <a:cs typeface="Calibri"/>
              <a:sym typeface="Calibri"/>
            </a:endParaRPr>
          </a:p>
        </p:txBody>
      </p:sp>
      <p:cxnSp>
        <p:nvCxnSpPr>
          <p:cNvPr id="1369" name="Google Shape;1369;p44"/>
          <p:cNvCxnSpPr/>
          <p:nvPr/>
        </p:nvCxnSpPr>
        <p:spPr>
          <a:xfrm>
            <a:off x="3800155" y="3977640"/>
            <a:ext cx="0" cy="274200"/>
          </a:xfrm>
          <a:prstGeom prst="straightConnector1">
            <a:avLst/>
          </a:prstGeom>
          <a:noFill/>
          <a:ln cap="flat" cmpd="sng" w="12700">
            <a:solidFill>
              <a:srgbClr val="5A6378"/>
            </a:solidFill>
            <a:prstDash val="dash"/>
            <a:round/>
            <a:headEnd len="sm" w="sm" type="none"/>
            <a:tailEnd len="sm" w="sm" type="none"/>
          </a:ln>
        </p:spPr>
      </p:cxnSp>
      <p:sp>
        <p:nvSpPr>
          <p:cNvPr id="1370" name="Google Shape;1370;p44"/>
          <p:cNvSpPr/>
          <p:nvPr/>
        </p:nvSpPr>
        <p:spPr>
          <a:xfrm>
            <a:off x="2752893" y="3977640"/>
            <a:ext cx="209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supported_by</a:t>
            </a:r>
            <a:endParaRPr b="0" i="0" sz="750" u="none" cap="none" strike="noStrike">
              <a:solidFill>
                <a:schemeClr val="dk1"/>
              </a:solidFill>
              <a:latin typeface="Calibri"/>
              <a:ea typeface="Calibri"/>
              <a:cs typeface="Calibri"/>
              <a:sym typeface="Calibri"/>
            </a:endParaRPr>
          </a:p>
        </p:txBody>
      </p:sp>
      <p:sp>
        <p:nvSpPr>
          <p:cNvPr id="1371" name="Google Shape;1371;p44"/>
          <p:cNvSpPr/>
          <p:nvPr/>
        </p:nvSpPr>
        <p:spPr>
          <a:xfrm>
            <a:off x="2752893" y="4306824"/>
            <a:ext cx="2094600" cy="777300"/>
          </a:xfrm>
          <a:prstGeom prst="roundRect">
            <a:avLst>
              <a:gd fmla="val 7059" name="adj"/>
            </a:avLst>
          </a:prstGeom>
          <a:solidFill>
            <a:srgbClr val="150C28"/>
          </a:solidFill>
          <a:ln cap="flat" cmpd="sng" w="12700">
            <a:solidFill>
              <a:srgbClr val="3A2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4"/>
          <p:cNvSpPr/>
          <p:nvPr/>
        </p:nvSpPr>
        <p:spPr>
          <a:xfrm>
            <a:off x="2862621" y="4398264"/>
            <a:ext cx="187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850"/>
              <a:buFont typeface="Calibri"/>
              <a:buNone/>
            </a:pPr>
            <a:r>
              <a:rPr b="1" i="0" lang="en-US" sz="850" u="none" cap="none" strike="noStrike">
                <a:solidFill>
                  <a:srgbClr val="BD93F9"/>
                </a:solidFill>
                <a:latin typeface="Calibri"/>
                <a:ea typeface="Calibri"/>
                <a:cs typeface="Calibri"/>
                <a:sym typeface="Calibri"/>
              </a:rPr>
              <a:t>📎 ASG · EVIDENCE</a:t>
            </a:r>
            <a:endParaRPr b="0" i="0" sz="850" u="none" cap="none" strike="noStrike">
              <a:solidFill>
                <a:schemeClr val="dk1"/>
              </a:solidFill>
              <a:latin typeface="Calibri"/>
              <a:ea typeface="Calibri"/>
              <a:cs typeface="Calibri"/>
              <a:sym typeface="Calibri"/>
            </a:endParaRPr>
          </a:p>
        </p:txBody>
      </p:sp>
      <p:sp>
        <p:nvSpPr>
          <p:cNvPr id="1373" name="Google Shape;1373;p44"/>
          <p:cNvSpPr/>
          <p:nvPr/>
        </p:nvSpPr>
        <p:spPr>
          <a:xfrm>
            <a:off x="2862621" y="4636008"/>
            <a:ext cx="187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sqli-extraction.txt</a:t>
            </a:r>
            <a:endParaRPr b="0" i="0" sz="1050" u="none" cap="none" strike="noStrike">
              <a:solidFill>
                <a:schemeClr val="dk1"/>
              </a:solidFill>
              <a:latin typeface="Calibri"/>
              <a:ea typeface="Calibri"/>
              <a:cs typeface="Calibri"/>
              <a:sym typeface="Calibri"/>
            </a:endParaRPr>
          </a:p>
        </p:txBody>
      </p:sp>
      <p:cxnSp>
        <p:nvCxnSpPr>
          <p:cNvPr id="1374" name="Google Shape;1374;p44"/>
          <p:cNvCxnSpPr/>
          <p:nvPr/>
        </p:nvCxnSpPr>
        <p:spPr>
          <a:xfrm>
            <a:off x="6095848" y="3977640"/>
            <a:ext cx="0" cy="274200"/>
          </a:xfrm>
          <a:prstGeom prst="straightConnector1">
            <a:avLst/>
          </a:prstGeom>
          <a:noFill/>
          <a:ln cap="flat" cmpd="sng" w="12700">
            <a:solidFill>
              <a:srgbClr val="5A6378"/>
            </a:solidFill>
            <a:prstDash val="dash"/>
            <a:round/>
            <a:headEnd len="sm" w="sm" type="none"/>
            <a:tailEnd len="sm" w="sm" type="none"/>
          </a:ln>
        </p:spPr>
      </p:cxnSp>
      <p:sp>
        <p:nvSpPr>
          <p:cNvPr id="1375" name="Google Shape;1375;p44"/>
          <p:cNvSpPr/>
          <p:nvPr/>
        </p:nvSpPr>
        <p:spPr>
          <a:xfrm>
            <a:off x="5048585" y="3977640"/>
            <a:ext cx="209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supported_by</a:t>
            </a:r>
            <a:endParaRPr b="0" i="0" sz="750" u="none" cap="none" strike="noStrike">
              <a:solidFill>
                <a:schemeClr val="dk1"/>
              </a:solidFill>
              <a:latin typeface="Calibri"/>
              <a:ea typeface="Calibri"/>
              <a:cs typeface="Calibri"/>
              <a:sym typeface="Calibri"/>
            </a:endParaRPr>
          </a:p>
        </p:txBody>
      </p:sp>
      <p:sp>
        <p:nvSpPr>
          <p:cNvPr id="1376" name="Google Shape;1376;p44"/>
          <p:cNvSpPr/>
          <p:nvPr/>
        </p:nvSpPr>
        <p:spPr>
          <a:xfrm>
            <a:off x="5048585" y="4306824"/>
            <a:ext cx="2094600" cy="777300"/>
          </a:xfrm>
          <a:prstGeom prst="roundRect">
            <a:avLst>
              <a:gd fmla="val 7059" name="adj"/>
            </a:avLst>
          </a:prstGeom>
          <a:solidFill>
            <a:srgbClr val="150C28"/>
          </a:solidFill>
          <a:ln cap="flat" cmpd="sng" w="12700">
            <a:solidFill>
              <a:srgbClr val="3A2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4"/>
          <p:cNvSpPr/>
          <p:nvPr/>
        </p:nvSpPr>
        <p:spPr>
          <a:xfrm>
            <a:off x="5158313" y="4398264"/>
            <a:ext cx="187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850"/>
              <a:buFont typeface="Calibri"/>
              <a:buNone/>
            </a:pPr>
            <a:r>
              <a:rPr b="1" i="0" lang="en-US" sz="850" u="none" cap="none" strike="noStrike">
                <a:solidFill>
                  <a:srgbClr val="BD93F9"/>
                </a:solidFill>
                <a:latin typeface="Calibri"/>
                <a:ea typeface="Calibri"/>
                <a:cs typeface="Calibri"/>
                <a:sym typeface="Calibri"/>
              </a:rPr>
              <a:t>📎 ASG · EVIDENCE</a:t>
            </a:r>
            <a:endParaRPr b="0" i="0" sz="850" u="none" cap="none" strike="noStrike">
              <a:solidFill>
                <a:schemeClr val="dk1"/>
              </a:solidFill>
              <a:latin typeface="Calibri"/>
              <a:ea typeface="Calibri"/>
              <a:cs typeface="Calibri"/>
              <a:sym typeface="Calibri"/>
            </a:endParaRPr>
          </a:p>
        </p:txBody>
      </p:sp>
      <p:sp>
        <p:nvSpPr>
          <p:cNvPr id="1378" name="Google Shape;1378;p44"/>
          <p:cNvSpPr/>
          <p:nvPr/>
        </p:nvSpPr>
        <p:spPr>
          <a:xfrm>
            <a:off x="5158313" y="4636008"/>
            <a:ext cx="187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user-table-dump.png</a:t>
            </a:r>
            <a:endParaRPr b="0" i="0" sz="1050" u="none" cap="none" strike="noStrike">
              <a:solidFill>
                <a:schemeClr val="dk1"/>
              </a:solidFill>
              <a:latin typeface="Calibri"/>
              <a:ea typeface="Calibri"/>
              <a:cs typeface="Calibri"/>
              <a:sym typeface="Calibri"/>
            </a:endParaRPr>
          </a:p>
        </p:txBody>
      </p:sp>
      <p:cxnSp>
        <p:nvCxnSpPr>
          <p:cNvPr id="1379" name="Google Shape;1379;p44"/>
          <p:cNvCxnSpPr/>
          <p:nvPr/>
        </p:nvCxnSpPr>
        <p:spPr>
          <a:xfrm>
            <a:off x="8391540" y="3977640"/>
            <a:ext cx="0" cy="274200"/>
          </a:xfrm>
          <a:prstGeom prst="straightConnector1">
            <a:avLst/>
          </a:prstGeom>
          <a:noFill/>
          <a:ln cap="flat" cmpd="sng" w="12700">
            <a:solidFill>
              <a:srgbClr val="5A6378"/>
            </a:solidFill>
            <a:prstDash val="dash"/>
            <a:round/>
            <a:headEnd len="sm" w="sm" type="none"/>
            <a:tailEnd len="sm" w="sm" type="none"/>
          </a:ln>
        </p:spPr>
      </p:cxnSp>
      <p:sp>
        <p:nvSpPr>
          <p:cNvPr id="1380" name="Google Shape;1380;p44"/>
          <p:cNvSpPr/>
          <p:nvPr/>
        </p:nvSpPr>
        <p:spPr>
          <a:xfrm>
            <a:off x="7344278" y="3977640"/>
            <a:ext cx="209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supported_by</a:t>
            </a:r>
            <a:endParaRPr b="0" i="0" sz="750" u="none" cap="none" strike="noStrike">
              <a:solidFill>
                <a:schemeClr val="dk1"/>
              </a:solidFill>
              <a:latin typeface="Calibri"/>
              <a:ea typeface="Calibri"/>
              <a:cs typeface="Calibri"/>
              <a:sym typeface="Calibri"/>
            </a:endParaRPr>
          </a:p>
        </p:txBody>
      </p:sp>
      <p:sp>
        <p:nvSpPr>
          <p:cNvPr id="1381" name="Google Shape;1381;p44"/>
          <p:cNvSpPr/>
          <p:nvPr/>
        </p:nvSpPr>
        <p:spPr>
          <a:xfrm>
            <a:off x="7344278" y="4306824"/>
            <a:ext cx="2094600" cy="777300"/>
          </a:xfrm>
          <a:prstGeom prst="roundRect">
            <a:avLst>
              <a:gd fmla="val 7059" name="adj"/>
            </a:avLst>
          </a:prstGeom>
          <a:solidFill>
            <a:srgbClr val="150C28"/>
          </a:solidFill>
          <a:ln cap="flat" cmpd="sng" w="12700">
            <a:solidFill>
              <a:srgbClr val="3A2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4"/>
          <p:cNvSpPr/>
          <p:nvPr/>
        </p:nvSpPr>
        <p:spPr>
          <a:xfrm>
            <a:off x="7454006" y="4398264"/>
            <a:ext cx="187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850"/>
              <a:buFont typeface="Calibri"/>
              <a:buNone/>
            </a:pPr>
            <a:r>
              <a:rPr b="1" i="0" lang="en-US" sz="850" u="none" cap="none" strike="noStrike">
                <a:solidFill>
                  <a:srgbClr val="BD93F9"/>
                </a:solidFill>
                <a:latin typeface="Calibri"/>
                <a:ea typeface="Calibri"/>
                <a:cs typeface="Calibri"/>
                <a:sym typeface="Calibri"/>
              </a:rPr>
              <a:t>📎 ASG · EVIDENCE</a:t>
            </a:r>
            <a:endParaRPr b="0" i="0" sz="850" u="none" cap="none" strike="noStrike">
              <a:solidFill>
                <a:schemeClr val="dk1"/>
              </a:solidFill>
              <a:latin typeface="Calibri"/>
              <a:ea typeface="Calibri"/>
              <a:cs typeface="Calibri"/>
              <a:sym typeface="Calibri"/>
            </a:endParaRPr>
          </a:p>
        </p:txBody>
      </p:sp>
      <p:sp>
        <p:nvSpPr>
          <p:cNvPr id="1383" name="Google Shape;1383;p44"/>
          <p:cNvSpPr/>
          <p:nvPr/>
        </p:nvSpPr>
        <p:spPr>
          <a:xfrm>
            <a:off x="7454006" y="4636008"/>
            <a:ext cx="187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webshell-rce.png</a:t>
            </a:r>
            <a:endParaRPr b="0" i="0" sz="1050" u="none" cap="none" strike="noStrike">
              <a:solidFill>
                <a:schemeClr val="dk1"/>
              </a:solidFill>
              <a:latin typeface="Calibri"/>
              <a:ea typeface="Calibri"/>
              <a:cs typeface="Calibri"/>
              <a:sym typeface="Calibri"/>
            </a:endParaRPr>
          </a:p>
        </p:txBody>
      </p:sp>
      <p:cxnSp>
        <p:nvCxnSpPr>
          <p:cNvPr id="1384" name="Google Shape;1384;p44"/>
          <p:cNvCxnSpPr/>
          <p:nvPr/>
        </p:nvCxnSpPr>
        <p:spPr>
          <a:xfrm>
            <a:off x="10687233" y="3977640"/>
            <a:ext cx="0" cy="274200"/>
          </a:xfrm>
          <a:prstGeom prst="straightConnector1">
            <a:avLst/>
          </a:prstGeom>
          <a:noFill/>
          <a:ln cap="flat" cmpd="sng" w="12700">
            <a:solidFill>
              <a:srgbClr val="5A6378"/>
            </a:solidFill>
            <a:prstDash val="dash"/>
            <a:round/>
            <a:headEnd len="sm" w="sm" type="none"/>
            <a:tailEnd len="sm" w="sm" type="none"/>
          </a:ln>
        </p:spPr>
      </p:cxnSp>
      <p:sp>
        <p:nvSpPr>
          <p:cNvPr id="1385" name="Google Shape;1385;p44"/>
          <p:cNvSpPr/>
          <p:nvPr/>
        </p:nvSpPr>
        <p:spPr>
          <a:xfrm>
            <a:off x="9639971" y="3977640"/>
            <a:ext cx="20946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750"/>
              <a:buFont typeface="Calibri"/>
              <a:buNone/>
            </a:pPr>
            <a:r>
              <a:rPr b="0" i="1" lang="en-US" sz="750" u="none" cap="none" strike="noStrike">
                <a:solidFill>
                  <a:srgbClr val="7E8AA0"/>
                </a:solidFill>
                <a:latin typeface="Calibri"/>
                <a:ea typeface="Calibri"/>
                <a:cs typeface="Calibri"/>
                <a:sym typeface="Calibri"/>
              </a:rPr>
              <a:t>supported_by</a:t>
            </a:r>
            <a:endParaRPr b="0" i="0" sz="750" u="none" cap="none" strike="noStrike">
              <a:solidFill>
                <a:schemeClr val="dk1"/>
              </a:solidFill>
              <a:latin typeface="Calibri"/>
              <a:ea typeface="Calibri"/>
              <a:cs typeface="Calibri"/>
              <a:sym typeface="Calibri"/>
            </a:endParaRPr>
          </a:p>
        </p:txBody>
      </p:sp>
      <p:sp>
        <p:nvSpPr>
          <p:cNvPr id="1386" name="Google Shape;1386;p44"/>
          <p:cNvSpPr/>
          <p:nvPr/>
        </p:nvSpPr>
        <p:spPr>
          <a:xfrm>
            <a:off x="9639971" y="4306824"/>
            <a:ext cx="2094600" cy="777300"/>
          </a:xfrm>
          <a:prstGeom prst="roundRect">
            <a:avLst>
              <a:gd fmla="val 7059" name="adj"/>
            </a:avLst>
          </a:prstGeom>
          <a:solidFill>
            <a:srgbClr val="150C28"/>
          </a:solidFill>
          <a:ln cap="flat" cmpd="sng" w="12700">
            <a:solidFill>
              <a:srgbClr val="3A2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4"/>
          <p:cNvSpPr/>
          <p:nvPr/>
        </p:nvSpPr>
        <p:spPr>
          <a:xfrm>
            <a:off x="9749699" y="4398264"/>
            <a:ext cx="187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93F9"/>
              </a:buClr>
              <a:buSzPts val="850"/>
              <a:buFont typeface="Calibri"/>
              <a:buNone/>
            </a:pPr>
            <a:r>
              <a:rPr b="1" i="0" lang="en-US" sz="850" u="none" cap="none" strike="noStrike">
                <a:solidFill>
                  <a:srgbClr val="BD93F9"/>
                </a:solidFill>
                <a:latin typeface="Calibri"/>
                <a:ea typeface="Calibri"/>
                <a:cs typeface="Calibri"/>
                <a:sym typeface="Calibri"/>
              </a:rPr>
              <a:t>📎 ASG · EVIDENCE</a:t>
            </a:r>
            <a:endParaRPr b="0" i="0" sz="850" u="none" cap="none" strike="noStrike">
              <a:solidFill>
                <a:schemeClr val="dk1"/>
              </a:solidFill>
              <a:latin typeface="Calibri"/>
              <a:ea typeface="Calibri"/>
              <a:cs typeface="Calibri"/>
              <a:sym typeface="Calibri"/>
            </a:endParaRPr>
          </a:p>
        </p:txBody>
      </p:sp>
      <p:sp>
        <p:nvSpPr>
          <p:cNvPr id="1388" name="Google Shape;1388;p44"/>
          <p:cNvSpPr/>
          <p:nvPr/>
        </p:nvSpPr>
        <p:spPr>
          <a:xfrm>
            <a:off x="9749699" y="4636008"/>
            <a:ext cx="187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pii-sample.json</a:t>
            </a:r>
            <a:endParaRPr b="0" i="0" sz="1050" u="none" cap="none" strike="noStrike">
              <a:solidFill>
                <a:schemeClr val="dk1"/>
              </a:solidFill>
              <a:latin typeface="Calibri"/>
              <a:ea typeface="Calibri"/>
              <a:cs typeface="Calibri"/>
              <a:sym typeface="Calibri"/>
            </a:endParaRPr>
          </a:p>
        </p:txBody>
      </p:sp>
      <p:sp>
        <p:nvSpPr>
          <p:cNvPr id="1389" name="Google Shape;1389;p44"/>
          <p:cNvSpPr/>
          <p:nvPr/>
        </p:nvSpPr>
        <p:spPr>
          <a:xfrm>
            <a:off x="457200" y="5266944"/>
            <a:ext cx="11277300" cy="567000"/>
          </a:xfrm>
          <a:prstGeom prst="roundRect">
            <a:avLst>
              <a:gd fmla="val 8065" name="adj"/>
            </a:avLst>
          </a:prstGeom>
          <a:solidFill>
            <a:srgbClr val="10141F"/>
          </a:solidFill>
          <a:ln cap="flat" cmpd="sng" w="9525">
            <a:solidFill>
              <a:srgbClr val="5A63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4"/>
          <p:cNvSpPr/>
          <p:nvPr/>
        </p:nvSpPr>
        <p:spPr>
          <a:xfrm>
            <a:off x="621792" y="5330952"/>
            <a:ext cx="109482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050"/>
              <a:buFont typeface="Calibri"/>
              <a:buNone/>
            </a:pPr>
            <a:r>
              <a:rPr b="1" i="0" lang="en-US" sz="1050" u="none" cap="none" strike="noStrike">
                <a:solidFill>
                  <a:srgbClr val="E8ECF4"/>
                </a:solidFill>
                <a:latin typeface="Calibri"/>
                <a:ea typeface="Calibri"/>
                <a:cs typeface="Calibri"/>
                <a:sym typeface="Calibri"/>
              </a:rPr>
              <a:t>Reading this diagram:  </a:t>
            </a:r>
            <a:r>
              <a:rPr b="0" i="0" lang="en-US" sz="1050" u="none" cap="none" strike="noStrike">
                <a:solidFill>
                  <a:srgbClr val="A0AAB8"/>
                </a:solidFill>
                <a:latin typeface="Calibri"/>
                <a:ea typeface="Calibri"/>
                <a:cs typeface="Calibri"/>
                <a:sym typeface="Calibri"/>
              </a:rPr>
              <a:t>start at the recon chips (ASG facts) → follow starts_at to the Chain (APG reasoning) → step through the ChainSteps in order → arrive at the Impact → </a:t>
            </a:r>
            <a:endParaRPr b="0" i="0" sz="1050" u="none" cap="none" strike="noStrike">
              <a:solidFill>
                <a:srgbClr val="A0AAB8"/>
              </a:solidFill>
              <a:latin typeface="Calibri"/>
              <a:ea typeface="Calibri"/>
              <a:cs typeface="Calibri"/>
              <a:sym typeface="Calibri"/>
            </a:endParaRPr>
          </a:p>
          <a:p>
            <a:pPr indent="0" lvl="0" marL="0" marR="0" rtl="0" algn="l">
              <a:spcBef>
                <a:spcPts val="0"/>
              </a:spcBef>
              <a:spcAft>
                <a:spcPts val="0"/>
              </a:spcAft>
              <a:buClr>
                <a:srgbClr val="E8ECF4"/>
              </a:buClr>
              <a:buSzPts val="1050"/>
              <a:buFont typeface="Calibri"/>
              <a:buNone/>
            </a:pPr>
            <a:r>
              <a:rPr lang="en-US" sz="1050">
                <a:solidFill>
                  <a:srgbClr val="A0AAB8"/>
                </a:solidFill>
                <a:latin typeface="Calibri"/>
                <a:ea typeface="Calibri"/>
                <a:cs typeface="Calibri"/>
                <a:sym typeface="Calibri"/>
              </a:rPr>
              <a:t>                                         </a:t>
            </a:r>
            <a:r>
              <a:rPr b="0" i="0" lang="en-US" sz="1050" u="none" cap="none" strike="noStrike">
                <a:solidFill>
                  <a:srgbClr val="A0AAB8"/>
                </a:solidFill>
                <a:latin typeface="Calibri"/>
                <a:ea typeface="Calibri"/>
                <a:cs typeface="Calibri"/>
                <a:sym typeface="Calibri"/>
              </a:rPr>
              <a:t>follow supported_by back to the Evidence files (ASG proof).</a:t>
            </a:r>
            <a:endParaRPr b="0" i="0" sz="1050" u="none" cap="none" strike="noStrike">
              <a:solidFill>
                <a:schemeClr val="dk1"/>
              </a:solidFill>
              <a:latin typeface="Calibri"/>
              <a:ea typeface="Calibri"/>
              <a:cs typeface="Calibri"/>
              <a:sym typeface="Calibri"/>
            </a:endParaRPr>
          </a:p>
        </p:txBody>
      </p:sp>
      <p:sp>
        <p:nvSpPr>
          <p:cNvPr id="1391" name="Google Shape;1391;p44"/>
          <p:cNvSpPr/>
          <p:nvPr/>
        </p:nvSpPr>
        <p:spPr>
          <a:xfrm>
            <a:off x="457200" y="5998464"/>
            <a:ext cx="22554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700"/>
              </a:buClr>
              <a:buSzPts val="2400"/>
              <a:buFont typeface="Calibri"/>
              <a:buNone/>
            </a:pPr>
            <a:r>
              <a:rPr b="1" i="0" lang="en-US" sz="2400" u="none" cap="none" strike="noStrike">
                <a:solidFill>
                  <a:srgbClr val="FFD700"/>
                </a:solidFill>
                <a:latin typeface="Calibri"/>
                <a:ea typeface="Calibri"/>
                <a:cs typeface="Calibri"/>
                <a:sym typeface="Calibri"/>
              </a:rPr>
              <a:t>8.8 → 9.1</a:t>
            </a:r>
            <a:endParaRPr b="0" i="0" sz="2400" u="none" cap="none" strike="noStrike">
              <a:solidFill>
                <a:schemeClr val="dk1"/>
              </a:solidFill>
              <a:latin typeface="Calibri"/>
              <a:ea typeface="Calibri"/>
              <a:cs typeface="Calibri"/>
              <a:sym typeface="Calibri"/>
            </a:endParaRPr>
          </a:p>
        </p:txBody>
      </p:sp>
      <p:sp>
        <p:nvSpPr>
          <p:cNvPr id="1392" name="Google Shape;1392;p44"/>
          <p:cNvSpPr/>
          <p:nvPr/>
        </p:nvSpPr>
        <p:spPr>
          <a:xfrm>
            <a:off x="457200" y="6382512"/>
            <a:ext cx="2255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00"/>
              <a:buFont typeface="Calibri"/>
              <a:buNone/>
            </a:pPr>
            <a:r>
              <a:rPr b="0" i="0" lang="en-US" sz="900" u="none" cap="none" strike="noStrike">
                <a:solidFill>
                  <a:srgbClr val="7E8AA0"/>
                </a:solidFill>
                <a:latin typeface="Calibri"/>
                <a:ea typeface="Calibri"/>
                <a:cs typeface="Calibri"/>
                <a:sym typeface="Calibri"/>
              </a:rPr>
              <a:t>risk_score escalated</a:t>
            </a:r>
            <a:endParaRPr b="0" i="0" sz="900" u="none" cap="none" strike="noStrike">
              <a:solidFill>
                <a:schemeClr val="dk1"/>
              </a:solidFill>
              <a:latin typeface="Calibri"/>
              <a:ea typeface="Calibri"/>
              <a:cs typeface="Calibri"/>
              <a:sym typeface="Calibri"/>
            </a:endParaRPr>
          </a:p>
        </p:txBody>
      </p:sp>
      <p:sp>
        <p:nvSpPr>
          <p:cNvPr id="1393" name="Google Shape;1393;p44"/>
          <p:cNvSpPr/>
          <p:nvPr/>
        </p:nvSpPr>
        <p:spPr>
          <a:xfrm>
            <a:off x="2712659" y="5998464"/>
            <a:ext cx="22554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545"/>
              </a:buClr>
              <a:buSzPts val="2400"/>
              <a:buFont typeface="Calibri"/>
              <a:buNone/>
            </a:pPr>
            <a:r>
              <a:rPr b="1" i="0" lang="en-US" sz="2400" u="none" cap="none" strike="noStrike">
                <a:solidFill>
                  <a:srgbClr val="FF4545"/>
                </a:solidFill>
                <a:latin typeface="Calibri"/>
                <a:ea typeface="Calibri"/>
                <a:cs typeface="Calibri"/>
                <a:sym typeface="Calibri"/>
              </a:rPr>
              <a:t>6</a:t>
            </a:r>
            <a:endParaRPr b="0" i="0" sz="2400" u="none" cap="none" strike="noStrike">
              <a:solidFill>
                <a:schemeClr val="dk1"/>
              </a:solidFill>
              <a:latin typeface="Calibri"/>
              <a:ea typeface="Calibri"/>
              <a:cs typeface="Calibri"/>
              <a:sym typeface="Calibri"/>
            </a:endParaRPr>
          </a:p>
        </p:txBody>
      </p:sp>
      <p:sp>
        <p:nvSpPr>
          <p:cNvPr id="1394" name="Google Shape;1394;p44"/>
          <p:cNvSpPr/>
          <p:nvPr/>
        </p:nvSpPr>
        <p:spPr>
          <a:xfrm>
            <a:off x="2712659" y="6382512"/>
            <a:ext cx="2255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00"/>
              <a:buFont typeface="Calibri"/>
              <a:buNone/>
            </a:pPr>
            <a:r>
              <a:rPr b="0" i="0" lang="en-US" sz="900" u="none" cap="none" strike="noStrike">
                <a:solidFill>
                  <a:srgbClr val="7E8AA0"/>
                </a:solidFill>
                <a:latin typeface="Calibri"/>
                <a:ea typeface="Calibri"/>
                <a:cs typeface="Calibri"/>
                <a:sym typeface="Calibri"/>
              </a:rPr>
              <a:t>recon-to-CVE hops traced</a:t>
            </a:r>
            <a:endParaRPr b="0" i="0" sz="900" u="none" cap="none" strike="noStrike">
              <a:solidFill>
                <a:schemeClr val="dk1"/>
              </a:solidFill>
              <a:latin typeface="Calibri"/>
              <a:ea typeface="Calibri"/>
              <a:cs typeface="Calibri"/>
              <a:sym typeface="Calibri"/>
            </a:endParaRPr>
          </a:p>
        </p:txBody>
      </p:sp>
      <p:sp>
        <p:nvSpPr>
          <p:cNvPr id="1395" name="Google Shape;1395;p44"/>
          <p:cNvSpPr/>
          <p:nvPr/>
        </p:nvSpPr>
        <p:spPr>
          <a:xfrm>
            <a:off x="4968118" y="5998464"/>
            <a:ext cx="22554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9FF14"/>
              </a:buClr>
              <a:buSzPts val="2400"/>
              <a:buFont typeface="Calibri"/>
              <a:buNone/>
            </a:pPr>
            <a:r>
              <a:rPr b="1" i="0" lang="en-US" sz="2400" u="none" cap="none" strike="noStrike">
                <a:solidFill>
                  <a:srgbClr val="39FF14"/>
                </a:solidFill>
                <a:latin typeface="Calibri"/>
                <a:ea typeface="Calibri"/>
                <a:cs typeface="Calibri"/>
                <a:sym typeface="Calibri"/>
              </a:rPr>
              <a:t>3</a:t>
            </a:r>
            <a:endParaRPr b="0" i="0" sz="2400" u="none" cap="none" strike="noStrike">
              <a:solidFill>
                <a:schemeClr val="dk1"/>
              </a:solidFill>
              <a:latin typeface="Calibri"/>
              <a:ea typeface="Calibri"/>
              <a:cs typeface="Calibri"/>
              <a:sym typeface="Calibri"/>
            </a:endParaRPr>
          </a:p>
        </p:txBody>
      </p:sp>
      <p:sp>
        <p:nvSpPr>
          <p:cNvPr id="1396" name="Google Shape;1396;p44"/>
          <p:cNvSpPr/>
          <p:nvPr/>
        </p:nvSpPr>
        <p:spPr>
          <a:xfrm>
            <a:off x="4968118" y="6382512"/>
            <a:ext cx="2255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00"/>
              <a:buFont typeface="Calibri"/>
              <a:buNone/>
            </a:pPr>
            <a:r>
              <a:rPr b="0" i="0" lang="en-US" sz="900" u="none" cap="none" strike="noStrike">
                <a:solidFill>
                  <a:srgbClr val="7E8AA0"/>
                </a:solidFill>
                <a:latin typeface="Calibri"/>
                <a:ea typeface="Calibri"/>
                <a:cs typeface="Calibri"/>
                <a:sym typeface="Calibri"/>
              </a:rPr>
              <a:t>VALIDATED ChainSteps</a:t>
            </a:r>
            <a:endParaRPr b="0" i="0" sz="900" u="none" cap="none" strike="noStrike">
              <a:solidFill>
                <a:schemeClr val="dk1"/>
              </a:solidFill>
              <a:latin typeface="Calibri"/>
              <a:ea typeface="Calibri"/>
              <a:cs typeface="Calibri"/>
              <a:sym typeface="Calibri"/>
            </a:endParaRPr>
          </a:p>
        </p:txBody>
      </p:sp>
      <p:sp>
        <p:nvSpPr>
          <p:cNvPr id="1397" name="Google Shape;1397;p44"/>
          <p:cNvSpPr/>
          <p:nvPr/>
        </p:nvSpPr>
        <p:spPr>
          <a:xfrm>
            <a:off x="7223577" y="5998464"/>
            <a:ext cx="22554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D93F9"/>
              </a:buClr>
              <a:buSzPts val="2400"/>
              <a:buFont typeface="Calibri"/>
              <a:buNone/>
            </a:pPr>
            <a:r>
              <a:rPr b="1" i="0" lang="en-US" sz="2400" u="none" cap="none" strike="noStrike">
                <a:solidFill>
                  <a:srgbClr val="BD93F9"/>
                </a:solidFill>
                <a:latin typeface="Calibri"/>
                <a:ea typeface="Calibri"/>
                <a:cs typeface="Calibri"/>
                <a:sym typeface="Calibri"/>
              </a:rPr>
              <a:t>4</a:t>
            </a:r>
            <a:endParaRPr b="0" i="0" sz="2400" u="none" cap="none" strike="noStrike">
              <a:solidFill>
                <a:schemeClr val="dk1"/>
              </a:solidFill>
              <a:latin typeface="Calibri"/>
              <a:ea typeface="Calibri"/>
              <a:cs typeface="Calibri"/>
              <a:sym typeface="Calibri"/>
            </a:endParaRPr>
          </a:p>
        </p:txBody>
      </p:sp>
      <p:sp>
        <p:nvSpPr>
          <p:cNvPr id="1398" name="Google Shape;1398;p44"/>
          <p:cNvSpPr/>
          <p:nvPr/>
        </p:nvSpPr>
        <p:spPr>
          <a:xfrm>
            <a:off x="7223577" y="6382512"/>
            <a:ext cx="2255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00"/>
              <a:buFont typeface="Calibri"/>
              <a:buNone/>
            </a:pPr>
            <a:r>
              <a:rPr b="0" i="0" lang="en-US" sz="900" u="none" cap="none" strike="noStrike">
                <a:solidFill>
                  <a:srgbClr val="7E8AA0"/>
                </a:solidFill>
                <a:latin typeface="Calibri"/>
                <a:ea typeface="Calibri"/>
                <a:cs typeface="Calibri"/>
                <a:sym typeface="Calibri"/>
              </a:rPr>
              <a:t>Evidence artifacts linked</a:t>
            </a:r>
            <a:endParaRPr b="0" i="0" sz="900" u="none" cap="none" strike="noStrike">
              <a:solidFill>
                <a:schemeClr val="dk1"/>
              </a:solidFill>
              <a:latin typeface="Calibri"/>
              <a:ea typeface="Calibri"/>
              <a:cs typeface="Calibri"/>
              <a:sym typeface="Calibri"/>
            </a:endParaRPr>
          </a:p>
        </p:txBody>
      </p:sp>
      <p:sp>
        <p:nvSpPr>
          <p:cNvPr id="1399" name="Google Shape;1399;p44"/>
          <p:cNvSpPr/>
          <p:nvPr/>
        </p:nvSpPr>
        <p:spPr>
          <a:xfrm>
            <a:off x="9479036" y="5998464"/>
            <a:ext cx="22554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E5FF"/>
              </a:buClr>
              <a:buSzPts val="2400"/>
              <a:buFont typeface="Calibri"/>
              <a:buNone/>
            </a:pPr>
            <a:r>
              <a:rPr b="1" i="0" lang="en-US" sz="2400" u="none" cap="none" strike="noStrike">
                <a:solidFill>
                  <a:srgbClr val="00E5FF"/>
                </a:solidFill>
                <a:latin typeface="Calibri"/>
                <a:ea typeface="Calibri"/>
                <a:cs typeface="Calibri"/>
                <a:sym typeface="Calibri"/>
              </a:rPr>
              <a:t>0</a:t>
            </a:r>
            <a:endParaRPr b="0" i="0" sz="2400" u="none" cap="none" strike="noStrike">
              <a:solidFill>
                <a:schemeClr val="dk1"/>
              </a:solidFill>
              <a:latin typeface="Calibri"/>
              <a:ea typeface="Calibri"/>
              <a:cs typeface="Calibri"/>
              <a:sym typeface="Calibri"/>
            </a:endParaRPr>
          </a:p>
        </p:txBody>
      </p:sp>
      <p:sp>
        <p:nvSpPr>
          <p:cNvPr id="1400" name="Google Shape;1400;p44"/>
          <p:cNvSpPr/>
          <p:nvPr/>
        </p:nvSpPr>
        <p:spPr>
          <a:xfrm>
            <a:off x="9479036" y="6382512"/>
            <a:ext cx="2255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AA0"/>
              </a:buClr>
              <a:buSzPts val="900"/>
              <a:buFont typeface="Calibri"/>
              <a:buNone/>
            </a:pPr>
            <a:r>
              <a:rPr b="0" i="0" lang="en-US" sz="900" u="none" cap="none" strike="noStrike">
                <a:solidFill>
                  <a:srgbClr val="7E8AA0"/>
                </a:solidFill>
                <a:latin typeface="Calibri"/>
                <a:ea typeface="Calibri"/>
                <a:cs typeface="Calibri"/>
                <a:sym typeface="Calibri"/>
              </a:rPr>
              <a:t>manual commands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404" name="Shape 1404"/>
        <p:cNvGrpSpPr/>
        <p:nvPr/>
      </p:nvGrpSpPr>
      <p:grpSpPr>
        <a:xfrm>
          <a:off x="0" y="0"/>
          <a:ext cx="0" cy="0"/>
          <a:chOff x="0" y="0"/>
          <a:chExt cx="0" cy="0"/>
        </a:xfrm>
      </p:grpSpPr>
      <p:sp>
        <p:nvSpPr>
          <p:cNvPr id="1405" name="Google Shape;1405;p45"/>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6" name="Google Shape;1406;p45"/>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7" name="Google Shape;1407;p45"/>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8" name="Google Shape;1408;p45"/>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D700"/>
                </a:solidFill>
                <a:latin typeface="Calibri"/>
                <a:ea typeface="Calibri"/>
                <a:cs typeface="Calibri"/>
                <a:sym typeface="Calibri"/>
              </a:rPr>
              <a:t>NOVEL CONTRIBUTION</a:t>
            </a:r>
            <a:endParaRPr/>
          </a:p>
        </p:txBody>
      </p:sp>
      <p:sp>
        <p:nvSpPr>
          <p:cNvPr id="1409" name="Google Shape;1409;p45"/>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FFFFFF"/>
                </a:solidFill>
                <a:latin typeface="Calibri"/>
                <a:ea typeface="Calibri"/>
                <a:cs typeface="Calibri"/>
                <a:sym typeface="Calibri"/>
              </a:rPr>
              <a:t>What Makes CMatrix a Research Contribution</a:t>
            </a:r>
            <a:endParaRPr/>
          </a:p>
        </p:txBody>
      </p:sp>
      <p:sp>
        <p:nvSpPr>
          <p:cNvPr id="1410" name="Google Shape;1410;p45"/>
          <p:cNvSpPr/>
          <p:nvPr/>
        </p:nvSpPr>
        <p:spPr>
          <a:xfrm>
            <a:off x="274320" y="1097280"/>
            <a:ext cx="11643055" cy="512064"/>
          </a:xfrm>
          <a:prstGeom prst="rect">
            <a:avLst/>
          </a:prstGeom>
          <a:solidFill>
            <a:srgbClr val="121002"/>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1" name="Google Shape;1411;p45"/>
          <p:cNvSpPr txBox="1"/>
          <p:nvPr/>
        </p:nvSpPr>
        <p:spPr>
          <a:xfrm>
            <a:off x="370325" y="1207063"/>
            <a:ext cx="11430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a:solidFill>
                  <a:srgbClr val="FFD700"/>
                </a:solidFill>
                <a:latin typeface="Calibri"/>
                <a:ea typeface="Calibri"/>
                <a:cs typeface="Calibri"/>
                <a:sym typeface="Calibri"/>
              </a:rPr>
              <a:t>First autonomous VAPT system to maintain two strictly separated, continuously evolving graph structures - one for discovered reality, one for inferred attack opportunity.</a:t>
            </a:r>
            <a:endParaRPr/>
          </a:p>
        </p:txBody>
      </p:sp>
      <p:sp>
        <p:nvSpPr>
          <p:cNvPr id="1412" name="Google Shape;1412;p45"/>
          <p:cNvSpPr/>
          <p:nvPr/>
        </p:nvSpPr>
        <p:spPr>
          <a:xfrm>
            <a:off x="274320"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3" name="Google Shape;1413;p45"/>
          <p:cNvSpPr/>
          <p:nvPr/>
        </p:nvSpPr>
        <p:spPr>
          <a:xfrm>
            <a:off x="274320"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4" name="Google Shape;1414;p45"/>
          <p:cNvSpPr txBox="1"/>
          <p:nvPr/>
        </p:nvSpPr>
        <p:spPr>
          <a:xfrm>
            <a:off x="292608"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a:t>
            </a:r>
            <a:endParaRPr/>
          </a:p>
        </p:txBody>
      </p:sp>
      <p:sp>
        <p:nvSpPr>
          <p:cNvPr id="1415" name="Google Shape;1415;p45"/>
          <p:cNvSpPr txBox="1"/>
          <p:nvPr/>
        </p:nvSpPr>
        <p:spPr>
          <a:xfrm>
            <a:off x="841248"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Dual-Graph World Model</a:t>
            </a:r>
            <a:endParaRPr/>
          </a:p>
        </p:txBody>
      </p:sp>
      <p:sp>
        <p:nvSpPr>
          <p:cNvPr id="1416" name="Google Shape;1416;p45"/>
          <p:cNvSpPr txBox="1"/>
          <p:nvPr/>
        </p:nvSpPr>
        <p:spPr>
          <a:xfrm>
            <a:off x="384048"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ASG (discovered reality) &amp; APG (inferred opportunity) are strictly separated with enforced write ownership.</a:t>
            </a:r>
            <a:endParaRPr/>
          </a:p>
        </p:txBody>
      </p:sp>
      <p:sp>
        <p:nvSpPr>
          <p:cNvPr id="1417" name="Google Shape;1417;p45"/>
          <p:cNvSpPr/>
          <p:nvPr/>
        </p:nvSpPr>
        <p:spPr>
          <a:xfrm>
            <a:off x="4187952"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8" name="Google Shape;1418;p45"/>
          <p:cNvSpPr/>
          <p:nvPr/>
        </p:nvSpPr>
        <p:spPr>
          <a:xfrm>
            <a:off x="4187952"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9" name="Google Shape;1419;p45"/>
          <p:cNvSpPr txBox="1"/>
          <p:nvPr/>
        </p:nvSpPr>
        <p:spPr>
          <a:xfrm>
            <a:off x="4206240"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C2</a:t>
            </a:r>
            <a:endParaRPr/>
          </a:p>
        </p:txBody>
      </p:sp>
      <p:sp>
        <p:nvSpPr>
          <p:cNvPr id="1420" name="Google Shape;1420;p45"/>
          <p:cNvSpPr txBox="1"/>
          <p:nvPr/>
        </p:nvSpPr>
        <p:spPr>
          <a:xfrm>
            <a:off x="4754880"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Graph-Driven Re-Planning</a:t>
            </a:r>
            <a:endParaRPr/>
          </a:p>
        </p:txBody>
      </p:sp>
      <p:sp>
        <p:nvSpPr>
          <p:cNvPr id="1421" name="Google Shape;1421;p45"/>
          <p:cNvSpPr txBox="1"/>
          <p:nvPr/>
        </p:nvSpPr>
        <p:spPr>
          <a:xfrm>
            <a:off x="4297680"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Re-planning fires on explicit graph triggers (e.g., new vuln node seeds a chain) rather than arbitrary schedules.</a:t>
            </a:r>
            <a:endParaRPr/>
          </a:p>
        </p:txBody>
      </p:sp>
      <p:sp>
        <p:nvSpPr>
          <p:cNvPr id="1422" name="Google Shape;1422;p45"/>
          <p:cNvSpPr/>
          <p:nvPr/>
        </p:nvSpPr>
        <p:spPr>
          <a:xfrm>
            <a:off x="8101584"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3" name="Google Shape;1423;p45"/>
          <p:cNvSpPr/>
          <p:nvPr/>
        </p:nvSpPr>
        <p:spPr>
          <a:xfrm>
            <a:off x="8101584"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4" name="Google Shape;1424;p45"/>
          <p:cNvSpPr txBox="1"/>
          <p:nvPr/>
        </p:nvSpPr>
        <p:spPr>
          <a:xfrm>
            <a:off x="8119872"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C3</a:t>
            </a:r>
            <a:endParaRPr/>
          </a:p>
        </p:txBody>
      </p:sp>
      <p:sp>
        <p:nvSpPr>
          <p:cNvPr id="1425" name="Google Shape;1425;p45"/>
          <p:cNvSpPr txBox="1"/>
          <p:nvPr/>
        </p:nvSpPr>
        <p:spPr>
          <a:xfrm>
            <a:off x="8668512"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APG Attack Chain Lifecycle with Evidence Traceability</a:t>
            </a:r>
            <a:endParaRPr/>
          </a:p>
        </p:txBody>
      </p:sp>
      <p:sp>
        <p:nvSpPr>
          <p:cNvPr id="1426" name="Google Shape;1426;p45"/>
          <p:cNvSpPr txBox="1"/>
          <p:nvPr/>
        </p:nvSpPr>
        <p:spPr>
          <a:xfrm>
            <a:off x="8211312"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Attack chains are first-class entities: risk-scored, prioritized, lifecycle-tracked. Every ChainStep links to ASG Evidence via supported_by.</a:t>
            </a:r>
            <a:endParaRPr/>
          </a:p>
        </p:txBody>
      </p:sp>
      <p:sp>
        <p:nvSpPr>
          <p:cNvPr id="1427" name="Google Shape;1427;p45"/>
          <p:cNvSpPr/>
          <p:nvPr/>
        </p:nvSpPr>
        <p:spPr>
          <a:xfrm>
            <a:off x="274320"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8" name="Google Shape;1428;p45"/>
          <p:cNvSpPr/>
          <p:nvPr/>
        </p:nvSpPr>
        <p:spPr>
          <a:xfrm>
            <a:off x="274320"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9" name="Google Shape;1429;p45"/>
          <p:cNvSpPr txBox="1"/>
          <p:nvPr/>
        </p:nvSpPr>
        <p:spPr>
          <a:xfrm>
            <a:off x="292608"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C4</a:t>
            </a:r>
            <a:endParaRPr/>
          </a:p>
        </p:txBody>
      </p:sp>
      <p:sp>
        <p:nvSpPr>
          <p:cNvPr id="1430" name="Google Shape;1430;p45"/>
          <p:cNvSpPr txBox="1"/>
          <p:nvPr/>
        </p:nvSpPr>
        <p:spPr>
          <a:xfrm>
            <a:off x="841248"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ASG-Aware Parallel Dispatch</a:t>
            </a:r>
            <a:endParaRPr/>
          </a:p>
        </p:txBody>
      </p:sp>
      <p:sp>
        <p:nvSpPr>
          <p:cNvPr id="1431" name="Google Shape;1431;p45"/>
          <p:cNvSpPr txBox="1"/>
          <p:nvPr/>
        </p:nvSpPr>
        <p:spPr>
          <a:xfrm>
            <a:off x="384048"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Dependency-safe concurrent tool execution using the ASG itself as the dependency graph, instead of a task scheduler.</a:t>
            </a:r>
            <a:endParaRPr/>
          </a:p>
        </p:txBody>
      </p:sp>
      <p:sp>
        <p:nvSpPr>
          <p:cNvPr id="1432" name="Google Shape;1432;p45"/>
          <p:cNvSpPr/>
          <p:nvPr/>
        </p:nvSpPr>
        <p:spPr>
          <a:xfrm>
            <a:off x="4187952"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3" name="Google Shape;1433;p45"/>
          <p:cNvSpPr/>
          <p:nvPr/>
        </p:nvSpPr>
        <p:spPr>
          <a:xfrm>
            <a:off x="4187952"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4" name="Google Shape;1434;p45"/>
          <p:cNvSpPr txBox="1"/>
          <p:nvPr/>
        </p:nvSpPr>
        <p:spPr>
          <a:xfrm>
            <a:off x="4206240"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C5</a:t>
            </a:r>
            <a:endParaRPr/>
          </a:p>
        </p:txBody>
      </p:sp>
      <p:sp>
        <p:nvSpPr>
          <p:cNvPr id="1435" name="Google Shape;1435;p45"/>
          <p:cNvSpPr txBox="1"/>
          <p:nvPr/>
        </p:nvSpPr>
        <p:spPr>
          <a:xfrm>
            <a:off x="4754880"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Tool Risk Gate + Mailbox</a:t>
            </a:r>
            <a:endParaRPr/>
          </a:p>
        </p:txBody>
      </p:sp>
      <p:sp>
        <p:nvSpPr>
          <p:cNvPr id="1436" name="Google Shape;1436;p45"/>
          <p:cNvSpPr txBox="1"/>
          <p:nvPr/>
        </p:nvSpPr>
        <p:spPr>
          <a:xfrm>
            <a:off x="4297680"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Every tool call is risk-classified before execution. High-risk ops route to Commander for human-in-the-loop approval.</a:t>
            </a:r>
            <a:endParaRPr/>
          </a:p>
        </p:txBody>
      </p:sp>
      <p:sp>
        <p:nvSpPr>
          <p:cNvPr id="1437" name="Google Shape;1437;p45"/>
          <p:cNvSpPr/>
          <p:nvPr/>
        </p:nvSpPr>
        <p:spPr>
          <a:xfrm>
            <a:off x="8101584"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8" name="Google Shape;1438;p45"/>
          <p:cNvSpPr/>
          <p:nvPr/>
        </p:nvSpPr>
        <p:spPr>
          <a:xfrm>
            <a:off x="8101584"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9" name="Google Shape;1439;p45"/>
          <p:cNvSpPr txBox="1"/>
          <p:nvPr/>
        </p:nvSpPr>
        <p:spPr>
          <a:xfrm>
            <a:off x="8119872"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C6</a:t>
            </a:r>
            <a:endParaRPr/>
          </a:p>
        </p:txBody>
      </p:sp>
      <p:sp>
        <p:nvSpPr>
          <p:cNvPr id="1440" name="Google Shape;1440;p45"/>
          <p:cNvSpPr txBox="1"/>
          <p:nvPr/>
        </p:nvSpPr>
        <p:spPr>
          <a:xfrm>
            <a:off x="8668512"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Lossless Context Compaction</a:t>
            </a:r>
            <a:endParaRPr/>
          </a:p>
        </p:txBody>
      </p:sp>
      <p:sp>
        <p:nvSpPr>
          <p:cNvPr id="1441" name="Google Shape;1441;p45"/>
          <p:cNvSpPr txBox="1"/>
          <p:nvPr/>
        </p:nvSpPr>
        <p:spPr>
          <a:xfrm>
            <a:off x="8211312"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ASG-backed three-layer compaction scheme reduces conversation history to near-zero without losing discovered findings.</a:t>
            </a:r>
            <a:endParaRPr/>
          </a:p>
        </p:txBody>
      </p:sp>
      <p:sp>
        <p:nvSpPr>
          <p:cNvPr id="1442" name="Google Shape;1442;p45"/>
          <p:cNvSpPr/>
          <p:nvPr/>
        </p:nvSpPr>
        <p:spPr>
          <a:xfrm>
            <a:off x="274320"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3" name="Google Shape;1443;p45"/>
          <p:cNvSpPr/>
          <p:nvPr/>
        </p:nvSpPr>
        <p:spPr>
          <a:xfrm>
            <a:off x="274320"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4" name="Google Shape;1444;p45"/>
          <p:cNvSpPr txBox="1"/>
          <p:nvPr/>
        </p:nvSpPr>
        <p:spPr>
          <a:xfrm>
            <a:off x="292608"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C7</a:t>
            </a:r>
            <a:endParaRPr/>
          </a:p>
        </p:txBody>
      </p:sp>
      <p:sp>
        <p:nvSpPr>
          <p:cNvPr id="1445" name="Google Shape;1445;p45"/>
          <p:cNvSpPr txBox="1"/>
          <p:nvPr/>
        </p:nvSpPr>
        <p:spPr>
          <a:xfrm>
            <a:off x="841248"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Methodology-as-Config</a:t>
            </a:r>
            <a:endParaRPr/>
          </a:p>
        </p:txBody>
      </p:sp>
      <p:sp>
        <p:nvSpPr>
          <p:cNvPr id="1446" name="Google Shape;1446;p45"/>
          <p:cNvSpPr txBox="1"/>
          <p:nvPr/>
        </p:nvSpPr>
        <p:spPr>
          <a:xfrm>
            <a:off x="384048"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Commander's planning policy is encoded as a versioned natural-language document, allowing methodology benchmarking.</a:t>
            </a:r>
            <a:endParaRPr/>
          </a:p>
        </p:txBody>
      </p:sp>
      <p:sp>
        <p:nvSpPr>
          <p:cNvPr id="1447" name="Google Shape;1447;p45"/>
          <p:cNvSpPr/>
          <p:nvPr/>
        </p:nvSpPr>
        <p:spPr>
          <a:xfrm>
            <a:off x="4187952"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8" name="Google Shape;1448;p45"/>
          <p:cNvSpPr/>
          <p:nvPr/>
        </p:nvSpPr>
        <p:spPr>
          <a:xfrm>
            <a:off x="4187952"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9" name="Google Shape;1449;p45"/>
          <p:cNvSpPr txBox="1"/>
          <p:nvPr/>
        </p:nvSpPr>
        <p:spPr>
          <a:xfrm>
            <a:off x="4206240"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C8</a:t>
            </a:r>
            <a:endParaRPr/>
          </a:p>
        </p:txBody>
      </p:sp>
      <p:sp>
        <p:nvSpPr>
          <p:cNvPr id="1450" name="Google Shape;1450;p45"/>
          <p:cNvSpPr txBox="1"/>
          <p:nvPr/>
        </p:nvSpPr>
        <p:spPr>
          <a:xfrm>
            <a:off x="4754880"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Dual-Graph Termination</a:t>
            </a:r>
            <a:endParaRPr/>
          </a:p>
        </p:txBody>
      </p:sp>
      <p:sp>
        <p:nvSpPr>
          <p:cNvPr id="1451" name="Google Shape;1451;p45"/>
          <p:cNvSpPr txBox="1"/>
          <p:nvPr/>
        </p:nvSpPr>
        <p:spPr>
          <a:xfrm>
            <a:off x="4297680"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Mission completion is formally defined as the conjunction of ASG exhaustion (no unexplored nodes) and APG resolution.</a:t>
            </a:r>
            <a:endParaRPr/>
          </a:p>
        </p:txBody>
      </p:sp>
      <p:sp>
        <p:nvSpPr>
          <p:cNvPr id="1452" name="Google Shape;1452;p45"/>
          <p:cNvSpPr/>
          <p:nvPr/>
        </p:nvSpPr>
        <p:spPr>
          <a:xfrm>
            <a:off x="8101584"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3" name="Google Shape;1453;p45"/>
          <p:cNvSpPr/>
          <p:nvPr/>
        </p:nvSpPr>
        <p:spPr>
          <a:xfrm>
            <a:off x="8101584"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4" name="Google Shape;1454;p45"/>
          <p:cNvSpPr txBox="1"/>
          <p:nvPr/>
        </p:nvSpPr>
        <p:spPr>
          <a:xfrm>
            <a:off x="8119872"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C9</a:t>
            </a:r>
            <a:endParaRPr/>
          </a:p>
        </p:txBody>
      </p:sp>
      <p:sp>
        <p:nvSpPr>
          <p:cNvPr id="1455" name="Google Shape;1455;p45"/>
          <p:cNvSpPr txBox="1"/>
          <p:nvPr/>
        </p:nvSpPr>
        <p:spPr>
          <a:xfrm>
            <a:off x="8668512"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Live CVE Grounding</a:t>
            </a:r>
            <a:endParaRPr/>
          </a:p>
        </p:txBody>
      </p:sp>
      <p:sp>
        <p:nvSpPr>
          <p:cNvPr id="1456" name="Google Shape;1456;p45"/>
          <p:cNvSpPr txBox="1"/>
          <p:nvPr/>
        </p:nvSpPr>
        <p:spPr>
          <a:xfrm>
            <a:off x="8211312"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Real-time vulnerability enrichment and exploit feasibility research via a scoped agent, written back into the ASG.</a:t>
            </a:r>
            <a:endParaRPr/>
          </a:p>
        </p:txBody>
      </p:sp>
      <p:sp>
        <p:nvSpPr>
          <p:cNvPr id="1457" name="Google Shape;1457;p45"/>
          <p:cNvSpPr/>
          <p:nvPr/>
        </p:nvSpPr>
        <p:spPr>
          <a:xfrm>
            <a:off x="274320"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8" name="Google Shape;1458;p45"/>
          <p:cNvSpPr/>
          <p:nvPr/>
        </p:nvSpPr>
        <p:spPr>
          <a:xfrm>
            <a:off x="274320"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9" name="Google Shape;1459;p45"/>
          <p:cNvSpPr txBox="1"/>
          <p:nvPr/>
        </p:nvSpPr>
        <p:spPr>
          <a:xfrm>
            <a:off x="292608"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C10</a:t>
            </a:r>
            <a:endParaRPr/>
          </a:p>
        </p:txBody>
      </p:sp>
      <p:sp>
        <p:nvSpPr>
          <p:cNvPr id="1460" name="Google Shape;1460;p45"/>
          <p:cNvSpPr txBox="1"/>
          <p:nvPr/>
        </p:nvSpPr>
        <p:spPr>
          <a:xfrm>
            <a:off x="841248"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Cross-Mission Experience</a:t>
            </a:r>
            <a:endParaRPr/>
          </a:p>
        </p:txBody>
      </p:sp>
      <p:sp>
        <p:nvSpPr>
          <p:cNvPr id="1461" name="Google Shape;1461;p45"/>
          <p:cNvSpPr txBox="1"/>
          <p:nvPr/>
        </p:nvSpPr>
        <p:spPr>
          <a:xfrm>
            <a:off x="384048"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Persistent RAG-backed store of validated exploitation outcomes across missions to seed APG hypotheses at mission start.</a:t>
            </a:r>
            <a:endParaRPr/>
          </a:p>
        </p:txBody>
      </p:sp>
      <p:sp>
        <p:nvSpPr>
          <p:cNvPr id="1462" name="Google Shape;1462;p45"/>
          <p:cNvSpPr/>
          <p:nvPr/>
        </p:nvSpPr>
        <p:spPr>
          <a:xfrm>
            <a:off x="4187952"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3" name="Google Shape;1463;p45"/>
          <p:cNvSpPr/>
          <p:nvPr/>
        </p:nvSpPr>
        <p:spPr>
          <a:xfrm>
            <a:off x="4187952"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4" name="Google Shape;1464;p45"/>
          <p:cNvSpPr txBox="1"/>
          <p:nvPr/>
        </p:nvSpPr>
        <p:spPr>
          <a:xfrm>
            <a:off x="4206240"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C11</a:t>
            </a:r>
            <a:endParaRPr/>
          </a:p>
        </p:txBody>
      </p:sp>
      <p:sp>
        <p:nvSpPr>
          <p:cNvPr id="1465" name="Google Shape;1465;p45"/>
          <p:cNvSpPr txBox="1"/>
          <p:nvPr/>
        </p:nvSpPr>
        <p:spPr>
          <a:xfrm>
            <a:off x="4754880"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Attack Strategy Library</a:t>
            </a:r>
            <a:endParaRPr/>
          </a:p>
        </p:txBody>
      </p:sp>
      <p:sp>
        <p:nvSpPr>
          <p:cNvPr id="1466" name="Google Shape;1466;p45"/>
          <p:cNvSpPr txBox="1"/>
          <p:nvPr/>
        </p:nvSpPr>
        <p:spPr>
          <a:xfrm>
            <a:off x="4297680"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Crystallizes validated chains into parameterized strategies when the same target fingerprint succeeds across missions.</a:t>
            </a:r>
            <a:endParaRPr/>
          </a:p>
        </p:txBody>
      </p:sp>
      <p:sp>
        <p:nvSpPr>
          <p:cNvPr id="1467" name="Google Shape;1467;p45"/>
          <p:cNvSpPr/>
          <p:nvPr/>
        </p:nvSpPr>
        <p:spPr>
          <a:xfrm>
            <a:off x="8101584"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8" name="Google Shape;1468;p45"/>
          <p:cNvSpPr/>
          <p:nvPr/>
        </p:nvSpPr>
        <p:spPr>
          <a:xfrm>
            <a:off x="8101584"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45"/>
          <p:cNvSpPr txBox="1"/>
          <p:nvPr/>
        </p:nvSpPr>
        <p:spPr>
          <a:xfrm>
            <a:off x="8119872"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C12</a:t>
            </a:r>
            <a:endParaRPr/>
          </a:p>
        </p:txBody>
      </p:sp>
      <p:sp>
        <p:nvSpPr>
          <p:cNvPr id="1470" name="Google Shape;1470;p45"/>
          <p:cNvSpPr txBox="1"/>
          <p:nvPr/>
        </p:nvSpPr>
        <p:spPr>
          <a:xfrm>
            <a:off x="8668512"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Trajectory Export Dataset</a:t>
            </a:r>
            <a:endParaRPr/>
          </a:p>
        </p:txBody>
      </p:sp>
      <p:sp>
        <p:nvSpPr>
          <p:cNvPr id="1471" name="Google Shape;1471;p45"/>
          <p:cNvSpPr txBox="1"/>
          <p:nvPr/>
        </p:nvSpPr>
        <p:spPr>
          <a:xfrm>
            <a:off x="8211312"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Every mission produces a machine-readable decision log capturing ASG/APG triggers, rationale, and actions taken.</a:t>
            </a:r>
            <a:endParaRPr/>
          </a:p>
        </p:txBody>
      </p:sp>
      <p:sp>
        <p:nvSpPr>
          <p:cNvPr id="1472" name="Google Shape;1472;p45"/>
          <p:cNvSpPr txBox="1"/>
          <p:nvPr/>
        </p:nvSpPr>
        <p:spPr>
          <a:xfrm>
            <a:off x="11780215"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D700"/>
                </a:solidFill>
                <a:latin typeface="Calibri"/>
                <a:ea typeface="Calibri"/>
                <a:cs typeface="Calibri"/>
                <a:sym typeface="Calibri"/>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476" name="Shape 1476"/>
        <p:cNvGrpSpPr/>
        <p:nvPr/>
      </p:nvGrpSpPr>
      <p:grpSpPr>
        <a:xfrm>
          <a:off x="0" y="0"/>
          <a:ext cx="0" cy="0"/>
          <a:chOff x="0" y="0"/>
          <a:chExt cx="0" cy="0"/>
        </a:xfrm>
      </p:grpSpPr>
      <p:sp>
        <p:nvSpPr>
          <p:cNvPr id="1477" name="Google Shape;1477;p46"/>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8" name="Google Shape;1478;p46"/>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9" name="Google Shape;1479;p46"/>
          <p:cNvSpPr/>
          <p:nvPr/>
        </p:nvSpPr>
        <p:spPr>
          <a:xfrm>
            <a:off x="54864" y="682142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0" name="Google Shape;1480;p46"/>
          <p:cNvSpPr txBox="1"/>
          <p:nvPr/>
        </p:nvSpPr>
        <p:spPr>
          <a:xfrm>
            <a:off x="274320" y="64008"/>
            <a:ext cx="7315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EVALUATION PLAN</a:t>
            </a:r>
            <a:endParaRPr b="0" i="0" sz="1400" u="none" cap="none" strike="noStrike">
              <a:solidFill>
                <a:srgbClr val="000000"/>
              </a:solidFill>
              <a:latin typeface="Arial"/>
              <a:ea typeface="Arial"/>
              <a:cs typeface="Arial"/>
              <a:sym typeface="Arial"/>
            </a:endParaRPr>
          </a:p>
        </p:txBody>
      </p:sp>
      <p:sp>
        <p:nvSpPr>
          <p:cNvPr id="1481" name="Google Shape;1481;p46"/>
          <p:cNvSpPr txBox="1"/>
          <p:nvPr/>
        </p:nvSpPr>
        <p:spPr>
          <a:xfrm>
            <a:off x="274320" y="292608"/>
            <a:ext cx="11430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How We Will Validate CMatrix Claims Empirically</a:t>
            </a:r>
            <a:endParaRPr b="0" i="0" sz="1400" u="none" cap="none" strike="noStrike">
              <a:solidFill>
                <a:srgbClr val="000000"/>
              </a:solidFill>
              <a:latin typeface="Arial"/>
              <a:ea typeface="Arial"/>
              <a:cs typeface="Arial"/>
              <a:sym typeface="Arial"/>
            </a:endParaRPr>
          </a:p>
        </p:txBody>
      </p:sp>
      <p:sp>
        <p:nvSpPr>
          <p:cNvPr id="1482" name="Google Shape;1482;p46"/>
          <p:cNvSpPr/>
          <p:nvPr/>
        </p:nvSpPr>
        <p:spPr>
          <a:xfrm>
            <a:off x="201168" y="987552"/>
            <a:ext cx="5852100" cy="2286000"/>
          </a:xfrm>
          <a:prstGeom prst="rect">
            <a:avLst/>
          </a:prstGeom>
          <a:solidFill>
            <a:srgbClr val="0C1022"/>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3" name="Google Shape;1483;p46"/>
          <p:cNvSpPr/>
          <p:nvPr/>
        </p:nvSpPr>
        <p:spPr>
          <a:xfrm>
            <a:off x="201168" y="987552"/>
            <a:ext cx="5852100" cy="2925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4" name="Google Shape;1484;p46"/>
          <p:cNvSpPr txBox="1"/>
          <p:nvPr/>
        </p:nvSpPr>
        <p:spPr>
          <a:xfrm>
            <a:off x="201168" y="1024128"/>
            <a:ext cx="58521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EVALUATION PLATFORMS</a:t>
            </a:r>
            <a:endParaRPr b="0" i="0" sz="1400" u="none" cap="none" strike="noStrike">
              <a:solidFill>
                <a:srgbClr val="000000"/>
              </a:solidFill>
              <a:latin typeface="Arial"/>
              <a:ea typeface="Arial"/>
              <a:cs typeface="Arial"/>
              <a:sym typeface="Arial"/>
            </a:endParaRPr>
          </a:p>
        </p:txBody>
      </p:sp>
      <p:sp>
        <p:nvSpPr>
          <p:cNvPr id="1485" name="Google Shape;1485;p46"/>
          <p:cNvSpPr/>
          <p:nvPr/>
        </p:nvSpPr>
        <p:spPr>
          <a:xfrm>
            <a:off x="292608" y="1335024"/>
            <a:ext cx="5669400" cy="567000"/>
          </a:xfrm>
          <a:prstGeom prst="rect">
            <a:avLst/>
          </a:prstGeom>
          <a:solidFill>
            <a:srgbClr val="081424"/>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6" name="Google Shape;1486;p46"/>
          <p:cNvSpPr txBox="1"/>
          <p:nvPr/>
        </p:nvSpPr>
        <p:spPr>
          <a:xfrm>
            <a:off x="384048" y="1371600"/>
            <a:ext cx="5559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HackTheBox (HTB)</a:t>
            </a:r>
            <a:endParaRPr b="0" i="0" sz="1400" u="none" cap="none" strike="noStrike">
              <a:solidFill>
                <a:srgbClr val="000000"/>
              </a:solidFill>
              <a:latin typeface="Arial"/>
              <a:ea typeface="Arial"/>
              <a:cs typeface="Arial"/>
              <a:sym typeface="Arial"/>
            </a:endParaRPr>
          </a:p>
        </p:txBody>
      </p:sp>
      <p:sp>
        <p:nvSpPr>
          <p:cNvPr id="1487" name="Google Shape;1487;p46"/>
          <p:cNvSpPr txBox="1"/>
          <p:nvPr/>
        </p:nvSpPr>
        <p:spPr>
          <a:xfrm>
            <a:off x="384048" y="1591056"/>
            <a:ext cx="555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Retired machines — Linux + Windows — known ground-truth vulnerabilities for coverage scoring.</a:t>
            </a:r>
            <a:endParaRPr b="0" i="0" sz="1400" u="none" cap="none" strike="noStrike">
              <a:solidFill>
                <a:srgbClr val="000000"/>
              </a:solidFill>
              <a:latin typeface="Arial"/>
              <a:ea typeface="Arial"/>
              <a:cs typeface="Arial"/>
              <a:sym typeface="Arial"/>
            </a:endParaRPr>
          </a:p>
        </p:txBody>
      </p:sp>
      <p:sp>
        <p:nvSpPr>
          <p:cNvPr id="1488" name="Google Shape;1488;p46"/>
          <p:cNvSpPr/>
          <p:nvPr/>
        </p:nvSpPr>
        <p:spPr>
          <a:xfrm>
            <a:off x="292608" y="1956816"/>
            <a:ext cx="5669400" cy="567000"/>
          </a:xfrm>
          <a:prstGeom prst="rect">
            <a:avLst/>
          </a:prstGeom>
          <a:solidFill>
            <a:srgbClr val="0814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9" name="Google Shape;1489;p46"/>
          <p:cNvSpPr txBox="1"/>
          <p:nvPr/>
        </p:nvSpPr>
        <p:spPr>
          <a:xfrm>
            <a:off x="384048" y="1993392"/>
            <a:ext cx="5559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TryHackMe (THM)</a:t>
            </a:r>
            <a:endParaRPr b="0" i="0" sz="1400" u="none" cap="none" strike="noStrike">
              <a:solidFill>
                <a:srgbClr val="000000"/>
              </a:solidFill>
              <a:latin typeface="Arial"/>
              <a:ea typeface="Arial"/>
              <a:cs typeface="Arial"/>
              <a:sym typeface="Arial"/>
            </a:endParaRPr>
          </a:p>
        </p:txBody>
      </p:sp>
      <p:sp>
        <p:nvSpPr>
          <p:cNvPr id="1490" name="Google Shape;1490;p46"/>
          <p:cNvSpPr txBox="1"/>
          <p:nvPr/>
        </p:nvSpPr>
        <p:spPr>
          <a:xfrm>
            <a:off x="384048" y="2212848"/>
            <a:ext cx="555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Guided CTF environments with intentionally vulnerable web applications and APIs.</a:t>
            </a:r>
            <a:endParaRPr b="0" i="0" sz="1400" u="none" cap="none" strike="noStrike">
              <a:solidFill>
                <a:srgbClr val="000000"/>
              </a:solidFill>
              <a:latin typeface="Arial"/>
              <a:ea typeface="Arial"/>
              <a:cs typeface="Arial"/>
              <a:sym typeface="Arial"/>
            </a:endParaRPr>
          </a:p>
        </p:txBody>
      </p:sp>
      <p:sp>
        <p:nvSpPr>
          <p:cNvPr id="1491" name="Google Shape;1491;p46"/>
          <p:cNvSpPr/>
          <p:nvPr/>
        </p:nvSpPr>
        <p:spPr>
          <a:xfrm>
            <a:off x="292608" y="2578608"/>
            <a:ext cx="5669400" cy="567000"/>
          </a:xfrm>
          <a:prstGeom prst="rect">
            <a:avLst/>
          </a:prstGeom>
          <a:solidFill>
            <a:srgbClr val="0814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2" name="Google Shape;1492;p46"/>
          <p:cNvSpPr txBox="1"/>
          <p:nvPr/>
        </p:nvSpPr>
        <p:spPr>
          <a:xfrm>
            <a:off x="384048" y="2615184"/>
            <a:ext cx="5559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Custom Lab VMs</a:t>
            </a:r>
            <a:endParaRPr b="0" i="0" sz="1400" u="none" cap="none" strike="noStrike">
              <a:solidFill>
                <a:srgbClr val="000000"/>
              </a:solidFill>
              <a:latin typeface="Arial"/>
              <a:ea typeface="Arial"/>
              <a:cs typeface="Arial"/>
              <a:sym typeface="Arial"/>
            </a:endParaRPr>
          </a:p>
        </p:txBody>
      </p:sp>
      <p:sp>
        <p:nvSpPr>
          <p:cNvPr id="1493" name="Google Shape;1493;p46"/>
          <p:cNvSpPr txBox="1"/>
          <p:nvPr/>
        </p:nvSpPr>
        <p:spPr>
          <a:xfrm>
            <a:off x="384048" y="2834640"/>
            <a:ext cx="55596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Controlled WordPress + Django stack mirroring shopvault.io for repeatable A/B testing.</a:t>
            </a:r>
            <a:endParaRPr b="0" i="0" sz="1400" u="none" cap="none" strike="noStrike">
              <a:solidFill>
                <a:srgbClr val="000000"/>
              </a:solidFill>
              <a:latin typeface="Arial"/>
              <a:ea typeface="Arial"/>
              <a:cs typeface="Arial"/>
              <a:sym typeface="Arial"/>
            </a:endParaRPr>
          </a:p>
        </p:txBody>
      </p:sp>
      <p:sp>
        <p:nvSpPr>
          <p:cNvPr id="1494" name="Google Shape;1494;p46"/>
          <p:cNvSpPr/>
          <p:nvPr/>
        </p:nvSpPr>
        <p:spPr>
          <a:xfrm>
            <a:off x="201175" y="3365000"/>
            <a:ext cx="5852100" cy="32919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5" name="Google Shape;1495;p46"/>
          <p:cNvSpPr/>
          <p:nvPr/>
        </p:nvSpPr>
        <p:spPr>
          <a:xfrm>
            <a:off x="201168" y="3364992"/>
            <a:ext cx="5852100" cy="2925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6" name="Google Shape;1496;p46"/>
          <p:cNvSpPr txBox="1"/>
          <p:nvPr/>
        </p:nvSpPr>
        <p:spPr>
          <a:xfrm>
            <a:off x="201168" y="3401568"/>
            <a:ext cx="58521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RESEARCH QUESTIONS</a:t>
            </a:r>
            <a:endParaRPr b="0" i="0" sz="1400" u="none" cap="none" strike="noStrike">
              <a:solidFill>
                <a:srgbClr val="000000"/>
              </a:solidFill>
              <a:latin typeface="Arial"/>
              <a:ea typeface="Arial"/>
              <a:cs typeface="Arial"/>
              <a:sym typeface="Arial"/>
            </a:endParaRPr>
          </a:p>
        </p:txBody>
      </p:sp>
      <p:sp>
        <p:nvSpPr>
          <p:cNvPr id="1497" name="Google Shape;1497;p46"/>
          <p:cNvSpPr/>
          <p:nvPr/>
        </p:nvSpPr>
        <p:spPr>
          <a:xfrm>
            <a:off x="292600" y="3712475"/>
            <a:ext cx="519300" cy="640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8" name="Google Shape;1498;p46"/>
          <p:cNvSpPr txBox="1"/>
          <p:nvPr/>
        </p:nvSpPr>
        <p:spPr>
          <a:xfrm>
            <a:off x="315685" y="3877067"/>
            <a:ext cx="4848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RQ 1</a:t>
            </a:r>
            <a:endParaRPr b="0" i="0" sz="1400" u="none" cap="none" strike="noStrike">
              <a:solidFill>
                <a:srgbClr val="000000"/>
              </a:solidFill>
              <a:latin typeface="Arial"/>
              <a:ea typeface="Arial"/>
              <a:cs typeface="Arial"/>
              <a:sym typeface="Arial"/>
            </a:endParaRPr>
          </a:p>
        </p:txBody>
      </p:sp>
      <p:sp>
        <p:nvSpPr>
          <p:cNvPr id="1499" name="Google Shape;1499;p46"/>
          <p:cNvSpPr txBox="1"/>
          <p:nvPr/>
        </p:nvSpPr>
        <p:spPr>
          <a:xfrm>
            <a:off x="768096" y="3749040"/>
            <a:ext cx="5175600" cy="58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Does the dual-graph architecture improve vulnerability coverage compared to a flat-memory baseline?</a:t>
            </a:r>
            <a:endParaRPr b="0" i="0" sz="1400" u="none" cap="none" strike="noStrike">
              <a:solidFill>
                <a:srgbClr val="000000"/>
              </a:solidFill>
              <a:latin typeface="Arial"/>
              <a:ea typeface="Arial"/>
              <a:cs typeface="Arial"/>
              <a:sym typeface="Arial"/>
            </a:endParaRPr>
          </a:p>
        </p:txBody>
      </p:sp>
      <p:sp>
        <p:nvSpPr>
          <p:cNvPr id="1500" name="Google Shape;1500;p46"/>
          <p:cNvSpPr/>
          <p:nvPr/>
        </p:nvSpPr>
        <p:spPr>
          <a:xfrm>
            <a:off x="292600" y="4462283"/>
            <a:ext cx="519300" cy="640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1" name="Google Shape;1501;p46"/>
          <p:cNvSpPr txBox="1"/>
          <p:nvPr/>
        </p:nvSpPr>
        <p:spPr>
          <a:xfrm>
            <a:off x="315685" y="4626875"/>
            <a:ext cx="4848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RQ 2</a:t>
            </a:r>
            <a:endParaRPr b="0" i="0" sz="1400" u="none" cap="none" strike="noStrike">
              <a:solidFill>
                <a:srgbClr val="000000"/>
              </a:solidFill>
              <a:latin typeface="Arial"/>
              <a:ea typeface="Arial"/>
              <a:cs typeface="Arial"/>
              <a:sym typeface="Arial"/>
            </a:endParaRPr>
          </a:p>
        </p:txBody>
      </p:sp>
      <p:sp>
        <p:nvSpPr>
          <p:cNvPr id="1502" name="Google Shape;1502;p46"/>
          <p:cNvSpPr txBox="1"/>
          <p:nvPr/>
        </p:nvSpPr>
        <p:spPr>
          <a:xfrm>
            <a:off x="768096" y="4498848"/>
            <a:ext cx="5175600" cy="58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Does formal dual termination reduce false-early-stops vs timer-based termination?</a:t>
            </a:r>
            <a:endParaRPr b="0" i="0" sz="1400" u="none" cap="none" strike="noStrike">
              <a:solidFill>
                <a:srgbClr val="000000"/>
              </a:solidFill>
              <a:latin typeface="Arial"/>
              <a:ea typeface="Arial"/>
              <a:cs typeface="Arial"/>
              <a:sym typeface="Arial"/>
            </a:endParaRPr>
          </a:p>
        </p:txBody>
      </p:sp>
      <p:sp>
        <p:nvSpPr>
          <p:cNvPr id="1503" name="Google Shape;1503;p46"/>
          <p:cNvSpPr/>
          <p:nvPr/>
        </p:nvSpPr>
        <p:spPr>
          <a:xfrm>
            <a:off x="292600" y="5212091"/>
            <a:ext cx="519300" cy="640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4" name="Google Shape;1504;p46"/>
          <p:cNvSpPr txBox="1"/>
          <p:nvPr/>
        </p:nvSpPr>
        <p:spPr>
          <a:xfrm>
            <a:off x="315685" y="5376683"/>
            <a:ext cx="4848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RQ 3</a:t>
            </a:r>
            <a:endParaRPr b="0" i="0" sz="1400" u="none" cap="none" strike="noStrike">
              <a:solidFill>
                <a:srgbClr val="000000"/>
              </a:solidFill>
              <a:latin typeface="Arial"/>
              <a:ea typeface="Arial"/>
              <a:cs typeface="Arial"/>
              <a:sym typeface="Arial"/>
            </a:endParaRPr>
          </a:p>
        </p:txBody>
      </p:sp>
      <p:sp>
        <p:nvSpPr>
          <p:cNvPr id="1505" name="Google Shape;1505;p46"/>
          <p:cNvSpPr txBox="1"/>
          <p:nvPr/>
        </p:nvSpPr>
        <p:spPr>
          <a:xfrm>
            <a:off x="768096" y="5248656"/>
            <a:ext cx="5175600" cy="58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Does cross-mission learning measurably reduce time-to-finding on repeat target-type engagements?</a:t>
            </a:r>
            <a:endParaRPr b="0" i="0" sz="1400" u="none" cap="none" strike="noStrike">
              <a:solidFill>
                <a:srgbClr val="000000"/>
              </a:solidFill>
              <a:latin typeface="Arial"/>
              <a:ea typeface="Arial"/>
              <a:cs typeface="Arial"/>
              <a:sym typeface="Arial"/>
            </a:endParaRPr>
          </a:p>
        </p:txBody>
      </p:sp>
      <p:sp>
        <p:nvSpPr>
          <p:cNvPr id="1506" name="Google Shape;1506;p46"/>
          <p:cNvSpPr/>
          <p:nvPr/>
        </p:nvSpPr>
        <p:spPr>
          <a:xfrm>
            <a:off x="292600" y="5961899"/>
            <a:ext cx="519300" cy="640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7" name="Google Shape;1507;p46"/>
          <p:cNvSpPr txBox="1"/>
          <p:nvPr/>
        </p:nvSpPr>
        <p:spPr>
          <a:xfrm>
            <a:off x="315685" y="6126491"/>
            <a:ext cx="4848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RQ 4</a:t>
            </a:r>
            <a:endParaRPr b="0" i="0" sz="1400" u="none" cap="none" strike="noStrike">
              <a:solidFill>
                <a:srgbClr val="000000"/>
              </a:solidFill>
              <a:latin typeface="Arial"/>
              <a:ea typeface="Arial"/>
              <a:cs typeface="Arial"/>
              <a:sym typeface="Arial"/>
            </a:endParaRPr>
          </a:p>
        </p:txBody>
      </p:sp>
      <p:sp>
        <p:nvSpPr>
          <p:cNvPr id="1508" name="Google Shape;1508;p46"/>
          <p:cNvSpPr txBox="1"/>
          <p:nvPr/>
        </p:nvSpPr>
        <p:spPr>
          <a:xfrm>
            <a:off x="768096" y="5998464"/>
            <a:ext cx="5175600" cy="58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Does the risk gate reduce unintended offensive actions without significantly reducing coverage?</a:t>
            </a:r>
            <a:endParaRPr b="0" i="0" sz="1400" u="none" cap="none" strike="noStrike">
              <a:solidFill>
                <a:srgbClr val="000000"/>
              </a:solidFill>
              <a:latin typeface="Arial"/>
              <a:ea typeface="Arial"/>
              <a:cs typeface="Arial"/>
              <a:sym typeface="Arial"/>
            </a:endParaRPr>
          </a:p>
        </p:txBody>
      </p:sp>
      <p:sp>
        <p:nvSpPr>
          <p:cNvPr id="1509" name="Google Shape;1509;p46"/>
          <p:cNvSpPr/>
          <p:nvPr/>
        </p:nvSpPr>
        <p:spPr>
          <a:xfrm>
            <a:off x="6181344" y="987552"/>
            <a:ext cx="5809200" cy="2103000"/>
          </a:xfrm>
          <a:prstGeom prst="rect">
            <a:avLst/>
          </a:prstGeom>
          <a:solidFill>
            <a:srgbClr val="061408"/>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0" name="Google Shape;1510;p46"/>
          <p:cNvSpPr/>
          <p:nvPr/>
        </p:nvSpPr>
        <p:spPr>
          <a:xfrm>
            <a:off x="6181344" y="987552"/>
            <a:ext cx="5809200" cy="2925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1" name="Google Shape;1511;p46"/>
          <p:cNvSpPr txBox="1"/>
          <p:nvPr/>
        </p:nvSpPr>
        <p:spPr>
          <a:xfrm>
            <a:off x="6181344" y="1024128"/>
            <a:ext cx="5809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EVALUATION METRICS</a:t>
            </a:r>
            <a:endParaRPr b="0" i="0" sz="1400" u="none" cap="none" strike="noStrike">
              <a:solidFill>
                <a:srgbClr val="000000"/>
              </a:solidFill>
              <a:latin typeface="Arial"/>
              <a:ea typeface="Arial"/>
              <a:cs typeface="Arial"/>
              <a:sym typeface="Arial"/>
            </a:endParaRPr>
          </a:p>
        </p:txBody>
      </p:sp>
      <p:sp>
        <p:nvSpPr>
          <p:cNvPr id="1512" name="Google Shape;1512;p46"/>
          <p:cNvSpPr/>
          <p:nvPr/>
        </p:nvSpPr>
        <p:spPr>
          <a:xfrm>
            <a:off x="6272784" y="1335024"/>
            <a:ext cx="5626200" cy="310800"/>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3" name="Google Shape;1513;p46"/>
          <p:cNvSpPr txBox="1"/>
          <p:nvPr/>
        </p:nvSpPr>
        <p:spPr>
          <a:xfrm>
            <a:off x="6345936" y="1371600"/>
            <a:ext cx="1691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Vulnerability Coverage</a:t>
            </a:r>
            <a:endParaRPr b="0" i="0" sz="1400" u="none" cap="none" strike="noStrike">
              <a:solidFill>
                <a:srgbClr val="000000"/>
              </a:solidFill>
              <a:latin typeface="Arial"/>
              <a:ea typeface="Arial"/>
              <a:cs typeface="Arial"/>
              <a:sym typeface="Arial"/>
            </a:endParaRPr>
          </a:p>
        </p:txBody>
      </p:sp>
      <p:sp>
        <p:nvSpPr>
          <p:cNvPr id="1514" name="Google Shape;1514;p46"/>
          <p:cNvSpPr txBox="1"/>
          <p:nvPr/>
        </p:nvSpPr>
        <p:spPr>
          <a:xfrm>
            <a:off x="8083296" y="1371600"/>
            <a:ext cx="3797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of known vulns discovered vs ground truth per machine</a:t>
            </a:r>
            <a:endParaRPr b="0" i="0" sz="1400" u="none" cap="none" strike="noStrike">
              <a:solidFill>
                <a:srgbClr val="000000"/>
              </a:solidFill>
              <a:latin typeface="Arial"/>
              <a:ea typeface="Arial"/>
              <a:cs typeface="Arial"/>
              <a:sym typeface="Arial"/>
            </a:endParaRPr>
          </a:p>
        </p:txBody>
      </p:sp>
      <p:sp>
        <p:nvSpPr>
          <p:cNvPr id="1515" name="Google Shape;1515;p46"/>
          <p:cNvSpPr/>
          <p:nvPr/>
        </p:nvSpPr>
        <p:spPr>
          <a:xfrm>
            <a:off x="6272784" y="1682496"/>
            <a:ext cx="5626200" cy="310800"/>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6" name="Google Shape;1516;p46"/>
          <p:cNvSpPr txBox="1"/>
          <p:nvPr/>
        </p:nvSpPr>
        <p:spPr>
          <a:xfrm>
            <a:off x="6345936" y="1719072"/>
            <a:ext cx="1691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Chain Precision</a:t>
            </a:r>
            <a:endParaRPr b="0" i="0" sz="1400" u="none" cap="none" strike="noStrike">
              <a:solidFill>
                <a:srgbClr val="000000"/>
              </a:solidFill>
              <a:latin typeface="Arial"/>
              <a:ea typeface="Arial"/>
              <a:cs typeface="Arial"/>
              <a:sym typeface="Arial"/>
            </a:endParaRPr>
          </a:p>
        </p:txBody>
      </p:sp>
      <p:sp>
        <p:nvSpPr>
          <p:cNvPr id="1517" name="Google Shape;1517;p46"/>
          <p:cNvSpPr txBox="1"/>
          <p:nvPr/>
        </p:nvSpPr>
        <p:spPr>
          <a:xfrm>
            <a:off x="8083296" y="1719072"/>
            <a:ext cx="3797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of APG AttackChains that result in VALIDATED status</a:t>
            </a:r>
            <a:endParaRPr b="0" i="0" sz="1400" u="none" cap="none" strike="noStrike">
              <a:solidFill>
                <a:srgbClr val="000000"/>
              </a:solidFill>
              <a:latin typeface="Arial"/>
              <a:ea typeface="Arial"/>
              <a:cs typeface="Arial"/>
              <a:sym typeface="Arial"/>
            </a:endParaRPr>
          </a:p>
        </p:txBody>
      </p:sp>
      <p:sp>
        <p:nvSpPr>
          <p:cNvPr id="1518" name="Google Shape;1518;p46"/>
          <p:cNvSpPr/>
          <p:nvPr/>
        </p:nvSpPr>
        <p:spPr>
          <a:xfrm>
            <a:off x="6272784" y="2029968"/>
            <a:ext cx="5626200" cy="310800"/>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9" name="Google Shape;1519;p46"/>
          <p:cNvSpPr txBox="1"/>
          <p:nvPr/>
        </p:nvSpPr>
        <p:spPr>
          <a:xfrm>
            <a:off x="6345936" y="2066544"/>
            <a:ext cx="1691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Time-to-Finding</a:t>
            </a:r>
            <a:endParaRPr b="0" i="0" sz="1400" u="none" cap="none" strike="noStrike">
              <a:solidFill>
                <a:srgbClr val="000000"/>
              </a:solidFill>
              <a:latin typeface="Arial"/>
              <a:ea typeface="Arial"/>
              <a:cs typeface="Arial"/>
              <a:sym typeface="Arial"/>
            </a:endParaRPr>
          </a:p>
        </p:txBody>
      </p:sp>
      <p:sp>
        <p:nvSpPr>
          <p:cNvPr id="1520" name="Google Shape;1520;p46"/>
          <p:cNvSpPr txBox="1"/>
          <p:nvPr/>
        </p:nvSpPr>
        <p:spPr>
          <a:xfrm>
            <a:off x="8083296" y="2066544"/>
            <a:ext cx="3797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Wall-clock time from mission start to first VALIDATED chain</a:t>
            </a:r>
            <a:endParaRPr b="0" i="0" sz="1400" u="none" cap="none" strike="noStrike">
              <a:solidFill>
                <a:srgbClr val="000000"/>
              </a:solidFill>
              <a:latin typeface="Arial"/>
              <a:ea typeface="Arial"/>
              <a:cs typeface="Arial"/>
              <a:sym typeface="Arial"/>
            </a:endParaRPr>
          </a:p>
        </p:txBody>
      </p:sp>
      <p:sp>
        <p:nvSpPr>
          <p:cNvPr id="1521" name="Google Shape;1521;p46"/>
          <p:cNvSpPr/>
          <p:nvPr/>
        </p:nvSpPr>
        <p:spPr>
          <a:xfrm>
            <a:off x="6272784" y="2377440"/>
            <a:ext cx="5626200" cy="310800"/>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2" name="Google Shape;1522;p46"/>
          <p:cNvSpPr txBox="1"/>
          <p:nvPr/>
        </p:nvSpPr>
        <p:spPr>
          <a:xfrm>
            <a:off x="6345936" y="2414016"/>
            <a:ext cx="1691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False Early-Stop Rate</a:t>
            </a:r>
            <a:endParaRPr b="0" i="0" sz="1400" u="none" cap="none" strike="noStrike">
              <a:solidFill>
                <a:srgbClr val="000000"/>
              </a:solidFill>
              <a:latin typeface="Arial"/>
              <a:ea typeface="Arial"/>
              <a:cs typeface="Arial"/>
              <a:sym typeface="Arial"/>
            </a:endParaRPr>
          </a:p>
        </p:txBody>
      </p:sp>
      <p:sp>
        <p:nvSpPr>
          <p:cNvPr id="1523" name="Google Shape;1523;p46"/>
          <p:cNvSpPr txBox="1"/>
          <p:nvPr/>
        </p:nvSpPr>
        <p:spPr>
          <a:xfrm>
            <a:off x="8083296" y="2414016"/>
            <a:ext cx="3797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of missions terminated before surface exhaustion</a:t>
            </a:r>
            <a:endParaRPr b="0" i="0" sz="1400" u="none" cap="none" strike="noStrike">
              <a:solidFill>
                <a:srgbClr val="000000"/>
              </a:solidFill>
              <a:latin typeface="Arial"/>
              <a:ea typeface="Arial"/>
              <a:cs typeface="Arial"/>
              <a:sym typeface="Arial"/>
            </a:endParaRPr>
          </a:p>
        </p:txBody>
      </p:sp>
      <p:sp>
        <p:nvSpPr>
          <p:cNvPr id="1524" name="Google Shape;1524;p46"/>
          <p:cNvSpPr/>
          <p:nvPr/>
        </p:nvSpPr>
        <p:spPr>
          <a:xfrm>
            <a:off x="6272784" y="2724912"/>
            <a:ext cx="5626200" cy="310800"/>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5" name="Google Shape;1525;p46"/>
          <p:cNvSpPr txBox="1"/>
          <p:nvPr/>
        </p:nvSpPr>
        <p:spPr>
          <a:xfrm>
            <a:off x="6345936" y="2761488"/>
            <a:ext cx="1691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Tool Call Efficiency</a:t>
            </a:r>
            <a:endParaRPr b="0" i="0" sz="1400" u="none" cap="none" strike="noStrike">
              <a:solidFill>
                <a:srgbClr val="000000"/>
              </a:solidFill>
              <a:latin typeface="Arial"/>
              <a:ea typeface="Arial"/>
              <a:cs typeface="Arial"/>
              <a:sym typeface="Arial"/>
            </a:endParaRPr>
          </a:p>
        </p:txBody>
      </p:sp>
      <p:sp>
        <p:nvSpPr>
          <p:cNvPr id="1526" name="Google Shape;1526;p46"/>
          <p:cNvSpPr txBox="1"/>
          <p:nvPr/>
        </p:nvSpPr>
        <p:spPr>
          <a:xfrm>
            <a:off x="8083296" y="2761488"/>
            <a:ext cx="37974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Mean tool calls to first VALIDATED chain per target</a:t>
            </a:r>
            <a:endParaRPr b="0" i="0" sz="1400" u="none" cap="none" strike="noStrike">
              <a:solidFill>
                <a:srgbClr val="000000"/>
              </a:solidFill>
              <a:latin typeface="Arial"/>
              <a:ea typeface="Arial"/>
              <a:cs typeface="Arial"/>
              <a:sym typeface="Arial"/>
            </a:endParaRPr>
          </a:p>
        </p:txBody>
      </p:sp>
      <p:sp>
        <p:nvSpPr>
          <p:cNvPr id="1527" name="Google Shape;1527;p46"/>
          <p:cNvSpPr/>
          <p:nvPr/>
        </p:nvSpPr>
        <p:spPr>
          <a:xfrm>
            <a:off x="6181344" y="3182112"/>
            <a:ext cx="5809200" cy="1463100"/>
          </a:xfrm>
          <a:prstGeom prst="rect">
            <a:avLst/>
          </a:prstGeom>
          <a:solidFill>
            <a:srgbClr val="18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8" name="Google Shape;1528;p46"/>
          <p:cNvSpPr/>
          <p:nvPr/>
        </p:nvSpPr>
        <p:spPr>
          <a:xfrm>
            <a:off x="6181344" y="3182112"/>
            <a:ext cx="5809200" cy="2925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9" name="Google Shape;1529;p46"/>
          <p:cNvSpPr txBox="1"/>
          <p:nvPr/>
        </p:nvSpPr>
        <p:spPr>
          <a:xfrm>
            <a:off x="6181344" y="3218688"/>
            <a:ext cx="5809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BASELINES</a:t>
            </a:r>
            <a:endParaRPr b="0" i="0" sz="1400" u="none" cap="none" strike="noStrike">
              <a:solidFill>
                <a:srgbClr val="000000"/>
              </a:solidFill>
              <a:latin typeface="Arial"/>
              <a:ea typeface="Arial"/>
              <a:cs typeface="Arial"/>
              <a:sym typeface="Arial"/>
            </a:endParaRPr>
          </a:p>
        </p:txBody>
      </p:sp>
      <p:sp>
        <p:nvSpPr>
          <p:cNvPr id="1530" name="Google Shape;1530;p46"/>
          <p:cNvSpPr txBox="1"/>
          <p:nvPr/>
        </p:nvSpPr>
        <p:spPr>
          <a:xfrm>
            <a:off x="6327648" y="3529584"/>
            <a:ext cx="55533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PentestGPT:  Task-tree memory, no ASG/APG graph split  →  tests RQ1</a:t>
            </a:r>
            <a:endParaRPr b="0" i="0" sz="1400" u="none" cap="none" strike="noStrike">
              <a:solidFill>
                <a:srgbClr val="000000"/>
              </a:solidFill>
              <a:latin typeface="Arial"/>
              <a:ea typeface="Arial"/>
              <a:cs typeface="Arial"/>
              <a:sym typeface="Arial"/>
            </a:endParaRPr>
          </a:p>
        </p:txBody>
      </p:sp>
      <p:sp>
        <p:nvSpPr>
          <p:cNvPr id="1531" name="Google Shape;1531;p46"/>
          <p:cNvSpPr txBox="1"/>
          <p:nvPr/>
        </p:nvSpPr>
        <p:spPr>
          <a:xfrm>
            <a:off x="6327648" y="3895344"/>
            <a:ext cx="55533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VulnBot:  Single unified PTG, no surface/path separation  →  tests RQ1</a:t>
            </a:r>
            <a:endParaRPr b="0" i="0" sz="1400" u="none" cap="none" strike="noStrike">
              <a:solidFill>
                <a:srgbClr val="000000"/>
              </a:solidFill>
              <a:latin typeface="Arial"/>
              <a:ea typeface="Arial"/>
              <a:cs typeface="Arial"/>
              <a:sym typeface="Arial"/>
            </a:endParaRPr>
          </a:p>
        </p:txBody>
      </p:sp>
      <p:sp>
        <p:nvSpPr>
          <p:cNvPr id="1532" name="Google Shape;1532;p46"/>
          <p:cNvSpPr txBox="1"/>
          <p:nvPr/>
        </p:nvSpPr>
        <p:spPr>
          <a:xfrm>
            <a:off x="6327648" y="4261104"/>
            <a:ext cx="55533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PentestAgent:  RAG-retrieval memory, no cross-mission learning  →  tests RQ3</a:t>
            </a:r>
            <a:endParaRPr b="0" i="0" sz="1400" u="none" cap="none" strike="noStrike">
              <a:solidFill>
                <a:srgbClr val="000000"/>
              </a:solidFill>
              <a:latin typeface="Arial"/>
              <a:ea typeface="Arial"/>
              <a:cs typeface="Arial"/>
              <a:sym typeface="Arial"/>
            </a:endParaRPr>
          </a:p>
        </p:txBody>
      </p:sp>
      <p:sp>
        <p:nvSpPr>
          <p:cNvPr id="1533" name="Google Shape;1533;p46"/>
          <p:cNvSpPr/>
          <p:nvPr/>
        </p:nvSpPr>
        <p:spPr>
          <a:xfrm>
            <a:off x="6181350" y="4736600"/>
            <a:ext cx="5809200" cy="1920300"/>
          </a:xfrm>
          <a:prstGeom prst="rect">
            <a:avLst/>
          </a:prstGeom>
          <a:solidFill>
            <a:srgbClr val="081022"/>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4" name="Google Shape;1534;p46"/>
          <p:cNvSpPr/>
          <p:nvPr/>
        </p:nvSpPr>
        <p:spPr>
          <a:xfrm>
            <a:off x="6181344" y="4736592"/>
            <a:ext cx="5809200" cy="2925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5" name="Google Shape;1535;p46"/>
          <p:cNvSpPr txBox="1"/>
          <p:nvPr/>
        </p:nvSpPr>
        <p:spPr>
          <a:xfrm>
            <a:off x="6181344" y="4773168"/>
            <a:ext cx="5809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ABLATION STUDY</a:t>
            </a:r>
            <a:endParaRPr b="0" i="0" sz="1400" u="none" cap="none" strike="noStrike">
              <a:solidFill>
                <a:srgbClr val="000000"/>
              </a:solidFill>
              <a:latin typeface="Arial"/>
              <a:ea typeface="Arial"/>
              <a:cs typeface="Arial"/>
              <a:sym typeface="Arial"/>
            </a:endParaRPr>
          </a:p>
        </p:txBody>
      </p:sp>
      <p:sp>
        <p:nvSpPr>
          <p:cNvPr id="1536" name="Google Shape;1536;p46"/>
          <p:cNvSpPr/>
          <p:nvPr/>
        </p:nvSpPr>
        <p:spPr>
          <a:xfrm>
            <a:off x="6272784" y="5084064"/>
            <a:ext cx="5626200" cy="36570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7" name="Google Shape;1537;p46"/>
          <p:cNvSpPr txBox="1"/>
          <p:nvPr/>
        </p:nvSpPr>
        <p:spPr>
          <a:xfrm>
            <a:off x="6345936" y="5120640"/>
            <a:ext cx="14631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A1 — No dual-graph</a:t>
            </a:r>
            <a:endParaRPr b="0" i="0" sz="1400" u="none" cap="none" strike="noStrike">
              <a:solidFill>
                <a:srgbClr val="000000"/>
              </a:solidFill>
              <a:latin typeface="Arial"/>
              <a:ea typeface="Arial"/>
              <a:cs typeface="Arial"/>
              <a:sym typeface="Arial"/>
            </a:endParaRPr>
          </a:p>
        </p:txBody>
      </p:sp>
      <p:sp>
        <p:nvSpPr>
          <p:cNvPr id="1538" name="Google Shape;1538;p46"/>
          <p:cNvSpPr txBox="1"/>
          <p:nvPr/>
        </p:nvSpPr>
        <p:spPr>
          <a:xfrm>
            <a:off x="7845552" y="5120640"/>
            <a:ext cx="3998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CMatrix with flat history only (remove ASG + APG)</a:t>
            </a:r>
            <a:endParaRPr b="0" i="0" sz="1400" u="none" cap="none" strike="noStrike">
              <a:solidFill>
                <a:srgbClr val="000000"/>
              </a:solidFill>
              <a:latin typeface="Arial"/>
              <a:ea typeface="Arial"/>
              <a:cs typeface="Arial"/>
              <a:sym typeface="Arial"/>
            </a:endParaRPr>
          </a:p>
        </p:txBody>
      </p:sp>
      <p:sp>
        <p:nvSpPr>
          <p:cNvPr id="1539" name="Google Shape;1539;p46"/>
          <p:cNvSpPr/>
          <p:nvPr/>
        </p:nvSpPr>
        <p:spPr>
          <a:xfrm>
            <a:off x="6272784" y="5504688"/>
            <a:ext cx="5626200" cy="36570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0" name="Google Shape;1540;p46"/>
          <p:cNvSpPr txBox="1"/>
          <p:nvPr/>
        </p:nvSpPr>
        <p:spPr>
          <a:xfrm>
            <a:off x="6345936" y="5541264"/>
            <a:ext cx="14631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A2 — ASG only</a:t>
            </a:r>
            <a:endParaRPr b="0" i="0" sz="1400" u="none" cap="none" strike="noStrike">
              <a:solidFill>
                <a:srgbClr val="000000"/>
              </a:solidFill>
              <a:latin typeface="Arial"/>
              <a:ea typeface="Arial"/>
              <a:cs typeface="Arial"/>
              <a:sym typeface="Arial"/>
            </a:endParaRPr>
          </a:p>
        </p:txBody>
      </p:sp>
      <p:sp>
        <p:nvSpPr>
          <p:cNvPr id="1541" name="Google Shape;1541;p46"/>
          <p:cNvSpPr txBox="1"/>
          <p:nvPr/>
        </p:nvSpPr>
        <p:spPr>
          <a:xfrm>
            <a:off x="7845552" y="5541264"/>
            <a:ext cx="3998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CMatrix with ASG discovery but no APG reasoning</a:t>
            </a:r>
            <a:endParaRPr b="0" i="0" sz="1400" u="none" cap="none" strike="noStrike">
              <a:solidFill>
                <a:srgbClr val="000000"/>
              </a:solidFill>
              <a:latin typeface="Arial"/>
              <a:ea typeface="Arial"/>
              <a:cs typeface="Arial"/>
              <a:sym typeface="Arial"/>
            </a:endParaRPr>
          </a:p>
        </p:txBody>
      </p:sp>
      <p:sp>
        <p:nvSpPr>
          <p:cNvPr id="1542" name="Google Shape;1542;p46"/>
          <p:cNvSpPr/>
          <p:nvPr/>
        </p:nvSpPr>
        <p:spPr>
          <a:xfrm>
            <a:off x="6272784" y="5925312"/>
            <a:ext cx="5626200" cy="36570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3" name="Google Shape;1543;p46"/>
          <p:cNvSpPr txBox="1"/>
          <p:nvPr/>
        </p:nvSpPr>
        <p:spPr>
          <a:xfrm>
            <a:off x="6345936" y="5961888"/>
            <a:ext cx="14631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A3 — No compaction</a:t>
            </a:r>
            <a:endParaRPr b="0" i="0" sz="1400" u="none" cap="none" strike="noStrike">
              <a:solidFill>
                <a:srgbClr val="000000"/>
              </a:solidFill>
              <a:latin typeface="Arial"/>
              <a:ea typeface="Arial"/>
              <a:cs typeface="Arial"/>
              <a:sym typeface="Arial"/>
            </a:endParaRPr>
          </a:p>
        </p:txBody>
      </p:sp>
      <p:sp>
        <p:nvSpPr>
          <p:cNvPr id="1544" name="Google Shape;1544;p46"/>
          <p:cNvSpPr txBox="1"/>
          <p:nvPr/>
        </p:nvSpPr>
        <p:spPr>
          <a:xfrm>
            <a:off x="7845552" y="5961888"/>
            <a:ext cx="399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CMatrix with unlimited raw history, no l</a:t>
            </a:r>
            <a:r>
              <a:rPr lang="en-US" sz="900">
                <a:solidFill>
                  <a:srgbClr val="A0AAB8"/>
                </a:solidFill>
                <a:latin typeface="Calibri"/>
                <a:ea typeface="Calibri"/>
                <a:cs typeface="Calibri"/>
                <a:sym typeface="Calibri"/>
              </a:rPr>
              <a:t>ossless context compaction</a:t>
            </a:r>
            <a:endParaRPr sz="900">
              <a:solidFill>
                <a:srgbClr val="A0AAB8"/>
              </a:solidFill>
            </a:endParaRPr>
          </a:p>
          <a:p>
            <a:pPr indent="0" lvl="0" marL="0" marR="0" rtl="0" algn="l">
              <a:lnSpc>
                <a:spcPct val="100000"/>
              </a:lnSpc>
              <a:spcBef>
                <a:spcPts val="0"/>
              </a:spcBef>
              <a:spcAft>
                <a:spcPts val="0"/>
              </a:spcAft>
              <a:buClr>
                <a:srgbClr val="000000"/>
              </a:buClr>
              <a:buSzPts val="900"/>
              <a:buFont typeface="Arial"/>
              <a:buNone/>
            </a:pPr>
            <a:r>
              <a:t/>
            </a:r>
            <a:endParaRPr sz="900">
              <a:solidFill>
                <a:srgbClr val="A0AAB8"/>
              </a:solidFill>
              <a:latin typeface="Calibri"/>
              <a:ea typeface="Calibri"/>
              <a:cs typeface="Calibri"/>
              <a:sym typeface="Calibri"/>
            </a:endParaRPr>
          </a:p>
        </p:txBody>
      </p:sp>
      <p:sp>
        <p:nvSpPr>
          <p:cNvPr id="1545" name="Google Shape;1545;p46"/>
          <p:cNvSpPr/>
          <p:nvPr/>
        </p:nvSpPr>
        <p:spPr>
          <a:xfrm>
            <a:off x="6272784" y="6217911"/>
            <a:ext cx="5626200" cy="36570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6" name="Google Shape;1546;p46"/>
          <p:cNvSpPr txBox="1"/>
          <p:nvPr/>
        </p:nvSpPr>
        <p:spPr>
          <a:xfrm>
            <a:off x="6345936" y="6310235"/>
            <a:ext cx="14631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A4 — No learning</a:t>
            </a:r>
            <a:endParaRPr b="0" i="0" sz="1400" u="none" cap="none" strike="noStrike">
              <a:solidFill>
                <a:srgbClr val="000000"/>
              </a:solidFill>
              <a:latin typeface="Arial"/>
              <a:ea typeface="Arial"/>
              <a:cs typeface="Arial"/>
              <a:sym typeface="Arial"/>
            </a:endParaRPr>
          </a:p>
        </p:txBody>
      </p:sp>
      <p:sp>
        <p:nvSpPr>
          <p:cNvPr id="1547" name="Google Shape;1547;p46"/>
          <p:cNvSpPr txBox="1"/>
          <p:nvPr/>
        </p:nvSpPr>
        <p:spPr>
          <a:xfrm>
            <a:off x="7845552" y="6310235"/>
            <a:ext cx="399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CMatrix without cross-mission </a:t>
            </a:r>
            <a:r>
              <a:rPr lang="en-US" sz="900">
                <a:solidFill>
                  <a:srgbClr val="A0AAB8"/>
                </a:solidFill>
                <a:latin typeface="Calibri"/>
                <a:ea typeface="Calibri"/>
                <a:cs typeface="Calibri"/>
                <a:sym typeface="Calibri"/>
              </a:rPr>
              <a:t>experience and</a:t>
            </a:r>
            <a:r>
              <a:rPr b="0" i="0" lang="en-US" sz="900" u="none" cap="none" strike="noStrike">
                <a:solidFill>
                  <a:srgbClr val="A0AAB8"/>
                </a:solidFill>
                <a:latin typeface="Calibri"/>
                <a:ea typeface="Calibri"/>
                <a:cs typeface="Calibri"/>
                <a:sym typeface="Calibri"/>
              </a:rPr>
              <a:t> </a:t>
            </a:r>
            <a:r>
              <a:rPr lang="en-US" sz="900">
                <a:solidFill>
                  <a:srgbClr val="A0AAB8"/>
                </a:solidFill>
                <a:latin typeface="Calibri"/>
                <a:ea typeface="Calibri"/>
                <a:cs typeface="Calibri"/>
                <a:sym typeface="Calibri"/>
              </a:rPr>
              <a:t>attack strategy library</a:t>
            </a:r>
            <a:endParaRPr sz="900">
              <a:solidFill>
                <a:srgbClr val="A0AAB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solidFill>
                <a:srgbClr val="A0AAB8"/>
              </a:solidFill>
              <a:latin typeface="Calibri"/>
              <a:ea typeface="Calibri"/>
              <a:cs typeface="Calibri"/>
              <a:sym typeface="Calibri"/>
            </a:endParaRPr>
          </a:p>
        </p:txBody>
      </p:sp>
      <p:sp>
        <p:nvSpPr>
          <p:cNvPr id="1548" name="Google Shape;1548;p46"/>
          <p:cNvSpPr txBox="1"/>
          <p:nvPr/>
        </p:nvSpPr>
        <p:spPr>
          <a:xfrm>
            <a:off x="11794729" y="63137"/>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18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552" name="Shape 1552"/>
        <p:cNvGrpSpPr/>
        <p:nvPr/>
      </p:nvGrpSpPr>
      <p:grpSpPr>
        <a:xfrm>
          <a:off x="0" y="0"/>
          <a:ext cx="0" cy="0"/>
          <a:chOff x="0" y="0"/>
          <a:chExt cx="0" cy="0"/>
        </a:xfrm>
      </p:grpSpPr>
      <p:sp>
        <p:nvSpPr>
          <p:cNvPr id="1553" name="Google Shape;1553;p47"/>
          <p:cNvSpPr/>
          <p:nvPr/>
        </p:nvSpPr>
        <p:spPr>
          <a:xfrm>
            <a:off x="0" y="0"/>
            <a:ext cx="54900"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4" name="Google Shape;1554;p47"/>
          <p:cNvSpPr/>
          <p:nvPr/>
        </p:nvSpPr>
        <p:spPr>
          <a:xfrm>
            <a:off x="54864" y="0"/>
            <a:ext cx="12136800" cy="36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5" name="Google Shape;1555;p47"/>
          <p:cNvSpPr/>
          <p:nvPr/>
        </p:nvSpPr>
        <p:spPr>
          <a:xfrm>
            <a:off x="54864" y="6821424"/>
            <a:ext cx="12136800" cy="36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6" name="Google Shape;1556;p47"/>
          <p:cNvSpPr txBox="1"/>
          <p:nvPr/>
        </p:nvSpPr>
        <p:spPr>
          <a:xfrm>
            <a:off x="274320" y="73152"/>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SUMMARY</a:t>
            </a:r>
            <a:endParaRPr b="0" i="0" sz="1400" u="none" cap="none" strike="noStrike">
              <a:solidFill>
                <a:srgbClr val="000000"/>
              </a:solidFill>
              <a:latin typeface="Arial"/>
              <a:ea typeface="Arial"/>
              <a:cs typeface="Arial"/>
              <a:sym typeface="Arial"/>
            </a:endParaRPr>
          </a:p>
        </p:txBody>
      </p:sp>
      <p:sp>
        <p:nvSpPr>
          <p:cNvPr id="1557" name="Google Shape;1557;p47"/>
          <p:cNvSpPr txBox="1"/>
          <p:nvPr/>
        </p:nvSpPr>
        <p:spPr>
          <a:xfrm>
            <a:off x="274320" y="310896"/>
            <a:ext cx="11430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Calibri"/>
                <a:ea typeface="Calibri"/>
                <a:cs typeface="Calibri"/>
                <a:sym typeface="Calibri"/>
              </a:rPr>
              <a:t>CMatrix — What We Built, What We Claim, What We Need</a:t>
            </a:r>
            <a:endParaRPr b="0" i="0" sz="1400" u="none" cap="none" strike="noStrike">
              <a:solidFill>
                <a:srgbClr val="000000"/>
              </a:solidFill>
              <a:latin typeface="Arial"/>
              <a:ea typeface="Arial"/>
              <a:cs typeface="Arial"/>
              <a:sym typeface="Arial"/>
            </a:endParaRPr>
          </a:p>
        </p:txBody>
      </p:sp>
      <p:sp>
        <p:nvSpPr>
          <p:cNvPr id="1558" name="Google Shape;1558;p47"/>
          <p:cNvSpPr/>
          <p:nvPr/>
        </p:nvSpPr>
        <p:spPr>
          <a:xfrm>
            <a:off x="274320" y="987552"/>
            <a:ext cx="5029200" cy="1508700"/>
          </a:xfrm>
          <a:prstGeom prst="rect">
            <a:avLst/>
          </a:prstGeom>
          <a:solidFill>
            <a:srgbClr val="041222"/>
          </a:solidFill>
          <a:ln cap="flat" cmpd="sng" w="203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9" name="Google Shape;1559;p47"/>
          <p:cNvSpPr txBox="1"/>
          <p:nvPr/>
        </p:nvSpPr>
        <p:spPr>
          <a:xfrm>
            <a:off x="384048" y="1042416"/>
            <a:ext cx="4846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WHAT CMATRIX IS</a:t>
            </a:r>
            <a:endParaRPr b="0" i="0" sz="1400" u="none" cap="none" strike="noStrike">
              <a:solidFill>
                <a:srgbClr val="000000"/>
              </a:solidFill>
              <a:latin typeface="Arial"/>
              <a:ea typeface="Arial"/>
              <a:cs typeface="Arial"/>
              <a:sym typeface="Arial"/>
            </a:endParaRPr>
          </a:p>
        </p:txBody>
      </p:sp>
      <p:sp>
        <p:nvSpPr>
          <p:cNvPr id="1560" name="Google Shape;1560;p47"/>
          <p:cNvSpPr txBox="1"/>
          <p:nvPr/>
        </p:nvSpPr>
        <p:spPr>
          <a:xfrm>
            <a:off x="402336" y="1298448"/>
            <a:ext cx="4809600" cy="9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0AAB8"/>
                </a:solidFill>
                <a:latin typeface="Calibri"/>
                <a:ea typeface="Calibri"/>
                <a:cs typeface="Calibri"/>
                <a:sym typeface="Calibri"/>
              </a:rPr>
              <a:t>A dual-graph-guided, LLM-orchestrated multi-agent framework for autonomous Vulnerability Assessment and Penetration Testing.  It maintains two strictly separated graph structures — the ASG (what the target is) and the APG (what can be done to it) — and uses both to plan, dispatch, validate, and formally terminate a complete VAPT engagement without human intervention.</a:t>
            </a:r>
            <a:endParaRPr b="0" i="0" sz="1400" u="none" cap="none" strike="noStrike">
              <a:solidFill>
                <a:srgbClr val="000000"/>
              </a:solidFill>
              <a:latin typeface="Arial"/>
              <a:ea typeface="Arial"/>
              <a:cs typeface="Arial"/>
              <a:sym typeface="Arial"/>
            </a:endParaRPr>
          </a:p>
        </p:txBody>
      </p:sp>
      <p:sp>
        <p:nvSpPr>
          <p:cNvPr id="1561" name="Google Shape;1561;p47"/>
          <p:cNvSpPr/>
          <p:nvPr/>
        </p:nvSpPr>
        <p:spPr>
          <a:xfrm>
            <a:off x="5504688" y="987552"/>
            <a:ext cx="6485700" cy="2779800"/>
          </a:xfrm>
          <a:prstGeom prst="rect">
            <a:avLst/>
          </a:prstGeom>
          <a:solidFill>
            <a:srgbClr val="1612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2" name="Google Shape;1562;p47"/>
          <p:cNvSpPr txBox="1"/>
          <p:nvPr/>
        </p:nvSpPr>
        <p:spPr>
          <a:xfrm>
            <a:off x="5614416" y="1042416"/>
            <a:ext cx="6303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WHAT WE CLAIM</a:t>
            </a:r>
            <a:endParaRPr b="0" i="0" sz="1400" u="none" cap="none" strike="noStrike">
              <a:solidFill>
                <a:srgbClr val="000000"/>
              </a:solidFill>
              <a:latin typeface="Arial"/>
              <a:ea typeface="Arial"/>
              <a:cs typeface="Arial"/>
              <a:sym typeface="Arial"/>
            </a:endParaRPr>
          </a:p>
        </p:txBody>
      </p:sp>
      <p:sp>
        <p:nvSpPr>
          <p:cNvPr id="1563" name="Google Shape;1563;p47"/>
          <p:cNvSpPr/>
          <p:nvPr/>
        </p:nvSpPr>
        <p:spPr>
          <a:xfrm>
            <a:off x="5596128" y="1298448"/>
            <a:ext cx="6303000" cy="530400"/>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4" name="Google Shape;1564;p47"/>
          <p:cNvSpPr txBox="1"/>
          <p:nvPr/>
        </p:nvSpPr>
        <p:spPr>
          <a:xfrm>
            <a:off x="5669280" y="1335024"/>
            <a:ext cx="621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CMatrix is the first autonomous VAPT system to maintain two strictly separated, </a:t>
            </a:r>
            <a:endParaRPr b="0" i="0" sz="900" u="none" cap="none" strike="noStrike">
              <a:solidFill>
                <a:srgbClr val="A0AAB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continuously evolving graph structures for simultaneous discovery and attack reasoning.</a:t>
            </a:r>
            <a:endParaRPr b="0" i="0" sz="1400" u="none" cap="none" strike="noStrike">
              <a:solidFill>
                <a:srgbClr val="000000"/>
              </a:solidFill>
              <a:latin typeface="Arial"/>
              <a:ea typeface="Arial"/>
              <a:cs typeface="Arial"/>
              <a:sym typeface="Arial"/>
            </a:endParaRPr>
          </a:p>
        </p:txBody>
      </p:sp>
      <p:sp>
        <p:nvSpPr>
          <p:cNvPr id="1565" name="Google Shape;1565;p47"/>
          <p:cNvSpPr/>
          <p:nvPr/>
        </p:nvSpPr>
        <p:spPr>
          <a:xfrm>
            <a:off x="5596128" y="1883664"/>
            <a:ext cx="6303000" cy="530400"/>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6" name="Google Shape;1566;p47"/>
          <p:cNvSpPr txBox="1"/>
          <p:nvPr/>
        </p:nvSpPr>
        <p:spPr>
          <a:xfrm>
            <a:off x="5669280" y="1920240"/>
            <a:ext cx="62115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Formal dual termination provides a theoretically sound, verifiable completion criterion that prior systems cannot express.</a:t>
            </a:r>
            <a:endParaRPr b="0" i="0" sz="1400" u="none" cap="none" strike="noStrike">
              <a:solidFill>
                <a:srgbClr val="000000"/>
              </a:solidFill>
              <a:latin typeface="Arial"/>
              <a:ea typeface="Arial"/>
              <a:cs typeface="Arial"/>
              <a:sym typeface="Arial"/>
            </a:endParaRPr>
          </a:p>
        </p:txBody>
      </p:sp>
      <p:sp>
        <p:nvSpPr>
          <p:cNvPr id="1567" name="Google Shape;1567;p47"/>
          <p:cNvSpPr/>
          <p:nvPr/>
        </p:nvSpPr>
        <p:spPr>
          <a:xfrm>
            <a:off x="5596128" y="2468880"/>
            <a:ext cx="6303000" cy="530400"/>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8" name="Google Shape;1568;p47"/>
          <p:cNvSpPr txBox="1"/>
          <p:nvPr/>
        </p:nvSpPr>
        <p:spPr>
          <a:xfrm>
            <a:off x="5669280" y="2505456"/>
            <a:ext cx="621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Cross-mission learning accumulates validated exploitation outcomes across all missions — </a:t>
            </a:r>
            <a:endParaRPr b="0" i="0" sz="900" u="none" cap="none" strike="noStrike">
              <a:solidFill>
                <a:srgbClr val="A0AAB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a capability no prior published VAPT system demonstrates.</a:t>
            </a:r>
            <a:endParaRPr b="0" i="0" sz="1400" u="none" cap="none" strike="noStrike">
              <a:solidFill>
                <a:srgbClr val="000000"/>
              </a:solidFill>
              <a:latin typeface="Arial"/>
              <a:ea typeface="Arial"/>
              <a:cs typeface="Arial"/>
              <a:sym typeface="Arial"/>
            </a:endParaRPr>
          </a:p>
        </p:txBody>
      </p:sp>
      <p:sp>
        <p:nvSpPr>
          <p:cNvPr id="1569" name="Google Shape;1569;p47"/>
          <p:cNvSpPr/>
          <p:nvPr/>
        </p:nvSpPr>
        <p:spPr>
          <a:xfrm>
            <a:off x="5596128" y="3054096"/>
            <a:ext cx="6303000" cy="530400"/>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0" name="Google Shape;1570;p47"/>
          <p:cNvSpPr txBox="1"/>
          <p:nvPr/>
        </p:nvSpPr>
        <p:spPr>
          <a:xfrm>
            <a:off x="5669280" y="3090672"/>
            <a:ext cx="62115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The architecture produces a machine-readable decision trace usable for training security-specialized LLMs. </a:t>
            </a:r>
            <a:endParaRPr b="0" i="0" sz="1400" u="none" cap="none" strike="noStrike">
              <a:solidFill>
                <a:srgbClr val="000000"/>
              </a:solidFill>
              <a:latin typeface="Arial"/>
              <a:ea typeface="Arial"/>
              <a:cs typeface="Arial"/>
              <a:sym typeface="Arial"/>
            </a:endParaRPr>
          </a:p>
        </p:txBody>
      </p:sp>
      <p:sp>
        <p:nvSpPr>
          <p:cNvPr id="1571" name="Google Shape;1571;p47"/>
          <p:cNvSpPr/>
          <p:nvPr/>
        </p:nvSpPr>
        <p:spPr>
          <a:xfrm>
            <a:off x="5504688" y="3877056"/>
            <a:ext cx="6485700" cy="2834700"/>
          </a:xfrm>
          <a:prstGeom prst="rect">
            <a:avLst/>
          </a:prstGeom>
          <a:solidFill>
            <a:srgbClr val="041410"/>
          </a:solidFill>
          <a:ln cap="flat" cmpd="sng" w="203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2" name="Google Shape;1572;p47"/>
          <p:cNvSpPr/>
          <p:nvPr/>
        </p:nvSpPr>
        <p:spPr>
          <a:xfrm>
            <a:off x="5504688" y="3877056"/>
            <a:ext cx="6485700" cy="2925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3" name="Google Shape;1573;p47"/>
          <p:cNvSpPr txBox="1"/>
          <p:nvPr/>
        </p:nvSpPr>
        <p:spPr>
          <a:xfrm>
            <a:off x="5614416" y="3913632"/>
            <a:ext cx="63030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A0D1A"/>
                </a:solidFill>
                <a:latin typeface="Calibri"/>
                <a:ea typeface="Calibri"/>
                <a:cs typeface="Calibri"/>
                <a:sym typeface="Calibri"/>
              </a:rPr>
              <a:t>WHAT WE ARE ASKING FOR</a:t>
            </a:r>
            <a:endParaRPr b="0" i="0" sz="1400" u="none" cap="none" strike="noStrike">
              <a:solidFill>
                <a:srgbClr val="000000"/>
              </a:solidFill>
              <a:latin typeface="Arial"/>
              <a:ea typeface="Arial"/>
              <a:cs typeface="Arial"/>
              <a:sym typeface="Arial"/>
            </a:endParaRPr>
          </a:p>
        </p:txBody>
      </p:sp>
      <p:sp>
        <p:nvSpPr>
          <p:cNvPr id="1574" name="Google Shape;1574;p47"/>
          <p:cNvSpPr/>
          <p:nvPr/>
        </p:nvSpPr>
        <p:spPr>
          <a:xfrm>
            <a:off x="5596128" y="4224528"/>
            <a:ext cx="6303000" cy="567000"/>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5" name="Google Shape;1575;p47"/>
          <p:cNvSpPr txBox="1"/>
          <p:nvPr/>
        </p:nvSpPr>
        <p:spPr>
          <a:xfrm>
            <a:off x="5687568" y="4261104"/>
            <a:ext cx="6193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BFD8"/>
                </a:solidFill>
                <a:latin typeface="Calibri"/>
                <a:ea typeface="Calibri"/>
                <a:cs typeface="Calibri"/>
                <a:sym typeface="Calibri"/>
              </a:rPr>
              <a:t>Feedback on Scope</a:t>
            </a:r>
            <a:endParaRPr b="0" i="0" sz="1400" u="none" cap="none" strike="noStrike">
              <a:solidFill>
                <a:srgbClr val="000000"/>
              </a:solidFill>
              <a:latin typeface="Arial"/>
              <a:ea typeface="Arial"/>
              <a:cs typeface="Arial"/>
              <a:sym typeface="Arial"/>
            </a:endParaRPr>
          </a:p>
        </p:txBody>
      </p:sp>
      <p:sp>
        <p:nvSpPr>
          <p:cNvPr id="1576" name="Google Shape;1576;p47"/>
          <p:cNvSpPr txBox="1"/>
          <p:nvPr/>
        </p:nvSpPr>
        <p:spPr>
          <a:xfrm>
            <a:off x="5687568" y="4480560"/>
            <a:ext cx="6193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Are the 12 contributions appropriately scoped for our thesis?</a:t>
            </a:r>
            <a:endParaRPr b="0" i="0" sz="1400" u="none" cap="none" strike="noStrike">
              <a:solidFill>
                <a:srgbClr val="000000"/>
              </a:solidFill>
              <a:latin typeface="Arial"/>
              <a:ea typeface="Arial"/>
              <a:cs typeface="Arial"/>
              <a:sym typeface="Arial"/>
            </a:endParaRPr>
          </a:p>
        </p:txBody>
      </p:sp>
      <p:sp>
        <p:nvSpPr>
          <p:cNvPr id="1577" name="Google Shape;1577;p47"/>
          <p:cNvSpPr/>
          <p:nvPr/>
        </p:nvSpPr>
        <p:spPr>
          <a:xfrm>
            <a:off x="5596128" y="4846320"/>
            <a:ext cx="6303000" cy="567000"/>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8" name="Google Shape;1578;p47"/>
          <p:cNvSpPr txBox="1"/>
          <p:nvPr/>
        </p:nvSpPr>
        <p:spPr>
          <a:xfrm>
            <a:off x="5687568" y="4882896"/>
            <a:ext cx="6193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BFD8"/>
                </a:solidFill>
                <a:latin typeface="Calibri"/>
                <a:ea typeface="Calibri"/>
                <a:cs typeface="Calibri"/>
                <a:sym typeface="Calibri"/>
              </a:rPr>
              <a:t>Evaluation Guidance</a:t>
            </a:r>
            <a:endParaRPr b="0" i="0" sz="1400" u="none" cap="none" strike="noStrike">
              <a:solidFill>
                <a:srgbClr val="000000"/>
              </a:solidFill>
              <a:latin typeface="Arial"/>
              <a:ea typeface="Arial"/>
              <a:cs typeface="Arial"/>
              <a:sym typeface="Arial"/>
            </a:endParaRPr>
          </a:p>
        </p:txBody>
      </p:sp>
      <p:sp>
        <p:nvSpPr>
          <p:cNvPr id="1579" name="Google Shape;1579;p47"/>
          <p:cNvSpPr txBox="1"/>
          <p:nvPr/>
        </p:nvSpPr>
        <p:spPr>
          <a:xfrm>
            <a:off x="5687568" y="5102352"/>
            <a:ext cx="6193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Is the HTB/THM ablation plan sufficient to prove the core claims?</a:t>
            </a:r>
            <a:endParaRPr b="0" i="0" sz="1400" u="none" cap="none" strike="noStrike">
              <a:solidFill>
                <a:srgbClr val="000000"/>
              </a:solidFill>
              <a:latin typeface="Arial"/>
              <a:ea typeface="Arial"/>
              <a:cs typeface="Arial"/>
              <a:sym typeface="Arial"/>
            </a:endParaRPr>
          </a:p>
        </p:txBody>
      </p:sp>
      <p:sp>
        <p:nvSpPr>
          <p:cNvPr id="1580" name="Google Shape;1580;p47"/>
          <p:cNvSpPr/>
          <p:nvPr/>
        </p:nvSpPr>
        <p:spPr>
          <a:xfrm>
            <a:off x="5596128" y="5468112"/>
            <a:ext cx="6303000" cy="567000"/>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1" name="Google Shape;1581;p47"/>
          <p:cNvSpPr txBox="1"/>
          <p:nvPr/>
        </p:nvSpPr>
        <p:spPr>
          <a:xfrm>
            <a:off x="5687568" y="5504688"/>
            <a:ext cx="6193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BFD8"/>
                </a:solidFill>
                <a:latin typeface="Calibri"/>
                <a:ea typeface="Calibri"/>
                <a:cs typeface="Calibri"/>
                <a:sym typeface="Calibri"/>
              </a:rPr>
              <a:t>Implementation Priority</a:t>
            </a:r>
            <a:endParaRPr b="0" i="0" sz="1400" u="none" cap="none" strike="noStrike">
              <a:solidFill>
                <a:srgbClr val="000000"/>
              </a:solidFill>
              <a:latin typeface="Arial"/>
              <a:ea typeface="Arial"/>
              <a:cs typeface="Arial"/>
              <a:sym typeface="Arial"/>
            </a:endParaRPr>
          </a:p>
        </p:txBody>
      </p:sp>
      <p:sp>
        <p:nvSpPr>
          <p:cNvPr id="1582" name="Google Shape;1582;p47"/>
          <p:cNvSpPr txBox="1"/>
          <p:nvPr/>
        </p:nvSpPr>
        <p:spPr>
          <a:xfrm>
            <a:off x="5687568" y="5724144"/>
            <a:ext cx="6193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Which of the 12 contributions should be fully implemented vs theoretically validated?</a:t>
            </a:r>
            <a:endParaRPr b="0" i="0" sz="1400" u="none" cap="none" strike="noStrike">
              <a:solidFill>
                <a:srgbClr val="000000"/>
              </a:solidFill>
              <a:latin typeface="Arial"/>
              <a:ea typeface="Arial"/>
              <a:cs typeface="Arial"/>
              <a:sym typeface="Arial"/>
            </a:endParaRPr>
          </a:p>
        </p:txBody>
      </p:sp>
      <p:sp>
        <p:nvSpPr>
          <p:cNvPr id="1583" name="Google Shape;1583;p47"/>
          <p:cNvSpPr/>
          <p:nvPr/>
        </p:nvSpPr>
        <p:spPr>
          <a:xfrm>
            <a:off x="5596128" y="6089904"/>
            <a:ext cx="6303000" cy="567000"/>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4" name="Google Shape;1584;p47"/>
          <p:cNvSpPr txBox="1"/>
          <p:nvPr/>
        </p:nvSpPr>
        <p:spPr>
          <a:xfrm>
            <a:off x="5687568" y="6126480"/>
            <a:ext cx="6193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BFD8"/>
                </a:solidFill>
                <a:latin typeface="Calibri"/>
                <a:ea typeface="Calibri"/>
                <a:cs typeface="Calibri"/>
                <a:sym typeface="Calibri"/>
              </a:rPr>
              <a:t>Publication Venue</a:t>
            </a:r>
            <a:endParaRPr b="0" i="0" sz="1400" u="none" cap="none" strike="noStrike">
              <a:solidFill>
                <a:srgbClr val="000000"/>
              </a:solidFill>
              <a:latin typeface="Arial"/>
              <a:ea typeface="Arial"/>
              <a:cs typeface="Arial"/>
              <a:sym typeface="Arial"/>
            </a:endParaRPr>
          </a:p>
        </p:txBody>
      </p:sp>
      <p:sp>
        <p:nvSpPr>
          <p:cNvPr id="1585" name="Google Shape;1585;p47"/>
          <p:cNvSpPr txBox="1"/>
          <p:nvPr/>
        </p:nvSpPr>
        <p:spPr>
          <a:xfrm>
            <a:off x="5687568" y="6345936"/>
            <a:ext cx="6193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USENIX Security / IEEE S&amp;P / ACSAC — which tier matches the contribution level?</a:t>
            </a:r>
            <a:endParaRPr b="0" i="0" sz="1400" u="none" cap="none" strike="noStrike">
              <a:solidFill>
                <a:srgbClr val="000000"/>
              </a:solidFill>
              <a:latin typeface="Arial"/>
              <a:ea typeface="Arial"/>
              <a:cs typeface="Arial"/>
              <a:sym typeface="Arial"/>
            </a:endParaRPr>
          </a:p>
        </p:txBody>
      </p:sp>
      <p:sp>
        <p:nvSpPr>
          <p:cNvPr id="1586" name="Google Shape;1586;p47"/>
          <p:cNvSpPr txBox="1"/>
          <p:nvPr/>
        </p:nvSpPr>
        <p:spPr>
          <a:xfrm>
            <a:off x="11794729" y="34109"/>
            <a:ext cx="3840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1587" name="Google Shape;1587;p47"/>
          <p:cNvSpPr/>
          <p:nvPr/>
        </p:nvSpPr>
        <p:spPr>
          <a:xfrm>
            <a:off x="274320" y="2606040"/>
            <a:ext cx="5029200" cy="4105800"/>
          </a:xfrm>
          <a:prstGeom prst="rect">
            <a:avLst/>
          </a:prstGeom>
          <a:solidFill>
            <a:srgbClr val="06190A"/>
          </a:solidFill>
          <a:ln cap="flat" cmpd="sng" w="203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8" name="Google Shape;1588;p47"/>
          <p:cNvSpPr txBox="1"/>
          <p:nvPr/>
        </p:nvSpPr>
        <p:spPr>
          <a:xfrm>
            <a:off x="384048" y="2660904"/>
            <a:ext cx="4846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CURRENT STATUS</a:t>
            </a:r>
            <a:endParaRPr b="0" i="0" sz="1400" u="none" cap="none" strike="noStrike">
              <a:solidFill>
                <a:srgbClr val="000000"/>
              </a:solidFill>
              <a:latin typeface="Arial"/>
              <a:ea typeface="Arial"/>
              <a:cs typeface="Arial"/>
              <a:sym typeface="Arial"/>
            </a:endParaRPr>
          </a:p>
        </p:txBody>
      </p:sp>
      <p:sp>
        <p:nvSpPr>
          <p:cNvPr id="1589" name="Google Shape;1589;p47"/>
          <p:cNvSpPr txBox="1"/>
          <p:nvPr/>
        </p:nvSpPr>
        <p:spPr>
          <a:xfrm>
            <a:off x="402336" y="2934072"/>
            <a:ext cx="4809600" cy="130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1" lang="en-US" sz="1050">
                <a:solidFill>
                  <a:srgbClr val="FFFFFF"/>
                </a:solidFill>
                <a:latin typeface="Calibri"/>
                <a:ea typeface="Calibri"/>
                <a:cs typeface="Calibri"/>
                <a:sym typeface="Calibri"/>
              </a:rPr>
              <a:t>We are currently in the architecture proposal phase, prior to implementation.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All 12 contributions are fully specified at the architecture level </a:t>
            </a:r>
            <a:r>
              <a:rPr lang="en-US" sz="900">
                <a:solidFill>
                  <a:srgbClr val="A0AAB8"/>
                </a:solidFill>
                <a:latin typeface="Calibri"/>
                <a:ea typeface="Calibri"/>
                <a:cs typeface="Calibri"/>
                <a:sym typeface="Calibri"/>
              </a:rPr>
              <a:t>-</a:t>
            </a:r>
            <a:r>
              <a:rPr b="0" i="0" lang="en-US" sz="900" u="none" cap="none" strike="noStrike">
                <a:solidFill>
                  <a:srgbClr val="A0AAB8"/>
                </a:solidFill>
                <a:latin typeface="Calibri"/>
                <a:ea typeface="Calibri"/>
                <a:cs typeface="Calibri"/>
                <a:sym typeface="Calibri"/>
              </a:rPr>
              <a:t> no implementation has begun.</a:t>
            </a:r>
            <a:endParaRPr b="0" i="0" sz="900" u="none" cap="none" strike="noStrike">
              <a:solidFill>
                <a:srgbClr val="A0AAB8"/>
              </a:solidFill>
              <a:latin typeface="Calibri"/>
              <a:ea typeface="Calibri"/>
              <a:cs typeface="Calibri"/>
              <a:sym typeface="Calibri"/>
            </a:endParaRPr>
          </a:p>
          <a:p>
            <a:pPr indent="0" lvl="0" marL="0" marR="0" rtl="0" algn="l">
              <a:lnSpc>
                <a:spcPct val="100000"/>
              </a:lnSpc>
              <a:spcBef>
                <a:spcPts val="9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a:t>
            </a:r>
            <a:r>
              <a:rPr lang="en-US" sz="900">
                <a:solidFill>
                  <a:srgbClr val="A0AAB8"/>
                </a:solidFill>
                <a:latin typeface="Calibri"/>
                <a:ea typeface="Calibri"/>
                <a:cs typeface="Calibri"/>
                <a:sym typeface="Calibri"/>
              </a:rPr>
              <a:t>Some contributions are more load-bearing than others - prioritization hasn't been finalized</a:t>
            </a:r>
            <a:r>
              <a:rPr b="0" i="0" lang="en-US" sz="900" u="none" cap="none" strike="noStrike">
                <a:solidFill>
                  <a:srgbClr val="A0AAB8"/>
                </a:solidFill>
                <a:latin typeface="Calibri"/>
                <a:ea typeface="Calibri"/>
                <a:cs typeface="Calibri"/>
                <a:sym typeface="Calibri"/>
              </a:rPr>
              <a:t>.</a:t>
            </a:r>
            <a:endParaRPr b="0" i="0" sz="900" u="none" cap="none" strike="noStrike">
              <a:solidFill>
                <a:srgbClr val="A0AAB8"/>
              </a:solidFill>
              <a:latin typeface="Calibri"/>
              <a:ea typeface="Calibri"/>
              <a:cs typeface="Calibri"/>
              <a:sym typeface="Calibri"/>
            </a:endParaRPr>
          </a:p>
          <a:p>
            <a:pPr indent="0" lvl="0" marL="0" marR="0" rtl="0" algn="l">
              <a:lnSpc>
                <a:spcPct val="100000"/>
              </a:lnSpc>
              <a:spcBef>
                <a:spcPts val="9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HTB/THM evaluation plan is outlined but not yet run.</a:t>
            </a:r>
            <a:endParaRPr b="0" i="0" sz="900" u="none" cap="none" strike="noStrike">
              <a:solidFill>
                <a:srgbClr val="A0AAB8"/>
              </a:solidFill>
              <a:latin typeface="Calibri"/>
              <a:ea typeface="Calibri"/>
              <a:cs typeface="Calibri"/>
              <a:sym typeface="Calibri"/>
            </a:endParaRPr>
          </a:p>
          <a:p>
            <a:pPr indent="0" lvl="0" marL="0" marR="0" rtl="0" algn="l">
              <a:lnSpc>
                <a:spcPct val="100000"/>
              </a:lnSpc>
              <a:spcBef>
                <a:spcPts val="9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  This meeting is seeking scope and direction sign-off before implementation work starts.</a:t>
            </a:r>
            <a:endParaRPr b="0" i="0" sz="900" u="none" cap="none" strike="noStrike">
              <a:solidFill>
                <a:srgbClr val="A0AAB8"/>
              </a:solidFill>
              <a:latin typeface="Calibri"/>
              <a:ea typeface="Calibri"/>
              <a:cs typeface="Calibri"/>
              <a:sym typeface="Calibri"/>
            </a:endParaRPr>
          </a:p>
        </p:txBody>
      </p:sp>
      <p:sp>
        <p:nvSpPr>
          <p:cNvPr id="1590" name="Google Shape;1590;p47"/>
          <p:cNvSpPr/>
          <p:nvPr/>
        </p:nvSpPr>
        <p:spPr>
          <a:xfrm>
            <a:off x="402336" y="5440680"/>
            <a:ext cx="2331600" cy="1097400"/>
          </a:xfrm>
          <a:prstGeom prst="rect">
            <a:avLst/>
          </a:prstGeom>
          <a:solidFill>
            <a:srgbClr val="0C2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9FF14"/>
                </a:solidFill>
                <a:latin typeface="Calibri"/>
                <a:ea typeface="Calibri"/>
                <a:cs typeface="Calibri"/>
                <a:sym typeface="Calibri"/>
              </a:rPr>
              <a:t>12 / 12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3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Contributions specified</a:t>
            </a:r>
            <a:endParaRPr b="0" i="0" sz="1400" u="none" cap="none" strike="noStrike">
              <a:solidFill>
                <a:srgbClr val="000000"/>
              </a:solidFill>
              <a:latin typeface="Arial"/>
              <a:ea typeface="Arial"/>
              <a:cs typeface="Arial"/>
              <a:sym typeface="Arial"/>
            </a:endParaRPr>
          </a:p>
        </p:txBody>
      </p:sp>
      <p:sp>
        <p:nvSpPr>
          <p:cNvPr id="1591" name="Google Shape;1591;p47"/>
          <p:cNvSpPr/>
          <p:nvPr/>
        </p:nvSpPr>
        <p:spPr>
          <a:xfrm>
            <a:off x="2880360" y="5440680"/>
            <a:ext cx="2331600" cy="10974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8A8A8A"/>
                </a:solidFill>
                <a:latin typeface="Calibri"/>
                <a:ea typeface="Calibri"/>
                <a:cs typeface="Calibri"/>
                <a:sym typeface="Calibri"/>
              </a:rPr>
              <a:t>0 / 12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30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Contributions implemented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