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777240"/>
            <a:ext cx="7315200" cy="411480"/>
          </a:xfrm>
          <a:prstGeom prst="rect">
            <a:avLst/>
          </a:prstGeom>
          <a:noFill/>
        </p:spPr>
        <p:txBody>
          <a:bodyPr wrap="square">
            <a:spAutoFit/>
          </a:bodyPr>
          <a:lstStyle/>
          <a:p>
            <a:pPr algn="l"/>
            <a:r>
              <a:rPr sz="1300" b="0" i="0">
                <a:solidFill>
                  <a:srgbClr val="00E5FF"/>
                </a:solidFill>
                <a:latin typeface="Calibri"/>
              </a:rPr>
              <a:t>RESEARCH PRESENTATION</a:t>
            </a:r>
          </a:p>
        </p:txBody>
      </p:sp>
      <p:sp>
        <p:nvSpPr>
          <p:cNvPr id="6" name="TextBox 5"/>
          <p:cNvSpPr txBox="1"/>
          <p:nvPr/>
        </p:nvSpPr>
        <p:spPr>
          <a:xfrm>
            <a:off x="457200" y="1234440"/>
            <a:ext cx="8046720" cy="1737360"/>
          </a:xfrm>
          <a:prstGeom prst="rect">
            <a:avLst/>
          </a:prstGeom>
          <a:noFill/>
        </p:spPr>
        <p:txBody>
          <a:bodyPr wrap="square">
            <a:spAutoFit/>
          </a:bodyPr>
          <a:lstStyle/>
          <a:p>
            <a:pPr algn="l"/>
            <a:r>
              <a:rPr sz="7200" b="1">
                <a:solidFill>
                  <a:srgbClr val="FFFFFF"/>
                </a:solidFill>
                <a:latin typeface="Calibri"/>
              </a:rPr>
              <a:t>CMatrix</a:t>
            </a:r>
          </a:p>
        </p:txBody>
      </p:sp>
      <p:sp>
        <p:nvSpPr>
          <p:cNvPr id="7" name="TextBox 6"/>
          <p:cNvSpPr txBox="1"/>
          <p:nvPr/>
        </p:nvSpPr>
        <p:spPr>
          <a:xfrm>
            <a:off x="457200" y="2606040"/>
            <a:ext cx="8074152" cy="1106424"/>
          </a:xfrm>
          <a:prstGeom prst="rect">
            <a:avLst/>
          </a:prstGeom>
          <a:noFill/>
        </p:spPr>
        <p:txBody>
          <a:bodyPr wrap="square">
            <a:spAutoFit/>
          </a:bodyPr>
          <a:lstStyle/>
          <a:p>
            <a:pPr algn="l"/>
            <a:r>
              <a:rPr sz="2100" i="1">
                <a:solidFill>
                  <a:srgbClr val="00E5FF"/>
                </a:solidFill>
              </a:rPr>
              <a:t>Dual-Graph-Guided LLM-Orchestrated</a:t>
            </a:r>
          </a:p>
          <a:p>
            <a:pPr algn="l"/>
            <a:r>
              <a:rPr sz="2100" i="1">
                <a:solidFill>
                  <a:srgbClr val="00E5FF"/>
                </a:solidFill>
              </a:rPr>
              <a:t>Multi-Agent Framework for Autonomous</a:t>
            </a:r>
          </a:p>
          <a:p>
            <a:pPr algn="l"/>
            <a:r>
              <a:rPr sz="2100" i="1">
                <a:solidFill>
                  <a:srgbClr val="00E5FF"/>
                </a:solidFill>
              </a:rPr>
              <a:t>Vulnerability Assessment and Penetration Testing (VAPT)</a:t>
            </a:r>
          </a:p>
        </p:txBody>
      </p:sp>
      <p:sp>
        <p:nvSpPr>
          <p:cNvPr id="8" name="Rectangle 7"/>
          <p:cNvSpPr/>
          <p:nvPr/>
        </p:nvSpPr>
        <p:spPr>
          <a:xfrm>
            <a:off x="457200" y="3913632"/>
            <a:ext cx="5943600" cy="27432"/>
          </a:xfrm>
          <a:prstGeom prst="rect">
            <a:avLst/>
          </a:prstGeom>
          <a:solidFill>
            <a:srgbClr val="A0A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4069080"/>
            <a:ext cx="2514600" cy="384048"/>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4096512"/>
            <a:ext cx="2377440" cy="329184"/>
          </a:xfrm>
          <a:prstGeom prst="rect">
            <a:avLst/>
          </a:prstGeom>
          <a:noFill/>
        </p:spPr>
        <p:txBody>
          <a:bodyPr wrap="square">
            <a:spAutoFit/>
          </a:bodyPr>
          <a:lstStyle/>
          <a:p>
            <a:pPr algn="ctr"/>
            <a:r>
              <a:rPr sz="1200" b="1" i="0">
                <a:solidFill>
                  <a:srgbClr val="39FF14"/>
                </a:solidFill>
                <a:latin typeface="Calibri"/>
              </a:rPr>
              <a:t>Autonomous Pentesting</a:t>
            </a:r>
          </a:p>
        </p:txBody>
      </p:sp>
      <p:sp>
        <p:nvSpPr>
          <p:cNvPr id="11" name="Rectangle 10"/>
          <p:cNvSpPr/>
          <p:nvPr/>
        </p:nvSpPr>
        <p:spPr>
          <a:xfrm>
            <a:off x="3246120" y="4069080"/>
            <a:ext cx="2514600" cy="384048"/>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37560" y="4096512"/>
            <a:ext cx="2377440" cy="329184"/>
          </a:xfrm>
          <a:prstGeom prst="rect">
            <a:avLst/>
          </a:prstGeom>
          <a:noFill/>
        </p:spPr>
        <p:txBody>
          <a:bodyPr wrap="square">
            <a:spAutoFit/>
          </a:bodyPr>
          <a:lstStyle/>
          <a:p>
            <a:pPr algn="ctr"/>
            <a:r>
              <a:rPr sz="1200" b="1" i="0">
                <a:solidFill>
                  <a:srgbClr val="39FF14"/>
                </a:solidFill>
                <a:latin typeface="Calibri"/>
              </a:rPr>
              <a:t>AI Agent Orchestration</a:t>
            </a:r>
          </a:p>
        </p:txBody>
      </p:sp>
      <p:sp>
        <p:nvSpPr>
          <p:cNvPr id="13" name="Rectangle 12"/>
          <p:cNvSpPr/>
          <p:nvPr/>
        </p:nvSpPr>
        <p:spPr>
          <a:xfrm>
            <a:off x="6035040" y="4069080"/>
            <a:ext cx="2514600" cy="384048"/>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0" y="4096512"/>
            <a:ext cx="2377440" cy="329184"/>
          </a:xfrm>
          <a:prstGeom prst="rect">
            <a:avLst/>
          </a:prstGeom>
          <a:noFill/>
        </p:spPr>
        <p:txBody>
          <a:bodyPr wrap="square">
            <a:spAutoFit/>
          </a:bodyPr>
          <a:lstStyle/>
          <a:p>
            <a:pPr algn="ctr"/>
            <a:r>
              <a:rPr sz="1200" b="1" i="0">
                <a:solidFill>
                  <a:srgbClr val="39FF14"/>
                </a:solidFill>
                <a:latin typeface="Calibri"/>
              </a:rPr>
              <a:t>Attack Graph Reasoning</a:t>
            </a:r>
          </a:p>
        </p:txBody>
      </p:sp>
      <p:sp>
        <p:nvSpPr>
          <p:cNvPr id="15" name="TextBox 14"/>
          <p:cNvSpPr txBox="1"/>
          <p:nvPr/>
        </p:nvSpPr>
        <p:spPr>
          <a:xfrm>
            <a:off x="457200" y="4754880"/>
            <a:ext cx="7315200" cy="347472"/>
          </a:xfrm>
          <a:prstGeom prst="rect">
            <a:avLst/>
          </a:prstGeom>
          <a:noFill/>
        </p:spPr>
        <p:txBody>
          <a:bodyPr wrap="square">
            <a:spAutoFit/>
          </a:bodyPr>
          <a:lstStyle/>
          <a:p>
            <a:pPr algn="l"/>
            <a:r>
              <a:rPr sz="1400" b="0" i="0">
                <a:solidFill>
                  <a:srgbClr val="A0AAB8"/>
                </a:solidFill>
                <a:latin typeface="Calibri"/>
              </a:rPr>
              <a:t>Supervisor Meeting  ·  June 2026</a:t>
            </a:r>
          </a:p>
        </p:txBody>
      </p:sp>
      <p:sp>
        <p:nvSpPr>
          <p:cNvPr id="16" name="TextBox 15"/>
          <p:cNvSpPr txBox="1"/>
          <p:nvPr/>
        </p:nvSpPr>
        <p:spPr>
          <a:xfrm>
            <a:off x="457200" y="5138928"/>
            <a:ext cx="9144000" cy="347472"/>
          </a:xfrm>
          <a:prstGeom prst="rect">
            <a:avLst/>
          </a:prstGeom>
          <a:noFill/>
        </p:spPr>
        <p:txBody>
          <a:bodyPr wrap="square">
            <a:spAutoFit/>
          </a:bodyPr>
          <a:lstStyle/>
          <a:p>
            <a:pPr algn="l"/>
            <a:r>
              <a:rPr sz="1300" b="0" i="0">
                <a:solidFill>
                  <a:srgbClr val="A0AAB8"/>
                </a:solidFill>
                <a:latin typeface="Calibri"/>
              </a:rPr>
              <a:t>Black-Box · Grey-Box  ·  Network  ·  Web  ·  REST API</a:t>
            </a:r>
          </a:p>
        </p:txBody>
      </p:sp>
      <p:sp>
        <p:nvSpPr>
          <p:cNvPr id="17" name="Rectangle 16"/>
          <p:cNvSpPr/>
          <p:nvPr/>
        </p:nvSpPr>
        <p:spPr>
          <a:xfrm>
            <a:off x="8823960" y="777240"/>
            <a:ext cx="3227832" cy="2130552"/>
          </a:xfrm>
          <a:prstGeom prst="rect">
            <a:avLst/>
          </a:prstGeom>
          <a:solidFill>
            <a:srgbClr val="061022"/>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951976" y="841248"/>
            <a:ext cx="3008376" cy="201168"/>
          </a:xfrm>
          <a:prstGeom prst="rect">
            <a:avLst/>
          </a:prstGeom>
          <a:noFill/>
        </p:spPr>
        <p:txBody>
          <a:bodyPr wrap="square">
            <a:spAutoFit/>
          </a:bodyPr>
          <a:lstStyle/>
          <a:p>
            <a:pPr algn="l"/>
            <a:r>
              <a:rPr sz="850" b="1" i="0">
                <a:solidFill>
                  <a:srgbClr val="00E5FF"/>
                </a:solidFill>
                <a:latin typeface="Calibri"/>
              </a:rPr>
              <a:t>THESIS SUPERVISOR</a:t>
            </a:r>
          </a:p>
        </p:txBody>
      </p:sp>
      <p:sp>
        <p:nvSpPr>
          <p:cNvPr id="19" name="TextBox 18"/>
          <p:cNvSpPr txBox="1"/>
          <p:nvPr/>
        </p:nvSpPr>
        <p:spPr>
          <a:xfrm>
            <a:off x="8951976" y="1078992"/>
            <a:ext cx="3008376" cy="237744"/>
          </a:xfrm>
          <a:prstGeom prst="rect">
            <a:avLst/>
          </a:prstGeom>
          <a:noFill/>
        </p:spPr>
        <p:txBody>
          <a:bodyPr wrap="square">
            <a:spAutoFit/>
          </a:bodyPr>
          <a:lstStyle/>
          <a:p>
            <a:pPr algn="l"/>
            <a:r>
              <a:rPr sz="1100" b="1" i="0">
                <a:solidFill>
                  <a:srgbClr val="FFFFFF"/>
                </a:solidFill>
                <a:latin typeface="Calibri"/>
              </a:rPr>
              <a:t>Dr. Md. Abdur Razzaque</a:t>
            </a:r>
          </a:p>
        </p:txBody>
      </p:sp>
      <p:sp>
        <p:nvSpPr>
          <p:cNvPr id="20" name="TextBox 19"/>
          <p:cNvSpPr txBox="1"/>
          <p:nvPr/>
        </p:nvSpPr>
        <p:spPr>
          <a:xfrm>
            <a:off x="8951976" y="1335024"/>
            <a:ext cx="3008376" cy="237744"/>
          </a:xfrm>
          <a:prstGeom prst="rect">
            <a:avLst/>
          </a:prstGeom>
          <a:noFill/>
        </p:spPr>
        <p:txBody>
          <a:bodyPr wrap="square">
            <a:spAutoFit/>
          </a:bodyPr>
          <a:lstStyle/>
          <a:p>
            <a:pPr algn="l"/>
            <a:r>
              <a:rPr sz="950" b="0" i="0">
                <a:solidFill>
                  <a:srgbClr val="A0AAB8"/>
                </a:solidFill>
                <a:latin typeface="Calibri"/>
              </a:rPr>
              <a:t>Professor &amp; Chairman</a:t>
            </a:r>
          </a:p>
        </p:txBody>
      </p:sp>
      <p:sp>
        <p:nvSpPr>
          <p:cNvPr id="21" name="TextBox 20"/>
          <p:cNvSpPr txBox="1"/>
          <p:nvPr/>
        </p:nvSpPr>
        <p:spPr>
          <a:xfrm>
            <a:off x="8951976" y="1591056"/>
            <a:ext cx="3008376" cy="237744"/>
          </a:xfrm>
          <a:prstGeom prst="rect">
            <a:avLst/>
          </a:prstGeom>
          <a:noFill/>
        </p:spPr>
        <p:txBody>
          <a:bodyPr wrap="square">
            <a:spAutoFit/>
          </a:bodyPr>
          <a:lstStyle/>
          <a:p>
            <a:pPr algn="l"/>
            <a:r>
              <a:rPr sz="900" b="0" i="0">
                <a:solidFill>
                  <a:srgbClr val="A0AAB8"/>
                </a:solidFill>
                <a:latin typeface="Calibri"/>
              </a:rPr>
              <a:t>Dept. of Computer Science &amp; Engineering</a:t>
            </a:r>
          </a:p>
        </p:txBody>
      </p:sp>
      <p:sp>
        <p:nvSpPr>
          <p:cNvPr id="22" name="TextBox 21"/>
          <p:cNvSpPr txBox="1"/>
          <p:nvPr/>
        </p:nvSpPr>
        <p:spPr>
          <a:xfrm>
            <a:off x="8951976" y="1847088"/>
            <a:ext cx="3008376" cy="237744"/>
          </a:xfrm>
          <a:prstGeom prst="rect">
            <a:avLst/>
          </a:prstGeom>
          <a:noFill/>
        </p:spPr>
        <p:txBody>
          <a:bodyPr wrap="square">
            <a:spAutoFit/>
          </a:bodyPr>
          <a:lstStyle/>
          <a:p>
            <a:pPr algn="l"/>
            <a:r>
              <a:rPr sz="900" b="0" i="0">
                <a:solidFill>
                  <a:srgbClr val="A0AAB8"/>
                </a:solidFill>
                <a:latin typeface="Calibri"/>
              </a:rPr>
              <a:t>University of Dhaka</a:t>
            </a:r>
          </a:p>
        </p:txBody>
      </p:sp>
      <p:sp>
        <p:nvSpPr>
          <p:cNvPr id="23" name="Rectangle 22"/>
          <p:cNvSpPr/>
          <p:nvPr/>
        </p:nvSpPr>
        <p:spPr>
          <a:xfrm>
            <a:off x="8823960" y="3044952"/>
            <a:ext cx="3227832" cy="2743200"/>
          </a:xfrm>
          <a:prstGeom prst="rect">
            <a:avLst/>
          </a:prstGeom>
          <a:solidFill>
            <a:srgbClr val="04180C"/>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51976" y="3108960"/>
            <a:ext cx="3008376" cy="201168"/>
          </a:xfrm>
          <a:prstGeom prst="rect">
            <a:avLst/>
          </a:prstGeom>
          <a:noFill/>
        </p:spPr>
        <p:txBody>
          <a:bodyPr wrap="square">
            <a:spAutoFit/>
          </a:bodyPr>
          <a:lstStyle/>
          <a:p>
            <a:pPr algn="l"/>
            <a:r>
              <a:rPr sz="850" b="1" i="0">
                <a:solidFill>
                  <a:srgbClr val="39FF14"/>
                </a:solidFill>
                <a:latin typeface="Calibri"/>
              </a:rPr>
              <a:t>PRESENTED BY</a:t>
            </a:r>
          </a:p>
        </p:txBody>
      </p:sp>
      <p:sp>
        <p:nvSpPr>
          <p:cNvPr id="25" name="TextBox 24"/>
          <p:cNvSpPr txBox="1"/>
          <p:nvPr/>
        </p:nvSpPr>
        <p:spPr>
          <a:xfrm>
            <a:off x="8951976" y="3364992"/>
            <a:ext cx="3008376" cy="310896"/>
          </a:xfrm>
          <a:prstGeom prst="rect">
            <a:avLst/>
          </a:prstGeom>
          <a:noFill/>
        </p:spPr>
        <p:txBody>
          <a:bodyPr wrap="square">
            <a:spAutoFit/>
          </a:bodyPr>
          <a:lstStyle/>
          <a:p>
            <a:pPr algn="l"/>
            <a:r>
              <a:rPr sz="1100" b="1" i="0">
                <a:solidFill>
                  <a:srgbClr val="FFFFFF"/>
                </a:solidFill>
                <a:latin typeface="Calibri"/>
              </a:rPr>
              <a:t>Nishan Paul</a:t>
            </a:r>
          </a:p>
        </p:txBody>
      </p:sp>
      <p:sp>
        <p:nvSpPr>
          <p:cNvPr id="26" name="TextBox 25"/>
          <p:cNvSpPr txBox="1"/>
          <p:nvPr/>
        </p:nvSpPr>
        <p:spPr>
          <a:xfrm>
            <a:off x="8951976" y="3712464"/>
            <a:ext cx="3008376" cy="310896"/>
          </a:xfrm>
          <a:prstGeom prst="rect">
            <a:avLst/>
          </a:prstGeom>
          <a:noFill/>
        </p:spPr>
        <p:txBody>
          <a:bodyPr wrap="square">
            <a:spAutoFit/>
          </a:bodyPr>
          <a:lstStyle/>
          <a:p>
            <a:pPr algn="l"/>
            <a:r>
              <a:rPr sz="950" b="0" i="0">
                <a:solidFill>
                  <a:srgbClr val="A0AAB8"/>
                </a:solidFill>
                <a:latin typeface="Calibri"/>
              </a:rPr>
              <a:t>Reg. 55</a:t>
            </a:r>
          </a:p>
        </p:txBody>
      </p:sp>
      <p:sp>
        <p:nvSpPr>
          <p:cNvPr id="27" name="TextBox 26"/>
          <p:cNvSpPr txBox="1"/>
          <p:nvPr/>
        </p:nvSpPr>
        <p:spPr>
          <a:xfrm>
            <a:off x="8951976" y="4059936"/>
            <a:ext cx="3008376" cy="310896"/>
          </a:xfrm>
          <a:prstGeom prst="rect">
            <a:avLst/>
          </a:prstGeom>
          <a:noFill/>
        </p:spPr>
        <p:txBody>
          <a:bodyPr wrap="square">
            <a:spAutoFit/>
          </a:bodyPr>
          <a:lstStyle/>
          <a:p>
            <a:pPr algn="l"/>
            <a:r>
              <a:rPr sz="1100" b="1" i="0">
                <a:solidFill>
                  <a:srgbClr val="FFFFFF"/>
                </a:solidFill>
                <a:latin typeface="Calibri"/>
              </a:rPr>
              <a:t>Md Rakibur Rahman</a:t>
            </a:r>
          </a:p>
        </p:txBody>
      </p:sp>
      <p:sp>
        <p:nvSpPr>
          <p:cNvPr id="28" name="TextBox 27"/>
          <p:cNvSpPr txBox="1"/>
          <p:nvPr/>
        </p:nvSpPr>
        <p:spPr>
          <a:xfrm>
            <a:off x="8951976" y="4407408"/>
            <a:ext cx="3008376" cy="310896"/>
          </a:xfrm>
          <a:prstGeom prst="rect">
            <a:avLst/>
          </a:prstGeom>
          <a:noFill/>
        </p:spPr>
        <p:txBody>
          <a:bodyPr wrap="square">
            <a:spAutoFit/>
          </a:bodyPr>
          <a:lstStyle/>
          <a:p>
            <a:pPr algn="l"/>
            <a:r>
              <a:rPr sz="950" b="0" i="0">
                <a:solidFill>
                  <a:srgbClr val="A0AAB8"/>
                </a:solidFill>
                <a:latin typeface="Calibri"/>
              </a:rPr>
              <a:t>Reg. 49</a:t>
            </a:r>
          </a:p>
        </p:txBody>
      </p:sp>
      <p:sp>
        <p:nvSpPr>
          <p:cNvPr id="29" name="TextBox 28"/>
          <p:cNvSpPr txBox="1"/>
          <p:nvPr/>
        </p:nvSpPr>
        <p:spPr>
          <a:xfrm>
            <a:off x="8951976" y="4754880"/>
            <a:ext cx="3008376" cy="310896"/>
          </a:xfrm>
          <a:prstGeom prst="rect">
            <a:avLst/>
          </a:prstGeom>
          <a:noFill/>
        </p:spPr>
        <p:txBody>
          <a:bodyPr wrap="square">
            <a:spAutoFit/>
          </a:bodyPr>
          <a:lstStyle/>
          <a:p>
            <a:pPr algn="l"/>
            <a:r>
              <a:rPr sz="900" b="0" i="0">
                <a:solidFill>
                  <a:srgbClr val="A0AAB8"/>
                </a:solidFill>
                <a:latin typeface="Calibri"/>
              </a:rPr>
              <a:t>July 2025 · Batch 05</a:t>
            </a:r>
          </a:p>
        </p:txBody>
      </p:sp>
      <p:sp>
        <p:nvSpPr>
          <p:cNvPr id="30" name="TextBox 29"/>
          <p:cNvSpPr txBox="1"/>
          <p:nvPr/>
        </p:nvSpPr>
        <p:spPr>
          <a:xfrm>
            <a:off x="8951976" y="5102352"/>
            <a:ext cx="3008376" cy="310896"/>
          </a:xfrm>
          <a:prstGeom prst="rect">
            <a:avLst/>
          </a:prstGeom>
          <a:noFill/>
        </p:spPr>
        <p:txBody>
          <a:bodyPr wrap="square">
            <a:spAutoFit/>
          </a:bodyPr>
          <a:lstStyle/>
          <a:p>
            <a:pPr algn="l"/>
            <a:r>
              <a:rPr sz="850" b="0" i="0">
                <a:solidFill>
                  <a:srgbClr val="A0AAB8"/>
                </a:solidFill>
                <a:latin typeface="Calibri"/>
              </a:rPr>
              <a:t>Professional Masters in Information and Cyber Security</a:t>
            </a:r>
          </a:p>
        </p:txBody>
      </p:sp>
      <p:sp>
        <p:nvSpPr>
          <p:cNvPr id="31" name="TextBox 30"/>
          <p:cNvSpPr txBox="1"/>
          <p:nvPr/>
        </p:nvSpPr>
        <p:spPr>
          <a:xfrm>
            <a:off x="11780215" y="6355080"/>
            <a:ext cx="384048" cy="411480"/>
          </a:xfrm>
          <a:prstGeom prst="rect">
            <a:avLst/>
          </a:prstGeom>
          <a:noFill/>
        </p:spPr>
        <p:txBody>
          <a:bodyPr wrap="square">
            <a:spAutoFit/>
          </a:bodyPr>
          <a:lstStyle/>
          <a:p>
            <a:pPr algn="r"/>
            <a:r>
              <a:rPr sz="1300" b="1" i="0">
                <a:solidFill>
                  <a:srgbClr val="00E5FF"/>
                </a:solidFill>
                <a:latin typeface="Calibri"/>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7315200" cy="237744"/>
          </a:xfrm>
          <a:prstGeom prst="rect">
            <a:avLst/>
          </a:prstGeom>
          <a:noFill/>
        </p:spPr>
        <p:txBody>
          <a:bodyPr wrap="square">
            <a:spAutoFit/>
          </a:bodyPr>
          <a:lstStyle/>
          <a:p>
            <a:pPr algn="l"/>
            <a:r>
              <a:rPr sz="1000" b="1" i="0">
                <a:solidFill>
                  <a:srgbClr val="FF4545"/>
                </a:solidFill>
                <a:latin typeface="Calibri"/>
              </a:rPr>
              <a:t>THE PROBLEM</a:t>
            </a:r>
          </a:p>
        </p:txBody>
      </p:sp>
      <p:sp>
        <p:nvSpPr>
          <p:cNvPr id="6" name="TextBox 5"/>
          <p:cNvSpPr txBox="1"/>
          <p:nvPr/>
        </p:nvSpPr>
        <p:spPr>
          <a:xfrm>
            <a:off x="274320" y="292608"/>
            <a:ext cx="11430000" cy="475488"/>
          </a:xfrm>
          <a:prstGeom prst="rect">
            <a:avLst/>
          </a:prstGeom>
          <a:noFill/>
        </p:spPr>
        <p:txBody>
          <a:bodyPr wrap="square">
            <a:spAutoFit/>
          </a:bodyPr>
          <a:lstStyle/>
          <a:p>
            <a:pPr algn="l"/>
            <a:r>
              <a:rPr sz="3400" b="1" i="0">
                <a:solidFill>
                  <a:srgbClr val="FFFFFF"/>
                </a:solidFill>
                <a:latin typeface="Calibri"/>
              </a:rPr>
              <a:t>What Existing VAPT Systems Get Wrong</a:t>
            </a:r>
          </a:p>
        </p:txBody>
      </p:sp>
      <p:sp>
        <p:nvSpPr>
          <p:cNvPr id="7" name="Rectangle 6"/>
          <p:cNvSpPr/>
          <p:nvPr/>
        </p:nvSpPr>
        <p:spPr>
          <a:xfrm>
            <a:off x="274320" y="1207008"/>
            <a:ext cx="5303520" cy="1143000"/>
          </a:xfrm>
          <a:prstGeom prst="rect">
            <a:avLst/>
          </a:prstGeom>
          <a:solidFill>
            <a:srgbClr val="2A1010"/>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4048" y="1298448"/>
            <a:ext cx="365760" cy="457200"/>
          </a:xfrm>
          <a:prstGeom prst="rect">
            <a:avLst/>
          </a:prstGeom>
          <a:noFill/>
        </p:spPr>
        <p:txBody>
          <a:bodyPr wrap="square">
            <a:spAutoFit/>
          </a:bodyPr>
          <a:lstStyle/>
          <a:p>
            <a:pPr algn="ctr"/>
            <a:r>
              <a:rPr sz="2000" b="1" i="0">
                <a:solidFill>
                  <a:srgbClr val="FF4545"/>
                </a:solidFill>
                <a:latin typeface="Calibri"/>
              </a:rPr>
              <a:t>✕</a:t>
            </a:r>
          </a:p>
        </p:txBody>
      </p:sp>
      <p:sp>
        <p:nvSpPr>
          <p:cNvPr id="9" name="TextBox 8"/>
          <p:cNvSpPr txBox="1"/>
          <p:nvPr/>
        </p:nvSpPr>
        <p:spPr>
          <a:xfrm>
            <a:off x="713232" y="1280160"/>
            <a:ext cx="4754880" cy="329184"/>
          </a:xfrm>
          <a:prstGeom prst="rect">
            <a:avLst/>
          </a:prstGeom>
          <a:noFill/>
        </p:spPr>
        <p:txBody>
          <a:bodyPr wrap="square">
            <a:spAutoFit/>
          </a:bodyPr>
          <a:lstStyle/>
          <a:p>
            <a:pPr algn="l"/>
            <a:r>
              <a:rPr sz="1400" b="1" i="0">
                <a:solidFill>
                  <a:srgbClr val="FFFFFF"/>
                </a:solidFill>
                <a:latin typeface="Calibri"/>
              </a:rPr>
              <a:t>No Structured World Model</a:t>
            </a:r>
          </a:p>
        </p:txBody>
      </p:sp>
      <p:sp>
        <p:nvSpPr>
          <p:cNvPr id="10" name="TextBox 9"/>
          <p:cNvSpPr txBox="1"/>
          <p:nvPr/>
        </p:nvSpPr>
        <p:spPr>
          <a:xfrm>
            <a:off x="713232" y="1609344"/>
            <a:ext cx="4754880" cy="658368"/>
          </a:xfrm>
          <a:prstGeom prst="rect">
            <a:avLst/>
          </a:prstGeom>
          <a:noFill/>
        </p:spPr>
        <p:txBody>
          <a:bodyPr wrap="square">
            <a:spAutoFit/>
          </a:bodyPr>
          <a:lstStyle/>
          <a:p>
            <a:pPr algn="l"/>
            <a:r>
              <a:rPr sz="1150" b="0" i="0">
                <a:solidFill>
                  <a:srgbClr val="A0AAB8"/>
                </a:solidFill>
                <a:latin typeface="Calibri"/>
              </a:rPr>
              <a:t>Systems reason from flat conversation history or task queues — no graph of what the target actually is.</a:t>
            </a:r>
          </a:p>
        </p:txBody>
      </p:sp>
      <p:sp>
        <p:nvSpPr>
          <p:cNvPr id="11" name="Rectangle 10"/>
          <p:cNvSpPr/>
          <p:nvPr/>
        </p:nvSpPr>
        <p:spPr>
          <a:xfrm>
            <a:off x="274320" y="2441448"/>
            <a:ext cx="5303520" cy="1143000"/>
          </a:xfrm>
          <a:prstGeom prst="rect">
            <a:avLst/>
          </a:prstGeom>
          <a:solidFill>
            <a:srgbClr val="2A1010"/>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 y="2532888"/>
            <a:ext cx="365760" cy="457200"/>
          </a:xfrm>
          <a:prstGeom prst="rect">
            <a:avLst/>
          </a:prstGeom>
          <a:noFill/>
        </p:spPr>
        <p:txBody>
          <a:bodyPr wrap="square">
            <a:spAutoFit/>
          </a:bodyPr>
          <a:lstStyle/>
          <a:p>
            <a:pPr algn="ctr"/>
            <a:r>
              <a:rPr sz="2000" b="1" i="0">
                <a:solidFill>
                  <a:srgbClr val="FF4545"/>
                </a:solidFill>
                <a:latin typeface="Calibri"/>
              </a:rPr>
              <a:t>✕</a:t>
            </a:r>
          </a:p>
        </p:txBody>
      </p:sp>
      <p:sp>
        <p:nvSpPr>
          <p:cNvPr id="13" name="TextBox 12"/>
          <p:cNvSpPr txBox="1"/>
          <p:nvPr/>
        </p:nvSpPr>
        <p:spPr>
          <a:xfrm>
            <a:off x="713232" y="2514600"/>
            <a:ext cx="4754880" cy="329184"/>
          </a:xfrm>
          <a:prstGeom prst="rect">
            <a:avLst/>
          </a:prstGeom>
          <a:noFill/>
        </p:spPr>
        <p:txBody>
          <a:bodyPr wrap="square">
            <a:spAutoFit/>
          </a:bodyPr>
          <a:lstStyle/>
          <a:p>
            <a:pPr algn="l"/>
            <a:r>
              <a:rPr sz="1400" b="1" i="0">
                <a:solidFill>
                  <a:srgbClr val="FFFFFF"/>
                </a:solidFill>
                <a:latin typeface="Calibri"/>
              </a:rPr>
              <a:t>No Attack Path Reasoning</a:t>
            </a:r>
          </a:p>
        </p:txBody>
      </p:sp>
      <p:sp>
        <p:nvSpPr>
          <p:cNvPr id="14" name="TextBox 13"/>
          <p:cNvSpPr txBox="1"/>
          <p:nvPr/>
        </p:nvSpPr>
        <p:spPr>
          <a:xfrm>
            <a:off x="713232" y="2843784"/>
            <a:ext cx="4754880" cy="658368"/>
          </a:xfrm>
          <a:prstGeom prst="rect">
            <a:avLst/>
          </a:prstGeom>
          <a:noFill/>
        </p:spPr>
        <p:txBody>
          <a:bodyPr wrap="square">
            <a:spAutoFit/>
          </a:bodyPr>
          <a:lstStyle/>
          <a:p>
            <a:pPr algn="l"/>
            <a:r>
              <a:rPr sz="1150" b="0" i="0">
                <a:solidFill>
                  <a:srgbClr val="A0AAB8"/>
                </a:solidFill>
                <a:latin typeface="Calibri"/>
              </a:rPr>
              <a:t>Finished tasks are logged, not understood. Systems cannot represent which vulnerabilities chain together or why.</a:t>
            </a:r>
          </a:p>
        </p:txBody>
      </p:sp>
      <p:sp>
        <p:nvSpPr>
          <p:cNvPr id="15" name="Rectangle 14"/>
          <p:cNvSpPr/>
          <p:nvPr/>
        </p:nvSpPr>
        <p:spPr>
          <a:xfrm>
            <a:off x="274320" y="3675888"/>
            <a:ext cx="5303520" cy="1143000"/>
          </a:xfrm>
          <a:prstGeom prst="rect">
            <a:avLst/>
          </a:prstGeom>
          <a:solidFill>
            <a:srgbClr val="2A1010"/>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4048" y="3767328"/>
            <a:ext cx="365760" cy="457200"/>
          </a:xfrm>
          <a:prstGeom prst="rect">
            <a:avLst/>
          </a:prstGeom>
          <a:noFill/>
        </p:spPr>
        <p:txBody>
          <a:bodyPr wrap="square">
            <a:spAutoFit/>
          </a:bodyPr>
          <a:lstStyle/>
          <a:p>
            <a:pPr algn="ctr"/>
            <a:r>
              <a:rPr sz="2000" b="1" i="0">
                <a:solidFill>
                  <a:srgbClr val="FF4545"/>
                </a:solidFill>
                <a:latin typeface="Calibri"/>
              </a:rPr>
              <a:t>✕</a:t>
            </a:r>
          </a:p>
        </p:txBody>
      </p:sp>
      <p:sp>
        <p:nvSpPr>
          <p:cNvPr id="17" name="TextBox 16"/>
          <p:cNvSpPr txBox="1"/>
          <p:nvPr/>
        </p:nvSpPr>
        <p:spPr>
          <a:xfrm>
            <a:off x="713232" y="3749040"/>
            <a:ext cx="4754880" cy="329184"/>
          </a:xfrm>
          <a:prstGeom prst="rect">
            <a:avLst/>
          </a:prstGeom>
          <a:noFill/>
        </p:spPr>
        <p:txBody>
          <a:bodyPr wrap="square">
            <a:spAutoFit/>
          </a:bodyPr>
          <a:lstStyle/>
          <a:p>
            <a:pPr algn="l"/>
            <a:r>
              <a:rPr sz="1400" b="1" i="0">
                <a:solidFill>
                  <a:srgbClr val="FFFFFF"/>
                </a:solidFill>
                <a:latin typeface="Calibri"/>
              </a:rPr>
              <a:t>Fragile Re-Planning</a:t>
            </a:r>
          </a:p>
        </p:txBody>
      </p:sp>
      <p:sp>
        <p:nvSpPr>
          <p:cNvPr id="18" name="TextBox 17"/>
          <p:cNvSpPr txBox="1"/>
          <p:nvPr/>
        </p:nvSpPr>
        <p:spPr>
          <a:xfrm>
            <a:off x="713232" y="4078224"/>
            <a:ext cx="4754880" cy="658368"/>
          </a:xfrm>
          <a:prstGeom prst="rect">
            <a:avLst/>
          </a:prstGeom>
          <a:noFill/>
        </p:spPr>
        <p:txBody>
          <a:bodyPr wrap="square">
            <a:spAutoFit/>
          </a:bodyPr>
          <a:lstStyle/>
          <a:p>
            <a:pPr algn="l"/>
            <a:r>
              <a:rPr sz="1150" b="0" i="0">
                <a:solidFill>
                  <a:srgbClr val="A0AAB8"/>
                </a:solidFill>
                <a:latin typeface="Calibri"/>
              </a:rPr>
              <a:t>Dynamic re-planning is ad-hoc. There is no formal trigger grounded in discovered evidence.</a:t>
            </a:r>
          </a:p>
        </p:txBody>
      </p:sp>
      <p:sp>
        <p:nvSpPr>
          <p:cNvPr id="19" name="Rectangle 18"/>
          <p:cNvSpPr/>
          <p:nvPr/>
        </p:nvSpPr>
        <p:spPr>
          <a:xfrm>
            <a:off x="274320" y="4910328"/>
            <a:ext cx="5303520" cy="1143000"/>
          </a:xfrm>
          <a:prstGeom prst="rect">
            <a:avLst/>
          </a:prstGeom>
          <a:solidFill>
            <a:srgbClr val="2A1010"/>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4048" y="5001768"/>
            <a:ext cx="365760" cy="457200"/>
          </a:xfrm>
          <a:prstGeom prst="rect">
            <a:avLst/>
          </a:prstGeom>
          <a:noFill/>
        </p:spPr>
        <p:txBody>
          <a:bodyPr wrap="square">
            <a:spAutoFit/>
          </a:bodyPr>
          <a:lstStyle/>
          <a:p>
            <a:pPr algn="ctr"/>
            <a:r>
              <a:rPr sz="2000" b="1" i="0">
                <a:solidFill>
                  <a:srgbClr val="FF4545"/>
                </a:solidFill>
                <a:latin typeface="Calibri"/>
              </a:rPr>
              <a:t>✕</a:t>
            </a:r>
          </a:p>
        </p:txBody>
      </p:sp>
      <p:sp>
        <p:nvSpPr>
          <p:cNvPr id="21" name="TextBox 20"/>
          <p:cNvSpPr txBox="1"/>
          <p:nvPr/>
        </p:nvSpPr>
        <p:spPr>
          <a:xfrm>
            <a:off x="713232" y="4983480"/>
            <a:ext cx="4754880" cy="329184"/>
          </a:xfrm>
          <a:prstGeom prst="rect">
            <a:avLst/>
          </a:prstGeom>
          <a:noFill/>
        </p:spPr>
        <p:txBody>
          <a:bodyPr wrap="square">
            <a:spAutoFit/>
          </a:bodyPr>
          <a:lstStyle/>
          <a:p>
            <a:pPr algn="l"/>
            <a:r>
              <a:rPr sz="1400" b="1" i="0">
                <a:solidFill>
                  <a:srgbClr val="FFFFFF"/>
                </a:solidFill>
                <a:latin typeface="Calibri"/>
              </a:rPr>
              <a:t>Arbitrary Termination</a:t>
            </a:r>
          </a:p>
        </p:txBody>
      </p:sp>
      <p:sp>
        <p:nvSpPr>
          <p:cNvPr id="22" name="TextBox 21"/>
          <p:cNvSpPr txBox="1"/>
          <p:nvPr/>
        </p:nvSpPr>
        <p:spPr>
          <a:xfrm>
            <a:off x="713232" y="5312664"/>
            <a:ext cx="4754880" cy="658368"/>
          </a:xfrm>
          <a:prstGeom prst="rect">
            <a:avLst/>
          </a:prstGeom>
          <a:noFill/>
        </p:spPr>
        <p:txBody>
          <a:bodyPr wrap="square">
            <a:spAutoFit/>
          </a:bodyPr>
          <a:lstStyle/>
          <a:p>
            <a:pPr algn="l"/>
            <a:r>
              <a:rPr sz="1150" b="0" i="0">
                <a:solidFill>
                  <a:srgbClr val="A0AAB8"/>
                </a:solidFill>
                <a:latin typeface="Calibri"/>
              </a:rPr>
              <a:t>Missions end on time-limits or empty queues — not because the attack surface and all chains are truly exhausted.</a:t>
            </a:r>
          </a:p>
        </p:txBody>
      </p:sp>
      <p:sp>
        <p:nvSpPr>
          <p:cNvPr id="23" name="Rectangle 22"/>
          <p:cNvSpPr/>
          <p:nvPr/>
        </p:nvSpPr>
        <p:spPr>
          <a:xfrm>
            <a:off x="5943600" y="1207008"/>
            <a:ext cx="5943600" cy="2331720"/>
          </a:xfrm>
          <a:prstGeom prst="rect">
            <a:avLst/>
          </a:prstGeom>
          <a:solidFill>
            <a:srgbClr val="10162B"/>
          </a:solidFill>
          <a:ln w="1905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80760" y="1252728"/>
            <a:ext cx="548640" cy="640080"/>
          </a:xfrm>
          <a:prstGeom prst="rect">
            <a:avLst/>
          </a:prstGeom>
          <a:noFill/>
        </p:spPr>
        <p:txBody>
          <a:bodyPr wrap="square">
            <a:spAutoFit/>
          </a:bodyPr>
          <a:lstStyle/>
          <a:p>
            <a:pPr algn="ctr"/>
            <a:r>
              <a:rPr sz="6000" b="1" i="0">
                <a:solidFill>
                  <a:srgbClr val="00E5FF"/>
                </a:solidFill>
                <a:latin typeface="Calibri"/>
              </a:rPr>
              <a:t>“</a:t>
            </a:r>
          </a:p>
        </p:txBody>
      </p:sp>
      <p:sp>
        <p:nvSpPr>
          <p:cNvPr id="25" name="TextBox 24"/>
          <p:cNvSpPr txBox="1"/>
          <p:nvPr/>
        </p:nvSpPr>
        <p:spPr>
          <a:xfrm>
            <a:off x="6126480" y="1709928"/>
            <a:ext cx="5577840" cy="1463040"/>
          </a:xfrm>
          <a:prstGeom prst="rect">
            <a:avLst/>
          </a:prstGeom>
          <a:noFill/>
        </p:spPr>
        <p:txBody>
          <a:bodyPr wrap="square">
            <a:spAutoFit/>
          </a:bodyPr>
          <a:lstStyle/>
          <a:p>
            <a:pPr algn="l"/>
            <a:r>
              <a:rPr sz="2000" b="0" i="1">
                <a:solidFill>
                  <a:srgbClr val="FFFFFF"/>
                </a:solidFill>
                <a:latin typeface="Calibri"/>
              </a:rPr>
              <a:t>They automate tool execution. CMatrix automates the reasoning of a professional penetration tester.</a:t>
            </a:r>
          </a:p>
        </p:txBody>
      </p:sp>
      <p:sp>
        <p:nvSpPr>
          <p:cNvPr id="26" name="TextBox 25"/>
          <p:cNvSpPr txBox="1"/>
          <p:nvPr/>
        </p:nvSpPr>
        <p:spPr>
          <a:xfrm>
            <a:off x="6126480" y="3218688"/>
            <a:ext cx="5577840" cy="320040"/>
          </a:xfrm>
          <a:prstGeom prst="rect">
            <a:avLst/>
          </a:prstGeom>
          <a:noFill/>
        </p:spPr>
        <p:txBody>
          <a:bodyPr wrap="square">
            <a:spAutoFit/>
          </a:bodyPr>
          <a:lstStyle/>
          <a:p>
            <a:pPr algn="l"/>
            <a:r>
              <a:rPr sz="1200" b="0" i="0">
                <a:solidFill>
                  <a:srgbClr val="A0AAB8"/>
                </a:solidFill>
                <a:latin typeface="Calibri"/>
              </a:rPr>
              <a:t>— CMatrix Design Philosophy</a:t>
            </a:r>
          </a:p>
        </p:txBody>
      </p:sp>
      <p:sp>
        <p:nvSpPr>
          <p:cNvPr id="27" name="Rectangle 26"/>
          <p:cNvSpPr/>
          <p:nvPr/>
        </p:nvSpPr>
        <p:spPr>
          <a:xfrm>
            <a:off x="5943600" y="3675887"/>
            <a:ext cx="5943600" cy="347472"/>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26480" y="3703320"/>
            <a:ext cx="5669280" cy="301752"/>
          </a:xfrm>
          <a:prstGeom prst="rect">
            <a:avLst/>
          </a:prstGeom>
          <a:noFill/>
        </p:spPr>
        <p:txBody>
          <a:bodyPr wrap="square">
            <a:spAutoFit/>
          </a:bodyPr>
          <a:lstStyle/>
          <a:p>
            <a:pPr algn="l"/>
            <a:r>
              <a:rPr sz="1300" b="1" i="0">
                <a:solidFill>
                  <a:srgbClr val="FFFFFF"/>
                </a:solidFill>
                <a:latin typeface="Calibri"/>
              </a:rPr>
              <a:t>⚠  ROOT CAUSE</a:t>
            </a:r>
          </a:p>
        </p:txBody>
      </p:sp>
      <p:sp>
        <p:nvSpPr>
          <p:cNvPr id="29" name="Rectangle 28"/>
          <p:cNvSpPr/>
          <p:nvPr/>
        </p:nvSpPr>
        <p:spPr>
          <a:xfrm>
            <a:off x="5943600" y="4041648"/>
            <a:ext cx="5943600" cy="1298448"/>
          </a:xfrm>
          <a:prstGeom prst="rect">
            <a:avLst/>
          </a:prstGeom>
          <a:solidFill>
            <a:srgbClr val="10162B"/>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26480" y="4114800"/>
            <a:ext cx="5623560" cy="1152144"/>
          </a:xfrm>
          <a:prstGeom prst="rect">
            <a:avLst/>
          </a:prstGeom>
          <a:noFill/>
        </p:spPr>
        <p:txBody>
          <a:bodyPr wrap="square">
            <a:spAutoFit/>
          </a:bodyPr>
          <a:lstStyle/>
          <a:p>
            <a:pPr algn="l"/>
            <a:r>
              <a:rPr sz="1250" b="0" i="0">
                <a:solidFill>
                  <a:srgbClr val="A0AAB8"/>
                </a:solidFill>
                <a:latin typeface="Calibri"/>
              </a:rPr>
              <a:t>Existing systems have no structured model of the target environment and no structured model of what attack paths are possible.  They know what they did — not what the target is, or what can be done to it.</a:t>
            </a:r>
          </a:p>
        </p:txBody>
      </p:sp>
      <p:sp>
        <p:nvSpPr>
          <p:cNvPr id="31" name="Rectangle 30"/>
          <p:cNvSpPr/>
          <p:nvPr/>
        </p:nvSpPr>
        <p:spPr>
          <a:xfrm>
            <a:off x="274320" y="5559552"/>
            <a:ext cx="11643055" cy="777240"/>
          </a:xfrm>
          <a:prstGeom prst="rect">
            <a:avLst/>
          </a:prstGeom>
          <a:solidFill>
            <a:srgbClr val="051420"/>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5650992"/>
            <a:ext cx="11277295" cy="566928"/>
          </a:xfrm>
          <a:prstGeom prst="rect">
            <a:avLst/>
          </a:prstGeom>
          <a:noFill/>
        </p:spPr>
        <p:txBody>
          <a:bodyPr wrap="square">
            <a:spAutoFit/>
          </a:bodyPr>
          <a:lstStyle/>
          <a:p>
            <a:pPr algn="l"/>
            <a:r>
              <a:rPr sz="1400" b="1" i="0">
                <a:solidFill>
                  <a:srgbClr val="00E5FF"/>
                </a:solidFill>
                <a:latin typeface="Calibri"/>
              </a:rPr>
              <a:t>CMatrix Solution →  Dual-graph world model: ASG captures discovered reality  ·  APG captures inferred attack opportunity</a:t>
            </a:r>
          </a:p>
        </p:txBody>
      </p:sp>
      <p:sp>
        <p:nvSpPr>
          <p:cNvPr id="33" name="TextBox 32"/>
          <p:cNvSpPr txBox="1"/>
          <p:nvPr/>
        </p:nvSpPr>
        <p:spPr>
          <a:xfrm>
            <a:off x="11780215" y="6355080"/>
            <a:ext cx="384048" cy="411480"/>
          </a:xfrm>
          <a:prstGeom prst="rect">
            <a:avLst/>
          </a:prstGeom>
          <a:noFill/>
        </p:spPr>
        <p:txBody>
          <a:bodyPr wrap="square">
            <a:spAutoFit/>
          </a:bodyPr>
          <a:lstStyle/>
          <a:p>
            <a:pPr algn="r"/>
            <a:r>
              <a:rPr sz="1300" b="1" i="0">
                <a:solidFill>
                  <a:srgbClr val="FF4545"/>
                </a:solidFill>
                <a:latin typeface="Calibri"/>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7315200" cy="237744"/>
          </a:xfrm>
          <a:prstGeom prst="rect">
            <a:avLst/>
          </a:prstGeom>
          <a:noFill/>
        </p:spPr>
        <p:txBody>
          <a:bodyPr wrap="square">
            <a:spAutoFit/>
          </a:bodyPr>
          <a:lstStyle/>
          <a:p>
            <a:pPr algn="l"/>
            <a:r>
              <a:rPr sz="1000" b="1" i="0">
                <a:solidFill>
                  <a:srgbClr val="BD93F9"/>
                </a:solidFill>
                <a:latin typeface="Calibri"/>
              </a:rPr>
              <a:t>FOUNDATIONS &amp; INSPIRATIONS</a:t>
            </a:r>
          </a:p>
        </p:txBody>
      </p:sp>
      <p:sp>
        <p:nvSpPr>
          <p:cNvPr id="6" name="TextBox 5"/>
          <p:cNvSpPr txBox="1"/>
          <p:nvPr/>
        </p:nvSpPr>
        <p:spPr>
          <a:xfrm>
            <a:off x="274320" y="292608"/>
            <a:ext cx="11430000" cy="475488"/>
          </a:xfrm>
          <a:prstGeom prst="rect">
            <a:avLst/>
          </a:prstGeom>
          <a:noFill/>
        </p:spPr>
        <p:txBody>
          <a:bodyPr wrap="square">
            <a:spAutoFit/>
          </a:bodyPr>
          <a:lstStyle/>
          <a:p>
            <a:pPr algn="l"/>
            <a:r>
              <a:rPr sz="2600" b="1" i="0">
                <a:solidFill>
                  <a:srgbClr val="FFFFFF"/>
                </a:solidFill>
                <a:latin typeface="Calibri"/>
              </a:rPr>
              <a:t>Academic Papers + Open-Source Repositories That Shaped CMatrix</a:t>
            </a:r>
          </a:p>
        </p:txBody>
      </p:sp>
      <p:sp>
        <p:nvSpPr>
          <p:cNvPr id="7" name="Rectangle 6"/>
          <p:cNvSpPr/>
          <p:nvPr/>
        </p:nvSpPr>
        <p:spPr>
          <a:xfrm>
            <a:off x="274320" y="822960"/>
            <a:ext cx="10058400" cy="27432"/>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01168" y="987552"/>
            <a:ext cx="5943600" cy="274320"/>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0896" y="1033272"/>
            <a:ext cx="5760720" cy="201168"/>
          </a:xfrm>
          <a:prstGeom prst="rect">
            <a:avLst/>
          </a:prstGeom>
          <a:noFill/>
        </p:spPr>
        <p:txBody>
          <a:bodyPr wrap="square">
            <a:spAutoFit/>
          </a:bodyPr>
          <a:lstStyle/>
          <a:p>
            <a:pPr algn="l"/>
            <a:r>
              <a:rPr sz="1000" b="1" i="0">
                <a:solidFill>
                  <a:srgbClr val="FFFFFF"/>
                </a:solidFill>
                <a:latin typeface="Calibri"/>
              </a:rPr>
              <a:t>📄  ACADEMIC PAPERS</a:t>
            </a:r>
          </a:p>
        </p:txBody>
      </p:sp>
      <p:sp>
        <p:nvSpPr>
          <p:cNvPr id="10" name="Rectangle 9"/>
          <p:cNvSpPr/>
          <p:nvPr/>
        </p:nvSpPr>
        <p:spPr>
          <a:xfrm>
            <a:off x="6291072" y="987552"/>
            <a:ext cx="5687568" cy="274320"/>
          </a:xfrm>
          <a:prstGeom prst="rect">
            <a:avLst/>
          </a:prstGeom>
          <a:solidFill>
            <a:srgbClr val="301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033272"/>
            <a:ext cx="5504688" cy="201168"/>
          </a:xfrm>
          <a:prstGeom prst="rect">
            <a:avLst/>
          </a:prstGeom>
          <a:noFill/>
        </p:spPr>
        <p:txBody>
          <a:bodyPr wrap="square">
            <a:spAutoFit/>
          </a:bodyPr>
          <a:lstStyle/>
          <a:p>
            <a:pPr algn="l"/>
            <a:r>
              <a:rPr sz="1000" b="1" i="0">
                <a:solidFill>
                  <a:srgbClr val="FFFFFF"/>
                </a:solidFill>
                <a:latin typeface="Calibri"/>
              </a:rPr>
              <a:t>💻  OPEN-SOURCE REPOSITORIES</a:t>
            </a:r>
          </a:p>
        </p:txBody>
      </p:sp>
      <p:sp>
        <p:nvSpPr>
          <p:cNvPr id="12" name="Rectangle 11"/>
          <p:cNvSpPr/>
          <p:nvPr/>
        </p:nvSpPr>
        <p:spPr>
          <a:xfrm>
            <a:off x="201168" y="1298448"/>
            <a:ext cx="5943600" cy="1035100"/>
          </a:xfrm>
          <a:prstGeom prst="rect">
            <a:avLst/>
          </a:prstGeom>
          <a:solidFill>
            <a:srgbClr val="0C081A"/>
          </a:solidFill>
          <a:ln w="1016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01168" y="1298448"/>
            <a:ext cx="54864" cy="103510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2608" y="1353312"/>
            <a:ext cx="237744" cy="237744"/>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1752" y="1362456"/>
            <a:ext cx="219456" cy="201168"/>
          </a:xfrm>
          <a:prstGeom prst="rect">
            <a:avLst/>
          </a:prstGeom>
          <a:noFill/>
        </p:spPr>
        <p:txBody>
          <a:bodyPr wrap="square">
            <a:spAutoFit/>
          </a:bodyPr>
          <a:lstStyle/>
          <a:p>
            <a:pPr algn="ctr"/>
            <a:r>
              <a:rPr sz="800" b="1" i="0">
                <a:solidFill>
                  <a:srgbClr val="0A0D1A"/>
                </a:solidFill>
                <a:latin typeface="Calibri"/>
              </a:rPr>
              <a:t>1</a:t>
            </a:r>
          </a:p>
        </p:txBody>
      </p:sp>
      <p:sp>
        <p:nvSpPr>
          <p:cNvPr id="16" name="TextBox 15"/>
          <p:cNvSpPr txBox="1"/>
          <p:nvPr/>
        </p:nvSpPr>
        <p:spPr>
          <a:xfrm>
            <a:off x="585216" y="1353312"/>
            <a:ext cx="3200400" cy="201168"/>
          </a:xfrm>
          <a:prstGeom prst="rect">
            <a:avLst/>
          </a:prstGeom>
          <a:noFill/>
        </p:spPr>
        <p:txBody>
          <a:bodyPr wrap="square">
            <a:spAutoFit/>
          </a:bodyPr>
          <a:lstStyle/>
          <a:p>
            <a:pPr algn="l"/>
            <a:r>
              <a:rPr sz="1000" b="1" i="0">
                <a:solidFill>
                  <a:srgbClr val="00E5FF"/>
                </a:solidFill>
                <a:latin typeface="Calibri"/>
              </a:rPr>
              <a:t>PentestGPT</a:t>
            </a:r>
          </a:p>
        </p:txBody>
      </p:sp>
      <p:sp>
        <p:nvSpPr>
          <p:cNvPr id="17" name="TextBox 16"/>
          <p:cNvSpPr txBox="1"/>
          <p:nvPr/>
        </p:nvSpPr>
        <p:spPr>
          <a:xfrm>
            <a:off x="585216" y="1536192"/>
            <a:ext cx="3200400" cy="164592"/>
          </a:xfrm>
          <a:prstGeom prst="rect">
            <a:avLst/>
          </a:prstGeom>
          <a:noFill/>
        </p:spPr>
        <p:txBody>
          <a:bodyPr wrap="square">
            <a:spAutoFit/>
          </a:bodyPr>
          <a:lstStyle/>
          <a:p>
            <a:pPr algn="l"/>
            <a:r>
              <a:rPr sz="800" b="0" i="0">
                <a:solidFill>
                  <a:srgbClr val="A0AAB8"/>
                </a:solidFill>
                <a:latin typeface="Calibri"/>
              </a:rPr>
              <a:t>USENIX Security '24</a:t>
            </a:r>
          </a:p>
        </p:txBody>
      </p:sp>
      <p:sp>
        <p:nvSpPr>
          <p:cNvPr id="18" name="TextBox 17"/>
          <p:cNvSpPr txBox="1"/>
          <p:nvPr/>
        </p:nvSpPr>
        <p:spPr>
          <a:xfrm>
            <a:off x="292608" y="1719072"/>
            <a:ext cx="5779008" cy="577900"/>
          </a:xfrm>
          <a:prstGeom prst="rect">
            <a:avLst/>
          </a:prstGeom>
          <a:noFill/>
        </p:spPr>
        <p:txBody>
          <a:bodyPr wrap="square">
            <a:spAutoFit/>
          </a:bodyPr>
          <a:lstStyle/>
          <a:p>
            <a:pPr algn="l"/>
            <a:r>
              <a:rPr sz="750" b="0" i="0">
                <a:solidFill>
                  <a:srgbClr val="A0AAB8"/>
                </a:solidFill>
                <a:latin typeface="Calibri"/>
              </a:rPr>
              <a:t>Tripartite Reasoning / Generation / Parsing pipeline.
Pentesting Task Tree as long-session context memory.
Gap: Task Tree records tasks performed — not discovered facts. No structured target model; no representation of what can be done to it.</a:t>
            </a:r>
          </a:p>
        </p:txBody>
      </p:sp>
      <p:sp>
        <p:nvSpPr>
          <p:cNvPr id="19" name="Rectangle 18"/>
          <p:cNvSpPr/>
          <p:nvPr/>
        </p:nvSpPr>
        <p:spPr>
          <a:xfrm>
            <a:off x="201168" y="2370124"/>
            <a:ext cx="5943600" cy="1035100"/>
          </a:xfrm>
          <a:prstGeom prst="rect">
            <a:avLst/>
          </a:prstGeom>
          <a:solidFill>
            <a:srgbClr val="080614"/>
          </a:solidFill>
          <a:ln w="1016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01168" y="2370124"/>
            <a:ext cx="54864" cy="103510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92608" y="2424988"/>
            <a:ext cx="237744" cy="237744"/>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01752" y="2434132"/>
            <a:ext cx="219456" cy="201168"/>
          </a:xfrm>
          <a:prstGeom prst="rect">
            <a:avLst/>
          </a:prstGeom>
          <a:noFill/>
        </p:spPr>
        <p:txBody>
          <a:bodyPr wrap="square">
            <a:spAutoFit/>
          </a:bodyPr>
          <a:lstStyle/>
          <a:p>
            <a:pPr algn="ctr"/>
            <a:r>
              <a:rPr sz="800" b="1" i="0">
                <a:solidFill>
                  <a:srgbClr val="0A0D1A"/>
                </a:solidFill>
                <a:latin typeface="Calibri"/>
              </a:rPr>
              <a:t>2</a:t>
            </a:r>
          </a:p>
        </p:txBody>
      </p:sp>
      <p:sp>
        <p:nvSpPr>
          <p:cNvPr id="23" name="TextBox 22"/>
          <p:cNvSpPr txBox="1"/>
          <p:nvPr/>
        </p:nvSpPr>
        <p:spPr>
          <a:xfrm>
            <a:off x="585216" y="2424988"/>
            <a:ext cx="3200400" cy="201168"/>
          </a:xfrm>
          <a:prstGeom prst="rect">
            <a:avLst/>
          </a:prstGeom>
          <a:noFill/>
        </p:spPr>
        <p:txBody>
          <a:bodyPr wrap="square">
            <a:spAutoFit/>
          </a:bodyPr>
          <a:lstStyle/>
          <a:p>
            <a:pPr algn="l"/>
            <a:r>
              <a:rPr sz="1000" b="1" i="0">
                <a:solidFill>
                  <a:srgbClr val="39FF14"/>
                </a:solidFill>
                <a:latin typeface="Calibri"/>
              </a:rPr>
              <a:t>AutoAttacker</a:t>
            </a:r>
          </a:p>
        </p:txBody>
      </p:sp>
      <p:sp>
        <p:nvSpPr>
          <p:cNvPr id="24" name="TextBox 23"/>
          <p:cNvSpPr txBox="1"/>
          <p:nvPr/>
        </p:nvSpPr>
        <p:spPr>
          <a:xfrm>
            <a:off x="585216" y="2607868"/>
            <a:ext cx="3200400" cy="164592"/>
          </a:xfrm>
          <a:prstGeom prst="rect">
            <a:avLst/>
          </a:prstGeom>
          <a:noFill/>
        </p:spPr>
        <p:txBody>
          <a:bodyPr wrap="square">
            <a:spAutoFit/>
          </a:bodyPr>
          <a:lstStyle/>
          <a:p>
            <a:pPr algn="l"/>
            <a:r>
              <a:rPr sz="800" b="0" i="0">
                <a:solidFill>
                  <a:srgbClr val="A0AAB8"/>
                </a:solidFill>
                <a:latin typeface="Calibri"/>
              </a:rPr>
              <a:t>arXiv '24 — Xu et al.</a:t>
            </a:r>
          </a:p>
        </p:txBody>
      </p:sp>
      <p:sp>
        <p:nvSpPr>
          <p:cNvPr id="25" name="TextBox 24"/>
          <p:cNvSpPr txBox="1"/>
          <p:nvPr/>
        </p:nvSpPr>
        <p:spPr>
          <a:xfrm>
            <a:off x="292608" y="2790748"/>
            <a:ext cx="5779008" cy="577900"/>
          </a:xfrm>
          <a:prstGeom prst="rect">
            <a:avLst/>
          </a:prstGeom>
          <a:noFill/>
        </p:spPr>
        <p:txBody>
          <a:bodyPr wrap="square">
            <a:spAutoFit/>
          </a:bodyPr>
          <a:lstStyle/>
          <a:p>
            <a:pPr algn="l"/>
            <a:r>
              <a:rPr sz="750" b="0" i="0">
                <a:solidFill>
                  <a:srgbClr val="A0AAB8"/>
                </a:solidFill>
                <a:latin typeface="Calibri"/>
              </a:rPr>
              <a:t>Modular planner / summarizer / code-generator for post-breach automation.
Experience manager reuses attack subtasks within one mission.
Gap: Experience reuse bounded to a single mission. Every new mission resets to zero knowledge — no cross-mission accumulation.</a:t>
            </a:r>
          </a:p>
        </p:txBody>
      </p:sp>
      <p:sp>
        <p:nvSpPr>
          <p:cNvPr id="26" name="Rectangle 25"/>
          <p:cNvSpPr/>
          <p:nvPr/>
        </p:nvSpPr>
        <p:spPr>
          <a:xfrm>
            <a:off x="201168" y="3441801"/>
            <a:ext cx="5943600" cy="1035100"/>
          </a:xfrm>
          <a:prstGeom prst="rect">
            <a:avLst/>
          </a:prstGeom>
          <a:solidFill>
            <a:srgbClr val="0C081A"/>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01168" y="3441801"/>
            <a:ext cx="54864" cy="103510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92608" y="3496665"/>
            <a:ext cx="237744" cy="23774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1752" y="3505809"/>
            <a:ext cx="219456" cy="201168"/>
          </a:xfrm>
          <a:prstGeom prst="rect">
            <a:avLst/>
          </a:prstGeom>
          <a:noFill/>
        </p:spPr>
        <p:txBody>
          <a:bodyPr wrap="square">
            <a:spAutoFit/>
          </a:bodyPr>
          <a:lstStyle/>
          <a:p>
            <a:pPr algn="ctr"/>
            <a:r>
              <a:rPr sz="800" b="1" i="0">
                <a:solidFill>
                  <a:srgbClr val="0A0D1A"/>
                </a:solidFill>
                <a:latin typeface="Calibri"/>
              </a:rPr>
              <a:t>3</a:t>
            </a:r>
          </a:p>
        </p:txBody>
      </p:sp>
      <p:sp>
        <p:nvSpPr>
          <p:cNvPr id="30" name="TextBox 29"/>
          <p:cNvSpPr txBox="1"/>
          <p:nvPr/>
        </p:nvSpPr>
        <p:spPr>
          <a:xfrm>
            <a:off x="585216" y="3496665"/>
            <a:ext cx="3200400" cy="201168"/>
          </a:xfrm>
          <a:prstGeom prst="rect">
            <a:avLst/>
          </a:prstGeom>
          <a:noFill/>
        </p:spPr>
        <p:txBody>
          <a:bodyPr wrap="square">
            <a:spAutoFit/>
          </a:bodyPr>
          <a:lstStyle/>
          <a:p>
            <a:pPr algn="l"/>
            <a:r>
              <a:rPr sz="1000" b="1" i="0">
                <a:solidFill>
                  <a:srgbClr val="FFD700"/>
                </a:solidFill>
                <a:latin typeface="Calibri"/>
              </a:rPr>
              <a:t>Teams of LLM Agents (HPTSA)</a:t>
            </a:r>
          </a:p>
        </p:txBody>
      </p:sp>
      <p:sp>
        <p:nvSpPr>
          <p:cNvPr id="31" name="TextBox 30"/>
          <p:cNvSpPr txBox="1"/>
          <p:nvPr/>
        </p:nvSpPr>
        <p:spPr>
          <a:xfrm>
            <a:off x="585216" y="3679545"/>
            <a:ext cx="3200400" cy="164592"/>
          </a:xfrm>
          <a:prstGeom prst="rect">
            <a:avLst/>
          </a:prstGeom>
          <a:noFill/>
        </p:spPr>
        <p:txBody>
          <a:bodyPr wrap="square">
            <a:spAutoFit/>
          </a:bodyPr>
          <a:lstStyle/>
          <a:p>
            <a:pPr algn="l"/>
            <a:r>
              <a:rPr sz="800" b="0" i="0">
                <a:solidFill>
                  <a:srgbClr val="A0AAB8"/>
                </a:solidFill>
                <a:latin typeface="Calibri"/>
              </a:rPr>
              <a:t>arXiv '24 — Zhu et al.</a:t>
            </a:r>
          </a:p>
        </p:txBody>
      </p:sp>
      <p:sp>
        <p:nvSpPr>
          <p:cNvPr id="32" name="TextBox 31"/>
          <p:cNvSpPr txBox="1"/>
          <p:nvPr/>
        </p:nvSpPr>
        <p:spPr>
          <a:xfrm>
            <a:off x="292608" y="3862425"/>
            <a:ext cx="5779008" cy="577900"/>
          </a:xfrm>
          <a:prstGeom prst="rect">
            <a:avLst/>
          </a:prstGeom>
          <a:noFill/>
        </p:spPr>
        <p:txBody>
          <a:bodyPr wrap="square">
            <a:spAutoFit/>
          </a:bodyPr>
          <a:lstStyle/>
          <a:p>
            <a:pPr algn="l"/>
            <a:r>
              <a:rPr sz="750" b="0" i="0">
                <a:solidFill>
                  <a:srgbClr val="A0AAB8"/>
                </a:solidFill>
                <a:latin typeface="Calibri"/>
              </a:rPr>
              <a:t>Hierarchical planner delegates to task-specific sub-agents.
Task-specific document injection improves zero-day exploitation by 2.1x.
Gap: No structured attack graph. No formal representation of which vulnerabilities chain together or how far a chain has been validated.</a:t>
            </a:r>
          </a:p>
        </p:txBody>
      </p:sp>
      <p:sp>
        <p:nvSpPr>
          <p:cNvPr id="33" name="Rectangle 32"/>
          <p:cNvSpPr/>
          <p:nvPr/>
        </p:nvSpPr>
        <p:spPr>
          <a:xfrm>
            <a:off x="201168" y="4513478"/>
            <a:ext cx="5943600" cy="1035100"/>
          </a:xfrm>
          <a:prstGeom prst="rect">
            <a:avLst/>
          </a:prstGeom>
          <a:solidFill>
            <a:srgbClr val="080614"/>
          </a:solidFill>
          <a:ln w="1016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201168" y="4513478"/>
            <a:ext cx="54864" cy="1035100"/>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292608" y="4568342"/>
            <a:ext cx="237744" cy="237744"/>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01752" y="4577486"/>
            <a:ext cx="219456" cy="201168"/>
          </a:xfrm>
          <a:prstGeom prst="rect">
            <a:avLst/>
          </a:prstGeom>
          <a:noFill/>
        </p:spPr>
        <p:txBody>
          <a:bodyPr wrap="square">
            <a:spAutoFit/>
          </a:bodyPr>
          <a:lstStyle/>
          <a:p>
            <a:pPr algn="ctr"/>
            <a:r>
              <a:rPr sz="800" b="1" i="0">
                <a:solidFill>
                  <a:srgbClr val="0A0D1A"/>
                </a:solidFill>
                <a:latin typeface="Calibri"/>
              </a:rPr>
              <a:t>4</a:t>
            </a:r>
          </a:p>
        </p:txBody>
      </p:sp>
      <p:sp>
        <p:nvSpPr>
          <p:cNvPr id="37" name="TextBox 36"/>
          <p:cNvSpPr txBox="1"/>
          <p:nvPr/>
        </p:nvSpPr>
        <p:spPr>
          <a:xfrm>
            <a:off x="585216" y="4568342"/>
            <a:ext cx="3200400" cy="201168"/>
          </a:xfrm>
          <a:prstGeom prst="rect">
            <a:avLst/>
          </a:prstGeom>
          <a:noFill/>
        </p:spPr>
        <p:txBody>
          <a:bodyPr wrap="square">
            <a:spAutoFit/>
          </a:bodyPr>
          <a:lstStyle/>
          <a:p>
            <a:pPr algn="l"/>
            <a:r>
              <a:rPr sz="1000" b="1" i="0">
                <a:solidFill>
                  <a:srgbClr val="00BFD8"/>
                </a:solidFill>
                <a:latin typeface="Calibri"/>
              </a:rPr>
              <a:t>PentestAgent</a:t>
            </a:r>
          </a:p>
        </p:txBody>
      </p:sp>
      <p:sp>
        <p:nvSpPr>
          <p:cNvPr id="38" name="TextBox 37"/>
          <p:cNvSpPr txBox="1"/>
          <p:nvPr/>
        </p:nvSpPr>
        <p:spPr>
          <a:xfrm>
            <a:off x="585216" y="4751222"/>
            <a:ext cx="3200400" cy="164592"/>
          </a:xfrm>
          <a:prstGeom prst="rect">
            <a:avLst/>
          </a:prstGeom>
          <a:noFill/>
        </p:spPr>
        <p:txBody>
          <a:bodyPr wrap="square">
            <a:spAutoFit/>
          </a:bodyPr>
          <a:lstStyle/>
          <a:p>
            <a:pPr algn="l"/>
            <a:r>
              <a:rPr sz="800" b="0" i="0">
                <a:solidFill>
                  <a:srgbClr val="A0AAB8"/>
                </a:solidFill>
                <a:latin typeface="Calibri"/>
              </a:rPr>
              <a:t>AsiaCCS '25 — Shen et al.</a:t>
            </a:r>
          </a:p>
        </p:txBody>
      </p:sp>
      <p:sp>
        <p:nvSpPr>
          <p:cNvPr id="39" name="TextBox 38"/>
          <p:cNvSpPr txBox="1"/>
          <p:nvPr/>
        </p:nvSpPr>
        <p:spPr>
          <a:xfrm>
            <a:off x="292608" y="4934102"/>
            <a:ext cx="5779008" cy="577900"/>
          </a:xfrm>
          <a:prstGeom prst="rect">
            <a:avLst/>
          </a:prstGeom>
          <a:noFill/>
        </p:spPr>
        <p:txBody>
          <a:bodyPr wrap="square">
            <a:spAutoFit/>
          </a:bodyPr>
          <a:lstStyle/>
          <a:p>
            <a:pPr algn="l"/>
            <a:r>
              <a:rPr sz="750" b="0" i="0">
                <a:solidFill>
                  <a:srgbClr val="A0AAB8"/>
                </a:solidFill>
                <a:latin typeface="Calibri"/>
              </a:rPr>
              <a:t>Planning agent with RAG-backed shared memory.
Execution agent self-diagnoses failed exploits before abandoning.
Gap: RAG memory conflates discovery facts with reasoning hypotheses. Termination on empty task queue — attack surface may be unexplored.</a:t>
            </a:r>
          </a:p>
        </p:txBody>
      </p:sp>
      <p:sp>
        <p:nvSpPr>
          <p:cNvPr id="40" name="Rectangle 39"/>
          <p:cNvSpPr/>
          <p:nvPr/>
        </p:nvSpPr>
        <p:spPr>
          <a:xfrm>
            <a:off x="201168" y="5585155"/>
            <a:ext cx="5943600" cy="1035100"/>
          </a:xfrm>
          <a:prstGeom prst="rect">
            <a:avLst/>
          </a:prstGeom>
          <a:solidFill>
            <a:srgbClr val="0C081A"/>
          </a:solidFill>
          <a:ln w="1016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01168" y="5585155"/>
            <a:ext cx="54864" cy="103510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92608" y="5640019"/>
            <a:ext cx="237744" cy="237744"/>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01752" y="5649163"/>
            <a:ext cx="219456" cy="201168"/>
          </a:xfrm>
          <a:prstGeom prst="rect">
            <a:avLst/>
          </a:prstGeom>
          <a:noFill/>
        </p:spPr>
        <p:txBody>
          <a:bodyPr wrap="square">
            <a:spAutoFit/>
          </a:bodyPr>
          <a:lstStyle/>
          <a:p>
            <a:pPr algn="ctr"/>
            <a:r>
              <a:rPr sz="800" b="1" i="0">
                <a:solidFill>
                  <a:srgbClr val="0A0D1A"/>
                </a:solidFill>
                <a:latin typeface="Calibri"/>
              </a:rPr>
              <a:t>5</a:t>
            </a:r>
          </a:p>
        </p:txBody>
      </p:sp>
      <p:sp>
        <p:nvSpPr>
          <p:cNvPr id="44" name="TextBox 43"/>
          <p:cNvSpPr txBox="1"/>
          <p:nvPr/>
        </p:nvSpPr>
        <p:spPr>
          <a:xfrm>
            <a:off x="585216" y="5640019"/>
            <a:ext cx="3200400" cy="201168"/>
          </a:xfrm>
          <a:prstGeom prst="rect">
            <a:avLst/>
          </a:prstGeom>
          <a:noFill/>
        </p:spPr>
        <p:txBody>
          <a:bodyPr wrap="square">
            <a:spAutoFit/>
          </a:bodyPr>
          <a:lstStyle/>
          <a:p>
            <a:pPr algn="l"/>
            <a:r>
              <a:rPr sz="1000" b="1" i="0">
                <a:solidFill>
                  <a:srgbClr val="FF4545"/>
                </a:solidFill>
                <a:latin typeface="Calibri"/>
              </a:rPr>
              <a:t>VulnBot</a:t>
            </a:r>
          </a:p>
        </p:txBody>
      </p:sp>
      <p:sp>
        <p:nvSpPr>
          <p:cNvPr id="45" name="TextBox 44"/>
          <p:cNvSpPr txBox="1"/>
          <p:nvPr/>
        </p:nvSpPr>
        <p:spPr>
          <a:xfrm>
            <a:off x="585216" y="5822899"/>
            <a:ext cx="3200400" cy="164592"/>
          </a:xfrm>
          <a:prstGeom prst="rect">
            <a:avLst/>
          </a:prstGeom>
          <a:noFill/>
        </p:spPr>
        <p:txBody>
          <a:bodyPr wrap="square">
            <a:spAutoFit/>
          </a:bodyPr>
          <a:lstStyle/>
          <a:p>
            <a:pPr algn="l"/>
            <a:r>
              <a:rPr sz="800" b="0" i="0">
                <a:solidFill>
                  <a:srgbClr val="A0AAB8"/>
                </a:solidFill>
                <a:latin typeface="Calibri"/>
              </a:rPr>
              <a:t>arXiv '25 — Kong et al.</a:t>
            </a:r>
          </a:p>
        </p:txBody>
      </p:sp>
      <p:sp>
        <p:nvSpPr>
          <p:cNvPr id="46" name="TextBox 45"/>
          <p:cNvSpPr txBox="1"/>
          <p:nvPr/>
        </p:nvSpPr>
        <p:spPr>
          <a:xfrm>
            <a:off x="292608" y="6005779"/>
            <a:ext cx="5779008" cy="577900"/>
          </a:xfrm>
          <a:prstGeom prst="rect">
            <a:avLst/>
          </a:prstGeom>
          <a:noFill/>
        </p:spPr>
        <p:txBody>
          <a:bodyPr wrap="square">
            <a:spAutoFit/>
          </a:bodyPr>
          <a:lstStyle/>
          <a:p>
            <a:pPr algn="l"/>
            <a:r>
              <a:rPr sz="750" b="0" i="0">
                <a:solidFill>
                  <a:srgbClr val="A0AAB8"/>
                </a:solidFill>
                <a:latin typeface="Calibri"/>
              </a:rPr>
              <a:t>Five-module pipeline around a Penetration Task Graph.
Summarizer condenses phase output to prevent history leakage.
Gap: No formal attack graph. Context compaction is ad-hoc. No lifecycle for attack chains: no risk scoring or formal chain resolution.</a:t>
            </a:r>
          </a:p>
        </p:txBody>
      </p:sp>
      <p:sp>
        <p:nvSpPr>
          <p:cNvPr id="47" name="Rectangle 46"/>
          <p:cNvSpPr/>
          <p:nvPr/>
        </p:nvSpPr>
        <p:spPr>
          <a:xfrm>
            <a:off x="6291072" y="1298448"/>
            <a:ext cx="5687568" cy="1749552"/>
          </a:xfrm>
          <a:prstGeom prst="rect">
            <a:avLst/>
          </a:prstGeom>
          <a:solidFill>
            <a:srgbClr val="10061C"/>
          </a:solidFill>
          <a:ln w="1016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91072" y="1298448"/>
            <a:ext cx="54864" cy="1749552"/>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382512" y="1353312"/>
            <a:ext cx="237744" cy="237744"/>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91656" y="1362456"/>
            <a:ext cx="219456" cy="201168"/>
          </a:xfrm>
          <a:prstGeom prst="rect">
            <a:avLst/>
          </a:prstGeom>
          <a:noFill/>
        </p:spPr>
        <p:txBody>
          <a:bodyPr wrap="square">
            <a:spAutoFit/>
          </a:bodyPr>
          <a:lstStyle/>
          <a:p>
            <a:pPr algn="ctr"/>
            <a:r>
              <a:rPr sz="800" b="1" i="0">
                <a:solidFill>
                  <a:srgbClr val="0A0D1A"/>
                </a:solidFill>
                <a:latin typeface="Calibri"/>
              </a:rPr>
              <a:t>6</a:t>
            </a:r>
          </a:p>
        </p:txBody>
      </p:sp>
      <p:sp>
        <p:nvSpPr>
          <p:cNvPr id="51" name="TextBox 50"/>
          <p:cNvSpPr txBox="1"/>
          <p:nvPr/>
        </p:nvSpPr>
        <p:spPr>
          <a:xfrm>
            <a:off x="6675120" y="1353312"/>
            <a:ext cx="3657600" cy="201168"/>
          </a:xfrm>
          <a:prstGeom prst="rect">
            <a:avLst/>
          </a:prstGeom>
          <a:noFill/>
        </p:spPr>
        <p:txBody>
          <a:bodyPr wrap="square">
            <a:spAutoFit/>
          </a:bodyPr>
          <a:lstStyle/>
          <a:p>
            <a:pPr algn="l"/>
            <a:r>
              <a:rPr sz="1000" b="1" i="0">
                <a:solidFill>
                  <a:srgbClr val="BD93F9"/>
                </a:solidFill>
                <a:latin typeface="Calibri"/>
              </a:rPr>
              <a:t>PentAGI</a:t>
            </a:r>
          </a:p>
        </p:txBody>
      </p:sp>
      <p:sp>
        <p:nvSpPr>
          <p:cNvPr id="52" name="TextBox 51"/>
          <p:cNvSpPr txBox="1"/>
          <p:nvPr/>
        </p:nvSpPr>
        <p:spPr>
          <a:xfrm>
            <a:off x="6675120" y="1536192"/>
            <a:ext cx="5029200" cy="164592"/>
          </a:xfrm>
          <a:prstGeom prst="rect">
            <a:avLst/>
          </a:prstGeom>
          <a:noFill/>
        </p:spPr>
        <p:txBody>
          <a:bodyPr wrap="square">
            <a:spAutoFit/>
          </a:bodyPr>
          <a:lstStyle/>
          <a:p>
            <a:pPr algn="l"/>
            <a:r>
              <a:rPr sz="800" b="0" i="0">
                <a:solidFill>
                  <a:srgbClr val="A0AAB8"/>
                </a:solidFill>
                <a:latin typeface="Calibri"/>
              </a:rPr>
              <a:t>vxcontrol/pentagi</a:t>
            </a:r>
          </a:p>
        </p:txBody>
      </p:sp>
      <p:sp>
        <p:nvSpPr>
          <p:cNvPr id="53" name="TextBox 52"/>
          <p:cNvSpPr txBox="1"/>
          <p:nvPr/>
        </p:nvSpPr>
        <p:spPr>
          <a:xfrm>
            <a:off x="6382512" y="1719072"/>
            <a:ext cx="5522976" cy="1292352"/>
          </a:xfrm>
          <a:prstGeom prst="rect">
            <a:avLst/>
          </a:prstGeom>
          <a:noFill/>
        </p:spPr>
        <p:txBody>
          <a:bodyPr wrap="square">
            <a:spAutoFit/>
          </a:bodyPr>
          <a:lstStyle/>
          <a:p>
            <a:pPr algn="l"/>
            <a:r>
              <a:rPr sz="750" b="0" i="0">
                <a:solidFill>
                  <a:srgbClr val="A0AAB8"/>
                </a:solidFill>
                <a:latin typeface="Calibri"/>
              </a:rPr>
              <a:t>Production multi-agent pentesting platform.
Adviser detects agent fixation; Reflector nudges stuck agents.
Gap: Fixation detection is reactive — fires after repeated tool calls. No proactive graph-driven surface-exhaustion check.</a:t>
            </a:r>
          </a:p>
        </p:txBody>
      </p:sp>
      <p:sp>
        <p:nvSpPr>
          <p:cNvPr id="54" name="Rectangle 53"/>
          <p:cNvSpPr/>
          <p:nvPr/>
        </p:nvSpPr>
        <p:spPr>
          <a:xfrm>
            <a:off x="6291072" y="3084576"/>
            <a:ext cx="5687568" cy="1749552"/>
          </a:xfrm>
          <a:prstGeom prst="rect">
            <a:avLst/>
          </a:prstGeom>
          <a:solidFill>
            <a:srgbClr val="0A0414"/>
          </a:solidFill>
          <a:ln w="1016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291072" y="3084576"/>
            <a:ext cx="54864" cy="1749552"/>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382512" y="3139440"/>
            <a:ext cx="237744" cy="237744"/>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391656" y="3148584"/>
            <a:ext cx="219456" cy="201168"/>
          </a:xfrm>
          <a:prstGeom prst="rect">
            <a:avLst/>
          </a:prstGeom>
          <a:noFill/>
        </p:spPr>
        <p:txBody>
          <a:bodyPr wrap="square">
            <a:spAutoFit/>
          </a:bodyPr>
          <a:lstStyle/>
          <a:p>
            <a:pPr algn="ctr"/>
            <a:r>
              <a:rPr sz="800" b="1" i="0">
                <a:solidFill>
                  <a:srgbClr val="0A0D1A"/>
                </a:solidFill>
                <a:latin typeface="Calibri"/>
              </a:rPr>
              <a:t>7</a:t>
            </a:r>
          </a:p>
        </p:txBody>
      </p:sp>
      <p:sp>
        <p:nvSpPr>
          <p:cNvPr id="58" name="TextBox 57"/>
          <p:cNvSpPr txBox="1"/>
          <p:nvPr/>
        </p:nvSpPr>
        <p:spPr>
          <a:xfrm>
            <a:off x="6675120" y="3139440"/>
            <a:ext cx="3657600" cy="201168"/>
          </a:xfrm>
          <a:prstGeom prst="rect">
            <a:avLst/>
          </a:prstGeom>
          <a:noFill/>
        </p:spPr>
        <p:txBody>
          <a:bodyPr wrap="square">
            <a:spAutoFit/>
          </a:bodyPr>
          <a:lstStyle/>
          <a:p>
            <a:pPr algn="l"/>
            <a:r>
              <a:rPr sz="1000" b="1" i="0">
                <a:solidFill>
                  <a:srgbClr val="00E5FF"/>
                </a:solidFill>
                <a:latin typeface="Calibri"/>
              </a:rPr>
              <a:t>Claude Code</a:t>
            </a:r>
          </a:p>
        </p:txBody>
      </p:sp>
      <p:sp>
        <p:nvSpPr>
          <p:cNvPr id="59" name="TextBox 58"/>
          <p:cNvSpPr txBox="1"/>
          <p:nvPr/>
        </p:nvSpPr>
        <p:spPr>
          <a:xfrm>
            <a:off x="6675120" y="3322320"/>
            <a:ext cx="5029200" cy="164592"/>
          </a:xfrm>
          <a:prstGeom prst="rect">
            <a:avLst/>
          </a:prstGeom>
          <a:noFill/>
        </p:spPr>
        <p:txBody>
          <a:bodyPr wrap="square">
            <a:spAutoFit/>
          </a:bodyPr>
          <a:lstStyle/>
          <a:p>
            <a:pPr algn="l"/>
            <a:r>
              <a:rPr sz="800" b="0" i="0">
                <a:solidFill>
                  <a:srgbClr val="A0AAB8"/>
                </a:solidFill>
                <a:latin typeface="Calibri"/>
              </a:rPr>
              <a:t>Anthropic — yasasbanukaofficial/claude-code</a:t>
            </a:r>
          </a:p>
        </p:txBody>
      </p:sp>
      <p:sp>
        <p:nvSpPr>
          <p:cNvPr id="60" name="TextBox 59"/>
          <p:cNvSpPr txBox="1"/>
          <p:nvPr/>
        </p:nvSpPr>
        <p:spPr>
          <a:xfrm>
            <a:off x="6382512" y="3505200"/>
            <a:ext cx="5522976" cy="1292352"/>
          </a:xfrm>
          <a:prstGeom prst="rect">
            <a:avLst/>
          </a:prstGeom>
          <a:noFill/>
        </p:spPr>
        <p:txBody>
          <a:bodyPr wrap="square">
            <a:spAutoFit/>
          </a:bodyPr>
          <a:lstStyle/>
          <a:p>
            <a:pPr algn="l"/>
            <a:r>
              <a:rPr sz="750" b="0" i="0">
                <a:solidFill>
                  <a:srgbClr val="A0AAB8"/>
                </a:solidFill>
                <a:latin typeface="Calibri"/>
              </a:rPr>
              <a:t>Two-stage fast-filter + chain-of-thought tool-call permission classifier.
27-event named hook architecture for operator intervention.
Gap: Permission classification is general-purpose — not domain-aware. No offensive risk tier, scope enforcement, or security-intent routing.</a:t>
            </a:r>
          </a:p>
        </p:txBody>
      </p:sp>
      <p:sp>
        <p:nvSpPr>
          <p:cNvPr id="61" name="Rectangle 60"/>
          <p:cNvSpPr/>
          <p:nvPr/>
        </p:nvSpPr>
        <p:spPr>
          <a:xfrm>
            <a:off x="6291072" y="4870704"/>
            <a:ext cx="5687568" cy="1749552"/>
          </a:xfrm>
          <a:prstGeom prst="rect">
            <a:avLst/>
          </a:prstGeom>
          <a:solidFill>
            <a:srgbClr val="10061C"/>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291072" y="4870704"/>
            <a:ext cx="54864" cy="174955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382512" y="4925568"/>
            <a:ext cx="237744" cy="23774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391656" y="4934712"/>
            <a:ext cx="219456" cy="201168"/>
          </a:xfrm>
          <a:prstGeom prst="rect">
            <a:avLst/>
          </a:prstGeom>
          <a:noFill/>
        </p:spPr>
        <p:txBody>
          <a:bodyPr wrap="square">
            <a:spAutoFit/>
          </a:bodyPr>
          <a:lstStyle/>
          <a:p>
            <a:pPr algn="ctr"/>
            <a:r>
              <a:rPr sz="800" b="1" i="0">
                <a:solidFill>
                  <a:srgbClr val="0A0D1A"/>
                </a:solidFill>
                <a:latin typeface="Calibri"/>
              </a:rPr>
              <a:t>8</a:t>
            </a:r>
          </a:p>
        </p:txBody>
      </p:sp>
      <p:sp>
        <p:nvSpPr>
          <p:cNvPr id="65" name="TextBox 64"/>
          <p:cNvSpPr txBox="1"/>
          <p:nvPr/>
        </p:nvSpPr>
        <p:spPr>
          <a:xfrm>
            <a:off x="6675120" y="4925568"/>
            <a:ext cx="3657600" cy="201168"/>
          </a:xfrm>
          <a:prstGeom prst="rect">
            <a:avLst/>
          </a:prstGeom>
          <a:noFill/>
        </p:spPr>
        <p:txBody>
          <a:bodyPr wrap="square">
            <a:spAutoFit/>
          </a:bodyPr>
          <a:lstStyle/>
          <a:p>
            <a:pPr algn="l"/>
            <a:r>
              <a:rPr sz="1000" b="1" i="0">
                <a:solidFill>
                  <a:srgbClr val="FFD700"/>
                </a:solidFill>
                <a:latin typeface="Calibri"/>
              </a:rPr>
              <a:t>Hermes Agent</a:t>
            </a:r>
          </a:p>
        </p:txBody>
      </p:sp>
      <p:sp>
        <p:nvSpPr>
          <p:cNvPr id="66" name="TextBox 65"/>
          <p:cNvSpPr txBox="1"/>
          <p:nvPr/>
        </p:nvSpPr>
        <p:spPr>
          <a:xfrm>
            <a:off x="6675120" y="5108448"/>
            <a:ext cx="5029200" cy="164592"/>
          </a:xfrm>
          <a:prstGeom prst="rect">
            <a:avLst/>
          </a:prstGeom>
          <a:noFill/>
        </p:spPr>
        <p:txBody>
          <a:bodyPr wrap="square">
            <a:spAutoFit/>
          </a:bodyPr>
          <a:lstStyle/>
          <a:p>
            <a:pPr algn="l"/>
            <a:r>
              <a:rPr sz="800" b="0" i="0">
                <a:solidFill>
                  <a:srgbClr val="A0AAB8"/>
                </a:solidFill>
                <a:latin typeface="Calibri"/>
              </a:rPr>
              <a:t>NousResearch/hermes-agent</a:t>
            </a:r>
          </a:p>
        </p:txBody>
      </p:sp>
      <p:sp>
        <p:nvSpPr>
          <p:cNvPr id="67" name="TextBox 66"/>
          <p:cNvSpPr txBox="1"/>
          <p:nvPr/>
        </p:nvSpPr>
        <p:spPr>
          <a:xfrm>
            <a:off x="6382512" y="5291328"/>
            <a:ext cx="5522976" cy="1292352"/>
          </a:xfrm>
          <a:prstGeom prst="rect">
            <a:avLst/>
          </a:prstGeom>
          <a:noFill/>
        </p:spPr>
        <p:txBody>
          <a:bodyPr wrap="square">
            <a:spAutoFit/>
          </a:bodyPr>
          <a:lstStyle/>
          <a:p>
            <a:pPr algn="l"/>
            <a:r>
              <a:rPr sz="750" b="0" i="0">
                <a:solidFill>
                  <a:srgbClr val="A0AAB8"/>
                </a:solidFill>
                <a:latin typeface="Calibri"/>
              </a:rPr>
              <a:t>Closed learning loop: skill crystallization from completed tasks.
Structured trajectory export for SFT/RL training via DSPy + Atropos.
Gap: Skill crystallization and trajectory export are general-purpose. No security-domain indexing, APG integration, or dual-graph event format.</a:t>
            </a:r>
          </a:p>
        </p:txBody>
      </p:sp>
      <p:sp>
        <p:nvSpPr>
          <p:cNvPr id="68" name="TextBox 67"/>
          <p:cNvSpPr txBox="1"/>
          <p:nvPr/>
        </p:nvSpPr>
        <p:spPr>
          <a:xfrm>
            <a:off x="11780215" y="6355080"/>
            <a:ext cx="384048" cy="411480"/>
          </a:xfrm>
          <a:prstGeom prst="rect">
            <a:avLst/>
          </a:prstGeom>
          <a:noFill/>
        </p:spPr>
        <p:txBody>
          <a:bodyPr wrap="square">
            <a:spAutoFit/>
          </a:bodyPr>
          <a:lstStyle/>
          <a:p>
            <a:pPr algn="r"/>
            <a:r>
              <a:rPr sz="1300" b="1" i="0">
                <a:solidFill>
                  <a:srgbClr val="BD93F9"/>
                </a:solidFill>
                <a:latin typeface="Calibri"/>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7315200" cy="237744"/>
          </a:xfrm>
          <a:prstGeom prst="rect">
            <a:avLst/>
          </a:prstGeom>
          <a:noFill/>
        </p:spPr>
        <p:txBody>
          <a:bodyPr wrap="square">
            <a:spAutoFit/>
          </a:bodyPr>
          <a:lstStyle/>
          <a:p>
            <a:pPr algn="l"/>
            <a:r>
              <a:rPr sz="1000" b="1" i="0">
                <a:solidFill>
                  <a:srgbClr val="00E5FF"/>
                </a:solidFill>
                <a:latin typeface="Calibri"/>
              </a:rPr>
              <a:t>SCOPE</a:t>
            </a:r>
          </a:p>
        </p:txBody>
      </p:sp>
      <p:sp>
        <p:nvSpPr>
          <p:cNvPr id="6" name="TextBox 5"/>
          <p:cNvSpPr txBox="1"/>
          <p:nvPr/>
        </p:nvSpPr>
        <p:spPr>
          <a:xfrm>
            <a:off x="274320" y="292608"/>
            <a:ext cx="11430000" cy="475488"/>
          </a:xfrm>
          <a:prstGeom prst="rect">
            <a:avLst/>
          </a:prstGeom>
          <a:noFill/>
        </p:spPr>
        <p:txBody>
          <a:bodyPr wrap="square">
            <a:spAutoFit/>
          </a:bodyPr>
          <a:lstStyle/>
          <a:p>
            <a:pPr algn="l"/>
            <a:r>
              <a:rPr sz="3400" b="1" i="0">
                <a:solidFill>
                  <a:srgbClr val="FFFFFF"/>
                </a:solidFill>
                <a:latin typeface="Calibri"/>
              </a:rPr>
              <a:t>What CMatrix Assesses — and What It Does Not</a:t>
            </a:r>
          </a:p>
        </p:txBody>
      </p:sp>
      <p:sp>
        <p:nvSpPr>
          <p:cNvPr id="7" name="Rectangle 6"/>
          <p:cNvSpPr/>
          <p:nvPr/>
        </p:nvSpPr>
        <p:spPr>
          <a:xfrm>
            <a:off x="274320" y="822960"/>
            <a:ext cx="8229600" cy="27432"/>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01168" y="987552"/>
            <a:ext cx="5394960" cy="4937760"/>
          </a:xfrm>
          <a:prstGeom prst="rect">
            <a:avLst/>
          </a:prstGeom>
          <a:solidFill>
            <a:srgbClr val="04180C"/>
          </a:solidFill>
          <a:ln w="2286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1168" y="987552"/>
            <a:ext cx="5394960" cy="31089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10896" y="1033272"/>
            <a:ext cx="5212080" cy="237744"/>
          </a:xfrm>
          <a:prstGeom prst="rect">
            <a:avLst/>
          </a:prstGeom>
          <a:noFill/>
        </p:spPr>
        <p:txBody>
          <a:bodyPr wrap="square">
            <a:spAutoFit/>
          </a:bodyPr>
          <a:lstStyle/>
          <a:p>
            <a:pPr algn="l"/>
            <a:r>
              <a:rPr sz="1200" b="1" i="0">
                <a:solidFill>
                  <a:srgbClr val="0A0D1A"/>
                </a:solidFill>
                <a:latin typeface="Calibri"/>
              </a:rPr>
              <a:t>✓  IN SCOPE</a:t>
            </a:r>
          </a:p>
        </p:txBody>
      </p:sp>
      <p:sp>
        <p:nvSpPr>
          <p:cNvPr id="11" name="Rectangle 10"/>
          <p:cNvSpPr/>
          <p:nvPr/>
        </p:nvSpPr>
        <p:spPr>
          <a:xfrm>
            <a:off x="310896" y="1389888"/>
            <a:ext cx="5175504" cy="713232"/>
          </a:xfrm>
          <a:prstGeom prst="rect">
            <a:avLst/>
          </a:prstGeom>
          <a:solidFill>
            <a:srgbClr val="062210"/>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2336" y="1435608"/>
            <a:ext cx="5065776" cy="237744"/>
          </a:xfrm>
          <a:prstGeom prst="rect">
            <a:avLst/>
          </a:prstGeom>
          <a:noFill/>
        </p:spPr>
        <p:txBody>
          <a:bodyPr wrap="square">
            <a:spAutoFit/>
          </a:bodyPr>
          <a:lstStyle/>
          <a:p>
            <a:pPr algn="l"/>
            <a:r>
              <a:rPr sz="1100" b="1" i="0">
                <a:solidFill>
                  <a:srgbClr val="39FF14"/>
                </a:solidFill>
                <a:latin typeface="Calibri"/>
              </a:rPr>
              <a:t>Web Applications</a:t>
            </a:r>
          </a:p>
        </p:txBody>
      </p:sp>
      <p:sp>
        <p:nvSpPr>
          <p:cNvPr id="13" name="TextBox 12"/>
          <p:cNvSpPr txBox="1"/>
          <p:nvPr/>
        </p:nvSpPr>
        <p:spPr>
          <a:xfrm>
            <a:off x="402336" y="1664208"/>
            <a:ext cx="5065776" cy="384048"/>
          </a:xfrm>
          <a:prstGeom prst="rect">
            <a:avLst/>
          </a:prstGeom>
          <a:noFill/>
        </p:spPr>
        <p:txBody>
          <a:bodyPr wrap="square">
            <a:spAutoFit/>
          </a:bodyPr>
          <a:lstStyle/>
          <a:p>
            <a:pPr algn="l"/>
            <a:r>
              <a:rPr sz="950" b="0" i="0">
                <a:solidFill>
                  <a:srgbClr val="A0AAB8"/>
                </a:solidFill>
                <a:latin typeface="Calibri"/>
              </a:rPr>
              <a:t>HTTP/HTTPS services, CMS, REST APIs, GraphQL endpoints.</a:t>
            </a:r>
          </a:p>
        </p:txBody>
      </p:sp>
      <p:sp>
        <p:nvSpPr>
          <p:cNvPr id="14" name="Rectangle 13"/>
          <p:cNvSpPr/>
          <p:nvPr/>
        </p:nvSpPr>
        <p:spPr>
          <a:xfrm>
            <a:off x="310896" y="2148840"/>
            <a:ext cx="5175504" cy="713232"/>
          </a:xfrm>
          <a:prstGeom prst="rect">
            <a:avLst/>
          </a:prstGeom>
          <a:solidFill>
            <a:srgbClr val="062210"/>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 y="2194560"/>
            <a:ext cx="5065776" cy="237744"/>
          </a:xfrm>
          <a:prstGeom prst="rect">
            <a:avLst/>
          </a:prstGeom>
          <a:noFill/>
        </p:spPr>
        <p:txBody>
          <a:bodyPr wrap="square">
            <a:spAutoFit/>
          </a:bodyPr>
          <a:lstStyle/>
          <a:p>
            <a:pPr algn="l"/>
            <a:r>
              <a:rPr sz="1100" b="1" i="0">
                <a:solidFill>
                  <a:srgbClr val="39FF14"/>
                </a:solidFill>
                <a:latin typeface="Calibri"/>
              </a:rPr>
              <a:t>Network Services</a:t>
            </a:r>
          </a:p>
        </p:txBody>
      </p:sp>
      <p:sp>
        <p:nvSpPr>
          <p:cNvPr id="16" name="TextBox 15"/>
          <p:cNvSpPr txBox="1"/>
          <p:nvPr/>
        </p:nvSpPr>
        <p:spPr>
          <a:xfrm>
            <a:off x="402336" y="2423160"/>
            <a:ext cx="5065776" cy="384048"/>
          </a:xfrm>
          <a:prstGeom prst="rect">
            <a:avLst/>
          </a:prstGeom>
          <a:noFill/>
        </p:spPr>
        <p:txBody>
          <a:bodyPr wrap="square">
            <a:spAutoFit/>
          </a:bodyPr>
          <a:lstStyle/>
          <a:p>
            <a:pPr algn="l"/>
            <a:r>
              <a:rPr sz="950" b="0" i="0">
                <a:solidFill>
                  <a:srgbClr val="A0AAB8"/>
                </a:solidFill>
                <a:latin typeface="Calibri"/>
              </a:rPr>
              <a:t>Exposed ports, services, TLS/SSL, open protocols.</a:t>
            </a:r>
          </a:p>
        </p:txBody>
      </p:sp>
      <p:sp>
        <p:nvSpPr>
          <p:cNvPr id="17" name="Rectangle 16"/>
          <p:cNvSpPr/>
          <p:nvPr/>
        </p:nvSpPr>
        <p:spPr>
          <a:xfrm>
            <a:off x="310896" y="2907792"/>
            <a:ext cx="5175504" cy="713232"/>
          </a:xfrm>
          <a:prstGeom prst="rect">
            <a:avLst/>
          </a:prstGeom>
          <a:solidFill>
            <a:srgbClr val="062210"/>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2336" y="2953512"/>
            <a:ext cx="5065776" cy="237744"/>
          </a:xfrm>
          <a:prstGeom prst="rect">
            <a:avLst/>
          </a:prstGeom>
          <a:noFill/>
        </p:spPr>
        <p:txBody>
          <a:bodyPr wrap="square">
            <a:spAutoFit/>
          </a:bodyPr>
          <a:lstStyle/>
          <a:p>
            <a:pPr algn="l"/>
            <a:r>
              <a:rPr sz="1100" b="1" i="0">
                <a:solidFill>
                  <a:srgbClr val="39FF14"/>
                </a:solidFill>
                <a:latin typeface="Calibri"/>
              </a:rPr>
              <a:t>API Attack Surface</a:t>
            </a:r>
          </a:p>
        </p:txBody>
      </p:sp>
      <p:sp>
        <p:nvSpPr>
          <p:cNvPr id="19" name="TextBox 18"/>
          <p:cNvSpPr txBox="1"/>
          <p:nvPr/>
        </p:nvSpPr>
        <p:spPr>
          <a:xfrm>
            <a:off x="402336" y="3182112"/>
            <a:ext cx="5065776" cy="384048"/>
          </a:xfrm>
          <a:prstGeom prst="rect">
            <a:avLst/>
          </a:prstGeom>
          <a:noFill/>
        </p:spPr>
        <p:txBody>
          <a:bodyPr wrap="square">
            <a:spAutoFit/>
          </a:bodyPr>
          <a:lstStyle/>
          <a:p>
            <a:pPr algn="l"/>
            <a:r>
              <a:rPr sz="950" b="0" i="0">
                <a:solidFill>
                  <a:srgbClr val="A0AAB8"/>
                </a:solidFill>
                <a:latin typeface="Calibri"/>
              </a:rPr>
              <a:t>REST endpoints, parameter injection, IDOR, auth bypass.</a:t>
            </a:r>
          </a:p>
        </p:txBody>
      </p:sp>
      <p:sp>
        <p:nvSpPr>
          <p:cNvPr id="20" name="Rectangle 19"/>
          <p:cNvSpPr/>
          <p:nvPr/>
        </p:nvSpPr>
        <p:spPr>
          <a:xfrm>
            <a:off x="310896" y="3666744"/>
            <a:ext cx="5175504" cy="713232"/>
          </a:xfrm>
          <a:prstGeom prst="rect">
            <a:avLst/>
          </a:prstGeom>
          <a:solidFill>
            <a:srgbClr val="062210"/>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02336" y="3712464"/>
            <a:ext cx="5065776" cy="237744"/>
          </a:xfrm>
          <a:prstGeom prst="rect">
            <a:avLst/>
          </a:prstGeom>
          <a:noFill/>
        </p:spPr>
        <p:txBody>
          <a:bodyPr wrap="square">
            <a:spAutoFit/>
          </a:bodyPr>
          <a:lstStyle/>
          <a:p>
            <a:pPr algn="l"/>
            <a:r>
              <a:rPr sz="1100" b="1" i="0">
                <a:solidFill>
                  <a:srgbClr val="39FF14"/>
                </a:solidFill>
                <a:latin typeface="Calibri"/>
              </a:rPr>
              <a:t>Black-Box Mode</a:t>
            </a:r>
          </a:p>
        </p:txBody>
      </p:sp>
      <p:sp>
        <p:nvSpPr>
          <p:cNvPr id="22" name="TextBox 21"/>
          <p:cNvSpPr txBox="1"/>
          <p:nvPr/>
        </p:nvSpPr>
        <p:spPr>
          <a:xfrm>
            <a:off x="402336" y="3941064"/>
            <a:ext cx="5065776" cy="384048"/>
          </a:xfrm>
          <a:prstGeom prst="rect">
            <a:avLst/>
          </a:prstGeom>
          <a:noFill/>
        </p:spPr>
        <p:txBody>
          <a:bodyPr wrap="square">
            <a:spAutoFit/>
          </a:bodyPr>
          <a:lstStyle/>
          <a:p>
            <a:pPr algn="l"/>
            <a:r>
              <a:rPr sz="950" b="0" i="0">
                <a:solidFill>
                  <a:srgbClr val="A0AAB8"/>
                </a:solidFill>
                <a:latin typeface="Calibri"/>
              </a:rPr>
              <a:t>Zero prior knowledge. Operator provides: root domain + scope declaration only.</a:t>
            </a:r>
          </a:p>
        </p:txBody>
      </p:sp>
      <p:sp>
        <p:nvSpPr>
          <p:cNvPr id="23" name="Rectangle 22"/>
          <p:cNvSpPr/>
          <p:nvPr/>
        </p:nvSpPr>
        <p:spPr>
          <a:xfrm>
            <a:off x="310896" y="4425696"/>
            <a:ext cx="5175504" cy="713232"/>
          </a:xfrm>
          <a:prstGeom prst="rect">
            <a:avLst/>
          </a:prstGeom>
          <a:solidFill>
            <a:srgbClr val="062210"/>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02336" y="4471416"/>
            <a:ext cx="5065776" cy="237744"/>
          </a:xfrm>
          <a:prstGeom prst="rect">
            <a:avLst/>
          </a:prstGeom>
          <a:noFill/>
        </p:spPr>
        <p:txBody>
          <a:bodyPr wrap="square">
            <a:spAutoFit/>
          </a:bodyPr>
          <a:lstStyle/>
          <a:p>
            <a:pPr algn="l"/>
            <a:r>
              <a:rPr sz="1100" b="1" i="0">
                <a:solidFill>
                  <a:srgbClr val="39FF14"/>
                </a:solidFill>
                <a:latin typeface="Calibri"/>
              </a:rPr>
              <a:t>Grey-Box Mode</a:t>
            </a:r>
          </a:p>
        </p:txBody>
      </p:sp>
      <p:sp>
        <p:nvSpPr>
          <p:cNvPr id="25" name="TextBox 24"/>
          <p:cNvSpPr txBox="1"/>
          <p:nvPr/>
        </p:nvSpPr>
        <p:spPr>
          <a:xfrm>
            <a:off x="402336" y="4700016"/>
            <a:ext cx="5065776" cy="384048"/>
          </a:xfrm>
          <a:prstGeom prst="rect">
            <a:avLst/>
          </a:prstGeom>
          <a:noFill/>
        </p:spPr>
        <p:txBody>
          <a:bodyPr wrap="square">
            <a:spAutoFit/>
          </a:bodyPr>
          <a:lstStyle/>
          <a:p>
            <a:pPr algn="l"/>
            <a:r>
              <a:rPr sz="950" b="0" i="0">
                <a:solidFill>
                  <a:srgbClr val="A0AAB8"/>
                </a:solidFill>
                <a:latin typeface="Calibri"/>
              </a:rPr>
              <a:t>Partial knowledge. Operator additionally provides: known IP ranges, credentials, network topology fragments. ASG Host nodes are pre-seeded.</a:t>
            </a:r>
          </a:p>
        </p:txBody>
      </p:sp>
      <p:sp>
        <p:nvSpPr>
          <p:cNvPr id="26" name="Rectangle 25"/>
          <p:cNvSpPr/>
          <p:nvPr/>
        </p:nvSpPr>
        <p:spPr>
          <a:xfrm>
            <a:off x="310896" y="5184648"/>
            <a:ext cx="5175504" cy="713232"/>
          </a:xfrm>
          <a:prstGeom prst="rect">
            <a:avLst/>
          </a:prstGeom>
          <a:solidFill>
            <a:srgbClr val="062210"/>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02336" y="5230368"/>
            <a:ext cx="5065776" cy="237744"/>
          </a:xfrm>
          <a:prstGeom prst="rect">
            <a:avLst/>
          </a:prstGeom>
          <a:noFill/>
        </p:spPr>
        <p:txBody>
          <a:bodyPr wrap="square">
            <a:spAutoFit/>
          </a:bodyPr>
          <a:lstStyle/>
          <a:p>
            <a:pPr algn="l"/>
            <a:r>
              <a:rPr sz="1100" b="1" i="0">
                <a:solidFill>
                  <a:srgbClr val="39FF14"/>
                </a:solidFill>
                <a:latin typeface="Calibri"/>
              </a:rPr>
              <a:t>Authorised Assessments</a:t>
            </a:r>
          </a:p>
        </p:txBody>
      </p:sp>
      <p:sp>
        <p:nvSpPr>
          <p:cNvPr id="28" name="TextBox 27"/>
          <p:cNvSpPr txBox="1"/>
          <p:nvPr/>
        </p:nvSpPr>
        <p:spPr>
          <a:xfrm>
            <a:off x="402336" y="5458968"/>
            <a:ext cx="5065776" cy="384048"/>
          </a:xfrm>
          <a:prstGeom prst="rect">
            <a:avLst/>
          </a:prstGeom>
          <a:noFill/>
        </p:spPr>
        <p:txBody>
          <a:bodyPr wrap="square">
            <a:spAutoFit/>
          </a:bodyPr>
          <a:lstStyle/>
          <a:p>
            <a:pPr algn="l"/>
            <a:r>
              <a:rPr sz="950" b="0" i="0">
                <a:solidFill>
                  <a:srgbClr val="A0AAB8"/>
                </a:solidFill>
                <a:latin typeface="Calibri"/>
              </a:rPr>
              <a:t>CMatrix operates only within declared scope. Scope check fires before every tool execution at the Risk Gate.</a:t>
            </a:r>
          </a:p>
        </p:txBody>
      </p:sp>
      <p:sp>
        <p:nvSpPr>
          <p:cNvPr id="29" name="Rectangle 28"/>
          <p:cNvSpPr/>
          <p:nvPr/>
        </p:nvSpPr>
        <p:spPr>
          <a:xfrm>
            <a:off x="5779008" y="987552"/>
            <a:ext cx="4480560" cy="3108960"/>
          </a:xfrm>
          <a:prstGeom prst="rect">
            <a:avLst/>
          </a:prstGeom>
          <a:solidFill>
            <a:srgbClr val="1C0808"/>
          </a:solidFill>
          <a:ln w="2286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779008" y="987552"/>
            <a:ext cx="4480560" cy="31089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888736" y="1033272"/>
            <a:ext cx="4297680" cy="237744"/>
          </a:xfrm>
          <a:prstGeom prst="rect">
            <a:avLst/>
          </a:prstGeom>
          <a:noFill/>
        </p:spPr>
        <p:txBody>
          <a:bodyPr wrap="square">
            <a:spAutoFit/>
          </a:bodyPr>
          <a:lstStyle/>
          <a:p>
            <a:pPr algn="l"/>
            <a:r>
              <a:rPr sz="1200" b="1" i="0">
                <a:solidFill>
                  <a:srgbClr val="FFFFFF"/>
                </a:solidFill>
                <a:latin typeface="Calibri"/>
              </a:rPr>
              <a:t>✕  OUT OF SCOPE</a:t>
            </a:r>
          </a:p>
        </p:txBody>
      </p:sp>
      <p:sp>
        <p:nvSpPr>
          <p:cNvPr id="32" name="Rectangle 31"/>
          <p:cNvSpPr/>
          <p:nvPr/>
        </p:nvSpPr>
        <p:spPr>
          <a:xfrm>
            <a:off x="5888736" y="1389888"/>
            <a:ext cx="4261104" cy="384048"/>
          </a:xfrm>
          <a:prstGeom prst="rect">
            <a:avLst/>
          </a:prstGeom>
          <a:solidFill>
            <a:srgbClr val="280C0C"/>
          </a:solidFill>
          <a:ln w="50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80176" y="1444752"/>
            <a:ext cx="4151376" cy="292608"/>
          </a:xfrm>
          <a:prstGeom prst="rect">
            <a:avLst/>
          </a:prstGeom>
          <a:noFill/>
        </p:spPr>
        <p:txBody>
          <a:bodyPr wrap="square">
            <a:spAutoFit/>
          </a:bodyPr>
          <a:lstStyle/>
          <a:p>
            <a:pPr algn="l"/>
            <a:r>
              <a:rPr sz="1000" b="0" i="0">
                <a:solidFill>
                  <a:srgbClr val="A0AAB8"/>
                </a:solidFill>
                <a:latin typeface="Calibri"/>
              </a:rPr>
              <a:t>✕  White-Box  (source code review, SAST)</a:t>
            </a:r>
          </a:p>
        </p:txBody>
      </p:sp>
      <p:sp>
        <p:nvSpPr>
          <p:cNvPr id="34" name="Rectangle 33"/>
          <p:cNvSpPr/>
          <p:nvPr/>
        </p:nvSpPr>
        <p:spPr>
          <a:xfrm>
            <a:off x="5888736" y="1828800"/>
            <a:ext cx="4261104" cy="384048"/>
          </a:xfrm>
          <a:prstGeom prst="rect">
            <a:avLst/>
          </a:prstGeom>
          <a:solidFill>
            <a:srgbClr val="280C0C"/>
          </a:solidFill>
          <a:ln w="50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980176" y="1883664"/>
            <a:ext cx="4151376" cy="292608"/>
          </a:xfrm>
          <a:prstGeom prst="rect">
            <a:avLst/>
          </a:prstGeom>
          <a:noFill/>
        </p:spPr>
        <p:txBody>
          <a:bodyPr wrap="square">
            <a:spAutoFit/>
          </a:bodyPr>
          <a:lstStyle/>
          <a:p>
            <a:pPr algn="l"/>
            <a:r>
              <a:rPr sz="1000" b="0" i="0">
                <a:solidFill>
                  <a:srgbClr val="A0AAB8"/>
                </a:solidFill>
                <a:latin typeface="Calibri"/>
              </a:rPr>
              <a:t>✕  Mobile Applications  (iOS, Android)</a:t>
            </a:r>
          </a:p>
        </p:txBody>
      </p:sp>
      <p:sp>
        <p:nvSpPr>
          <p:cNvPr id="36" name="Rectangle 35"/>
          <p:cNvSpPr/>
          <p:nvPr/>
        </p:nvSpPr>
        <p:spPr>
          <a:xfrm>
            <a:off x="5888736" y="2267712"/>
            <a:ext cx="4261104" cy="384048"/>
          </a:xfrm>
          <a:prstGeom prst="rect">
            <a:avLst/>
          </a:prstGeom>
          <a:solidFill>
            <a:srgbClr val="280C0C"/>
          </a:solidFill>
          <a:ln w="50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80176" y="2322576"/>
            <a:ext cx="4151376" cy="292608"/>
          </a:xfrm>
          <a:prstGeom prst="rect">
            <a:avLst/>
          </a:prstGeom>
          <a:noFill/>
        </p:spPr>
        <p:txBody>
          <a:bodyPr wrap="square">
            <a:spAutoFit/>
          </a:bodyPr>
          <a:lstStyle/>
          <a:p>
            <a:pPr algn="l"/>
            <a:r>
              <a:rPr sz="1000" b="0" i="0">
                <a:solidFill>
                  <a:srgbClr val="A0AAB8"/>
                </a:solidFill>
                <a:latin typeface="Calibri"/>
              </a:rPr>
              <a:t>✕  Cloud / IoT Infrastructure  (AWS, Azure, embedded devices)</a:t>
            </a:r>
          </a:p>
        </p:txBody>
      </p:sp>
      <p:sp>
        <p:nvSpPr>
          <p:cNvPr id="38" name="Rectangle 37"/>
          <p:cNvSpPr/>
          <p:nvPr/>
        </p:nvSpPr>
        <p:spPr>
          <a:xfrm>
            <a:off x="5888736" y="2706624"/>
            <a:ext cx="4261104" cy="384048"/>
          </a:xfrm>
          <a:prstGeom prst="rect">
            <a:avLst/>
          </a:prstGeom>
          <a:solidFill>
            <a:srgbClr val="280C0C"/>
          </a:solidFill>
          <a:ln w="50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980176" y="2761488"/>
            <a:ext cx="4151376" cy="292608"/>
          </a:xfrm>
          <a:prstGeom prst="rect">
            <a:avLst/>
          </a:prstGeom>
          <a:noFill/>
        </p:spPr>
        <p:txBody>
          <a:bodyPr wrap="square">
            <a:spAutoFit/>
          </a:bodyPr>
          <a:lstStyle/>
          <a:p>
            <a:pPr algn="l"/>
            <a:r>
              <a:rPr sz="1000" b="0" i="0">
                <a:solidFill>
                  <a:srgbClr val="A0AAB8"/>
                </a:solidFill>
                <a:latin typeface="Calibri"/>
              </a:rPr>
              <a:t>✕  Wireless Networks  (Wi-Fi, Bluetooth, RF)</a:t>
            </a:r>
          </a:p>
        </p:txBody>
      </p:sp>
      <p:sp>
        <p:nvSpPr>
          <p:cNvPr id="40" name="Rectangle 39"/>
          <p:cNvSpPr/>
          <p:nvPr/>
        </p:nvSpPr>
        <p:spPr>
          <a:xfrm>
            <a:off x="5888736" y="3145536"/>
            <a:ext cx="4261104" cy="384048"/>
          </a:xfrm>
          <a:prstGeom prst="rect">
            <a:avLst/>
          </a:prstGeom>
          <a:solidFill>
            <a:srgbClr val="280C0C"/>
          </a:solidFill>
          <a:ln w="50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80176" y="3200400"/>
            <a:ext cx="4151376" cy="292608"/>
          </a:xfrm>
          <a:prstGeom prst="rect">
            <a:avLst/>
          </a:prstGeom>
          <a:noFill/>
        </p:spPr>
        <p:txBody>
          <a:bodyPr wrap="square">
            <a:spAutoFit/>
          </a:bodyPr>
          <a:lstStyle/>
          <a:p>
            <a:pPr algn="l"/>
            <a:r>
              <a:rPr sz="1000" b="0" i="0">
                <a:solidFill>
                  <a:srgbClr val="A0AAB8"/>
                </a:solidFill>
                <a:latin typeface="Calibri"/>
              </a:rPr>
              <a:t>✕  Active Directory / Domain Services</a:t>
            </a:r>
          </a:p>
        </p:txBody>
      </p:sp>
      <p:sp>
        <p:nvSpPr>
          <p:cNvPr id="42" name="Rectangle 41"/>
          <p:cNvSpPr/>
          <p:nvPr/>
        </p:nvSpPr>
        <p:spPr>
          <a:xfrm>
            <a:off x="5888736" y="3584448"/>
            <a:ext cx="4261104" cy="384048"/>
          </a:xfrm>
          <a:prstGeom prst="rect">
            <a:avLst/>
          </a:prstGeom>
          <a:solidFill>
            <a:srgbClr val="280C0C"/>
          </a:solidFill>
          <a:ln w="50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980176" y="3639312"/>
            <a:ext cx="4151376" cy="292608"/>
          </a:xfrm>
          <a:prstGeom prst="rect">
            <a:avLst/>
          </a:prstGeom>
          <a:noFill/>
        </p:spPr>
        <p:txBody>
          <a:bodyPr wrap="square">
            <a:spAutoFit/>
          </a:bodyPr>
          <a:lstStyle/>
          <a:p>
            <a:pPr algn="l"/>
            <a:r>
              <a:rPr sz="1000" b="0" i="0">
                <a:solidFill>
                  <a:srgbClr val="A0AAB8"/>
                </a:solidFill>
                <a:latin typeface="Calibri"/>
              </a:rPr>
              <a:t>✕  Physical / Social Engineering Attacks</a:t>
            </a:r>
          </a:p>
        </p:txBody>
      </p:sp>
      <p:sp>
        <p:nvSpPr>
          <p:cNvPr id="44" name="Rectangle 43"/>
          <p:cNvSpPr/>
          <p:nvPr/>
        </p:nvSpPr>
        <p:spPr>
          <a:xfrm>
            <a:off x="5779008" y="4206240"/>
            <a:ext cx="4480560" cy="1719072"/>
          </a:xfrm>
          <a:prstGeom prst="rect">
            <a:avLst/>
          </a:prstGeom>
          <a:solidFill>
            <a:srgbClr val="061022"/>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779008" y="4206240"/>
            <a:ext cx="4480560" cy="27432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870448" y="4242816"/>
            <a:ext cx="4315968" cy="219456"/>
          </a:xfrm>
          <a:prstGeom prst="rect">
            <a:avLst/>
          </a:prstGeom>
          <a:noFill/>
        </p:spPr>
        <p:txBody>
          <a:bodyPr wrap="square">
            <a:spAutoFit/>
          </a:bodyPr>
          <a:lstStyle/>
          <a:p>
            <a:pPr algn="l"/>
            <a:r>
              <a:rPr sz="900" b="1" i="0">
                <a:solidFill>
                  <a:srgbClr val="0A0D1A"/>
                </a:solidFill>
                <a:latin typeface="Calibri"/>
              </a:rPr>
              <a:t>OPERATOR CONFIGURATION  (one-time, before mission start)</a:t>
            </a:r>
          </a:p>
        </p:txBody>
      </p:sp>
      <p:sp>
        <p:nvSpPr>
          <p:cNvPr id="47" name="TextBox 46"/>
          <p:cNvSpPr txBox="1"/>
          <p:nvPr/>
        </p:nvSpPr>
        <p:spPr>
          <a:xfrm>
            <a:off x="5943600" y="4553712"/>
            <a:ext cx="4206240" cy="274320"/>
          </a:xfrm>
          <a:prstGeom prst="rect">
            <a:avLst/>
          </a:prstGeom>
          <a:noFill/>
        </p:spPr>
        <p:txBody>
          <a:bodyPr wrap="square">
            <a:spAutoFit/>
          </a:bodyPr>
          <a:lstStyle/>
          <a:p>
            <a:pPr algn="l"/>
            <a:r>
              <a:rPr sz="950" b="0" i="0">
                <a:solidFill>
                  <a:srgbClr val="00E5FF"/>
                </a:solidFill>
                <a:latin typeface="Calibri"/>
              </a:rPr>
              <a:t>→  Root domain (e.g. shopvault.io)</a:t>
            </a:r>
          </a:p>
        </p:txBody>
      </p:sp>
      <p:sp>
        <p:nvSpPr>
          <p:cNvPr id="48" name="TextBox 47"/>
          <p:cNvSpPr txBox="1"/>
          <p:nvPr/>
        </p:nvSpPr>
        <p:spPr>
          <a:xfrm>
            <a:off x="5943600" y="4864608"/>
            <a:ext cx="4206240" cy="274320"/>
          </a:xfrm>
          <a:prstGeom prst="rect">
            <a:avLst/>
          </a:prstGeom>
          <a:noFill/>
        </p:spPr>
        <p:txBody>
          <a:bodyPr wrap="square">
            <a:spAutoFit/>
          </a:bodyPr>
          <a:lstStyle/>
          <a:p>
            <a:pPr algn="l"/>
            <a:r>
              <a:rPr sz="950" b="0" i="0">
                <a:solidFill>
                  <a:srgbClr val="00E5FF"/>
                </a:solidFill>
                <a:latin typeface="Calibri"/>
              </a:rPr>
              <a:t>→  Scope declaration  (all subdomains · web apps · APIs)</a:t>
            </a:r>
          </a:p>
        </p:txBody>
      </p:sp>
      <p:sp>
        <p:nvSpPr>
          <p:cNvPr id="49" name="TextBox 48"/>
          <p:cNvSpPr txBox="1"/>
          <p:nvPr/>
        </p:nvSpPr>
        <p:spPr>
          <a:xfrm>
            <a:off x="5943600" y="5175504"/>
            <a:ext cx="4206240" cy="274320"/>
          </a:xfrm>
          <a:prstGeom prst="rect">
            <a:avLst/>
          </a:prstGeom>
          <a:noFill/>
        </p:spPr>
        <p:txBody>
          <a:bodyPr wrap="square">
            <a:spAutoFit/>
          </a:bodyPr>
          <a:lstStyle/>
          <a:p>
            <a:pPr algn="l"/>
            <a:r>
              <a:rPr sz="950" b="0" i="0">
                <a:solidFill>
                  <a:srgbClr val="00E5FF"/>
                </a:solidFill>
                <a:latin typeface="Calibri"/>
              </a:rPr>
              <a:t>→  Assessment mode  (Black-Box or Grey-Box)</a:t>
            </a:r>
          </a:p>
        </p:txBody>
      </p:sp>
      <p:sp>
        <p:nvSpPr>
          <p:cNvPr id="50" name="TextBox 49"/>
          <p:cNvSpPr txBox="1"/>
          <p:nvPr/>
        </p:nvSpPr>
        <p:spPr>
          <a:xfrm>
            <a:off x="5943600" y="5486400"/>
            <a:ext cx="4206240" cy="274320"/>
          </a:xfrm>
          <a:prstGeom prst="rect">
            <a:avLst/>
          </a:prstGeom>
          <a:noFill/>
        </p:spPr>
        <p:txBody>
          <a:bodyPr wrap="square">
            <a:spAutoFit/>
          </a:bodyPr>
          <a:lstStyle/>
          <a:p>
            <a:pPr algn="l"/>
            <a:r>
              <a:rPr sz="950" b="0" i="0">
                <a:solidFill>
                  <a:srgbClr val="00E5FF"/>
                </a:solidFill>
                <a:latin typeface="Calibri"/>
              </a:rPr>
              <a:t>→  Grey-Box extras if applicable  (IP ranges, credentials)</a:t>
            </a:r>
          </a:p>
        </p:txBody>
      </p:sp>
      <p:sp>
        <p:nvSpPr>
          <p:cNvPr id="51" name="TextBox 50"/>
          <p:cNvSpPr txBox="1"/>
          <p:nvPr/>
        </p:nvSpPr>
        <p:spPr>
          <a:xfrm>
            <a:off x="5943600" y="5833872"/>
            <a:ext cx="4206240" cy="475488"/>
          </a:xfrm>
          <a:prstGeom prst="rect">
            <a:avLst/>
          </a:prstGeom>
          <a:noFill/>
        </p:spPr>
        <p:txBody>
          <a:bodyPr wrap="square">
            <a:spAutoFit/>
          </a:bodyPr>
          <a:lstStyle/>
          <a:p>
            <a:pPr algn="l"/>
            <a:r>
              <a:rPr sz="950" b="0" i="1">
                <a:solidFill>
                  <a:srgbClr val="A0AAB8"/>
                </a:solidFill>
                <a:latin typeface="Calibri"/>
              </a:rPr>
              <a:t>All subsequent tool calls, reasoning, and reporting are fully autonomous — zero manual commands during the assessment.</a:t>
            </a:r>
          </a:p>
        </p:txBody>
      </p:sp>
      <p:sp>
        <p:nvSpPr>
          <p:cNvPr id="52" name="TextBox 51"/>
          <p:cNvSpPr txBox="1"/>
          <p:nvPr/>
        </p:nvSpPr>
        <p:spPr>
          <a:xfrm>
            <a:off x="11780215" y="6355080"/>
            <a:ext cx="384048" cy="411480"/>
          </a:xfrm>
          <a:prstGeom prst="rect">
            <a:avLst/>
          </a:prstGeom>
          <a:noFill/>
        </p:spPr>
        <p:txBody>
          <a:bodyPr wrap="square">
            <a:spAutoFit/>
          </a:bodyPr>
          <a:lstStyle/>
          <a:p>
            <a:pPr algn="r"/>
            <a:r>
              <a:rPr sz="1300" b="1" i="0">
                <a:solidFill>
                  <a:srgbClr val="00E5FF"/>
                </a:solidFill>
                <a:latin typeface="Calibri"/>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5486400" cy="237744"/>
          </a:xfrm>
          <a:prstGeom prst="rect">
            <a:avLst/>
          </a:prstGeom>
          <a:noFill/>
        </p:spPr>
        <p:txBody>
          <a:bodyPr wrap="square">
            <a:spAutoFit/>
          </a:bodyPr>
          <a:lstStyle/>
          <a:p>
            <a:pPr algn="l"/>
            <a:r>
              <a:rPr sz="1000" b="1" i="0">
                <a:solidFill>
                  <a:srgbClr val="00E5FF"/>
                </a:solidFill>
                <a:latin typeface="Calibri"/>
              </a:rPr>
              <a:t>SYSTEM ARCHITECTURE</a:t>
            </a:r>
          </a:p>
        </p:txBody>
      </p:sp>
      <p:sp>
        <p:nvSpPr>
          <p:cNvPr id="6" name="TextBox 5"/>
          <p:cNvSpPr txBox="1"/>
          <p:nvPr/>
        </p:nvSpPr>
        <p:spPr>
          <a:xfrm>
            <a:off x="274320" y="301752"/>
            <a:ext cx="10058400" cy="457200"/>
          </a:xfrm>
          <a:prstGeom prst="rect">
            <a:avLst/>
          </a:prstGeom>
          <a:noFill/>
        </p:spPr>
        <p:txBody>
          <a:bodyPr wrap="square">
            <a:spAutoFit/>
          </a:bodyPr>
          <a:lstStyle/>
          <a:p>
            <a:pPr algn="l"/>
            <a:r>
              <a:rPr sz="2600" b="1" i="0">
                <a:solidFill>
                  <a:srgbClr val="FFFFFF"/>
                </a:solidFill>
                <a:latin typeface="Calibri"/>
              </a:rPr>
              <a:t>CMatrix — Three-Tier Architecture Overview</a:t>
            </a:r>
          </a:p>
        </p:txBody>
      </p:sp>
      <p:sp>
        <p:nvSpPr>
          <p:cNvPr id="7" name="Rectangle 6"/>
          <p:cNvSpPr/>
          <p:nvPr/>
        </p:nvSpPr>
        <p:spPr>
          <a:xfrm>
            <a:off x="164592" y="804672"/>
            <a:ext cx="11862511" cy="1280160"/>
          </a:xfrm>
          <a:prstGeom prst="rect">
            <a:avLst/>
          </a:prstGeom>
          <a:solidFill>
            <a:srgbClr val="061020"/>
          </a:solidFill>
          <a:ln w="762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1168" y="850392"/>
            <a:ext cx="1463040" cy="201168"/>
          </a:xfrm>
          <a:prstGeom prst="rect">
            <a:avLst/>
          </a:prstGeom>
          <a:noFill/>
        </p:spPr>
        <p:txBody>
          <a:bodyPr wrap="square">
            <a:spAutoFit/>
          </a:bodyPr>
          <a:lstStyle/>
          <a:p>
            <a:pPr algn="l"/>
            <a:r>
              <a:rPr sz="750" b="1" i="0">
                <a:solidFill>
                  <a:srgbClr val="00E5FF"/>
                </a:solidFill>
                <a:latin typeface="Calibri"/>
              </a:rPr>
              <a:t>① ORCHESTRATION</a:t>
            </a:r>
          </a:p>
        </p:txBody>
      </p:sp>
      <p:sp>
        <p:nvSpPr>
          <p:cNvPr id="9" name="Rectangle 8"/>
          <p:cNvSpPr/>
          <p:nvPr/>
        </p:nvSpPr>
        <p:spPr>
          <a:xfrm>
            <a:off x="320040" y="1060704"/>
            <a:ext cx="1554480" cy="877824"/>
          </a:xfrm>
          <a:prstGeom prst="rect">
            <a:avLst/>
          </a:prstGeom>
          <a:solidFill>
            <a:srgbClr val="0C182E"/>
          </a:solidFill>
          <a:ln w="10160">
            <a:solidFill>
              <a:srgbClr val="A0AA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115568"/>
            <a:ext cx="1554480" cy="219456"/>
          </a:xfrm>
          <a:prstGeom prst="rect">
            <a:avLst/>
          </a:prstGeom>
          <a:noFill/>
        </p:spPr>
        <p:txBody>
          <a:bodyPr wrap="square">
            <a:spAutoFit/>
          </a:bodyPr>
          <a:lstStyle/>
          <a:p>
            <a:pPr algn="ctr"/>
            <a:r>
              <a:rPr sz="900" b="1" i="0">
                <a:solidFill>
                  <a:srgbClr val="A0AAB8"/>
                </a:solidFill>
                <a:latin typeface="Calibri"/>
              </a:rPr>
              <a:t>OPERATOR</a:t>
            </a:r>
          </a:p>
        </p:txBody>
      </p:sp>
      <p:sp>
        <p:nvSpPr>
          <p:cNvPr id="11" name="TextBox 10"/>
          <p:cNvSpPr txBox="1"/>
          <p:nvPr/>
        </p:nvSpPr>
        <p:spPr>
          <a:xfrm>
            <a:off x="320040" y="1371600"/>
            <a:ext cx="1554480" cy="502920"/>
          </a:xfrm>
          <a:prstGeom prst="rect">
            <a:avLst/>
          </a:prstGeom>
          <a:noFill/>
        </p:spPr>
        <p:txBody>
          <a:bodyPr wrap="square">
            <a:spAutoFit/>
          </a:bodyPr>
          <a:lstStyle/>
          <a:p>
            <a:pPr algn="ctr"/>
            <a:r>
              <a:rPr sz="800" b="0" i="1">
                <a:solidFill>
                  <a:srgbClr val="A0AAB8"/>
                </a:solidFill>
                <a:latin typeface="Calibri"/>
              </a:rPr>
              <a:t>Target · Scope · Mode</a:t>
            </a:r>
          </a:p>
        </p:txBody>
      </p:sp>
      <p:cxnSp>
        <p:nvCxnSpPr>
          <p:cNvPr id="12" name="Connector 11"/>
          <p:cNvCxnSpPr/>
          <p:nvPr/>
        </p:nvCxnSpPr>
        <p:spPr>
          <a:xfrm>
            <a:off x="1874520" y="1499616.0"/>
            <a:ext cx="210311" cy="0.0"/>
          </a:xfrm>
          <a:prstGeom prst="line">
            <a:avLst/>
          </a:prstGeom>
          <a:ln w="1905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901952" y="1225296"/>
            <a:ext cx="822960" cy="237744"/>
          </a:xfrm>
          <a:prstGeom prst="rect">
            <a:avLst/>
          </a:prstGeom>
          <a:noFill/>
        </p:spPr>
        <p:txBody>
          <a:bodyPr wrap="square">
            <a:spAutoFit/>
          </a:bodyPr>
          <a:lstStyle/>
          <a:p>
            <a:pPr algn="ctr"/>
            <a:r>
              <a:rPr sz="700" b="0" i="1">
                <a:solidFill>
                  <a:srgbClr val="303848"/>
                </a:solidFill>
                <a:latin typeface="Calibri"/>
              </a:rPr>
              <a:t>mission config</a:t>
            </a:r>
          </a:p>
        </p:txBody>
      </p:sp>
      <p:sp>
        <p:nvSpPr>
          <p:cNvPr id="14" name="Rectangle 13"/>
          <p:cNvSpPr/>
          <p:nvPr/>
        </p:nvSpPr>
        <p:spPr>
          <a:xfrm>
            <a:off x="2084831" y="941832"/>
            <a:ext cx="2834640" cy="1005840"/>
          </a:xfrm>
          <a:prstGeom prst="rect">
            <a:avLst/>
          </a:prstGeom>
          <a:solidFill>
            <a:srgbClr val="04162E"/>
          </a:solidFill>
          <a:ln w="254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084831" y="941832"/>
            <a:ext cx="2834640" cy="27432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084831" y="969264"/>
            <a:ext cx="2834640" cy="219456"/>
          </a:xfrm>
          <a:prstGeom prst="rect">
            <a:avLst/>
          </a:prstGeom>
          <a:noFill/>
        </p:spPr>
        <p:txBody>
          <a:bodyPr wrap="square">
            <a:spAutoFit/>
          </a:bodyPr>
          <a:lstStyle/>
          <a:p>
            <a:pPr algn="ctr"/>
            <a:r>
              <a:rPr sz="950" b="1" i="0">
                <a:solidFill>
                  <a:srgbClr val="0A0D1A"/>
                </a:solidFill>
                <a:latin typeface="Calibri"/>
              </a:rPr>
              <a:t>COMMANDER AGENT</a:t>
            </a:r>
          </a:p>
        </p:txBody>
      </p:sp>
      <p:sp>
        <p:nvSpPr>
          <p:cNvPr id="17" name="TextBox 16"/>
          <p:cNvSpPr txBox="1"/>
          <p:nvPr/>
        </p:nvSpPr>
        <p:spPr>
          <a:xfrm>
            <a:off x="2176271" y="1261872"/>
            <a:ext cx="2697480" cy="164592"/>
          </a:xfrm>
          <a:prstGeom prst="rect">
            <a:avLst/>
          </a:prstGeom>
          <a:noFill/>
        </p:spPr>
        <p:txBody>
          <a:bodyPr wrap="square">
            <a:spAutoFit/>
          </a:bodyPr>
          <a:lstStyle/>
          <a:p>
            <a:pPr algn="l"/>
            <a:r>
              <a:rPr sz="800" b="0" i="0">
                <a:solidFill>
                  <a:srgbClr val="A0AAB8"/>
                </a:solidFill>
                <a:latin typeface="Calibri"/>
              </a:rPr>
              <a:t>• Reads ASG + APG state</a:t>
            </a:r>
          </a:p>
        </p:txBody>
      </p:sp>
      <p:sp>
        <p:nvSpPr>
          <p:cNvPr id="18" name="TextBox 17"/>
          <p:cNvSpPr txBox="1"/>
          <p:nvPr/>
        </p:nvSpPr>
        <p:spPr>
          <a:xfrm>
            <a:off x="2176271" y="1426464"/>
            <a:ext cx="2697480" cy="164592"/>
          </a:xfrm>
          <a:prstGeom prst="rect">
            <a:avLst/>
          </a:prstGeom>
          <a:noFill/>
        </p:spPr>
        <p:txBody>
          <a:bodyPr wrap="square">
            <a:spAutoFit/>
          </a:bodyPr>
          <a:lstStyle/>
          <a:p>
            <a:pPr algn="l"/>
            <a:r>
              <a:rPr sz="800" b="0" i="0">
                <a:solidFill>
                  <a:srgbClr val="A0AAB8"/>
                </a:solidFill>
                <a:latin typeface="Calibri"/>
              </a:rPr>
              <a:t>• Plans &amp; delegates tasks</a:t>
            </a:r>
          </a:p>
        </p:txBody>
      </p:sp>
      <p:sp>
        <p:nvSpPr>
          <p:cNvPr id="19" name="TextBox 18"/>
          <p:cNvSpPr txBox="1"/>
          <p:nvPr/>
        </p:nvSpPr>
        <p:spPr>
          <a:xfrm>
            <a:off x="2176271" y="1591056"/>
            <a:ext cx="2697480" cy="164592"/>
          </a:xfrm>
          <a:prstGeom prst="rect">
            <a:avLst/>
          </a:prstGeom>
          <a:noFill/>
        </p:spPr>
        <p:txBody>
          <a:bodyPr wrap="square">
            <a:spAutoFit/>
          </a:bodyPr>
          <a:lstStyle/>
          <a:p>
            <a:pPr algn="l"/>
            <a:r>
              <a:rPr sz="800" b="0" i="0">
                <a:solidFill>
                  <a:srgbClr val="A0AAB8"/>
                </a:solidFill>
                <a:latin typeface="Calibri"/>
              </a:rPr>
              <a:t>• Seeds APG AttackChains from Vulnerability nodes</a:t>
            </a:r>
          </a:p>
        </p:txBody>
      </p:sp>
      <p:sp>
        <p:nvSpPr>
          <p:cNvPr id="20" name="TextBox 19"/>
          <p:cNvSpPr txBox="1"/>
          <p:nvPr/>
        </p:nvSpPr>
        <p:spPr>
          <a:xfrm>
            <a:off x="2176271" y="1755648"/>
            <a:ext cx="2697480" cy="164592"/>
          </a:xfrm>
          <a:prstGeom prst="rect">
            <a:avLst/>
          </a:prstGeom>
          <a:noFill/>
        </p:spPr>
        <p:txBody>
          <a:bodyPr wrap="square">
            <a:spAutoFit/>
          </a:bodyPr>
          <a:lstStyle/>
          <a:p>
            <a:pPr algn="l"/>
            <a:r>
              <a:rPr sz="800" b="0" i="0">
                <a:solidFill>
                  <a:srgbClr val="A0AAB8"/>
                </a:solidFill>
                <a:latin typeface="Calibri"/>
              </a:rPr>
              <a:t>• Approves High-risk ops</a:t>
            </a:r>
          </a:p>
        </p:txBody>
      </p:sp>
      <p:sp>
        <p:nvSpPr>
          <p:cNvPr id="21" name="TextBox 20"/>
          <p:cNvSpPr txBox="1"/>
          <p:nvPr/>
        </p:nvSpPr>
        <p:spPr>
          <a:xfrm>
            <a:off x="2176271" y="1920240"/>
            <a:ext cx="2697480" cy="164592"/>
          </a:xfrm>
          <a:prstGeom prst="rect">
            <a:avLst/>
          </a:prstGeom>
          <a:noFill/>
        </p:spPr>
        <p:txBody>
          <a:bodyPr wrap="square">
            <a:spAutoFit/>
          </a:bodyPr>
          <a:lstStyle/>
          <a:p>
            <a:pPr algn="l"/>
            <a:r>
              <a:rPr sz="800" b="0" i="0">
                <a:solidFill>
                  <a:srgbClr val="A0AAB8"/>
                </a:solidFill>
                <a:latin typeface="Calibri"/>
              </a:rPr>
              <a:t>• Writes to APG only</a:t>
            </a:r>
          </a:p>
        </p:txBody>
      </p:sp>
      <p:sp>
        <p:nvSpPr>
          <p:cNvPr id="22" name="Rectangle 21"/>
          <p:cNvSpPr/>
          <p:nvPr/>
        </p:nvSpPr>
        <p:spPr>
          <a:xfrm>
            <a:off x="5120640" y="1060704"/>
            <a:ext cx="2103120" cy="877824"/>
          </a:xfrm>
          <a:prstGeom prst="rect">
            <a:avLst/>
          </a:prstGeom>
          <a:solidFill>
            <a:srgbClr val="100C22"/>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20640" y="1115568"/>
            <a:ext cx="2103120" cy="201168"/>
          </a:xfrm>
          <a:prstGeom prst="rect">
            <a:avLst/>
          </a:prstGeom>
          <a:noFill/>
        </p:spPr>
        <p:txBody>
          <a:bodyPr wrap="square">
            <a:spAutoFit/>
          </a:bodyPr>
          <a:lstStyle/>
          <a:p>
            <a:pPr algn="ctr"/>
            <a:r>
              <a:rPr sz="800" b="1" i="0">
                <a:solidFill>
                  <a:srgbClr val="BD93F9"/>
                </a:solidFill>
                <a:latin typeface="Calibri"/>
              </a:rPr>
              <a:t>VAPT PROTOCOL PROMPT</a:t>
            </a:r>
          </a:p>
        </p:txBody>
      </p:sp>
      <p:sp>
        <p:nvSpPr>
          <p:cNvPr id="24" name="TextBox 23"/>
          <p:cNvSpPr txBox="1"/>
          <p:nvPr/>
        </p:nvSpPr>
        <p:spPr>
          <a:xfrm>
            <a:off x="5212080" y="1353312"/>
            <a:ext cx="1965960" cy="530352"/>
          </a:xfrm>
          <a:prstGeom prst="rect">
            <a:avLst/>
          </a:prstGeom>
          <a:noFill/>
        </p:spPr>
        <p:txBody>
          <a:bodyPr wrap="square">
            <a:spAutoFit/>
          </a:bodyPr>
          <a:lstStyle/>
          <a:p>
            <a:pPr algn="l"/>
            <a:r>
              <a:rPr sz="800" b="0" i="0">
                <a:solidFill>
                  <a:srgbClr val="A0AAB8"/>
                </a:solidFill>
                <a:latin typeface="Calibri"/>
              </a:rPr>
              <a:t>Phase rules · Re-plan triggers · Termination conditions · Methodology-as-config (C7)</a:t>
            </a:r>
          </a:p>
        </p:txBody>
      </p:sp>
      <p:cxnSp>
        <p:nvCxnSpPr>
          <p:cNvPr id="25" name="Connector 24"/>
          <p:cNvCxnSpPr/>
          <p:nvPr/>
        </p:nvCxnSpPr>
        <p:spPr>
          <a:xfrm>
            <a:off x="4919471" y="1444752.0"/>
            <a:ext cx="201169" cy="54864.0"/>
          </a:xfrm>
          <a:prstGeom prst="line">
            <a:avLst/>
          </a:prstGeom>
          <a:ln w="12700">
            <a:solidFill>
              <a:srgbClr val="BD93F9"/>
            </a:solidFill>
            <a:headEnd type="arrow" w="med" len="med"/>
            <a:tailEnd type="arrow" w="med" len="med"/>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164592" y="2139696"/>
            <a:ext cx="11862511" cy="1682496"/>
          </a:xfrm>
          <a:prstGeom prst="rect">
            <a:avLst/>
          </a:prstGeom>
          <a:solidFill>
            <a:srgbClr val="05140A"/>
          </a:solidFill>
          <a:ln w="762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01168" y="2185416"/>
            <a:ext cx="2377440" cy="201168"/>
          </a:xfrm>
          <a:prstGeom prst="rect">
            <a:avLst/>
          </a:prstGeom>
          <a:noFill/>
        </p:spPr>
        <p:txBody>
          <a:bodyPr wrap="square">
            <a:spAutoFit/>
          </a:bodyPr>
          <a:lstStyle/>
          <a:p>
            <a:pPr algn="l"/>
            <a:r>
              <a:rPr sz="750" b="1" i="0">
                <a:solidFill>
                  <a:srgbClr val="39FF14"/>
                </a:solidFill>
                <a:latin typeface="Calibri"/>
              </a:rPr>
              <a:t>② DUAL-GRAPH WORLD MODEL</a:t>
            </a:r>
          </a:p>
        </p:txBody>
      </p:sp>
      <p:sp>
        <p:nvSpPr>
          <p:cNvPr id="28" name="Rectangle 27"/>
          <p:cNvSpPr/>
          <p:nvPr/>
        </p:nvSpPr>
        <p:spPr>
          <a:xfrm>
            <a:off x="320040" y="2414016"/>
            <a:ext cx="4297680" cy="1298448"/>
          </a:xfrm>
          <a:prstGeom prst="rect">
            <a:avLst/>
          </a:prstGeom>
          <a:solidFill>
            <a:srgbClr val="04180C"/>
          </a:solidFill>
          <a:ln w="2286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20040" y="2414016"/>
            <a:ext cx="4297680" cy="27432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0040" y="2450592"/>
            <a:ext cx="4297680" cy="219456"/>
          </a:xfrm>
          <a:prstGeom prst="rect">
            <a:avLst/>
          </a:prstGeom>
          <a:noFill/>
        </p:spPr>
        <p:txBody>
          <a:bodyPr wrap="square">
            <a:spAutoFit/>
          </a:bodyPr>
          <a:lstStyle/>
          <a:p>
            <a:pPr algn="ctr"/>
            <a:r>
              <a:rPr sz="950" b="1" i="0">
                <a:solidFill>
                  <a:srgbClr val="0A0D1A"/>
                </a:solidFill>
                <a:latin typeface="Calibri"/>
              </a:rPr>
              <a:t>ATTACK SURFACE GRAPH  (ASG)</a:t>
            </a:r>
          </a:p>
        </p:txBody>
      </p:sp>
      <p:sp>
        <p:nvSpPr>
          <p:cNvPr id="31" name="Rectangle 30"/>
          <p:cNvSpPr/>
          <p:nvPr/>
        </p:nvSpPr>
        <p:spPr>
          <a:xfrm>
            <a:off x="457200" y="2743200"/>
            <a:ext cx="749808"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2761488"/>
            <a:ext cx="749808" cy="201168"/>
          </a:xfrm>
          <a:prstGeom prst="rect">
            <a:avLst/>
          </a:prstGeom>
          <a:noFill/>
        </p:spPr>
        <p:txBody>
          <a:bodyPr wrap="square">
            <a:spAutoFit/>
          </a:bodyPr>
          <a:lstStyle/>
          <a:p>
            <a:pPr algn="ctr"/>
            <a:r>
              <a:rPr sz="750" b="1" i="0">
                <a:solidFill>
                  <a:srgbClr val="39FF14"/>
                </a:solidFill>
                <a:latin typeface="Calibri"/>
              </a:rPr>
              <a:t>Domain</a:t>
            </a:r>
          </a:p>
        </p:txBody>
      </p:sp>
      <p:sp>
        <p:nvSpPr>
          <p:cNvPr id="33" name="Rectangle 32"/>
          <p:cNvSpPr/>
          <p:nvPr/>
        </p:nvSpPr>
        <p:spPr>
          <a:xfrm>
            <a:off x="1261872" y="2743200"/>
            <a:ext cx="749808"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61872" y="2761488"/>
            <a:ext cx="749808" cy="201168"/>
          </a:xfrm>
          <a:prstGeom prst="rect">
            <a:avLst/>
          </a:prstGeom>
          <a:noFill/>
        </p:spPr>
        <p:txBody>
          <a:bodyPr wrap="square">
            <a:spAutoFit/>
          </a:bodyPr>
          <a:lstStyle/>
          <a:p>
            <a:pPr algn="ctr"/>
            <a:r>
              <a:rPr sz="750" b="1" i="0">
                <a:solidFill>
                  <a:srgbClr val="39FF14"/>
                </a:solidFill>
                <a:latin typeface="Calibri"/>
              </a:rPr>
              <a:t>Host</a:t>
            </a:r>
          </a:p>
        </p:txBody>
      </p:sp>
      <p:sp>
        <p:nvSpPr>
          <p:cNvPr id="35" name="Rectangle 34"/>
          <p:cNvSpPr/>
          <p:nvPr/>
        </p:nvSpPr>
        <p:spPr>
          <a:xfrm>
            <a:off x="2066544" y="2743200"/>
            <a:ext cx="749808"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066544" y="2761488"/>
            <a:ext cx="749808" cy="201168"/>
          </a:xfrm>
          <a:prstGeom prst="rect">
            <a:avLst/>
          </a:prstGeom>
          <a:noFill/>
        </p:spPr>
        <p:txBody>
          <a:bodyPr wrap="square">
            <a:spAutoFit/>
          </a:bodyPr>
          <a:lstStyle/>
          <a:p>
            <a:pPr algn="ctr"/>
            <a:r>
              <a:rPr sz="750" b="1" i="0">
                <a:solidFill>
                  <a:srgbClr val="39FF14"/>
                </a:solidFill>
                <a:latin typeface="Calibri"/>
              </a:rPr>
              <a:t>Port</a:t>
            </a:r>
          </a:p>
        </p:txBody>
      </p:sp>
      <p:sp>
        <p:nvSpPr>
          <p:cNvPr id="37" name="Rectangle 36"/>
          <p:cNvSpPr/>
          <p:nvPr/>
        </p:nvSpPr>
        <p:spPr>
          <a:xfrm>
            <a:off x="2871216" y="2743200"/>
            <a:ext cx="749808"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871216" y="2761488"/>
            <a:ext cx="749808" cy="201168"/>
          </a:xfrm>
          <a:prstGeom prst="rect">
            <a:avLst/>
          </a:prstGeom>
          <a:noFill/>
        </p:spPr>
        <p:txBody>
          <a:bodyPr wrap="square">
            <a:spAutoFit/>
          </a:bodyPr>
          <a:lstStyle/>
          <a:p>
            <a:pPr algn="ctr"/>
            <a:r>
              <a:rPr sz="750" b="1" i="0">
                <a:solidFill>
                  <a:srgbClr val="39FF14"/>
                </a:solidFill>
                <a:latin typeface="Calibri"/>
              </a:rPr>
              <a:t>Service</a:t>
            </a:r>
          </a:p>
        </p:txBody>
      </p:sp>
      <p:sp>
        <p:nvSpPr>
          <p:cNvPr id="39" name="Rectangle 38"/>
          <p:cNvSpPr/>
          <p:nvPr/>
        </p:nvSpPr>
        <p:spPr>
          <a:xfrm>
            <a:off x="3675888" y="2743200"/>
            <a:ext cx="749808"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5888" y="2761488"/>
            <a:ext cx="749808" cy="201168"/>
          </a:xfrm>
          <a:prstGeom prst="rect">
            <a:avLst/>
          </a:prstGeom>
          <a:noFill/>
        </p:spPr>
        <p:txBody>
          <a:bodyPr wrap="square">
            <a:spAutoFit/>
          </a:bodyPr>
          <a:lstStyle/>
          <a:p>
            <a:pPr algn="ctr"/>
            <a:r>
              <a:rPr sz="750" b="1" i="0">
                <a:solidFill>
                  <a:srgbClr val="39FF14"/>
                </a:solidFill>
                <a:latin typeface="Calibri"/>
              </a:rPr>
              <a:t>Technology</a:t>
            </a:r>
          </a:p>
        </p:txBody>
      </p:sp>
      <p:sp>
        <p:nvSpPr>
          <p:cNvPr id="41" name="Rectangle 40"/>
          <p:cNvSpPr/>
          <p:nvPr/>
        </p:nvSpPr>
        <p:spPr>
          <a:xfrm>
            <a:off x="457200" y="3017520"/>
            <a:ext cx="950976"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 y="3035808"/>
            <a:ext cx="950976" cy="201168"/>
          </a:xfrm>
          <a:prstGeom prst="rect">
            <a:avLst/>
          </a:prstGeom>
          <a:noFill/>
        </p:spPr>
        <p:txBody>
          <a:bodyPr wrap="square">
            <a:spAutoFit/>
          </a:bodyPr>
          <a:lstStyle/>
          <a:p>
            <a:pPr algn="ctr"/>
            <a:r>
              <a:rPr sz="750" b="1" i="0">
                <a:solidFill>
                  <a:srgbClr val="39FF14"/>
                </a:solidFill>
                <a:latin typeface="Calibri"/>
              </a:rPr>
              <a:t>Endpoint</a:t>
            </a:r>
          </a:p>
        </p:txBody>
      </p:sp>
      <p:sp>
        <p:nvSpPr>
          <p:cNvPr id="43" name="Rectangle 42"/>
          <p:cNvSpPr/>
          <p:nvPr/>
        </p:nvSpPr>
        <p:spPr>
          <a:xfrm>
            <a:off x="1463040" y="3017520"/>
            <a:ext cx="950976"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463040" y="3035808"/>
            <a:ext cx="950976" cy="201168"/>
          </a:xfrm>
          <a:prstGeom prst="rect">
            <a:avLst/>
          </a:prstGeom>
          <a:noFill/>
        </p:spPr>
        <p:txBody>
          <a:bodyPr wrap="square">
            <a:spAutoFit/>
          </a:bodyPr>
          <a:lstStyle/>
          <a:p>
            <a:pPr algn="ctr"/>
            <a:r>
              <a:rPr sz="750" b="1" i="0">
                <a:solidFill>
                  <a:srgbClr val="39FF14"/>
                </a:solidFill>
                <a:latin typeface="Calibri"/>
              </a:rPr>
              <a:t>Parameter</a:t>
            </a:r>
          </a:p>
        </p:txBody>
      </p:sp>
      <p:sp>
        <p:nvSpPr>
          <p:cNvPr id="45" name="Rectangle 44"/>
          <p:cNvSpPr/>
          <p:nvPr/>
        </p:nvSpPr>
        <p:spPr>
          <a:xfrm>
            <a:off x="2468880" y="3017520"/>
            <a:ext cx="950976"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468880" y="3035808"/>
            <a:ext cx="950976" cy="201168"/>
          </a:xfrm>
          <a:prstGeom prst="rect">
            <a:avLst/>
          </a:prstGeom>
          <a:noFill/>
        </p:spPr>
        <p:txBody>
          <a:bodyPr wrap="square">
            <a:spAutoFit/>
          </a:bodyPr>
          <a:lstStyle/>
          <a:p>
            <a:pPr algn="ctr"/>
            <a:r>
              <a:rPr sz="750" b="1" i="0">
                <a:solidFill>
                  <a:srgbClr val="39FF14"/>
                </a:solidFill>
                <a:latin typeface="Calibri"/>
              </a:rPr>
              <a:t>Vulnerability</a:t>
            </a:r>
          </a:p>
        </p:txBody>
      </p:sp>
      <p:sp>
        <p:nvSpPr>
          <p:cNvPr id="47" name="Rectangle 46"/>
          <p:cNvSpPr/>
          <p:nvPr/>
        </p:nvSpPr>
        <p:spPr>
          <a:xfrm>
            <a:off x="3474720" y="3017520"/>
            <a:ext cx="950976" cy="228600"/>
          </a:xfrm>
          <a:prstGeom prst="rect">
            <a:avLst/>
          </a:prstGeom>
          <a:solidFill>
            <a:srgbClr val="08281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474720" y="3035808"/>
            <a:ext cx="950976" cy="201168"/>
          </a:xfrm>
          <a:prstGeom prst="rect">
            <a:avLst/>
          </a:prstGeom>
          <a:noFill/>
        </p:spPr>
        <p:txBody>
          <a:bodyPr wrap="square">
            <a:spAutoFit/>
          </a:bodyPr>
          <a:lstStyle/>
          <a:p>
            <a:pPr algn="ctr"/>
            <a:r>
              <a:rPr sz="750" b="1" i="0">
                <a:solidFill>
                  <a:srgbClr val="39FF14"/>
                </a:solidFill>
                <a:latin typeface="Calibri"/>
              </a:rPr>
              <a:t>Evidence</a:t>
            </a:r>
          </a:p>
        </p:txBody>
      </p:sp>
      <p:sp>
        <p:nvSpPr>
          <p:cNvPr id="49" name="TextBox 48"/>
          <p:cNvSpPr txBox="1"/>
          <p:nvPr/>
        </p:nvSpPr>
        <p:spPr>
          <a:xfrm>
            <a:off x="429768" y="3300984"/>
            <a:ext cx="4114800" cy="347472"/>
          </a:xfrm>
          <a:prstGeom prst="rect">
            <a:avLst/>
          </a:prstGeom>
          <a:noFill/>
        </p:spPr>
        <p:txBody>
          <a:bodyPr wrap="square">
            <a:spAutoFit/>
          </a:bodyPr>
          <a:lstStyle/>
          <a:p>
            <a:pPr algn="l"/>
            <a:r>
              <a:rPr sz="800" b="0" i="1">
                <a:solidFill>
                  <a:srgbClr val="60C070"/>
                </a:solidFill>
                <a:latin typeface="Calibri"/>
              </a:rPr>
              <a:t>Discovered Reality — confirmed facts only. Never contains hypotheses.</a:t>
            </a:r>
          </a:p>
        </p:txBody>
      </p:sp>
      <p:sp>
        <p:nvSpPr>
          <p:cNvPr id="50" name="Rectangle 49"/>
          <p:cNvSpPr/>
          <p:nvPr/>
        </p:nvSpPr>
        <p:spPr>
          <a:xfrm>
            <a:off x="7589520" y="2414016"/>
            <a:ext cx="4389120" cy="1298448"/>
          </a:xfrm>
          <a:prstGeom prst="rect">
            <a:avLst/>
          </a:prstGeom>
          <a:solidFill>
            <a:srgbClr val="1E1004"/>
          </a:solidFill>
          <a:ln w="228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589520" y="2414016"/>
            <a:ext cx="4389120" cy="2743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589520" y="2450592"/>
            <a:ext cx="4389120" cy="219456"/>
          </a:xfrm>
          <a:prstGeom prst="rect">
            <a:avLst/>
          </a:prstGeom>
          <a:noFill/>
        </p:spPr>
        <p:txBody>
          <a:bodyPr wrap="square">
            <a:spAutoFit/>
          </a:bodyPr>
          <a:lstStyle/>
          <a:p>
            <a:pPr algn="ctr"/>
            <a:r>
              <a:rPr sz="950" b="1" i="0">
                <a:solidFill>
                  <a:srgbClr val="0A0D1A"/>
                </a:solidFill>
                <a:latin typeface="Calibri"/>
              </a:rPr>
              <a:t>ATTACK PATH GRAPH  (APG)</a:t>
            </a:r>
          </a:p>
        </p:txBody>
      </p:sp>
      <p:sp>
        <p:nvSpPr>
          <p:cNvPr id="53" name="Rectangle 52"/>
          <p:cNvSpPr/>
          <p:nvPr/>
        </p:nvSpPr>
        <p:spPr>
          <a:xfrm>
            <a:off x="7726680" y="2743200"/>
            <a:ext cx="1280160" cy="228600"/>
          </a:xfrm>
          <a:prstGeom prst="rect">
            <a:avLst/>
          </a:prstGeom>
          <a:solidFill>
            <a:srgbClr val="2E1804"/>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26680" y="2761488"/>
            <a:ext cx="1280160" cy="201168"/>
          </a:xfrm>
          <a:prstGeom prst="rect">
            <a:avLst/>
          </a:prstGeom>
          <a:noFill/>
        </p:spPr>
        <p:txBody>
          <a:bodyPr wrap="square">
            <a:spAutoFit/>
          </a:bodyPr>
          <a:lstStyle/>
          <a:p>
            <a:pPr algn="ctr"/>
            <a:r>
              <a:rPr sz="750" b="1" i="0">
                <a:solidFill>
                  <a:srgbClr val="FFD700"/>
                </a:solidFill>
                <a:latin typeface="Calibri"/>
              </a:rPr>
              <a:t>AttackChain</a:t>
            </a:r>
          </a:p>
        </p:txBody>
      </p:sp>
      <p:sp>
        <p:nvSpPr>
          <p:cNvPr id="55" name="Rectangle 54"/>
          <p:cNvSpPr/>
          <p:nvPr/>
        </p:nvSpPr>
        <p:spPr>
          <a:xfrm>
            <a:off x="9098280" y="2743200"/>
            <a:ext cx="1280160" cy="228600"/>
          </a:xfrm>
          <a:prstGeom prst="rect">
            <a:avLst/>
          </a:prstGeom>
          <a:solidFill>
            <a:srgbClr val="2E1804"/>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98280" y="2761488"/>
            <a:ext cx="1280160" cy="201168"/>
          </a:xfrm>
          <a:prstGeom prst="rect">
            <a:avLst/>
          </a:prstGeom>
          <a:noFill/>
        </p:spPr>
        <p:txBody>
          <a:bodyPr wrap="square">
            <a:spAutoFit/>
          </a:bodyPr>
          <a:lstStyle/>
          <a:p>
            <a:pPr algn="ctr"/>
            <a:r>
              <a:rPr sz="750" b="1" i="0">
                <a:solidFill>
                  <a:srgbClr val="FFD700"/>
                </a:solidFill>
                <a:latin typeface="Calibri"/>
              </a:rPr>
              <a:t>ChainStep</a:t>
            </a:r>
          </a:p>
        </p:txBody>
      </p:sp>
      <p:sp>
        <p:nvSpPr>
          <p:cNvPr id="57" name="Rectangle 56"/>
          <p:cNvSpPr/>
          <p:nvPr/>
        </p:nvSpPr>
        <p:spPr>
          <a:xfrm>
            <a:off x="10469880" y="2743200"/>
            <a:ext cx="1280160" cy="228600"/>
          </a:xfrm>
          <a:prstGeom prst="rect">
            <a:avLst/>
          </a:prstGeom>
          <a:solidFill>
            <a:srgbClr val="2E1804"/>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469880" y="2761488"/>
            <a:ext cx="1280160" cy="201168"/>
          </a:xfrm>
          <a:prstGeom prst="rect">
            <a:avLst/>
          </a:prstGeom>
          <a:noFill/>
        </p:spPr>
        <p:txBody>
          <a:bodyPr wrap="square">
            <a:spAutoFit/>
          </a:bodyPr>
          <a:lstStyle/>
          <a:p>
            <a:pPr algn="ctr"/>
            <a:r>
              <a:rPr sz="750" b="1" i="0">
                <a:solidFill>
                  <a:srgbClr val="FFD700"/>
                </a:solidFill>
                <a:latin typeface="Calibri"/>
              </a:rPr>
              <a:t>Impact</a:t>
            </a:r>
          </a:p>
        </p:txBody>
      </p:sp>
      <p:sp>
        <p:nvSpPr>
          <p:cNvPr id="59" name="TextBox 58"/>
          <p:cNvSpPr txBox="1"/>
          <p:nvPr/>
        </p:nvSpPr>
        <p:spPr>
          <a:xfrm>
            <a:off x="7699248" y="3035808"/>
            <a:ext cx="4206240" cy="201168"/>
          </a:xfrm>
          <a:prstGeom prst="rect">
            <a:avLst/>
          </a:prstGeom>
          <a:noFill/>
        </p:spPr>
        <p:txBody>
          <a:bodyPr wrap="square">
            <a:spAutoFit/>
          </a:bodyPr>
          <a:lstStyle/>
          <a:p>
            <a:pPr algn="l"/>
            <a:r>
              <a:rPr sz="800" b="0" i="0">
                <a:solidFill>
                  <a:srgbClr val="A0AAB8"/>
                </a:solidFill>
                <a:latin typeface="Calibri"/>
              </a:rPr>
              <a:t>risk_score  ·  validation_status  ·  priority</a:t>
            </a:r>
          </a:p>
        </p:txBody>
      </p:sp>
      <p:sp>
        <p:nvSpPr>
          <p:cNvPr id="60" name="TextBox 59"/>
          <p:cNvSpPr txBox="1"/>
          <p:nvPr/>
        </p:nvSpPr>
        <p:spPr>
          <a:xfrm>
            <a:off x="7699248" y="3282696"/>
            <a:ext cx="4206240" cy="347472"/>
          </a:xfrm>
          <a:prstGeom prst="rect">
            <a:avLst/>
          </a:prstGeom>
          <a:noFill/>
        </p:spPr>
        <p:txBody>
          <a:bodyPr wrap="square">
            <a:spAutoFit/>
          </a:bodyPr>
          <a:lstStyle/>
          <a:p>
            <a:pPr algn="l"/>
            <a:r>
              <a:rPr sz="800" b="0" i="1">
                <a:solidFill>
                  <a:srgbClr val="C09020"/>
                </a:solidFill>
                <a:latin typeface="Calibri"/>
              </a:rPr>
              <a:t>Inferred Opportunity — attack reasoning only. Never contains raw scan data.</a:t>
            </a:r>
          </a:p>
        </p:txBody>
      </p:sp>
      <p:sp>
        <p:nvSpPr>
          <p:cNvPr id="61" name="Rectangle 60"/>
          <p:cNvSpPr/>
          <p:nvPr/>
        </p:nvSpPr>
        <p:spPr>
          <a:xfrm>
            <a:off x="4617720" y="2414016"/>
            <a:ext cx="2971800" cy="1298448"/>
          </a:xfrm>
          <a:prstGeom prst="rect">
            <a:avLst/>
          </a:prstGeom>
          <a:solidFill>
            <a:srgbClr val="06100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654296" y="2706624"/>
            <a:ext cx="2935224" cy="502920"/>
          </a:xfrm>
          <a:prstGeom prst="rect">
            <a:avLst/>
          </a:prstGeom>
          <a:noFill/>
        </p:spPr>
        <p:txBody>
          <a:bodyPr wrap="square">
            <a:spAutoFit/>
          </a:bodyPr>
          <a:lstStyle/>
          <a:p>
            <a:pPr algn="ctr"/>
            <a:r>
              <a:rPr sz="700" b="1" i="0">
                <a:solidFill>
                  <a:srgbClr val="A0AAB8"/>
                </a:solidFill>
                <a:latin typeface="Calibri"/>
              </a:rPr>
              <a:t>STRICT SEPARATION</a:t>
            </a:r>
          </a:p>
        </p:txBody>
      </p:sp>
      <p:sp>
        <p:nvSpPr>
          <p:cNvPr id="63" name="Rectangle 62"/>
          <p:cNvSpPr/>
          <p:nvPr/>
        </p:nvSpPr>
        <p:spPr>
          <a:xfrm>
            <a:off x="6094476" y="2414016"/>
            <a:ext cx="18288" cy="1298448"/>
          </a:xfrm>
          <a:prstGeom prst="rect">
            <a:avLst/>
          </a:prstGeom>
          <a:solidFill>
            <a:srgbClr val="303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a:off x="2468880.0" y="3712464"/>
            <a:ext cx="0.0" cy="201168"/>
          </a:xfrm>
          <a:prstGeom prst="line">
            <a:avLst/>
          </a:prstGeom>
          <a:ln w="1016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1609344.0" y="2084832"/>
            <a:ext cx="1892807.0" cy="54864"/>
          </a:xfrm>
          <a:prstGeom prst="line">
            <a:avLst/>
          </a:prstGeom>
          <a:ln w="1524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4069079.0" y="2084832"/>
            <a:ext cx="5715001.0" cy="54864"/>
          </a:xfrm>
          <a:prstGeom prst="line">
            <a:avLst/>
          </a:prstGeom>
          <a:ln w="1270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67" name="Rectangle 66"/>
          <p:cNvSpPr/>
          <p:nvPr/>
        </p:nvSpPr>
        <p:spPr>
          <a:xfrm>
            <a:off x="164592" y="3877056"/>
            <a:ext cx="11862511" cy="2724912"/>
          </a:xfrm>
          <a:prstGeom prst="rect">
            <a:avLst/>
          </a:prstGeom>
          <a:solidFill>
            <a:srgbClr val="0A081C"/>
          </a:solidFill>
          <a:ln w="762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01168" y="3913632"/>
            <a:ext cx="4572000" cy="201168"/>
          </a:xfrm>
          <a:prstGeom prst="rect">
            <a:avLst/>
          </a:prstGeom>
          <a:noFill/>
        </p:spPr>
        <p:txBody>
          <a:bodyPr wrap="square">
            <a:spAutoFit/>
          </a:bodyPr>
          <a:lstStyle/>
          <a:p>
            <a:pPr algn="l"/>
            <a:r>
              <a:rPr sz="750" b="1" i="0">
                <a:solidFill>
                  <a:srgbClr val="BD93F9"/>
                </a:solidFill>
                <a:latin typeface="Calibri"/>
              </a:rPr>
              <a:t>③ SPECIALIZED AGENTS  +  TOOL ADAPTER LAYER</a:t>
            </a:r>
          </a:p>
        </p:txBody>
      </p:sp>
      <p:sp>
        <p:nvSpPr>
          <p:cNvPr id="69" name="Rectangle 68"/>
          <p:cNvSpPr/>
          <p:nvPr/>
        </p:nvSpPr>
        <p:spPr>
          <a:xfrm>
            <a:off x="320040" y="4133088"/>
            <a:ext cx="1287780" cy="2404872"/>
          </a:xfrm>
          <a:prstGeom prst="rect">
            <a:avLst/>
          </a:prstGeom>
          <a:solidFill>
            <a:srgbClr val="0C0E22"/>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320040" y="4133088"/>
            <a:ext cx="1287780" cy="21945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20040" y="4151376"/>
            <a:ext cx="1287780" cy="201168"/>
          </a:xfrm>
          <a:prstGeom prst="rect">
            <a:avLst/>
          </a:prstGeom>
          <a:noFill/>
        </p:spPr>
        <p:txBody>
          <a:bodyPr wrap="square">
            <a:spAutoFit/>
          </a:bodyPr>
          <a:lstStyle/>
          <a:p>
            <a:pPr algn="ctr"/>
            <a:r>
              <a:rPr sz="750" b="1" i="0">
                <a:solidFill>
                  <a:srgbClr val="0A0D1A"/>
                </a:solidFill>
                <a:latin typeface="Calibri"/>
              </a:rPr>
              <a:t>Recon</a:t>
            </a:r>
          </a:p>
        </p:txBody>
      </p:sp>
      <p:sp>
        <p:nvSpPr>
          <p:cNvPr id="72" name="TextBox 71"/>
          <p:cNvSpPr txBox="1"/>
          <p:nvPr/>
        </p:nvSpPr>
        <p:spPr>
          <a:xfrm>
            <a:off x="374904" y="4407408"/>
            <a:ext cx="1196340" cy="2130552"/>
          </a:xfrm>
          <a:prstGeom prst="rect">
            <a:avLst/>
          </a:prstGeom>
          <a:noFill/>
        </p:spPr>
        <p:txBody>
          <a:bodyPr wrap="square">
            <a:spAutoFit/>
          </a:bodyPr>
          <a:lstStyle/>
          <a:p>
            <a:pPr algn="l"/>
            <a:r>
              <a:rPr sz="700" b="0" i="0">
                <a:solidFill>
                  <a:srgbClr val="39FF14"/>
                </a:solidFill>
                <a:latin typeface="Calibri"/>
              </a:rPr>
              <a:t>Amass · httpx · Nmap</a:t>
            </a:r>
          </a:p>
        </p:txBody>
      </p:sp>
      <p:cxnSp>
        <p:nvCxnSpPr>
          <p:cNvPr id="73" name="Connector 72"/>
          <p:cNvCxnSpPr/>
          <p:nvPr/>
        </p:nvCxnSpPr>
        <p:spPr>
          <a:xfrm flipH="1">
            <a:off x="963930.0" y="2130552"/>
            <a:ext cx="2254757.0" cy="2002536"/>
          </a:xfrm>
          <a:prstGeom prst="line">
            <a:avLst/>
          </a:prstGeom>
          <a:ln w="635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963930.0" y="3822192"/>
            <a:ext cx="215646.0" cy="310896"/>
          </a:xfrm>
          <a:prstGeom prst="line">
            <a:avLst/>
          </a:prstGeom>
          <a:ln w="5080">
            <a:solidFill>
              <a:srgbClr val="20502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75" name="Rectangle 74"/>
          <p:cNvSpPr/>
          <p:nvPr/>
        </p:nvSpPr>
        <p:spPr>
          <a:xfrm>
            <a:off x="1662684" y="4133088"/>
            <a:ext cx="1287780" cy="2404872"/>
          </a:xfrm>
          <a:prstGeom prst="rect">
            <a:avLst/>
          </a:prstGeom>
          <a:solidFill>
            <a:srgbClr val="0C0E22"/>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662684" y="4133088"/>
            <a:ext cx="1287780" cy="2194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662684" y="4151376"/>
            <a:ext cx="1287780" cy="201168"/>
          </a:xfrm>
          <a:prstGeom prst="rect">
            <a:avLst/>
          </a:prstGeom>
          <a:noFill/>
        </p:spPr>
        <p:txBody>
          <a:bodyPr wrap="square">
            <a:spAutoFit/>
          </a:bodyPr>
          <a:lstStyle/>
          <a:p>
            <a:pPr algn="ctr"/>
            <a:r>
              <a:rPr sz="750" b="1" i="0">
                <a:solidFill>
                  <a:srgbClr val="0A0D1A"/>
                </a:solidFill>
                <a:latin typeface="Calibri"/>
              </a:rPr>
              <a:t>Analysis</a:t>
            </a:r>
          </a:p>
        </p:txBody>
      </p:sp>
      <p:sp>
        <p:nvSpPr>
          <p:cNvPr id="78" name="TextBox 77"/>
          <p:cNvSpPr txBox="1"/>
          <p:nvPr/>
        </p:nvSpPr>
        <p:spPr>
          <a:xfrm>
            <a:off x="1717548" y="4407408"/>
            <a:ext cx="1196340" cy="2130552"/>
          </a:xfrm>
          <a:prstGeom prst="rect">
            <a:avLst/>
          </a:prstGeom>
          <a:noFill/>
        </p:spPr>
        <p:txBody>
          <a:bodyPr wrap="square">
            <a:spAutoFit/>
          </a:bodyPr>
          <a:lstStyle/>
          <a:p>
            <a:pPr algn="l"/>
            <a:r>
              <a:rPr sz="700" b="0" i="0">
                <a:solidFill>
                  <a:srgbClr val="00E5FF"/>
                </a:solidFill>
                <a:latin typeface="Calibri"/>
              </a:rPr>
              <a:t>WhatWeb · Gobuster · ffuf · Nuclei · ZAP</a:t>
            </a:r>
          </a:p>
        </p:txBody>
      </p:sp>
      <p:cxnSp>
        <p:nvCxnSpPr>
          <p:cNvPr id="79" name="Connector 78"/>
          <p:cNvCxnSpPr/>
          <p:nvPr/>
        </p:nvCxnSpPr>
        <p:spPr>
          <a:xfrm flipH="1">
            <a:off x="2306574.0" y="2130552"/>
            <a:ext cx="1195577.0" cy="2002536"/>
          </a:xfrm>
          <a:prstGeom prst="line">
            <a:avLst/>
          </a:prstGeom>
          <a:ln w="635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flipV="1">
            <a:off x="1523390.4" y="3822192"/>
            <a:ext cx="783183.6000000001" cy="310896"/>
          </a:xfrm>
          <a:prstGeom prst="line">
            <a:avLst/>
          </a:prstGeom>
          <a:ln w="5080">
            <a:solidFill>
              <a:srgbClr val="20502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81" name="Rectangle 80"/>
          <p:cNvSpPr/>
          <p:nvPr/>
        </p:nvSpPr>
        <p:spPr>
          <a:xfrm>
            <a:off x="3005328" y="4133088"/>
            <a:ext cx="1287780" cy="2404872"/>
          </a:xfrm>
          <a:prstGeom prst="rect">
            <a:avLst/>
          </a:prstGeom>
          <a:solidFill>
            <a:srgbClr val="0C0E22"/>
          </a:solidFill>
          <a:ln w="1524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3005328" y="4133088"/>
            <a:ext cx="1287780" cy="21945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005328" y="4151376"/>
            <a:ext cx="1287780" cy="201168"/>
          </a:xfrm>
          <a:prstGeom prst="rect">
            <a:avLst/>
          </a:prstGeom>
          <a:noFill/>
        </p:spPr>
        <p:txBody>
          <a:bodyPr wrap="square">
            <a:spAutoFit/>
          </a:bodyPr>
          <a:lstStyle/>
          <a:p>
            <a:pPr algn="ctr"/>
            <a:r>
              <a:rPr sz="750" b="1" i="0">
                <a:solidFill>
                  <a:srgbClr val="0A0D1A"/>
                </a:solidFill>
                <a:latin typeface="Calibri"/>
              </a:rPr>
              <a:t>Research</a:t>
            </a:r>
          </a:p>
        </p:txBody>
      </p:sp>
      <p:sp>
        <p:nvSpPr>
          <p:cNvPr id="84" name="TextBox 83"/>
          <p:cNvSpPr txBox="1"/>
          <p:nvPr/>
        </p:nvSpPr>
        <p:spPr>
          <a:xfrm>
            <a:off x="3060192" y="4407408"/>
            <a:ext cx="1196340" cy="2130552"/>
          </a:xfrm>
          <a:prstGeom prst="rect">
            <a:avLst/>
          </a:prstGeom>
          <a:noFill/>
        </p:spPr>
        <p:txBody>
          <a:bodyPr wrap="square">
            <a:spAutoFit/>
          </a:bodyPr>
          <a:lstStyle/>
          <a:p>
            <a:pPr algn="l"/>
            <a:r>
              <a:rPr sz="700" b="0" i="0">
                <a:solidFill>
                  <a:srgbClr val="FFD700"/>
                </a:solidFill>
                <a:latin typeface="Calibri"/>
              </a:rPr>
              <a:t>NVD · Exploit-DB · GitHub</a:t>
            </a:r>
          </a:p>
        </p:txBody>
      </p:sp>
      <p:cxnSp>
        <p:nvCxnSpPr>
          <p:cNvPr id="85" name="Connector 84"/>
          <p:cNvCxnSpPr/>
          <p:nvPr/>
        </p:nvCxnSpPr>
        <p:spPr>
          <a:xfrm flipH="1">
            <a:off x="3649218.0" y="2130552"/>
            <a:ext cx="136397.0" cy="2002536"/>
          </a:xfrm>
          <a:prstGeom prst="line">
            <a:avLst/>
          </a:prstGeom>
          <a:ln w="635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flipV="1">
            <a:off x="1867204.8" y="3822192"/>
            <a:ext cx="1782013.2" cy="310896"/>
          </a:xfrm>
          <a:prstGeom prst="line">
            <a:avLst/>
          </a:prstGeom>
          <a:ln w="5080">
            <a:solidFill>
              <a:srgbClr val="20502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87" name="Rectangle 86"/>
          <p:cNvSpPr/>
          <p:nvPr/>
        </p:nvSpPr>
        <p:spPr>
          <a:xfrm>
            <a:off x="4347972" y="4133088"/>
            <a:ext cx="1287780" cy="2404872"/>
          </a:xfrm>
          <a:prstGeom prst="rect">
            <a:avLst/>
          </a:prstGeom>
          <a:solidFill>
            <a:srgbClr val="0C0E22"/>
          </a:solidFill>
          <a:ln w="1524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4347972" y="4133088"/>
            <a:ext cx="1287780" cy="21945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4347972" y="4151376"/>
            <a:ext cx="1287780" cy="201168"/>
          </a:xfrm>
          <a:prstGeom prst="rect">
            <a:avLst/>
          </a:prstGeom>
          <a:noFill/>
        </p:spPr>
        <p:txBody>
          <a:bodyPr wrap="square">
            <a:spAutoFit/>
          </a:bodyPr>
          <a:lstStyle/>
          <a:p>
            <a:pPr algn="ctr"/>
            <a:r>
              <a:rPr sz="750" b="1" i="0">
                <a:solidFill>
                  <a:srgbClr val="0A0D1A"/>
                </a:solidFill>
                <a:latin typeface="Calibri"/>
              </a:rPr>
              <a:t>Validation</a:t>
            </a:r>
          </a:p>
        </p:txBody>
      </p:sp>
      <p:sp>
        <p:nvSpPr>
          <p:cNvPr id="90" name="TextBox 89"/>
          <p:cNvSpPr txBox="1"/>
          <p:nvPr/>
        </p:nvSpPr>
        <p:spPr>
          <a:xfrm>
            <a:off x="4402836" y="4407408"/>
            <a:ext cx="1196340" cy="2130552"/>
          </a:xfrm>
          <a:prstGeom prst="rect">
            <a:avLst/>
          </a:prstGeom>
          <a:noFill/>
        </p:spPr>
        <p:txBody>
          <a:bodyPr wrap="square">
            <a:spAutoFit/>
          </a:bodyPr>
          <a:lstStyle/>
          <a:p>
            <a:pPr algn="l"/>
            <a:r>
              <a:rPr sz="700" b="0" i="0">
                <a:solidFill>
                  <a:srgbClr val="FF4545"/>
                </a:solidFill>
                <a:latin typeface="Calibri"/>
              </a:rPr>
              <a:t>SQLMap · Metasploit</a:t>
            </a:r>
          </a:p>
        </p:txBody>
      </p:sp>
      <p:cxnSp>
        <p:nvCxnSpPr>
          <p:cNvPr id="91" name="Connector 90"/>
          <p:cNvCxnSpPr/>
          <p:nvPr/>
        </p:nvCxnSpPr>
        <p:spPr>
          <a:xfrm>
            <a:off x="4069079.0" y="2130552"/>
            <a:ext cx="922783.0" cy="2002536"/>
          </a:xfrm>
          <a:prstGeom prst="line">
            <a:avLst/>
          </a:prstGeom>
          <a:ln w="6350">
            <a:solidFill>
              <a:srgbClr val="FF4545"/>
            </a:solidFill>
            <a:headEnd type="arrow" w="med" len="med"/>
            <a:tailEnd type="none"/>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H="1" flipV="1">
            <a:off x="2211019.2" y="3822192"/>
            <a:ext cx="2780842.8" cy="310896"/>
          </a:xfrm>
          <a:prstGeom prst="line">
            <a:avLst/>
          </a:prstGeom>
          <a:ln w="5080">
            <a:solidFill>
              <a:srgbClr val="20502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93" name="Rectangle 92"/>
          <p:cNvSpPr/>
          <p:nvPr/>
        </p:nvSpPr>
        <p:spPr>
          <a:xfrm>
            <a:off x="5690616" y="4133088"/>
            <a:ext cx="1287780" cy="2404872"/>
          </a:xfrm>
          <a:prstGeom prst="rect">
            <a:avLst/>
          </a:prstGeom>
          <a:solidFill>
            <a:srgbClr val="0C0E22"/>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5690616" y="4133088"/>
            <a:ext cx="1287780" cy="21945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5690616" y="4151376"/>
            <a:ext cx="1287780" cy="201168"/>
          </a:xfrm>
          <a:prstGeom prst="rect">
            <a:avLst/>
          </a:prstGeom>
          <a:noFill/>
        </p:spPr>
        <p:txBody>
          <a:bodyPr wrap="square">
            <a:spAutoFit/>
          </a:bodyPr>
          <a:lstStyle/>
          <a:p>
            <a:pPr algn="ctr"/>
            <a:r>
              <a:rPr sz="750" b="1" i="0">
                <a:solidFill>
                  <a:srgbClr val="0A0D1A"/>
                </a:solidFill>
                <a:latin typeface="Calibri"/>
              </a:rPr>
              <a:t>Evidence</a:t>
            </a:r>
          </a:p>
        </p:txBody>
      </p:sp>
      <p:sp>
        <p:nvSpPr>
          <p:cNvPr id="96" name="TextBox 95"/>
          <p:cNvSpPr txBox="1"/>
          <p:nvPr/>
        </p:nvSpPr>
        <p:spPr>
          <a:xfrm>
            <a:off x="5745480" y="4407408"/>
            <a:ext cx="1196340" cy="2130552"/>
          </a:xfrm>
          <a:prstGeom prst="rect">
            <a:avLst/>
          </a:prstGeom>
          <a:noFill/>
        </p:spPr>
        <p:txBody>
          <a:bodyPr wrap="square">
            <a:spAutoFit/>
          </a:bodyPr>
          <a:lstStyle/>
          <a:p>
            <a:pPr algn="l"/>
            <a:r>
              <a:rPr sz="700" b="0" i="0">
                <a:solidFill>
                  <a:srgbClr val="BD93F9"/>
                </a:solidFill>
                <a:latin typeface="Calibri"/>
              </a:rPr>
              <a:t>EyeWitness</a:t>
            </a:r>
          </a:p>
        </p:txBody>
      </p:sp>
      <p:cxnSp>
        <p:nvCxnSpPr>
          <p:cNvPr id="97" name="Connector 96"/>
          <p:cNvCxnSpPr/>
          <p:nvPr/>
        </p:nvCxnSpPr>
        <p:spPr>
          <a:xfrm>
            <a:off x="4352543.0" y="2130552"/>
            <a:ext cx="1981963.0" cy="2002536"/>
          </a:xfrm>
          <a:prstGeom prst="line">
            <a:avLst/>
          </a:prstGeom>
          <a:ln w="6350">
            <a:solidFill>
              <a:srgbClr val="BD93F9"/>
            </a:solidFill>
            <a:headEnd type="arrow" w="med" len="med"/>
            <a:tailEnd type="none"/>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H="1" flipV="1">
            <a:off x="2554833.6" y="3822192"/>
            <a:ext cx="3779672.4" cy="310896"/>
          </a:xfrm>
          <a:prstGeom prst="line">
            <a:avLst/>
          </a:prstGeom>
          <a:ln w="5080">
            <a:solidFill>
              <a:srgbClr val="20502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99" name="Rectangle 98"/>
          <p:cNvSpPr/>
          <p:nvPr/>
        </p:nvSpPr>
        <p:spPr>
          <a:xfrm>
            <a:off x="7033260" y="4133088"/>
            <a:ext cx="1287780" cy="2404872"/>
          </a:xfrm>
          <a:prstGeom prst="rect">
            <a:avLst/>
          </a:prstGeom>
          <a:solidFill>
            <a:srgbClr val="0C0E22"/>
          </a:solidFill>
          <a:ln w="15240">
            <a:solidFill>
              <a:srgbClr val="A0AA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7033260" y="4133088"/>
            <a:ext cx="1287780" cy="219456"/>
          </a:xfrm>
          <a:prstGeom prst="rect">
            <a:avLst/>
          </a:prstGeom>
          <a:solidFill>
            <a:srgbClr val="A0A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7033260" y="4151376"/>
            <a:ext cx="1287780" cy="201168"/>
          </a:xfrm>
          <a:prstGeom prst="rect">
            <a:avLst/>
          </a:prstGeom>
          <a:noFill/>
        </p:spPr>
        <p:txBody>
          <a:bodyPr wrap="square">
            <a:spAutoFit/>
          </a:bodyPr>
          <a:lstStyle/>
          <a:p>
            <a:pPr algn="ctr"/>
            <a:r>
              <a:rPr sz="750" b="1" i="0">
                <a:solidFill>
                  <a:srgbClr val="0A0D1A"/>
                </a:solidFill>
                <a:latin typeface="Calibri"/>
              </a:rPr>
              <a:t>Report</a:t>
            </a:r>
          </a:p>
        </p:txBody>
      </p:sp>
      <p:sp>
        <p:nvSpPr>
          <p:cNvPr id="102" name="TextBox 101"/>
          <p:cNvSpPr txBox="1"/>
          <p:nvPr/>
        </p:nvSpPr>
        <p:spPr>
          <a:xfrm>
            <a:off x="7088124" y="4407408"/>
            <a:ext cx="1196340" cy="2130552"/>
          </a:xfrm>
          <a:prstGeom prst="rect">
            <a:avLst/>
          </a:prstGeom>
          <a:noFill/>
        </p:spPr>
        <p:txBody>
          <a:bodyPr wrap="square">
            <a:spAutoFit/>
          </a:bodyPr>
          <a:lstStyle/>
          <a:p>
            <a:pPr algn="l"/>
            <a:r>
              <a:rPr sz="700" b="0" i="0">
                <a:solidFill>
                  <a:srgbClr val="A0AAB8"/>
                </a:solidFill>
                <a:latin typeface="Calibri"/>
              </a:rPr>
              <a:t>Reads ASG + APG</a:t>
            </a:r>
          </a:p>
        </p:txBody>
      </p:sp>
      <p:cxnSp>
        <p:nvCxnSpPr>
          <p:cNvPr id="103" name="Connector 102"/>
          <p:cNvCxnSpPr/>
          <p:nvPr/>
        </p:nvCxnSpPr>
        <p:spPr>
          <a:xfrm>
            <a:off x="4636007.0" y="2130552"/>
            <a:ext cx="3041143.0" cy="2002536"/>
          </a:xfrm>
          <a:prstGeom prst="line">
            <a:avLst/>
          </a:prstGeom>
          <a:ln w="6350">
            <a:solidFill>
              <a:srgbClr val="A0AAB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04" name="Rectangle 103"/>
          <p:cNvSpPr/>
          <p:nvPr/>
        </p:nvSpPr>
        <p:spPr>
          <a:xfrm>
            <a:off x="8641080" y="4133088"/>
            <a:ext cx="3349447" cy="2404872"/>
          </a:xfrm>
          <a:prstGeom prst="rect">
            <a:avLst/>
          </a:prstGeom>
          <a:solidFill>
            <a:srgbClr val="0A081E"/>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8641080" y="4133088"/>
            <a:ext cx="3349447" cy="237744"/>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8641080" y="4160520"/>
            <a:ext cx="3349447" cy="201168"/>
          </a:xfrm>
          <a:prstGeom prst="rect">
            <a:avLst/>
          </a:prstGeom>
          <a:noFill/>
        </p:spPr>
        <p:txBody>
          <a:bodyPr wrap="square">
            <a:spAutoFit/>
          </a:bodyPr>
          <a:lstStyle/>
          <a:p>
            <a:pPr algn="ctr"/>
            <a:r>
              <a:rPr sz="800" b="1" i="0">
                <a:solidFill>
                  <a:srgbClr val="0A0D1A"/>
                </a:solidFill>
                <a:latin typeface="Calibri"/>
              </a:rPr>
              <a:t>TOOL ADAPTER LAYER</a:t>
            </a:r>
          </a:p>
        </p:txBody>
      </p:sp>
      <p:sp>
        <p:nvSpPr>
          <p:cNvPr id="107" name="Rectangle 106"/>
          <p:cNvSpPr/>
          <p:nvPr/>
        </p:nvSpPr>
        <p:spPr>
          <a:xfrm>
            <a:off x="8732520" y="4407408"/>
            <a:ext cx="3166567" cy="649224"/>
          </a:xfrm>
          <a:prstGeom prst="rect">
            <a:avLst/>
          </a:prstGeom>
          <a:solidFill>
            <a:srgbClr val="100C24"/>
          </a:solidFill>
          <a:ln w="889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8732520" y="4407408"/>
            <a:ext cx="347472" cy="649224"/>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8732520" y="4425696"/>
            <a:ext cx="347472" cy="612648"/>
          </a:xfrm>
          <a:prstGeom prst="rect">
            <a:avLst/>
          </a:prstGeom>
          <a:noFill/>
        </p:spPr>
        <p:txBody>
          <a:bodyPr wrap="square">
            <a:spAutoFit/>
          </a:bodyPr>
          <a:lstStyle/>
          <a:p>
            <a:pPr algn="ctr"/>
            <a:r>
              <a:rPr sz="700" b="1" i="0">
                <a:solidFill>
                  <a:srgbClr val="0A0D1A"/>
                </a:solidFill>
                <a:latin typeface="Calibri"/>
              </a:rPr>
              <a:t>LOW</a:t>
            </a:r>
          </a:p>
        </p:txBody>
      </p:sp>
      <p:sp>
        <p:nvSpPr>
          <p:cNvPr id="110" name="TextBox 109"/>
          <p:cNvSpPr txBox="1"/>
          <p:nvPr/>
        </p:nvSpPr>
        <p:spPr>
          <a:xfrm>
            <a:off x="9116568" y="4425696"/>
            <a:ext cx="2755087" cy="182880"/>
          </a:xfrm>
          <a:prstGeom prst="rect">
            <a:avLst/>
          </a:prstGeom>
          <a:noFill/>
        </p:spPr>
        <p:txBody>
          <a:bodyPr wrap="square">
            <a:spAutoFit/>
          </a:bodyPr>
          <a:lstStyle/>
          <a:p>
            <a:pPr algn="l"/>
            <a:r>
              <a:rPr sz="750" b="1" i="0">
                <a:solidFill>
                  <a:srgbClr val="39FF14"/>
                </a:solidFill>
                <a:latin typeface="Calibri"/>
              </a:rPr>
              <a:t>Passive</a:t>
            </a:r>
          </a:p>
        </p:txBody>
      </p:sp>
      <p:sp>
        <p:nvSpPr>
          <p:cNvPr id="111" name="TextBox 110"/>
          <p:cNvSpPr txBox="1"/>
          <p:nvPr/>
        </p:nvSpPr>
        <p:spPr>
          <a:xfrm>
            <a:off x="9116568" y="4608576"/>
            <a:ext cx="2755087" cy="274320"/>
          </a:xfrm>
          <a:prstGeom prst="rect">
            <a:avLst/>
          </a:prstGeom>
          <a:noFill/>
        </p:spPr>
        <p:txBody>
          <a:bodyPr wrap="square">
            <a:spAutoFit/>
          </a:bodyPr>
          <a:lstStyle/>
          <a:p>
            <a:pPr algn="l"/>
            <a:r>
              <a:rPr sz="700" b="0" i="1">
                <a:solidFill>
                  <a:srgbClr val="A0AAB8"/>
                </a:solidFill>
                <a:latin typeface="Calibri"/>
              </a:rPr>
              <a:t>Execute immediately</a:t>
            </a:r>
          </a:p>
        </p:txBody>
      </p:sp>
      <p:sp>
        <p:nvSpPr>
          <p:cNvPr id="112" name="Rectangle 111"/>
          <p:cNvSpPr/>
          <p:nvPr/>
        </p:nvSpPr>
        <p:spPr>
          <a:xfrm>
            <a:off x="8732520" y="5111496"/>
            <a:ext cx="3166567" cy="649224"/>
          </a:xfrm>
          <a:prstGeom prst="rect">
            <a:avLst/>
          </a:prstGeom>
          <a:solidFill>
            <a:srgbClr val="100C24"/>
          </a:solidFill>
          <a:ln w="889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ectangle 112"/>
          <p:cNvSpPr/>
          <p:nvPr/>
        </p:nvSpPr>
        <p:spPr>
          <a:xfrm>
            <a:off x="8732520" y="5111496"/>
            <a:ext cx="347472" cy="64922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8732520" y="5129784"/>
            <a:ext cx="347472" cy="612648"/>
          </a:xfrm>
          <a:prstGeom prst="rect">
            <a:avLst/>
          </a:prstGeom>
          <a:noFill/>
        </p:spPr>
        <p:txBody>
          <a:bodyPr wrap="square">
            <a:spAutoFit/>
          </a:bodyPr>
          <a:lstStyle/>
          <a:p>
            <a:pPr algn="ctr"/>
            <a:r>
              <a:rPr sz="700" b="1" i="0">
                <a:solidFill>
                  <a:srgbClr val="0A0D1A"/>
                </a:solidFill>
                <a:latin typeface="Calibri"/>
              </a:rPr>
              <a:t>MED</a:t>
            </a:r>
          </a:p>
        </p:txBody>
      </p:sp>
      <p:sp>
        <p:nvSpPr>
          <p:cNvPr id="115" name="TextBox 114"/>
          <p:cNvSpPr txBox="1"/>
          <p:nvPr/>
        </p:nvSpPr>
        <p:spPr>
          <a:xfrm>
            <a:off x="9116568" y="5129784"/>
            <a:ext cx="2755087" cy="182880"/>
          </a:xfrm>
          <a:prstGeom prst="rect">
            <a:avLst/>
          </a:prstGeom>
          <a:noFill/>
        </p:spPr>
        <p:txBody>
          <a:bodyPr wrap="square">
            <a:spAutoFit/>
          </a:bodyPr>
          <a:lstStyle/>
          <a:p>
            <a:pPr algn="l"/>
            <a:r>
              <a:rPr sz="750" b="1" i="0">
                <a:solidFill>
                  <a:srgbClr val="FFD700"/>
                </a:solidFill>
                <a:latin typeface="Calibri"/>
              </a:rPr>
              <a:t>Active</a:t>
            </a:r>
          </a:p>
        </p:txBody>
      </p:sp>
      <p:sp>
        <p:nvSpPr>
          <p:cNvPr id="116" name="TextBox 115"/>
          <p:cNvSpPr txBox="1"/>
          <p:nvPr/>
        </p:nvSpPr>
        <p:spPr>
          <a:xfrm>
            <a:off x="9116568" y="5312664"/>
            <a:ext cx="2755087" cy="274320"/>
          </a:xfrm>
          <a:prstGeom prst="rect">
            <a:avLst/>
          </a:prstGeom>
          <a:noFill/>
        </p:spPr>
        <p:txBody>
          <a:bodyPr wrap="square">
            <a:spAutoFit/>
          </a:bodyPr>
          <a:lstStyle/>
          <a:p>
            <a:pPr algn="l"/>
            <a:r>
              <a:rPr sz="700" b="0" i="1">
                <a:solidFill>
                  <a:srgbClr val="A0AAB8"/>
                </a:solidFill>
                <a:latin typeface="Calibri"/>
              </a:rPr>
              <a:t>LLM Classifier → exec/escalate</a:t>
            </a:r>
          </a:p>
        </p:txBody>
      </p:sp>
      <p:sp>
        <p:nvSpPr>
          <p:cNvPr id="117" name="Rectangle 116"/>
          <p:cNvSpPr/>
          <p:nvPr/>
        </p:nvSpPr>
        <p:spPr>
          <a:xfrm>
            <a:off x="8732520" y="5815584"/>
            <a:ext cx="3166567" cy="649224"/>
          </a:xfrm>
          <a:prstGeom prst="rect">
            <a:avLst/>
          </a:prstGeom>
          <a:solidFill>
            <a:srgbClr val="100C24"/>
          </a:solidFill>
          <a:ln w="889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8732520" y="5815584"/>
            <a:ext cx="347472" cy="649224"/>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8732520" y="5833872"/>
            <a:ext cx="347472" cy="612648"/>
          </a:xfrm>
          <a:prstGeom prst="rect">
            <a:avLst/>
          </a:prstGeom>
          <a:noFill/>
        </p:spPr>
        <p:txBody>
          <a:bodyPr wrap="square">
            <a:spAutoFit/>
          </a:bodyPr>
          <a:lstStyle/>
          <a:p>
            <a:pPr algn="ctr"/>
            <a:r>
              <a:rPr sz="700" b="1" i="0">
                <a:solidFill>
                  <a:srgbClr val="0A0D1A"/>
                </a:solidFill>
                <a:latin typeface="Calibri"/>
              </a:rPr>
              <a:t>HIGH</a:t>
            </a:r>
          </a:p>
        </p:txBody>
      </p:sp>
      <p:sp>
        <p:nvSpPr>
          <p:cNvPr id="120" name="TextBox 119"/>
          <p:cNvSpPr txBox="1"/>
          <p:nvPr/>
        </p:nvSpPr>
        <p:spPr>
          <a:xfrm>
            <a:off x="9116568" y="5833872"/>
            <a:ext cx="2755087" cy="182880"/>
          </a:xfrm>
          <a:prstGeom prst="rect">
            <a:avLst/>
          </a:prstGeom>
          <a:noFill/>
        </p:spPr>
        <p:txBody>
          <a:bodyPr wrap="square">
            <a:spAutoFit/>
          </a:bodyPr>
          <a:lstStyle/>
          <a:p>
            <a:pPr algn="l"/>
            <a:r>
              <a:rPr sz="750" b="1" i="0">
                <a:solidFill>
                  <a:srgbClr val="FF4545"/>
                </a:solidFill>
                <a:latin typeface="Calibri"/>
              </a:rPr>
              <a:t>Exploit</a:t>
            </a:r>
          </a:p>
        </p:txBody>
      </p:sp>
      <p:sp>
        <p:nvSpPr>
          <p:cNvPr id="121" name="TextBox 120"/>
          <p:cNvSpPr txBox="1"/>
          <p:nvPr/>
        </p:nvSpPr>
        <p:spPr>
          <a:xfrm>
            <a:off x="9116568" y="6016752"/>
            <a:ext cx="2755087" cy="274320"/>
          </a:xfrm>
          <a:prstGeom prst="rect">
            <a:avLst/>
          </a:prstGeom>
          <a:noFill/>
        </p:spPr>
        <p:txBody>
          <a:bodyPr wrap="square">
            <a:spAutoFit/>
          </a:bodyPr>
          <a:lstStyle/>
          <a:p>
            <a:pPr algn="l"/>
            <a:r>
              <a:rPr sz="700" b="0" i="1">
                <a:solidFill>
                  <a:srgbClr val="A0AAB8"/>
                </a:solidFill>
                <a:latin typeface="Calibri"/>
              </a:rPr>
              <a:t>Commander Mailbox approval</a:t>
            </a:r>
          </a:p>
        </p:txBody>
      </p:sp>
      <p:sp>
        <p:nvSpPr>
          <p:cNvPr id="122" name="TextBox 121"/>
          <p:cNvSpPr txBox="1"/>
          <p:nvPr/>
        </p:nvSpPr>
        <p:spPr>
          <a:xfrm>
            <a:off x="11825935" y="6382512"/>
            <a:ext cx="320040" cy="384048"/>
          </a:xfrm>
          <a:prstGeom prst="rect">
            <a:avLst/>
          </a:prstGeom>
          <a:noFill/>
        </p:spPr>
        <p:txBody>
          <a:bodyPr wrap="square">
            <a:spAutoFit/>
          </a:bodyPr>
          <a:lstStyle/>
          <a:p>
            <a:pPr algn="r"/>
            <a:r>
              <a:rPr sz="1300" b="1" i="0">
                <a:solidFill>
                  <a:srgbClr val="00E5FF"/>
                </a:solidFill>
                <a:latin typeface="Calibri"/>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54864"/>
            <a:ext cx="5486400" cy="237744"/>
          </a:xfrm>
          <a:prstGeom prst="rect">
            <a:avLst/>
          </a:prstGeom>
          <a:noFill/>
        </p:spPr>
        <p:txBody>
          <a:bodyPr wrap="square">
            <a:spAutoFit/>
          </a:bodyPr>
          <a:lstStyle/>
          <a:p>
            <a:pPr algn="l"/>
            <a:r>
              <a:rPr sz="1000" b="1" i="0">
                <a:solidFill>
                  <a:srgbClr val="39FF14"/>
                </a:solidFill>
                <a:latin typeface="Calibri"/>
              </a:rPr>
              <a:t>DUAL-GRAPH WORLD MODEL</a:t>
            </a:r>
          </a:p>
        </p:txBody>
      </p:sp>
      <p:sp>
        <p:nvSpPr>
          <p:cNvPr id="6" name="TextBox 5"/>
          <p:cNvSpPr txBox="1"/>
          <p:nvPr/>
        </p:nvSpPr>
        <p:spPr>
          <a:xfrm>
            <a:off x="274320" y="292608"/>
            <a:ext cx="10058400" cy="438912"/>
          </a:xfrm>
          <a:prstGeom prst="rect">
            <a:avLst/>
          </a:prstGeom>
          <a:noFill/>
        </p:spPr>
        <p:txBody>
          <a:bodyPr wrap="square">
            <a:spAutoFit/>
          </a:bodyPr>
          <a:lstStyle/>
          <a:p>
            <a:pPr algn="l"/>
            <a:r>
              <a:rPr sz="2600" b="1" i="0">
                <a:solidFill>
                  <a:srgbClr val="FFFFFF"/>
                </a:solidFill>
                <a:latin typeface="Calibri"/>
              </a:rPr>
              <a:t>Two Strictly Separated Knowledge Layers — Visualised</a:t>
            </a:r>
          </a:p>
        </p:txBody>
      </p:sp>
      <p:sp>
        <p:nvSpPr>
          <p:cNvPr id="7" name="Rectangle 6"/>
          <p:cNvSpPr/>
          <p:nvPr/>
        </p:nvSpPr>
        <p:spPr>
          <a:xfrm>
            <a:off x="164592" y="804672"/>
            <a:ext cx="5349240" cy="5138928"/>
          </a:xfrm>
          <a:prstGeom prst="rect">
            <a:avLst/>
          </a:prstGeom>
          <a:solidFill>
            <a:srgbClr val="04180A"/>
          </a:solidFill>
          <a:ln w="190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1168" y="822960"/>
            <a:ext cx="3200400" cy="237744"/>
          </a:xfrm>
          <a:prstGeom prst="rect">
            <a:avLst/>
          </a:prstGeom>
          <a:noFill/>
        </p:spPr>
        <p:txBody>
          <a:bodyPr wrap="square">
            <a:spAutoFit/>
          </a:bodyPr>
          <a:lstStyle/>
          <a:p>
            <a:pPr algn="l"/>
            <a:r>
              <a:rPr sz="1100" b="1" i="0">
                <a:solidFill>
                  <a:srgbClr val="39FF14"/>
                </a:solidFill>
                <a:latin typeface="Calibri"/>
              </a:rPr>
              <a:t>ASG — Attack Surface Graph</a:t>
            </a:r>
          </a:p>
        </p:txBody>
      </p:sp>
      <p:sp>
        <p:nvSpPr>
          <p:cNvPr id="9" name="TextBox 8"/>
          <p:cNvSpPr txBox="1"/>
          <p:nvPr/>
        </p:nvSpPr>
        <p:spPr>
          <a:xfrm>
            <a:off x="201168" y="1042415"/>
            <a:ext cx="5029200" cy="219456"/>
          </a:xfrm>
          <a:prstGeom prst="rect">
            <a:avLst/>
          </a:prstGeom>
          <a:noFill/>
        </p:spPr>
        <p:txBody>
          <a:bodyPr wrap="square">
            <a:spAutoFit/>
          </a:bodyPr>
          <a:lstStyle/>
          <a:p>
            <a:pPr algn="l"/>
            <a:r>
              <a:rPr sz="900" b="0" i="1">
                <a:solidFill>
                  <a:srgbClr val="60C070"/>
                </a:solidFill>
                <a:latin typeface="Calibri"/>
              </a:rPr>
              <a:t>What does the target look like?  (Discovered Reality)</a:t>
            </a:r>
          </a:p>
        </p:txBody>
      </p:sp>
      <p:sp>
        <p:nvSpPr>
          <p:cNvPr id="10" name="Rectangle 9"/>
          <p:cNvSpPr/>
          <p:nvPr/>
        </p:nvSpPr>
        <p:spPr>
          <a:xfrm>
            <a:off x="6675120" y="804672"/>
            <a:ext cx="5349240" cy="5138928"/>
          </a:xfrm>
          <a:prstGeom prst="rect">
            <a:avLst/>
          </a:prstGeom>
          <a:solidFill>
            <a:srgbClr val="1C1004"/>
          </a:solidFill>
          <a:ln w="190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11696" y="822960"/>
            <a:ext cx="3200400" cy="237744"/>
          </a:xfrm>
          <a:prstGeom prst="rect">
            <a:avLst/>
          </a:prstGeom>
          <a:noFill/>
        </p:spPr>
        <p:txBody>
          <a:bodyPr wrap="square">
            <a:spAutoFit/>
          </a:bodyPr>
          <a:lstStyle/>
          <a:p>
            <a:pPr algn="l"/>
            <a:r>
              <a:rPr sz="1100" b="1" i="0">
                <a:solidFill>
                  <a:srgbClr val="FFD700"/>
                </a:solidFill>
                <a:latin typeface="Calibri"/>
              </a:rPr>
              <a:t>APG — Attack Path Graph</a:t>
            </a:r>
          </a:p>
        </p:txBody>
      </p:sp>
      <p:sp>
        <p:nvSpPr>
          <p:cNvPr id="12" name="TextBox 11"/>
          <p:cNvSpPr txBox="1"/>
          <p:nvPr/>
        </p:nvSpPr>
        <p:spPr>
          <a:xfrm>
            <a:off x="6711696" y="1042415"/>
            <a:ext cx="5029200" cy="219456"/>
          </a:xfrm>
          <a:prstGeom prst="rect">
            <a:avLst/>
          </a:prstGeom>
          <a:noFill/>
        </p:spPr>
        <p:txBody>
          <a:bodyPr wrap="square">
            <a:spAutoFit/>
          </a:bodyPr>
          <a:lstStyle/>
          <a:p>
            <a:pPr algn="l"/>
            <a:r>
              <a:rPr sz="900" b="0" i="1">
                <a:solidFill>
                  <a:srgbClr val="C09020"/>
                </a:solidFill>
                <a:latin typeface="Calibri"/>
              </a:rPr>
              <a:t>What can be done to it?  (Inferred Opportunity)</a:t>
            </a:r>
          </a:p>
        </p:txBody>
      </p:sp>
      <p:sp>
        <p:nvSpPr>
          <p:cNvPr id="13" name="Rectangle 12"/>
          <p:cNvSpPr/>
          <p:nvPr/>
        </p:nvSpPr>
        <p:spPr>
          <a:xfrm>
            <a:off x="5593384" y="804672"/>
            <a:ext cx="1005840" cy="5138928"/>
          </a:xfrm>
          <a:prstGeom prst="rect">
            <a:avLst/>
          </a:prstGeom>
          <a:solidFill>
            <a:srgbClr val="081018"/>
          </a:solidFill>
          <a:ln w="10160">
            <a:solidFill>
              <a:srgbClr val="3038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87160" y="804672"/>
            <a:ext cx="18288" cy="5138928"/>
          </a:xfrm>
          <a:prstGeom prst="rect">
            <a:avLst/>
          </a:prstGeom>
          <a:solidFill>
            <a:srgbClr val="3038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20816" y="2286000"/>
            <a:ext cx="950976" cy="640080"/>
          </a:xfrm>
          <a:prstGeom prst="rect">
            <a:avLst/>
          </a:prstGeom>
          <a:noFill/>
        </p:spPr>
        <p:txBody>
          <a:bodyPr wrap="square">
            <a:spAutoFit/>
          </a:bodyPr>
          <a:lstStyle/>
          <a:p>
            <a:pPr algn="ctr"/>
            <a:r>
              <a:rPr sz="800" b="1" i="0">
                <a:solidFill>
                  <a:srgbClr val="A0AAB8"/>
                </a:solidFill>
                <a:latin typeface="Calibri"/>
              </a:rPr>
              <a:t>STRICT SEPARATION</a:t>
            </a:r>
          </a:p>
        </p:txBody>
      </p:sp>
      <p:sp>
        <p:nvSpPr>
          <p:cNvPr id="16" name="TextBox 15"/>
          <p:cNvSpPr txBox="1"/>
          <p:nvPr/>
        </p:nvSpPr>
        <p:spPr>
          <a:xfrm>
            <a:off x="5639104" y="3017520"/>
            <a:ext cx="914400" cy="685800"/>
          </a:xfrm>
          <a:prstGeom prst="rect">
            <a:avLst/>
          </a:prstGeom>
          <a:noFill/>
        </p:spPr>
        <p:txBody>
          <a:bodyPr wrap="square">
            <a:spAutoFit/>
          </a:bodyPr>
          <a:lstStyle/>
          <a:p>
            <a:pPr algn="ctr"/>
            <a:r>
              <a:rPr sz="750" b="0" i="1">
                <a:solidFill>
                  <a:srgbClr val="A0AAB8"/>
                </a:solidFill>
                <a:latin typeface="Calibri"/>
              </a:rPr>
              <a:t>No agent crosses this boundary</a:t>
            </a:r>
          </a:p>
        </p:txBody>
      </p:sp>
      <p:cxnSp>
        <p:nvCxnSpPr>
          <p:cNvPr id="17" name="Connector 16"/>
          <p:cNvCxnSpPr/>
          <p:nvPr/>
        </p:nvCxnSpPr>
        <p:spPr>
          <a:xfrm flipH="1">
            <a:off x="4114800" y="3886200"/>
            <a:ext cx="1944928" cy="0"/>
          </a:xfrm>
          <a:prstGeom prst="line">
            <a:avLst/>
          </a:prstGeom>
          <a:ln w="1524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584344" y="3685032"/>
            <a:ext cx="1005840" cy="201168"/>
          </a:xfrm>
          <a:prstGeom prst="rect">
            <a:avLst/>
          </a:prstGeom>
          <a:noFill/>
        </p:spPr>
        <p:txBody>
          <a:bodyPr wrap="square">
            <a:spAutoFit/>
          </a:bodyPr>
          <a:lstStyle/>
          <a:p>
            <a:pPr algn="ctr"/>
            <a:r>
              <a:rPr sz="700" b="0" i="1">
                <a:solidFill>
                  <a:srgbClr val="A0AAB8"/>
                </a:solidFill>
                <a:latin typeface="Calibri"/>
              </a:rPr>
              <a:t>Discovery Agents write</a:t>
            </a:r>
          </a:p>
        </p:txBody>
      </p:sp>
      <p:cxnSp>
        <p:nvCxnSpPr>
          <p:cNvPr id="19" name="Connector 18"/>
          <p:cNvCxnSpPr/>
          <p:nvPr/>
        </p:nvCxnSpPr>
        <p:spPr>
          <a:xfrm>
            <a:off x="6132880" y="4206240"/>
            <a:ext cx="1639520" cy="0"/>
          </a:xfrm>
          <a:prstGeom prst="line">
            <a:avLst/>
          </a:prstGeom>
          <a:ln w="1524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449720" y="4005072"/>
            <a:ext cx="1005840" cy="201168"/>
          </a:xfrm>
          <a:prstGeom prst="rect">
            <a:avLst/>
          </a:prstGeom>
          <a:noFill/>
        </p:spPr>
        <p:txBody>
          <a:bodyPr wrap="square">
            <a:spAutoFit/>
          </a:bodyPr>
          <a:lstStyle/>
          <a:p>
            <a:pPr algn="ctr"/>
            <a:r>
              <a:rPr sz="700" b="0" i="1">
                <a:solidFill>
                  <a:srgbClr val="A0AAB8"/>
                </a:solidFill>
                <a:latin typeface="Calibri"/>
              </a:rPr>
              <a:t>Commander writes</a:t>
            </a:r>
          </a:p>
        </p:txBody>
      </p:sp>
      <p:sp>
        <p:nvSpPr>
          <p:cNvPr id="21" name="Rectangle 20"/>
          <p:cNvSpPr/>
          <p:nvPr/>
        </p:nvSpPr>
        <p:spPr>
          <a:xfrm>
            <a:off x="813816" y="1371600"/>
            <a:ext cx="1115568" cy="402336"/>
          </a:xfrm>
          <a:prstGeom prst="rect">
            <a:avLst/>
          </a:prstGeom>
          <a:solidFill>
            <a:srgbClr val="062212"/>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3816" y="1408176"/>
            <a:ext cx="1115568" cy="201168"/>
          </a:xfrm>
          <a:prstGeom prst="rect">
            <a:avLst/>
          </a:prstGeom>
          <a:noFill/>
        </p:spPr>
        <p:txBody>
          <a:bodyPr wrap="square">
            <a:spAutoFit/>
          </a:bodyPr>
          <a:lstStyle/>
          <a:p>
            <a:pPr algn="ctr"/>
            <a:r>
              <a:rPr sz="850" b="1" i="0">
                <a:solidFill>
                  <a:srgbClr val="39FF14"/>
                </a:solidFill>
                <a:latin typeface="Calibri"/>
              </a:rPr>
              <a:t>Domain</a:t>
            </a:r>
          </a:p>
        </p:txBody>
      </p:sp>
      <p:sp>
        <p:nvSpPr>
          <p:cNvPr id="23" name="TextBox 22"/>
          <p:cNvSpPr txBox="1"/>
          <p:nvPr/>
        </p:nvSpPr>
        <p:spPr>
          <a:xfrm>
            <a:off x="813816" y="1572768"/>
            <a:ext cx="1115568" cy="164592"/>
          </a:xfrm>
          <a:prstGeom prst="rect">
            <a:avLst/>
          </a:prstGeom>
          <a:noFill/>
        </p:spPr>
        <p:txBody>
          <a:bodyPr wrap="square">
            <a:spAutoFit/>
          </a:bodyPr>
          <a:lstStyle/>
          <a:p>
            <a:pPr algn="ctr"/>
            <a:r>
              <a:rPr sz="700" b="0" i="1">
                <a:solidFill>
                  <a:srgbClr val="A0AAB8"/>
                </a:solidFill>
                <a:latin typeface="Calibri"/>
              </a:rPr>
              <a:t>shopvault.io</a:t>
            </a:r>
          </a:p>
        </p:txBody>
      </p:sp>
      <p:sp>
        <p:nvSpPr>
          <p:cNvPr id="24" name="Rectangle 23"/>
          <p:cNvSpPr/>
          <p:nvPr/>
        </p:nvSpPr>
        <p:spPr>
          <a:xfrm>
            <a:off x="813816" y="2011680"/>
            <a:ext cx="1115568" cy="402336"/>
          </a:xfrm>
          <a:prstGeom prst="rect">
            <a:avLst/>
          </a:prstGeom>
          <a:solidFill>
            <a:srgbClr val="062212"/>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3816" y="2048256"/>
            <a:ext cx="1115568" cy="201168"/>
          </a:xfrm>
          <a:prstGeom prst="rect">
            <a:avLst/>
          </a:prstGeom>
          <a:noFill/>
        </p:spPr>
        <p:txBody>
          <a:bodyPr wrap="square">
            <a:spAutoFit/>
          </a:bodyPr>
          <a:lstStyle/>
          <a:p>
            <a:pPr algn="ctr"/>
            <a:r>
              <a:rPr sz="850" b="1" i="0">
                <a:solidFill>
                  <a:srgbClr val="39FF14"/>
                </a:solidFill>
                <a:latin typeface="Calibri"/>
              </a:rPr>
              <a:t>Host</a:t>
            </a:r>
          </a:p>
        </p:txBody>
      </p:sp>
      <p:sp>
        <p:nvSpPr>
          <p:cNvPr id="26" name="TextBox 25"/>
          <p:cNvSpPr txBox="1"/>
          <p:nvPr/>
        </p:nvSpPr>
        <p:spPr>
          <a:xfrm>
            <a:off x="813816" y="2212848"/>
            <a:ext cx="1115568" cy="164592"/>
          </a:xfrm>
          <a:prstGeom prst="rect">
            <a:avLst/>
          </a:prstGeom>
          <a:noFill/>
        </p:spPr>
        <p:txBody>
          <a:bodyPr wrap="square">
            <a:spAutoFit/>
          </a:bodyPr>
          <a:lstStyle/>
          <a:p>
            <a:pPr algn="ctr"/>
            <a:r>
              <a:rPr sz="700" b="0" i="1">
                <a:solidFill>
                  <a:srgbClr val="A0AAB8"/>
                </a:solidFill>
                <a:latin typeface="Calibri"/>
              </a:rPr>
              <a:t>192.168.1.10</a:t>
            </a:r>
          </a:p>
        </p:txBody>
      </p:sp>
      <p:sp>
        <p:nvSpPr>
          <p:cNvPr id="27" name="Rectangle 26"/>
          <p:cNvSpPr/>
          <p:nvPr/>
        </p:nvSpPr>
        <p:spPr>
          <a:xfrm>
            <a:off x="813816" y="2651760"/>
            <a:ext cx="1115568" cy="402336"/>
          </a:xfrm>
          <a:prstGeom prst="rect">
            <a:avLst/>
          </a:prstGeom>
          <a:solidFill>
            <a:srgbClr val="062212"/>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3816" y="2688336"/>
            <a:ext cx="1115568" cy="201168"/>
          </a:xfrm>
          <a:prstGeom prst="rect">
            <a:avLst/>
          </a:prstGeom>
          <a:noFill/>
        </p:spPr>
        <p:txBody>
          <a:bodyPr wrap="square">
            <a:spAutoFit/>
          </a:bodyPr>
          <a:lstStyle/>
          <a:p>
            <a:pPr algn="ctr"/>
            <a:r>
              <a:rPr sz="850" b="1" i="0">
                <a:solidFill>
                  <a:srgbClr val="39FF14"/>
                </a:solidFill>
                <a:latin typeface="Calibri"/>
              </a:rPr>
              <a:t>Port</a:t>
            </a:r>
          </a:p>
        </p:txBody>
      </p:sp>
      <p:sp>
        <p:nvSpPr>
          <p:cNvPr id="29" name="TextBox 28"/>
          <p:cNvSpPr txBox="1"/>
          <p:nvPr/>
        </p:nvSpPr>
        <p:spPr>
          <a:xfrm>
            <a:off x="813816" y="2852928"/>
            <a:ext cx="1115568" cy="164592"/>
          </a:xfrm>
          <a:prstGeom prst="rect">
            <a:avLst/>
          </a:prstGeom>
          <a:noFill/>
        </p:spPr>
        <p:txBody>
          <a:bodyPr wrap="square">
            <a:spAutoFit/>
          </a:bodyPr>
          <a:lstStyle/>
          <a:p>
            <a:pPr algn="ctr"/>
            <a:r>
              <a:rPr sz="700" b="0" i="1">
                <a:solidFill>
                  <a:srgbClr val="A0AAB8"/>
                </a:solidFill>
                <a:latin typeface="Calibri"/>
              </a:rPr>
              <a:t>:443 / :8080</a:t>
            </a:r>
          </a:p>
        </p:txBody>
      </p:sp>
      <p:sp>
        <p:nvSpPr>
          <p:cNvPr id="30" name="Rectangle 29"/>
          <p:cNvSpPr/>
          <p:nvPr/>
        </p:nvSpPr>
        <p:spPr>
          <a:xfrm>
            <a:off x="813816" y="3291840"/>
            <a:ext cx="1115568" cy="402336"/>
          </a:xfrm>
          <a:prstGeom prst="rect">
            <a:avLst/>
          </a:prstGeom>
          <a:solidFill>
            <a:srgbClr val="062212"/>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3816" y="3328416"/>
            <a:ext cx="1115568" cy="201168"/>
          </a:xfrm>
          <a:prstGeom prst="rect">
            <a:avLst/>
          </a:prstGeom>
          <a:noFill/>
        </p:spPr>
        <p:txBody>
          <a:bodyPr wrap="square">
            <a:spAutoFit/>
          </a:bodyPr>
          <a:lstStyle/>
          <a:p>
            <a:pPr algn="ctr"/>
            <a:r>
              <a:rPr sz="850" b="1" i="0">
                <a:solidFill>
                  <a:srgbClr val="39FF14"/>
                </a:solidFill>
                <a:latin typeface="Calibri"/>
              </a:rPr>
              <a:t>Service</a:t>
            </a:r>
          </a:p>
        </p:txBody>
      </p:sp>
      <p:sp>
        <p:nvSpPr>
          <p:cNvPr id="32" name="TextBox 31"/>
          <p:cNvSpPr txBox="1"/>
          <p:nvPr/>
        </p:nvSpPr>
        <p:spPr>
          <a:xfrm>
            <a:off x="813816" y="3493008"/>
            <a:ext cx="1115568" cy="164592"/>
          </a:xfrm>
          <a:prstGeom prst="rect">
            <a:avLst/>
          </a:prstGeom>
          <a:noFill/>
        </p:spPr>
        <p:txBody>
          <a:bodyPr wrap="square">
            <a:spAutoFit/>
          </a:bodyPr>
          <a:lstStyle/>
          <a:p>
            <a:pPr algn="ctr"/>
            <a:r>
              <a:rPr sz="700" b="0" i="1">
                <a:solidFill>
                  <a:srgbClr val="A0AAB8"/>
                </a:solidFill>
                <a:latin typeface="Calibri"/>
              </a:rPr>
              <a:t>Nginx 1.18.0</a:t>
            </a:r>
          </a:p>
        </p:txBody>
      </p:sp>
      <p:sp>
        <p:nvSpPr>
          <p:cNvPr id="33" name="Rectangle 32"/>
          <p:cNvSpPr/>
          <p:nvPr/>
        </p:nvSpPr>
        <p:spPr>
          <a:xfrm>
            <a:off x="2276856" y="2651760"/>
            <a:ext cx="1115568" cy="402336"/>
          </a:xfrm>
          <a:prstGeom prst="rect">
            <a:avLst/>
          </a:prstGeom>
          <a:solidFill>
            <a:srgbClr val="082018"/>
          </a:solidFill>
          <a:ln w="177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276856" y="2688336"/>
            <a:ext cx="1115568" cy="201168"/>
          </a:xfrm>
          <a:prstGeom prst="rect">
            <a:avLst/>
          </a:prstGeom>
          <a:noFill/>
        </p:spPr>
        <p:txBody>
          <a:bodyPr wrap="square">
            <a:spAutoFit/>
          </a:bodyPr>
          <a:lstStyle/>
          <a:p>
            <a:pPr algn="ctr"/>
            <a:r>
              <a:rPr sz="850" b="1" i="0">
                <a:solidFill>
                  <a:srgbClr val="00E5FF"/>
                </a:solidFill>
                <a:latin typeface="Calibri"/>
              </a:rPr>
              <a:t>Technology</a:t>
            </a:r>
          </a:p>
        </p:txBody>
      </p:sp>
      <p:sp>
        <p:nvSpPr>
          <p:cNvPr id="35" name="TextBox 34"/>
          <p:cNvSpPr txBox="1"/>
          <p:nvPr/>
        </p:nvSpPr>
        <p:spPr>
          <a:xfrm>
            <a:off x="2276856" y="2852928"/>
            <a:ext cx="1115568" cy="164592"/>
          </a:xfrm>
          <a:prstGeom prst="rect">
            <a:avLst/>
          </a:prstGeom>
          <a:noFill/>
        </p:spPr>
        <p:txBody>
          <a:bodyPr wrap="square">
            <a:spAutoFit/>
          </a:bodyPr>
          <a:lstStyle/>
          <a:p>
            <a:pPr algn="ctr"/>
            <a:r>
              <a:rPr sz="700" b="0" i="1">
                <a:solidFill>
                  <a:srgbClr val="A0AAB8"/>
                </a:solidFill>
                <a:latin typeface="Calibri"/>
              </a:rPr>
              <a:t>WordPress 5.9.3</a:t>
            </a:r>
          </a:p>
        </p:txBody>
      </p:sp>
      <p:sp>
        <p:nvSpPr>
          <p:cNvPr id="36" name="Rectangle 35"/>
          <p:cNvSpPr/>
          <p:nvPr/>
        </p:nvSpPr>
        <p:spPr>
          <a:xfrm>
            <a:off x="2276856" y="3291840"/>
            <a:ext cx="1115568" cy="402336"/>
          </a:xfrm>
          <a:prstGeom prst="rect">
            <a:avLst/>
          </a:prstGeom>
          <a:solidFill>
            <a:srgbClr val="082018"/>
          </a:solidFill>
          <a:ln w="177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276856" y="3328416"/>
            <a:ext cx="1115568" cy="201168"/>
          </a:xfrm>
          <a:prstGeom prst="rect">
            <a:avLst/>
          </a:prstGeom>
          <a:noFill/>
        </p:spPr>
        <p:txBody>
          <a:bodyPr wrap="square">
            <a:spAutoFit/>
          </a:bodyPr>
          <a:lstStyle/>
          <a:p>
            <a:pPr algn="ctr"/>
            <a:r>
              <a:rPr sz="850" b="1" i="0">
                <a:solidFill>
                  <a:srgbClr val="00E5FF"/>
                </a:solidFill>
                <a:latin typeface="Calibri"/>
              </a:rPr>
              <a:t>Endpoint</a:t>
            </a:r>
          </a:p>
        </p:txBody>
      </p:sp>
      <p:sp>
        <p:nvSpPr>
          <p:cNvPr id="38" name="TextBox 37"/>
          <p:cNvSpPr txBox="1"/>
          <p:nvPr/>
        </p:nvSpPr>
        <p:spPr>
          <a:xfrm>
            <a:off x="2276856" y="3493008"/>
            <a:ext cx="1115568" cy="164592"/>
          </a:xfrm>
          <a:prstGeom prst="rect">
            <a:avLst/>
          </a:prstGeom>
          <a:noFill/>
        </p:spPr>
        <p:txBody>
          <a:bodyPr wrap="square">
            <a:spAutoFit/>
          </a:bodyPr>
          <a:lstStyle/>
          <a:p>
            <a:pPr algn="ctr"/>
            <a:r>
              <a:rPr sz="700" b="0" i="1">
                <a:solidFill>
                  <a:srgbClr val="A0AAB8"/>
                </a:solidFill>
                <a:latin typeface="Calibri"/>
              </a:rPr>
              <a:t>/api/v1/orders</a:t>
            </a:r>
          </a:p>
        </p:txBody>
      </p:sp>
      <p:sp>
        <p:nvSpPr>
          <p:cNvPr id="39" name="Rectangle 38"/>
          <p:cNvSpPr/>
          <p:nvPr/>
        </p:nvSpPr>
        <p:spPr>
          <a:xfrm>
            <a:off x="2276856" y="3931919"/>
            <a:ext cx="1115568" cy="402336"/>
          </a:xfrm>
          <a:prstGeom prst="rect">
            <a:avLst/>
          </a:prstGeom>
          <a:solidFill>
            <a:srgbClr val="082018"/>
          </a:solidFill>
          <a:ln w="177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276856" y="3968495"/>
            <a:ext cx="1115568" cy="201168"/>
          </a:xfrm>
          <a:prstGeom prst="rect">
            <a:avLst/>
          </a:prstGeom>
          <a:noFill/>
        </p:spPr>
        <p:txBody>
          <a:bodyPr wrap="square">
            <a:spAutoFit/>
          </a:bodyPr>
          <a:lstStyle/>
          <a:p>
            <a:pPr algn="ctr"/>
            <a:r>
              <a:rPr sz="850" b="1" i="0">
                <a:solidFill>
                  <a:srgbClr val="00E5FF"/>
                </a:solidFill>
                <a:latin typeface="Calibri"/>
              </a:rPr>
              <a:t>Parameter</a:t>
            </a:r>
          </a:p>
        </p:txBody>
      </p:sp>
      <p:sp>
        <p:nvSpPr>
          <p:cNvPr id="41" name="TextBox 40"/>
          <p:cNvSpPr txBox="1"/>
          <p:nvPr/>
        </p:nvSpPr>
        <p:spPr>
          <a:xfrm>
            <a:off x="2276856" y="4133087"/>
            <a:ext cx="1115568" cy="164592"/>
          </a:xfrm>
          <a:prstGeom prst="rect">
            <a:avLst/>
          </a:prstGeom>
          <a:noFill/>
        </p:spPr>
        <p:txBody>
          <a:bodyPr wrap="square">
            <a:spAutoFit/>
          </a:bodyPr>
          <a:lstStyle/>
          <a:p>
            <a:pPr algn="ctr"/>
            <a:r>
              <a:rPr sz="700" b="0" i="1">
                <a:solidFill>
                  <a:srgbClr val="A0AAB8"/>
                </a:solidFill>
                <a:latin typeface="Calibri"/>
              </a:rPr>
              <a:t>user_id=?</a:t>
            </a:r>
          </a:p>
        </p:txBody>
      </p:sp>
      <p:sp>
        <p:nvSpPr>
          <p:cNvPr id="42" name="Rectangle 41"/>
          <p:cNvSpPr/>
          <p:nvPr/>
        </p:nvSpPr>
        <p:spPr>
          <a:xfrm>
            <a:off x="813816" y="3931919"/>
            <a:ext cx="1115568" cy="402336"/>
          </a:xfrm>
          <a:prstGeom prst="rect">
            <a:avLst/>
          </a:prstGeom>
          <a:solidFill>
            <a:srgbClr val="220606"/>
          </a:solidFill>
          <a:ln w="177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13816" y="3968495"/>
            <a:ext cx="1115568" cy="201168"/>
          </a:xfrm>
          <a:prstGeom prst="rect">
            <a:avLst/>
          </a:prstGeom>
          <a:noFill/>
        </p:spPr>
        <p:txBody>
          <a:bodyPr wrap="square">
            <a:spAutoFit/>
          </a:bodyPr>
          <a:lstStyle/>
          <a:p>
            <a:pPr algn="ctr"/>
            <a:r>
              <a:rPr sz="850" b="1" i="0">
                <a:solidFill>
                  <a:srgbClr val="FF4545"/>
                </a:solidFill>
                <a:latin typeface="Calibri"/>
              </a:rPr>
              <a:t>Vulnerability</a:t>
            </a:r>
          </a:p>
        </p:txBody>
      </p:sp>
      <p:sp>
        <p:nvSpPr>
          <p:cNvPr id="44" name="TextBox 43"/>
          <p:cNvSpPr txBox="1"/>
          <p:nvPr/>
        </p:nvSpPr>
        <p:spPr>
          <a:xfrm>
            <a:off x="813816" y="4133087"/>
            <a:ext cx="1115568" cy="164592"/>
          </a:xfrm>
          <a:prstGeom prst="rect">
            <a:avLst/>
          </a:prstGeom>
          <a:noFill/>
        </p:spPr>
        <p:txBody>
          <a:bodyPr wrap="square">
            <a:spAutoFit/>
          </a:bodyPr>
          <a:lstStyle/>
          <a:p>
            <a:pPr algn="ctr"/>
            <a:r>
              <a:rPr sz="700" b="0" i="1">
                <a:solidFill>
                  <a:srgbClr val="A0AAB8"/>
                </a:solidFill>
                <a:latin typeface="Calibri"/>
              </a:rPr>
              <a:t>CVE-2022-21661</a:t>
            </a:r>
          </a:p>
        </p:txBody>
      </p:sp>
      <p:sp>
        <p:nvSpPr>
          <p:cNvPr id="45" name="Rectangle 44"/>
          <p:cNvSpPr/>
          <p:nvPr/>
        </p:nvSpPr>
        <p:spPr>
          <a:xfrm>
            <a:off x="813816" y="4572000"/>
            <a:ext cx="1115568" cy="402336"/>
          </a:xfrm>
          <a:prstGeom prst="rect">
            <a:avLst/>
          </a:prstGeom>
          <a:solidFill>
            <a:srgbClr val="120820"/>
          </a:solidFill>
          <a:ln w="177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13816" y="4608576"/>
            <a:ext cx="1115568" cy="201168"/>
          </a:xfrm>
          <a:prstGeom prst="rect">
            <a:avLst/>
          </a:prstGeom>
          <a:noFill/>
        </p:spPr>
        <p:txBody>
          <a:bodyPr wrap="square">
            <a:spAutoFit/>
          </a:bodyPr>
          <a:lstStyle/>
          <a:p>
            <a:pPr algn="ctr"/>
            <a:r>
              <a:rPr sz="850" b="1" i="0">
                <a:solidFill>
                  <a:srgbClr val="BD93F9"/>
                </a:solidFill>
                <a:latin typeface="Calibri"/>
              </a:rPr>
              <a:t>Evidence</a:t>
            </a:r>
          </a:p>
        </p:txBody>
      </p:sp>
      <p:sp>
        <p:nvSpPr>
          <p:cNvPr id="47" name="TextBox 46"/>
          <p:cNvSpPr txBox="1"/>
          <p:nvPr/>
        </p:nvSpPr>
        <p:spPr>
          <a:xfrm>
            <a:off x="813816" y="4773168"/>
            <a:ext cx="1115568" cy="164592"/>
          </a:xfrm>
          <a:prstGeom prst="rect">
            <a:avLst/>
          </a:prstGeom>
          <a:noFill/>
        </p:spPr>
        <p:txBody>
          <a:bodyPr wrap="square">
            <a:spAutoFit/>
          </a:bodyPr>
          <a:lstStyle/>
          <a:p>
            <a:pPr algn="ctr"/>
            <a:r>
              <a:rPr sz="700" b="0" i="1">
                <a:solidFill>
                  <a:srgbClr val="A0AAB8"/>
                </a:solidFill>
                <a:latin typeface="Calibri"/>
              </a:rPr>
              <a:t>screenshot.png</a:t>
            </a:r>
          </a:p>
        </p:txBody>
      </p:sp>
      <p:cxnSp>
        <p:nvCxnSpPr>
          <p:cNvPr id="48" name="Connector 47"/>
          <p:cNvCxnSpPr/>
          <p:nvPr/>
        </p:nvCxnSpPr>
        <p:spPr>
          <a:xfrm>
            <a:off x="1371600" y="1773936.0"/>
            <a:ext cx="0" cy="237744.0"/>
          </a:xfrm>
          <a:prstGeom prst="line">
            <a:avLst/>
          </a:prstGeom>
          <a:ln w="1143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868680" y="1691640"/>
            <a:ext cx="1005840" cy="201168"/>
          </a:xfrm>
          <a:prstGeom prst="rect">
            <a:avLst/>
          </a:prstGeom>
          <a:noFill/>
        </p:spPr>
        <p:txBody>
          <a:bodyPr wrap="square">
            <a:spAutoFit/>
          </a:bodyPr>
          <a:lstStyle/>
          <a:p>
            <a:pPr algn="ctr"/>
            <a:r>
              <a:rPr sz="700" b="0" i="1">
                <a:solidFill>
                  <a:srgbClr val="A0AAB8"/>
                </a:solidFill>
                <a:latin typeface="Calibri"/>
              </a:rPr>
              <a:t>has_host</a:t>
            </a:r>
          </a:p>
        </p:txBody>
      </p:sp>
      <p:cxnSp>
        <p:nvCxnSpPr>
          <p:cNvPr id="50" name="Connector 49"/>
          <p:cNvCxnSpPr/>
          <p:nvPr/>
        </p:nvCxnSpPr>
        <p:spPr>
          <a:xfrm>
            <a:off x="1371600" y="2414016.0"/>
            <a:ext cx="0" cy="237744.0"/>
          </a:xfrm>
          <a:prstGeom prst="line">
            <a:avLst/>
          </a:prstGeom>
          <a:ln w="1143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868680" y="2331720"/>
            <a:ext cx="1005840" cy="201168"/>
          </a:xfrm>
          <a:prstGeom prst="rect">
            <a:avLst/>
          </a:prstGeom>
          <a:noFill/>
        </p:spPr>
        <p:txBody>
          <a:bodyPr wrap="square">
            <a:spAutoFit/>
          </a:bodyPr>
          <a:lstStyle/>
          <a:p>
            <a:pPr algn="ctr"/>
            <a:r>
              <a:rPr sz="700" b="0" i="1">
                <a:solidFill>
                  <a:srgbClr val="A0AAB8"/>
                </a:solidFill>
                <a:latin typeface="Calibri"/>
              </a:rPr>
              <a:t>has_port</a:t>
            </a:r>
          </a:p>
        </p:txBody>
      </p:sp>
      <p:cxnSp>
        <p:nvCxnSpPr>
          <p:cNvPr id="52" name="Connector 51"/>
          <p:cNvCxnSpPr/>
          <p:nvPr/>
        </p:nvCxnSpPr>
        <p:spPr>
          <a:xfrm>
            <a:off x="1371600" y="3054096.0"/>
            <a:ext cx="0" cy="237744.0"/>
          </a:xfrm>
          <a:prstGeom prst="line">
            <a:avLst/>
          </a:prstGeom>
          <a:ln w="1143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868680" y="2971800"/>
            <a:ext cx="1005840" cy="201168"/>
          </a:xfrm>
          <a:prstGeom prst="rect">
            <a:avLst/>
          </a:prstGeom>
          <a:noFill/>
        </p:spPr>
        <p:txBody>
          <a:bodyPr wrap="square">
            <a:spAutoFit/>
          </a:bodyPr>
          <a:lstStyle/>
          <a:p>
            <a:pPr algn="ctr"/>
            <a:r>
              <a:rPr sz="700" b="0" i="1">
                <a:solidFill>
                  <a:srgbClr val="A0AAB8"/>
                </a:solidFill>
                <a:latin typeface="Calibri"/>
              </a:rPr>
              <a:t>runs</a:t>
            </a:r>
          </a:p>
        </p:txBody>
      </p:sp>
      <p:cxnSp>
        <p:nvCxnSpPr>
          <p:cNvPr id="54" name="Connector 53"/>
          <p:cNvCxnSpPr/>
          <p:nvPr/>
        </p:nvCxnSpPr>
        <p:spPr>
          <a:xfrm>
            <a:off x="1371600" y="3694176.0"/>
            <a:ext cx="0" cy="237743.0"/>
          </a:xfrm>
          <a:prstGeom prst="line">
            <a:avLst/>
          </a:prstGeom>
          <a:ln w="1143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868680" y="3611879"/>
            <a:ext cx="1005840" cy="201168"/>
          </a:xfrm>
          <a:prstGeom prst="rect">
            <a:avLst/>
          </a:prstGeom>
          <a:noFill/>
        </p:spPr>
        <p:txBody>
          <a:bodyPr wrap="square">
            <a:spAutoFit/>
          </a:bodyPr>
          <a:lstStyle/>
          <a:p>
            <a:pPr algn="ctr"/>
            <a:r>
              <a:rPr sz="700" b="0" i="1">
                <a:solidFill>
                  <a:srgbClr val="A0AAB8"/>
                </a:solidFill>
                <a:latin typeface="Calibri"/>
              </a:rPr>
              <a:t>affected_by</a:t>
            </a:r>
          </a:p>
        </p:txBody>
      </p:sp>
      <p:cxnSp>
        <p:nvCxnSpPr>
          <p:cNvPr id="56" name="Connector 55"/>
          <p:cNvCxnSpPr/>
          <p:nvPr/>
        </p:nvCxnSpPr>
        <p:spPr>
          <a:xfrm>
            <a:off x="1371600" y="4334255.0"/>
            <a:ext cx="0" cy="237745.0"/>
          </a:xfrm>
          <a:prstGeom prst="line">
            <a:avLst/>
          </a:prstGeom>
          <a:ln w="1143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868680" y="4251959"/>
            <a:ext cx="1005840" cy="201168"/>
          </a:xfrm>
          <a:prstGeom prst="rect">
            <a:avLst/>
          </a:prstGeom>
          <a:noFill/>
        </p:spPr>
        <p:txBody>
          <a:bodyPr wrap="square">
            <a:spAutoFit/>
          </a:bodyPr>
          <a:lstStyle/>
          <a:p>
            <a:pPr algn="ctr"/>
            <a:r>
              <a:rPr sz="700" b="0" i="1">
                <a:solidFill>
                  <a:srgbClr val="A0AAB8"/>
                </a:solidFill>
                <a:latin typeface="Calibri"/>
              </a:rPr>
              <a:t>validated_by</a:t>
            </a:r>
          </a:p>
        </p:txBody>
      </p:sp>
      <p:cxnSp>
        <p:nvCxnSpPr>
          <p:cNvPr id="58" name="Connector 57"/>
          <p:cNvCxnSpPr/>
          <p:nvPr/>
        </p:nvCxnSpPr>
        <p:spPr>
          <a:xfrm>
            <a:off x="1929384.0" y="2852928"/>
            <a:ext cx="347472.0" cy="0"/>
          </a:xfrm>
          <a:prstGeom prst="line">
            <a:avLst/>
          </a:prstGeom>
          <a:ln w="1016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1600200" y="2651760"/>
            <a:ext cx="1005840" cy="201168"/>
          </a:xfrm>
          <a:prstGeom prst="rect">
            <a:avLst/>
          </a:prstGeom>
          <a:noFill/>
        </p:spPr>
        <p:txBody>
          <a:bodyPr wrap="square">
            <a:spAutoFit/>
          </a:bodyPr>
          <a:lstStyle/>
          <a:p>
            <a:pPr algn="ctr"/>
            <a:r>
              <a:rPr sz="700" b="0" i="1">
                <a:solidFill>
                  <a:srgbClr val="A0AAB8"/>
                </a:solidFill>
                <a:latin typeface="Calibri"/>
              </a:rPr>
              <a:t>uses</a:t>
            </a:r>
          </a:p>
        </p:txBody>
      </p:sp>
      <p:cxnSp>
        <p:nvCxnSpPr>
          <p:cNvPr id="60" name="Connector 59"/>
          <p:cNvCxnSpPr/>
          <p:nvPr/>
        </p:nvCxnSpPr>
        <p:spPr>
          <a:xfrm>
            <a:off x="1929384.0" y="3493008"/>
            <a:ext cx="347472.0" cy="0"/>
          </a:xfrm>
          <a:prstGeom prst="line">
            <a:avLst/>
          </a:prstGeom>
          <a:ln w="1016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1600200" y="3291840"/>
            <a:ext cx="1005840" cy="201168"/>
          </a:xfrm>
          <a:prstGeom prst="rect">
            <a:avLst/>
          </a:prstGeom>
          <a:noFill/>
        </p:spPr>
        <p:txBody>
          <a:bodyPr wrap="square">
            <a:spAutoFit/>
          </a:bodyPr>
          <a:lstStyle/>
          <a:p>
            <a:pPr algn="ctr"/>
            <a:r>
              <a:rPr sz="700" b="0" i="1">
                <a:solidFill>
                  <a:srgbClr val="A0AAB8"/>
                </a:solidFill>
                <a:latin typeface="Calibri"/>
              </a:rPr>
              <a:t>has_endpoint</a:t>
            </a:r>
          </a:p>
        </p:txBody>
      </p:sp>
      <p:cxnSp>
        <p:nvCxnSpPr>
          <p:cNvPr id="62" name="Connector 61"/>
          <p:cNvCxnSpPr/>
          <p:nvPr/>
        </p:nvCxnSpPr>
        <p:spPr>
          <a:xfrm>
            <a:off x="2834640" y="3694176.0"/>
            <a:ext cx="0" cy="237743.0"/>
          </a:xfrm>
          <a:prstGeom prst="line">
            <a:avLst/>
          </a:prstGeom>
          <a:ln w="1016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2331720" y="3611879"/>
            <a:ext cx="1005840" cy="201168"/>
          </a:xfrm>
          <a:prstGeom prst="rect">
            <a:avLst/>
          </a:prstGeom>
          <a:noFill/>
        </p:spPr>
        <p:txBody>
          <a:bodyPr wrap="square">
            <a:spAutoFit/>
          </a:bodyPr>
          <a:lstStyle/>
          <a:p>
            <a:pPr algn="ctr"/>
            <a:r>
              <a:rPr sz="700" b="0" i="1">
                <a:solidFill>
                  <a:srgbClr val="A0AAB8"/>
                </a:solidFill>
                <a:latin typeface="Calibri"/>
              </a:rPr>
              <a:t>has_parameter</a:t>
            </a:r>
          </a:p>
        </p:txBody>
      </p:sp>
      <p:sp>
        <p:nvSpPr>
          <p:cNvPr id="64" name="Rectangle 63"/>
          <p:cNvSpPr/>
          <p:nvPr/>
        </p:nvSpPr>
        <p:spPr>
          <a:xfrm>
            <a:off x="201168" y="5230368"/>
            <a:ext cx="5285232" cy="566928"/>
          </a:xfrm>
          <a:prstGeom prst="rect">
            <a:avLst/>
          </a:prstGeom>
          <a:solidFill>
            <a:srgbClr val="061C0C"/>
          </a:solidFill>
          <a:ln w="762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74320" y="5285232"/>
            <a:ext cx="5120640" cy="420624"/>
          </a:xfrm>
          <a:prstGeom prst="rect">
            <a:avLst/>
          </a:prstGeom>
          <a:noFill/>
        </p:spPr>
        <p:txBody>
          <a:bodyPr wrap="square">
            <a:spAutoFit/>
          </a:bodyPr>
          <a:lstStyle/>
          <a:p>
            <a:pPr algn="l"/>
            <a:r>
              <a:rPr sz="750" b="0" i="1">
                <a:solidFill>
                  <a:srgbClr val="A0AAB8"/>
                </a:solidFill>
                <a:latin typeface="Calibri"/>
              </a:rPr>
              <a:t>EDGES:  has_host  ·  has_port  ·  runs  ·  uses  ·  has_endpoint  ·  has_parameter  ·  affected_by  ·  validated_by</a:t>
            </a:r>
          </a:p>
        </p:txBody>
      </p:sp>
      <p:sp>
        <p:nvSpPr>
          <p:cNvPr id="66" name="Rectangle 65"/>
          <p:cNvSpPr/>
          <p:nvPr/>
        </p:nvSpPr>
        <p:spPr>
          <a:xfrm>
            <a:off x="6784848" y="1316736"/>
            <a:ext cx="5029200" cy="4297680"/>
          </a:xfrm>
          <a:prstGeom prst="rect">
            <a:avLst/>
          </a:prstGeom>
          <a:solidFill>
            <a:srgbClr val="140C02"/>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784848" y="1316736"/>
            <a:ext cx="5029200" cy="25603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784848" y="1353312"/>
            <a:ext cx="5029200" cy="201168"/>
          </a:xfrm>
          <a:prstGeom prst="rect">
            <a:avLst/>
          </a:prstGeom>
          <a:noFill/>
        </p:spPr>
        <p:txBody>
          <a:bodyPr wrap="square">
            <a:spAutoFit/>
          </a:bodyPr>
          <a:lstStyle/>
          <a:p>
            <a:pPr algn="ctr"/>
            <a:r>
              <a:rPr sz="800" b="1" i="0">
                <a:solidFill>
                  <a:srgbClr val="0A0D1A"/>
                </a:solidFill>
                <a:latin typeface="Calibri"/>
              </a:rPr>
              <a:t>AttackChain  ·  risk_score: 9.1  ·  status: VALIDATED</a:t>
            </a:r>
          </a:p>
        </p:txBody>
      </p:sp>
      <p:sp>
        <p:nvSpPr>
          <p:cNvPr id="69" name="TextBox 68"/>
          <p:cNvSpPr txBox="1"/>
          <p:nvPr/>
        </p:nvSpPr>
        <p:spPr>
          <a:xfrm>
            <a:off x="6894576" y="1609344"/>
            <a:ext cx="4846320" cy="201168"/>
          </a:xfrm>
          <a:prstGeom prst="rect">
            <a:avLst/>
          </a:prstGeom>
          <a:noFill/>
        </p:spPr>
        <p:txBody>
          <a:bodyPr wrap="square">
            <a:spAutoFit/>
          </a:bodyPr>
          <a:lstStyle/>
          <a:p>
            <a:pPr algn="l"/>
            <a:r>
              <a:rPr sz="850" b="0" i="1">
                <a:solidFill>
                  <a:srgbClr val="FFD700"/>
                </a:solidFill>
                <a:latin typeface="Calibri"/>
              </a:rPr>
              <a:t>Chain-01: CVE-2022-21661 → SQL Injection → RCE → Customer PII</a:t>
            </a:r>
          </a:p>
        </p:txBody>
      </p:sp>
      <p:sp>
        <p:nvSpPr>
          <p:cNvPr id="70" name="Rectangle 69"/>
          <p:cNvSpPr/>
          <p:nvPr/>
        </p:nvSpPr>
        <p:spPr>
          <a:xfrm>
            <a:off x="8339328" y="1911096"/>
            <a:ext cx="1920240" cy="594360"/>
          </a:xfrm>
          <a:prstGeom prst="rect">
            <a:avLst/>
          </a:prstGeom>
          <a:solidFill>
            <a:srgbClr val="1E1402"/>
          </a:solidFill>
          <a:ln w="2032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8430768" y="1947672"/>
            <a:ext cx="731520" cy="256032"/>
          </a:xfrm>
          <a:prstGeom prst="rect">
            <a:avLst/>
          </a:prstGeom>
          <a:noFill/>
        </p:spPr>
        <p:txBody>
          <a:bodyPr wrap="square">
            <a:spAutoFit/>
          </a:bodyPr>
          <a:lstStyle/>
          <a:p>
            <a:pPr algn="l"/>
            <a:r>
              <a:rPr sz="850" b="1" i="0">
                <a:solidFill>
                  <a:srgbClr val="FFD700"/>
                </a:solidFill>
                <a:latin typeface="Calibri"/>
              </a:rPr>
              <a:t>STEP 1</a:t>
            </a:r>
          </a:p>
        </p:txBody>
      </p:sp>
      <p:sp>
        <p:nvSpPr>
          <p:cNvPr id="72" name="Rectangle 71"/>
          <p:cNvSpPr/>
          <p:nvPr/>
        </p:nvSpPr>
        <p:spPr>
          <a:xfrm>
            <a:off x="9244584" y="1965960"/>
            <a:ext cx="960120" cy="18288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244584" y="1975104"/>
            <a:ext cx="960120" cy="164592"/>
          </a:xfrm>
          <a:prstGeom prst="rect">
            <a:avLst/>
          </a:prstGeom>
          <a:noFill/>
        </p:spPr>
        <p:txBody>
          <a:bodyPr wrap="square">
            <a:spAutoFit/>
          </a:bodyPr>
          <a:lstStyle/>
          <a:p>
            <a:pPr algn="ctr"/>
            <a:r>
              <a:rPr sz="650" b="1" i="0">
                <a:solidFill>
                  <a:srgbClr val="0A0D1A"/>
                </a:solidFill>
                <a:latin typeface="Calibri"/>
              </a:rPr>
              <a:t>VALIDATED</a:t>
            </a:r>
          </a:p>
        </p:txBody>
      </p:sp>
      <p:sp>
        <p:nvSpPr>
          <p:cNvPr id="74" name="TextBox 73"/>
          <p:cNvSpPr txBox="1"/>
          <p:nvPr/>
        </p:nvSpPr>
        <p:spPr>
          <a:xfrm>
            <a:off x="8430768" y="2185416"/>
            <a:ext cx="1773936" cy="310896"/>
          </a:xfrm>
          <a:prstGeom prst="rect">
            <a:avLst/>
          </a:prstGeom>
          <a:noFill/>
        </p:spPr>
        <p:txBody>
          <a:bodyPr wrap="square">
            <a:spAutoFit/>
          </a:bodyPr>
          <a:lstStyle/>
          <a:p>
            <a:pPr algn="l"/>
            <a:r>
              <a:rPr sz="800" b="0" i="0">
                <a:solidFill>
                  <a:srgbClr val="A0AAB8"/>
                </a:solidFill>
                <a:latin typeface="Calibri"/>
              </a:rPr>
              <a:t>SQLMap → WP_Query SQLi confirmed</a:t>
            </a:r>
          </a:p>
        </p:txBody>
      </p:sp>
      <p:cxnSp>
        <p:nvCxnSpPr>
          <p:cNvPr id="75" name="Connector 74"/>
          <p:cNvCxnSpPr/>
          <p:nvPr/>
        </p:nvCxnSpPr>
        <p:spPr>
          <a:xfrm>
            <a:off x="9299448.0" y="2505456"/>
            <a:ext cx="0.0" cy="201168"/>
          </a:xfrm>
          <a:prstGeom prst="line">
            <a:avLst/>
          </a:prstGeom>
          <a:ln w="1524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9354312" y="2523744"/>
            <a:ext cx="731520" cy="182880"/>
          </a:xfrm>
          <a:prstGeom prst="rect">
            <a:avLst/>
          </a:prstGeom>
          <a:noFill/>
        </p:spPr>
        <p:txBody>
          <a:bodyPr wrap="square">
            <a:spAutoFit/>
          </a:bodyPr>
          <a:lstStyle/>
          <a:p>
            <a:pPr algn="l"/>
            <a:r>
              <a:rPr sz="650" b="0" i="1">
                <a:solidFill>
                  <a:srgbClr val="A0AAB8"/>
                </a:solidFill>
                <a:latin typeface="Calibri"/>
              </a:rPr>
              <a:t>next_step</a:t>
            </a:r>
          </a:p>
        </p:txBody>
      </p:sp>
      <p:sp>
        <p:nvSpPr>
          <p:cNvPr id="77" name="TextBox 76"/>
          <p:cNvSpPr txBox="1"/>
          <p:nvPr/>
        </p:nvSpPr>
        <p:spPr>
          <a:xfrm>
            <a:off x="10332720" y="2048256"/>
            <a:ext cx="777240" cy="329184"/>
          </a:xfrm>
          <a:prstGeom prst="rect">
            <a:avLst/>
          </a:prstGeom>
          <a:noFill/>
        </p:spPr>
        <p:txBody>
          <a:bodyPr wrap="square">
            <a:spAutoFit/>
          </a:bodyPr>
          <a:lstStyle/>
          <a:p>
            <a:pPr algn="l"/>
            <a:r>
              <a:rPr sz="650" b="0" i="1">
                <a:solidFill>
                  <a:srgbClr val="BD93F9"/>
                </a:solidFill>
                <a:latin typeface="Calibri"/>
              </a:rPr>
              <a:t>↗ supported_by ASG Evidence</a:t>
            </a:r>
          </a:p>
        </p:txBody>
      </p:sp>
      <p:sp>
        <p:nvSpPr>
          <p:cNvPr id="78" name="Rectangle 77"/>
          <p:cNvSpPr/>
          <p:nvPr/>
        </p:nvSpPr>
        <p:spPr>
          <a:xfrm>
            <a:off x="8339328" y="2706624"/>
            <a:ext cx="1920240" cy="594360"/>
          </a:xfrm>
          <a:prstGeom prst="rect">
            <a:avLst/>
          </a:prstGeom>
          <a:solidFill>
            <a:srgbClr val="1E1402"/>
          </a:solidFill>
          <a:ln w="2032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430768" y="2743200"/>
            <a:ext cx="731520" cy="256032"/>
          </a:xfrm>
          <a:prstGeom prst="rect">
            <a:avLst/>
          </a:prstGeom>
          <a:noFill/>
        </p:spPr>
        <p:txBody>
          <a:bodyPr wrap="square">
            <a:spAutoFit/>
          </a:bodyPr>
          <a:lstStyle/>
          <a:p>
            <a:pPr algn="l"/>
            <a:r>
              <a:rPr sz="850" b="1" i="0">
                <a:solidFill>
                  <a:srgbClr val="FFD700"/>
                </a:solidFill>
                <a:latin typeface="Calibri"/>
              </a:rPr>
              <a:t>STEP 2</a:t>
            </a:r>
          </a:p>
        </p:txBody>
      </p:sp>
      <p:sp>
        <p:nvSpPr>
          <p:cNvPr id="80" name="Rectangle 79"/>
          <p:cNvSpPr/>
          <p:nvPr/>
        </p:nvSpPr>
        <p:spPr>
          <a:xfrm>
            <a:off x="9244584" y="2761488"/>
            <a:ext cx="960120" cy="18288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244584" y="2770632"/>
            <a:ext cx="960120" cy="164592"/>
          </a:xfrm>
          <a:prstGeom prst="rect">
            <a:avLst/>
          </a:prstGeom>
          <a:noFill/>
        </p:spPr>
        <p:txBody>
          <a:bodyPr wrap="square">
            <a:spAutoFit/>
          </a:bodyPr>
          <a:lstStyle/>
          <a:p>
            <a:pPr algn="ctr"/>
            <a:r>
              <a:rPr sz="650" b="1" i="0">
                <a:solidFill>
                  <a:srgbClr val="0A0D1A"/>
                </a:solidFill>
                <a:latin typeface="Calibri"/>
              </a:rPr>
              <a:t>VALIDATED</a:t>
            </a:r>
          </a:p>
        </p:txBody>
      </p:sp>
      <p:sp>
        <p:nvSpPr>
          <p:cNvPr id="82" name="TextBox 81"/>
          <p:cNvSpPr txBox="1"/>
          <p:nvPr/>
        </p:nvSpPr>
        <p:spPr>
          <a:xfrm>
            <a:off x="8430768" y="2980944"/>
            <a:ext cx="1773936" cy="310896"/>
          </a:xfrm>
          <a:prstGeom prst="rect">
            <a:avLst/>
          </a:prstGeom>
          <a:noFill/>
        </p:spPr>
        <p:txBody>
          <a:bodyPr wrap="square">
            <a:spAutoFit/>
          </a:bodyPr>
          <a:lstStyle/>
          <a:p>
            <a:pPr algn="l"/>
            <a:r>
              <a:rPr sz="800" b="0" i="0">
                <a:solidFill>
                  <a:srgbClr val="A0AAB8"/>
                </a:solidFill>
                <a:latin typeface="Calibri"/>
              </a:rPr>
              <a:t>Admin hash extracted + cracked offline</a:t>
            </a:r>
          </a:p>
        </p:txBody>
      </p:sp>
      <p:cxnSp>
        <p:nvCxnSpPr>
          <p:cNvPr id="83" name="Connector 82"/>
          <p:cNvCxnSpPr/>
          <p:nvPr/>
        </p:nvCxnSpPr>
        <p:spPr>
          <a:xfrm>
            <a:off x="9299448.0" y="3300984"/>
            <a:ext cx="0.0" cy="201168"/>
          </a:xfrm>
          <a:prstGeom prst="line">
            <a:avLst/>
          </a:prstGeom>
          <a:ln w="1524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9354312" y="3319272"/>
            <a:ext cx="731520" cy="182880"/>
          </a:xfrm>
          <a:prstGeom prst="rect">
            <a:avLst/>
          </a:prstGeom>
          <a:noFill/>
        </p:spPr>
        <p:txBody>
          <a:bodyPr wrap="square">
            <a:spAutoFit/>
          </a:bodyPr>
          <a:lstStyle/>
          <a:p>
            <a:pPr algn="l"/>
            <a:r>
              <a:rPr sz="650" b="0" i="1">
                <a:solidFill>
                  <a:srgbClr val="A0AAB8"/>
                </a:solidFill>
                <a:latin typeface="Calibri"/>
              </a:rPr>
              <a:t>next_step</a:t>
            </a:r>
          </a:p>
        </p:txBody>
      </p:sp>
      <p:sp>
        <p:nvSpPr>
          <p:cNvPr id="85" name="TextBox 84"/>
          <p:cNvSpPr txBox="1"/>
          <p:nvPr/>
        </p:nvSpPr>
        <p:spPr>
          <a:xfrm>
            <a:off x="10332720" y="2843784"/>
            <a:ext cx="777240" cy="329184"/>
          </a:xfrm>
          <a:prstGeom prst="rect">
            <a:avLst/>
          </a:prstGeom>
          <a:noFill/>
        </p:spPr>
        <p:txBody>
          <a:bodyPr wrap="square">
            <a:spAutoFit/>
          </a:bodyPr>
          <a:lstStyle/>
          <a:p>
            <a:pPr algn="l"/>
            <a:r>
              <a:rPr sz="650" b="0" i="1">
                <a:solidFill>
                  <a:srgbClr val="BD93F9"/>
                </a:solidFill>
                <a:latin typeface="Calibri"/>
              </a:rPr>
              <a:t>↗ supported_by ASG Evidence</a:t>
            </a:r>
          </a:p>
        </p:txBody>
      </p:sp>
      <p:sp>
        <p:nvSpPr>
          <p:cNvPr id="86" name="Rectangle 85"/>
          <p:cNvSpPr/>
          <p:nvPr/>
        </p:nvSpPr>
        <p:spPr>
          <a:xfrm>
            <a:off x="8339328" y="3502152"/>
            <a:ext cx="1920240" cy="594360"/>
          </a:xfrm>
          <a:prstGeom prst="rect">
            <a:avLst/>
          </a:prstGeom>
          <a:solidFill>
            <a:srgbClr val="1E1402"/>
          </a:solidFill>
          <a:ln w="2032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430768" y="3538728"/>
            <a:ext cx="731520" cy="256032"/>
          </a:xfrm>
          <a:prstGeom prst="rect">
            <a:avLst/>
          </a:prstGeom>
          <a:noFill/>
        </p:spPr>
        <p:txBody>
          <a:bodyPr wrap="square">
            <a:spAutoFit/>
          </a:bodyPr>
          <a:lstStyle/>
          <a:p>
            <a:pPr algn="l"/>
            <a:r>
              <a:rPr sz="850" b="1" i="0">
                <a:solidFill>
                  <a:srgbClr val="FF4545"/>
                </a:solidFill>
                <a:latin typeface="Calibri"/>
              </a:rPr>
              <a:t>STEP 3</a:t>
            </a:r>
          </a:p>
        </p:txBody>
      </p:sp>
      <p:sp>
        <p:nvSpPr>
          <p:cNvPr id="88" name="Rectangle 87"/>
          <p:cNvSpPr/>
          <p:nvPr/>
        </p:nvSpPr>
        <p:spPr>
          <a:xfrm>
            <a:off x="9244584" y="3557016"/>
            <a:ext cx="960120" cy="18288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9244584" y="3566160"/>
            <a:ext cx="960120" cy="164592"/>
          </a:xfrm>
          <a:prstGeom prst="rect">
            <a:avLst/>
          </a:prstGeom>
          <a:noFill/>
        </p:spPr>
        <p:txBody>
          <a:bodyPr wrap="square">
            <a:spAutoFit/>
          </a:bodyPr>
          <a:lstStyle/>
          <a:p>
            <a:pPr algn="ctr"/>
            <a:r>
              <a:rPr sz="650" b="1" i="0">
                <a:solidFill>
                  <a:srgbClr val="0A0D1A"/>
                </a:solidFill>
                <a:latin typeface="Calibri"/>
              </a:rPr>
              <a:t>VALIDATED</a:t>
            </a:r>
          </a:p>
        </p:txBody>
      </p:sp>
      <p:sp>
        <p:nvSpPr>
          <p:cNvPr id="90" name="TextBox 89"/>
          <p:cNvSpPr txBox="1"/>
          <p:nvPr/>
        </p:nvSpPr>
        <p:spPr>
          <a:xfrm>
            <a:off x="8430768" y="3776472"/>
            <a:ext cx="1773936" cy="310896"/>
          </a:xfrm>
          <a:prstGeom prst="rect">
            <a:avLst/>
          </a:prstGeom>
          <a:noFill/>
        </p:spPr>
        <p:txBody>
          <a:bodyPr wrap="square">
            <a:spAutoFit/>
          </a:bodyPr>
          <a:lstStyle/>
          <a:p>
            <a:pPr algn="l"/>
            <a:r>
              <a:rPr sz="800" b="0" i="0">
                <a:solidFill>
                  <a:srgbClr val="A0AAB8"/>
                </a:solidFill>
                <a:latin typeface="Calibri"/>
              </a:rPr>
              <a:t>Metasploit → Web shell RCE achieved</a:t>
            </a:r>
          </a:p>
        </p:txBody>
      </p:sp>
      <p:cxnSp>
        <p:nvCxnSpPr>
          <p:cNvPr id="91" name="Connector 90"/>
          <p:cNvCxnSpPr/>
          <p:nvPr/>
        </p:nvCxnSpPr>
        <p:spPr>
          <a:xfrm>
            <a:off x="9299448.0" y="4096512"/>
            <a:ext cx="0.0" cy="201168"/>
          </a:xfrm>
          <a:prstGeom prst="line">
            <a:avLst/>
          </a:prstGeom>
          <a:ln w="15240">
            <a:solidFill>
              <a:srgbClr val="FF4545"/>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9354312" y="4114800"/>
            <a:ext cx="731520" cy="182880"/>
          </a:xfrm>
          <a:prstGeom prst="rect">
            <a:avLst/>
          </a:prstGeom>
          <a:noFill/>
        </p:spPr>
        <p:txBody>
          <a:bodyPr wrap="square">
            <a:spAutoFit/>
          </a:bodyPr>
          <a:lstStyle/>
          <a:p>
            <a:pPr algn="l"/>
            <a:r>
              <a:rPr sz="650" b="0" i="1">
                <a:solidFill>
                  <a:srgbClr val="A0AAB8"/>
                </a:solidFill>
                <a:latin typeface="Calibri"/>
              </a:rPr>
              <a:t>next_step</a:t>
            </a:r>
          </a:p>
        </p:txBody>
      </p:sp>
      <p:sp>
        <p:nvSpPr>
          <p:cNvPr id="93" name="TextBox 92"/>
          <p:cNvSpPr txBox="1"/>
          <p:nvPr/>
        </p:nvSpPr>
        <p:spPr>
          <a:xfrm>
            <a:off x="10332720" y="3639312"/>
            <a:ext cx="777240" cy="329184"/>
          </a:xfrm>
          <a:prstGeom prst="rect">
            <a:avLst/>
          </a:prstGeom>
          <a:noFill/>
        </p:spPr>
        <p:txBody>
          <a:bodyPr wrap="square">
            <a:spAutoFit/>
          </a:bodyPr>
          <a:lstStyle/>
          <a:p>
            <a:pPr algn="l"/>
            <a:r>
              <a:rPr sz="650" b="0" i="1">
                <a:solidFill>
                  <a:srgbClr val="BD93F9"/>
                </a:solidFill>
                <a:latin typeface="Calibri"/>
              </a:rPr>
              <a:t>↗ supported_by ASG Evidence</a:t>
            </a:r>
          </a:p>
        </p:txBody>
      </p:sp>
      <p:sp>
        <p:nvSpPr>
          <p:cNvPr id="94" name="Rectangle 93"/>
          <p:cNvSpPr/>
          <p:nvPr/>
        </p:nvSpPr>
        <p:spPr>
          <a:xfrm>
            <a:off x="8339328" y="4297680"/>
            <a:ext cx="1920240" cy="594360"/>
          </a:xfrm>
          <a:prstGeom prst="rect">
            <a:avLst/>
          </a:prstGeom>
          <a:solidFill>
            <a:srgbClr val="160820"/>
          </a:solidFill>
          <a:ln w="2032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430768" y="4334256"/>
            <a:ext cx="731520" cy="256032"/>
          </a:xfrm>
          <a:prstGeom prst="rect">
            <a:avLst/>
          </a:prstGeom>
          <a:noFill/>
        </p:spPr>
        <p:txBody>
          <a:bodyPr wrap="square">
            <a:spAutoFit/>
          </a:bodyPr>
          <a:lstStyle/>
          <a:p>
            <a:pPr algn="l"/>
            <a:r>
              <a:rPr sz="850" b="1" i="0">
                <a:solidFill>
                  <a:srgbClr val="BD93F9"/>
                </a:solidFill>
                <a:latin typeface="Calibri"/>
              </a:rPr>
              <a:t>IMPACT</a:t>
            </a:r>
          </a:p>
        </p:txBody>
      </p:sp>
      <p:sp>
        <p:nvSpPr>
          <p:cNvPr id="96" name="Rectangle 95"/>
          <p:cNvSpPr/>
          <p:nvPr/>
        </p:nvSpPr>
        <p:spPr>
          <a:xfrm>
            <a:off x="9244584" y="4352544"/>
            <a:ext cx="960120" cy="182880"/>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9244584" y="4361688"/>
            <a:ext cx="960120" cy="164592"/>
          </a:xfrm>
          <a:prstGeom prst="rect">
            <a:avLst/>
          </a:prstGeom>
          <a:noFill/>
        </p:spPr>
        <p:txBody>
          <a:bodyPr wrap="square">
            <a:spAutoFit/>
          </a:bodyPr>
          <a:lstStyle/>
          <a:p>
            <a:pPr algn="ctr"/>
            <a:r>
              <a:rPr sz="650" b="1" i="0">
                <a:solidFill>
                  <a:srgbClr val="0A0D1A"/>
                </a:solidFill>
                <a:latin typeface="Calibri"/>
              </a:rPr>
              <a:t>DEMONSTRATED</a:t>
            </a:r>
          </a:p>
        </p:txBody>
      </p:sp>
      <p:sp>
        <p:nvSpPr>
          <p:cNvPr id="98" name="TextBox 97"/>
          <p:cNvSpPr txBox="1"/>
          <p:nvPr/>
        </p:nvSpPr>
        <p:spPr>
          <a:xfrm>
            <a:off x="8430768" y="4572000"/>
            <a:ext cx="1773936" cy="310896"/>
          </a:xfrm>
          <a:prstGeom prst="rect">
            <a:avLst/>
          </a:prstGeom>
          <a:noFill/>
        </p:spPr>
        <p:txBody>
          <a:bodyPr wrap="square">
            <a:spAutoFit/>
          </a:bodyPr>
          <a:lstStyle/>
          <a:p>
            <a:pPr algn="l"/>
            <a:r>
              <a:rPr sz="800" b="0" i="0">
                <a:solidFill>
                  <a:srgbClr val="A0AAB8"/>
                </a:solidFill>
                <a:latin typeface="Calibri"/>
              </a:rPr>
              <a:t>Full server access Customer PII exposed</a:t>
            </a:r>
          </a:p>
        </p:txBody>
      </p:sp>
      <p:sp>
        <p:nvSpPr>
          <p:cNvPr id="99" name="TextBox 98"/>
          <p:cNvSpPr txBox="1"/>
          <p:nvPr/>
        </p:nvSpPr>
        <p:spPr>
          <a:xfrm>
            <a:off x="10332720" y="4434840"/>
            <a:ext cx="777240" cy="329184"/>
          </a:xfrm>
          <a:prstGeom prst="rect">
            <a:avLst/>
          </a:prstGeom>
          <a:noFill/>
        </p:spPr>
        <p:txBody>
          <a:bodyPr wrap="square">
            <a:spAutoFit/>
          </a:bodyPr>
          <a:lstStyle/>
          <a:p>
            <a:pPr algn="l"/>
            <a:r>
              <a:rPr sz="650" b="0" i="1">
                <a:solidFill>
                  <a:srgbClr val="BD93F9"/>
                </a:solidFill>
                <a:latin typeface="Calibri"/>
              </a:rPr>
              <a:t>↗ supported_by ASG Evidence</a:t>
            </a:r>
          </a:p>
        </p:txBody>
      </p:sp>
      <p:sp>
        <p:nvSpPr>
          <p:cNvPr id="100" name="TextBox 99"/>
          <p:cNvSpPr txBox="1"/>
          <p:nvPr/>
        </p:nvSpPr>
        <p:spPr>
          <a:xfrm>
            <a:off x="6894576" y="1810512"/>
            <a:ext cx="4846320" cy="182880"/>
          </a:xfrm>
          <a:prstGeom prst="rect">
            <a:avLst/>
          </a:prstGeom>
          <a:noFill/>
        </p:spPr>
        <p:txBody>
          <a:bodyPr wrap="square">
            <a:spAutoFit/>
          </a:bodyPr>
          <a:lstStyle/>
          <a:p>
            <a:pPr algn="l"/>
            <a:r>
              <a:rPr sz="750" b="0" i="1">
                <a:solidFill>
                  <a:srgbClr val="A0AAB8"/>
                </a:solidFill>
                <a:latin typeface="Calibri"/>
              </a:rPr>
              <a:t>starts_at: ASG Vulnerability node</a:t>
            </a:r>
          </a:p>
        </p:txBody>
      </p:sp>
      <p:sp>
        <p:nvSpPr>
          <p:cNvPr id="101" name="Rectangle 100"/>
          <p:cNvSpPr/>
          <p:nvPr/>
        </p:nvSpPr>
        <p:spPr>
          <a:xfrm>
            <a:off x="6711696" y="5230368"/>
            <a:ext cx="5285232" cy="566928"/>
          </a:xfrm>
          <a:prstGeom prst="rect">
            <a:avLst/>
          </a:prstGeom>
          <a:solidFill>
            <a:srgbClr val="1C1002"/>
          </a:solidFill>
          <a:ln w="762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6784848" y="5285232"/>
            <a:ext cx="5120640" cy="457200"/>
          </a:xfrm>
          <a:prstGeom prst="rect">
            <a:avLst/>
          </a:prstGeom>
          <a:noFill/>
        </p:spPr>
        <p:txBody>
          <a:bodyPr wrap="square">
            <a:spAutoFit/>
          </a:bodyPr>
          <a:lstStyle/>
          <a:p>
            <a:pPr algn="l"/>
            <a:r>
              <a:rPr sz="750" b="0" i="1">
                <a:solidFill>
                  <a:srgbClr val="A0AAB8"/>
                </a:solidFill>
                <a:latin typeface="Calibri"/>
              </a:rPr>
              <a:t>EDGES:  starts_at  ·  next_step  ·  achieves  ·  supported_by
VALIDATION STATUS:  HYPOTHESIZED → PARTIALLY_VALIDATED → VALIDATED / RULED_OUT</a:t>
            </a:r>
          </a:p>
        </p:txBody>
      </p:sp>
      <p:sp>
        <p:nvSpPr>
          <p:cNvPr id="103" name="Rectangle 102"/>
          <p:cNvSpPr/>
          <p:nvPr/>
        </p:nvSpPr>
        <p:spPr>
          <a:xfrm>
            <a:off x="164592" y="5870448"/>
            <a:ext cx="11862511" cy="658368"/>
          </a:xfrm>
          <a:prstGeom prst="rect">
            <a:avLst/>
          </a:prstGeom>
          <a:solidFill>
            <a:srgbClr val="061422"/>
          </a:solidFill>
          <a:ln w="1905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457200" y="5943600"/>
            <a:ext cx="11368735" cy="530352"/>
          </a:xfrm>
          <a:prstGeom prst="rect">
            <a:avLst/>
          </a:prstGeom>
          <a:noFill/>
        </p:spPr>
        <p:txBody>
          <a:bodyPr wrap="square">
            <a:spAutoFit/>
          </a:bodyPr>
          <a:lstStyle/>
          <a:p>
            <a:pPr algn="l"/>
            <a:r>
              <a:rPr sz="1050" b="0" i="1">
                <a:solidFill>
                  <a:srgbClr val="00E5FF"/>
                </a:solidFill>
                <a:latin typeface="Calibri"/>
              </a:rPr>
              <a:t>Separation Principle:  Discovery agents write only to the ASG — they never reason about chains.  The Commander writes only to the APG — it never runs tools.  No agent conflates discovered facts with hypothesised attack reasoning.  Graph (not RAG): typed edges express that CVE-X ‘affected_by’ Service-Y — a relationship that vector similarity cannot represent.</a:t>
            </a:r>
          </a:p>
        </p:txBody>
      </p:sp>
      <p:sp>
        <p:nvSpPr>
          <p:cNvPr id="105" name="TextBox 104"/>
          <p:cNvSpPr txBox="1"/>
          <p:nvPr/>
        </p:nvSpPr>
        <p:spPr>
          <a:xfrm>
            <a:off x="11780215" y="6355080"/>
            <a:ext cx="384048" cy="411480"/>
          </a:xfrm>
          <a:prstGeom prst="rect">
            <a:avLst/>
          </a:prstGeom>
          <a:noFill/>
        </p:spPr>
        <p:txBody>
          <a:bodyPr wrap="square">
            <a:spAutoFit/>
          </a:bodyPr>
          <a:lstStyle/>
          <a:p>
            <a:pPr algn="r"/>
            <a:r>
              <a:rPr sz="1300" b="1" i="0">
                <a:solidFill>
                  <a:srgbClr val="39FF14"/>
                </a:solidFill>
                <a:latin typeface="Calibri"/>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5486400" cy="237744"/>
          </a:xfrm>
          <a:prstGeom prst="rect">
            <a:avLst/>
          </a:prstGeom>
          <a:noFill/>
        </p:spPr>
        <p:txBody>
          <a:bodyPr wrap="square">
            <a:spAutoFit/>
          </a:bodyPr>
          <a:lstStyle/>
          <a:p>
            <a:pPr algn="l"/>
            <a:r>
              <a:rPr sz="1000" b="1" i="0">
                <a:solidFill>
                  <a:srgbClr val="BD93F9"/>
                </a:solidFill>
                <a:latin typeface="Calibri"/>
              </a:rPr>
              <a:t>AGENT ARCHITECTURE</a:t>
            </a:r>
          </a:p>
        </p:txBody>
      </p:sp>
      <p:sp>
        <p:nvSpPr>
          <p:cNvPr id="6" name="TextBox 5"/>
          <p:cNvSpPr txBox="1"/>
          <p:nvPr/>
        </p:nvSpPr>
        <p:spPr>
          <a:xfrm>
            <a:off x="274320" y="292608"/>
            <a:ext cx="10058400" cy="438912"/>
          </a:xfrm>
          <a:prstGeom prst="rect">
            <a:avLst/>
          </a:prstGeom>
          <a:noFill/>
        </p:spPr>
        <p:txBody>
          <a:bodyPr wrap="square">
            <a:spAutoFit/>
          </a:bodyPr>
          <a:lstStyle/>
          <a:p>
            <a:pPr algn="l"/>
            <a:r>
              <a:rPr sz="2400" b="1" i="0">
                <a:solidFill>
                  <a:srgbClr val="FFFFFF"/>
                </a:solidFill>
                <a:latin typeface="Calibri"/>
              </a:rPr>
              <a:t>Context-Isolated Agents — Spawn · Execute · Return · Discard</a:t>
            </a:r>
          </a:p>
        </p:txBody>
      </p:sp>
      <p:sp>
        <p:nvSpPr>
          <p:cNvPr id="7" name="Rectangle 6"/>
          <p:cNvSpPr/>
          <p:nvPr/>
        </p:nvSpPr>
        <p:spPr>
          <a:xfrm>
            <a:off x="164592" y="804672"/>
            <a:ext cx="4434840" cy="5797296"/>
          </a:xfrm>
          <a:prstGeom prst="rect">
            <a:avLst/>
          </a:prstGeom>
          <a:solidFill>
            <a:srgbClr val="080C20"/>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592" y="859536"/>
            <a:ext cx="4434840" cy="201168"/>
          </a:xfrm>
          <a:prstGeom prst="rect">
            <a:avLst/>
          </a:prstGeom>
          <a:noFill/>
        </p:spPr>
        <p:txBody>
          <a:bodyPr wrap="square">
            <a:spAutoFit/>
          </a:bodyPr>
          <a:lstStyle/>
          <a:p>
            <a:pPr algn="ctr"/>
            <a:r>
              <a:rPr sz="900" b="1" i="0">
                <a:solidFill>
                  <a:srgbClr val="BD93F9"/>
                </a:solidFill>
                <a:latin typeface="Calibri"/>
              </a:rPr>
              <a:t>CONTEXT ISOLATION MODEL</a:t>
            </a:r>
          </a:p>
        </p:txBody>
      </p:sp>
      <p:sp>
        <p:nvSpPr>
          <p:cNvPr id="9" name="Rectangle 8"/>
          <p:cNvSpPr/>
          <p:nvPr/>
        </p:nvSpPr>
        <p:spPr>
          <a:xfrm>
            <a:off x="987552" y="1152144"/>
            <a:ext cx="2743200" cy="502920"/>
          </a:xfrm>
          <a:prstGeom prst="rect">
            <a:avLst/>
          </a:prstGeom>
          <a:solidFill>
            <a:srgbClr val="041832"/>
          </a:solidFill>
          <a:ln w="2286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87552" y="1152144"/>
            <a:ext cx="2743200" cy="18288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 y="1170432"/>
            <a:ext cx="2743200" cy="164592"/>
          </a:xfrm>
          <a:prstGeom prst="rect">
            <a:avLst/>
          </a:prstGeom>
          <a:noFill/>
        </p:spPr>
        <p:txBody>
          <a:bodyPr wrap="square">
            <a:spAutoFit/>
          </a:bodyPr>
          <a:lstStyle/>
          <a:p>
            <a:pPr algn="ctr"/>
            <a:r>
              <a:rPr sz="800" b="1" i="0">
                <a:solidFill>
                  <a:srgbClr val="0A0D1A"/>
                </a:solidFill>
                <a:latin typeface="Calibri"/>
              </a:rPr>
              <a:t>COMMANDER AGENT</a:t>
            </a:r>
          </a:p>
        </p:txBody>
      </p:sp>
      <p:sp>
        <p:nvSpPr>
          <p:cNvPr id="12" name="TextBox 11"/>
          <p:cNvSpPr txBox="1"/>
          <p:nvPr/>
        </p:nvSpPr>
        <p:spPr>
          <a:xfrm>
            <a:off x="987552" y="1353312"/>
            <a:ext cx="2743200" cy="237744"/>
          </a:xfrm>
          <a:prstGeom prst="rect">
            <a:avLst/>
          </a:prstGeom>
          <a:noFill/>
        </p:spPr>
        <p:txBody>
          <a:bodyPr wrap="square">
            <a:spAutoFit/>
          </a:bodyPr>
          <a:lstStyle/>
          <a:p>
            <a:pPr algn="ctr"/>
            <a:r>
              <a:rPr sz="800" b="0" i="1">
                <a:solidFill>
                  <a:srgbClr val="A0AAB8"/>
                </a:solidFill>
                <a:latin typeface="Calibri"/>
              </a:rPr>
              <a:t>Reads ASG + APG → decides next action</a:t>
            </a:r>
          </a:p>
        </p:txBody>
      </p:sp>
      <p:cxnSp>
        <p:nvCxnSpPr>
          <p:cNvPr id="13" name="Connector 12"/>
          <p:cNvCxnSpPr/>
          <p:nvPr/>
        </p:nvCxnSpPr>
        <p:spPr>
          <a:xfrm>
            <a:off x="2382012.0" y="1655064"/>
            <a:ext cx="0.0" cy="228600"/>
          </a:xfrm>
          <a:prstGeom prst="line">
            <a:avLst/>
          </a:prstGeom>
          <a:ln w="19050">
            <a:solidFill>
              <a:srgbClr val="BD93F9"/>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2455164" y="1673352"/>
            <a:ext cx="1645920" cy="201168"/>
          </a:xfrm>
          <a:prstGeom prst="rect">
            <a:avLst/>
          </a:prstGeom>
          <a:noFill/>
        </p:spPr>
        <p:txBody>
          <a:bodyPr wrap="square">
            <a:spAutoFit/>
          </a:bodyPr>
          <a:lstStyle/>
          <a:p>
            <a:pPr algn="l"/>
            <a:r>
              <a:rPr sz="750" b="0" i="1">
                <a:solidFill>
                  <a:srgbClr val="BD93F9"/>
                </a:solidFill>
                <a:latin typeface="Calibri"/>
              </a:rPr>
              <a:t>spawn with scoped context</a:t>
            </a:r>
          </a:p>
        </p:txBody>
      </p:sp>
      <p:sp>
        <p:nvSpPr>
          <p:cNvPr id="15" name="Rectangle 14"/>
          <p:cNvSpPr/>
          <p:nvPr/>
        </p:nvSpPr>
        <p:spPr>
          <a:xfrm>
            <a:off x="365760" y="1947672"/>
            <a:ext cx="4032504" cy="3200400"/>
          </a:xfrm>
          <a:prstGeom prst="rect">
            <a:avLst/>
          </a:prstGeom>
          <a:solidFill>
            <a:srgbClr val="0A1028"/>
          </a:solidFill>
          <a:ln w="1270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1947672"/>
            <a:ext cx="4032504" cy="219456"/>
          </a:xfrm>
          <a:prstGeom prst="rect">
            <a:avLst/>
          </a:prstGeom>
          <a:solidFill>
            <a:srgbClr val="2010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1984248"/>
            <a:ext cx="4032504" cy="164592"/>
          </a:xfrm>
          <a:prstGeom prst="rect">
            <a:avLst/>
          </a:prstGeom>
          <a:noFill/>
        </p:spPr>
        <p:txBody>
          <a:bodyPr wrap="square">
            <a:spAutoFit/>
          </a:bodyPr>
          <a:lstStyle/>
          <a:p>
            <a:pPr algn="ctr"/>
            <a:r>
              <a:rPr sz="750" b="1" i="0">
                <a:solidFill>
                  <a:srgbClr val="BD93F9"/>
                </a:solidFill>
                <a:latin typeface="Calibri"/>
              </a:rPr>
              <a:t>ISOLATED AGENT CONTEXT  (fresh per task)</a:t>
            </a:r>
          </a:p>
        </p:txBody>
      </p:sp>
      <p:sp>
        <p:nvSpPr>
          <p:cNvPr id="18" name="Rectangle 17"/>
          <p:cNvSpPr/>
          <p:nvPr/>
        </p:nvSpPr>
        <p:spPr>
          <a:xfrm>
            <a:off x="457200" y="2221992"/>
            <a:ext cx="3849624" cy="665226"/>
          </a:xfrm>
          <a:prstGeom prst="rect">
            <a:avLst/>
          </a:prstGeom>
          <a:solidFill>
            <a:srgbClr val="04160A"/>
          </a:solidFill>
          <a:ln w="1016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0352" y="2258568"/>
            <a:ext cx="1005840" cy="592074"/>
          </a:xfrm>
          <a:prstGeom prst="rect">
            <a:avLst/>
          </a:prstGeom>
          <a:noFill/>
        </p:spPr>
        <p:txBody>
          <a:bodyPr wrap="square">
            <a:spAutoFit/>
          </a:bodyPr>
          <a:lstStyle/>
          <a:p>
            <a:pPr algn="l"/>
            <a:r>
              <a:rPr sz="800" b="1" i="0">
                <a:solidFill>
                  <a:srgbClr val="39FF14"/>
                </a:solidFill>
                <a:latin typeface="Calibri"/>
              </a:rPr>
              <a:t>ASG SLICE</a:t>
            </a:r>
          </a:p>
        </p:txBody>
      </p:sp>
      <p:sp>
        <p:nvSpPr>
          <p:cNvPr id="20" name="TextBox 19"/>
          <p:cNvSpPr txBox="1"/>
          <p:nvPr/>
        </p:nvSpPr>
        <p:spPr>
          <a:xfrm>
            <a:off x="1572768" y="2258568"/>
            <a:ext cx="2660904" cy="592074"/>
          </a:xfrm>
          <a:prstGeom prst="rect">
            <a:avLst/>
          </a:prstGeom>
          <a:noFill/>
        </p:spPr>
        <p:txBody>
          <a:bodyPr wrap="square">
            <a:spAutoFit/>
          </a:bodyPr>
          <a:lstStyle/>
          <a:p>
            <a:pPr algn="l"/>
            <a:r>
              <a:rPr sz="800" b="0" i="1">
                <a:solidFill>
                  <a:srgbClr val="A0AAB8"/>
                </a:solidFill>
                <a:latin typeface="Calibri"/>
              </a:rPr>
              <a:t>Only nodes relevant to this task</a:t>
            </a:r>
          </a:p>
        </p:txBody>
      </p:sp>
      <p:sp>
        <p:nvSpPr>
          <p:cNvPr id="21" name="Rectangle 20"/>
          <p:cNvSpPr/>
          <p:nvPr/>
        </p:nvSpPr>
        <p:spPr>
          <a:xfrm>
            <a:off x="457200" y="2942082"/>
            <a:ext cx="3849624" cy="665226"/>
          </a:xfrm>
          <a:prstGeom prst="rect">
            <a:avLst/>
          </a:prstGeom>
          <a:solidFill>
            <a:srgbClr val="1A1002"/>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352" y="2978658"/>
            <a:ext cx="1005840" cy="592074"/>
          </a:xfrm>
          <a:prstGeom prst="rect">
            <a:avLst/>
          </a:prstGeom>
          <a:noFill/>
        </p:spPr>
        <p:txBody>
          <a:bodyPr wrap="square">
            <a:spAutoFit/>
          </a:bodyPr>
          <a:lstStyle/>
          <a:p>
            <a:pPr algn="l"/>
            <a:r>
              <a:rPr sz="800" b="1" i="0">
                <a:solidFill>
                  <a:srgbClr val="FFD700"/>
                </a:solidFill>
                <a:latin typeface="Calibri"/>
              </a:rPr>
              <a:t>APG SLICE</a:t>
            </a:r>
          </a:p>
        </p:txBody>
      </p:sp>
      <p:sp>
        <p:nvSpPr>
          <p:cNvPr id="23" name="TextBox 22"/>
          <p:cNvSpPr txBox="1"/>
          <p:nvPr/>
        </p:nvSpPr>
        <p:spPr>
          <a:xfrm>
            <a:off x="1572768" y="2978658"/>
            <a:ext cx="2660904" cy="592074"/>
          </a:xfrm>
          <a:prstGeom prst="rect">
            <a:avLst/>
          </a:prstGeom>
          <a:noFill/>
        </p:spPr>
        <p:txBody>
          <a:bodyPr wrap="square">
            <a:spAutoFit/>
          </a:bodyPr>
          <a:lstStyle/>
          <a:p>
            <a:pPr algn="l"/>
            <a:r>
              <a:rPr sz="800" b="0" i="1">
                <a:solidFill>
                  <a:srgbClr val="A0AAB8"/>
                </a:solidFill>
                <a:latin typeface="Calibri"/>
              </a:rPr>
              <a:t>Relevant AttackChains (if any)</a:t>
            </a:r>
          </a:p>
        </p:txBody>
      </p:sp>
      <p:sp>
        <p:nvSpPr>
          <p:cNvPr id="24" name="Rectangle 23"/>
          <p:cNvSpPr/>
          <p:nvPr/>
        </p:nvSpPr>
        <p:spPr>
          <a:xfrm>
            <a:off x="457200" y="3662172"/>
            <a:ext cx="3849624" cy="665226"/>
          </a:xfrm>
          <a:prstGeom prst="rect">
            <a:avLst/>
          </a:prstGeom>
          <a:solidFill>
            <a:srgbClr val="180606"/>
          </a:solidFill>
          <a:ln w="1016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0352" y="3698748"/>
            <a:ext cx="1005840" cy="592074"/>
          </a:xfrm>
          <a:prstGeom prst="rect">
            <a:avLst/>
          </a:prstGeom>
          <a:noFill/>
        </p:spPr>
        <p:txBody>
          <a:bodyPr wrap="square">
            <a:spAutoFit/>
          </a:bodyPr>
          <a:lstStyle/>
          <a:p>
            <a:pPr algn="l"/>
            <a:r>
              <a:rPr sz="800" b="1" i="0">
                <a:solidFill>
                  <a:srgbClr val="FF4545"/>
                </a:solidFill>
                <a:latin typeface="Calibri"/>
              </a:rPr>
              <a:t>TOOL SET</a:t>
            </a:r>
          </a:p>
        </p:txBody>
      </p:sp>
      <p:sp>
        <p:nvSpPr>
          <p:cNvPr id="26" name="TextBox 25"/>
          <p:cNvSpPr txBox="1"/>
          <p:nvPr/>
        </p:nvSpPr>
        <p:spPr>
          <a:xfrm>
            <a:off x="1572768" y="3698748"/>
            <a:ext cx="2660904" cy="592074"/>
          </a:xfrm>
          <a:prstGeom prst="rect">
            <a:avLst/>
          </a:prstGeom>
          <a:noFill/>
        </p:spPr>
        <p:txBody>
          <a:bodyPr wrap="square">
            <a:spAutoFit/>
          </a:bodyPr>
          <a:lstStyle/>
          <a:p>
            <a:pPr algn="l"/>
            <a:r>
              <a:rPr sz="800" b="0" i="1">
                <a:solidFill>
                  <a:srgbClr val="A0AAB8"/>
                </a:solidFill>
                <a:latin typeface="Calibri"/>
              </a:rPr>
              <a:t>Authorized tools only — no others</a:t>
            </a:r>
          </a:p>
        </p:txBody>
      </p:sp>
      <p:sp>
        <p:nvSpPr>
          <p:cNvPr id="27" name="Rectangle 26"/>
          <p:cNvSpPr/>
          <p:nvPr/>
        </p:nvSpPr>
        <p:spPr>
          <a:xfrm>
            <a:off x="457200" y="4382262"/>
            <a:ext cx="3849624" cy="665226"/>
          </a:xfrm>
          <a:prstGeom prst="rect">
            <a:avLst/>
          </a:prstGeom>
          <a:solidFill>
            <a:srgbClr val="041420"/>
          </a:solidFill>
          <a:ln w="1016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0352" y="4418838"/>
            <a:ext cx="1005840" cy="592074"/>
          </a:xfrm>
          <a:prstGeom prst="rect">
            <a:avLst/>
          </a:prstGeom>
          <a:noFill/>
        </p:spPr>
        <p:txBody>
          <a:bodyPr wrap="square">
            <a:spAutoFit/>
          </a:bodyPr>
          <a:lstStyle/>
          <a:p>
            <a:pPr algn="l"/>
            <a:r>
              <a:rPr sz="800" b="1" i="0">
                <a:solidFill>
                  <a:srgbClr val="00E5FF"/>
                </a:solidFill>
                <a:latin typeface="Calibri"/>
              </a:rPr>
              <a:t>TASK SPEC</a:t>
            </a:r>
          </a:p>
        </p:txBody>
      </p:sp>
      <p:sp>
        <p:nvSpPr>
          <p:cNvPr id="29" name="TextBox 28"/>
          <p:cNvSpPr txBox="1"/>
          <p:nvPr/>
        </p:nvSpPr>
        <p:spPr>
          <a:xfrm>
            <a:off x="1572768" y="4418838"/>
            <a:ext cx="2660904" cy="592074"/>
          </a:xfrm>
          <a:prstGeom prst="rect">
            <a:avLst/>
          </a:prstGeom>
          <a:noFill/>
        </p:spPr>
        <p:txBody>
          <a:bodyPr wrap="square">
            <a:spAutoFit/>
          </a:bodyPr>
          <a:lstStyle/>
          <a:p>
            <a:pPr algn="l"/>
            <a:r>
              <a:rPr sz="800" b="0" i="1">
                <a:solidFill>
                  <a:srgbClr val="A0AAB8"/>
                </a:solidFill>
                <a:latin typeface="Calibri"/>
              </a:rPr>
              <a:t>Commander's current plan item</a:t>
            </a:r>
          </a:p>
        </p:txBody>
      </p:sp>
      <p:cxnSp>
        <p:nvCxnSpPr>
          <p:cNvPr id="30" name="Connector 29"/>
          <p:cNvCxnSpPr/>
          <p:nvPr/>
        </p:nvCxnSpPr>
        <p:spPr>
          <a:xfrm>
            <a:off x="2382012.0" y="5148072"/>
            <a:ext cx="0.0" cy="292608"/>
          </a:xfrm>
          <a:prstGeom prst="line">
            <a:avLst/>
          </a:prstGeom>
          <a:ln w="1905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365760" y="5495544"/>
            <a:ext cx="4032504" cy="512064"/>
          </a:xfrm>
          <a:prstGeom prst="rect">
            <a:avLst/>
          </a:prstGeom>
          <a:solidFill>
            <a:srgbClr val="041E0C"/>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5550408"/>
            <a:ext cx="4032504" cy="201168"/>
          </a:xfrm>
          <a:prstGeom prst="rect">
            <a:avLst/>
          </a:prstGeom>
          <a:noFill/>
        </p:spPr>
        <p:txBody>
          <a:bodyPr wrap="square">
            <a:spAutoFit/>
          </a:bodyPr>
          <a:lstStyle/>
          <a:p>
            <a:pPr algn="ctr"/>
            <a:r>
              <a:rPr sz="800" b="1" i="0">
                <a:solidFill>
                  <a:srgbClr val="39FF14"/>
                </a:solidFill>
                <a:latin typeface="Calibri"/>
              </a:rPr>
              <a:t>RETURNS: Structured ASG Delta (new nodes + edges only)</a:t>
            </a:r>
          </a:p>
        </p:txBody>
      </p:sp>
      <p:sp>
        <p:nvSpPr>
          <p:cNvPr id="33" name="TextBox 32"/>
          <p:cNvSpPr txBox="1"/>
          <p:nvPr/>
        </p:nvSpPr>
        <p:spPr>
          <a:xfrm>
            <a:off x="365760" y="5769864"/>
            <a:ext cx="4032504" cy="201168"/>
          </a:xfrm>
          <a:prstGeom prst="rect">
            <a:avLst/>
          </a:prstGeom>
          <a:noFill/>
        </p:spPr>
        <p:txBody>
          <a:bodyPr wrap="square">
            <a:spAutoFit/>
          </a:bodyPr>
          <a:lstStyle/>
          <a:p>
            <a:pPr algn="ctr"/>
            <a:r>
              <a:rPr sz="750" b="0" i="1">
                <a:solidFill>
                  <a:srgbClr val="A0AAB8"/>
                </a:solidFill>
                <a:latin typeface="Calibri"/>
              </a:rPr>
              <a:t>Working context discarded — no raw history passes to Commander</a:t>
            </a:r>
          </a:p>
        </p:txBody>
      </p:sp>
      <p:sp>
        <p:nvSpPr>
          <p:cNvPr id="34" name="Rectangle 33"/>
          <p:cNvSpPr/>
          <p:nvPr/>
        </p:nvSpPr>
        <p:spPr>
          <a:xfrm>
            <a:off x="365760" y="6099048"/>
            <a:ext cx="4032504" cy="219456"/>
          </a:xfrm>
          <a:prstGeom prst="rect">
            <a:avLst/>
          </a:prstGeom>
          <a:solidFill>
            <a:srgbClr val="0C1022"/>
          </a:solidFill>
          <a:ln w="762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 y="6126480"/>
            <a:ext cx="3895344" cy="182880"/>
          </a:xfrm>
          <a:prstGeom prst="rect">
            <a:avLst/>
          </a:prstGeom>
          <a:noFill/>
        </p:spPr>
        <p:txBody>
          <a:bodyPr wrap="square">
            <a:spAutoFit/>
          </a:bodyPr>
          <a:lstStyle/>
          <a:p>
            <a:pPr algn="l"/>
            <a:r>
              <a:rPr sz="800" b="0" i="0">
                <a:solidFill>
                  <a:srgbClr val="00E5FF"/>
                </a:solidFill>
                <a:latin typeface="Calibri"/>
              </a:rPr>
              <a:t>✓  Commander context stays clean</a:t>
            </a:r>
          </a:p>
        </p:txBody>
      </p:sp>
      <p:sp>
        <p:nvSpPr>
          <p:cNvPr id="36" name="Rectangle 35"/>
          <p:cNvSpPr/>
          <p:nvPr/>
        </p:nvSpPr>
        <p:spPr>
          <a:xfrm>
            <a:off x="365760" y="6345936"/>
            <a:ext cx="4032504" cy="219456"/>
          </a:xfrm>
          <a:prstGeom prst="rect">
            <a:avLst/>
          </a:prstGeom>
          <a:solidFill>
            <a:srgbClr val="0C1022"/>
          </a:solidFill>
          <a:ln w="762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 y="6373368"/>
            <a:ext cx="3895344" cy="182880"/>
          </a:xfrm>
          <a:prstGeom prst="rect">
            <a:avLst/>
          </a:prstGeom>
          <a:noFill/>
        </p:spPr>
        <p:txBody>
          <a:bodyPr wrap="square">
            <a:spAutoFit/>
          </a:bodyPr>
          <a:lstStyle/>
          <a:p>
            <a:pPr algn="l"/>
            <a:r>
              <a:rPr sz="800" b="0" i="0">
                <a:solidFill>
                  <a:srgbClr val="BD93F9"/>
                </a:solidFill>
                <a:latin typeface="Calibri"/>
              </a:rPr>
              <a:t>✓  Agents can't contaminate each other</a:t>
            </a:r>
          </a:p>
        </p:txBody>
      </p:sp>
      <p:sp>
        <p:nvSpPr>
          <p:cNvPr id="38" name="Rectangle 37"/>
          <p:cNvSpPr/>
          <p:nvPr/>
        </p:nvSpPr>
        <p:spPr>
          <a:xfrm>
            <a:off x="365760" y="6592824"/>
            <a:ext cx="4032504" cy="219456"/>
          </a:xfrm>
          <a:prstGeom prst="rect">
            <a:avLst/>
          </a:prstGeom>
          <a:solidFill>
            <a:srgbClr val="0C1022"/>
          </a:solidFill>
          <a:ln w="762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6620256"/>
            <a:ext cx="3895344" cy="182880"/>
          </a:xfrm>
          <a:prstGeom prst="rect">
            <a:avLst/>
          </a:prstGeom>
          <a:noFill/>
        </p:spPr>
        <p:txBody>
          <a:bodyPr wrap="square">
            <a:spAutoFit/>
          </a:bodyPr>
          <a:lstStyle/>
          <a:p>
            <a:pPr algn="l"/>
            <a:r>
              <a:rPr sz="800" b="0" i="0">
                <a:solidFill>
                  <a:srgbClr val="FF4545"/>
                </a:solidFill>
                <a:latin typeface="Calibri"/>
              </a:rPr>
              <a:t>✓  High-risk refusals don't bias planning</a:t>
            </a:r>
          </a:p>
        </p:txBody>
      </p:sp>
      <p:sp>
        <p:nvSpPr>
          <p:cNvPr id="40" name="Rectangle 39"/>
          <p:cNvSpPr/>
          <p:nvPr/>
        </p:nvSpPr>
        <p:spPr>
          <a:xfrm>
            <a:off x="4773168" y="822960"/>
            <a:ext cx="3572103" cy="1895856"/>
          </a:xfrm>
          <a:prstGeom prst="rect">
            <a:avLst/>
          </a:prstGeom>
          <a:solidFill>
            <a:srgbClr val="10162B"/>
          </a:solidFill>
          <a:ln w="177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339431" y="822960"/>
            <a:ext cx="1005840" cy="2194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39431" y="850392"/>
            <a:ext cx="1005840" cy="182880"/>
          </a:xfrm>
          <a:prstGeom prst="rect">
            <a:avLst/>
          </a:prstGeom>
          <a:noFill/>
        </p:spPr>
        <p:txBody>
          <a:bodyPr wrap="square">
            <a:spAutoFit/>
          </a:bodyPr>
          <a:lstStyle/>
          <a:p>
            <a:pPr algn="ctr"/>
            <a:r>
              <a:rPr sz="750" b="1" i="0">
                <a:solidFill>
                  <a:srgbClr val="0A0D1A"/>
                </a:solidFill>
                <a:latin typeface="Calibri"/>
              </a:rPr>
              <a:t>ORCHESTRATION</a:t>
            </a:r>
          </a:p>
        </p:txBody>
      </p:sp>
      <p:sp>
        <p:nvSpPr>
          <p:cNvPr id="43" name="TextBox 42"/>
          <p:cNvSpPr txBox="1"/>
          <p:nvPr/>
        </p:nvSpPr>
        <p:spPr>
          <a:xfrm>
            <a:off x="4864608" y="859536"/>
            <a:ext cx="2429103" cy="237744"/>
          </a:xfrm>
          <a:prstGeom prst="rect">
            <a:avLst/>
          </a:prstGeom>
          <a:noFill/>
        </p:spPr>
        <p:txBody>
          <a:bodyPr wrap="square">
            <a:spAutoFit/>
          </a:bodyPr>
          <a:lstStyle/>
          <a:p>
            <a:pPr algn="l"/>
            <a:r>
              <a:rPr sz="1200" b="1" i="0">
                <a:solidFill>
                  <a:srgbClr val="00E5FF"/>
                </a:solidFill>
                <a:latin typeface="Calibri"/>
              </a:rPr>
              <a:t>👑 Commander</a:t>
            </a:r>
          </a:p>
        </p:txBody>
      </p:sp>
      <p:sp>
        <p:nvSpPr>
          <p:cNvPr id="44" name="Rectangle 43"/>
          <p:cNvSpPr/>
          <p:nvPr/>
        </p:nvSpPr>
        <p:spPr>
          <a:xfrm>
            <a:off x="4864608" y="1133856"/>
            <a:ext cx="3389223" cy="18288"/>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64608" y="1170432"/>
            <a:ext cx="3407511" cy="219456"/>
          </a:xfrm>
          <a:prstGeom prst="rect">
            <a:avLst/>
          </a:prstGeom>
          <a:noFill/>
        </p:spPr>
        <p:txBody>
          <a:bodyPr wrap="square">
            <a:spAutoFit/>
          </a:bodyPr>
          <a:lstStyle/>
          <a:p>
            <a:pPr algn="l"/>
            <a:r>
              <a:rPr sz="850" b="0" i="1">
                <a:solidFill>
                  <a:srgbClr val="FFFFFF"/>
                </a:solidFill>
                <a:latin typeface="Calibri"/>
              </a:rPr>
              <a:t>Reads the dual graph. Plans. Delegates. Never runs tools.</a:t>
            </a:r>
          </a:p>
        </p:txBody>
      </p:sp>
      <p:sp>
        <p:nvSpPr>
          <p:cNvPr id="46" name="Rectangle 45"/>
          <p:cNvSpPr/>
          <p:nvPr/>
        </p:nvSpPr>
        <p:spPr>
          <a:xfrm>
            <a:off x="4864608" y="1417320"/>
            <a:ext cx="3389223" cy="219456"/>
          </a:xfrm>
          <a:prstGeom prst="rect">
            <a:avLst/>
          </a:prstGeom>
          <a:solidFill>
            <a:srgbClr val="081022"/>
          </a:solidFill>
          <a:ln w="635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1435608"/>
            <a:ext cx="3297783" cy="182880"/>
          </a:xfrm>
          <a:prstGeom prst="rect">
            <a:avLst/>
          </a:prstGeom>
          <a:noFill/>
        </p:spPr>
        <p:txBody>
          <a:bodyPr wrap="square">
            <a:spAutoFit/>
          </a:bodyPr>
          <a:lstStyle/>
          <a:p>
            <a:pPr algn="l"/>
            <a:r>
              <a:rPr sz="750" b="1" i="0">
                <a:solidFill>
                  <a:srgbClr val="00E5FF"/>
                </a:solidFill>
                <a:latin typeface="Calibri"/>
              </a:rPr>
              <a:t>No tools — reasons over ASG + APG</a:t>
            </a:r>
          </a:p>
        </p:txBody>
      </p:sp>
      <p:sp>
        <p:nvSpPr>
          <p:cNvPr id="48" name="TextBox 47"/>
          <p:cNvSpPr txBox="1"/>
          <p:nvPr/>
        </p:nvSpPr>
        <p:spPr>
          <a:xfrm>
            <a:off x="4864608" y="1673352"/>
            <a:ext cx="3407511" cy="981456"/>
          </a:xfrm>
          <a:prstGeom prst="rect">
            <a:avLst/>
          </a:prstGeom>
          <a:noFill/>
        </p:spPr>
        <p:txBody>
          <a:bodyPr wrap="square">
            <a:spAutoFit/>
          </a:bodyPr>
          <a:lstStyle/>
          <a:p>
            <a:pPr algn="l"/>
            <a:r>
              <a:rPr sz="850" b="0" i="0">
                <a:solidFill>
                  <a:srgbClr val="A0AAB8"/>
                </a:solidFill>
                <a:latin typeface="Calibri"/>
              </a:rPr>
              <a:t>Only agent that writes to APG. Approves High-risk ops via mailbox.</a:t>
            </a:r>
          </a:p>
        </p:txBody>
      </p:sp>
      <p:sp>
        <p:nvSpPr>
          <p:cNvPr id="49" name="Rectangle 48"/>
          <p:cNvSpPr/>
          <p:nvPr/>
        </p:nvSpPr>
        <p:spPr>
          <a:xfrm>
            <a:off x="8454999" y="822960"/>
            <a:ext cx="3572103" cy="1895856"/>
          </a:xfrm>
          <a:prstGeom prst="rect">
            <a:avLst/>
          </a:prstGeom>
          <a:solidFill>
            <a:srgbClr val="10162B"/>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1021263" y="822960"/>
            <a:ext cx="1005840" cy="21945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1021263" y="850392"/>
            <a:ext cx="1005840" cy="182880"/>
          </a:xfrm>
          <a:prstGeom prst="rect">
            <a:avLst/>
          </a:prstGeom>
          <a:noFill/>
        </p:spPr>
        <p:txBody>
          <a:bodyPr wrap="square">
            <a:spAutoFit/>
          </a:bodyPr>
          <a:lstStyle/>
          <a:p>
            <a:pPr algn="ctr"/>
            <a:r>
              <a:rPr sz="750" b="1" i="0">
                <a:solidFill>
                  <a:srgbClr val="0A0D1A"/>
                </a:solidFill>
                <a:latin typeface="Calibri"/>
              </a:rPr>
              <a:t>PHASE 1</a:t>
            </a:r>
          </a:p>
        </p:txBody>
      </p:sp>
      <p:sp>
        <p:nvSpPr>
          <p:cNvPr id="52" name="TextBox 51"/>
          <p:cNvSpPr txBox="1"/>
          <p:nvPr/>
        </p:nvSpPr>
        <p:spPr>
          <a:xfrm>
            <a:off x="8546439" y="859536"/>
            <a:ext cx="2429103" cy="237744"/>
          </a:xfrm>
          <a:prstGeom prst="rect">
            <a:avLst/>
          </a:prstGeom>
          <a:noFill/>
        </p:spPr>
        <p:txBody>
          <a:bodyPr wrap="square">
            <a:spAutoFit/>
          </a:bodyPr>
          <a:lstStyle/>
          <a:p>
            <a:pPr algn="l"/>
            <a:r>
              <a:rPr sz="1200" b="1" i="0">
                <a:solidFill>
                  <a:srgbClr val="39FF14"/>
                </a:solidFill>
                <a:latin typeface="Calibri"/>
              </a:rPr>
              <a:t>🕵️ Recon</a:t>
            </a:r>
          </a:p>
        </p:txBody>
      </p:sp>
      <p:sp>
        <p:nvSpPr>
          <p:cNvPr id="53" name="Rectangle 52"/>
          <p:cNvSpPr/>
          <p:nvPr/>
        </p:nvSpPr>
        <p:spPr>
          <a:xfrm>
            <a:off x="8546439" y="1133856"/>
            <a:ext cx="3389223" cy="1828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546439" y="1170432"/>
            <a:ext cx="3407511" cy="219456"/>
          </a:xfrm>
          <a:prstGeom prst="rect">
            <a:avLst/>
          </a:prstGeom>
          <a:noFill/>
        </p:spPr>
        <p:txBody>
          <a:bodyPr wrap="square">
            <a:spAutoFit/>
          </a:bodyPr>
          <a:lstStyle/>
          <a:p>
            <a:pPr algn="l"/>
            <a:r>
              <a:rPr sz="850" b="0" i="1">
                <a:solidFill>
                  <a:srgbClr val="FFFFFF"/>
                </a:solidFill>
                <a:latin typeface="Calibri"/>
              </a:rPr>
              <a:t>External reconnaissance and host discovery.</a:t>
            </a:r>
          </a:p>
        </p:txBody>
      </p:sp>
      <p:sp>
        <p:nvSpPr>
          <p:cNvPr id="55" name="Rectangle 54"/>
          <p:cNvSpPr/>
          <p:nvPr/>
        </p:nvSpPr>
        <p:spPr>
          <a:xfrm>
            <a:off x="8546439" y="1417320"/>
            <a:ext cx="3389223" cy="219456"/>
          </a:xfrm>
          <a:prstGeom prst="rect">
            <a:avLst/>
          </a:prstGeom>
          <a:solidFill>
            <a:srgbClr val="081022"/>
          </a:solidFill>
          <a:ln w="63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619591" y="1435608"/>
            <a:ext cx="3297783" cy="182880"/>
          </a:xfrm>
          <a:prstGeom prst="rect">
            <a:avLst/>
          </a:prstGeom>
          <a:noFill/>
        </p:spPr>
        <p:txBody>
          <a:bodyPr wrap="square">
            <a:spAutoFit/>
          </a:bodyPr>
          <a:lstStyle/>
          <a:p>
            <a:pPr algn="l"/>
            <a:r>
              <a:rPr sz="750" b="1" i="0">
                <a:solidFill>
                  <a:srgbClr val="39FF14"/>
                </a:solidFill>
                <a:latin typeface="Calibri"/>
              </a:rPr>
              <a:t>Amass  ·  httpx  ·  Nmap</a:t>
            </a:r>
          </a:p>
        </p:txBody>
      </p:sp>
      <p:sp>
        <p:nvSpPr>
          <p:cNvPr id="57" name="TextBox 56"/>
          <p:cNvSpPr txBox="1"/>
          <p:nvPr/>
        </p:nvSpPr>
        <p:spPr>
          <a:xfrm>
            <a:off x="8546439" y="1673352"/>
            <a:ext cx="3407511" cy="981456"/>
          </a:xfrm>
          <a:prstGeom prst="rect">
            <a:avLst/>
          </a:prstGeom>
          <a:noFill/>
        </p:spPr>
        <p:txBody>
          <a:bodyPr wrap="square">
            <a:spAutoFit/>
          </a:bodyPr>
          <a:lstStyle/>
          <a:p>
            <a:pPr algn="l"/>
            <a:r>
              <a:rPr sz="850" b="0" i="0">
                <a:solidFill>
                  <a:srgbClr val="A0AAB8"/>
                </a:solidFill>
                <a:latin typeface="Calibri"/>
              </a:rPr>
              <a:t>Writes Domain, Host, Port, Service nodes to ASG.</a:t>
            </a:r>
          </a:p>
        </p:txBody>
      </p:sp>
      <p:sp>
        <p:nvSpPr>
          <p:cNvPr id="58" name="Rectangle 57"/>
          <p:cNvSpPr/>
          <p:nvPr/>
        </p:nvSpPr>
        <p:spPr>
          <a:xfrm>
            <a:off x="4773168" y="2810256"/>
            <a:ext cx="3572103" cy="1895856"/>
          </a:xfrm>
          <a:prstGeom prst="rect">
            <a:avLst/>
          </a:prstGeom>
          <a:solidFill>
            <a:srgbClr val="10162B"/>
          </a:solidFill>
          <a:ln w="1778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339431" y="2810256"/>
            <a:ext cx="1005840" cy="219456"/>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339431" y="2837688"/>
            <a:ext cx="1005840" cy="182880"/>
          </a:xfrm>
          <a:prstGeom prst="rect">
            <a:avLst/>
          </a:prstGeom>
          <a:noFill/>
        </p:spPr>
        <p:txBody>
          <a:bodyPr wrap="square">
            <a:spAutoFit/>
          </a:bodyPr>
          <a:lstStyle/>
          <a:p>
            <a:pPr algn="ctr"/>
            <a:r>
              <a:rPr sz="750" b="1" i="0">
                <a:solidFill>
                  <a:srgbClr val="0A0D1A"/>
                </a:solidFill>
                <a:latin typeface="Calibri"/>
              </a:rPr>
              <a:t>PHASE 2</a:t>
            </a:r>
          </a:p>
        </p:txBody>
      </p:sp>
      <p:sp>
        <p:nvSpPr>
          <p:cNvPr id="61" name="TextBox 60"/>
          <p:cNvSpPr txBox="1"/>
          <p:nvPr/>
        </p:nvSpPr>
        <p:spPr>
          <a:xfrm>
            <a:off x="4864608" y="2846832"/>
            <a:ext cx="2429103" cy="237744"/>
          </a:xfrm>
          <a:prstGeom prst="rect">
            <a:avLst/>
          </a:prstGeom>
          <a:noFill/>
        </p:spPr>
        <p:txBody>
          <a:bodyPr wrap="square">
            <a:spAutoFit/>
          </a:bodyPr>
          <a:lstStyle/>
          <a:p>
            <a:pPr algn="l"/>
            <a:r>
              <a:rPr sz="1200" b="1" i="0">
                <a:solidFill>
                  <a:srgbClr val="00BFD8"/>
                </a:solidFill>
                <a:latin typeface="Calibri"/>
              </a:rPr>
              <a:t>🔬 Analysis</a:t>
            </a:r>
          </a:p>
        </p:txBody>
      </p:sp>
      <p:sp>
        <p:nvSpPr>
          <p:cNvPr id="62" name="Rectangle 61"/>
          <p:cNvSpPr/>
          <p:nvPr/>
        </p:nvSpPr>
        <p:spPr>
          <a:xfrm>
            <a:off x="4864608" y="3121152"/>
            <a:ext cx="3389223" cy="18288"/>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864608" y="3157728"/>
            <a:ext cx="3407511" cy="219456"/>
          </a:xfrm>
          <a:prstGeom prst="rect">
            <a:avLst/>
          </a:prstGeom>
          <a:noFill/>
        </p:spPr>
        <p:txBody>
          <a:bodyPr wrap="square">
            <a:spAutoFit/>
          </a:bodyPr>
          <a:lstStyle/>
          <a:p>
            <a:pPr algn="l"/>
            <a:r>
              <a:rPr sz="850" b="0" i="1">
                <a:solidFill>
                  <a:srgbClr val="FFFFFF"/>
                </a:solidFill>
                <a:latin typeface="Calibri"/>
              </a:rPr>
              <a:t>Deep enumeration and vulnerability discovery.</a:t>
            </a:r>
          </a:p>
        </p:txBody>
      </p:sp>
      <p:sp>
        <p:nvSpPr>
          <p:cNvPr id="64" name="Rectangle 63"/>
          <p:cNvSpPr/>
          <p:nvPr/>
        </p:nvSpPr>
        <p:spPr>
          <a:xfrm>
            <a:off x="4864608" y="3404616"/>
            <a:ext cx="3389223" cy="219456"/>
          </a:xfrm>
          <a:prstGeom prst="rect">
            <a:avLst/>
          </a:prstGeom>
          <a:solidFill>
            <a:srgbClr val="081022"/>
          </a:solidFill>
          <a:ln w="635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937760" y="3422904"/>
            <a:ext cx="3297783" cy="182880"/>
          </a:xfrm>
          <a:prstGeom prst="rect">
            <a:avLst/>
          </a:prstGeom>
          <a:noFill/>
        </p:spPr>
        <p:txBody>
          <a:bodyPr wrap="square">
            <a:spAutoFit/>
          </a:bodyPr>
          <a:lstStyle/>
          <a:p>
            <a:pPr algn="l"/>
            <a:r>
              <a:rPr sz="750" b="1" i="0">
                <a:solidFill>
                  <a:srgbClr val="00BFD8"/>
                </a:solidFill>
                <a:latin typeface="Calibri"/>
              </a:rPr>
              <a:t>WhatWeb · Gobuster · ffuf · Nuclei · ZAP</a:t>
            </a:r>
          </a:p>
        </p:txBody>
      </p:sp>
      <p:sp>
        <p:nvSpPr>
          <p:cNvPr id="66" name="TextBox 65"/>
          <p:cNvSpPr txBox="1"/>
          <p:nvPr/>
        </p:nvSpPr>
        <p:spPr>
          <a:xfrm>
            <a:off x="4864608" y="3660648"/>
            <a:ext cx="3407511" cy="981456"/>
          </a:xfrm>
          <a:prstGeom prst="rect">
            <a:avLst/>
          </a:prstGeom>
          <a:noFill/>
        </p:spPr>
        <p:txBody>
          <a:bodyPr wrap="square">
            <a:spAutoFit/>
          </a:bodyPr>
          <a:lstStyle/>
          <a:p>
            <a:pPr algn="l"/>
            <a:r>
              <a:rPr sz="850" b="0" i="0">
                <a:solidFill>
                  <a:srgbClr val="A0AAB8"/>
                </a:solidFill>
                <a:latin typeface="Calibri"/>
              </a:rPr>
              <a:t>Writes Technology, Endpoint, Parameter, Vulnerability nodes.</a:t>
            </a:r>
          </a:p>
        </p:txBody>
      </p:sp>
      <p:sp>
        <p:nvSpPr>
          <p:cNvPr id="67" name="Rectangle 66"/>
          <p:cNvSpPr/>
          <p:nvPr/>
        </p:nvSpPr>
        <p:spPr>
          <a:xfrm>
            <a:off x="8454999" y="2810256"/>
            <a:ext cx="3572103" cy="1895856"/>
          </a:xfrm>
          <a:prstGeom prst="rect">
            <a:avLst/>
          </a:prstGeom>
          <a:solidFill>
            <a:srgbClr val="10162B"/>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1021263" y="2810256"/>
            <a:ext cx="1005840" cy="21945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021263" y="2837688"/>
            <a:ext cx="1005840" cy="182880"/>
          </a:xfrm>
          <a:prstGeom prst="rect">
            <a:avLst/>
          </a:prstGeom>
          <a:noFill/>
        </p:spPr>
        <p:txBody>
          <a:bodyPr wrap="square">
            <a:spAutoFit/>
          </a:bodyPr>
          <a:lstStyle/>
          <a:p>
            <a:pPr algn="ctr"/>
            <a:r>
              <a:rPr sz="750" b="1" i="0">
                <a:solidFill>
                  <a:srgbClr val="0A0D1A"/>
                </a:solidFill>
                <a:latin typeface="Calibri"/>
              </a:rPr>
              <a:t>INTELLIGENCE</a:t>
            </a:r>
          </a:p>
        </p:txBody>
      </p:sp>
      <p:sp>
        <p:nvSpPr>
          <p:cNvPr id="70" name="TextBox 69"/>
          <p:cNvSpPr txBox="1"/>
          <p:nvPr/>
        </p:nvSpPr>
        <p:spPr>
          <a:xfrm>
            <a:off x="8546439" y="2846832"/>
            <a:ext cx="2429103" cy="237744"/>
          </a:xfrm>
          <a:prstGeom prst="rect">
            <a:avLst/>
          </a:prstGeom>
          <a:noFill/>
        </p:spPr>
        <p:txBody>
          <a:bodyPr wrap="square">
            <a:spAutoFit/>
          </a:bodyPr>
          <a:lstStyle/>
          <a:p>
            <a:pPr algn="l"/>
            <a:r>
              <a:rPr sz="1200" b="1" i="0">
                <a:solidFill>
                  <a:srgbClr val="FFD700"/>
                </a:solidFill>
                <a:latin typeface="Calibri"/>
              </a:rPr>
              <a:t>🔍 Research</a:t>
            </a:r>
          </a:p>
        </p:txBody>
      </p:sp>
      <p:sp>
        <p:nvSpPr>
          <p:cNvPr id="71" name="Rectangle 70"/>
          <p:cNvSpPr/>
          <p:nvPr/>
        </p:nvSpPr>
        <p:spPr>
          <a:xfrm>
            <a:off x="8546439" y="3121152"/>
            <a:ext cx="3389223" cy="18288"/>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546439" y="3157728"/>
            <a:ext cx="3407511" cy="219456"/>
          </a:xfrm>
          <a:prstGeom prst="rect">
            <a:avLst/>
          </a:prstGeom>
          <a:noFill/>
        </p:spPr>
        <p:txBody>
          <a:bodyPr wrap="square">
            <a:spAutoFit/>
          </a:bodyPr>
          <a:lstStyle/>
          <a:p>
            <a:pPr algn="l"/>
            <a:r>
              <a:rPr sz="850" b="0" i="1">
                <a:solidFill>
                  <a:srgbClr val="FFFFFF"/>
                </a:solidFill>
                <a:latin typeface="Calibri"/>
              </a:rPr>
              <a:t>Live CVE grounding — only agent with outbound internet access.</a:t>
            </a:r>
          </a:p>
        </p:txBody>
      </p:sp>
      <p:sp>
        <p:nvSpPr>
          <p:cNvPr id="73" name="Rectangle 72"/>
          <p:cNvSpPr/>
          <p:nvPr/>
        </p:nvSpPr>
        <p:spPr>
          <a:xfrm>
            <a:off x="8546439" y="3404616"/>
            <a:ext cx="3389223" cy="219456"/>
          </a:xfrm>
          <a:prstGeom prst="rect">
            <a:avLst/>
          </a:prstGeom>
          <a:solidFill>
            <a:srgbClr val="081022"/>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619591" y="3422904"/>
            <a:ext cx="3297783" cy="182880"/>
          </a:xfrm>
          <a:prstGeom prst="rect">
            <a:avLst/>
          </a:prstGeom>
          <a:noFill/>
        </p:spPr>
        <p:txBody>
          <a:bodyPr wrap="square">
            <a:spAutoFit/>
          </a:bodyPr>
          <a:lstStyle/>
          <a:p>
            <a:pPr algn="l"/>
            <a:r>
              <a:rPr sz="750" b="1" i="0">
                <a:solidFill>
                  <a:srgbClr val="FFD700"/>
                </a:solidFill>
                <a:latin typeface="Calibri"/>
              </a:rPr>
              <a:t>NVD · Exploit-DB · GitHub · Vendor Advisories</a:t>
            </a:r>
          </a:p>
        </p:txBody>
      </p:sp>
      <p:sp>
        <p:nvSpPr>
          <p:cNvPr id="75" name="TextBox 74"/>
          <p:cNvSpPr txBox="1"/>
          <p:nvPr/>
        </p:nvSpPr>
        <p:spPr>
          <a:xfrm>
            <a:off x="8546439" y="3660648"/>
            <a:ext cx="3407511" cy="981456"/>
          </a:xfrm>
          <a:prstGeom prst="rect">
            <a:avLst/>
          </a:prstGeom>
          <a:noFill/>
        </p:spPr>
        <p:txBody>
          <a:bodyPr wrap="square">
            <a:spAutoFit/>
          </a:bodyPr>
          <a:lstStyle/>
          <a:p>
            <a:pPr algn="l"/>
            <a:r>
              <a:rPr sz="850" b="0" i="0">
                <a:solidFill>
                  <a:srgbClr val="A0AAB8"/>
                </a:solidFill>
                <a:latin typeface="Calibri"/>
              </a:rPr>
              <a:t>Enriches ASG Vulnerability nodes with real-time CVSS + PoC data.</a:t>
            </a:r>
          </a:p>
        </p:txBody>
      </p:sp>
      <p:sp>
        <p:nvSpPr>
          <p:cNvPr id="76" name="Rectangle 75"/>
          <p:cNvSpPr/>
          <p:nvPr/>
        </p:nvSpPr>
        <p:spPr>
          <a:xfrm>
            <a:off x="4773168" y="4797552"/>
            <a:ext cx="3572103" cy="1895856"/>
          </a:xfrm>
          <a:prstGeom prst="rect">
            <a:avLst/>
          </a:prstGeom>
          <a:solidFill>
            <a:srgbClr val="10162B"/>
          </a:solidFill>
          <a:ln w="177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7339431" y="4797552"/>
            <a:ext cx="1005840" cy="21945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339431" y="4824984"/>
            <a:ext cx="1005840" cy="182880"/>
          </a:xfrm>
          <a:prstGeom prst="rect">
            <a:avLst/>
          </a:prstGeom>
          <a:noFill/>
        </p:spPr>
        <p:txBody>
          <a:bodyPr wrap="square">
            <a:spAutoFit/>
          </a:bodyPr>
          <a:lstStyle/>
          <a:p>
            <a:pPr algn="ctr"/>
            <a:r>
              <a:rPr sz="750" b="1" i="0">
                <a:solidFill>
                  <a:srgbClr val="0A0D1A"/>
                </a:solidFill>
                <a:latin typeface="Calibri"/>
              </a:rPr>
              <a:t>PHASE 3</a:t>
            </a:r>
          </a:p>
        </p:txBody>
      </p:sp>
      <p:sp>
        <p:nvSpPr>
          <p:cNvPr id="79" name="TextBox 78"/>
          <p:cNvSpPr txBox="1"/>
          <p:nvPr/>
        </p:nvSpPr>
        <p:spPr>
          <a:xfrm>
            <a:off x="4864608" y="4834128"/>
            <a:ext cx="2429103" cy="237744"/>
          </a:xfrm>
          <a:prstGeom prst="rect">
            <a:avLst/>
          </a:prstGeom>
          <a:noFill/>
        </p:spPr>
        <p:txBody>
          <a:bodyPr wrap="square">
            <a:spAutoFit/>
          </a:bodyPr>
          <a:lstStyle/>
          <a:p>
            <a:pPr algn="l"/>
            <a:r>
              <a:rPr sz="1200" b="1" i="0">
                <a:solidFill>
                  <a:srgbClr val="FF4545"/>
                </a:solidFill>
                <a:latin typeface="Calibri"/>
              </a:rPr>
              <a:t>🎯 Validation</a:t>
            </a:r>
          </a:p>
        </p:txBody>
      </p:sp>
      <p:sp>
        <p:nvSpPr>
          <p:cNvPr id="80" name="Rectangle 79"/>
          <p:cNvSpPr/>
          <p:nvPr/>
        </p:nvSpPr>
        <p:spPr>
          <a:xfrm>
            <a:off x="4864608" y="5108448"/>
            <a:ext cx="3389223" cy="18288"/>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864608" y="5145024"/>
            <a:ext cx="3407511" cy="219456"/>
          </a:xfrm>
          <a:prstGeom prst="rect">
            <a:avLst/>
          </a:prstGeom>
          <a:noFill/>
        </p:spPr>
        <p:txBody>
          <a:bodyPr wrap="square">
            <a:spAutoFit/>
          </a:bodyPr>
          <a:lstStyle/>
          <a:p>
            <a:pPr algn="l"/>
            <a:r>
              <a:rPr sz="850" b="0" i="1">
                <a:solidFill>
                  <a:srgbClr val="FFFFFF"/>
                </a:solidFill>
                <a:latin typeface="Calibri"/>
              </a:rPr>
              <a:t>Proves vulnerabilities are real and exploitable.</a:t>
            </a:r>
          </a:p>
        </p:txBody>
      </p:sp>
      <p:sp>
        <p:nvSpPr>
          <p:cNvPr id="82" name="Rectangle 81"/>
          <p:cNvSpPr/>
          <p:nvPr/>
        </p:nvSpPr>
        <p:spPr>
          <a:xfrm>
            <a:off x="4864608" y="5391912"/>
            <a:ext cx="3389223" cy="219456"/>
          </a:xfrm>
          <a:prstGeom prst="rect">
            <a:avLst/>
          </a:prstGeom>
          <a:solidFill>
            <a:srgbClr val="081022"/>
          </a:solidFill>
          <a:ln w="635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937760" y="5410200"/>
            <a:ext cx="3297783" cy="182880"/>
          </a:xfrm>
          <a:prstGeom prst="rect">
            <a:avLst/>
          </a:prstGeom>
          <a:noFill/>
        </p:spPr>
        <p:txBody>
          <a:bodyPr wrap="square">
            <a:spAutoFit/>
          </a:bodyPr>
          <a:lstStyle/>
          <a:p>
            <a:pPr algn="l"/>
            <a:r>
              <a:rPr sz="750" b="1" i="0">
                <a:solidFill>
                  <a:srgbClr val="FF4545"/>
                </a:solidFill>
                <a:latin typeface="Calibri"/>
              </a:rPr>
              <a:t>SQLMap  ·  Metasploit</a:t>
            </a:r>
          </a:p>
        </p:txBody>
      </p:sp>
      <p:sp>
        <p:nvSpPr>
          <p:cNvPr id="84" name="TextBox 83"/>
          <p:cNvSpPr txBox="1"/>
          <p:nvPr/>
        </p:nvSpPr>
        <p:spPr>
          <a:xfrm>
            <a:off x="4864608" y="5647944"/>
            <a:ext cx="3407511" cy="981456"/>
          </a:xfrm>
          <a:prstGeom prst="rect">
            <a:avLst/>
          </a:prstGeom>
          <a:noFill/>
        </p:spPr>
        <p:txBody>
          <a:bodyPr wrap="square">
            <a:spAutoFit/>
          </a:bodyPr>
          <a:lstStyle/>
          <a:p>
            <a:pPr algn="l"/>
            <a:r>
              <a:rPr sz="850" b="0" i="0">
                <a:solidFill>
                  <a:srgbClr val="A0AAB8"/>
                </a:solidFill>
                <a:latin typeface="Calibri"/>
              </a:rPr>
              <a:t>Self-debugging loop: Diagnose → Contextualize → Adapt → Cap (×3).</a:t>
            </a:r>
          </a:p>
        </p:txBody>
      </p:sp>
      <p:sp>
        <p:nvSpPr>
          <p:cNvPr id="85" name="Rectangle 84"/>
          <p:cNvSpPr/>
          <p:nvPr/>
        </p:nvSpPr>
        <p:spPr>
          <a:xfrm>
            <a:off x="8454999" y="4797552"/>
            <a:ext cx="3572103" cy="1895856"/>
          </a:xfrm>
          <a:prstGeom prst="rect">
            <a:avLst/>
          </a:prstGeom>
          <a:solidFill>
            <a:srgbClr val="10162B"/>
          </a:solidFill>
          <a:ln w="177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11021263" y="4797552"/>
            <a:ext cx="1005840" cy="21945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1021263" y="4824984"/>
            <a:ext cx="1005840" cy="182880"/>
          </a:xfrm>
          <a:prstGeom prst="rect">
            <a:avLst/>
          </a:prstGeom>
          <a:noFill/>
        </p:spPr>
        <p:txBody>
          <a:bodyPr wrap="square">
            <a:spAutoFit/>
          </a:bodyPr>
          <a:lstStyle/>
          <a:p>
            <a:pPr algn="ctr"/>
            <a:r>
              <a:rPr sz="750" b="1" i="0">
                <a:solidFill>
                  <a:srgbClr val="0A0D1A"/>
                </a:solidFill>
                <a:latin typeface="Calibri"/>
              </a:rPr>
              <a:t>PHASE 3</a:t>
            </a:r>
          </a:p>
        </p:txBody>
      </p:sp>
      <p:sp>
        <p:nvSpPr>
          <p:cNvPr id="88" name="TextBox 87"/>
          <p:cNvSpPr txBox="1"/>
          <p:nvPr/>
        </p:nvSpPr>
        <p:spPr>
          <a:xfrm>
            <a:off x="8546439" y="4834128"/>
            <a:ext cx="2429103" cy="237744"/>
          </a:xfrm>
          <a:prstGeom prst="rect">
            <a:avLst/>
          </a:prstGeom>
          <a:noFill/>
        </p:spPr>
        <p:txBody>
          <a:bodyPr wrap="square">
            <a:spAutoFit/>
          </a:bodyPr>
          <a:lstStyle/>
          <a:p>
            <a:pPr algn="l"/>
            <a:r>
              <a:rPr sz="1200" b="1" i="0">
                <a:solidFill>
                  <a:srgbClr val="BD93F9"/>
                </a:solidFill>
                <a:latin typeface="Calibri"/>
              </a:rPr>
              <a:t>📸 Evidence</a:t>
            </a:r>
          </a:p>
        </p:txBody>
      </p:sp>
      <p:sp>
        <p:nvSpPr>
          <p:cNvPr id="89" name="Rectangle 88"/>
          <p:cNvSpPr/>
          <p:nvPr/>
        </p:nvSpPr>
        <p:spPr>
          <a:xfrm>
            <a:off x="8546439" y="5108448"/>
            <a:ext cx="3389223" cy="18288"/>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8546439" y="5145024"/>
            <a:ext cx="3407511" cy="219456"/>
          </a:xfrm>
          <a:prstGeom prst="rect">
            <a:avLst/>
          </a:prstGeom>
          <a:noFill/>
        </p:spPr>
        <p:txBody>
          <a:bodyPr wrap="square">
            <a:spAutoFit/>
          </a:bodyPr>
          <a:lstStyle/>
          <a:p>
            <a:pPr algn="l"/>
            <a:r>
              <a:rPr sz="850" b="0" i="1">
                <a:solidFill>
                  <a:srgbClr val="FFFFFF"/>
                </a:solidFill>
                <a:latin typeface="Calibri"/>
              </a:rPr>
              <a:t>Captures proof artifacts for every validated finding.</a:t>
            </a:r>
          </a:p>
        </p:txBody>
      </p:sp>
      <p:sp>
        <p:nvSpPr>
          <p:cNvPr id="91" name="Rectangle 90"/>
          <p:cNvSpPr/>
          <p:nvPr/>
        </p:nvSpPr>
        <p:spPr>
          <a:xfrm>
            <a:off x="8546439" y="5391912"/>
            <a:ext cx="3389223" cy="219456"/>
          </a:xfrm>
          <a:prstGeom prst="rect">
            <a:avLst/>
          </a:prstGeom>
          <a:solidFill>
            <a:srgbClr val="081022"/>
          </a:solidFill>
          <a:ln w="635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619591" y="5410200"/>
            <a:ext cx="3297783" cy="182880"/>
          </a:xfrm>
          <a:prstGeom prst="rect">
            <a:avLst/>
          </a:prstGeom>
          <a:noFill/>
        </p:spPr>
        <p:txBody>
          <a:bodyPr wrap="square">
            <a:spAutoFit/>
          </a:bodyPr>
          <a:lstStyle/>
          <a:p>
            <a:pPr algn="l"/>
            <a:r>
              <a:rPr sz="750" b="1" i="0">
                <a:solidFill>
                  <a:srgbClr val="BD93F9"/>
                </a:solidFill>
                <a:latin typeface="Calibri"/>
              </a:rPr>
              <a:t>EyeWitness</a:t>
            </a:r>
          </a:p>
        </p:txBody>
      </p:sp>
      <p:sp>
        <p:nvSpPr>
          <p:cNvPr id="93" name="TextBox 92"/>
          <p:cNvSpPr txBox="1"/>
          <p:nvPr/>
        </p:nvSpPr>
        <p:spPr>
          <a:xfrm>
            <a:off x="8546439" y="5647944"/>
            <a:ext cx="3407511" cy="981456"/>
          </a:xfrm>
          <a:prstGeom prst="rect">
            <a:avLst/>
          </a:prstGeom>
          <a:noFill/>
        </p:spPr>
        <p:txBody>
          <a:bodyPr wrap="square">
            <a:spAutoFit/>
          </a:bodyPr>
          <a:lstStyle/>
          <a:p>
            <a:pPr algn="l"/>
            <a:r>
              <a:rPr sz="850" b="0" i="0">
                <a:solidFill>
                  <a:srgbClr val="A0AAB8"/>
                </a:solidFill>
                <a:latin typeface="Calibri"/>
              </a:rPr>
              <a:t>Links Evidence nodes to ASG findings via validated_by edges.</a:t>
            </a:r>
          </a:p>
        </p:txBody>
      </p:sp>
      <p:sp>
        <p:nvSpPr>
          <p:cNvPr id="94" name="TextBox 93"/>
          <p:cNvSpPr txBox="1"/>
          <p:nvPr/>
        </p:nvSpPr>
        <p:spPr>
          <a:xfrm>
            <a:off x="11825935" y="6382512"/>
            <a:ext cx="320040" cy="384048"/>
          </a:xfrm>
          <a:prstGeom prst="rect">
            <a:avLst/>
          </a:prstGeom>
          <a:noFill/>
        </p:spPr>
        <p:txBody>
          <a:bodyPr wrap="square">
            <a:spAutoFit/>
          </a:bodyPr>
          <a:lstStyle/>
          <a:p>
            <a:pPr algn="r"/>
            <a:r>
              <a:rPr sz="1300" b="1" i="0">
                <a:solidFill>
                  <a:srgbClr val="BD93F9"/>
                </a:solidFill>
                <a:latin typeface="Calibri"/>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7315200" cy="237744"/>
          </a:xfrm>
          <a:prstGeom prst="rect">
            <a:avLst/>
          </a:prstGeom>
          <a:noFill/>
        </p:spPr>
        <p:txBody>
          <a:bodyPr wrap="square">
            <a:spAutoFit/>
          </a:bodyPr>
          <a:lstStyle/>
          <a:p>
            <a:pPr algn="l"/>
            <a:r>
              <a:rPr sz="1000" b="1" i="0">
                <a:solidFill>
                  <a:srgbClr val="BD93F9"/>
                </a:solidFill>
                <a:latin typeface="Calibri"/>
              </a:rPr>
              <a:t>AGENT SPAWN LIFECYCLE</a:t>
            </a:r>
          </a:p>
        </p:txBody>
      </p:sp>
      <p:sp>
        <p:nvSpPr>
          <p:cNvPr id="6" name="TextBox 5"/>
          <p:cNvSpPr txBox="1"/>
          <p:nvPr/>
        </p:nvSpPr>
        <p:spPr>
          <a:xfrm>
            <a:off x="274320" y="292608"/>
            <a:ext cx="11430000" cy="475488"/>
          </a:xfrm>
          <a:prstGeom prst="rect">
            <a:avLst/>
          </a:prstGeom>
          <a:noFill/>
        </p:spPr>
        <p:txBody>
          <a:bodyPr wrap="square">
            <a:spAutoFit/>
          </a:bodyPr>
          <a:lstStyle/>
          <a:p>
            <a:pPr algn="l"/>
            <a:r>
              <a:rPr sz="2800" b="1" i="0">
                <a:solidFill>
                  <a:srgbClr val="FFFFFF"/>
                </a:solidFill>
                <a:latin typeface="Calibri"/>
              </a:rPr>
              <a:t>Context-Isolated Spawn · Execute · Return · Discard</a:t>
            </a:r>
          </a:p>
        </p:txBody>
      </p:sp>
      <p:sp>
        <p:nvSpPr>
          <p:cNvPr id="7" name="Rectangle 6"/>
          <p:cNvSpPr/>
          <p:nvPr/>
        </p:nvSpPr>
        <p:spPr>
          <a:xfrm>
            <a:off x="274320" y="822960"/>
            <a:ext cx="9144000" cy="27432"/>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01168" y="896112"/>
            <a:ext cx="6583680" cy="5705856"/>
          </a:xfrm>
          <a:prstGeom prst="rect">
            <a:avLst/>
          </a:prstGeom>
          <a:solidFill>
            <a:srgbClr val="06081C"/>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 y="950976"/>
            <a:ext cx="6400800" cy="182880"/>
          </a:xfrm>
          <a:prstGeom prst="rect">
            <a:avLst/>
          </a:prstGeom>
          <a:noFill/>
        </p:spPr>
        <p:txBody>
          <a:bodyPr wrap="square">
            <a:spAutoFit/>
          </a:bodyPr>
          <a:lstStyle/>
          <a:p>
            <a:pPr algn="l"/>
            <a:r>
              <a:rPr sz="900" b="1" i="0">
                <a:solidFill>
                  <a:srgbClr val="BD93F9"/>
                </a:solidFill>
                <a:latin typeface="Calibri"/>
              </a:rPr>
              <a:t>SPAWN SEQUENCE (single-agent case)</a:t>
            </a:r>
          </a:p>
        </p:txBody>
      </p:sp>
      <p:sp>
        <p:nvSpPr>
          <p:cNvPr id="10" name="Rectangle 9"/>
          <p:cNvSpPr/>
          <p:nvPr/>
        </p:nvSpPr>
        <p:spPr>
          <a:xfrm>
            <a:off x="749808" y="1243584"/>
            <a:ext cx="5440680" cy="457200"/>
          </a:xfrm>
          <a:prstGeom prst="rect">
            <a:avLst/>
          </a:prstGeom>
          <a:solidFill>
            <a:srgbClr val="041630"/>
          </a:solidFill>
          <a:ln w="2286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49808" y="1243584"/>
            <a:ext cx="5440680" cy="18288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1261872"/>
            <a:ext cx="5440680" cy="164592"/>
          </a:xfrm>
          <a:prstGeom prst="rect">
            <a:avLst/>
          </a:prstGeom>
          <a:noFill/>
        </p:spPr>
        <p:txBody>
          <a:bodyPr wrap="square">
            <a:spAutoFit/>
          </a:bodyPr>
          <a:lstStyle/>
          <a:p>
            <a:pPr algn="ctr"/>
            <a:r>
              <a:rPr sz="800" b="1" i="0">
                <a:solidFill>
                  <a:srgbClr val="0A0D1A"/>
                </a:solidFill>
                <a:latin typeface="Calibri"/>
              </a:rPr>
              <a:t>COMMANDER AGENT</a:t>
            </a:r>
          </a:p>
        </p:txBody>
      </p:sp>
      <p:sp>
        <p:nvSpPr>
          <p:cNvPr id="13" name="TextBox 12"/>
          <p:cNvSpPr txBox="1"/>
          <p:nvPr/>
        </p:nvSpPr>
        <p:spPr>
          <a:xfrm>
            <a:off x="795528" y="1444752"/>
            <a:ext cx="5349240" cy="201168"/>
          </a:xfrm>
          <a:prstGeom prst="rect">
            <a:avLst/>
          </a:prstGeom>
          <a:noFill/>
        </p:spPr>
        <p:txBody>
          <a:bodyPr wrap="square">
            <a:spAutoFit/>
          </a:bodyPr>
          <a:lstStyle/>
          <a:p>
            <a:pPr algn="ctr"/>
            <a:r>
              <a:rPr sz="800" b="0" i="1">
                <a:solidFill>
                  <a:srgbClr val="A0AAB8"/>
                </a:solidFill>
                <a:latin typeface="Calibri"/>
              </a:rPr>
              <a:t>Reads ASG + APG → decides next action</a:t>
            </a:r>
          </a:p>
        </p:txBody>
      </p:sp>
      <p:cxnSp>
        <p:nvCxnSpPr>
          <p:cNvPr id="14" name="Connector 13"/>
          <p:cNvCxnSpPr/>
          <p:nvPr/>
        </p:nvCxnSpPr>
        <p:spPr>
          <a:xfrm>
            <a:off x="3493008.0" y="1700784"/>
            <a:ext cx="0.0" cy="292608"/>
          </a:xfrm>
          <a:prstGeom prst="line">
            <a:avLst/>
          </a:prstGeom>
          <a:ln w="22860">
            <a:solidFill>
              <a:srgbClr val="BD93F9"/>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566160" y="1719072"/>
            <a:ext cx="3108960" cy="237744"/>
          </a:xfrm>
          <a:prstGeom prst="rect">
            <a:avLst/>
          </a:prstGeom>
          <a:noFill/>
        </p:spPr>
        <p:txBody>
          <a:bodyPr wrap="square">
            <a:spAutoFit/>
          </a:bodyPr>
          <a:lstStyle/>
          <a:p>
            <a:pPr algn="l"/>
            <a:r>
              <a:rPr sz="800" b="1" i="0">
                <a:solidFill>
                  <a:srgbClr val="BD93F9"/>
                </a:solidFill>
                <a:latin typeface="Calibri"/>
              </a:rPr>
              <a:t>spawn(ASG slice + APG slice[optional] + task + toolset)</a:t>
            </a:r>
          </a:p>
        </p:txBody>
      </p:sp>
      <p:sp>
        <p:nvSpPr>
          <p:cNvPr id="16" name="Rectangle 15"/>
          <p:cNvSpPr/>
          <p:nvPr/>
        </p:nvSpPr>
        <p:spPr>
          <a:xfrm>
            <a:off x="402336" y="2048256"/>
            <a:ext cx="6181344" cy="2651760"/>
          </a:xfrm>
          <a:prstGeom prst="rect">
            <a:avLst/>
          </a:prstGeom>
          <a:solidFill>
            <a:srgbClr val="080C22"/>
          </a:solidFill>
          <a:ln w="1270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02336" y="2048256"/>
            <a:ext cx="6181344" cy="201168"/>
          </a:xfrm>
          <a:prstGeom prst="rect">
            <a:avLst/>
          </a:prstGeom>
          <a:solidFill>
            <a:srgbClr val="180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 y="2075688"/>
            <a:ext cx="6071616" cy="164592"/>
          </a:xfrm>
          <a:prstGeom prst="rect">
            <a:avLst/>
          </a:prstGeom>
          <a:noFill/>
        </p:spPr>
        <p:txBody>
          <a:bodyPr wrap="square">
            <a:spAutoFit/>
          </a:bodyPr>
          <a:lstStyle/>
          <a:p>
            <a:pPr algn="ctr"/>
            <a:r>
              <a:rPr sz="800" b="1" i="0">
                <a:solidFill>
                  <a:srgbClr val="BD93F9"/>
                </a:solidFill>
                <a:latin typeface="Calibri"/>
              </a:rPr>
              <a:t>ISOLATED AGENT CONTEXT  (fresh per task — never shared)</a:t>
            </a:r>
          </a:p>
        </p:txBody>
      </p:sp>
      <p:sp>
        <p:nvSpPr>
          <p:cNvPr id="19" name="Rectangle 18"/>
          <p:cNvSpPr/>
          <p:nvPr/>
        </p:nvSpPr>
        <p:spPr>
          <a:xfrm>
            <a:off x="493776" y="2286000"/>
            <a:ext cx="5998464" cy="442569"/>
          </a:xfrm>
          <a:prstGeom prst="rect">
            <a:avLst/>
          </a:prstGeom>
          <a:solidFill>
            <a:srgbClr val="04180C"/>
          </a:solidFill>
          <a:ln w="889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2322576"/>
            <a:ext cx="1005840" cy="387705"/>
          </a:xfrm>
          <a:prstGeom prst="rect">
            <a:avLst/>
          </a:prstGeom>
          <a:noFill/>
        </p:spPr>
        <p:txBody>
          <a:bodyPr wrap="square">
            <a:spAutoFit/>
          </a:bodyPr>
          <a:lstStyle/>
          <a:p>
            <a:pPr algn="l"/>
            <a:r>
              <a:rPr sz="800" b="1" i="0">
                <a:solidFill>
                  <a:srgbClr val="39FF14"/>
                </a:solidFill>
                <a:latin typeface="Calibri"/>
              </a:rPr>
              <a:t>ASG SLICE</a:t>
            </a:r>
          </a:p>
        </p:txBody>
      </p:sp>
      <p:sp>
        <p:nvSpPr>
          <p:cNvPr id="21" name="TextBox 20"/>
          <p:cNvSpPr txBox="1"/>
          <p:nvPr/>
        </p:nvSpPr>
        <p:spPr>
          <a:xfrm>
            <a:off x="1609344" y="2322576"/>
            <a:ext cx="4809744" cy="387705"/>
          </a:xfrm>
          <a:prstGeom prst="rect">
            <a:avLst/>
          </a:prstGeom>
          <a:noFill/>
        </p:spPr>
        <p:txBody>
          <a:bodyPr wrap="square">
            <a:spAutoFit/>
          </a:bodyPr>
          <a:lstStyle/>
          <a:p>
            <a:pPr algn="l"/>
            <a:r>
              <a:rPr sz="800" b="0" i="1">
                <a:solidFill>
                  <a:srgbClr val="A0AAB8"/>
                </a:solidFill>
                <a:latin typeface="Calibri"/>
              </a:rPr>
              <a:t>Subgraph relevant to this task only — no global state</a:t>
            </a:r>
          </a:p>
        </p:txBody>
      </p:sp>
      <p:sp>
        <p:nvSpPr>
          <p:cNvPr id="22" name="Rectangle 21"/>
          <p:cNvSpPr/>
          <p:nvPr/>
        </p:nvSpPr>
        <p:spPr>
          <a:xfrm>
            <a:off x="493776" y="2765145"/>
            <a:ext cx="5998464" cy="442569"/>
          </a:xfrm>
          <a:prstGeom prst="rect">
            <a:avLst/>
          </a:prstGeom>
          <a:solidFill>
            <a:srgbClr val="181002"/>
          </a:solidFill>
          <a:ln w="889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2801721"/>
            <a:ext cx="1005840" cy="387705"/>
          </a:xfrm>
          <a:prstGeom prst="rect">
            <a:avLst/>
          </a:prstGeom>
          <a:noFill/>
        </p:spPr>
        <p:txBody>
          <a:bodyPr wrap="square">
            <a:spAutoFit/>
          </a:bodyPr>
          <a:lstStyle/>
          <a:p>
            <a:pPr algn="l"/>
            <a:r>
              <a:rPr sz="800" b="1" i="0">
                <a:solidFill>
                  <a:srgbClr val="FFD700"/>
                </a:solidFill>
                <a:latin typeface="Calibri"/>
              </a:rPr>
              <a:t>APG SLICE</a:t>
            </a:r>
          </a:p>
        </p:txBody>
      </p:sp>
      <p:sp>
        <p:nvSpPr>
          <p:cNvPr id="24" name="TextBox 23"/>
          <p:cNvSpPr txBox="1"/>
          <p:nvPr/>
        </p:nvSpPr>
        <p:spPr>
          <a:xfrm>
            <a:off x="1609344" y="2801721"/>
            <a:ext cx="4809744" cy="387705"/>
          </a:xfrm>
          <a:prstGeom prst="rect">
            <a:avLst/>
          </a:prstGeom>
          <a:noFill/>
        </p:spPr>
        <p:txBody>
          <a:bodyPr wrap="square">
            <a:spAutoFit/>
          </a:bodyPr>
          <a:lstStyle/>
          <a:p>
            <a:pPr algn="l"/>
            <a:r>
              <a:rPr sz="800" b="0" i="1">
                <a:solidFill>
                  <a:srgbClr val="A0AAB8"/>
                </a:solidFill>
                <a:latin typeface="Calibri"/>
              </a:rPr>
              <a:t>Relevant AttackChains only — Validation agents only</a:t>
            </a:r>
          </a:p>
        </p:txBody>
      </p:sp>
      <p:sp>
        <p:nvSpPr>
          <p:cNvPr id="25" name="Rectangle 24"/>
          <p:cNvSpPr/>
          <p:nvPr/>
        </p:nvSpPr>
        <p:spPr>
          <a:xfrm>
            <a:off x="493776" y="3244291"/>
            <a:ext cx="5998464" cy="442569"/>
          </a:xfrm>
          <a:prstGeom prst="rect">
            <a:avLst/>
          </a:prstGeom>
          <a:solidFill>
            <a:srgbClr val="1A0606"/>
          </a:solidFill>
          <a:ln w="889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6928" y="3280867"/>
            <a:ext cx="1005840" cy="387705"/>
          </a:xfrm>
          <a:prstGeom prst="rect">
            <a:avLst/>
          </a:prstGeom>
          <a:noFill/>
        </p:spPr>
        <p:txBody>
          <a:bodyPr wrap="square">
            <a:spAutoFit/>
          </a:bodyPr>
          <a:lstStyle/>
          <a:p>
            <a:pPr algn="l"/>
            <a:r>
              <a:rPr sz="800" b="1" i="0">
                <a:solidFill>
                  <a:srgbClr val="FF4545"/>
                </a:solidFill>
                <a:latin typeface="Calibri"/>
              </a:rPr>
              <a:t>TOOL SET</a:t>
            </a:r>
          </a:p>
        </p:txBody>
      </p:sp>
      <p:sp>
        <p:nvSpPr>
          <p:cNvPr id="27" name="TextBox 26"/>
          <p:cNvSpPr txBox="1"/>
          <p:nvPr/>
        </p:nvSpPr>
        <p:spPr>
          <a:xfrm>
            <a:off x="1609344" y="3280867"/>
            <a:ext cx="4809744" cy="387705"/>
          </a:xfrm>
          <a:prstGeom prst="rect">
            <a:avLst/>
          </a:prstGeom>
          <a:noFill/>
        </p:spPr>
        <p:txBody>
          <a:bodyPr wrap="square">
            <a:spAutoFit/>
          </a:bodyPr>
          <a:lstStyle/>
          <a:p>
            <a:pPr algn="l"/>
            <a:r>
              <a:rPr sz="800" b="0" i="1">
                <a:solidFill>
                  <a:srgbClr val="A0AAB8"/>
                </a:solidFill>
                <a:latin typeface="Calibri"/>
              </a:rPr>
              <a:t>Authorized tools only — no cross-phase access</a:t>
            </a:r>
          </a:p>
        </p:txBody>
      </p:sp>
      <p:sp>
        <p:nvSpPr>
          <p:cNvPr id="28" name="Rectangle 27"/>
          <p:cNvSpPr/>
          <p:nvPr/>
        </p:nvSpPr>
        <p:spPr>
          <a:xfrm>
            <a:off x="493776" y="3723436"/>
            <a:ext cx="5998464" cy="442569"/>
          </a:xfrm>
          <a:prstGeom prst="rect">
            <a:avLst/>
          </a:prstGeom>
          <a:solidFill>
            <a:srgbClr val="041220"/>
          </a:solidFill>
          <a:ln w="889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3760012"/>
            <a:ext cx="1005840" cy="387705"/>
          </a:xfrm>
          <a:prstGeom prst="rect">
            <a:avLst/>
          </a:prstGeom>
          <a:noFill/>
        </p:spPr>
        <p:txBody>
          <a:bodyPr wrap="square">
            <a:spAutoFit/>
          </a:bodyPr>
          <a:lstStyle/>
          <a:p>
            <a:pPr algn="l"/>
            <a:r>
              <a:rPr sz="800" b="1" i="0">
                <a:solidFill>
                  <a:srgbClr val="00E5FF"/>
                </a:solidFill>
                <a:latin typeface="Calibri"/>
              </a:rPr>
              <a:t>TASK SPEC</a:t>
            </a:r>
          </a:p>
        </p:txBody>
      </p:sp>
      <p:sp>
        <p:nvSpPr>
          <p:cNvPr id="30" name="TextBox 29"/>
          <p:cNvSpPr txBox="1"/>
          <p:nvPr/>
        </p:nvSpPr>
        <p:spPr>
          <a:xfrm>
            <a:off x="1609344" y="3760012"/>
            <a:ext cx="4809744" cy="387705"/>
          </a:xfrm>
          <a:prstGeom prst="rect">
            <a:avLst/>
          </a:prstGeom>
          <a:noFill/>
        </p:spPr>
        <p:txBody>
          <a:bodyPr wrap="square">
            <a:spAutoFit/>
          </a:bodyPr>
          <a:lstStyle/>
          <a:p>
            <a:pPr algn="l"/>
            <a:r>
              <a:rPr sz="800" b="0" i="1">
                <a:solidFill>
                  <a:srgbClr val="A0AAB8"/>
                </a:solidFill>
                <a:latin typeface="Calibri"/>
              </a:rPr>
              <a:t>Commander's current plan item</a:t>
            </a:r>
          </a:p>
        </p:txBody>
      </p:sp>
      <p:sp>
        <p:nvSpPr>
          <p:cNvPr id="31" name="Rectangle 30"/>
          <p:cNvSpPr/>
          <p:nvPr/>
        </p:nvSpPr>
        <p:spPr>
          <a:xfrm>
            <a:off x="493776" y="4202582"/>
            <a:ext cx="5998464" cy="442569"/>
          </a:xfrm>
          <a:prstGeom prst="rect">
            <a:avLst/>
          </a:prstGeom>
          <a:solidFill>
            <a:srgbClr val="12061E"/>
          </a:solidFill>
          <a:ln w="889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 y="4239158"/>
            <a:ext cx="1005840" cy="387705"/>
          </a:xfrm>
          <a:prstGeom prst="rect">
            <a:avLst/>
          </a:prstGeom>
          <a:noFill/>
        </p:spPr>
        <p:txBody>
          <a:bodyPr wrap="square">
            <a:spAutoFit/>
          </a:bodyPr>
          <a:lstStyle/>
          <a:p>
            <a:pPr algn="l"/>
            <a:r>
              <a:rPr sz="800" b="1" i="0">
                <a:solidFill>
                  <a:srgbClr val="BD93F9"/>
                </a:solidFill>
                <a:latin typeface="Calibri"/>
              </a:rPr>
              <a:t>KNOWLEDGE</a:t>
            </a:r>
          </a:p>
        </p:txBody>
      </p:sp>
      <p:sp>
        <p:nvSpPr>
          <p:cNvPr id="33" name="TextBox 32"/>
          <p:cNvSpPr txBox="1"/>
          <p:nvPr/>
        </p:nvSpPr>
        <p:spPr>
          <a:xfrm>
            <a:off x="1609344" y="4239158"/>
            <a:ext cx="4809744" cy="387705"/>
          </a:xfrm>
          <a:prstGeom prst="rect">
            <a:avLst/>
          </a:prstGeom>
          <a:noFill/>
        </p:spPr>
        <p:txBody>
          <a:bodyPr wrap="square">
            <a:spAutoFit/>
          </a:bodyPr>
          <a:lstStyle/>
          <a:p>
            <a:pPr algn="l"/>
            <a:r>
              <a:rPr sz="800" b="0" i="1">
                <a:solidFill>
                  <a:srgbClr val="A0AAB8"/>
                </a:solidFill>
                <a:latin typeface="Calibri"/>
              </a:rPr>
              <a:t>Vulnerability-class docs injected at spawn (§7)</a:t>
            </a:r>
          </a:p>
        </p:txBody>
      </p:sp>
      <p:cxnSp>
        <p:nvCxnSpPr>
          <p:cNvPr id="34" name="Connector 33"/>
          <p:cNvCxnSpPr/>
          <p:nvPr/>
        </p:nvCxnSpPr>
        <p:spPr>
          <a:xfrm>
            <a:off x="3493008.0" y="4700016"/>
            <a:ext cx="0.0" cy="274320"/>
          </a:xfrm>
          <a:prstGeom prst="line">
            <a:avLst/>
          </a:prstGeom>
          <a:ln w="2286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402336" y="5020056"/>
            <a:ext cx="6181344" cy="475488"/>
          </a:xfrm>
          <a:prstGeom prst="rect">
            <a:avLst/>
          </a:prstGeom>
          <a:solidFill>
            <a:srgbClr val="041C0C"/>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93776" y="5056632"/>
            <a:ext cx="6035040" cy="201168"/>
          </a:xfrm>
          <a:prstGeom prst="rect">
            <a:avLst/>
          </a:prstGeom>
          <a:noFill/>
        </p:spPr>
        <p:txBody>
          <a:bodyPr wrap="square">
            <a:spAutoFit/>
          </a:bodyPr>
          <a:lstStyle/>
          <a:p>
            <a:pPr algn="ctr"/>
            <a:r>
              <a:rPr sz="850" b="1" i="0">
                <a:solidFill>
                  <a:srgbClr val="39FF14"/>
                </a:solidFill>
                <a:latin typeface="Calibri"/>
              </a:rPr>
              <a:t>RETURNS: Structured ASG Delta only  — working context discarded</a:t>
            </a:r>
          </a:p>
        </p:txBody>
      </p:sp>
      <p:sp>
        <p:nvSpPr>
          <p:cNvPr id="37" name="TextBox 36"/>
          <p:cNvSpPr txBox="1"/>
          <p:nvPr/>
        </p:nvSpPr>
        <p:spPr>
          <a:xfrm>
            <a:off x="493776" y="5266944"/>
            <a:ext cx="6035040" cy="201168"/>
          </a:xfrm>
          <a:prstGeom prst="rect">
            <a:avLst/>
          </a:prstGeom>
          <a:noFill/>
        </p:spPr>
        <p:txBody>
          <a:bodyPr wrap="square">
            <a:spAutoFit/>
          </a:bodyPr>
          <a:lstStyle/>
          <a:p>
            <a:pPr algn="ctr"/>
            <a:r>
              <a:rPr sz="800" b="0" i="1">
                <a:solidFill>
                  <a:srgbClr val="A0AAB8"/>
                </a:solidFill>
                <a:latin typeface="Calibri"/>
              </a:rPr>
              <a:t>No raw history, no conversation, no cross-contamination between agents.</a:t>
            </a:r>
          </a:p>
        </p:txBody>
      </p:sp>
      <p:sp>
        <p:nvSpPr>
          <p:cNvPr id="38" name="Rectangle 37"/>
          <p:cNvSpPr/>
          <p:nvPr/>
        </p:nvSpPr>
        <p:spPr>
          <a:xfrm>
            <a:off x="402336" y="5586984"/>
            <a:ext cx="6181344" cy="201168"/>
          </a:xfrm>
          <a:prstGeom prst="rect">
            <a:avLst/>
          </a:prstGeom>
          <a:solidFill>
            <a:srgbClr val="0C0E22"/>
          </a:solidFill>
          <a:ln w="635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5488" y="5614416"/>
            <a:ext cx="6071616" cy="164592"/>
          </a:xfrm>
          <a:prstGeom prst="rect">
            <a:avLst/>
          </a:prstGeom>
          <a:noFill/>
        </p:spPr>
        <p:txBody>
          <a:bodyPr wrap="square">
            <a:spAutoFit/>
          </a:bodyPr>
          <a:lstStyle/>
          <a:p>
            <a:pPr algn="l"/>
            <a:r>
              <a:rPr sz="850" b="0" i="0">
                <a:solidFill>
                  <a:srgbClr val="00E5FF"/>
                </a:solidFill>
                <a:latin typeface="Calibri"/>
              </a:rPr>
              <a:t>✓  Commander context stays clean between all delegated tasks</a:t>
            </a:r>
          </a:p>
        </p:txBody>
      </p:sp>
      <p:sp>
        <p:nvSpPr>
          <p:cNvPr id="40" name="Rectangle 39"/>
          <p:cNvSpPr/>
          <p:nvPr/>
        </p:nvSpPr>
        <p:spPr>
          <a:xfrm>
            <a:off x="402336" y="5824728"/>
            <a:ext cx="6181344" cy="201168"/>
          </a:xfrm>
          <a:prstGeom prst="rect">
            <a:avLst/>
          </a:prstGeom>
          <a:solidFill>
            <a:srgbClr val="0C0E22"/>
          </a:solidFill>
          <a:ln w="635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75488" y="5852160"/>
            <a:ext cx="6071616" cy="164592"/>
          </a:xfrm>
          <a:prstGeom prst="rect">
            <a:avLst/>
          </a:prstGeom>
          <a:noFill/>
        </p:spPr>
        <p:txBody>
          <a:bodyPr wrap="square">
            <a:spAutoFit/>
          </a:bodyPr>
          <a:lstStyle/>
          <a:p>
            <a:pPr algn="l"/>
            <a:r>
              <a:rPr sz="850" b="0" i="0">
                <a:solidFill>
                  <a:srgbClr val="BD93F9"/>
                </a:solidFill>
                <a:latin typeface="Calibri"/>
              </a:rPr>
              <a:t>✓  Agent failures cannot contaminate other agents' reasoning</a:t>
            </a:r>
          </a:p>
        </p:txBody>
      </p:sp>
      <p:sp>
        <p:nvSpPr>
          <p:cNvPr id="42" name="Rectangle 41"/>
          <p:cNvSpPr/>
          <p:nvPr/>
        </p:nvSpPr>
        <p:spPr>
          <a:xfrm>
            <a:off x="402336" y="6062472"/>
            <a:ext cx="6181344" cy="201168"/>
          </a:xfrm>
          <a:prstGeom prst="rect">
            <a:avLst/>
          </a:prstGeom>
          <a:solidFill>
            <a:srgbClr val="0C0E22"/>
          </a:solidFill>
          <a:ln w="635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75488" y="6089904"/>
            <a:ext cx="6071616" cy="164592"/>
          </a:xfrm>
          <a:prstGeom prst="rect">
            <a:avLst/>
          </a:prstGeom>
          <a:noFill/>
        </p:spPr>
        <p:txBody>
          <a:bodyPr wrap="square">
            <a:spAutoFit/>
          </a:bodyPr>
          <a:lstStyle/>
          <a:p>
            <a:pPr algn="l"/>
            <a:r>
              <a:rPr sz="850" b="0" i="0">
                <a:solidFill>
                  <a:srgbClr val="FF4545"/>
                </a:solidFill>
                <a:latin typeface="Calibri"/>
              </a:rPr>
              <a:t>✓  High-risk refusals do not bias future planning decisions</a:t>
            </a:r>
          </a:p>
        </p:txBody>
      </p:sp>
      <p:sp>
        <p:nvSpPr>
          <p:cNvPr id="44" name="Rectangle 43"/>
          <p:cNvSpPr/>
          <p:nvPr/>
        </p:nvSpPr>
        <p:spPr>
          <a:xfrm>
            <a:off x="6912864" y="896112"/>
            <a:ext cx="5077663" cy="5705856"/>
          </a:xfrm>
          <a:prstGeom prst="rect">
            <a:avLst/>
          </a:prstGeom>
          <a:solidFill>
            <a:srgbClr val="060C1C"/>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912864" y="896112"/>
            <a:ext cx="5077663" cy="2743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912864" y="932688"/>
            <a:ext cx="5077663" cy="219456"/>
          </a:xfrm>
          <a:prstGeom prst="rect">
            <a:avLst/>
          </a:prstGeom>
          <a:noFill/>
        </p:spPr>
        <p:txBody>
          <a:bodyPr wrap="square">
            <a:spAutoFit/>
          </a:bodyPr>
          <a:lstStyle/>
          <a:p>
            <a:pPr algn="ctr"/>
            <a:r>
              <a:rPr sz="950" b="1" i="0">
                <a:solidFill>
                  <a:srgbClr val="0A0D1A"/>
                </a:solidFill>
                <a:latin typeface="Calibri"/>
              </a:rPr>
              <a:t>C4 — ASG-Aware Parallel Dispatch</a:t>
            </a:r>
          </a:p>
        </p:txBody>
      </p:sp>
      <p:sp>
        <p:nvSpPr>
          <p:cNvPr id="47" name="TextBox 46"/>
          <p:cNvSpPr txBox="1"/>
          <p:nvPr/>
        </p:nvSpPr>
        <p:spPr>
          <a:xfrm>
            <a:off x="7004304" y="1243584"/>
            <a:ext cx="4931359" cy="640080"/>
          </a:xfrm>
          <a:prstGeom prst="rect">
            <a:avLst/>
          </a:prstGeom>
          <a:noFill/>
        </p:spPr>
        <p:txBody>
          <a:bodyPr wrap="square">
            <a:spAutoFit/>
          </a:bodyPr>
          <a:lstStyle/>
          <a:p>
            <a:pPr algn="l"/>
            <a:r>
              <a:rPr sz="950" b="0" i="0">
                <a:solidFill>
                  <a:srgbClr val="A0AAB8"/>
                </a:solidFill>
                <a:latin typeface="Calibri"/>
              </a:rPr>
              <a:t>When the ASG contains multiple independent sub-graphs — hosts or services with no shared edges — the Commander can spawn multiple agents concurrently.</a:t>
            </a:r>
          </a:p>
        </p:txBody>
      </p:sp>
      <p:sp>
        <p:nvSpPr>
          <p:cNvPr id="48" name="Rectangle 47"/>
          <p:cNvSpPr/>
          <p:nvPr/>
        </p:nvSpPr>
        <p:spPr>
          <a:xfrm>
            <a:off x="7004304" y="1975104"/>
            <a:ext cx="1546250" cy="548640"/>
          </a:xfrm>
          <a:prstGeom prst="rect">
            <a:avLst/>
          </a:prstGeom>
          <a:solidFill>
            <a:srgbClr val="081422"/>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004304" y="2029968"/>
            <a:ext cx="1546250" cy="457200"/>
          </a:xfrm>
          <a:prstGeom prst="rect">
            <a:avLst/>
          </a:prstGeom>
          <a:noFill/>
        </p:spPr>
        <p:txBody>
          <a:bodyPr wrap="square">
            <a:spAutoFit/>
          </a:bodyPr>
          <a:lstStyle/>
          <a:p>
            <a:pPr algn="ctr"/>
            <a:r>
              <a:rPr sz="850" b="1" i="0">
                <a:solidFill>
                  <a:srgbClr val="39FF14"/>
                </a:solidFill>
                <a:latin typeface="Calibri"/>
              </a:rPr>
              <a:t>Host A
192.168.1.10</a:t>
            </a:r>
          </a:p>
        </p:txBody>
      </p:sp>
      <p:cxnSp>
        <p:nvCxnSpPr>
          <p:cNvPr id="50" name="Connector 49"/>
          <p:cNvCxnSpPr/>
          <p:nvPr/>
        </p:nvCxnSpPr>
        <p:spPr>
          <a:xfrm>
            <a:off x="7777429.166666667" y="2523744"/>
            <a:ext cx="0.0" cy="329184"/>
          </a:xfrm>
          <a:prstGeom prst="line">
            <a:avLst/>
          </a:prstGeom>
          <a:ln w="1524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7004304" y="2889504"/>
            <a:ext cx="1546250" cy="402336"/>
          </a:xfrm>
          <a:prstGeom prst="rect">
            <a:avLst/>
          </a:prstGeom>
          <a:solidFill>
            <a:srgbClr val="100C22"/>
          </a:solidFill>
          <a:ln w="127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004304" y="2907792"/>
            <a:ext cx="1546250" cy="365760"/>
          </a:xfrm>
          <a:prstGeom prst="rect">
            <a:avLst/>
          </a:prstGeom>
          <a:noFill/>
        </p:spPr>
        <p:txBody>
          <a:bodyPr wrap="square">
            <a:spAutoFit/>
          </a:bodyPr>
          <a:lstStyle/>
          <a:p>
            <a:pPr algn="ctr"/>
            <a:r>
              <a:rPr sz="800" b="1" i="0">
                <a:solidFill>
                  <a:srgbClr val="39FF14"/>
                </a:solidFill>
                <a:latin typeface="Calibri"/>
              </a:rPr>
              <a:t>Analysis
Agent</a:t>
            </a:r>
          </a:p>
        </p:txBody>
      </p:sp>
      <p:sp>
        <p:nvSpPr>
          <p:cNvPr id="53" name="Rectangle 52"/>
          <p:cNvSpPr/>
          <p:nvPr/>
        </p:nvSpPr>
        <p:spPr>
          <a:xfrm>
            <a:off x="8605418" y="1975104"/>
            <a:ext cx="1546250" cy="548640"/>
          </a:xfrm>
          <a:prstGeom prst="rect">
            <a:avLst/>
          </a:prstGeom>
          <a:solidFill>
            <a:srgbClr val="081422"/>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605418" y="2029968"/>
            <a:ext cx="1546250" cy="457200"/>
          </a:xfrm>
          <a:prstGeom prst="rect">
            <a:avLst/>
          </a:prstGeom>
          <a:noFill/>
        </p:spPr>
        <p:txBody>
          <a:bodyPr wrap="square">
            <a:spAutoFit/>
          </a:bodyPr>
          <a:lstStyle/>
          <a:p>
            <a:pPr algn="ctr"/>
            <a:r>
              <a:rPr sz="850" b="1" i="0">
                <a:solidFill>
                  <a:srgbClr val="00E5FF"/>
                </a:solidFill>
                <a:latin typeface="Calibri"/>
              </a:rPr>
              <a:t>Host B
10.0.1.5</a:t>
            </a:r>
          </a:p>
        </p:txBody>
      </p:sp>
      <p:cxnSp>
        <p:nvCxnSpPr>
          <p:cNvPr id="55" name="Connector 54"/>
          <p:cNvCxnSpPr/>
          <p:nvPr/>
        </p:nvCxnSpPr>
        <p:spPr>
          <a:xfrm>
            <a:off x="9378543.5" y="2523744"/>
            <a:ext cx="0.0" cy="329184"/>
          </a:xfrm>
          <a:prstGeom prst="line">
            <a:avLst/>
          </a:prstGeom>
          <a:ln w="1524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8605418" y="2889504"/>
            <a:ext cx="1546250" cy="402336"/>
          </a:xfrm>
          <a:prstGeom prst="rect">
            <a:avLst/>
          </a:prstGeom>
          <a:solidFill>
            <a:srgbClr val="100C22"/>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605418" y="2907792"/>
            <a:ext cx="1546250" cy="365760"/>
          </a:xfrm>
          <a:prstGeom prst="rect">
            <a:avLst/>
          </a:prstGeom>
          <a:noFill/>
        </p:spPr>
        <p:txBody>
          <a:bodyPr wrap="square">
            <a:spAutoFit/>
          </a:bodyPr>
          <a:lstStyle/>
          <a:p>
            <a:pPr algn="ctr"/>
            <a:r>
              <a:rPr sz="800" b="1" i="0">
                <a:solidFill>
                  <a:srgbClr val="00E5FF"/>
                </a:solidFill>
                <a:latin typeface="Calibri"/>
              </a:rPr>
              <a:t>Analysis
Agent</a:t>
            </a:r>
          </a:p>
        </p:txBody>
      </p:sp>
      <p:sp>
        <p:nvSpPr>
          <p:cNvPr id="58" name="Rectangle 57"/>
          <p:cNvSpPr/>
          <p:nvPr/>
        </p:nvSpPr>
        <p:spPr>
          <a:xfrm>
            <a:off x="10206532" y="1975104"/>
            <a:ext cx="1546250" cy="548640"/>
          </a:xfrm>
          <a:prstGeom prst="rect">
            <a:avLst/>
          </a:prstGeom>
          <a:solidFill>
            <a:srgbClr val="081422"/>
          </a:solidFill>
          <a:ln w="1524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206532" y="2029968"/>
            <a:ext cx="1546250" cy="457200"/>
          </a:xfrm>
          <a:prstGeom prst="rect">
            <a:avLst/>
          </a:prstGeom>
          <a:noFill/>
        </p:spPr>
        <p:txBody>
          <a:bodyPr wrap="square">
            <a:spAutoFit/>
          </a:bodyPr>
          <a:lstStyle/>
          <a:p>
            <a:pPr algn="ctr"/>
            <a:r>
              <a:rPr sz="850" b="1" i="0">
                <a:solidFill>
                  <a:srgbClr val="FFD700"/>
                </a:solidFill>
                <a:latin typeface="Calibri"/>
              </a:rPr>
              <a:t>Host C
172.16.0.8</a:t>
            </a:r>
          </a:p>
        </p:txBody>
      </p:sp>
      <p:cxnSp>
        <p:nvCxnSpPr>
          <p:cNvPr id="60" name="Connector 59"/>
          <p:cNvCxnSpPr/>
          <p:nvPr/>
        </p:nvCxnSpPr>
        <p:spPr>
          <a:xfrm>
            <a:off x="10979657.833333332" y="2523744"/>
            <a:ext cx="0.0" cy="329184"/>
          </a:xfrm>
          <a:prstGeom prst="line">
            <a:avLst/>
          </a:prstGeom>
          <a:ln w="1524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10206532" y="2889504"/>
            <a:ext cx="1546250" cy="402336"/>
          </a:xfrm>
          <a:prstGeom prst="rect">
            <a:avLst/>
          </a:prstGeom>
          <a:solidFill>
            <a:srgbClr val="100C22"/>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206532" y="2907792"/>
            <a:ext cx="1546250" cy="365760"/>
          </a:xfrm>
          <a:prstGeom prst="rect">
            <a:avLst/>
          </a:prstGeom>
          <a:noFill/>
        </p:spPr>
        <p:txBody>
          <a:bodyPr wrap="square">
            <a:spAutoFit/>
          </a:bodyPr>
          <a:lstStyle/>
          <a:p>
            <a:pPr algn="ctr"/>
            <a:r>
              <a:rPr sz="800" b="1" i="0">
                <a:solidFill>
                  <a:srgbClr val="FFD700"/>
                </a:solidFill>
                <a:latin typeface="Calibri"/>
              </a:rPr>
              <a:t>Analysis
Agent</a:t>
            </a:r>
          </a:p>
        </p:txBody>
      </p:sp>
      <p:sp>
        <p:nvSpPr>
          <p:cNvPr id="63" name="TextBox 62"/>
          <p:cNvSpPr txBox="1"/>
          <p:nvPr/>
        </p:nvSpPr>
        <p:spPr>
          <a:xfrm>
            <a:off x="7004304" y="2724912"/>
            <a:ext cx="4931359" cy="640080"/>
          </a:xfrm>
          <a:prstGeom prst="rect">
            <a:avLst/>
          </a:prstGeom>
          <a:noFill/>
        </p:spPr>
        <p:txBody>
          <a:bodyPr wrap="square">
            <a:spAutoFit/>
          </a:bodyPr>
          <a:lstStyle/>
          <a:p>
            <a:pPr algn="l"/>
            <a:r>
              <a:rPr sz="900" b="0" i="1">
                <a:solidFill>
                  <a:srgbClr val="A0AAB8"/>
                </a:solidFill>
                <a:latin typeface="Calibri"/>
              </a:rPr>
              <a:t>ASG edges determine dependency — agents on independent sub-graphs run concurrently.
The sequence diagrams in this deck show the single-agent case for clarity.</a:t>
            </a:r>
          </a:p>
        </p:txBody>
      </p:sp>
      <p:sp>
        <p:nvSpPr>
          <p:cNvPr id="64" name="Rectangle 63"/>
          <p:cNvSpPr/>
          <p:nvPr/>
        </p:nvSpPr>
        <p:spPr>
          <a:xfrm>
            <a:off x="7004304" y="3474720"/>
            <a:ext cx="4894783" cy="237744"/>
          </a:xfrm>
          <a:prstGeom prst="rect">
            <a:avLst/>
          </a:prstGeom>
          <a:solidFill>
            <a:srgbClr val="1210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077456" y="3502152"/>
            <a:ext cx="4803343" cy="201168"/>
          </a:xfrm>
          <a:prstGeom prst="rect">
            <a:avLst/>
          </a:prstGeom>
          <a:noFill/>
        </p:spPr>
        <p:txBody>
          <a:bodyPr wrap="square">
            <a:spAutoFit/>
          </a:bodyPr>
          <a:lstStyle/>
          <a:p>
            <a:pPr algn="ctr"/>
            <a:r>
              <a:rPr sz="800" b="1" i="0">
                <a:solidFill>
                  <a:srgbClr val="FFD700"/>
                </a:solidFill>
                <a:latin typeface="Calibri"/>
              </a:rPr>
              <a:t>RISK TIER  ·  TOOL CLASS</a:t>
            </a:r>
          </a:p>
        </p:txBody>
      </p:sp>
      <p:sp>
        <p:nvSpPr>
          <p:cNvPr id="66" name="Rectangle 65"/>
          <p:cNvSpPr/>
          <p:nvPr/>
        </p:nvSpPr>
        <p:spPr>
          <a:xfrm>
            <a:off x="7004304" y="3767328"/>
            <a:ext cx="4894783" cy="438912"/>
          </a:xfrm>
          <a:prstGeom prst="rect">
            <a:avLst/>
          </a:prstGeom>
          <a:solidFill>
            <a:srgbClr val="0C0E22"/>
          </a:solidFill>
          <a:ln w="889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004304" y="3767328"/>
            <a:ext cx="457200" cy="438912"/>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022592" y="3822192"/>
            <a:ext cx="420624" cy="329184"/>
          </a:xfrm>
          <a:prstGeom prst="rect">
            <a:avLst/>
          </a:prstGeom>
          <a:noFill/>
        </p:spPr>
        <p:txBody>
          <a:bodyPr wrap="square">
            <a:spAutoFit/>
          </a:bodyPr>
          <a:lstStyle/>
          <a:p>
            <a:pPr algn="ctr"/>
            <a:r>
              <a:rPr sz="900" b="1" i="0">
                <a:solidFill>
                  <a:srgbClr val="0A0D1A"/>
                </a:solidFill>
                <a:latin typeface="Calibri"/>
              </a:rPr>
              <a:t>LOW</a:t>
            </a:r>
          </a:p>
        </p:txBody>
      </p:sp>
      <p:sp>
        <p:nvSpPr>
          <p:cNvPr id="69" name="TextBox 68"/>
          <p:cNvSpPr txBox="1"/>
          <p:nvPr/>
        </p:nvSpPr>
        <p:spPr>
          <a:xfrm>
            <a:off x="7516368" y="3822192"/>
            <a:ext cx="4346143" cy="329184"/>
          </a:xfrm>
          <a:prstGeom prst="rect">
            <a:avLst/>
          </a:prstGeom>
          <a:noFill/>
        </p:spPr>
        <p:txBody>
          <a:bodyPr wrap="square">
            <a:spAutoFit/>
          </a:bodyPr>
          <a:lstStyle/>
          <a:p>
            <a:pPr algn="l"/>
            <a:r>
              <a:rPr sz="900" b="0" i="0">
                <a:solidFill>
                  <a:srgbClr val="A0AAB8"/>
                </a:solidFill>
                <a:latin typeface="Calibri"/>
              </a:rPr>
              <a:t>Passive discovery — execute immediately</a:t>
            </a:r>
          </a:p>
        </p:txBody>
      </p:sp>
      <p:sp>
        <p:nvSpPr>
          <p:cNvPr id="70" name="Rectangle 69"/>
          <p:cNvSpPr/>
          <p:nvPr/>
        </p:nvSpPr>
        <p:spPr>
          <a:xfrm>
            <a:off x="7004304" y="4242816"/>
            <a:ext cx="4894783" cy="438912"/>
          </a:xfrm>
          <a:prstGeom prst="rect">
            <a:avLst/>
          </a:prstGeom>
          <a:solidFill>
            <a:srgbClr val="0C0E22"/>
          </a:solidFill>
          <a:ln w="889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7004304" y="4242816"/>
            <a:ext cx="457200" cy="43891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022592" y="4297680"/>
            <a:ext cx="420624" cy="329184"/>
          </a:xfrm>
          <a:prstGeom prst="rect">
            <a:avLst/>
          </a:prstGeom>
          <a:noFill/>
        </p:spPr>
        <p:txBody>
          <a:bodyPr wrap="square">
            <a:spAutoFit/>
          </a:bodyPr>
          <a:lstStyle/>
          <a:p>
            <a:pPr algn="ctr"/>
            <a:r>
              <a:rPr sz="900" b="1" i="0">
                <a:solidFill>
                  <a:srgbClr val="0A0D1A"/>
                </a:solidFill>
                <a:latin typeface="Calibri"/>
              </a:rPr>
              <a:t>MED</a:t>
            </a:r>
          </a:p>
        </p:txBody>
      </p:sp>
      <p:sp>
        <p:nvSpPr>
          <p:cNvPr id="73" name="TextBox 72"/>
          <p:cNvSpPr txBox="1"/>
          <p:nvPr/>
        </p:nvSpPr>
        <p:spPr>
          <a:xfrm>
            <a:off x="7516368" y="4297680"/>
            <a:ext cx="4346143" cy="329184"/>
          </a:xfrm>
          <a:prstGeom prst="rect">
            <a:avLst/>
          </a:prstGeom>
          <a:noFill/>
        </p:spPr>
        <p:txBody>
          <a:bodyPr wrap="square">
            <a:spAutoFit/>
          </a:bodyPr>
          <a:lstStyle/>
          <a:p>
            <a:pPr algn="l"/>
            <a:r>
              <a:rPr sz="900" b="0" i="0">
                <a:solidFill>
                  <a:srgbClr val="A0AAB8"/>
                </a:solidFill>
                <a:latin typeface="Calibri"/>
              </a:rPr>
              <a:t>Active enumeration — LLM classifier → exec</a:t>
            </a:r>
          </a:p>
        </p:txBody>
      </p:sp>
      <p:sp>
        <p:nvSpPr>
          <p:cNvPr id="74" name="Rectangle 73"/>
          <p:cNvSpPr/>
          <p:nvPr/>
        </p:nvSpPr>
        <p:spPr>
          <a:xfrm>
            <a:off x="7004304" y="4718304"/>
            <a:ext cx="4894783" cy="438912"/>
          </a:xfrm>
          <a:prstGeom prst="rect">
            <a:avLst/>
          </a:prstGeom>
          <a:solidFill>
            <a:srgbClr val="0C0E22"/>
          </a:solidFill>
          <a:ln w="889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7004304" y="4718304"/>
            <a:ext cx="457200" cy="438912"/>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022592" y="4773168"/>
            <a:ext cx="420624" cy="329184"/>
          </a:xfrm>
          <a:prstGeom prst="rect">
            <a:avLst/>
          </a:prstGeom>
          <a:noFill/>
        </p:spPr>
        <p:txBody>
          <a:bodyPr wrap="square">
            <a:spAutoFit/>
          </a:bodyPr>
          <a:lstStyle/>
          <a:p>
            <a:pPr algn="ctr"/>
            <a:r>
              <a:rPr sz="900" b="1" i="0">
                <a:solidFill>
                  <a:srgbClr val="0A0D1A"/>
                </a:solidFill>
                <a:latin typeface="Calibri"/>
              </a:rPr>
              <a:t>HIGH</a:t>
            </a:r>
          </a:p>
        </p:txBody>
      </p:sp>
      <p:sp>
        <p:nvSpPr>
          <p:cNvPr id="77" name="TextBox 76"/>
          <p:cNvSpPr txBox="1"/>
          <p:nvPr/>
        </p:nvSpPr>
        <p:spPr>
          <a:xfrm>
            <a:off x="7516368" y="4773168"/>
            <a:ext cx="4346143" cy="329184"/>
          </a:xfrm>
          <a:prstGeom prst="rect">
            <a:avLst/>
          </a:prstGeom>
          <a:noFill/>
        </p:spPr>
        <p:txBody>
          <a:bodyPr wrap="square">
            <a:spAutoFit/>
          </a:bodyPr>
          <a:lstStyle/>
          <a:p>
            <a:pPr algn="l"/>
            <a:r>
              <a:rPr sz="900" b="0" i="0">
                <a:solidFill>
                  <a:srgbClr val="A0AAB8"/>
                </a:solidFill>
                <a:latin typeface="Calibri"/>
              </a:rPr>
              <a:t>Exploit operations — Commander Mailbox approval</a:t>
            </a:r>
          </a:p>
        </p:txBody>
      </p:sp>
      <p:sp>
        <p:nvSpPr>
          <p:cNvPr id="78" name="TextBox 77"/>
          <p:cNvSpPr txBox="1"/>
          <p:nvPr/>
        </p:nvSpPr>
        <p:spPr>
          <a:xfrm>
            <a:off x="11780215" y="6355080"/>
            <a:ext cx="384048" cy="411480"/>
          </a:xfrm>
          <a:prstGeom prst="rect">
            <a:avLst/>
          </a:prstGeom>
          <a:noFill/>
        </p:spPr>
        <p:txBody>
          <a:bodyPr wrap="square">
            <a:spAutoFit/>
          </a:bodyPr>
          <a:lstStyle/>
          <a:p>
            <a:pPr algn="r"/>
            <a:r>
              <a:rPr sz="1300" b="1" i="0">
                <a:solidFill>
                  <a:srgbClr val="BD93F9"/>
                </a:solidFill>
                <a:latin typeface="Calibri"/>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3152"/>
            <a:ext cx="7315200" cy="274320"/>
          </a:xfrm>
          <a:prstGeom prst="rect">
            <a:avLst/>
          </a:prstGeom>
          <a:noFill/>
        </p:spPr>
        <p:txBody>
          <a:bodyPr wrap="square">
            <a:spAutoFit/>
          </a:bodyPr>
          <a:lstStyle/>
          <a:p>
            <a:pPr algn="ctr"/>
            <a:r>
              <a:rPr sz="1100" b="1" i="0">
                <a:solidFill>
                  <a:srgbClr val="FF4545"/>
                </a:solidFill>
                <a:latin typeface="Calibri"/>
              </a:rPr>
              <a:t>OFFENSIVE TOOL CATALOGUE</a:t>
            </a:r>
          </a:p>
        </p:txBody>
      </p:sp>
      <p:sp>
        <p:nvSpPr>
          <p:cNvPr id="6" name="TextBox 5"/>
          <p:cNvSpPr txBox="1"/>
          <p:nvPr/>
        </p:nvSpPr>
        <p:spPr>
          <a:xfrm>
            <a:off x="274320" y="347472"/>
            <a:ext cx="10972800" cy="566928"/>
          </a:xfrm>
          <a:prstGeom prst="rect">
            <a:avLst/>
          </a:prstGeom>
          <a:noFill/>
        </p:spPr>
        <p:txBody>
          <a:bodyPr wrap="square">
            <a:spAutoFit/>
          </a:bodyPr>
          <a:lstStyle/>
          <a:p>
            <a:pPr algn="ctr"/>
            <a:r>
              <a:rPr sz="3000" b="1" i="0">
                <a:solidFill>
                  <a:srgbClr val="FFFFFF"/>
                </a:solidFill>
                <a:latin typeface="Calibri"/>
              </a:rPr>
              <a:t>11 Industry-Standard Security Tools — AI Agent Operated</a:t>
            </a:r>
          </a:p>
        </p:txBody>
      </p:sp>
      <p:sp>
        <p:nvSpPr>
          <p:cNvPr id="7" name="Rectangle 6"/>
          <p:cNvSpPr/>
          <p:nvPr/>
        </p:nvSpPr>
        <p:spPr>
          <a:xfrm>
            <a:off x="274320" y="914400"/>
            <a:ext cx="5486400" cy="27432"/>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987552"/>
            <a:ext cx="3657600" cy="347472"/>
          </a:xfrm>
          <a:prstGeom prst="rect">
            <a:avLst/>
          </a:prstGeom>
          <a:solidFill>
            <a:srgbClr val="08101C"/>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042416"/>
            <a:ext cx="3520440" cy="256032"/>
          </a:xfrm>
          <a:prstGeom prst="rect">
            <a:avLst/>
          </a:prstGeom>
          <a:noFill/>
        </p:spPr>
        <p:txBody>
          <a:bodyPr wrap="square">
            <a:spAutoFit/>
          </a:bodyPr>
          <a:lstStyle/>
          <a:p>
            <a:pPr algn="ctr"/>
            <a:r>
              <a:rPr sz="950" b="1" i="0">
                <a:solidFill>
                  <a:srgbClr val="39FF14"/>
                </a:solidFill>
                <a:latin typeface="Calibri"/>
              </a:rPr>
              <a:t>PHASE 1  ·  RECONNAISSANCE</a:t>
            </a:r>
          </a:p>
        </p:txBody>
      </p:sp>
      <p:sp>
        <p:nvSpPr>
          <p:cNvPr id="10" name="Rectangle 9"/>
          <p:cNvSpPr/>
          <p:nvPr/>
        </p:nvSpPr>
        <p:spPr>
          <a:xfrm>
            <a:off x="4160520" y="987552"/>
            <a:ext cx="3657600" cy="347472"/>
          </a:xfrm>
          <a:prstGeom prst="rect">
            <a:avLst/>
          </a:prstGeom>
          <a:solidFill>
            <a:srgbClr val="08101C"/>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51960" y="1042416"/>
            <a:ext cx="3520440" cy="256032"/>
          </a:xfrm>
          <a:prstGeom prst="rect">
            <a:avLst/>
          </a:prstGeom>
          <a:noFill/>
        </p:spPr>
        <p:txBody>
          <a:bodyPr wrap="square">
            <a:spAutoFit/>
          </a:bodyPr>
          <a:lstStyle/>
          <a:p>
            <a:pPr algn="ctr"/>
            <a:r>
              <a:rPr sz="950" b="1" i="0">
                <a:solidFill>
                  <a:srgbClr val="00E5FF"/>
                </a:solidFill>
                <a:latin typeface="Calibri"/>
              </a:rPr>
              <a:t>PHASE 2  ·  ANALYSIS</a:t>
            </a:r>
          </a:p>
        </p:txBody>
      </p:sp>
      <p:sp>
        <p:nvSpPr>
          <p:cNvPr id="12" name="Rectangle 11"/>
          <p:cNvSpPr/>
          <p:nvPr/>
        </p:nvSpPr>
        <p:spPr>
          <a:xfrm>
            <a:off x="8412480" y="987552"/>
            <a:ext cx="1828800" cy="347472"/>
          </a:xfrm>
          <a:prstGeom prst="rect">
            <a:avLst/>
          </a:prstGeom>
          <a:solidFill>
            <a:srgbClr val="08101C"/>
          </a:solidFill>
          <a:ln w="1524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0" y="1042416"/>
            <a:ext cx="1691640" cy="256032"/>
          </a:xfrm>
          <a:prstGeom prst="rect">
            <a:avLst/>
          </a:prstGeom>
          <a:noFill/>
        </p:spPr>
        <p:txBody>
          <a:bodyPr wrap="square">
            <a:spAutoFit/>
          </a:bodyPr>
          <a:lstStyle/>
          <a:p>
            <a:pPr algn="ctr"/>
            <a:r>
              <a:rPr sz="950" b="1" i="0">
                <a:solidFill>
                  <a:srgbClr val="FF4545"/>
                </a:solidFill>
                <a:latin typeface="Calibri"/>
              </a:rPr>
              <a:t>PHASE 3  ·  VALIDATION</a:t>
            </a:r>
          </a:p>
        </p:txBody>
      </p:sp>
      <p:sp>
        <p:nvSpPr>
          <p:cNvPr id="14" name="Rectangle 13"/>
          <p:cNvSpPr/>
          <p:nvPr/>
        </p:nvSpPr>
        <p:spPr>
          <a:xfrm>
            <a:off x="10469880" y="987552"/>
            <a:ext cx="1554480" cy="347472"/>
          </a:xfrm>
          <a:prstGeom prst="rect">
            <a:avLst/>
          </a:prstGeom>
          <a:solidFill>
            <a:srgbClr val="08101C"/>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61320" y="1042416"/>
            <a:ext cx="1417320" cy="256032"/>
          </a:xfrm>
          <a:prstGeom prst="rect">
            <a:avLst/>
          </a:prstGeom>
          <a:noFill/>
        </p:spPr>
        <p:txBody>
          <a:bodyPr wrap="square">
            <a:spAutoFit/>
          </a:bodyPr>
          <a:lstStyle/>
          <a:p>
            <a:pPr algn="ctr"/>
            <a:r>
              <a:rPr sz="950" b="1" i="0">
                <a:solidFill>
                  <a:srgbClr val="BD93F9"/>
                </a:solidFill>
                <a:latin typeface="Calibri"/>
              </a:rPr>
              <a:t>PHASE 3  ·  EVIDENCE</a:t>
            </a:r>
          </a:p>
        </p:txBody>
      </p:sp>
      <p:sp>
        <p:nvSpPr>
          <p:cNvPr id="16" name="Rectangle 15"/>
          <p:cNvSpPr/>
          <p:nvPr/>
        </p:nvSpPr>
        <p:spPr>
          <a:xfrm>
            <a:off x="274320" y="1417320"/>
            <a:ext cx="3657600" cy="1557528"/>
          </a:xfrm>
          <a:prstGeom prst="rect">
            <a:avLst/>
          </a:prstGeom>
          <a:solidFill>
            <a:srgbClr val="10162B"/>
          </a:solidFill>
          <a:ln w="127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1417320"/>
            <a:ext cx="365760" cy="155752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2608" y="2031492"/>
            <a:ext cx="329184" cy="329184"/>
          </a:xfrm>
          <a:prstGeom prst="rect">
            <a:avLst/>
          </a:prstGeom>
          <a:noFill/>
        </p:spPr>
        <p:txBody>
          <a:bodyPr wrap="square">
            <a:spAutoFit/>
          </a:bodyPr>
          <a:lstStyle/>
          <a:p>
            <a:pPr algn="ctr"/>
            <a:r>
              <a:rPr sz="1400" b="1" i="0">
                <a:solidFill>
                  <a:srgbClr val="0A0D1A"/>
                </a:solidFill>
                <a:latin typeface="Calibri"/>
              </a:rPr>
              <a:t>1</a:t>
            </a:r>
          </a:p>
        </p:txBody>
      </p:sp>
      <p:sp>
        <p:nvSpPr>
          <p:cNvPr id="19" name="TextBox 18"/>
          <p:cNvSpPr txBox="1"/>
          <p:nvPr/>
        </p:nvSpPr>
        <p:spPr>
          <a:xfrm>
            <a:off x="731520" y="1472184"/>
            <a:ext cx="3154680" cy="274320"/>
          </a:xfrm>
          <a:prstGeom prst="rect">
            <a:avLst/>
          </a:prstGeom>
          <a:noFill/>
        </p:spPr>
        <p:txBody>
          <a:bodyPr wrap="square">
            <a:spAutoFit/>
          </a:bodyPr>
          <a:lstStyle/>
          <a:p>
            <a:pPr algn="ctr"/>
            <a:r>
              <a:rPr sz="1300" b="1" i="0">
                <a:solidFill>
                  <a:srgbClr val="39FF14"/>
                </a:solidFill>
                <a:latin typeface="Calibri"/>
              </a:rPr>
              <a:t>Amass</a:t>
            </a:r>
          </a:p>
        </p:txBody>
      </p:sp>
      <p:sp>
        <p:nvSpPr>
          <p:cNvPr id="20" name="TextBox 19"/>
          <p:cNvSpPr txBox="1"/>
          <p:nvPr/>
        </p:nvSpPr>
        <p:spPr>
          <a:xfrm>
            <a:off x="731520" y="1737360"/>
            <a:ext cx="3154680" cy="201168"/>
          </a:xfrm>
          <a:prstGeom prst="rect">
            <a:avLst/>
          </a:prstGeom>
          <a:noFill/>
        </p:spPr>
        <p:txBody>
          <a:bodyPr wrap="square">
            <a:spAutoFit/>
          </a:bodyPr>
          <a:lstStyle/>
          <a:p>
            <a:pPr algn="ctr"/>
            <a:r>
              <a:rPr sz="850" b="0" i="1">
                <a:solidFill>
                  <a:srgbClr val="A0AAB8"/>
                </a:solidFill>
                <a:latin typeface="Calibri"/>
              </a:rPr>
              <a:t>Subdomain Enumeration  ·  Recon Agent</a:t>
            </a:r>
          </a:p>
        </p:txBody>
      </p:sp>
      <p:sp>
        <p:nvSpPr>
          <p:cNvPr id="21" name="TextBox 20"/>
          <p:cNvSpPr txBox="1"/>
          <p:nvPr/>
        </p:nvSpPr>
        <p:spPr>
          <a:xfrm>
            <a:off x="731520" y="1947672"/>
            <a:ext cx="3154680" cy="963168"/>
          </a:xfrm>
          <a:prstGeom prst="rect">
            <a:avLst/>
          </a:prstGeom>
          <a:noFill/>
        </p:spPr>
        <p:txBody>
          <a:bodyPr wrap="square">
            <a:spAutoFit/>
          </a:bodyPr>
          <a:lstStyle/>
          <a:p>
            <a:pPr algn="ctr"/>
            <a:r>
              <a:rPr sz="900" b="0" i="0">
                <a:solidFill>
                  <a:srgbClr val="A0AAB8"/>
                </a:solidFill>
                <a:latin typeface="Calibri"/>
              </a:rPr>
              <a:t>DNS brute-force · certificate transparency logs · passive OSINT. Discovers all external subdomains and maps attack surface entry points.</a:t>
            </a:r>
          </a:p>
        </p:txBody>
      </p:sp>
      <p:sp>
        <p:nvSpPr>
          <p:cNvPr id="22" name="Rectangle 21"/>
          <p:cNvSpPr/>
          <p:nvPr/>
        </p:nvSpPr>
        <p:spPr>
          <a:xfrm>
            <a:off x="274320" y="3048000"/>
            <a:ext cx="3657600" cy="1557528"/>
          </a:xfrm>
          <a:prstGeom prst="rect">
            <a:avLst/>
          </a:prstGeom>
          <a:solidFill>
            <a:srgbClr val="10162B"/>
          </a:solidFill>
          <a:ln w="127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74320" y="3048000"/>
            <a:ext cx="365760" cy="155752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92608" y="3662172"/>
            <a:ext cx="329184" cy="329184"/>
          </a:xfrm>
          <a:prstGeom prst="rect">
            <a:avLst/>
          </a:prstGeom>
          <a:noFill/>
        </p:spPr>
        <p:txBody>
          <a:bodyPr wrap="square">
            <a:spAutoFit/>
          </a:bodyPr>
          <a:lstStyle/>
          <a:p>
            <a:pPr algn="ctr"/>
            <a:r>
              <a:rPr sz="1400" b="1" i="0">
                <a:solidFill>
                  <a:srgbClr val="0A0D1A"/>
                </a:solidFill>
                <a:latin typeface="Calibri"/>
              </a:rPr>
              <a:t>2</a:t>
            </a:r>
          </a:p>
        </p:txBody>
      </p:sp>
      <p:sp>
        <p:nvSpPr>
          <p:cNvPr id="25" name="TextBox 24"/>
          <p:cNvSpPr txBox="1"/>
          <p:nvPr/>
        </p:nvSpPr>
        <p:spPr>
          <a:xfrm>
            <a:off x="731520" y="3102864"/>
            <a:ext cx="3154680" cy="274320"/>
          </a:xfrm>
          <a:prstGeom prst="rect">
            <a:avLst/>
          </a:prstGeom>
          <a:noFill/>
        </p:spPr>
        <p:txBody>
          <a:bodyPr wrap="square">
            <a:spAutoFit/>
          </a:bodyPr>
          <a:lstStyle/>
          <a:p>
            <a:pPr algn="ctr"/>
            <a:r>
              <a:rPr sz="1300" b="1" i="0">
                <a:solidFill>
                  <a:srgbClr val="39FF14"/>
                </a:solidFill>
                <a:latin typeface="Calibri"/>
              </a:rPr>
              <a:t>httpx</a:t>
            </a:r>
          </a:p>
        </p:txBody>
      </p:sp>
      <p:sp>
        <p:nvSpPr>
          <p:cNvPr id="26" name="TextBox 25"/>
          <p:cNvSpPr txBox="1"/>
          <p:nvPr/>
        </p:nvSpPr>
        <p:spPr>
          <a:xfrm>
            <a:off x="731520" y="3368040"/>
            <a:ext cx="3154680" cy="201168"/>
          </a:xfrm>
          <a:prstGeom prst="rect">
            <a:avLst/>
          </a:prstGeom>
          <a:noFill/>
        </p:spPr>
        <p:txBody>
          <a:bodyPr wrap="square">
            <a:spAutoFit/>
          </a:bodyPr>
          <a:lstStyle/>
          <a:p>
            <a:pPr algn="ctr"/>
            <a:r>
              <a:rPr sz="850" b="0" i="1">
                <a:solidFill>
                  <a:srgbClr val="A0AAB8"/>
                </a:solidFill>
                <a:latin typeface="Calibri"/>
              </a:rPr>
              <a:t>Live Host Probing  ·  Recon Agent</a:t>
            </a:r>
          </a:p>
        </p:txBody>
      </p:sp>
      <p:sp>
        <p:nvSpPr>
          <p:cNvPr id="27" name="TextBox 26"/>
          <p:cNvSpPr txBox="1"/>
          <p:nvPr/>
        </p:nvSpPr>
        <p:spPr>
          <a:xfrm>
            <a:off x="731520" y="3578352"/>
            <a:ext cx="3154680" cy="963168"/>
          </a:xfrm>
          <a:prstGeom prst="rect">
            <a:avLst/>
          </a:prstGeom>
          <a:noFill/>
        </p:spPr>
        <p:txBody>
          <a:bodyPr wrap="square">
            <a:spAutoFit/>
          </a:bodyPr>
          <a:lstStyle/>
          <a:p>
            <a:pPr algn="ctr"/>
            <a:r>
              <a:rPr sz="900" b="0" i="0">
                <a:solidFill>
                  <a:srgbClr val="A0AAB8"/>
                </a:solidFill>
                <a:latin typeface="Calibri"/>
              </a:rPr>
              <a:t>Validates which discovered hosts respond over HTTP/HTTPS. Identifies web servers, status codes, redirects, TLS details.</a:t>
            </a:r>
          </a:p>
        </p:txBody>
      </p:sp>
      <p:sp>
        <p:nvSpPr>
          <p:cNvPr id="28" name="Rectangle 27"/>
          <p:cNvSpPr/>
          <p:nvPr/>
        </p:nvSpPr>
        <p:spPr>
          <a:xfrm>
            <a:off x="274320" y="4678680"/>
            <a:ext cx="3657600" cy="1557528"/>
          </a:xfrm>
          <a:prstGeom prst="rect">
            <a:avLst/>
          </a:prstGeom>
          <a:solidFill>
            <a:srgbClr val="10162B"/>
          </a:solidFill>
          <a:ln w="127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74320" y="4678680"/>
            <a:ext cx="365760" cy="155752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92608" y="5292852"/>
            <a:ext cx="329184" cy="329184"/>
          </a:xfrm>
          <a:prstGeom prst="rect">
            <a:avLst/>
          </a:prstGeom>
          <a:noFill/>
        </p:spPr>
        <p:txBody>
          <a:bodyPr wrap="square">
            <a:spAutoFit/>
          </a:bodyPr>
          <a:lstStyle/>
          <a:p>
            <a:pPr algn="ctr"/>
            <a:r>
              <a:rPr sz="1400" b="1" i="0">
                <a:solidFill>
                  <a:srgbClr val="0A0D1A"/>
                </a:solidFill>
                <a:latin typeface="Calibri"/>
              </a:rPr>
              <a:t>3</a:t>
            </a:r>
          </a:p>
        </p:txBody>
      </p:sp>
      <p:sp>
        <p:nvSpPr>
          <p:cNvPr id="31" name="TextBox 30"/>
          <p:cNvSpPr txBox="1"/>
          <p:nvPr/>
        </p:nvSpPr>
        <p:spPr>
          <a:xfrm>
            <a:off x="731520" y="4733544"/>
            <a:ext cx="3154680" cy="274320"/>
          </a:xfrm>
          <a:prstGeom prst="rect">
            <a:avLst/>
          </a:prstGeom>
          <a:noFill/>
        </p:spPr>
        <p:txBody>
          <a:bodyPr wrap="square">
            <a:spAutoFit/>
          </a:bodyPr>
          <a:lstStyle/>
          <a:p>
            <a:pPr algn="ctr"/>
            <a:r>
              <a:rPr sz="1300" b="1" i="0">
                <a:solidFill>
                  <a:srgbClr val="39FF14"/>
                </a:solidFill>
                <a:latin typeface="Calibri"/>
              </a:rPr>
              <a:t>Nmap</a:t>
            </a:r>
          </a:p>
        </p:txBody>
      </p:sp>
      <p:sp>
        <p:nvSpPr>
          <p:cNvPr id="32" name="TextBox 31"/>
          <p:cNvSpPr txBox="1"/>
          <p:nvPr/>
        </p:nvSpPr>
        <p:spPr>
          <a:xfrm>
            <a:off x="731520" y="4998720"/>
            <a:ext cx="3154680" cy="201168"/>
          </a:xfrm>
          <a:prstGeom prst="rect">
            <a:avLst/>
          </a:prstGeom>
          <a:noFill/>
        </p:spPr>
        <p:txBody>
          <a:bodyPr wrap="square">
            <a:spAutoFit/>
          </a:bodyPr>
          <a:lstStyle/>
          <a:p>
            <a:pPr algn="ctr"/>
            <a:r>
              <a:rPr sz="850" b="0" i="1">
                <a:solidFill>
                  <a:srgbClr val="A0AAB8"/>
                </a:solidFill>
                <a:latin typeface="Calibri"/>
              </a:rPr>
              <a:t>Port + Service Scan  ·  Recon Agent</a:t>
            </a:r>
          </a:p>
        </p:txBody>
      </p:sp>
      <p:sp>
        <p:nvSpPr>
          <p:cNvPr id="33" name="TextBox 32"/>
          <p:cNvSpPr txBox="1"/>
          <p:nvPr/>
        </p:nvSpPr>
        <p:spPr>
          <a:xfrm>
            <a:off x="731520" y="5209032"/>
            <a:ext cx="3154680" cy="963168"/>
          </a:xfrm>
          <a:prstGeom prst="rect">
            <a:avLst/>
          </a:prstGeom>
          <a:noFill/>
        </p:spPr>
        <p:txBody>
          <a:bodyPr wrap="square">
            <a:spAutoFit/>
          </a:bodyPr>
          <a:lstStyle/>
          <a:p>
            <a:pPr algn="ctr"/>
            <a:r>
              <a:rPr sz="900" b="0" i="0">
                <a:solidFill>
                  <a:srgbClr val="A0AAB8"/>
                </a:solidFill>
                <a:latin typeface="Calibri"/>
              </a:rPr>
              <a:t>Port scanning, service fingerprinting, OS detection. Optional NSE script execution for vuln detection on open services.</a:t>
            </a:r>
          </a:p>
        </p:txBody>
      </p:sp>
      <p:sp>
        <p:nvSpPr>
          <p:cNvPr id="34" name="Rectangle 33"/>
          <p:cNvSpPr/>
          <p:nvPr/>
        </p:nvSpPr>
        <p:spPr>
          <a:xfrm>
            <a:off x="4160520" y="1417320"/>
            <a:ext cx="4114800" cy="905256"/>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160520" y="1417320"/>
            <a:ext cx="365760" cy="9052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78808" y="1705356"/>
            <a:ext cx="329184" cy="329184"/>
          </a:xfrm>
          <a:prstGeom prst="rect">
            <a:avLst/>
          </a:prstGeom>
          <a:noFill/>
        </p:spPr>
        <p:txBody>
          <a:bodyPr wrap="square">
            <a:spAutoFit/>
          </a:bodyPr>
          <a:lstStyle/>
          <a:p>
            <a:pPr algn="ctr"/>
            <a:r>
              <a:rPr sz="1400" b="1" i="0">
                <a:solidFill>
                  <a:srgbClr val="0A0D1A"/>
                </a:solidFill>
                <a:latin typeface="Calibri"/>
              </a:rPr>
              <a:t>4</a:t>
            </a:r>
          </a:p>
        </p:txBody>
      </p:sp>
      <p:sp>
        <p:nvSpPr>
          <p:cNvPr id="37" name="TextBox 36"/>
          <p:cNvSpPr txBox="1"/>
          <p:nvPr/>
        </p:nvSpPr>
        <p:spPr>
          <a:xfrm>
            <a:off x="4617720" y="1472184"/>
            <a:ext cx="3611880" cy="274320"/>
          </a:xfrm>
          <a:prstGeom prst="rect">
            <a:avLst/>
          </a:prstGeom>
          <a:noFill/>
        </p:spPr>
        <p:txBody>
          <a:bodyPr wrap="square">
            <a:spAutoFit/>
          </a:bodyPr>
          <a:lstStyle/>
          <a:p>
            <a:pPr algn="ctr"/>
            <a:r>
              <a:rPr sz="1300" b="1" i="0">
                <a:solidFill>
                  <a:srgbClr val="00E5FF"/>
                </a:solidFill>
                <a:latin typeface="Calibri"/>
              </a:rPr>
              <a:t>WhatWeb</a:t>
            </a:r>
          </a:p>
        </p:txBody>
      </p:sp>
      <p:sp>
        <p:nvSpPr>
          <p:cNvPr id="38" name="TextBox 37"/>
          <p:cNvSpPr txBox="1"/>
          <p:nvPr/>
        </p:nvSpPr>
        <p:spPr>
          <a:xfrm>
            <a:off x="4617720" y="1737360"/>
            <a:ext cx="3611880" cy="201168"/>
          </a:xfrm>
          <a:prstGeom prst="rect">
            <a:avLst/>
          </a:prstGeom>
          <a:noFill/>
        </p:spPr>
        <p:txBody>
          <a:bodyPr wrap="square">
            <a:spAutoFit/>
          </a:bodyPr>
          <a:lstStyle/>
          <a:p>
            <a:pPr algn="ctr"/>
            <a:r>
              <a:rPr sz="850" b="0" i="1">
                <a:solidFill>
                  <a:srgbClr val="A0AAB8"/>
                </a:solidFill>
                <a:latin typeface="Calibri"/>
              </a:rPr>
              <a:t>Technology Fingerprinting  ·  Analysis Agent</a:t>
            </a:r>
          </a:p>
        </p:txBody>
      </p:sp>
      <p:sp>
        <p:nvSpPr>
          <p:cNvPr id="39" name="TextBox 38"/>
          <p:cNvSpPr txBox="1"/>
          <p:nvPr/>
        </p:nvSpPr>
        <p:spPr>
          <a:xfrm>
            <a:off x="4617720" y="1947672"/>
            <a:ext cx="3611880" cy="310896"/>
          </a:xfrm>
          <a:prstGeom prst="rect">
            <a:avLst/>
          </a:prstGeom>
          <a:noFill/>
        </p:spPr>
        <p:txBody>
          <a:bodyPr wrap="square">
            <a:spAutoFit/>
          </a:bodyPr>
          <a:lstStyle/>
          <a:p>
            <a:pPr algn="ctr"/>
            <a:r>
              <a:rPr sz="900" b="0" i="0">
                <a:solidFill>
                  <a:srgbClr val="A0AAB8"/>
                </a:solidFill>
                <a:latin typeface="Calibri"/>
              </a:rPr>
              <a:t>Identifies CMS, frameworks, server software, JS libraries, and versions from HTTP responses. Seeds Technology nodes for the ASG.</a:t>
            </a:r>
          </a:p>
        </p:txBody>
      </p:sp>
      <p:sp>
        <p:nvSpPr>
          <p:cNvPr id="40" name="Rectangle 39"/>
          <p:cNvSpPr/>
          <p:nvPr/>
        </p:nvSpPr>
        <p:spPr>
          <a:xfrm>
            <a:off x="4160520" y="2395728"/>
            <a:ext cx="4114800" cy="905256"/>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160520" y="2395728"/>
            <a:ext cx="365760" cy="9052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178808" y="2683764"/>
            <a:ext cx="329184" cy="329184"/>
          </a:xfrm>
          <a:prstGeom prst="rect">
            <a:avLst/>
          </a:prstGeom>
          <a:noFill/>
        </p:spPr>
        <p:txBody>
          <a:bodyPr wrap="square">
            <a:spAutoFit/>
          </a:bodyPr>
          <a:lstStyle/>
          <a:p>
            <a:pPr algn="ctr"/>
            <a:r>
              <a:rPr sz="1400" b="1" i="0">
                <a:solidFill>
                  <a:srgbClr val="0A0D1A"/>
                </a:solidFill>
                <a:latin typeface="Calibri"/>
              </a:rPr>
              <a:t>5</a:t>
            </a:r>
          </a:p>
        </p:txBody>
      </p:sp>
      <p:sp>
        <p:nvSpPr>
          <p:cNvPr id="43" name="TextBox 42"/>
          <p:cNvSpPr txBox="1"/>
          <p:nvPr/>
        </p:nvSpPr>
        <p:spPr>
          <a:xfrm>
            <a:off x="4617720" y="2450592"/>
            <a:ext cx="3611880" cy="274320"/>
          </a:xfrm>
          <a:prstGeom prst="rect">
            <a:avLst/>
          </a:prstGeom>
          <a:noFill/>
        </p:spPr>
        <p:txBody>
          <a:bodyPr wrap="square">
            <a:spAutoFit/>
          </a:bodyPr>
          <a:lstStyle/>
          <a:p>
            <a:pPr algn="ctr"/>
            <a:r>
              <a:rPr sz="1300" b="1" i="0">
                <a:solidFill>
                  <a:srgbClr val="00E5FF"/>
                </a:solidFill>
                <a:latin typeface="Calibri"/>
              </a:rPr>
              <a:t>Gobuster</a:t>
            </a:r>
          </a:p>
        </p:txBody>
      </p:sp>
      <p:sp>
        <p:nvSpPr>
          <p:cNvPr id="44" name="TextBox 43"/>
          <p:cNvSpPr txBox="1"/>
          <p:nvPr/>
        </p:nvSpPr>
        <p:spPr>
          <a:xfrm>
            <a:off x="4617720" y="2715768"/>
            <a:ext cx="3611880" cy="201168"/>
          </a:xfrm>
          <a:prstGeom prst="rect">
            <a:avLst/>
          </a:prstGeom>
          <a:noFill/>
        </p:spPr>
        <p:txBody>
          <a:bodyPr wrap="square">
            <a:spAutoFit/>
          </a:bodyPr>
          <a:lstStyle/>
          <a:p>
            <a:pPr algn="ctr"/>
            <a:r>
              <a:rPr sz="850" b="0" i="1">
                <a:solidFill>
                  <a:srgbClr val="A0AAB8"/>
                </a:solidFill>
                <a:latin typeface="Calibri"/>
              </a:rPr>
              <a:t>Directory Brute-Force  ·  Analysis Agent</a:t>
            </a:r>
          </a:p>
        </p:txBody>
      </p:sp>
      <p:sp>
        <p:nvSpPr>
          <p:cNvPr id="45" name="TextBox 44"/>
          <p:cNvSpPr txBox="1"/>
          <p:nvPr/>
        </p:nvSpPr>
        <p:spPr>
          <a:xfrm>
            <a:off x="4617720" y="2926080"/>
            <a:ext cx="3611880" cy="310896"/>
          </a:xfrm>
          <a:prstGeom prst="rect">
            <a:avLst/>
          </a:prstGeom>
          <a:noFill/>
        </p:spPr>
        <p:txBody>
          <a:bodyPr wrap="square">
            <a:spAutoFit/>
          </a:bodyPr>
          <a:lstStyle/>
          <a:p>
            <a:pPr algn="ctr"/>
            <a:r>
              <a:rPr sz="900" b="0" i="0">
                <a:solidFill>
                  <a:srgbClr val="A0AAB8"/>
                </a:solidFill>
                <a:latin typeface="Calibri"/>
              </a:rPr>
              <a:t>Discovers hidden paths, admin panels, backup files, and exposed resources via wordlist-based HTTP path enumeration.</a:t>
            </a:r>
          </a:p>
        </p:txBody>
      </p:sp>
      <p:sp>
        <p:nvSpPr>
          <p:cNvPr id="46" name="Rectangle 45"/>
          <p:cNvSpPr/>
          <p:nvPr/>
        </p:nvSpPr>
        <p:spPr>
          <a:xfrm>
            <a:off x="4160520" y="3374136"/>
            <a:ext cx="4114800" cy="905256"/>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160520" y="3374136"/>
            <a:ext cx="365760" cy="9052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178808" y="3662172"/>
            <a:ext cx="329184" cy="329184"/>
          </a:xfrm>
          <a:prstGeom prst="rect">
            <a:avLst/>
          </a:prstGeom>
          <a:noFill/>
        </p:spPr>
        <p:txBody>
          <a:bodyPr wrap="square">
            <a:spAutoFit/>
          </a:bodyPr>
          <a:lstStyle/>
          <a:p>
            <a:pPr algn="ctr"/>
            <a:r>
              <a:rPr sz="1400" b="1" i="0">
                <a:solidFill>
                  <a:srgbClr val="0A0D1A"/>
                </a:solidFill>
                <a:latin typeface="Calibri"/>
              </a:rPr>
              <a:t>6</a:t>
            </a:r>
          </a:p>
        </p:txBody>
      </p:sp>
      <p:sp>
        <p:nvSpPr>
          <p:cNvPr id="49" name="TextBox 48"/>
          <p:cNvSpPr txBox="1"/>
          <p:nvPr/>
        </p:nvSpPr>
        <p:spPr>
          <a:xfrm>
            <a:off x="4617720" y="3429000"/>
            <a:ext cx="3611880" cy="274320"/>
          </a:xfrm>
          <a:prstGeom prst="rect">
            <a:avLst/>
          </a:prstGeom>
          <a:noFill/>
        </p:spPr>
        <p:txBody>
          <a:bodyPr wrap="square">
            <a:spAutoFit/>
          </a:bodyPr>
          <a:lstStyle/>
          <a:p>
            <a:pPr algn="ctr"/>
            <a:r>
              <a:rPr sz="1300" b="1" i="0">
                <a:solidFill>
                  <a:srgbClr val="00E5FF"/>
                </a:solidFill>
                <a:latin typeface="Calibri"/>
              </a:rPr>
              <a:t>ffuf</a:t>
            </a:r>
          </a:p>
        </p:txBody>
      </p:sp>
      <p:sp>
        <p:nvSpPr>
          <p:cNvPr id="50" name="TextBox 49"/>
          <p:cNvSpPr txBox="1"/>
          <p:nvPr/>
        </p:nvSpPr>
        <p:spPr>
          <a:xfrm>
            <a:off x="4617720" y="3694176"/>
            <a:ext cx="3611880" cy="201168"/>
          </a:xfrm>
          <a:prstGeom prst="rect">
            <a:avLst/>
          </a:prstGeom>
          <a:noFill/>
        </p:spPr>
        <p:txBody>
          <a:bodyPr wrap="square">
            <a:spAutoFit/>
          </a:bodyPr>
          <a:lstStyle/>
          <a:p>
            <a:pPr algn="ctr"/>
            <a:r>
              <a:rPr sz="850" b="0" i="1">
                <a:solidFill>
                  <a:srgbClr val="A0AAB8"/>
                </a:solidFill>
                <a:latin typeface="Calibri"/>
              </a:rPr>
              <a:t>API + Parameter Fuzzing  ·  Analysis Agent</a:t>
            </a:r>
          </a:p>
        </p:txBody>
      </p:sp>
      <p:sp>
        <p:nvSpPr>
          <p:cNvPr id="51" name="TextBox 50"/>
          <p:cNvSpPr txBox="1"/>
          <p:nvPr/>
        </p:nvSpPr>
        <p:spPr>
          <a:xfrm>
            <a:off x="4617720" y="3904488"/>
            <a:ext cx="3611880" cy="310896"/>
          </a:xfrm>
          <a:prstGeom prst="rect">
            <a:avLst/>
          </a:prstGeom>
          <a:noFill/>
        </p:spPr>
        <p:txBody>
          <a:bodyPr wrap="square">
            <a:spAutoFit/>
          </a:bodyPr>
          <a:lstStyle/>
          <a:p>
            <a:pPr algn="ctr"/>
            <a:r>
              <a:rPr sz="900" b="0" i="0">
                <a:solidFill>
                  <a:srgbClr val="A0AAB8"/>
                </a:solidFill>
                <a:latin typeface="Calibri"/>
              </a:rPr>
              <a:t>Fast web fuzzer for API route discovery, parameter fuzzing, virtual host enumeration, and undocumented endpoint identification.</a:t>
            </a:r>
          </a:p>
        </p:txBody>
      </p:sp>
      <p:sp>
        <p:nvSpPr>
          <p:cNvPr id="52" name="Rectangle 51"/>
          <p:cNvSpPr/>
          <p:nvPr/>
        </p:nvSpPr>
        <p:spPr>
          <a:xfrm>
            <a:off x="4160520" y="4352544"/>
            <a:ext cx="4114800" cy="905256"/>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160520" y="4352544"/>
            <a:ext cx="365760" cy="9052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78808" y="4640580"/>
            <a:ext cx="329184" cy="329184"/>
          </a:xfrm>
          <a:prstGeom prst="rect">
            <a:avLst/>
          </a:prstGeom>
          <a:noFill/>
        </p:spPr>
        <p:txBody>
          <a:bodyPr wrap="square">
            <a:spAutoFit/>
          </a:bodyPr>
          <a:lstStyle/>
          <a:p>
            <a:pPr algn="ctr"/>
            <a:r>
              <a:rPr sz="1400" b="1" i="0">
                <a:solidFill>
                  <a:srgbClr val="0A0D1A"/>
                </a:solidFill>
                <a:latin typeface="Calibri"/>
              </a:rPr>
              <a:t>7</a:t>
            </a:r>
          </a:p>
        </p:txBody>
      </p:sp>
      <p:sp>
        <p:nvSpPr>
          <p:cNvPr id="55" name="TextBox 54"/>
          <p:cNvSpPr txBox="1"/>
          <p:nvPr/>
        </p:nvSpPr>
        <p:spPr>
          <a:xfrm>
            <a:off x="4617720" y="4407408"/>
            <a:ext cx="3611880" cy="274320"/>
          </a:xfrm>
          <a:prstGeom prst="rect">
            <a:avLst/>
          </a:prstGeom>
          <a:noFill/>
        </p:spPr>
        <p:txBody>
          <a:bodyPr wrap="square">
            <a:spAutoFit/>
          </a:bodyPr>
          <a:lstStyle/>
          <a:p>
            <a:pPr algn="ctr"/>
            <a:r>
              <a:rPr sz="1300" b="1" i="0">
                <a:solidFill>
                  <a:srgbClr val="00E5FF"/>
                </a:solidFill>
                <a:latin typeface="Calibri"/>
              </a:rPr>
              <a:t>Nuclei</a:t>
            </a:r>
          </a:p>
        </p:txBody>
      </p:sp>
      <p:sp>
        <p:nvSpPr>
          <p:cNvPr id="56" name="TextBox 55"/>
          <p:cNvSpPr txBox="1"/>
          <p:nvPr/>
        </p:nvSpPr>
        <p:spPr>
          <a:xfrm>
            <a:off x="4617720" y="4672584"/>
            <a:ext cx="3611880" cy="201168"/>
          </a:xfrm>
          <a:prstGeom prst="rect">
            <a:avLst/>
          </a:prstGeom>
          <a:noFill/>
        </p:spPr>
        <p:txBody>
          <a:bodyPr wrap="square">
            <a:spAutoFit/>
          </a:bodyPr>
          <a:lstStyle/>
          <a:p>
            <a:pPr algn="ctr"/>
            <a:r>
              <a:rPr sz="850" b="0" i="1">
                <a:solidFill>
                  <a:srgbClr val="A0AAB8"/>
                </a:solidFill>
                <a:latin typeface="Calibri"/>
              </a:rPr>
              <a:t>Template-Based Vuln Scan  ·  Analysis Agent</a:t>
            </a:r>
          </a:p>
        </p:txBody>
      </p:sp>
      <p:sp>
        <p:nvSpPr>
          <p:cNvPr id="57" name="TextBox 56"/>
          <p:cNvSpPr txBox="1"/>
          <p:nvPr/>
        </p:nvSpPr>
        <p:spPr>
          <a:xfrm>
            <a:off x="4617720" y="4882896"/>
            <a:ext cx="3611880" cy="310896"/>
          </a:xfrm>
          <a:prstGeom prst="rect">
            <a:avLst/>
          </a:prstGeom>
          <a:noFill/>
        </p:spPr>
        <p:txBody>
          <a:bodyPr wrap="square">
            <a:spAutoFit/>
          </a:bodyPr>
          <a:lstStyle/>
          <a:p>
            <a:pPr algn="ctr"/>
            <a:r>
              <a:rPr sz="900" b="0" i="0">
                <a:solidFill>
                  <a:srgbClr val="A0AAB8"/>
                </a:solidFill>
                <a:latin typeface="Calibri"/>
              </a:rPr>
              <a:t>Matches discovered services and technologies against a library of CVE and misconfiguration templates for automated vulnerability detection.</a:t>
            </a:r>
          </a:p>
        </p:txBody>
      </p:sp>
      <p:sp>
        <p:nvSpPr>
          <p:cNvPr id="58" name="Rectangle 57"/>
          <p:cNvSpPr/>
          <p:nvPr/>
        </p:nvSpPr>
        <p:spPr>
          <a:xfrm>
            <a:off x="4160520" y="5330952"/>
            <a:ext cx="4114800" cy="905256"/>
          </a:xfrm>
          <a:prstGeom prst="rect">
            <a:avLst/>
          </a:prstGeom>
          <a:solidFill>
            <a:srgbClr val="10162B"/>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4160520" y="5330952"/>
            <a:ext cx="365760" cy="9052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178808" y="5618988"/>
            <a:ext cx="329184" cy="329184"/>
          </a:xfrm>
          <a:prstGeom prst="rect">
            <a:avLst/>
          </a:prstGeom>
          <a:noFill/>
        </p:spPr>
        <p:txBody>
          <a:bodyPr wrap="square">
            <a:spAutoFit/>
          </a:bodyPr>
          <a:lstStyle/>
          <a:p>
            <a:pPr algn="ctr"/>
            <a:r>
              <a:rPr sz="1400" b="1" i="0">
                <a:solidFill>
                  <a:srgbClr val="0A0D1A"/>
                </a:solidFill>
                <a:latin typeface="Calibri"/>
              </a:rPr>
              <a:t>8</a:t>
            </a:r>
          </a:p>
        </p:txBody>
      </p:sp>
      <p:sp>
        <p:nvSpPr>
          <p:cNvPr id="61" name="TextBox 60"/>
          <p:cNvSpPr txBox="1"/>
          <p:nvPr/>
        </p:nvSpPr>
        <p:spPr>
          <a:xfrm>
            <a:off x="4617720" y="5385816"/>
            <a:ext cx="3611880" cy="274320"/>
          </a:xfrm>
          <a:prstGeom prst="rect">
            <a:avLst/>
          </a:prstGeom>
          <a:noFill/>
        </p:spPr>
        <p:txBody>
          <a:bodyPr wrap="square">
            <a:spAutoFit/>
          </a:bodyPr>
          <a:lstStyle/>
          <a:p>
            <a:pPr algn="ctr"/>
            <a:r>
              <a:rPr sz="1300" b="1" i="0">
                <a:solidFill>
                  <a:srgbClr val="00E5FF"/>
                </a:solidFill>
                <a:latin typeface="Calibri"/>
              </a:rPr>
              <a:t>OWASP ZAP</a:t>
            </a:r>
          </a:p>
        </p:txBody>
      </p:sp>
      <p:sp>
        <p:nvSpPr>
          <p:cNvPr id="62" name="TextBox 61"/>
          <p:cNvSpPr txBox="1"/>
          <p:nvPr/>
        </p:nvSpPr>
        <p:spPr>
          <a:xfrm>
            <a:off x="4617720" y="5650992"/>
            <a:ext cx="3611880" cy="201168"/>
          </a:xfrm>
          <a:prstGeom prst="rect">
            <a:avLst/>
          </a:prstGeom>
          <a:noFill/>
        </p:spPr>
        <p:txBody>
          <a:bodyPr wrap="square">
            <a:spAutoFit/>
          </a:bodyPr>
          <a:lstStyle/>
          <a:p>
            <a:pPr algn="ctr"/>
            <a:r>
              <a:rPr sz="850" b="0" i="1">
                <a:solidFill>
                  <a:srgbClr val="A0AAB8"/>
                </a:solidFill>
                <a:latin typeface="Calibri"/>
              </a:rPr>
              <a:t>Active Web App Scan  ·  Analysis Agent</a:t>
            </a:r>
          </a:p>
        </p:txBody>
      </p:sp>
      <p:sp>
        <p:nvSpPr>
          <p:cNvPr id="63" name="TextBox 62"/>
          <p:cNvSpPr txBox="1"/>
          <p:nvPr/>
        </p:nvSpPr>
        <p:spPr>
          <a:xfrm>
            <a:off x="4617720" y="5861304"/>
            <a:ext cx="3611880" cy="310896"/>
          </a:xfrm>
          <a:prstGeom prst="rect">
            <a:avLst/>
          </a:prstGeom>
          <a:noFill/>
        </p:spPr>
        <p:txBody>
          <a:bodyPr wrap="square">
            <a:spAutoFit/>
          </a:bodyPr>
          <a:lstStyle/>
          <a:p>
            <a:pPr algn="ctr"/>
            <a:r>
              <a:rPr sz="900" b="0" i="0">
                <a:solidFill>
                  <a:srgbClr val="A0AAB8"/>
                </a:solidFill>
                <a:latin typeface="Calibri"/>
              </a:rPr>
              <a:t>Crawls and actively tests for OWASP Top 10: XSS, CSRF, injection flaws, authentication weaknesses, and insecure direct object references.</a:t>
            </a:r>
          </a:p>
        </p:txBody>
      </p:sp>
      <p:sp>
        <p:nvSpPr>
          <p:cNvPr id="64" name="Rectangle 63"/>
          <p:cNvSpPr/>
          <p:nvPr/>
        </p:nvSpPr>
        <p:spPr>
          <a:xfrm>
            <a:off x="8412480" y="1417320"/>
            <a:ext cx="3566160" cy="1557528"/>
          </a:xfrm>
          <a:prstGeom prst="rect">
            <a:avLst/>
          </a:prstGeom>
          <a:solidFill>
            <a:srgbClr val="10162B"/>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8412480" y="1417320"/>
            <a:ext cx="365760" cy="1557528"/>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430768" y="2031492"/>
            <a:ext cx="329184" cy="329184"/>
          </a:xfrm>
          <a:prstGeom prst="rect">
            <a:avLst/>
          </a:prstGeom>
          <a:noFill/>
        </p:spPr>
        <p:txBody>
          <a:bodyPr wrap="square">
            <a:spAutoFit/>
          </a:bodyPr>
          <a:lstStyle/>
          <a:p>
            <a:pPr algn="ctr"/>
            <a:r>
              <a:rPr sz="1400" b="1" i="0">
                <a:solidFill>
                  <a:srgbClr val="0A0D1A"/>
                </a:solidFill>
                <a:latin typeface="Calibri"/>
              </a:rPr>
              <a:t>9</a:t>
            </a:r>
          </a:p>
        </p:txBody>
      </p:sp>
      <p:sp>
        <p:nvSpPr>
          <p:cNvPr id="67" name="TextBox 66"/>
          <p:cNvSpPr txBox="1"/>
          <p:nvPr/>
        </p:nvSpPr>
        <p:spPr>
          <a:xfrm>
            <a:off x="8869680" y="1472184"/>
            <a:ext cx="3063240" cy="274320"/>
          </a:xfrm>
          <a:prstGeom prst="rect">
            <a:avLst/>
          </a:prstGeom>
          <a:noFill/>
        </p:spPr>
        <p:txBody>
          <a:bodyPr wrap="square">
            <a:spAutoFit/>
          </a:bodyPr>
          <a:lstStyle/>
          <a:p>
            <a:pPr algn="ctr"/>
            <a:r>
              <a:rPr sz="1300" b="1" i="0">
                <a:solidFill>
                  <a:srgbClr val="FF4545"/>
                </a:solidFill>
                <a:latin typeface="Calibri"/>
              </a:rPr>
              <a:t>SQLMap</a:t>
            </a:r>
          </a:p>
        </p:txBody>
      </p:sp>
      <p:sp>
        <p:nvSpPr>
          <p:cNvPr id="68" name="TextBox 67"/>
          <p:cNvSpPr txBox="1"/>
          <p:nvPr/>
        </p:nvSpPr>
        <p:spPr>
          <a:xfrm>
            <a:off x="8869680" y="1737360"/>
            <a:ext cx="3063240" cy="201168"/>
          </a:xfrm>
          <a:prstGeom prst="rect">
            <a:avLst/>
          </a:prstGeom>
          <a:noFill/>
        </p:spPr>
        <p:txBody>
          <a:bodyPr wrap="square">
            <a:spAutoFit/>
          </a:bodyPr>
          <a:lstStyle/>
          <a:p>
            <a:pPr algn="ctr"/>
            <a:r>
              <a:rPr sz="850" b="0" i="1">
                <a:solidFill>
                  <a:srgbClr val="A0AAB8"/>
                </a:solidFill>
                <a:latin typeface="Calibri"/>
              </a:rPr>
              <a:t>SQL Injection Validation  ·  Validation Agent</a:t>
            </a:r>
          </a:p>
        </p:txBody>
      </p:sp>
      <p:sp>
        <p:nvSpPr>
          <p:cNvPr id="69" name="TextBox 68"/>
          <p:cNvSpPr txBox="1"/>
          <p:nvPr/>
        </p:nvSpPr>
        <p:spPr>
          <a:xfrm>
            <a:off x="8869680" y="1947672"/>
            <a:ext cx="3063240" cy="963168"/>
          </a:xfrm>
          <a:prstGeom prst="rect">
            <a:avLst/>
          </a:prstGeom>
          <a:noFill/>
        </p:spPr>
        <p:txBody>
          <a:bodyPr wrap="square">
            <a:spAutoFit/>
          </a:bodyPr>
          <a:lstStyle/>
          <a:p>
            <a:pPr algn="ctr"/>
            <a:r>
              <a:rPr sz="900" b="0" i="0">
                <a:solidFill>
                  <a:srgbClr val="A0AAB8"/>
                </a:solidFill>
                <a:latin typeface="Calibri"/>
              </a:rPr>
              <a:t>Automated SQLi detection and exploitation. Confirms injection points, extracts database data, tests for OS-level access escalation.</a:t>
            </a:r>
          </a:p>
        </p:txBody>
      </p:sp>
      <p:sp>
        <p:nvSpPr>
          <p:cNvPr id="70" name="Rectangle 69"/>
          <p:cNvSpPr/>
          <p:nvPr/>
        </p:nvSpPr>
        <p:spPr>
          <a:xfrm>
            <a:off x="8412480" y="3048000"/>
            <a:ext cx="3566160" cy="1557528"/>
          </a:xfrm>
          <a:prstGeom prst="rect">
            <a:avLst/>
          </a:prstGeom>
          <a:solidFill>
            <a:srgbClr val="10162B"/>
          </a:solidFill>
          <a:ln w="127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8412480" y="3048000"/>
            <a:ext cx="365760" cy="1557528"/>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430768" y="3662172"/>
            <a:ext cx="329184" cy="329184"/>
          </a:xfrm>
          <a:prstGeom prst="rect">
            <a:avLst/>
          </a:prstGeom>
          <a:noFill/>
        </p:spPr>
        <p:txBody>
          <a:bodyPr wrap="square">
            <a:spAutoFit/>
          </a:bodyPr>
          <a:lstStyle/>
          <a:p>
            <a:pPr algn="ctr"/>
            <a:r>
              <a:rPr sz="1400" b="1" i="0">
                <a:solidFill>
                  <a:srgbClr val="0A0D1A"/>
                </a:solidFill>
                <a:latin typeface="Calibri"/>
              </a:rPr>
              <a:t>10</a:t>
            </a:r>
          </a:p>
        </p:txBody>
      </p:sp>
      <p:sp>
        <p:nvSpPr>
          <p:cNvPr id="73" name="TextBox 72"/>
          <p:cNvSpPr txBox="1"/>
          <p:nvPr/>
        </p:nvSpPr>
        <p:spPr>
          <a:xfrm>
            <a:off x="8869680" y="3102864"/>
            <a:ext cx="3063240" cy="274320"/>
          </a:xfrm>
          <a:prstGeom prst="rect">
            <a:avLst/>
          </a:prstGeom>
          <a:noFill/>
        </p:spPr>
        <p:txBody>
          <a:bodyPr wrap="square">
            <a:spAutoFit/>
          </a:bodyPr>
          <a:lstStyle/>
          <a:p>
            <a:pPr algn="ctr"/>
            <a:r>
              <a:rPr sz="1300" b="1" i="0">
                <a:solidFill>
                  <a:srgbClr val="FF4545"/>
                </a:solidFill>
                <a:latin typeface="Calibri"/>
              </a:rPr>
              <a:t>Metasploit</a:t>
            </a:r>
          </a:p>
        </p:txBody>
      </p:sp>
      <p:sp>
        <p:nvSpPr>
          <p:cNvPr id="74" name="TextBox 73"/>
          <p:cNvSpPr txBox="1"/>
          <p:nvPr/>
        </p:nvSpPr>
        <p:spPr>
          <a:xfrm>
            <a:off x="8869680" y="3368040"/>
            <a:ext cx="3063240" cy="201168"/>
          </a:xfrm>
          <a:prstGeom prst="rect">
            <a:avLst/>
          </a:prstGeom>
          <a:noFill/>
        </p:spPr>
        <p:txBody>
          <a:bodyPr wrap="square">
            <a:spAutoFit/>
          </a:bodyPr>
          <a:lstStyle/>
          <a:p>
            <a:pPr algn="ctr"/>
            <a:r>
              <a:rPr sz="850" b="0" i="1">
                <a:solidFill>
                  <a:srgbClr val="A0AAB8"/>
                </a:solidFill>
                <a:latin typeface="Calibri"/>
              </a:rPr>
              <a:t>Exploit + RCE Demo  ·  Validation Agent</a:t>
            </a:r>
          </a:p>
        </p:txBody>
      </p:sp>
      <p:sp>
        <p:nvSpPr>
          <p:cNvPr id="75" name="TextBox 74"/>
          <p:cNvSpPr txBox="1"/>
          <p:nvPr/>
        </p:nvSpPr>
        <p:spPr>
          <a:xfrm>
            <a:off x="8869680" y="3578352"/>
            <a:ext cx="3063240" cy="963168"/>
          </a:xfrm>
          <a:prstGeom prst="rect">
            <a:avLst/>
          </a:prstGeom>
          <a:noFill/>
        </p:spPr>
        <p:txBody>
          <a:bodyPr wrap="square">
            <a:spAutoFit/>
          </a:bodyPr>
          <a:lstStyle/>
          <a:p>
            <a:pPr algn="ctr"/>
            <a:r>
              <a:rPr sz="900" b="0" i="0">
                <a:solidFill>
                  <a:srgbClr val="A0AAB8"/>
                </a:solidFill>
                <a:latin typeface="Calibri"/>
              </a:rPr>
              <a:t>Executes known exploits against identified vulnerabilities. Validates APG ChainSteps, demonstrates impact, achieves proof of exploitation.</a:t>
            </a:r>
          </a:p>
        </p:txBody>
      </p:sp>
      <p:sp>
        <p:nvSpPr>
          <p:cNvPr id="76" name="Rectangle 75"/>
          <p:cNvSpPr/>
          <p:nvPr/>
        </p:nvSpPr>
        <p:spPr>
          <a:xfrm>
            <a:off x="8412480" y="4678680"/>
            <a:ext cx="3566160" cy="1557528"/>
          </a:xfrm>
          <a:prstGeom prst="rect">
            <a:avLst/>
          </a:prstGeom>
          <a:solidFill>
            <a:srgbClr val="10162B"/>
          </a:solidFill>
          <a:ln w="1270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8412480" y="4678680"/>
            <a:ext cx="365760" cy="1557528"/>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430768" y="5292852"/>
            <a:ext cx="329184" cy="329184"/>
          </a:xfrm>
          <a:prstGeom prst="rect">
            <a:avLst/>
          </a:prstGeom>
          <a:noFill/>
        </p:spPr>
        <p:txBody>
          <a:bodyPr wrap="square">
            <a:spAutoFit/>
          </a:bodyPr>
          <a:lstStyle/>
          <a:p>
            <a:pPr algn="ctr"/>
            <a:r>
              <a:rPr sz="1400" b="1" i="0">
                <a:solidFill>
                  <a:srgbClr val="0A0D1A"/>
                </a:solidFill>
                <a:latin typeface="Calibri"/>
              </a:rPr>
              <a:t>11</a:t>
            </a:r>
          </a:p>
        </p:txBody>
      </p:sp>
      <p:sp>
        <p:nvSpPr>
          <p:cNvPr id="79" name="TextBox 78"/>
          <p:cNvSpPr txBox="1"/>
          <p:nvPr/>
        </p:nvSpPr>
        <p:spPr>
          <a:xfrm>
            <a:off x="8869680" y="4733544"/>
            <a:ext cx="3063240" cy="274320"/>
          </a:xfrm>
          <a:prstGeom prst="rect">
            <a:avLst/>
          </a:prstGeom>
          <a:noFill/>
        </p:spPr>
        <p:txBody>
          <a:bodyPr wrap="square">
            <a:spAutoFit/>
          </a:bodyPr>
          <a:lstStyle/>
          <a:p>
            <a:pPr algn="ctr"/>
            <a:r>
              <a:rPr sz="1300" b="1" i="0">
                <a:solidFill>
                  <a:srgbClr val="BD93F9"/>
                </a:solidFill>
                <a:latin typeface="Calibri"/>
              </a:rPr>
              <a:t>EyeWitness</a:t>
            </a:r>
          </a:p>
        </p:txBody>
      </p:sp>
      <p:sp>
        <p:nvSpPr>
          <p:cNvPr id="80" name="TextBox 79"/>
          <p:cNvSpPr txBox="1"/>
          <p:nvPr/>
        </p:nvSpPr>
        <p:spPr>
          <a:xfrm>
            <a:off x="8869680" y="4998720"/>
            <a:ext cx="3063240" cy="201168"/>
          </a:xfrm>
          <a:prstGeom prst="rect">
            <a:avLst/>
          </a:prstGeom>
          <a:noFill/>
        </p:spPr>
        <p:txBody>
          <a:bodyPr wrap="square">
            <a:spAutoFit/>
          </a:bodyPr>
          <a:lstStyle/>
          <a:p>
            <a:pPr algn="ctr"/>
            <a:r>
              <a:rPr sz="850" b="0" i="1">
                <a:solidFill>
                  <a:srgbClr val="A0AAB8"/>
                </a:solidFill>
                <a:latin typeface="Calibri"/>
              </a:rPr>
              <a:t>Screenshot Evidence  ·  Evidence Agent</a:t>
            </a:r>
          </a:p>
        </p:txBody>
      </p:sp>
      <p:sp>
        <p:nvSpPr>
          <p:cNvPr id="81" name="TextBox 80"/>
          <p:cNvSpPr txBox="1"/>
          <p:nvPr/>
        </p:nvSpPr>
        <p:spPr>
          <a:xfrm>
            <a:off x="8869680" y="5209032"/>
            <a:ext cx="3063240" cy="963168"/>
          </a:xfrm>
          <a:prstGeom prst="rect">
            <a:avLst/>
          </a:prstGeom>
          <a:noFill/>
        </p:spPr>
        <p:txBody>
          <a:bodyPr wrap="square">
            <a:spAutoFit/>
          </a:bodyPr>
          <a:lstStyle/>
          <a:p>
            <a:pPr algn="ctr"/>
            <a:r>
              <a:rPr sz="900" b="0" i="0">
                <a:solidFill>
                  <a:srgbClr val="A0AAB8"/>
                </a:solidFill>
                <a:latin typeface="Calibri"/>
              </a:rPr>
              <a:t>Headless screenshot capture of web pages, exposed panels, and API responses. Produces visual proof artifacts linked to ASG Evidence nodes.</a:t>
            </a:r>
          </a:p>
        </p:txBody>
      </p:sp>
      <p:sp>
        <p:nvSpPr>
          <p:cNvPr id="82" name="Rectangle 81"/>
          <p:cNvSpPr/>
          <p:nvPr/>
        </p:nvSpPr>
        <p:spPr>
          <a:xfrm>
            <a:off x="274320" y="6291072"/>
            <a:ext cx="11643055" cy="438912"/>
          </a:xfrm>
          <a:prstGeom prst="rect">
            <a:avLst/>
          </a:prstGeom>
          <a:solidFill>
            <a:srgbClr val="0E0818"/>
          </a:solidFill>
          <a:ln w="1270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57200" y="6327648"/>
            <a:ext cx="11368735" cy="365760"/>
          </a:xfrm>
          <a:prstGeom prst="rect">
            <a:avLst/>
          </a:prstGeom>
          <a:noFill/>
        </p:spPr>
        <p:txBody>
          <a:bodyPr wrap="none">
            <a:spAutoFit/>
          </a:bodyPr>
          <a:lstStyle/>
          <a:p>
            <a:pPr algn="ctr"/>
            <a:r>
              <a:rPr sz="1050" b="0" i="0">
                <a:solidFill>
                  <a:srgbClr val="BD93F9"/>
                </a:solidFill>
                <a:latin typeface="Calibri"/>
              </a:rPr>
              <a:t>🔒  Every tool is wrapped in a Tool Adapter — agents reason about targets, not command syntax.  No irreversible offensive operation executes without Commander-level scope validation.</a:t>
            </a:r>
          </a:p>
        </p:txBody>
      </p:sp>
      <p:sp>
        <p:nvSpPr>
          <p:cNvPr id="84" name="TextBox 83"/>
          <p:cNvSpPr txBox="1"/>
          <p:nvPr/>
        </p:nvSpPr>
        <p:spPr>
          <a:xfrm>
            <a:off x="11825935" y="6355080"/>
            <a:ext cx="320040" cy="411480"/>
          </a:xfrm>
          <a:prstGeom prst="rect">
            <a:avLst/>
          </a:prstGeom>
          <a:noFill/>
        </p:spPr>
        <p:txBody>
          <a:bodyPr wrap="square">
            <a:spAutoFit/>
          </a:bodyPr>
          <a:lstStyle/>
          <a:p>
            <a:pPr algn="r"/>
            <a:r>
              <a:rPr sz="1300" b="1" i="0">
                <a:solidFill>
                  <a:srgbClr val="FF4545"/>
                </a:solidFill>
                <a:latin typeface="Calibri"/>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7315200" cy="237744"/>
          </a:xfrm>
          <a:prstGeom prst="rect">
            <a:avLst/>
          </a:prstGeom>
          <a:noFill/>
        </p:spPr>
        <p:txBody>
          <a:bodyPr wrap="square">
            <a:spAutoFit/>
          </a:bodyPr>
          <a:lstStyle/>
          <a:p>
            <a:pPr algn="l"/>
            <a:r>
              <a:rPr sz="1000" b="1" i="0">
                <a:solidFill>
                  <a:srgbClr val="FF4545"/>
                </a:solidFill>
                <a:latin typeface="Calibri"/>
              </a:rPr>
              <a:t>TOOL ADAPTER LAYER / RISK GATE</a:t>
            </a:r>
          </a:p>
        </p:txBody>
      </p:sp>
      <p:sp>
        <p:nvSpPr>
          <p:cNvPr id="6" name="TextBox 5"/>
          <p:cNvSpPr txBox="1"/>
          <p:nvPr/>
        </p:nvSpPr>
        <p:spPr>
          <a:xfrm>
            <a:off x="274320" y="292608"/>
            <a:ext cx="11430000" cy="475488"/>
          </a:xfrm>
          <a:prstGeom prst="rect">
            <a:avLst/>
          </a:prstGeom>
          <a:noFill/>
        </p:spPr>
        <p:txBody>
          <a:bodyPr wrap="square">
            <a:spAutoFit/>
          </a:bodyPr>
          <a:lstStyle/>
          <a:p>
            <a:pPr algn="l"/>
            <a:r>
              <a:rPr sz="2400" b="1" i="0">
                <a:solidFill>
                  <a:srgbClr val="FFFFFF"/>
                </a:solidFill>
                <a:latin typeface="Calibri"/>
              </a:rPr>
              <a:t>Every Tool Call Passes Through a Risk Classifier Before Execution</a:t>
            </a:r>
          </a:p>
        </p:txBody>
      </p:sp>
      <p:sp>
        <p:nvSpPr>
          <p:cNvPr id="7" name="Rectangle 6"/>
          <p:cNvSpPr/>
          <p:nvPr/>
        </p:nvSpPr>
        <p:spPr>
          <a:xfrm>
            <a:off x="274320" y="822960"/>
            <a:ext cx="10058400" cy="27432"/>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01168" y="896112"/>
            <a:ext cx="7498079" cy="5705856"/>
          </a:xfrm>
          <a:prstGeom prst="rect">
            <a:avLst/>
          </a:prstGeom>
          <a:solidFill>
            <a:srgbClr val="08061A"/>
          </a:solidFill>
          <a:ln w="1524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 y="950976"/>
            <a:ext cx="7315199" cy="182880"/>
          </a:xfrm>
          <a:prstGeom prst="rect">
            <a:avLst/>
          </a:prstGeom>
          <a:noFill/>
        </p:spPr>
        <p:txBody>
          <a:bodyPr wrap="square">
            <a:spAutoFit/>
          </a:bodyPr>
          <a:lstStyle/>
          <a:p>
            <a:pPr algn="l"/>
            <a:r>
              <a:rPr sz="900" b="1" i="0">
                <a:solidFill>
                  <a:srgbClr val="FF4545"/>
                </a:solidFill>
                <a:latin typeface="Calibri"/>
              </a:rPr>
              <a:t>PRE-TOOL-USE DECISION TREE</a:t>
            </a:r>
          </a:p>
        </p:txBody>
      </p:sp>
      <p:sp>
        <p:nvSpPr>
          <p:cNvPr id="10" name="Rectangle 9"/>
          <p:cNvSpPr/>
          <p:nvPr/>
        </p:nvSpPr>
        <p:spPr>
          <a:xfrm>
            <a:off x="475488" y="1225296"/>
            <a:ext cx="6949439" cy="365760"/>
          </a:xfrm>
          <a:prstGeom prst="rect">
            <a:avLst/>
          </a:prstGeom>
          <a:solidFill>
            <a:srgbClr val="100C24"/>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 y="1280160"/>
            <a:ext cx="6839711" cy="274320"/>
          </a:xfrm>
          <a:prstGeom prst="rect">
            <a:avLst/>
          </a:prstGeom>
          <a:noFill/>
        </p:spPr>
        <p:txBody>
          <a:bodyPr wrap="square">
            <a:spAutoFit/>
          </a:bodyPr>
          <a:lstStyle/>
          <a:p>
            <a:pPr algn="l"/>
            <a:r>
              <a:rPr sz="900" b="0" i="0">
                <a:solidFill>
                  <a:srgbClr val="FFFFFF"/>
                </a:solidFill>
                <a:latin typeface="Calibri"/>
              </a:rPr>
              <a:t>Agent requests tool call  (e.g. gobuster -u target.com -w wordlist.txt)</a:t>
            </a:r>
          </a:p>
        </p:txBody>
      </p:sp>
      <p:cxnSp>
        <p:nvCxnSpPr>
          <p:cNvPr id="12" name="Connector 11"/>
          <p:cNvCxnSpPr/>
          <p:nvPr/>
        </p:nvCxnSpPr>
        <p:spPr>
          <a:xfrm>
            <a:off x="3950207.5" y="1591056"/>
            <a:ext cx="0.0" cy="201168"/>
          </a:xfrm>
          <a:prstGeom prst="line">
            <a:avLst/>
          </a:prstGeom>
          <a:ln w="17780">
            <a:solidFill>
              <a:srgbClr val="FF4545"/>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75488" y="1847088"/>
            <a:ext cx="6949439" cy="384048"/>
          </a:xfrm>
          <a:prstGeom prst="rect">
            <a:avLst/>
          </a:prstGeom>
          <a:solidFill>
            <a:srgbClr val="180606"/>
          </a:solidFill>
          <a:ln w="177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5488" y="1847088"/>
            <a:ext cx="6949439" cy="146304"/>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1856232"/>
            <a:ext cx="6812279" cy="146304"/>
          </a:xfrm>
          <a:prstGeom prst="rect">
            <a:avLst/>
          </a:prstGeom>
          <a:noFill/>
        </p:spPr>
        <p:txBody>
          <a:bodyPr wrap="square">
            <a:spAutoFit/>
          </a:bodyPr>
          <a:lstStyle/>
          <a:p>
            <a:pPr algn="ctr"/>
            <a:r>
              <a:rPr sz="800" b="1" i="0">
                <a:solidFill>
                  <a:srgbClr val="0A0D1A"/>
                </a:solidFill>
                <a:latin typeface="Calibri"/>
              </a:rPr>
              <a:t>SCOPE CHECK</a:t>
            </a:r>
          </a:p>
        </p:txBody>
      </p:sp>
      <p:sp>
        <p:nvSpPr>
          <p:cNvPr id="16" name="TextBox 15"/>
          <p:cNvSpPr txBox="1"/>
          <p:nvPr/>
        </p:nvSpPr>
        <p:spPr>
          <a:xfrm>
            <a:off x="566928" y="2011680"/>
            <a:ext cx="6839711" cy="182880"/>
          </a:xfrm>
          <a:prstGeom prst="rect">
            <a:avLst/>
          </a:prstGeom>
          <a:noFill/>
        </p:spPr>
        <p:txBody>
          <a:bodyPr wrap="square">
            <a:spAutoFit/>
          </a:bodyPr>
          <a:lstStyle/>
          <a:p>
            <a:pPr algn="l"/>
            <a:r>
              <a:rPr sz="850" b="0" i="0">
                <a:solidFill>
                  <a:srgbClr val="A0AAB8"/>
                </a:solidFill>
                <a:latin typeface="Calibri"/>
              </a:rPr>
              <a:t>Target in declared scope?  No → BLOCKED immediately, reason logged.</a:t>
            </a:r>
          </a:p>
        </p:txBody>
      </p:sp>
      <p:cxnSp>
        <p:nvCxnSpPr>
          <p:cNvPr id="17" name="Connector 16"/>
          <p:cNvCxnSpPr/>
          <p:nvPr/>
        </p:nvCxnSpPr>
        <p:spPr>
          <a:xfrm>
            <a:off x="3950207.5" y="2231136"/>
            <a:ext cx="0.0" cy="201168"/>
          </a:xfrm>
          <a:prstGeom prst="line">
            <a:avLst/>
          </a:prstGeom>
          <a:ln w="1778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475488" y="2487168"/>
            <a:ext cx="6949439" cy="384048"/>
          </a:xfrm>
          <a:prstGeom prst="rect">
            <a:avLst/>
          </a:prstGeom>
          <a:solidFill>
            <a:srgbClr val="181404"/>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75488" y="2487168"/>
            <a:ext cx="6949439" cy="14630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2496312"/>
            <a:ext cx="6812279" cy="146304"/>
          </a:xfrm>
          <a:prstGeom prst="rect">
            <a:avLst/>
          </a:prstGeom>
          <a:noFill/>
        </p:spPr>
        <p:txBody>
          <a:bodyPr wrap="square">
            <a:spAutoFit/>
          </a:bodyPr>
          <a:lstStyle/>
          <a:p>
            <a:pPr algn="ctr"/>
            <a:r>
              <a:rPr sz="800" b="1" i="0">
                <a:solidFill>
                  <a:srgbClr val="0A0D1A"/>
                </a:solidFill>
                <a:latin typeface="Calibri"/>
              </a:rPr>
              <a:t>RISK CLASSIFICATION</a:t>
            </a:r>
          </a:p>
        </p:txBody>
      </p:sp>
      <p:sp>
        <p:nvSpPr>
          <p:cNvPr id="21" name="TextBox 20"/>
          <p:cNvSpPr txBox="1"/>
          <p:nvPr/>
        </p:nvSpPr>
        <p:spPr>
          <a:xfrm>
            <a:off x="566928" y="2651760"/>
            <a:ext cx="6839711" cy="182880"/>
          </a:xfrm>
          <a:prstGeom prst="rect">
            <a:avLst/>
          </a:prstGeom>
          <a:noFill/>
        </p:spPr>
        <p:txBody>
          <a:bodyPr wrap="square">
            <a:spAutoFit/>
          </a:bodyPr>
          <a:lstStyle/>
          <a:p>
            <a:pPr algn="l"/>
            <a:r>
              <a:rPr sz="850" b="0" i="0">
                <a:solidFill>
                  <a:srgbClr val="A0AAB8"/>
                </a:solidFill>
                <a:latin typeface="Calibri"/>
              </a:rPr>
              <a:t>Three axes: Scope Alignment  ·  Chain Intent  ·  Parameter Safety  →  LOW / MED / HIGH</a:t>
            </a:r>
          </a:p>
        </p:txBody>
      </p:sp>
      <p:cxnSp>
        <p:nvCxnSpPr>
          <p:cNvPr id="22" name="Connector 21"/>
          <p:cNvCxnSpPr/>
          <p:nvPr/>
        </p:nvCxnSpPr>
        <p:spPr>
          <a:xfrm>
            <a:off x="3950207.5" y="2871216"/>
            <a:ext cx="0.0" cy="201168"/>
          </a:xfrm>
          <a:prstGeom prst="line">
            <a:avLst/>
          </a:prstGeom>
          <a:ln w="15240">
            <a:solidFill>
              <a:srgbClr val="A0AAB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475488" y="3072384"/>
            <a:ext cx="2029968" cy="1371600"/>
          </a:xfrm>
          <a:prstGeom prst="rect">
            <a:avLst/>
          </a:prstGeom>
          <a:solidFill>
            <a:srgbClr val="080C22"/>
          </a:solidFill>
          <a:ln w="2032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75488" y="3072384"/>
            <a:ext cx="2029968" cy="256032"/>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5488" y="3099816"/>
            <a:ext cx="2029968" cy="219456"/>
          </a:xfrm>
          <a:prstGeom prst="rect">
            <a:avLst/>
          </a:prstGeom>
          <a:noFill/>
        </p:spPr>
        <p:txBody>
          <a:bodyPr wrap="square">
            <a:spAutoFit/>
          </a:bodyPr>
          <a:lstStyle/>
          <a:p>
            <a:pPr algn="ctr"/>
            <a:r>
              <a:rPr sz="850" b="1" i="0">
                <a:solidFill>
                  <a:srgbClr val="0A0D1A"/>
                </a:solidFill>
                <a:latin typeface="Calibri"/>
              </a:rPr>
              <a:t>LOW
Passive Discovery</a:t>
            </a:r>
          </a:p>
        </p:txBody>
      </p:sp>
      <p:sp>
        <p:nvSpPr>
          <p:cNvPr id="26" name="TextBox 25"/>
          <p:cNvSpPr txBox="1"/>
          <p:nvPr/>
        </p:nvSpPr>
        <p:spPr>
          <a:xfrm>
            <a:off x="566928" y="3383280"/>
            <a:ext cx="1883664" cy="1024128"/>
          </a:xfrm>
          <a:prstGeom prst="rect">
            <a:avLst/>
          </a:prstGeom>
          <a:noFill/>
        </p:spPr>
        <p:txBody>
          <a:bodyPr wrap="square">
            <a:spAutoFit/>
          </a:bodyPr>
          <a:lstStyle/>
          <a:p>
            <a:pPr algn="l"/>
            <a:r>
              <a:rPr sz="850" b="0" i="0">
                <a:solidFill>
                  <a:srgbClr val="A0AAB8"/>
                </a:solidFill>
                <a:latin typeface="Calibri"/>
              </a:rPr>
              <a:t>Execute immediately
No approval required</a:t>
            </a:r>
          </a:p>
        </p:txBody>
      </p:sp>
      <p:sp>
        <p:nvSpPr>
          <p:cNvPr id="27" name="Rectangle 26"/>
          <p:cNvSpPr/>
          <p:nvPr/>
        </p:nvSpPr>
        <p:spPr>
          <a:xfrm>
            <a:off x="3017520" y="3072384"/>
            <a:ext cx="2029968" cy="1371600"/>
          </a:xfrm>
          <a:prstGeom prst="rect">
            <a:avLst/>
          </a:prstGeom>
          <a:solidFill>
            <a:srgbClr val="080C22"/>
          </a:solidFill>
          <a:ln w="2032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017520" y="3072384"/>
            <a:ext cx="2029968" cy="25603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17520" y="3099816"/>
            <a:ext cx="2029968" cy="219456"/>
          </a:xfrm>
          <a:prstGeom prst="rect">
            <a:avLst/>
          </a:prstGeom>
          <a:noFill/>
        </p:spPr>
        <p:txBody>
          <a:bodyPr wrap="square">
            <a:spAutoFit/>
          </a:bodyPr>
          <a:lstStyle/>
          <a:p>
            <a:pPr algn="ctr"/>
            <a:r>
              <a:rPr sz="850" b="1" i="0">
                <a:solidFill>
                  <a:srgbClr val="0A0D1A"/>
                </a:solidFill>
                <a:latin typeface="Calibri"/>
              </a:rPr>
              <a:t>MED
Active Enumeration</a:t>
            </a:r>
          </a:p>
        </p:txBody>
      </p:sp>
      <p:sp>
        <p:nvSpPr>
          <p:cNvPr id="30" name="TextBox 29"/>
          <p:cNvSpPr txBox="1"/>
          <p:nvPr/>
        </p:nvSpPr>
        <p:spPr>
          <a:xfrm>
            <a:off x="3108960" y="3383280"/>
            <a:ext cx="1883664" cy="1024128"/>
          </a:xfrm>
          <a:prstGeom prst="rect">
            <a:avLst/>
          </a:prstGeom>
          <a:noFill/>
        </p:spPr>
        <p:txBody>
          <a:bodyPr wrap="square">
            <a:spAutoFit/>
          </a:bodyPr>
          <a:lstStyle/>
          <a:p>
            <a:pPr algn="l"/>
            <a:r>
              <a:rPr sz="850" b="0" i="0">
                <a:solidFill>
                  <a:srgbClr val="A0AAB8"/>
                </a:solidFill>
                <a:latin typeface="Calibri"/>
              </a:rPr>
              <a:t>LLM Permission Classifier
  Fast Filter → CoT → APPROVE/MODIFY/REJECT</a:t>
            </a:r>
          </a:p>
        </p:txBody>
      </p:sp>
      <p:sp>
        <p:nvSpPr>
          <p:cNvPr id="31" name="Rectangle 30"/>
          <p:cNvSpPr/>
          <p:nvPr/>
        </p:nvSpPr>
        <p:spPr>
          <a:xfrm>
            <a:off x="5559552" y="3072384"/>
            <a:ext cx="2029968" cy="1371600"/>
          </a:xfrm>
          <a:prstGeom prst="rect">
            <a:avLst/>
          </a:prstGeom>
          <a:solidFill>
            <a:srgbClr val="080C22"/>
          </a:solidFill>
          <a:ln w="2032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559552" y="3072384"/>
            <a:ext cx="2029968" cy="256032"/>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559552" y="3099816"/>
            <a:ext cx="2029968" cy="219456"/>
          </a:xfrm>
          <a:prstGeom prst="rect">
            <a:avLst/>
          </a:prstGeom>
          <a:noFill/>
        </p:spPr>
        <p:txBody>
          <a:bodyPr wrap="square">
            <a:spAutoFit/>
          </a:bodyPr>
          <a:lstStyle/>
          <a:p>
            <a:pPr algn="ctr"/>
            <a:r>
              <a:rPr sz="850" b="1" i="0">
                <a:solidFill>
                  <a:srgbClr val="0A0D1A"/>
                </a:solidFill>
                <a:latin typeface="Calibri"/>
              </a:rPr>
              <a:t>HIGH
Exploit Operations</a:t>
            </a:r>
          </a:p>
        </p:txBody>
      </p:sp>
      <p:sp>
        <p:nvSpPr>
          <p:cNvPr id="34" name="TextBox 33"/>
          <p:cNvSpPr txBox="1"/>
          <p:nvPr/>
        </p:nvSpPr>
        <p:spPr>
          <a:xfrm>
            <a:off x="5650992" y="3383280"/>
            <a:ext cx="1883664" cy="1024128"/>
          </a:xfrm>
          <a:prstGeom prst="rect">
            <a:avLst/>
          </a:prstGeom>
          <a:noFill/>
        </p:spPr>
        <p:txBody>
          <a:bodyPr wrap="square">
            <a:spAutoFit/>
          </a:bodyPr>
          <a:lstStyle/>
          <a:p>
            <a:pPr algn="l"/>
            <a:r>
              <a:rPr sz="850" b="0" i="0">
                <a:solidFill>
                  <a:srgbClr val="A0AAB8"/>
                </a:solidFill>
                <a:latin typeface="Calibri"/>
              </a:rPr>
              <a:t>Commander Mailbox
  Human-in-the-loop APPROVE / REJECT</a:t>
            </a:r>
          </a:p>
        </p:txBody>
      </p:sp>
      <p:cxnSp>
        <p:nvCxnSpPr>
          <p:cNvPr id="35" name="Connector 34"/>
          <p:cNvCxnSpPr/>
          <p:nvPr/>
        </p:nvCxnSpPr>
        <p:spPr>
          <a:xfrm>
            <a:off x="1490472.0" y="4443984"/>
            <a:ext cx="0.0" cy="146304"/>
          </a:xfrm>
          <a:prstGeom prst="line">
            <a:avLst/>
          </a:prstGeom>
          <a:ln w="1524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475488" y="4590288"/>
            <a:ext cx="2029968" cy="27432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5488" y="4626864"/>
            <a:ext cx="2029968" cy="219456"/>
          </a:xfrm>
          <a:prstGeom prst="rect">
            <a:avLst/>
          </a:prstGeom>
          <a:noFill/>
        </p:spPr>
        <p:txBody>
          <a:bodyPr wrap="square">
            <a:spAutoFit/>
          </a:bodyPr>
          <a:lstStyle/>
          <a:p>
            <a:pPr algn="ctr"/>
            <a:r>
              <a:rPr sz="800" b="1" i="0">
                <a:solidFill>
                  <a:srgbClr val="0A0D1A"/>
                </a:solidFill>
                <a:latin typeface="Calibri"/>
              </a:rPr>
              <a:t>EXECUTE</a:t>
            </a:r>
          </a:p>
        </p:txBody>
      </p:sp>
      <p:cxnSp>
        <p:nvCxnSpPr>
          <p:cNvPr id="38" name="Connector 37"/>
          <p:cNvCxnSpPr/>
          <p:nvPr/>
        </p:nvCxnSpPr>
        <p:spPr>
          <a:xfrm>
            <a:off x="4032504.0" y="4443984"/>
            <a:ext cx="0.0" cy="146304"/>
          </a:xfrm>
          <a:prstGeom prst="line">
            <a:avLst/>
          </a:prstGeom>
          <a:ln w="1524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3017520" y="4590288"/>
            <a:ext cx="2029968" cy="2743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017520" y="4626864"/>
            <a:ext cx="2029968" cy="219456"/>
          </a:xfrm>
          <a:prstGeom prst="rect">
            <a:avLst/>
          </a:prstGeom>
          <a:noFill/>
        </p:spPr>
        <p:txBody>
          <a:bodyPr wrap="square">
            <a:spAutoFit/>
          </a:bodyPr>
          <a:lstStyle/>
          <a:p>
            <a:pPr algn="ctr"/>
            <a:r>
              <a:rPr sz="800" b="1" i="0">
                <a:solidFill>
                  <a:srgbClr val="0A0D1A"/>
                </a:solidFill>
                <a:latin typeface="Calibri"/>
              </a:rPr>
              <a:t>EXECUTE / MODIFY / REJECT</a:t>
            </a:r>
          </a:p>
        </p:txBody>
      </p:sp>
      <p:cxnSp>
        <p:nvCxnSpPr>
          <p:cNvPr id="41" name="Connector 40"/>
          <p:cNvCxnSpPr/>
          <p:nvPr/>
        </p:nvCxnSpPr>
        <p:spPr>
          <a:xfrm>
            <a:off x="6574536.0" y="4443984"/>
            <a:ext cx="0.0" cy="146304"/>
          </a:xfrm>
          <a:prstGeom prst="line">
            <a:avLst/>
          </a:prstGeom>
          <a:ln w="15240">
            <a:solidFill>
              <a:srgbClr val="FF4545"/>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5559552" y="4590288"/>
            <a:ext cx="2029968" cy="27432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559552" y="4626864"/>
            <a:ext cx="2029968" cy="219456"/>
          </a:xfrm>
          <a:prstGeom prst="rect">
            <a:avLst/>
          </a:prstGeom>
          <a:noFill/>
        </p:spPr>
        <p:txBody>
          <a:bodyPr wrap="square">
            <a:spAutoFit/>
          </a:bodyPr>
          <a:lstStyle/>
          <a:p>
            <a:pPr algn="ctr"/>
            <a:r>
              <a:rPr sz="800" b="1" i="0">
                <a:solidFill>
                  <a:srgbClr val="0A0D1A"/>
                </a:solidFill>
                <a:latin typeface="Calibri"/>
              </a:rPr>
              <a:t>APPROVE / REJECT</a:t>
            </a:r>
          </a:p>
        </p:txBody>
      </p:sp>
      <p:sp>
        <p:nvSpPr>
          <p:cNvPr id="44" name="Rectangle 43"/>
          <p:cNvSpPr/>
          <p:nvPr/>
        </p:nvSpPr>
        <p:spPr>
          <a:xfrm>
            <a:off x="475488" y="4910328"/>
            <a:ext cx="6949439" cy="384048"/>
          </a:xfrm>
          <a:prstGeom prst="rect">
            <a:avLst/>
          </a:prstGeom>
          <a:solidFill>
            <a:srgbClr val="180606"/>
          </a:solidFill>
          <a:ln w="1016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66928" y="4946904"/>
            <a:ext cx="6839711" cy="310896"/>
          </a:xfrm>
          <a:prstGeom prst="rect">
            <a:avLst/>
          </a:prstGeom>
          <a:noFill/>
        </p:spPr>
        <p:txBody>
          <a:bodyPr wrap="square">
            <a:spAutoFit/>
          </a:bodyPr>
          <a:lstStyle/>
          <a:p>
            <a:pPr algn="l"/>
            <a:r>
              <a:rPr sz="850" b="0" i="1">
                <a:solidFill>
                  <a:srgbClr val="A0AAB8"/>
                </a:solidFill>
                <a:latin typeface="Calibri"/>
              </a:rPr>
              <a:t>REJECT outcome:  Tool call cancelled.  Failure reason annotated to ASG Vulnerability node (not the APG). Commander re-reads ASG on next cycle.</a:t>
            </a:r>
          </a:p>
        </p:txBody>
      </p:sp>
      <p:sp>
        <p:nvSpPr>
          <p:cNvPr id="46" name="Rectangle 45"/>
          <p:cNvSpPr/>
          <p:nvPr/>
        </p:nvSpPr>
        <p:spPr>
          <a:xfrm>
            <a:off x="475488" y="5367528"/>
            <a:ext cx="6949439" cy="256032"/>
          </a:xfrm>
          <a:prstGeom prst="rect">
            <a:avLst/>
          </a:prstGeom>
          <a:solidFill>
            <a:srgbClr val="100A22"/>
          </a:solidFill>
          <a:ln w="1016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66928" y="5404104"/>
            <a:ext cx="6839711" cy="182880"/>
          </a:xfrm>
          <a:prstGeom prst="rect">
            <a:avLst/>
          </a:prstGeom>
          <a:noFill/>
        </p:spPr>
        <p:txBody>
          <a:bodyPr wrap="square">
            <a:spAutoFit/>
          </a:bodyPr>
          <a:lstStyle/>
          <a:p>
            <a:pPr algn="l"/>
            <a:r>
              <a:rPr sz="800" b="0" i="1">
                <a:solidFill>
                  <a:srgbClr val="BD93F9"/>
                </a:solidFill>
                <a:latin typeface="Calibri"/>
              </a:rPr>
              <a:t>Lifecycle Hooks (all 6):  PreToolUse  ·  PostToolUse  ·  PreAgentSpawn  ·  PostAgentReturn  ·  PreAPGUpdate  ·  PostMissionTerminate</a:t>
            </a:r>
          </a:p>
        </p:txBody>
      </p:sp>
      <p:sp>
        <p:nvSpPr>
          <p:cNvPr id="48" name="Rectangle 47"/>
          <p:cNvSpPr/>
          <p:nvPr/>
        </p:nvSpPr>
        <p:spPr>
          <a:xfrm>
            <a:off x="7827263" y="896112"/>
            <a:ext cx="4163264" cy="5705856"/>
          </a:xfrm>
          <a:prstGeom prst="rect">
            <a:avLst/>
          </a:prstGeom>
          <a:solidFill>
            <a:srgbClr val="060818"/>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827263" y="896112"/>
            <a:ext cx="4163264" cy="256032"/>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827263" y="932688"/>
            <a:ext cx="4163264" cy="201168"/>
          </a:xfrm>
          <a:prstGeom prst="rect">
            <a:avLst/>
          </a:prstGeom>
          <a:noFill/>
        </p:spPr>
        <p:txBody>
          <a:bodyPr wrap="square">
            <a:spAutoFit/>
          </a:bodyPr>
          <a:lstStyle/>
          <a:p>
            <a:pPr algn="ctr"/>
            <a:r>
              <a:rPr sz="950" b="1" i="0">
                <a:solidFill>
                  <a:srgbClr val="0A0D1A"/>
                </a:solidFill>
                <a:latin typeface="Calibri"/>
              </a:rPr>
              <a:t>TOOL RISK TIERS</a:t>
            </a:r>
          </a:p>
        </p:txBody>
      </p:sp>
      <p:sp>
        <p:nvSpPr>
          <p:cNvPr id="51" name="Rectangle 50"/>
          <p:cNvSpPr/>
          <p:nvPr/>
        </p:nvSpPr>
        <p:spPr>
          <a:xfrm>
            <a:off x="7918703" y="1188720"/>
            <a:ext cx="3980384" cy="1749552"/>
          </a:xfrm>
          <a:prstGeom prst="rect">
            <a:avLst/>
          </a:prstGeom>
          <a:solidFill>
            <a:srgbClr val="0C0A1E"/>
          </a:solidFill>
          <a:ln w="1143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918703" y="1188720"/>
            <a:ext cx="3980384" cy="237744"/>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991855" y="1216152"/>
            <a:ext cx="3888944" cy="201168"/>
          </a:xfrm>
          <a:prstGeom prst="rect">
            <a:avLst/>
          </a:prstGeom>
          <a:noFill/>
        </p:spPr>
        <p:txBody>
          <a:bodyPr wrap="square">
            <a:spAutoFit/>
          </a:bodyPr>
          <a:lstStyle/>
          <a:p>
            <a:pPr algn="l"/>
            <a:r>
              <a:rPr sz="900" b="1" i="0">
                <a:solidFill>
                  <a:srgbClr val="0A0D1A"/>
                </a:solidFill>
                <a:latin typeface="Calibri"/>
              </a:rPr>
              <a:t>LOW — Passive</a:t>
            </a:r>
          </a:p>
        </p:txBody>
      </p:sp>
      <p:sp>
        <p:nvSpPr>
          <p:cNvPr id="54" name="TextBox 53"/>
          <p:cNvSpPr txBox="1"/>
          <p:nvPr/>
        </p:nvSpPr>
        <p:spPr>
          <a:xfrm>
            <a:off x="7991855" y="1481328"/>
            <a:ext cx="3888944" cy="1456944"/>
          </a:xfrm>
          <a:prstGeom prst="rect">
            <a:avLst/>
          </a:prstGeom>
          <a:noFill/>
        </p:spPr>
        <p:txBody>
          <a:bodyPr wrap="square">
            <a:spAutoFit/>
          </a:bodyPr>
          <a:lstStyle/>
          <a:p>
            <a:pPr algn="l"/>
            <a:r>
              <a:rPr sz="900" b="0" i="0">
                <a:solidFill>
                  <a:srgbClr val="39FF14"/>
                </a:solidFill>
                <a:latin typeface="Calibri"/>
              </a:rPr>
              <a:t>• Amass
• httpx
• WhatWeb
• EyeWitness</a:t>
            </a:r>
          </a:p>
        </p:txBody>
      </p:sp>
      <p:sp>
        <p:nvSpPr>
          <p:cNvPr id="55" name="Rectangle 54"/>
          <p:cNvSpPr/>
          <p:nvPr/>
        </p:nvSpPr>
        <p:spPr>
          <a:xfrm>
            <a:off x="7918703" y="2993136"/>
            <a:ext cx="3980384" cy="1749552"/>
          </a:xfrm>
          <a:prstGeom prst="rect">
            <a:avLst/>
          </a:prstGeom>
          <a:solidFill>
            <a:srgbClr val="0C0A1E"/>
          </a:solidFill>
          <a:ln w="1143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918703" y="2993136"/>
            <a:ext cx="3980384" cy="23774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991855" y="3020568"/>
            <a:ext cx="3888944" cy="201168"/>
          </a:xfrm>
          <a:prstGeom prst="rect">
            <a:avLst/>
          </a:prstGeom>
          <a:noFill/>
        </p:spPr>
        <p:txBody>
          <a:bodyPr wrap="square">
            <a:spAutoFit/>
          </a:bodyPr>
          <a:lstStyle/>
          <a:p>
            <a:pPr algn="l"/>
            <a:r>
              <a:rPr sz="900" b="1" i="0">
                <a:solidFill>
                  <a:srgbClr val="0A0D1A"/>
                </a:solidFill>
                <a:latin typeface="Calibri"/>
              </a:rPr>
              <a:t>MED — Active</a:t>
            </a:r>
          </a:p>
        </p:txBody>
      </p:sp>
      <p:sp>
        <p:nvSpPr>
          <p:cNvPr id="58" name="TextBox 57"/>
          <p:cNvSpPr txBox="1"/>
          <p:nvPr/>
        </p:nvSpPr>
        <p:spPr>
          <a:xfrm>
            <a:off x="7991855" y="3285744"/>
            <a:ext cx="3888944" cy="1456944"/>
          </a:xfrm>
          <a:prstGeom prst="rect">
            <a:avLst/>
          </a:prstGeom>
          <a:noFill/>
        </p:spPr>
        <p:txBody>
          <a:bodyPr wrap="square">
            <a:spAutoFit/>
          </a:bodyPr>
          <a:lstStyle/>
          <a:p>
            <a:pPr algn="l"/>
            <a:r>
              <a:rPr sz="900" b="0" i="0">
                <a:solidFill>
                  <a:srgbClr val="FFD700"/>
                </a:solidFill>
                <a:latin typeface="Calibri"/>
              </a:rPr>
              <a:t>• Nmap
• Gobuster
• ffuf
• Nuclei
• OWASP ZAP</a:t>
            </a:r>
          </a:p>
        </p:txBody>
      </p:sp>
      <p:sp>
        <p:nvSpPr>
          <p:cNvPr id="59" name="Rectangle 58"/>
          <p:cNvSpPr/>
          <p:nvPr/>
        </p:nvSpPr>
        <p:spPr>
          <a:xfrm>
            <a:off x="7918703" y="4797552"/>
            <a:ext cx="3980384" cy="1749552"/>
          </a:xfrm>
          <a:prstGeom prst="rect">
            <a:avLst/>
          </a:prstGeom>
          <a:solidFill>
            <a:srgbClr val="0C0A1E"/>
          </a:solidFill>
          <a:ln w="1143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918703" y="4797552"/>
            <a:ext cx="3980384" cy="237744"/>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991855" y="4824984"/>
            <a:ext cx="3888944" cy="201168"/>
          </a:xfrm>
          <a:prstGeom prst="rect">
            <a:avLst/>
          </a:prstGeom>
          <a:noFill/>
        </p:spPr>
        <p:txBody>
          <a:bodyPr wrap="square">
            <a:spAutoFit/>
          </a:bodyPr>
          <a:lstStyle/>
          <a:p>
            <a:pPr algn="l"/>
            <a:r>
              <a:rPr sz="900" b="1" i="0">
                <a:solidFill>
                  <a:srgbClr val="0A0D1A"/>
                </a:solidFill>
                <a:latin typeface="Calibri"/>
              </a:rPr>
              <a:t>HIGH — Exploit</a:t>
            </a:r>
          </a:p>
        </p:txBody>
      </p:sp>
      <p:sp>
        <p:nvSpPr>
          <p:cNvPr id="62" name="TextBox 61"/>
          <p:cNvSpPr txBox="1"/>
          <p:nvPr/>
        </p:nvSpPr>
        <p:spPr>
          <a:xfrm>
            <a:off x="7991855" y="5090160"/>
            <a:ext cx="3888944" cy="1456944"/>
          </a:xfrm>
          <a:prstGeom prst="rect">
            <a:avLst/>
          </a:prstGeom>
          <a:noFill/>
        </p:spPr>
        <p:txBody>
          <a:bodyPr wrap="square">
            <a:spAutoFit/>
          </a:bodyPr>
          <a:lstStyle/>
          <a:p>
            <a:pPr algn="l"/>
            <a:r>
              <a:rPr sz="900" b="0" i="0">
                <a:solidFill>
                  <a:srgbClr val="FF4545"/>
                </a:solidFill>
                <a:latin typeface="Calibri"/>
              </a:rPr>
              <a:t>• SQLMap
• Metasploit</a:t>
            </a:r>
          </a:p>
        </p:txBody>
      </p:sp>
      <p:sp>
        <p:nvSpPr>
          <p:cNvPr id="63" name="TextBox 62"/>
          <p:cNvSpPr txBox="1"/>
          <p:nvPr/>
        </p:nvSpPr>
        <p:spPr>
          <a:xfrm>
            <a:off x="11780215" y="6355080"/>
            <a:ext cx="384048" cy="411480"/>
          </a:xfrm>
          <a:prstGeom prst="rect">
            <a:avLst/>
          </a:prstGeom>
          <a:noFill/>
        </p:spPr>
        <p:txBody>
          <a:bodyPr wrap="square">
            <a:spAutoFit/>
          </a:bodyPr>
          <a:lstStyle/>
          <a:p>
            <a:pPr algn="r"/>
            <a:r>
              <a:rPr sz="1300" b="1" i="0">
                <a:solidFill>
                  <a:srgbClr val="FF4545"/>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7315200" cy="237744"/>
          </a:xfrm>
          <a:prstGeom prst="rect">
            <a:avLst/>
          </a:prstGeom>
          <a:noFill/>
        </p:spPr>
        <p:txBody>
          <a:bodyPr wrap="square">
            <a:spAutoFit/>
          </a:bodyPr>
          <a:lstStyle/>
          <a:p>
            <a:pPr algn="l"/>
            <a:r>
              <a:rPr sz="1000" b="1" i="0">
                <a:solidFill>
                  <a:srgbClr val="00E5FF"/>
                </a:solidFill>
                <a:latin typeface="Calibri"/>
              </a:rPr>
              <a:t>AUTONOMOUS PLANNING CYCLE</a:t>
            </a:r>
          </a:p>
        </p:txBody>
      </p:sp>
      <p:sp>
        <p:nvSpPr>
          <p:cNvPr id="6" name="TextBox 5"/>
          <p:cNvSpPr txBox="1"/>
          <p:nvPr/>
        </p:nvSpPr>
        <p:spPr>
          <a:xfrm>
            <a:off x="274320" y="292608"/>
            <a:ext cx="11430000" cy="475488"/>
          </a:xfrm>
          <a:prstGeom prst="rect">
            <a:avLst/>
          </a:prstGeom>
          <a:noFill/>
        </p:spPr>
        <p:txBody>
          <a:bodyPr wrap="square">
            <a:spAutoFit/>
          </a:bodyPr>
          <a:lstStyle/>
          <a:p>
            <a:pPr algn="l"/>
            <a:r>
              <a:rPr sz="2600" b="1" i="0">
                <a:solidFill>
                  <a:srgbClr val="FFFFFF"/>
                </a:solidFill>
                <a:latin typeface="Calibri"/>
              </a:rPr>
              <a:t>Commander Loop — Graph-Driven Re-Planning on Every Cycle</a:t>
            </a:r>
          </a:p>
        </p:txBody>
      </p:sp>
      <p:sp>
        <p:nvSpPr>
          <p:cNvPr id="7" name="Rectangle 6"/>
          <p:cNvSpPr/>
          <p:nvPr/>
        </p:nvSpPr>
        <p:spPr>
          <a:xfrm>
            <a:off x="274320" y="822960"/>
            <a:ext cx="9144000" cy="27432"/>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01168" y="896112"/>
            <a:ext cx="7315200" cy="5705856"/>
          </a:xfrm>
          <a:prstGeom prst="rect">
            <a:avLst/>
          </a:prstGeom>
          <a:solidFill>
            <a:srgbClr val="040A1C"/>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2608" y="941832"/>
            <a:ext cx="7132320" cy="182880"/>
          </a:xfrm>
          <a:prstGeom prst="rect">
            <a:avLst/>
          </a:prstGeom>
          <a:noFill/>
        </p:spPr>
        <p:txBody>
          <a:bodyPr wrap="square">
            <a:spAutoFit/>
          </a:bodyPr>
          <a:lstStyle/>
          <a:p>
            <a:pPr algn="l"/>
            <a:r>
              <a:rPr sz="900" b="1" i="0">
                <a:solidFill>
                  <a:srgbClr val="00E5FF"/>
                </a:solidFill>
                <a:latin typeface="Calibri"/>
              </a:rPr>
              <a:t>COMMANDER PLANNING LOOP (executed on every cycle)</a:t>
            </a:r>
          </a:p>
        </p:txBody>
      </p:sp>
      <p:sp>
        <p:nvSpPr>
          <p:cNvPr id="10" name="Rectangle 9"/>
          <p:cNvSpPr/>
          <p:nvPr/>
        </p:nvSpPr>
        <p:spPr>
          <a:xfrm>
            <a:off x="402336" y="1152144"/>
            <a:ext cx="6912864" cy="715844"/>
          </a:xfrm>
          <a:prstGeom prst="rect">
            <a:avLst/>
          </a:prstGeom>
          <a:solidFill>
            <a:srgbClr val="04180C"/>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02336" y="1152144"/>
            <a:ext cx="1005840" cy="715844"/>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02336" y="1197864"/>
            <a:ext cx="1005840" cy="642692"/>
          </a:xfrm>
          <a:prstGeom prst="rect">
            <a:avLst/>
          </a:prstGeom>
          <a:noFill/>
        </p:spPr>
        <p:txBody>
          <a:bodyPr wrap="square">
            <a:spAutoFit/>
          </a:bodyPr>
          <a:lstStyle/>
          <a:p>
            <a:pPr algn="ctr"/>
            <a:r>
              <a:rPr sz="850" b="1" i="0">
                <a:solidFill>
                  <a:srgbClr val="0A0D1A"/>
                </a:solidFill>
                <a:latin typeface="Calibri"/>
              </a:rPr>
              <a:t>1  READ</a:t>
            </a:r>
          </a:p>
        </p:txBody>
      </p:sp>
      <p:sp>
        <p:nvSpPr>
          <p:cNvPr id="13" name="TextBox 12"/>
          <p:cNvSpPr txBox="1"/>
          <p:nvPr/>
        </p:nvSpPr>
        <p:spPr>
          <a:xfrm>
            <a:off x="1463040" y="1197864"/>
            <a:ext cx="5779008" cy="642692"/>
          </a:xfrm>
          <a:prstGeom prst="rect">
            <a:avLst/>
          </a:prstGeom>
          <a:noFill/>
        </p:spPr>
        <p:txBody>
          <a:bodyPr wrap="square">
            <a:spAutoFit/>
          </a:bodyPr>
          <a:lstStyle/>
          <a:p>
            <a:pPr algn="l"/>
            <a:r>
              <a:rPr sz="900" b="0" i="0">
                <a:solidFill>
                  <a:srgbClr val="A0AAB8"/>
                </a:solidFill>
                <a:latin typeface="Calibri"/>
              </a:rPr>
              <a:t>Read full ASG node state + APG chain priorities</a:t>
            </a:r>
          </a:p>
        </p:txBody>
      </p:sp>
      <p:cxnSp>
        <p:nvCxnSpPr>
          <p:cNvPr id="14" name="Connector 13"/>
          <p:cNvCxnSpPr/>
          <p:nvPr/>
        </p:nvCxnSpPr>
        <p:spPr>
          <a:xfrm>
            <a:off x="3493008.0" y="1867988.5714285714"/>
            <a:ext cx="0.0" cy="54864.0"/>
          </a:xfrm>
          <a:prstGeom prst="line">
            <a:avLst/>
          </a:prstGeom>
          <a:ln w="1778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02336" y="1922852"/>
            <a:ext cx="6912864" cy="715844"/>
          </a:xfrm>
          <a:prstGeom prst="rect">
            <a:avLst/>
          </a:prstGeom>
          <a:solidFill>
            <a:srgbClr val="041220"/>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02336" y="1922852"/>
            <a:ext cx="1005840" cy="715844"/>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2336" y="1968572"/>
            <a:ext cx="1005840" cy="642692"/>
          </a:xfrm>
          <a:prstGeom prst="rect">
            <a:avLst/>
          </a:prstGeom>
          <a:noFill/>
        </p:spPr>
        <p:txBody>
          <a:bodyPr wrap="square">
            <a:spAutoFit/>
          </a:bodyPr>
          <a:lstStyle/>
          <a:p>
            <a:pPr algn="ctr"/>
            <a:r>
              <a:rPr sz="850" b="1" i="0">
                <a:solidFill>
                  <a:srgbClr val="0A0D1A"/>
                </a:solidFill>
                <a:latin typeface="Calibri"/>
              </a:rPr>
              <a:t>2  TERMINATE?</a:t>
            </a:r>
          </a:p>
        </p:txBody>
      </p:sp>
      <p:sp>
        <p:nvSpPr>
          <p:cNvPr id="18" name="TextBox 17"/>
          <p:cNvSpPr txBox="1"/>
          <p:nvPr/>
        </p:nvSpPr>
        <p:spPr>
          <a:xfrm>
            <a:off x="1463040" y="1968572"/>
            <a:ext cx="5779008" cy="642692"/>
          </a:xfrm>
          <a:prstGeom prst="rect">
            <a:avLst/>
          </a:prstGeom>
          <a:noFill/>
        </p:spPr>
        <p:txBody>
          <a:bodyPr wrap="square">
            <a:spAutoFit/>
          </a:bodyPr>
          <a:lstStyle/>
          <a:p>
            <a:pPr algn="l"/>
            <a:r>
              <a:rPr sz="900" b="0" i="0">
                <a:solidFill>
                  <a:srgbClr val="A0AAB8"/>
                </a:solidFill>
                <a:latin typeface="Calibri"/>
              </a:rPr>
              <a:t>Both conditions met?  ASG exhausted + all APG chains resolved → END</a:t>
            </a:r>
          </a:p>
        </p:txBody>
      </p:sp>
      <p:cxnSp>
        <p:nvCxnSpPr>
          <p:cNvPr id="19" name="Connector 18"/>
          <p:cNvCxnSpPr/>
          <p:nvPr/>
        </p:nvCxnSpPr>
        <p:spPr>
          <a:xfrm>
            <a:off x="3493008.0" y="2638697.1428571427"/>
            <a:ext cx="0.0" cy="54864.0"/>
          </a:xfrm>
          <a:prstGeom prst="line">
            <a:avLst/>
          </a:prstGeom>
          <a:ln w="1778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402336" y="2693561"/>
            <a:ext cx="6912864" cy="715844"/>
          </a:xfrm>
          <a:prstGeom prst="rect">
            <a:avLst/>
          </a:prstGeom>
          <a:solidFill>
            <a:srgbClr val="181202"/>
          </a:solidFill>
          <a:ln w="1524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02336" y="2693561"/>
            <a:ext cx="1005840" cy="71584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02336" y="2739281"/>
            <a:ext cx="1005840" cy="642692"/>
          </a:xfrm>
          <a:prstGeom prst="rect">
            <a:avLst/>
          </a:prstGeom>
          <a:noFill/>
        </p:spPr>
        <p:txBody>
          <a:bodyPr wrap="square">
            <a:spAutoFit/>
          </a:bodyPr>
          <a:lstStyle/>
          <a:p>
            <a:pPr algn="ctr"/>
            <a:r>
              <a:rPr sz="850" b="1" i="0">
                <a:solidFill>
                  <a:srgbClr val="0A0D1A"/>
                </a:solidFill>
                <a:latin typeface="Calibri"/>
              </a:rPr>
              <a:t>3  CYCLE GUARD</a:t>
            </a:r>
          </a:p>
        </p:txBody>
      </p:sp>
      <p:sp>
        <p:nvSpPr>
          <p:cNvPr id="23" name="TextBox 22"/>
          <p:cNvSpPr txBox="1"/>
          <p:nvPr/>
        </p:nvSpPr>
        <p:spPr>
          <a:xfrm>
            <a:off x="1463040" y="2739281"/>
            <a:ext cx="5779008" cy="642692"/>
          </a:xfrm>
          <a:prstGeom prst="rect">
            <a:avLst/>
          </a:prstGeom>
          <a:noFill/>
        </p:spPr>
        <p:txBody>
          <a:bodyPr wrap="square">
            <a:spAutoFit/>
          </a:bodyPr>
          <a:lstStyle/>
          <a:p>
            <a:pPr algn="l"/>
            <a:r>
              <a:rPr sz="900" b="0" i="0">
                <a:solidFill>
                  <a:srgbClr val="A0AAB8"/>
                </a:solidFill>
                <a:latin typeface="Calibri"/>
              </a:rPr>
              <a:t>Detect repeated identical tool call sequences → flag as fixation</a:t>
            </a:r>
          </a:p>
        </p:txBody>
      </p:sp>
      <p:cxnSp>
        <p:nvCxnSpPr>
          <p:cNvPr id="24" name="Connector 23"/>
          <p:cNvCxnSpPr/>
          <p:nvPr/>
        </p:nvCxnSpPr>
        <p:spPr>
          <a:xfrm>
            <a:off x="3493008.0" y="3409405.714285714"/>
            <a:ext cx="0.0" cy="54864.0"/>
          </a:xfrm>
          <a:prstGeom prst="line">
            <a:avLst/>
          </a:prstGeom>
          <a:ln w="1778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402336" y="3464269"/>
            <a:ext cx="6912864" cy="715844"/>
          </a:xfrm>
          <a:prstGeom prst="rect">
            <a:avLst/>
          </a:prstGeom>
          <a:solidFill>
            <a:srgbClr val="10061C"/>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02336" y="3464269"/>
            <a:ext cx="1005840" cy="715844"/>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02336" y="3509989"/>
            <a:ext cx="1005840" cy="642692"/>
          </a:xfrm>
          <a:prstGeom prst="rect">
            <a:avLst/>
          </a:prstGeom>
          <a:noFill/>
        </p:spPr>
        <p:txBody>
          <a:bodyPr wrap="square">
            <a:spAutoFit/>
          </a:bodyPr>
          <a:lstStyle/>
          <a:p>
            <a:pPr algn="ctr"/>
            <a:r>
              <a:rPr sz="850" b="1" i="0">
                <a:solidFill>
                  <a:srgbClr val="0A0D1A"/>
                </a:solidFill>
                <a:latin typeface="Calibri"/>
              </a:rPr>
              <a:t>4  PLAN</a:t>
            </a:r>
          </a:p>
        </p:txBody>
      </p:sp>
      <p:sp>
        <p:nvSpPr>
          <p:cNvPr id="28" name="TextBox 27"/>
          <p:cNvSpPr txBox="1"/>
          <p:nvPr/>
        </p:nvSpPr>
        <p:spPr>
          <a:xfrm>
            <a:off x="1463040" y="3509989"/>
            <a:ext cx="5779008" cy="642692"/>
          </a:xfrm>
          <a:prstGeom prst="rect">
            <a:avLst/>
          </a:prstGeom>
          <a:noFill/>
        </p:spPr>
        <p:txBody>
          <a:bodyPr wrap="square">
            <a:spAutoFit/>
          </a:bodyPr>
          <a:lstStyle/>
          <a:p>
            <a:pPr algn="l"/>
            <a:r>
              <a:rPr sz="900" b="0" i="0">
                <a:solidFill>
                  <a:srgbClr val="A0AAB8"/>
                </a:solidFill>
                <a:latin typeface="Calibri"/>
              </a:rPr>
              <a:t>Select highest-priority HYPOTHESIZED chain · decide next ChainStep · choose agent</a:t>
            </a:r>
          </a:p>
        </p:txBody>
      </p:sp>
      <p:cxnSp>
        <p:nvCxnSpPr>
          <p:cNvPr id="29" name="Connector 28"/>
          <p:cNvCxnSpPr/>
          <p:nvPr/>
        </p:nvCxnSpPr>
        <p:spPr>
          <a:xfrm>
            <a:off x="3493008.0" y="4180114.285714286"/>
            <a:ext cx="0.0" cy="54863.999999999534"/>
          </a:xfrm>
          <a:prstGeom prst="line">
            <a:avLst/>
          </a:prstGeom>
          <a:ln w="17780">
            <a:solidFill>
              <a:srgbClr val="BD93F9"/>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402336" y="4234978"/>
            <a:ext cx="6912864" cy="715844"/>
          </a:xfrm>
          <a:prstGeom prst="rect">
            <a:avLst/>
          </a:prstGeom>
          <a:solidFill>
            <a:srgbClr val="04180C"/>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02336" y="4234978"/>
            <a:ext cx="1005840" cy="715844"/>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02336" y="4280698"/>
            <a:ext cx="1005840" cy="642692"/>
          </a:xfrm>
          <a:prstGeom prst="rect">
            <a:avLst/>
          </a:prstGeom>
          <a:noFill/>
        </p:spPr>
        <p:txBody>
          <a:bodyPr wrap="square">
            <a:spAutoFit/>
          </a:bodyPr>
          <a:lstStyle/>
          <a:p>
            <a:pPr algn="ctr"/>
            <a:r>
              <a:rPr sz="850" b="1" i="0">
                <a:solidFill>
                  <a:srgbClr val="0A0D1A"/>
                </a:solidFill>
                <a:latin typeface="Calibri"/>
              </a:rPr>
              <a:t>5  DISPATCH</a:t>
            </a:r>
          </a:p>
        </p:txBody>
      </p:sp>
      <p:sp>
        <p:nvSpPr>
          <p:cNvPr id="33" name="TextBox 32"/>
          <p:cNvSpPr txBox="1"/>
          <p:nvPr/>
        </p:nvSpPr>
        <p:spPr>
          <a:xfrm>
            <a:off x="1463040" y="4280698"/>
            <a:ext cx="5779008" cy="642692"/>
          </a:xfrm>
          <a:prstGeom prst="rect">
            <a:avLst/>
          </a:prstGeom>
          <a:noFill/>
        </p:spPr>
        <p:txBody>
          <a:bodyPr wrap="square">
            <a:spAutoFit/>
          </a:bodyPr>
          <a:lstStyle/>
          <a:p>
            <a:pPr algn="l"/>
            <a:r>
              <a:rPr sz="900" b="0" i="0">
                <a:solidFill>
                  <a:srgbClr val="A0AAB8"/>
                </a:solidFill>
                <a:latin typeface="Calibri"/>
              </a:rPr>
              <a:t>Spawn agent with scoped context (ASG slice + APG slice + task)</a:t>
            </a:r>
          </a:p>
        </p:txBody>
      </p:sp>
      <p:cxnSp>
        <p:nvCxnSpPr>
          <p:cNvPr id="34" name="Connector 33"/>
          <p:cNvCxnSpPr/>
          <p:nvPr/>
        </p:nvCxnSpPr>
        <p:spPr>
          <a:xfrm>
            <a:off x="3493008.0" y="4950822.857142857"/>
            <a:ext cx="0.0" cy="54864.0"/>
          </a:xfrm>
          <a:prstGeom prst="line">
            <a:avLst/>
          </a:prstGeom>
          <a:ln w="1778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402336" y="5005686"/>
            <a:ext cx="6912864" cy="715844"/>
          </a:xfrm>
          <a:prstGeom prst="rect">
            <a:avLst/>
          </a:prstGeom>
          <a:solidFill>
            <a:srgbClr val="041422"/>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02336" y="5005686"/>
            <a:ext cx="1005840" cy="715844"/>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02336" y="5051406"/>
            <a:ext cx="1005840" cy="642692"/>
          </a:xfrm>
          <a:prstGeom prst="rect">
            <a:avLst/>
          </a:prstGeom>
          <a:noFill/>
        </p:spPr>
        <p:txBody>
          <a:bodyPr wrap="square">
            <a:spAutoFit/>
          </a:bodyPr>
          <a:lstStyle/>
          <a:p>
            <a:pPr algn="ctr"/>
            <a:r>
              <a:rPr sz="850" b="1" i="0">
                <a:solidFill>
                  <a:srgbClr val="0A0D1A"/>
                </a:solidFill>
                <a:latin typeface="Calibri"/>
              </a:rPr>
              <a:t>6  AWAIT DELTA</a:t>
            </a:r>
          </a:p>
        </p:txBody>
      </p:sp>
      <p:sp>
        <p:nvSpPr>
          <p:cNvPr id="38" name="TextBox 37"/>
          <p:cNvSpPr txBox="1"/>
          <p:nvPr/>
        </p:nvSpPr>
        <p:spPr>
          <a:xfrm>
            <a:off x="1463040" y="5051406"/>
            <a:ext cx="5779008" cy="642692"/>
          </a:xfrm>
          <a:prstGeom prst="rect">
            <a:avLst/>
          </a:prstGeom>
          <a:noFill/>
        </p:spPr>
        <p:txBody>
          <a:bodyPr wrap="square">
            <a:spAutoFit/>
          </a:bodyPr>
          <a:lstStyle/>
          <a:p>
            <a:pPr algn="l"/>
            <a:r>
              <a:rPr sz="900" b="0" i="0">
                <a:solidFill>
                  <a:srgbClr val="A0AAB8"/>
                </a:solidFill>
                <a:latin typeface="Calibri"/>
              </a:rPr>
              <a:t>Receive ASG delta from returned agent · write new nodes + edges</a:t>
            </a:r>
          </a:p>
        </p:txBody>
      </p:sp>
      <p:cxnSp>
        <p:nvCxnSpPr>
          <p:cNvPr id="39" name="Connector 38"/>
          <p:cNvCxnSpPr/>
          <p:nvPr/>
        </p:nvCxnSpPr>
        <p:spPr>
          <a:xfrm>
            <a:off x="3493008.0" y="5721531.428571429"/>
            <a:ext cx="0.0" cy="54864.0"/>
          </a:xfrm>
          <a:prstGeom prst="line">
            <a:avLst/>
          </a:prstGeom>
          <a:ln w="1778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402336" y="5776395"/>
            <a:ext cx="6912864" cy="715844"/>
          </a:xfrm>
          <a:prstGeom prst="rect">
            <a:avLst/>
          </a:prstGeom>
          <a:solidFill>
            <a:srgbClr val="1C1202"/>
          </a:solidFill>
          <a:ln w="1524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02336" y="5776395"/>
            <a:ext cx="1005840" cy="71584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02336" y="5822115"/>
            <a:ext cx="1005840" cy="642692"/>
          </a:xfrm>
          <a:prstGeom prst="rect">
            <a:avLst/>
          </a:prstGeom>
          <a:noFill/>
        </p:spPr>
        <p:txBody>
          <a:bodyPr wrap="square">
            <a:spAutoFit/>
          </a:bodyPr>
          <a:lstStyle/>
          <a:p>
            <a:pPr algn="ctr"/>
            <a:r>
              <a:rPr sz="850" b="1" i="0">
                <a:solidFill>
                  <a:srgbClr val="0A0D1A"/>
                </a:solidFill>
                <a:latin typeface="Calibri"/>
              </a:rPr>
              <a:t>7  APG UPDATE</a:t>
            </a:r>
          </a:p>
        </p:txBody>
      </p:sp>
      <p:sp>
        <p:nvSpPr>
          <p:cNvPr id="43" name="TextBox 42"/>
          <p:cNvSpPr txBox="1"/>
          <p:nvPr/>
        </p:nvSpPr>
        <p:spPr>
          <a:xfrm>
            <a:off x="1463040" y="5822115"/>
            <a:ext cx="5779008" cy="642692"/>
          </a:xfrm>
          <a:prstGeom prst="rect">
            <a:avLst/>
          </a:prstGeom>
          <a:noFill/>
        </p:spPr>
        <p:txBody>
          <a:bodyPr wrap="square">
            <a:spAutoFit/>
          </a:bodyPr>
          <a:lstStyle/>
          <a:p>
            <a:pPr algn="l"/>
            <a:r>
              <a:rPr sz="900" b="0" i="0">
                <a:solidFill>
                  <a:srgbClr val="A0AAB8"/>
                </a:solidFill>
                <a:latin typeface="Calibri"/>
              </a:rPr>
              <a:t>Re-evaluate chains: new Vulnerability node? → seed new AttackChain</a:t>
            </a:r>
          </a:p>
        </p:txBody>
      </p:sp>
      <p:sp>
        <p:nvSpPr>
          <p:cNvPr id="44" name="Rectangle 43"/>
          <p:cNvSpPr/>
          <p:nvPr/>
        </p:nvSpPr>
        <p:spPr>
          <a:xfrm>
            <a:off x="7242048" y="1152144"/>
            <a:ext cx="54864" cy="539496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5" name="Connector 44"/>
          <p:cNvCxnSpPr/>
          <p:nvPr/>
        </p:nvCxnSpPr>
        <p:spPr>
          <a:xfrm flipH="1">
            <a:off x="1408176" y="1152144"/>
            <a:ext cx="5833872" cy="0"/>
          </a:xfrm>
          <a:prstGeom prst="line">
            <a:avLst/>
          </a:prstGeom>
          <a:ln w="1778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315200" y="1188720"/>
            <a:ext cx="731520" cy="182880"/>
          </a:xfrm>
          <a:prstGeom prst="rect">
            <a:avLst/>
          </a:prstGeom>
          <a:noFill/>
        </p:spPr>
        <p:txBody>
          <a:bodyPr wrap="square">
            <a:spAutoFit/>
          </a:bodyPr>
          <a:lstStyle/>
          <a:p>
            <a:pPr algn="l"/>
            <a:r>
              <a:rPr sz="750" b="0" i="1">
                <a:solidFill>
                  <a:srgbClr val="00E5FF"/>
                </a:solidFill>
                <a:latin typeface="Calibri"/>
              </a:rPr>
              <a:t>next cycle</a:t>
            </a:r>
          </a:p>
        </p:txBody>
      </p:sp>
      <p:sp>
        <p:nvSpPr>
          <p:cNvPr id="47" name="Rectangle 46"/>
          <p:cNvSpPr/>
          <p:nvPr/>
        </p:nvSpPr>
        <p:spPr>
          <a:xfrm>
            <a:off x="7644384" y="896112"/>
            <a:ext cx="4346143" cy="2624693"/>
          </a:xfrm>
          <a:prstGeom prst="rect">
            <a:avLst/>
          </a:prstGeom>
          <a:solidFill>
            <a:srgbClr val="181402"/>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644384" y="896112"/>
            <a:ext cx="4346143" cy="2743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644384" y="932688"/>
            <a:ext cx="4346143" cy="219456"/>
          </a:xfrm>
          <a:prstGeom prst="rect">
            <a:avLst/>
          </a:prstGeom>
          <a:noFill/>
        </p:spPr>
        <p:txBody>
          <a:bodyPr wrap="square">
            <a:spAutoFit/>
          </a:bodyPr>
          <a:lstStyle/>
          <a:p>
            <a:pPr algn="ctr"/>
            <a:r>
              <a:rPr sz="950" b="1" i="0">
                <a:solidFill>
                  <a:srgbClr val="0A0D1A"/>
                </a:solidFill>
                <a:latin typeface="Calibri"/>
              </a:rPr>
              <a:t>CYCLE GUARD  (detection)</a:t>
            </a:r>
          </a:p>
        </p:txBody>
      </p:sp>
      <p:sp>
        <p:nvSpPr>
          <p:cNvPr id="50" name="Rectangle 49"/>
          <p:cNvSpPr/>
          <p:nvPr/>
        </p:nvSpPr>
        <p:spPr>
          <a:xfrm>
            <a:off x="7735824" y="1243584"/>
            <a:ext cx="4163263" cy="292608"/>
          </a:xfrm>
          <a:prstGeom prst="rect">
            <a:avLst/>
          </a:prstGeom>
          <a:solidFill>
            <a:srgbClr val="1E1804"/>
          </a:solidFill>
          <a:ln w="50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808976" y="1280160"/>
            <a:ext cx="4071823" cy="219456"/>
          </a:xfrm>
          <a:prstGeom prst="rect">
            <a:avLst/>
          </a:prstGeom>
          <a:noFill/>
        </p:spPr>
        <p:txBody>
          <a:bodyPr wrap="square">
            <a:spAutoFit/>
          </a:bodyPr>
          <a:lstStyle/>
          <a:p>
            <a:pPr algn="l"/>
            <a:r>
              <a:rPr sz="900" b="0" i="0">
                <a:solidFill>
                  <a:srgbClr val="A0AAB8"/>
                </a:solidFill>
                <a:latin typeface="Calibri"/>
              </a:rPr>
              <a:t>→  Monitors Commander's tool call history per cycle</a:t>
            </a:r>
          </a:p>
        </p:txBody>
      </p:sp>
      <p:sp>
        <p:nvSpPr>
          <p:cNvPr id="52" name="Rectangle 51"/>
          <p:cNvSpPr/>
          <p:nvPr/>
        </p:nvSpPr>
        <p:spPr>
          <a:xfrm>
            <a:off x="7735824" y="1591056"/>
            <a:ext cx="4163263" cy="292608"/>
          </a:xfrm>
          <a:prstGeom prst="rect">
            <a:avLst/>
          </a:prstGeom>
          <a:solidFill>
            <a:srgbClr val="1E1804"/>
          </a:solidFill>
          <a:ln w="50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808976" y="1627632"/>
            <a:ext cx="4071823" cy="219456"/>
          </a:xfrm>
          <a:prstGeom prst="rect">
            <a:avLst/>
          </a:prstGeom>
          <a:noFill/>
        </p:spPr>
        <p:txBody>
          <a:bodyPr wrap="square">
            <a:spAutoFit/>
          </a:bodyPr>
          <a:lstStyle/>
          <a:p>
            <a:pPr algn="l"/>
            <a:r>
              <a:rPr sz="900" b="0" i="0">
                <a:solidFill>
                  <a:srgbClr val="A0AAB8"/>
                </a:solidFill>
                <a:latin typeface="Calibri"/>
              </a:rPr>
              <a:t>→  If identical sequence repeats ≥ N times → fixation flag</a:t>
            </a:r>
          </a:p>
        </p:txBody>
      </p:sp>
      <p:sp>
        <p:nvSpPr>
          <p:cNvPr id="54" name="Rectangle 53"/>
          <p:cNvSpPr/>
          <p:nvPr/>
        </p:nvSpPr>
        <p:spPr>
          <a:xfrm>
            <a:off x="7735824" y="1938528"/>
            <a:ext cx="4163263" cy="292608"/>
          </a:xfrm>
          <a:prstGeom prst="rect">
            <a:avLst/>
          </a:prstGeom>
          <a:solidFill>
            <a:srgbClr val="1E1804"/>
          </a:solidFill>
          <a:ln w="50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808976" y="1975104"/>
            <a:ext cx="4071823" cy="219456"/>
          </a:xfrm>
          <a:prstGeom prst="rect">
            <a:avLst/>
          </a:prstGeom>
          <a:noFill/>
        </p:spPr>
        <p:txBody>
          <a:bodyPr wrap="square">
            <a:spAutoFit/>
          </a:bodyPr>
          <a:lstStyle/>
          <a:p>
            <a:pPr algn="l"/>
            <a:r>
              <a:rPr sz="900" b="0" i="0">
                <a:solidFill>
                  <a:srgbClr val="A0AAB8"/>
                </a:solidFill>
                <a:latin typeface="Calibri"/>
              </a:rPr>
              <a:t>→  Trigger: inject Reflector corrective prompt</a:t>
            </a:r>
          </a:p>
        </p:txBody>
      </p:sp>
      <p:sp>
        <p:nvSpPr>
          <p:cNvPr id="56" name="Rectangle 55"/>
          <p:cNvSpPr/>
          <p:nvPr/>
        </p:nvSpPr>
        <p:spPr>
          <a:xfrm>
            <a:off x="7735824" y="2286000"/>
            <a:ext cx="4163263" cy="292608"/>
          </a:xfrm>
          <a:prstGeom prst="rect">
            <a:avLst/>
          </a:prstGeom>
          <a:solidFill>
            <a:srgbClr val="1E1804"/>
          </a:solidFill>
          <a:ln w="50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808976" y="2322576"/>
            <a:ext cx="4071823" cy="219456"/>
          </a:xfrm>
          <a:prstGeom prst="rect">
            <a:avLst/>
          </a:prstGeom>
          <a:noFill/>
        </p:spPr>
        <p:txBody>
          <a:bodyPr wrap="square">
            <a:spAutoFit/>
          </a:bodyPr>
          <a:lstStyle/>
          <a:p>
            <a:pPr algn="l"/>
            <a:r>
              <a:rPr sz="900" b="0" i="0">
                <a:solidFill>
                  <a:srgbClr val="A0AAB8"/>
                </a:solidFill>
                <a:latin typeface="Calibri"/>
              </a:rPr>
              <a:t>→  Prevents infinite loops on stuck states</a:t>
            </a:r>
          </a:p>
        </p:txBody>
      </p:sp>
      <p:sp>
        <p:nvSpPr>
          <p:cNvPr id="58" name="Rectangle 57"/>
          <p:cNvSpPr/>
          <p:nvPr/>
        </p:nvSpPr>
        <p:spPr>
          <a:xfrm>
            <a:off x="7644384" y="3630533"/>
            <a:ext cx="4346143" cy="2971434"/>
          </a:xfrm>
          <a:prstGeom prst="rect">
            <a:avLst/>
          </a:prstGeom>
          <a:solidFill>
            <a:srgbClr val="081422"/>
          </a:solidFill>
          <a:ln w="177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644384" y="3630533"/>
            <a:ext cx="4346143" cy="27432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644384" y="3667109"/>
            <a:ext cx="4346143" cy="219456"/>
          </a:xfrm>
          <a:prstGeom prst="rect">
            <a:avLst/>
          </a:prstGeom>
          <a:noFill/>
        </p:spPr>
        <p:txBody>
          <a:bodyPr wrap="square">
            <a:spAutoFit/>
          </a:bodyPr>
          <a:lstStyle/>
          <a:p>
            <a:pPr algn="ctr"/>
            <a:r>
              <a:rPr sz="900" b="1" i="0">
                <a:solidFill>
                  <a:srgbClr val="0A0D1A"/>
                </a:solidFill>
                <a:latin typeface="Calibri"/>
              </a:rPr>
              <a:t>REFLECTOR  (corrective — separate from Cycle Guard)</a:t>
            </a:r>
          </a:p>
        </p:txBody>
      </p:sp>
      <p:sp>
        <p:nvSpPr>
          <p:cNvPr id="61" name="Rectangle 60"/>
          <p:cNvSpPr/>
          <p:nvPr/>
        </p:nvSpPr>
        <p:spPr>
          <a:xfrm>
            <a:off x="7735824" y="3978005"/>
            <a:ext cx="4163263" cy="329184"/>
          </a:xfrm>
          <a:prstGeom prst="rect">
            <a:avLst/>
          </a:prstGeom>
          <a:solidFill>
            <a:srgbClr val="061426"/>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808976" y="4014581"/>
            <a:ext cx="4071823" cy="256032"/>
          </a:xfrm>
          <a:prstGeom prst="rect">
            <a:avLst/>
          </a:prstGeom>
          <a:noFill/>
        </p:spPr>
        <p:txBody>
          <a:bodyPr wrap="square">
            <a:spAutoFit/>
          </a:bodyPr>
          <a:lstStyle/>
          <a:p>
            <a:pPr algn="l"/>
            <a:r>
              <a:rPr sz="850" b="0" i="0">
                <a:solidFill>
                  <a:srgbClr val="A0AAB8"/>
                </a:solidFill>
                <a:latin typeface="Calibri"/>
              </a:rPr>
              <a:t>→  Triggered by: Cycle Guard fixation flag OR Validation Agent cap exhaustion</a:t>
            </a:r>
          </a:p>
        </p:txBody>
      </p:sp>
      <p:sp>
        <p:nvSpPr>
          <p:cNvPr id="63" name="Rectangle 62"/>
          <p:cNvSpPr/>
          <p:nvPr/>
        </p:nvSpPr>
        <p:spPr>
          <a:xfrm>
            <a:off x="7735824" y="4362053"/>
            <a:ext cx="4163263" cy="329184"/>
          </a:xfrm>
          <a:prstGeom prst="rect">
            <a:avLst/>
          </a:prstGeom>
          <a:solidFill>
            <a:srgbClr val="061426"/>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808976" y="4398629"/>
            <a:ext cx="4071823" cy="256032"/>
          </a:xfrm>
          <a:prstGeom prst="rect">
            <a:avLst/>
          </a:prstGeom>
          <a:noFill/>
        </p:spPr>
        <p:txBody>
          <a:bodyPr wrap="square">
            <a:spAutoFit/>
          </a:bodyPr>
          <a:lstStyle/>
          <a:p>
            <a:pPr algn="l"/>
            <a:r>
              <a:rPr sz="850" b="0" i="0">
                <a:solidFill>
                  <a:srgbClr val="A0AAB8"/>
                </a:solidFill>
                <a:latin typeface="Calibri"/>
              </a:rPr>
              <a:t>→  Action: injects a corrective context window into Commander's next prompt</a:t>
            </a:r>
          </a:p>
        </p:txBody>
      </p:sp>
      <p:sp>
        <p:nvSpPr>
          <p:cNvPr id="65" name="Rectangle 64"/>
          <p:cNvSpPr/>
          <p:nvPr/>
        </p:nvSpPr>
        <p:spPr>
          <a:xfrm>
            <a:off x="7735824" y="4746101"/>
            <a:ext cx="4163263" cy="329184"/>
          </a:xfrm>
          <a:prstGeom prst="rect">
            <a:avLst/>
          </a:prstGeom>
          <a:solidFill>
            <a:srgbClr val="061426"/>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808976" y="4782677"/>
            <a:ext cx="4071823" cy="256032"/>
          </a:xfrm>
          <a:prstGeom prst="rect">
            <a:avLst/>
          </a:prstGeom>
          <a:noFill/>
        </p:spPr>
        <p:txBody>
          <a:bodyPr wrap="square">
            <a:spAutoFit/>
          </a:bodyPr>
          <a:lstStyle/>
          <a:p>
            <a:pPr algn="l"/>
            <a:r>
              <a:rPr sz="850" b="0" i="0">
                <a:solidFill>
                  <a:srgbClr val="A0AAB8"/>
                </a:solidFill>
                <a:latin typeface="Calibri"/>
              </a:rPr>
              <a:t>→  Prompt content: what was tried, why it failed, which alternative approaches remain</a:t>
            </a:r>
          </a:p>
        </p:txBody>
      </p:sp>
      <p:sp>
        <p:nvSpPr>
          <p:cNvPr id="67" name="Rectangle 66"/>
          <p:cNvSpPr/>
          <p:nvPr/>
        </p:nvSpPr>
        <p:spPr>
          <a:xfrm>
            <a:off x="7735824" y="5130149"/>
            <a:ext cx="4163263" cy="329184"/>
          </a:xfrm>
          <a:prstGeom prst="rect">
            <a:avLst/>
          </a:prstGeom>
          <a:solidFill>
            <a:srgbClr val="061426"/>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808976" y="5166725"/>
            <a:ext cx="4071823" cy="256032"/>
          </a:xfrm>
          <a:prstGeom prst="rect">
            <a:avLst/>
          </a:prstGeom>
          <a:noFill/>
        </p:spPr>
        <p:txBody>
          <a:bodyPr wrap="square">
            <a:spAutoFit/>
          </a:bodyPr>
          <a:lstStyle/>
          <a:p>
            <a:pPr algn="l"/>
            <a:r>
              <a:rPr sz="850" b="0" i="0">
                <a:solidFill>
                  <a:srgbClr val="A0AAB8"/>
                </a:solidFill>
                <a:latin typeface="Calibri"/>
              </a:rPr>
              <a:t>→  Outcome: Commander re-plans with explicit knowledge of stuck state</a:t>
            </a:r>
          </a:p>
        </p:txBody>
      </p:sp>
      <p:sp>
        <p:nvSpPr>
          <p:cNvPr id="69" name="Rectangle 68"/>
          <p:cNvSpPr/>
          <p:nvPr/>
        </p:nvSpPr>
        <p:spPr>
          <a:xfrm>
            <a:off x="7735824" y="5514197"/>
            <a:ext cx="4163263" cy="329184"/>
          </a:xfrm>
          <a:prstGeom prst="rect">
            <a:avLst/>
          </a:prstGeom>
          <a:solidFill>
            <a:srgbClr val="061426"/>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808976" y="5550773"/>
            <a:ext cx="4071823" cy="256032"/>
          </a:xfrm>
          <a:prstGeom prst="rect">
            <a:avLst/>
          </a:prstGeom>
          <a:noFill/>
        </p:spPr>
        <p:txBody>
          <a:bodyPr wrap="square">
            <a:spAutoFit/>
          </a:bodyPr>
          <a:lstStyle/>
          <a:p>
            <a:pPr algn="l"/>
            <a:r>
              <a:rPr sz="850" b="0" i="0">
                <a:solidFill>
                  <a:srgbClr val="A0AAB8"/>
                </a:solidFill>
                <a:latin typeface="Calibri"/>
              </a:rPr>
              <a:t>→  NOT the same as the planning loop — fires only on anomaly</a:t>
            </a:r>
          </a:p>
        </p:txBody>
      </p:sp>
      <p:sp>
        <p:nvSpPr>
          <p:cNvPr id="71" name="TextBox 70"/>
          <p:cNvSpPr txBox="1"/>
          <p:nvPr/>
        </p:nvSpPr>
        <p:spPr>
          <a:xfrm>
            <a:off x="11780215" y="6355080"/>
            <a:ext cx="384048" cy="411480"/>
          </a:xfrm>
          <a:prstGeom prst="rect">
            <a:avLst/>
          </a:prstGeom>
          <a:noFill/>
        </p:spPr>
        <p:txBody>
          <a:bodyPr wrap="square">
            <a:spAutoFit/>
          </a:bodyPr>
          <a:lstStyle/>
          <a:p>
            <a:pPr algn="r"/>
            <a:r>
              <a:rPr sz="1300" b="1" i="0">
                <a:solidFill>
                  <a:srgbClr val="00E5FF"/>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7315200" cy="237744"/>
          </a:xfrm>
          <a:prstGeom prst="rect">
            <a:avLst/>
          </a:prstGeom>
          <a:noFill/>
        </p:spPr>
        <p:txBody>
          <a:bodyPr wrap="square">
            <a:spAutoFit/>
          </a:bodyPr>
          <a:lstStyle/>
          <a:p>
            <a:pPr algn="l"/>
            <a:r>
              <a:rPr sz="1000" b="1" i="0">
                <a:solidFill>
                  <a:srgbClr val="00BFD8"/>
                </a:solidFill>
                <a:latin typeface="Calibri"/>
              </a:rPr>
              <a:t>DUAL TERMINATION + CONTEXT COMPACTION</a:t>
            </a:r>
          </a:p>
        </p:txBody>
      </p:sp>
      <p:sp>
        <p:nvSpPr>
          <p:cNvPr id="6" name="TextBox 5"/>
          <p:cNvSpPr txBox="1"/>
          <p:nvPr/>
        </p:nvSpPr>
        <p:spPr>
          <a:xfrm>
            <a:off x="274320" y="292608"/>
            <a:ext cx="11430000" cy="475488"/>
          </a:xfrm>
          <a:prstGeom prst="rect">
            <a:avLst/>
          </a:prstGeom>
          <a:noFill/>
        </p:spPr>
        <p:txBody>
          <a:bodyPr wrap="square">
            <a:spAutoFit/>
          </a:bodyPr>
          <a:lstStyle/>
          <a:p>
            <a:pPr algn="l"/>
            <a:r>
              <a:rPr sz="2200" b="1" i="0">
                <a:solidFill>
                  <a:srgbClr val="FFFFFF"/>
                </a:solidFill>
                <a:latin typeface="Calibri"/>
              </a:rPr>
              <a:t>Mission Ends When — and Only When — Both Conditions Are Simultaneously True</a:t>
            </a:r>
          </a:p>
        </p:txBody>
      </p:sp>
      <p:sp>
        <p:nvSpPr>
          <p:cNvPr id="7" name="Rectangle 6"/>
          <p:cNvSpPr/>
          <p:nvPr/>
        </p:nvSpPr>
        <p:spPr>
          <a:xfrm>
            <a:off x="274320" y="822960"/>
            <a:ext cx="10058400" cy="27432"/>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01168" y="896112"/>
            <a:ext cx="6583680" cy="5705856"/>
          </a:xfrm>
          <a:prstGeom prst="rect">
            <a:avLst/>
          </a:prstGeom>
          <a:solidFill>
            <a:srgbClr val="041018"/>
          </a:solidFill>
          <a:ln w="1778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1168" y="896112"/>
            <a:ext cx="6583680" cy="274320"/>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932688"/>
            <a:ext cx="6583680" cy="219456"/>
          </a:xfrm>
          <a:prstGeom prst="rect">
            <a:avLst/>
          </a:prstGeom>
          <a:noFill/>
        </p:spPr>
        <p:txBody>
          <a:bodyPr wrap="square">
            <a:spAutoFit/>
          </a:bodyPr>
          <a:lstStyle/>
          <a:p>
            <a:pPr algn="ctr"/>
            <a:r>
              <a:rPr sz="950" b="1" i="0">
                <a:solidFill>
                  <a:srgbClr val="0A0D1A"/>
                </a:solidFill>
                <a:latin typeface="Calibri"/>
              </a:rPr>
              <a:t>C8 — DUAL TERMINATION CONDITION</a:t>
            </a:r>
          </a:p>
        </p:txBody>
      </p:sp>
      <p:sp>
        <p:nvSpPr>
          <p:cNvPr id="11" name="Rectangle 10"/>
          <p:cNvSpPr/>
          <p:nvPr/>
        </p:nvSpPr>
        <p:spPr>
          <a:xfrm>
            <a:off x="384048" y="1243584"/>
            <a:ext cx="6217920" cy="1463040"/>
          </a:xfrm>
          <a:prstGeom prst="rect">
            <a:avLst/>
          </a:prstGeom>
          <a:solidFill>
            <a:srgbClr val="041E0E"/>
          </a:solidFill>
          <a:ln w="2032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84048" y="1243584"/>
            <a:ext cx="6217920" cy="256032"/>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 y="1280160"/>
            <a:ext cx="6217920" cy="201168"/>
          </a:xfrm>
          <a:prstGeom prst="rect">
            <a:avLst/>
          </a:prstGeom>
          <a:noFill/>
        </p:spPr>
        <p:txBody>
          <a:bodyPr wrap="square">
            <a:spAutoFit/>
          </a:bodyPr>
          <a:lstStyle/>
          <a:p>
            <a:pPr algn="ctr"/>
            <a:r>
              <a:rPr sz="950" b="1" i="0">
                <a:solidFill>
                  <a:srgbClr val="0A0D1A"/>
                </a:solidFill>
                <a:latin typeface="Calibri"/>
              </a:rPr>
              <a:t>CONDITION 1  —  ASG Exhaustion</a:t>
            </a:r>
          </a:p>
        </p:txBody>
      </p:sp>
      <p:sp>
        <p:nvSpPr>
          <p:cNvPr id="14" name="TextBox 13"/>
          <p:cNvSpPr txBox="1"/>
          <p:nvPr/>
        </p:nvSpPr>
        <p:spPr>
          <a:xfrm>
            <a:off x="493776" y="1554480"/>
            <a:ext cx="6035040" cy="1078992"/>
          </a:xfrm>
          <a:prstGeom prst="rect">
            <a:avLst/>
          </a:prstGeom>
          <a:noFill/>
        </p:spPr>
        <p:txBody>
          <a:bodyPr wrap="square">
            <a:spAutoFit/>
          </a:bodyPr>
          <a:lstStyle/>
          <a:p>
            <a:pPr algn="l"/>
            <a:r>
              <a:rPr sz="1000" b="0" i="0">
                <a:solidFill>
                  <a:srgbClr val="A0AAB8"/>
                </a:solidFill>
                <a:latin typeface="Calibri"/>
              </a:rPr>
              <a:t>Every node in the ASG has status INVESTIGATED.
No node remains in DISCOVERED or IN_PROGRESS state.
Formally: ∀ n ∈ V(ASG) : n.status = INVESTIGATED</a:t>
            </a:r>
          </a:p>
        </p:txBody>
      </p:sp>
      <p:sp>
        <p:nvSpPr>
          <p:cNvPr id="15" name="Rectangle 14"/>
          <p:cNvSpPr/>
          <p:nvPr/>
        </p:nvSpPr>
        <p:spPr>
          <a:xfrm>
            <a:off x="3035808" y="2779776"/>
            <a:ext cx="914400" cy="347472"/>
          </a:xfrm>
          <a:prstGeom prst="rect">
            <a:avLst/>
          </a:prstGeom>
          <a:solidFill>
            <a:srgbClr val="00BFD8"/>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35808" y="2816352"/>
            <a:ext cx="914400" cy="274320"/>
          </a:xfrm>
          <a:prstGeom prst="rect">
            <a:avLst/>
          </a:prstGeom>
          <a:noFill/>
        </p:spPr>
        <p:txBody>
          <a:bodyPr wrap="square">
            <a:spAutoFit/>
          </a:bodyPr>
          <a:lstStyle/>
          <a:p>
            <a:pPr algn="ctr"/>
            <a:r>
              <a:rPr sz="1300" b="1" i="0">
                <a:solidFill>
                  <a:srgbClr val="0A0D1A"/>
                </a:solidFill>
                <a:latin typeface="Calibri"/>
              </a:rPr>
              <a:t>AND</a:t>
            </a:r>
          </a:p>
        </p:txBody>
      </p:sp>
      <p:sp>
        <p:nvSpPr>
          <p:cNvPr id="17" name="Rectangle 16"/>
          <p:cNvSpPr/>
          <p:nvPr/>
        </p:nvSpPr>
        <p:spPr>
          <a:xfrm>
            <a:off x="384048" y="3182112"/>
            <a:ext cx="6217920" cy="1463040"/>
          </a:xfrm>
          <a:prstGeom prst="rect">
            <a:avLst/>
          </a:prstGeom>
          <a:solidFill>
            <a:srgbClr val="1C1402"/>
          </a:solidFill>
          <a:ln w="2032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84048" y="3182112"/>
            <a:ext cx="6217920" cy="25603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4048" y="3218688"/>
            <a:ext cx="6217920" cy="201168"/>
          </a:xfrm>
          <a:prstGeom prst="rect">
            <a:avLst/>
          </a:prstGeom>
          <a:noFill/>
        </p:spPr>
        <p:txBody>
          <a:bodyPr wrap="square">
            <a:spAutoFit/>
          </a:bodyPr>
          <a:lstStyle/>
          <a:p>
            <a:pPr algn="ctr"/>
            <a:r>
              <a:rPr sz="950" b="1" i="0">
                <a:solidFill>
                  <a:srgbClr val="0A0D1A"/>
                </a:solidFill>
                <a:latin typeface="Calibri"/>
              </a:rPr>
              <a:t>CONDITION 2  —  APG Resolution</a:t>
            </a:r>
          </a:p>
        </p:txBody>
      </p:sp>
      <p:sp>
        <p:nvSpPr>
          <p:cNvPr id="20" name="TextBox 19"/>
          <p:cNvSpPr txBox="1"/>
          <p:nvPr/>
        </p:nvSpPr>
        <p:spPr>
          <a:xfrm>
            <a:off x="493776" y="3493008"/>
            <a:ext cx="6035040" cy="1078992"/>
          </a:xfrm>
          <a:prstGeom prst="rect">
            <a:avLst/>
          </a:prstGeom>
          <a:noFill/>
        </p:spPr>
        <p:txBody>
          <a:bodyPr wrap="square">
            <a:spAutoFit/>
          </a:bodyPr>
          <a:lstStyle/>
          <a:p>
            <a:pPr algn="l"/>
            <a:r>
              <a:rPr sz="1000" b="0" i="0">
                <a:solidFill>
                  <a:srgbClr val="A0AAB8"/>
                </a:solidFill>
                <a:latin typeface="Calibri"/>
              </a:rPr>
              <a:t>Every AttackChain in the APG has terminal status.
No chain remains HYPOTHESIZED or PARTIALLY_VALIDATED.
Formally: ∀ c ∈ V(APG) : c.status ∈ {VALIDATED, RULED_OUT}</a:t>
            </a:r>
          </a:p>
        </p:txBody>
      </p:sp>
      <p:sp>
        <p:nvSpPr>
          <p:cNvPr id="21" name="Rectangle 20"/>
          <p:cNvSpPr/>
          <p:nvPr/>
        </p:nvSpPr>
        <p:spPr>
          <a:xfrm>
            <a:off x="384048" y="4773168"/>
            <a:ext cx="6217920" cy="402336"/>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2064" y="4828032"/>
            <a:ext cx="6035040" cy="292608"/>
          </a:xfrm>
          <a:prstGeom prst="rect">
            <a:avLst/>
          </a:prstGeom>
          <a:noFill/>
        </p:spPr>
        <p:txBody>
          <a:bodyPr wrap="square">
            <a:spAutoFit/>
          </a:bodyPr>
          <a:lstStyle/>
          <a:p>
            <a:pPr algn="ctr"/>
            <a:r>
              <a:rPr sz="1050" b="1" i="0">
                <a:solidFill>
                  <a:srgbClr val="0A0D1A"/>
                </a:solidFill>
                <a:latin typeface="Calibri"/>
              </a:rPr>
              <a:t>→  MISSION TERMINATES — Report Agent invoked</a:t>
            </a:r>
          </a:p>
        </p:txBody>
      </p:sp>
      <p:sp>
        <p:nvSpPr>
          <p:cNvPr id="23" name="Rectangle 22"/>
          <p:cNvSpPr/>
          <p:nvPr/>
        </p:nvSpPr>
        <p:spPr>
          <a:xfrm>
            <a:off x="384048" y="5248656"/>
            <a:ext cx="6217920" cy="896112"/>
          </a:xfrm>
          <a:prstGeom prst="rect">
            <a:avLst/>
          </a:prstGeom>
          <a:solidFill>
            <a:srgbClr val="041820"/>
          </a:solidFill>
          <a:ln w="1016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 y="5303520"/>
            <a:ext cx="6053328" cy="804672"/>
          </a:xfrm>
          <a:prstGeom prst="rect">
            <a:avLst/>
          </a:prstGeom>
          <a:noFill/>
        </p:spPr>
        <p:txBody>
          <a:bodyPr wrap="square">
            <a:spAutoFit/>
          </a:bodyPr>
          <a:lstStyle/>
          <a:p>
            <a:pPr algn="l"/>
            <a:r>
              <a:rPr sz="850" b="0" i="1">
                <a:solidFill>
                  <a:srgbClr val="00BFD8"/>
                </a:solidFill>
                <a:latin typeface="Calibri"/>
              </a:rPr>
              <a:t>Why this is novel:
Timer-based systems (PentestGPT) terminate by wall-clock — cannot express APG resolution.
Queue-based systems (VulnBot) terminate when queue is empty — cannot express 'all chains resolved'.
CMatrix is the only system where both must be true simultaneously.</a:t>
            </a:r>
          </a:p>
        </p:txBody>
      </p:sp>
      <p:sp>
        <p:nvSpPr>
          <p:cNvPr id="25" name="Rectangle 24"/>
          <p:cNvSpPr/>
          <p:nvPr/>
        </p:nvSpPr>
        <p:spPr>
          <a:xfrm>
            <a:off x="6912864" y="896112"/>
            <a:ext cx="5077663" cy="5705856"/>
          </a:xfrm>
          <a:prstGeom prst="rect">
            <a:avLst/>
          </a:prstGeom>
          <a:solidFill>
            <a:srgbClr val="040A18"/>
          </a:solidFill>
          <a:ln w="177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912864" y="896112"/>
            <a:ext cx="5077663" cy="274320"/>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12864" y="932688"/>
            <a:ext cx="5077663" cy="219456"/>
          </a:xfrm>
          <a:prstGeom prst="rect">
            <a:avLst/>
          </a:prstGeom>
          <a:noFill/>
        </p:spPr>
        <p:txBody>
          <a:bodyPr wrap="square">
            <a:spAutoFit/>
          </a:bodyPr>
          <a:lstStyle/>
          <a:p>
            <a:pPr algn="ctr"/>
            <a:r>
              <a:rPr sz="950" b="1" i="0">
                <a:solidFill>
                  <a:srgbClr val="0A0D1A"/>
                </a:solidFill>
                <a:latin typeface="Calibri"/>
              </a:rPr>
              <a:t>C6 — LOSSLESS CONTEXT COMPACTION</a:t>
            </a:r>
          </a:p>
        </p:txBody>
      </p:sp>
      <p:sp>
        <p:nvSpPr>
          <p:cNvPr id="28" name="Rectangle 27"/>
          <p:cNvSpPr/>
          <p:nvPr/>
        </p:nvSpPr>
        <p:spPr>
          <a:xfrm>
            <a:off x="7004304" y="1225296"/>
            <a:ext cx="4894783" cy="475488"/>
          </a:xfrm>
          <a:prstGeom prst="rect">
            <a:avLst/>
          </a:prstGeom>
          <a:solidFill>
            <a:srgbClr val="140822"/>
          </a:solidFill>
          <a:ln w="889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77456" y="1261872"/>
            <a:ext cx="4785055" cy="402336"/>
          </a:xfrm>
          <a:prstGeom prst="rect">
            <a:avLst/>
          </a:prstGeom>
          <a:noFill/>
        </p:spPr>
        <p:txBody>
          <a:bodyPr wrap="square">
            <a:spAutoFit/>
          </a:bodyPr>
          <a:lstStyle/>
          <a:p>
            <a:pPr algn="l"/>
            <a:r>
              <a:rPr sz="900" b="0" i="1">
                <a:solidFill>
                  <a:srgbClr val="A0AAB8"/>
                </a:solidFill>
                <a:latin typeface="Calibri"/>
              </a:rPr>
              <a:t>Motivation:  Without compaction, context window fills in 20–30 tool calls on real-world missions (multiple phases, many subdomains). Raw history cannot be truncated without losing discovered facts.</a:t>
            </a:r>
          </a:p>
        </p:txBody>
      </p:sp>
      <p:sp>
        <p:nvSpPr>
          <p:cNvPr id="30" name="Rectangle 29"/>
          <p:cNvSpPr/>
          <p:nvPr/>
        </p:nvSpPr>
        <p:spPr>
          <a:xfrm>
            <a:off x="7004304" y="1792224"/>
            <a:ext cx="4894783" cy="1536192"/>
          </a:xfrm>
          <a:prstGeom prst="rect">
            <a:avLst/>
          </a:prstGeom>
          <a:solidFill>
            <a:srgbClr val="04180C"/>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004304" y="1792224"/>
            <a:ext cx="4894783" cy="237744"/>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077456" y="1819656"/>
            <a:ext cx="4803343" cy="201168"/>
          </a:xfrm>
          <a:prstGeom prst="rect">
            <a:avLst/>
          </a:prstGeom>
          <a:noFill/>
        </p:spPr>
        <p:txBody>
          <a:bodyPr wrap="square">
            <a:spAutoFit/>
          </a:bodyPr>
          <a:lstStyle/>
          <a:p>
            <a:pPr algn="ctr"/>
            <a:r>
              <a:rPr sz="850" b="1" i="0">
                <a:solidFill>
                  <a:srgbClr val="0A0D1A"/>
                </a:solidFill>
                <a:latin typeface="Calibri"/>
              </a:rPr>
              <a:t>LAYER 1  —  Permanent State
(ASG itself)</a:t>
            </a:r>
          </a:p>
        </p:txBody>
      </p:sp>
      <p:sp>
        <p:nvSpPr>
          <p:cNvPr id="33" name="TextBox 32"/>
          <p:cNvSpPr txBox="1"/>
          <p:nvPr/>
        </p:nvSpPr>
        <p:spPr>
          <a:xfrm>
            <a:off x="7077456" y="2084832"/>
            <a:ext cx="4803343" cy="1207008"/>
          </a:xfrm>
          <a:prstGeom prst="rect">
            <a:avLst/>
          </a:prstGeom>
          <a:noFill/>
        </p:spPr>
        <p:txBody>
          <a:bodyPr wrap="square">
            <a:spAutoFit/>
          </a:bodyPr>
          <a:lstStyle/>
          <a:p>
            <a:pPr algn="l"/>
            <a:r>
              <a:rPr sz="900" b="0" i="0">
                <a:solidFill>
                  <a:srgbClr val="A0AAB8"/>
                </a:solidFill>
                <a:latin typeface="Calibri"/>
              </a:rPr>
              <a:t>The graph IS the memory. All discovered facts are in typed nodes + edges.
Never discarded. Available to all agents via graph query.</a:t>
            </a:r>
          </a:p>
        </p:txBody>
      </p:sp>
      <p:sp>
        <p:nvSpPr>
          <p:cNvPr id="34" name="Rectangle 33"/>
          <p:cNvSpPr/>
          <p:nvPr/>
        </p:nvSpPr>
        <p:spPr>
          <a:xfrm>
            <a:off x="7004304" y="3383280"/>
            <a:ext cx="4894783" cy="1536192"/>
          </a:xfrm>
          <a:prstGeom prst="rect">
            <a:avLst/>
          </a:prstGeom>
          <a:solidFill>
            <a:srgbClr val="181002"/>
          </a:solidFill>
          <a:ln w="1524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004304" y="3383280"/>
            <a:ext cx="4894783" cy="23774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077456" y="3410712"/>
            <a:ext cx="4803343" cy="201168"/>
          </a:xfrm>
          <a:prstGeom prst="rect">
            <a:avLst/>
          </a:prstGeom>
          <a:noFill/>
        </p:spPr>
        <p:txBody>
          <a:bodyPr wrap="square">
            <a:spAutoFit/>
          </a:bodyPr>
          <a:lstStyle/>
          <a:p>
            <a:pPr algn="ctr"/>
            <a:r>
              <a:rPr sz="850" b="1" i="0">
                <a:solidFill>
                  <a:srgbClr val="0A0D1A"/>
                </a:solidFill>
                <a:latin typeface="Calibri"/>
              </a:rPr>
              <a:t>LAYER 2  —  Phase Summary
(structured digest)</a:t>
            </a:r>
          </a:p>
        </p:txBody>
      </p:sp>
      <p:sp>
        <p:nvSpPr>
          <p:cNvPr id="37" name="TextBox 36"/>
          <p:cNvSpPr txBox="1"/>
          <p:nvPr/>
        </p:nvSpPr>
        <p:spPr>
          <a:xfrm>
            <a:off x="7077456" y="3675888"/>
            <a:ext cx="4803343" cy="1207008"/>
          </a:xfrm>
          <a:prstGeom prst="rect">
            <a:avLst/>
          </a:prstGeom>
          <a:noFill/>
        </p:spPr>
        <p:txBody>
          <a:bodyPr wrap="square">
            <a:spAutoFit/>
          </a:bodyPr>
          <a:lstStyle/>
          <a:p>
            <a:pPr algn="l"/>
            <a:r>
              <a:rPr sz="900" b="0" i="0">
                <a:solidFill>
                  <a:srgbClr val="A0AAB8"/>
                </a:solidFill>
                <a:latin typeface="Calibri"/>
              </a:rPr>
              <a:t>After each phase, a structured JSON summary of that phase's findings is stored.
Replaces raw tool output. ASG-queryable for follow-on agents.</a:t>
            </a:r>
          </a:p>
        </p:txBody>
      </p:sp>
      <p:sp>
        <p:nvSpPr>
          <p:cNvPr id="38" name="Rectangle 37"/>
          <p:cNvSpPr/>
          <p:nvPr/>
        </p:nvSpPr>
        <p:spPr>
          <a:xfrm>
            <a:off x="7004304" y="4974336"/>
            <a:ext cx="4894783" cy="1536192"/>
          </a:xfrm>
          <a:prstGeom prst="rect">
            <a:avLst/>
          </a:prstGeom>
          <a:solidFill>
            <a:srgbClr val="041818"/>
          </a:solidFill>
          <a:ln w="1524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004304" y="4974336"/>
            <a:ext cx="4894783" cy="237744"/>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077456" y="5001768"/>
            <a:ext cx="4803343" cy="201168"/>
          </a:xfrm>
          <a:prstGeom prst="rect">
            <a:avLst/>
          </a:prstGeom>
          <a:noFill/>
        </p:spPr>
        <p:txBody>
          <a:bodyPr wrap="square">
            <a:spAutoFit/>
          </a:bodyPr>
          <a:lstStyle/>
          <a:p>
            <a:pPr algn="ctr"/>
            <a:r>
              <a:rPr sz="850" b="1" i="0">
                <a:solidFill>
                  <a:srgbClr val="0A0D1A"/>
                </a:solidFill>
                <a:latin typeface="Calibri"/>
              </a:rPr>
              <a:t>LAYER 3  —  Active Window
(last N exchanges only)</a:t>
            </a:r>
          </a:p>
        </p:txBody>
      </p:sp>
      <p:sp>
        <p:nvSpPr>
          <p:cNvPr id="41" name="TextBox 40"/>
          <p:cNvSpPr txBox="1"/>
          <p:nvPr/>
        </p:nvSpPr>
        <p:spPr>
          <a:xfrm>
            <a:off x="7077456" y="5266944"/>
            <a:ext cx="4803343" cy="1207008"/>
          </a:xfrm>
          <a:prstGeom prst="rect">
            <a:avLst/>
          </a:prstGeom>
          <a:noFill/>
        </p:spPr>
        <p:txBody>
          <a:bodyPr wrap="square">
            <a:spAutoFit/>
          </a:bodyPr>
          <a:lstStyle/>
          <a:p>
            <a:pPr algn="l"/>
            <a:r>
              <a:rPr sz="900" b="0" i="0">
                <a:solidFill>
                  <a:srgbClr val="A0AAB8"/>
                </a:solidFill>
                <a:latin typeface="Calibri"/>
              </a:rPr>
              <a:t>Commander's live context contains only the last N tool calls + current task.
All older history has been compacted into Layers 1 + 2. Zero loss of findings.</a:t>
            </a:r>
          </a:p>
        </p:txBody>
      </p:sp>
      <p:sp>
        <p:nvSpPr>
          <p:cNvPr id="42" name="TextBox 41"/>
          <p:cNvSpPr txBox="1"/>
          <p:nvPr/>
        </p:nvSpPr>
        <p:spPr>
          <a:xfrm>
            <a:off x="11780215" y="6355080"/>
            <a:ext cx="384048" cy="411480"/>
          </a:xfrm>
          <a:prstGeom prst="rect">
            <a:avLst/>
          </a:prstGeom>
          <a:noFill/>
        </p:spPr>
        <p:txBody>
          <a:bodyPr wrap="square">
            <a:spAutoFit/>
          </a:bodyPr>
          <a:lstStyle/>
          <a:p>
            <a:pPr algn="r"/>
            <a:r>
              <a:rPr sz="1300" b="1" i="0">
                <a:solidFill>
                  <a:srgbClr val="00BFD8"/>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5486400" cy="219456"/>
          </a:xfrm>
          <a:prstGeom prst="rect">
            <a:avLst/>
          </a:prstGeom>
          <a:noFill/>
        </p:spPr>
        <p:txBody>
          <a:bodyPr wrap="square">
            <a:spAutoFit/>
          </a:bodyPr>
          <a:lstStyle/>
          <a:p>
            <a:pPr algn="l"/>
            <a:r>
              <a:rPr sz="1000" b="1" i="0">
                <a:solidFill>
                  <a:srgbClr val="FFD700"/>
                </a:solidFill>
                <a:latin typeface="Calibri"/>
              </a:rPr>
              <a:t>ATTACK CHAIN LIFECYCLE</a:t>
            </a:r>
          </a:p>
        </p:txBody>
      </p:sp>
      <p:sp>
        <p:nvSpPr>
          <p:cNvPr id="6" name="TextBox 5"/>
          <p:cNvSpPr txBox="1"/>
          <p:nvPr/>
        </p:nvSpPr>
        <p:spPr>
          <a:xfrm>
            <a:off x="274320" y="283464"/>
            <a:ext cx="10972800" cy="420624"/>
          </a:xfrm>
          <a:prstGeom prst="rect">
            <a:avLst/>
          </a:prstGeom>
          <a:noFill/>
        </p:spPr>
        <p:txBody>
          <a:bodyPr wrap="square">
            <a:spAutoFit/>
          </a:bodyPr>
          <a:lstStyle/>
          <a:p>
            <a:pPr algn="l"/>
            <a:r>
              <a:rPr sz="2400" b="1" i="0">
                <a:solidFill>
                  <a:srgbClr val="FFFFFF"/>
                </a:solidFill>
                <a:latin typeface="Calibri"/>
              </a:rPr>
              <a:t>APG Chain State Machine + Validation Agent Self-Debugging Loop</a:t>
            </a:r>
          </a:p>
        </p:txBody>
      </p:sp>
      <p:sp>
        <p:nvSpPr>
          <p:cNvPr id="7" name="Rectangle 6"/>
          <p:cNvSpPr/>
          <p:nvPr/>
        </p:nvSpPr>
        <p:spPr>
          <a:xfrm>
            <a:off x="228600" y="804672"/>
            <a:ext cx="2331720" cy="1783080"/>
          </a:xfrm>
          <a:prstGeom prst="rect">
            <a:avLst/>
          </a:prstGeom>
          <a:solidFill>
            <a:srgbClr val="504000"/>
          </a:solidFill>
          <a:ln w="254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 y="804672"/>
            <a:ext cx="2331720" cy="27432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841248"/>
            <a:ext cx="2331720" cy="228600"/>
          </a:xfrm>
          <a:prstGeom prst="rect">
            <a:avLst/>
          </a:prstGeom>
          <a:noFill/>
        </p:spPr>
        <p:txBody>
          <a:bodyPr wrap="square">
            <a:spAutoFit/>
          </a:bodyPr>
          <a:lstStyle/>
          <a:p>
            <a:pPr algn="ctr"/>
            <a:r>
              <a:rPr sz="950" b="1" i="0">
                <a:solidFill>
                  <a:srgbClr val="0A0D1A"/>
                </a:solidFill>
                <a:latin typeface="Calibri"/>
              </a:rPr>
              <a:t>HYPOTHESIZED</a:t>
            </a:r>
          </a:p>
        </p:txBody>
      </p:sp>
      <p:sp>
        <p:nvSpPr>
          <p:cNvPr id="10" name="TextBox 9"/>
          <p:cNvSpPr txBox="1"/>
          <p:nvPr/>
        </p:nvSpPr>
        <p:spPr>
          <a:xfrm>
            <a:off x="320040" y="1152144"/>
            <a:ext cx="2167128" cy="1362456"/>
          </a:xfrm>
          <a:prstGeom prst="rect">
            <a:avLst/>
          </a:prstGeom>
          <a:noFill/>
        </p:spPr>
        <p:txBody>
          <a:bodyPr wrap="square">
            <a:spAutoFit/>
          </a:bodyPr>
          <a:lstStyle/>
          <a:p>
            <a:pPr algn="ctr"/>
            <a:r>
              <a:rPr sz="900" b="0" i="0">
                <a:solidFill>
                  <a:srgbClr val="A0AAB8"/>
                </a:solidFill>
                <a:latin typeface="Calibri"/>
              </a:rPr>
              <a:t>Commander inferred a possible
chain from ASG Vulnerability nodes.
Not yet tested.</a:t>
            </a:r>
          </a:p>
        </p:txBody>
      </p:sp>
      <p:cxnSp>
        <p:nvCxnSpPr>
          <p:cNvPr id="11" name="Connector 10"/>
          <p:cNvCxnSpPr/>
          <p:nvPr/>
        </p:nvCxnSpPr>
        <p:spPr>
          <a:xfrm>
            <a:off x="2560320" y="1696212.0"/>
            <a:ext cx="237744" cy="0.0"/>
          </a:xfrm>
          <a:prstGeom prst="line">
            <a:avLst/>
          </a:prstGeom>
          <a:ln w="2286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2798064" y="804672"/>
            <a:ext cx="2331720" cy="1783080"/>
          </a:xfrm>
          <a:prstGeom prst="rect">
            <a:avLst/>
          </a:prstGeom>
          <a:solidFill>
            <a:srgbClr val="284008"/>
          </a:solidFill>
          <a:ln w="254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98064" y="804672"/>
            <a:ext cx="2331720" cy="27432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98064" y="841248"/>
            <a:ext cx="2331720" cy="228600"/>
          </a:xfrm>
          <a:prstGeom prst="rect">
            <a:avLst/>
          </a:prstGeom>
          <a:noFill/>
        </p:spPr>
        <p:txBody>
          <a:bodyPr wrap="square">
            <a:spAutoFit/>
          </a:bodyPr>
          <a:lstStyle/>
          <a:p>
            <a:pPr algn="ctr"/>
            <a:r>
              <a:rPr sz="950" b="1" i="0">
                <a:solidFill>
                  <a:srgbClr val="0A0D1A"/>
                </a:solidFill>
                <a:latin typeface="Calibri"/>
              </a:rPr>
              <a:t>PARTIALLY
VALIDATED</a:t>
            </a:r>
          </a:p>
        </p:txBody>
      </p:sp>
      <p:sp>
        <p:nvSpPr>
          <p:cNvPr id="15" name="TextBox 14"/>
          <p:cNvSpPr txBox="1"/>
          <p:nvPr/>
        </p:nvSpPr>
        <p:spPr>
          <a:xfrm>
            <a:off x="2889504" y="1152144"/>
            <a:ext cx="2167128" cy="1362456"/>
          </a:xfrm>
          <a:prstGeom prst="rect">
            <a:avLst/>
          </a:prstGeom>
          <a:noFill/>
        </p:spPr>
        <p:txBody>
          <a:bodyPr wrap="square">
            <a:spAutoFit/>
          </a:bodyPr>
          <a:lstStyle/>
          <a:p>
            <a:pPr algn="ctr"/>
            <a:r>
              <a:rPr sz="900" b="0" i="0">
                <a:solidFill>
                  <a:srgbClr val="A0AAB8"/>
                </a:solidFill>
                <a:latin typeface="Calibri"/>
              </a:rPr>
              <a:t>One or more ChainSteps confirmed.
Chain not complete end-to-end.
Validation in progress.</a:t>
            </a:r>
          </a:p>
        </p:txBody>
      </p:sp>
      <p:sp>
        <p:nvSpPr>
          <p:cNvPr id="16" name="Rectangle 15"/>
          <p:cNvSpPr/>
          <p:nvPr/>
        </p:nvSpPr>
        <p:spPr>
          <a:xfrm>
            <a:off x="5038344" y="1531620"/>
            <a:ext cx="329184" cy="329184"/>
          </a:xfrm>
          <a:prstGeom prst="rect">
            <a:avLst/>
          </a:prstGeom>
          <a:solidFill>
            <a:srgbClr val="FFD700"/>
          </a:solidFill>
          <a:ln w="6350">
            <a:solidFill>
              <a:srgbClr val="A0AA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H="1">
            <a:off x="5038344" y="1696212.0"/>
            <a:ext cx="91440" cy="0.0"/>
          </a:xfrm>
          <a:prstGeom prst="line">
            <a:avLst/>
          </a:prstGeom>
          <a:ln w="2286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440680" y="804672"/>
            <a:ext cx="2331720" cy="1783080"/>
          </a:xfrm>
          <a:prstGeom prst="rect">
            <a:avLst/>
          </a:prstGeom>
          <a:solidFill>
            <a:srgbClr val="06280E"/>
          </a:solidFill>
          <a:ln w="254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40680" y="804672"/>
            <a:ext cx="2331720" cy="27432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40680" y="841248"/>
            <a:ext cx="2331720" cy="228600"/>
          </a:xfrm>
          <a:prstGeom prst="rect">
            <a:avLst/>
          </a:prstGeom>
          <a:noFill/>
        </p:spPr>
        <p:txBody>
          <a:bodyPr wrap="square">
            <a:spAutoFit/>
          </a:bodyPr>
          <a:lstStyle/>
          <a:p>
            <a:pPr algn="ctr"/>
            <a:r>
              <a:rPr sz="950" b="1" i="0">
                <a:solidFill>
                  <a:srgbClr val="0A0D1A"/>
                </a:solidFill>
                <a:latin typeface="Calibri"/>
              </a:rPr>
              <a:t>VALIDATED</a:t>
            </a:r>
          </a:p>
        </p:txBody>
      </p:sp>
      <p:sp>
        <p:nvSpPr>
          <p:cNvPr id="21" name="TextBox 20"/>
          <p:cNvSpPr txBox="1"/>
          <p:nvPr/>
        </p:nvSpPr>
        <p:spPr>
          <a:xfrm>
            <a:off x="5532120" y="1152144"/>
            <a:ext cx="2167128" cy="1362456"/>
          </a:xfrm>
          <a:prstGeom prst="rect">
            <a:avLst/>
          </a:prstGeom>
          <a:noFill/>
        </p:spPr>
        <p:txBody>
          <a:bodyPr wrap="square">
            <a:spAutoFit/>
          </a:bodyPr>
          <a:lstStyle/>
          <a:p>
            <a:pPr algn="ctr"/>
            <a:r>
              <a:rPr sz="900" b="0" i="0">
                <a:solidFill>
                  <a:srgbClr val="A0AAB8"/>
                </a:solidFill>
                <a:latin typeface="Calibri"/>
              </a:rPr>
              <a:t>All ChainSteps confirmed with
linked Evidence. Impact demonstrated.
Mission success for this chain.</a:t>
            </a:r>
          </a:p>
        </p:txBody>
      </p:sp>
      <p:cxnSp>
        <p:nvCxnSpPr>
          <p:cNvPr id="22" name="Connector 21"/>
          <p:cNvCxnSpPr/>
          <p:nvPr/>
        </p:nvCxnSpPr>
        <p:spPr>
          <a:xfrm>
            <a:off x="5367528" y="1604772.0"/>
            <a:ext cx="73152" cy="0.0"/>
          </a:xfrm>
          <a:prstGeom prst="line">
            <a:avLst/>
          </a:prstGeom>
          <a:ln w="2286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404104" y="1367028"/>
            <a:ext cx="1097280" cy="201168"/>
          </a:xfrm>
          <a:prstGeom prst="rect">
            <a:avLst/>
          </a:prstGeom>
          <a:noFill/>
        </p:spPr>
        <p:txBody>
          <a:bodyPr wrap="square">
            <a:spAutoFit/>
          </a:bodyPr>
          <a:lstStyle/>
          <a:p>
            <a:pPr algn="l"/>
            <a:r>
              <a:rPr sz="800" b="0" i="1">
                <a:solidFill>
                  <a:srgbClr val="39FF14"/>
                </a:solidFill>
                <a:latin typeface="Calibri"/>
              </a:rPr>
              <a:t>chain succeeds</a:t>
            </a:r>
          </a:p>
        </p:txBody>
      </p:sp>
      <p:sp>
        <p:nvSpPr>
          <p:cNvPr id="24" name="Rectangle 23"/>
          <p:cNvSpPr/>
          <p:nvPr/>
        </p:nvSpPr>
        <p:spPr>
          <a:xfrm>
            <a:off x="5440680" y="2843784"/>
            <a:ext cx="2331720" cy="1783080"/>
          </a:xfrm>
          <a:prstGeom prst="rect">
            <a:avLst/>
          </a:prstGeom>
          <a:solidFill>
            <a:srgbClr val="280808"/>
          </a:solidFill>
          <a:ln w="2540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40680" y="2843784"/>
            <a:ext cx="2331720" cy="27432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40680" y="2880360"/>
            <a:ext cx="2331720" cy="228600"/>
          </a:xfrm>
          <a:prstGeom prst="rect">
            <a:avLst/>
          </a:prstGeom>
          <a:noFill/>
        </p:spPr>
        <p:txBody>
          <a:bodyPr wrap="square">
            <a:spAutoFit/>
          </a:bodyPr>
          <a:lstStyle/>
          <a:p>
            <a:pPr algn="ctr"/>
            <a:r>
              <a:rPr sz="950" b="1" i="0">
                <a:solidFill>
                  <a:srgbClr val="0A0D1A"/>
                </a:solidFill>
                <a:latin typeface="Calibri"/>
              </a:rPr>
              <a:t>RULED_OUT</a:t>
            </a:r>
          </a:p>
        </p:txBody>
      </p:sp>
      <p:sp>
        <p:nvSpPr>
          <p:cNvPr id="27" name="TextBox 26"/>
          <p:cNvSpPr txBox="1"/>
          <p:nvPr/>
        </p:nvSpPr>
        <p:spPr>
          <a:xfrm>
            <a:off x="5532120" y="3191256"/>
            <a:ext cx="2167128" cy="1362456"/>
          </a:xfrm>
          <a:prstGeom prst="rect">
            <a:avLst/>
          </a:prstGeom>
          <a:noFill/>
        </p:spPr>
        <p:txBody>
          <a:bodyPr wrap="square">
            <a:spAutoFit/>
          </a:bodyPr>
          <a:lstStyle/>
          <a:p>
            <a:pPr algn="ctr"/>
            <a:r>
              <a:rPr sz="900" b="0" i="0">
                <a:solidFill>
                  <a:srgbClr val="A0AAB8"/>
                </a:solidFill>
                <a:latin typeface="Calibri"/>
              </a:rPr>
              <a:t>A required ChainStep failed after
max retries. Chain not exploitable
as hypothesized. Commander re-plans.</a:t>
            </a:r>
          </a:p>
        </p:txBody>
      </p:sp>
      <p:cxnSp>
        <p:nvCxnSpPr>
          <p:cNvPr id="28" name="Connector 27"/>
          <p:cNvCxnSpPr/>
          <p:nvPr/>
        </p:nvCxnSpPr>
        <p:spPr>
          <a:xfrm>
            <a:off x="5367528" y="1787652.0"/>
            <a:ext cx="73152" cy="1856232.0"/>
          </a:xfrm>
          <a:prstGeom prst="line">
            <a:avLst/>
          </a:prstGeom>
          <a:ln w="22860">
            <a:solidFill>
              <a:srgbClr val="FF4545"/>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04104" y="1897380"/>
            <a:ext cx="1234440" cy="201168"/>
          </a:xfrm>
          <a:prstGeom prst="rect">
            <a:avLst/>
          </a:prstGeom>
          <a:noFill/>
        </p:spPr>
        <p:txBody>
          <a:bodyPr wrap="square">
            <a:spAutoFit/>
          </a:bodyPr>
          <a:lstStyle/>
          <a:p>
            <a:pPr algn="l"/>
            <a:r>
              <a:rPr sz="800" b="0" i="1">
                <a:solidFill>
                  <a:srgbClr val="FF4545"/>
                </a:solidFill>
                <a:latin typeface="Calibri"/>
              </a:rPr>
              <a:t>step fails after cap</a:t>
            </a:r>
          </a:p>
        </p:txBody>
      </p:sp>
      <p:cxnSp>
        <p:nvCxnSpPr>
          <p:cNvPr id="30" name="Connector 29"/>
          <p:cNvCxnSpPr/>
          <p:nvPr/>
        </p:nvCxnSpPr>
        <p:spPr>
          <a:xfrm>
            <a:off x="3963924.0" y="2587752"/>
            <a:ext cx="2642616.0" cy="256032"/>
          </a:xfrm>
          <a:prstGeom prst="line">
            <a:avLst/>
          </a:prstGeom>
          <a:ln w="12700">
            <a:solidFill>
              <a:srgbClr val="FF4545"/>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3872484" y="2624328"/>
            <a:ext cx="1371600" cy="201168"/>
          </a:xfrm>
          <a:prstGeom prst="rect">
            <a:avLst/>
          </a:prstGeom>
          <a:noFill/>
        </p:spPr>
        <p:txBody>
          <a:bodyPr wrap="square">
            <a:spAutoFit/>
          </a:bodyPr>
          <a:lstStyle/>
          <a:p>
            <a:pPr algn="l"/>
            <a:r>
              <a:rPr sz="700" b="0" i="1">
                <a:solidFill>
                  <a:srgbClr val="FF4545"/>
                </a:solidFill>
                <a:latin typeface="Calibri"/>
              </a:rPr>
              <a:t>later step fails after cap</a:t>
            </a:r>
          </a:p>
        </p:txBody>
      </p:sp>
      <p:sp>
        <p:nvSpPr>
          <p:cNvPr id="32" name="Rectangle 31"/>
          <p:cNvSpPr/>
          <p:nvPr/>
        </p:nvSpPr>
        <p:spPr>
          <a:xfrm>
            <a:off x="164592" y="4846320"/>
            <a:ext cx="7132320" cy="1755648"/>
          </a:xfrm>
          <a:prstGeom prst="rect">
            <a:avLst/>
          </a:prstGeom>
          <a:solidFill>
            <a:srgbClr val="080C1E"/>
          </a:solidFill>
          <a:ln w="177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64592" y="4846320"/>
            <a:ext cx="7132320" cy="256032"/>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64592" y="4882896"/>
            <a:ext cx="7132320" cy="201168"/>
          </a:xfrm>
          <a:prstGeom prst="rect">
            <a:avLst/>
          </a:prstGeom>
          <a:noFill/>
        </p:spPr>
        <p:txBody>
          <a:bodyPr wrap="square">
            <a:spAutoFit/>
          </a:bodyPr>
          <a:lstStyle/>
          <a:p>
            <a:pPr algn="ctr"/>
            <a:r>
              <a:rPr sz="900" b="1" i="0">
                <a:solidFill>
                  <a:srgbClr val="0A0D1A"/>
                </a:solidFill>
                <a:latin typeface="Calibri"/>
              </a:rPr>
              <a:t>🎯  Validation Agent — Self-Debugging Loop  (on ChainStep failure)</a:t>
            </a:r>
          </a:p>
        </p:txBody>
      </p:sp>
      <p:sp>
        <p:nvSpPr>
          <p:cNvPr id="35" name="Rectangle 34"/>
          <p:cNvSpPr/>
          <p:nvPr/>
        </p:nvSpPr>
        <p:spPr>
          <a:xfrm>
            <a:off x="301752" y="5166360"/>
            <a:ext cx="1428750" cy="1371600"/>
          </a:xfrm>
          <a:prstGeom prst="rect">
            <a:avLst/>
          </a:prstGeom>
          <a:solidFill>
            <a:srgbClr val="101428"/>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01752" y="5166360"/>
            <a:ext cx="1428750" cy="21945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01752" y="5193792"/>
            <a:ext cx="1428750" cy="182880"/>
          </a:xfrm>
          <a:prstGeom prst="rect">
            <a:avLst/>
          </a:prstGeom>
          <a:noFill/>
        </p:spPr>
        <p:txBody>
          <a:bodyPr wrap="square">
            <a:spAutoFit/>
          </a:bodyPr>
          <a:lstStyle/>
          <a:p>
            <a:pPr algn="ctr"/>
            <a:r>
              <a:rPr sz="800" b="1" i="0">
                <a:solidFill>
                  <a:srgbClr val="0A0D1A"/>
                </a:solidFill>
                <a:latin typeface="Calibri"/>
              </a:rPr>
              <a:t>ATTEMPT</a:t>
            </a:r>
          </a:p>
        </p:txBody>
      </p:sp>
      <p:sp>
        <p:nvSpPr>
          <p:cNvPr id="38" name="TextBox 37"/>
          <p:cNvSpPr txBox="1"/>
          <p:nvPr/>
        </p:nvSpPr>
        <p:spPr>
          <a:xfrm>
            <a:off x="356616" y="5422392"/>
            <a:ext cx="1337310" cy="1078992"/>
          </a:xfrm>
          <a:prstGeom prst="rect">
            <a:avLst/>
          </a:prstGeom>
          <a:noFill/>
        </p:spPr>
        <p:txBody>
          <a:bodyPr wrap="square">
            <a:spAutoFit/>
          </a:bodyPr>
          <a:lstStyle/>
          <a:p>
            <a:pPr algn="ctr"/>
            <a:r>
              <a:rPr sz="800" b="0" i="0">
                <a:solidFill>
                  <a:srgbClr val="A0AAB8"/>
                </a:solidFill>
                <a:latin typeface="Calibri"/>
              </a:rPr>
              <a:t>Execute tool
against target</a:t>
            </a:r>
          </a:p>
        </p:txBody>
      </p:sp>
      <p:sp>
        <p:nvSpPr>
          <p:cNvPr id="39" name="Rectangle 38"/>
          <p:cNvSpPr/>
          <p:nvPr/>
        </p:nvSpPr>
        <p:spPr>
          <a:xfrm>
            <a:off x="1803654" y="5166360"/>
            <a:ext cx="1428750" cy="1371600"/>
          </a:xfrm>
          <a:prstGeom prst="rect">
            <a:avLst/>
          </a:prstGeom>
          <a:solidFill>
            <a:srgbClr val="101428"/>
          </a:solidFill>
          <a:ln w="127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803654" y="5166360"/>
            <a:ext cx="1428750" cy="21945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803654" y="5193792"/>
            <a:ext cx="1428750" cy="182880"/>
          </a:xfrm>
          <a:prstGeom prst="rect">
            <a:avLst/>
          </a:prstGeom>
          <a:noFill/>
        </p:spPr>
        <p:txBody>
          <a:bodyPr wrap="square">
            <a:spAutoFit/>
          </a:bodyPr>
          <a:lstStyle/>
          <a:p>
            <a:pPr algn="ctr"/>
            <a:r>
              <a:rPr sz="800" b="1" i="0">
                <a:solidFill>
                  <a:srgbClr val="0A0D1A"/>
                </a:solidFill>
                <a:latin typeface="Calibri"/>
              </a:rPr>
              <a:t>DIAGNOSE</a:t>
            </a:r>
          </a:p>
        </p:txBody>
      </p:sp>
      <p:sp>
        <p:nvSpPr>
          <p:cNvPr id="42" name="TextBox 41"/>
          <p:cNvSpPr txBox="1"/>
          <p:nvPr/>
        </p:nvSpPr>
        <p:spPr>
          <a:xfrm>
            <a:off x="1858518" y="5422392"/>
            <a:ext cx="1337310" cy="1078992"/>
          </a:xfrm>
          <a:prstGeom prst="rect">
            <a:avLst/>
          </a:prstGeom>
          <a:noFill/>
        </p:spPr>
        <p:txBody>
          <a:bodyPr wrap="square">
            <a:spAutoFit/>
          </a:bodyPr>
          <a:lstStyle/>
          <a:p>
            <a:pPr algn="ctr"/>
            <a:r>
              <a:rPr sz="800" b="0" i="0">
                <a:solidFill>
                  <a:srgbClr val="A0AAB8"/>
                </a:solidFill>
                <a:latin typeface="Calibri"/>
              </a:rPr>
              <a:t>Analyze failure:
wrong param · auth
version mismatch</a:t>
            </a:r>
          </a:p>
        </p:txBody>
      </p:sp>
      <p:cxnSp>
        <p:nvCxnSpPr>
          <p:cNvPr id="43" name="Connector 42"/>
          <p:cNvCxnSpPr/>
          <p:nvPr/>
        </p:nvCxnSpPr>
        <p:spPr>
          <a:xfrm>
            <a:off x="1730502.0" y="5852160.0"/>
            <a:ext cx="73152.0" cy="0.0"/>
          </a:xfrm>
          <a:prstGeom prst="line">
            <a:avLst/>
          </a:prstGeom>
          <a:ln w="1524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44" name="Rectangle 43"/>
          <p:cNvSpPr/>
          <p:nvPr/>
        </p:nvSpPr>
        <p:spPr>
          <a:xfrm>
            <a:off x="3305556" y="5166360"/>
            <a:ext cx="1428750" cy="1371600"/>
          </a:xfrm>
          <a:prstGeom prst="rect">
            <a:avLst/>
          </a:prstGeom>
          <a:solidFill>
            <a:srgbClr val="101428"/>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305556" y="5166360"/>
            <a:ext cx="1428750" cy="21945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305556" y="5193792"/>
            <a:ext cx="1428750" cy="182880"/>
          </a:xfrm>
          <a:prstGeom prst="rect">
            <a:avLst/>
          </a:prstGeom>
          <a:noFill/>
        </p:spPr>
        <p:txBody>
          <a:bodyPr wrap="square">
            <a:spAutoFit/>
          </a:bodyPr>
          <a:lstStyle/>
          <a:p>
            <a:pPr algn="ctr"/>
            <a:r>
              <a:rPr sz="800" b="1" i="0">
                <a:solidFill>
                  <a:srgbClr val="0A0D1A"/>
                </a:solidFill>
                <a:latin typeface="Calibri"/>
              </a:rPr>
              <a:t>CONTEXTUALIZE</a:t>
            </a:r>
          </a:p>
        </p:txBody>
      </p:sp>
      <p:sp>
        <p:nvSpPr>
          <p:cNvPr id="47" name="TextBox 46"/>
          <p:cNvSpPr txBox="1"/>
          <p:nvPr/>
        </p:nvSpPr>
        <p:spPr>
          <a:xfrm>
            <a:off x="3360420" y="5422392"/>
            <a:ext cx="1337310" cy="1078992"/>
          </a:xfrm>
          <a:prstGeom prst="rect">
            <a:avLst/>
          </a:prstGeom>
          <a:noFill/>
        </p:spPr>
        <p:txBody>
          <a:bodyPr wrap="square">
            <a:spAutoFit/>
          </a:bodyPr>
          <a:lstStyle/>
          <a:p>
            <a:pPr algn="ctr"/>
            <a:r>
              <a:rPr sz="800" b="0" i="0">
                <a:solidFill>
                  <a:srgbClr val="A0AAB8"/>
                </a:solidFill>
                <a:latin typeface="Calibri"/>
              </a:rPr>
              <a:t>Query ASG for
additional node
attributes</a:t>
            </a:r>
          </a:p>
        </p:txBody>
      </p:sp>
      <p:cxnSp>
        <p:nvCxnSpPr>
          <p:cNvPr id="48" name="Connector 47"/>
          <p:cNvCxnSpPr/>
          <p:nvPr/>
        </p:nvCxnSpPr>
        <p:spPr>
          <a:xfrm>
            <a:off x="3232404.0" y="5852160.0"/>
            <a:ext cx="73152.0" cy="0.0"/>
          </a:xfrm>
          <a:prstGeom prst="line">
            <a:avLst/>
          </a:prstGeom>
          <a:ln w="1524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4807458" y="5166360"/>
            <a:ext cx="1428750" cy="1371600"/>
          </a:xfrm>
          <a:prstGeom prst="rect">
            <a:avLst/>
          </a:prstGeom>
          <a:solidFill>
            <a:srgbClr val="101428"/>
          </a:solidFill>
          <a:ln w="127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807458" y="5166360"/>
            <a:ext cx="1428750" cy="21945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807458" y="5193792"/>
            <a:ext cx="1428750" cy="182880"/>
          </a:xfrm>
          <a:prstGeom prst="rect">
            <a:avLst/>
          </a:prstGeom>
          <a:noFill/>
        </p:spPr>
        <p:txBody>
          <a:bodyPr wrap="square">
            <a:spAutoFit/>
          </a:bodyPr>
          <a:lstStyle/>
          <a:p>
            <a:pPr algn="ctr"/>
            <a:r>
              <a:rPr sz="800" b="1" i="0">
                <a:solidFill>
                  <a:srgbClr val="0A0D1A"/>
                </a:solidFill>
                <a:latin typeface="Calibri"/>
              </a:rPr>
              <a:t>ADAPT</a:t>
            </a:r>
          </a:p>
        </p:txBody>
      </p:sp>
      <p:sp>
        <p:nvSpPr>
          <p:cNvPr id="52" name="TextBox 51"/>
          <p:cNvSpPr txBox="1"/>
          <p:nvPr/>
        </p:nvSpPr>
        <p:spPr>
          <a:xfrm>
            <a:off x="4862322" y="5422392"/>
            <a:ext cx="1337310" cy="1078992"/>
          </a:xfrm>
          <a:prstGeom prst="rect">
            <a:avLst/>
          </a:prstGeom>
          <a:noFill/>
        </p:spPr>
        <p:txBody>
          <a:bodyPr wrap="square">
            <a:spAutoFit/>
          </a:bodyPr>
          <a:lstStyle/>
          <a:p>
            <a:pPr algn="ctr"/>
            <a:r>
              <a:rPr sz="800" b="0" i="0">
                <a:solidFill>
                  <a:srgbClr val="A0AAB8"/>
                </a:solidFill>
                <a:latin typeface="Calibri"/>
              </a:rPr>
              <a:t>Modify tool call
based on diagnosis
+ context</a:t>
            </a:r>
          </a:p>
        </p:txBody>
      </p:sp>
      <p:cxnSp>
        <p:nvCxnSpPr>
          <p:cNvPr id="53" name="Connector 52"/>
          <p:cNvCxnSpPr/>
          <p:nvPr/>
        </p:nvCxnSpPr>
        <p:spPr>
          <a:xfrm>
            <a:off x="4734306.0" y="5852160.0"/>
            <a:ext cx="73152.0" cy="0.0"/>
          </a:xfrm>
          <a:prstGeom prst="line">
            <a:avLst/>
          </a:prstGeom>
          <a:ln w="1524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6309360" y="5166360"/>
            <a:ext cx="850392" cy="1371600"/>
          </a:xfrm>
          <a:prstGeom prst="rect">
            <a:avLst/>
          </a:prstGeom>
          <a:solidFill>
            <a:srgbClr val="220808"/>
          </a:solidFill>
          <a:ln w="177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309360" y="5166360"/>
            <a:ext cx="850392" cy="21945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309360" y="5193792"/>
            <a:ext cx="850392" cy="182880"/>
          </a:xfrm>
          <a:prstGeom prst="rect">
            <a:avLst/>
          </a:prstGeom>
          <a:noFill/>
        </p:spPr>
        <p:txBody>
          <a:bodyPr wrap="square">
            <a:spAutoFit/>
          </a:bodyPr>
          <a:lstStyle/>
          <a:p>
            <a:pPr algn="ctr"/>
            <a:r>
              <a:rPr sz="800" b="1" i="0">
                <a:solidFill>
                  <a:srgbClr val="0A0D1A"/>
                </a:solidFill>
                <a:latin typeface="Calibri"/>
              </a:rPr>
              <a:t>CAP  (×3 max)</a:t>
            </a:r>
          </a:p>
        </p:txBody>
      </p:sp>
      <p:cxnSp>
        <p:nvCxnSpPr>
          <p:cNvPr id="57" name="Connector 56"/>
          <p:cNvCxnSpPr/>
          <p:nvPr/>
        </p:nvCxnSpPr>
        <p:spPr>
          <a:xfrm>
            <a:off x="6236208.0" y="5852160.0"/>
            <a:ext cx="73152.0" cy="0.0"/>
          </a:xfrm>
          <a:prstGeom prst="line">
            <a:avLst/>
          </a:prstGeom>
          <a:ln w="15240">
            <a:solidFill>
              <a:srgbClr val="FF4545"/>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6364224" y="5422392"/>
            <a:ext cx="758952" cy="1097280"/>
          </a:xfrm>
          <a:prstGeom prst="rect">
            <a:avLst/>
          </a:prstGeom>
          <a:noFill/>
        </p:spPr>
        <p:txBody>
          <a:bodyPr wrap="square">
            <a:spAutoFit/>
          </a:bodyPr>
          <a:lstStyle/>
          <a:p>
            <a:pPr algn="l"/>
            <a:r>
              <a:rPr sz="800" b="0" i="0">
                <a:solidFill>
                  <a:srgbClr val="A0AAB8"/>
                </a:solidFill>
                <a:latin typeface="Calibri"/>
              </a:rPr>
              <a:t>→ Mark ChainStep
   RULED_OUT
→ Write failure
   to ASG node</a:t>
            </a:r>
          </a:p>
        </p:txBody>
      </p:sp>
      <p:cxnSp>
        <p:nvCxnSpPr>
          <p:cNvPr id="59" name="Connector 58"/>
          <p:cNvCxnSpPr/>
          <p:nvPr/>
        </p:nvCxnSpPr>
        <p:spPr>
          <a:xfrm flipH="1">
            <a:off x="1016127.0" y="6537960"/>
            <a:ext cx="4505706.0" cy="0"/>
          </a:xfrm>
          <a:prstGeom prst="line">
            <a:avLst/>
          </a:prstGeom>
          <a:ln w="1270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1730502" y="6537960"/>
            <a:ext cx="2286000" cy="182880"/>
          </a:xfrm>
          <a:prstGeom prst="rect">
            <a:avLst/>
          </a:prstGeom>
          <a:noFill/>
        </p:spPr>
        <p:txBody>
          <a:bodyPr wrap="square">
            <a:spAutoFit/>
          </a:bodyPr>
          <a:lstStyle/>
          <a:p>
            <a:pPr algn="ctr"/>
            <a:r>
              <a:rPr sz="750" b="0" i="1">
                <a:solidFill>
                  <a:srgbClr val="39FF14"/>
                </a:solidFill>
                <a:latin typeface="Calibri"/>
              </a:rPr>
              <a:t>retry (up to cap)</a:t>
            </a:r>
          </a:p>
        </p:txBody>
      </p:sp>
      <p:sp>
        <p:nvSpPr>
          <p:cNvPr id="61" name="Rectangle 60"/>
          <p:cNvSpPr/>
          <p:nvPr/>
        </p:nvSpPr>
        <p:spPr>
          <a:xfrm>
            <a:off x="7388352" y="4846320"/>
            <a:ext cx="4620463" cy="1755648"/>
          </a:xfrm>
          <a:prstGeom prst="rect">
            <a:avLst/>
          </a:prstGeom>
          <a:solidFill>
            <a:srgbClr val="0E0C04"/>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7388352" y="4846320"/>
            <a:ext cx="4620463" cy="25603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388352" y="4882896"/>
            <a:ext cx="4620463" cy="201168"/>
          </a:xfrm>
          <a:prstGeom prst="rect">
            <a:avLst/>
          </a:prstGeom>
          <a:noFill/>
        </p:spPr>
        <p:txBody>
          <a:bodyPr wrap="square">
            <a:spAutoFit/>
          </a:bodyPr>
          <a:lstStyle/>
          <a:p>
            <a:pPr algn="ctr"/>
            <a:r>
              <a:rPr sz="900" b="1" i="0">
                <a:solidFill>
                  <a:srgbClr val="0A0D1A"/>
                </a:solidFill>
                <a:latin typeface="Calibri"/>
              </a:rPr>
              <a:t>Risk Score + Chain Priority</a:t>
            </a:r>
          </a:p>
        </p:txBody>
      </p:sp>
      <p:sp>
        <p:nvSpPr>
          <p:cNvPr id="64" name="TextBox 63"/>
          <p:cNvSpPr txBox="1"/>
          <p:nvPr/>
        </p:nvSpPr>
        <p:spPr>
          <a:xfrm>
            <a:off x="7479792" y="5157216"/>
            <a:ext cx="4455871" cy="256032"/>
          </a:xfrm>
          <a:prstGeom prst="rect">
            <a:avLst/>
          </a:prstGeom>
          <a:noFill/>
        </p:spPr>
        <p:txBody>
          <a:bodyPr wrap="square">
            <a:spAutoFit/>
          </a:bodyPr>
          <a:lstStyle/>
          <a:p>
            <a:pPr algn="l"/>
            <a:r>
              <a:rPr sz="950" b="1" i="0">
                <a:solidFill>
                  <a:srgbClr val="FFD700"/>
                </a:solidFill>
                <a:latin typeface="Calibri"/>
              </a:rPr>
              <a:t>risk_score derived from: CVSS severity · exploitability (PoC availability) · impact classification</a:t>
            </a:r>
          </a:p>
        </p:txBody>
      </p:sp>
      <p:sp>
        <p:nvSpPr>
          <p:cNvPr id="65" name="TextBox 64"/>
          <p:cNvSpPr txBox="1"/>
          <p:nvPr/>
        </p:nvSpPr>
        <p:spPr>
          <a:xfrm>
            <a:off x="7479792" y="5413248"/>
            <a:ext cx="4455871" cy="182880"/>
          </a:xfrm>
          <a:prstGeom prst="rect">
            <a:avLst/>
          </a:prstGeom>
          <a:noFill/>
        </p:spPr>
        <p:txBody>
          <a:bodyPr wrap="square">
            <a:spAutoFit/>
          </a:bodyPr>
          <a:lstStyle/>
          <a:p>
            <a:pPr algn="l"/>
            <a:r>
              <a:rPr sz="800" b="0" i="1">
                <a:solidFill>
                  <a:srgbClr val="A0AAB8"/>
                </a:solidFill>
                <a:latin typeface="Calibri"/>
              </a:rPr>
              <a:t>(formula finalized during evaluation phase; not a fixed multiplicative product)</a:t>
            </a:r>
          </a:p>
        </p:txBody>
      </p:sp>
      <p:sp>
        <p:nvSpPr>
          <p:cNvPr id="66" name="Rectangle 65"/>
          <p:cNvSpPr/>
          <p:nvPr/>
        </p:nvSpPr>
        <p:spPr>
          <a:xfrm>
            <a:off x="7479792" y="5961888"/>
            <a:ext cx="4455871" cy="237744"/>
          </a:xfrm>
          <a:prstGeom prst="rect">
            <a:avLst/>
          </a:prstGeom>
          <a:solidFill>
            <a:srgbClr val="2218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516368" y="5989320"/>
            <a:ext cx="4391863" cy="201168"/>
          </a:xfrm>
          <a:prstGeom prst="rect">
            <a:avLst/>
          </a:prstGeom>
          <a:noFill/>
        </p:spPr>
        <p:txBody>
          <a:bodyPr wrap="square">
            <a:spAutoFit/>
          </a:bodyPr>
          <a:lstStyle/>
          <a:p>
            <a:pPr algn="l"/>
            <a:r>
              <a:rPr sz="850" b="1" i="0">
                <a:solidFill>
                  <a:srgbClr val="FFD700"/>
                </a:solidFill>
                <a:latin typeface="Calibri"/>
              </a:rPr>
              <a:t>shopvault.io  —  APG Chain Priority Order</a:t>
            </a:r>
          </a:p>
        </p:txBody>
      </p:sp>
      <p:sp>
        <p:nvSpPr>
          <p:cNvPr id="68" name="Rectangle 67"/>
          <p:cNvSpPr/>
          <p:nvPr/>
        </p:nvSpPr>
        <p:spPr>
          <a:xfrm>
            <a:off x="7479792" y="6236208"/>
            <a:ext cx="4455871" cy="347472"/>
          </a:xfrm>
          <a:prstGeom prst="rect">
            <a:avLst/>
          </a:prstGeom>
          <a:solidFill>
            <a:srgbClr val="181202"/>
          </a:solidFill>
          <a:ln w="635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516368" y="6291072"/>
            <a:ext cx="201168" cy="237744"/>
          </a:xfrm>
          <a:prstGeom prst="rect">
            <a:avLst/>
          </a:prstGeom>
          <a:noFill/>
        </p:spPr>
        <p:txBody>
          <a:bodyPr wrap="square">
            <a:spAutoFit/>
          </a:bodyPr>
          <a:lstStyle/>
          <a:p>
            <a:pPr algn="ctr"/>
            <a:r>
              <a:rPr sz="900" b="1" i="0">
                <a:solidFill>
                  <a:srgbClr val="FF4545"/>
                </a:solidFill>
                <a:latin typeface="Calibri"/>
              </a:rPr>
              <a:t>1</a:t>
            </a:r>
          </a:p>
        </p:txBody>
      </p:sp>
      <p:sp>
        <p:nvSpPr>
          <p:cNvPr id="70" name="TextBox 69"/>
          <p:cNvSpPr txBox="1"/>
          <p:nvPr/>
        </p:nvSpPr>
        <p:spPr>
          <a:xfrm>
            <a:off x="7735824" y="6291072"/>
            <a:ext cx="3934663" cy="237744"/>
          </a:xfrm>
          <a:prstGeom prst="rect">
            <a:avLst/>
          </a:prstGeom>
          <a:noFill/>
        </p:spPr>
        <p:txBody>
          <a:bodyPr wrap="square">
            <a:spAutoFit/>
          </a:bodyPr>
          <a:lstStyle/>
          <a:p>
            <a:pPr algn="l"/>
            <a:r>
              <a:rPr sz="850" b="0" i="0">
                <a:solidFill>
                  <a:srgbClr val="A0AAB8"/>
                </a:solidFill>
                <a:latin typeface="Calibri"/>
              </a:rPr>
              <a:t>Chain-01  —  CVE-2022-21661 SQLi → RCE</a:t>
            </a:r>
          </a:p>
        </p:txBody>
      </p:sp>
      <p:sp>
        <p:nvSpPr>
          <p:cNvPr id="71" name="TextBox 70"/>
          <p:cNvSpPr txBox="1"/>
          <p:nvPr/>
        </p:nvSpPr>
        <p:spPr>
          <a:xfrm>
            <a:off x="11505895" y="6291072"/>
            <a:ext cx="384048" cy="237744"/>
          </a:xfrm>
          <a:prstGeom prst="rect">
            <a:avLst/>
          </a:prstGeom>
          <a:noFill/>
        </p:spPr>
        <p:txBody>
          <a:bodyPr wrap="square">
            <a:spAutoFit/>
          </a:bodyPr>
          <a:lstStyle/>
          <a:p>
            <a:pPr algn="r"/>
            <a:r>
              <a:rPr sz="950" b="1" i="0">
                <a:solidFill>
                  <a:srgbClr val="FF4545"/>
                </a:solidFill>
                <a:latin typeface="Calibri"/>
              </a:rPr>
              <a:t>9.1</a:t>
            </a:r>
          </a:p>
        </p:txBody>
      </p:sp>
      <p:sp>
        <p:nvSpPr>
          <p:cNvPr id="72" name="Rectangle 71"/>
          <p:cNvSpPr/>
          <p:nvPr/>
        </p:nvSpPr>
        <p:spPr>
          <a:xfrm>
            <a:off x="7479792" y="6601968"/>
            <a:ext cx="4455871" cy="347472"/>
          </a:xfrm>
          <a:prstGeom prst="rect">
            <a:avLst/>
          </a:prstGeom>
          <a:solidFill>
            <a:srgbClr val="120C02"/>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516368" y="6656832"/>
            <a:ext cx="201168" cy="237744"/>
          </a:xfrm>
          <a:prstGeom prst="rect">
            <a:avLst/>
          </a:prstGeom>
          <a:noFill/>
        </p:spPr>
        <p:txBody>
          <a:bodyPr wrap="square">
            <a:spAutoFit/>
          </a:bodyPr>
          <a:lstStyle/>
          <a:p>
            <a:pPr algn="ctr"/>
            <a:r>
              <a:rPr sz="900" b="1" i="0">
                <a:solidFill>
                  <a:srgbClr val="FFD700"/>
                </a:solidFill>
                <a:latin typeface="Calibri"/>
              </a:rPr>
              <a:t>2</a:t>
            </a:r>
          </a:p>
        </p:txBody>
      </p:sp>
      <p:sp>
        <p:nvSpPr>
          <p:cNvPr id="74" name="TextBox 73"/>
          <p:cNvSpPr txBox="1"/>
          <p:nvPr/>
        </p:nvSpPr>
        <p:spPr>
          <a:xfrm>
            <a:off x="7735824" y="6656832"/>
            <a:ext cx="3934663" cy="237744"/>
          </a:xfrm>
          <a:prstGeom prst="rect">
            <a:avLst/>
          </a:prstGeom>
          <a:noFill/>
        </p:spPr>
        <p:txBody>
          <a:bodyPr wrap="square">
            <a:spAutoFit/>
          </a:bodyPr>
          <a:lstStyle/>
          <a:p>
            <a:pPr algn="l"/>
            <a:r>
              <a:rPr sz="850" b="0" i="0">
                <a:solidFill>
                  <a:srgbClr val="A0AAB8"/>
                </a:solidFill>
                <a:latin typeface="Calibri"/>
              </a:rPr>
              <a:t>Chain-03  —  Blind SQLi on staging → DB creds</a:t>
            </a:r>
          </a:p>
        </p:txBody>
      </p:sp>
      <p:sp>
        <p:nvSpPr>
          <p:cNvPr id="75" name="TextBox 74"/>
          <p:cNvSpPr txBox="1"/>
          <p:nvPr/>
        </p:nvSpPr>
        <p:spPr>
          <a:xfrm>
            <a:off x="11505895" y="6656832"/>
            <a:ext cx="384048" cy="237744"/>
          </a:xfrm>
          <a:prstGeom prst="rect">
            <a:avLst/>
          </a:prstGeom>
          <a:noFill/>
        </p:spPr>
        <p:txBody>
          <a:bodyPr wrap="square">
            <a:spAutoFit/>
          </a:bodyPr>
          <a:lstStyle/>
          <a:p>
            <a:pPr algn="r"/>
            <a:r>
              <a:rPr sz="950" b="1" i="0">
                <a:solidFill>
                  <a:srgbClr val="FFD700"/>
                </a:solidFill>
                <a:latin typeface="Calibri"/>
              </a:rPr>
              <a:t>8.1</a:t>
            </a:r>
          </a:p>
        </p:txBody>
      </p:sp>
      <p:sp>
        <p:nvSpPr>
          <p:cNvPr id="76" name="Rectangle 75"/>
          <p:cNvSpPr/>
          <p:nvPr/>
        </p:nvSpPr>
        <p:spPr>
          <a:xfrm>
            <a:off x="7479792" y="6967728"/>
            <a:ext cx="4455871" cy="347472"/>
          </a:xfrm>
          <a:prstGeom prst="rect">
            <a:avLst/>
          </a:prstGeom>
          <a:solidFill>
            <a:srgbClr val="181202"/>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516368" y="7022592"/>
            <a:ext cx="201168" cy="237744"/>
          </a:xfrm>
          <a:prstGeom prst="rect">
            <a:avLst/>
          </a:prstGeom>
          <a:noFill/>
        </p:spPr>
        <p:txBody>
          <a:bodyPr wrap="square">
            <a:spAutoFit/>
          </a:bodyPr>
          <a:lstStyle/>
          <a:p>
            <a:pPr algn="ctr"/>
            <a:r>
              <a:rPr sz="900" b="1" i="0">
                <a:solidFill>
                  <a:srgbClr val="FFD700"/>
                </a:solidFill>
                <a:latin typeface="Calibri"/>
              </a:rPr>
              <a:t>3</a:t>
            </a:r>
          </a:p>
        </p:txBody>
      </p:sp>
      <p:sp>
        <p:nvSpPr>
          <p:cNvPr id="78" name="TextBox 77"/>
          <p:cNvSpPr txBox="1"/>
          <p:nvPr/>
        </p:nvSpPr>
        <p:spPr>
          <a:xfrm>
            <a:off x="7735824" y="7022592"/>
            <a:ext cx="3934663" cy="237744"/>
          </a:xfrm>
          <a:prstGeom prst="rect">
            <a:avLst/>
          </a:prstGeom>
          <a:noFill/>
        </p:spPr>
        <p:txBody>
          <a:bodyPr wrap="square">
            <a:spAutoFit/>
          </a:bodyPr>
          <a:lstStyle/>
          <a:p>
            <a:pPr algn="l"/>
            <a:r>
              <a:rPr sz="850" b="0" i="0">
                <a:solidFill>
                  <a:srgbClr val="A0AAB8"/>
                </a:solidFill>
                <a:latin typeface="Calibri"/>
              </a:rPr>
              <a:t>Chain-02  —  IDOR on /api/v1/orders → PII</a:t>
            </a:r>
          </a:p>
        </p:txBody>
      </p:sp>
      <p:sp>
        <p:nvSpPr>
          <p:cNvPr id="79" name="TextBox 78"/>
          <p:cNvSpPr txBox="1"/>
          <p:nvPr/>
        </p:nvSpPr>
        <p:spPr>
          <a:xfrm>
            <a:off x="11505895" y="7022592"/>
            <a:ext cx="384048" cy="237744"/>
          </a:xfrm>
          <a:prstGeom prst="rect">
            <a:avLst/>
          </a:prstGeom>
          <a:noFill/>
        </p:spPr>
        <p:txBody>
          <a:bodyPr wrap="square">
            <a:spAutoFit/>
          </a:bodyPr>
          <a:lstStyle/>
          <a:p>
            <a:pPr algn="r"/>
            <a:r>
              <a:rPr sz="950" b="1" i="0">
                <a:solidFill>
                  <a:srgbClr val="FFD700"/>
                </a:solidFill>
                <a:latin typeface="Calibri"/>
              </a:rPr>
              <a:t>7.5</a:t>
            </a:r>
          </a:p>
        </p:txBody>
      </p:sp>
      <p:sp>
        <p:nvSpPr>
          <p:cNvPr id="80" name="Rectangle 79"/>
          <p:cNvSpPr/>
          <p:nvPr/>
        </p:nvSpPr>
        <p:spPr>
          <a:xfrm>
            <a:off x="7479792" y="7333488"/>
            <a:ext cx="4455871" cy="347472"/>
          </a:xfrm>
          <a:prstGeom prst="rect">
            <a:avLst/>
          </a:prstGeom>
          <a:solidFill>
            <a:srgbClr val="120C02"/>
          </a:solidFill>
          <a:ln w="635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516368" y="7388352"/>
            <a:ext cx="201168" cy="237744"/>
          </a:xfrm>
          <a:prstGeom prst="rect">
            <a:avLst/>
          </a:prstGeom>
          <a:noFill/>
        </p:spPr>
        <p:txBody>
          <a:bodyPr wrap="square">
            <a:spAutoFit/>
          </a:bodyPr>
          <a:lstStyle/>
          <a:p>
            <a:pPr algn="ctr"/>
            <a:r>
              <a:rPr sz="900" b="1" i="0">
                <a:solidFill>
                  <a:srgbClr val="BD93F9"/>
                </a:solidFill>
                <a:latin typeface="Calibri"/>
              </a:rPr>
              <a:t>4</a:t>
            </a:r>
          </a:p>
        </p:txBody>
      </p:sp>
      <p:sp>
        <p:nvSpPr>
          <p:cNvPr id="82" name="TextBox 81"/>
          <p:cNvSpPr txBox="1"/>
          <p:nvPr/>
        </p:nvSpPr>
        <p:spPr>
          <a:xfrm>
            <a:off x="7735824" y="7388352"/>
            <a:ext cx="3934663" cy="237744"/>
          </a:xfrm>
          <a:prstGeom prst="rect">
            <a:avLst/>
          </a:prstGeom>
          <a:noFill/>
        </p:spPr>
        <p:txBody>
          <a:bodyPr wrap="square">
            <a:spAutoFit/>
          </a:bodyPr>
          <a:lstStyle/>
          <a:p>
            <a:pPr algn="l"/>
            <a:r>
              <a:rPr sz="850" b="0" i="0">
                <a:solidFill>
                  <a:srgbClr val="A0AAB8"/>
                </a:solidFill>
                <a:latin typeface="Calibri"/>
              </a:rPr>
              <a:t>Chain-04  —  Direct DB backup download → PII</a:t>
            </a:r>
          </a:p>
        </p:txBody>
      </p:sp>
      <p:sp>
        <p:nvSpPr>
          <p:cNvPr id="83" name="TextBox 82"/>
          <p:cNvSpPr txBox="1"/>
          <p:nvPr/>
        </p:nvSpPr>
        <p:spPr>
          <a:xfrm>
            <a:off x="11505895" y="7388352"/>
            <a:ext cx="384048" cy="237744"/>
          </a:xfrm>
          <a:prstGeom prst="rect">
            <a:avLst/>
          </a:prstGeom>
          <a:noFill/>
        </p:spPr>
        <p:txBody>
          <a:bodyPr wrap="square">
            <a:spAutoFit/>
          </a:bodyPr>
          <a:lstStyle/>
          <a:p>
            <a:pPr algn="r"/>
            <a:r>
              <a:rPr sz="950" b="1" i="0">
                <a:solidFill>
                  <a:srgbClr val="BD93F9"/>
                </a:solidFill>
                <a:latin typeface="Calibri"/>
              </a:rPr>
              <a:t>7.0</a:t>
            </a:r>
          </a:p>
        </p:txBody>
      </p:sp>
      <p:sp>
        <p:nvSpPr>
          <p:cNvPr id="84" name="Rectangle 83"/>
          <p:cNvSpPr/>
          <p:nvPr/>
        </p:nvSpPr>
        <p:spPr>
          <a:xfrm>
            <a:off x="164592" y="6382512"/>
            <a:ext cx="11862511" cy="347472"/>
          </a:xfrm>
          <a:prstGeom prst="rect">
            <a:avLst/>
          </a:prstGeom>
          <a:solidFill>
            <a:srgbClr val="080A1C"/>
          </a:solidFill>
          <a:ln w="1270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320040" y="6409944"/>
            <a:ext cx="11597335" cy="292608"/>
          </a:xfrm>
          <a:prstGeom prst="rect">
            <a:avLst/>
          </a:prstGeom>
          <a:noFill/>
        </p:spPr>
        <p:txBody>
          <a:bodyPr wrap="square">
            <a:spAutoFit/>
          </a:bodyPr>
          <a:lstStyle/>
          <a:p>
            <a:pPr algn="l"/>
            <a:r>
              <a:rPr sz="900" b="0" i="1">
                <a:solidFill>
                  <a:srgbClr val="BD93F9"/>
                </a:solidFill>
                <a:latin typeface="Calibri"/>
              </a:rPr>
              <a:t>Exploitation Philosophy:  Success = validated APG AttackChains with evidence — not obtained shells.  A mission is complete when every attack opportunity is proven or disproven.</a:t>
            </a:r>
          </a:p>
        </p:txBody>
      </p:sp>
      <p:sp>
        <p:nvSpPr>
          <p:cNvPr id="86" name="TextBox 85"/>
          <p:cNvSpPr txBox="1"/>
          <p:nvPr/>
        </p:nvSpPr>
        <p:spPr>
          <a:xfrm>
            <a:off x="11825935" y="6382512"/>
            <a:ext cx="320040" cy="384048"/>
          </a:xfrm>
          <a:prstGeom prst="rect">
            <a:avLst/>
          </a:prstGeom>
          <a:noFill/>
        </p:spPr>
        <p:txBody>
          <a:bodyPr wrap="square">
            <a:spAutoFit/>
          </a:bodyPr>
          <a:lstStyle/>
          <a:p>
            <a:pPr algn="r"/>
            <a:r>
              <a:rPr sz="1300" b="1" i="0">
                <a:solidFill>
                  <a:srgbClr val="FFD700"/>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3152"/>
            <a:ext cx="7315200" cy="274320"/>
          </a:xfrm>
          <a:prstGeom prst="rect">
            <a:avLst/>
          </a:prstGeom>
          <a:noFill/>
        </p:spPr>
        <p:txBody>
          <a:bodyPr wrap="square">
            <a:spAutoFit/>
          </a:bodyPr>
          <a:lstStyle/>
          <a:p>
            <a:pPr algn="ctr"/>
            <a:r>
              <a:rPr sz="1100" b="1" i="0">
                <a:solidFill>
                  <a:srgbClr val="00BFD8"/>
                </a:solidFill>
                <a:latin typeface="Calibri"/>
              </a:rPr>
              <a:t>CROSS-MISSION LEARNING</a:t>
            </a:r>
          </a:p>
        </p:txBody>
      </p:sp>
      <p:sp>
        <p:nvSpPr>
          <p:cNvPr id="6" name="TextBox 5"/>
          <p:cNvSpPr txBox="1"/>
          <p:nvPr/>
        </p:nvSpPr>
        <p:spPr>
          <a:xfrm>
            <a:off x="274320" y="347472"/>
            <a:ext cx="11430000" cy="566928"/>
          </a:xfrm>
          <a:prstGeom prst="rect">
            <a:avLst/>
          </a:prstGeom>
          <a:noFill/>
        </p:spPr>
        <p:txBody>
          <a:bodyPr wrap="square">
            <a:spAutoFit/>
          </a:bodyPr>
          <a:lstStyle/>
          <a:p>
            <a:pPr algn="ctr"/>
            <a:r>
              <a:rPr sz="2600" b="1" i="0">
                <a:solidFill>
                  <a:srgbClr val="FFFFFF"/>
                </a:solidFill>
                <a:latin typeface="Calibri"/>
              </a:rPr>
              <a:t>Experience Store + Attack Strategy Library — CMatrix Gets Smarter Each Mission</a:t>
            </a:r>
          </a:p>
        </p:txBody>
      </p:sp>
      <p:sp>
        <p:nvSpPr>
          <p:cNvPr id="7" name="Rectangle 6"/>
          <p:cNvSpPr/>
          <p:nvPr/>
        </p:nvSpPr>
        <p:spPr>
          <a:xfrm>
            <a:off x="274320" y="914400"/>
            <a:ext cx="6400800" cy="27432"/>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05840"/>
            <a:ext cx="2286000" cy="914400"/>
          </a:xfrm>
          <a:prstGeom prst="rect">
            <a:avLst/>
          </a:prstGeom>
          <a:solidFill>
            <a:srgbClr val="061420"/>
          </a:solidFill>
          <a:ln w="1905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143000"/>
            <a:ext cx="2011680" cy="640080"/>
          </a:xfrm>
          <a:prstGeom prst="rect">
            <a:avLst/>
          </a:prstGeom>
          <a:noFill/>
        </p:spPr>
        <p:txBody>
          <a:bodyPr wrap="square">
            <a:spAutoFit/>
          </a:bodyPr>
          <a:lstStyle/>
          <a:p>
            <a:pPr algn="ctr"/>
            <a:r>
              <a:rPr sz="1300" b="1" i="0">
                <a:solidFill>
                  <a:srgbClr val="00E5FF"/>
                </a:solidFill>
                <a:latin typeface="Calibri"/>
              </a:rPr>
              <a:t>Mission N
(completed)</a:t>
            </a:r>
          </a:p>
        </p:txBody>
      </p:sp>
      <p:cxnSp>
        <p:nvCxnSpPr>
          <p:cNvPr id="10" name="Connector 9"/>
          <p:cNvCxnSpPr/>
          <p:nvPr/>
        </p:nvCxnSpPr>
        <p:spPr>
          <a:xfrm>
            <a:off x="2560320" y="1463040.0"/>
            <a:ext cx="1097280" cy="0.0"/>
          </a:xfrm>
          <a:prstGeom prst="line">
            <a:avLst/>
          </a:prstGeom>
          <a:ln w="1905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578608" y="1097280"/>
            <a:ext cx="1024128" cy="685800"/>
          </a:xfrm>
          <a:prstGeom prst="rect">
            <a:avLst/>
          </a:prstGeom>
          <a:noFill/>
        </p:spPr>
        <p:txBody>
          <a:bodyPr wrap="square">
            <a:spAutoFit/>
          </a:bodyPr>
          <a:lstStyle/>
          <a:p>
            <a:pPr algn="ctr"/>
            <a:r>
              <a:rPr sz="850" b="0" i="1">
                <a:solidFill>
                  <a:srgbClr val="A0AAB8"/>
                </a:solidFill>
                <a:latin typeface="Calibri"/>
              </a:rPr>
              <a:t>Report Agent writes
validated chains</a:t>
            </a:r>
          </a:p>
        </p:txBody>
      </p:sp>
      <p:sp>
        <p:nvSpPr>
          <p:cNvPr id="12" name="Rectangle 11"/>
          <p:cNvSpPr/>
          <p:nvPr/>
        </p:nvSpPr>
        <p:spPr>
          <a:xfrm>
            <a:off x="3749039" y="731520"/>
            <a:ext cx="2377440" cy="1463040"/>
          </a:xfrm>
          <a:prstGeom prst="rect">
            <a:avLst/>
          </a:prstGeom>
          <a:solidFill>
            <a:srgbClr val="04201E"/>
          </a:solidFill>
          <a:ln w="2540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58768" y="841248"/>
            <a:ext cx="2148840" cy="457200"/>
          </a:xfrm>
          <a:prstGeom prst="rect">
            <a:avLst/>
          </a:prstGeom>
          <a:noFill/>
        </p:spPr>
        <p:txBody>
          <a:bodyPr wrap="square">
            <a:spAutoFit/>
          </a:bodyPr>
          <a:lstStyle/>
          <a:p>
            <a:pPr algn="ctr"/>
            <a:r>
              <a:rPr sz="1200" b="1" i="0">
                <a:solidFill>
                  <a:srgbClr val="00BFD8"/>
                </a:solidFill>
                <a:latin typeface="Calibri"/>
              </a:rPr>
              <a:t>Cross-Mission
Experience Store</a:t>
            </a:r>
          </a:p>
        </p:txBody>
      </p:sp>
      <p:sp>
        <p:nvSpPr>
          <p:cNvPr id="14" name="TextBox 13"/>
          <p:cNvSpPr txBox="1"/>
          <p:nvPr/>
        </p:nvSpPr>
        <p:spPr>
          <a:xfrm>
            <a:off x="3858768" y="1325880"/>
            <a:ext cx="2148840" cy="365760"/>
          </a:xfrm>
          <a:prstGeom prst="rect">
            <a:avLst/>
          </a:prstGeom>
          <a:noFill/>
        </p:spPr>
        <p:txBody>
          <a:bodyPr wrap="square">
            <a:spAutoFit/>
          </a:bodyPr>
          <a:lstStyle/>
          <a:p>
            <a:pPr algn="ctr"/>
            <a:r>
              <a:rPr sz="900" b="0" i="1">
                <a:solidFill>
                  <a:srgbClr val="A0AAB8"/>
                </a:solidFill>
                <a:latin typeface="Calibri"/>
              </a:rPr>
              <a:t>RAG-backed · persistent
across all missions</a:t>
            </a:r>
          </a:p>
        </p:txBody>
      </p:sp>
      <p:cxnSp>
        <p:nvCxnSpPr>
          <p:cNvPr id="15" name="Connector 14"/>
          <p:cNvCxnSpPr/>
          <p:nvPr/>
        </p:nvCxnSpPr>
        <p:spPr>
          <a:xfrm>
            <a:off x="6126480" y="1463040.0"/>
            <a:ext cx="1097280" cy="0.0"/>
          </a:xfrm>
          <a:prstGeom prst="line">
            <a:avLst/>
          </a:prstGeom>
          <a:ln w="1905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44768" y="1051560"/>
            <a:ext cx="1024128" cy="685800"/>
          </a:xfrm>
          <a:prstGeom prst="rect">
            <a:avLst/>
          </a:prstGeom>
          <a:noFill/>
        </p:spPr>
        <p:txBody>
          <a:bodyPr wrap="square">
            <a:spAutoFit/>
          </a:bodyPr>
          <a:lstStyle/>
          <a:p>
            <a:pPr algn="ctr"/>
            <a:r>
              <a:rPr sz="850" b="0" i="1">
                <a:solidFill>
                  <a:srgbClr val="FFD700"/>
                </a:solidFill>
                <a:latin typeface="Calibri"/>
              </a:rPr>
              <a:t>Crystallize
(&gt;=2 missions)</a:t>
            </a:r>
          </a:p>
        </p:txBody>
      </p:sp>
      <p:sp>
        <p:nvSpPr>
          <p:cNvPr id="17" name="Rectangle 16"/>
          <p:cNvSpPr/>
          <p:nvPr/>
        </p:nvSpPr>
        <p:spPr>
          <a:xfrm>
            <a:off x="7315200" y="731520"/>
            <a:ext cx="2377440" cy="1463040"/>
          </a:xfrm>
          <a:prstGeom prst="rect">
            <a:avLst/>
          </a:prstGeom>
          <a:solidFill>
            <a:srgbClr val="201804"/>
          </a:solidFill>
          <a:ln w="2540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24927" y="841248"/>
            <a:ext cx="2148840" cy="457200"/>
          </a:xfrm>
          <a:prstGeom prst="rect">
            <a:avLst/>
          </a:prstGeom>
          <a:noFill/>
        </p:spPr>
        <p:txBody>
          <a:bodyPr wrap="square">
            <a:spAutoFit/>
          </a:bodyPr>
          <a:lstStyle/>
          <a:p>
            <a:pPr algn="ctr"/>
            <a:r>
              <a:rPr sz="1200" b="1" i="0">
                <a:solidFill>
                  <a:srgbClr val="FFD700"/>
                </a:solidFill>
                <a:latin typeface="Calibri"/>
              </a:rPr>
              <a:t>Attack Strategy
Library</a:t>
            </a:r>
          </a:p>
        </p:txBody>
      </p:sp>
      <p:sp>
        <p:nvSpPr>
          <p:cNvPr id="19" name="TextBox 18"/>
          <p:cNvSpPr txBox="1"/>
          <p:nvPr/>
        </p:nvSpPr>
        <p:spPr>
          <a:xfrm>
            <a:off x="7424927" y="1325880"/>
            <a:ext cx="2148840" cy="365760"/>
          </a:xfrm>
          <a:prstGeom prst="rect">
            <a:avLst/>
          </a:prstGeom>
          <a:noFill/>
        </p:spPr>
        <p:txBody>
          <a:bodyPr wrap="square">
            <a:spAutoFit/>
          </a:bodyPr>
          <a:lstStyle/>
          <a:p>
            <a:pPr algn="ctr"/>
            <a:r>
              <a:rPr sz="900" b="0" i="1">
                <a:solidFill>
                  <a:srgbClr val="A0AAB8"/>
                </a:solidFill>
                <a:latin typeface="Calibri"/>
              </a:rPr>
              <a:t>Named strategies · confidence scores
technology-fingerprint indexed</a:t>
            </a:r>
          </a:p>
        </p:txBody>
      </p:sp>
      <p:cxnSp>
        <p:nvCxnSpPr>
          <p:cNvPr id="20" name="Connector 19"/>
          <p:cNvCxnSpPr/>
          <p:nvPr/>
        </p:nvCxnSpPr>
        <p:spPr>
          <a:xfrm>
            <a:off x="9692640" y="1463040.0"/>
            <a:ext cx="1097280" cy="0.0"/>
          </a:xfrm>
          <a:prstGeom prst="line">
            <a:avLst/>
          </a:prstGeom>
          <a:ln w="19050">
            <a:solidFill>
              <a:srgbClr val="39FF14"/>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9710928" y="1097280"/>
            <a:ext cx="1024128" cy="685800"/>
          </a:xfrm>
          <a:prstGeom prst="rect">
            <a:avLst/>
          </a:prstGeom>
          <a:noFill/>
        </p:spPr>
        <p:txBody>
          <a:bodyPr wrap="square">
            <a:spAutoFit/>
          </a:bodyPr>
          <a:lstStyle/>
          <a:p>
            <a:pPr algn="ctr"/>
            <a:r>
              <a:rPr sz="850" b="0" i="1">
                <a:solidFill>
                  <a:srgbClr val="A0AAB8"/>
                </a:solidFill>
                <a:latin typeface="Calibri"/>
              </a:rPr>
              <a:t>Pre-ranked seeds
at mission start</a:t>
            </a:r>
          </a:p>
        </p:txBody>
      </p:sp>
      <p:sp>
        <p:nvSpPr>
          <p:cNvPr id="22" name="Rectangle 21"/>
          <p:cNvSpPr/>
          <p:nvPr/>
        </p:nvSpPr>
        <p:spPr>
          <a:xfrm>
            <a:off x="10881360" y="1005840"/>
            <a:ext cx="1143000" cy="914400"/>
          </a:xfrm>
          <a:prstGeom prst="rect">
            <a:avLst/>
          </a:prstGeom>
          <a:solidFill>
            <a:srgbClr val="062010"/>
          </a:solidFill>
          <a:ln w="1905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27080" y="1115568"/>
            <a:ext cx="1051560" cy="685800"/>
          </a:xfrm>
          <a:prstGeom prst="rect">
            <a:avLst/>
          </a:prstGeom>
          <a:noFill/>
        </p:spPr>
        <p:txBody>
          <a:bodyPr wrap="square">
            <a:spAutoFit/>
          </a:bodyPr>
          <a:lstStyle/>
          <a:p>
            <a:pPr algn="ctr"/>
            <a:r>
              <a:rPr sz="1200" b="1" i="0">
                <a:solidFill>
                  <a:srgbClr val="39FF14"/>
                </a:solidFill>
                <a:latin typeface="Calibri"/>
              </a:rPr>
              <a:t>Mission
N+1</a:t>
            </a:r>
          </a:p>
        </p:txBody>
      </p:sp>
      <p:cxnSp>
        <p:nvCxnSpPr>
          <p:cNvPr id="24" name="Connector 23"/>
          <p:cNvCxnSpPr/>
          <p:nvPr/>
        </p:nvCxnSpPr>
        <p:spPr>
          <a:xfrm>
            <a:off x="4937760" y="1828800.0"/>
            <a:ext cx="5943600" cy="0.0"/>
          </a:xfrm>
          <a:prstGeom prst="line">
            <a:avLst/>
          </a:prstGeom>
          <a:ln w="19050">
            <a:solidFill>
              <a:srgbClr val="00BFD8"/>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035040" y="1865376"/>
            <a:ext cx="3657600" cy="256032"/>
          </a:xfrm>
          <a:prstGeom prst="rect">
            <a:avLst/>
          </a:prstGeom>
          <a:noFill/>
        </p:spPr>
        <p:txBody>
          <a:bodyPr wrap="square">
            <a:spAutoFit/>
          </a:bodyPr>
          <a:lstStyle/>
          <a:p>
            <a:pPr algn="ctr"/>
            <a:r>
              <a:rPr sz="850" b="0" i="1">
                <a:solidFill>
                  <a:srgbClr val="A0AAB8"/>
                </a:solidFill>
                <a:latin typeface="Calibri"/>
              </a:rPr>
              <a:t>Candidate chain hypotheses injected into Commander context</a:t>
            </a:r>
          </a:p>
        </p:txBody>
      </p:sp>
      <p:sp>
        <p:nvSpPr>
          <p:cNvPr id="26" name="Rectangle 25"/>
          <p:cNvSpPr/>
          <p:nvPr/>
        </p:nvSpPr>
        <p:spPr>
          <a:xfrm>
            <a:off x="274320" y="2212848"/>
            <a:ext cx="5669280" cy="4160520"/>
          </a:xfrm>
          <a:prstGeom prst="rect">
            <a:avLst/>
          </a:prstGeom>
          <a:solidFill>
            <a:srgbClr val="041818"/>
          </a:solidFill>
          <a:ln w="1905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4320" y="2212848"/>
            <a:ext cx="5669280" cy="365760"/>
          </a:xfrm>
          <a:prstGeom prst="rect">
            <a:avLst/>
          </a:prstGeom>
          <a:solidFill>
            <a:srgbClr val="00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4048" y="2267712"/>
            <a:ext cx="5486400" cy="256032"/>
          </a:xfrm>
          <a:prstGeom prst="rect">
            <a:avLst/>
          </a:prstGeom>
          <a:noFill/>
        </p:spPr>
        <p:txBody>
          <a:bodyPr wrap="square">
            <a:spAutoFit/>
          </a:bodyPr>
          <a:lstStyle/>
          <a:p>
            <a:pPr algn="l"/>
            <a:r>
              <a:rPr sz="1200" b="1" i="0">
                <a:solidFill>
                  <a:srgbClr val="0A0D1A"/>
                </a:solidFill>
                <a:latin typeface="Calibri"/>
              </a:rPr>
              <a:t>C10  ·  Cross-Mission Experience Store</a:t>
            </a:r>
          </a:p>
        </p:txBody>
      </p:sp>
      <p:sp>
        <p:nvSpPr>
          <p:cNvPr id="29" name="Rectangle 28"/>
          <p:cNvSpPr/>
          <p:nvPr/>
        </p:nvSpPr>
        <p:spPr>
          <a:xfrm>
            <a:off x="384048" y="2670048"/>
            <a:ext cx="5449824" cy="859536"/>
          </a:xfrm>
          <a:prstGeom prst="rect">
            <a:avLst/>
          </a:prstGeom>
          <a:solidFill>
            <a:srgbClr val="062222"/>
          </a:solidFill>
          <a:ln w="635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5488" y="2724912"/>
            <a:ext cx="5321808" cy="237744"/>
          </a:xfrm>
          <a:prstGeom prst="rect">
            <a:avLst/>
          </a:prstGeom>
          <a:noFill/>
        </p:spPr>
        <p:txBody>
          <a:bodyPr wrap="square">
            <a:spAutoFit/>
          </a:bodyPr>
          <a:lstStyle/>
          <a:p>
            <a:pPr algn="ctr"/>
            <a:r>
              <a:rPr sz="1100" b="1" i="0">
                <a:solidFill>
                  <a:srgbClr val="00BFD8"/>
                </a:solidFill>
                <a:latin typeface="Calibri"/>
              </a:rPr>
              <a:t>What it stores</a:t>
            </a:r>
          </a:p>
        </p:txBody>
      </p:sp>
      <p:sp>
        <p:nvSpPr>
          <p:cNvPr id="31" name="TextBox 30"/>
          <p:cNvSpPr txBox="1"/>
          <p:nvPr/>
        </p:nvSpPr>
        <p:spPr>
          <a:xfrm>
            <a:off x="475488" y="2980944"/>
            <a:ext cx="5321808" cy="512064"/>
          </a:xfrm>
          <a:prstGeom prst="rect">
            <a:avLst/>
          </a:prstGeom>
          <a:noFill/>
        </p:spPr>
        <p:txBody>
          <a:bodyPr wrap="square">
            <a:spAutoFit/>
          </a:bodyPr>
          <a:lstStyle/>
          <a:p>
            <a:pPr algn="ctr"/>
            <a:r>
              <a:rPr sz="950" b="0" i="0">
                <a:solidFill>
                  <a:srgbClr val="A0AAB8"/>
                </a:solidFill>
                <a:latin typeface="Calibri"/>
              </a:rPr>
              <a:t>Per-mission · per-chain raw records of validated exploitation outcomes.
Target technology fingerprint · CVE · successful tool invocation · ChainStep sequence · mission outcome.</a:t>
            </a:r>
          </a:p>
        </p:txBody>
      </p:sp>
      <p:sp>
        <p:nvSpPr>
          <p:cNvPr id="32" name="Rectangle 31"/>
          <p:cNvSpPr/>
          <p:nvPr/>
        </p:nvSpPr>
        <p:spPr>
          <a:xfrm>
            <a:off x="384048" y="3566160"/>
            <a:ext cx="5449824" cy="859536"/>
          </a:xfrm>
          <a:prstGeom prst="rect">
            <a:avLst/>
          </a:prstGeom>
          <a:solidFill>
            <a:srgbClr val="062222"/>
          </a:solidFill>
          <a:ln w="635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5488" y="3621024"/>
            <a:ext cx="5321808" cy="237744"/>
          </a:xfrm>
          <a:prstGeom prst="rect">
            <a:avLst/>
          </a:prstGeom>
          <a:noFill/>
        </p:spPr>
        <p:txBody>
          <a:bodyPr wrap="square">
            <a:spAutoFit/>
          </a:bodyPr>
          <a:lstStyle/>
          <a:p>
            <a:pPr algn="ctr"/>
            <a:r>
              <a:rPr sz="1100" b="1" i="0">
                <a:solidFill>
                  <a:srgbClr val="00BFD8"/>
                </a:solidFill>
                <a:latin typeface="Calibri"/>
              </a:rPr>
              <a:t>When it's written</a:t>
            </a:r>
          </a:p>
        </p:txBody>
      </p:sp>
      <p:sp>
        <p:nvSpPr>
          <p:cNvPr id="34" name="TextBox 33"/>
          <p:cNvSpPr txBox="1"/>
          <p:nvPr/>
        </p:nvSpPr>
        <p:spPr>
          <a:xfrm>
            <a:off x="475488" y="3877056"/>
            <a:ext cx="5321808" cy="512064"/>
          </a:xfrm>
          <a:prstGeom prst="rect">
            <a:avLst/>
          </a:prstGeom>
          <a:noFill/>
        </p:spPr>
        <p:txBody>
          <a:bodyPr wrap="square">
            <a:spAutoFit/>
          </a:bodyPr>
          <a:lstStyle/>
          <a:p>
            <a:pPr algn="ctr"/>
            <a:r>
              <a:rPr sz="950" b="0" i="0">
                <a:solidFill>
                  <a:srgbClr val="A0AAB8"/>
                </a:solidFill>
                <a:latin typeface="Calibri"/>
              </a:rPr>
              <a:t>Report Agent writes one entry for every chain with terminal status VALIDATED at mission close.</a:t>
            </a:r>
          </a:p>
        </p:txBody>
      </p:sp>
      <p:sp>
        <p:nvSpPr>
          <p:cNvPr id="35" name="Rectangle 34"/>
          <p:cNvSpPr/>
          <p:nvPr/>
        </p:nvSpPr>
        <p:spPr>
          <a:xfrm>
            <a:off x="384048" y="4462272"/>
            <a:ext cx="5449824" cy="859536"/>
          </a:xfrm>
          <a:prstGeom prst="rect">
            <a:avLst/>
          </a:prstGeom>
          <a:solidFill>
            <a:srgbClr val="062222"/>
          </a:solidFill>
          <a:ln w="635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5488" y="4517136"/>
            <a:ext cx="5321808" cy="237744"/>
          </a:xfrm>
          <a:prstGeom prst="rect">
            <a:avLst/>
          </a:prstGeom>
          <a:noFill/>
        </p:spPr>
        <p:txBody>
          <a:bodyPr wrap="square">
            <a:spAutoFit/>
          </a:bodyPr>
          <a:lstStyle/>
          <a:p>
            <a:pPr algn="ctr"/>
            <a:r>
              <a:rPr sz="1100" b="1" i="0">
                <a:solidFill>
                  <a:srgbClr val="00BFD8"/>
                </a:solidFill>
                <a:latin typeface="Calibri"/>
              </a:rPr>
              <a:t>When it's read</a:t>
            </a:r>
          </a:p>
        </p:txBody>
      </p:sp>
      <p:sp>
        <p:nvSpPr>
          <p:cNvPr id="37" name="TextBox 36"/>
          <p:cNvSpPr txBox="1"/>
          <p:nvPr/>
        </p:nvSpPr>
        <p:spPr>
          <a:xfrm>
            <a:off x="475488" y="4773168"/>
            <a:ext cx="5321808" cy="512064"/>
          </a:xfrm>
          <a:prstGeom prst="rect">
            <a:avLst/>
          </a:prstGeom>
          <a:noFill/>
        </p:spPr>
        <p:txBody>
          <a:bodyPr wrap="square">
            <a:spAutoFit/>
          </a:bodyPr>
          <a:lstStyle/>
          <a:p>
            <a:pPr algn="ctr"/>
            <a:r>
              <a:rPr sz="950" b="0" i="0">
                <a:solidFill>
                  <a:srgbClr val="A0AAB8"/>
                </a:solidFill>
                <a:latin typeface="Calibri"/>
              </a:rPr>
              <a:t>Commander queries immediately after Recon Agent writes first Technology nodes to ASG — before Analysis begins. Retrieved records become candidate chain hypotheses.</a:t>
            </a:r>
          </a:p>
        </p:txBody>
      </p:sp>
      <p:sp>
        <p:nvSpPr>
          <p:cNvPr id="38" name="Rectangle 37"/>
          <p:cNvSpPr/>
          <p:nvPr/>
        </p:nvSpPr>
        <p:spPr>
          <a:xfrm>
            <a:off x="384048" y="5358384"/>
            <a:ext cx="5449824" cy="859536"/>
          </a:xfrm>
          <a:prstGeom prst="rect">
            <a:avLst/>
          </a:prstGeom>
          <a:solidFill>
            <a:srgbClr val="062222"/>
          </a:solidFill>
          <a:ln w="6350">
            <a:solidFill>
              <a:srgbClr val="00B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5488" y="5413248"/>
            <a:ext cx="5321808" cy="237744"/>
          </a:xfrm>
          <a:prstGeom prst="rect">
            <a:avLst/>
          </a:prstGeom>
          <a:noFill/>
        </p:spPr>
        <p:txBody>
          <a:bodyPr wrap="square">
            <a:spAutoFit/>
          </a:bodyPr>
          <a:lstStyle/>
          <a:p>
            <a:pPr algn="ctr"/>
            <a:r>
              <a:rPr sz="1100" b="1" i="0">
                <a:solidFill>
                  <a:srgbClr val="00BFD8"/>
                </a:solidFill>
                <a:latin typeface="Calibri"/>
              </a:rPr>
              <a:t>Research origin</a:t>
            </a:r>
          </a:p>
        </p:txBody>
      </p:sp>
      <p:sp>
        <p:nvSpPr>
          <p:cNvPr id="40" name="TextBox 39"/>
          <p:cNvSpPr txBox="1"/>
          <p:nvPr/>
        </p:nvSpPr>
        <p:spPr>
          <a:xfrm>
            <a:off x="475488" y="5669280"/>
            <a:ext cx="5321808" cy="512064"/>
          </a:xfrm>
          <a:prstGeom prst="rect">
            <a:avLst/>
          </a:prstGeom>
          <a:noFill/>
        </p:spPr>
        <p:txBody>
          <a:bodyPr wrap="square">
            <a:spAutoFit/>
          </a:bodyPr>
          <a:lstStyle/>
          <a:p>
            <a:pPr algn="ctr"/>
            <a:r>
              <a:rPr sz="950" b="0" i="0">
                <a:solidFill>
                  <a:srgbClr val="A0AAB8"/>
                </a:solidFill>
                <a:latin typeface="Calibri"/>
              </a:rPr>
              <a:t>Generalizes AutoAttacker's within-mission experience-reuse mechanism to cross-mission scope. AutoAttacker reuses subtasks within one session; CMatrix accumulates across every mission ever run.</a:t>
            </a:r>
          </a:p>
        </p:txBody>
      </p:sp>
      <p:sp>
        <p:nvSpPr>
          <p:cNvPr id="41" name="Rectangle 40"/>
          <p:cNvSpPr/>
          <p:nvPr/>
        </p:nvSpPr>
        <p:spPr>
          <a:xfrm>
            <a:off x="6172200" y="2212848"/>
            <a:ext cx="5833872" cy="4160520"/>
          </a:xfrm>
          <a:prstGeom prst="rect">
            <a:avLst/>
          </a:prstGeom>
          <a:solidFill>
            <a:srgbClr val="1C1404"/>
          </a:solidFill>
          <a:ln w="190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172200" y="2212848"/>
            <a:ext cx="5833872" cy="36576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81928" y="2267712"/>
            <a:ext cx="5650992" cy="256032"/>
          </a:xfrm>
          <a:prstGeom prst="rect">
            <a:avLst/>
          </a:prstGeom>
          <a:noFill/>
        </p:spPr>
        <p:txBody>
          <a:bodyPr wrap="square">
            <a:spAutoFit/>
          </a:bodyPr>
          <a:lstStyle/>
          <a:p>
            <a:pPr algn="ctr"/>
            <a:r>
              <a:rPr sz="1200" b="1" i="0">
                <a:solidFill>
                  <a:srgbClr val="0A0D1A"/>
                </a:solidFill>
                <a:latin typeface="Calibri"/>
              </a:rPr>
              <a:t>C11  ·  Attack Strategy Library</a:t>
            </a:r>
          </a:p>
        </p:txBody>
      </p:sp>
      <p:sp>
        <p:nvSpPr>
          <p:cNvPr id="44" name="Rectangle 43"/>
          <p:cNvSpPr/>
          <p:nvPr/>
        </p:nvSpPr>
        <p:spPr>
          <a:xfrm>
            <a:off x="6281928" y="2670048"/>
            <a:ext cx="5614416" cy="859536"/>
          </a:xfrm>
          <a:prstGeom prst="rect">
            <a:avLst/>
          </a:prstGeom>
          <a:solidFill>
            <a:srgbClr val="221806"/>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73368" y="2724912"/>
            <a:ext cx="5486400" cy="237744"/>
          </a:xfrm>
          <a:prstGeom prst="rect">
            <a:avLst/>
          </a:prstGeom>
          <a:noFill/>
        </p:spPr>
        <p:txBody>
          <a:bodyPr wrap="square">
            <a:spAutoFit/>
          </a:bodyPr>
          <a:lstStyle/>
          <a:p>
            <a:pPr algn="ctr"/>
            <a:r>
              <a:rPr sz="1100" b="1" i="0">
                <a:solidFill>
                  <a:srgbClr val="FFD700"/>
                </a:solidFill>
                <a:latin typeface="Calibri"/>
              </a:rPr>
              <a:t>What it stores</a:t>
            </a:r>
          </a:p>
        </p:txBody>
      </p:sp>
      <p:sp>
        <p:nvSpPr>
          <p:cNvPr id="46" name="TextBox 45"/>
          <p:cNvSpPr txBox="1"/>
          <p:nvPr/>
        </p:nvSpPr>
        <p:spPr>
          <a:xfrm>
            <a:off x="6373368" y="2980944"/>
            <a:ext cx="5486400" cy="512064"/>
          </a:xfrm>
          <a:prstGeom prst="rect">
            <a:avLst/>
          </a:prstGeom>
          <a:noFill/>
        </p:spPr>
        <p:txBody>
          <a:bodyPr wrap="square">
            <a:spAutoFit/>
          </a:bodyPr>
          <a:lstStyle/>
          <a:p>
            <a:pPr algn="ctr"/>
            <a:r>
              <a:rPr sz="950" b="0" i="0">
                <a:solidFill>
                  <a:srgbClr val="A0AAB8"/>
                </a:solidFill>
                <a:latin typeface="Calibri"/>
              </a:rPr>
              <a:t>Generalized attack procedures distilled from multiple validated outcomes against the same target technology class. Named strategies (e.g. STRAT-WP-SQLI-001) with confidence scores.</a:t>
            </a:r>
          </a:p>
        </p:txBody>
      </p:sp>
      <p:sp>
        <p:nvSpPr>
          <p:cNvPr id="47" name="Rectangle 46"/>
          <p:cNvSpPr/>
          <p:nvPr/>
        </p:nvSpPr>
        <p:spPr>
          <a:xfrm>
            <a:off x="6281928" y="3566160"/>
            <a:ext cx="5614416" cy="859536"/>
          </a:xfrm>
          <a:prstGeom prst="rect">
            <a:avLst/>
          </a:prstGeom>
          <a:solidFill>
            <a:srgbClr val="221806"/>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73368" y="3621024"/>
            <a:ext cx="5486400" cy="237744"/>
          </a:xfrm>
          <a:prstGeom prst="rect">
            <a:avLst/>
          </a:prstGeom>
          <a:noFill/>
        </p:spPr>
        <p:txBody>
          <a:bodyPr wrap="square">
            <a:spAutoFit/>
          </a:bodyPr>
          <a:lstStyle/>
          <a:p>
            <a:pPr algn="ctr"/>
            <a:r>
              <a:rPr sz="1100" b="1" i="0">
                <a:solidFill>
                  <a:srgbClr val="FFD700"/>
                </a:solidFill>
                <a:latin typeface="Calibri"/>
              </a:rPr>
              <a:t>Crystallization threshold</a:t>
            </a:r>
          </a:p>
        </p:txBody>
      </p:sp>
      <p:sp>
        <p:nvSpPr>
          <p:cNvPr id="49" name="TextBox 48"/>
          <p:cNvSpPr txBox="1"/>
          <p:nvPr/>
        </p:nvSpPr>
        <p:spPr>
          <a:xfrm>
            <a:off x="6373368" y="3877056"/>
            <a:ext cx="5486400" cy="512064"/>
          </a:xfrm>
          <a:prstGeom prst="rect">
            <a:avLst/>
          </a:prstGeom>
          <a:noFill/>
        </p:spPr>
        <p:txBody>
          <a:bodyPr wrap="square">
            <a:spAutoFit/>
          </a:bodyPr>
          <a:lstStyle/>
          <a:p>
            <a:pPr algn="ctr"/>
            <a:r>
              <a:rPr sz="950" b="0" i="0">
                <a:solidFill>
                  <a:srgbClr val="A0AAB8"/>
                </a:solidFill>
                <a:latin typeface="Calibri"/>
              </a:rPr>
              <a:t>Same technology fingerprint (e.g. WordPress 5.x + WooCommerce + Nginx) produces validated AttackChain in 2 or more independent missions → Commander triggers crystallization.</a:t>
            </a:r>
          </a:p>
        </p:txBody>
      </p:sp>
      <p:sp>
        <p:nvSpPr>
          <p:cNvPr id="50" name="Rectangle 49"/>
          <p:cNvSpPr/>
          <p:nvPr/>
        </p:nvSpPr>
        <p:spPr>
          <a:xfrm>
            <a:off x="6281928" y="4462272"/>
            <a:ext cx="5614416" cy="859536"/>
          </a:xfrm>
          <a:prstGeom prst="rect">
            <a:avLst/>
          </a:prstGeom>
          <a:solidFill>
            <a:srgbClr val="221806"/>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373368" y="4517136"/>
            <a:ext cx="5486400" cy="237744"/>
          </a:xfrm>
          <a:prstGeom prst="rect">
            <a:avLst/>
          </a:prstGeom>
          <a:noFill/>
        </p:spPr>
        <p:txBody>
          <a:bodyPr wrap="square">
            <a:spAutoFit/>
          </a:bodyPr>
          <a:lstStyle/>
          <a:p>
            <a:pPr algn="ctr"/>
            <a:r>
              <a:rPr sz="1100" b="1" i="0">
                <a:solidFill>
                  <a:srgbClr val="FFD700"/>
                </a:solidFill>
                <a:latin typeface="Calibri"/>
              </a:rPr>
              <a:t>When it's used</a:t>
            </a:r>
          </a:p>
        </p:txBody>
      </p:sp>
      <p:sp>
        <p:nvSpPr>
          <p:cNvPr id="52" name="TextBox 51"/>
          <p:cNvSpPr txBox="1"/>
          <p:nvPr/>
        </p:nvSpPr>
        <p:spPr>
          <a:xfrm>
            <a:off x="6373368" y="4773168"/>
            <a:ext cx="5486400" cy="512064"/>
          </a:xfrm>
          <a:prstGeom prst="rect">
            <a:avLst/>
          </a:prstGeom>
          <a:noFill/>
        </p:spPr>
        <p:txBody>
          <a:bodyPr wrap="square">
            <a:spAutoFit/>
          </a:bodyPr>
          <a:lstStyle/>
          <a:p>
            <a:pPr algn="ctr"/>
            <a:r>
              <a:rPr sz="950" b="0" i="0">
                <a:solidFill>
                  <a:srgbClr val="A0AAB8"/>
                </a:solidFill>
                <a:latin typeface="Calibri"/>
              </a:rPr>
              <a:t>Retrieved at mission start. Strategies are injected as pre-ranked APG AttackChain seeds — prioritized above zero-prior chains because they carry validated track record.</a:t>
            </a:r>
          </a:p>
        </p:txBody>
      </p:sp>
      <p:sp>
        <p:nvSpPr>
          <p:cNvPr id="53" name="Rectangle 52"/>
          <p:cNvSpPr/>
          <p:nvPr/>
        </p:nvSpPr>
        <p:spPr>
          <a:xfrm>
            <a:off x="6281928" y="5358384"/>
            <a:ext cx="5614416" cy="859536"/>
          </a:xfrm>
          <a:prstGeom prst="rect">
            <a:avLst/>
          </a:prstGeom>
          <a:solidFill>
            <a:srgbClr val="221806"/>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373368" y="5413248"/>
            <a:ext cx="5486400" cy="237744"/>
          </a:xfrm>
          <a:prstGeom prst="rect">
            <a:avLst/>
          </a:prstGeom>
          <a:noFill/>
        </p:spPr>
        <p:txBody>
          <a:bodyPr wrap="square">
            <a:spAutoFit/>
          </a:bodyPr>
          <a:lstStyle/>
          <a:p>
            <a:pPr algn="ctr"/>
            <a:r>
              <a:rPr sz="1100" b="1" i="0">
                <a:solidFill>
                  <a:srgbClr val="FFD700"/>
                </a:solidFill>
                <a:latin typeface="Calibri"/>
              </a:rPr>
              <a:t>Why it matters</a:t>
            </a:r>
          </a:p>
        </p:txBody>
      </p:sp>
      <p:sp>
        <p:nvSpPr>
          <p:cNvPr id="55" name="TextBox 54"/>
          <p:cNvSpPr txBox="1"/>
          <p:nvPr/>
        </p:nvSpPr>
        <p:spPr>
          <a:xfrm>
            <a:off x="6373368" y="5669280"/>
            <a:ext cx="5486400" cy="512064"/>
          </a:xfrm>
          <a:prstGeom prst="rect">
            <a:avLst/>
          </a:prstGeom>
          <a:noFill/>
        </p:spPr>
        <p:txBody>
          <a:bodyPr wrap="square">
            <a:spAutoFit/>
          </a:bodyPr>
          <a:lstStyle/>
          <a:p>
            <a:pPr algn="ctr"/>
            <a:r>
              <a:rPr sz="950" b="0" i="0">
                <a:solidFill>
                  <a:srgbClr val="A0AAB8"/>
                </a:solidFill>
                <a:latin typeface="Calibri"/>
              </a:rPr>
              <a:t>No existing autonomous VAPT system accumulates and generalizes validated exploitation procedures across sessions. Every prior system resets to zero knowledge on each mission. CMatrix's library makes it measurably more efficient on repeat target-type engagements.</a:t>
            </a:r>
          </a:p>
        </p:txBody>
      </p:sp>
      <p:sp>
        <p:nvSpPr>
          <p:cNvPr id="56" name="Rectangle 55"/>
          <p:cNvSpPr/>
          <p:nvPr/>
        </p:nvSpPr>
        <p:spPr>
          <a:xfrm>
            <a:off x="274320" y="6291072"/>
            <a:ext cx="11643055" cy="420624"/>
          </a:xfrm>
          <a:prstGeom prst="rect">
            <a:avLst/>
          </a:prstGeom>
          <a:solidFill>
            <a:srgbClr val="081422"/>
          </a:solidFill>
          <a:ln w="1270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7200" y="6318504"/>
            <a:ext cx="11368735" cy="347472"/>
          </a:xfrm>
          <a:prstGeom prst="rect">
            <a:avLst/>
          </a:prstGeom>
          <a:noFill/>
        </p:spPr>
        <p:txBody>
          <a:bodyPr wrap="square">
            <a:spAutoFit/>
          </a:bodyPr>
          <a:lstStyle/>
          <a:p>
            <a:pPr algn="l"/>
            <a:r>
              <a:rPr sz="900" b="0" i="1">
                <a:solidFill>
                  <a:srgbClr val="BD93F9"/>
                </a:solidFill>
                <a:latin typeface="Calibri"/>
              </a:rPr>
              <a:t>C12 · Trajectory Export:  Every mission produces a machine-readable decision log capturing ASG/APG triggers, Commander rationale, and actions taken — directly usable as SFT/RL training data for security LLMs.</a:t>
            </a:r>
          </a:p>
        </p:txBody>
      </p:sp>
      <p:sp>
        <p:nvSpPr>
          <p:cNvPr id="58" name="TextBox 57"/>
          <p:cNvSpPr txBox="1"/>
          <p:nvPr/>
        </p:nvSpPr>
        <p:spPr>
          <a:xfrm>
            <a:off x="11825935" y="6355080"/>
            <a:ext cx="320040" cy="411480"/>
          </a:xfrm>
          <a:prstGeom prst="rect">
            <a:avLst/>
          </a:prstGeom>
          <a:noFill/>
        </p:spPr>
        <p:txBody>
          <a:bodyPr wrap="square">
            <a:spAutoFit/>
          </a:bodyPr>
          <a:lstStyle/>
          <a:p>
            <a:pPr algn="r"/>
            <a:r>
              <a:rPr sz="1300" b="1" i="0">
                <a:solidFill>
                  <a:srgbClr val="00BFD8"/>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4572000" cy="219456"/>
          </a:xfrm>
          <a:prstGeom prst="rect">
            <a:avLst/>
          </a:prstGeom>
          <a:noFill/>
        </p:spPr>
        <p:txBody>
          <a:bodyPr wrap="square">
            <a:spAutoFit/>
          </a:bodyPr>
          <a:lstStyle/>
          <a:p>
            <a:pPr algn="ctr"/>
            <a:r>
              <a:rPr sz="1000" b="1" i="0">
                <a:solidFill>
                  <a:srgbClr val="FFD700"/>
                </a:solidFill>
                <a:latin typeface="Calibri"/>
              </a:rPr>
              <a:t>REAL-WORLD SCENARIO</a:t>
            </a:r>
          </a:p>
        </p:txBody>
      </p:sp>
      <p:sp>
        <p:nvSpPr>
          <p:cNvPr id="6" name="TextBox 5"/>
          <p:cNvSpPr txBox="1"/>
          <p:nvPr/>
        </p:nvSpPr>
        <p:spPr>
          <a:xfrm>
            <a:off x="274320" y="283464"/>
            <a:ext cx="11430000" cy="438912"/>
          </a:xfrm>
          <a:prstGeom prst="rect">
            <a:avLst/>
          </a:prstGeom>
          <a:noFill/>
        </p:spPr>
        <p:txBody>
          <a:bodyPr wrap="square">
            <a:spAutoFit/>
          </a:bodyPr>
          <a:lstStyle/>
          <a:p>
            <a:pPr algn="ctr"/>
            <a:r>
              <a:rPr sz="2400" b="1" i="0">
                <a:solidFill>
                  <a:srgbClr val="FFFFFF"/>
                </a:solidFill>
                <a:latin typeface="Calibri"/>
              </a:rPr>
              <a:t>Mission: shopvault.io — Black-Box Assessment — Zero Manual Commands</a:t>
            </a:r>
          </a:p>
        </p:txBody>
      </p:sp>
      <p:sp>
        <p:nvSpPr>
          <p:cNvPr id="7" name="Rectangle 6"/>
          <p:cNvSpPr/>
          <p:nvPr/>
        </p:nvSpPr>
        <p:spPr>
          <a:xfrm>
            <a:off x="164592" y="768096"/>
            <a:ext cx="11862511" cy="347472"/>
          </a:xfrm>
          <a:prstGeom prst="rect">
            <a:avLst/>
          </a:prstGeom>
          <a:solidFill>
            <a:srgbClr val="101004"/>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040" y="822960"/>
            <a:ext cx="11597335" cy="274320"/>
          </a:xfrm>
          <a:prstGeom prst="rect">
            <a:avLst/>
          </a:prstGeom>
          <a:noFill/>
        </p:spPr>
        <p:txBody>
          <a:bodyPr wrap="square">
            <a:spAutoFit/>
          </a:bodyPr>
          <a:lstStyle/>
          <a:p>
            <a:pPr algn="ctr"/>
            <a:r>
              <a:rPr sz="900" b="0" i="1">
                <a:solidFill>
                  <a:srgbClr val="FFD700"/>
                </a:solidFill>
                <a:latin typeface="Calibri"/>
              </a:rPr>
              <a:t>Scope: all subdomains · web applications · REST APIs of shopvault.io  ·  Mode: Black-Box (zero prior knowledge)  ·  Operator configures root domain + scope → presses start.</a:t>
            </a:r>
          </a:p>
        </p:txBody>
      </p:sp>
      <p:sp>
        <p:nvSpPr>
          <p:cNvPr id="9" name="Rectangle 8"/>
          <p:cNvSpPr/>
          <p:nvPr/>
        </p:nvSpPr>
        <p:spPr>
          <a:xfrm>
            <a:off x="164592" y="1188720"/>
            <a:ext cx="2395728" cy="5010912"/>
          </a:xfrm>
          <a:prstGeom prst="rect">
            <a:avLst/>
          </a:prstGeom>
          <a:solidFill>
            <a:srgbClr val="041408"/>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4592" y="1188720"/>
            <a:ext cx="2395728" cy="457200"/>
          </a:xfrm>
          <a:prstGeom prst="rect">
            <a:avLst/>
          </a:prstGeom>
          <a:solidFill>
            <a:srgbClr val="08101C"/>
          </a:solidFill>
          <a:ln w="1524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7744" y="1243584"/>
            <a:ext cx="2286000" cy="384048"/>
          </a:xfrm>
          <a:prstGeom prst="rect">
            <a:avLst/>
          </a:prstGeom>
          <a:noFill/>
        </p:spPr>
        <p:txBody>
          <a:bodyPr wrap="square">
            <a:spAutoFit/>
          </a:bodyPr>
          <a:lstStyle/>
          <a:p>
            <a:pPr algn="ctr"/>
            <a:r>
              <a:rPr sz="1000" b="1" i="0">
                <a:solidFill>
                  <a:srgbClr val="39FF14"/>
                </a:solidFill>
                <a:latin typeface="Calibri"/>
              </a:rPr>
              <a:t>PHASE 1
Reconnaissance</a:t>
            </a:r>
          </a:p>
        </p:txBody>
      </p:sp>
      <p:sp>
        <p:nvSpPr>
          <p:cNvPr id="12" name="TextBox 11"/>
          <p:cNvSpPr txBox="1"/>
          <p:nvPr/>
        </p:nvSpPr>
        <p:spPr>
          <a:xfrm>
            <a:off x="237744" y="1700784"/>
            <a:ext cx="2286000" cy="201168"/>
          </a:xfrm>
          <a:prstGeom prst="rect">
            <a:avLst/>
          </a:prstGeom>
          <a:noFill/>
        </p:spPr>
        <p:txBody>
          <a:bodyPr wrap="square">
            <a:spAutoFit/>
          </a:bodyPr>
          <a:lstStyle/>
          <a:p>
            <a:pPr algn="ctr"/>
            <a:r>
              <a:rPr sz="850" b="1" i="0">
                <a:solidFill>
                  <a:srgbClr val="39FF14"/>
                </a:solidFill>
                <a:latin typeface="Calibri"/>
              </a:rPr>
              <a:t>🕵️ Recon Agent</a:t>
            </a:r>
          </a:p>
        </p:txBody>
      </p:sp>
      <p:sp>
        <p:nvSpPr>
          <p:cNvPr id="13" name="Rectangle 12"/>
          <p:cNvSpPr/>
          <p:nvPr/>
        </p:nvSpPr>
        <p:spPr>
          <a:xfrm>
            <a:off x="237744" y="1920240"/>
            <a:ext cx="2249424" cy="182880"/>
          </a:xfrm>
          <a:prstGeom prst="rect">
            <a:avLst/>
          </a:prstGeom>
          <a:solidFill>
            <a:srgbClr val="081022"/>
          </a:solidFill>
          <a:ln w="50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1929384"/>
            <a:ext cx="2212848" cy="164592"/>
          </a:xfrm>
          <a:prstGeom prst="rect">
            <a:avLst/>
          </a:prstGeom>
          <a:noFill/>
        </p:spPr>
        <p:txBody>
          <a:bodyPr wrap="square">
            <a:spAutoFit/>
          </a:bodyPr>
          <a:lstStyle/>
          <a:p>
            <a:pPr algn="ctr"/>
            <a:r>
              <a:rPr sz="700" b="1" i="0">
                <a:solidFill>
                  <a:srgbClr val="39FF14"/>
                </a:solidFill>
                <a:latin typeface="Calibri"/>
              </a:rPr>
              <a:t>Amass  ·  httpx  ·  Nmap</a:t>
            </a:r>
          </a:p>
        </p:txBody>
      </p:sp>
      <p:sp>
        <p:nvSpPr>
          <p:cNvPr id="15" name="Rectangle 14"/>
          <p:cNvSpPr/>
          <p:nvPr/>
        </p:nvSpPr>
        <p:spPr>
          <a:xfrm>
            <a:off x="237744" y="2157984"/>
            <a:ext cx="2249424" cy="1127760"/>
          </a:xfrm>
          <a:prstGeom prst="rect">
            <a:avLst/>
          </a:prstGeom>
          <a:solidFill>
            <a:srgbClr val="080E1C"/>
          </a:solidFill>
          <a:ln w="50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37744" y="2157984"/>
            <a:ext cx="45720" cy="112776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0896" y="2194560"/>
            <a:ext cx="2121408" cy="237744"/>
          </a:xfrm>
          <a:prstGeom prst="rect">
            <a:avLst/>
          </a:prstGeom>
          <a:noFill/>
        </p:spPr>
        <p:txBody>
          <a:bodyPr wrap="square">
            <a:spAutoFit/>
          </a:bodyPr>
          <a:lstStyle/>
          <a:p>
            <a:pPr algn="ctr"/>
            <a:r>
              <a:rPr sz="800" b="1" i="0">
                <a:solidFill>
                  <a:srgbClr val="39FF14"/>
                </a:solidFill>
                <a:latin typeface="Calibri"/>
              </a:rPr>
              <a:t>Amass</a:t>
            </a:r>
          </a:p>
        </p:txBody>
      </p:sp>
      <p:sp>
        <p:nvSpPr>
          <p:cNvPr id="18" name="TextBox 17"/>
          <p:cNvSpPr txBox="1"/>
          <p:nvPr/>
        </p:nvSpPr>
        <p:spPr>
          <a:xfrm>
            <a:off x="310896" y="2432304"/>
            <a:ext cx="2121408" cy="816864"/>
          </a:xfrm>
          <a:prstGeom prst="rect">
            <a:avLst/>
          </a:prstGeom>
          <a:noFill/>
        </p:spPr>
        <p:txBody>
          <a:bodyPr wrap="square">
            <a:spAutoFit/>
          </a:bodyPr>
          <a:lstStyle/>
          <a:p>
            <a:pPr algn="ctr"/>
            <a:r>
              <a:rPr sz="800" b="0" i="0">
                <a:solidFill>
                  <a:srgbClr val="A0AAB8"/>
                </a:solidFill>
                <a:latin typeface="Calibri"/>
              </a:rPr>
              <a:t>14 subdomains discovered
api · admin · staging · pay · ...</a:t>
            </a:r>
          </a:p>
        </p:txBody>
      </p:sp>
      <p:sp>
        <p:nvSpPr>
          <p:cNvPr id="19" name="Rectangle 18"/>
          <p:cNvSpPr/>
          <p:nvPr/>
        </p:nvSpPr>
        <p:spPr>
          <a:xfrm>
            <a:off x="237744" y="3340608"/>
            <a:ext cx="2249424" cy="1127760"/>
          </a:xfrm>
          <a:prstGeom prst="rect">
            <a:avLst/>
          </a:prstGeom>
          <a:solidFill>
            <a:srgbClr val="080E1C"/>
          </a:solidFill>
          <a:ln w="50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37744" y="3340608"/>
            <a:ext cx="45720" cy="112776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10896" y="3377184"/>
            <a:ext cx="2121408" cy="237744"/>
          </a:xfrm>
          <a:prstGeom prst="rect">
            <a:avLst/>
          </a:prstGeom>
          <a:noFill/>
        </p:spPr>
        <p:txBody>
          <a:bodyPr wrap="square">
            <a:spAutoFit/>
          </a:bodyPr>
          <a:lstStyle/>
          <a:p>
            <a:pPr algn="ctr"/>
            <a:r>
              <a:rPr sz="800" b="1" i="0">
                <a:solidFill>
                  <a:srgbClr val="39FF14"/>
                </a:solidFill>
                <a:latin typeface="Calibri"/>
              </a:rPr>
              <a:t>httpx</a:t>
            </a:r>
          </a:p>
        </p:txBody>
      </p:sp>
      <p:sp>
        <p:nvSpPr>
          <p:cNvPr id="22" name="TextBox 21"/>
          <p:cNvSpPr txBox="1"/>
          <p:nvPr/>
        </p:nvSpPr>
        <p:spPr>
          <a:xfrm>
            <a:off x="310896" y="3614928"/>
            <a:ext cx="2121408" cy="816864"/>
          </a:xfrm>
          <a:prstGeom prst="rect">
            <a:avLst/>
          </a:prstGeom>
          <a:noFill/>
        </p:spPr>
        <p:txBody>
          <a:bodyPr wrap="square">
            <a:spAutoFit/>
          </a:bodyPr>
          <a:lstStyle/>
          <a:p>
            <a:pPr algn="ctr"/>
            <a:r>
              <a:rPr sz="800" b="0" i="0">
                <a:solidFill>
                  <a:srgbClr val="A0AAB8"/>
                </a:solidFill>
                <a:latin typeface="Calibri"/>
              </a:rPr>
              <a:t>11 live hosts confirmed
staging returns unexpected 200</a:t>
            </a:r>
          </a:p>
        </p:txBody>
      </p:sp>
      <p:sp>
        <p:nvSpPr>
          <p:cNvPr id="23" name="Rectangle 22"/>
          <p:cNvSpPr/>
          <p:nvPr/>
        </p:nvSpPr>
        <p:spPr>
          <a:xfrm>
            <a:off x="237744" y="4523232"/>
            <a:ext cx="2249424" cy="1127760"/>
          </a:xfrm>
          <a:prstGeom prst="rect">
            <a:avLst/>
          </a:prstGeom>
          <a:solidFill>
            <a:srgbClr val="080E1C"/>
          </a:solidFill>
          <a:ln w="50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37744" y="4523232"/>
            <a:ext cx="45720" cy="112776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0896" y="4559808"/>
            <a:ext cx="2121408" cy="237744"/>
          </a:xfrm>
          <a:prstGeom prst="rect">
            <a:avLst/>
          </a:prstGeom>
          <a:noFill/>
        </p:spPr>
        <p:txBody>
          <a:bodyPr wrap="square">
            <a:spAutoFit/>
          </a:bodyPr>
          <a:lstStyle/>
          <a:p>
            <a:pPr algn="ctr"/>
            <a:r>
              <a:rPr sz="800" b="1" i="0">
                <a:solidFill>
                  <a:srgbClr val="39FF14"/>
                </a:solidFill>
                <a:latin typeface="Calibri"/>
              </a:rPr>
              <a:t>Nmap</a:t>
            </a:r>
          </a:p>
        </p:txBody>
      </p:sp>
      <p:sp>
        <p:nvSpPr>
          <p:cNvPr id="26" name="TextBox 25"/>
          <p:cNvSpPr txBox="1"/>
          <p:nvPr/>
        </p:nvSpPr>
        <p:spPr>
          <a:xfrm>
            <a:off x="310896" y="4797552"/>
            <a:ext cx="2121408" cy="816864"/>
          </a:xfrm>
          <a:prstGeom prst="rect">
            <a:avLst/>
          </a:prstGeom>
          <a:noFill/>
        </p:spPr>
        <p:txBody>
          <a:bodyPr wrap="square">
            <a:spAutoFit/>
          </a:bodyPr>
          <a:lstStyle/>
          <a:p>
            <a:pPr algn="ctr"/>
            <a:r>
              <a:rPr sz="800" b="0" i="0">
                <a:solidFill>
                  <a:srgbClr val="A0AAB8"/>
                </a:solidFill>
                <a:latin typeface="Calibri"/>
              </a:rPr>
              <a:t>Ports 80, 443, 8080, 8443 open
pay.shopvault.io: expired TLS</a:t>
            </a:r>
          </a:p>
        </p:txBody>
      </p:sp>
      <p:sp>
        <p:nvSpPr>
          <p:cNvPr id="27" name="Rectangle 26"/>
          <p:cNvSpPr/>
          <p:nvPr/>
        </p:nvSpPr>
        <p:spPr>
          <a:xfrm>
            <a:off x="164592" y="5797296"/>
            <a:ext cx="2395728" cy="402336"/>
          </a:xfrm>
          <a:prstGeom prst="rect">
            <a:avLst/>
          </a:prstGeom>
          <a:solidFill>
            <a:srgbClr val="060C18"/>
          </a:solidFill>
          <a:ln w="1016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56032" y="5852160"/>
            <a:ext cx="2258568" cy="310896"/>
          </a:xfrm>
          <a:prstGeom prst="rect">
            <a:avLst/>
          </a:prstGeom>
          <a:noFill/>
        </p:spPr>
        <p:txBody>
          <a:bodyPr wrap="square">
            <a:spAutoFit/>
          </a:bodyPr>
          <a:lstStyle/>
          <a:p>
            <a:pPr algn="ctr"/>
            <a:r>
              <a:rPr sz="850" b="1" i="0">
                <a:solidFill>
                  <a:srgbClr val="39FF14"/>
                </a:solidFill>
                <a:latin typeface="Calibri"/>
              </a:rPr>
              <a:t>ASG ← 37 new nodes</a:t>
            </a:r>
          </a:p>
        </p:txBody>
      </p:sp>
      <p:cxnSp>
        <p:nvCxnSpPr>
          <p:cNvPr id="29" name="Connector 28"/>
          <p:cNvCxnSpPr/>
          <p:nvPr/>
        </p:nvCxnSpPr>
        <p:spPr>
          <a:xfrm>
            <a:off x="2560320" y="1417320"/>
            <a:ext cx="54864" cy="0"/>
          </a:xfrm>
          <a:prstGeom prst="line">
            <a:avLst/>
          </a:prstGeom>
          <a:ln w="22860">
            <a:solidFill>
              <a:srgbClr val="00E5FF"/>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2615184" y="1188720"/>
            <a:ext cx="3474720" cy="5010912"/>
          </a:xfrm>
          <a:prstGeom prst="rect">
            <a:avLst/>
          </a:prstGeom>
          <a:solidFill>
            <a:srgbClr val="041018"/>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615184" y="1188720"/>
            <a:ext cx="3474720" cy="457200"/>
          </a:xfrm>
          <a:prstGeom prst="rect">
            <a:avLst/>
          </a:prstGeom>
          <a:solidFill>
            <a:srgbClr val="08101C"/>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688336" y="1243584"/>
            <a:ext cx="3364992" cy="384048"/>
          </a:xfrm>
          <a:prstGeom prst="rect">
            <a:avLst/>
          </a:prstGeom>
          <a:noFill/>
        </p:spPr>
        <p:txBody>
          <a:bodyPr wrap="square">
            <a:spAutoFit/>
          </a:bodyPr>
          <a:lstStyle/>
          <a:p>
            <a:pPr algn="ctr"/>
            <a:r>
              <a:rPr sz="1000" b="1" i="0">
                <a:solidFill>
                  <a:srgbClr val="00E5FF"/>
                </a:solidFill>
                <a:latin typeface="Calibri"/>
              </a:rPr>
              <a:t>PHASE 2
Analysis + Intel</a:t>
            </a:r>
          </a:p>
        </p:txBody>
      </p:sp>
      <p:sp>
        <p:nvSpPr>
          <p:cNvPr id="33" name="TextBox 32"/>
          <p:cNvSpPr txBox="1"/>
          <p:nvPr/>
        </p:nvSpPr>
        <p:spPr>
          <a:xfrm>
            <a:off x="2688336" y="1700784"/>
            <a:ext cx="3364992" cy="201168"/>
          </a:xfrm>
          <a:prstGeom prst="rect">
            <a:avLst/>
          </a:prstGeom>
          <a:noFill/>
        </p:spPr>
        <p:txBody>
          <a:bodyPr wrap="square">
            <a:spAutoFit/>
          </a:bodyPr>
          <a:lstStyle/>
          <a:p>
            <a:pPr algn="ctr"/>
            <a:r>
              <a:rPr sz="850" b="1" i="0">
                <a:solidFill>
                  <a:srgbClr val="00E5FF"/>
                </a:solidFill>
                <a:latin typeface="Calibri"/>
              </a:rPr>
              <a:t>🔬 Analysis + 🔍 Research</a:t>
            </a:r>
          </a:p>
        </p:txBody>
      </p:sp>
      <p:sp>
        <p:nvSpPr>
          <p:cNvPr id="34" name="Rectangle 33"/>
          <p:cNvSpPr/>
          <p:nvPr/>
        </p:nvSpPr>
        <p:spPr>
          <a:xfrm>
            <a:off x="2688336" y="1920240"/>
            <a:ext cx="3328416" cy="182880"/>
          </a:xfrm>
          <a:prstGeom prst="rect">
            <a:avLst/>
          </a:prstGeom>
          <a:solidFill>
            <a:srgbClr val="081022"/>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24912" y="1929384"/>
            <a:ext cx="3291840" cy="164592"/>
          </a:xfrm>
          <a:prstGeom prst="rect">
            <a:avLst/>
          </a:prstGeom>
          <a:noFill/>
        </p:spPr>
        <p:txBody>
          <a:bodyPr wrap="square">
            <a:spAutoFit/>
          </a:bodyPr>
          <a:lstStyle/>
          <a:p>
            <a:pPr algn="ctr"/>
            <a:r>
              <a:rPr sz="700" b="1" i="0">
                <a:solidFill>
                  <a:srgbClr val="00E5FF"/>
                </a:solidFill>
                <a:latin typeface="Calibri"/>
              </a:rPr>
              <a:t>WhatWeb  ·  Gobuster  ·  ffuf  ·  Nuclei  ·  ZAP</a:t>
            </a:r>
          </a:p>
        </p:txBody>
      </p:sp>
      <p:sp>
        <p:nvSpPr>
          <p:cNvPr id="36" name="Rectangle 35"/>
          <p:cNvSpPr/>
          <p:nvPr/>
        </p:nvSpPr>
        <p:spPr>
          <a:xfrm>
            <a:off x="2688336" y="2157984"/>
            <a:ext cx="3328416" cy="832104"/>
          </a:xfrm>
          <a:prstGeom prst="rect">
            <a:avLst/>
          </a:prstGeom>
          <a:solidFill>
            <a:srgbClr val="080E1C"/>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688336" y="2157984"/>
            <a:ext cx="45720" cy="832104"/>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61488" y="2194560"/>
            <a:ext cx="3200400" cy="237744"/>
          </a:xfrm>
          <a:prstGeom prst="rect">
            <a:avLst/>
          </a:prstGeom>
          <a:noFill/>
        </p:spPr>
        <p:txBody>
          <a:bodyPr wrap="square">
            <a:spAutoFit/>
          </a:bodyPr>
          <a:lstStyle/>
          <a:p>
            <a:pPr algn="ctr"/>
            <a:r>
              <a:rPr sz="800" b="1" i="0">
                <a:solidFill>
                  <a:srgbClr val="00E5FF"/>
                </a:solidFill>
                <a:latin typeface="Calibri"/>
              </a:rPr>
              <a:t>WhatWeb</a:t>
            </a:r>
          </a:p>
        </p:txBody>
      </p:sp>
      <p:sp>
        <p:nvSpPr>
          <p:cNvPr id="39" name="TextBox 38"/>
          <p:cNvSpPr txBox="1"/>
          <p:nvPr/>
        </p:nvSpPr>
        <p:spPr>
          <a:xfrm>
            <a:off x="2761488" y="2432304"/>
            <a:ext cx="3200400" cy="521208"/>
          </a:xfrm>
          <a:prstGeom prst="rect">
            <a:avLst/>
          </a:prstGeom>
          <a:noFill/>
        </p:spPr>
        <p:txBody>
          <a:bodyPr wrap="square">
            <a:spAutoFit/>
          </a:bodyPr>
          <a:lstStyle/>
          <a:p>
            <a:pPr algn="ctr"/>
            <a:r>
              <a:rPr sz="800" b="0" i="0">
                <a:solidFill>
                  <a:srgbClr val="A0AAB8"/>
                </a:solidFill>
                <a:latin typeface="Calibri"/>
              </a:rPr>
              <a:t>WordPress 5.9.3 · Django API
→ Research: CVE-2022-21661 (CVSS 8.8)</a:t>
            </a:r>
          </a:p>
        </p:txBody>
      </p:sp>
      <p:sp>
        <p:nvSpPr>
          <p:cNvPr id="40" name="Rectangle 39"/>
          <p:cNvSpPr/>
          <p:nvPr/>
        </p:nvSpPr>
        <p:spPr>
          <a:xfrm>
            <a:off x="2688336" y="3044952"/>
            <a:ext cx="3328416" cy="832104"/>
          </a:xfrm>
          <a:prstGeom prst="rect">
            <a:avLst/>
          </a:prstGeom>
          <a:solidFill>
            <a:srgbClr val="080E1C"/>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688336" y="3044952"/>
            <a:ext cx="45720" cy="832104"/>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761488" y="3081528"/>
            <a:ext cx="3200400" cy="237744"/>
          </a:xfrm>
          <a:prstGeom prst="rect">
            <a:avLst/>
          </a:prstGeom>
          <a:noFill/>
        </p:spPr>
        <p:txBody>
          <a:bodyPr wrap="square">
            <a:spAutoFit/>
          </a:bodyPr>
          <a:lstStyle/>
          <a:p>
            <a:pPr algn="ctr"/>
            <a:r>
              <a:rPr sz="800" b="1" i="0">
                <a:solidFill>
                  <a:srgbClr val="00E5FF"/>
                </a:solidFill>
                <a:latin typeface="Calibri"/>
              </a:rPr>
              <a:t>Gobuster</a:t>
            </a:r>
          </a:p>
        </p:txBody>
      </p:sp>
      <p:sp>
        <p:nvSpPr>
          <p:cNvPr id="43" name="TextBox 42"/>
          <p:cNvSpPr txBox="1"/>
          <p:nvPr/>
        </p:nvSpPr>
        <p:spPr>
          <a:xfrm>
            <a:off x="2761488" y="3319272"/>
            <a:ext cx="3200400" cy="521208"/>
          </a:xfrm>
          <a:prstGeom prst="rect">
            <a:avLst/>
          </a:prstGeom>
          <a:noFill/>
        </p:spPr>
        <p:txBody>
          <a:bodyPr wrap="square">
            <a:spAutoFit/>
          </a:bodyPr>
          <a:lstStyle/>
          <a:p>
            <a:pPr algn="ctr"/>
            <a:r>
              <a:rPr sz="800" b="0" i="0">
                <a:solidFill>
                  <a:srgbClr val="A0AAB8"/>
                </a:solidFill>
                <a:latin typeface="Calibri"/>
              </a:rPr>
              <a:t>/backup/db_export_2023.sql EXPOSED
/admin/users · /admin/login</a:t>
            </a:r>
          </a:p>
        </p:txBody>
      </p:sp>
      <p:sp>
        <p:nvSpPr>
          <p:cNvPr id="44" name="Rectangle 43"/>
          <p:cNvSpPr/>
          <p:nvPr/>
        </p:nvSpPr>
        <p:spPr>
          <a:xfrm>
            <a:off x="2688336" y="3931920"/>
            <a:ext cx="3328416" cy="832104"/>
          </a:xfrm>
          <a:prstGeom prst="rect">
            <a:avLst/>
          </a:prstGeom>
          <a:solidFill>
            <a:srgbClr val="080E1C"/>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688336" y="3931920"/>
            <a:ext cx="45720" cy="832104"/>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761488" y="3968496"/>
            <a:ext cx="3200400" cy="237744"/>
          </a:xfrm>
          <a:prstGeom prst="rect">
            <a:avLst/>
          </a:prstGeom>
          <a:noFill/>
        </p:spPr>
        <p:txBody>
          <a:bodyPr wrap="square">
            <a:spAutoFit/>
          </a:bodyPr>
          <a:lstStyle/>
          <a:p>
            <a:pPr algn="ctr"/>
            <a:r>
              <a:rPr sz="800" b="1" i="0">
                <a:solidFill>
                  <a:srgbClr val="00E5FF"/>
                </a:solidFill>
                <a:latin typeface="Calibri"/>
              </a:rPr>
              <a:t>ffuf</a:t>
            </a:r>
          </a:p>
        </p:txBody>
      </p:sp>
      <p:sp>
        <p:nvSpPr>
          <p:cNvPr id="47" name="TextBox 46"/>
          <p:cNvSpPr txBox="1"/>
          <p:nvPr/>
        </p:nvSpPr>
        <p:spPr>
          <a:xfrm>
            <a:off x="2761488" y="4206240"/>
            <a:ext cx="3200400" cy="521208"/>
          </a:xfrm>
          <a:prstGeom prst="rect">
            <a:avLst/>
          </a:prstGeom>
          <a:noFill/>
        </p:spPr>
        <p:txBody>
          <a:bodyPr wrap="square">
            <a:spAutoFit/>
          </a:bodyPr>
          <a:lstStyle/>
          <a:p>
            <a:pPr algn="ctr"/>
            <a:r>
              <a:rPr sz="800" b="0" i="0">
                <a:solidFill>
                  <a:srgbClr val="A0AAB8"/>
                </a:solidFill>
                <a:latin typeface="Calibri"/>
              </a:rPr>
              <a:t>IDOR: user_id param unsanitized
/api/v1/internal/users found</a:t>
            </a:r>
          </a:p>
        </p:txBody>
      </p:sp>
      <p:sp>
        <p:nvSpPr>
          <p:cNvPr id="48" name="Rectangle 47"/>
          <p:cNvSpPr/>
          <p:nvPr/>
        </p:nvSpPr>
        <p:spPr>
          <a:xfrm>
            <a:off x="2688336" y="4818888"/>
            <a:ext cx="3328416" cy="832104"/>
          </a:xfrm>
          <a:prstGeom prst="rect">
            <a:avLst/>
          </a:prstGeom>
          <a:solidFill>
            <a:srgbClr val="080E1C"/>
          </a:solidFill>
          <a:ln w="50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2688336" y="4818888"/>
            <a:ext cx="45720" cy="832104"/>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761488" y="4855464"/>
            <a:ext cx="3200400" cy="237744"/>
          </a:xfrm>
          <a:prstGeom prst="rect">
            <a:avLst/>
          </a:prstGeom>
          <a:noFill/>
        </p:spPr>
        <p:txBody>
          <a:bodyPr wrap="square">
            <a:spAutoFit/>
          </a:bodyPr>
          <a:lstStyle/>
          <a:p>
            <a:pPr algn="ctr"/>
            <a:r>
              <a:rPr sz="800" b="1" i="0">
                <a:solidFill>
                  <a:srgbClr val="00E5FF"/>
                </a:solidFill>
                <a:latin typeface="Calibri"/>
              </a:rPr>
              <a:t>ZAP</a:t>
            </a:r>
          </a:p>
        </p:txBody>
      </p:sp>
      <p:sp>
        <p:nvSpPr>
          <p:cNvPr id="51" name="TextBox 50"/>
          <p:cNvSpPr txBox="1"/>
          <p:nvPr/>
        </p:nvSpPr>
        <p:spPr>
          <a:xfrm>
            <a:off x="2761488" y="5093208"/>
            <a:ext cx="3200400" cy="521208"/>
          </a:xfrm>
          <a:prstGeom prst="rect">
            <a:avLst/>
          </a:prstGeom>
          <a:noFill/>
        </p:spPr>
        <p:txBody>
          <a:bodyPr wrap="square">
            <a:spAutoFit/>
          </a:bodyPr>
          <a:lstStyle/>
          <a:p>
            <a:pPr algn="ctr"/>
            <a:r>
              <a:rPr sz="800" b="0" i="0">
                <a:solidFill>
                  <a:srgbClr val="A0AAB8"/>
                </a:solidFill>
                <a:latin typeface="Calibri"/>
              </a:rPr>
              <a:t>XSS on /search?q=
SQL error on staging login</a:t>
            </a:r>
          </a:p>
        </p:txBody>
      </p:sp>
      <p:sp>
        <p:nvSpPr>
          <p:cNvPr id="52" name="Rectangle 51"/>
          <p:cNvSpPr/>
          <p:nvPr/>
        </p:nvSpPr>
        <p:spPr>
          <a:xfrm>
            <a:off x="2615184" y="5797296"/>
            <a:ext cx="3474720" cy="402336"/>
          </a:xfrm>
          <a:prstGeom prst="rect">
            <a:avLst/>
          </a:prstGeom>
          <a:solidFill>
            <a:srgbClr val="060C18"/>
          </a:solidFill>
          <a:ln w="1016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06624" y="5852160"/>
            <a:ext cx="3337560" cy="310896"/>
          </a:xfrm>
          <a:prstGeom prst="rect">
            <a:avLst/>
          </a:prstGeom>
          <a:noFill/>
        </p:spPr>
        <p:txBody>
          <a:bodyPr wrap="square">
            <a:spAutoFit/>
          </a:bodyPr>
          <a:lstStyle/>
          <a:p>
            <a:pPr algn="ctr"/>
            <a:r>
              <a:rPr sz="850" b="1" i="0">
                <a:solidFill>
                  <a:srgbClr val="00E5FF"/>
                </a:solidFill>
                <a:latin typeface="Calibri"/>
              </a:rPr>
              <a:t>ASG ← 61 nodes
APG ← 3 chains seeded</a:t>
            </a:r>
          </a:p>
        </p:txBody>
      </p:sp>
      <p:cxnSp>
        <p:nvCxnSpPr>
          <p:cNvPr id="54" name="Connector 53"/>
          <p:cNvCxnSpPr/>
          <p:nvPr/>
        </p:nvCxnSpPr>
        <p:spPr>
          <a:xfrm>
            <a:off x="6089904" y="1417320"/>
            <a:ext cx="54864" cy="0"/>
          </a:xfrm>
          <a:prstGeom prst="line">
            <a:avLst/>
          </a:prstGeom>
          <a:ln w="22860">
            <a:solidFill>
              <a:srgbClr val="FF4545"/>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6144768" y="1188720"/>
            <a:ext cx="3639312" cy="5010912"/>
          </a:xfrm>
          <a:prstGeom prst="rect">
            <a:avLst/>
          </a:prstGeom>
          <a:solidFill>
            <a:srgbClr val="180606"/>
          </a:solidFill>
          <a:ln w="1524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144768" y="1188720"/>
            <a:ext cx="3639312" cy="457200"/>
          </a:xfrm>
          <a:prstGeom prst="rect">
            <a:avLst/>
          </a:prstGeom>
          <a:solidFill>
            <a:srgbClr val="08101C"/>
          </a:solidFill>
          <a:ln w="1524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217920" y="1243584"/>
            <a:ext cx="3529584" cy="384048"/>
          </a:xfrm>
          <a:prstGeom prst="rect">
            <a:avLst/>
          </a:prstGeom>
          <a:noFill/>
        </p:spPr>
        <p:txBody>
          <a:bodyPr wrap="square">
            <a:spAutoFit/>
          </a:bodyPr>
          <a:lstStyle/>
          <a:p>
            <a:pPr algn="ctr"/>
            <a:r>
              <a:rPr sz="1000" b="1" i="0">
                <a:solidFill>
                  <a:srgbClr val="FF4545"/>
                </a:solidFill>
                <a:latin typeface="Calibri"/>
              </a:rPr>
              <a:t>PHASE 3
Validation</a:t>
            </a:r>
          </a:p>
        </p:txBody>
      </p:sp>
      <p:sp>
        <p:nvSpPr>
          <p:cNvPr id="58" name="TextBox 57"/>
          <p:cNvSpPr txBox="1"/>
          <p:nvPr/>
        </p:nvSpPr>
        <p:spPr>
          <a:xfrm>
            <a:off x="6217920" y="1700784"/>
            <a:ext cx="3529584" cy="201168"/>
          </a:xfrm>
          <a:prstGeom prst="rect">
            <a:avLst/>
          </a:prstGeom>
          <a:noFill/>
        </p:spPr>
        <p:txBody>
          <a:bodyPr wrap="square">
            <a:spAutoFit/>
          </a:bodyPr>
          <a:lstStyle/>
          <a:p>
            <a:pPr algn="ctr"/>
            <a:r>
              <a:rPr sz="850" b="1" i="0">
                <a:solidFill>
                  <a:srgbClr val="FF4545"/>
                </a:solidFill>
                <a:latin typeface="Calibri"/>
              </a:rPr>
              <a:t>🎯 Validation + 📸 Evidence</a:t>
            </a:r>
          </a:p>
        </p:txBody>
      </p:sp>
      <p:sp>
        <p:nvSpPr>
          <p:cNvPr id="59" name="Rectangle 58"/>
          <p:cNvSpPr/>
          <p:nvPr/>
        </p:nvSpPr>
        <p:spPr>
          <a:xfrm>
            <a:off x="6217920" y="1920240"/>
            <a:ext cx="3493008" cy="182880"/>
          </a:xfrm>
          <a:prstGeom prst="rect">
            <a:avLst/>
          </a:prstGeom>
          <a:solidFill>
            <a:srgbClr val="081022"/>
          </a:solidFill>
          <a:ln w="50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54496" y="1929384"/>
            <a:ext cx="3456432" cy="164592"/>
          </a:xfrm>
          <a:prstGeom prst="rect">
            <a:avLst/>
          </a:prstGeom>
          <a:noFill/>
        </p:spPr>
        <p:txBody>
          <a:bodyPr wrap="square">
            <a:spAutoFit/>
          </a:bodyPr>
          <a:lstStyle/>
          <a:p>
            <a:pPr algn="ctr"/>
            <a:r>
              <a:rPr sz="700" b="1" i="0">
                <a:solidFill>
                  <a:srgbClr val="FF4545"/>
                </a:solidFill>
                <a:latin typeface="Calibri"/>
              </a:rPr>
              <a:t>SQLMap  ·  Metasploit  ·  EyeWitness</a:t>
            </a:r>
          </a:p>
        </p:txBody>
      </p:sp>
      <p:sp>
        <p:nvSpPr>
          <p:cNvPr id="61" name="Rectangle 60"/>
          <p:cNvSpPr/>
          <p:nvPr/>
        </p:nvSpPr>
        <p:spPr>
          <a:xfrm>
            <a:off x="6217920" y="2157984"/>
            <a:ext cx="3493008" cy="1127760"/>
          </a:xfrm>
          <a:prstGeom prst="rect">
            <a:avLst/>
          </a:prstGeom>
          <a:solidFill>
            <a:srgbClr val="080E1C"/>
          </a:solidFill>
          <a:ln w="50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217920" y="2157984"/>
            <a:ext cx="45720" cy="112776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291072" y="2194560"/>
            <a:ext cx="3364992" cy="237744"/>
          </a:xfrm>
          <a:prstGeom prst="rect">
            <a:avLst/>
          </a:prstGeom>
          <a:noFill/>
        </p:spPr>
        <p:txBody>
          <a:bodyPr wrap="square">
            <a:spAutoFit/>
          </a:bodyPr>
          <a:lstStyle/>
          <a:p>
            <a:pPr algn="ctr"/>
            <a:r>
              <a:rPr sz="800" b="1" i="0">
                <a:solidFill>
                  <a:srgbClr val="FF4545"/>
                </a:solidFill>
                <a:latin typeface="Calibri"/>
              </a:rPr>
              <a:t>Chain-01
(risk 8.8)</a:t>
            </a:r>
          </a:p>
        </p:txBody>
      </p:sp>
      <p:sp>
        <p:nvSpPr>
          <p:cNvPr id="64" name="TextBox 63"/>
          <p:cNvSpPr txBox="1"/>
          <p:nvPr/>
        </p:nvSpPr>
        <p:spPr>
          <a:xfrm>
            <a:off x="6291072" y="2432304"/>
            <a:ext cx="3364992" cy="816864"/>
          </a:xfrm>
          <a:prstGeom prst="rect">
            <a:avLst/>
          </a:prstGeom>
          <a:noFill/>
        </p:spPr>
        <p:txBody>
          <a:bodyPr wrap="square">
            <a:spAutoFit/>
          </a:bodyPr>
          <a:lstStyle/>
          <a:p>
            <a:pPr algn="ctr"/>
            <a:r>
              <a:rPr sz="800" b="0" i="0">
                <a:solidFill>
                  <a:srgbClr val="A0AAB8"/>
                </a:solidFill>
                <a:latin typeface="Calibri"/>
              </a:rPr>
              <a:t>SQLMap → SQLi confirmed
Admin hash cracked → Metasploit → RCE
Status: VALIDATED (escalated 9.1)</a:t>
            </a:r>
          </a:p>
        </p:txBody>
      </p:sp>
      <p:sp>
        <p:nvSpPr>
          <p:cNvPr id="65" name="Rectangle 64"/>
          <p:cNvSpPr/>
          <p:nvPr/>
        </p:nvSpPr>
        <p:spPr>
          <a:xfrm>
            <a:off x="6217920" y="3340608"/>
            <a:ext cx="3493008" cy="1127760"/>
          </a:xfrm>
          <a:prstGeom prst="rect">
            <a:avLst/>
          </a:prstGeom>
          <a:solidFill>
            <a:srgbClr val="080E1C"/>
          </a:solidFill>
          <a:ln w="50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217920" y="3340608"/>
            <a:ext cx="45720" cy="112776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291072" y="3377184"/>
            <a:ext cx="3364992" cy="237744"/>
          </a:xfrm>
          <a:prstGeom prst="rect">
            <a:avLst/>
          </a:prstGeom>
          <a:noFill/>
        </p:spPr>
        <p:txBody>
          <a:bodyPr wrap="square">
            <a:spAutoFit/>
          </a:bodyPr>
          <a:lstStyle/>
          <a:p>
            <a:pPr algn="ctr"/>
            <a:r>
              <a:rPr sz="800" b="1" i="0">
                <a:solidFill>
                  <a:srgbClr val="FF4545"/>
                </a:solidFill>
                <a:latin typeface="Calibri"/>
              </a:rPr>
              <a:t>Chain-02
(risk 7.5)</a:t>
            </a:r>
          </a:p>
        </p:txBody>
      </p:sp>
      <p:sp>
        <p:nvSpPr>
          <p:cNvPr id="68" name="TextBox 67"/>
          <p:cNvSpPr txBox="1"/>
          <p:nvPr/>
        </p:nvSpPr>
        <p:spPr>
          <a:xfrm>
            <a:off x="6291072" y="3614928"/>
            <a:ext cx="3364992" cy="816864"/>
          </a:xfrm>
          <a:prstGeom prst="rect">
            <a:avLst/>
          </a:prstGeom>
          <a:noFill/>
        </p:spPr>
        <p:txBody>
          <a:bodyPr wrap="square">
            <a:spAutoFit/>
          </a:bodyPr>
          <a:lstStyle/>
          <a:p>
            <a:pPr algn="ctr"/>
            <a:r>
              <a:rPr sz="800" b="0" i="0">
                <a:solidFill>
                  <a:srgbClr val="A0AAB8"/>
                </a:solidFill>
                <a:latin typeface="Calibri"/>
              </a:rPr>
              <a:t>SQLMap on user_id → IDOR confirmed
Any customer orders accessible</a:t>
            </a:r>
          </a:p>
        </p:txBody>
      </p:sp>
      <p:sp>
        <p:nvSpPr>
          <p:cNvPr id="69" name="Rectangle 68"/>
          <p:cNvSpPr/>
          <p:nvPr/>
        </p:nvSpPr>
        <p:spPr>
          <a:xfrm>
            <a:off x="6217920" y="4523232"/>
            <a:ext cx="3493008" cy="1127760"/>
          </a:xfrm>
          <a:prstGeom prst="rect">
            <a:avLst/>
          </a:prstGeom>
          <a:solidFill>
            <a:srgbClr val="080E1C"/>
          </a:solidFill>
          <a:ln w="50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217920" y="4523232"/>
            <a:ext cx="45720" cy="112776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291072" y="4559808"/>
            <a:ext cx="3364992" cy="237744"/>
          </a:xfrm>
          <a:prstGeom prst="rect">
            <a:avLst/>
          </a:prstGeom>
          <a:noFill/>
        </p:spPr>
        <p:txBody>
          <a:bodyPr wrap="square">
            <a:spAutoFit/>
          </a:bodyPr>
          <a:lstStyle/>
          <a:p>
            <a:pPr algn="ctr"/>
            <a:r>
              <a:rPr sz="800" b="1" i="0">
                <a:solidFill>
                  <a:srgbClr val="FF4545"/>
                </a:solidFill>
                <a:latin typeface="Calibri"/>
              </a:rPr>
              <a:t>Chain-03
(risk 8.1)</a:t>
            </a:r>
          </a:p>
        </p:txBody>
      </p:sp>
      <p:sp>
        <p:nvSpPr>
          <p:cNvPr id="72" name="TextBox 71"/>
          <p:cNvSpPr txBox="1"/>
          <p:nvPr/>
        </p:nvSpPr>
        <p:spPr>
          <a:xfrm>
            <a:off x="6291072" y="4797552"/>
            <a:ext cx="3364992" cy="816864"/>
          </a:xfrm>
          <a:prstGeom prst="rect">
            <a:avLst/>
          </a:prstGeom>
          <a:noFill/>
        </p:spPr>
        <p:txBody>
          <a:bodyPr wrap="square">
            <a:spAutoFit/>
          </a:bodyPr>
          <a:lstStyle/>
          <a:p>
            <a:pPr algn="ctr"/>
            <a:r>
              <a:rPr sz="800" b="0" i="0">
                <a:solidFill>
                  <a:srgbClr val="A0AAB8"/>
                </a:solidFill>
                <a:latin typeface="Calibri"/>
              </a:rPr>
              <a:t>Blind SQLi on staging → DB creds
Credential reuse risk flagged</a:t>
            </a:r>
          </a:p>
        </p:txBody>
      </p:sp>
      <p:sp>
        <p:nvSpPr>
          <p:cNvPr id="73" name="Rectangle 72"/>
          <p:cNvSpPr/>
          <p:nvPr/>
        </p:nvSpPr>
        <p:spPr>
          <a:xfrm>
            <a:off x="6144768" y="5797296"/>
            <a:ext cx="3639312" cy="402336"/>
          </a:xfrm>
          <a:prstGeom prst="rect">
            <a:avLst/>
          </a:prstGeom>
          <a:solidFill>
            <a:srgbClr val="060C18"/>
          </a:solidFill>
          <a:ln w="1016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236208" y="5852160"/>
            <a:ext cx="3502152" cy="310896"/>
          </a:xfrm>
          <a:prstGeom prst="rect">
            <a:avLst/>
          </a:prstGeom>
          <a:noFill/>
        </p:spPr>
        <p:txBody>
          <a:bodyPr wrap="square">
            <a:spAutoFit/>
          </a:bodyPr>
          <a:lstStyle/>
          <a:p>
            <a:pPr algn="ctr"/>
            <a:r>
              <a:rPr sz="850" b="1" i="0">
                <a:solidFill>
                  <a:srgbClr val="FF4545"/>
                </a:solidFill>
                <a:latin typeface="Calibri"/>
              </a:rPr>
              <a:t>APG ← 3 chains VALIDATED
ASG ← Evidence nodes linked</a:t>
            </a:r>
          </a:p>
        </p:txBody>
      </p:sp>
      <p:cxnSp>
        <p:nvCxnSpPr>
          <p:cNvPr id="75" name="Connector 74"/>
          <p:cNvCxnSpPr/>
          <p:nvPr/>
        </p:nvCxnSpPr>
        <p:spPr>
          <a:xfrm>
            <a:off x="9784080" y="1417320"/>
            <a:ext cx="54864" cy="0"/>
          </a:xfrm>
          <a:prstGeom prst="line">
            <a:avLst/>
          </a:prstGeom>
          <a:ln w="22860">
            <a:solidFill>
              <a:srgbClr val="BD93F9"/>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76" name="Rectangle 75"/>
          <p:cNvSpPr/>
          <p:nvPr/>
        </p:nvSpPr>
        <p:spPr>
          <a:xfrm>
            <a:off x="9838944" y="1188720"/>
            <a:ext cx="2395728" cy="5010912"/>
          </a:xfrm>
          <a:prstGeom prst="rect">
            <a:avLst/>
          </a:prstGeom>
          <a:solidFill>
            <a:srgbClr val="10081C"/>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9838944" y="1188720"/>
            <a:ext cx="2395728" cy="457200"/>
          </a:xfrm>
          <a:prstGeom prst="rect">
            <a:avLst/>
          </a:prstGeom>
          <a:solidFill>
            <a:srgbClr val="08101C"/>
          </a:solidFill>
          <a:ln w="1524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912096" y="1243584"/>
            <a:ext cx="2286000" cy="384048"/>
          </a:xfrm>
          <a:prstGeom prst="rect">
            <a:avLst/>
          </a:prstGeom>
          <a:noFill/>
        </p:spPr>
        <p:txBody>
          <a:bodyPr wrap="square">
            <a:spAutoFit/>
          </a:bodyPr>
          <a:lstStyle/>
          <a:p>
            <a:pPr algn="ctr"/>
            <a:r>
              <a:rPr sz="1000" b="1" i="0">
                <a:solidFill>
                  <a:srgbClr val="BD93F9"/>
                </a:solidFill>
                <a:latin typeface="Calibri"/>
              </a:rPr>
              <a:t>PHASE 4
Report</a:t>
            </a:r>
          </a:p>
        </p:txBody>
      </p:sp>
      <p:sp>
        <p:nvSpPr>
          <p:cNvPr id="79" name="TextBox 78"/>
          <p:cNvSpPr txBox="1"/>
          <p:nvPr/>
        </p:nvSpPr>
        <p:spPr>
          <a:xfrm>
            <a:off x="9912096" y="1700784"/>
            <a:ext cx="2286000" cy="201168"/>
          </a:xfrm>
          <a:prstGeom prst="rect">
            <a:avLst/>
          </a:prstGeom>
          <a:noFill/>
        </p:spPr>
        <p:txBody>
          <a:bodyPr wrap="square">
            <a:spAutoFit/>
          </a:bodyPr>
          <a:lstStyle/>
          <a:p>
            <a:pPr algn="ctr"/>
            <a:r>
              <a:rPr sz="850" b="1" i="0">
                <a:solidFill>
                  <a:srgbClr val="BD93F9"/>
                </a:solidFill>
                <a:latin typeface="Calibri"/>
              </a:rPr>
              <a:t>📝 Report Agent</a:t>
            </a:r>
          </a:p>
        </p:txBody>
      </p:sp>
      <p:sp>
        <p:nvSpPr>
          <p:cNvPr id="80" name="Rectangle 79"/>
          <p:cNvSpPr/>
          <p:nvPr/>
        </p:nvSpPr>
        <p:spPr>
          <a:xfrm>
            <a:off x="9912096" y="1920240"/>
            <a:ext cx="2249424" cy="182880"/>
          </a:xfrm>
          <a:prstGeom prst="rect">
            <a:avLst/>
          </a:prstGeom>
          <a:solidFill>
            <a:srgbClr val="081022"/>
          </a:solidFill>
          <a:ln w="50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948672" y="1929384"/>
            <a:ext cx="2212848" cy="164592"/>
          </a:xfrm>
          <a:prstGeom prst="rect">
            <a:avLst/>
          </a:prstGeom>
          <a:noFill/>
        </p:spPr>
        <p:txBody>
          <a:bodyPr wrap="square">
            <a:spAutoFit/>
          </a:bodyPr>
          <a:lstStyle/>
          <a:p>
            <a:pPr algn="ctr"/>
            <a:r>
              <a:rPr sz="700" b="1" i="0">
                <a:solidFill>
                  <a:srgbClr val="BD93F9"/>
                </a:solidFill>
                <a:latin typeface="Calibri"/>
              </a:rPr>
              <a:t>Reads ASG + APG</a:t>
            </a:r>
          </a:p>
        </p:txBody>
      </p:sp>
      <p:sp>
        <p:nvSpPr>
          <p:cNvPr id="82" name="Rectangle 81"/>
          <p:cNvSpPr/>
          <p:nvPr/>
        </p:nvSpPr>
        <p:spPr>
          <a:xfrm>
            <a:off x="9912096" y="2157984"/>
            <a:ext cx="2249424" cy="3493008"/>
          </a:xfrm>
          <a:prstGeom prst="rect">
            <a:avLst/>
          </a:prstGeom>
          <a:solidFill>
            <a:srgbClr val="080E1C"/>
          </a:solidFill>
          <a:ln w="50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9912096" y="2157984"/>
            <a:ext cx="45720" cy="3493008"/>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9985248" y="2194560"/>
            <a:ext cx="2121408" cy="237744"/>
          </a:xfrm>
          <a:prstGeom prst="rect">
            <a:avLst/>
          </a:prstGeom>
          <a:noFill/>
        </p:spPr>
        <p:txBody>
          <a:bodyPr wrap="square">
            <a:spAutoFit/>
          </a:bodyPr>
          <a:lstStyle/>
          <a:p>
            <a:pPr algn="ctr"/>
            <a:r>
              <a:rPr sz="800" b="1" i="0">
                <a:solidFill>
                  <a:srgbClr val="BD93F9"/>
                </a:solidFill>
                <a:latin typeface="Calibri"/>
              </a:rPr>
              <a:t>Output</a:t>
            </a:r>
          </a:p>
        </p:txBody>
      </p:sp>
      <p:sp>
        <p:nvSpPr>
          <p:cNvPr id="85" name="TextBox 84"/>
          <p:cNvSpPr txBox="1"/>
          <p:nvPr/>
        </p:nvSpPr>
        <p:spPr>
          <a:xfrm>
            <a:off x="9985248" y="2432304"/>
            <a:ext cx="2121408" cy="3182112"/>
          </a:xfrm>
          <a:prstGeom prst="rect">
            <a:avLst/>
          </a:prstGeom>
          <a:noFill/>
        </p:spPr>
        <p:txBody>
          <a:bodyPr wrap="square">
            <a:spAutoFit/>
          </a:bodyPr>
          <a:lstStyle/>
          <a:p>
            <a:pPr algn="ctr"/>
            <a:r>
              <a:rPr sz="800" b="0" i="0">
                <a:solidFill>
                  <a:srgbClr val="A0AAB8"/>
                </a:solidFill>
                <a:latin typeface="Calibri"/>
              </a:rPr>
              <a:t>Executive summary · 4 validated chains
RCE + IDOR + SQLi + exposed DB backup
11 vuln entries · full attack surface map
Evidence at every ChainStep</a:t>
            </a:r>
          </a:p>
        </p:txBody>
      </p:sp>
      <p:sp>
        <p:nvSpPr>
          <p:cNvPr id="86" name="Rectangle 85"/>
          <p:cNvSpPr/>
          <p:nvPr/>
        </p:nvSpPr>
        <p:spPr>
          <a:xfrm>
            <a:off x="9838944" y="5797296"/>
            <a:ext cx="2395728" cy="402336"/>
          </a:xfrm>
          <a:prstGeom prst="rect">
            <a:avLst/>
          </a:prstGeom>
          <a:solidFill>
            <a:srgbClr val="060C18"/>
          </a:solidFill>
          <a:ln w="1016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9930384" y="5852160"/>
            <a:ext cx="2258568" cy="310896"/>
          </a:xfrm>
          <a:prstGeom prst="rect">
            <a:avLst/>
          </a:prstGeom>
          <a:noFill/>
        </p:spPr>
        <p:txBody>
          <a:bodyPr wrap="square">
            <a:spAutoFit/>
          </a:bodyPr>
          <a:lstStyle/>
          <a:p>
            <a:pPr algn="ctr"/>
            <a:r>
              <a:rPr sz="850" b="1" i="0">
                <a:solidFill>
                  <a:srgbClr val="BD93F9"/>
                </a:solidFill>
                <a:latin typeface="Calibri"/>
              </a:rPr>
              <a:t>ZERO manual commands</a:t>
            </a:r>
          </a:p>
        </p:txBody>
      </p:sp>
      <p:sp>
        <p:nvSpPr>
          <p:cNvPr id="88" name="Rectangle 87"/>
          <p:cNvSpPr/>
          <p:nvPr/>
        </p:nvSpPr>
        <p:spPr>
          <a:xfrm>
            <a:off x="164592" y="6236208"/>
            <a:ext cx="11862511" cy="493776"/>
          </a:xfrm>
          <a:prstGeom prst="rect">
            <a:avLst/>
          </a:prstGeom>
          <a:solidFill>
            <a:srgbClr val="081022"/>
          </a:solidFill>
          <a:ln w="1524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201168" y="6263640"/>
            <a:ext cx="1663293" cy="256032"/>
          </a:xfrm>
          <a:prstGeom prst="rect">
            <a:avLst/>
          </a:prstGeom>
          <a:noFill/>
        </p:spPr>
        <p:txBody>
          <a:bodyPr wrap="square">
            <a:spAutoFit/>
          </a:bodyPr>
          <a:lstStyle/>
          <a:p>
            <a:pPr algn="ctr"/>
            <a:r>
              <a:rPr sz="1800" b="1" i="0">
                <a:solidFill>
                  <a:srgbClr val="39FF14"/>
                </a:solidFill>
                <a:latin typeface="Calibri"/>
              </a:rPr>
              <a:t>14</a:t>
            </a:r>
          </a:p>
        </p:txBody>
      </p:sp>
      <p:sp>
        <p:nvSpPr>
          <p:cNvPr id="90" name="TextBox 89"/>
          <p:cNvSpPr txBox="1"/>
          <p:nvPr/>
        </p:nvSpPr>
        <p:spPr>
          <a:xfrm>
            <a:off x="201168" y="6483096"/>
            <a:ext cx="1663293" cy="182880"/>
          </a:xfrm>
          <a:prstGeom prst="rect">
            <a:avLst/>
          </a:prstGeom>
          <a:noFill/>
        </p:spPr>
        <p:txBody>
          <a:bodyPr wrap="square">
            <a:spAutoFit/>
          </a:bodyPr>
          <a:lstStyle/>
          <a:p>
            <a:pPr algn="ctr"/>
            <a:r>
              <a:rPr sz="750" b="0" i="0">
                <a:solidFill>
                  <a:srgbClr val="A0AAB8"/>
                </a:solidFill>
                <a:latin typeface="Calibri"/>
              </a:rPr>
              <a:t>subdomains</a:t>
            </a:r>
          </a:p>
        </p:txBody>
      </p:sp>
      <p:sp>
        <p:nvSpPr>
          <p:cNvPr id="91" name="TextBox 90"/>
          <p:cNvSpPr txBox="1"/>
          <p:nvPr/>
        </p:nvSpPr>
        <p:spPr>
          <a:xfrm>
            <a:off x="1864461" y="6263640"/>
            <a:ext cx="1663293" cy="256032"/>
          </a:xfrm>
          <a:prstGeom prst="rect">
            <a:avLst/>
          </a:prstGeom>
          <a:noFill/>
        </p:spPr>
        <p:txBody>
          <a:bodyPr wrap="square">
            <a:spAutoFit/>
          </a:bodyPr>
          <a:lstStyle/>
          <a:p>
            <a:pPr algn="ctr"/>
            <a:r>
              <a:rPr sz="1800" b="1" i="0">
                <a:solidFill>
                  <a:srgbClr val="39FF14"/>
                </a:solidFill>
                <a:latin typeface="Calibri"/>
              </a:rPr>
              <a:t>11</a:t>
            </a:r>
          </a:p>
        </p:txBody>
      </p:sp>
      <p:sp>
        <p:nvSpPr>
          <p:cNvPr id="92" name="TextBox 91"/>
          <p:cNvSpPr txBox="1"/>
          <p:nvPr/>
        </p:nvSpPr>
        <p:spPr>
          <a:xfrm>
            <a:off x="1864461" y="6483096"/>
            <a:ext cx="1663293" cy="182880"/>
          </a:xfrm>
          <a:prstGeom prst="rect">
            <a:avLst/>
          </a:prstGeom>
          <a:noFill/>
        </p:spPr>
        <p:txBody>
          <a:bodyPr wrap="square">
            <a:spAutoFit/>
          </a:bodyPr>
          <a:lstStyle/>
          <a:p>
            <a:pPr algn="ctr"/>
            <a:r>
              <a:rPr sz="750" b="0" i="0">
                <a:solidFill>
                  <a:srgbClr val="A0AAB8"/>
                </a:solidFill>
                <a:latin typeface="Calibri"/>
              </a:rPr>
              <a:t>live hosts</a:t>
            </a:r>
          </a:p>
        </p:txBody>
      </p:sp>
      <p:sp>
        <p:nvSpPr>
          <p:cNvPr id="93" name="TextBox 92"/>
          <p:cNvSpPr txBox="1"/>
          <p:nvPr/>
        </p:nvSpPr>
        <p:spPr>
          <a:xfrm>
            <a:off x="3527755" y="6263640"/>
            <a:ext cx="1663293" cy="256032"/>
          </a:xfrm>
          <a:prstGeom prst="rect">
            <a:avLst/>
          </a:prstGeom>
          <a:noFill/>
        </p:spPr>
        <p:txBody>
          <a:bodyPr wrap="square">
            <a:spAutoFit/>
          </a:bodyPr>
          <a:lstStyle/>
          <a:p>
            <a:pPr algn="ctr"/>
            <a:r>
              <a:rPr sz="1800" b="1" i="0">
                <a:solidFill>
                  <a:srgbClr val="00E5FF"/>
                </a:solidFill>
                <a:latin typeface="Calibri"/>
              </a:rPr>
              <a:t>28</a:t>
            </a:r>
          </a:p>
        </p:txBody>
      </p:sp>
      <p:sp>
        <p:nvSpPr>
          <p:cNvPr id="94" name="TextBox 93"/>
          <p:cNvSpPr txBox="1"/>
          <p:nvPr/>
        </p:nvSpPr>
        <p:spPr>
          <a:xfrm>
            <a:off x="3527755" y="6483096"/>
            <a:ext cx="1663293" cy="182880"/>
          </a:xfrm>
          <a:prstGeom prst="rect">
            <a:avLst/>
          </a:prstGeom>
          <a:noFill/>
        </p:spPr>
        <p:txBody>
          <a:bodyPr wrap="square">
            <a:spAutoFit/>
          </a:bodyPr>
          <a:lstStyle/>
          <a:p>
            <a:pPr algn="ctr"/>
            <a:r>
              <a:rPr sz="750" b="0" i="0">
                <a:solidFill>
                  <a:srgbClr val="A0AAB8"/>
                </a:solidFill>
                <a:latin typeface="Calibri"/>
              </a:rPr>
              <a:t>open ports</a:t>
            </a:r>
          </a:p>
        </p:txBody>
      </p:sp>
      <p:sp>
        <p:nvSpPr>
          <p:cNvPr id="95" name="TextBox 94"/>
          <p:cNvSpPr txBox="1"/>
          <p:nvPr/>
        </p:nvSpPr>
        <p:spPr>
          <a:xfrm>
            <a:off x="5191048" y="6263640"/>
            <a:ext cx="1663293" cy="256032"/>
          </a:xfrm>
          <a:prstGeom prst="rect">
            <a:avLst/>
          </a:prstGeom>
          <a:noFill/>
        </p:spPr>
        <p:txBody>
          <a:bodyPr wrap="square">
            <a:spAutoFit/>
          </a:bodyPr>
          <a:lstStyle/>
          <a:p>
            <a:pPr algn="ctr"/>
            <a:r>
              <a:rPr sz="1800" b="1" i="0">
                <a:solidFill>
                  <a:srgbClr val="00E5FF"/>
                </a:solidFill>
                <a:latin typeface="Calibri"/>
              </a:rPr>
              <a:t>19</a:t>
            </a:r>
          </a:p>
        </p:txBody>
      </p:sp>
      <p:sp>
        <p:nvSpPr>
          <p:cNvPr id="96" name="TextBox 95"/>
          <p:cNvSpPr txBox="1"/>
          <p:nvPr/>
        </p:nvSpPr>
        <p:spPr>
          <a:xfrm>
            <a:off x="5191048" y="6483096"/>
            <a:ext cx="1663293" cy="182880"/>
          </a:xfrm>
          <a:prstGeom prst="rect">
            <a:avLst/>
          </a:prstGeom>
          <a:noFill/>
        </p:spPr>
        <p:txBody>
          <a:bodyPr wrap="square">
            <a:spAutoFit/>
          </a:bodyPr>
          <a:lstStyle/>
          <a:p>
            <a:pPr algn="ctr"/>
            <a:r>
              <a:rPr sz="750" b="0" i="0">
                <a:solidFill>
                  <a:srgbClr val="A0AAB8"/>
                </a:solidFill>
                <a:latin typeface="Calibri"/>
              </a:rPr>
              <a:t>endpoints</a:t>
            </a:r>
          </a:p>
        </p:txBody>
      </p:sp>
      <p:sp>
        <p:nvSpPr>
          <p:cNvPr id="97" name="TextBox 96"/>
          <p:cNvSpPr txBox="1"/>
          <p:nvPr/>
        </p:nvSpPr>
        <p:spPr>
          <a:xfrm>
            <a:off x="6854342" y="6263640"/>
            <a:ext cx="1663293" cy="256032"/>
          </a:xfrm>
          <a:prstGeom prst="rect">
            <a:avLst/>
          </a:prstGeom>
          <a:noFill/>
        </p:spPr>
        <p:txBody>
          <a:bodyPr wrap="square">
            <a:spAutoFit/>
          </a:bodyPr>
          <a:lstStyle/>
          <a:p>
            <a:pPr algn="ctr"/>
            <a:r>
              <a:rPr sz="1800" b="1" i="0">
                <a:solidFill>
                  <a:srgbClr val="FFD700"/>
                </a:solidFill>
                <a:latin typeface="Calibri"/>
              </a:rPr>
              <a:t>11</a:t>
            </a:r>
          </a:p>
        </p:txBody>
      </p:sp>
      <p:sp>
        <p:nvSpPr>
          <p:cNvPr id="98" name="TextBox 97"/>
          <p:cNvSpPr txBox="1"/>
          <p:nvPr/>
        </p:nvSpPr>
        <p:spPr>
          <a:xfrm>
            <a:off x="6854342" y="6483096"/>
            <a:ext cx="1663293" cy="182880"/>
          </a:xfrm>
          <a:prstGeom prst="rect">
            <a:avLst/>
          </a:prstGeom>
          <a:noFill/>
        </p:spPr>
        <p:txBody>
          <a:bodyPr wrap="square">
            <a:spAutoFit/>
          </a:bodyPr>
          <a:lstStyle/>
          <a:p>
            <a:pPr algn="ctr"/>
            <a:r>
              <a:rPr sz="750" b="0" i="0">
                <a:solidFill>
                  <a:srgbClr val="A0AAB8"/>
                </a:solidFill>
                <a:latin typeface="Calibri"/>
              </a:rPr>
              <a:t>vulnerabilities</a:t>
            </a:r>
          </a:p>
        </p:txBody>
      </p:sp>
      <p:sp>
        <p:nvSpPr>
          <p:cNvPr id="99" name="TextBox 98"/>
          <p:cNvSpPr txBox="1"/>
          <p:nvPr/>
        </p:nvSpPr>
        <p:spPr>
          <a:xfrm>
            <a:off x="8517635" y="6263640"/>
            <a:ext cx="1663293" cy="256032"/>
          </a:xfrm>
          <a:prstGeom prst="rect">
            <a:avLst/>
          </a:prstGeom>
          <a:noFill/>
        </p:spPr>
        <p:txBody>
          <a:bodyPr wrap="square">
            <a:spAutoFit/>
          </a:bodyPr>
          <a:lstStyle/>
          <a:p>
            <a:pPr algn="ctr"/>
            <a:r>
              <a:rPr sz="1800" b="1" i="0">
                <a:solidFill>
                  <a:srgbClr val="FF4545"/>
                </a:solidFill>
                <a:latin typeface="Calibri"/>
              </a:rPr>
              <a:t>4</a:t>
            </a:r>
          </a:p>
        </p:txBody>
      </p:sp>
      <p:sp>
        <p:nvSpPr>
          <p:cNvPr id="100" name="TextBox 99"/>
          <p:cNvSpPr txBox="1"/>
          <p:nvPr/>
        </p:nvSpPr>
        <p:spPr>
          <a:xfrm>
            <a:off x="8517635" y="6483096"/>
            <a:ext cx="1663293" cy="182880"/>
          </a:xfrm>
          <a:prstGeom prst="rect">
            <a:avLst/>
          </a:prstGeom>
          <a:noFill/>
        </p:spPr>
        <p:txBody>
          <a:bodyPr wrap="square">
            <a:spAutoFit/>
          </a:bodyPr>
          <a:lstStyle/>
          <a:p>
            <a:pPr algn="ctr"/>
            <a:r>
              <a:rPr sz="750" b="0" i="0">
                <a:solidFill>
                  <a:srgbClr val="A0AAB8"/>
                </a:solidFill>
                <a:latin typeface="Calibri"/>
              </a:rPr>
              <a:t>validated chains</a:t>
            </a:r>
          </a:p>
        </p:txBody>
      </p:sp>
      <p:sp>
        <p:nvSpPr>
          <p:cNvPr id="101" name="TextBox 100"/>
          <p:cNvSpPr txBox="1"/>
          <p:nvPr/>
        </p:nvSpPr>
        <p:spPr>
          <a:xfrm>
            <a:off x="10180929" y="6263640"/>
            <a:ext cx="1663293" cy="256032"/>
          </a:xfrm>
          <a:prstGeom prst="rect">
            <a:avLst/>
          </a:prstGeom>
          <a:noFill/>
        </p:spPr>
        <p:txBody>
          <a:bodyPr wrap="square">
            <a:spAutoFit/>
          </a:bodyPr>
          <a:lstStyle/>
          <a:p>
            <a:pPr algn="ctr"/>
            <a:r>
              <a:rPr sz="1800" b="1" i="0">
                <a:solidFill>
                  <a:srgbClr val="BD93F9"/>
                </a:solidFill>
                <a:latin typeface="Calibri"/>
              </a:rPr>
              <a:t>0</a:t>
            </a:r>
          </a:p>
        </p:txBody>
      </p:sp>
      <p:sp>
        <p:nvSpPr>
          <p:cNvPr id="102" name="TextBox 101"/>
          <p:cNvSpPr txBox="1"/>
          <p:nvPr/>
        </p:nvSpPr>
        <p:spPr>
          <a:xfrm>
            <a:off x="10180929" y="6483096"/>
            <a:ext cx="1663293" cy="182880"/>
          </a:xfrm>
          <a:prstGeom prst="rect">
            <a:avLst/>
          </a:prstGeom>
          <a:noFill/>
        </p:spPr>
        <p:txBody>
          <a:bodyPr wrap="square">
            <a:spAutoFit/>
          </a:bodyPr>
          <a:lstStyle/>
          <a:p>
            <a:pPr algn="ctr"/>
            <a:r>
              <a:rPr sz="750" b="0" i="0">
                <a:solidFill>
                  <a:srgbClr val="A0AAB8"/>
                </a:solidFill>
                <a:latin typeface="Calibri"/>
              </a:rPr>
              <a:t>manual commands</a:t>
            </a:r>
          </a:p>
        </p:txBody>
      </p:sp>
      <p:sp>
        <p:nvSpPr>
          <p:cNvPr id="103" name="TextBox 102"/>
          <p:cNvSpPr txBox="1"/>
          <p:nvPr/>
        </p:nvSpPr>
        <p:spPr>
          <a:xfrm>
            <a:off x="11825935" y="6382512"/>
            <a:ext cx="320040" cy="384048"/>
          </a:xfrm>
          <a:prstGeom prst="rect">
            <a:avLst/>
          </a:prstGeom>
          <a:noFill/>
        </p:spPr>
        <p:txBody>
          <a:bodyPr wrap="square">
            <a:spAutoFit/>
          </a:bodyPr>
          <a:lstStyle/>
          <a:p>
            <a:pPr algn="r"/>
            <a:r>
              <a:rPr sz="1300" b="1" i="0">
                <a:solidFill>
                  <a:srgbClr val="FFD700"/>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7315200" cy="237744"/>
          </a:xfrm>
          <a:prstGeom prst="rect">
            <a:avLst/>
          </a:prstGeom>
          <a:noFill/>
        </p:spPr>
        <p:txBody>
          <a:bodyPr wrap="square">
            <a:spAutoFit/>
          </a:bodyPr>
          <a:lstStyle/>
          <a:p>
            <a:pPr algn="l"/>
            <a:r>
              <a:rPr sz="1000" b="1" i="0">
                <a:solidFill>
                  <a:srgbClr val="FF4545"/>
                </a:solidFill>
                <a:latin typeface="Calibri"/>
              </a:rPr>
              <a:t>CHAIN-01 TRACEABILITY</a:t>
            </a:r>
          </a:p>
        </p:txBody>
      </p:sp>
      <p:sp>
        <p:nvSpPr>
          <p:cNvPr id="6" name="TextBox 5"/>
          <p:cNvSpPr txBox="1"/>
          <p:nvPr/>
        </p:nvSpPr>
        <p:spPr>
          <a:xfrm>
            <a:off x="274320" y="292608"/>
            <a:ext cx="11430000" cy="475488"/>
          </a:xfrm>
          <a:prstGeom prst="rect">
            <a:avLst/>
          </a:prstGeom>
          <a:noFill/>
        </p:spPr>
        <p:txBody>
          <a:bodyPr wrap="square">
            <a:spAutoFit/>
          </a:bodyPr>
          <a:lstStyle/>
          <a:p>
            <a:pPr algn="l"/>
            <a:r>
              <a:rPr sz="2300" b="1" i="0">
                <a:solidFill>
                  <a:srgbClr val="FFFFFF"/>
                </a:solidFill>
                <a:latin typeface="Calibri"/>
              </a:rPr>
              <a:t>CVE-2022-21661 → SQL Injection → RCE → Customer PII — Full Evidence Chain</a:t>
            </a:r>
          </a:p>
        </p:txBody>
      </p:sp>
      <p:sp>
        <p:nvSpPr>
          <p:cNvPr id="7" name="Rectangle 6"/>
          <p:cNvSpPr/>
          <p:nvPr/>
        </p:nvSpPr>
        <p:spPr>
          <a:xfrm>
            <a:off x="274320" y="822960"/>
            <a:ext cx="10058400" cy="27432"/>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01168" y="896112"/>
            <a:ext cx="11789359" cy="713232"/>
          </a:xfrm>
          <a:prstGeom prst="rect">
            <a:avLst/>
          </a:prstGeom>
          <a:solidFill>
            <a:srgbClr val="04180C"/>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1168" y="896112"/>
            <a:ext cx="1645920" cy="713232"/>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7744" y="950976"/>
            <a:ext cx="1572768" cy="621792"/>
          </a:xfrm>
          <a:prstGeom prst="rect">
            <a:avLst/>
          </a:prstGeom>
          <a:noFill/>
        </p:spPr>
        <p:txBody>
          <a:bodyPr wrap="square">
            <a:spAutoFit/>
          </a:bodyPr>
          <a:lstStyle/>
          <a:p>
            <a:pPr algn="ctr"/>
            <a:r>
              <a:rPr sz="850" b="1" i="0">
                <a:solidFill>
                  <a:srgbClr val="0A0D1A"/>
                </a:solidFill>
                <a:latin typeface="Calibri"/>
              </a:rPr>
              <a:t>ASG
DISCOVERY</a:t>
            </a:r>
          </a:p>
        </p:txBody>
      </p:sp>
      <p:sp>
        <p:nvSpPr>
          <p:cNvPr id="11" name="Rectangle 10"/>
          <p:cNvSpPr/>
          <p:nvPr/>
        </p:nvSpPr>
        <p:spPr>
          <a:xfrm>
            <a:off x="1938528" y="950976"/>
            <a:ext cx="1586941" cy="603504"/>
          </a:xfrm>
          <a:prstGeom prst="rect">
            <a:avLst/>
          </a:prstGeom>
          <a:solidFill>
            <a:srgbClr val="062410"/>
          </a:solidFill>
          <a:ln w="1016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938528" y="987552"/>
            <a:ext cx="1586941" cy="585216"/>
          </a:xfrm>
          <a:prstGeom prst="rect">
            <a:avLst/>
          </a:prstGeom>
          <a:noFill/>
        </p:spPr>
        <p:txBody>
          <a:bodyPr wrap="square">
            <a:spAutoFit/>
          </a:bodyPr>
          <a:lstStyle/>
          <a:p>
            <a:pPr algn="ctr"/>
            <a:r>
              <a:rPr sz="800" b="1" i="0">
                <a:solidFill>
                  <a:srgbClr val="39FF14"/>
                </a:solidFill>
                <a:latin typeface="Calibri"/>
              </a:rPr>
              <a:t>Domain
shopvault.io</a:t>
            </a:r>
          </a:p>
        </p:txBody>
      </p:sp>
      <p:sp>
        <p:nvSpPr>
          <p:cNvPr id="13" name="Rectangle 12"/>
          <p:cNvSpPr/>
          <p:nvPr/>
        </p:nvSpPr>
        <p:spPr>
          <a:xfrm>
            <a:off x="3598621" y="950976"/>
            <a:ext cx="1586941" cy="603504"/>
          </a:xfrm>
          <a:prstGeom prst="rect">
            <a:avLst/>
          </a:prstGeom>
          <a:solidFill>
            <a:srgbClr val="062410"/>
          </a:solidFill>
          <a:ln w="1016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98621" y="987552"/>
            <a:ext cx="1586941" cy="585216"/>
          </a:xfrm>
          <a:prstGeom prst="rect">
            <a:avLst/>
          </a:prstGeom>
          <a:noFill/>
        </p:spPr>
        <p:txBody>
          <a:bodyPr wrap="square">
            <a:spAutoFit/>
          </a:bodyPr>
          <a:lstStyle/>
          <a:p>
            <a:pPr algn="ctr"/>
            <a:r>
              <a:rPr sz="800" b="1" i="0">
                <a:solidFill>
                  <a:srgbClr val="39FF14"/>
                </a:solidFill>
                <a:latin typeface="Calibri"/>
              </a:rPr>
              <a:t>→ Host
192.168.1.10</a:t>
            </a:r>
          </a:p>
        </p:txBody>
      </p:sp>
      <p:sp>
        <p:nvSpPr>
          <p:cNvPr id="15" name="Rectangle 14"/>
          <p:cNvSpPr/>
          <p:nvPr/>
        </p:nvSpPr>
        <p:spPr>
          <a:xfrm>
            <a:off x="5258714" y="950976"/>
            <a:ext cx="1586941" cy="603504"/>
          </a:xfrm>
          <a:prstGeom prst="rect">
            <a:avLst/>
          </a:prstGeom>
          <a:solidFill>
            <a:srgbClr val="062410"/>
          </a:solidFill>
          <a:ln w="1016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58714" y="987552"/>
            <a:ext cx="1586941" cy="585216"/>
          </a:xfrm>
          <a:prstGeom prst="rect">
            <a:avLst/>
          </a:prstGeom>
          <a:noFill/>
        </p:spPr>
        <p:txBody>
          <a:bodyPr wrap="square">
            <a:spAutoFit/>
          </a:bodyPr>
          <a:lstStyle/>
          <a:p>
            <a:pPr algn="ctr"/>
            <a:r>
              <a:rPr sz="800" b="1" i="0">
                <a:solidFill>
                  <a:srgbClr val="39FF14"/>
                </a:solidFill>
                <a:latin typeface="Calibri"/>
              </a:rPr>
              <a:t>→ Port
:443</a:t>
            </a:r>
          </a:p>
        </p:txBody>
      </p:sp>
      <p:sp>
        <p:nvSpPr>
          <p:cNvPr id="17" name="Rectangle 16"/>
          <p:cNvSpPr/>
          <p:nvPr/>
        </p:nvSpPr>
        <p:spPr>
          <a:xfrm>
            <a:off x="6918807" y="950976"/>
            <a:ext cx="1586941" cy="603504"/>
          </a:xfrm>
          <a:prstGeom prst="rect">
            <a:avLst/>
          </a:prstGeom>
          <a:solidFill>
            <a:srgbClr val="062410"/>
          </a:solidFill>
          <a:ln w="1016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18807" y="987552"/>
            <a:ext cx="1586941" cy="585216"/>
          </a:xfrm>
          <a:prstGeom prst="rect">
            <a:avLst/>
          </a:prstGeom>
          <a:noFill/>
        </p:spPr>
        <p:txBody>
          <a:bodyPr wrap="square">
            <a:spAutoFit/>
          </a:bodyPr>
          <a:lstStyle/>
          <a:p>
            <a:pPr algn="ctr"/>
            <a:r>
              <a:rPr sz="800" b="1" i="0">
                <a:solidFill>
                  <a:srgbClr val="39FF14"/>
                </a:solidFill>
                <a:latin typeface="Calibri"/>
              </a:rPr>
              <a:t>→ Service
Nginx 1.18.0</a:t>
            </a:r>
          </a:p>
        </p:txBody>
      </p:sp>
      <p:sp>
        <p:nvSpPr>
          <p:cNvPr id="19" name="Rectangle 18"/>
          <p:cNvSpPr/>
          <p:nvPr/>
        </p:nvSpPr>
        <p:spPr>
          <a:xfrm>
            <a:off x="8578900" y="950976"/>
            <a:ext cx="1586941" cy="603504"/>
          </a:xfrm>
          <a:prstGeom prst="rect">
            <a:avLst/>
          </a:prstGeom>
          <a:solidFill>
            <a:srgbClr val="062410"/>
          </a:solidFill>
          <a:ln w="1016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78900" y="987552"/>
            <a:ext cx="1586941" cy="585216"/>
          </a:xfrm>
          <a:prstGeom prst="rect">
            <a:avLst/>
          </a:prstGeom>
          <a:noFill/>
        </p:spPr>
        <p:txBody>
          <a:bodyPr wrap="square">
            <a:spAutoFit/>
          </a:bodyPr>
          <a:lstStyle/>
          <a:p>
            <a:pPr algn="ctr"/>
            <a:r>
              <a:rPr sz="800" b="1" i="0">
                <a:solidFill>
                  <a:srgbClr val="00E5FF"/>
                </a:solidFill>
                <a:latin typeface="Calibri"/>
              </a:rPr>
              <a:t>→ Technology
WordPress 5.9.3</a:t>
            </a:r>
          </a:p>
        </p:txBody>
      </p:sp>
      <p:sp>
        <p:nvSpPr>
          <p:cNvPr id="21" name="Rectangle 20"/>
          <p:cNvSpPr/>
          <p:nvPr/>
        </p:nvSpPr>
        <p:spPr>
          <a:xfrm>
            <a:off x="10238993" y="950976"/>
            <a:ext cx="1586941" cy="603504"/>
          </a:xfrm>
          <a:prstGeom prst="rect">
            <a:avLst/>
          </a:prstGeom>
          <a:solidFill>
            <a:srgbClr val="062410"/>
          </a:solidFill>
          <a:ln w="1016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38993" y="987552"/>
            <a:ext cx="1586941" cy="585216"/>
          </a:xfrm>
          <a:prstGeom prst="rect">
            <a:avLst/>
          </a:prstGeom>
          <a:noFill/>
        </p:spPr>
        <p:txBody>
          <a:bodyPr wrap="square">
            <a:spAutoFit/>
          </a:bodyPr>
          <a:lstStyle/>
          <a:p>
            <a:pPr algn="ctr"/>
            <a:r>
              <a:rPr sz="800" b="1" i="0">
                <a:solidFill>
                  <a:srgbClr val="FF4545"/>
                </a:solidFill>
                <a:latin typeface="Calibri"/>
              </a:rPr>
              <a:t>→ Vulnerability
CVE-2022-21661
CVSS 8.8</a:t>
            </a:r>
          </a:p>
        </p:txBody>
      </p:sp>
      <p:cxnSp>
        <p:nvCxnSpPr>
          <p:cNvPr id="23" name="Connector 22"/>
          <p:cNvCxnSpPr/>
          <p:nvPr/>
        </p:nvCxnSpPr>
        <p:spPr>
          <a:xfrm>
            <a:off x="6095847.5" y="1609344"/>
            <a:ext cx="0.0" cy="182880"/>
          </a:xfrm>
          <a:prstGeom prst="line">
            <a:avLst/>
          </a:prstGeom>
          <a:ln w="2032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168999" y="1627632"/>
            <a:ext cx="5029200" cy="182880"/>
          </a:xfrm>
          <a:prstGeom prst="rect">
            <a:avLst/>
          </a:prstGeom>
          <a:noFill/>
        </p:spPr>
        <p:txBody>
          <a:bodyPr wrap="square">
            <a:spAutoFit/>
          </a:bodyPr>
          <a:lstStyle/>
          <a:p>
            <a:pPr algn="l"/>
            <a:r>
              <a:rPr sz="800" b="0" i="1">
                <a:solidFill>
                  <a:srgbClr val="FFD700"/>
                </a:solidFill>
                <a:latin typeface="Calibri"/>
              </a:rPr>
              <a:t>starts_at: Vulnerability node → Commander seeds APG AttackChain</a:t>
            </a:r>
          </a:p>
        </p:txBody>
      </p:sp>
      <p:sp>
        <p:nvSpPr>
          <p:cNvPr id="25" name="Rectangle 24"/>
          <p:cNvSpPr/>
          <p:nvPr/>
        </p:nvSpPr>
        <p:spPr>
          <a:xfrm>
            <a:off x="201168" y="1865376"/>
            <a:ext cx="11789359" cy="4059936"/>
          </a:xfrm>
          <a:prstGeom prst="rect">
            <a:avLst/>
          </a:prstGeom>
          <a:solidFill>
            <a:srgbClr val="140C02"/>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01168" y="1865376"/>
            <a:ext cx="11789359" cy="25603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10896" y="1901952"/>
            <a:ext cx="11643055" cy="201168"/>
          </a:xfrm>
          <a:prstGeom prst="rect">
            <a:avLst/>
          </a:prstGeom>
          <a:noFill/>
        </p:spPr>
        <p:txBody>
          <a:bodyPr wrap="square">
            <a:spAutoFit/>
          </a:bodyPr>
          <a:lstStyle/>
          <a:p>
            <a:pPr algn="l"/>
            <a:r>
              <a:rPr sz="950" b="1" i="0">
                <a:solidFill>
                  <a:srgbClr val="0A0D1A"/>
                </a:solidFill>
                <a:latin typeface="Calibri"/>
              </a:rPr>
              <a:t>APG  ·  AttackChain: Chain-01  ·  status: VALIDATED  ·  risk_score: 9.1</a:t>
            </a:r>
          </a:p>
        </p:txBody>
      </p:sp>
      <p:sp>
        <p:nvSpPr>
          <p:cNvPr id="28" name="Rectangle 27"/>
          <p:cNvSpPr/>
          <p:nvPr/>
        </p:nvSpPr>
        <p:spPr>
          <a:xfrm>
            <a:off x="201168" y="2157984"/>
            <a:ext cx="2892475" cy="3730752"/>
          </a:xfrm>
          <a:prstGeom prst="rect">
            <a:avLst/>
          </a:prstGeom>
          <a:solidFill>
            <a:srgbClr val="1E1402"/>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01168" y="2157984"/>
            <a:ext cx="2892475" cy="21945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56032" y="2185416"/>
            <a:ext cx="2526715" cy="182880"/>
          </a:xfrm>
          <a:prstGeom prst="rect">
            <a:avLst/>
          </a:prstGeom>
          <a:noFill/>
        </p:spPr>
        <p:txBody>
          <a:bodyPr wrap="square">
            <a:spAutoFit/>
          </a:bodyPr>
          <a:lstStyle/>
          <a:p>
            <a:pPr algn="l"/>
            <a:r>
              <a:rPr sz="800" b="1" i="0">
                <a:solidFill>
                  <a:srgbClr val="0A0D1A"/>
                </a:solidFill>
                <a:latin typeface="Calibri"/>
              </a:rPr>
              <a:t>ChainStep 1
Recognise</a:t>
            </a:r>
          </a:p>
        </p:txBody>
      </p:sp>
      <p:sp>
        <p:nvSpPr>
          <p:cNvPr id="31" name="Rectangle 30"/>
          <p:cNvSpPr/>
          <p:nvPr/>
        </p:nvSpPr>
        <p:spPr>
          <a:xfrm>
            <a:off x="2096947" y="2176272"/>
            <a:ext cx="960120" cy="18288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096947" y="2185416"/>
            <a:ext cx="960120" cy="164592"/>
          </a:xfrm>
          <a:prstGeom prst="rect">
            <a:avLst/>
          </a:prstGeom>
          <a:noFill/>
        </p:spPr>
        <p:txBody>
          <a:bodyPr wrap="square">
            <a:spAutoFit/>
          </a:bodyPr>
          <a:lstStyle/>
          <a:p>
            <a:pPr algn="ctr"/>
            <a:r>
              <a:rPr sz="650" b="1" i="0">
                <a:solidFill>
                  <a:srgbClr val="0A0D1A"/>
                </a:solidFill>
                <a:latin typeface="Calibri"/>
              </a:rPr>
              <a:t>VALIDATED</a:t>
            </a:r>
          </a:p>
        </p:txBody>
      </p:sp>
      <p:sp>
        <p:nvSpPr>
          <p:cNvPr id="33" name="TextBox 32"/>
          <p:cNvSpPr txBox="1"/>
          <p:nvPr/>
        </p:nvSpPr>
        <p:spPr>
          <a:xfrm>
            <a:off x="292608" y="2432304"/>
            <a:ext cx="2746171" cy="502920"/>
          </a:xfrm>
          <a:prstGeom prst="rect">
            <a:avLst/>
          </a:prstGeom>
          <a:noFill/>
        </p:spPr>
        <p:txBody>
          <a:bodyPr wrap="square">
            <a:spAutoFit/>
          </a:bodyPr>
          <a:lstStyle/>
          <a:p>
            <a:pPr algn="l"/>
            <a:r>
              <a:rPr sz="850" b="0" i="0">
                <a:solidFill>
                  <a:srgbClr val="A0AAB8"/>
                </a:solidFill>
                <a:latin typeface="Calibri"/>
              </a:rPr>
              <a:t>SQLMap → WP_Query SQLi confirmed
Parameter: /?s= | Backend: MySQL 8.0</a:t>
            </a:r>
          </a:p>
        </p:txBody>
      </p:sp>
      <p:sp>
        <p:nvSpPr>
          <p:cNvPr id="34" name="Rectangle 33"/>
          <p:cNvSpPr/>
          <p:nvPr/>
        </p:nvSpPr>
        <p:spPr>
          <a:xfrm>
            <a:off x="274320" y="5230368"/>
            <a:ext cx="2764459" cy="603504"/>
          </a:xfrm>
          <a:prstGeom prst="rect">
            <a:avLst/>
          </a:prstGeom>
          <a:solidFill>
            <a:srgbClr val="10061E"/>
          </a:solidFill>
          <a:ln w="762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9184" y="5248656"/>
            <a:ext cx="2691307" cy="566928"/>
          </a:xfrm>
          <a:prstGeom prst="rect">
            <a:avLst/>
          </a:prstGeom>
          <a:noFill/>
        </p:spPr>
        <p:txBody>
          <a:bodyPr wrap="square">
            <a:spAutoFit/>
          </a:bodyPr>
          <a:lstStyle/>
          <a:p>
            <a:pPr algn="l"/>
            <a:r>
              <a:rPr sz="800" b="0" i="0">
                <a:solidFill>
                  <a:srgbClr val="BD93F9"/>
                </a:solidFill>
                <a:latin typeface="Calibri"/>
              </a:rPr>
              <a:t>Evidence
screenshot_sqli_01.png
ASG Evidence node</a:t>
            </a:r>
          </a:p>
        </p:txBody>
      </p:sp>
      <p:sp>
        <p:nvSpPr>
          <p:cNvPr id="36" name="TextBox 35"/>
          <p:cNvSpPr txBox="1"/>
          <p:nvPr/>
        </p:nvSpPr>
        <p:spPr>
          <a:xfrm>
            <a:off x="3038779" y="5266944"/>
            <a:ext cx="804672" cy="329184"/>
          </a:xfrm>
          <a:prstGeom prst="rect">
            <a:avLst/>
          </a:prstGeom>
          <a:noFill/>
        </p:spPr>
        <p:txBody>
          <a:bodyPr wrap="square">
            <a:spAutoFit/>
          </a:bodyPr>
          <a:lstStyle/>
          <a:p>
            <a:pPr algn="r"/>
            <a:r>
              <a:rPr sz="650" b="0" i="1">
                <a:solidFill>
                  <a:srgbClr val="BD93F9"/>
                </a:solidFill>
                <a:latin typeface="Calibri"/>
              </a:rPr>
              <a:t>↗ supported_by
ASG Evidence</a:t>
            </a:r>
          </a:p>
        </p:txBody>
      </p:sp>
      <p:cxnSp>
        <p:nvCxnSpPr>
          <p:cNvPr id="37" name="Connector 36"/>
          <p:cNvCxnSpPr/>
          <p:nvPr/>
        </p:nvCxnSpPr>
        <p:spPr>
          <a:xfrm>
            <a:off x="3093643.75" y="4023360.0"/>
            <a:ext cx="54864.0" cy="0.0"/>
          </a:xfrm>
          <a:prstGeom prst="line">
            <a:avLst/>
          </a:prstGeom>
          <a:ln w="1778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3111931" y="3877056"/>
            <a:ext cx="640080" cy="128016"/>
          </a:xfrm>
          <a:prstGeom prst="rect">
            <a:avLst/>
          </a:prstGeom>
          <a:noFill/>
        </p:spPr>
        <p:txBody>
          <a:bodyPr wrap="square">
            <a:spAutoFit/>
          </a:bodyPr>
          <a:lstStyle/>
          <a:p>
            <a:pPr algn="ctr"/>
            <a:r>
              <a:rPr sz="650" b="0" i="1">
                <a:solidFill>
                  <a:srgbClr val="A0AAB8"/>
                </a:solidFill>
                <a:latin typeface="Calibri"/>
              </a:rPr>
              <a:t>next_step</a:t>
            </a:r>
          </a:p>
        </p:txBody>
      </p:sp>
      <p:sp>
        <p:nvSpPr>
          <p:cNvPr id="39" name="Rectangle 38"/>
          <p:cNvSpPr/>
          <p:nvPr/>
        </p:nvSpPr>
        <p:spPr>
          <a:xfrm>
            <a:off x="3148507" y="2157984"/>
            <a:ext cx="2892475" cy="3730752"/>
          </a:xfrm>
          <a:prstGeom prst="rect">
            <a:avLst/>
          </a:prstGeom>
          <a:solidFill>
            <a:srgbClr val="1E1402"/>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148507" y="2157984"/>
            <a:ext cx="2892475" cy="21945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03371" y="2185416"/>
            <a:ext cx="2526715" cy="182880"/>
          </a:xfrm>
          <a:prstGeom prst="rect">
            <a:avLst/>
          </a:prstGeom>
          <a:noFill/>
        </p:spPr>
        <p:txBody>
          <a:bodyPr wrap="square">
            <a:spAutoFit/>
          </a:bodyPr>
          <a:lstStyle/>
          <a:p>
            <a:pPr algn="l"/>
            <a:r>
              <a:rPr sz="800" b="1" i="0">
                <a:solidFill>
                  <a:srgbClr val="0A0D1A"/>
                </a:solidFill>
                <a:latin typeface="Calibri"/>
              </a:rPr>
              <a:t>ChainStep 2
Escalate</a:t>
            </a:r>
          </a:p>
        </p:txBody>
      </p:sp>
      <p:sp>
        <p:nvSpPr>
          <p:cNvPr id="42" name="Rectangle 41"/>
          <p:cNvSpPr/>
          <p:nvPr/>
        </p:nvSpPr>
        <p:spPr>
          <a:xfrm>
            <a:off x="5044287" y="2176272"/>
            <a:ext cx="960120" cy="18288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44287" y="2185416"/>
            <a:ext cx="960120" cy="164592"/>
          </a:xfrm>
          <a:prstGeom prst="rect">
            <a:avLst/>
          </a:prstGeom>
          <a:noFill/>
        </p:spPr>
        <p:txBody>
          <a:bodyPr wrap="square">
            <a:spAutoFit/>
          </a:bodyPr>
          <a:lstStyle/>
          <a:p>
            <a:pPr algn="ctr"/>
            <a:r>
              <a:rPr sz="650" b="1" i="0">
                <a:solidFill>
                  <a:srgbClr val="0A0D1A"/>
                </a:solidFill>
                <a:latin typeface="Calibri"/>
              </a:rPr>
              <a:t>VALIDATED</a:t>
            </a:r>
          </a:p>
        </p:txBody>
      </p:sp>
      <p:sp>
        <p:nvSpPr>
          <p:cNvPr id="44" name="TextBox 43"/>
          <p:cNvSpPr txBox="1"/>
          <p:nvPr/>
        </p:nvSpPr>
        <p:spPr>
          <a:xfrm>
            <a:off x="3239947" y="2432304"/>
            <a:ext cx="2746171" cy="502920"/>
          </a:xfrm>
          <a:prstGeom prst="rect">
            <a:avLst/>
          </a:prstGeom>
          <a:noFill/>
        </p:spPr>
        <p:txBody>
          <a:bodyPr wrap="square">
            <a:spAutoFit/>
          </a:bodyPr>
          <a:lstStyle/>
          <a:p>
            <a:pPr algn="l"/>
            <a:r>
              <a:rPr sz="850" b="0" i="0">
                <a:solidFill>
                  <a:srgbClr val="A0AAB8"/>
                </a:solidFill>
                <a:latin typeface="Calibri"/>
              </a:rPr>
              <a:t>Admin password hash extracted
Cracked offline (MD5) → admin:Welcome1!</a:t>
            </a:r>
          </a:p>
        </p:txBody>
      </p:sp>
      <p:sp>
        <p:nvSpPr>
          <p:cNvPr id="45" name="Rectangle 44"/>
          <p:cNvSpPr/>
          <p:nvPr/>
        </p:nvSpPr>
        <p:spPr>
          <a:xfrm>
            <a:off x="3221659" y="5230368"/>
            <a:ext cx="2764459" cy="603504"/>
          </a:xfrm>
          <a:prstGeom prst="rect">
            <a:avLst/>
          </a:prstGeom>
          <a:solidFill>
            <a:srgbClr val="10061E"/>
          </a:solidFill>
          <a:ln w="762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276523" y="5248656"/>
            <a:ext cx="2691307" cy="566928"/>
          </a:xfrm>
          <a:prstGeom prst="rect">
            <a:avLst/>
          </a:prstGeom>
          <a:noFill/>
        </p:spPr>
        <p:txBody>
          <a:bodyPr wrap="square">
            <a:spAutoFit/>
          </a:bodyPr>
          <a:lstStyle/>
          <a:p>
            <a:pPr algn="l"/>
            <a:r>
              <a:rPr sz="800" b="0" i="0">
                <a:solidFill>
                  <a:srgbClr val="BD93F9"/>
                </a:solidFill>
                <a:latin typeface="Calibri"/>
              </a:rPr>
              <a:t>Evidence
hash_dump.txt
ASG Evidence node</a:t>
            </a:r>
          </a:p>
        </p:txBody>
      </p:sp>
      <p:sp>
        <p:nvSpPr>
          <p:cNvPr id="47" name="TextBox 46"/>
          <p:cNvSpPr txBox="1"/>
          <p:nvPr/>
        </p:nvSpPr>
        <p:spPr>
          <a:xfrm>
            <a:off x="5986119" y="5266944"/>
            <a:ext cx="804672" cy="329184"/>
          </a:xfrm>
          <a:prstGeom prst="rect">
            <a:avLst/>
          </a:prstGeom>
          <a:noFill/>
        </p:spPr>
        <p:txBody>
          <a:bodyPr wrap="square">
            <a:spAutoFit/>
          </a:bodyPr>
          <a:lstStyle/>
          <a:p>
            <a:pPr algn="r"/>
            <a:r>
              <a:rPr sz="650" b="0" i="1">
                <a:solidFill>
                  <a:srgbClr val="BD93F9"/>
                </a:solidFill>
                <a:latin typeface="Calibri"/>
              </a:rPr>
              <a:t>↗ supported_by
ASG Evidence</a:t>
            </a:r>
          </a:p>
        </p:txBody>
      </p:sp>
      <p:cxnSp>
        <p:nvCxnSpPr>
          <p:cNvPr id="48" name="Connector 47"/>
          <p:cNvCxnSpPr/>
          <p:nvPr/>
        </p:nvCxnSpPr>
        <p:spPr>
          <a:xfrm>
            <a:off x="6040983.5" y="4023360.0"/>
            <a:ext cx="54864.0" cy="0.0"/>
          </a:xfrm>
          <a:prstGeom prst="line">
            <a:avLst/>
          </a:prstGeom>
          <a:ln w="17780">
            <a:solidFill>
              <a:srgbClr val="FFD700"/>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6059271" y="3877056"/>
            <a:ext cx="640080" cy="128016"/>
          </a:xfrm>
          <a:prstGeom prst="rect">
            <a:avLst/>
          </a:prstGeom>
          <a:noFill/>
        </p:spPr>
        <p:txBody>
          <a:bodyPr wrap="square">
            <a:spAutoFit/>
          </a:bodyPr>
          <a:lstStyle/>
          <a:p>
            <a:pPr algn="ctr"/>
            <a:r>
              <a:rPr sz="650" b="0" i="1">
                <a:solidFill>
                  <a:srgbClr val="A0AAB8"/>
                </a:solidFill>
                <a:latin typeface="Calibri"/>
              </a:rPr>
              <a:t>next_step</a:t>
            </a:r>
          </a:p>
        </p:txBody>
      </p:sp>
      <p:sp>
        <p:nvSpPr>
          <p:cNvPr id="50" name="Rectangle 49"/>
          <p:cNvSpPr/>
          <p:nvPr/>
        </p:nvSpPr>
        <p:spPr>
          <a:xfrm>
            <a:off x="6095847" y="2157984"/>
            <a:ext cx="2892475" cy="3730752"/>
          </a:xfrm>
          <a:prstGeom prst="rect">
            <a:avLst/>
          </a:prstGeom>
          <a:solidFill>
            <a:srgbClr val="1E1402"/>
          </a:solidFill>
          <a:ln w="177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095847" y="2157984"/>
            <a:ext cx="2892475" cy="219456"/>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150711" y="2185416"/>
            <a:ext cx="2526715" cy="182880"/>
          </a:xfrm>
          <a:prstGeom prst="rect">
            <a:avLst/>
          </a:prstGeom>
          <a:noFill/>
        </p:spPr>
        <p:txBody>
          <a:bodyPr wrap="square">
            <a:spAutoFit/>
          </a:bodyPr>
          <a:lstStyle/>
          <a:p>
            <a:pPr algn="l"/>
            <a:r>
              <a:rPr sz="800" b="1" i="0">
                <a:solidFill>
                  <a:srgbClr val="0A0D1A"/>
                </a:solidFill>
                <a:latin typeface="Calibri"/>
              </a:rPr>
              <a:t>ChainStep 3
Exploit</a:t>
            </a:r>
          </a:p>
        </p:txBody>
      </p:sp>
      <p:sp>
        <p:nvSpPr>
          <p:cNvPr id="53" name="Rectangle 52"/>
          <p:cNvSpPr/>
          <p:nvPr/>
        </p:nvSpPr>
        <p:spPr>
          <a:xfrm>
            <a:off x="7991627" y="2176272"/>
            <a:ext cx="960120" cy="182880"/>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991627" y="2185416"/>
            <a:ext cx="960120" cy="164592"/>
          </a:xfrm>
          <a:prstGeom prst="rect">
            <a:avLst/>
          </a:prstGeom>
          <a:noFill/>
        </p:spPr>
        <p:txBody>
          <a:bodyPr wrap="square">
            <a:spAutoFit/>
          </a:bodyPr>
          <a:lstStyle/>
          <a:p>
            <a:pPr algn="ctr"/>
            <a:r>
              <a:rPr sz="650" b="1" i="0">
                <a:solidFill>
                  <a:srgbClr val="0A0D1A"/>
                </a:solidFill>
                <a:latin typeface="Calibri"/>
              </a:rPr>
              <a:t>VALIDATED</a:t>
            </a:r>
          </a:p>
        </p:txBody>
      </p:sp>
      <p:sp>
        <p:nvSpPr>
          <p:cNvPr id="55" name="TextBox 54"/>
          <p:cNvSpPr txBox="1"/>
          <p:nvPr/>
        </p:nvSpPr>
        <p:spPr>
          <a:xfrm>
            <a:off x="6187287" y="2432304"/>
            <a:ext cx="2746171" cy="502920"/>
          </a:xfrm>
          <a:prstGeom prst="rect">
            <a:avLst/>
          </a:prstGeom>
          <a:noFill/>
        </p:spPr>
        <p:txBody>
          <a:bodyPr wrap="square">
            <a:spAutoFit/>
          </a:bodyPr>
          <a:lstStyle/>
          <a:p>
            <a:pPr algn="l"/>
            <a:r>
              <a:rPr sz="850" b="0" i="0">
                <a:solidFill>
                  <a:srgbClr val="A0AAB8"/>
                </a:solidFill>
                <a:latin typeface="Calibri"/>
              </a:rPr>
              <a:t>Metasploit WP-Admin upload → shell
RCE confirmed on production host</a:t>
            </a:r>
          </a:p>
        </p:txBody>
      </p:sp>
      <p:sp>
        <p:nvSpPr>
          <p:cNvPr id="56" name="Rectangle 55"/>
          <p:cNvSpPr/>
          <p:nvPr/>
        </p:nvSpPr>
        <p:spPr>
          <a:xfrm>
            <a:off x="6168999" y="5230368"/>
            <a:ext cx="2764459" cy="603504"/>
          </a:xfrm>
          <a:prstGeom prst="rect">
            <a:avLst/>
          </a:prstGeom>
          <a:solidFill>
            <a:srgbClr val="10061E"/>
          </a:solidFill>
          <a:ln w="762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223863" y="5248656"/>
            <a:ext cx="2691307" cy="566928"/>
          </a:xfrm>
          <a:prstGeom prst="rect">
            <a:avLst/>
          </a:prstGeom>
          <a:noFill/>
        </p:spPr>
        <p:txBody>
          <a:bodyPr wrap="square">
            <a:spAutoFit/>
          </a:bodyPr>
          <a:lstStyle/>
          <a:p>
            <a:pPr algn="l"/>
            <a:r>
              <a:rPr sz="800" b="0" i="0">
                <a:solidFill>
                  <a:srgbClr val="BD93F9"/>
                </a:solidFill>
                <a:latin typeface="Calibri"/>
              </a:rPr>
              <a:t>Evidence
shell_access.png
ASG Evidence node</a:t>
            </a:r>
          </a:p>
        </p:txBody>
      </p:sp>
      <p:sp>
        <p:nvSpPr>
          <p:cNvPr id="58" name="TextBox 57"/>
          <p:cNvSpPr txBox="1"/>
          <p:nvPr/>
        </p:nvSpPr>
        <p:spPr>
          <a:xfrm>
            <a:off x="8933459" y="5266944"/>
            <a:ext cx="804672" cy="329184"/>
          </a:xfrm>
          <a:prstGeom prst="rect">
            <a:avLst/>
          </a:prstGeom>
          <a:noFill/>
        </p:spPr>
        <p:txBody>
          <a:bodyPr wrap="square">
            <a:spAutoFit/>
          </a:bodyPr>
          <a:lstStyle/>
          <a:p>
            <a:pPr algn="r"/>
            <a:r>
              <a:rPr sz="650" b="0" i="1">
                <a:solidFill>
                  <a:srgbClr val="BD93F9"/>
                </a:solidFill>
                <a:latin typeface="Calibri"/>
              </a:rPr>
              <a:t>↗ supported_by
ASG Evidence</a:t>
            </a:r>
          </a:p>
        </p:txBody>
      </p:sp>
      <p:cxnSp>
        <p:nvCxnSpPr>
          <p:cNvPr id="59" name="Connector 58"/>
          <p:cNvCxnSpPr/>
          <p:nvPr/>
        </p:nvCxnSpPr>
        <p:spPr>
          <a:xfrm>
            <a:off x="8988323.25" y="4023360.0"/>
            <a:ext cx="54864.0" cy="0.0"/>
          </a:xfrm>
          <a:prstGeom prst="line">
            <a:avLst/>
          </a:prstGeom>
          <a:ln w="17780">
            <a:solidFill>
              <a:srgbClr val="FF4545"/>
            </a:solidFill>
            <a:headEnd type="arrow" w="med" len="med"/>
            <a:tailEnd type="none"/>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9006611" y="3877056"/>
            <a:ext cx="640080" cy="128016"/>
          </a:xfrm>
          <a:prstGeom prst="rect">
            <a:avLst/>
          </a:prstGeom>
          <a:noFill/>
        </p:spPr>
        <p:txBody>
          <a:bodyPr wrap="square">
            <a:spAutoFit/>
          </a:bodyPr>
          <a:lstStyle/>
          <a:p>
            <a:pPr algn="ctr"/>
            <a:r>
              <a:rPr sz="650" b="0" i="1">
                <a:solidFill>
                  <a:srgbClr val="A0AAB8"/>
                </a:solidFill>
                <a:latin typeface="Calibri"/>
              </a:rPr>
              <a:t>next_step</a:t>
            </a:r>
          </a:p>
        </p:txBody>
      </p:sp>
      <p:sp>
        <p:nvSpPr>
          <p:cNvPr id="61" name="Rectangle 60"/>
          <p:cNvSpPr/>
          <p:nvPr/>
        </p:nvSpPr>
        <p:spPr>
          <a:xfrm>
            <a:off x="9043187" y="2157984"/>
            <a:ext cx="2892475" cy="3730752"/>
          </a:xfrm>
          <a:prstGeom prst="rect">
            <a:avLst/>
          </a:prstGeom>
          <a:solidFill>
            <a:srgbClr val="1E1402"/>
          </a:solidFill>
          <a:ln w="177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043187" y="2157984"/>
            <a:ext cx="2892475" cy="219456"/>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098051" y="2185416"/>
            <a:ext cx="2526715" cy="182880"/>
          </a:xfrm>
          <a:prstGeom prst="rect">
            <a:avLst/>
          </a:prstGeom>
          <a:noFill/>
        </p:spPr>
        <p:txBody>
          <a:bodyPr wrap="square">
            <a:spAutoFit/>
          </a:bodyPr>
          <a:lstStyle/>
          <a:p>
            <a:pPr algn="l"/>
            <a:r>
              <a:rPr sz="800" b="1" i="0">
                <a:solidFill>
                  <a:srgbClr val="0A0D1A"/>
                </a:solidFill>
                <a:latin typeface="Calibri"/>
              </a:rPr>
              <a:t>Impact
Demonstrated</a:t>
            </a:r>
          </a:p>
        </p:txBody>
      </p:sp>
      <p:sp>
        <p:nvSpPr>
          <p:cNvPr id="64" name="Rectangle 63"/>
          <p:cNvSpPr/>
          <p:nvPr/>
        </p:nvSpPr>
        <p:spPr>
          <a:xfrm>
            <a:off x="10938967" y="2176272"/>
            <a:ext cx="960120" cy="182880"/>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938967" y="2185416"/>
            <a:ext cx="960120" cy="164592"/>
          </a:xfrm>
          <a:prstGeom prst="rect">
            <a:avLst/>
          </a:prstGeom>
          <a:noFill/>
        </p:spPr>
        <p:txBody>
          <a:bodyPr wrap="square">
            <a:spAutoFit/>
          </a:bodyPr>
          <a:lstStyle/>
          <a:p>
            <a:pPr algn="ctr"/>
            <a:r>
              <a:rPr sz="650" b="1" i="0">
                <a:solidFill>
                  <a:srgbClr val="0A0D1A"/>
                </a:solidFill>
                <a:latin typeface="Calibri"/>
              </a:rPr>
              <a:t>DEMONSTRATED</a:t>
            </a:r>
          </a:p>
        </p:txBody>
      </p:sp>
      <p:sp>
        <p:nvSpPr>
          <p:cNvPr id="66" name="TextBox 65"/>
          <p:cNvSpPr txBox="1"/>
          <p:nvPr/>
        </p:nvSpPr>
        <p:spPr>
          <a:xfrm>
            <a:off x="9134627" y="2432304"/>
            <a:ext cx="2746171" cy="502920"/>
          </a:xfrm>
          <a:prstGeom prst="rect">
            <a:avLst/>
          </a:prstGeom>
          <a:noFill/>
        </p:spPr>
        <p:txBody>
          <a:bodyPr wrap="square">
            <a:spAutoFit/>
          </a:bodyPr>
          <a:lstStyle/>
          <a:p>
            <a:pPr algn="l"/>
            <a:r>
              <a:rPr sz="850" b="0" i="0">
                <a:solidFill>
                  <a:srgbClr val="A0AAB8"/>
                </a:solidFill>
                <a:latin typeface="Calibri"/>
              </a:rPr>
              <a:t>Full server access
Customer PII: 14,000 records accessible</a:t>
            </a:r>
          </a:p>
        </p:txBody>
      </p:sp>
      <p:sp>
        <p:nvSpPr>
          <p:cNvPr id="67" name="Rectangle 66"/>
          <p:cNvSpPr/>
          <p:nvPr/>
        </p:nvSpPr>
        <p:spPr>
          <a:xfrm>
            <a:off x="9116339" y="5230368"/>
            <a:ext cx="2764459" cy="603504"/>
          </a:xfrm>
          <a:prstGeom prst="rect">
            <a:avLst/>
          </a:prstGeom>
          <a:solidFill>
            <a:srgbClr val="10061E"/>
          </a:solidFill>
          <a:ln w="762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171203" y="5248656"/>
            <a:ext cx="2691307" cy="566928"/>
          </a:xfrm>
          <a:prstGeom prst="rect">
            <a:avLst/>
          </a:prstGeom>
          <a:noFill/>
        </p:spPr>
        <p:txBody>
          <a:bodyPr wrap="square">
            <a:spAutoFit/>
          </a:bodyPr>
          <a:lstStyle/>
          <a:p>
            <a:pPr algn="l"/>
            <a:r>
              <a:rPr sz="800" b="0" i="0">
                <a:solidFill>
                  <a:srgbClr val="BD93F9"/>
                </a:solidFill>
                <a:latin typeface="Calibri"/>
              </a:rPr>
              <a:t>Evidence
pii_sample.json
ASG Evidence node</a:t>
            </a:r>
          </a:p>
        </p:txBody>
      </p:sp>
      <p:sp>
        <p:nvSpPr>
          <p:cNvPr id="69" name="TextBox 68"/>
          <p:cNvSpPr txBox="1"/>
          <p:nvPr/>
        </p:nvSpPr>
        <p:spPr>
          <a:xfrm>
            <a:off x="11880799" y="5266944"/>
            <a:ext cx="804672" cy="329184"/>
          </a:xfrm>
          <a:prstGeom prst="rect">
            <a:avLst/>
          </a:prstGeom>
          <a:noFill/>
        </p:spPr>
        <p:txBody>
          <a:bodyPr wrap="square">
            <a:spAutoFit/>
          </a:bodyPr>
          <a:lstStyle/>
          <a:p>
            <a:pPr algn="r"/>
            <a:r>
              <a:rPr sz="650" b="0" i="1">
                <a:solidFill>
                  <a:srgbClr val="BD93F9"/>
                </a:solidFill>
                <a:latin typeface="Calibri"/>
              </a:rPr>
              <a:t>↗ supported_by
ASG Evidence</a:t>
            </a:r>
          </a:p>
        </p:txBody>
      </p:sp>
      <p:sp>
        <p:nvSpPr>
          <p:cNvPr id="70" name="Rectangle 69"/>
          <p:cNvSpPr/>
          <p:nvPr/>
        </p:nvSpPr>
        <p:spPr>
          <a:xfrm>
            <a:off x="201168" y="6345936"/>
            <a:ext cx="11789359" cy="347472"/>
          </a:xfrm>
          <a:prstGeom prst="rect">
            <a:avLst/>
          </a:prstGeom>
          <a:solidFill>
            <a:srgbClr val="060E20"/>
          </a:solidFill>
          <a:ln w="1270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65760" y="6382512"/>
            <a:ext cx="11551615" cy="274320"/>
          </a:xfrm>
          <a:prstGeom prst="rect">
            <a:avLst/>
          </a:prstGeom>
          <a:noFill/>
        </p:spPr>
        <p:txBody>
          <a:bodyPr wrap="square">
            <a:spAutoFit/>
          </a:bodyPr>
          <a:lstStyle/>
          <a:p>
            <a:pPr algn="l"/>
            <a:r>
              <a:rPr sz="900" b="0" i="1">
                <a:solidFill>
                  <a:srgbClr val="00E5FF"/>
                </a:solidFill>
                <a:latin typeface="Calibri"/>
              </a:rPr>
              <a:t>Every step fully traceable: ASG Vulnerability → APG AttackChain → ChainSteps → ASG Evidence nodes.  Report Agent reads both graphs and outputs an evidence-backed narrative without human intervention.</a:t>
            </a:r>
          </a:p>
        </p:txBody>
      </p:sp>
      <p:sp>
        <p:nvSpPr>
          <p:cNvPr id="72" name="TextBox 71"/>
          <p:cNvSpPr txBox="1"/>
          <p:nvPr/>
        </p:nvSpPr>
        <p:spPr>
          <a:xfrm>
            <a:off x="11780215" y="6355080"/>
            <a:ext cx="384048" cy="411480"/>
          </a:xfrm>
          <a:prstGeom prst="rect">
            <a:avLst/>
          </a:prstGeom>
          <a:noFill/>
        </p:spPr>
        <p:txBody>
          <a:bodyPr wrap="square">
            <a:spAutoFit/>
          </a:bodyPr>
          <a:lstStyle/>
          <a:p>
            <a:pPr algn="r"/>
            <a:r>
              <a:rPr sz="1300" b="1" i="0">
                <a:solidFill>
                  <a:srgbClr val="FF4545"/>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7315200" cy="237744"/>
          </a:xfrm>
          <a:prstGeom prst="rect">
            <a:avLst/>
          </a:prstGeom>
          <a:noFill/>
        </p:spPr>
        <p:txBody>
          <a:bodyPr wrap="square">
            <a:spAutoFit/>
          </a:bodyPr>
          <a:lstStyle/>
          <a:p>
            <a:pPr algn="l"/>
            <a:r>
              <a:rPr sz="1000" b="1" i="0">
                <a:solidFill>
                  <a:srgbClr val="FFD700"/>
                </a:solidFill>
                <a:latin typeface="Calibri"/>
              </a:rPr>
              <a:t>NOVEL CONTRIBUTION</a:t>
            </a:r>
          </a:p>
        </p:txBody>
      </p:sp>
      <p:sp>
        <p:nvSpPr>
          <p:cNvPr id="6" name="TextBox 5"/>
          <p:cNvSpPr txBox="1"/>
          <p:nvPr/>
        </p:nvSpPr>
        <p:spPr>
          <a:xfrm>
            <a:off x="274320" y="292608"/>
            <a:ext cx="11430000" cy="475488"/>
          </a:xfrm>
          <a:prstGeom prst="rect">
            <a:avLst/>
          </a:prstGeom>
          <a:noFill/>
        </p:spPr>
        <p:txBody>
          <a:bodyPr wrap="square">
            <a:spAutoFit/>
          </a:bodyPr>
          <a:lstStyle/>
          <a:p>
            <a:pPr algn="l"/>
            <a:r>
              <a:rPr sz="3200" b="1" i="0">
                <a:solidFill>
                  <a:srgbClr val="FFFFFF"/>
                </a:solidFill>
                <a:latin typeface="Calibri"/>
              </a:rPr>
              <a:t>What Makes CMatrix a Research Contribution</a:t>
            </a:r>
          </a:p>
        </p:txBody>
      </p:sp>
      <p:sp>
        <p:nvSpPr>
          <p:cNvPr id="7" name="Rectangle 6"/>
          <p:cNvSpPr/>
          <p:nvPr/>
        </p:nvSpPr>
        <p:spPr>
          <a:xfrm>
            <a:off x="274320" y="1097280"/>
            <a:ext cx="11643055" cy="512064"/>
          </a:xfrm>
          <a:prstGeom prst="rect">
            <a:avLst/>
          </a:prstGeom>
          <a:solidFill>
            <a:srgbClr val="121002"/>
          </a:solidFill>
          <a:ln w="190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170432"/>
            <a:ext cx="11277295" cy="402336"/>
          </a:xfrm>
          <a:prstGeom prst="rect">
            <a:avLst/>
          </a:prstGeom>
          <a:noFill/>
        </p:spPr>
        <p:txBody>
          <a:bodyPr wrap="square">
            <a:spAutoFit/>
          </a:bodyPr>
          <a:lstStyle/>
          <a:p>
            <a:pPr algn="l"/>
            <a:r>
              <a:rPr sz="1300" b="0" i="1">
                <a:solidFill>
                  <a:srgbClr val="FFD700"/>
                </a:solidFill>
                <a:latin typeface="Calibri"/>
              </a:rPr>
              <a:t>First autonomous VAPT system to maintain two strictly separated, continuously evolving graph structures - one for discovered reality, one for inferred attack opportunity.</a:t>
            </a:r>
          </a:p>
        </p:txBody>
      </p:sp>
      <p:sp>
        <p:nvSpPr>
          <p:cNvPr id="9" name="Rectangle 8"/>
          <p:cNvSpPr/>
          <p:nvPr/>
        </p:nvSpPr>
        <p:spPr>
          <a:xfrm>
            <a:off x="274320" y="1783080"/>
            <a:ext cx="3794760" cy="11430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1783080"/>
            <a:ext cx="502920" cy="32918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 y="1801368"/>
            <a:ext cx="475488" cy="292608"/>
          </a:xfrm>
          <a:prstGeom prst="rect">
            <a:avLst/>
          </a:prstGeom>
          <a:noFill/>
        </p:spPr>
        <p:txBody>
          <a:bodyPr wrap="square">
            <a:spAutoFit/>
          </a:bodyPr>
          <a:lstStyle/>
          <a:p>
            <a:pPr algn="ctr"/>
            <a:r>
              <a:rPr sz="1100" b="1" i="0">
                <a:solidFill>
                  <a:srgbClr val="0A0D1A"/>
                </a:solidFill>
                <a:latin typeface="Calibri"/>
              </a:rPr>
              <a:t>C1</a:t>
            </a:r>
          </a:p>
        </p:txBody>
      </p:sp>
      <p:sp>
        <p:nvSpPr>
          <p:cNvPr id="12" name="TextBox 11"/>
          <p:cNvSpPr txBox="1"/>
          <p:nvPr/>
        </p:nvSpPr>
        <p:spPr>
          <a:xfrm>
            <a:off x="841248" y="1819656"/>
            <a:ext cx="3154680" cy="292608"/>
          </a:xfrm>
          <a:prstGeom prst="rect">
            <a:avLst/>
          </a:prstGeom>
          <a:noFill/>
        </p:spPr>
        <p:txBody>
          <a:bodyPr wrap="square">
            <a:spAutoFit/>
          </a:bodyPr>
          <a:lstStyle/>
          <a:p>
            <a:pPr algn="l"/>
            <a:r>
              <a:rPr sz="1200" b="1" i="0">
                <a:solidFill>
                  <a:srgbClr val="FFFFFF"/>
                </a:solidFill>
                <a:latin typeface="Calibri"/>
              </a:rPr>
              <a:t>Dual-Graph World Model</a:t>
            </a:r>
          </a:p>
        </p:txBody>
      </p:sp>
      <p:sp>
        <p:nvSpPr>
          <p:cNvPr id="13" name="TextBox 12"/>
          <p:cNvSpPr txBox="1"/>
          <p:nvPr/>
        </p:nvSpPr>
        <p:spPr>
          <a:xfrm>
            <a:off x="384048" y="2167128"/>
            <a:ext cx="3611880" cy="685800"/>
          </a:xfrm>
          <a:prstGeom prst="rect">
            <a:avLst/>
          </a:prstGeom>
          <a:noFill/>
        </p:spPr>
        <p:txBody>
          <a:bodyPr wrap="square">
            <a:spAutoFit/>
          </a:bodyPr>
          <a:lstStyle/>
          <a:p>
            <a:pPr algn="l"/>
            <a:r>
              <a:rPr sz="1050" b="0" i="0">
                <a:solidFill>
                  <a:srgbClr val="A0AAB8"/>
                </a:solidFill>
                <a:latin typeface="Calibri"/>
              </a:rPr>
              <a:t>ASG (discovered reality) &amp; APG (inferred opportunity) are strictly separated with enforced write ownership.</a:t>
            </a:r>
          </a:p>
        </p:txBody>
      </p:sp>
      <p:sp>
        <p:nvSpPr>
          <p:cNvPr id="14" name="Rectangle 13"/>
          <p:cNvSpPr/>
          <p:nvPr/>
        </p:nvSpPr>
        <p:spPr>
          <a:xfrm>
            <a:off x="4187952" y="1783080"/>
            <a:ext cx="3794760" cy="11430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87952" y="1783080"/>
            <a:ext cx="502920" cy="32918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06240" y="1801368"/>
            <a:ext cx="475488" cy="292608"/>
          </a:xfrm>
          <a:prstGeom prst="rect">
            <a:avLst/>
          </a:prstGeom>
          <a:noFill/>
        </p:spPr>
        <p:txBody>
          <a:bodyPr wrap="square">
            <a:spAutoFit/>
          </a:bodyPr>
          <a:lstStyle/>
          <a:p>
            <a:pPr algn="ctr"/>
            <a:r>
              <a:rPr sz="1100" b="1" i="0">
                <a:solidFill>
                  <a:srgbClr val="0A0D1A"/>
                </a:solidFill>
                <a:latin typeface="Calibri"/>
              </a:rPr>
              <a:t>C2</a:t>
            </a:r>
          </a:p>
        </p:txBody>
      </p:sp>
      <p:sp>
        <p:nvSpPr>
          <p:cNvPr id="17" name="TextBox 16"/>
          <p:cNvSpPr txBox="1"/>
          <p:nvPr/>
        </p:nvSpPr>
        <p:spPr>
          <a:xfrm>
            <a:off x="4754880" y="1819656"/>
            <a:ext cx="3154680" cy="292608"/>
          </a:xfrm>
          <a:prstGeom prst="rect">
            <a:avLst/>
          </a:prstGeom>
          <a:noFill/>
        </p:spPr>
        <p:txBody>
          <a:bodyPr wrap="square">
            <a:spAutoFit/>
          </a:bodyPr>
          <a:lstStyle/>
          <a:p>
            <a:pPr algn="l"/>
            <a:r>
              <a:rPr sz="1200" b="1" i="0">
                <a:solidFill>
                  <a:srgbClr val="FFFFFF"/>
                </a:solidFill>
                <a:latin typeface="Calibri"/>
              </a:rPr>
              <a:t>Graph-Driven Re-Planning</a:t>
            </a:r>
          </a:p>
        </p:txBody>
      </p:sp>
      <p:sp>
        <p:nvSpPr>
          <p:cNvPr id="18" name="TextBox 17"/>
          <p:cNvSpPr txBox="1"/>
          <p:nvPr/>
        </p:nvSpPr>
        <p:spPr>
          <a:xfrm>
            <a:off x="4297680" y="2167128"/>
            <a:ext cx="3611880" cy="685800"/>
          </a:xfrm>
          <a:prstGeom prst="rect">
            <a:avLst/>
          </a:prstGeom>
          <a:noFill/>
        </p:spPr>
        <p:txBody>
          <a:bodyPr wrap="square">
            <a:spAutoFit/>
          </a:bodyPr>
          <a:lstStyle/>
          <a:p>
            <a:pPr algn="l"/>
            <a:r>
              <a:rPr sz="1050" b="0" i="0">
                <a:solidFill>
                  <a:srgbClr val="A0AAB8"/>
                </a:solidFill>
                <a:latin typeface="Calibri"/>
              </a:rPr>
              <a:t>Re-planning fires on explicit graph triggers (e.g., new vuln node seeds a chain) rather than arbitrary schedules.</a:t>
            </a:r>
          </a:p>
        </p:txBody>
      </p:sp>
      <p:sp>
        <p:nvSpPr>
          <p:cNvPr id="19" name="Rectangle 18"/>
          <p:cNvSpPr/>
          <p:nvPr/>
        </p:nvSpPr>
        <p:spPr>
          <a:xfrm>
            <a:off x="8101584" y="1783080"/>
            <a:ext cx="3794760" cy="11430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01584" y="1783080"/>
            <a:ext cx="502920" cy="32918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19872" y="1801368"/>
            <a:ext cx="475488" cy="292608"/>
          </a:xfrm>
          <a:prstGeom prst="rect">
            <a:avLst/>
          </a:prstGeom>
          <a:noFill/>
        </p:spPr>
        <p:txBody>
          <a:bodyPr wrap="square">
            <a:spAutoFit/>
          </a:bodyPr>
          <a:lstStyle/>
          <a:p>
            <a:pPr algn="ctr"/>
            <a:r>
              <a:rPr sz="1100" b="1" i="0">
                <a:solidFill>
                  <a:srgbClr val="0A0D1A"/>
                </a:solidFill>
                <a:latin typeface="Calibri"/>
              </a:rPr>
              <a:t>C3</a:t>
            </a:r>
          </a:p>
        </p:txBody>
      </p:sp>
      <p:sp>
        <p:nvSpPr>
          <p:cNvPr id="22" name="TextBox 21"/>
          <p:cNvSpPr txBox="1"/>
          <p:nvPr/>
        </p:nvSpPr>
        <p:spPr>
          <a:xfrm>
            <a:off x="8668512" y="1819656"/>
            <a:ext cx="3154680" cy="292608"/>
          </a:xfrm>
          <a:prstGeom prst="rect">
            <a:avLst/>
          </a:prstGeom>
          <a:noFill/>
        </p:spPr>
        <p:txBody>
          <a:bodyPr wrap="square">
            <a:spAutoFit/>
          </a:bodyPr>
          <a:lstStyle/>
          <a:p>
            <a:pPr algn="l"/>
            <a:r>
              <a:rPr sz="1200" b="1" i="0">
                <a:solidFill>
                  <a:srgbClr val="FFFFFF"/>
                </a:solidFill>
                <a:latin typeface="Calibri"/>
              </a:rPr>
              <a:t>APG Attack Chain Lifecycle with Evidence Traceability</a:t>
            </a:r>
          </a:p>
        </p:txBody>
      </p:sp>
      <p:sp>
        <p:nvSpPr>
          <p:cNvPr id="23" name="TextBox 22"/>
          <p:cNvSpPr txBox="1"/>
          <p:nvPr/>
        </p:nvSpPr>
        <p:spPr>
          <a:xfrm>
            <a:off x="8211312" y="2167128"/>
            <a:ext cx="3611880" cy="685800"/>
          </a:xfrm>
          <a:prstGeom prst="rect">
            <a:avLst/>
          </a:prstGeom>
          <a:noFill/>
        </p:spPr>
        <p:txBody>
          <a:bodyPr wrap="square">
            <a:spAutoFit/>
          </a:bodyPr>
          <a:lstStyle/>
          <a:p>
            <a:pPr algn="l"/>
            <a:r>
              <a:rPr sz="1050" b="0" i="0">
                <a:solidFill>
                  <a:srgbClr val="A0AAB8"/>
                </a:solidFill>
                <a:latin typeface="Calibri"/>
              </a:rPr>
              <a:t>Attack chains are first-class entities: risk-scored, prioritized, lifecycle-tracked. Every ChainStep links to ASG Evidence via supported_by.</a:t>
            </a:r>
          </a:p>
        </p:txBody>
      </p:sp>
      <p:sp>
        <p:nvSpPr>
          <p:cNvPr id="24" name="Rectangle 23"/>
          <p:cNvSpPr/>
          <p:nvPr/>
        </p:nvSpPr>
        <p:spPr>
          <a:xfrm>
            <a:off x="274320" y="3035808"/>
            <a:ext cx="3794760" cy="11430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74320" y="3035808"/>
            <a:ext cx="502920" cy="32918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2608" y="3054096"/>
            <a:ext cx="475488" cy="292608"/>
          </a:xfrm>
          <a:prstGeom prst="rect">
            <a:avLst/>
          </a:prstGeom>
          <a:noFill/>
        </p:spPr>
        <p:txBody>
          <a:bodyPr wrap="square">
            <a:spAutoFit/>
          </a:bodyPr>
          <a:lstStyle/>
          <a:p>
            <a:pPr algn="ctr"/>
            <a:r>
              <a:rPr sz="1100" b="1" i="0">
                <a:solidFill>
                  <a:srgbClr val="0A0D1A"/>
                </a:solidFill>
                <a:latin typeface="Calibri"/>
              </a:rPr>
              <a:t>C4</a:t>
            </a:r>
          </a:p>
        </p:txBody>
      </p:sp>
      <p:sp>
        <p:nvSpPr>
          <p:cNvPr id="27" name="TextBox 26"/>
          <p:cNvSpPr txBox="1"/>
          <p:nvPr/>
        </p:nvSpPr>
        <p:spPr>
          <a:xfrm>
            <a:off x="841248" y="3072384"/>
            <a:ext cx="3154680" cy="292608"/>
          </a:xfrm>
          <a:prstGeom prst="rect">
            <a:avLst/>
          </a:prstGeom>
          <a:noFill/>
        </p:spPr>
        <p:txBody>
          <a:bodyPr wrap="square">
            <a:spAutoFit/>
          </a:bodyPr>
          <a:lstStyle/>
          <a:p>
            <a:pPr algn="l"/>
            <a:r>
              <a:rPr sz="1200" b="1" i="0">
                <a:solidFill>
                  <a:srgbClr val="FFFFFF"/>
                </a:solidFill>
                <a:latin typeface="Calibri"/>
              </a:rPr>
              <a:t>ASG-Aware Parallel Dispatch</a:t>
            </a:r>
          </a:p>
        </p:txBody>
      </p:sp>
      <p:sp>
        <p:nvSpPr>
          <p:cNvPr id="28" name="TextBox 27"/>
          <p:cNvSpPr txBox="1"/>
          <p:nvPr/>
        </p:nvSpPr>
        <p:spPr>
          <a:xfrm>
            <a:off x="384048" y="3419856"/>
            <a:ext cx="3611880" cy="685800"/>
          </a:xfrm>
          <a:prstGeom prst="rect">
            <a:avLst/>
          </a:prstGeom>
          <a:noFill/>
        </p:spPr>
        <p:txBody>
          <a:bodyPr wrap="square">
            <a:spAutoFit/>
          </a:bodyPr>
          <a:lstStyle/>
          <a:p>
            <a:pPr algn="l"/>
            <a:r>
              <a:rPr sz="1050" b="0" i="0">
                <a:solidFill>
                  <a:srgbClr val="A0AAB8"/>
                </a:solidFill>
                <a:latin typeface="Calibri"/>
              </a:rPr>
              <a:t>Dependency-safe concurrent tool execution using the ASG itself as the dependency graph, instead of a task scheduler.</a:t>
            </a:r>
          </a:p>
        </p:txBody>
      </p:sp>
      <p:sp>
        <p:nvSpPr>
          <p:cNvPr id="29" name="Rectangle 28"/>
          <p:cNvSpPr/>
          <p:nvPr/>
        </p:nvSpPr>
        <p:spPr>
          <a:xfrm>
            <a:off x="4187952" y="3035808"/>
            <a:ext cx="3794760" cy="11430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187952" y="3035808"/>
            <a:ext cx="502920" cy="32918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06240" y="3054096"/>
            <a:ext cx="475488" cy="292608"/>
          </a:xfrm>
          <a:prstGeom prst="rect">
            <a:avLst/>
          </a:prstGeom>
          <a:noFill/>
        </p:spPr>
        <p:txBody>
          <a:bodyPr wrap="square">
            <a:spAutoFit/>
          </a:bodyPr>
          <a:lstStyle/>
          <a:p>
            <a:pPr algn="ctr"/>
            <a:r>
              <a:rPr sz="1100" b="1" i="0">
                <a:solidFill>
                  <a:srgbClr val="0A0D1A"/>
                </a:solidFill>
                <a:latin typeface="Calibri"/>
              </a:rPr>
              <a:t>C5</a:t>
            </a:r>
          </a:p>
        </p:txBody>
      </p:sp>
      <p:sp>
        <p:nvSpPr>
          <p:cNvPr id="32" name="TextBox 31"/>
          <p:cNvSpPr txBox="1"/>
          <p:nvPr/>
        </p:nvSpPr>
        <p:spPr>
          <a:xfrm>
            <a:off x="4754880" y="3072384"/>
            <a:ext cx="3154680" cy="292608"/>
          </a:xfrm>
          <a:prstGeom prst="rect">
            <a:avLst/>
          </a:prstGeom>
          <a:noFill/>
        </p:spPr>
        <p:txBody>
          <a:bodyPr wrap="square">
            <a:spAutoFit/>
          </a:bodyPr>
          <a:lstStyle/>
          <a:p>
            <a:pPr algn="l"/>
            <a:r>
              <a:rPr sz="1200" b="1" i="0">
                <a:solidFill>
                  <a:srgbClr val="FFFFFF"/>
                </a:solidFill>
                <a:latin typeface="Calibri"/>
              </a:rPr>
              <a:t>Tool Risk Gate + Mailbox</a:t>
            </a:r>
          </a:p>
        </p:txBody>
      </p:sp>
      <p:sp>
        <p:nvSpPr>
          <p:cNvPr id="33" name="TextBox 32"/>
          <p:cNvSpPr txBox="1"/>
          <p:nvPr/>
        </p:nvSpPr>
        <p:spPr>
          <a:xfrm>
            <a:off x="4297680" y="3419856"/>
            <a:ext cx="3611880" cy="685800"/>
          </a:xfrm>
          <a:prstGeom prst="rect">
            <a:avLst/>
          </a:prstGeom>
          <a:noFill/>
        </p:spPr>
        <p:txBody>
          <a:bodyPr wrap="square">
            <a:spAutoFit/>
          </a:bodyPr>
          <a:lstStyle/>
          <a:p>
            <a:pPr algn="l"/>
            <a:r>
              <a:rPr sz="1050" b="0" i="0">
                <a:solidFill>
                  <a:srgbClr val="A0AAB8"/>
                </a:solidFill>
                <a:latin typeface="Calibri"/>
              </a:rPr>
              <a:t>Every tool call is risk-classified before execution. High-risk ops route to Commander for human-in-the-loop approval.</a:t>
            </a:r>
          </a:p>
        </p:txBody>
      </p:sp>
      <p:sp>
        <p:nvSpPr>
          <p:cNvPr id="34" name="Rectangle 33"/>
          <p:cNvSpPr/>
          <p:nvPr/>
        </p:nvSpPr>
        <p:spPr>
          <a:xfrm>
            <a:off x="8101584" y="3035808"/>
            <a:ext cx="3794760" cy="11430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01584" y="3035808"/>
            <a:ext cx="502920" cy="32918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19872" y="3054096"/>
            <a:ext cx="475488" cy="292608"/>
          </a:xfrm>
          <a:prstGeom prst="rect">
            <a:avLst/>
          </a:prstGeom>
          <a:noFill/>
        </p:spPr>
        <p:txBody>
          <a:bodyPr wrap="square">
            <a:spAutoFit/>
          </a:bodyPr>
          <a:lstStyle/>
          <a:p>
            <a:pPr algn="ctr"/>
            <a:r>
              <a:rPr sz="1100" b="1" i="0">
                <a:solidFill>
                  <a:srgbClr val="0A0D1A"/>
                </a:solidFill>
                <a:latin typeface="Calibri"/>
              </a:rPr>
              <a:t>C6</a:t>
            </a:r>
          </a:p>
        </p:txBody>
      </p:sp>
      <p:sp>
        <p:nvSpPr>
          <p:cNvPr id="37" name="TextBox 36"/>
          <p:cNvSpPr txBox="1"/>
          <p:nvPr/>
        </p:nvSpPr>
        <p:spPr>
          <a:xfrm>
            <a:off x="8668512" y="3072384"/>
            <a:ext cx="3154680" cy="292608"/>
          </a:xfrm>
          <a:prstGeom prst="rect">
            <a:avLst/>
          </a:prstGeom>
          <a:noFill/>
        </p:spPr>
        <p:txBody>
          <a:bodyPr wrap="square">
            <a:spAutoFit/>
          </a:bodyPr>
          <a:lstStyle/>
          <a:p>
            <a:pPr algn="l"/>
            <a:r>
              <a:rPr sz="1200" b="1" i="0">
                <a:solidFill>
                  <a:srgbClr val="FFFFFF"/>
                </a:solidFill>
                <a:latin typeface="Calibri"/>
              </a:rPr>
              <a:t>Lossless Context Compaction</a:t>
            </a:r>
          </a:p>
        </p:txBody>
      </p:sp>
      <p:sp>
        <p:nvSpPr>
          <p:cNvPr id="38" name="TextBox 37"/>
          <p:cNvSpPr txBox="1"/>
          <p:nvPr/>
        </p:nvSpPr>
        <p:spPr>
          <a:xfrm>
            <a:off x="8211312" y="3419856"/>
            <a:ext cx="3611880" cy="685800"/>
          </a:xfrm>
          <a:prstGeom prst="rect">
            <a:avLst/>
          </a:prstGeom>
          <a:noFill/>
        </p:spPr>
        <p:txBody>
          <a:bodyPr wrap="square">
            <a:spAutoFit/>
          </a:bodyPr>
          <a:lstStyle/>
          <a:p>
            <a:pPr algn="l"/>
            <a:r>
              <a:rPr sz="1050" b="0" i="0">
                <a:solidFill>
                  <a:srgbClr val="A0AAB8"/>
                </a:solidFill>
                <a:latin typeface="Calibri"/>
              </a:rPr>
              <a:t>ASG-backed three-layer compaction scheme reduces conversation history to near-zero without losing discovered findings.</a:t>
            </a:r>
          </a:p>
        </p:txBody>
      </p:sp>
      <p:sp>
        <p:nvSpPr>
          <p:cNvPr id="39" name="Rectangle 38"/>
          <p:cNvSpPr/>
          <p:nvPr/>
        </p:nvSpPr>
        <p:spPr>
          <a:xfrm>
            <a:off x="274320" y="4288536"/>
            <a:ext cx="3794760" cy="11430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74320" y="4288536"/>
            <a:ext cx="502920" cy="32918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92608" y="4306824"/>
            <a:ext cx="475488" cy="292608"/>
          </a:xfrm>
          <a:prstGeom prst="rect">
            <a:avLst/>
          </a:prstGeom>
          <a:noFill/>
        </p:spPr>
        <p:txBody>
          <a:bodyPr wrap="square">
            <a:spAutoFit/>
          </a:bodyPr>
          <a:lstStyle/>
          <a:p>
            <a:pPr algn="ctr"/>
            <a:r>
              <a:rPr sz="1100" b="1" i="0">
                <a:solidFill>
                  <a:srgbClr val="0A0D1A"/>
                </a:solidFill>
                <a:latin typeface="Calibri"/>
              </a:rPr>
              <a:t>C7</a:t>
            </a:r>
          </a:p>
        </p:txBody>
      </p:sp>
      <p:sp>
        <p:nvSpPr>
          <p:cNvPr id="42" name="TextBox 41"/>
          <p:cNvSpPr txBox="1"/>
          <p:nvPr/>
        </p:nvSpPr>
        <p:spPr>
          <a:xfrm>
            <a:off x="841248" y="4325112"/>
            <a:ext cx="3154680" cy="292608"/>
          </a:xfrm>
          <a:prstGeom prst="rect">
            <a:avLst/>
          </a:prstGeom>
          <a:noFill/>
        </p:spPr>
        <p:txBody>
          <a:bodyPr wrap="square">
            <a:spAutoFit/>
          </a:bodyPr>
          <a:lstStyle/>
          <a:p>
            <a:pPr algn="l"/>
            <a:r>
              <a:rPr sz="1200" b="1" i="0">
                <a:solidFill>
                  <a:srgbClr val="FFFFFF"/>
                </a:solidFill>
                <a:latin typeface="Calibri"/>
              </a:rPr>
              <a:t>Methodology-as-Config</a:t>
            </a:r>
          </a:p>
        </p:txBody>
      </p:sp>
      <p:sp>
        <p:nvSpPr>
          <p:cNvPr id="43" name="TextBox 42"/>
          <p:cNvSpPr txBox="1"/>
          <p:nvPr/>
        </p:nvSpPr>
        <p:spPr>
          <a:xfrm>
            <a:off x="384048" y="4672584"/>
            <a:ext cx="3611880" cy="685800"/>
          </a:xfrm>
          <a:prstGeom prst="rect">
            <a:avLst/>
          </a:prstGeom>
          <a:noFill/>
        </p:spPr>
        <p:txBody>
          <a:bodyPr wrap="square">
            <a:spAutoFit/>
          </a:bodyPr>
          <a:lstStyle/>
          <a:p>
            <a:pPr algn="l"/>
            <a:r>
              <a:rPr sz="1050" b="0" i="0">
                <a:solidFill>
                  <a:srgbClr val="A0AAB8"/>
                </a:solidFill>
                <a:latin typeface="Calibri"/>
              </a:rPr>
              <a:t>Commander's planning policy is encoded as a versioned natural-language document, allowing methodology benchmarking.</a:t>
            </a:r>
          </a:p>
        </p:txBody>
      </p:sp>
      <p:sp>
        <p:nvSpPr>
          <p:cNvPr id="44" name="Rectangle 43"/>
          <p:cNvSpPr/>
          <p:nvPr/>
        </p:nvSpPr>
        <p:spPr>
          <a:xfrm>
            <a:off x="4187952" y="4288536"/>
            <a:ext cx="3794760" cy="11430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187952" y="4288536"/>
            <a:ext cx="502920" cy="32918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206240" y="4306824"/>
            <a:ext cx="475488" cy="292608"/>
          </a:xfrm>
          <a:prstGeom prst="rect">
            <a:avLst/>
          </a:prstGeom>
          <a:noFill/>
        </p:spPr>
        <p:txBody>
          <a:bodyPr wrap="square">
            <a:spAutoFit/>
          </a:bodyPr>
          <a:lstStyle/>
          <a:p>
            <a:pPr algn="ctr"/>
            <a:r>
              <a:rPr sz="1100" b="1" i="0">
                <a:solidFill>
                  <a:srgbClr val="0A0D1A"/>
                </a:solidFill>
                <a:latin typeface="Calibri"/>
              </a:rPr>
              <a:t>C8</a:t>
            </a:r>
          </a:p>
        </p:txBody>
      </p:sp>
      <p:sp>
        <p:nvSpPr>
          <p:cNvPr id="47" name="TextBox 46"/>
          <p:cNvSpPr txBox="1"/>
          <p:nvPr/>
        </p:nvSpPr>
        <p:spPr>
          <a:xfrm>
            <a:off x="4754880" y="4325112"/>
            <a:ext cx="3154680" cy="292608"/>
          </a:xfrm>
          <a:prstGeom prst="rect">
            <a:avLst/>
          </a:prstGeom>
          <a:noFill/>
        </p:spPr>
        <p:txBody>
          <a:bodyPr wrap="square">
            <a:spAutoFit/>
          </a:bodyPr>
          <a:lstStyle/>
          <a:p>
            <a:pPr algn="l"/>
            <a:r>
              <a:rPr sz="1200" b="1" i="0">
                <a:solidFill>
                  <a:srgbClr val="FFFFFF"/>
                </a:solidFill>
                <a:latin typeface="Calibri"/>
              </a:rPr>
              <a:t>Dual-Graph Termination</a:t>
            </a:r>
          </a:p>
        </p:txBody>
      </p:sp>
      <p:sp>
        <p:nvSpPr>
          <p:cNvPr id="48" name="TextBox 47"/>
          <p:cNvSpPr txBox="1"/>
          <p:nvPr/>
        </p:nvSpPr>
        <p:spPr>
          <a:xfrm>
            <a:off x="4297680" y="4672584"/>
            <a:ext cx="3611880" cy="685800"/>
          </a:xfrm>
          <a:prstGeom prst="rect">
            <a:avLst/>
          </a:prstGeom>
          <a:noFill/>
        </p:spPr>
        <p:txBody>
          <a:bodyPr wrap="square">
            <a:spAutoFit/>
          </a:bodyPr>
          <a:lstStyle/>
          <a:p>
            <a:pPr algn="l"/>
            <a:r>
              <a:rPr sz="1050" b="0" i="0">
                <a:solidFill>
                  <a:srgbClr val="A0AAB8"/>
                </a:solidFill>
                <a:latin typeface="Calibri"/>
              </a:rPr>
              <a:t>Mission completion is formally defined as the conjunction of ASG exhaustion (no unexplored nodes) and APG resolution.</a:t>
            </a:r>
          </a:p>
        </p:txBody>
      </p:sp>
      <p:sp>
        <p:nvSpPr>
          <p:cNvPr id="49" name="Rectangle 48"/>
          <p:cNvSpPr/>
          <p:nvPr/>
        </p:nvSpPr>
        <p:spPr>
          <a:xfrm>
            <a:off x="8101584" y="4288536"/>
            <a:ext cx="3794760" cy="11430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101584" y="4288536"/>
            <a:ext cx="502920" cy="32918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119872" y="4306824"/>
            <a:ext cx="475488" cy="292608"/>
          </a:xfrm>
          <a:prstGeom prst="rect">
            <a:avLst/>
          </a:prstGeom>
          <a:noFill/>
        </p:spPr>
        <p:txBody>
          <a:bodyPr wrap="square">
            <a:spAutoFit/>
          </a:bodyPr>
          <a:lstStyle/>
          <a:p>
            <a:pPr algn="ctr"/>
            <a:r>
              <a:rPr sz="1100" b="1" i="0">
                <a:solidFill>
                  <a:srgbClr val="0A0D1A"/>
                </a:solidFill>
                <a:latin typeface="Calibri"/>
              </a:rPr>
              <a:t>C9</a:t>
            </a:r>
          </a:p>
        </p:txBody>
      </p:sp>
      <p:sp>
        <p:nvSpPr>
          <p:cNvPr id="52" name="TextBox 51"/>
          <p:cNvSpPr txBox="1"/>
          <p:nvPr/>
        </p:nvSpPr>
        <p:spPr>
          <a:xfrm>
            <a:off x="8668512" y="4325112"/>
            <a:ext cx="3154680" cy="292608"/>
          </a:xfrm>
          <a:prstGeom prst="rect">
            <a:avLst/>
          </a:prstGeom>
          <a:noFill/>
        </p:spPr>
        <p:txBody>
          <a:bodyPr wrap="square">
            <a:spAutoFit/>
          </a:bodyPr>
          <a:lstStyle/>
          <a:p>
            <a:pPr algn="l"/>
            <a:r>
              <a:rPr sz="1200" b="1" i="0">
                <a:solidFill>
                  <a:srgbClr val="FFFFFF"/>
                </a:solidFill>
                <a:latin typeface="Calibri"/>
              </a:rPr>
              <a:t>Live CVE Grounding</a:t>
            </a:r>
          </a:p>
        </p:txBody>
      </p:sp>
      <p:sp>
        <p:nvSpPr>
          <p:cNvPr id="53" name="TextBox 52"/>
          <p:cNvSpPr txBox="1"/>
          <p:nvPr/>
        </p:nvSpPr>
        <p:spPr>
          <a:xfrm>
            <a:off x="8211312" y="4672584"/>
            <a:ext cx="3611880" cy="685800"/>
          </a:xfrm>
          <a:prstGeom prst="rect">
            <a:avLst/>
          </a:prstGeom>
          <a:noFill/>
        </p:spPr>
        <p:txBody>
          <a:bodyPr wrap="square">
            <a:spAutoFit/>
          </a:bodyPr>
          <a:lstStyle/>
          <a:p>
            <a:pPr algn="l"/>
            <a:r>
              <a:rPr sz="1050" b="0" i="0">
                <a:solidFill>
                  <a:srgbClr val="A0AAB8"/>
                </a:solidFill>
                <a:latin typeface="Calibri"/>
              </a:rPr>
              <a:t>Real-time vulnerability enrichment and exploit feasibility research via a scoped agent, written back into the ASG.</a:t>
            </a:r>
          </a:p>
        </p:txBody>
      </p:sp>
      <p:sp>
        <p:nvSpPr>
          <p:cNvPr id="54" name="Rectangle 53"/>
          <p:cNvSpPr/>
          <p:nvPr/>
        </p:nvSpPr>
        <p:spPr>
          <a:xfrm>
            <a:off x="274320" y="5541264"/>
            <a:ext cx="3794760" cy="11430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274320" y="5541264"/>
            <a:ext cx="502920" cy="32918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92608" y="5559552"/>
            <a:ext cx="475488" cy="292608"/>
          </a:xfrm>
          <a:prstGeom prst="rect">
            <a:avLst/>
          </a:prstGeom>
          <a:noFill/>
        </p:spPr>
        <p:txBody>
          <a:bodyPr wrap="square">
            <a:spAutoFit/>
          </a:bodyPr>
          <a:lstStyle/>
          <a:p>
            <a:pPr algn="ctr"/>
            <a:r>
              <a:rPr sz="1100" b="1" i="0">
                <a:solidFill>
                  <a:srgbClr val="0A0D1A"/>
                </a:solidFill>
                <a:latin typeface="Calibri"/>
              </a:rPr>
              <a:t>C10</a:t>
            </a:r>
          </a:p>
        </p:txBody>
      </p:sp>
      <p:sp>
        <p:nvSpPr>
          <p:cNvPr id="57" name="TextBox 56"/>
          <p:cNvSpPr txBox="1"/>
          <p:nvPr/>
        </p:nvSpPr>
        <p:spPr>
          <a:xfrm>
            <a:off x="841248" y="5577840"/>
            <a:ext cx="3154680" cy="292608"/>
          </a:xfrm>
          <a:prstGeom prst="rect">
            <a:avLst/>
          </a:prstGeom>
          <a:noFill/>
        </p:spPr>
        <p:txBody>
          <a:bodyPr wrap="square">
            <a:spAutoFit/>
          </a:bodyPr>
          <a:lstStyle/>
          <a:p>
            <a:pPr algn="l"/>
            <a:r>
              <a:rPr sz="1200" b="1" i="0">
                <a:solidFill>
                  <a:srgbClr val="FFFFFF"/>
                </a:solidFill>
                <a:latin typeface="Calibri"/>
              </a:rPr>
              <a:t>Cross-Mission Experience</a:t>
            </a:r>
          </a:p>
        </p:txBody>
      </p:sp>
      <p:sp>
        <p:nvSpPr>
          <p:cNvPr id="58" name="TextBox 57"/>
          <p:cNvSpPr txBox="1"/>
          <p:nvPr/>
        </p:nvSpPr>
        <p:spPr>
          <a:xfrm>
            <a:off x="384048" y="5925312"/>
            <a:ext cx="3611880" cy="685800"/>
          </a:xfrm>
          <a:prstGeom prst="rect">
            <a:avLst/>
          </a:prstGeom>
          <a:noFill/>
        </p:spPr>
        <p:txBody>
          <a:bodyPr wrap="square">
            <a:spAutoFit/>
          </a:bodyPr>
          <a:lstStyle/>
          <a:p>
            <a:pPr algn="l"/>
            <a:r>
              <a:rPr sz="1050" b="0" i="0">
                <a:solidFill>
                  <a:srgbClr val="A0AAB8"/>
                </a:solidFill>
                <a:latin typeface="Calibri"/>
              </a:rPr>
              <a:t>Persistent RAG-backed store of validated exploitation outcomes across missions to seed APG hypotheses at mission start.</a:t>
            </a:r>
          </a:p>
        </p:txBody>
      </p:sp>
      <p:sp>
        <p:nvSpPr>
          <p:cNvPr id="59" name="Rectangle 58"/>
          <p:cNvSpPr/>
          <p:nvPr/>
        </p:nvSpPr>
        <p:spPr>
          <a:xfrm>
            <a:off x="4187952" y="5541264"/>
            <a:ext cx="3794760" cy="11430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4187952" y="5541264"/>
            <a:ext cx="502920" cy="32918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206240" y="5559552"/>
            <a:ext cx="475488" cy="292608"/>
          </a:xfrm>
          <a:prstGeom prst="rect">
            <a:avLst/>
          </a:prstGeom>
          <a:noFill/>
        </p:spPr>
        <p:txBody>
          <a:bodyPr wrap="square">
            <a:spAutoFit/>
          </a:bodyPr>
          <a:lstStyle/>
          <a:p>
            <a:pPr algn="ctr"/>
            <a:r>
              <a:rPr sz="1100" b="1" i="0">
                <a:solidFill>
                  <a:srgbClr val="0A0D1A"/>
                </a:solidFill>
                <a:latin typeface="Calibri"/>
              </a:rPr>
              <a:t>C11</a:t>
            </a:r>
          </a:p>
        </p:txBody>
      </p:sp>
      <p:sp>
        <p:nvSpPr>
          <p:cNvPr id="62" name="TextBox 61"/>
          <p:cNvSpPr txBox="1"/>
          <p:nvPr/>
        </p:nvSpPr>
        <p:spPr>
          <a:xfrm>
            <a:off x="4754880" y="5577840"/>
            <a:ext cx="3154680" cy="292608"/>
          </a:xfrm>
          <a:prstGeom prst="rect">
            <a:avLst/>
          </a:prstGeom>
          <a:noFill/>
        </p:spPr>
        <p:txBody>
          <a:bodyPr wrap="square">
            <a:spAutoFit/>
          </a:bodyPr>
          <a:lstStyle/>
          <a:p>
            <a:pPr algn="l"/>
            <a:r>
              <a:rPr sz="1200" b="1" i="0">
                <a:solidFill>
                  <a:srgbClr val="FFFFFF"/>
                </a:solidFill>
                <a:latin typeface="Calibri"/>
              </a:rPr>
              <a:t>Attack Strategy Library</a:t>
            </a:r>
          </a:p>
        </p:txBody>
      </p:sp>
      <p:sp>
        <p:nvSpPr>
          <p:cNvPr id="63" name="TextBox 62"/>
          <p:cNvSpPr txBox="1"/>
          <p:nvPr/>
        </p:nvSpPr>
        <p:spPr>
          <a:xfrm>
            <a:off x="4297680" y="5925312"/>
            <a:ext cx="3611880" cy="685800"/>
          </a:xfrm>
          <a:prstGeom prst="rect">
            <a:avLst/>
          </a:prstGeom>
          <a:noFill/>
        </p:spPr>
        <p:txBody>
          <a:bodyPr wrap="square">
            <a:spAutoFit/>
          </a:bodyPr>
          <a:lstStyle/>
          <a:p>
            <a:pPr algn="l"/>
            <a:r>
              <a:rPr sz="1050" b="0" i="0">
                <a:solidFill>
                  <a:srgbClr val="A0AAB8"/>
                </a:solidFill>
                <a:latin typeface="Calibri"/>
              </a:rPr>
              <a:t>Crystallizes validated chains into parameterized strategies when the same target fingerprint succeeds across missions.</a:t>
            </a:r>
          </a:p>
        </p:txBody>
      </p:sp>
      <p:sp>
        <p:nvSpPr>
          <p:cNvPr id="64" name="Rectangle 63"/>
          <p:cNvSpPr/>
          <p:nvPr/>
        </p:nvSpPr>
        <p:spPr>
          <a:xfrm>
            <a:off x="8101584" y="5541264"/>
            <a:ext cx="3794760" cy="1143000"/>
          </a:xfrm>
          <a:prstGeom prst="rect">
            <a:avLst/>
          </a:prstGeom>
          <a:solidFill>
            <a:srgbClr val="10162B"/>
          </a:solidFill>
          <a:ln w="1016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8101584" y="5541264"/>
            <a:ext cx="502920" cy="32918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119872" y="5559552"/>
            <a:ext cx="475488" cy="292608"/>
          </a:xfrm>
          <a:prstGeom prst="rect">
            <a:avLst/>
          </a:prstGeom>
          <a:noFill/>
        </p:spPr>
        <p:txBody>
          <a:bodyPr wrap="square">
            <a:spAutoFit/>
          </a:bodyPr>
          <a:lstStyle/>
          <a:p>
            <a:pPr algn="ctr"/>
            <a:r>
              <a:rPr sz="1100" b="1" i="0">
                <a:solidFill>
                  <a:srgbClr val="0A0D1A"/>
                </a:solidFill>
                <a:latin typeface="Calibri"/>
              </a:rPr>
              <a:t>C12</a:t>
            </a:r>
          </a:p>
        </p:txBody>
      </p:sp>
      <p:sp>
        <p:nvSpPr>
          <p:cNvPr id="67" name="TextBox 66"/>
          <p:cNvSpPr txBox="1"/>
          <p:nvPr/>
        </p:nvSpPr>
        <p:spPr>
          <a:xfrm>
            <a:off x="8668512" y="5577840"/>
            <a:ext cx="3154680" cy="292608"/>
          </a:xfrm>
          <a:prstGeom prst="rect">
            <a:avLst/>
          </a:prstGeom>
          <a:noFill/>
        </p:spPr>
        <p:txBody>
          <a:bodyPr wrap="square">
            <a:spAutoFit/>
          </a:bodyPr>
          <a:lstStyle/>
          <a:p>
            <a:pPr algn="l"/>
            <a:r>
              <a:rPr sz="1200" b="1" i="0">
                <a:solidFill>
                  <a:srgbClr val="FFFFFF"/>
                </a:solidFill>
                <a:latin typeface="Calibri"/>
              </a:rPr>
              <a:t>Trajectory Export Dataset</a:t>
            </a:r>
          </a:p>
        </p:txBody>
      </p:sp>
      <p:sp>
        <p:nvSpPr>
          <p:cNvPr id="68" name="TextBox 67"/>
          <p:cNvSpPr txBox="1"/>
          <p:nvPr/>
        </p:nvSpPr>
        <p:spPr>
          <a:xfrm>
            <a:off x="8211312" y="5925312"/>
            <a:ext cx="3611880" cy="685800"/>
          </a:xfrm>
          <a:prstGeom prst="rect">
            <a:avLst/>
          </a:prstGeom>
          <a:noFill/>
        </p:spPr>
        <p:txBody>
          <a:bodyPr wrap="square">
            <a:spAutoFit/>
          </a:bodyPr>
          <a:lstStyle/>
          <a:p>
            <a:pPr algn="l"/>
            <a:r>
              <a:rPr sz="1050" b="0" i="0">
                <a:solidFill>
                  <a:srgbClr val="A0AAB8"/>
                </a:solidFill>
                <a:latin typeface="Calibri"/>
              </a:rPr>
              <a:t>Every mission produces a machine-readable decision log capturing ASG/APG triggers, rationale, and actions taken.</a:t>
            </a:r>
          </a:p>
        </p:txBody>
      </p:sp>
      <p:sp>
        <p:nvSpPr>
          <p:cNvPr id="69" name="TextBox 68"/>
          <p:cNvSpPr txBox="1"/>
          <p:nvPr/>
        </p:nvSpPr>
        <p:spPr>
          <a:xfrm>
            <a:off x="11780215" y="6355080"/>
            <a:ext cx="384048" cy="411480"/>
          </a:xfrm>
          <a:prstGeom prst="rect">
            <a:avLst/>
          </a:prstGeom>
          <a:noFill/>
        </p:spPr>
        <p:txBody>
          <a:bodyPr wrap="square">
            <a:spAutoFit/>
          </a:bodyPr>
          <a:lstStyle/>
          <a:p>
            <a:pPr algn="r"/>
            <a:r>
              <a:rPr sz="1300" b="1" i="0">
                <a:solidFill>
                  <a:srgbClr val="FFD700"/>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64008"/>
            <a:ext cx="7315200" cy="237744"/>
          </a:xfrm>
          <a:prstGeom prst="rect">
            <a:avLst/>
          </a:prstGeom>
          <a:noFill/>
        </p:spPr>
        <p:txBody>
          <a:bodyPr wrap="square">
            <a:spAutoFit/>
          </a:bodyPr>
          <a:lstStyle/>
          <a:p>
            <a:pPr algn="l"/>
            <a:r>
              <a:rPr sz="1000" b="1" i="0">
                <a:solidFill>
                  <a:srgbClr val="FFD700"/>
                </a:solidFill>
                <a:latin typeface="Calibri"/>
              </a:rPr>
              <a:t>EVALUATION PLAN</a:t>
            </a:r>
          </a:p>
        </p:txBody>
      </p:sp>
      <p:sp>
        <p:nvSpPr>
          <p:cNvPr id="6" name="TextBox 5"/>
          <p:cNvSpPr txBox="1"/>
          <p:nvPr/>
        </p:nvSpPr>
        <p:spPr>
          <a:xfrm>
            <a:off x="274320" y="292608"/>
            <a:ext cx="11430000" cy="475488"/>
          </a:xfrm>
          <a:prstGeom prst="rect">
            <a:avLst/>
          </a:prstGeom>
          <a:noFill/>
        </p:spPr>
        <p:txBody>
          <a:bodyPr wrap="square">
            <a:spAutoFit/>
          </a:bodyPr>
          <a:lstStyle/>
          <a:p>
            <a:pPr algn="l"/>
            <a:r>
              <a:rPr sz="3200" b="1" i="0">
                <a:solidFill>
                  <a:srgbClr val="FFFFFF"/>
                </a:solidFill>
                <a:latin typeface="Calibri"/>
              </a:rPr>
              <a:t>How We Will Validate CMatrix Claims Empirically</a:t>
            </a:r>
          </a:p>
        </p:txBody>
      </p:sp>
      <p:sp>
        <p:nvSpPr>
          <p:cNvPr id="7" name="Rectangle 6"/>
          <p:cNvSpPr/>
          <p:nvPr/>
        </p:nvSpPr>
        <p:spPr>
          <a:xfrm>
            <a:off x="274320" y="822960"/>
            <a:ext cx="8229600" cy="2743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01168" y="987552"/>
            <a:ext cx="5852160" cy="2286000"/>
          </a:xfrm>
          <a:prstGeom prst="rect">
            <a:avLst/>
          </a:prstGeom>
          <a:solidFill>
            <a:srgbClr val="0C1022"/>
          </a:solidFill>
          <a:ln w="1778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01168" y="987552"/>
            <a:ext cx="5852160" cy="292608"/>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1024128"/>
            <a:ext cx="5852160" cy="237744"/>
          </a:xfrm>
          <a:prstGeom prst="rect">
            <a:avLst/>
          </a:prstGeom>
          <a:noFill/>
        </p:spPr>
        <p:txBody>
          <a:bodyPr wrap="square">
            <a:spAutoFit/>
          </a:bodyPr>
          <a:lstStyle/>
          <a:p>
            <a:pPr algn="ctr"/>
            <a:r>
              <a:rPr sz="1000" b="1" i="0">
                <a:solidFill>
                  <a:srgbClr val="0A0D1A"/>
                </a:solidFill>
                <a:latin typeface="Calibri"/>
              </a:rPr>
              <a:t>EVALUATION PLATFORMS</a:t>
            </a:r>
          </a:p>
        </p:txBody>
      </p:sp>
      <p:sp>
        <p:nvSpPr>
          <p:cNvPr id="11" name="Rectangle 10"/>
          <p:cNvSpPr/>
          <p:nvPr/>
        </p:nvSpPr>
        <p:spPr>
          <a:xfrm>
            <a:off x="292608" y="1335024"/>
            <a:ext cx="5669280" cy="585216"/>
          </a:xfrm>
          <a:prstGeom prst="rect">
            <a:avLst/>
          </a:prstGeom>
          <a:solidFill>
            <a:srgbClr val="080E28"/>
          </a:solidFill>
          <a:ln w="635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1371600"/>
            <a:ext cx="5577840" cy="201168"/>
          </a:xfrm>
          <a:prstGeom prst="rect">
            <a:avLst/>
          </a:prstGeom>
          <a:noFill/>
        </p:spPr>
        <p:txBody>
          <a:bodyPr wrap="square">
            <a:spAutoFit/>
          </a:bodyPr>
          <a:lstStyle/>
          <a:p>
            <a:pPr algn="l"/>
            <a:r>
              <a:rPr sz="1000" b="1" i="0">
                <a:solidFill>
                  <a:srgbClr val="00E5FF"/>
                </a:solidFill>
                <a:latin typeface="Calibri"/>
              </a:rPr>
              <a:t>HackTheBox (HTB)</a:t>
            </a:r>
          </a:p>
        </p:txBody>
      </p:sp>
      <p:sp>
        <p:nvSpPr>
          <p:cNvPr id="13" name="TextBox 12"/>
          <p:cNvSpPr txBox="1"/>
          <p:nvPr/>
        </p:nvSpPr>
        <p:spPr>
          <a:xfrm>
            <a:off x="365760" y="1572768"/>
            <a:ext cx="5577840" cy="310896"/>
          </a:xfrm>
          <a:prstGeom prst="rect">
            <a:avLst/>
          </a:prstGeom>
          <a:noFill/>
        </p:spPr>
        <p:txBody>
          <a:bodyPr wrap="square">
            <a:spAutoFit/>
          </a:bodyPr>
          <a:lstStyle/>
          <a:p>
            <a:pPr algn="l"/>
            <a:r>
              <a:rPr sz="850" b="0" i="0">
                <a:solidFill>
                  <a:srgbClr val="A0AAB8"/>
                </a:solidFill>
                <a:latin typeface="Calibri"/>
              </a:rPr>
              <a:t>Retired machines — Linux + Windows — known ground-truth vulnerabilities for coverage scoring.</a:t>
            </a:r>
          </a:p>
        </p:txBody>
      </p:sp>
      <p:sp>
        <p:nvSpPr>
          <p:cNvPr id="14" name="Rectangle 13"/>
          <p:cNvSpPr/>
          <p:nvPr/>
        </p:nvSpPr>
        <p:spPr>
          <a:xfrm>
            <a:off x="292608" y="1975104"/>
            <a:ext cx="5669280" cy="585216"/>
          </a:xfrm>
          <a:prstGeom prst="rect">
            <a:avLst/>
          </a:prstGeom>
          <a:solidFill>
            <a:srgbClr val="080E28"/>
          </a:solidFill>
          <a:ln w="635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2011680"/>
            <a:ext cx="5577840" cy="201168"/>
          </a:xfrm>
          <a:prstGeom prst="rect">
            <a:avLst/>
          </a:prstGeom>
          <a:noFill/>
        </p:spPr>
        <p:txBody>
          <a:bodyPr wrap="square">
            <a:spAutoFit/>
          </a:bodyPr>
          <a:lstStyle/>
          <a:p>
            <a:pPr algn="l"/>
            <a:r>
              <a:rPr sz="1000" b="1" i="0">
                <a:solidFill>
                  <a:srgbClr val="00E5FF"/>
                </a:solidFill>
                <a:latin typeface="Calibri"/>
              </a:rPr>
              <a:t>TryHackMe (THM)</a:t>
            </a:r>
          </a:p>
        </p:txBody>
      </p:sp>
      <p:sp>
        <p:nvSpPr>
          <p:cNvPr id="16" name="TextBox 15"/>
          <p:cNvSpPr txBox="1"/>
          <p:nvPr/>
        </p:nvSpPr>
        <p:spPr>
          <a:xfrm>
            <a:off x="365760" y="2212848"/>
            <a:ext cx="5577840" cy="310896"/>
          </a:xfrm>
          <a:prstGeom prst="rect">
            <a:avLst/>
          </a:prstGeom>
          <a:noFill/>
        </p:spPr>
        <p:txBody>
          <a:bodyPr wrap="square">
            <a:spAutoFit/>
          </a:bodyPr>
          <a:lstStyle/>
          <a:p>
            <a:pPr algn="l"/>
            <a:r>
              <a:rPr sz="850" b="0" i="0">
                <a:solidFill>
                  <a:srgbClr val="A0AAB8"/>
                </a:solidFill>
                <a:latin typeface="Calibri"/>
              </a:rPr>
              <a:t>Guided CTF environments with intentionally vulnerable web applications and APIs.</a:t>
            </a:r>
          </a:p>
        </p:txBody>
      </p:sp>
      <p:sp>
        <p:nvSpPr>
          <p:cNvPr id="17" name="Rectangle 16"/>
          <p:cNvSpPr/>
          <p:nvPr/>
        </p:nvSpPr>
        <p:spPr>
          <a:xfrm>
            <a:off x="292608" y="2615184"/>
            <a:ext cx="5669280" cy="585216"/>
          </a:xfrm>
          <a:prstGeom prst="rect">
            <a:avLst/>
          </a:prstGeom>
          <a:solidFill>
            <a:srgbClr val="080E28"/>
          </a:solidFill>
          <a:ln w="635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2651760"/>
            <a:ext cx="5577840" cy="201168"/>
          </a:xfrm>
          <a:prstGeom prst="rect">
            <a:avLst/>
          </a:prstGeom>
          <a:noFill/>
        </p:spPr>
        <p:txBody>
          <a:bodyPr wrap="square">
            <a:spAutoFit/>
          </a:bodyPr>
          <a:lstStyle/>
          <a:p>
            <a:pPr algn="l"/>
            <a:r>
              <a:rPr sz="1000" b="1" i="0">
                <a:solidFill>
                  <a:srgbClr val="00E5FF"/>
                </a:solidFill>
                <a:latin typeface="Calibri"/>
              </a:rPr>
              <a:t>Custom Lab VMs</a:t>
            </a:r>
          </a:p>
        </p:txBody>
      </p:sp>
      <p:sp>
        <p:nvSpPr>
          <p:cNvPr id="19" name="TextBox 18"/>
          <p:cNvSpPr txBox="1"/>
          <p:nvPr/>
        </p:nvSpPr>
        <p:spPr>
          <a:xfrm>
            <a:off x="365760" y="2852928"/>
            <a:ext cx="5577840" cy="310896"/>
          </a:xfrm>
          <a:prstGeom prst="rect">
            <a:avLst/>
          </a:prstGeom>
          <a:noFill/>
        </p:spPr>
        <p:txBody>
          <a:bodyPr wrap="square">
            <a:spAutoFit/>
          </a:bodyPr>
          <a:lstStyle/>
          <a:p>
            <a:pPr algn="l"/>
            <a:r>
              <a:rPr sz="850" b="0" i="0">
                <a:solidFill>
                  <a:srgbClr val="A0AAB8"/>
                </a:solidFill>
                <a:latin typeface="Calibri"/>
              </a:rPr>
              <a:t>Controlled WordPress + Django stack mirroring shopvault.io for repeatable A/B testing.</a:t>
            </a:r>
          </a:p>
        </p:txBody>
      </p:sp>
      <p:sp>
        <p:nvSpPr>
          <p:cNvPr id="20" name="Rectangle 19"/>
          <p:cNvSpPr/>
          <p:nvPr/>
        </p:nvSpPr>
        <p:spPr>
          <a:xfrm>
            <a:off x="201168" y="3364992"/>
            <a:ext cx="5852160" cy="3364992"/>
          </a:xfrm>
          <a:prstGeom prst="rect">
            <a:avLst/>
          </a:prstGeom>
          <a:solidFill>
            <a:srgbClr val="100C02"/>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01168" y="3364992"/>
            <a:ext cx="5852160" cy="292608"/>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1168" y="3401568"/>
            <a:ext cx="5852160" cy="237744"/>
          </a:xfrm>
          <a:prstGeom prst="rect">
            <a:avLst/>
          </a:prstGeom>
          <a:noFill/>
        </p:spPr>
        <p:txBody>
          <a:bodyPr wrap="square">
            <a:spAutoFit/>
          </a:bodyPr>
          <a:lstStyle/>
          <a:p>
            <a:pPr algn="ctr"/>
            <a:r>
              <a:rPr sz="1000" b="1" i="0">
                <a:solidFill>
                  <a:srgbClr val="0A0D1A"/>
                </a:solidFill>
                <a:latin typeface="Calibri"/>
              </a:rPr>
              <a:t>RESEARCH QUESTIONS</a:t>
            </a:r>
          </a:p>
        </p:txBody>
      </p:sp>
      <p:sp>
        <p:nvSpPr>
          <p:cNvPr id="23" name="Rectangle 22"/>
          <p:cNvSpPr/>
          <p:nvPr/>
        </p:nvSpPr>
        <p:spPr>
          <a:xfrm>
            <a:off x="292608" y="3712464"/>
            <a:ext cx="5669280" cy="676656"/>
          </a:xfrm>
          <a:prstGeom prst="rect">
            <a:avLst/>
          </a:prstGeom>
          <a:solidFill>
            <a:srgbClr val="161002"/>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3749040"/>
            <a:ext cx="640080" cy="201168"/>
          </a:xfrm>
          <a:prstGeom prst="rect">
            <a:avLst/>
          </a:prstGeom>
          <a:noFill/>
        </p:spPr>
        <p:txBody>
          <a:bodyPr wrap="square">
            <a:spAutoFit/>
          </a:bodyPr>
          <a:lstStyle/>
          <a:p>
            <a:pPr algn="l"/>
            <a:r>
              <a:rPr sz="1000" b="1" i="0">
                <a:solidFill>
                  <a:srgbClr val="FFD700"/>
                </a:solidFill>
                <a:latin typeface="Calibri"/>
              </a:rPr>
              <a:t>RQ 1</a:t>
            </a:r>
          </a:p>
        </p:txBody>
      </p:sp>
      <p:sp>
        <p:nvSpPr>
          <p:cNvPr id="25" name="TextBox 24"/>
          <p:cNvSpPr txBox="1"/>
          <p:nvPr/>
        </p:nvSpPr>
        <p:spPr>
          <a:xfrm>
            <a:off x="1042416" y="3749040"/>
            <a:ext cx="4864608" cy="603504"/>
          </a:xfrm>
          <a:prstGeom prst="rect">
            <a:avLst/>
          </a:prstGeom>
          <a:noFill/>
        </p:spPr>
        <p:txBody>
          <a:bodyPr wrap="square">
            <a:spAutoFit/>
          </a:bodyPr>
          <a:lstStyle/>
          <a:p>
            <a:pPr algn="l"/>
            <a:r>
              <a:rPr sz="900" b="0" i="0">
                <a:solidFill>
                  <a:srgbClr val="A0AAB8"/>
                </a:solidFill>
                <a:latin typeface="Calibri"/>
              </a:rPr>
              <a:t>Does the dual-graph architecture improve vulnerability coverage compared to a flat-memory baseline?</a:t>
            </a:r>
          </a:p>
        </p:txBody>
      </p:sp>
      <p:sp>
        <p:nvSpPr>
          <p:cNvPr id="26" name="Rectangle 25"/>
          <p:cNvSpPr/>
          <p:nvPr/>
        </p:nvSpPr>
        <p:spPr>
          <a:xfrm>
            <a:off x="292608" y="4443984"/>
            <a:ext cx="5669280" cy="676656"/>
          </a:xfrm>
          <a:prstGeom prst="rect">
            <a:avLst/>
          </a:prstGeom>
          <a:solidFill>
            <a:srgbClr val="161002"/>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 y="4480560"/>
            <a:ext cx="640080" cy="201168"/>
          </a:xfrm>
          <a:prstGeom prst="rect">
            <a:avLst/>
          </a:prstGeom>
          <a:noFill/>
        </p:spPr>
        <p:txBody>
          <a:bodyPr wrap="square">
            <a:spAutoFit/>
          </a:bodyPr>
          <a:lstStyle/>
          <a:p>
            <a:pPr algn="l"/>
            <a:r>
              <a:rPr sz="1000" b="1" i="0">
                <a:solidFill>
                  <a:srgbClr val="FFD700"/>
                </a:solidFill>
                <a:latin typeface="Calibri"/>
              </a:rPr>
              <a:t>RQ 2</a:t>
            </a:r>
          </a:p>
        </p:txBody>
      </p:sp>
      <p:sp>
        <p:nvSpPr>
          <p:cNvPr id="28" name="TextBox 27"/>
          <p:cNvSpPr txBox="1"/>
          <p:nvPr/>
        </p:nvSpPr>
        <p:spPr>
          <a:xfrm>
            <a:off x="1042416" y="4480560"/>
            <a:ext cx="4864608" cy="603504"/>
          </a:xfrm>
          <a:prstGeom prst="rect">
            <a:avLst/>
          </a:prstGeom>
          <a:noFill/>
        </p:spPr>
        <p:txBody>
          <a:bodyPr wrap="square">
            <a:spAutoFit/>
          </a:bodyPr>
          <a:lstStyle/>
          <a:p>
            <a:pPr algn="l"/>
            <a:r>
              <a:rPr sz="900" b="0" i="0">
                <a:solidFill>
                  <a:srgbClr val="A0AAB8"/>
                </a:solidFill>
                <a:latin typeface="Calibri"/>
              </a:rPr>
              <a:t>Does formal dual termination reduce false-early-stops vs timer-based termination?</a:t>
            </a:r>
          </a:p>
        </p:txBody>
      </p:sp>
      <p:sp>
        <p:nvSpPr>
          <p:cNvPr id="29" name="Rectangle 28"/>
          <p:cNvSpPr/>
          <p:nvPr/>
        </p:nvSpPr>
        <p:spPr>
          <a:xfrm>
            <a:off x="292608" y="5175504"/>
            <a:ext cx="5669280" cy="676656"/>
          </a:xfrm>
          <a:prstGeom prst="rect">
            <a:avLst/>
          </a:prstGeom>
          <a:solidFill>
            <a:srgbClr val="161002"/>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5760" y="5212080"/>
            <a:ext cx="640080" cy="201168"/>
          </a:xfrm>
          <a:prstGeom prst="rect">
            <a:avLst/>
          </a:prstGeom>
          <a:noFill/>
        </p:spPr>
        <p:txBody>
          <a:bodyPr wrap="square">
            <a:spAutoFit/>
          </a:bodyPr>
          <a:lstStyle/>
          <a:p>
            <a:pPr algn="l"/>
            <a:r>
              <a:rPr sz="1000" b="1" i="0">
                <a:solidFill>
                  <a:srgbClr val="FFD700"/>
                </a:solidFill>
                <a:latin typeface="Calibri"/>
              </a:rPr>
              <a:t>RQ 3</a:t>
            </a:r>
          </a:p>
        </p:txBody>
      </p:sp>
      <p:sp>
        <p:nvSpPr>
          <p:cNvPr id="31" name="TextBox 30"/>
          <p:cNvSpPr txBox="1"/>
          <p:nvPr/>
        </p:nvSpPr>
        <p:spPr>
          <a:xfrm>
            <a:off x="1042416" y="5212080"/>
            <a:ext cx="4864608" cy="603504"/>
          </a:xfrm>
          <a:prstGeom prst="rect">
            <a:avLst/>
          </a:prstGeom>
          <a:noFill/>
        </p:spPr>
        <p:txBody>
          <a:bodyPr wrap="square">
            <a:spAutoFit/>
          </a:bodyPr>
          <a:lstStyle/>
          <a:p>
            <a:pPr algn="l"/>
            <a:r>
              <a:rPr sz="900" b="0" i="0">
                <a:solidFill>
                  <a:srgbClr val="A0AAB8"/>
                </a:solidFill>
                <a:latin typeface="Calibri"/>
              </a:rPr>
              <a:t>Does cross-mission learning measurably reduce time-to-finding on repeat target-type engagements?</a:t>
            </a:r>
          </a:p>
        </p:txBody>
      </p:sp>
      <p:sp>
        <p:nvSpPr>
          <p:cNvPr id="32" name="Rectangle 31"/>
          <p:cNvSpPr/>
          <p:nvPr/>
        </p:nvSpPr>
        <p:spPr>
          <a:xfrm>
            <a:off x="292608" y="5907024"/>
            <a:ext cx="5669280" cy="676656"/>
          </a:xfrm>
          <a:prstGeom prst="rect">
            <a:avLst/>
          </a:prstGeom>
          <a:solidFill>
            <a:srgbClr val="161002"/>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5760" y="5943600"/>
            <a:ext cx="640080" cy="201168"/>
          </a:xfrm>
          <a:prstGeom prst="rect">
            <a:avLst/>
          </a:prstGeom>
          <a:noFill/>
        </p:spPr>
        <p:txBody>
          <a:bodyPr wrap="square">
            <a:spAutoFit/>
          </a:bodyPr>
          <a:lstStyle/>
          <a:p>
            <a:pPr algn="l"/>
            <a:r>
              <a:rPr sz="1000" b="1" i="0">
                <a:solidFill>
                  <a:srgbClr val="FFD700"/>
                </a:solidFill>
                <a:latin typeface="Calibri"/>
              </a:rPr>
              <a:t>RQ 4</a:t>
            </a:r>
          </a:p>
        </p:txBody>
      </p:sp>
      <p:sp>
        <p:nvSpPr>
          <p:cNvPr id="34" name="TextBox 33"/>
          <p:cNvSpPr txBox="1"/>
          <p:nvPr/>
        </p:nvSpPr>
        <p:spPr>
          <a:xfrm>
            <a:off x="1042416" y="5943600"/>
            <a:ext cx="4864608" cy="603504"/>
          </a:xfrm>
          <a:prstGeom prst="rect">
            <a:avLst/>
          </a:prstGeom>
          <a:noFill/>
        </p:spPr>
        <p:txBody>
          <a:bodyPr wrap="square">
            <a:spAutoFit/>
          </a:bodyPr>
          <a:lstStyle/>
          <a:p>
            <a:pPr algn="l"/>
            <a:r>
              <a:rPr sz="900" b="0" i="0">
                <a:solidFill>
                  <a:srgbClr val="A0AAB8"/>
                </a:solidFill>
                <a:latin typeface="Calibri"/>
              </a:rPr>
              <a:t>Does the risk gate reduce unintended offensive actions without significantly reducing coverage?</a:t>
            </a:r>
          </a:p>
        </p:txBody>
      </p:sp>
      <p:sp>
        <p:nvSpPr>
          <p:cNvPr id="35" name="Rectangle 34"/>
          <p:cNvSpPr/>
          <p:nvPr/>
        </p:nvSpPr>
        <p:spPr>
          <a:xfrm>
            <a:off x="6199632" y="987552"/>
            <a:ext cx="5790895" cy="2103120"/>
          </a:xfrm>
          <a:prstGeom prst="rect">
            <a:avLst/>
          </a:prstGeom>
          <a:solidFill>
            <a:srgbClr val="04180C"/>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199632" y="987552"/>
            <a:ext cx="5790895" cy="292608"/>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199632" y="1024128"/>
            <a:ext cx="5790895" cy="237744"/>
          </a:xfrm>
          <a:prstGeom prst="rect">
            <a:avLst/>
          </a:prstGeom>
          <a:noFill/>
        </p:spPr>
        <p:txBody>
          <a:bodyPr wrap="square">
            <a:spAutoFit/>
          </a:bodyPr>
          <a:lstStyle/>
          <a:p>
            <a:pPr algn="ctr"/>
            <a:r>
              <a:rPr sz="1000" b="1" i="0">
                <a:solidFill>
                  <a:srgbClr val="0A0D1A"/>
                </a:solidFill>
                <a:latin typeface="Calibri"/>
              </a:rPr>
              <a:t>EVALUATION METRICS</a:t>
            </a:r>
          </a:p>
        </p:txBody>
      </p:sp>
      <p:sp>
        <p:nvSpPr>
          <p:cNvPr id="38" name="Rectangle 37"/>
          <p:cNvSpPr/>
          <p:nvPr/>
        </p:nvSpPr>
        <p:spPr>
          <a:xfrm>
            <a:off x="6291072" y="1316736"/>
            <a:ext cx="5608015" cy="292608"/>
          </a:xfrm>
          <a:prstGeom prst="rect">
            <a:avLst/>
          </a:prstGeom>
          <a:solidFill>
            <a:srgbClr val="06220E"/>
          </a:solidFill>
          <a:ln w="50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64224" y="1353312"/>
            <a:ext cx="1737360" cy="219456"/>
          </a:xfrm>
          <a:prstGeom prst="rect">
            <a:avLst/>
          </a:prstGeom>
          <a:noFill/>
        </p:spPr>
        <p:txBody>
          <a:bodyPr wrap="square">
            <a:spAutoFit/>
          </a:bodyPr>
          <a:lstStyle/>
          <a:p>
            <a:pPr algn="l"/>
            <a:r>
              <a:rPr sz="850" b="1" i="0">
                <a:solidFill>
                  <a:srgbClr val="39FF14"/>
                </a:solidFill>
                <a:latin typeface="Calibri"/>
              </a:rPr>
              <a:t>Vulnerability Coverage</a:t>
            </a:r>
          </a:p>
        </p:txBody>
      </p:sp>
      <p:sp>
        <p:nvSpPr>
          <p:cNvPr id="40" name="TextBox 39"/>
          <p:cNvSpPr txBox="1"/>
          <p:nvPr/>
        </p:nvSpPr>
        <p:spPr>
          <a:xfrm>
            <a:off x="8119872" y="1353312"/>
            <a:ext cx="3742639" cy="219456"/>
          </a:xfrm>
          <a:prstGeom prst="rect">
            <a:avLst/>
          </a:prstGeom>
          <a:noFill/>
        </p:spPr>
        <p:txBody>
          <a:bodyPr wrap="square">
            <a:spAutoFit/>
          </a:bodyPr>
          <a:lstStyle/>
          <a:p>
            <a:pPr algn="l"/>
            <a:r>
              <a:rPr sz="850" b="0" i="0">
                <a:solidFill>
                  <a:srgbClr val="A0AAB8"/>
                </a:solidFill>
                <a:latin typeface="Calibri"/>
              </a:rPr>
              <a:t>% of known vulns discovered vs ground truth per machine</a:t>
            </a:r>
          </a:p>
        </p:txBody>
      </p:sp>
      <p:sp>
        <p:nvSpPr>
          <p:cNvPr id="41" name="Rectangle 40"/>
          <p:cNvSpPr/>
          <p:nvPr/>
        </p:nvSpPr>
        <p:spPr>
          <a:xfrm>
            <a:off x="6291072" y="1664208"/>
            <a:ext cx="5608015" cy="292608"/>
          </a:xfrm>
          <a:prstGeom prst="rect">
            <a:avLst/>
          </a:prstGeom>
          <a:solidFill>
            <a:srgbClr val="06220E"/>
          </a:solidFill>
          <a:ln w="50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64224" y="1700784"/>
            <a:ext cx="1737360" cy="219456"/>
          </a:xfrm>
          <a:prstGeom prst="rect">
            <a:avLst/>
          </a:prstGeom>
          <a:noFill/>
        </p:spPr>
        <p:txBody>
          <a:bodyPr wrap="square">
            <a:spAutoFit/>
          </a:bodyPr>
          <a:lstStyle/>
          <a:p>
            <a:pPr algn="l"/>
            <a:r>
              <a:rPr sz="850" b="1" i="0">
                <a:solidFill>
                  <a:srgbClr val="39FF14"/>
                </a:solidFill>
                <a:latin typeface="Calibri"/>
              </a:rPr>
              <a:t>Chain Precision</a:t>
            </a:r>
          </a:p>
        </p:txBody>
      </p:sp>
      <p:sp>
        <p:nvSpPr>
          <p:cNvPr id="43" name="TextBox 42"/>
          <p:cNvSpPr txBox="1"/>
          <p:nvPr/>
        </p:nvSpPr>
        <p:spPr>
          <a:xfrm>
            <a:off x="8119872" y="1700784"/>
            <a:ext cx="3742639" cy="219456"/>
          </a:xfrm>
          <a:prstGeom prst="rect">
            <a:avLst/>
          </a:prstGeom>
          <a:noFill/>
        </p:spPr>
        <p:txBody>
          <a:bodyPr wrap="square">
            <a:spAutoFit/>
          </a:bodyPr>
          <a:lstStyle/>
          <a:p>
            <a:pPr algn="l"/>
            <a:r>
              <a:rPr sz="850" b="0" i="0">
                <a:solidFill>
                  <a:srgbClr val="A0AAB8"/>
                </a:solidFill>
                <a:latin typeface="Calibri"/>
              </a:rPr>
              <a:t>% of APG AttackChains that result in VALIDATED status</a:t>
            </a:r>
          </a:p>
        </p:txBody>
      </p:sp>
      <p:sp>
        <p:nvSpPr>
          <p:cNvPr id="44" name="Rectangle 43"/>
          <p:cNvSpPr/>
          <p:nvPr/>
        </p:nvSpPr>
        <p:spPr>
          <a:xfrm>
            <a:off x="6291072" y="2011680"/>
            <a:ext cx="5608015" cy="292608"/>
          </a:xfrm>
          <a:prstGeom prst="rect">
            <a:avLst/>
          </a:prstGeom>
          <a:solidFill>
            <a:srgbClr val="06220E"/>
          </a:solidFill>
          <a:ln w="50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64224" y="2048256"/>
            <a:ext cx="1737360" cy="219456"/>
          </a:xfrm>
          <a:prstGeom prst="rect">
            <a:avLst/>
          </a:prstGeom>
          <a:noFill/>
        </p:spPr>
        <p:txBody>
          <a:bodyPr wrap="square">
            <a:spAutoFit/>
          </a:bodyPr>
          <a:lstStyle/>
          <a:p>
            <a:pPr algn="l"/>
            <a:r>
              <a:rPr sz="850" b="1" i="0">
                <a:solidFill>
                  <a:srgbClr val="39FF14"/>
                </a:solidFill>
                <a:latin typeface="Calibri"/>
              </a:rPr>
              <a:t>Time-to-Finding</a:t>
            </a:r>
          </a:p>
        </p:txBody>
      </p:sp>
      <p:sp>
        <p:nvSpPr>
          <p:cNvPr id="46" name="TextBox 45"/>
          <p:cNvSpPr txBox="1"/>
          <p:nvPr/>
        </p:nvSpPr>
        <p:spPr>
          <a:xfrm>
            <a:off x="8119872" y="2048256"/>
            <a:ext cx="3742639" cy="219456"/>
          </a:xfrm>
          <a:prstGeom prst="rect">
            <a:avLst/>
          </a:prstGeom>
          <a:noFill/>
        </p:spPr>
        <p:txBody>
          <a:bodyPr wrap="square">
            <a:spAutoFit/>
          </a:bodyPr>
          <a:lstStyle/>
          <a:p>
            <a:pPr algn="l"/>
            <a:r>
              <a:rPr sz="850" b="0" i="0">
                <a:solidFill>
                  <a:srgbClr val="A0AAB8"/>
                </a:solidFill>
                <a:latin typeface="Calibri"/>
              </a:rPr>
              <a:t>Wall-clock time from mission start to first VALIDATED chain</a:t>
            </a:r>
          </a:p>
        </p:txBody>
      </p:sp>
      <p:sp>
        <p:nvSpPr>
          <p:cNvPr id="47" name="Rectangle 46"/>
          <p:cNvSpPr/>
          <p:nvPr/>
        </p:nvSpPr>
        <p:spPr>
          <a:xfrm>
            <a:off x="6291072" y="2359152"/>
            <a:ext cx="5608015" cy="292608"/>
          </a:xfrm>
          <a:prstGeom prst="rect">
            <a:avLst/>
          </a:prstGeom>
          <a:solidFill>
            <a:srgbClr val="06220E"/>
          </a:solidFill>
          <a:ln w="50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364224" y="2395728"/>
            <a:ext cx="1737360" cy="219456"/>
          </a:xfrm>
          <a:prstGeom prst="rect">
            <a:avLst/>
          </a:prstGeom>
          <a:noFill/>
        </p:spPr>
        <p:txBody>
          <a:bodyPr wrap="square">
            <a:spAutoFit/>
          </a:bodyPr>
          <a:lstStyle/>
          <a:p>
            <a:pPr algn="l"/>
            <a:r>
              <a:rPr sz="850" b="1" i="0">
                <a:solidFill>
                  <a:srgbClr val="39FF14"/>
                </a:solidFill>
                <a:latin typeface="Calibri"/>
              </a:rPr>
              <a:t>False Early-Stop Rate</a:t>
            </a:r>
          </a:p>
        </p:txBody>
      </p:sp>
      <p:sp>
        <p:nvSpPr>
          <p:cNvPr id="49" name="TextBox 48"/>
          <p:cNvSpPr txBox="1"/>
          <p:nvPr/>
        </p:nvSpPr>
        <p:spPr>
          <a:xfrm>
            <a:off x="8119872" y="2395728"/>
            <a:ext cx="3742639" cy="219456"/>
          </a:xfrm>
          <a:prstGeom prst="rect">
            <a:avLst/>
          </a:prstGeom>
          <a:noFill/>
        </p:spPr>
        <p:txBody>
          <a:bodyPr wrap="square">
            <a:spAutoFit/>
          </a:bodyPr>
          <a:lstStyle/>
          <a:p>
            <a:pPr algn="l"/>
            <a:r>
              <a:rPr sz="850" b="0" i="0">
                <a:solidFill>
                  <a:srgbClr val="A0AAB8"/>
                </a:solidFill>
                <a:latin typeface="Calibri"/>
              </a:rPr>
              <a:t>% of missions terminated before surface exhaustion</a:t>
            </a:r>
          </a:p>
        </p:txBody>
      </p:sp>
      <p:sp>
        <p:nvSpPr>
          <p:cNvPr id="50" name="Rectangle 49"/>
          <p:cNvSpPr/>
          <p:nvPr/>
        </p:nvSpPr>
        <p:spPr>
          <a:xfrm>
            <a:off x="6291072" y="2706624"/>
            <a:ext cx="5608015" cy="292608"/>
          </a:xfrm>
          <a:prstGeom prst="rect">
            <a:avLst/>
          </a:prstGeom>
          <a:solidFill>
            <a:srgbClr val="06220E"/>
          </a:solidFill>
          <a:ln w="50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364224" y="2743200"/>
            <a:ext cx="1737360" cy="219456"/>
          </a:xfrm>
          <a:prstGeom prst="rect">
            <a:avLst/>
          </a:prstGeom>
          <a:noFill/>
        </p:spPr>
        <p:txBody>
          <a:bodyPr wrap="square">
            <a:spAutoFit/>
          </a:bodyPr>
          <a:lstStyle/>
          <a:p>
            <a:pPr algn="l"/>
            <a:r>
              <a:rPr sz="850" b="1" i="0">
                <a:solidFill>
                  <a:srgbClr val="39FF14"/>
                </a:solidFill>
                <a:latin typeface="Calibri"/>
              </a:rPr>
              <a:t>Tool Call Efficiency</a:t>
            </a:r>
          </a:p>
        </p:txBody>
      </p:sp>
      <p:sp>
        <p:nvSpPr>
          <p:cNvPr id="52" name="TextBox 51"/>
          <p:cNvSpPr txBox="1"/>
          <p:nvPr/>
        </p:nvSpPr>
        <p:spPr>
          <a:xfrm>
            <a:off x="8119872" y="2743200"/>
            <a:ext cx="3742639" cy="219456"/>
          </a:xfrm>
          <a:prstGeom prst="rect">
            <a:avLst/>
          </a:prstGeom>
          <a:noFill/>
        </p:spPr>
        <p:txBody>
          <a:bodyPr wrap="square">
            <a:spAutoFit/>
          </a:bodyPr>
          <a:lstStyle/>
          <a:p>
            <a:pPr algn="l"/>
            <a:r>
              <a:rPr sz="850" b="0" i="0">
                <a:solidFill>
                  <a:srgbClr val="A0AAB8"/>
                </a:solidFill>
                <a:latin typeface="Calibri"/>
              </a:rPr>
              <a:t>Mean tool calls to first VALIDATED chain per target</a:t>
            </a:r>
          </a:p>
        </p:txBody>
      </p:sp>
      <p:sp>
        <p:nvSpPr>
          <p:cNvPr id="53" name="Rectangle 52"/>
          <p:cNvSpPr/>
          <p:nvPr/>
        </p:nvSpPr>
        <p:spPr>
          <a:xfrm>
            <a:off x="6199632" y="3182112"/>
            <a:ext cx="5790895" cy="1463040"/>
          </a:xfrm>
          <a:prstGeom prst="rect">
            <a:avLst/>
          </a:prstGeom>
          <a:solidFill>
            <a:srgbClr val="140606"/>
          </a:solidFill>
          <a:ln w="17780">
            <a:solidFill>
              <a:srgbClr val="FF45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199632" y="3182112"/>
            <a:ext cx="5790895" cy="292608"/>
          </a:xfrm>
          <a:prstGeom prst="rect">
            <a:avLst/>
          </a:prstGeom>
          <a:solidFill>
            <a:srgbClr val="FF4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199632" y="3218688"/>
            <a:ext cx="5790895" cy="237744"/>
          </a:xfrm>
          <a:prstGeom prst="rect">
            <a:avLst/>
          </a:prstGeom>
          <a:noFill/>
        </p:spPr>
        <p:txBody>
          <a:bodyPr wrap="square">
            <a:spAutoFit/>
          </a:bodyPr>
          <a:lstStyle/>
          <a:p>
            <a:pPr algn="ctr"/>
            <a:r>
              <a:rPr sz="1000" b="1" i="0">
                <a:solidFill>
                  <a:srgbClr val="FFFFFF"/>
                </a:solidFill>
                <a:latin typeface="Calibri"/>
              </a:rPr>
              <a:t>BASELINES</a:t>
            </a:r>
          </a:p>
        </p:txBody>
      </p:sp>
      <p:sp>
        <p:nvSpPr>
          <p:cNvPr id="56" name="TextBox 55"/>
          <p:cNvSpPr txBox="1"/>
          <p:nvPr/>
        </p:nvSpPr>
        <p:spPr>
          <a:xfrm>
            <a:off x="6364224" y="3529584"/>
            <a:ext cx="5516575" cy="292608"/>
          </a:xfrm>
          <a:prstGeom prst="rect">
            <a:avLst/>
          </a:prstGeom>
          <a:noFill/>
        </p:spPr>
        <p:txBody>
          <a:bodyPr wrap="square">
            <a:spAutoFit/>
          </a:bodyPr>
          <a:lstStyle/>
          <a:p>
            <a:pPr algn="l"/>
            <a:r>
              <a:rPr sz="900" b="0" i="0">
                <a:solidFill>
                  <a:srgbClr val="A0AAB8"/>
                </a:solidFill>
                <a:latin typeface="Calibri"/>
              </a:rPr>
              <a:t>✕  PentestGPT:  Task-tree memory, no ASG/APG graph split  →  tests RQ1</a:t>
            </a:r>
          </a:p>
        </p:txBody>
      </p:sp>
      <p:sp>
        <p:nvSpPr>
          <p:cNvPr id="57" name="TextBox 56"/>
          <p:cNvSpPr txBox="1"/>
          <p:nvPr/>
        </p:nvSpPr>
        <p:spPr>
          <a:xfrm>
            <a:off x="6364224" y="3877056"/>
            <a:ext cx="5516575" cy="292608"/>
          </a:xfrm>
          <a:prstGeom prst="rect">
            <a:avLst/>
          </a:prstGeom>
          <a:noFill/>
        </p:spPr>
        <p:txBody>
          <a:bodyPr wrap="square">
            <a:spAutoFit/>
          </a:bodyPr>
          <a:lstStyle/>
          <a:p>
            <a:pPr algn="l"/>
            <a:r>
              <a:rPr sz="900" b="0" i="0">
                <a:solidFill>
                  <a:srgbClr val="A0AAB8"/>
                </a:solidFill>
                <a:latin typeface="Calibri"/>
              </a:rPr>
              <a:t>✕  VulnBot:  Single unified PTG, no surface/path separation  →  tests RQ1</a:t>
            </a:r>
          </a:p>
        </p:txBody>
      </p:sp>
      <p:sp>
        <p:nvSpPr>
          <p:cNvPr id="58" name="TextBox 57"/>
          <p:cNvSpPr txBox="1"/>
          <p:nvPr/>
        </p:nvSpPr>
        <p:spPr>
          <a:xfrm>
            <a:off x="6364224" y="4224528"/>
            <a:ext cx="5516575" cy="292608"/>
          </a:xfrm>
          <a:prstGeom prst="rect">
            <a:avLst/>
          </a:prstGeom>
          <a:noFill/>
        </p:spPr>
        <p:txBody>
          <a:bodyPr wrap="square">
            <a:spAutoFit/>
          </a:bodyPr>
          <a:lstStyle/>
          <a:p>
            <a:pPr algn="l"/>
            <a:r>
              <a:rPr sz="900" b="0" i="0">
                <a:solidFill>
                  <a:srgbClr val="A0AAB8"/>
                </a:solidFill>
                <a:latin typeface="Calibri"/>
              </a:rPr>
              <a:t>✕  PentestAgent:  RAG-retrieval memory, no cross-mission learning  →  tests RQ3</a:t>
            </a:r>
          </a:p>
        </p:txBody>
      </p:sp>
      <p:sp>
        <p:nvSpPr>
          <p:cNvPr id="59" name="Rectangle 58"/>
          <p:cNvSpPr/>
          <p:nvPr/>
        </p:nvSpPr>
        <p:spPr>
          <a:xfrm>
            <a:off x="6199632" y="4736592"/>
            <a:ext cx="5790895" cy="2103120"/>
          </a:xfrm>
          <a:prstGeom prst="rect">
            <a:avLst/>
          </a:prstGeom>
          <a:solidFill>
            <a:srgbClr val="081022"/>
          </a:solidFill>
          <a:ln w="177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199632" y="4736592"/>
            <a:ext cx="5790895" cy="292608"/>
          </a:xfrm>
          <a:prstGeom prst="rect">
            <a:avLst/>
          </a:prstGeom>
          <a:solidFill>
            <a:srgbClr val="BD93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199632" y="4773168"/>
            <a:ext cx="5790895" cy="237744"/>
          </a:xfrm>
          <a:prstGeom prst="rect">
            <a:avLst/>
          </a:prstGeom>
          <a:noFill/>
        </p:spPr>
        <p:txBody>
          <a:bodyPr wrap="square">
            <a:spAutoFit/>
          </a:bodyPr>
          <a:lstStyle/>
          <a:p>
            <a:pPr algn="ctr"/>
            <a:r>
              <a:rPr sz="1000" b="1" i="0">
                <a:solidFill>
                  <a:srgbClr val="0A0D1A"/>
                </a:solidFill>
                <a:latin typeface="Calibri"/>
              </a:rPr>
              <a:t>ABLATION STUDY</a:t>
            </a:r>
          </a:p>
        </p:txBody>
      </p:sp>
      <p:sp>
        <p:nvSpPr>
          <p:cNvPr id="62" name="Rectangle 61"/>
          <p:cNvSpPr/>
          <p:nvPr/>
        </p:nvSpPr>
        <p:spPr>
          <a:xfrm>
            <a:off x="6291072" y="5084064"/>
            <a:ext cx="5608015" cy="365760"/>
          </a:xfrm>
          <a:prstGeom prst="rect">
            <a:avLst/>
          </a:prstGeom>
          <a:solidFill>
            <a:srgbClr val="0C0E26"/>
          </a:solidFill>
          <a:ln w="50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364224" y="5120640"/>
            <a:ext cx="1463040" cy="274320"/>
          </a:xfrm>
          <a:prstGeom prst="rect">
            <a:avLst/>
          </a:prstGeom>
          <a:noFill/>
        </p:spPr>
        <p:txBody>
          <a:bodyPr wrap="square">
            <a:spAutoFit/>
          </a:bodyPr>
          <a:lstStyle/>
          <a:p>
            <a:pPr algn="l"/>
            <a:r>
              <a:rPr sz="900" b="1" i="0">
                <a:solidFill>
                  <a:srgbClr val="BD93F9"/>
                </a:solidFill>
                <a:latin typeface="Calibri"/>
              </a:rPr>
              <a:t>A1 — No dual-graph</a:t>
            </a:r>
          </a:p>
        </p:txBody>
      </p:sp>
      <p:sp>
        <p:nvSpPr>
          <p:cNvPr id="64" name="TextBox 63"/>
          <p:cNvSpPr txBox="1"/>
          <p:nvPr/>
        </p:nvSpPr>
        <p:spPr>
          <a:xfrm>
            <a:off x="7863840" y="5120640"/>
            <a:ext cx="3980383" cy="274320"/>
          </a:xfrm>
          <a:prstGeom prst="rect">
            <a:avLst/>
          </a:prstGeom>
          <a:noFill/>
        </p:spPr>
        <p:txBody>
          <a:bodyPr wrap="square">
            <a:spAutoFit/>
          </a:bodyPr>
          <a:lstStyle/>
          <a:p>
            <a:pPr algn="l"/>
            <a:r>
              <a:rPr sz="900" b="0" i="0">
                <a:solidFill>
                  <a:srgbClr val="A0AAB8"/>
                </a:solidFill>
                <a:latin typeface="Calibri"/>
              </a:rPr>
              <a:t>CMatrix with flat history only (remove ASG + APG)</a:t>
            </a:r>
          </a:p>
        </p:txBody>
      </p:sp>
      <p:sp>
        <p:nvSpPr>
          <p:cNvPr id="65" name="Rectangle 64"/>
          <p:cNvSpPr/>
          <p:nvPr/>
        </p:nvSpPr>
        <p:spPr>
          <a:xfrm>
            <a:off x="6291072" y="5504688"/>
            <a:ext cx="5608015" cy="365760"/>
          </a:xfrm>
          <a:prstGeom prst="rect">
            <a:avLst/>
          </a:prstGeom>
          <a:solidFill>
            <a:srgbClr val="0C0E26"/>
          </a:solidFill>
          <a:ln w="50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364224" y="5541264"/>
            <a:ext cx="1463040" cy="274320"/>
          </a:xfrm>
          <a:prstGeom prst="rect">
            <a:avLst/>
          </a:prstGeom>
          <a:noFill/>
        </p:spPr>
        <p:txBody>
          <a:bodyPr wrap="square">
            <a:spAutoFit/>
          </a:bodyPr>
          <a:lstStyle/>
          <a:p>
            <a:pPr algn="l"/>
            <a:r>
              <a:rPr sz="900" b="1" i="0">
                <a:solidFill>
                  <a:srgbClr val="BD93F9"/>
                </a:solidFill>
                <a:latin typeface="Calibri"/>
              </a:rPr>
              <a:t>A2 — ASG only</a:t>
            </a:r>
          </a:p>
        </p:txBody>
      </p:sp>
      <p:sp>
        <p:nvSpPr>
          <p:cNvPr id="67" name="TextBox 66"/>
          <p:cNvSpPr txBox="1"/>
          <p:nvPr/>
        </p:nvSpPr>
        <p:spPr>
          <a:xfrm>
            <a:off x="7863840" y="5541264"/>
            <a:ext cx="3980383" cy="274320"/>
          </a:xfrm>
          <a:prstGeom prst="rect">
            <a:avLst/>
          </a:prstGeom>
          <a:noFill/>
        </p:spPr>
        <p:txBody>
          <a:bodyPr wrap="square">
            <a:spAutoFit/>
          </a:bodyPr>
          <a:lstStyle/>
          <a:p>
            <a:pPr algn="l"/>
            <a:r>
              <a:rPr sz="900" b="0" i="0">
                <a:solidFill>
                  <a:srgbClr val="A0AAB8"/>
                </a:solidFill>
                <a:latin typeface="Calibri"/>
              </a:rPr>
              <a:t>CMatrix with ASG discovery but no APG reasoning</a:t>
            </a:r>
          </a:p>
        </p:txBody>
      </p:sp>
      <p:sp>
        <p:nvSpPr>
          <p:cNvPr id="68" name="Rectangle 67"/>
          <p:cNvSpPr/>
          <p:nvPr/>
        </p:nvSpPr>
        <p:spPr>
          <a:xfrm>
            <a:off x="6291072" y="5925312"/>
            <a:ext cx="5608015" cy="365760"/>
          </a:xfrm>
          <a:prstGeom prst="rect">
            <a:avLst/>
          </a:prstGeom>
          <a:solidFill>
            <a:srgbClr val="0C0E26"/>
          </a:solidFill>
          <a:ln w="50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364224" y="5961888"/>
            <a:ext cx="1463040" cy="274320"/>
          </a:xfrm>
          <a:prstGeom prst="rect">
            <a:avLst/>
          </a:prstGeom>
          <a:noFill/>
        </p:spPr>
        <p:txBody>
          <a:bodyPr wrap="square">
            <a:spAutoFit/>
          </a:bodyPr>
          <a:lstStyle/>
          <a:p>
            <a:pPr algn="l"/>
            <a:r>
              <a:rPr sz="900" b="1" i="0">
                <a:solidFill>
                  <a:srgbClr val="BD93F9"/>
                </a:solidFill>
                <a:latin typeface="Calibri"/>
              </a:rPr>
              <a:t>A3 — No compaction</a:t>
            </a:r>
          </a:p>
        </p:txBody>
      </p:sp>
      <p:sp>
        <p:nvSpPr>
          <p:cNvPr id="70" name="TextBox 69"/>
          <p:cNvSpPr txBox="1"/>
          <p:nvPr/>
        </p:nvSpPr>
        <p:spPr>
          <a:xfrm>
            <a:off x="7863840" y="5961888"/>
            <a:ext cx="3980383" cy="274320"/>
          </a:xfrm>
          <a:prstGeom prst="rect">
            <a:avLst/>
          </a:prstGeom>
          <a:noFill/>
        </p:spPr>
        <p:txBody>
          <a:bodyPr wrap="square">
            <a:spAutoFit/>
          </a:bodyPr>
          <a:lstStyle/>
          <a:p>
            <a:pPr algn="l"/>
            <a:r>
              <a:rPr sz="900" b="0" i="0">
                <a:solidFill>
                  <a:srgbClr val="A0AAB8"/>
                </a:solidFill>
                <a:latin typeface="Calibri"/>
              </a:rPr>
              <a:t>CMatrix with unlimited raw history, no lossless context compaction</a:t>
            </a:r>
          </a:p>
        </p:txBody>
      </p:sp>
      <p:sp>
        <p:nvSpPr>
          <p:cNvPr id="71" name="Rectangle 70"/>
          <p:cNvSpPr/>
          <p:nvPr/>
        </p:nvSpPr>
        <p:spPr>
          <a:xfrm>
            <a:off x="6291072" y="6345936"/>
            <a:ext cx="5608015" cy="365760"/>
          </a:xfrm>
          <a:prstGeom prst="rect">
            <a:avLst/>
          </a:prstGeom>
          <a:solidFill>
            <a:srgbClr val="0C0E26"/>
          </a:solidFill>
          <a:ln w="5080">
            <a:solidFill>
              <a:srgbClr val="BD93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364224" y="6382512"/>
            <a:ext cx="1463040" cy="274320"/>
          </a:xfrm>
          <a:prstGeom prst="rect">
            <a:avLst/>
          </a:prstGeom>
          <a:noFill/>
        </p:spPr>
        <p:txBody>
          <a:bodyPr wrap="square">
            <a:spAutoFit/>
          </a:bodyPr>
          <a:lstStyle/>
          <a:p>
            <a:pPr algn="l"/>
            <a:r>
              <a:rPr sz="900" b="1" i="0">
                <a:solidFill>
                  <a:srgbClr val="BD93F9"/>
                </a:solidFill>
                <a:latin typeface="Calibri"/>
              </a:rPr>
              <a:t>A4 — No learning</a:t>
            </a:r>
          </a:p>
        </p:txBody>
      </p:sp>
      <p:sp>
        <p:nvSpPr>
          <p:cNvPr id="73" name="TextBox 72"/>
          <p:cNvSpPr txBox="1"/>
          <p:nvPr/>
        </p:nvSpPr>
        <p:spPr>
          <a:xfrm>
            <a:off x="7863840" y="6382512"/>
            <a:ext cx="3980383" cy="274320"/>
          </a:xfrm>
          <a:prstGeom prst="rect">
            <a:avLst/>
          </a:prstGeom>
          <a:noFill/>
        </p:spPr>
        <p:txBody>
          <a:bodyPr wrap="square">
            <a:spAutoFit/>
          </a:bodyPr>
          <a:lstStyle/>
          <a:p>
            <a:pPr algn="l"/>
            <a:r>
              <a:rPr sz="900" b="0" i="0">
                <a:solidFill>
                  <a:srgbClr val="A0AAB8"/>
                </a:solidFill>
                <a:latin typeface="Calibri"/>
              </a:rPr>
              <a:t>CMatrix without cross-mission experience and attack strategy library</a:t>
            </a:r>
          </a:p>
        </p:txBody>
      </p:sp>
      <p:sp>
        <p:nvSpPr>
          <p:cNvPr id="74" name="TextBox 73"/>
          <p:cNvSpPr txBox="1"/>
          <p:nvPr/>
        </p:nvSpPr>
        <p:spPr>
          <a:xfrm>
            <a:off x="11780215" y="6355080"/>
            <a:ext cx="384048" cy="411480"/>
          </a:xfrm>
          <a:prstGeom prst="rect">
            <a:avLst/>
          </a:prstGeom>
          <a:noFill/>
        </p:spPr>
        <p:txBody>
          <a:bodyPr wrap="square">
            <a:spAutoFit/>
          </a:bodyPr>
          <a:lstStyle/>
          <a:p>
            <a:pPr algn="r"/>
            <a:r>
              <a:rPr sz="1300" b="1" i="0">
                <a:solidFill>
                  <a:srgbClr val="FFD700"/>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D1A"/>
        </a:solidFill>
        <a:effectLst/>
      </p:bgPr>
    </p:bg>
    <p:spTree>
      <p:nvGrpSpPr>
        <p:cNvPr id="1" name=""/>
        <p:cNvGrpSpPr/>
        <p:nvPr/>
      </p:nvGrpSpPr>
      <p:grpSpPr/>
      <p:sp>
        <p:nvSpPr>
          <p:cNvPr id="2" name="Rectangle 1"/>
          <p:cNvSpPr/>
          <p:nvPr/>
        </p:nvSpPr>
        <p:spPr>
          <a:xfrm>
            <a:off x="0" y="0"/>
            <a:ext cx="54864" cy="6858000"/>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 y="0"/>
            <a:ext cx="12136831" cy="36576"/>
          </a:xfrm>
          <a:prstGeom prst="rect">
            <a:avLst/>
          </a:prstGeom>
          <a:solidFill>
            <a:srgbClr val="39F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6821424"/>
            <a:ext cx="12136831" cy="36576"/>
          </a:xfrm>
          <a:prstGeom prst="rect">
            <a:avLst/>
          </a:prstGeom>
          <a:solidFill>
            <a:srgbClr val="00E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73152"/>
            <a:ext cx="4572000" cy="237744"/>
          </a:xfrm>
          <a:prstGeom prst="rect">
            <a:avLst/>
          </a:prstGeom>
          <a:noFill/>
        </p:spPr>
        <p:txBody>
          <a:bodyPr wrap="square">
            <a:spAutoFit/>
          </a:bodyPr>
          <a:lstStyle/>
          <a:p>
            <a:pPr algn="l"/>
            <a:r>
              <a:rPr sz="1000" b="1" i="0">
                <a:solidFill>
                  <a:srgbClr val="00E5FF"/>
                </a:solidFill>
                <a:latin typeface="Calibri"/>
              </a:rPr>
              <a:t>SUMMARY</a:t>
            </a:r>
          </a:p>
        </p:txBody>
      </p:sp>
      <p:sp>
        <p:nvSpPr>
          <p:cNvPr id="6" name="TextBox 5"/>
          <p:cNvSpPr txBox="1"/>
          <p:nvPr/>
        </p:nvSpPr>
        <p:spPr>
          <a:xfrm>
            <a:off x="274320" y="310896"/>
            <a:ext cx="11430000" cy="475488"/>
          </a:xfrm>
          <a:prstGeom prst="rect">
            <a:avLst/>
          </a:prstGeom>
          <a:noFill/>
        </p:spPr>
        <p:txBody>
          <a:bodyPr wrap="square">
            <a:spAutoFit/>
          </a:bodyPr>
          <a:lstStyle/>
          <a:p>
            <a:pPr algn="l"/>
            <a:r>
              <a:rPr sz="2800" b="1" i="0">
                <a:solidFill>
                  <a:srgbClr val="FFFFFF"/>
                </a:solidFill>
                <a:latin typeface="Calibri"/>
              </a:rPr>
              <a:t>CMatrix — What We Built, What We Claim, What We Need</a:t>
            </a:r>
          </a:p>
        </p:txBody>
      </p:sp>
      <p:sp>
        <p:nvSpPr>
          <p:cNvPr id="7" name="Rectangle 6"/>
          <p:cNvSpPr/>
          <p:nvPr/>
        </p:nvSpPr>
        <p:spPr>
          <a:xfrm>
            <a:off x="274320" y="841248"/>
            <a:ext cx="10058400" cy="27432"/>
          </a:xfrm>
          <a:prstGeom prst="rect">
            <a:avLst/>
          </a:prstGeom>
          <a:solidFill>
            <a:srgbClr val="A0AA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987552"/>
            <a:ext cx="5029200" cy="1508760"/>
          </a:xfrm>
          <a:prstGeom prst="rect">
            <a:avLst/>
          </a:prstGeom>
          <a:solidFill>
            <a:srgbClr val="041222"/>
          </a:solidFill>
          <a:ln w="2032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4048" y="1042416"/>
            <a:ext cx="4846320" cy="201168"/>
          </a:xfrm>
          <a:prstGeom prst="rect">
            <a:avLst/>
          </a:prstGeom>
          <a:noFill/>
        </p:spPr>
        <p:txBody>
          <a:bodyPr wrap="square">
            <a:spAutoFit/>
          </a:bodyPr>
          <a:lstStyle/>
          <a:p>
            <a:pPr algn="l"/>
            <a:r>
              <a:rPr sz="1000" b="1" i="0">
                <a:solidFill>
                  <a:srgbClr val="00E5FF"/>
                </a:solidFill>
                <a:latin typeface="Calibri"/>
              </a:rPr>
              <a:t>WHAT CMATRIX IS</a:t>
            </a:r>
          </a:p>
        </p:txBody>
      </p:sp>
      <p:sp>
        <p:nvSpPr>
          <p:cNvPr id="10" name="TextBox 9"/>
          <p:cNvSpPr txBox="1"/>
          <p:nvPr/>
        </p:nvSpPr>
        <p:spPr>
          <a:xfrm>
            <a:off x="402336" y="1298448"/>
            <a:ext cx="4809744" cy="1152144"/>
          </a:xfrm>
          <a:prstGeom prst="rect">
            <a:avLst/>
          </a:prstGeom>
          <a:noFill/>
        </p:spPr>
        <p:txBody>
          <a:bodyPr wrap="square">
            <a:spAutoFit/>
          </a:bodyPr>
          <a:lstStyle/>
          <a:p>
            <a:pPr algn="l"/>
            <a:r>
              <a:rPr sz="1050" b="0" i="0">
                <a:solidFill>
                  <a:srgbClr val="A0AAB8"/>
                </a:solidFill>
                <a:latin typeface="Calibri"/>
              </a:rPr>
              <a:t>A dual-graph-guided, LLM-orchestrated multi-agent framework for autonomous Vulnerability Assessment and Penetration Testing.  It maintains two strictly separated graph structures — the ASG (what the target is) and the APG (what can be done to it) — and uses both to plan, dispatch, validate, and formally terminate a complete VAPT engagement without human intervention.</a:t>
            </a:r>
          </a:p>
        </p:txBody>
      </p:sp>
      <p:sp>
        <p:nvSpPr>
          <p:cNvPr id="11" name="Rectangle 10"/>
          <p:cNvSpPr/>
          <p:nvPr/>
        </p:nvSpPr>
        <p:spPr>
          <a:xfrm>
            <a:off x="274320" y="2615184"/>
            <a:ext cx="5029200" cy="4105656"/>
          </a:xfrm>
          <a:prstGeom prst="rect">
            <a:avLst/>
          </a:prstGeom>
          <a:solidFill>
            <a:srgbClr val="04180C"/>
          </a:solidFill>
          <a:ln w="1778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4048" y="2670048"/>
            <a:ext cx="4846320" cy="201168"/>
          </a:xfrm>
          <a:prstGeom prst="rect">
            <a:avLst/>
          </a:prstGeom>
          <a:noFill/>
        </p:spPr>
        <p:txBody>
          <a:bodyPr wrap="square">
            <a:spAutoFit/>
          </a:bodyPr>
          <a:lstStyle/>
          <a:p>
            <a:pPr algn="l"/>
            <a:r>
              <a:rPr sz="1000" b="1" i="0">
                <a:solidFill>
                  <a:srgbClr val="39FF14"/>
                </a:solidFill>
                <a:latin typeface="Calibri"/>
              </a:rPr>
              <a:t>CURRENT STATUS</a:t>
            </a:r>
          </a:p>
        </p:txBody>
      </p:sp>
      <p:sp>
        <p:nvSpPr>
          <p:cNvPr id="13" name="TextBox 12"/>
          <p:cNvSpPr txBox="1"/>
          <p:nvPr/>
        </p:nvSpPr>
        <p:spPr>
          <a:xfrm>
            <a:off x="402336" y="2926080"/>
            <a:ext cx="4809744" cy="292608"/>
          </a:xfrm>
          <a:prstGeom prst="rect">
            <a:avLst/>
          </a:prstGeom>
          <a:noFill/>
        </p:spPr>
        <p:txBody>
          <a:bodyPr wrap="square">
            <a:spAutoFit/>
          </a:bodyPr>
          <a:lstStyle/>
          <a:p>
            <a:pPr algn="l"/>
            <a:r>
              <a:rPr sz="1050" b="1" i="0">
                <a:solidFill>
                  <a:srgbClr val="FFFFFF"/>
                </a:solidFill>
                <a:latin typeface="Calibri"/>
              </a:rPr>
              <a:t>We are currently in the architecture proposal phase, prior to implementation.</a:t>
            </a:r>
          </a:p>
        </p:txBody>
      </p:sp>
      <p:sp>
        <p:nvSpPr>
          <p:cNvPr id="14" name="TextBox 13"/>
          <p:cNvSpPr txBox="1"/>
          <p:nvPr/>
        </p:nvSpPr>
        <p:spPr>
          <a:xfrm>
            <a:off x="402336" y="3291840"/>
            <a:ext cx="4809744" cy="310896"/>
          </a:xfrm>
          <a:prstGeom prst="rect">
            <a:avLst/>
          </a:prstGeom>
          <a:noFill/>
        </p:spPr>
        <p:txBody>
          <a:bodyPr wrap="square">
            <a:spAutoFit/>
          </a:bodyPr>
          <a:lstStyle/>
          <a:p>
            <a:pPr algn="l"/>
            <a:r>
              <a:rPr sz="900" b="0" i="0">
                <a:solidFill>
                  <a:srgbClr val="A0AAB8"/>
                </a:solidFill>
                <a:latin typeface="Calibri"/>
              </a:rPr>
              <a:t>→  All 12 contributions are fully specified at the architecture level - no implementation has begun.</a:t>
            </a:r>
          </a:p>
        </p:txBody>
      </p:sp>
      <p:sp>
        <p:nvSpPr>
          <p:cNvPr id="15" name="TextBox 14"/>
          <p:cNvSpPr txBox="1"/>
          <p:nvPr/>
        </p:nvSpPr>
        <p:spPr>
          <a:xfrm>
            <a:off x="402336" y="3639312"/>
            <a:ext cx="4809744" cy="310896"/>
          </a:xfrm>
          <a:prstGeom prst="rect">
            <a:avLst/>
          </a:prstGeom>
          <a:noFill/>
        </p:spPr>
        <p:txBody>
          <a:bodyPr wrap="square">
            <a:spAutoFit/>
          </a:bodyPr>
          <a:lstStyle/>
          <a:p>
            <a:pPr algn="l"/>
            <a:r>
              <a:rPr sz="900" b="0" i="0">
                <a:solidFill>
                  <a:srgbClr val="A0AAB8"/>
                </a:solidFill>
                <a:latin typeface="Calibri"/>
              </a:rPr>
              <a:t>→  Some contributions are more load-bearing than others - prioritization hasn't been finalized.</a:t>
            </a:r>
          </a:p>
        </p:txBody>
      </p:sp>
      <p:sp>
        <p:nvSpPr>
          <p:cNvPr id="16" name="TextBox 15"/>
          <p:cNvSpPr txBox="1"/>
          <p:nvPr/>
        </p:nvSpPr>
        <p:spPr>
          <a:xfrm>
            <a:off x="402336" y="3986784"/>
            <a:ext cx="4809744" cy="310896"/>
          </a:xfrm>
          <a:prstGeom prst="rect">
            <a:avLst/>
          </a:prstGeom>
          <a:noFill/>
        </p:spPr>
        <p:txBody>
          <a:bodyPr wrap="square">
            <a:spAutoFit/>
          </a:bodyPr>
          <a:lstStyle/>
          <a:p>
            <a:pPr algn="l"/>
            <a:r>
              <a:rPr sz="900" b="0" i="0">
                <a:solidFill>
                  <a:srgbClr val="A0AAB8"/>
                </a:solidFill>
                <a:latin typeface="Calibri"/>
              </a:rPr>
              <a:t>→  HTB/THM evaluation plan is outlined but not yet run.</a:t>
            </a:r>
          </a:p>
        </p:txBody>
      </p:sp>
      <p:sp>
        <p:nvSpPr>
          <p:cNvPr id="17" name="TextBox 16"/>
          <p:cNvSpPr txBox="1"/>
          <p:nvPr/>
        </p:nvSpPr>
        <p:spPr>
          <a:xfrm>
            <a:off x="402336" y="4334256"/>
            <a:ext cx="4809744" cy="310896"/>
          </a:xfrm>
          <a:prstGeom prst="rect">
            <a:avLst/>
          </a:prstGeom>
          <a:noFill/>
        </p:spPr>
        <p:txBody>
          <a:bodyPr wrap="square">
            <a:spAutoFit/>
          </a:bodyPr>
          <a:lstStyle/>
          <a:p>
            <a:pPr algn="l"/>
            <a:r>
              <a:rPr sz="900" b="0" i="0">
                <a:solidFill>
                  <a:srgbClr val="A0AAB8"/>
                </a:solidFill>
                <a:latin typeface="Calibri"/>
              </a:rPr>
              <a:t>→  This meeting is seeking scope and direction sign-off before implementation work starts.</a:t>
            </a:r>
          </a:p>
        </p:txBody>
      </p:sp>
      <p:sp>
        <p:nvSpPr>
          <p:cNvPr id="18" name="Rectangle 17"/>
          <p:cNvSpPr/>
          <p:nvPr/>
        </p:nvSpPr>
        <p:spPr>
          <a:xfrm>
            <a:off x="402336" y="5559552"/>
            <a:ext cx="2331720" cy="1097280"/>
          </a:xfrm>
          <a:prstGeom prst="rect">
            <a:avLst/>
          </a:prstGeom>
          <a:solidFill>
            <a:srgbClr val="062210"/>
          </a:solidFill>
          <a:ln w="12700">
            <a:solidFill>
              <a:srgbClr val="39FF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3776" y="5614416"/>
            <a:ext cx="2148840" cy="548640"/>
          </a:xfrm>
          <a:prstGeom prst="rect">
            <a:avLst/>
          </a:prstGeom>
          <a:noFill/>
        </p:spPr>
        <p:txBody>
          <a:bodyPr wrap="square">
            <a:spAutoFit/>
          </a:bodyPr>
          <a:lstStyle/>
          <a:p>
            <a:pPr algn="ctr"/>
            <a:r>
              <a:rPr sz="3200" b="1" i="0">
                <a:solidFill>
                  <a:srgbClr val="39FF14"/>
                </a:solidFill>
                <a:latin typeface="Calibri"/>
              </a:rPr>
              <a:t>12 / 12</a:t>
            </a:r>
          </a:p>
        </p:txBody>
      </p:sp>
      <p:sp>
        <p:nvSpPr>
          <p:cNvPr id="20" name="TextBox 19"/>
          <p:cNvSpPr txBox="1"/>
          <p:nvPr/>
        </p:nvSpPr>
        <p:spPr>
          <a:xfrm>
            <a:off x="493776" y="6217920"/>
            <a:ext cx="2148840" cy="274320"/>
          </a:xfrm>
          <a:prstGeom prst="rect">
            <a:avLst/>
          </a:prstGeom>
          <a:noFill/>
        </p:spPr>
        <p:txBody>
          <a:bodyPr wrap="square">
            <a:spAutoFit/>
          </a:bodyPr>
          <a:lstStyle/>
          <a:p>
            <a:pPr algn="ctr"/>
            <a:r>
              <a:rPr sz="900" b="0" i="0">
                <a:solidFill>
                  <a:srgbClr val="A0AAB8"/>
                </a:solidFill>
                <a:latin typeface="Calibri"/>
              </a:rPr>
              <a:t>Contributions specified</a:t>
            </a:r>
          </a:p>
        </p:txBody>
      </p:sp>
      <p:sp>
        <p:nvSpPr>
          <p:cNvPr id="21" name="Rectangle 20"/>
          <p:cNvSpPr/>
          <p:nvPr/>
        </p:nvSpPr>
        <p:spPr>
          <a:xfrm>
            <a:off x="2798064" y="5559552"/>
            <a:ext cx="2331720" cy="1097280"/>
          </a:xfrm>
          <a:prstGeom prst="rect">
            <a:avLst/>
          </a:prstGeom>
          <a:solidFill>
            <a:srgbClr val="141414"/>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889504" y="5614416"/>
            <a:ext cx="2148840" cy="548640"/>
          </a:xfrm>
          <a:prstGeom prst="rect">
            <a:avLst/>
          </a:prstGeom>
          <a:noFill/>
        </p:spPr>
        <p:txBody>
          <a:bodyPr wrap="square">
            <a:spAutoFit/>
          </a:bodyPr>
          <a:lstStyle/>
          <a:p>
            <a:pPr algn="ctr"/>
            <a:r>
              <a:rPr sz="3200" b="1" i="0">
                <a:solidFill>
                  <a:srgbClr val="8A8A8A"/>
                </a:solidFill>
                <a:latin typeface="Calibri"/>
              </a:rPr>
              <a:t>0 / 12</a:t>
            </a:r>
          </a:p>
        </p:txBody>
      </p:sp>
      <p:sp>
        <p:nvSpPr>
          <p:cNvPr id="23" name="TextBox 22"/>
          <p:cNvSpPr txBox="1"/>
          <p:nvPr/>
        </p:nvSpPr>
        <p:spPr>
          <a:xfrm>
            <a:off x="2889504" y="6217920"/>
            <a:ext cx="2148840" cy="274320"/>
          </a:xfrm>
          <a:prstGeom prst="rect">
            <a:avLst/>
          </a:prstGeom>
          <a:noFill/>
        </p:spPr>
        <p:txBody>
          <a:bodyPr wrap="square">
            <a:spAutoFit/>
          </a:bodyPr>
          <a:lstStyle/>
          <a:p>
            <a:pPr algn="ctr"/>
            <a:r>
              <a:rPr sz="900" b="0" i="0">
                <a:solidFill>
                  <a:srgbClr val="A0AAB8"/>
                </a:solidFill>
                <a:latin typeface="Calibri"/>
              </a:rPr>
              <a:t>Contributions implemented</a:t>
            </a:r>
          </a:p>
        </p:txBody>
      </p:sp>
      <p:sp>
        <p:nvSpPr>
          <p:cNvPr id="24" name="Rectangle 23"/>
          <p:cNvSpPr/>
          <p:nvPr/>
        </p:nvSpPr>
        <p:spPr>
          <a:xfrm>
            <a:off x="5504688" y="987552"/>
            <a:ext cx="6485839" cy="2779776"/>
          </a:xfrm>
          <a:prstGeom prst="rect">
            <a:avLst/>
          </a:prstGeom>
          <a:solidFill>
            <a:srgbClr val="161202"/>
          </a:solidFill>
          <a:ln w="1778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14416" y="1042416"/>
            <a:ext cx="6302959" cy="201168"/>
          </a:xfrm>
          <a:prstGeom prst="rect">
            <a:avLst/>
          </a:prstGeom>
          <a:noFill/>
        </p:spPr>
        <p:txBody>
          <a:bodyPr wrap="square">
            <a:spAutoFit/>
          </a:bodyPr>
          <a:lstStyle/>
          <a:p>
            <a:pPr algn="l"/>
            <a:r>
              <a:rPr sz="1000" b="1" i="0">
                <a:solidFill>
                  <a:srgbClr val="FFD700"/>
                </a:solidFill>
                <a:latin typeface="Calibri"/>
              </a:rPr>
              <a:t>WHAT WE CLAIM</a:t>
            </a:r>
          </a:p>
        </p:txBody>
      </p:sp>
      <p:sp>
        <p:nvSpPr>
          <p:cNvPr id="26" name="Rectangle 25"/>
          <p:cNvSpPr/>
          <p:nvPr/>
        </p:nvSpPr>
        <p:spPr>
          <a:xfrm>
            <a:off x="5596128" y="1298448"/>
            <a:ext cx="6302959" cy="530352"/>
          </a:xfrm>
          <a:prstGeom prst="rect">
            <a:avLst/>
          </a:prstGeom>
          <a:solidFill>
            <a:srgbClr val="1E1602"/>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1335024"/>
            <a:ext cx="6211519" cy="457200"/>
          </a:xfrm>
          <a:prstGeom prst="rect">
            <a:avLst/>
          </a:prstGeom>
          <a:noFill/>
        </p:spPr>
        <p:txBody>
          <a:bodyPr wrap="square">
            <a:spAutoFit/>
          </a:bodyPr>
          <a:lstStyle/>
          <a:p>
            <a:pPr algn="l"/>
            <a:r>
              <a:rPr sz="900" b="0" i="0">
                <a:solidFill>
                  <a:srgbClr val="A0AAB8"/>
                </a:solidFill>
                <a:latin typeface="Calibri"/>
              </a:rPr>
              <a:t>→  CMatrix is the first autonomous VAPT system to maintain two strictly separated, 
      continuously evolving graph structures for simultaneous discovery and attack reasoning.</a:t>
            </a:r>
          </a:p>
        </p:txBody>
      </p:sp>
      <p:sp>
        <p:nvSpPr>
          <p:cNvPr id="28" name="Rectangle 27"/>
          <p:cNvSpPr/>
          <p:nvPr/>
        </p:nvSpPr>
        <p:spPr>
          <a:xfrm>
            <a:off x="5596128" y="1883664"/>
            <a:ext cx="6302959" cy="530352"/>
          </a:xfrm>
          <a:prstGeom prst="rect">
            <a:avLst/>
          </a:prstGeom>
          <a:solidFill>
            <a:srgbClr val="1E1602"/>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0" y="1920240"/>
            <a:ext cx="6211519" cy="457200"/>
          </a:xfrm>
          <a:prstGeom prst="rect">
            <a:avLst/>
          </a:prstGeom>
          <a:noFill/>
        </p:spPr>
        <p:txBody>
          <a:bodyPr wrap="square">
            <a:spAutoFit/>
          </a:bodyPr>
          <a:lstStyle/>
          <a:p>
            <a:pPr algn="l"/>
            <a:r>
              <a:rPr sz="900" b="0" i="0">
                <a:solidFill>
                  <a:srgbClr val="A0AAB8"/>
                </a:solidFill>
                <a:latin typeface="Calibri"/>
              </a:rPr>
              <a:t>→  Formal dual termination provides a theoretically sound, verifiable completion criterion that prior systems cannot express.</a:t>
            </a:r>
          </a:p>
        </p:txBody>
      </p:sp>
      <p:sp>
        <p:nvSpPr>
          <p:cNvPr id="30" name="Rectangle 29"/>
          <p:cNvSpPr/>
          <p:nvPr/>
        </p:nvSpPr>
        <p:spPr>
          <a:xfrm>
            <a:off x="5596128" y="2468880"/>
            <a:ext cx="6302959" cy="530352"/>
          </a:xfrm>
          <a:prstGeom prst="rect">
            <a:avLst/>
          </a:prstGeom>
          <a:solidFill>
            <a:srgbClr val="1E1602"/>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0" y="2505456"/>
            <a:ext cx="6211519" cy="457200"/>
          </a:xfrm>
          <a:prstGeom prst="rect">
            <a:avLst/>
          </a:prstGeom>
          <a:noFill/>
        </p:spPr>
        <p:txBody>
          <a:bodyPr wrap="square">
            <a:spAutoFit/>
          </a:bodyPr>
          <a:lstStyle/>
          <a:p>
            <a:pPr algn="l"/>
            <a:r>
              <a:rPr sz="900" b="0" i="0">
                <a:solidFill>
                  <a:srgbClr val="A0AAB8"/>
                </a:solidFill>
                <a:latin typeface="Calibri"/>
              </a:rPr>
              <a:t>→  Cross-mission learning accumulates validated exploitation outcomes across all missions — 
      a capability no prior published VAPT system demonstrates.</a:t>
            </a:r>
          </a:p>
        </p:txBody>
      </p:sp>
      <p:sp>
        <p:nvSpPr>
          <p:cNvPr id="32" name="Rectangle 31"/>
          <p:cNvSpPr/>
          <p:nvPr/>
        </p:nvSpPr>
        <p:spPr>
          <a:xfrm>
            <a:off x="5596128" y="3054096"/>
            <a:ext cx="6302959" cy="530352"/>
          </a:xfrm>
          <a:prstGeom prst="rect">
            <a:avLst/>
          </a:prstGeom>
          <a:solidFill>
            <a:srgbClr val="1E1602"/>
          </a:solidFill>
          <a:ln w="6350">
            <a:solidFill>
              <a:srgbClr val="FFD7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0" y="3090672"/>
            <a:ext cx="6211519" cy="457200"/>
          </a:xfrm>
          <a:prstGeom prst="rect">
            <a:avLst/>
          </a:prstGeom>
          <a:noFill/>
        </p:spPr>
        <p:txBody>
          <a:bodyPr wrap="square">
            <a:spAutoFit/>
          </a:bodyPr>
          <a:lstStyle/>
          <a:p>
            <a:pPr algn="l"/>
            <a:r>
              <a:rPr sz="900" b="0" i="0">
                <a:solidFill>
                  <a:srgbClr val="A0AAB8"/>
                </a:solidFill>
                <a:latin typeface="Calibri"/>
              </a:rPr>
              <a:t>→  The architecture produces a machine-readable decision trace usable for training security-specialized LLMs.</a:t>
            </a:r>
          </a:p>
        </p:txBody>
      </p:sp>
      <p:sp>
        <p:nvSpPr>
          <p:cNvPr id="34" name="Rectangle 33"/>
          <p:cNvSpPr/>
          <p:nvPr/>
        </p:nvSpPr>
        <p:spPr>
          <a:xfrm>
            <a:off x="5504688" y="3877056"/>
            <a:ext cx="6485839" cy="2834640"/>
          </a:xfrm>
          <a:prstGeom prst="rect">
            <a:avLst/>
          </a:prstGeom>
          <a:solidFill>
            <a:srgbClr val="041410"/>
          </a:solidFill>
          <a:ln w="2032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504688" y="3877056"/>
            <a:ext cx="6485839" cy="292608"/>
          </a:xfrm>
          <a:prstGeom prst="rect">
            <a:avLst/>
          </a:prstGeom>
          <a:solidFill>
            <a:srgbClr val="0A0D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14416" y="3913632"/>
            <a:ext cx="6302959" cy="237744"/>
          </a:xfrm>
          <a:prstGeom prst="rect">
            <a:avLst/>
          </a:prstGeom>
          <a:noFill/>
        </p:spPr>
        <p:txBody>
          <a:bodyPr wrap="square">
            <a:spAutoFit/>
          </a:bodyPr>
          <a:lstStyle/>
          <a:p>
            <a:pPr algn="l"/>
            <a:r>
              <a:rPr sz="1000" b="1" i="0">
                <a:solidFill>
                  <a:srgbClr val="0A0D1A"/>
                </a:solidFill>
                <a:latin typeface="Calibri"/>
              </a:rPr>
              <a:t>WHAT WE ARE ASKING FOR</a:t>
            </a:r>
          </a:p>
        </p:txBody>
      </p:sp>
      <p:sp>
        <p:nvSpPr>
          <p:cNvPr id="37" name="Rectangle 36"/>
          <p:cNvSpPr/>
          <p:nvPr/>
        </p:nvSpPr>
        <p:spPr>
          <a:xfrm>
            <a:off x="5596128" y="4224528"/>
            <a:ext cx="6302959" cy="566928"/>
          </a:xfrm>
          <a:prstGeom prst="rect">
            <a:avLst/>
          </a:prstGeom>
          <a:solidFill>
            <a:srgbClr val="061C16"/>
          </a:solidFill>
          <a:ln w="762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687568" y="4261104"/>
            <a:ext cx="6193231" cy="201168"/>
          </a:xfrm>
          <a:prstGeom prst="rect">
            <a:avLst/>
          </a:prstGeom>
          <a:noFill/>
        </p:spPr>
        <p:txBody>
          <a:bodyPr wrap="square">
            <a:spAutoFit/>
          </a:bodyPr>
          <a:lstStyle/>
          <a:p>
            <a:pPr algn="l"/>
            <a:r>
              <a:rPr sz="1000" b="1" i="0">
                <a:solidFill>
                  <a:srgbClr val="00E5FF"/>
                </a:solidFill>
                <a:latin typeface="Calibri"/>
              </a:rPr>
              <a:t>Feedback on Scope</a:t>
            </a:r>
          </a:p>
        </p:txBody>
      </p:sp>
      <p:sp>
        <p:nvSpPr>
          <p:cNvPr id="39" name="TextBox 38"/>
          <p:cNvSpPr txBox="1"/>
          <p:nvPr/>
        </p:nvSpPr>
        <p:spPr>
          <a:xfrm>
            <a:off x="5687568" y="4480560"/>
            <a:ext cx="6193231" cy="274320"/>
          </a:xfrm>
          <a:prstGeom prst="rect">
            <a:avLst/>
          </a:prstGeom>
          <a:noFill/>
        </p:spPr>
        <p:txBody>
          <a:bodyPr wrap="square">
            <a:spAutoFit/>
          </a:bodyPr>
          <a:lstStyle/>
          <a:p>
            <a:pPr algn="l"/>
            <a:r>
              <a:rPr sz="900" b="0" i="0">
                <a:solidFill>
                  <a:srgbClr val="A0AAB8"/>
                </a:solidFill>
                <a:latin typeface="Calibri"/>
              </a:rPr>
              <a:t>Are the 12 contributions appropriately scoped for our thesis?</a:t>
            </a:r>
          </a:p>
        </p:txBody>
      </p:sp>
      <p:sp>
        <p:nvSpPr>
          <p:cNvPr id="40" name="Rectangle 39"/>
          <p:cNvSpPr/>
          <p:nvPr/>
        </p:nvSpPr>
        <p:spPr>
          <a:xfrm>
            <a:off x="5596128" y="4846320"/>
            <a:ext cx="6302959" cy="566928"/>
          </a:xfrm>
          <a:prstGeom prst="rect">
            <a:avLst/>
          </a:prstGeom>
          <a:solidFill>
            <a:srgbClr val="061C16"/>
          </a:solidFill>
          <a:ln w="762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87568" y="4882896"/>
            <a:ext cx="6193231" cy="201168"/>
          </a:xfrm>
          <a:prstGeom prst="rect">
            <a:avLst/>
          </a:prstGeom>
          <a:noFill/>
        </p:spPr>
        <p:txBody>
          <a:bodyPr wrap="square">
            <a:spAutoFit/>
          </a:bodyPr>
          <a:lstStyle/>
          <a:p>
            <a:pPr algn="l"/>
            <a:r>
              <a:rPr sz="1000" b="1" i="0">
                <a:solidFill>
                  <a:srgbClr val="00E5FF"/>
                </a:solidFill>
                <a:latin typeface="Calibri"/>
              </a:rPr>
              <a:t>Evaluation Guidance</a:t>
            </a:r>
          </a:p>
        </p:txBody>
      </p:sp>
      <p:sp>
        <p:nvSpPr>
          <p:cNvPr id="42" name="TextBox 41"/>
          <p:cNvSpPr txBox="1"/>
          <p:nvPr/>
        </p:nvSpPr>
        <p:spPr>
          <a:xfrm>
            <a:off x="5687568" y="5102352"/>
            <a:ext cx="6193231" cy="274320"/>
          </a:xfrm>
          <a:prstGeom prst="rect">
            <a:avLst/>
          </a:prstGeom>
          <a:noFill/>
        </p:spPr>
        <p:txBody>
          <a:bodyPr wrap="square">
            <a:spAutoFit/>
          </a:bodyPr>
          <a:lstStyle/>
          <a:p>
            <a:pPr algn="l"/>
            <a:r>
              <a:rPr sz="900" b="0" i="0">
                <a:solidFill>
                  <a:srgbClr val="A0AAB8"/>
                </a:solidFill>
                <a:latin typeface="Calibri"/>
              </a:rPr>
              <a:t>Is the HTB/THM ablation plan sufficient to prove the core claims?</a:t>
            </a:r>
          </a:p>
        </p:txBody>
      </p:sp>
      <p:sp>
        <p:nvSpPr>
          <p:cNvPr id="43" name="Rectangle 42"/>
          <p:cNvSpPr/>
          <p:nvPr/>
        </p:nvSpPr>
        <p:spPr>
          <a:xfrm>
            <a:off x="5596128" y="5468112"/>
            <a:ext cx="6302959" cy="566928"/>
          </a:xfrm>
          <a:prstGeom prst="rect">
            <a:avLst/>
          </a:prstGeom>
          <a:solidFill>
            <a:srgbClr val="061C16"/>
          </a:solidFill>
          <a:ln w="762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687568" y="5504688"/>
            <a:ext cx="6193231" cy="201168"/>
          </a:xfrm>
          <a:prstGeom prst="rect">
            <a:avLst/>
          </a:prstGeom>
          <a:noFill/>
        </p:spPr>
        <p:txBody>
          <a:bodyPr wrap="square">
            <a:spAutoFit/>
          </a:bodyPr>
          <a:lstStyle/>
          <a:p>
            <a:pPr algn="l"/>
            <a:r>
              <a:rPr sz="1000" b="1" i="0">
                <a:solidFill>
                  <a:srgbClr val="00E5FF"/>
                </a:solidFill>
                <a:latin typeface="Calibri"/>
              </a:rPr>
              <a:t>Implementation Priority</a:t>
            </a:r>
          </a:p>
        </p:txBody>
      </p:sp>
      <p:sp>
        <p:nvSpPr>
          <p:cNvPr id="45" name="TextBox 44"/>
          <p:cNvSpPr txBox="1"/>
          <p:nvPr/>
        </p:nvSpPr>
        <p:spPr>
          <a:xfrm>
            <a:off x="5687568" y="5724144"/>
            <a:ext cx="6193231" cy="274320"/>
          </a:xfrm>
          <a:prstGeom prst="rect">
            <a:avLst/>
          </a:prstGeom>
          <a:noFill/>
        </p:spPr>
        <p:txBody>
          <a:bodyPr wrap="square">
            <a:spAutoFit/>
          </a:bodyPr>
          <a:lstStyle/>
          <a:p>
            <a:pPr algn="l"/>
            <a:r>
              <a:rPr sz="900" b="0" i="0">
                <a:solidFill>
                  <a:srgbClr val="A0AAB8"/>
                </a:solidFill>
                <a:latin typeface="Calibri"/>
              </a:rPr>
              <a:t>Which of the 12 contributions should be fully implemented vs theoretically validated?</a:t>
            </a:r>
          </a:p>
        </p:txBody>
      </p:sp>
      <p:sp>
        <p:nvSpPr>
          <p:cNvPr id="46" name="Rectangle 45"/>
          <p:cNvSpPr/>
          <p:nvPr/>
        </p:nvSpPr>
        <p:spPr>
          <a:xfrm>
            <a:off x="5596128" y="6089904"/>
            <a:ext cx="6302959" cy="566928"/>
          </a:xfrm>
          <a:prstGeom prst="rect">
            <a:avLst/>
          </a:prstGeom>
          <a:solidFill>
            <a:srgbClr val="061C16"/>
          </a:solidFill>
          <a:ln w="7620">
            <a:solidFill>
              <a:srgbClr val="00E5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687568" y="6126480"/>
            <a:ext cx="6193231" cy="201168"/>
          </a:xfrm>
          <a:prstGeom prst="rect">
            <a:avLst/>
          </a:prstGeom>
          <a:noFill/>
        </p:spPr>
        <p:txBody>
          <a:bodyPr wrap="square">
            <a:spAutoFit/>
          </a:bodyPr>
          <a:lstStyle/>
          <a:p>
            <a:pPr algn="l"/>
            <a:r>
              <a:rPr sz="1000" b="1" i="0">
                <a:solidFill>
                  <a:srgbClr val="00E5FF"/>
                </a:solidFill>
                <a:latin typeface="Calibri"/>
              </a:rPr>
              <a:t>Publication Venue</a:t>
            </a:r>
          </a:p>
        </p:txBody>
      </p:sp>
      <p:sp>
        <p:nvSpPr>
          <p:cNvPr id="48" name="TextBox 47"/>
          <p:cNvSpPr txBox="1"/>
          <p:nvPr/>
        </p:nvSpPr>
        <p:spPr>
          <a:xfrm>
            <a:off x="5687568" y="6345936"/>
            <a:ext cx="6193231" cy="274320"/>
          </a:xfrm>
          <a:prstGeom prst="rect">
            <a:avLst/>
          </a:prstGeom>
          <a:noFill/>
        </p:spPr>
        <p:txBody>
          <a:bodyPr wrap="square">
            <a:spAutoFit/>
          </a:bodyPr>
          <a:lstStyle/>
          <a:p>
            <a:pPr algn="l"/>
            <a:r>
              <a:rPr sz="900" b="0" i="0">
                <a:solidFill>
                  <a:srgbClr val="A0AAB8"/>
                </a:solidFill>
                <a:latin typeface="Calibri"/>
              </a:rPr>
              <a:t>USENIX Security / IEEE S&amp;P / ACSAC — which tier matches the contribution level?</a:t>
            </a:r>
          </a:p>
        </p:txBody>
      </p:sp>
      <p:sp>
        <p:nvSpPr>
          <p:cNvPr id="49" name="TextBox 48"/>
          <p:cNvSpPr txBox="1"/>
          <p:nvPr/>
        </p:nvSpPr>
        <p:spPr>
          <a:xfrm>
            <a:off x="11780215" y="6355080"/>
            <a:ext cx="384048" cy="411480"/>
          </a:xfrm>
          <a:prstGeom prst="rect">
            <a:avLst/>
          </a:prstGeom>
          <a:noFill/>
        </p:spPr>
        <p:txBody>
          <a:bodyPr wrap="square">
            <a:spAutoFit/>
          </a:bodyPr>
          <a:lstStyle/>
          <a:p>
            <a:pPr algn="r"/>
            <a:r>
              <a:rPr sz="1300" b="1" i="0">
                <a:solidFill>
                  <a:srgbClr val="00E5FF"/>
                </a:solidFill>
                <a:latin typeface="Calibri"/>
              </a:rPr>
              <a:t>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