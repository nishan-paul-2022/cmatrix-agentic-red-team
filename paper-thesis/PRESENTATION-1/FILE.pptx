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 Light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8.xml"/><Relationship Id="rId35" Type="http://schemas.openxmlformats.org/officeDocument/2006/relationships/font" Target="fonts/JetBrainsMono-bold.fntdata"/><Relationship Id="rId12" Type="http://schemas.openxmlformats.org/officeDocument/2006/relationships/slide" Target="slides/slide7.xml"/><Relationship Id="rId34" Type="http://schemas.openxmlformats.org/officeDocument/2006/relationships/font" Target="fonts/JetBrainsMono-regular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9.xml"/><Relationship Id="rId36" Type="http://schemas.openxmlformats.org/officeDocument/2006/relationships/font" Target="fonts/JetBrains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0" Type="http://schemas.openxmlformats.org/officeDocument/2006/relationships/image" Target="../media/image7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3.png"/><Relationship Id="rId13" Type="http://schemas.openxmlformats.org/officeDocument/2006/relationships/image" Target="../media/image34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23.png"/><Relationship Id="rId16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4.png"/><Relationship Id="rId13" Type="http://schemas.openxmlformats.org/officeDocument/2006/relationships/image" Target="../media/image30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57.png"/><Relationship Id="rId15" Type="http://schemas.openxmlformats.org/officeDocument/2006/relationships/image" Target="../media/image28.png"/><Relationship Id="rId14" Type="http://schemas.openxmlformats.org/officeDocument/2006/relationships/image" Target="../media/image21.png"/><Relationship Id="rId17" Type="http://schemas.openxmlformats.org/officeDocument/2006/relationships/image" Target="../media/image74.png"/><Relationship Id="rId16" Type="http://schemas.openxmlformats.org/officeDocument/2006/relationships/image" Target="../media/image47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4.png"/><Relationship Id="rId21" Type="http://schemas.openxmlformats.org/officeDocument/2006/relationships/image" Target="../media/image40.png"/><Relationship Id="rId24" Type="http://schemas.openxmlformats.org/officeDocument/2006/relationships/image" Target="../media/image53.png"/><Relationship Id="rId23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Relationship Id="rId26" Type="http://schemas.openxmlformats.org/officeDocument/2006/relationships/image" Target="../media/image56.png"/><Relationship Id="rId25" Type="http://schemas.openxmlformats.org/officeDocument/2006/relationships/image" Target="../media/image82.png"/><Relationship Id="rId28" Type="http://schemas.openxmlformats.org/officeDocument/2006/relationships/image" Target="../media/image59.png"/><Relationship Id="rId27" Type="http://schemas.openxmlformats.org/officeDocument/2006/relationships/image" Target="../media/image94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29" Type="http://schemas.openxmlformats.org/officeDocument/2006/relationships/image" Target="../media/image50.png"/><Relationship Id="rId7" Type="http://schemas.openxmlformats.org/officeDocument/2006/relationships/image" Target="../media/image41.png"/><Relationship Id="rId8" Type="http://schemas.openxmlformats.org/officeDocument/2006/relationships/image" Target="../media/image33.png"/><Relationship Id="rId30" Type="http://schemas.openxmlformats.org/officeDocument/2006/relationships/image" Target="../media/image61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3" Type="http://schemas.openxmlformats.org/officeDocument/2006/relationships/image" Target="../media/image54.png"/><Relationship Id="rId12" Type="http://schemas.openxmlformats.org/officeDocument/2006/relationships/image" Target="../media/image60.png"/><Relationship Id="rId15" Type="http://schemas.openxmlformats.org/officeDocument/2006/relationships/image" Target="../media/image46.png"/><Relationship Id="rId14" Type="http://schemas.openxmlformats.org/officeDocument/2006/relationships/image" Target="../media/image63.png"/><Relationship Id="rId17" Type="http://schemas.openxmlformats.org/officeDocument/2006/relationships/image" Target="../media/image49.png"/><Relationship Id="rId16" Type="http://schemas.openxmlformats.org/officeDocument/2006/relationships/image" Target="../media/image70.png"/><Relationship Id="rId19" Type="http://schemas.openxmlformats.org/officeDocument/2006/relationships/image" Target="../media/image39.png"/><Relationship Id="rId18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51.png"/><Relationship Id="rId6" Type="http://schemas.openxmlformats.org/officeDocument/2006/relationships/image" Target="../media/image98.png"/><Relationship Id="rId7" Type="http://schemas.openxmlformats.org/officeDocument/2006/relationships/image" Target="../media/image65.png"/><Relationship Id="rId8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5" Type="http://schemas.openxmlformats.org/officeDocument/2006/relationships/image" Target="../media/image99.png"/><Relationship Id="rId6" Type="http://schemas.openxmlformats.org/officeDocument/2006/relationships/image" Target="../media/image16.png"/><Relationship Id="rId7" Type="http://schemas.openxmlformats.org/officeDocument/2006/relationships/image" Target="../media/image38.png"/><Relationship Id="rId8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4.png"/><Relationship Id="rId9" Type="http://schemas.openxmlformats.org/officeDocument/2006/relationships/image" Target="../media/image89.png"/><Relationship Id="rId5" Type="http://schemas.openxmlformats.org/officeDocument/2006/relationships/image" Target="../media/image99.png"/><Relationship Id="rId6" Type="http://schemas.openxmlformats.org/officeDocument/2006/relationships/image" Target="../media/image26.png"/><Relationship Id="rId7" Type="http://schemas.openxmlformats.org/officeDocument/2006/relationships/image" Target="../media/image80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2.png"/><Relationship Id="rId9" Type="http://schemas.openxmlformats.org/officeDocument/2006/relationships/image" Target="../media/image1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Relationship Id="rId11" Type="http://schemas.openxmlformats.org/officeDocument/2006/relationships/image" Target="../media/image97.png"/><Relationship Id="rId10" Type="http://schemas.openxmlformats.org/officeDocument/2006/relationships/image" Target="../media/image71.png"/><Relationship Id="rId12" Type="http://schemas.openxmlformats.org/officeDocument/2006/relationships/image" Target="../media/image6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9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8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6.png"/><Relationship Id="rId4" Type="http://schemas.openxmlformats.org/officeDocument/2006/relationships/image" Target="../media/image75.png"/><Relationship Id="rId5" Type="http://schemas.openxmlformats.org/officeDocument/2006/relationships/image" Target="../media/image91.png"/><Relationship Id="rId6" Type="http://schemas.openxmlformats.org/officeDocument/2006/relationships/image" Target="../media/image83.png"/><Relationship Id="rId7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9" Type="http://schemas.openxmlformats.org/officeDocument/2006/relationships/image" Target="../media/image90.png"/><Relationship Id="rId5" Type="http://schemas.openxmlformats.org/officeDocument/2006/relationships/image" Target="../media/image84.png"/><Relationship Id="rId6" Type="http://schemas.openxmlformats.org/officeDocument/2006/relationships/image" Target="../media/image88.png"/><Relationship Id="rId7" Type="http://schemas.openxmlformats.org/officeDocument/2006/relationships/image" Target="../media/image87.png"/><Relationship Id="rId8" Type="http://schemas.openxmlformats.org/officeDocument/2006/relationships/image" Target="../media/image85.png"/><Relationship Id="rId11" Type="http://schemas.openxmlformats.org/officeDocument/2006/relationships/image" Target="../media/image92.png"/><Relationship Id="rId10" Type="http://schemas.openxmlformats.org/officeDocument/2006/relationships/image" Target="../media/image93.png"/><Relationship Id="rId13" Type="http://schemas.openxmlformats.org/officeDocument/2006/relationships/image" Target="../media/image86.png"/><Relationship Id="rId12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6237" y="1066948"/>
            <a:ext cx="3819525" cy="2780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00600" y="1583075"/>
            <a:ext cx="2825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CSE-400: PROJECT ON CYBER SECURITY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19649" y="2082100"/>
            <a:ext cx="4202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8250" u="none" cap="none" strike="noStrike">
                <a:solidFill>
                  <a:srgbClr val="00E676"/>
                </a:solidFill>
                <a:latin typeface="Inter"/>
                <a:ea typeface="Inter"/>
                <a:cs typeface="Inter"/>
                <a:sym typeface="Inter"/>
              </a:rPr>
              <a:t>Matrix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27065" y="3548955"/>
            <a:ext cx="5337869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0A0A0"/>
                </a:solidFill>
                <a:latin typeface="Inter Light"/>
                <a:ea typeface="Inter Light"/>
                <a:cs typeface="Inter Light"/>
                <a:sym typeface="Inter Light"/>
              </a:rPr>
              <a:t>LLM-Orchestrated Multi-Agent Framework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A0A0A0"/>
                </a:solidFill>
                <a:latin typeface="Inter Light"/>
                <a:ea typeface="Inter Light"/>
                <a:cs typeface="Inter Light"/>
                <a:sym typeface="Inter Light"/>
              </a:rPr>
              <a:t> for Autonomous VAPT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610350" y="5103316"/>
            <a:ext cx="9525" cy="68758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505075" y="5103316"/>
            <a:ext cx="3629025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505075" y="5318521"/>
            <a:ext cx="3629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Nishan Paul (55) • Md Rakibur Rahman (49)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096125" y="5103316"/>
            <a:ext cx="259080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SUPERVISED BY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096125" y="5318521"/>
            <a:ext cx="259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Md. Abdur Razzaque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096125" y="5592812"/>
            <a:ext cx="25908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Chairman, Dept of CSE, University of Dhaka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04145"/>
            <a:ext cx="5238750" cy="2040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404145"/>
            <a:ext cx="5238750" cy="204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47750" y="2089695"/>
            <a:ext cx="10382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"Transforming static scanning into reasoning-driven security intelligence." 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2089695"/>
            <a:ext cx="38100" cy="7429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57275" y="6057900"/>
            <a:ext cx="636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Core Philosophy:</a:t>
            </a:r>
            <a:r>
              <a:rPr b="0" i="0" lang="en-US" sz="112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An autonomous red team should be as resilient as the infrastructure it tests.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5850" y="36994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85850" y="434712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85850" y="4661445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Traditional VAPT is manual, slow, and non-scalable. Existing AI tools are fragile and costly.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5100" y="36994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515100" y="434712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15100" y="4661445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CMatrix</a:t>
            </a:r>
            <a:r>
              <a:rPr b="0" i="0" lang="en-US" sz="12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— A resilient, multi-agent orchestration framework for industrial-grade assessments.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28725" y="383277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48450" y="383277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VISION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Autonomous Red Teaming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3356520"/>
            <a:ext cx="38100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4900" y="2546895"/>
            <a:ext cx="11334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46895"/>
            <a:ext cx="10382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1912" y="5061495"/>
            <a:ext cx="14097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2112" y="5061495"/>
            <a:ext cx="1390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53262" y="5061495"/>
            <a:ext cx="12668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0" y="1899195"/>
            <a:ext cx="5715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/>
          <p:nvPr/>
        </p:nvSpPr>
        <p:spPr>
          <a:xfrm>
            <a:off x="6086475" y="2308770"/>
            <a:ext cx="19050" cy="2381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86475" y="3118395"/>
            <a:ext cx="19050" cy="2381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086475" y="4051845"/>
            <a:ext cx="19050" cy="2381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86475" y="4823370"/>
            <a:ext cx="19050" cy="2381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38850" y="204207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10175" y="3480345"/>
            <a:ext cx="17716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062537" y="3766095"/>
            <a:ext cx="2066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Supervisor (LangGraph)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248275" y="2832645"/>
            <a:ext cx="466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Next.js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10337" y="2832645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38625" y="4432845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443537" y="443284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34162" y="443284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24787" y="443284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4738687" y="5185320"/>
            <a:ext cx="3429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Celery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053137" y="5185320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767623" y="5185325"/>
            <a:ext cx="400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Qdrant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Software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94445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994445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994445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22241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4122241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4122241"/>
            <a:ext cx="3429000" cy="1937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057275" y="2937420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Orchestration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57275" y="3175545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LangGraph Implementation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57275" y="3468885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E6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app/agents/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4676775" y="2937420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Framework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4676775" y="3175545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FastAPI (Python 3.12+)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676775" y="3468885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B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SSE Real-time Streaming</a:t>
            </a:r>
            <a:endParaRPr/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627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8296275" y="2937420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Interface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296275" y="3175545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Next.js 14+ | Tailwind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296275" y="3468885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D500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Modern Reactive UI</a:t>
            </a:r>
            <a:endParaRPr/>
          </a:p>
        </p:txBody>
      </p:sp>
      <p:pic>
        <p:nvPicPr>
          <p:cNvPr descr="image.png" id="169" name="Google Shape;16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175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057275" y="5065216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57275" y="5303341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Celery &amp; Redis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057275" y="5596681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91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Security Scans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6775" y="44175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4676775" y="5065216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Relational State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4676775" y="5303341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4676775" y="5596681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B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Structured Persistence</a:t>
            </a:r>
            <a:endParaRPr/>
          </a:p>
        </p:txBody>
      </p:sp>
      <p:pic>
        <p:nvPicPr>
          <p:cNvPr descr="image.png" id="177" name="Google Shape;17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96275" y="44175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8296275" y="5065216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Semantic Memory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296275" y="5303341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Qdrant Vector DB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296275" y="5596681"/>
            <a:ext cx="283845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D500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Recall</a:t>
            </a:r>
            <a:endParaRPr/>
          </a:p>
        </p:txBody>
      </p:sp>
      <p:pic>
        <p:nvPicPr>
          <p:cNvPr descr="image.png" id="181" name="Google Shape;18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76337" y="242307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19650" y="242307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05812" y="242307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90625" y="455086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19650" y="455086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29625" y="455086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 STACK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Stack 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99195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13570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27945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42320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56695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471070"/>
            <a:ext cx="10668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4207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1533525" y="2113508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Network Agent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3629025" y="2102048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Infrastructure Discovery</a:t>
            </a:r>
            <a:endParaRPr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75644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1533525" y="2827883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 Agent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3629025" y="2816423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App Vulnerabilities</a:t>
            </a:r>
            <a:endParaRPr/>
          </a:p>
        </p:txBody>
      </p:sp>
      <p:pic>
        <p:nvPicPr>
          <p:cNvPr descr="image.png" id="206" name="Google Shape;20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47082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1533525" y="3542258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 Agent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3629025" y="3530798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Identity &amp; Access</a:t>
            </a:r>
            <a:endParaRPr/>
          </a:p>
        </p:txBody>
      </p:sp>
      <p:pic>
        <p:nvPicPr>
          <p:cNvPr descr="image.png" id="209" name="Google Shape;20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418519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1533525" y="4256633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 Agent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3629025" y="4245173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Threat Intelligence</a:t>
            </a:r>
            <a:endParaRPr/>
          </a:p>
        </p:txBody>
      </p:sp>
      <p:pic>
        <p:nvPicPr>
          <p:cNvPr descr="image.png" id="212" name="Google Shape;21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89957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1533525" y="4971008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Agent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3629025" y="4959548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REST/GraphQL Fuzzing</a:t>
            </a:r>
            <a:endParaRPr/>
          </a:p>
        </p:txBody>
      </p:sp>
      <p:pic>
        <p:nvPicPr>
          <p:cNvPr descr="image.png" id="215" name="Google Shape;21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561394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1533525" y="5685383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Command Agent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3629025" y="5673923"/>
            <a:ext cx="4552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Whitelisted Execution</a:t>
            </a:r>
            <a:endParaRPr/>
          </a:p>
        </p:txBody>
      </p:sp>
      <p:pic>
        <p:nvPicPr>
          <p:cNvPr descr="image.png" id="218" name="Google Shape;21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211350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82125" y="2132558"/>
            <a:ext cx="4191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58375" y="2132558"/>
            <a:ext cx="3524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67950" y="2132558"/>
            <a:ext cx="4191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744200" y="2132558"/>
            <a:ext cx="4857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33462" y="28278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591675" y="2846933"/>
            <a:ext cx="4191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067925" y="2846933"/>
            <a:ext cx="4857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610850" y="2846933"/>
            <a:ext cx="619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33462" y="354225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591675" y="3561308"/>
            <a:ext cx="4857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134600" y="3561308"/>
            <a:ext cx="55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744200" y="3561308"/>
            <a:ext cx="4857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33462" y="42566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734550" y="4275683"/>
            <a:ext cx="8191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0610850" y="4275683"/>
            <a:ext cx="619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09650" y="497100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610850" y="4990058"/>
            <a:ext cx="619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19175" y="568538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544175" y="5704433"/>
            <a:ext cx="685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AGENTS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Specialized Worker Agents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94445"/>
            <a:ext cx="2524125" cy="131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1994445"/>
            <a:ext cx="2524125" cy="131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994445"/>
            <a:ext cx="2524125" cy="131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5" y="1994445"/>
            <a:ext cx="2524125" cy="131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01032"/>
            <a:ext cx="2524125" cy="1133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6625" y="3501032"/>
            <a:ext cx="2524125" cy="1133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0" y="3501032"/>
            <a:ext cx="2524125" cy="11333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 txBox="1"/>
          <p:nvPr/>
        </p:nvSpPr>
        <p:spPr>
          <a:xfrm>
            <a:off x="962025" y="2194470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962025" y="2516385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Task Input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962025" y="2744985"/>
            <a:ext cx="2124075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Natural language task — "Analyze target.com"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3676650" y="2194470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3676650" y="2516385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Plan &amp; Decompose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676650" y="2744985"/>
            <a:ext cx="2124075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Supervisor generates plan and delegates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391275" y="2194470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6391275" y="2516385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Recon Execution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6391275" y="2744985"/>
            <a:ext cx="21240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Network &amp; Web agents execute tools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9105900" y="2194470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9105900" y="2516385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CVE Research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9105900" y="2744985"/>
            <a:ext cx="21240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Vuln Intel agent matches vulnerabilities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962025" y="3701057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910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962025" y="4022973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HITL Gate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962025" y="4251573"/>
            <a:ext cx="21240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Human approval for exploitation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3676650" y="3701057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3676650" y="4022973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Execute &amp; Store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3676650" y="4251573"/>
            <a:ext cx="21240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Run commands and store in Qdrant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391275" y="3701057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676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6391275" y="4022973"/>
            <a:ext cx="22302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Final Report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391275" y="4251573"/>
            <a:ext cx="21240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Structured findings streamed via SSE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WORKFLOW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VAPT Workflow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94445"/>
            <a:ext cx="5238750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994445"/>
            <a:ext cx="5238750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1057275" y="293742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Provider Failover (APF)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057275" y="3251745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Decouples graph from specific providers. Ensures </a:t>
            </a:r>
            <a:r>
              <a:rPr b="1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zero state loss</a:t>
            </a: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057275" y="3655516"/>
            <a:ext cx="46482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MEAN TIME TO RECOVERY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057275" y="3933527"/>
            <a:ext cx="4648200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E676"/>
                </a:solidFill>
                <a:latin typeface="Inter"/>
                <a:ea typeface="Inter"/>
                <a:cs typeface="Inter"/>
                <a:sym typeface="Inter"/>
              </a:rPr>
              <a:t>MTTR &lt; 2s</a:t>
            </a:r>
            <a:endParaRPr/>
          </a:p>
        </p:txBody>
      </p:sp>
      <p:pic>
        <p:nvPicPr>
          <p:cNvPr descr="image.png" id="287" name="Google Shape;2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6486525" y="293742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Complexity Tiering (DCAT)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486525" y="3251745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Routes tasks based on reasoning signals to optimize cost.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6486525" y="3655516"/>
            <a:ext cx="46482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COST REDUCTION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486525" y="3933527"/>
            <a:ext cx="4648200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500F9"/>
                </a:solidFill>
                <a:latin typeface="Inter"/>
                <a:ea typeface="Inter"/>
                <a:cs typeface="Inter"/>
                <a:sym typeface="Inter"/>
              </a:rPr>
              <a:t>84.2%</a:t>
            </a:r>
            <a:endParaRPr/>
          </a:p>
        </p:txBody>
      </p:sp>
      <p:pic>
        <p:nvPicPr>
          <p:cNvPr descr="image.png" id="292" name="Google Shape;2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0625" y="242307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242307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INNOVATION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Core Methodology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94445"/>
            <a:ext cx="5238750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994445"/>
            <a:ext cx="5238750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 txBox="1"/>
          <p:nvPr/>
        </p:nvSpPr>
        <p:spPr>
          <a:xfrm>
            <a:off x="1057275" y="293742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Semantic Caching (SSC)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1057275" y="3251745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Stores Reasoning Patterns in Vector DB to bypass redundant calls.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1057275" y="3655516"/>
            <a:ext cx="46482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RESPONSE SPEED IMPROVEMENT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1057275" y="3933527"/>
            <a:ext cx="4648200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B0FF"/>
                </a:solidFill>
                <a:latin typeface="Inter"/>
                <a:ea typeface="Inter"/>
                <a:cs typeface="Inter"/>
                <a:sym typeface="Inter"/>
              </a:rPr>
              <a:t>3.5x</a:t>
            </a:r>
            <a:endParaRPr/>
          </a:p>
        </p:txBody>
      </p:sp>
      <p:pic>
        <p:nvPicPr>
          <p:cNvPr descr="image.png" id="308" name="Google Shape;3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6486525" y="293742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HITL Governance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6486525" y="3251745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Stateful graph-based approval gates for exploitation safety.</a:t>
            </a:r>
            <a:endParaRPr/>
          </a:p>
        </p:txBody>
      </p:sp>
      <p:pic>
        <p:nvPicPr>
          <p:cNvPr descr="image.png" id="311" name="Google Shape;3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0150" y="242307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6062" y="242307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 txBox="1"/>
          <p:nvPr/>
        </p:nvSpPr>
        <p:spPr>
          <a:xfrm>
            <a:off x="6581775" y="3750766"/>
            <a:ext cx="2190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Zero unauthorized actions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INNOVATION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Core Methodology (contd.)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52751"/>
            <a:ext cx="10668000" cy="1411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94445"/>
            <a:ext cx="3429000" cy="1777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94445"/>
            <a:ext cx="3429000" cy="1777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994445"/>
            <a:ext cx="3429000" cy="1777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4448026"/>
            <a:ext cx="17049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1057275" y="4781401"/>
            <a:ext cx="10077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"Recall the open ports found on 192.168.1.100 earlier — let's chain that with discovered web credentials."</a:t>
            </a:r>
            <a:endParaRPr/>
          </a:p>
        </p:txBody>
      </p:sp>
      <p:pic>
        <p:nvPicPr>
          <p:cNvPr descr="image.png" id="327" name="Google Shape;32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7900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986313" y="2889795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Stateful Checkpoint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1057275" y="3080295"/>
            <a:ext cx="28384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Pause/resume without losing reasoning progress</a:t>
            </a:r>
            <a:endParaRPr/>
          </a:p>
        </p:txBody>
      </p:sp>
      <p:pic>
        <p:nvPicPr>
          <p:cNvPr descr="image.png" id="330" name="Google Shape;3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 txBox="1"/>
          <p:nvPr/>
        </p:nvSpPr>
        <p:spPr>
          <a:xfrm>
            <a:off x="4605813" y="2889795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Knowledge Base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4676775" y="3080295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Qdrant-powered memory of past scan findings</a:t>
            </a:r>
            <a:endParaRPr/>
          </a:p>
        </p:txBody>
      </p:sp>
      <p:pic>
        <p:nvPicPr>
          <p:cNvPr descr="image.png" id="333" name="Google Shape;33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86900" y="2289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1"/>
          <p:cNvSpPr txBox="1"/>
          <p:nvPr/>
        </p:nvSpPr>
        <p:spPr>
          <a:xfrm>
            <a:off x="8225313" y="2889795"/>
            <a:ext cx="29803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Contextual Recall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8296275" y="3080295"/>
            <a:ext cx="2838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Agents recall past discoveries to chain attacks</a:t>
            </a:r>
            <a:endParaRPr/>
          </a:p>
        </p:txBody>
      </p:sp>
      <p:pic>
        <p:nvPicPr>
          <p:cNvPr descr="image.png" id="336" name="Google Shape;3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05062" y="242307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00750" y="242307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96437" y="242307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1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MEMORY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Persistent Memory &amp; Context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99195"/>
            <a:ext cx="10668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18320"/>
            <a:ext cx="10668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37445"/>
            <a:ext cx="10668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56570"/>
            <a:ext cx="10668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4207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61195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280320"/>
            <a:ext cx="476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899445"/>
            <a:ext cx="476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2"/>
          <p:cNvSpPr txBox="1"/>
          <p:nvPr/>
        </p:nvSpPr>
        <p:spPr>
          <a:xfrm>
            <a:off x="1438275" y="2065883"/>
            <a:ext cx="97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Operational Resilience: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Can APF maintain state during unplanned outages?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1438275" y="2685008"/>
            <a:ext cx="97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Economic Sustainability: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How effectively can DCAT optimize cost-reasoning tradeoffs?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1438275" y="3304133"/>
            <a:ext cx="97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What is the performance impact of SSC on network assessments?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1438275" y="3923258"/>
            <a:ext cx="97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Safety &amp; Governance: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Proving HITL gates effectively mitigate unintended actions.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RESEARCH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Research Scope: LLMOrch-VAPT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650" y="214684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310693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406702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502711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 txBox="1"/>
          <p:nvPr/>
        </p:nvSpPr>
        <p:spPr>
          <a:xfrm>
            <a:off x="1352550" y="2146845"/>
            <a:ext cx="60207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Intelligence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1352550" y="2337345"/>
            <a:ext cx="5734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AI-driven vulnerability prioritization and automated remediation scripts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1390650" y="3106935"/>
            <a:ext cx="62407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Collaboration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1390650" y="3297435"/>
            <a:ext cx="5943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Multi-tenancy and Role-Based Access Control (RBAC) for security teams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1371600" y="4067026"/>
            <a:ext cx="50806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Compliance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1371600" y="4257526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Automated SOC2, ISO 27001, and HIPAA reporting modules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1352550" y="5027116"/>
            <a:ext cx="582072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Scale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1352550" y="5217616"/>
            <a:ext cx="5543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Cloud-native agent deployment for massive infrastructure scanning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62000" y="5715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ROADMAP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762000" y="107052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Future Roadmap: Phase 3 &amp; Beyond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2702272"/>
            <a:ext cx="21907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0" y="2702272"/>
            <a:ext cx="21907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02272"/>
            <a:ext cx="21907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0" y="2702272"/>
            <a:ext cx="2190750" cy="18173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4"/>
          <p:cNvSpPr txBox="1"/>
          <p:nvPr/>
        </p:nvSpPr>
        <p:spPr>
          <a:xfrm>
            <a:off x="5418236" y="726876"/>
            <a:ext cx="1355526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E67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ADVANTAGE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1540430" y="1225897"/>
            <a:ext cx="911113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force multiplier for security teams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3086100" y="1921222"/>
            <a:ext cx="601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Combining autonomous reasoning with industrial-grade resilience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4762500" y="5091100"/>
            <a:ext cx="2914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Built by Nishan Paul &amp; Md Rakibur Rahman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4762500" y="5352008"/>
            <a:ext cx="2667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67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cmatrix.kaiofficial.xyz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4695825" y="5912048"/>
            <a:ext cx="280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</a:t>
            </a:r>
            <a:endParaRPr/>
          </a:p>
        </p:txBody>
      </p:sp>
      <p:pic>
        <p:nvPicPr>
          <p:cNvPr descr="image.png" id="394" name="Google Shape;39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304517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4"/>
          <p:cNvSpPr txBox="1"/>
          <p:nvPr/>
        </p:nvSpPr>
        <p:spPr>
          <a:xfrm>
            <a:off x="1584007" y="3711922"/>
            <a:ext cx="18802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Resilient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1628775" y="3902422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Never loses state</a:t>
            </a:r>
            <a:endParaRPr/>
          </a:p>
        </p:txBody>
      </p:sp>
      <p:pic>
        <p:nvPicPr>
          <p:cNvPr descr="image.png" id="397" name="Google Shape;39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7250" y="304517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4"/>
          <p:cNvSpPr txBox="1"/>
          <p:nvPr/>
        </p:nvSpPr>
        <p:spPr>
          <a:xfrm>
            <a:off x="3965257" y="3711922"/>
            <a:ext cx="18802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Cost-Effective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4010025" y="3902422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Smart model routing</a:t>
            </a:r>
            <a:endParaRPr/>
          </a:p>
        </p:txBody>
      </p:sp>
      <p:pic>
        <p:nvPicPr>
          <p:cNvPr descr="image.png" id="400" name="Google Shape;40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8500" y="304517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/>
        </p:nvSpPr>
        <p:spPr>
          <a:xfrm>
            <a:off x="6346507" y="3711922"/>
            <a:ext cx="18802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6391275" y="3902422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HITL controlled</a:t>
            </a:r>
            <a:endParaRPr/>
          </a:p>
        </p:txBody>
      </p:sp>
      <p:pic>
        <p:nvPicPr>
          <p:cNvPr descr="image.png" id="403" name="Google Shape;40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9750" y="304517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4"/>
          <p:cNvSpPr txBox="1"/>
          <p:nvPr/>
        </p:nvSpPr>
        <p:spPr>
          <a:xfrm>
            <a:off x="8727757" y="3711922"/>
            <a:ext cx="18802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Intelligent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8772525" y="3902422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Vector Memory</a:t>
            </a:r>
            <a:endParaRPr/>
          </a:p>
        </p:txBody>
      </p:sp>
      <p:pic>
        <p:nvPicPr>
          <p:cNvPr descr="image.png" id="406" name="Google Shape;40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57450" y="320709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9175" y="320709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10425" y="320709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72625" y="3207097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