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supervisor. State the thesis title clearly. This work addresses the gap in autonomous security testing using AI agent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gap: LLMs reason but can't execute. Tools execute but can't reason. CMatrix bridges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gap banner is your thesis. Be ready to defend each cell — you've read these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flow: input → orchestrator decides scan mode → routes to appropriate agents → agents call tools → results feed back to Qdrant → report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4 contributions together are the thesis. Each one alone is incremental; together they form a novel system with real research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proves execution ability. Show that you've made real architectural decisions — not theoretical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scope statement is critical. Supervisors respect intellectual honesty far more than inflated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Computers &amp; Security — it's realistic with strong results. USENIX/CCS is aspirational but not impossible given the novelty of Burp Suite integration +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buffer months show realistic planning. Supervisors respect students who don't overpromise timelines.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closing argument before the final ask. Each point answers one of the supervisor's silent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confidence. You're not asking for charity — you're asking for the chance to do real work. The preparation in this deck speaks for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9696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1488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5072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8656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35824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17904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39696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1488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8656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5824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7616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17904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61488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05072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8656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0448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35824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7616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17904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61488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5072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6864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48656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70448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14032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35824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57616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6112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17904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39696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61488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05072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26864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48656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70448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92240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4032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35824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57616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6112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17904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39696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61488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05072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26864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48656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70448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92240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14032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35824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57616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" y="6400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CMatrix</a:t>
            </a:r>
            <a:endParaRPr lang="en-US" sz="7200" dirty="0"/>
          </a:p>
        </p:txBody>
      </p:sp>
      <p:sp>
        <p:nvSpPr>
          <p:cNvPr id="88" name="Text 86"/>
          <p:cNvSpPr/>
          <p:nvPr/>
        </p:nvSpPr>
        <p:spPr>
          <a:xfrm>
            <a:off x="73152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LLM-Orchestrated Multi-Agent Framework for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Vulnerability Assessment &amp; Penetration Testing</a:t>
            </a:r>
            <a:endParaRPr lang="en-US" sz="2000" dirty="0"/>
          </a:p>
        </p:txBody>
      </p:sp>
      <p:sp>
        <p:nvSpPr>
          <p:cNvPr id="90" name="Shape 88"/>
          <p:cNvSpPr/>
          <p:nvPr/>
        </p:nvSpPr>
        <p:spPr>
          <a:xfrm>
            <a:off x="731520" y="2834640"/>
            <a:ext cx="3200400" cy="27432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152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 Paul</a:t>
            </a:r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PMICS Batch 05, Roll 06  |  University of Dhaka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3152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</a:t>
            </a:r>
            <a:pPr indent="0" marL="0">
              <a:buNone/>
            </a:pPr>
            <a:r>
              <a:rPr lang="en-US" sz="12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 Information &amp; Cyber Security (PMICS)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Proposal Presentation  •  June 2026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autonomous VAPT is an open, urgent research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Unfilled cybersecurity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globally (2025)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1719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go unpatched due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pentester shortage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515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035040" y="1719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 (IBM 2024)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8412480" cy="621792"/>
          </a:xfrm>
          <a:prstGeom prst="roundRect">
            <a:avLst>
              <a:gd name="adj" fmla="val 8824"/>
            </a:avLst>
          </a:prstGeom>
          <a:solidFill>
            <a:srgbClr val="11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65176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VAPT is slow &amp; expert-gated — a single engagement takes weeks and costs tens of thousands of dollars.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8412480" cy="621792"/>
          </a:xfrm>
          <a:prstGeom prst="roundRect">
            <a:avLst>
              <a:gd name="adj" fmla="val 8824"/>
            </a:avLst>
          </a:prstGeom>
          <a:solidFill>
            <a:srgbClr val="11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4015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Existing automated tools (Nessus, OpenVAS, Metasploit) are rule-based. They scan but do not reason, adapt, or chain exploits.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105656"/>
            <a:ext cx="8412480" cy="621792"/>
          </a:xfrm>
          <a:prstGeom prst="roundRect">
            <a:avLst>
              <a:gd name="adj" fmla="val 8824"/>
            </a:avLst>
          </a:prstGeom>
          <a:solidFill>
            <a:srgbClr val="11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151376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LLMs can reason about vulnerabilities but have no actionable security toolchain — the execution gap remains wide open.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&amp; Research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most relevant papers — and what none of them solve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686800" cy="36576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868680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PentestGPT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(Deng et al.)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4630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for pentest sub-tasks; Pentesting Task Tree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required; no autonomous multi-agent execution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93976"/>
            <a:ext cx="8686800" cy="640080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396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AutoAttacker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(Xu et al.)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1396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guided cyber-attack automation via LangChain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1396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VAPT pipeline; no black/grey/white-box scan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70632"/>
            <a:ext cx="868680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16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 et al.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LLM Agents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81635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2816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web exploitation with zero-day CVEs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8163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Web-only scope; no professional tool (Burp Suite) integration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447288"/>
            <a:ext cx="8686800" cy="640080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930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PentestAgent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(Shen et al.)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4930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11880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CoT multi-agent pentest on VulHub/HTB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scan mode; no model-agnostic orchestration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23944"/>
            <a:ext cx="8686800" cy="64008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6966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HackSynth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(Muzsai et al.)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416966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1880" y="41696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evaluation framework for autonomous pentest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41696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only; no production system or tool integration layer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8686800" cy="347472"/>
          </a:xfrm>
          <a:prstGeom prst="roundRect">
            <a:avLst>
              <a:gd name="adj" fmla="val 13158"/>
            </a:avLst>
          </a:prstGeom>
          <a:solidFill>
            <a:srgbClr val="1A0A00"/>
          </a:solidFill>
          <a:ln/>
          <a:effectLst>
            <a:outerShdw sx="100000" sy="100000" kx="0" ky="0" algn="bl" rotWithShape="0" blurRad="101600" dist="50800" dir="2700000">
              <a:srgbClr val="FF6B35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5994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GAP: No published system unifies multi-agent LangGraph orchestration + black/grey/white-box scan modes + Burp Suite integration + model-agnostic LLM backbone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CMatrix —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LangGraph-orchestrated multi-agent pipeline with unified black / grey / white-box scan modes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A3050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URL / IP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896112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A3050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896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896112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A3050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896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(Black/Grey/White)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89888"/>
            <a:ext cx="0" cy="256032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600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828800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00D4FF"/>
          </a:solidFill>
          <a:ln/>
          <a:effectLst>
            <a:outerShdw sx="100000" sy="100000" kx="0" ky="0" algn="bl" rotWithShape="0" blurRad="152400" dist="50800" dir="2700000">
              <a:srgbClr val="00D4FF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18288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LangGraph Orchestrator  (State Machine + Conditional Routing)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404872"/>
            <a:ext cx="0" cy="320040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404872"/>
            <a:ext cx="0" cy="320040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2404872"/>
            <a:ext cx="0" cy="320040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2404872"/>
            <a:ext cx="0" cy="320040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2404872"/>
            <a:ext cx="0" cy="320040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24912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1A4A6B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72491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0" y="2724912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1A4A6B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272491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2724912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4A1A1A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72491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724912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4A1A1A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72491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2724912"/>
            <a:ext cx="1554480" cy="658368"/>
          </a:xfrm>
          <a:prstGeom prst="roundRect">
            <a:avLst>
              <a:gd name="adj" fmla="val 9722"/>
            </a:avLst>
          </a:prstGeom>
          <a:solidFill>
            <a:srgbClr val="1A4A2A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272491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3392424"/>
            <a:ext cx="0" cy="256032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3160" y="3392424"/>
            <a:ext cx="0" cy="256032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9080" y="3392424"/>
            <a:ext cx="0" cy="256032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15000" y="3392424"/>
            <a:ext cx="0" cy="256032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9480" y="3392424"/>
            <a:ext cx="0" cy="256032"/>
          </a:xfrm>
          <a:prstGeom prst="line">
            <a:avLst/>
          </a:prstGeom>
          <a:noFill/>
          <a:ln w="12700">
            <a:solidFill>
              <a:srgbClr val="7A9B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365760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12236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0" y="365760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12236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Masscan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0" y="365760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12236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20640" y="365760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12236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75120" y="365760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12236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818120" y="2423160"/>
            <a:ext cx="1188720" cy="1143000"/>
          </a:xfrm>
          <a:prstGeom prst="roundRect">
            <a:avLst>
              <a:gd name="adj" fmla="val 6400"/>
            </a:avLst>
          </a:prstGeom>
          <a:solidFill>
            <a:srgbClr val="1A2A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18120" y="242316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686800" y="3200400"/>
            <a:ext cx="0" cy="45720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Feedback Loop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0" y="9875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0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CMatrix introduces that no published system has done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69848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1097280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001A0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097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NOVELTY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Scan Mode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LangGraph state machine handles Black-box, Grey-box, and White-box VAPT through conditional routing — dynamically adjusting agent behavior and tool selection based on available target information. No prior system offers this unified abstraction.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81528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3108960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001A0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NOVELTY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REST API as First-Class Agent Tool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CMatrix integrates Burp Suite Professional via its REST API as a directly callable agent tool — enabling interception, scanning, and active testing within the LLM orchestration loop. No published LLM-agent framework has achieved this integration.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069848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1097280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001A0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097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NOVELTY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9204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LLM Orchestration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is fully decoupled from the underlying LLM. Tested with DeepSeek-R1-Distill-Qwen-32B (Q4_K_M) on A100 via Vast.ai. Any OpenAI-compatible model can be swapped in without touching agent code — enabling reproducibility and fair benchmarking.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081528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3108960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001A0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 NOVELTY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92040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MCP-Based Extensible Tool Layer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749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security tools are integrated through the Model Context Protocol (MCP) — a standardized interface that makes CMatrix future-proof. New tools (scanners, exploit modules) can be added as MCP servers without modifying agent logic.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Reality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built — tech stack, architecture decisions, and solved engineering 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996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Tailwind + Shadcn UI + xterm.js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252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Code-inspired split-panel layout with live terminal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91056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910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1627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Celery + Redis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1883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multi-agent graph with async task queue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221992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21992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219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514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agent control plane with session persistence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5292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52928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52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2889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DeepSeek-R1-Distill-Qwen-32B (Q4_K_M)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3145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on Vast.ai A100; OpenAI-compatible endpoint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483864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83864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838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00200" y="37764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embeddings, exploit patterns, scan history retrieval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148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114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00200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+ Nmap + SQLMap + MCP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00200" y="4407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integrations with live tool orchestration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 Solved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52160" y="1298448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0" y="1344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Async agent coordination across scan phases via Celery task graphs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52160" y="1984248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43600" y="2029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Stateful session persistence for long-running VAPT engagements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2670048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0" y="2715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 prompt injection risks in security context (adversarial target outputs)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52160" y="3355848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0" y="3401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Tool output normalization across heterogeneous security tools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52160" y="4041648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0" y="40873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Rate limiting &amp; auth management for Burp Suite REST API calls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reproducible, and comparable to existing literature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Environments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62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HackTheBox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retired machines across Easy/Medium/Hard difficulty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892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intentionally vulnerable VMs (DVWA, Metasploitable)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86584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23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learning paths as controlled evaluation units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16936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953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1455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Self-deployed Docker environments for white-box mode testing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362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pentest objectives completed autonomously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856232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892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Time-to-Exploit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0848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pentester baseline (time-bounded)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86584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615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reports verified against ground truth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16936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953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1455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tokens consumed per successful exploit chain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38221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PentestGPT (USENIX '24)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0507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AutoAttacker (arXiv '24)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279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Manual pentester — time-limited (1hr/target)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5079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No-agent baseline (single LLM call)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474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01A0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Statement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38404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Evaluate on standardized, known-vulnerable environments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40827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Compare against reproducible published baselines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4325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Will NOT claim to beat expert humans on unknown 0-days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45674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Will NOT evaluate on live production targets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angles — tiered venue targets from achievable to aspirational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05156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51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Architecture Paper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563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"CMatrix: A Multi-Agent LLM Framework for Autonomous VAPT"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8379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description, benchmark evaluation across 30 targets, comparison with PentestGPT and AutoAttacker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Computers &amp; Security  (Elsevier — Q1, Scopus 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468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USENIX Security / CCS (if benchmark results are strong)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0328" y="105156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051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10328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Evaluation Paper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1563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"Evaluating LLM-Agent Frameworks for Autonomous Penetration Testing"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0328" y="18379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for fair comparison: metrics, environment standardization, reproducibility protocol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0328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IEEE Transactions on Dependable &amp; Secure Computing (Q1)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0328" y="2468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NDSS Workshop / ACM CCS Workshop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01752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17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9768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Paper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529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the Target Fights Back: Robustness of LLM Agents in Adversarial Pentest Environments"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" y="3803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CMatrix handles evasive targets, honeypots, IDS-triggered false contexts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" y="4178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RAID Symposium / ACM ASIACCS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" y="4434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IEEE S&amp;P (if results novel enough)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301752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017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10328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Paper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3529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"LLM-Agent Frameworks for Offensive Security: A Systematic Review"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0328" y="3803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paper survey — taxonomy of approaches, gap analysis, future directions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0328" y="4178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ACM Computing Surveys / IEEE Security &amp; Privacy Magazine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0328" y="4434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Solo-achievable; forms thesis Chapter 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Timeline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execution plan — concrete milestones with built-in buffer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321040" cy="7315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042416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8988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00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756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 LangGraph agent pipeline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243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Burp Suite REST API integration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729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MCP tool layer finalized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21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Black/grey/white-box routing validated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042416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298448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51760" y="138988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M4–M5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1700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Evaluation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20756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30-target evaluation suite setup (HTB/VulnHub)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26243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Baseline comparisons (PentestGPT, manual)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31729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Metrics collection and statistical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721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Adversarial environment testing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104241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298448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38988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M6–M7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1700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Writing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0756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paper draft (primary publication)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6243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Survey paper writing (Chapter 2 of thesis)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1729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Internal review + supervisor feedback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721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Camera-ready revision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1042416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298448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38988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M8–M10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1700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&amp; Thesis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20756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Submit system paper to target venue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26243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thesis writing begins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31729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Incorporate evaluation results into thesis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3721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Adversarial robustness study (time permitting)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7823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M11–M12: Buffer for revision, resubmission, thesis finalization, and viva preparation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Thesis-Worthy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6968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System Contribution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447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CMatrix is not a survey, not a literature review, not a plugin. It is a complete, novel, working system with architecture decisions that no published paper has made in combination.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7528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Evaluation on Real Benchmarks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14447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HackTheBox and VulnHub against published baselines makes the work reproducible and directly comparable to the existing USENIX '24 and arXiv literature.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6968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— Field is Moving Fast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770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 security research exploded in 2024–2025. Publishing now puts you at the frontier, not following it. The NDSS LAST-X workshop (2026) is actively soliciting exactly this type of 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67528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with a Clear Answer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2770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precisely stated: no system unifies multi-agent orchestration + unified scan modes + professional toolchain. CMatrix closes that gap and can demonstrate it empirically.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6968" y="3703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Path to Publication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Security (Q1, Elsevier) has published comparable systems papers. The scope is calibrated to produce a publishable result within the MSc timeline.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032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67528" y="3703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Can Execute This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 (LangGraph, FastAPI, Qdrant, Next.js) is already in production use across KAI's live apps. The Burp Suite integration is the novel engineering challenge — the rest is execution.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9696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1488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5072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8656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35824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828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17904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39696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1488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8656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5824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7616" y="100584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17904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61488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05072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8656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0448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35824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7616" y="182880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17904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61488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5072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6864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48656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70448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14032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35824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57616" y="265176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6112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17904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39696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61488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05072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26864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48656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70448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92240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4032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35824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57616" y="34747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6112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17904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39696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61488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05072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26864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48656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70448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92240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14032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35824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57616" y="42976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Supervisor</a:t>
            </a:r>
            <a:endParaRPr lang="en-US" sz="3600" dirty="0"/>
          </a:p>
        </p:txBody>
      </p:sp>
      <p:sp>
        <p:nvSpPr>
          <p:cNvPr id="88" name="Shape 86"/>
          <p:cNvSpPr/>
          <p:nvPr/>
        </p:nvSpPr>
        <p:spPr>
          <a:xfrm>
            <a:off x="1371600" y="1005840"/>
            <a:ext cx="6583680" cy="91440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27000" dist="50800" dir="2700000">
              <a:srgbClr val="00D4FF">
                <a:alpha val="2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1508760" y="1207008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50876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2148840" y="1097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Supervision Approval</a:t>
            </a:r>
            <a:endParaRPr lang="en-US" sz="1500" dirty="0"/>
          </a:p>
        </p:txBody>
      </p:sp>
      <p:sp>
        <p:nvSpPr>
          <p:cNvPr id="92" name="Text 90"/>
          <p:cNvSpPr/>
          <p:nvPr/>
        </p:nvSpPr>
        <p:spPr>
          <a:xfrm>
            <a:off x="2148840" y="14630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CMatrix as the primary thesis artifact for the PMICS research program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371600" y="2103120"/>
            <a:ext cx="6583680" cy="91440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27000" dist="50800" dir="2700000">
              <a:srgbClr val="00D4FF">
                <a:alpha val="2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508760" y="2304288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50876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2148840" y="2194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Scope Guidance</a:t>
            </a:r>
            <a:endParaRPr lang="en-US" sz="1500" dirty="0"/>
          </a:p>
        </p:txBody>
      </p:sp>
      <p:sp>
        <p:nvSpPr>
          <p:cNvPr id="97" name="Text 95"/>
          <p:cNvSpPr/>
          <p:nvPr/>
        </p:nvSpPr>
        <p:spPr>
          <a:xfrm>
            <a:off x="2148840" y="25603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input on which target environments and metrics best satisfy the DU thesis evaluation standard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371600" y="3200400"/>
            <a:ext cx="6583680" cy="91440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/>
          <a:effectLst>
            <a:outerShdw sx="100000" sy="100000" kx="0" ky="0" algn="bl" rotWithShape="0" blurRad="127000" dist="50800" dir="2700000">
              <a:srgbClr val="00D4FF">
                <a:alpha val="2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1508760" y="3401568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50876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2148840" y="3291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Publication Venue</a:t>
            </a:r>
            <a:endParaRPr lang="en-US" sz="1500" dirty="0"/>
          </a:p>
        </p:txBody>
      </p:sp>
      <p:sp>
        <p:nvSpPr>
          <p:cNvPr id="102" name="Text 100"/>
          <p:cNvSpPr/>
          <p:nvPr/>
        </p:nvSpPr>
        <p:spPr>
          <a:xfrm>
            <a:off x="2148840" y="3657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whether to target Computers &amp; Security (realistic) or a workshop at USENIX/CCS (aspirational) first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1371600" y="4251960"/>
            <a:ext cx="65836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371600" y="43251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ready to execute. We are asking for the opportunity to do so.</a:t>
            </a:r>
            <a:endParaRPr lang="en-US" sz="1400" dirty="0"/>
          </a:p>
        </p:txBody>
      </p:sp>
      <p:sp>
        <p:nvSpPr>
          <p:cNvPr id="105" name="Shape 10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CMatrix – LLM-Orchestrated Multi-Agent VAPT Framework</dc:title>
  <dc:subject>PptxGenJS Presentation</dc:subject>
  <dc:creator>Nishan Paul</dc:creator>
  <cp:lastModifiedBy>Nishan Paul</cp:lastModifiedBy>
  <cp:revision>1</cp:revision>
  <dcterms:created xsi:type="dcterms:W3CDTF">2026-06-24T18:14:54Z</dcterms:created>
  <dcterms:modified xsi:type="dcterms:W3CDTF">2026-06-24T18:14:54Z</dcterms:modified>
</cp:coreProperties>
</file>