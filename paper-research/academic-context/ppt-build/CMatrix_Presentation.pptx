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0" y="1188720"/>
            <a:ext cx="5943600" cy="5029200"/>
          </a:xfrm>
          <a:prstGeom prst="rect">
            <a:avLst/>
          </a:prstGeom>
          <a:noFill/>
        </p:spPr>
        <p:txBody>
          <a:bodyPr wrap="square">
            <a:spAutoFit/>
          </a:bodyPr>
          <a:lstStyle/>
          <a:p>
            <a:pPr algn="r"/>
            <a:r>
              <a:rPr sz="13000" b="1" i="0">
                <a:solidFill>
                  <a:srgbClr val="0D2535"/>
                </a:solidFill>
                <a:latin typeface="Calibri"/>
              </a:rPr>
              <a:t>CMATRIX</a:t>
            </a:r>
          </a:p>
        </p:txBody>
      </p:sp>
      <p:sp>
        <p:nvSpPr>
          <p:cNvPr id="6" name="TextBox 5"/>
          <p:cNvSpPr txBox="1"/>
          <p:nvPr/>
        </p:nvSpPr>
        <p:spPr>
          <a:xfrm>
            <a:off x="457200" y="731520"/>
            <a:ext cx="7315200" cy="50292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7" name="TextBox 6"/>
          <p:cNvSpPr txBox="1"/>
          <p:nvPr/>
        </p:nvSpPr>
        <p:spPr>
          <a:xfrm>
            <a:off x="457200" y="1188720"/>
            <a:ext cx="8046720" cy="1828800"/>
          </a:xfrm>
          <a:prstGeom prst="rect">
            <a:avLst/>
          </a:prstGeom>
          <a:noFill/>
        </p:spPr>
        <p:txBody>
          <a:bodyPr wrap="square">
            <a:spAutoFit/>
          </a:bodyPr>
          <a:lstStyle/>
          <a:p>
            <a:pPr algn="l"/>
            <a:r>
              <a:rPr sz="7200" b="1">
                <a:solidFill>
                  <a:srgbClr val="FFFFFF"/>
                </a:solidFill>
                <a:latin typeface="Calibri"/>
              </a:rPr>
              <a:t>CMatrix</a:t>
            </a:r>
          </a:p>
        </p:txBody>
      </p:sp>
      <p:sp>
        <p:nvSpPr>
          <p:cNvPr id="8" name="TextBox 7"/>
          <p:cNvSpPr txBox="1"/>
          <p:nvPr/>
        </p:nvSpPr>
        <p:spPr>
          <a:xfrm>
            <a:off x="457200" y="2743200"/>
            <a:ext cx="8686800" cy="1097280"/>
          </a:xfrm>
          <a:prstGeom prst="rect">
            <a:avLst/>
          </a:prstGeom>
          <a:noFill/>
        </p:spPr>
        <p:txBody>
          <a:bodyPr wrap="square">
            <a:spAutoFit/>
          </a:bodyPr>
          <a:lstStyle/>
          <a:p>
            <a:pPr algn="l"/>
            <a:r>
              <a:rPr sz="2200" b="0" i="1">
                <a:solidFill>
                  <a:srgbClr val="00E5FF"/>
                </a:solidFill>
                <a:latin typeface="Calibri"/>
              </a:rPr>
              <a:t>Dual-Graph-Guided LLM-Orchestrated
Multi-Agent Framework for Autonomous VAPT</a:t>
            </a:r>
          </a:p>
        </p:txBody>
      </p:sp>
      <p:sp>
        <p:nvSpPr>
          <p:cNvPr id="9" name="Rectangle 8"/>
          <p:cNvSpPr/>
          <p:nvPr/>
        </p:nvSpPr>
        <p:spPr>
          <a:xfrm>
            <a:off x="457200" y="3886200"/>
            <a:ext cx="59436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4050791"/>
            <a:ext cx="2331720" cy="347472"/>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2" name="Rectangle 11"/>
          <p:cNvSpPr/>
          <p:nvPr/>
        </p:nvSpPr>
        <p:spPr>
          <a:xfrm>
            <a:off x="32004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4050791"/>
            <a:ext cx="2331720" cy="347472"/>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4" name="Rectangle 13"/>
          <p:cNvSpPr/>
          <p:nvPr/>
        </p:nvSpPr>
        <p:spPr>
          <a:xfrm>
            <a:off x="5943600" y="4023360"/>
            <a:ext cx="246888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6752" y="4050791"/>
            <a:ext cx="2331720" cy="347472"/>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6" name="TextBox 15"/>
          <p:cNvSpPr txBox="1"/>
          <p:nvPr/>
        </p:nvSpPr>
        <p:spPr>
          <a:xfrm>
            <a:off x="457200" y="4709160"/>
            <a:ext cx="7315200" cy="365760"/>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7" name="TextBox 16"/>
          <p:cNvSpPr txBox="1"/>
          <p:nvPr/>
        </p:nvSpPr>
        <p:spPr>
          <a:xfrm>
            <a:off x="457200" y="5120640"/>
            <a:ext cx="9144000" cy="365760"/>
          </a:xfrm>
          <a:prstGeom prst="rect">
            <a:avLst/>
          </a:prstGeom>
          <a:noFill/>
        </p:spPr>
        <p:txBody>
          <a:bodyPr wrap="square">
            <a:spAutoFit/>
          </a:bodyPr>
          <a:lstStyle/>
          <a:p>
            <a:pPr algn="l"/>
            <a:r>
              <a:rPr sz="1300" b="0" i="0">
                <a:solidFill>
                  <a:srgbClr val="A0AAB8"/>
                </a:solidFill>
                <a:latin typeface="Calibri"/>
              </a:rPr>
              <a:t>Black-Box &amp; Grey-Box Assessment  ·  Network · Web · REST API</a:t>
            </a:r>
          </a:p>
        </p:txBody>
      </p:sp>
      <p:sp>
        <p:nvSpPr>
          <p:cNvPr id="18" name="TextBox 17"/>
          <p:cNvSpPr txBox="1"/>
          <p:nvPr/>
        </p:nvSpPr>
        <p:spPr>
          <a:xfrm>
            <a:off x="11368735" y="6355080"/>
            <a:ext cx="640080"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5486400" cy="320040"/>
          </a:xfrm>
          <a:prstGeom prst="rect">
            <a:avLst/>
          </a:prstGeom>
          <a:noFill/>
        </p:spPr>
        <p:txBody>
          <a:bodyPr wrap="square">
            <a:spAutoFit/>
          </a:bodyPr>
          <a:lstStyle/>
          <a:p>
            <a:pPr algn="l"/>
            <a:r>
              <a:rPr sz="1100" b="1" i="0">
                <a:solidFill>
                  <a:srgbClr val="FF4545"/>
                </a:solidFill>
                <a:latin typeface="Calibri"/>
              </a:rPr>
              <a:t>THE PROBLEM</a:t>
            </a:r>
          </a:p>
        </p:txBody>
      </p:sp>
      <p:sp>
        <p:nvSpPr>
          <p:cNvPr id="6" name="TextBox 5"/>
          <p:cNvSpPr txBox="1"/>
          <p:nvPr/>
        </p:nvSpPr>
        <p:spPr>
          <a:xfrm>
            <a:off x="274320" y="411480"/>
            <a:ext cx="10972800" cy="685800"/>
          </a:xfrm>
          <a:prstGeom prst="rect">
            <a:avLst/>
          </a:prstGeom>
          <a:noFill/>
        </p:spPr>
        <p:txBody>
          <a:bodyPr wrap="square">
            <a:spAutoFit/>
          </a:bodyPr>
          <a:lstStyle/>
          <a:p>
            <a:pPr algn="l"/>
            <a:r>
              <a:rPr sz="3600" b="1" i="0">
                <a:solidFill>
                  <a:srgbClr val="FFFFFF"/>
                </a:solidFill>
                <a:latin typeface="Calibri"/>
              </a:rPr>
              <a:t>What Existing VAPT Systems Get Wrong</a:t>
            </a:r>
          </a:p>
        </p:txBody>
      </p:sp>
      <p:sp>
        <p:nvSpPr>
          <p:cNvPr id="7" name="Rectangle 6"/>
          <p:cNvSpPr/>
          <p:nvPr/>
        </p:nvSpPr>
        <p:spPr>
          <a:xfrm>
            <a:off x="274320" y="1115568"/>
            <a:ext cx="5486400" cy="3200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32588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41732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0" name="TextBox 9"/>
          <p:cNvSpPr txBox="1"/>
          <p:nvPr/>
        </p:nvSpPr>
        <p:spPr>
          <a:xfrm>
            <a:off x="713232" y="1399032"/>
            <a:ext cx="4754880" cy="347472"/>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1" name="TextBox 10"/>
          <p:cNvSpPr txBox="1"/>
          <p:nvPr/>
        </p:nvSpPr>
        <p:spPr>
          <a:xfrm>
            <a:off x="713232" y="1728216"/>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2" name="Rectangle 11"/>
          <p:cNvSpPr/>
          <p:nvPr/>
        </p:nvSpPr>
        <p:spPr>
          <a:xfrm>
            <a:off x="274320" y="256032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65176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4" name="TextBox 13"/>
          <p:cNvSpPr txBox="1"/>
          <p:nvPr/>
        </p:nvSpPr>
        <p:spPr>
          <a:xfrm>
            <a:off x="713232" y="2633472"/>
            <a:ext cx="4754880" cy="347472"/>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5" name="TextBox 14"/>
          <p:cNvSpPr txBox="1"/>
          <p:nvPr/>
        </p:nvSpPr>
        <p:spPr>
          <a:xfrm>
            <a:off x="713232" y="2962656"/>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6" name="Rectangle 15"/>
          <p:cNvSpPr/>
          <p:nvPr/>
        </p:nvSpPr>
        <p:spPr>
          <a:xfrm>
            <a:off x="274320" y="379476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388620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18" name="TextBox 17"/>
          <p:cNvSpPr txBox="1"/>
          <p:nvPr/>
        </p:nvSpPr>
        <p:spPr>
          <a:xfrm>
            <a:off x="713232" y="3867912"/>
            <a:ext cx="4754880" cy="347472"/>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9" name="TextBox 18"/>
          <p:cNvSpPr txBox="1"/>
          <p:nvPr/>
        </p:nvSpPr>
        <p:spPr>
          <a:xfrm>
            <a:off x="713232" y="4197096"/>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20" name="Rectangle 19"/>
          <p:cNvSpPr/>
          <p:nvPr/>
        </p:nvSpPr>
        <p:spPr>
          <a:xfrm>
            <a:off x="274320" y="5029200"/>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5120640"/>
            <a:ext cx="365760" cy="457200"/>
          </a:xfrm>
          <a:prstGeom prst="rect">
            <a:avLst/>
          </a:prstGeom>
          <a:noFill/>
        </p:spPr>
        <p:txBody>
          <a:bodyPr wrap="square">
            <a:spAutoFit/>
          </a:bodyPr>
          <a:lstStyle/>
          <a:p>
            <a:pPr algn="l"/>
            <a:r>
              <a:rPr sz="2000" b="1" i="0">
                <a:solidFill>
                  <a:srgbClr val="FF4545"/>
                </a:solidFill>
                <a:latin typeface="Calibri"/>
              </a:rPr>
              <a:t>✕</a:t>
            </a:r>
          </a:p>
        </p:txBody>
      </p:sp>
      <p:sp>
        <p:nvSpPr>
          <p:cNvPr id="22" name="TextBox 21"/>
          <p:cNvSpPr txBox="1"/>
          <p:nvPr/>
        </p:nvSpPr>
        <p:spPr>
          <a:xfrm>
            <a:off x="713232" y="5102352"/>
            <a:ext cx="4754880" cy="347472"/>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3" name="TextBox 22"/>
          <p:cNvSpPr txBox="1"/>
          <p:nvPr/>
        </p:nvSpPr>
        <p:spPr>
          <a:xfrm>
            <a:off x="713232" y="5431536"/>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4" name="Rectangle 23"/>
          <p:cNvSpPr/>
          <p:nvPr/>
        </p:nvSpPr>
        <p:spPr>
          <a:xfrm>
            <a:off x="5943600" y="1325880"/>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371600"/>
            <a:ext cx="548640" cy="640080"/>
          </a:xfrm>
          <a:prstGeom prst="rect">
            <a:avLst/>
          </a:prstGeom>
          <a:noFill/>
        </p:spPr>
        <p:txBody>
          <a:bodyPr wrap="square">
            <a:spAutoFit/>
          </a:bodyPr>
          <a:lstStyle/>
          <a:p>
            <a:pPr algn="l"/>
            <a:r>
              <a:rPr sz="6000" b="1" i="0">
                <a:solidFill>
                  <a:srgbClr val="00E5FF"/>
                </a:solidFill>
                <a:latin typeface="Calibri"/>
              </a:rPr>
              <a:t>“</a:t>
            </a:r>
          </a:p>
        </p:txBody>
      </p:sp>
      <p:sp>
        <p:nvSpPr>
          <p:cNvPr id="26" name="TextBox 25"/>
          <p:cNvSpPr txBox="1"/>
          <p:nvPr/>
        </p:nvSpPr>
        <p:spPr>
          <a:xfrm>
            <a:off x="6126480" y="1828800"/>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7" name="TextBox 26"/>
          <p:cNvSpPr txBox="1"/>
          <p:nvPr/>
        </p:nvSpPr>
        <p:spPr>
          <a:xfrm>
            <a:off x="6126480" y="3337560"/>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8" name="Rectangle 27"/>
          <p:cNvSpPr/>
          <p:nvPr/>
        </p:nvSpPr>
        <p:spPr>
          <a:xfrm>
            <a:off x="5943600" y="3794760"/>
            <a:ext cx="5943600" cy="365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3822191"/>
            <a:ext cx="5669280" cy="320040"/>
          </a:xfrm>
          <a:prstGeom prst="rect">
            <a:avLst/>
          </a:prstGeom>
          <a:noFill/>
        </p:spPr>
        <p:txBody>
          <a:bodyPr wrap="square">
            <a:spAutoFit/>
          </a:bodyPr>
          <a:lstStyle/>
          <a:p>
            <a:pPr algn="l"/>
            <a:r>
              <a:rPr sz="1300" b="1" i="0">
                <a:solidFill>
                  <a:srgbClr val="FFFFFF"/>
                </a:solidFill>
                <a:latin typeface="Calibri"/>
              </a:rPr>
              <a:t>⚠  ROOT CAUSE</a:t>
            </a:r>
          </a:p>
        </p:txBody>
      </p:sp>
      <p:sp>
        <p:nvSpPr>
          <p:cNvPr id="30" name="Rectangle 29"/>
          <p:cNvSpPr/>
          <p:nvPr/>
        </p:nvSpPr>
        <p:spPr>
          <a:xfrm>
            <a:off x="5943600" y="4160520"/>
            <a:ext cx="5943600" cy="1325880"/>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4224528"/>
            <a:ext cx="5623560" cy="1188720"/>
          </a:xfrm>
          <a:prstGeom prst="rect">
            <a:avLst/>
          </a:prstGeom>
          <a:noFill/>
        </p:spPr>
        <p:txBody>
          <a:bodyPr wrap="square">
            <a:spAutoFit/>
          </a:bodyPr>
          <a:lstStyle/>
          <a:p>
            <a:r>
              <a:rPr sz="1300">
                <a:solidFill>
                  <a:srgbClr val="A0AAB8"/>
                </a:solidFill>
                <a:latin typeface="Calibri"/>
              </a:rPr>
              <a:t>Existing systems have no structured model of the target environment</a:t>
            </a:r>
          </a:p>
          <a:p>
            <a:r>
              <a:rPr sz="1300">
                <a:solidFill>
                  <a:srgbClr val="A0AAB8"/>
                </a:solidFill>
                <a:latin typeface="Calibri"/>
              </a:rPr>
              <a:t>and no structured model of what attack paths are possible.</a:t>
            </a:r>
          </a:p>
          <a:p>
            <a:r>
              <a:rPr sz="1300">
                <a:solidFill>
                  <a:srgbClr val="FFFFFF"/>
                </a:solidFill>
                <a:latin typeface="Calibri"/>
              </a:rPr>
              <a:t/>
            </a:r>
          </a:p>
          <a:p>
            <a:r>
              <a:rPr sz="1300">
                <a:solidFill>
                  <a:srgbClr val="A0AAB8"/>
                </a:solidFill>
                <a:latin typeface="Calibri"/>
              </a:rPr>
              <a:t>They know what they did — not what the target is, or what can be done to it.</a:t>
            </a:r>
          </a:p>
        </p:txBody>
      </p:sp>
      <p:sp>
        <p:nvSpPr>
          <p:cNvPr id="32" name="Rectangle 31"/>
          <p:cNvSpPr/>
          <p:nvPr/>
        </p:nvSpPr>
        <p:spPr>
          <a:xfrm>
            <a:off x="274320" y="5687568"/>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760720"/>
            <a:ext cx="11277295" cy="594360"/>
          </a:xfrm>
          <a:prstGeom prst="rect">
            <a:avLst/>
          </a:prstGeom>
          <a:noFill/>
        </p:spPr>
        <p:txBody>
          <a:bodyPr wrap="square">
            <a:spAutoFit/>
          </a:bodyPr>
          <a:lstStyle/>
          <a:p>
            <a:pPr algn="l"/>
            <a:r>
              <a:rPr sz="1400" b="1" i="0">
                <a:solidFill>
                  <a:srgbClr val="00E5FF"/>
                </a:solidFill>
                <a:latin typeface="Calibri"/>
              </a:rPr>
              <a:t>CMatrix Solution →  A dual-graph world model: ASG captures discovered reality · APG captures inferred attack opportunity</a:t>
            </a:r>
          </a:p>
        </p:txBody>
      </p:sp>
      <p:sp>
        <p:nvSpPr>
          <p:cNvPr id="34" name="TextBox 33"/>
          <p:cNvSpPr txBox="1"/>
          <p:nvPr/>
        </p:nvSpPr>
        <p:spPr>
          <a:xfrm>
            <a:off x="11368735" y="6355080"/>
            <a:ext cx="640080"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320040"/>
          </a:xfrm>
          <a:prstGeom prst="rect">
            <a:avLst/>
          </a:prstGeom>
          <a:noFill/>
        </p:spPr>
        <p:txBody>
          <a:bodyPr wrap="square">
            <a:spAutoFit/>
          </a:bodyPr>
          <a:lstStyle/>
          <a:p>
            <a:pPr algn="l"/>
            <a:r>
              <a:rPr sz="1100" b="1" i="0">
                <a:solidFill>
                  <a:srgbClr val="FFD700"/>
                </a:solidFill>
                <a:latin typeface="Calibri"/>
              </a:rPr>
              <a:t>NOVEL CONTRIBUTION</a:t>
            </a:r>
          </a:p>
        </p:txBody>
      </p:sp>
      <p:sp>
        <p:nvSpPr>
          <p:cNvPr id="6" name="TextBox 5"/>
          <p:cNvSpPr txBox="1"/>
          <p:nvPr/>
        </p:nvSpPr>
        <p:spPr>
          <a:xfrm>
            <a:off x="274320" y="393192"/>
            <a:ext cx="11430000" cy="685800"/>
          </a:xfrm>
          <a:prstGeom prst="rect">
            <a:avLst/>
          </a:prstGeom>
          <a:noFill/>
        </p:spPr>
        <p:txBody>
          <a:bodyPr wrap="square">
            <a:spAutoFit/>
          </a:bodyPr>
          <a:lstStyle/>
          <a:p>
            <a:pPr algn="l"/>
            <a:r>
              <a:rPr sz="3400" b="1" i="0">
                <a:solidFill>
                  <a:srgbClr val="FFFFFF"/>
                </a:solidFill>
                <a:latin typeface="Calibri"/>
              </a:rPr>
              <a:t>What Makes CMatrix a Research Contribution</a:t>
            </a:r>
          </a:p>
        </p:txBody>
      </p:sp>
      <p:sp>
        <p:nvSpPr>
          <p:cNvPr id="7" name="Rectangle 6"/>
          <p:cNvSpPr/>
          <p:nvPr/>
        </p:nvSpPr>
        <p:spPr>
          <a:xfrm>
            <a:off x="274320" y="1097280"/>
            <a:ext cx="6400800" cy="3200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234440"/>
            <a:ext cx="11643055" cy="530352"/>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98448"/>
            <a:ext cx="11277295" cy="411480"/>
          </a:xfrm>
          <a:prstGeom prst="rect">
            <a:avLst/>
          </a:prstGeom>
          <a:noFill/>
        </p:spPr>
        <p:txBody>
          <a:bodyPr wrap="square">
            <a:spAutoFit/>
          </a:bodyPr>
          <a:lstStyle/>
          <a:p>
            <a:pPr algn="l"/>
            <a:r>
              <a:rPr sz="1300" b="0" i="1">
                <a:solidFill>
                  <a:srgbClr val="FFD700"/>
                </a:solidFill>
                <a:latin typeface="Calibri"/>
              </a:rPr>
              <a:t>CMatrix is the first autonomous VAPT system to maintain two strictly separated, continuously evolving graph structures — one for discovered reality, one for inferred attack opportunity.</a:t>
            </a:r>
          </a:p>
        </p:txBody>
      </p:sp>
      <p:sp>
        <p:nvSpPr>
          <p:cNvPr id="10" name="Rectangle 9"/>
          <p:cNvSpPr/>
          <p:nvPr/>
        </p:nvSpPr>
        <p:spPr>
          <a:xfrm>
            <a:off x="274320"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947672"/>
            <a:ext cx="475488" cy="329184"/>
          </a:xfrm>
          <a:prstGeom prst="rect">
            <a:avLst/>
          </a:prstGeom>
          <a:noFill/>
        </p:spPr>
        <p:txBody>
          <a:bodyPr wrap="square">
            <a:spAutoFit/>
          </a:bodyPr>
          <a:lstStyle/>
          <a:p>
            <a:pPr algn="ctr"/>
            <a:r>
              <a:rPr sz="1100" b="1" i="0">
                <a:solidFill>
                  <a:srgbClr val="0A0D1A"/>
                </a:solidFill>
                <a:latin typeface="Calibri"/>
              </a:rPr>
              <a:t>C1</a:t>
            </a:r>
          </a:p>
        </p:txBody>
      </p:sp>
      <p:sp>
        <p:nvSpPr>
          <p:cNvPr id="13" name="TextBox 12"/>
          <p:cNvSpPr txBox="1"/>
          <p:nvPr/>
        </p:nvSpPr>
        <p:spPr>
          <a:xfrm>
            <a:off x="841248" y="1984248"/>
            <a:ext cx="3154680" cy="347472"/>
          </a:xfrm>
          <a:prstGeom prst="rect">
            <a:avLst/>
          </a:prstGeom>
          <a:noFill/>
        </p:spPr>
        <p:txBody>
          <a:bodyPr wrap="square">
            <a:spAutoFit/>
          </a:bodyPr>
          <a:lstStyle/>
          <a:p>
            <a:pPr algn="l"/>
            <a:r>
              <a:rPr sz="1300" b="1" i="0">
                <a:solidFill>
                  <a:srgbClr val="FFFFFF"/>
                </a:solidFill>
                <a:latin typeface="Calibri"/>
              </a:rPr>
              <a:t>Dual-Graph World Model</a:t>
            </a:r>
          </a:p>
        </p:txBody>
      </p:sp>
      <p:sp>
        <p:nvSpPr>
          <p:cNvPr id="14" name="TextBox 13"/>
          <p:cNvSpPr txBox="1"/>
          <p:nvPr/>
        </p:nvSpPr>
        <p:spPr>
          <a:xfrm>
            <a:off x="384048" y="2395728"/>
            <a:ext cx="3611880" cy="1051560"/>
          </a:xfrm>
          <a:prstGeom prst="rect">
            <a:avLst/>
          </a:prstGeom>
          <a:noFill/>
        </p:spPr>
        <p:txBody>
          <a:bodyPr wrap="square">
            <a:spAutoFit/>
          </a:bodyPr>
          <a:lstStyle/>
          <a:p>
            <a:pPr algn="l"/>
            <a:r>
              <a:rPr sz="1100" b="0" i="0">
                <a:solidFill>
                  <a:srgbClr val="A0AAB8"/>
                </a:solidFill>
                <a:latin typeface="Calibri"/>
              </a:rPr>
              <a:t>ASG (discovered reality) + APG (inferred opportunity) — strictly separated with enforced write ownership. No prior system maintains these as distinct structures.</a:t>
            </a:r>
          </a:p>
        </p:txBody>
      </p:sp>
      <p:sp>
        <p:nvSpPr>
          <p:cNvPr id="15" name="Rectangle 14"/>
          <p:cNvSpPr/>
          <p:nvPr/>
        </p:nvSpPr>
        <p:spPr>
          <a:xfrm>
            <a:off x="4187952"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87952"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947672"/>
            <a:ext cx="475488" cy="329184"/>
          </a:xfrm>
          <a:prstGeom prst="rect">
            <a:avLst/>
          </a:prstGeom>
          <a:noFill/>
        </p:spPr>
        <p:txBody>
          <a:bodyPr wrap="square">
            <a:spAutoFit/>
          </a:bodyPr>
          <a:lstStyle/>
          <a:p>
            <a:pPr algn="ctr"/>
            <a:r>
              <a:rPr sz="1100" b="1" i="0">
                <a:solidFill>
                  <a:srgbClr val="0A0D1A"/>
                </a:solidFill>
                <a:latin typeface="Calibri"/>
              </a:rPr>
              <a:t>C2</a:t>
            </a:r>
          </a:p>
        </p:txBody>
      </p:sp>
      <p:sp>
        <p:nvSpPr>
          <p:cNvPr id="18" name="TextBox 17"/>
          <p:cNvSpPr txBox="1"/>
          <p:nvPr/>
        </p:nvSpPr>
        <p:spPr>
          <a:xfrm>
            <a:off x="4754880" y="1984248"/>
            <a:ext cx="3154680" cy="347472"/>
          </a:xfrm>
          <a:prstGeom prst="rect">
            <a:avLst/>
          </a:prstGeom>
          <a:noFill/>
        </p:spPr>
        <p:txBody>
          <a:bodyPr wrap="square">
            <a:spAutoFit/>
          </a:bodyPr>
          <a:lstStyle/>
          <a:p>
            <a:pPr algn="l"/>
            <a:r>
              <a:rPr sz="1300" b="1" i="0">
                <a:solidFill>
                  <a:srgbClr val="FFFFFF"/>
                </a:solidFill>
                <a:latin typeface="Calibri"/>
              </a:rPr>
              <a:t>Graph-State-Driven Re-Planning</a:t>
            </a:r>
          </a:p>
        </p:txBody>
      </p:sp>
      <p:sp>
        <p:nvSpPr>
          <p:cNvPr id="19" name="TextBox 18"/>
          <p:cNvSpPr txBox="1"/>
          <p:nvPr/>
        </p:nvSpPr>
        <p:spPr>
          <a:xfrm>
            <a:off x="4297680" y="2395728"/>
            <a:ext cx="3611880" cy="1051560"/>
          </a:xfrm>
          <a:prstGeom prst="rect">
            <a:avLst/>
          </a:prstGeom>
          <a:noFill/>
        </p:spPr>
        <p:txBody>
          <a:bodyPr wrap="square">
            <a:spAutoFit/>
          </a:bodyPr>
          <a:lstStyle/>
          <a:p>
            <a:pPr algn="l"/>
            <a:r>
              <a:rPr sz="1100" b="0" i="0">
                <a:solidFill>
                  <a:srgbClr val="A0AAB8"/>
                </a:solidFill>
                <a:latin typeface="Calibri"/>
              </a:rPr>
              <a:t>Re-planning fires on explicit graph triggers (new vuln node seeds a chain, chain status changes) — not fixed task completion or arbitrary schedules.</a:t>
            </a:r>
          </a:p>
        </p:txBody>
      </p:sp>
      <p:sp>
        <p:nvSpPr>
          <p:cNvPr id="20" name="Rectangle 19"/>
          <p:cNvSpPr/>
          <p:nvPr/>
        </p:nvSpPr>
        <p:spPr>
          <a:xfrm>
            <a:off x="8101584" y="192024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1584" y="192024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9872" y="1947672"/>
            <a:ext cx="475488" cy="329184"/>
          </a:xfrm>
          <a:prstGeom prst="rect">
            <a:avLst/>
          </a:prstGeom>
          <a:noFill/>
        </p:spPr>
        <p:txBody>
          <a:bodyPr wrap="square">
            <a:spAutoFit/>
          </a:bodyPr>
          <a:lstStyle/>
          <a:p>
            <a:pPr algn="ctr"/>
            <a:r>
              <a:rPr sz="1100" b="1" i="0">
                <a:solidFill>
                  <a:srgbClr val="0A0D1A"/>
                </a:solidFill>
                <a:latin typeface="Calibri"/>
              </a:rPr>
              <a:t>C3</a:t>
            </a:r>
          </a:p>
        </p:txBody>
      </p:sp>
      <p:sp>
        <p:nvSpPr>
          <p:cNvPr id="23" name="TextBox 22"/>
          <p:cNvSpPr txBox="1"/>
          <p:nvPr/>
        </p:nvSpPr>
        <p:spPr>
          <a:xfrm>
            <a:off x="8668512" y="1984248"/>
            <a:ext cx="3154680" cy="347472"/>
          </a:xfrm>
          <a:prstGeom prst="rect">
            <a:avLst/>
          </a:prstGeom>
          <a:noFill/>
        </p:spPr>
        <p:txBody>
          <a:bodyPr wrap="square">
            <a:spAutoFit/>
          </a:bodyPr>
          <a:lstStyle/>
          <a:p>
            <a:pPr algn="l"/>
            <a:r>
              <a:rPr sz="1300" b="1" i="0">
                <a:solidFill>
                  <a:srgbClr val="FFFFFF"/>
                </a:solidFill>
                <a:latin typeface="Calibri"/>
              </a:rPr>
              <a:t>APG Attack Chain Lifecycle</a:t>
            </a:r>
          </a:p>
        </p:txBody>
      </p:sp>
      <p:sp>
        <p:nvSpPr>
          <p:cNvPr id="24" name="TextBox 23"/>
          <p:cNvSpPr txBox="1"/>
          <p:nvPr/>
        </p:nvSpPr>
        <p:spPr>
          <a:xfrm>
            <a:off x="8211312" y="2395728"/>
            <a:ext cx="3611880" cy="1051560"/>
          </a:xfrm>
          <a:prstGeom prst="rect">
            <a:avLst/>
          </a:prstGeom>
          <a:noFill/>
        </p:spPr>
        <p:txBody>
          <a:bodyPr wrap="square">
            <a:spAutoFit/>
          </a:bodyPr>
          <a:lstStyle/>
          <a:p>
            <a:pPr algn="l"/>
            <a:r>
              <a:rPr sz="1100" b="0" i="0">
                <a:solidFill>
                  <a:srgbClr val="A0AAB8"/>
                </a:solidFill>
                <a:latin typeface="Calibri"/>
              </a:rPr>
              <a:t>Attack chains are first-class entities: risk-scored, prioritized, lifecycle-tracked (HYPOTHESIZED → VALIDATED / RULED_OUT) with evidence-linked ChainSteps.</a:t>
            </a:r>
          </a:p>
        </p:txBody>
      </p:sp>
      <p:sp>
        <p:nvSpPr>
          <p:cNvPr id="25" name="Rectangle 24"/>
          <p:cNvSpPr/>
          <p:nvPr/>
        </p:nvSpPr>
        <p:spPr>
          <a:xfrm>
            <a:off x="274320"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3657600"/>
            <a:ext cx="475488" cy="329184"/>
          </a:xfrm>
          <a:prstGeom prst="rect">
            <a:avLst/>
          </a:prstGeom>
          <a:noFill/>
        </p:spPr>
        <p:txBody>
          <a:bodyPr wrap="square">
            <a:spAutoFit/>
          </a:bodyPr>
          <a:lstStyle/>
          <a:p>
            <a:pPr algn="ctr"/>
            <a:r>
              <a:rPr sz="1100" b="1" i="0">
                <a:solidFill>
                  <a:srgbClr val="0A0D1A"/>
                </a:solidFill>
                <a:latin typeface="Calibri"/>
              </a:rPr>
              <a:t>C5</a:t>
            </a:r>
          </a:p>
        </p:txBody>
      </p:sp>
      <p:sp>
        <p:nvSpPr>
          <p:cNvPr id="28" name="TextBox 27"/>
          <p:cNvSpPr txBox="1"/>
          <p:nvPr/>
        </p:nvSpPr>
        <p:spPr>
          <a:xfrm>
            <a:off x="841248" y="3694176"/>
            <a:ext cx="3154680" cy="347472"/>
          </a:xfrm>
          <a:prstGeom prst="rect">
            <a:avLst/>
          </a:prstGeom>
          <a:noFill/>
        </p:spPr>
        <p:txBody>
          <a:bodyPr wrap="square">
            <a:spAutoFit/>
          </a:bodyPr>
          <a:lstStyle/>
          <a:p>
            <a:pPr algn="l"/>
            <a:r>
              <a:rPr sz="1300" b="1" i="0">
                <a:solidFill>
                  <a:srgbClr val="FFFFFF"/>
                </a:solidFill>
                <a:latin typeface="Calibri"/>
              </a:rPr>
              <a:t>Tool Risk Gate + Commander Mailbox</a:t>
            </a:r>
          </a:p>
        </p:txBody>
      </p:sp>
      <p:sp>
        <p:nvSpPr>
          <p:cNvPr id="29" name="TextBox 28"/>
          <p:cNvSpPr txBox="1"/>
          <p:nvPr/>
        </p:nvSpPr>
        <p:spPr>
          <a:xfrm>
            <a:off x="384048" y="4105656"/>
            <a:ext cx="3611880" cy="1051560"/>
          </a:xfrm>
          <a:prstGeom prst="rect">
            <a:avLst/>
          </a:prstGeom>
          <a:noFill/>
        </p:spPr>
        <p:txBody>
          <a:bodyPr wrap="square">
            <a:spAutoFit/>
          </a:bodyPr>
          <a:lstStyle/>
          <a:p>
            <a:pPr algn="l"/>
            <a:r>
              <a:rPr sz="1100" b="0" i="0">
                <a:solidFill>
                  <a:srgbClr val="A0AAB8"/>
                </a:solidFill>
                <a:latin typeface="Calibri"/>
              </a:rPr>
              <a:t>Every tool call is risk-classified before execution. High-risk ops route to Commander for approval — a zero-code insertion point for human-in-the-loop.</a:t>
            </a:r>
          </a:p>
        </p:txBody>
      </p:sp>
      <p:sp>
        <p:nvSpPr>
          <p:cNvPr id="30" name="Rectangle 29"/>
          <p:cNvSpPr/>
          <p:nvPr/>
        </p:nvSpPr>
        <p:spPr>
          <a:xfrm>
            <a:off x="4187952"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87952"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0" y="3657600"/>
            <a:ext cx="475488" cy="329184"/>
          </a:xfrm>
          <a:prstGeom prst="rect">
            <a:avLst/>
          </a:prstGeom>
          <a:noFill/>
        </p:spPr>
        <p:txBody>
          <a:bodyPr wrap="square">
            <a:spAutoFit/>
          </a:bodyPr>
          <a:lstStyle/>
          <a:p>
            <a:pPr algn="ctr"/>
            <a:r>
              <a:rPr sz="1100" b="1" i="0">
                <a:solidFill>
                  <a:srgbClr val="0A0D1A"/>
                </a:solidFill>
                <a:latin typeface="Calibri"/>
              </a:rPr>
              <a:t>C10</a:t>
            </a:r>
          </a:p>
        </p:txBody>
      </p:sp>
      <p:sp>
        <p:nvSpPr>
          <p:cNvPr id="33" name="TextBox 32"/>
          <p:cNvSpPr txBox="1"/>
          <p:nvPr/>
        </p:nvSpPr>
        <p:spPr>
          <a:xfrm>
            <a:off x="4754880" y="3694176"/>
            <a:ext cx="3154680" cy="347472"/>
          </a:xfrm>
          <a:prstGeom prst="rect">
            <a:avLst/>
          </a:prstGeom>
          <a:noFill/>
        </p:spPr>
        <p:txBody>
          <a:bodyPr wrap="square">
            <a:spAutoFit/>
          </a:bodyPr>
          <a:lstStyle/>
          <a:p>
            <a:pPr algn="l"/>
            <a:r>
              <a:rPr sz="1300" b="1" i="0">
                <a:solidFill>
                  <a:srgbClr val="FFFFFF"/>
                </a:solidFill>
                <a:latin typeface="Calibri"/>
              </a:rPr>
              <a:t>Cross-Mission Experience Store</a:t>
            </a:r>
          </a:p>
        </p:txBody>
      </p:sp>
      <p:sp>
        <p:nvSpPr>
          <p:cNvPr id="34" name="TextBox 33"/>
          <p:cNvSpPr txBox="1"/>
          <p:nvPr/>
        </p:nvSpPr>
        <p:spPr>
          <a:xfrm>
            <a:off x="4297680" y="4105656"/>
            <a:ext cx="3611880" cy="1051560"/>
          </a:xfrm>
          <a:prstGeom prst="rect">
            <a:avLst/>
          </a:prstGeom>
          <a:noFill/>
        </p:spPr>
        <p:txBody>
          <a:bodyPr wrap="square">
            <a:spAutoFit/>
          </a:bodyPr>
          <a:lstStyle/>
          <a:p>
            <a:pPr algn="l"/>
            <a:r>
              <a:rPr sz="1100" b="0" i="0">
                <a:solidFill>
                  <a:srgbClr val="A0AAB8"/>
                </a:solidFill>
                <a:latin typeface="Calibri"/>
              </a:rPr>
              <a:t>Persistent RAG-backed store of validated exploitation outcomes across missions. Commander seeds APG hypotheses from prior analogous engagements at mission start.</a:t>
            </a:r>
          </a:p>
        </p:txBody>
      </p:sp>
      <p:sp>
        <p:nvSpPr>
          <p:cNvPr id="35" name="Rectangle 34"/>
          <p:cNvSpPr/>
          <p:nvPr/>
        </p:nvSpPr>
        <p:spPr>
          <a:xfrm>
            <a:off x="8101584" y="363016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4" y="363016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19872" y="3657600"/>
            <a:ext cx="475488" cy="329184"/>
          </a:xfrm>
          <a:prstGeom prst="rect">
            <a:avLst/>
          </a:prstGeom>
          <a:noFill/>
        </p:spPr>
        <p:txBody>
          <a:bodyPr wrap="square">
            <a:spAutoFit/>
          </a:bodyPr>
          <a:lstStyle/>
          <a:p>
            <a:pPr algn="ctr"/>
            <a:r>
              <a:rPr sz="1100" b="1" i="0">
                <a:solidFill>
                  <a:srgbClr val="0A0D1A"/>
                </a:solidFill>
                <a:latin typeface="Calibri"/>
              </a:rPr>
              <a:t>C11</a:t>
            </a:r>
          </a:p>
        </p:txBody>
      </p:sp>
      <p:sp>
        <p:nvSpPr>
          <p:cNvPr id="38" name="TextBox 37"/>
          <p:cNvSpPr txBox="1"/>
          <p:nvPr/>
        </p:nvSpPr>
        <p:spPr>
          <a:xfrm>
            <a:off x="8668512" y="3694176"/>
            <a:ext cx="3154680" cy="347472"/>
          </a:xfrm>
          <a:prstGeom prst="rect">
            <a:avLst/>
          </a:prstGeom>
          <a:noFill/>
        </p:spPr>
        <p:txBody>
          <a:bodyPr wrap="square">
            <a:spAutoFit/>
          </a:bodyPr>
          <a:lstStyle/>
          <a:p>
            <a:pPr algn="l"/>
            <a:r>
              <a:rPr sz="1300" b="1" i="0">
                <a:solidFill>
                  <a:srgbClr val="FFFFFF"/>
                </a:solidFill>
                <a:latin typeface="Calibri"/>
              </a:rPr>
              <a:t>Attack Strategy Library</a:t>
            </a:r>
          </a:p>
        </p:txBody>
      </p:sp>
      <p:sp>
        <p:nvSpPr>
          <p:cNvPr id="39" name="TextBox 38"/>
          <p:cNvSpPr txBox="1"/>
          <p:nvPr/>
        </p:nvSpPr>
        <p:spPr>
          <a:xfrm>
            <a:off x="8211312" y="4105656"/>
            <a:ext cx="3611880" cy="1051560"/>
          </a:xfrm>
          <a:prstGeom prst="rect">
            <a:avLst/>
          </a:prstGeom>
          <a:noFill/>
        </p:spPr>
        <p:txBody>
          <a:bodyPr wrap="square">
            <a:spAutoFit/>
          </a:bodyPr>
          <a:lstStyle/>
          <a:p>
            <a:pPr algn="l"/>
            <a:r>
              <a:rPr sz="1100" b="0" i="0">
                <a:solidFill>
                  <a:srgbClr val="A0AAB8"/>
                </a:solidFill>
                <a:latin typeface="Calibri"/>
              </a:rPr>
              <a:t>Crystallizes validated chains into named, parameterized strategies when the same target fingerprint succeeds across 2+ missions. No prior system accumulates strategies across sessions.</a:t>
            </a:r>
          </a:p>
        </p:txBody>
      </p:sp>
      <p:sp>
        <p:nvSpPr>
          <p:cNvPr id="40" name="Rectangle 39"/>
          <p:cNvSpPr/>
          <p:nvPr/>
        </p:nvSpPr>
        <p:spPr>
          <a:xfrm>
            <a:off x="274320" y="5285232"/>
            <a:ext cx="11643055" cy="457200"/>
          </a:xfrm>
          <a:prstGeom prst="rect">
            <a:avLst/>
          </a:prstGeom>
          <a:solidFill>
            <a:srgbClr val="0D12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340096"/>
            <a:ext cx="11368735" cy="365760"/>
          </a:xfrm>
          <a:prstGeom prst="rect">
            <a:avLst/>
          </a:prstGeom>
          <a:noFill/>
        </p:spPr>
        <p:txBody>
          <a:bodyPr wrap="none">
            <a:spAutoFit/>
          </a:bodyPr>
          <a:lstStyle/>
          <a:p>
            <a:pPr algn="l"/>
            <a:r>
              <a:rPr sz="1050" b="0" i="0">
                <a:solidFill>
                  <a:srgbClr val="A0AAB8"/>
                </a:solidFill>
                <a:latin typeface="Calibri"/>
              </a:rPr>
              <a:t>12 novel research contributions in total  ·  C4: ASG-aware parallel dispatch  ·  C6: Lossless context compaction  ·  C7: Methodology-as-config  ·  C8: Dual-graph termination  ·  C9: Live CVE grounding  ·  C12: Trajectory export dataset</a:t>
            </a:r>
          </a:p>
        </p:txBody>
      </p:sp>
      <p:sp>
        <p:nvSpPr>
          <p:cNvPr id="42" name="TextBox 41"/>
          <p:cNvSpPr txBox="1"/>
          <p:nvPr/>
        </p:nvSpPr>
        <p:spPr>
          <a:xfrm>
            <a:off x="11368735" y="6355080"/>
            <a:ext cx="640080" cy="411480"/>
          </a:xfrm>
          <a:prstGeom prst="rect">
            <a:avLst/>
          </a:prstGeom>
          <a:noFill/>
        </p:spPr>
        <p:txBody>
          <a:bodyPr wrap="square">
            <a:spAutoFit/>
          </a:bodyPr>
          <a:lstStyle/>
          <a:p>
            <a:pPr algn="r"/>
            <a:r>
              <a:rPr sz="1300" b="1" i="0">
                <a:solidFill>
                  <a:srgbClr val="FFD700"/>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00E5FF"/>
                </a:solidFill>
                <a:latin typeface="Calibri"/>
              </a:rPr>
              <a:t>SYSTEM ARCHITECTURE</a:t>
            </a:r>
          </a:p>
        </p:txBody>
      </p:sp>
      <p:sp>
        <p:nvSpPr>
          <p:cNvPr id="6" name="TextBox 5"/>
          <p:cNvSpPr txBox="1"/>
          <p:nvPr/>
        </p:nvSpPr>
        <p:spPr>
          <a:xfrm>
            <a:off x="274320" y="301752"/>
            <a:ext cx="10058400" cy="457200"/>
          </a:xfrm>
          <a:prstGeom prst="rect">
            <a:avLst/>
          </a:prstGeom>
          <a:noFill/>
        </p:spPr>
        <p:txBody>
          <a:bodyPr wrap="square">
            <a:spAutoFit/>
          </a:bodyPr>
          <a:lstStyle/>
          <a:p>
            <a:pPr algn="l"/>
            <a:r>
              <a:rPr sz="2600" b="1" i="0">
                <a:solidFill>
                  <a:srgbClr val="FFFFFF"/>
                </a:solidFill>
                <a:latin typeface="Calibri"/>
              </a:rPr>
              <a:t>CMatrix — Three-Tier Architecture Overview</a:t>
            </a:r>
          </a:p>
        </p:txBody>
      </p:sp>
      <p:sp>
        <p:nvSpPr>
          <p:cNvPr id="7" name="Rectangle 6"/>
          <p:cNvSpPr/>
          <p:nvPr/>
        </p:nvSpPr>
        <p:spPr>
          <a:xfrm>
            <a:off x="164592" y="804672"/>
            <a:ext cx="11862511" cy="1280160"/>
          </a:xfrm>
          <a:prstGeom prst="rect">
            <a:avLst/>
          </a:prstGeom>
          <a:solidFill>
            <a:srgbClr val="06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50392"/>
            <a:ext cx="1463040" cy="201168"/>
          </a:xfrm>
          <a:prstGeom prst="rect">
            <a:avLst/>
          </a:prstGeom>
          <a:noFill/>
        </p:spPr>
        <p:txBody>
          <a:bodyPr wrap="square">
            <a:spAutoFit/>
          </a:bodyPr>
          <a:lstStyle/>
          <a:p>
            <a:pPr algn="l"/>
            <a:r>
              <a:rPr sz="750" b="1" i="0">
                <a:solidFill>
                  <a:srgbClr val="00E5FF"/>
                </a:solidFill>
                <a:latin typeface="Calibri"/>
              </a:rPr>
              <a:t>① ORCHESTRATION</a:t>
            </a:r>
          </a:p>
        </p:txBody>
      </p:sp>
      <p:sp>
        <p:nvSpPr>
          <p:cNvPr id="9" name="Rectangle 8"/>
          <p:cNvSpPr/>
          <p:nvPr/>
        </p:nvSpPr>
        <p:spPr>
          <a:xfrm>
            <a:off x="320040" y="1060704"/>
            <a:ext cx="1554480" cy="877824"/>
          </a:xfrm>
          <a:prstGeom prst="rect">
            <a:avLst/>
          </a:prstGeom>
          <a:solidFill>
            <a:srgbClr val="0C18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554480" cy="219456"/>
          </a:xfrm>
          <a:prstGeom prst="rect">
            <a:avLst/>
          </a:prstGeom>
          <a:noFill/>
        </p:spPr>
        <p:txBody>
          <a:bodyPr wrap="square">
            <a:spAutoFit/>
          </a:bodyPr>
          <a:lstStyle/>
          <a:p>
            <a:pPr algn="ctr"/>
            <a:r>
              <a:rPr sz="900" b="1" i="0">
                <a:solidFill>
                  <a:srgbClr val="A0AAB8"/>
                </a:solidFill>
                <a:latin typeface="Calibri"/>
              </a:rPr>
              <a:t>OPERATOR</a:t>
            </a:r>
          </a:p>
        </p:txBody>
      </p:sp>
      <p:sp>
        <p:nvSpPr>
          <p:cNvPr id="11" name="TextBox 10"/>
          <p:cNvSpPr txBox="1"/>
          <p:nvPr/>
        </p:nvSpPr>
        <p:spPr>
          <a:xfrm>
            <a:off x="320040" y="1371600"/>
            <a:ext cx="1554480" cy="502920"/>
          </a:xfrm>
          <a:prstGeom prst="rect">
            <a:avLst/>
          </a:prstGeom>
          <a:noFill/>
        </p:spPr>
        <p:txBody>
          <a:bodyPr wrap="square">
            <a:spAutoFit/>
          </a:bodyPr>
          <a:lstStyle/>
          <a:p>
            <a:pPr algn="ctr"/>
            <a:r>
              <a:rPr sz="800" b="0" i="1">
                <a:solidFill>
                  <a:srgbClr val="A0AAB8"/>
                </a:solidFill>
                <a:latin typeface="Calibri"/>
              </a:rPr>
              <a:t>Target · Scope · Mode</a:t>
            </a:r>
          </a:p>
        </p:txBody>
      </p:sp>
      <p:cxnSp>
        <p:nvCxnSpPr>
          <p:cNvPr id="12" name="Connector 11"/>
          <p:cNvCxnSpPr/>
          <p:nvPr/>
        </p:nvCxnSpPr>
        <p:spPr>
          <a:xfrm>
            <a:off x="1874520" y="1499616.0"/>
            <a:ext cx="210311"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01952" y="1225296"/>
            <a:ext cx="822960" cy="237744"/>
          </a:xfrm>
          <a:prstGeom prst="rect">
            <a:avLst/>
          </a:prstGeom>
          <a:noFill/>
        </p:spPr>
        <p:txBody>
          <a:bodyPr wrap="square">
            <a:spAutoFit/>
          </a:bodyPr>
          <a:lstStyle/>
          <a:p>
            <a:pPr algn="ctr"/>
            <a:r>
              <a:rPr sz="700" b="0" i="1">
                <a:solidFill>
                  <a:srgbClr val="404858"/>
                </a:solidFill>
                <a:latin typeface="Calibri"/>
              </a:rPr>
              <a:t>mission config</a:t>
            </a:r>
          </a:p>
        </p:txBody>
      </p:sp>
      <p:sp>
        <p:nvSpPr>
          <p:cNvPr id="14" name="Rectangle 13"/>
          <p:cNvSpPr/>
          <p:nvPr/>
        </p:nvSpPr>
        <p:spPr>
          <a:xfrm>
            <a:off x="2084831" y="941832"/>
            <a:ext cx="2834640" cy="1005840"/>
          </a:xfrm>
          <a:prstGeom prst="rect">
            <a:avLst/>
          </a:prstGeom>
          <a:solidFill>
            <a:srgbClr val="04162E"/>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4831" y="941832"/>
            <a:ext cx="28346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84831" y="969264"/>
            <a:ext cx="2834640" cy="219456"/>
          </a:xfrm>
          <a:prstGeom prst="rect">
            <a:avLst/>
          </a:prstGeom>
          <a:noFill/>
        </p:spPr>
        <p:txBody>
          <a:bodyPr wrap="square">
            <a:spAutoFit/>
          </a:bodyPr>
          <a:lstStyle/>
          <a:p>
            <a:pPr algn="ctr"/>
            <a:r>
              <a:rPr sz="950" b="1" i="0">
                <a:solidFill>
                  <a:srgbClr val="0A0D1A"/>
                </a:solidFill>
                <a:latin typeface="Calibri"/>
              </a:rPr>
              <a:t>COMMANDER AGENT</a:t>
            </a:r>
          </a:p>
        </p:txBody>
      </p:sp>
      <p:sp>
        <p:nvSpPr>
          <p:cNvPr id="17" name="TextBox 16"/>
          <p:cNvSpPr txBox="1"/>
          <p:nvPr/>
        </p:nvSpPr>
        <p:spPr>
          <a:xfrm>
            <a:off x="2176271" y="1261872"/>
            <a:ext cx="2697480" cy="164592"/>
          </a:xfrm>
          <a:prstGeom prst="rect">
            <a:avLst/>
          </a:prstGeom>
          <a:noFill/>
        </p:spPr>
        <p:txBody>
          <a:bodyPr wrap="square">
            <a:spAutoFit/>
          </a:bodyPr>
          <a:lstStyle/>
          <a:p>
            <a:pPr algn="l"/>
            <a:r>
              <a:rPr sz="800" b="0" i="0">
                <a:solidFill>
                  <a:srgbClr val="A0AAB8"/>
                </a:solidFill>
                <a:latin typeface="Calibri"/>
              </a:rPr>
              <a:t>• Reads ASG + APG state</a:t>
            </a:r>
          </a:p>
        </p:txBody>
      </p:sp>
      <p:sp>
        <p:nvSpPr>
          <p:cNvPr id="18" name="TextBox 17"/>
          <p:cNvSpPr txBox="1"/>
          <p:nvPr/>
        </p:nvSpPr>
        <p:spPr>
          <a:xfrm>
            <a:off x="2176271" y="1426464"/>
            <a:ext cx="2697480" cy="164592"/>
          </a:xfrm>
          <a:prstGeom prst="rect">
            <a:avLst/>
          </a:prstGeom>
          <a:noFill/>
        </p:spPr>
        <p:txBody>
          <a:bodyPr wrap="square">
            <a:spAutoFit/>
          </a:bodyPr>
          <a:lstStyle/>
          <a:p>
            <a:pPr algn="l"/>
            <a:r>
              <a:rPr sz="800" b="0" i="0">
                <a:solidFill>
                  <a:srgbClr val="A0AAB8"/>
                </a:solidFill>
                <a:latin typeface="Calibri"/>
              </a:rPr>
              <a:t>• Plans &amp; delegates tasks</a:t>
            </a:r>
          </a:p>
        </p:txBody>
      </p:sp>
      <p:sp>
        <p:nvSpPr>
          <p:cNvPr id="19" name="TextBox 18"/>
          <p:cNvSpPr txBox="1"/>
          <p:nvPr/>
        </p:nvSpPr>
        <p:spPr>
          <a:xfrm>
            <a:off x="2176271" y="1591056"/>
            <a:ext cx="2697480" cy="164592"/>
          </a:xfrm>
          <a:prstGeom prst="rect">
            <a:avLst/>
          </a:prstGeom>
          <a:noFill/>
        </p:spPr>
        <p:txBody>
          <a:bodyPr wrap="square">
            <a:spAutoFit/>
          </a:bodyPr>
          <a:lstStyle/>
          <a:p>
            <a:pPr algn="l"/>
            <a:r>
              <a:rPr sz="800" b="0" i="0">
                <a:solidFill>
                  <a:srgbClr val="A0AAB8"/>
                </a:solidFill>
                <a:latin typeface="Calibri"/>
              </a:rPr>
              <a:t>• Approves High-risk ops</a:t>
            </a:r>
          </a:p>
        </p:txBody>
      </p:sp>
      <p:sp>
        <p:nvSpPr>
          <p:cNvPr id="20" name="TextBox 19"/>
          <p:cNvSpPr txBox="1"/>
          <p:nvPr/>
        </p:nvSpPr>
        <p:spPr>
          <a:xfrm>
            <a:off x="2176271" y="1755648"/>
            <a:ext cx="2697480" cy="164592"/>
          </a:xfrm>
          <a:prstGeom prst="rect">
            <a:avLst/>
          </a:prstGeom>
          <a:noFill/>
        </p:spPr>
        <p:txBody>
          <a:bodyPr wrap="square">
            <a:spAutoFit/>
          </a:bodyPr>
          <a:lstStyle/>
          <a:p>
            <a:pPr algn="l"/>
            <a:r>
              <a:rPr sz="800" b="0" i="0">
                <a:solidFill>
                  <a:srgbClr val="A0AAB8"/>
                </a:solidFill>
                <a:latin typeface="Calibri"/>
              </a:rPr>
              <a:t>• Writes to APG only</a:t>
            </a:r>
          </a:p>
        </p:txBody>
      </p:sp>
      <p:sp>
        <p:nvSpPr>
          <p:cNvPr id="21" name="Rectangle 20"/>
          <p:cNvSpPr/>
          <p:nvPr/>
        </p:nvSpPr>
        <p:spPr>
          <a:xfrm>
            <a:off x="5120640" y="1060704"/>
            <a:ext cx="2103120" cy="877824"/>
          </a:xfrm>
          <a:prstGeom prst="rect">
            <a:avLst/>
          </a:prstGeom>
          <a:solidFill>
            <a:srgbClr val="100C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115568"/>
            <a:ext cx="2103120" cy="201168"/>
          </a:xfrm>
          <a:prstGeom prst="rect">
            <a:avLst/>
          </a:prstGeom>
          <a:noFill/>
        </p:spPr>
        <p:txBody>
          <a:bodyPr wrap="square">
            <a:spAutoFit/>
          </a:bodyPr>
          <a:lstStyle/>
          <a:p>
            <a:pPr algn="ctr"/>
            <a:r>
              <a:rPr sz="800" b="1" i="0">
                <a:solidFill>
                  <a:srgbClr val="BD93F9"/>
                </a:solidFill>
                <a:latin typeface="Calibri"/>
              </a:rPr>
              <a:t>VAPT PROTOCOL PROMPT</a:t>
            </a:r>
          </a:p>
        </p:txBody>
      </p:sp>
      <p:sp>
        <p:nvSpPr>
          <p:cNvPr id="23" name="TextBox 22"/>
          <p:cNvSpPr txBox="1"/>
          <p:nvPr/>
        </p:nvSpPr>
        <p:spPr>
          <a:xfrm>
            <a:off x="5212080" y="1353312"/>
            <a:ext cx="1965960" cy="530352"/>
          </a:xfrm>
          <a:prstGeom prst="rect">
            <a:avLst/>
          </a:prstGeom>
          <a:noFill/>
        </p:spPr>
        <p:txBody>
          <a:bodyPr wrap="square">
            <a:spAutoFit/>
          </a:bodyPr>
          <a:lstStyle/>
          <a:p>
            <a:pPr algn="l"/>
            <a:r>
              <a:rPr sz="800" b="0" i="0">
                <a:solidFill>
                  <a:srgbClr val="A0AAB8"/>
                </a:solidFill>
                <a:latin typeface="Calibri"/>
              </a:rPr>
              <a:t>Phase rules · Re-plan triggers
Termination conditions
Methodology-as-config</a:t>
            </a:r>
          </a:p>
        </p:txBody>
      </p:sp>
      <p:cxnSp>
        <p:nvCxnSpPr>
          <p:cNvPr id="24" name="Connector 23"/>
          <p:cNvCxnSpPr/>
          <p:nvPr/>
        </p:nvCxnSpPr>
        <p:spPr>
          <a:xfrm>
            <a:off x="4919471" y="1444752.0"/>
            <a:ext cx="201169" cy="54864.0"/>
          </a:xfrm>
          <a:prstGeom prst="line">
            <a:avLst/>
          </a:prstGeom>
          <a:ln w="12700">
            <a:solidFill>
              <a:srgbClr val="BD93F9"/>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64592" y="2139696"/>
            <a:ext cx="11862511" cy="1682496"/>
          </a:xfrm>
          <a:prstGeom prst="rect">
            <a:avLst/>
          </a:prstGeom>
          <a:solidFill>
            <a:srgbClr val="05140A"/>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 y="2185416"/>
            <a:ext cx="2377440" cy="201168"/>
          </a:xfrm>
          <a:prstGeom prst="rect">
            <a:avLst/>
          </a:prstGeom>
          <a:noFill/>
        </p:spPr>
        <p:txBody>
          <a:bodyPr wrap="square">
            <a:spAutoFit/>
          </a:bodyPr>
          <a:lstStyle/>
          <a:p>
            <a:pPr algn="l"/>
            <a:r>
              <a:rPr sz="750" b="1" i="0">
                <a:solidFill>
                  <a:srgbClr val="39FF14"/>
                </a:solidFill>
                <a:latin typeface="Calibri"/>
              </a:rPr>
              <a:t>② DUAL-GRAPH WORLD MODEL</a:t>
            </a:r>
          </a:p>
        </p:txBody>
      </p:sp>
      <p:sp>
        <p:nvSpPr>
          <p:cNvPr id="27" name="Rectangle 26"/>
          <p:cNvSpPr/>
          <p:nvPr/>
        </p:nvSpPr>
        <p:spPr>
          <a:xfrm>
            <a:off x="320040" y="2414016"/>
            <a:ext cx="4297680" cy="1298448"/>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 y="2414016"/>
            <a:ext cx="429768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2450592"/>
            <a:ext cx="4297680" cy="219456"/>
          </a:xfrm>
          <a:prstGeom prst="rect">
            <a:avLst/>
          </a:prstGeom>
          <a:noFill/>
        </p:spPr>
        <p:txBody>
          <a:bodyPr wrap="square">
            <a:spAutoFit/>
          </a:bodyPr>
          <a:lstStyle/>
          <a:p>
            <a:pPr algn="ctr"/>
            <a:r>
              <a:rPr sz="950" b="1" i="0">
                <a:solidFill>
                  <a:srgbClr val="0A0D1A"/>
                </a:solidFill>
                <a:latin typeface="Calibri"/>
              </a:rPr>
              <a:t>ATTACK SURFACE GRAPH  (ASG)</a:t>
            </a:r>
          </a:p>
        </p:txBody>
      </p:sp>
      <p:sp>
        <p:nvSpPr>
          <p:cNvPr id="30" name="Rectangle 29"/>
          <p:cNvSpPr/>
          <p:nvPr/>
        </p:nvSpPr>
        <p:spPr>
          <a:xfrm>
            <a:off x="457200"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761488"/>
            <a:ext cx="749808" cy="201168"/>
          </a:xfrm>
          <a:prstGeom prst="rect">
            <a:avLst/>
          </a:prstGeom>
          <a:noFill/>
        </p:spPr>
        <p:txBody>
          <a:bodyPr wrap="square">
            <a:spAutoFit/>
          </a:bodyPr>
          <a:lstStyle/>
          <a:p>
            <a:pPr algn="ctr"/>
            <a:r>
              <a:rPr sz="750" b="1" i="0">
                <a:solidFill>
                  <a:srgbClr val="39FF14"/>
                </a:solidFill>
                <a:latin typeface="Calibri"/>
              </a:rPr>
              <a:t>Domain</a:t>
            </a:r>
          </a:p>
        </p:txBody>
      </p:sp>
      <p:sp>
        <p:nvSpPr>
          <p:cNvPr id="32" name="Rectangle 31"/>
          <p:cNvSpPr/>
          <p:nvPr/>
        </p:nvSpPr>
        <p:spPr>
          <a:xfrm>
            <a:off x="1261872"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61872" y="2761488"/>
            <a:ext cx="749808" cy="201168"/>
          </a:xfrm>
          <a:prstGeom prst="rect">
            <a:avLst/>
          </a:prstGeom>
          <a:noFill/>
        </p:spPr>
        <p:txBody>
          <a:bodyPr wrap="square">
            <a:spAutoFit/>
          </a:bodyPr>
          <a:lstStyle/>
          <a:p>
            <a:pPr algn="ctr"/>
            <a:r>
              <a:rPr sz="750" b="1" i="0">
                <a:solidFill>
                  <a:srgbClr val="39FF14"/>
                </a:solidFill>
                <a:latin typeface="Calibri"/>
              </a:rPr>
              <a:t>Host</a:t>
            </a:r>
          </a:p>
        </p:txBody>
      </p:sp>
      <p:sp>
        <p:nvSpPr>
          <p:cNvPr id="34" name="Rectangle 33"/>
          <p:cNvSpPr/>
          <p:nvPr/>
        </p:nvSpPr>
        <p:spPr>
          <a:xfrm>
            <a:off x="2066544"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66544" y="2761488"/>
            <a:ext cx="749808" cy="201168"/>
          </a:xfrm>
          <a:prstGeom prst="rect">
            <a:avLst/>
          </a:prstGeom>
          <a:noFill/>
        </p:spPr>
        <p:txBody>
          <a:bodyPr wrap="square">
            <a:spAutoFit/>
          </a:bodyPr>
          <a:lstStyle/>
          <a:p>
            <a:pPr algn="ctr"/>
            <a:r>
              <a:rPr sz="750" b="1" i="0">
                <a:solidFill>
                  <a:srgbClr val="39FF14"/>
                </a:solidFill>
                <a:latin typeface="Calibri"/>
              </a:rPr>
              <a:t>Port</a:t>
            </a:r>
          </a:p>
        </p:txBody>
      </p:sp>
      <p:sp>
        <p:nvSpPr>
          <p:cNvPr id="36" name="Rectangle 35"/>
          <p:cNvSpPr/>
          <p:nvPr/>
        </p:nvSpPr>
        <p:spPr>
          <a:xfrm>
            <a:off x="2871216"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71216" y="2761488"/>
            <a:ext cx="749808" cy="201168"/>
          </a:xfrm>
          <a:prstGeom prst="rect">
            <a:avLst/>
          </a:prstGeom>
          <a:noFill/>
        </p:spPr>
        <p:txBody>
          <a:bodyPr wrap="square">
            <a:spAutoFit/>
          </a:bodyPr>
          <a:lstStyle/>
          <a:p>
            <a:pPr algn="ctr"/>
            <a:r>
              <a:rPr sz="750" b="1" i="0">
                <a:solidFill>
                  <a:srgbClr val="39FF14"/>
                </a:solidFill>
                <a:latin typeface="Calibri"/>
              </a:rPr>
              <a:t>Service</a:t>
            </a:r>
          </a:p>
        </p:txBody>
      </p:sp>
      <p:sp>
        <p:nvSpPr>
          <p:cNvPr id="38" name="Rectangle 37"/>
          <p:cNvSpPr/>
          <p:nvPr/>
        </p:nvSpPr>
        <p:spPr>
          <a:xfrm>
            <a:off x="3675888"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75888" y="2761488"/>
            <a:ext cx="749808" cy="201168"/>
          </a:xfrm>
          <a:prstGeom prst="rect">
            <a:avLst/>
          </a:prstGeom>
          <a:noFill/>
        </p:spPr>
        <p:txBody>
          <a:bodyPr wrap="square">
            <a:spAutoFit/>
          </a:bodyPr>
          <a:lstStyle/>
          <a:p>
            <a:pPr algn="ctr"/>
            <a:r>
              <a:rPr sz="750" b="1" i="0">
                <a:solidFill>
                  <a:srgbClr val="39FF14"/>
                </a:solidFill>
                <a:latin typeface="Calibri"/>
              </a:rPr>
              <a:t>Technology</a:t>
            </a:r>
          </a:p>
        </p:txBody>
      </p:sp>
      <p:sp>
        <p:nvSpPr>
          <p:cNvPr id="40" name="Rectangle 39"/>
          <p:cNvSpPr/>
          <p:nvPr/>
        </p:nvSpPr>
        <p:spPr>
          <a:xfrm>
            <a:off x="45720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035808"/>
            <a:ext cx="950976" cy="201168"/>
          </a:xfrm>
          <a:prstGeom prst="rect">
            <a:avLst/>
          </a:prstGeom>
          <a:noFill/>
        </p:spPr>
        <p:txBody>
          <a:bodyPr wrap="square">
            <a:spAutoFit/>
          </a:bodyPr>
          <a:lstStyle/>
          <a:p>
            <a:pPr algn="ctr"/>
            <a:r>
              <a:rPr sz="750" b="1" i="0">
                <a:solidFill>
                  <a:srgbClr val="39FF14"/>
                </a:solidFill>
                <a:latin typeface="Calibri"/>
              </a:rPr>
              <a:t>Endpoint</a:t>
            </a:r>
          </a:p>
        </p:txBody>
      </p:sp>
      <p:sp>
        <p:nvSpPr>
          <p:cNvPr id="42" name="Rectangle 41"/>
          <p:cNvSpPr/>
          <p:nvPr/>
        </p:nvSpPr>
        <p:spPr>
          <a:xfrm>
            <a:off x="146304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63040" y="3035808"/>
            <a:ext cx="950976" cy="201168"/>
          </a:xfrm>
          <a:prstGeom prst="rect">
            <a:avLst/>
          </a:prstGeom>
          <a:noFill/>
        </p:spPr>
        <p:txBody>
          <a:bodyPr wrap="square">
            <a:spAutoFit/>
          </a:bodyPr>
          <a:lstStyle/>
          <a:p>
            <a:pPr algn="ctr"/>
            <a:r>
              <a:rPr sz="750" b="1" i="0">
                <a:solidFill>
                  <a:srgbClr val="39FF14"/>
                </a:solidFill>
                <a:latin typeface="Calibri"/>
              </a:rPr>
              <a:t>Parameter</a:t>
            </a:r>
          </a:p>
        </p:txBody>
      </p:sp>
      <p:sp>
        <p:nvSpPr>
          <p:cNvPr id="44" name="Rectangle 43"/>
          <p:cNvSpPr/>
          <p:nvPr/>
        </p:nvSpPr>
        <p:spPr>
          <a:xfrm>
            <a:off x="246888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68880" y="3035808"/>
            <a:ext cx="950976" cy="201168"/>
          </a:xfrm>
          <a:prstGeom prst="rect">
            <a:avLst/>
          </a:prstGeom>
          <a:noFill/>
        </p:spPr>
        <p:txBody>
          <a:bodyPr wrap="square">
            <a:spAutoFit/>
          </a:bodyPr>
          <a:lstStyle/>
          <a:p>
            <a:pPr algn="ctr"/>
            <a:r>
              <a:rPr sz="750" b="1" i="0">
                <a:solidFill>
                  <a:srgbClr val="39FF14"/>
                </a:solidFill>
                <a:latin typeface="Calibri"/>
              </a:rPr>
              <a:t>Vulnerability</a:t>
            </a:r>
          </a:p>
        </p:txBody>
      </p:sp>
      <p:sp>
        <p:nvSpPr>
          <p:cNvPr id="46" name="Rectangle 45"/>
          <p:cNvSpPr/>
          <p:nvPr/>
        </p:nvSpPr>
        <p:spPr>
          <a:xfrm>
            <a:off x="347472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0" y="3035808"/>
            <a:ext cx="950976" cy="201168"/>
          </a:xfrm>
          <a:prstGeom prst="rect">
            <a:avLst/>
          </a:prstGeom>
          <a:noFill/>
        </p:spPr>
        <p:txBody>
          <a:bodyPr wrap="square">
            <a:spAutoFit/>
          </a:bodyPr>
          <a:lstStyle/>
          <a:p>
            <a:pPr algn="ctr"/>
            <a:r>
              <a:rPr sz="750" b="1" i="0">
                <a:solidFill>
                  <a:srgbClr val="39FF14"/>
                </a:solidFill>
                <a:latin typeface="Calibri"/>
              </a:rPr>
              <a:t>Evidence</a:t>
            </a:r>
          </a:p>
        </p:txBody>
      </p:sp>
      <p:sp>
        <p:nvSpPr>
          <p:cNvPr id="48" name="TextBox 47"/>
          <p:cNvSpPr txBox="1"/>
          <p:nvPr/>
        </p:nvSpPr>
        <p:spPr>
          <a:xfrm>
            <a:off x="429768" y="3300984"/>
            <a:ext cx="4114800" cy="347472"/>
          </a:xfrm>
          <a:prstGeom prst="rect">
            <a:avLst/>
          </a:prstGeom>
          <a:noFill/>
        </p:spPr>
        <p:txBody>
          <a:bodyPr wrap="square">
            <a:spAutoFit/>
          </a:bodyPr>
          <a:lstStyle/>
          <a:p>
            <a:pPr algn="l"/>
            <a:r>
              <a:rPr sz="800" b="0" i="1">
                <a:solidFill>
                  <a:srgbClr val="60C070"/>
                </a:solidFill>
                <a:latin typeface="Calibri"/>
              </a:rPr>
              <a:t>Discovered Reality — confirmed facts only. Never contains hypotheses.</a:t>
            </a:r>
          </a:p>
        </p:txBody>
      </p:sp>
      <p:sp>
        <p:nvSpPr>
          <p:cNvPr id="49" name="Rectangle 48"/>
          <p:cNvSpPr/>
          <p:nvPr/>
        </p:nvSpPr>
        <p:spPr>
          <a:xfrm>
            <a:off x="7589520" y="2414016"/>
            <a:ext cx="4389120" cy="1298448"/>
          </a:xfrm>
          <a:prstGeom prst="rect">
            <a:avLst/>
          </a:prstGeom>
          <a:solidFill>
            <a:srgbClr val="1E1004"/>
          </a:solidFill>
          <a:ln w="228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2414016"/>
            <a:ext cx="43891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9520" y="2450592"/>
            <a:ext cx="4389120" cy="219456"/>
          </a:xfrm>
          <a:prstGeom prst="rect">
            <a:avLst/>
          </a:prstGeom>
          <a:noFill/>
        </p:spPr>
        <p:txBody>
          <a:bodyPr wrap="square">
            <a:spAutoFit/>
          </a:bodyPr>
          <a:lstStyle/>
          <a:p>
            <a:pPr algn="ctr"/>
            <a:r>
              <a:rPr sz="950" b="1" i="0">
                <a:solidFill>
                  <a:srgbClr val="0A0D1A"/>
                </a:solidFill>
                <a:latin typeface="Calibri"/>
              </a:rPr>
              <a:t>ATTACK PATH GRAPH  (APG)</a:t>
            </a:r>
          </a:p>
        </p:txBody>
      </p:sp>
      <p:sp>
        <p:nvSpPr>
          <p:cNvPr id="52" name="Rectangle 51"/>
          <p:cNvSpPr/>
          <p:nvPr/>
        </p:nvSpPr>
        <p:spPr>
          <a:xfrm>
            <a:off x="77266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80" y="2761488"/>
            <a:ext cx="1280160" cy="201168"/>
          </a:xfrm>
          <a:prstGeom prst="rect">
            <a:avLst/>
          </a:prstGeom>
          <a:noFill/>
        </p:spPr>
        <p:txBody>
          <a:bodyPr wrap="square">
            <a:spAutoFit/>
          </a:bodyPr>
          <a:lstStyle/>
          <a:p>
            <a:pPr algn="ctr"/>
            <a:r>
              <a:rPr sz="750" b="1" i="0">
                <a:solidFill>
                  <a:srgbClr val="FFD700"/>
                </a:solidFill>
                <a:latin typeface="Calibri"/>
              </a:rPr>
              <a:t>AttackChain</a:t>
            </a:r>
          </a:p>
        </p:txBody>
      </p:sp>
      <p:sp>
        <p:nvSpPr>
          <p:cNvPr id="54" name="Rectangle 53"/>
          <p:cNvSpPr/>
          <p:nvPr/>
        </p:nvSpPr>
        <p:spPr>
          <a:xfrm>
            <a:off x="90982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98280" y="2761488"/>
            <a:ext cx="1280160" cy="201168"/>
          </a:xfrm>
          <a:prstGeom prst="rect">
            <a:avLst/>
          </a:prstGeom>
          <a:noFill/>
        </p:spPr>
        <p:txBody>
          <a:bodyPr wrap="square">
            <a:spAutoFit/>
          </a:bodyPr>
          <a:lstStyle/>
          <a:p>
            <a:pPr algn="ctr"/>
            <a:r>
              <a:rPr sz="750" b="1" i="0">
                <a:solidFill>
                  <a:srgbClr val="FFD700"/>
                </a:solidFill>
                <a:latin typeface="Calibri"/>
              </a:rPr>
              <a:t>ChainStep</a:t>
            </a:r>
          </a:p>
        </p:txBody>
      </p:sp>
      <p:sp>
        <p:nvSpPr>
          <p:cNvPr id="56" name="Rectangle 55"/>
          <p:cNvSpPr/>
          <p:nvPr/>
        </p:nvSpPr>
        <p:spPr>
          <a:xfrm>
            <a:off x="104698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469880" y="2761488"/>
            <a:ext cx="1280160" cy="201168"/>
          </a:xfrm>
          <a:prstGeom prst="rect">
            <a:avLst/>
          </a:prstGeom>
          <a:noFill/>
        </p:spPr>
        <p:txBody>
          <a:bodyPr wrap="square">
            <a:spAutoFit/>
          </a:bodyPr>
          <a:lstStyle/>
          <a:p>
            <a:pPr algn="ctr"/>
            <a:r>
              <a:rPr sz="750" b="1" i="0">
                <a:solidFill>
                  <a:srgbClr val="FFD700"/>
                </a:solidFill>
                <a:latin typeface="Calibri"/>
              </a:rPr>
              <a:t>Impact</a:t>
            </a:r>
          </a:p>
        </p:txBody>
      </p:sp>
      <p:sp>
        <p:nvSpPr>
          <p:cNvPr id="58" name="TextBox 57"/>
          <p:cNvSpPr txBox="1"/>
          <p:nvPr/>
        </p:nvSpPr>
        <p:spPr>
          <a:xfrm>
            <a:off x="7699248" y="3035808"/>
            <a:ext cx="4206240" cy="201168"/>
          </a:xfrm>
          <a:prstGeom prst="rect">
            <a:avLst/>
          </a:prstGeom>
          <a:noFill/>
        </p:spPr>
        <p:txBody>
          <a:bodyPr wrap="square">
            <a:spAutoFit/>
          </a:bodyPr>
          <a:lstStyle/>
          <a:p>
            <a:pPr algn="l"/>
            <a:r>
              <a:rPr sz="800" b="0" i="0">
                <a:solidFill>
                  <a:srgbClr val="A0AAB8"/>
                </a:solidFill>
                <a:latin typeface="Calibri"/>
              </a:rPr>
              <a:t>risk_score  ·  validation_status  ·  priority</a:t>
            </a:r>
          </a:p>
        </p:txBody>
      </p:sp>
      <p:sp>
        <p:nvSpPr>
          <p:cNvPr id="59" name="TextBox 58"/>
          <p:cNvSpPr txBox="1"/>
          <p:nvPr/>
        </p:nvSpPr>
        <p:spPr>
          <a:xfrm>
            <a:off x="7699248" y="3282696"/>
            <a:ext cx="4206240" cy="347472"/>
          </a:xfrm>
          <a:prstGeom prst="rect">
            <a:avLst/>
          </a:prstGeom>
          <a:noFill/>
        </p:spPr>
        <p:txBody>
          <a:bodyPr wrap="square">
            <a:spAutoFit/>
          </a:bodyPr>
          <a:lstStyle/>
          <a:p>
            <a:pPr algn="l"/>
            <a:r>
              <a:rPr sz="800" b="0" i="1">
                <a:solidFill>
                  <a:srgbClr val="C09020"/>
                </a:solidFill>
                <a:latin typeface="Calibri"/>
              </a:rPr>
              <a:t>Inferred Opportunity — attack reasoning only. Never contains raw scan data.</a:t>
            </a:r>
          </a:p>
        </p:txBody>
      </p:sp>
      <p:sp>
        <p:nvSpPr>
          <p:cNvPr id="60" name="Rectangle 59"/>
          <p:cNvSpPr/>
          <p:nvPr/>
        </p:nvSpPr>
        <p:spPr>
          <a:xfrm>
            <a:off x="4617720" y="2414016"/>
            <a:ext cx="2971800" cy="1298448"/>
          </a:xfrm>
          <a:prstGeom prst="rect">
            <a:avLst/>
          </a:prstGeom>
          <a:solidFill>
            <a:srgbClr val="061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54296" y="2706624"/>
            <a:ext cx="2935224" cy="502920"/>
          </a:xfrm>
          <a:prstGeom prst="rect">
            <a:avLst/>
          </a:prstGeom>
          <a:noFill/>
        </p:spPr>
        <p:txBody>
          <a:bodyPr wrap="square">
            <a:spAutoFit/>
          </a:bodyPr>
          <a:lstStyle/>
          <a:p>
            <a:pPr algn="ctr"/>
            <a:r>
              <a:rPr sz="700" b="1" i="0">
                <a:solidFill>
                  <a:srgbClr val="A0AAB8"/>
                </a:solidFill>
                <a:latin typeface="Calibri"/>
              </a:rPr>
              <a:t>STRICT
SEPARATION</a:t>
            </a:r>
          </a:p>
        </p:txBody>
      </p:sp>
      <p:sp>
        <p:nvSpPr>
          <p:cNvPr id="62" name="Rectangle 61"/>
          <p:cNvSpPr/>
          <p:nvPr/>
        </p:nvSpPr>
        <p:spPr>
          <a:xfrm>
            <a:off x="6094476" y="2414016"/>
            <a:ext cx="18288" cy="1298448"/>
          </a:xfrm>
          <a:prstGeom prst="rect">
            <a:avLst/>
          </a:prstGeom>
          <a:solidFill>
            <a:srgbClr val="40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468880.0" y="3712464"/>
            <a:ext cx="0.0" cy="201168"/>
          </a:xfrm>
          <a:prstGeom prst="line">
            <a:avLst/>
          </a:prstGeom>
          <a:ln w="101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609344.0" y="2084832"/>
            <a:ext cx="1892807.0" cy="5486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069079.0" y="2084832"/>
            <a:ext cx="5715001.0" cy="54864"/>
          </a:xfrm>
          <a:prstGeom prst="line">
            <a:avLst/>
          </a:prstGeom>
          <a:ln w="127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64592" y="3877056"/>
            <a:ext cx="11862511" cy="2724912"/>
          </a:xfrm>
          <a:prstGeom prst="rect">
            <a:avLst/>
          </a:prstGeom>
          <a:solidFill>
            <a:srgbClr val="0A081C"/>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01168" y="3913632"/>
            <a:ext cx="4572000" cy="201168"/>
          </a:xfrm>
          <a:prstGeom prst="rect">
            <a:avLst/>
          </a:prstGeom>
          <a:noFill/>
        </p:spPr>
        <p:txBody>
          <a:bodyPr wrap="square">
            <a:spAutoFit/>
          </a:bodyPr>
          <a:lstStyle/>
          <a:p>
            <a:pPr algn="l"/>
            <a:r>
              <a:rPr sz="750" b="1" i="0">
                <a:solidFill>
                  <a:srgbClr val="BD93F9"/>
                </a:solidFill>
                <a:latin typeface="Calibri"/>
              </a:rPr>
              <a:t>③ SPECIALIZED AGENTS  +  TOOL ADAPTER LAYER</a:t>
            </a:r>
          </a:p>
        </p:txBody>
      </p:sp>
      <p:sp>
        <p:nvSpPr>
          <p:cNvPr id="68" name="Rectangle 67"/>
          <p:cNvSpPr/>
          <p:nvPr/>
        </p:nvSpPr>
        <p:spPr>
          <a:xfrm>
            <a:off x="320040" y="4133088"/>
            <a:ext cx="1287780" cy="2404872"/>
          </a:xfrm>
          <a:prstGeom prst="rect">
            <a:avLst/>
          </a:prstGeom>
          <a:solidFill>
            <a:srgbClr val="0C0E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20040" y="4133088"/>
            <a:ext cx="128778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0040" y="4151376"/>
            <a:ext cx="1287780" cy="201168"/>
          </a:xfrm>
          <a:prstGeom prst="rect">
            <a:avLst/>
          </a:prstGeom>
          <a:noFill/>
        </p:spPr>
        <p:txBody>
          <a:bodyPr wrap="square">
            <a:spAutoFit/>
          </a:bodyPr>
          <a:lstStyle/>
          <a:p>
            <a:pPr algn="ctr"/>
            <a:r>
              <a:rPr sz="750" b="1" i="0">
                <a:solidFill>
                  <a:srgbClr val="0A0D1A"/>
                </a:solidFill>
                <a:latin typeface="Calibri"/>
              </a:rPr>
              <a:t>Recon</a:t>
            </a:r>
          </a:p>
        </p:txBody>
      </p:sp>
      <p:sp>
        <p:nvSpPr>
          <p:cNvPr id="71" name="TextBox 70"/>
          <p:cNvSpPr txBox="1"/>
          <p:nvPr/>
        </p:nvSpPr>
        <p:spPr>
          <a:xfrm>
            <a:off x="374904" y="4407408"/>
            <a:ext cx="1196340" cy="2130552"/>
          </a:xfrm>
          <a:prstGeom prst="rect">
            <a:avLst/>
          </a:prstGeom>
          <a:noFill/>
        </p:spPr>
        <p:txBody>
          <a:bodyPr wrap="square">
            <a:spAutoFit/>
          </a:bodyPr>
          <a:lstStyle/>
          <a:p>
            <a:pPr algn="l"/>
            <a:r>
              <a:rPr sz="700" b="0" i="0">
                <a:solidFill>
                  <a:srgbClr val="39FF14"/>
                </a:solidFill>
                <a:latin typeface="Calibri"/>
              </a:rPr>
              <a:t>Amass · httpx · Nmap</a:t>
            </a:r>
          </a:p>
        </p:txBody>
      </p:sp>
      <p:cxnSp>
        <p:nvCxnSpPr>
          <p:cNvPr id="72" name="Connector 71"/>
          <p:cNvCxnSpPr/>
          <p:nvPr/>
        </p:nvCxnSpPr>
        <p:spPr>
          <a:xfrm flipH="1">
            <a:off x="963930.0" y="2130552"/>
            <a:ext cx="2254757.0" cy="2002536"/>
          </a:xfrm>
          <a:prstGeom prst="line">
            <a:avLst/>
          </a:prstGeom>
          <a:ln w="63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63930.0" y="3822192"/>
            <a:ext cx="215646.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662684" y="4133088"/>
            <a:ext cx="1287780" cy="2404872"/>
          </a:xfrm>
          <a:prstGeom prst="rect">
            <a:avLst/>
          </a:prstGeom>
          <a:solidFill>
            <a:srgbClr val="0C0E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62684" y="4133088"/>
            <a:ext cx="128778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662684" y="4151376"/>
            <a:ext cx="1287780" cy="201168"/>
          </a:xfrm>
          <a:prstGeom prst="rect">
            <a:avLst/>
          </a:prstGeom>
          <a:noFill/>
        </p:spPr>
        <p:txBody>
          <a:bodyPr wrap="square">
            <a:spAutoFit/>
          </a:bodyPr>
          <a:lstStyle/>
          <a:p>
            <a:pPr algn="ctr"/>
            <a:r>
              <a:rPr sz="750" b="1" i="0">
                <a:solidFill>
                  <a:srgbClr val="0A0D1A"/>
                </a:solidFill>
                <a:latin typeface="Calibri"/>
              </a:rPr>
              <a:t>Analysis</a:t>
            </a:r>
          </a:p>
        </p:txBody>
      </p:sp>
      <p:sp>
        <p:nvSpPr>
          <p:cNvPr id="77" name="TextBox 76"/>
          <p:cNvSpPr txBox="1"/>
          <p:nvPr/>
        </p:nvSpPr>
        <p:spPr>
          <a:xfrm>
            <a:off x="1717548" y="4407408"/>
            <a:ext cx="1196340" cy="2130552"/>
          </a:xfrm>
          <a:prstGeom prst="rect">
            <a:avLst/>
          </a:prstGeom>
          <a:noFill/>
        </p:spPr>
        <p:txBody>
          <a:bodyPr wrap="square">
            <a:spAutoFit/>
          </a:bodyPr>
          <a:lstStyle/>
          <a:p>
            <a:pPr algn="l"/>
            <a:r>
              <a:rPr sz="700" b="0" i="0">
                <a:solidFill>
                  <a:srgbClr val="00E5FF"/>
                </a:solidFill>
                <a:latin typeface="Calibri"/>
              </a:rPr>
              <a:t>WhatWeb · Gobuster · ffuf · Nuclei · ZAP</a:t>
            </a:r>
          </a:p>
        </p:txBody>
      </p:sp>
      <p:cxnSp>
        <p:nvCxnSpPr>
          <p:cNvPr id="78" name="Connector 77"/>
          <p:cNvCxnSpPr/>
          <p:nvPr/>
        </p:nvCxnSpPr>
        <p:spPr>
          <a:xfrm flipH="1">
            <a:off x="2306574.0" y="2130552"/>
            <a:ext cx="1195577.0" cy="2002536"/>
          </a:xfrm>
          <a:prstGeom prst="line">
            <a:avLst/>
          </a:prstGeom>
          <a:ln w="63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523390.4" y="3822192"/>
            <a:ext cx="783183.6000000001"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005328" y="4133088"/>
            <a:ext cx="1287780" cy="2404872"/>
          </a:xfrm>
          <a:prstGeom prst="rect">
            <a:avLst/>
          </a:prstGeom>
          <a:solidFill>
            <a:srgbClr val="0C0E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05328" y="4133088"/>
            <a:ext cx="128778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05328" y="4151376"/>
            <a:ext cx="1287780" cy="201168"/>
          </a:xfrm>
          <a:prstGeom prst="rect">
            <a:avLst/>
          </a:prstGeom>
          <a:noFill/>
        </p:spPr>
        <p:txBody>
          <a:bodyPr wrap="square">
            <a:spAutoFit/>
          </a:bodyPr>
          <a:lstStyle/>
          <a:p>
            <a:pPr algn="ctr"/>
            <a:r>
              <a:rPr sz="750" b="1" i="0">
                <a:solidFill>
                  <a:srgbClr val="0A0D1A"/>
                </a:solidFill>
                <a:latin typeface="Calibri"/>
              </a:rPr>
              <a:t>Research</a:t>
            </a:r>
          </a:p>
        </p:txBody>
      </p:sp>
      <p:sp>
        <p:nvSpPr>
          <p:cNvPr id="83" name="TextBox 82"/>
          <p:cNvSpPr txBox="1"/>
          <p:nvPr/>
        </p:nvSpPr>
        <p:spPr>
          <a:xfrm>
            <a:off x="3060192" y="4407408"/>
            <a:ext cx="1196340" cy="2130552"/>
          </a:xfrm>
          <a:prstGeom prst="rect">
            <a:avLst/>
          </a:prstGeom>
          <a:noFill/>
        </p:spPr>
        <p:txBody>
          <a:bodyPr wrap="square">
            <a:spAutoFit/>
          </a:bodyPr>
          <a:lstStyle/>
          <a:p>
            <a:pPr algn="l"/>
            <a:r>
              <a:rPr sz="700" b="0" i="0">
                <a:solidFill>
                  <a:srgbClr val="FFD700"/>
                </a:solidFill>
                <a:latin typeface="Calibri"/>
              </a:rPr>
              <a:t>NVD · Exploit-DB · GitHub</a:t>
            </a:r>
          </a:p>
        </p:txBody>
      </p:sp>
      <p:cxnSp>
        <p:nvCxnSpPr>
          <p:cNvPr id="84" name="Connector 83"/>
          <p:cNvCxnSpPr/>
          <p:nvPr/>
        </p:nvCxnSpPr>
        <p:spPr>
          <a:xfrm flipH="1">
            <a:off x="3649218.0" y="2130552"/>
            <a:ext cx="136397.0" cy="2002536"/>
          </a:xfrm>
          <a:prstGeom prst="line">
            <a:avLst/>
          </a:prstGeom>
          <a:ln w="63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867204.8" y="3822192"/>
            <a:ext cx="1782013.2"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4347972" y="4133088"/>
            <a:ext cx="1287780" cy="2404872"/>
          </a:xfrm>
          <a:prstGeom prst="rect">
            <a:avLst/>
          </a:prstGeom>
          <a:solidFill>
            <a:srgbClr val="0C0E22"/>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347972" y="4133088"/>
            <a:ext cx="128778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347972" y="4151376"/>
            <a:ext cx="1287780" cy="201168"/>
          </a:xfrm>
          <a:prstGeom prst="rect">
            <a:avLst/>
          </a:prstGeom>
          <a:noFill/>
        </p:spPr>
        <p:txBody>
          <a:bodyPr wrap="square">
            <a:spAutoFit/>
          </a:bodyPr>
          <a:lstStyle/>
          <a:p>
            <a:pPr algn="ctr"/>
            <a:r>
              <a:rPr sz="750" b="1" i="0">
                <a:solidFill>
                  <a:srgbClr val="0A0D1A"/>
                </a:solidFill>
                <a:latin typeface="Calibri"/>
              </a:rPr>
              <a:t>Validation</a:t>
            </a:r>
          </a:p>
        </p:txBody>
      </p:sp>
      <p:sp>
        <p:nvSpPr>
          <p:cNvPr id="89" name="TextBox 88"/>
          <p:cNvSpPr txBox="1"/>
          <p:nvPr/>
        </p:nvSpPr>
        <p:spPr>
          <a:xfrm>
            <a:off x="4402836" y="4407408"/>
            <a:ext cx="1196340" cy="2130552"/>
          </a:xfrm>
          <a:prstGeom prst="rect">
            <a:avLst/>
          </a:prstGeom>
          <a:noFill/>
        </p:spPr>
        <p:txBody>
          <a:bodyPr wrap="square">
            <a:spAutoFit/>
          </a:bodyPr>
          <a:lstStyle/>
          <a:p>
            <a:pPr algn="l"/>
            <a:r>
              <a:rPr sz="700" b="0" i="0">
                <a:solidFill>
                  <a:srgbClr val="FF4545"/>
                </a:solidFill>
                <a:latin typeface="Calibri"/>
              </a:rPr>
              <a:t>SQLMap · Metasploit</a:t>
            </a:r>
          </a:p>
        </p:txBody>
      </p:sp>
      <p:cxnSp>
        <p:nvCxnSpPr>
          <p:cNvPr id="90" name="Connector 89"/>
          <p:cNvCxnSpPr/>
          <p:nvPr/>
        </p:nvCxnSpPr>
        <p:spPr>
          <a:xfrm>
            <a:off x="4069079.0" y="2130552"/>
            <a:ext cx="922783.0" cy="2002536"/>
          </a:xfrm>
          <a:prstGeom prst="line">
            <a:avLst/>
          </a:prstGeom>
          <a:ln w="635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2211019.2" y="3822192"/>
            <a:ext cx="2780842.8"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90616" y="4133088"/>
            <a:ext cx="1287780" cy="2404872"/>
          </a:xfrm>
          <a:prstGeom prst="rect">
            <a:avLst/>
          </a:prstGeom>
          <a:solidFill>
            <a:srgbClr val="0C0E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690616" y="4133088"/>
            <a:ext cx="128778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690616" y="4151376"/>
            <a:ext cx="1287780" cy="201168"/>
          </a:xfrm>
          <a:prstGeom prst="rect">
            <a:avLst/>
          </a:prstGeom>
          <a:noFill/>
        </p:spPr>
        <p:txBody>
          <a:bodyPr wrap="square">
            <a:spAutoFit/>
          </a:bodyPr>
          <a:lstStyle/>
          <a:p>
            <a:pPr algn="ctr"/>
            <a:r>
              <a:rPr sz="750" b="1" i="0">
                <a:solidFill>
                  <a:srgbClr val="0A0D1A"/>
                </a:solidFill>
                <a:latin typeface="Calibri"/>
              </a:rPr>
              <a:t>Evidence</a:t>
            </a:r>
          </a:p>
        </p:txBody>
      </p:sp>
      <p:sp>
        <p:nvSpPr>
          <p:cNvPr id="95" name="TextBox 94"/>
          <p:cNvSpPr txBox="1"/>
          <p:nvPr/>
        </p:nvSpPr>
        <p:spPr>
          <a:xfrm>
            <a:off x="5745480" y="4407408"/>
            <a:ext cx="1196340" cy="2130552"/>
          </a:xfrm>
          <a:prstGeom prst="rect">
            <a:avLst/>
          </a:prstGeom>
          <a:noFill/>
        </p:spPr>
        <p:txBody>
          <a:bodyPr wrap="square">
            <a:spAutoFit/>
          </a:bodyPr>
          <a:lstStyle/>
          <a:p>
            <a:pPr algn="l"/>
            <a:r>
              <a:rPr sz="700" b="0" i="0">
                <a:solidFill>
                  <a:srgbClr val="BD93F9"/>
                </a:solidFill>
                <a:latin typeface="Calibri"/>
              </a:rPr>
              <a:t>EyeWitness</a:t>
            </a:r>
          </a:p>
        </p:txBody>
      </p:sp>
      <p:cxnSp>
        <p:nvCxnSpPr>
          <p:cNvPr id="96" name="Connector 95"/>
          <p:cNvCxnSpPr/>
          <p:nvPr/>
        </p:nvCxnSpPr>
        <p:spPr>
          <a:xfrm>
            <a:off x="4352543.0" y="2130552"/>
            <a:ext cx="1981963.0" cy="2002536"/>
          </a:xfrm>
          <a:prstGeom prst="line">
            <a:avLst/>
          </a:prstGeom>
          <a:ln w="63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2554833.6" y="3822192"/>
            <a:ext cx="3779672.4"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7033260" y="4133088"/>
            <a:ext cx="1287780" cy="2404872"/>
          </a:xfrm>
          <a:prstGeom prst="rect">
            <a:avLst/>
          </a:prstGeom>
          <a:solidFill>
            <a:srgbClr val="0C0E22"/>
          </a:solidFill>
          <a:ln w="1524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033260" y="4133088"/>
            <a:ext cx="1287780" cy="21945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033260" y="4151376"/>
            <a:ext cx="1287780" cy="201168"/>
          </a:xfrm>
          <a:prstGeom prst="rect">
            <a:avLst/>
          </a:prstGeom>
          <a:noFill/>
        </p:spPr>
        <p:txBody>
          <a:bodyPr wrap="square">
            <a:spAutoFit/>
          </a:bodyPr>
          <a:lstStyle/>
          <a:p>
            <a:pPr algn="ctr"/>
            <a:r>
              <a:rPr sz="750" b="1" i="0">
                <a:solidFill>
                  <a:srgbClr val="0A0D1A"/>
                </a:solidFill>
                <a:latin typeface="Calibri"/>
              </a:rPr>
              <a:t>Report</a:t>
            </a:r>
          </a:p>
        </p:txBody>
      </p:sp>
      <p:sp>
        <p:nvSpPr>
          <p:cNvPr id="101" name="TextBox 100"/>
          <p:cNvSpPr txBox="1"/>
          <p:nvPr/>
        </p:nvSpPr>
        <p:spPr>
          <a:xfrm>
            <a:off x="7088124" y="4407408"/>
            <a:ext cx="1196340" cy="2130552"/>
          </a:xfrm>
          <a:prstGeom prst="rect">
            <a:avLst/>
          </a:prstGeom>
          <a:noFill/>
        </p:spPr>
        <p:txBody>
          <a:bodyPr wrap="square">
            <a:spAutoFit/>
          </a:bodyPr>
          <a:lstStyle/>
          <a:p>
            <a:pPr algn="l"/>
            <a:r>
              <a:rPr sz="700" b="0" i="0">
                <a:solidFill>
                  <a:srgbClr val="A0AAB8"/>
                </a:solidFill>
                <a:latin typeface="Calibri"/>
              </a:rPr>
              <a:t>Reads ASG + APG</a:t>
            </a:r>
          </a:p>
        </p:txBody>
      </p:sp>
      <p:cxnSp>
        <p:nvCxnSpPr>
          <p:cNvPr id="102" name="Connector 101"/>
          <p:cNvCxnSpPr/>
          <p:nvPr/>
        </p:nvCxnSpPr>
        <p:spPr>
          <a:xfrm>
            <a:off x="4636007.0" y="2130552"/>
            <a:ext cx="3041143.0" cy="2002536"/>
          </a:xfrm>
          <a:prstGeom prst="line">
            <a:avLst/>
          </a:prstGeom>
          <a:ln w="635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8641080" y="4133088"/>
            <a:ext cx="3349447" cy="2404872"/>
          </a:xfrm>
          <a:prstGeom prst="rect">
            <a:avLst/>
          </a:prstGeom>
          <a:solidFill>
            <a:srgbClr val="0A08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641080" y="4133088"/>
            <a:ext cx="3349447"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641080" y="4160520"/>
            <a:ext cx="3349447" cy="201168"/>
          </a:xfrm>
          <a:prstGeom prst="rect">
            <a:avLst/>
          </a:prstGeom>
          <a:noFill/>
        </p:spPr>
        <p:txBody>
          <a:bodyPr wrap="square">
            <a:spAutoFit/>
          </a:bodyPr>
          <a:lstStyle/>
          <a:p>
            <a:pPr algn="ctr"/>
            <a:r>
              <a:rPr sz="800" b="1" i="0">
                <a:solidFill>
                  <a:srgbClr val="0A0D1A"/>
                </a:solidFill>
                <a:latin typeface="Calibri"/>
              </a:rPr>
              <a:t>TOOL ADAPTER LAYER</a:t>
            </a:r>
          </a:p>
        </p:txBody>
      </p:sp>
      <p:sp>
        <p:nvSpPr>
          <p:cNvPr id="106" name="Rectangle 105"/>
          <p:cNvSpPr/>
          <p:nvPr/>
        </p:nvSpPr>
        <p:spPr>
          <a:xfrm>
            <a:off x="8732520" y="4407408"/>
            <a:ext cx="3166567" cy="649224"/>
          </a:xfrm>
          <a:prstGeom prst="rect">
            <a:avLst/>
          </a:prstGeom>
          <a:solidFill>
            <a:srgbClr val="100C24"/>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732520" y="4407408"/>
            <a:ext cx="347472" cy="64922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732520" y="4425696"/>
            <a:ext cx="347472" cy="612648"/>
          </a:xfrm>
          <a:prstGeom prst="rect">
            <a:avLst/>
          </a:prstGeom>
          <a:noFill/>
        </p:spPr>
        <p:txBody>
          <a:bodyPr wrap="square">
            <a:spAutoFit/>
          </a:bodyPr>
          <a:lstStyle/>
          <a:p>
            <a:pPr algn="ctr"/>
            <a:r>
              <a:rPr sz="700" b="1" i="0">
                <a:solidFill>
                  <a:srgbClr val="0A0D1A"/>
                </a:solidFill>
                <a:latin typeface="Calibri"/>
              </a:rPr>
              <a:t>LOW</a:t>
            </a:r>
          </a:p>
        </p:txBody>
      </p:sp>
      <p:sp>
        <p:nvSpPr>
          <p:cNvPr id="109" name="TextBox 108"/>
          <p:cNvSpPr txBox="1"/>
          <p:nvPr/>
        </p:nvSpPr>
        <p:spPr>
          <a:xfrm>
            <a:off x="9116568" y="4425696"/>
            <a:ext cx="2755087" cy="182880"/>
          </a:xfrm>
          <a:prstGeom prst="rect">
            <a:avLst/>
          </a:prstGeom>
          <a:noFill/>
        </p:spPr>
        <p:txBody>
          <a:bodyPr wrap="square">
            <a:spAutoFit/>
          </a:bodyPr>
          <a:lstStyle/>
          <a:p>
            <a:pPr algn="l"/>
            <a:r>
              <a:rPr sz="750" b="1" i="0">
                <a:solidFill>
                  <a:srgbClr val="39FF14"/>
                </a:solidFill>
                <a:latin typeface="Calibri"/>
              </a:rPr>
              <a:t>Passive</a:t>
            </a:r>
          </a:p>
        </p:txBody>
      </p:sp>
      <p:sp>
        <p:nvSpPr>
          <p:cNvPr id="110" name="TextBox 109"/>
          <p:cNvSpPr txBox="1"/>
          <p:nvPr/>
        </p:nvSpPr>
        <p:spPr>
          <a:xfrm>
            <a:off x="9116568" y="4608576"/>
            <a:ext cx="2755087" cy="274320"/>
          </a:xfrm>
          <a:prstGeom prst="rect">
            <a:avLst/>
          </a:prstGeom>
          <a:noFill/>
        </p:spPr>
        <p:txBody>
          <a:bodyPr wrap="square">
            <a:spAutoFit/>
          </a:bodyPr>
          <a:lstStyle/>
          <a:p>
            <a:pPr algn="l"/>
            <a:r>
              <a:rPr sz="700" b="0" i="1">
                <a:solidFill>
                  <a:srgbClr val="A0AAB8"/>
                </a:solidFill>
                <a:latin typeface="Calibri"/>
              </a:rPr>
              <a:t>Execute immediately</a:t>
            </a:r>
          </a:p>
        </p:txBody>
      </p:sp>
      <p:sp>
        <p:nvSpPr>
          <p:cNvPr id="111" name="Rectangle 110"/>
          <p:cNvSpPr/>
          <p:nvPr/>
        </p:nvSpPr>
        <p:spPr>
          <a:xfrm>
            <a:off x="8732520" y="5111496"/>
            <a:ext cx="3166567" cy="649224"/>
          </a:xfrm>
          <a:prstGeom prst="rect">
            <a:avLst/>
          </a:prstGeom>
          <a:solidFill>
            <a:srgbClr val="100C24"/>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732520" y="5111496"/>
            <a:ext cx="347472" cy="64922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732520" y="5129784"/>
            <a:ext cx="347472" cy="612648"/>
          </a:xfrm>
          <a:prstGeom prst="rect">
            <a:avLst/>
          </a:prstGeom>
          <a:noFill/>
        </p:spPr>
        <p:txBody>
          <a:bodyPr wrap="square">
            <a:spAutoFit/>
          </a:bodyPr>
          <a:lstStyle/>
          <a:p>
            <a:pPr algn="ctr"/>
            <a:r>
              <a:rPr sz="700" b="1" i="0">
                <a:solidFill>
                  <a:srgbClr val="0A0D1A"/>
                </a:solidFill>
                <a:latin typeface="Calibri"/>
              </a:rPr>
              <a:t>MED</a:t>
            </a:r>
          </a:p>
        </p:txBody>
      </p:sp>
      <p:sp>
        <p:nvSpPr>
          <p:cNvPr id="114" name="TextBox 113"/>
          <p:cNvSpPr txBox="1"/>
          <p:nvPr/>
        </p:nvSpPr>
        <p:spPr>
          <a:xfrm>
            <a:off x="9116568" y="5129784"/>
            <a:ext cx="2755087" cy="182880"/>
          </a:xfrm>
          <a:prstGeom prst="rect">
            <a:avLst/>
          </a:prstGeom>
          <a:noFill/>
        </p:spPr>
        <p:txBody>
          <a:bodyPr wrap="square">
            <a:spAutoFit/>
          </a:bodyPr>
          <a:lstStyle/>
          <a:p>
            <a:pPr algn="l"/>
            <a:r>
              <a:rPr sz="750" b="1" i="0">
                <a:solidFill>
                  <a:srgbClr val="FFD700"/>
                </a:solidFill>
                <a:latin typeface="Calibri"/>
              </a:rPr>
              <a:t>Active</a:t>
            </a:r>
          </a:p>
        </p:txBody>
      </p:sp>
      <p:sp>
        <p:nvSpPr>
          <p:cNvPr id="115" name="TextBox 114"/>
          <p:cNvSpPr txBox="1"/>
          <p:nvPr/>
        </p:nvSpPr>
        <p:spPr>
          <a:xfrm>
            <a:off x="9116568" y="5312664"/>
            <a:ext cx="2755087" cy="274320"/>
          </a:xfrm>
          <a:prstGeom prst="rect">
            <a:avLst/>
          </a:prstGeom>
          <a:noFill/>
        </p:spPr>
        <p:txBody>
          <a:bodyPr wrap="square">
            <a:spAutoFit/>
          </a:bodyPr>
          <a:lstStyle/>
          <a:p>
            <a:pPr algn="l"/>
            <a:r>
              <a:rPr sz="700" b="0" i="1">
                <a:solidFill>
                  <a:srgbClr val="A0AAB8"/>
                </a:solidFill>
                <a:latin typeface="Calibri"/>
              </a:rPr>
              <a:t>LLM Classifier → exec/escalate</a:t>
            </a:r>
          </a:p>
        </p:txBody>
      </p:sp>
      <p:sp>
        <p:nvSpPr>
          <p:cNvPr id="116" name="Rectangle 115"/>
          <p:cNvSpPr/>
          <p:nvPr/>
        </p:nvSpPr>
        <p:spPr>
          <a:xfrm>
            <a:off x="8732520" y="5815584"/>
            <a:ext cx="3166567" cy="649224"/>
          </a:xfrm>
          <a:prstGeom prst="rect">
            <a:avLst/>
          </a:prstGeom>
          <a:solidFill>
            <a:srgbClr val="100C24"/>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732520" y="5815584"/>
            <a:ext cx="347472" cy="64922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732520" y="5833872"/>
            <a:ext cx="347472" cy="612648"/>
          </a:xfrm>
          <a:prstGeom prst="rect">
            <a:avLst/>
          </a:prstGeom>
          <a:noFill/>
        </p:spPr>
        <p:txBody>
          <a:bodyPr wrap="square">
            <a:spAutoFit/>
          </a:bodyPr>
          <a:lstStyle/>
          <a:p>
            <a:pPr algn="ctr"/>
            <a:r>
              <a:rPr sz="700" b="1" i="0">
                <a:solidFill>
                  <a:srgbClr val="0A0D1A"/>
                </a:solidFill>
                <a:latin typeface="Calibri"/>
              </a:rPr>
              <a:t>HIGH</a:t>
            </a:r>
          </a:p>
        </p:txBody>
      </p:sp>
      <p:sp>
        <p:nvSpPr>
          <p:cNvPr id="119" name="TextBox 118"/>
          <p:cNvSpPr txBox="1"/>
          <p:nvPr/>
        </p:nvSpPr>
        <p:spPr>
          <a:xfrm>
            <a:off x="9116568" y="5833872"/>
            <a:ext cx="2755087" cy="182880"/>
          </a:xfrm>
          <a:prstGeom prst="rect">
            <a:avLst/>
          </a:prstGeom>
          <a:noFill/>
        </p:spPr>
        <p:txBody>
          <a:bodyPr wrap="square">
            <a:spAutoFit/>
          </a:bodyPr>
          <a:lstStyle/>
          <a:p>
            <a:pPr algn="l"/>
            <a:r>
              <a:rPr sz="750" b="1" i="0">
                <a:solidFill>
                  <a:srgbClr val="FF4545"/>
                </a:solidFill>
                <a:latin typeface="Calibri"/>
              </a:rPr>
              <a:t>Exploit</a:t>
            </a:r>
          </a:p>
        </p:txBody>
      </p:sp>
      <p:sp>
        <p:nvSpPr>
          <p:cNvPr id="120" name="TextBox 119"/>
          <p:cNvSpPr txBox="1"/>
          <p:nvPr/>
        </p:nvSpPr>
        <p:spPr>
          <a:xfrm>
            <a:off x="9116568" y="6016752"/>
            <a:ext cx="2755087" cy="274320"/>
          </a:xfrm>
          <a:prstGeom prst="rect">
            <a:avLst/>
          </a:prstGeom>
          <a:noFill/>
        </p:spPr>
        <p:txBody>
          <a:bodyPr wrap="square">
            <a:spAutoFit/>
          </a:bodyPr>
          <a:lstStyle/>
          <a:p>
            <a:pPr algn="l"/>
            <a:r>
              <a:rPr sz="700" b="0" i="1">
                <a:solidFill>
                  <a:srgbClr val="A0AAB8"/>
                </a:solidFill>
                <a:latin typeface="Calibri"/>
              </a:rPr>
              <a:t>Commander Mailbox approval</a:t>
            </a:r>
          </a:p>
        </p:txBody>
      </p:sp>
      <p:sp>
        <p:nvSpPr>
          <p:cNvPr id="121" name="TextBox 120"/>
          <p:cNvSpPr txBox="1"/>
          <p:nvPr/>
        </p:nvSpPr>
        <p:spPr>
          <a:xfrm>
            <a:off x="11825935" y="6382512"/>
            <a:ext cx="320040" cy="384048"/>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5486400" cy="237744"/>
          </a:xfrm>
          <a:prstGeom prst="rect">
            <a:avLst/>
          </a:prstGeom>
          <a:noFill/>
        </p:spPr>
        <p:txBody>
          <a:bodyPr wrap="square">
            <a:spAutoFit/>
          </a:bodyPr>
          <a:lstStyle/>
          <a:p>
            <a:pPr algn="l"/>
            <a:r>
              <a:rPr sz="1000" b="1" i="0">
                <a:solidFill>
                  <a:srgbClr val="39FF14"/>
                </a:solidFill>
                <a:latin typeface="Calibri"/>
              </a:rPr>
              <a:t>DUAL-GRAPH WORLD MODEL</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600" b="1" i="0">
                <a:solidFill>
                  <a:srgbClr val="FFFFFF"/>
                </a:solidFill>
                <a:latin typeface="Calibri"/>
              </a:rPr>
              <a:t>Two Strictly Separated Knowledge Layers — Visualised</a:t>
            </a:r>
          </a:p>
        </p:txBody>
      </p:sp>
      <p:sp>
        <p:nvSpPr>
          <p:cNvPr id="7" name="Rectangle 6"/>
          <p:cNvSpPr/>
          <p:nvPr/>
        </p:nvSpPr>
        <p:spPr>
          <a:xfrm>
            <a:off x="164592" y="804672"/>
            <a:ext cx="5349240" cy="5138928"/>
          </a:xfrm>
          <a:prstGeom prst="rect">
            <a:avLst/>
          </a:prstGeom>
          <a:solidFill>
            <a:srgbClr val="04180A"/>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22960"/>
            <a:ext cx="3200400" cy="237744"/>
          </a:xfrm>
          <a:prstGeom prst="rect">
            <a:avLst/>
          </a:prstGeom>
          <a:noFill/>
        </p:spPr>
        <p:txBody>
          <a:bodyPr wrap="square">
            <a:spAutoFit/>
          </a:bodyPr>
          <a:lstStyle/>
          <a:p>
            <a:pPr algn="l"/>
            <a:r>
              <a:rPr sz="1100" b="1" i="0">
                <a:solidFill>
                  <a:srgbClr val="39FF14"/>
                </a:solidFill>
                <a:latin typeface="Calibri"/>
              </a:rPr>
              <a:t>ASG — Attack Surface Graph</a:t>
            </a:r>
          </a:p>
        </p:txBody>
      </p:sp>
      <p:sp>
        <p:nvSpPr>
          <p:cNvPr id="9" name="TextBox 8"/>
          <p:cNvSpPr txBox="1"/>
          <p:nvPr/>
        </p:nvSpPr>
        <p:spPr>
          <a:xfrm>
            <a:off x="201168" y="1042415"/>
            <a:ext cx="5029200" cy="219456"/>
          </a:xfrm>
          <a:prstGeom prst="rect">
            <a:avLst/>
          </a:prstGeom>
          <a:noFill/>
        </p:spPr>
        <p:txBody>
          <a:bodyPr wrap="square">
            <a:spAutoFit/>
          </a:bodyPr>
          <a:lstStyle/>
          <a:p>
            <a:pPr algn="l"/>
            <a:r>
              <a:rPr sz="900" b="0" i="1">
                <a:solidFill>
                  <a:srgbClr val="60C070"/>
                </a:solidFill>
                <a:latin typeface="Calibri"/>
              </a:rPr>
              <a:t>What does the target look like?  (Discovered Reality)</a:t>
            </a:r>
          </a:p>
        </p:txBody>
      </p:sp>
      <p:sp>
        <p:nvSpPr>
          <p:cNvPr id="10" name="Rectangle 9"/>
          <p:cNvSpPr/>
          <p:nvPr/>
        </p:nvSpPr>
        <p:spPr>
          <a:xfrm>
            <a:off x="6675120" y="804672"/>
            <a:ext cx="5349240" cy="5138928"/>
          </a:xfrm>
          <a:prstGeom prst="rect">
            <a:avLst/>
          </a:prstGeom>
          <a:solidFill>
            <a:srgbClr val="1C10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11696" y="822960"/>
            <a:ext cx="3200400" cy="237744"/>
          </a:xfrm>
          <a:prstGeom prst="rect">
            <a:avLst/>
          </a:prstGeom>
          <a:noFill/>
        </p:spPr>
        <p:txBody>
          <a:bodyPr wrap="square">
            <a:spAutoFit/>
          </a:bodyPr>
          <a:lstStyle/>
          <a:p>
            <a:pPr algn="l"/>
            <a:r>
              <a:rPr sz="1100" b="1" i="0">
                <a:solidFill>
                  <a:srgbClr val="FFD700"/>
                </a:solidFill>
                <a:latin typeface="Calibri"/>
              </a:rPr>
              <a:t>APG — Attack Path Graph</a:t>
            </a:r>
          </a:p>
        </p:txBody>
      </p:sp>
      <p:sp>
        <p:nvSpPr>
          <p:cNvPr id="12" name="TextBox 11"/>
          <p:cNvSpPr txBox="1"/>
          <p:nvPr/>
        </p:nvSpPr>
        <p:spPr>
          <a:xfrm>
            <a:off x="6711696" y="1042415"/>
            <a:ext cx="5029200" cy="219456"/>
          </a:xfrm>
          <a:prstGeom prst="rect">
            <a:avLst/>
          </a:prstGeom>
          <a:noFill/>
        </p:spPr>
        <p:txBody>
          <a:bodyPr wrap="square">
            <a:spAutoFit/>
          </a:bodyPr>
          <a:lstStyle/>
          <a:p>
            <a:pPr algn="l"/>
            <a:r>
              <a:rPr sz="900" b="0" i="1">
                <a:solidFill>
                  <a:srgbClr val="C09020"/>
                </a:solidFill>
                <a:latin typeface="Calibri"/>
              </a:rPr>
              <a:t>What can be done to it?  (Inferred Opportunity)</a:t>
            </a:r>
          </a:p>
        </p:txBody>
      </p:sp>
      <p:sp>
        <p:nvSpPr>
          <p:cNvPr id="13" name="Rectangle 12"/>
          <p:cNvSpPr/>
          <p:nvPr/>
        </p:nvSpPr>
        <p:spPr>
          <a:xfrm>
            <a:off x="5593384" y="804672"/>
            <a:ext cx="1005840" cy="5138928"/>
          </a:xfrm>
          <a:prstGeom prst="rect">
            <a:avLst/>
          </a:prstGeom>
          <a:solidFill>
            <a:srgbClr val="081018"/>
          </a:solidFill>
          <a:ln w="1016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7160" y="804672"/>
            <a:ext cx="18288" cy="513892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0816" y="2286000"/>
            <a:ext cx="950976" cy="640080"/>
          </a:xfrm>
          <a:prstGeom prst="rect">
            <a:avLst/>
          </a:prstGeom>
          <a:noFill/>
        </p:spPr>
        <p:txBody>
          <a:bodyPr wrap="square">
            <a:spAutoFit/>
          </a:bodyPr>
          <a:lstStyle/>
          <a:p>
            <a:pPr algn="ctr"/>
            <a:r>
              <a:rPr sz="800" b="1" i="0">
                <a:solidFill>
                  <a:srgbClr val="A0AAB8"/>
                </a:solidFill>
                <a:latin typeface="Calibri"/>
              </a:rPr>
              <a:t>STRICT
SEPARATION</a:t>
            </a:r>
          </a:p>
        </p:txBody>
      </p:sp>
      <p:sp>
        <p:nvSpPr>
          <p:cNvPr id="16" name="TextBox 15"/>
          <p:cNvSpPr txBox="1"/>
          <p:nvPr/>
        </p:nvSpPr>
        <p:spPr>
          <a:xfrm>
            <a:off x="5639104" y="3017520"/>
            <a:ext cx="914400" cy="685800"/>
          </a:xfrm>
          <a:prstGeom prst="rect">
            <a:avLst/>
          </a:prstGeom>
          <a:noFill/>
        </p:spPr>
        <p:txBody>
          <a:bodyPr wrap="square">
            <a:spAutoFit/>
          </a:bodyPr>
          <a:lstStyle/>
          <a:p>
            <a:pPr algn="ctr"/>
            <a:r>
              <a:rPr sz="750" b="0" i="1">
                <a:solidFill>
                  <a:srgbClr val="A0AAB8"/>
                </a:solidFill>
                <a:latin typeface="Calibri"/>
              </a:rPr>
              <a:t>No agent
crosses this
boundary</a:t>
            </a:r>
          </a:p>
        </p:txBody>
      </p:sp>
      <p:cxnSp>
        <p:nvCxnSpPr>
          <p:cNvPr id="17" name="Connector 16"/>
          <p:cNvCxnSpPr/>
          <p:nvPr/>
        </p:nvCxnSpPr>
        <p:spPr>
          <a:xfrm flipH="1">
            <a:off x="4114800" y="3886200"/>
            <a:ext cx="1944928" cy="0"/>
          </a:xfrm>
          <a:prstGeom prst="line">
            <a:avLst/>
          </a:prstGeom>
          <a:ln w="1524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4344" y="3685032"/>
            <a:ext cx="1005840" cy="201168"/>
          </a:xfrm>
          <a:prstGeom prst="rect">
            <a:avLst/>
          </a:prstGeom>
          <a:noFill/>
        </p:spPr>
        <p:txBody>
          <a:bodyPr wrap="square">
            <a:spAutoFit/>
          </a:bodyPr>
          <a:lstStyle/>
          <a:p>
            <a:pPr algn="ctr"/>
            <a:r>
              <a:rPr sz="700" b="0" i="1">
                <a:solidFill>
                  <a:srgbClr val="A0AAB8"/>
                </a:solidFill>
                <a:latin typeface="Calibri"/>
              </a:rPr>
              <a:t>Discovery
Agents write</a:t>
            </a:r>
          </a:p>
        </p:txBody>
      </p:sp>
      <p:cxnSp>
        <p:nvCxnSpPr>
          <p:cNvPr id="19" name="Connector 18"/>
          <p:cNvCxnSpPr/>
          <p:nvPr/>
        </p:nvCxnSpPr>
        <p:spPr>
          <a:xfrm>
            <a:off x="6132880" y="4206240"/>
            <a:ext cx="1639520" cy="0"/>
          </a:xfrm>
          <a:prstGeom prst="line">
            <a:avLst/>
          </a:prstGeom>
          <a:ln w="15240">
            <a:solidFill>
              <a:srgbClr val="FFD700"/>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9720" y="4005072"/>
            <a:ext cx="1005840" cy="201168"/>
          </a:xfrm>
          <a:prstGeom prst="rect">
            <a:avLst/>
          </a:prstGeom>
          <a:noFill/>
        </p:spPr>
        <p:txBody>
          <a:bodyPr wrap="square">
            <a:spAutoFit/>
          </a:bodyPr>
          <a:lstStyle/>
          <a:p>
            <a:pPr algn="ctr"/>
            <a:r>
              <a:rPr sz="700" b="0" i="1">
                <a:solidFill>
                  <a:srgbClr val="A0AAB8"/>
                </a:solidFill>
                <a:latin typeface="Calibri"/>
              </a:rPr>
              <a:t>Commander
writes</a:t>
            </a:r>
          </a:p>
        </p:txBody>
      </p:sp>
      <p:sp>
        <p:nvSpPr>
          <p:cNvPr id="21" name="Rectangle 20"/>
          <p:cNvSpPr/>
          <p:nvPr/>
        </p:nvSpPr>
        <p:spPr>
          <a:xfrm>
            <a:off x="813816" y="137160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1408176"/>
            <a:ext cx="1115568" cy="201168"/>
          </a:xfrm>
          <a:prstGeom prst="rect">
            <a:avLst/>
          </a:prstGeom>
          <a:noFill/>
        </p:spPr>
        <p:txBody>
          <a:bodyPr wrap="square">
            <a:spAutoFit/>
          </a:bodyPr>
          <a:lstStyle/>
          <a:p>
            <a:pPr algn="ctr"/>
            <a:r>
              <a:rPr sz="850" b="1" i="0">
                <a:solidFill>
                  <a:srgbClr val="39FF14"/>
                </a:solidFill>
                <a:latin typeface="Calibri"/>
              </a:rPr>
              <a:t>Domain</a:t>
            </a:r>
          </a:p>
        </p:txBody>
      </p:sp>
      <p:sp>
        <p:nvSpPr>
          <p:cNvPr id="23" name="TextBox 22"/>
          <p:cNvSpPr txBox="1"/>
          <p:nvPr/>
        </p:nvSpPr>
        <p:spPr>
          <a:xfrm>
            <a:off x="813816" y="1572768"/>
            <a:ext cx="1115568" cy="164592"/>
          </a:xfrm>
          <a:prstGeom prst="rect">
            <a:avLst/>
          </a:prstGeom>
          <a:noFill/>
        </p:spPr>
        <p:txBody>
          <a:bodyPr wrap="square">
            <a:spAutoFit/>
          </a:bodyPr>
          <a:lstStyle/>
          <a:p>
            <a:pPr algn="ctr"/>
            <a:r>
              <a:rPr sz="700" b="0" i="1">
                <a:solidFill>
                  <a:srgbClr val="A0AAB8"/>
                </a:solidFill>
                <a:latin typeface="Calibri"/>
              </a:rPr>
              <a:t>shopvault.io</a:t>
            </a:r>
          </a:p>
        </p:txBody>
      </p:sp>
      <p:sp>
        <p:nvSpPr>
          <p:cNvPr id="24" name="Rectangle 23"/>
          <p:cNvSpPr/>
          <p:nvPr/>
        </p:nvSpPr>
        <p:spPr>
          <a:xfrm>
            <a:off x="813816" y="201168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2048256"/>
            <a:ext cx="1115568" cy="201168"/>
          </a:xfrm>
          <a:prstGeom prst="rect">
            <a:avLst/>
          </a:prstGeom>
          <a:noFill/>
        </p:spPr>
        <p:txBody>
          <a:bodyPr wrap="square">
            <a:spAutoFit/>
          </a:bodyPr>
          <a:lstStyle/>
          <a:p>
            <a:pPr algn="ctr"/>
            <a:r>
              <a:rPr sz="850" b="1" i="0">
                <a:solidFill>
                  <a:srgbClr val="39FF14"/>
                </a:solidFill>
                <a:latin typeface="Calibri"/>
              </a:rPr>
              <a:t>Host</a:t>
            </a:r>
          </a:p>
        </p:txBody>
      </p:sp>
      <p:sp>
        <p:nvSpPr>
          <p:cNvPr id="26" name="TextBox 25"/>
          <p:cNvSpPr txBox="1"/>
          <p:nvPr/>
        </p:nvSpPr>
        <p:spPr>
          <a:xfrm>
            <a:off x="813816" y="2212848"/>
            <a:ext cx="1115568" cy="164592"/>
          </a:xfrm>
          <a:prstGeom prst="rect">
            <a:avLst/>
          </a:prstGeom>
          <a:noFill/>
        </p:spPr>
        <p:txBody>
          <a:bodyPr wrap="square">
            <a:spAutoFit/>
          </a:bodyPr>
          <a:lstStyle/>
          <a:p>
            <a:pPr algn="ctr"/>
            <a:r>
              <a:rPr sz="700" b="0" i="1">
                <a:solidFill>
                  <a:srgbClr val="A0AAB8"/>
                </a:solidFill>
                <a:latin typeface="Calibri"/>
              </a:rPr>
              <a:t>192.168.1.10</a:t>
            </a:r>
          </a:p>
        </p:txBody>
      </p:sp>
      <p:sp>
        <p:nvSpPr>
          <p:cNvPr id="27" name="Rectangle 26"/>
          <p:cNvSpPr/>
          <p:nvPr/>
        </p:nvSpPr>
        <p:spPr>
          <a:xfrm>
            <a:off x="813816" y="265176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2688336"/>
            <a:ext cx="1115568" cy="201168"/>
          </a:xfrm>
          <a:prstGeom prst="rect">
            <a:avLst/>
          </a:prstGeom>
          <a:noFill/>
        </p:spPr>
        <p:txBody>
          <a:bodyPr wrap="square">
            <a:spAutoFit/>
          </a:bodyPr>
          <a:lstStyle/>
          <a:p>
            <a:pPr algn="ctr"/>
            <a:r>
              <a:rPr sz="850" b="1" i="0">
                <a:solidFill>
                  <a:srgbClr val="39FF14"/>
                </a:solidFill>
                <a:latin typeface="Calibri"/>
              </a:rPr>
              <a:t>Port</a:t>
            </a:r>
          </a:p>
        </p:txBody>
      </p:sp>
      <p:sp>
        <p:nvSpPr>
          <p:cNvPr id="29" name="TextBox 28"/>
          <p:cNvSpPr txBox="1"/>
          <p:nvPr/>
        </p:nvSpPr>
        <p:spPr>
          <a:xfrm>
            <a:off x="813816" y="2852928"/>
            <a:ext cx="1115568" cy="164592"/>
          </a:xfrm>
          <a:prstGeom prst="rect">
            <a:avLst/>
          </a:prstGeom>
          <a:noFill/>
        </p:spPr>
        <p:txBody>
          <a:bodyPr wrap="square">
            <a:spAutoFit/>
          </a:bodyPr>
          <a:lstStyle/>
          <a:p>
            <a:pPr algn="ctr"/>
            <a:r>
              <a:rPr sz="700" b="0" i="1">
                <a:solidFill>
                  <a:srgbClr val="A0AAB8"/>
                </a:solidFill>
                <a:latin typeface="Calibri"/>
              </a:rPr>
              <a:t>:443 / :8080</a:t>
            </a:r>
          </a:p>
        </p:txBody>
      </p:sp>
      <p:sp>
        <p:nvSpPr>
          <p:cNvPr id="30" name="Rectangle 29"/>
          <p:cNvSpPr/>
          <p:nvPr/>
        </p:nvSpPr>
        <p:spPr>
          <a:xfrm>
            <a:off x="813816" y="329184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 y="3328416"/>
            <a:ext cx="1115568" cy="201168"/>
          </a:xfrm>
          <a:prstGeom prst="rect">
            <a:avLst/>
          </a:prstGeom>
          <a:noFill/>
        </p:spPr>
        <p:txBody>
          <a:bodyPr wrap="square">
            <a:spAutoFit/>
          </a:bodyPr>
          <a:lstStyle/>
          <a:p>
            <a:pPr algn="ctr"/>
            <a:r>
              <a:rPr sz="850" b="1" i="0">
                <a:solidFill>
                  <a:srgbClr val="39FF14"/>
                </a:solidFill>
                <a:latin typeface="Calibri"/>
              </a:rPr>
              <a:t>Service</a:t>
            </a:r>
          </a:p>
        </p:txBody>
      </p:sp>
      <p:sp>
        <p:nvSpPr>
          <p:cNvPr id="32" name="TextBox 31"/>
          <p:cNvSpPr txBox="1"/>
          <p:nvPr/>
        </p:nvSpPr>
        <p:spPr>
          <a:xfrm>
            <a:off x="813816" y="3493008"/>
            <a:ext cx="1115568" cy="164592"/>
          </a:xfrm>
          <a:prstGeom prst="rect">
            <a:avLst/>
          </a:prstGeom>
          <a:noFill/>
        </p:spPr>
        <p:txBody>
          <a:bodyPr wrap="square">
            <a:spAutoFit/>
          </a:bodyPr>
          <a:lstStyle/>
          <a:p>
            <a:pPr algn="ctr"/>
            <a:r>
              <a:rPr sz="700" b="0" i="1">
                <a:solidFill>
                  <a:srgbClr val="A0AAB8"/>
                </a:solidFill>
                <a:latin typeface="Calibri"/>
              </a:rPr>
              <a:t>Nginx 1.18.0</a:t>
            </a:r>
          </a:p>
        </p:txBody>
      </p:sp>
      <p:sp>
        <p:nvSpPr>
          <p:cNvPr id="33" name="Rectangle 32"/>
          <p:cNvSpPr/>
          <p:nvPr/>
        </p:nvSpPr>
        <p:spPr>
          <a:xfrm>
            <a:off x="2276856" y="265176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76856" y="2688336"/>
            <a:ext cx="1115568" cy="201168"/>
          </a:xfrm>
          <a:prstGeom prst="rect">
            <a:avLst/>
          </a:prstGeom>
          <a:noFill/>
        </p:spPr>
        <p:txBody>
          <a:bodyPr wrap="square">
            <a:spAutoFit/>
          </a:bodyPr>
          <a:lstStyle/>
          <a:p>
            <a:pPr algn="ctr"/>
            <a:r>
              <a:rPr sz="850" b="1" i="0">
                <a:solidFill>
                  <a:srgbClr val="00E5FF"/>
                </a:solidFill>
                <a:latin typeface="Calibri"/>
              </a:rPr>
              <a:t>Technology</a:t>
            </a:r>
          </a:p>
        </p:txBody>
      </p:sp>
      <p:sp>
        <p:nvSpPr>
          <p:cNvPr id="35" name="TextBox 34"/>
          <p:cNvSpPr txBox="1"/>
          <p:nvPr/>
        </p:nvSpPr>
        <p:spPr>
          <a:xfrm>
            <a:off x="2276856" y="2852928"/>
            <a:ext cx="1115568" cy="164592"/>
          </a:xfrm>
          <a:prstGeom prst="rect">
            <a:avLst/>
          </a:prstGeom>
          <a:noFill/>
        </p:spPr>
        <p:txBody>
          <a:bodyPr wrap="square">
            <a:spAutoFit/>
          </a:bodyPr>
          <a:lstStyle/>
          <a:p>
            <a:pPr algn="ctr"/>
            <a:r>
              <a:rPr sz="700" b="0" i="1">
                <a:solidFill>
                  <a:srgbClr val="A0AAB8"/>
                </a:solidFill>
                <a:latin typeface="Calibri"/>
              </a:rPr>
              <a:t>WordPress 5.9.3</a:t>
            </a:r>
          </a:p>
        </p:txBody>
      </p:sp>
      <p:sp>
        <p:nvSpPr>
          <p:cNvPr id="36" name="Rectangle 35"/>
          <p:cNvSpPr/>
          <p:nvPr/>
        </p:nvSpPr>
        <p:spPr>
          <a:xfrm>
            <a:off x="2276856" y="329184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76856" y="3328416"/>
            <a:ext cx="1115568" cy="201168"/>
          </a:xfrm>
          <a:prstGeom prst="rect">
            <a:avLst/>
          </a:prstGeom>
          <a:noFill/>
        </p:spPr>
        <p:txBody>
          <a:bodyPr wrap="square">
            <a:spAutoFit/>
          </a:bodyPr>
          <a:lstStyle/>
          <a:p>
            <a:pPr algn="ctr"/>
            <a:r>
              <a:rPr sz="850" b="1" i="0">
                <a:solidFill>
                  <a:srgbClr val="00E5FF"/>
                </a:solidFill>
                <a:latin typeface="Calibri"/>
              </a:rPr>
              <a:t>Endpoint</a:t>
            </a:r>
          </a:p>
        </p:txBody>
      </p:sp>
      <p:sp>
        <p:nvSpPr>
          <p:cNvPr id="38" name="TextBox 37"/>
          <p:cNvSpPr txBox="1"/>
          <p:nvPr/>
        </p:nvSpPr>
        <p:spPr>
          <a:xfrm>
            <a:off x="2276856" y="3493008"/>
            <a:ext cx="1115568" cy="164592"/>
          </a:xfrm>
          <a:prstGeom prst="rect">
            <a:avLst/>
          </a:prstGeom>
          <a:noFill/>
        </p:spPr>
        <p:txBody>
          <a:bodyPr wrap="square">
            <a:spAutoFit/>
          </a:bodyPr>
          <a:lstStyle/>
          <a:p>
            <a:pPr algn="ctr"/>
            <a:r>
              <a:rPr sz="700" b="0" i="1">
                <a:solidFill>
                  <a:srgbClr val="A0AAB8"/>
                </a:solidFill>
                <a:latin typeface="Calibri"/>
              </a:rPr>
              <a:t>/api/v1/orders</a:t>
            </a:r>
          </a:p>
        </p:txBody>
      </p:sp>
      <p:sp>
        <p:nvSpPr>
          <p:cNvPr id="39" name="Rectangle 38"/>
          <p:cNvSpPr/>
          <p:nvPr/>
        </p:nvSpPr>
        <p:spPr>
          <a:xfrm>
            <a:off x="2276856" y="3931919"/>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76856" y="3968495"/>
            <a:ext cx="1115568" cy="201168"/>
          </a:xfrm>
          <a:prstGeom prst="rect">
            <a:avLst/>
          </a:prstGeom>
          <a:noFill/>
        </p:spPr>
        <p:txBody>
          <a:bodyPr wrap="square">
            <a:spAutoFit/>
          </a:bodyPr>
          <a:lstStyle/>
          <a:p>
            <a:pPr algn="ctr"/>
            <a:r>
              <a:rPr sz="850" b="1" i="0">
                <a:solidFill>
                  <a:srgbClr val="00E5FF"/>
                </a:solidFill>
                <a:latin typeface="Calibri"/>
              </a:rPr>
              <a:t>Parameter</a:t>
            </a:r>
          </a:p>
        </p:txBody>
      </p:sp>
      <p:sp>
        <p:nvSpPr>
          <p:cNvPr id="41" name="TextBox 40"/>
          <p:cNvSpPr txBox="1"/>
          <p:nvPr/>
        </p:nvSpPr>
        <p:spPr>
          <a:xfrm>
            <a:off x="2276856" y="4133087"/>
            <a:ext cx="1115568" cy="164592"/>
          </a:xfrm>
          <a:prstGeom prst="rect">
            <a:avLst/>
          </a:prstGeom>
          <a:noFill/>
        </p:spPr>
        <p:txBody>
          <a:bodyPr wrap="square">
            <a:spAutoFit/>
          </a:bodyPr>
          <a:lstStyle/>
          <a:p>
            <a:pPr algn="ctr"/>
            <a:r>
              <a:rPr sz="700" b="0" i="1">
                <a:solidFill>
                  <a:srgbClr val="A0AAB8"/>
                </a:solidFill>
                <a:latin typeface="Calibri"/>
              </a:rPr>
              <a:t>user_id=?</a:t>
            </a:r>
          </a:p>
        </p:txBody>
      </p:sp>
      <p:sp>
        <p:nvSpPr>
          <p:cNvPr id="42" name="Rectangle 41"/>
          <p:cNvSpPr/>
          <p:nvPr/>
        </p:nvSpPr>
        <p:spPr>
          <a:xfrm>
            <a:off x="813816" y="3931919"/>
            <a:ext cx="1115568" cy="402336"/>
          </a:xfrm>
          <a:prstGeom prst="rect">
            <a:avLst/>
          </a:prstGeom>
          <a:solidFill>
            <a:srgbClr val="22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3816" y="3968495"/>
            <a:ext cx="1115568" cy="201168"/>
          </a:xfrm>
          <a:prstGeom prst="rect">
            <a:avLst/>
          </a:prstGeom>
          <a:noFill/>
        </p:spPr>
        <p:txBody>
          <a:bodyPr wrap="square">
            <a:spAutoFit/>
          </a:bodyPr>
          <a:lstStyle/>
          <a:p>
            <a:pPr algn="ctr"/>
            <a:r>
              <a:rPr sz="850" b="1" i="0">
                <a:solidFill>
                  <a:srgbClr val="FF4545"/>
                </a:solidFill>
                <a:latin typeface="Calibri"/>
              </a:rPr>
              <a:t>Vulnerability</a:t>
            </a:r>
          </a:p>
        </p:txBody>
      </p:sp>
      <p:sp>
        <p:nvSpPr>
          <p:cNvPr id="44" name="TextBox 43"/>
          <p:cNvSpPr txBox="1"/>
          <p:nvPr/>
        </p:nvSpPr>
        <p:spPr>
          <a:xfrm>
            <a:off x="813816" y="4133087"/>
            <a:ext cx="1115568" cy="164592"/>
          </a:xfrm>
          <a:prstGeom prst="rect">
            <a:avLst/>
          </a:prstGeom>
          <a:noFill/>
        </p:spPr>
        <p:txBody>
          <a:bodyPr wrap="square">
            <a:spAutoFit/>
          </a:bodyPr>
          <a:lstStyle/>
          <a:p>
            <a:pPr algn="ctr"/>
            <a:r>
              <a:rPr sz="700" b="0" i="1">
                <a:solidFill>
                  <a:srgbClr val="A0AAB8"/>
                </a:solidFill>
                <a:latin typeface="Calibri"/>
              </a:rPr>
              <a:t>CVE-2022-21661</a:t>
            </a:r>
          </a:p>
        </p:txBody>
      </p:sp>
      <p:sp>
        <p:nvSpPr>
          <p:cNvPr id="45" name="Rectangle 44"/>
          <p:cNvSpPr/>
          <p:nvPr/>
        </p:nvSpPr>
        <p:spPr>
          <a:xfrm>
            <a:off x="813816" y="4572000"/>
            <a:ext cx="1115568" cy="402336"/>
          </a:xfrm>
          <a:prstGeom prst="rect">
            <a:avLst/>
          </a:prstGeom>
          <a:solidFill>
            <a:srgbClr val="120820"/>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816" y="4608576"/>
            <a:ext cx="1115568" cy="201168"/>
          </a:xfrm>
          <a:prstGeom prst="rect">
            <a:avLst/>
          </a:prstGeom>
          <a:noFill/>
        </p:spPr>
        <p:txBody>
          <a:bodyPr wrap="square">
            <a:spAutoFit/>
          </a:bodyPr>
          <a:lstStyle/>
          <a:p>
            <a:pPr algn="ctr"/>
            <a:r>
              <a:rPr sz="850" b="1" i="0">
                <a:solidFill>
                  <a:srgbClr val="BD93F9"/>
                </a:solidFill>
                <a:latin typeface="Calibri"/>
              </a:rPr>
              <a:t>Evidence</a:t>
            </a:r>
          </a:p>
        </p:txBody>
      </p:sp>
      <p:sp>
        <p:nvSpPr>
          <p:cNvPr id="47" name="TextBox 46"/>
          <p:cNvSpPr txBox="1"/>
          <p:nvPr/>
        </p:nvSpPr>
        <p:spPr>
          <a:xfrm>
            <a:off x="813816" y="4773168"/>
            <a:ext cx="1115568" cy="164592"/>
          </a:xfrm>
          <a:prstGeom prst="rect">
            <a:avLst/>
          </a:prstGeom>
          <a:noFill/>
        </p:spPr>
        <p:txBody>
          <a:bodyPr wrap="square">
            <a:spAutoFit/>
          </a:bodyPr>
          <a:lstStyle/>
          <a:p>
            <a:pPr algn="ctr"/>
            <a:r>
              <a:rPr sz="700" b="0" i="1">
                <a:solidFill>
                  <a:srgbClr val="A0AAB8"/>
                </a:solidFill>
                <a:latin typeface="Calibri"/>
              </a:rPr>
              <a:t>screenshot.png</a:t>
            </a:r>
          </a:p>
        </p:txBody>
      </p:sp>
      <p:cxnSp>
        <p:nvCxnSpPr>
          <p:cNvPr id="48" name="Connector 47"/>
          <p:cNvCxnSpPr/>
          <p:nvPr/>
        </p:nvCxnSpPr>
        <p:spPr>
          <a:xfrm>
            <a:off x="1371600" y="1773936.0"/>
            <a:ext cx="0" cy="237744.0"/>
          </a:xfrm>
          <a:prstGeom prst="line">
            <a:avLst/>
          </a:prstGeom>
          <a:ln w="1143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691640"/>
            <a:ext cx="1005840" cy="201168"/>
          </a:xfrm>
          <a:prstGeom prst="rect">
            <a:avLst/>
          </a:prstGeom>
          <a:noFill/>
        </p:spPr>
        <p:txBody>
          <a:bodyPr wrap="square">
            <a:spAutoFit/>
          </a:bodyPr>
          <a:lstStyle/>
          <a:p>
            <a:pPr algn="ctr"/>
            <a:r>
              <a:rPr sz="700" b="0" i="1">
                <a:solidFill>
                  <a:srgbClr val="A0AAB8"/>
                </a:solidFill>
                <a:latin typeface="Calibri"/>
              </a:rPr>
              <a:t>has_host</a:t>
            </a:r>
          </a:p>
        </p:txBody>
      </p:sp>
      <p:cxnSp>
        <p:nvCxnSpPr>
          <p:cNvPr id="50" name="Connector 49"/>
          <p:cNvCxnSpPr/>
          <p:nvPr/>
        </p:nvCxnSpPr>
        <p:spPr>
          <a:xfrm>
            <a:off x="1371600" y="2414016.0"/>
            <a:ext cx="0" cy="237744.0"/>
          </a:xfrm>
          <a:prstGeom prst="line">
            <a:avLst/>
          </a:prstGeom>
          <a:ln w="1143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68680" y="2331720"/>
            <a:ext cx="1005840" cy="201168"/>
          </a:xfrm>
          <a:prstGeom prst="rect">
            <a:avLst/>
          </a:prstGeom>
          <a:noFill/>
        </p:spPr>
        <p:txBody>
          <a:bodyPr wrap="square">
            <a:spAutoFit/>
          </a:bodyPr>
          <a:lstStyle/>
          <a:p>
            <a:pPr algn="ctr"/>
            <a:r>
              <a:rPr sz="700" b="0" i="1">
                <a:solidFill>
                  <a:srgbClr val="A0AAB8"/>
                </a:solidFill>
                <a:latin typeface="Calibri"/>
              </a:rPr>
              <a:t>has_port</a:t>
            </a:r>
          </a:p>
        </p:txBody>
      </p:sp>
      <p:cxnSp>
        <p:nvCxnSpPr>
          <p:cNvPr id="52" name="Connector 51"/>
          <p:cNvCxnSpPr/>
          <p:nvPr/>
        </p:nvCxnSpPr>
        <p:spPr>
          <a:xfrm>
            <a:off x="1371600" y="3054096.0"/>
            <a:ext cx="0" cy="237744.0"/>
          </a:xfrm>
          <a:prstGeom prst="line">
            <a:avLst/>
          </a:prstGeom>
          <a:ln w="1143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8680" y="2971800"/>
            <a:ext cx="1005840" cy="201168"/>
          </a:xfrm>
          <a:prstGeom prst="rect">
            <a:avLst/>
          </a:prstGeom>
          <a:noFill/>
        </p:spPr>
        <p:txBody>
          <a:bodyPr wrap="square">
            <a:spAutoFit/>
          </a:bodyPr>
          <a:lstStyle/>
          <a:p>
            <a:pPr algn="ctr"/>
            <a:r>
              <a:rPr sz="700" b="0" i="1">
                <a:solidFill>
                  <a:srgbClr val="A0AAB8"/>
                </a:solidFill>
                <a:latin typeface="Calibri"/>
              </a:rPr>
              <a:t>runs</a:t>
            </a:r>
          </a:p>
        </p:txBody>
      </p:sp>
      <p:cxnSp>
        <p:nvCxnSpPr>
          <p:cNvPr id="54" name="Connector 53"/>
          <p:cNvCxnSpPr/>
          <p:nvPr/>
        </p:nvCxnSpPr>
        <p:spPr>
          <a:xfrm>
            <a:off x="1371600" y="3694176.0"/>
            <a:ext cx="0" cy="237743.0"/>
          </a:xfrm>
          <a:prstGeom prst="line">
            <a:avLst/>
          </a:prstGeom>
          <a:ln w="1143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8680" y="3611879"/>
            <a:ext cx="1005840" cy="201168"/>
          </a:xfrm>
          <a:prstGeom prst="rect">
            <a:avLst/>
          </a:prstGeom>
          <a:noFill/>
        </p:spPr>
        <p:txBody>
          <a:bodyPr wrap="square">
            <a:spAutoFit/>
          </a:bodyPr>
          <a:lstStyle/>
          <a:p>
            <a:pPr algn="ctr"/>
            <a:r>
              <a:rPr sz="700" b="0" i="1">
                <a:solidFill>
                  <a:srgbClr val="A0AAB8"/>
                </a:solidFill>
                <a:latin typeface="Calibri"/>
              </a:rPr>
              <a:t>affected_by</a:t>
            </a:r>
          </a:p>
        </p:txBody>
      </p:sp>
      <p:cxnSp>
        <p:nvCxnSpPr>
          <p:cNvPr id="56" name="Connector 55"/>
          <p:cNvCxnSpPr/>
          <p:nvPr/>
        </p:nvCxnSpPr>
        <p:spPr>
          <a:xfrm>
            <a:off x="1371600" y="4334255.0"/>
            <a:ext cx="0" cy="237745.0"/>
          </a:xfrm>
          <a:prstGeom prst="line">
            <a:avLst/>
          </a:prstGeom>
          <a:ln w="11430">
            <a:solidFill>
              <a:srgbClr val="39FF14"/>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 y="4251959"/>
            <a:ext cx="1005840" cy="201168"/>
          </a:xfrm>
          <a:prstGeom prst="rect">
            <a:avLst/>
          </a:prstGeom>
          <a:noFill/>
        </p:spPr>
        <p:txBody>
          <a:bodyPr wrap="square">
            <a:spAutoFit/>
          </a:bodyPr>
          <a:lstStyle/>
          <a:p>
            <a:pPr algn="ctr"/>
            <a:r>
              <a:rPr sz="700" b="0" i="1">
                <a:solidFill>
                  <a:srgbClr val="A0AAB8"/>
                </a:solidFill>
                <a:latin typeface="Calibri"/>
              </a:rPr>
              <a:t>validated_by</a:t>
            </a:r>
          </a:p>
        </p:txBody>
      </p:sp>
      <p:cxnSp>
        <p:nvCxnSpPr>
          <p:cNvPr id="58" name="Connector 57"/>
          <p:cNvCxnSpPr/>
          <p:nvPr/>
        </p:nvCxnSpPr>
        <p:spPr>
          <a:xfrm>
            <a:off x="1929384.0" y="2852928"/>
            <a:ext cx="347472.0" cy="0"/>
          </a:xfrm>
          <a:prstGeom prst="line">
            <a:avLst/>
          </a:prstGeom>
          <a:ln w="10160">
            <a:solidFill>
              <a:srgbClr val="00E5FF"/>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600200" y="2651760"/>
            <a:ext cx="1005840" cy="201168"/>
          </a:xfrm>
          <a:prstGeom prst="rect">
            <a:avLst/>
          </a:prstGeom>
          <a:noFill/>
        </p:spPr>
        <p:txBody>
          <a:bodyPr wrap="square">
            <a:spAutoFit/>
          </a:bodyPr>
          <a:lstStyle/>
          <a:p>
            <a:pPr algn="ctr"/>
            <a:r>
              <a:rPr sz="700" b="0" i="1">
                <a:solidFill>
                  <a:srgbClr val="A0AAB8"/>
                </a:solidFill>
                <a:latin typeface="Calibri"/>
              </a:rPr>
              <a:t>uses</a:t>
            </a:r>
          </a:p>
        </p:txBody>
      </p:sp>
      <p:cxnSp>
        <p:nvCxnSpPr>
          <p:cNvPr id="60" name="Connector 59"/>
          <p:cNvCxnSpPr/>
          <p:nvPr/>
        </p:nvCxnSpPr>
        <p:spPr>
          <a:xfrm>
            <a:off x="1929384.0" y="3493008"/>
            <a:ext cx="347472.0" cy="0"/>
          </a:xfrm>
          <a:prstGeom prst="line">
            <a:avLst/>
          </a:prstGeom>
          <a:ln w="10160">
            <a:solidFill>
              <a:srgbClr val="00E5FF"/>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600200" y="3291840"/>
            <a:ext cx="1005840" cy="201168"/>
          </a:xfrm>
          <a:prstGeom prst="rect">
            <a:avLst/>
          </a:prstGeom>
          <a:noFill/>
        </p:spPr>
        <p:txBody>
          <a:bodyPr wrap="square">
            <a:spAutoFit/>
          </a:bodyPr>
          <a:lstStyle/>
          <a:p>
            <a:pPr algn="ctr"/>
            <a:r>
              <a:rPr sz="700" b="0" i="1">
                <a:solidFill>
                  <a:srgbClr val="A0AAB8"/>
                </a:solidFill>
                <a:latin typeface="Calibri"/>
              </a:rPr>
              <a:t>has_endpoint</a:t>
            </a:r>
          </a:p>
        </p:txBody>
      </p:sp>
      <p:cxnSp>
        <p:nvCxnSpPr>
          <p:cNvPr id="62" name="Connector 61"/>
          <p:cNvCxnSpPr/>
          <p:nvPr/>
        </p:nvCxnSpPr>
        <p:spPr>
          <a:xfrm>
            <a:off x="2834640" y="3694176.0"/>
            <a:ext cx="0" cy="237743.0"/>
          </a:xfrm>
          <a:prstGeom prst="line">
            <a:avLst/>
          </a:prstGeom>
          <a:ln w="10160">
            <a:solidFill>
              <a:srgbClr val="00E5FF"/>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331720" y="3611879"/>
            <a:ext cx="1005840" cy="201168"/>
          </a:xfrm>
          <a:prstGeom prst="rect">
            <a:avLst/>
          </a:prstGeom>
          <a:noFill/>
        </p:spPr>
        <p:txBody>
          <a:bodyPr wrap="square">
            <a:spAutoFit/>
          </a:bodyPr>
          <a:lstStyle/>
          <a:p>
            <a:pPr algn="ctr"/>
            <a:r>
              <a:rPr sz="700" b="0" i="1">
                <a:solidFill>
                  <a:srgbClr val="A0AAB8"/>
                </a:solidFill>
                <a:latin typeface="Calibri"/>
              </a:rPr>
              <a:t>has_parameter</a:t>
            </a:r>
          </a:p>
        </p:txBody>
      </p:sp>
      <p:sp>
        <p:nvSpPr>
          <p:cNvPr id="64" name="Rectangle 63"/>
          <p:cNvSpPr/>
          <p:nvPr/>
        </p:nvSpPr>
        <p:spPr>
          <a:xfrm>
            <a:off x="201168" y="5230368"/>
            <a:ext cx="5285232" cy="566928"/>
          </a:xfrm>
          <a:prstGeom prst="rect">
            <a:avLst/>
          </a:prstGeom>
          <a:solidFill>
            <a:srgbClr val="061C0C"/>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 y="5285232"/>
            <a:ext cx="5120640" cy="420624"/>
          </a:xfrm>
          <a:prstGeom prst="rect">
            <a:avLst/>
          </a:prstGeom>
          <a:noFill/>
        </p:spPr>
        <p:txBody>
          <a:bodyPr wrap="square">
            <a:spAutoFit/>
          </a:bodyPr>
          <a:lstStyle/>
          <a:p>
            <a:pPr algn="l"/>
            <a:r>
              <a:rPr sz="750" b="0" i="1">
                <a:solidFill>
                  <a:srgbClr val="A0AAB8"/>
                </a:solidFill>
                <a:latin typeface="Calibri"/>
              </a:rPr>
              <a:t>EDGES:  has_host  ·  has_port  ·  runs  ·  uses  ·  has_endpoint  ·  has_parameter  ·  affected_by  ·  validated_by</a:t>
            </a:r>
          </a:p>
        </p:txBody>
      </p:sp>
      <p:sp>
        <p:nvSpPr>
          <p:cNvPr id="66" name="Rectangle 65"/>
          <p:cNvSpPr/>
          <p:nvPr/>
        </p:nvSpPr>
        <p:spPr>
          <a:xfrm>
            <a:off x="6784848" y="1316736"/>
            <a:ext cx="5029200" cy="4297680"/>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84848" y="1316736"/>
            <a:ext cx="502920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1353312"/>
            <a:ext cx="5029200" cy="201168"/>
          </a:xfrm>
          <a:prstGeom prst="rect">
            <a:avLst/>
          </a:prstGeom>
          <a:noFill/>
        </p:spPr>
        <p:txBody>
          <a:bodyPr wrap="square">
            <a:spAutoFit/>
          </a:bodyPr>
          <a:lstStyle/>
          <a:p>
            <a:pPr algn="ctr"/>
            <a:r>
              <a:rPr sz="800" b="1" i="0">
                <a:solidFill>
                  <a:srgbClr val="0A0D1A"/>
                </a:solidFill>
                <a:latin typeface="Calibri"/>
              </a:rPr>
              <a:t>AttackChain  ·  risk_score: 9.1  ·  status: VALIDATED</a:t>
            </a:r>
          </a:p>
        </p:txBody>
      </p:sp>
      <p:sp>
        <p:nvSpPr>
          <p:cNvPr id="69" name="TextBox 68"/>
          <p:cNvSpPr txBox="1"/>
          <p:nvPr/>
        </p:nvSpPr>
        <p:spPr>
          <a:xfrm>
            <a:off x="6894576" y="1609344"/>
            <a:ext cx="4846320" cy="201168"/>
          </a:xfrm>
          <a:prstGeom prst="rect">
            <a:avLst/>
          </a:prstGeom>
          <a:noFill/>
        </p:spPr>
        <p:txBody>
          <a:bodyPr wrap="square">
            <a:spAutoFit/>
          </a:bodyPr>
          <a:lstStyle/>
          <a:p>
            <a:pPr algn="l"/>
            <a:r>
              <a:rPr sz="850" b="0" i="1">
                <a:solidFill>
                  <a:srgbClr val="FFD700"/>
                </a:solidFill>
                <a:latin typeface="Calibri"/>
              </a:rPr>
              <a:t>Chain-01: CVE-2022-21661 → SQL Injection → RCE → Customer PII</a:t>
            </a:r>
          </a:p>
        </p:txBody>
      </p:sp>
      <p:sp>
        <p:nvSpPr>
          <p:cNvPr id="70" name="Rectangle 69"/>
          <p:cNvSpPr/>
          <p:nvPr/>
        </p:nvSpPr>
        <p:spPr>
          <a:xfrm>
            <a:off x="8339328" y="1911096"/>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30768" y="1947672"/>
            <a:ext cx="731520" cy="256032"/>
          </a:xfrm>
          <a:prstGeom prst="rect">
            <a:avLst/>
          </a:prstGeom>
          <a:noFill/>
        </p:spPr>
        <p:txBody>
          <a:bodyPr wrap="square">
            <a:spAutoFit/>
          </a:bodyPr>
          <a:lstStyle/>
          <a:p>
            <a:pPr algn="l"/>
            <a:r>
              <a:rPr sz="850" b="1" i="0">
                <a:solidFill>
                  <a:srgbClr val="FFD700"/>
                </a:solidFill>
                <a:latin typeface="Calibri"/>
              </a:rPr>
              <a:t>STEP 1</a:t>
            </a:r>
          </a:p>
        </p:txBody>
      </p:sp>
      <p:sp>
        <p:nvSpPr>
          <p:cNvPr id="72" name="Rectangle 71"/>
          <p:cNvSpPr/>
          <p:nvPr/>
        </p:nvSpPr>
        <p:spPr>
          <a:xfrm>
            <a:off x="9244584" y="1965960"/>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244584" y="1975104"/>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74" name="TextBox 73"/>
          <p:cNvSpPr txBox="1"/>
          <p:nvPr/>
        </p:nvSpPr>
        <p:spPr>
          <a:xfrm>
            <a:off x="8430768" y="2185416"/>
            <a:ext cx="1773936" cy="310896"/>
          </a:xfrm>
          <a:prstGeom prst="rect">
            <a:avLst/>
          </a:prstGeom>
          <a:noFill/>
        </p:spPr>
        <p:txBody>
          <a:bodyPr wrap="square">
            <a:spAutoFit/>
          </a:bodyPr>
          <a:lstStyle/>
          <a:p>
            <a:pPr algn="l"/>
            <a:r>
              <a:rPr sz="800" b="0" i="0">
                <a:solidFill>
                  <a:srgbClr val="A0AAB8"/>
                </a:solidFill>
                <a:latin typeface="Calibri"/>
              </a:rPr>
              <a:t>SQLMap → WP_Query
SQLi confirmed</a:t>
            </a:r>
          </a:p>
        </p:txBody>
      </p:sp>
      <p:cxnSp>
        <p:nvCxnSpPr>
          <p:cNvPr id="75" name="Connector 74"/>
          <p:cNvCxnSpPr/>
          <p:nvPr/>
        </p:nvCxnSpPr>
        <p:spPr>
          <a:xfrm>
            <a:off x="9299448.0" y="2505456"/>
            <a:ext cx="0.0" cy="201168"/>
          </a:xfrm>
          <a:prstGeom prst="line">
            <a:avLst/>
          </a:prstGeom>
          <a:ln w="15240">
            <a:solidFill>
              <a:srgbClr val="FFD700"/>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354312" y="2523744"/>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77" name="TextBox 76"/>
          <p:cNvSpPr txBox="1"/>
          <p:nvPr/>
        </p:nvSpPr>
        <p:spPr>
          <a:xfrm>
            <a:off x="10332720" y="2048256"/>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78" name="Rectangle 77"/>
          <p:cNvSpPr/>
          <p:nvPr/>
        </p:nvSpPr>
        <p:spPr>
          <a:xfrm>
            <a:off x="8339328" y="2706624"/>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30768" y="2743200"/>
            <a:ext cx="731520" cy="256032"/>
          </a:xfrm>
          <a:prstGeom prst="rect">
            <a:avLst/>
          </a:prstGeom>
          <a:noFill/>
        </p:spPr>
        <p:txBody>
          <a:bodyPr wrap="square">
            <a:spAutoFit/>
          </a:bodyPr>
          <a:lstStyle/>
          <a:p>
            <a:pPr algn="l"/>
            <a:r>
              <a:rPr sz="850" b="1" i="0">
                <a:solidFill>
                  <a:srgbClr val="FFD700"/>
                </a:solidFill>
                <a:latin typeface="Calibri"/>
              </a:rPr>
              <a:t>STEP 2</a:t>
            </a:r>
          </a:p>
        </p:txBody>
      </p:sp>
      <p:sp>
        <p:nvSpPr>
          <p:cNvPr id="80" name="Rectangle 79"/>
          <p:cNvSpPr/>
          <p:nvPr/>
        </p:nvSpPr>
        <p:spPr>
          <a:xfrm>
            <a:off x="9244584" y="2761488"/>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44584" y="2770632"/>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82" name="TextBox 81"/>
          <p:cNvSpPr txBox="1"/>
          <p:nvPr/>
        </p:nvSpPr>
        <p:spPr>
          <a:xfrm>
            <a:off x="8430768" y="2980944"/>
            <a:ext cx="1773936" cy="310896"/>
          </a:xfrm>
          <a:prstGeom prst="rect">
            <a:avLst/>
          </a:prstGeom>
          <a:noFill/>
        </p:spPr>
        <p:txBody>
          <a:bodyPr wrap="square">
            <a:spAutoFit/>
          </a:bodyPr>
          <a:lstStyle/>
          <a:p>
            <a:pPr algn="l"/>
            <a:r>
              <a:rPr sz="800" b="0" i="0">
                <a:solidFill>
                  <a:srgbClr val="A0AAB8"/>
                </a:solidFill>
                <a:latin typeface="Calibri"/>
              </a:rPr>
              <a:t>Admin hash extracted
+ cracked offline</a:t>
            </a:r>
          </a:p>
        </p:txBody>
      </p:sp>
      <p:cxnSp>
        <p:nvCxnSpPr>
          <p:cNvPr id="83" name="Connector 82"/>
          <p:cNvCxnSpPr/>
          <p:nvPr/>
        </p:nvCxnSpPr>
        <p:spPr>
          <a:xfrm>
            <a:off x="9299448.0" y="3300984"/>
            <a:ext cx="0.0" cy="201168"/>
          </a:xfrm>
          <a:prstGeom prst="line">
            <a:avLst/>
          </a:prstGeom>
          <a:ln w="15240">
            <a:solidFill>
              <a:srgbClr val="FFD700"/>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354312" y="3319272"/>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85" name="TextBox 84"/>
          <p:cNvSpPr txBox="1"/>
          <p:nvPr/>
        </p:nvSpPr>
        <p:spPr>
          <a:xfrm>
            <a:off x="10332720" y="2843784"/>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86" name="Rectangle 85"/>
          <p:cNvSpPr/>
          <p:nvPr/>
        </p:nvSpPr>
        <p:spPr>
          <a:xfrm>
            <a:off x="8339328" y="3502152"/>
            <a:ext cx="1920240" cy="594360"/>
          </a:xfrm>
          <a:prstGeom prst="rect">
            <a:avLst/>
          </a:prstGeom>
          <a:solidFill>
            <a:srgbClr val="1E140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30768" y="3538728"/>
            <a:ext cx="731520" cy="256032"/>
          </a:xfrm>
          <a:prstGeom prst="rect">
            <a:avLst/>
          </a:prstGeom>
          <a:noFill/>
        </p:spPr>
        <p:txBody>
          <a:bodyPr wrap="square">
            <a:spAutoFit/>
          </a:bodyPr>
          <a:lstStyle/>
          <a:p>
            <a:pPr algn="l"/>
            <a:r>
              <a:rPr sz="850" b="1" i="0">
                <a:solidFill>
                  <a:srgbClr val="FF4545"/>
                </a:solidFill>
                <a:latin typeface="Calibri"/>
              </a:rPr>
              <a:t>STEP 3</a:t>
            </a:r>
          </a:p>
        </p:txBody>
      </p:sp>
      <p:sp>
        <p:nvSpPr>
          <p:cNvPr id="88" name="Rectangle 87"/>
          <p:cNvSpPr/>
          <p:nvPr/>
        </p:nvSpPr>
        <p:spPr>
          <a:xfrm>
            <a:off x="9244584" y="3557016"/>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44584" y="3566160"/>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90" name="TextBox 89"/>
          <p:cNvSpPr txBox="1"/>
          <p:nvPr/>
        </p:nvSpPr>
        <p:spPr>
          <a:xfrm>
            <a:off x="8430768" y="3776472"/>
            <a:ext cx="1773936" cy="310896"/>
          </a:xfrm>
          <a:prstGeom prst="rect">
            <a:avLst/>
          </a:prstGeom>
          <a:noFill/>
        </p:spPr>
        <p:txBody>
          <a:bodyPr wrap="square">
            <a:spAutoFit/>
          </a:bodyPr>
          <a:lstStyle/>
          <a:p>
            <a:pPr algn="l"/>
            <a:r>
              <a:rPr sz="800" b="0" i="0">
                <a:solidFill>
                  <a:srgbClr val="A0AAB8"/>
                </a:solidFill>
                <a:latin typeface="Calibri"/>
              </a:rPr>
              <a:t>Metasploit → Web shell
RCE achieved</a:t>
            </a:r>
          </a:p>
        </p:txBody>
      </p:sp>
      <p:cxnSp>
        <p:nvCxnSpPr>
          <p:cNvPr id="91" name="Connector 90"/>
          <p:cNvCxnSpPr/>
          <p:nvPr/>
        </p:nvCxnSpPr>
        <p:spPr>
          <a:xfrm>
            <a:off x="9299448.0" y="4096512"/>
            <a:ext cx="0.0" cy="201168"/>
          </a:xfrm>
          <a:prstGeom prst="line">
            <a:avLst/>
          </a:prstGeom>
          <a:ln w="15240">
            <a:solidFill>
              <a:srgbClr val="FF4545"/>
            </a:solidFill>
            <a:headEnd type="arrow" w="sm" len="med"/>
            <a:tailEnd type="none"/>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354312" y="4114800"/>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93" name="TextBox 92"/>
          <p:cNvSpPr txBox="1"/>
          <p:nvPr/>
        </p:nvSpPr>
        <p:spPr>
          <a:xfrm>
            <a:off x="10332720" y="3639312"/>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94" name="Rectangle 93"/>
          <p:cNvSpPr/>
          <p:nvPr/>
        </p:nvSpPr>
        <p:spPr>
          <a:xfrm>
            <a:off x="8339328" y="4297680"/>
            <a:ext cx="1920240" cy="594360"/>
          </a:xfrm>
          <a:prstGeom prst="rect">
            <a:avLst/>
          </a:prstGeom>
          <a:solidFill>
            <a:srgbClr val="160820"/>
          </a:solidFill>
          <a:ln w="203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430768" y="4334256"/>
            <a:ext cx="731520" cy="256032"/>
          </a:xfrm>
          <a:prstGeom prst="rect">
            <a:avLst/>
          </a:prstGeom>
          <a:noFill/>
        </p:spPr>
        <p:txBody>
          <a:bodyPr wrap="square">
            <a:spAutoFit/>
          </a:bodyPr>
          <a:lstStyle/>
          <a:p>
            <a:pPr algn="l"/>
            <a:r>
              <a:rPr sz="850" b="1" i="0">
                <a:solidFill>
                  <a:srgbClr val="BD93F9"/>
                </a:solidFill>
                <a:latin typeface="Calibri"/>
              </a:rPr>
              <a:t>IMPACT</a:t>
            </a:r>
          </a:p>
        </p:txBody>
      </p:sp>
      <p:sp>
        <p:nvSpPr>
          <p:cNvPr id="96" name="Rectangle 95"/>
          <p:cNvSpPr/>
          <p:nvPr/>
        </p:nvSpPr>
        <p:spPr>
          <a:xfrm>
            <a:off x="9244584" y="4352544"/>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4584" y="4361688"/>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98" name="TextBox 97"/>
          <p:cNvSpPr txBox="1"/>
          <p:nvPr/>
        </p:nvSpPr>
        <p:spPr>
          <a:xfrm>
            <a:off x="8430768" y="4572000"/>
            <a:ext cx="1773936" cy="310896"/>
          </a:xfrm>
          <a:prstGeom prst="rect">
            <a:avLst/>
          </a:prstGeom>
          <a:noFill/>
        </p:spPr>
        <p:txBody>
          <a:bodyPr wrap="square">
            <a:spAutoFit/>
          </a:bodyPr>
          <a:lstStyle/>
          <a:p>
            <a:pPr algn="l"/>
            <a:r>
              <a:rPr sz="800" b="0" i="0">
                <a:solidFill>
                  <a:srgbClr val="A0AAB8"/>
                </a:solidFill>
                <a:latin typeface="Calibri"/>
              </a:rPr>
              <a:t>Full server access
Customer PII exposed</a:t>
            </a:r>
          </a:p>
        </p:txBody>
      </p:sp>
      <p:sp>
        <p:nvSpPr>
          <p:cNvPr id="99" name="TextBox 98"/>
          <p:cNvSpPr txBox="1"/>
          <p:nvPr/>
        </p:nvSpPr>
        <p:spPr>
          <a:xfrm>
            <a:off x="10332720" y="4434840"/>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100" name="TextBox 99"/>
          <p:cNvSpPr txBox="1"/>
          <p:nvPr/>
        </p:nvSpPr>
        <p:spPr>
          <a:xfrm>
            <a:off x="6894576" y="1810512"/>
            <a:ext cx="4846320" cy="182880"/>
          </a:xfrm>
          <a:prstGeom prst="rect">
            <a:avLst/>
          </a:prstGeom>
          <a:noFill/>
        </p:spPr>
        <p:txBody>
          <a:bodyPr wrap="square">
            <a:spAutoFit/>
          </a:bodyPr>
          <a:lstStyle/>
          <a:p>
            <a:pPr algn="l"/>
            <a:r>
              <a:rPr sz="750" b="0" i="1">
                <a:solidFill>
                  <a:srgbClr val="A0AAB8"/>
                </a:solidFill>
                <a:latin typeface="Calibri"/>
              </a:rPr>
              <a:t>starts_at: ASG Vulnerability node</a:t>
            </a:r>
          </a:p>
        </p:txBody>
      </p:sp>
      <p:sp>
        <p:nvSpPr>
          <p:cNvPr id="101" name="Rectangle 100"/>
          <p:cNvSpPr/>
          <p:nvPr/>
        </p:nvSpPr>
        <p:spPr>
          <a:xfrm>
            <a:off x="6711696" y="5230368"/>
            <a:ext cx="5285232" cy="566928"/>
          </a:xfrm>
          <a:prstGeom prst="rect">
            <a:avLst/>
          </a:prstGeom>
          <a:solidFill>
            <a:srgbClr val="1C1002"/>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784848" y="5285232"/>
            <a:ext cx="5120640" cy="457200"/>
          </a:xfrm>
          <a:prstGeom prst="rect">
            <a:avLst/>
          </a:prstGeom>
          <a:noFill/>
        </p:spPr>
        <p:txBody>
          <a:bodyPr wrap="square">
            <a:spAutoFit/>
          </a:bodyPr>
          <a:lstStyle/>
          <a:p>
            <a:pPr algn="l"/>
            <a:r>
              <a:rPr sz="750" b="0" i="1">
                <a:solidFill>
                  <a:srgbClr val="A0AAB8"/>
                </a:solidFill>
                <a:latin typeface="Calibri"/>
              </a:rPr>
              <a:t>EDGES:  starts_at  ·  next_step  ·  achieves  ·  supported_by
VALIDATION STATUS:  HYPOTHESIZED → PARTIALLY_VALIDATED → VALIDATED / RULED_OUT</a:t>
            </a:r>
          </a:p>
        </p:txBody>
      </p:sp>
      <p:sp>
        <p:nvSpPr>
          <p:cNvPr id="103" name="Rectangle 102"/>
          <p:cNvSpPr/>
          <p:nvPr/>
        </p:nvSpPr>
        <p:spPr>
          <a:xfrm>
            <a:off x="164592" y="5870448"/>
            <a:ext cx="11862511" cy="658368"/>
          </a:xfrm>
          <a:prstGeom prst="rect">
            <a:avLst/>
          </a:prstGeom>
          <a:solidFill>
            <a:srgbClr val="061422"/>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5943600"/>
            <a:ext cx="11368735" cy="530352"/>
          </a:xfrm>
          <a:prstGeom prst="rect">
            <a:avLst/>
          </a:prstGeom>
          <a:noFill/>
        </p:spPr>
        <p:txBody>
          <a:bodyPr wrap="square">
            <a:spAutoFit/>
          </a:bodyPr>
          <a:lstStyle/>
          <a:p>
            <a:pPr algn="l"/>
            <a:r>
              <a:rPr sz="1100" b="0" i="1">
                <a:solidFill>
                  <a:srgbClr val="00E5FF"/>
                </a:solidFill>
                <a:latin typeface="Calibri"/>
              </a:rPr>
              <a:t>Separation Principle:  Discovery agents write only to the ASG — they never reason about chains.  The Commander writes only to the APG — it never runs tools.  No agent conflates discovered facts with hypothesised attack reasoning.</a:t>
            </a:r>
          </a:p>
        </p:txBody>
      </p:sp>
      <p:sp>
        <p:nvSpPr>
          <p:cNvPr id="105" name="TextBox 104"/>
          <p:cNvSpPr txBox="1"/>
          <p:nvPr/>
        </p:nvSpPr>
        <p:spPr>
          <a:xfrm>
            <a:off x="11825935" y="6382512"/>
            <a:ext cx="320040" cy="384048"/>
          </a:xfrm>
          <a:prstGeom prst="rect">
            <a:avLst/>
          </a:prstGeom>
          <a:noFill/>
        </p:spPr>
        <p:txBody>
          <a:bodyPr wrap="square">
            <a:spAutoFit/>
          </a:bodyPr>
          <a:lstStyle/>
          <a:p>
            <a:pPr algn="r"/>
            <a:r>
              <a:rPr sz="1300" b="1" i="0">
                <a:solidFill>
                  <a:srgbClr val="39FF14"/>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BD93F9"/>
                </a:solidFill>
                <a:latin typeface="Calibri"/>
              </a:rPr>
              <a:t>AGENT ARCHITECTURE</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400" b="1" i="0">
                <a:solidFill>
                  <a:srgbClr val="FFFFFF"/>
                </a:solidFill>
                <a:latin typeface="Calibri"/>
              </a:rPr>
              <a:t>Context-Isolated Agents — Spawn · Execute · Return · Discard</a:t>
            </a:r>
          </a:p>
        </p:txBody>
      </p:sp>
      <p:sp>
        <p:nvSpPr>
          <p:cNvPr id="7" name="Rectangle 6"/>
          <p:cNvSpPr/>
          <p:nvPr/>
        </p:nvSpPr>
        <p:spPr>
          <a:xfrm>
            <a:off x="164592" y="804672"/>
            <a:ext cx="4434840" cy="5797296"/>
          </a:xfrm>
          <a:prstGeom prst="rect">
            <a:avLst/>
          </a:prstGeom>
          <a:solidFill>
            <a:srgbClr val="080C20"/>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 y="859536"/>
            <a:ext cx="4434840" cy="201168"/>
          </a:xfrm>
          <a:prstGeom prst="rect">
            <a:avLst/>
          </a:prstGeom>
          <a:noFill/>
        </p:spPr>
        <p:txBody>
          <a:bodyPr wrap="square">
            <a:spAutoFit/>
          </a:bodyPr>
          <a:lstStyle/>
          <a:p>
            <a:pPr algn="ctr"/>
            <a:r>
              <a:rPr sz="900" b="1" i="0">
                <a:solidFill>
                  <a:srgbClr val="BD93F9"/>
                </a:solidFill>
                <a:latin typeface="Calibri"/>
              </a:rPr>
              <a:t>CONTEXT ISOLATION MODEL</a:t>
            </a:r>
          </a:p>
        </p:txBody>
      </p:sp>
      <p:sp>
        <p:nvSpPr>
          <p:cNvPr id="9" name="Rectangle 8"/>
          <p:cNvSpPr/>
          <p:nvPr/>
        </p:nvSpPr>
        <p:spPr>
          <a:xfrm>
            <a:off x="987552" y="1152144"/>
            <a:ext cx="2743200" cy="502920"/>
          </a:xfrm>
          <a:prstGeom prst="rect">
            <a:avLst/>
          </a:prstGeom>
          <a:solidFill>
            <a:srgbClr val="041832"/>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7552" y="1152144"/>
            <a:ext cx="274320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170432"/>
            <a:ext cx="274320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2" name="TextBox 11"/>
          <p:cNvSpPr txBox="1"/>
          <p:nvPr/>
        </p:nvSpPr>
        <p:spPr>
          <a:xfrm>
            <a:off x="987552" y="1353312"/>
            <a:ext cx="2743200" cy="237744"/>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3" name="Connector 12"/>
          <p:cNvCxnSpPr/>
          <p:nvPr/>
        </p:nvCxnSpPr>
        <p:spPr>
          <a:xfrm>
            <a:off x="2382012.0" y="1655064"/>
            <a:ext cx="0.0" cy="228600"/>
          </a:xfrm>
          <a:prstGeom prst="line">
            <a:avLst/>
          </a:prstGeom>
          <a:ln w="190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455164" y="1673352"/>
            <a:ext cx="1645920" cy="201168"/>
          </a:xfrm>
          <a:prstGeom prst="rect">
            <a:avLst/>
          </a:prstGeom>
          <a:noFill/>
        </p:spPr>
        <p:txBody>
          <a:bodyPr wrap="square">
            <a:spAutoFit/>
          </a:bodyPr>
          <a:lstStyle/>
          <a:p>
            <a:pPr algn="l"/>
            <a:r>
              <a:rPr sz="750" b="0" i="1">
                <a:solidFill>
                  <a:srgbClr val="BD93F9"/>
                </a:solidFill>
                <a:latin typeface="Calibri"/>
              </a:rPr>
              <a:t>spawn with scoped context</a:t>
            </a:r>
          </a:p>
        </p:txBody>
      </p:sp>
      <p:sp>
        <p:nvSpPr>
          <p:cNvPr id="15" name="Rectangle 14"/>
          <p:cNvSpPr/>
          <p:nvPr/>
        </p:nvSpPr>
        <p:spPr>
          <a:xfrm>
            <a:off x="365760" y="1947672"/>
            <a:ext cx="4032504" cy="3200400"/>
          </a:xfrm>
          <a:prstGeom prst="rect">
            <a:avLst/>
          </a:prstGeom>
          <a:solidFill>
            <a:srgbClr val="0A10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947672"/>
            <a:ext cx="4032504" cy="219456"/>
          </a:xfrm>
          <a:prstGeom prst="rect">
            <a:avLst/>
          </a:prstGeom>
          <a:solidFill>
            <a:srgbClr val="20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84248"/>
            <a:ext cx="4032504" cy="164592"/>
          </a:xfrm>
          <a:prstGeom prst="rect">
            <a:avLst/>
          </a:prstGeom>
          <a:noFill/>
        </p:spPr>
        <p:txBody>
          <a:bodyPr wrap="square">
            <a:spAutoFit/>
          </a:bodyPr>
          <a:lstStyle/>
          <a:p>
            <a:pPr algn="ctr"/>
            <a:r>
              <a:rPr sz="750" b="1" i="0">
                <a:solidFill>
                  <a:srgbClr val="BD93F9"/>
                </a:solidFill>
                <a:latin typeface="Calibri"/>
              </a:rPr>
              <a:t>ISOLATED AGENT CONTEXT  (fresh per task)</a:t>
            </a:r>
          </a:p>
        </p:txBody>
      </p:sp>
      <p:sp>
        <p:nvSpPr>
          <p:cNvPr id="18" name="Rectangle 17"/>
          <p:cNvSpPr/>
          <p:nvPr/>
        </p:nvSpPr>
        <p:spPr>
          <a:xfrm>
            <a:off x="457200" y="2221992"/>
            <a:ext cx="3849624" cy="665226"/>
          </a:xfrm>
          <a:prstGeom prst="rect">
            <a:avLst/>
          </a:prstGeom>
          <a:solidFill>
            <a:srgbClr val="04160A"/>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258568"/>
            <a:ext cx="1005840" cy="592074"/>
          </a:xfrm>
          <a:prstGeom prst="rect">
            <a:avLst/>
          </a:prstGeom>
          <a:noFill/>
        </p:spPr>
        <p:txBody>
          <a:bodyPr wrap="square">
            <a:spAutoFit/>
          </a:bodyPr>
          <a:lstStyle/>
          <a:p>
            <a:pPr algn="l"/>
            <a:r>
              <a:rPr sz="800" b="1" i="0">
                <a:solidFill>
                  <a:srgbClr val="39FF14"/>
                </a:solidFill>
                <a:latin typeface="Calibri"/>
              </a:rPr>
              <a:t>ASG SLICE</a:t>
            </a:r>
          </a:p>
        </p:txBody>
      </p:sp>
      <p:sp>
        <p:nvSpPr>
          <p:cNvPr id="20" name="TextBox 19"/>
          <p:cNvSpPr txBox="1"/>
          <p:nvPr/>
        </p:nvSpPr>
        <p:spPr>
          <a:xfrm>
            <a:off x="1572768" y="2258568"/>
            <a:ext cx="2660904" cy="592074"/>
          </a:xfrm>
          <a:prstGeom prst="rect">
            <a:avLst/>
          </a:prstGeom>
          <a:noFill/>
        </p:spPr>
        <p:txBody>
          <a:bodyPr wrap="square">
            <a:spAutoFit/>
          </a:bodyPr>
          <a:lstStyle/>
          <a:p>
            <a:pPr algn="l"/>
            <a:r>
              <a:rPr sz="800" b="0" i="1">
                <a:solidFill>
                  <a:srgbClr val="A0AAB8"/>
                </a:solidFill>
                <a:latin typeface="Calibri"/>
              </a:rPr>
              <a:t>Only nodes relevant to this task</a:t>
            </a:r>
          </a:p>
        </p:txBody>
      </p:sp>
      <p:sp>
        <p:nvSpPr>
          <p:cNvPr id="21" name="Rectangle 20"/>
          <p:cNvSpPr/>
          <p:nvPr/>
        </p:nvSpPr>
        <p:spPr>
          <a:xfrm>
            <a:off x="457200" y="2942082"/>
            <a:ext cx="3849624" cy="665226"/>
          </a:xfrm>
          <a:prstGeom prst="rect">
            <a:avLst/>
          </a:prstGeom>
          <a:solidFill>
            <a:srgbClr val="1A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978658"/>
            <a:ext cx="1005840" cy="592074"/>
          </a:xfrm>
          <a:prstGeom prst="rect">
            <a:avLst/>
          </a:prstGeom>
          <a:noFill/>
        </p:spPr>
        <p:txBody>
          <a:bodyPr wrap="square">
            <a:spAutoFit/>
          </a:bodyPr>
          <a:lstStyle/>
          <a:p>
            <a:pPr algn="l"/>
            <a:r>
              <a:rPr sz="800" b="1" i="0">
                <a:solidFill>
                  <a:srgbClr val="FFD700"/>
                </a:solidFill>
                <a:latin typeface="Calibri"/>
              </a:rPr>
              <a:t>APG SLICE</a:t>
            </a:r>
          </a:p>
        </p:txBody>
      </p:sp>
      <p:sp>
        <p:nvSpPr>
          <p:cNvPr id="23" name="TextBox 22"/>
          <p:cNvSpPr txBox="1"/>
          <p:nvPr/>
        </p:nvSpPr>
        <p:spPr>
          <a:xfrm>
            <a:off x="1572768" y="2978658"/>
            <a:ext cx="2660904" cy="592074"/>
          </a:xfrm>
          <a:prstGeom prst="rect">
            <a:avLst/>
          </a:prstGeom>
          <a:noFill/>
        </p:spPr>
        <p:txBody>
          <a:bodyPr wrap="square">
            <a:spAutoFit/>
          </a:bodyPr>
          <a:lstStyle/>
          <a:p>
            <a:pPr algn="l"/>
            <a:r>
              <a:rPr sz="800" b="0" i="1">
                <a:solidFill>
                  <a:srgbClr val="A0AAB8"/>
                </a:solidFill>
                <a:latin typeface="Calibri"/>
              </a:rPr>
              <a:t>Relevant AttackChains (if any)</a:t>
            </a:r>
          </a:p>
        </p:txBody>
      </p:sp>
      <p:sp>
        <p:nvSpPr>
          <p:cNvPr id="24" name="Rectangle 23"/>
          <p:cNvSpPr/>
          <p:nvPr/>
        </p:nvSpPr>
        <p:spPr>
          <a:xfrm>
            <a:off x="457200" y="3662172"/>
            <a:ext cx="3849624" cy="665226"/>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698748"/>
            <a:ext cx="1005840" cy="592074"/>
          </a:xfrm>
          <a:prstGeom prst="rect">
            <a:avLst/>
          </a:prstGeom>
          <a:noFill/>
        </p:spPr>
        <p:txBody>
          <a:bodyPr wrap="square">
            <a:spAutoFit/>
          </a:bodyPr>
          <a:lstStyle/>
          <a:p>
            <a:pPr algn="l"/>
            <a:r>
              <a:rPr sz="800" b="1" i="0">
                <a:solidFill>
                  <a:srgbClr val="FF4545"/>
                </a:solidFill>
                <a:latin typeface="Calibri"/>
              </a:rPr>
              <a:t>TOOL SET</a:t>
            </a:r>
          </a:p>
        </p:txBody>
      </p:sp>
      <p:sp>
        <p:nvSpPr>
          <p:cNvPr id="26" name="TextBox 25"/>
          <p:cNvSpPr txBox="1"/>
          <p:nvPr/>
        </p:nvSpPr>
        <p:spPr>
          <a:xfrm>
            <a:off x="1572768" y="3698748"/>
            <a:ext cx="2660904" cy="592074"/>
          </a:xfrm>
          <a:prstGeom prst="rect">
            <a:avLst/>
          </a:prstGeom>
          <a:noFill/>
        </p:spPr>
        <p:txBody>
          <a:bodyPr wrap="square">
            <a:spAutoFit/>
          </a:bodyPr>
          <a:lstStyle/>
          <a:p>
            <a:pPr algn="l"/>
            <a:r>
              <a:rPr sz="800" b="0" i="1">
                <a:solidFill>
                  <a:srgbClr val="A0AAB8"/>
                </a:solidFill>
                <a:latin typeface="Calibri"/>
              </a:rPr>
              <a:t>Authorized tools only — no others</a:t>
            </a:r>
          </a:p>
        </p:txBody>
      </p:sp>
      <p:sp>
        <p:nvSpPr>
          <p:cNvPr id="27" name="Rectangle 26"/>
          <p:cNvSpPr/>
          <p:nvPr/>
        </p:nvSpPr>
        <p:spPr>
          <a:xfrm>
            <a:off x="457200" y="4382262"/>
            <a:ext cx="3849624" cy="665226"/>
          </a:xfrm>
          <a:prstGeom prst="rect">
            <a:avLst/>
          </a:prstGeom>
          <a:solidFill>
            <a:srgbClr val="04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18838"/>
            <a:ext cx="1005840" cy="592074"/>
          </a:xfrm>
          <a:prstGeom prst="rect">
            <a:avLst/>
          </a:prstGeom>
          <a:noFill/>
        </p:spPr>
        <p:txBody>
          <a:bodyPr wrap="square">
            <a:spAutoFit/>
          </a:bodyPr>
          <a:lstStyle/>
          <a:p>
            <a:pPr algn="l"/>
            <a:r>
              <a:rPr sz="800" b="1" i="0">
                <a:solidFill>
                  <a:srgbClr val="00E5FF"/>
                </a:solidFill>
                <a:latin typeface="Calibri"/>
              </a:rPr>
              <a:t>TASK SPEC</a:t>
            </a:r>
          </a:p>
        </p:txBody>
      </p:sp>
      <p:sp>
        <p:nvSpPr>
          <p:cNvPr id="29" name="TextBox 28"/>
          <p:cNvSpPr txBox="1"/>
          <p:nvPr/>
        </p:nvSpPr>
        <p:spPr>
          <a:xfrm>
            <a:off x="1572768" y="4418838"/>
            <a:ext cx="2660904" cy="592074"/>
          </a:xfrm>
          <a:prstGeom prst="rect">
            <a:avLst/>
          </a:prstGeom>
          <a:noFill/>
        </p:spPr>
        <p:txBody>
          <a:bodyPr wrap="square">
            <a:spAutoFit/>
          </a:bodyPr>
          <a:lstStyle/>
          <a:p>
            <a:pPr algn="l"/>
            <a:r>
              <a:rPr sz="800" b="0" i="1">
                <a:solidFill>
                  <a:srgbClr val="A0AAB8"/>
                </a:solidFill>
                <a:latin typeface="Calibri"/>
              </a:rPr>
              <a:t>Commander's current plan item</a:t>
            </a:r>
          </a:p>
        </p:txBody>
      </p:sp>
      <p:cxnSp>
        <p:nvCxnSpPr>
          <p:cNvPr id="30" name="Connector 29"/>
          <p:cNvCxnSpPr/>
          <p:nvPr/>
        </p:nvCxnSpPr>
        <p:spPr>
          <a:xfrm>
            <a:off x="2382012.0" y="5148072"/>
            <a:ext cx="0.0" cy="292608"/>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65760" y="5495544"/>
            <a:ext cx="4032504" cy="512064"/>
          </a:xfrm>
          <a:prstGeom prst="rect">
            <a:avLst/>
          </a:prstGeom>
          <a:solidFill>
            <a:srgbClr val="041E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550408"/>
            <a:ext cx="4032504" cy="201168"/>
          </a:xfrm>
          <a:prstGeom prst="rect">
            <a:avLst/>
          </a:prstGeom>
          <a:noFill/>
        </p:spPr>
        <p:txBody>
          <a:bodyPr wrap="square">
            <a:spAutoFit/>
          </a:bodyPr>
          <a:lstStyle/>
          <a:p>
            <a:pPr algn="ctr"/>
            <a:r>
              <a:rPr sz="800" b="1" i="0">
                <a:solidFill>
                  <a:srgbClr val="39FF14"/>
                </a:solidFill>
                <a:latin typeface="Calibri"/>
              </a:rPr>
              <a:t>RETURNS: Structured ASG Delta (new nodes + edges only)</a:t>
            </a:r>
          </a:p>
        </p:txBody>
      </p:sp>
      <p:sp>
        <p:nvSpPr>
          <p:cNvPr id="33" name="TextBox 32"/>
          <p:cNvSpPr txBox="1"/>
          <p:nvPr/>
        </p:nvSpPr>
        <p:spPr>
          <a:xfrm>
            <a:off x="365760" y="5769864"/>
            <a:ext cx="4032504" cy="201168"/>
          </a:xfrm>
          <a:prstGeom prst="rect">
            <a:avLst/>
          </a:prstGeom>
          <a:noFill/>
        </p:spPr>
        <p:txBody>
          <a:bodyPr wrap="square">
            <a:spAutoFit/>
          </a:bodyPr>
          <a:lstStyle/>
          <a:p>
            <a:pPr algn="ctr"/>
            <a:r>
              <a:rPr sz="750" b="0" i="1">
                <a:solidFill>
                  <a:srgbClr val="A0AAB8"/>
                </a:solidFill>
                <a:latin typeface="Calibri"/>
              </a:rPr>
              <a:t>Working context discarded — no raw history passes to Commander</a:t>
            </a:r>
          </a:p>
        </p:txBody>
      </p:sp>
      <p:sp>
        <p:nvSpPr>
          <p:cNvPr id="34" name="Rectangle 33"/>
          <p:cNvSpPr/>
          <p:nvPr/>
        </p:nvSpPr>
        <p:spPr>
          <a:xfrm>
            <a:off x="365760" y="6099048"/>
            <a:ext cx="4032504" cy="219456"/>
          </a:xfrm>
          <a:prstGeom prst="rect">
            <a:avLst/>
          </a:prstGeom>
          <a:solidFill>
            <a:srgbClr val="0C1022"/>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126480"/>
            <a:ext cx="3895344" cy="182880"/>
          </a:xfrm>
          <a:prstGeom prst="rect">
            <a:avLst/>
          </a:prstGeom>
          <a:noFill/>
        </p:spPr>
        <p:txBody>
          <a:bodyPr wrap="square">
            <a:spAutoFit/>
          </a:bodyPr>
          <a:lstStyle/>
          <a:p>
            <a:pPr algn="l"/>
            <a:r>
              <a:rPr sz="800" b="0" i="0">
                <a:solidFill>
                  <a:srgbClr val="00E5FF"/>
                </a:solidFill>
                <a:latin typeface="Calibri"/>
              </a:rPr>
              <a:t>✓  Commander context stays clean</a:t>
            </a:r>
          </a:p>
        </p:txBody>
      </p:sp>
      <p:sp>
        <p:nvSpPr>
          <p:cNvPr id="36" name="Rectangle 35"/>
          <p:cNvSpPr/>
          <p:nvPr/>
        </p:nvSpPr>
        <p:spPr>
          <a:xfrm>
            <a:off x="365760" y="6345936"/>
            <a:ext cx="4032504" cy="219456"/>
          </a:xfrm>
          <a:prstGeom prst="rect">
            <a:avLst/>
          </a:prstGeom>
          <a:solidFill>
            <a:srgbClr val="0C1022"/>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373368"/>
            <a:ext cx="3895344" cy="182880"/>
          </a:xfrm>
          <a:prstGeom prst="rect">
            <a:avLst/>
          </a:prstGeom>
          <a:noFill/>
        </p:spPr>
        <p:txBody>
          <a:bodyPr wrap="square">
            <a:spAutoFit/>
          </a:bodyPr>
          <a:lstStyle/>
          <a:p>
            <a:pPr algn="l"/>
            <a:r>
              <a:rPr sz="800" b="0" i="0">
                <a:solidFill>
                  <a:srgbClr val="BD93F9"/>
                </a:solidFill>
                <a:latin typeface="Calibri"/>
              </a:rPr>
              <a:t>✓  Agents can't contaminate each other</a:t>
            </a:r>
          </a:p>
        </p:txBody>
      </p:sp>
      <p:sp>
        <p:nvSpPr>
          <p:cNvPr id="38" name="Rectangle 37"/>
          <p:cNvSpPr/>
          <p:nvPr/>
        </p:nvSpPr>
        <p:spPr>
          <a:xfrm>
            <a:off x="365760" y="6592824"/>
            <a:ext cx="4032504" cy="219456"/>
          </a:xfrm>
          <a:prstGeom prst="rect">
            <a:avLst/>
          </a:prstGeom>
          <a:solidFill>
            <a:srgbClr val="0C1022"/>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3895344" cy="182880"/>
          </a:xfrm>
          <a:prstGeom prst="rect">
            <a:avLst/>
          </a:prstGeom>
          <a:noFill/>
        </p:spPr>
        <p:txBody>
          <a:bodyPr wrap="square">
            <a:spAutoFit/>
          </a:bodyPr>
          <a:lstStyle/>
          <a:p>
            <a:pPr algn="l"/>
            <a:r>
              <a:rPr sz="800" b="0" i="0">
                <a:solidFill>
                  <a:srgbClr val="FF4545"/>
                </a:solidFill>
                <a:latin typeface="Calibri"/>
              </a:rPr>
              <a:t>✓  High-risk refusals don't bias planning</a:t>
            </a:r>
          </a:p>
        </p:txBody>
      </p:sp>
      <p:sp>
        <p:nvSpPr>
          <p:cNvPr id="40" name="Rectangle 39"/>
          <p:cNvSpPr/>
          <p:nvPr/>
        </p:nvSpPr>
        <p:spPr>
          <a:xfrm>
            <a:off x="4773168" y="822960"/>
            <a:ext cx="3572103" cy="1895856"/>
          </a:xfrm>
          <a:prstGeom prst="rect">
            <a:avLst/>
          </a:prstGeom>
          <a:solidFill>
            <a:srgbClr val="10162B"/>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39431" y="822960"/>
            <a:ext cx="100584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39431" y="850392"/>
            <a:ext cx="1005840" cy="182880"/>
          </a:xfrm>
          <a:prstGeom prst="rect">
            <a:avLst/>
          </a:prstGeom>
          <a:noFill/>
        </p:spPr>
        <p:txBody>
          <a:bodyPr wrap="square">
            <a:spAutoFit/>
          </a:bodyPr>
          <a:lstStyle/>
          <a:p>
            <a:pPr algn="ctr"/>
            <a:r>
              <a:rPr sz="750" b="1" i="0">
                <a:solidFill>
                  <a:srgbClr val="0A0D1A"/>
                </a:solidFill>
                <a:latin typeface="Calibri"/>
              </a:rPr>
              <a:t>ORCHESTRATION</a:t>
            </a:r>
          </a:p>
        </p:txBody>
      </p:sp>
      <p:sp>
        <p:nvSpPr>
          <p:cNvPr id="43" name="TextBox 42"/>
          <p:cNvSpPr txBox="1"/>
          <p:nvPr/>
        </p:nvSpPr>
        <p:spPr>
          <a:xfrm>
            <a:off x="4864608" y="859536"/>
            <a:ext cx="2429103" cy="237744"/>
          </a:xfrm>
          <a:prstGeom prst="rect">
            <a:avLst/>
          </a:prstGeom>
          <a:noFill/>
        </p:spPr>
        <p:txBody>
          <a:bodyPr wrap="square">
            <a:spAutoFit/>
          </a:bodyPr>
          <a:lstStyle/>
          <a:p>
            <a:pPr algn="l"/>
            <a:r>
              <a:rPr sz="1200" b="1" i="0">
                <a:solidFill>
                  <a:srgbClr val="00E5FF"/>
                </a:solidFill>
                <a:latin typeface="Calibri"/>
              </a:rPr>
              <a:t>👑 Commander</a:t>
            </a:r>
          </a:p>
        </p:txBody>
      </p:sp>
      <p:sp>
        <p:nvSpPr>
          <p:cNvPr id="44" name="Rectangle 43"/>
          <p:cNvSpPr/>
          <p:nvPr/>
        </p:nvSpPr>
        <p:spPr>
          <a:xfrm>
            <a:off x="4864608" y="1133856"/>
            <a:ext cx="3389223" cy="1828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4608" y="1170432"/>
            <a:ext cx="3407511" cy="219456"/>
          </a:xfrm>
          <a:prstGeom prst="rect">
            <a:avLst/>
          </a:prstGeom>
          <a:noFill/>
        </p:spPr>
        <p:txBody>
          <a:bodyPr wrap="square">
            <a:spAutoFit/>
          </a:bodyPr>
          <a:lstStyle/>
          <a:p>
            <a:pPr algn="l"/>
            <a:r>
              <a:rPr sz="850" b="0" i="1">
                <a:solidFill>
                  <a:srgbClr val="FFFFFF"/>
                </a:solidFill>
                <a:latin typeface="Calibri"/>
              </a:rPr>
              <a:t>Reads the dual graph. Plans. Delegates. Never runs tools.</a:t>
            </a:r>
          </a:p>
        </p:txBody>
      </p:sp>
      <p:sp>
        <p:nvSpPr>
          <p:cNvPr id="46" name="Rectangle 45"/>
          <p:cNvSpPr/>
          <p:nvPr/>
        </p:nvSpPr>
        <p:spPr>
          <a:xfrm>
            <a:off x="4864608" y="1417320"/>
            <a:ext cx="3389223" cy="219456"/>
          </a:xfrm>
          <a:prstGeom prst="rect">
            <a:avLst/>
          </a:prstGeom>
          <a:solidFill>
            <a:srgbClr val="0810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1435608"/>
            <a:ext cx="3297783" cy="182880"/>
          </a:xfrm>
          <a:prstGeom prst="rect">
            <a:avLst/>
          </a:prstGeom>
          <a:noFill/>
        </p:spPr>
        <p:txBody>
          <a:bodyPr wrap="square">
            <a:spAutoFit/>
          </a:bodyPr>
          <a:lstStyle/>
          <a:p>
            <a:pPr algn="l"/>
            <a:r>
              <a:rPr sz="750" b="1" i="0">
                <a:solidFill>
                  <a:srgbClr val="00E5FF"/>
                </a:solidFill>
                <a:latin typeface="Calibri"/>
              </a:rPr>
              <a:t>No tools — reasons over ASG + APG</a:t>
            </a:r>
          </a:p>
        </p:txBody>
      </p:sp>
      <p:sp>
        <p:nvSpPr>
          <p:cNvPr id="48" name="TextBox 47"/>
          <p:cNvSpPr txBox="1"/>
          <p:nvPr/>
        </p:nvSpPr>
        <p:spPr>
          <a:xfrm>
            <a:off x="4864608" y="1673352"/>
            <a:ext cx="3407511" cy="981456"/>
          </a:xfrm>
          <a:prstGeom prst="rect">
            <a:avLst/>
          </a:prstGeom>
          <a:noFill/>
        </p:spPr>
        <p:txBody>
          <a:bodyPr wrap="square">
            <a:spAutoFit/>
          </a:bodyPr>
          <a:lstStyle/>
          <a:p>
            <a:pPr algn="l"/>
            <a:r>
              <a:rPr sz="850" b="0" i="0">
                <a:solidFill>
                  <a:srgbClr val="A0AAB8"/>
                </a:solidFill>
                <a:latin typeface="Calibri"/>
              </a:rPr>
              <a:t>Only agent that writes to APG. Approves High-risk ops via mailbox.</a:t>
            </a:r>
          </a:p>
        </p:txBody>
      </p:sp>
      <p:sp>
        <p:nvSpPr>
          <p:cNvPr id="49" name="Rectangle 48"/>
          <p:cNvSpPr/>
          <p:nvPr/>
        </p:nvSpPr>
        <p:spPr>
          <a:xfrm>
            <a:off x="8454999" y="822960"/>
            <a:ext cx="3572103" cy="1895856"/>
          </a:xfrm>
          <a:prstGeom prst="rect">
            <a:avLst/>
          </a:prstGeom>
          <a:solidFill>
            <a:srgbClr val="10162B"/>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021263" y="822960"/>
            <a:ext cx="100584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21263" y="850392"/>
            <a:ext cx="1005840" cy="182880"/>
          </a:xfrm>
          <a:prstGeom prst="rect">
            <a:avLst/>
          </a:prstGeom>
          <a:noFill/>
        </p:spPr>
        <p:txBody>
          <a:bodyPr wrap="square">
            <a:spAutoFit/>
          </a:bodyPr>
          <a:lstStyle/>
          <a:p>
            <a:pPr algn="ctr"/>
            <a:r>
              <a:rPr sz="750" b="1" i="0">
                <a:solidFill>
                  <a:srgbClr val="0A0D1A"/>
                </a:solidFill>
                <a:latin typeface="Calibri"/>
              </a:rPr>
              <a:t>PHASE 1</a:t>
            </a:r>
          </a:p>
        </p:txBody>
      </p:sp>
      <p:sp>
        <p:nvSpPr>
          <p:cNvPr id="52" name="TextBox 51"/>
          <p:cNvSpPr txBox="1"/>
          <p:nvPr/>
        </p:nvSpPr>
        <p:spPr>
          <a:xfrm>
            <a:off x="8546439" y="859536"/>
            <a:ext cx="2429103" cy="237744"/>
          </a:xfrm>
          <a:prstGeom prst="rect">
            <a:avLst/>
          </a:prstGeom>
          <a:noFill/>
        </p:spPr>
        <p:txBody>
          <a:bodyPr wrap="square">
            <a:spAutoFit/>
          </a:bodyPr>
          <a:lstStyle/>
          <a:p>
            <a:pPr algn="l"/>
            <a:r>
              <a:rPr sz="1200" b="1" i="0">
                <a:solidFill>
                  <a:srgbClr val="39FF14"/>
                </a:solidFill>
                <a:latin typeface="Calibri"/>
              </a:rPr>
              <a:t>🕵️ Recon</a:t>
            </a:r>
          </a:p>
        </p:txBody>
      </p:sp>
      <p:sp>
        <p:nvSpPr>
          <p:cNvPr id="53" name="Rectangle 52"/>
          <p:cNvSpPr/>
          <p:nvPr/>
        </p:nvSpPr>
        <p:spPr>
          <a:xfrm>
            <a:off x="8546439" y="1133856"/>
            <a:ext cx="3389223" cy="1828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46439" y="1170432"/>
            <a:ext cx="3407511" cy="219456"/>
          </a:xfrm>
          <a:prstGeom prst="rect">
            <a:avLst/>
          </a:prstGeom>
          <a:noFill/>
        </p:spPr>
        <p:txBody>
          <a:bodyPr wrap="square">
            <a:spAutoFit/>
          </a:bodyPr>
          <a:lstStyle/>
          <a:p>
            <a:pPr algn="l"/>
            <a:r>
              <a:rPr sz="850" b="0" i="1">
                <a:solidFill>
                  <a:srgbClr val="FFFFFF"/>
                </a:solidFill>
                <a:latin typeface="Calibri"/>
              </a:rPr>
              <a:t>External reconnaissance and host discovery.</a:t>
            </a:r>
          </a:p>
        </p:txBody>
      </p:sp>
      <p:sp>
        <p:nvSpPr>
          <p:cNvPr id="55" name="Rectangle 54"/>
          <p:cNvSpPr/>
          <p:nvPr/>
        </p:nvSpPr>
        <p:spPr>
          <a:xfrm>
            <a:off x="8546439" y="1417320"/>
            <a:ext cx="3389223" cy="219456"/>
          </a:xfrm>
          <a:prstGeom prst="rect">
            <a:avLst/>
          </a:prstGeom>
          <a:solidFill>
            <a:srgbClr val="08102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19591" y="1435608"/>
            <a:ext cx="3297783" cy="182880"/>
          </a:xfrm>
          <a:prstGeom prst="rect">
            <a:avLst/>
          </a:prstGeom>
          <a:noFill/>
        </p:spPr>
        <p:txBody>
          <a:bodyPr wrap="square">
            <a:spAutoFit/>
          </a:bodyPr>
          <a:lstStyle/>
          <a:p>
            <a:pPr algn="l"/>
            <a:r>
              <a:rPr sz="750" b="1" i="0">
                <a:solidFill>
                  <a:srgbClr val="39FF14"/>
                </a:solidFill>
                <a:latin typeface="Calibri"/>
              </a:rPr>
              <a:t>Amass  ·  httpx  ·  Nmap</a:t>
            </a:r>
          </a:p>
        </p:txBody>
      </p:sp>
      <p:sp>
        <p:nvSpPr>
          <p:cNvPr id="57" name="TextBox 56"/>
          <p:cNvSpPr txBox="1"/>
          <p:nvPr/>
        </p:nvSpPr>
        <p:spPr>
          <a:xfrm>
            <a:off x="8546439" y="1673352"/>
            <a:ext cx="3407511" cy="981456"/>
          </a:xfrm>
          <a:prstGeom prst="rect">
            <a:avLst/>
          </a:prstGeom>
          <a:noFill/>
        </p:spPr>
        <p:txBody>
          <a:bodyPr wrap="square">
            <a:spAutoFit/>
          </a:bodyPr>
          <a:lstStyle/>
          <a:p>
            <a:pPr algn="l"/>
            <a:r>
              <a:rPr sz="850" b="0" i="0">
                <a:solidFill>
                  <a:srgbClr val="A0AAB8"/>
                </a:solidFill>
                <a:latin typeface="Calibri"/>
              </a:rPr>
              <a:t>Writes Domain, Host, Port, Service nodes to ASG.</a:t>
            </a:r>
          </a:p>
        </p:txBody>
      </p:sp>
      <p:sp>
        <p:nvSpPr>
          <p:cNvPr id="58" name="Rectangle 57"/>
          <p:cNvSpPr/>
          <p:nvPr/>
        </p:nvSpPr>
        <p:spPr>
          <a:xfrm>
            <a:off x="4773168" y="2810256"/>
            <a:ext cx="3572103" cy="1895856"/>
          </a:xfrm>
          <a:prstGeom prst="rect">
            <a:avLst/>
          </a:prstGeom>
          <a:solidFill>
            <a:srgbClr val="10162B"/>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39431" y="2810256"/>
            <a:ext cx="1005840" cy="2194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39431" y="2837688"/>
            <a:ext cx="1005840" cy="182880"/>
          </a:xfrm>
          <a:prstGeom prst="rect">
            <a:avLst/>
          </a:prstGeom>
          <a:noFill/>
        </p:spPr>
        <p:txBody>
          <a:bodyPr wrap="square">
            <a:spAutoFit/>
          </a:bodyPr>
          <a:lstStyle/>
          <a:p>
            <a:pPr algn="ctr"/>
            <a:r>
              <a:rPr sz="750" b="1" i="0">
                <a:solidFill>
                  <a:srgbClr val="0A0D1A"/>
                </a:solidFill>
                <a:latin typeface="Calibri"/>
              </a:rPr>
              <a:t>PHASE 2</a:t>
            </a:r>
          </a:p>
        </p:txBody>
      </p:sp>
      <p:sp>
        <p:nvSpPr>
          <p:cNvPr id="61" name="TextBox 60"/>
          <p:cNvSpPr txBox="1"/>
          <p:nvPr/>
        </p:nvSpPr>
        <p:spPr>
          <a:xfrm>
            <a:off x="4864608" y="2846832"/>
            <a:ext cx="2429103" cy="237744"/>
          </a:xfrm>
          <a:prstGeom prst="rect">
            <a:avLst/>
          </a:prstGeom>
          <a:noFill/>
        </p:spPr>
        <p:txBody>
          <a:bodyPr wrap="square">
            <a:spAutoFit/>
          </a:bodyPr>
          <a:lstStyle/>
          <a:p>
            <a:pPr algn="l"/>
            <a:r>
              <a:rPr sz="1200" b="1" i="0">
                <a:solidFill>
                  <a:srgbClr val="00BFD8"/>
                </a:solidFill>
                <a:latin typeface="Calibri"/>
              </a:rPr>
              <a:t>🔬 Analysis</a:t>
            </a:r>
          </a:p>
        </p:txBody>
      </p:sp>
      <p:sp>
        <p:nvSpPr>
          <p:cNvPr id="62" name="Rectangle 61"/>
          <p:cNvSpPr/>
          <p:nvPr/>
        </p:nvSpPr>
        <p:spPr>
          <a:xfrm>
            <a:off x="4864608" y="3121152"/>
            <a:ext cx="3389223" cy="1828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64608" y="3157728"/>
            <a:ext cx="3407511" cy="219456"/>
          </a:xfrm>
          <a:prstGeom prst="rect">
            <a:avLst/>
          </a:prstGeom>
          <a:noFill/>
        </p:spPr>
        <p:txBody>
          <a:bodyPr wrap="square">
            <a:spAutoFit/>
          </a:bodyPr>
          <a:lstStyle/>
          <a:p>
            <a:pPr algn="l"/>
            <a:r>
              <a:rPr sz="850" b="0" i="1">
                <a:solidFill>
                  <a:srgbClr val="FFFFFF"/>
                </a:solidFill>
                <a:latin typeface="Calibri"/>
              </a:rPr>
              <a:t>Deep enumeration and vulnerability discovery.</a:t>
            </a:r>
          </a:p>
        </p:txBody>
      </p:sp>
      <p:sp>
        <p:nvSpPr>
          <p:cNvPr id="64" name="Rectangle 63"/>
          <p:cNvSpPr/>
          <p:nvPr/>
        </p:nvSpPr>
        <p:spPr>
          <a:xfrm>
            <a:off x="4864608" y="3404616"/>
            <a:ext cx="3389223" cy="219456"/>
          </a:xfrm>
          <a:prstGeom prst="rect">
            <a:avLst/>
          </a:prstGeom>
          <a:solidFill>
            <a:srgbClr val="0810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37760" y="3422904"/>
            <a:ext cx="3297783" cy="182880"/>
          </a:xfrm>
          <a:prstGeom prst="rect">
            <a:avLst/>
          </a:prstGeom>
          <a:noFill/>
        </p:spPr>
        <p:txBody>
          <a:bodyPr wrap="square">
            <a:spAutoFit/>
          </a:bodyPr>
          <a:lstStyle/>
          <a:p>
            <a:pPr algn="l"/>
            <a:r>
              <a:rPr sz="750" b="1" i="0">
                <a:solidFill>
                  <a:srgbClr val="00BFD8"/>
                </a:solidFill>
                <a:latin typeface="Calibri"/>
              </a:rPr>
              <a:t>WhatWeb · Gobuster · ffuf · Nuclei · ZAP</a:t>
            </a:r>
          </a:p>
        </p:txBody>
      </p:sp>
      <p:sp>
        <p:nvSpPr>
          <p:cNvPr id="66" name="TextBox 65"/>
          <p:cNvSpPr txBox="1"/>
          <p:nvPr/>
        </p:nvSpPr>
        <p:spPr>
          <a:xfrm>
            <a:off x="4864608" y="3660648"/>
            <a:ext cx="3407511" cy="981456"/>
          </a:xfrm>
          <a:prstGeom prst="rect">
            <a:avLst/>
          </a:prstGeom>
          <a:noFill/>
        </p:spPr>
        <p:txBody>
          <a:bodyPr wrap="square">
            <a:spAutoFit/>
          </a:bodyPr>
          <a:lstStyle/>
          <a:p>
            <a:pPr algn="l"/>
            <a:r>
              <a:rPr sz="850" b="0" i="0">
                <a:solidFill>
                  <a:srgbClr val="A0AAB8"/>
                </a:solidFill>
                <a:latin typeface="Calibri"/>
              </a:rPr>
              <a:t>Writes Technology, Endpoint, Parameter, Vulnerability nodes.</a:t>
            </a:r>
          </a:p>
        </p:txBody>
      </p:sp>
      <p:sp>
        <p:nvSpPr>
          <p:cNvPr id="67" name="Rectangle 66"/>
          <p:cNvSpPr/>
          <p:nvPr/>
        </p:nvSpPr>
        <p:spPr>
          <a:xfrm>
            <a:off x="8454999" y="2810256"/>
            <a:ext cx="3572103" cy="1895856"/>
          </a:xfrm>
          <a:prstGeom prst="rect">
            <a:avLst/>
          </a:prstGeom>
          <a:solidFill>
            <a:srgbClr val="10162B"/>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021263" y="2810256"/>
            <a:ext cx="100584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21263" y="2837688"/>
            <a:ext cx="1005840" cy="182880"/>
          </a:xfrm>
          <a:prstGeom prst="rect">
            <a:avLst/>
          </a:prstGeom>
          <a:noFill/>
        </p:spPr>
        <p:txBody>
          <a:bodyPr wrap="square">
            <a:spAutoFit/>
          </a:bodyPr>
          <a:lstStyle/>
          <a:p>
            <a:pPr algn="ctr"/>
            <a:r>
              <a:rPr sz="750" b="1" i="0">
                <a:solidFill>
                  <a:srgbClr val="0A0D1A"/>
                </a:solidFill>
                <a:latin typeface="Calibri"/>
              </a:rPr>
              <a:t>INTELLIGENCE</a:t>
            </a:r>
          </a:p>
        </p:txBody>
      </p:sp>
      <p:sp>
        <p:nvSpPr>
          <p:cNvPr id="70" name="TextBox 69"/>
          <p:cNvSpPr txBox="1"/>
          <p:nvPr/>
        </p:nvSpPr>
        <p:spPr>
          <a:xfrm>
            <a:off x="8546439" y="2846832"/>
            <a:ext cx="2429103" cy="237744"/>
          </a:xfrm>
          <a:prstGeom prst="rect">
            <a:avLst/>
          </a:prstGeom>
          <a:noFill/>
        </p:spPr>
        <p:txBody>
          <a:bodyPr wrap="square">
            <a:spAutoFit/>
          </a:bodyPr>
          <a:lstStyle/>
          <a:p>
            <a:pPr algn="l"/>
            <a:r>
              <a:rPr sz="1200" b="1" i="0">
                <a:solidFill>
                  <a:srgbClr val="FFD700"/>
                </a:solidFill>
                <a:latin typeface="Calibri"/>
              </a:rPr>
              <a:t>🔍 Research</a:t>
            </a:r>
          </a:p>
        </p:txBody>
      </p:sp>
      <p:sp>
        <p:nvSpPr>
          <p:cNvPr id="71" name="Rectangle 70"/>
          <p:cNvSpPr/>
          <p:nvPr/>
        </p:nvSpPr>
        <p:spPr>
          <a:xfrm>
            <a:off x="8546439" y="3121152"/>
            <a:ext cx="3389223" cy="1828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46439" y="3157728"/>
            <a:ext cx="3407511" cy="219456"/>
          </a:xfrm>
          <a:prstGeom prst="rect">
            <a:avLst/>
          </a:prstGeom>
          <a:noFill/>
        </p:spPr>
        <p:txBody>
          <a:bodyPr wrap="square">
            <a:spAutoFit/>
          </a:bodyPr>
          <a:lstStyle/>
          <a:p>
            <a:pPr algn="l"/>
            <a:r>
              <a:rPr sz="850" b="0" i="1">
                <a:solidFill>
                  <a:srgbClr val="FFFFFF"/>
                </a:solidFill>
                <a:latin typeface="Calibri"/>
              </a:rPr>
              <a:t>Live CVE grounding — only agent with outbound internet access.</a:t>
            </a:r>
          </a:p>
        </p:txBody>
      </p:sp>
      <p:sp>
        <p:nvSpPr>
          <p:cNvPr id="73" name="Rectangle 72"/>
          <p:cNvSpPr/>
          <p:nvPr/>
        </p:nvSpPr>
        <p:spPr>
          <a:xfrm>
            <a:off x="8546439" y="3404616"/>
            <a:ext cx="3389223" cy="219456"/>
          </a:xfrm>
          <a:prstGeom prst="rect">
            <a:avLst/>
          </a:prstGeom>
          <a:solidFill>
            <a:srgbClr val="08102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19591" y="3422904"/>
            <a:ext cx="3297783" cy="182880"/>
          </a:xfrm>
          <a:prstGeom prst="rect">
            <a:avLst/>
          </a:prstGeom>
          <a:noFill/>
        </p:spPr>
        <p:txBody>
          <a:bodyPr wrap="square">
            <a:spAutoFit/>
          </a:bodyPr>
          <a:lstStyle/>
          <a:p>
            <a:pPr algn="l"/>
            <a:r>
              <a:rPr sz="750" b="1" i="0">
                <a:solidFill>
                  <a:srgbClr val="FFD700"/>
                </a:solidFill>
                <a:latin typeface="Calibri"/>
              </a:rPr>
              <a:t>NVD · Exploit-DB · GitHub · Vendor Advisories</a:t>
            </a:r>
          </a:p>
        </p:txBody>
      </p:sp>
      <p:sp>
        <p:nvSpPr>
          <p:cNvPr id="75" name="TextBox 74"/>
          <p:cNvSpPr txBox="1"/>
          <p:nvPr/>
        </p:nvSpPr>
        <p:spPr>
          <a:xfrm>
            <a:off x="8546439" y="3660648"/>
            <a:ext cx="3407511" cy="981456"/>
          </a:xfrm>
          <a:prstGeom prst="rect">
            <a:avLst/>
          </a:prstGeom>
          <a:noFill/>
        </p:spPr>
        <p:txBody>
          <a:bodyPr wrap="square">
            <a:spAutoFit/>
          </a:bodyPr>
          <a:lstStyle/>
          <a:p>
            <a:pPr algn="l"/>
            <a:r>
              <a:rPr sz="850" b="0" i="0">
                <a:solidFill>
                  <a:srgbClr val="A0AAB8"/>
                </a:solidFill>
                <a:latin typeface="Calibri"/>
              </a:rPr>
              <a:t>Enriches ASG Vulnerability nodes with real-time CVSS + PoC data.</a:t>
            </a:r>
          </a:p>
        </p:txBody>
      </p:sp>
      <p:sp>
        <p:nvSpPr>
          <p:cNvPr id="76" name="Rectangle 75"/>
          <p:cNvSpPr/>
          <p:nvPr/>
        </p:nvSpPr>
        <p:spPr>
          <a:xfrm>
            <a:off x="4773168" y="4797552"/>
            <a:ext cx="3572103" cy="1895856"/>
          </a:xfrm>
          <a:prstGeom prst="rect">
            <a:avLst/>
          </a:prstGeom>
          <a:solidFill>
            <a:srgbClr val="10162B"/>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339431" y="4797552"/>
            <a:ext cx="100584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39431"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79" name="TextBox 78"/>
          <p:cNvSpPr txBox="1"/>
          <p:nvPr/>
        </p:nvSpPr>
        <p:spPr>
          <a:xfrm>
            <a:off x="4864608" y="4834128"/>
            <a:ext cx="2429103" cy="237744"/>
          </a:xfrm>
          <a:prstGeom prst="rect">
            <a:avLst/>
          </a:prstGeom>
          <a:noFill/>
        </p:spPr>
        <p:txBody>
          <a:bodyPr wrap="square">
            <a:spAutoFit/>
          </a:bodyPr>
          <a:lstStyle/>
          <a:p>
            <a:pPr algn="l"/>
            <a:r>
              <a:rPr sz="1200" b="1" i="0">
                <a:solidFill>
                  <a:srgbClr val="FF4545"/>
                </a:solidFill>
                <a:latin typeface="Calibri"/>
              </a:rPr>
              <a:t>🎯 Validation</a:t>
            </a:r>
          </a:p>
        </p:txBody>
      </p:sp>
      <p:sp>
        <p:nvSpPr>
          <p:cNvPr id="80" name="Rectangle 79"/>
          <p:cNvSpPr/>
          <p:nvPr/>
        </p:nvSpPr>
        <p:spPr>
          <a:xfrm>
            <a:off x="4864608" y="5108448"/>
            <a:ext cx="3389223" cy="1828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64608" y="5145024"/>
            <a:ext cx="3407511" cy="219456"/>
          </a:xfrm>
          <a:prstGeom prst="rect">
            <a:avLst/>
          </a:prstGeom>
          <a:noFill/>
        </p:spPr>
        <p:txBody>
          <a:bodyPr wrap="square">
            <a:spAutoFit/>
          </a:bodyPr>
          <a:lstStyle/>
          <a:p>
            <a:pPr algn="l"/>
            <a:r>
              <a:rPr sz="850" b="0" i="1">
                <a:solidFill>
                  <a:srgbClr val="FFFFFF"/>
                </a:solidFill>
                <a:latin typeface="Calibri"/>
              </a:rPr>
              <a:t>Proves vulnerabilities are real and exploitable.</a:t>
            </a:r>
          </a:p>
        </p:txBody>
      </p:sp>
      <p:sp>
        <p:nvSpPr>
          <p:cNvPr id="82" name="Rectangle 81"/>
          <p:cNvSpPr/>
          <p:nvPr/>
        </p:nvSpPr>
        <p:spPr>
          <a:xfrm>
            <a:off x="4864608" y="5391912"/>
            <a:ext cx="3389223" cy="219456"/>
          </a:xfrm>
          <a:prstGeom prst="rect">
            <a:avLst/>
          </a:prstGeom>
          <a:solidFill>
            <a:srgbClr val="0810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937760" y="5410200"/>
            <a:ext cx="3297783" cy="182880"/>
          </a:xfrm>
          <a:prstGeom prst="rect">
            <a:avLst/>
          </a:prstGeom>
          <a:noFill/>
        </p:spPr>
        <p:txBody>
          <a:bodyPr wrap="square">
            <a:spAutoFit/>
          </a:bodyPr>
          <a:lstStyle/>
          <a:p>
            <a:pPr algn="l"/>
            <a:r>
              <a:rPr sz="750" b="1" i="0">
                <a:solidFill>
                  <a:srgbClr val="FF4545"/>
                </a:solidFill>
                <a:latin typeface="Calibri"/>
              </a:rPr>
              <a:t>SQLMap  ·  Metasploit</a:t>
            </a:r>
          </a:p>
        </p:txBody>
      </p:sp>
      <p:sp>
        <p:nvSpPr>
          <p:cNvPr id="84" name="TextBox 83"/>
          <p:cNvSpPr txBox="1"/>
          <p:nvPr/>
        </p:nvSpPr>
        <p:spPr>
          <a:xfrm>
            <a:off x="4864608" y="5647944"/>
            <a:ext cx="3407511" cy="981456"/>
          </a:xfrm>
          <a:prstGeom prst="rect">
            <a:avLst/>
          </a:prstGeom>
          <a:noFill/>
        </p:spPr>
        <p:txBody>
          <a:bodyPr wrap="square">
            <a:spAutoFit/>
          </a:bodyPr>
          <a:lstStyle/>
          <a:p>
            <a:pPr algn="l"/>
            <a:r>
              <a:rPr sz="850" b="0" i="0">
                <a:solidFill>
                  <a:srgbClr val="A0AAB8"/>
                </a:solidFill>
                <a:latin typeface="Calibri"/>
              </a:rPr>
              <a:t>Self-debugging loop: Diagnose → Contextualize → Adapt → Cap (×3).</a:t>
            </a:r>
          </a:p>
        </p:txBody>
      </p:sp>
      <p:sp>
        <p:nvSpPr>
          <p:cNvPr id="85" name="Rectangle 84"/>
          <p:cNvSpPr/>
          <p:nvPr/>
        </p:nvSpPr>
        <p:spPr>
          <a:xfrm>
            <a:off x="8454999" y="4797552"/>
            <a:ext cx="3572103" cy="1895856"/>
          </a:xfrm>
          <a:prstGeom prst="rect">
            <a:avLst/>
          </a:prstGeom>
          <a:solidFill>
            <a:srgbClr val="10162B"/>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021263" y="4797552"/>
            <a:ext cx="100584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021263"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88" name="TextBox 87"/>
          <p:cNvSpPr txBox="1"/>
          <p:nvPr/>
        </p:nvSpPr>
        <p:spPr>
          <a:xfrm>
            <a:off x="8546439" y="4834128"/>
            <a:ext cx="2429103" cy="237744"/>
          </a:xfrm>
          <a:prstGeom prst="rect">
            <a:avLst/>
          </a:prstGeom>
          <a:noFill/>
        </p:spPr>
        <p:txBody>
          <a:bodyPr wrap="square">
            <a:spAutoFit/>
          </a:bodyPr>
          <a:lstStyle/>
          <a:p>
            <a:pPr algn="l"/>
            <a:r>
              <a:rPr sz="1200" b="1" i="0">
                <a:solidFill>
                  <a:srgbClr val="BD93F9"/>
                </a:solidFill>
                <a:latin typeface="Calibri"/>
              </a:rPr>
              <a:t>📸 Evidence</a:t>
            </a:r>
          </a:p>
        </p:txBody>
      </p:sp>
      <p:sp>
        <p:nvSpPr>
          <p:cNvPr id="89" name="Rectangle 88"/>
          <p:cNvSpPr/>
          <p:nvPr/>
        </p:nvSpPr>
        <p:spPr>
          <a:xfrm>
            <a:off x="8546439" y="5108448"/>
            <a:ext cx="3389223" cy="1828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546439" y="5145024"/>
            <a:ext cx="3407511" cy="219456"/>
          </a:xfrm>
          <a:prstGeom prst="rect">
            <a:avLst/>
          </a:prstGeom>
          <a:noFill/>
        </p:spPr>
        <p:txBody>
          <a:bodyPr wrap="square">
            <a:spAutoFit/>
          </a:bodyPr>
          <a:lstStyle/>
          <a:p>
            <a:pPr algn="l"/>
            <a:r>
              <a:rPr sz="850" b="0" i="1">
                <a:solidFill>
                  <a:srgbClr val="FFFFFF"/>
                </a:solidFill>
                <a:latin typeface="Calibri"/>
              </a:rPr>
              <a:t>Captures proof artifacts for every validated finding.</a:t>
            </a:r>
          </a:p>
        </p:txBody>
      </p:sp>
      <p:sp>
        <p:nvSpPr>
          <p:cNvPr id="91" name="Rectangle 90"/>
          <p:cNvSpPr/>
          <p:nvPr/>
        </p:nvSpPr>
        <p:spPr>
          <a:xfrm>
            <a:off x="8546439" y="5391912"/>
            <a:ext cx="3389223" cy="219456"/>
          </a:xfrm>
          <a:prstGeom prst="rect">
            <a:avLst/>
          </a:prstGeom>
          <a:solidFill>
            <a:srgbClr val="0810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19591" y="5410200"/>
            <a:ext cx="3297783" cy="182880"/>
          </a:xfrm>
          <a:prstGeom prst="rect">
            <a:avLst/>
          </a:prstGeom>
          <a:noFill/>
        </p:spPr>
        <p:txBody>
          <a:bodyPr wrap="square">
            <a:spAutoFit/>
          </a:bodyPr>
          <a:lstStyle/>
          <a:p>
            <a:pPr algn="l"/>
            <a:r>
              <a:rPr sz="750" b="1" i="0">
                <a:solidFill>
                  <a:srgbClr val="BD93F9"/>
                </a:solidFill>
                <a:latin typeface="Calibri"/>
              </a:rPr>
              <a:t>EyeWitness</a:t>
            </a:r>
          </a:p>
        </p:txBody>
      </p:sp>
      <p:sp>
        <p:nvSpPr>
          <p:cNvPr id="93" name="TextBox 92"/>
          <p:cNvSpPr txBox="1"/>
          <p:nvPr/>
        </p:nvSpPr>
        <p:spPr>
          <a:xfrm>
            <a:off x="8546439" y="5647944"/>
            <a:ext cx="3407511" cy="981456"/>
          </a:xfrm>
          <a:prstGeom prst="rect">
            <a:avLst/>
          </a:prstGeom>
          <a:noFill/>
        </p:spPr>
        <p:txBody>
          <a:bodyPr wrap="square">
            <a:spAutoFit/>
          </a:bodyPr>
          <a:lstStyle/>
          <a:p>
            <a:pPr algn="l"/>
            <a:r>
              <a:rPr sz="850" b="0" i="0">
                <a:solidFill>
                  <a:srgbClr val="A0AAB8"/>
                </a:solidFill>
                <a:latin typeface="Calibri"/>
              </a:rPr>
              <a:t>Links Evidence nodes to ASG findings via validated_by edges.</a:t>
            </a:r>
          </a:p>
        </p:txBody>
      </p:sp>
      <p:sp>
        <p:nvSpPr>
          <p:cNvPr id="94" name="TextBox 93"/>
          <p:cNvSpPr txBox="1"/>
          <p:nvPr/>
        </p:nvSpPr>
        <p:spPr>
          <a:xfrm>
            <a:off x="11825935" y="6382512"/>
            <a:ext cx="320040" cy="384048"/>
          </a:xfrm>
          <a:prstGeom prst="rect">
            <a:avLst/>
          </a:prstGeom>
          <a:noFill/>
        </p:spPr>
        <p:txBody>
          <a:bodyPr wrap="square">
            <a:spAutoFit/>
          </a:bodyPr>
          <a:lstStyle/>
          <a:p>
            <a:pPr algn="r"/>
            <a:r>
              <a:rPr sz="1300" b="1" i="0">
                <a:solidFill>
                  <a:srgbClr val="BD93F9"/>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l"/>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l"/>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l"/>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l"/>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l"/>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l"/>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l"/>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l"/>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l"/>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l"/>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l"/>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l"/>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l"/>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l"/>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l"/>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l"/>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l"/>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l"/>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l"/>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l"/>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l"/>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l"/>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l"/>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l"/>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l"/>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l"/>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l"/>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l"/>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l"/>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l"/>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l"/>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l"/>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l"/>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l"/>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327648"/>
            <a:ext cx="11368735" cy="365760"/>
          </a:xfrm>
          <a:prstGeom prst="rect">
            <a:avLst/>
          </a:prstGeom>
          <a:noFill/>
        </p:spPr>
        <p:txBody>
          <a:bodyPr wrap="none">
            <a:spAutoFit/>
          </a:bodyPr>
          <a:lstStyle/>
          <a:p>
            <a:pPr algn="l"/>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25935" y="6355080"/>
            <a:ext cx="320040" cy="411480"/>
          </a:xfrm>
          <a:prstGeom prst="rect">
            <a:avLst/>
          </a:prstGeom>
          <a:noFill/>
        </p:spPr>
        <p:txBody>
          <a:bodyPr wrap="square">
            <a:spAutoFit/>
          </a:bodyPr>
          <a:lstStyle/>
          <a:p>
            <a:pPr algn="r"/>
            <a:r>
              <a:rPr sz="1300" b="1" i="0">
                <a:solidFill>
                  <a:srgbClr val="FF4545"/>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4572000" cy="219456"/>
          </a:xfrm>
          <a:prstGeom prst="rect">
            <a:avLst/>
          </a:prstGeom>
          <a:noFill/>
        </p:spPr>
        <p:txBody>
          <a:bodyPr wrap="square">
            <a:spAutoFit/>
          </a:bodyPr>
          <a:lstStyle/>
          <a:p>
            <a:pPr algn="l"/>
            <a:r>
              <a:rPr sz="1000" b="1" i="0">
                <a:solidFill>
                  <a:srgbClr val="FFD700"/>
                </a:solidFill>
                <a:latin typeface="Calibri"/>
              </a:rPr>
              <a:t>REAL-WORLD SCENARIO</a:t>
            </a:r>
          </a:p>
        </p:txBody>
      </p:sp>
      <p:sp>
        <p:nvSpPr>
          <p:cNvPr id="6" name="TextBox 5"/>
          <p:cNvSpPr txBox="1"/>
          <p:nvPr/>
        </p:nvSpPr>
        <p:spPr>
          <a:xfrm>
            <a:off x="274320" y="283464"/>
            <a:ext cx="11430000" cy="438912"/>
          </a:xfrm>
          <a:prstGeom prst="rect">
            <a:avLst/>
          </a:prstGeom>
          <a:noFill/>
        </p:spPr>
        <p:txBody>
          <a:bodyPr wrap="square">
            <a:spAutoFit/>
          </a:bodyPr>
          <a:lstStyle/>
          <a:p>
            <a:pPr algn="l"/>
            <a:r>
              <a:rPr sz="2400" b="1" i="0">
                <a:solidFill>
                  <a:srgbClr val="FFFFFF"/>
                </a:solidFill>
                <a:latin typeface="Calibri"/>
              </a:rPr>
              <a:t>Mission: shopvault.io — Black-Box Assessment — Zero Manual Commands</a:t>
            </a:r>
          </a:p>
        </p:txBody>
      </p:sp>
      <p:sp>
        <p:nvSpPr>
          <p:cNvPr id="7" name="Rectangle 6"/>
          <p:cNvSpPr/>
          <p:nvPr/>
        </p:nvSpPr>
        <p:spPr>
          <a:xfrm>
            <a:off x="164592" y="768096"/>
            <a:ext cx="11862511" cy="347472"/>
          </a:xfrm>
          <a:prstGeom prst="rect">
            <a:avLst/>
          </a:prstGeom>
          <a:solidFill>
            <a:srgbClr val="1010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822960"/>
            <a:ext cx="11597335" cy="274320"/>
          </a:xfrm>
          <a:prstGeom prst="rect">
            <a:avLst/>
          </a:prstGeom>
          <a:noFill/>
        </p:spPr>
        <p:txBody>
          <a:bodyPr wrap="square">
            <a:spAutoFit/>
          </a:bodyPr>
          <a:lstStyle/>
          <a:p>
            <a:pPr algn="l"/>
            <a:r>
              <a:rPr sz="900" b="0" i="1">
                <a:solidFill>
                  <a:srgbClr val="FFD700"/>
                </a:solidFill>
                <a:latin typeface="Calibri"/>
              </a:rPr>
              <a:t>Scope: all subdomains · web applications · REST APIs of shopvault.io  ·  Mode: Black-Box (zero prior knowledge)  ·  Operator configures root domain + scope → presses start.</a:t>
            </a:r>
          </a:p>
        </p:txBody>
      </p:sp>
      <p:sp>
        <p:nvSpPr>
          <p:cNvPr id="9" name="Rectangle 8"/>
          <p:cNvSpPr/>
          <p:nvPr/>
        </p:nvSpPr>
        <p:spPr>
          <a:xfrm>
            <a:off x="164592" y="1188720"/>
            <a:ext cx="2395728" cy="5010912"/>
          </a:xfrm>
          <a:prstGeom prst="rect">
            <a:avLst/>
          </a:prstGeom>
          <a:solidFill>
            <a:srgbClr val="041408"/>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1188720"/>
            <a:ext cx="2395728" cy="457200"/>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1243584"/>
            <a:ext cx="2286000" cy="384048"/>
          </a:xfrm>
          <a:prstGeom prst="rect">
            <a:avLst/>
          </a:prstGeom>
          <a:noFill/>
        </p:spPr>
        <p:txBody>
          <a:bodyPr wrap="square">
            <a:spAutoFit/>
          </a:bodyPr>
          <a:lstStyle/>
          <a:p>
            <a:pPr algn="ctr"/>
            <a:r>
              <a:rPr sz="1000" b="1" i="0">
                <a:solidFill>
                  <a:srgbClr val="39FF14"/>
                </a:solidFill>
                <a:latin typeface="Calibri"/>
              </a:rPr>
              <a:t>PHASE 1
Reconnaissance</a:t>
            </a:r>
          </a:p>
        </p:txBody>
      </p:sp>
      <p:sp>
        <p:nvSpPr>
          <p:cNvPr id="12" name="TextBox 11"/>
          <p:cNvSpPr txBox="1"/>
          <p:nvPr/>
        </p:nvSpPr>
        <p:spPr>
          <a:xfrm>
            <a:off x="237744" y="1700784"/>
            <a:ext cx="2286000" cy="201168"/>
          </a:xfrm>
          <a:prstGeom prst="rect">
            <a:avLst/>
          </a:prstGeom>
          <a:noFill/>
        </p:spPr>
        <p:txBody>
          <a:bodyPr wrap="square">
            <a:spAutoFit/>
          </a:bodyPr>
          <a:lstStyle/>
          <a:p>
            <a:pPr algn="l"/>
            <a:r>
              <a:rPr sz="850" b="1" i="0">
                <a:solidFill>
                  <a:srgbClr val="39FF14"/>
                </a:solidFill>
                <a:latin typeface="Calibri"/>
              </a:rPr>
              <a:t>🕵️ Recon Agent</a:t>
            </a:r>
          </a:p>
        </p:txBody>
      </p:sp>
      <p:sp>
        <p:nvSpPr>
          <p:cNvPr id="13" name="Rectangle 12"/>
          <p:cNvSpPr/>
          <p:nvPr/>
        </p:nvSpPr>
        <p:spPr>
          <a:xfrm>
            <a:off x="237744" y="1920240"/>
            <a:ext cx="2249424" cy="182880"/>
          </a:xfrm>
          <a:prstGeom prst="rect">
            <a:avLst/>
          </a:prstGeom>
          <a:solidFill>
            <a:srgbClr val="081022"/>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929384"/>
            <a:ext cx="2212848" cy="164592"/>
          </a:xfrm>
          <a:prstGeom prst="rect">
            <a:avLst/>
          </a:prstGeom>
          <a:noFill/>
        </p:spPr>
        <p:txBody>
          <a:bodyPr wrap="square">
            <a:spAutoFit/>
          </a:bodyPr>
          <a:lstStyle/>
          <a:p>
            <a:pPr algn="l"/>
            <a:r>
              <a:rPr sz="700" b="1" i="0">
                <a:solidFill>
                  <a:srgbClr val="39FF14"/>
                </a:solidFill>
                <a:latin typeface="Calibri"/>
              </a:rPr>
              <a:t>Amass  ·  httpx  ·  Nmap</a:t>
            </a:r>
          </a:p>
        </p:txBody>
      </p:sp>
      <p:sp>
        <p:nvSpPr>
          <p:cNvPr id="15" name="Rectangle 14"/>
          <p:cNvSpPr/>
          <p:nvPr/>
        </p:nvSpPr>
        <p:spPr>
          <a:xfrm>
            <a:off x="237744" y="2157984"/>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 y="2157984"/>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2194560"/>
            <a:ext cx="2121408" cy="237744"/>
          </a:xfrm>
          <a:prstGeom prst="rect">
            <a:avLst/>
          </a:prstGeom>
          <a:noFill/>
        </p:spPr>
        <p:txBody>
          <a:bodyPr wrap="square">
            <a:spAutoFit/>
          </a:bodyPr>
          <a:lstStyle/>
          <a:p>
            <a:pPr algn="l"/>
            <a:r>
              <a:rPr sz="800" b="1" i="0">
                <a:solidFill>
                  <a:srgbClr val="39FF14"/>
                </a:solidFill>
                <a:latin typeface="Calibri"/>
              </a:rPr>
              <a:t>Amass</a:t>
            </a:r>
          </a:p>
        </p:txBody>
      </p:sp>
      <p:sp>
        <p:nvSpPr>
          <p:cNvPr id="18" name="TextBox 17"/>
          <p:cNvSpPr txBox="1"/>
          <p:nvPr/>
        </p:nvSpPr>
        <p:spPr>
          <a:xfrm>
            <a:off x="310896" y="2432304"/>
            <a:ext cx="2121408" cy="816864"/>
          </a:xfrm>
          <a:prstGeom prst="rect">
            <a:avLst/>
          </a:prstGeom>
          <a:noFill/>
        </p:spPr>
        <p:txBody>
          <a:bodyPr wrap="square">
            <a:spAutoFit/>
          </a:bodyPr>
          <a:lstStyle/>
          <a:p>
            <a:pPr algn="l"/>
            <a:r>
              <a:rPr sz="800" b="0" i="0">
                <a:solidFill>
                  <a:srgbClr val="A0AAB8"/>
                </a:solidFill>
                <a:latin typeface="Calibri"/>
              </a:rPr>
              <a:t>14 subdomains discovered
api · admin · staging · pay · ...</a:t>
            </a:r>
          </a:p>
        </p:txBody>
      </p:sp>
      <p:sp>
        <p:nvSpPr>
          <p:cNvPr id="19" name="Rectangle 18"/>
          <p:cNvSpPr/>
          <p:nvPr/>
        </p:nvSpPr>
        <p:spPr>
          <a:xfrm>
            <a:off x="237744" y="3340608"/>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7744" y="3340608"/>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 y="3377184"/>
            <a:ext cx="2121408" cy="237744"/>
          </a:xfrm>
          <a:prstGeom prst="rect">
            <a:avLst/>
          </a:prstGeom>
          <a:noFill/>
        </p:spPr>
        <p:txBody>
          <a:bodyPr wrap="square">
            <a:spAutoFit/>
          </a:bodyPr>
          <a:lstStyle/>
          <a:p>
            <a:pPr algn="l"/>
            <a:r>
              <a:rPr sz="800" b="1" i="0">
                <a:solidFill>
                  <a:srgbClr val="39FF14"/>
                </a:solidFill>
                <a:latin typeface="Calibri"/>
              </a:rPr>
              <a:t>httpx</a:t>
            </a:r>
          </a:p>
        </p:txBody>
      </p:sp>
      <p:sp>
        <p:nvSpPr>
          <p:cNvPr id="22" name="TextBox 21"/>
          <p:cNvSpPr txBox="1"/>
          <p:nvPr/>
        </p:nvSpPr>
        <p:spPr>
          <a:xfrm>
            <a:off x="310896" y="3614928"/>
            <a:ext cx="2121408" cy="816864"/>
          </a:xfrm>
          <a:prstGeom prst="rect">
            <a:avLst/>
          </a:prstGeom>
          <a:noFill/>
        </p:spPr>
        <p:txBody>
          <a:bodyPr wrap="square">
            <a:spAutoFit/>
          </a:bodyPr>
          <a:lstStyle/>
          <a:p>
            <a:pPr algn="l"/>
            <a:r>
              <a:rPr sz="800" b="0" i="0">
                <a:solidFill>
                  <a:srgbClr val="A0AAB8"/>
                </a:solidFill>
                <a:latin typeface="Calibri"/>
              </a:rPr>
              <a:t>11 live hosts confirmed
staging returns unexpected 200</a:t>
            </a:r>
          </a:p>
        </p:txBody>
      </p:sp>
      <p:sp>
        <p:nvSpPr>
          <p:cNvPr id="23" name="Rectangle 22"/>
          <p:cNvSpPr/>
          <p:nvPr/>
        </p:nvSpPr>
        <p:spPr>
          <a:xfrm>
            <a:off x="237744" y="4523232"/>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 y="4523232"/>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4559808"/>
            <a:ext cx="2121408" cy="237744"/>
          </a:xfrm>
          <a:prstGeom prst="rect">
            <a:avLst/>
          </a:prstGeom>
          <a:noFill/>
        </p:spPr>
        <p:txBody>
          <a:bodyPr wrap="square">
            <a:spAutoFit/>
          </a:bodyPr>
          <a:lstStyle/>
          <a:p>
            <a:pPr algn="l"/>
            <a:r>
              <a:rPr sz="800" b="1" i="0">
                <a:solidFill>
                  <a:srgbClr val="39FF14"/>
                </a:solidFill>
                <a:latin typeface="Calibri"/>
              </a:rPr>
              <a:t>Nmap</a:t>
            </a:r>
          </a:p>
        </p:txBody>
      </p:sp>
      <p:sp>
        <p:nvSpPr>
          <p:cNvPr id="26" name="TextBox 25"/>
          <p:cNvSpPr txBox="1"/>
          <p:nvPr/>
        </p:nvSpPr>
        <p:spPr>
          <a:xfrm>
            <a:off x="310896" y="4797552"/>
            <a:ext cx="2121408" cy="816864"/>
          </a:xfrm>
          <a:prstGeom prst="rect">
            <a:avLst/>
          </a:prstGeom>
          <a:noFill/>
        </p:spPr>
        <p:txBody>
          <a:bodyPr wrap="square">
            <a:spAutoFit/>
          </a:bodyPr>
          <a:lstStyle/>
          <a:p>
            <a:pPr algn="l"/>
            <a:r>
              <a:rPr sz="800" b="0" i="0">
                <a:solidFill>
                  <a:srgbClr val="A0AAB8"/>
                </a:solidFill>
                <a:latin typeface="Calibri"/>
              </a:rPr>
              <a:t>Ports 80, 443, 8080, 8443 open
pay.shopvault.io: expired TLS</a:t>
            </a:r>
          </a:p>
        </p:txBody>
      </p:sp>
      <p:sp>
        <p:nvSpPr>
          <p:cNvPr id="27" name="Rectangle 26"/>
          <p:cNvSpPr/>
          <p:nvPr/>
        </p:nvSpPr>
        <p:spPr>
          <a:xfrm>
            <a:off x="164592" y="5797296"/>
            <a:ext cx="2395728" cy="402336"/>
          </a:xfrm>
          <a:prstGeom prst="rect">
            <a:avLst/>
          </a:prstGeom>
          <a:solidFill>
            <a:srgbClr val="060C1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5852160"/>
            <a:ext cx="2258568" cy="310896"/>
          </a:xfrm>
          <a:prstGeom prst="rect">
            <a:avLst/>
          </a:prstGeom>
          <a:noFill/>
        </p:spPr>
        <p:txBody>
          <a:bodyPr wrap="square">
            <a:spAutoFit/>
          </a:bodyPr>
          <a:lstStyle/>
          <a:p>
            <a:pPr algn="l"/>
            <a:r>
              <a:rPr sz="850" b="1" i="0">
                <a:solidFill>
                  <a:srgbClr val="39FF14"/>
                </a:solidFill>
                <a:latin typeface="Calibri"/>
              </a:rPr>
              <a:t>ASG ← 37 new nodes</a:t>
            </a:r>
          </a:p>
        </p:txBody>
      </p:sp>
      <p:cxnSp>
        <p:nvCxnSpPr>
          <p:cNvPr id="29" name="Connector 28"/>
          <p:cNvCxnSpPr/>
          <p:nvPr/>
        </p:nvCxnSpPr>
        <p:spPr>
          <a:xfrm>
            <a:off x="2560320" y="1417320"/>
            <a:ext cx="54864" cy="0"/>
          </a:xfrm>
          <a:prstGeom prst="line">
            <a:avLst/>
          </a:prstGeom>
          <a:ln w="228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615184" y="1188720"/>
            <a:ext cx="3474720" cy="5010912"/>
          </a:xfrm>
          <a:prstGeom prst="rect">
            <a:avLst/>
          </a:prstGeom>
          <a:solidFill>
            <a:srgbClr val="041018"/>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15184" y="1188720"/>
            <a:ext cx="3474720" cy="457200"/>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88336" y="1243584"/>
            <a:ext cx="3364992" cy="384048"/>
          </a:xfrm>
          <a:prstGeom prst="rect">
            <a:avLst/>
          </a:prstGeom>
          <a:noFill/>
        </p:spPr>
        <p:txBody>
          <a:bodyPr wrap="square">
            <a:spAutoFit/>
          </a:bodyPr>
          <a:lstStyle/>
          <a:p>
            <a:pPr algn="ctr"/>
            <a:r>
              <a:rPr sz="1000" b="1" i="0">
                <a:solidFill>
                  <a:srgbClr val="00E5FF"/>
                </a:solidFill>
                <a:latin typeface="Calibri"/>
              </a:rPr>
              <a:t>PHASE 2
Analysis + Intel</a:t>
            </a:r>
          </a:p>
        </p:txBody>
      </p:sp>
      <p:sp>
        <p:nvSpPr>
          <p:cNvPr id="33" name="TextBox 32"/>
          <p:cNvSpPr txBox="1"/>
          <p:nvPr/>
        </p:nvSpPr>
        <p:spPr>
          <a:xfrm>
            <a:off x="2688336" y="1700784"/>
            <a:ext cx="3364992" cy="201168"/>
          </a:xfrm>
          <a:prstGeom prst="rect">
            <a:avLst/>
          </a:prstGeom>
          <a:noFill/>
        </p:spPr>
        <p:txBody>
          <a:bodyPr wrap="square">
            <a:spAutoFit/>
          </a:bodyPr>
          <a:lstStyle/>
          <a:p>
            <a:pPr algn="l"/>
            <a:r>
              <a:rPr sz="850" b="1" i="0">
                <a:solidFill>
                  <a:srgbClr val="00E5FF"/>
                </a:solidFill>
                <a:latin typeface="Calibri"/>
              </a:rPr>
              <a:t>🔬 Analysis + 🔍 Research</a:t>
            </a:r>
          </a:p>
        </p:txBody>
      </p:sp>
      <p:sp>
        <p:nvSpPr>
          <p:cNvPr id="34" name="Rectangle 33"/>
          <p:cNvSpPr/>
          <p:nvPr/>
        </p:nvSpPr>
        <p:spPr>
          <a:xfrm>
            <a:off x="2688336" y="1920240"/>
            <a:ext cx="3328416" cy="182880"/>
          </a:xfrm>
          <a:prstGeom prst="rect">
            <a:avLst/>
          </a:prstGeom>
          <a:solidFill>
            <a:srgbClr val="081022"/>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24912" y="1929384"/>
            <a:ext cx="3291840" cy="164592"/>
          </a:xfrm>
          <a:prstGeom prst="rect">
            <a:avLst/>
          </a:prstGeom>
          <a:noFill/>
        </p:spPr>
        <p:txBody>
          <a:bodyPr wrap="square">
            <a:spAutoFit/>
          </a:bodyPr>
          <a:lstStyle/>
          <a:p>
            <a:pPr algn="l"/>
            <a:r>
              <a:rPr sz="700" b="1" i="0">
                <a:solidFill>
                  <a:srgbClr val="00E5FF"/>
                </a:solidFill>
                <a:latin typeface="Calibri"/>
              </a:rPr>
              <a:t>WhatWeb  ·  Gobuster  ·  ffuf  ·  Nuclei  ·  ZAP</a:t>
            </a:r>
          </a:p>
        </p:txBody>
      </p:sp>
      <p:sp>
        <p:nvSpPr>
          <p:cNvPr id="36" name="Rectangle 35"/>
          <p:cNvSpPr/>
          <p:nvPr/>
        </p:nvSpPr>
        <p:spPr>
          <a:xfrm>
            <a:off x="2688336" y="2157984"/>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88336" y="2157984"/>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1488" y="2194560"/>
            <a:ext cx="3200400" cy="237744"/>
          </a:xfrm>
          <a:prstGeom prst="rect">
            <a:avLst/>
          </a:prstGeom>
          <a:noFill/>
        </p:spPr>
        <p:txBody>
          <a:bodyPr wrap="square">
            <a:spAutoFit/>
          </a:bodyPr>
          <a:lstStyle/>
          <a:p>
            <a:pPr algn="l"/>
            <a:r>
              <a:rPr sz="800" b="1" i="0">
                <a:solidFill>
                  <a:srgbClr val="00E5FF"/>
                </a:solidFill>
                <a:latin typeface="Calibri"/>
              </a:rPr>
              <a:t>WhatWeb</a:t>
            </a:r>
          </a:p>
        </p:txBody>
      </p:sp>
      <p:sp>
        <p:nvSpPr>
          <p:cNvPr id="39" name="TextBox 38"/>
          <p:cNvSpPr txBox="1"/>
          <p:nvPr/>
        </p:nvSpPr>
        <p:spPr>
          <a:xfrm>
            <a:off x="2761488" y="2432304"/>
            <a:ext cx="3200400" cy="521208"/>
          </a:xfrm>
          <a:prstGeom prst="rect">
            <a:avLst/>
          </a:prstGeom>
          <a:noFill/>
        </p:spPr>
        <p:txBody>
          <a:bodyPr wrap="square">
            <a:spAutoFit/>
          </a:bodyPr>
          <a:lstStyle/>
          <a:p>
            <a:pPr algn="l"/>
            <a:r>
              <a:rPr sz="800" b="0" i="0">
                <a:solidFill>
                  <a:srgbClr val="A0AAB8"/>
                </a:solidFill>
                <a:latin typeface="Calibri"/>
              </a:rPr>
              <a:t>WordPress 5.9.3 · Django API
→ Research: CVE-2022-21661 (CVSS 8.8)</a:t>
            </a:r>
          </a:p>
        </p:txBody>
      </p:sp>
      <p:sp>
        <p:nvSpPr>
          <p:cNvPr id="40" name="Rectangle 39"/>
          <p:cNvSpPr/>
          <p:nvPr/>
        </p:nvSpPr>
        <p:spPr>
          <a:xfrm>
            <a:off x="2688336" y="3044952"/>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688336" y="3044952"/>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3081528"/>
            <a:ext cx="3200400" cy="237744"/>
          </a:xfrm>
          <a:prstGeom prst="rect">
            <a:avLst/>
          </a:prstGeom>
          <a:noFill/>
        </p:spPr>
        <p:txBody>
          <a:bodyPr wrap="square">
            <a:spAutoFit/>
          </a:bodyPr>
          <a:lstStyle/>
          <a:p>
            <a:pPr algn="l"/>
            <a:r>
              <a:rPr sz="800" b="1" i="0">
                <a:solidFill>
                  <a:srgbClr val="00E5FF"/>
                </a:solidFill>
                <a:latin typeface="Calibri"/>
              </a:rPr>
              <a:t>Gobuster</a:t>
            </a:r>
          </a:p>
        </p:txBody>
      </p:sp>
      <p:sp>
        <p:nvSpPr>
          <p:cNvPr id="43" name="TextBox 42"/>
          <p:cNvSpPr txBox="1"/>
          <p:nvPr/>
        </p:nvSpPr>
        <p:spPr>
          <a:xfrm>
            <a:off x="2761488" y="3319272"/>
            <a:ext cx="3200400" cy="521208"/>
          </a:xfrm>
          <a:prstGeom prst="rect">
            <a:avLst/>
          </a:prstGeom>
          <a:noFill/>
        </p:spPr>
        <p:txBody>
          <a:bodyPr wrap="square">
            <a:spAutoFit/>
          </a:bodyPr>
          <a:lstStyle/>
          <a:p>
            <a:pPr algn="l"/>
            <a:r>
              <a:rPr sz="800" b="0" i="0">
                <a:solidFill>
                  <a:srgbClr val="A0AAB8"/>
                </a:solidFill>
                <a:latin typeface="Calibri"/>
              </a:rPr>
              <a:t>/backup/db_export_2023.sql EXPOSED
/admin/users · /admin/login</a:t>
            </a:r>
          </a:p>
        </p:txBody>
      </p:sp>
      <p:sp>
        <p:nvSpPr>
          <p:cNvPr id="44" name="Rectangle 43"/>
          <p:cNvSpPr/>
          <p:nvPr/>
        </p:nvSpPr>
        <p:spPr>
          <a:xfrm>
            <a:off x="2688336" y="3931920"/>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88336" y="3931920"/>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1488" y="3968496"/>
            <a:ext cx="3200400" cy="237744"/>
          </a:xfrm>
          <a:prstGeom prst="rect">
            <a:avLst/>
          </a:prstGeom>
          <a:noFill/>
        </p:spPr>
        <p:txBody>
          <a:bodyPr wrap="square">
            <a:spAutoFit/>
          </a:bodyPr>
          <a:lstStyle/>
          <a:p>
            <a:pPr algn="l"/>
            <a:r>
              <a:rPr sz="800" b="1" i="0">
                <a:solidFill>
                  <a:srgbClr val="00E5FF"/>
                </a:solidFill>
                <a:latin typeface="Calibri"/>
              </a:rPr>
              <a:t>ffuf</a:t>
            </a:r>
          </a:p>
        </p:txBody>
      </p:sp>
      <p:sp>
        <p:nvSpPr>
          <p:cNvPr id="47" name="TextBox 46"/>
          <p:cNvSpPr txBox="1"/>
          <p:nvPr/>
        </p:nvSpPr>
        <p:spPr>
          <a:xfrm>
            <a:off x="2761488" y="4206240"/>
            <a:ext cx="3200400" cy="521208"/>
          </a:xfrm>
          <a:prstGeom prst="rect">
            <a:avLst/>
          </a:prstGeom>
          <a:noFill/>
        </p:spPr>
        <p:txBody>
          <a:bodyPr wrap="square">
            <a:spAutoFit/>
          </a:bodyPr>
          <a:lstStyle/>
          <a:p>
            <a:pPr algn="l"/>
            <a:r>
              <a:rPr sz="800" b="0" i="0">
                <a:solidFill>
                  <a:srgbClr val="A0AAB8"/>
                </a:solidFill>
                <a:latin typeface="Calibri"/>
              </a:rPr>
              <a:t>IDOR: user_id param unsanitized
/api/v1/internal/users found</a:t>
            </a:r>
          </a:p>
        </p:txBody>
      </p:sp>
      <p:sp>
        <p:nvSpPr>
          <p:cNvPr id="48" name="Rectangle 47"/>
          <p:cNvSpPr/>
          <p:nvPr/>
        </p:nvSpPr>
        <p:spPr>
          <a:xfrm>
            <a:off x="2688336" y="4818888"/>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88336" y="4818888"/>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1488" y="4855464"/>
            <a:ext cx="3200400" cy="237744"/>
          </a:xfrm>
          <a:prstGeom prst="rect">
            <a:avLst/>
          </a:prstGeom>
          <a:noFill/>
        </p:spPr>
        <p:txBody>
          <a:bodyPr wrap="square">
            <a:spAutoFit/>
          </a:bodyPr>
          <a:lstStyle/>
          <a:p>
            <a:pPr algn="l"/>
            <a:r>
              <a:rPr sz="800" b="1" i="0">
                <a:solidFill>
                  <a:srgbClr val="00E5FF"/>
                </a:solidFill>
                <a:latin typeface="Calibri"/>
              </a:rPr>
              <a:t>ZAP</a:t>
            </a:r>
          </a:p>
        </p:txBody>
      </p:sp>
      <p:sp>
        <p:nvSpPr>
          <p:cNvPr id="51" name="TextBox 50"/>
          <p:cNvSpPr txBox="1"/>
          <p:nvPr/>
        </p:nvSpPr>
        <p:spPr>
          <a:xfrm>
            <a:off x="2761488" y="5093208"/>
            <a:ext cx="3200400" cy="521208"/>
          </a:xfrm>
          <a:prstGeom prst="rect">
            <a:avLst/>
          </a:prstGeom>
          <a:noFill/>
        </p:spPr>
        <p:txBody>
          <a:bodyPr wrap="square">
            <a:spAutoFit/>
          </a:bodyPr>
          <a:lstStyle/>
          <a:p>
            <a:pPr algn="l"/>
            <a:r>
              <a:rPr sz="800" b="0" i="0">
                <a:solidFill>
                  <a:srgbClr val="A0AAB8"/>
                </a:solidFill>
                <a:latin typeface="Calibri"/>
              </a:rPr>
              <a:t>XSS on /search?q=
SQL error on staging login</a:t>
            </a:r>
          </a:p>
        </p:txBody>
      </p:sp>
      <p:sp>
        <p:nvSpPr>
          <p:cNvPr id="52" name="Rectangle 51"/>
          <p:cNvSpPr/>
          <p:nvPr/>
        </p:nvSpPr>
        <p:spPr>
          <a:xfrm>
            <a:off x="2615184" y="5797296"/>
            <a:ext cx="3474720" cy="402336"/>
          </a:xfrm>
          <a:prstGeom prst="rect">
            <a:avLst/>
          </a:prstGeom>
          <a:solidFill>
            <a:srgbClr val="060C1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06624" y="5852160"/>
            <a:ext cx="3337560" cy="310896"/>
          </a:xfrm>
          <a:prstGeom prst="rect">
            <a:avLst/>
          </a:prstGeom>
          <a:noFill/>
        </p:spPr>
        <p:txBody>
          <a:bodyPr wrap="square">
            <a:spAutoFit/>
          </a:bodyPr>
          <a:lstStyle/>
          <a:p>
            <a:pPr algn="l"/>
            <a:r>
              <a:rPr sz="850" b="1" i="0">
                <a:solidFill>
                  <a:srgbClr val="00E5FF"/>
                </a:solidFill>
                <a:latin typeface="Calibri"/>
              </a:rPr>
              <a:t>ASG ← 61 nodes
APG ← 3 chains seeded</a:t>
            </a:r>
          </a:p>
        </p:txBody>
      </p:sp>
      <p:cxnSp>
        <p:nvCxnSpPr>
          <p:cNvPr id="54" name="Connector 53"/>
          <p:cNvCxnSpPr/>
          <p:nvPr/>
        </p:nvCxnSpPr>
        <p:spPr>
          <a:xfrm>
            <a:off x="6089904" y="1417320"/>
            <a:ext cx="54864"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144768" y="1188720"/>
            <a:ext cx="3639312" cy="5010912"/>
          </a:xfrm>
          <a:prstGeom prst="rect">
            <a:avLst/>
          </a:prstGeom>
          <a:solidFill>
            <a:srgbClr val="180606"/>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44768" y="1188720"/>
            <a:ext cx="3639312" cy="457200"/>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1243584"/>
            <a:ext cx="3529584" cy="384048"/>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58" name="TextBox 57"/>
          <p:cNvSpPr txBox="1"/>
          <p:nvPr/>
        </p:nvSpPr>
        <p:spPr>
          <a:xfrm>
            <a:off x="6217920" y="1700784"/>
            <a:ext cx="3529584" cy="201168"/>
          </a:xfrm>
          <a:prstGeom prst="rect">
            <a:avLst/>
          </a:prstGeom>
          <a:noFill/>
        </p:spPr>
        <p:txBody>
          <a:bodyPr wrap="square">
            <a:spAutoFit/>
          </a:bodyPr>
          <a:lstStyle/>
          <a:p>
            <a:pPr algn="l"/>
            <a:r>
              <a:rPr sz="850" b="1" i="0">
                <a:solidFill>
                  <a:srgbClr val="FF4545"/>
                </a:solidFill>
                <a:latin typeface="Calibri"/>
              </a:rPr>
              <a:t>🎯 Validation + 📸 Evidence</a:t>
            </a:r>
          </a:p>
        </p:txBody>
      </p:sp>
      <p:sp>
        <p:nvSpPr>
          <p:cNvPr id="59" name="Rectangle 58"/>
          <p:cNvSpPr/>
          <p:nvPr/>
        </p:nvSpPr>
        <p:spPr>
          <a:xfrm>
            <a:off x="6217920" y="1920240"/>
            <a:ext cx="3493008" cy="182880"/>
          </a:xfrm>
          <a:prstGeom prst="rect">
            <a:avLst/>
          </a:prstGeom>
          <a:solidFill>
            <a:srgbClr val="081022"/>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4496" y="1929384"/>
            <a:ext cx="3456432" cy="164592"/>
          </a:xfrm>
          <a:prstGeom prst="rect">
            <a:avLst/>
          </a:prstGeom>
          <a:noFill/>
        </p:spPr>
        <p:txBody>
          <a:bodyPr wrap="square">
            <a:spAutoFit/>
          </a:bodyPr>
          <a:lstStyle/>
          <a:p>
            <a:pPr algn="l"/>
            <a:r>
              <a:rPr sz="700" b="1" i="0">
                <a:solidFill>
                  <a:srgbClr val="FF4545"/>
                </a:solidFill>
                <a:latin typeface="Calibri"/>
              </a:rPr>
              <a:t>SQLMap  ·  Metasploit  ·  EyeWitness</a:t>
            </a:r>
          </a:p>
        </p:txBody>
      </p:sp>
      <p:sp>
        <p:nvSpPr>
          <p:cNvPr id="61" name="Rectangle 60"/>
          <p:cNvSpPr/>
          <p:nvPr/>
        </p:nvSpPr>
        <p:spPr>
          <a:xfrm>
            <a:off x="6217920" y="2157984"/>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2157984"/>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91072" y="2194560"/>
            <a:ext cx="3364992" cy="237744"/>
          </a:xfrm>
          <a:prstGeom prst="rect">
            <a:avLst/>
          </a:prstGeom>
          <a:noFill/>
        </p:spPr>
        <p:txBody>
          <a:bodyPr wrap="square">
            <a:spAutoFit/>
          </a:bodyPr>
          <a:lstStyle/>
          <a:p>
            <a:pPr algn="l"/>
            <a:r>
              <a:rPr sz="800" b="1" i="0">
                <a:solidFill>
                  <a:srgbClr val="FF4545"/>
                </a:solidFill>
                <a:latin typeface="Calibri"/>
              </a:rPr>
              <a:t>Chain-01
(risk 8.8)</a:t>
            </a:r>
          </a:p>
        </p:txBody>
      </p:sp>
      <p:sp>
        <p:nvSpPr>
          <p:cNvPr id="64" name="TextBox 63"/>
          <p:cNvSpPr txBox="1"/>
          <p:nvPr/>
        </p:nvSpPr>
        <p:spPr>
          <a:xfrm>
            <a:off x="6291072" y="2432304"/>
            <a:ext cx="3364992" cy="816864"/>
          </a:xfrm>
          <a:prstGeom prst="rect">
            <a:avLst/>
          </a:prstGeom>
          <a:noFill/>
        </p:spPr>
        <p:txBody>
          <a:bodyPr wrap="square">
            <a:spAutoFit/>
          </a:bodyPr>
          <a:lstStyle/>
          <a:p>
            <a:pPr algn="l"/>
            <a:r>
              <a:rPr sz="800" b="0" i="0">
                <a:solidFill>
                  <a:srgbClr val="A0AAB8"/>
                </a:solidFill>
                <a:latin typeface="Calibri"/>
              </a:rPr>
              <a:t>SQLMap → SQLi confirmed
Admin hash cracked → Metasploit → RCE
Status: VALIDATED (escalated 9.1)</a:t>
            </a:r>
          </a:p>
        </p:txBody>
      </p:sp>
      <p:sp>
        <p:nvSpPr>
          <p:cNvPr id="65" name="Rectangle 64"/>
          <p:cNvSpPr/>
          <p:nvPr/>
        </p:nvSpPr>
        <p:spPr>
          <a:xfrm>
            <a:off x="6217920" y="3340608"/>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7920" y="3340608"/>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91072" y="3377184"/>
            <a:ext cx="3364992" cy="237744"/>
          </a:xfrm>
          <a:prstGeom prst="rect">
            <a:avLst/>
          </a:prstGeom>
          <a:noFill/>
        </p:spPr>
        <p:txBody>
          <a:bodyPr wrap="square">
            <a:spAutoFit/>
          </a:bodyPr>
          <a:lstStyle/>
          <a:p>
            <a:pPr algn="l"/>
            <a:r>
              <a:rPr sz="800" b="1" i="0">
                <a:solidFill>
                  <a:srgbClr val="FF4545"/>
                </a:solidFill>
                <a:latin typeface="Calibri"/>
              </a:rPr>
              <a:t>Chain-02
(risk 7.5)</a:t>
            </a:r>
          </a:p>
        </p:txBody>
      </p:sp>
      <p:sp>
        <p:nvSpPr>
          <p:cNvPr id="68" name="TextBox 67"/>
          <p:cNvSpPr txBox="1"/>
          <p:nvPr/>
        </p:nvSpPr>
        <p:spPr>
          <a:xfrm>
            <a:off x="6291072" y="3614928"/>
            <a:ext cx="3364992" cy="816864"/>
          </a:xfrm>
          <a:prstGeom prst="rect">
            <a:avLst/>
          </a:prstGeom>
          <a:noFill/>
        </p:spPr>
        <p:txBody>
          <a:bodyPr wrap="square">
            <a:spAutoFit/>
          </a:bodyPr>
          <a:lstStyle/>
          <a:p>
            <a:pPr algn="l"/>
            <a:r>
              <a:rPr sz="800" b="0" i="0">
                <a:solidFill>
                  <a:srgbClr val="A0AAB8"/>
                </a:solidFill>
                <a:latin typeface="Calibri"/>
              </a:rPr>
              <a:t>SQLMap on user_id → IDOR confirmed
Any customer orders accessible</a:t>
            </a:r>
          </a:p>
        </p:txBody>
      </p:sp>
      <p:sp>
        <p:nvSpPr>
          <p:cNvPr id="69" name="Rectangle 68"/>
          <p:cNvSpPr/>
          <p:nvPr/>
        </p:nvSpPr>
        <p:spPr>
          <a:xfrm>
            <a:off x="6217920" y="4523232"/>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17920" y="4523232"/>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91072" y="4559808"/>
            <a:ext cx="3364992" cy="237744"/>
          </a:xfrm>
          <a:prstGeom prst="rect">
            <a:avLst/>
          </a:prstGeom>
          <a:noFill/>
        </p:spPr>
        <p:txBody>
          <a:bodyPr wrap="square">
            <a:spAutoFit/>
          </a:bodyPr>
          <a:lstStyle/>
          <a:p>
            <a:pPr algn="l"/>
            <a:r>
              <a:rPr sz="800" b="1" i="0">
                <a:solidFill>
                  <a:srgbClr val="FF4545"/>
                </a:solidFill>
                <a:latin typeface="Calibri"/>
              </a:rPr>
              <a:t>Chain-03
(risk 8.1)</a:t>
            </a:r>
          </a:p>
        </p:txBody>
      </p:sp>
      <p:sp>
        <p:nvSpPr>
          <p:cNvPr id="72" name="TextBox 71"/>
          <p:cNvSpPr txBox="1"/>
          <p:nvPr/>
        </p:nvSpPr>
        <p:spPr>
          <a:xfrm>
            <a:off x="6291072" y="4797552"/>
            <a:ext cx="3364992" cy="816864"/>
          </a:xfrm>
          <a:prstGeom prst="rect">
            <a:avLst/>
          </a:prstGeom>
          <a:noFill/>
        </p:spPr>
        <p:txBody>
          <a:bodyPr wrap="square">
            <a:spAutoFit/>
          </a:bodyPr>
          <a:lstStyle/>
          <a:p>
            <a:pPr algn="l"/>
            <a:r>
              <a:rPr sz="800" b="0" i="0">
                <a:solidFill>
                  <a:srgbClr val="A0AAB8"/>
                </a:solidFill>
                <a:latin typeface="Calibri"/>
              </a:rPr>
              <a:t>Blind SQLi on staging → DB creds
Credential reuse risk flagged</a:t>
            </a:r>
          </a:p>
        </p:txBody>
      </p:sp>
      <p:sp>
        <p:nvSpPr>
          <p:cNvPr id="73" name="Rectangle 72"/>
          <p:cNvSpPr/>
          <p:nvPr/>
        </p:nvSpPr>
        <p:spPr>
          <a:xfrm>
            <a:off x="6144768" y="5797296"/>
            <a:ext cx="3639312" cy="402336"/>
          </a:xfrm>
          <a:prstGeom prst="rect">
            <a:avLst/>
          </a:prstGeom>
          <a:solidFill>
            <a:srgbClr val="060C1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36208" y="5852160"/>
            <a:ext cx="3502152" cy="310896"/>
          </a:xfrm>
          <a:prstGeom prst="rect">
            <a:avLst/>
          </a:prstGeom>
          <a:noFill/>
        </p:spPr>
        <p:txBody>
          <a:bodyPr wrap="square">
            <a:spAutoFit/>
          </a:bodyPr>
          <a:lstStyle/>
          <a:p>
            <a:pPr algn="l"/>
            <a:r>
              <a:rPr sz="850" b="1" i="0">
                <a:solidFill>
                  <a:srgbClr val="FF4545"/>
                </a:solidFill>
                <a:latin typeface="Calibri"/>
              </a:rPr>
              <a:t>APG ← 3 chains VALIDATED
ASG ← Evidence nodes linked</a:t>
            </a:r>
          </a:p>
        </p:txBody>
      </p:sp>
      <p:cxnSp>
        <p:nvCxnSpPr>
          <p:cNvPr id="75" name="Connector 74"/>
          <p:cNvCxnSpPr/>
          <p:nvPr/>
        </p:nvCxnSpPr>
        <p:spPr>
          <a:xfrm>
            <a:off x="9784080" y="1417320"/>
            <a:ext cx="54864" cy="0"/>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9838944" y="1188720"/>
            <a:ext cx="2395728" cy="5010912"/>
          </a:xfrm>
          <a:prstGeom prst="rect">
            <a:avLst/>
          </a:prstGeom>
          <a:solidFill>
            <a:srgbClr val="10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38944" y="1188720"/>
            <a:ext cx="2395728" cy="457200"/>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12096" y="1243584"/>
            <a:ext cx="2286000" cy="384048"/>
          </a:xfrm>
          <a:prstGeom prst="rect">
            <a:avLst/>
          </a:prstGeom>
          <a:noFill/>
        </p:spPr>
        <p:txBody>
          <a:bodyPr wrap="square">
            <a:spAutoFit/>
          </a:bodyPr>
          <a:lstStyle/>
          <a:p>
            <a:pPr algn="ctr"/>
            <a:r>
              <a:rPr sz="1000" b="1" i="0">
                <a:solidFill>
                  <a:srgbClr val="BD93F9"/>
                </a:solidFill>
                <a:latin typeface="Calibri"/>
              </a:rPr>
              <a:t>PHASE 4
Report</a:t>
            </a:r>
          </a:p>
        </p:txBody>
      </p:sp>
      <p:sp>
        <p:nvSpPr>
          <p:cNvPr id="79" name="TextBox 78"/>
          <p:cNvSpPr txBox="1"/>
          <p:nvPr/>
        </p:nvSpPr>
        <p:spPr>
          <a:xfrm>
            <a:off x="9912096" y="1700784"/>
            <a:ext cx="2286000" cy="201168"/>
          </a:xfrm>
          <a:prstGeom prst="rect">
            <a:avLst/>
          </a:prstGeom>
          <a:noFill/>
        </p:spPr>
        <p:txBody>
          <a:bodyPr wrap="square">
            <a:spAutoFit/>
          </a:bodyPr>
          <a:lstStyle/>
          <a:p>
            <a:pPr algn="l"/>
            <a:r>
              <a:rPr sz="850" b="1" i="0">
                <a:solidFill>
                  <a:srgbClr val="BD93F9"/>
                </a:solidFill>
                <a:latin typeface="Calibri"/>
              </a:rPr>
              <a:t>📝 Report Agent</a:t>
            </a:r>
          </a:p>
        </p:txBody>
      </p:sp>
      <p:sp>
        <p:nvSpPr>
          <p:cNvPr id="80" name="Rectangle 79"/>
          <p:cNvSpPr/>
          <p:nvPr/>
        </p:nvSpPr>
        <p:spPr>
          <a:xfrm>
            <a:off x="9912096" y="1920240"/>
            <a:ext cx="2249424" cy="182880"/>
          </a:xfrm>
          <a:prstGeom prst="rect">
            <a:avLst/>
          </a:prstGeom>
          <a:solidFill>
            <a:srgbClr val="081022"/>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48672" y="1929384"/>
            <a:ext cx="2212848" cy="164592"/>
          </a:xfrm>
          <a:prstGeom prst="rect">
            <a:avLst/>
          </a:prstGeom>
          <a:noFill/>
        </p:spPr>
        <p:txBody>
          <a:bodyPr wrap="square">
            <a:spAutoFit/>
          </a:bodyPr>
          <a:lstStyle/>
          <a:p>
            <a:pPr algn="l"/>
            <a:r>
              <a:rPr sz="700" b="1" i="0">
                <a:solidFill>
                  <a:srgbClr val="BD93F9"/>
                </a:solidFill>
                <a:latin typeface="Calibri"/>
              </a:rPr>
              <a:t>Reads ASG + APG</a:t>
            </a:r>
          </a:p>
        </p:txBody>
      </p:sp>
      <p:sp>
        <p:nvSpPr>
          <p:cNvPr id="82" name="Rectangle 81"/>
          <p:cNvSpPr/>
          <p:nvPr/>
        </p:nvSpPr>
        <p:spPr>
          <a:xfrm>
            <a:off x="9912096" y="2157984"/>
            <a:ext cx="2249424" cy="3493008"/>
          </a:xfrm>
          <a:prstGeom prst="rect">
            <a:avLst/>
          </a:prstGeom>
          <a:solidFill>
            <a:srgbClr val="080E1C"/>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912096" y="2157984"/>
            <a:ext cx="45720" cy="34930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2194560"/>
            <a:ext cx="2121408" cy="237744"/>
          </a:xfrm>
          <a:prstGeom prst="rect">
            <a:avLst/>
          </a:prstGeom>
          <a:noFill/>
        </p:spPr>
        <p:txBody>
          <a:bodyPr wrap="square">
            <a:spAutoFit/>
          </a:bodyPr>
          <a:lstStyle/>
          <a:p>
            <a:pPr algn="l"/>
            <a:r>
              <a:rPr sz="800" b="1" i="0">
                <a:solidFill>
                  <a:srgbClr val="BD93F9"/>
                </a:solidFill>
                <a:latin typeface="Calibri"/>
              </a:rPr>
              <a:t>Output</a:t>
            </a:r>
          </a:p>
        </p:txBody>
      </p:sp>
      <p:sp>
        <p:nvSpPr>
          <p:cNvPr id="85" name="TextBox 84"/>
          <p:cNvSpPr txBox="1"/>
          <p:nvPr/>
        </p:nvSpPr>
        <p:spPr>
          <a:xfrm>
            <a:off x="9985248" y="2432304"/>
            <a:ext cx="2121408" cy="3182112"/>
          </a:xfrm>
          <a:prstGeom prst="rect">
            <a:avLst/>
          </a:prstGeom>
          <a:noFill/>
        </p:spPr>
        <p:txBody>
          <a:bodyPr wrap="square">
            <a:spAutoFit/>
          </a:bodyPr>
          <a:lstStyle/>
          <a:p>
            <a:pPr algn="l"/>
            <a:r>
              <a:rPr sz="800" b="0" i="0">
                <a:solidFill>
                  <a:srgbClr val="A0AAB8"/>
                </a:solidFill>
                <a:latin typeface="Calibri"/>
              </a:rPr>
              <a:t>Executive summary · 4 validated chains
RCE + IDOR + SQLi + exposed DB backup
11 vuln entries · full attack surface map
Evidence at every ChainStep</a:t>
            </a:r>
          </a:p>
        </p:txBody>
      </p:sp>
      <p:sp>
        <p:nvSpPr>
          <p:cNvPr id="86" name="Rectangle 85"/>
          <p:cNvSpPr/>
          <p:nvPr/>
        </p:nvSpPr>
        <p:spPr>
          <a:xfrm>
            <a:off x="9838944" y="5797296"/>
            <a:ext cx="2395728" cy="402336"/>
          </a:xfrm>
          <a:prstGeom prst="rect">
            <a:avLst/>
          </a:prstGeom>
          <a:solidFill>
            <a:srgbClr val="060C1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30384" y="5852160"/>
            <a:ext cx="2258568" cy="310896"/>
          </a:xfrm>
          <a:prstGeom prst="rect">
            <a:avLst/>
          </a:prstGeom>
          <a:noFill/>
        </p:spPr>
        <p:txBody>
          <a:bodyPr wrap="square">
            <a:spAutoFit/>
          </a:bodyPr>
          <a:lstStyle/>
          <a:p>
            <a:pPr algn="l"/>
            <a:r>
              <a:rPr sz="850" b="1" i="0">
                <a:solidFill>
                  <a:srgbClr val="BD93F9"/>
                </a:solidFill>
                <a:latin typeface="Calibri"/>
              </a:rPr>
              <a:t>ZERO manual commands</a:t>
            </a:r>
          </a:p>
        </p:txBody>
      </p:sp>
      <p:sp>
        <p:nvSpPr>
          <p:cNvPr id="88" name="Rectangle 87"/>
          <p:cNvSpPr/>
          <p:nvPr/>
        </p:nvSpPr>
        <p:spPr>
          <a:xfrm>
            <a:off x="164592" y="6236208"/>
            <a:ext cx="11862511" cy="493776"/>
          </a:xfrm>
          <a:prstGeom prst="rect">
            <a:avLst/>
          </a:prstGeom>
          <a:solidFill>
            <a:srgbClr val="08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1168" y="6263640"/>
            <a:ext cx="1663293" cy="256032"/>
          </a:xfrm>
          <a:prstGeom prst="rect">
            <a:avLst/>
          </a:prstGeom>
          <a:noFill/>
        </p:spPr>
        <p:txBody>
          <a:bodyPr wrap="square">
            <a:spAutoFit/>
          </a:bodyPr>
          <a:lstStyle/>
          <a:p>
            <a:pPr algn="l"/>
            <a:r>
              <a:rPr sz="1800" b="1" i="0">
                <a:solidFill>
                  <a:srgbClr val="39FF14"/>
                </a:solidFill>
                <a:latin typeface="Calibri"/>
              </a:rPr>
              <a:t>14</a:t>
            </a:r>
          </a:p>
        </p:txBody>
      </p:sp>
      <p:sp>
        <p:nvSpPr>
          <p:cNvPr id="90" name="TextBox 89"/>
          <p:cNvSpPr txBox="1"/>
          <p:nvPr/>
        </p:nvSpPr>
        <p:spPr>
          <a:xfrm>
            <a:off x="201168" y="6483096"/>
            <a:ext cx="1663293" cy="182880"/>
          </a:xfrm>
          <a:prstGeom prst="rect">
            <a:avLst/>
          </a:prstGeom>
          <a:noFill/>
        </p:spPr>
        <p:txBody>
          <a:bodyPr wrap="square">
            <a:spAutoFit/>
          </a:bodyPr>
          <a:lstStyle/>
          <a:p>
            <a:pPr algn="l"/>
            <a:r>
              <a:rPr sz="750" b="0" i="0">
                <a:solidFill>
                  <a:srgbClr val="A0AAB8"/>
                </a:solidFill>
                <a:latin typeface="Calibri"/>
              </a:rPr>
              <a:t>subdomains</a:t>
            </a:r>
          </a:p>
        </p:txBody>
      </p:sp>
      <p:sp>
        <p:nvSpPr>
          <p:cNvPr id="91" name="TextBox 90"/>
          <p:cNvSpPr txBox="1"/>
          <p:nvPr/>
        </p:nvSpPr>
        <p:spPr>
          <a:xfrm>
            <a:off x="1864461" y="6263640"/>
            <a:ext cx="1663293" cy="256032"/>
          </a:xfrm>
          <a:prstGeom prst="rect">
            <a:avLst/>
          </a:prstGeom>
          <a:noFill/>
        </p:spPr>
        <p:txBody>
          <a:bodyPr wrap="square">
            <a:spAutoFit/>
          </a:bodyPr>
          <a:lstStyle/>
          <a:p>
            <a:pPr algn="l"/>
            <a:r>
              <a:rPr sz="1800" b="1" i="0">
                <a:solidFill>
                  <a:srgbClr val="39FF14"/>
                </a:solidFill>
                <a:latin typeface="Calibri"/>
              </a:rPr>
              <a:t>11</a:t>
            </a:r>
          </a:p>
        </p:txBody>
      </p:sp>
      <p:sp>
        <p:nvSpPr>
          <p:cNvPr id="92" name="TextBox 91"/>
          <p:cNvSpPr txBox="1"/>
          <p:nvPr/>
        </p:nvSpPr>
        <p:spPr>
          <a:xfrm>
            <a:off x="1864461" y="6483096"/>
            <a:ext cx="1663293" cy="182880"/>
          </a:xfrm>
          <a:prstGeom prst="rect">
            <a:avLst/>
          </a:prstGeom>
          <a:noFill/>
        </p:spPr>
        <p:txBody>
          <a:bodyPr wrap="square">
            <a:spAutoFit/>
          </a:bodyPr>
          <a:lstStyle/>
          <a:p>
            <a:pPr algn="l"/>
            <a:r>
              <a:rPr sz="750" b="0" i="0">
                <a:solidFill>
                  <a:srgbClr val="A0AAB8"/>
                </a:solidFill>
                <a:latin typeface="Calibri"/>
              </a:rPr>
              <a:t>live hosts</a:t>
            </a:r>
          </a:p>
        </p:txBody>
      </p:sp>
      <p:sp>
        <p:nvSpPr>
          <p:cNvPr id="93" name="TextBox 92"/>
          <p:cNvSpPr txBox="1"/>
          <p:nvPr/>
        </p:nvSpPr>
        <p:spPr>
          <a:xfrm>
            <a:off x="3527755" y="6263640"/>
            <a:ext cx="1663293" cy="256032"/>
          </a:xfrm>
          <a:prstGeom prst="rect">
            <a:avLst/>
          </a:prstGeom>
          <a:noFill/>
        </p:spPr>
        <p:txBody>
          <a:bodyPr wrap="square">
            <a:spAutoFit/>
          </a:bodyPr>
          <a:lstStyle/>
          <a:p>
            <a:pPr algn="l"/>
            <a:r>
              <a:rPr sz="1800" b="1" i="0">
                <a:solidFill>
                  <a:srgbClr val="00E5FF"/>
                </a:solidFill>
                <a:latin typeface="Calibri"/>
              </a:rPr>
              <a:t>28</a:t>
            </a:r>
          </a:p>
        </p:txBody>
      </p:sp>
      <p:sp>
        <p:nvSpPr>
          <p:cNvPr id="94" name="TextBox 93"/>
          <p:cNvSpPr txBox="1"/>
          <p:nvPr/>
        </p:nvSpPr>
        <p:spPr>
          <a:xfrm>
            <a:off x="3527755" y="6483096"/>
            <a:ext cx="1663293" cy="182880"/>
          </a:xfrm>
          <a:prstGeom prst="rect">
            <a:avLst/>
          </a:prstGeom>
          <a:noFill/>
        </p:spPr>
        <p:txBody>
          <a:bodyPr wrap="square">
            <a:spAutoFit/>
          </a:bodyPr>
          <a:lstStyle/>
          <a:p>
            <a:pPr algn="l"/>
            <a:r>
              <a:rPr sz="750" b="0" i="0">
                <a:solidFill>
                  <a:srgbClr val="A0AAB8"/>
                </a:solidFill>
                <a:latin typeface="Calibri"/>
              </a:rPr>
              <a:t>open ports</a:t>
            </a:r>
          </a:p>
        </p:txBody>
      </p:sp>
      <p:sp>
        <p:nvSpPr>
          <p:cNvPr id="95" name="TextBox 94"/>
          <p:cNvSpPr txBox="1"/>
          <p:nvPr/>
        </p:nvSpPr>
        <p:spPr>
          <a:xfrm>
            <a:off x="5191048" y="6263640"/>
            <a:ext cx="1663293" cy="256032"/>
          </a:xfrm>
          <a:prstGeom prst="rect">
            <a:avLst/>
          </a:prstGeom>
          <a:noFill/>
        </p:spPr>
        <p:txBody>
          <a:bodyPr wrap="square">
            <a:spAutoFit/>
          </a:bodyPr>
          <a:lstStyle/>
          <a:p>
            <a:pPr algn="l"/>
            <a:r>
              <a:rPr sz="1800" b="1" i="0">
                <a:solidFill>
                  <a:srgbClr val="00E5FF"/>
                </a:solidFill>
                <a:latin typeface="Calibri"/>
              </a:rPr>
              <a:t>19</a:t>
            </a:r>
          </a:p>
        </p:txBody>
      </p:sp>
      <p:sp>
        <p:nvSpPr>
          <p:cNvPr id="96" name="TextBox 95"/>
          <p:cNvSpPr txBox="1"/>
          <p:nvPr/>
        </p:nvSpPr>
        <p:spPr>
          <a:xfrm>
            <a:off x="5191048" y="6483096"/>
            <a:ext cx="1663293" cy="182880"/>
          </a:xfrm>
          <a:prstGeom prst="rect">
            <a:avLst/>
          </a:prstGeom>
          <a:noFill/>
        </p:spPr>
        <p:txBody>
          <a:bodyPr wrap="square">
            <a:spAutoFit/>
          </a:bodyPr>
          <a:lstStyle/>
          <a:p>
            <a:pPr algn="l"/>
            <a:r>
              <a:rPr sz="750" b="0" i="0">
                <a:solidFill>
                  <a:srgbClr val="A0AAB8"/>
                </a:solidFill>
                <a:latin typeface="Calibri"/>
              </a:rPr>
              <a:t>endpoints</a:t>
            </a:r>
          </a:p>
        </p:txBody>
      </p:sp>
      <p:sp>
        <p:nvSpPr>
          <p:cNvPr id="97" name="TextBox 96"/>
          <p:cNvSpPr txBox="1"/>
          <p:nvPr/>
        </p:nvSpPr>
        <p:spPr>
          <a:xfrm>
            <a:off x="6854342" y="6263640"/>
            <a:ext cx="1663293" cy="256032"/>
          </a:xfrm>
          <a:prstGeom prst="rect">
            <a:avLst/>
          </a:prstGeom>
          <a:noFill/>
        </p:spPr>
        <p:txBody>
          <a:bodyPr wrap="square">
            <a:spAutoFit/>
          </a:bodyPr>
          <a:lstStyle/>
          <a:p>
            <a:pPr algn="l"/>
            <a:r>
              <a:rPr sz="1800" b="1" i="0">
                <a:solidFill>
                  <a:srgbClr val="FFD700"/>
                </a:solidFill>
                <a:latin typeface="Calibri"/>
              </a:rPr>
              <a:t>11</a:t>
            </a:r>
          </a:p>
        </p:txBody>
      </p:sp>
      <p:sp>
        <p:nvSpPr>
          <p:cNvPr id="98" name="TextBox 97"/>
          <p:cNvSpPr txBox="1"/>
          <p:nvPr/>
        </p:nvSpPr>
        <p:spPr>
          <a:xfrm>
            <a:off x="6854342" y="6483096"/>
            <a:ext cx="1663293" cy="182880"/>
          </a:xfrm>
          <a:prstGeom prst="rect">
            <a:avLst/>
          </a:prstGeom>
          <a:noFill/>
        </p:spPr>
        <p:txBody>
          <a:bodyPr wrap="square">
            <a:spAutoFit/>
          </a:bodyPr>
          <a:lstStyle/>
          <a:p>
            <a:pPr algn="l"/>
            <a:r>
              <a:rPr sz="750" b="0" i="0">
                <a:solidFill>
                  <a:srgbClr val="A0AAB8"/>
                </a:solidFill>
                <a:latin typeface="Calibri"/>
              </a:rPr>
              <a:t>vulnerabilities</a:t>
            </a:r>
          </a:p>
        </p:txBody>
      </p:sp>
      <p:sp>
        <p:nvSpPr>
          <p:cNvPr id="99" name="TextBox 98"/>
          <p:cNvSpPr txBox="1"/>
          <p:nvPr/>
        </p:nvSpPr>
        <p:spPr>
          <a:xfrm>
            <a:off x="8517635" y="6263640"/>
            <a:ext cx="1663293" cy="256032"/>
          </a:xfrm>
          <a:prstGeom prst="rect">
            <a:avLst/>
          </a:prstGeom>
          <a:noFill/>
        </p:spPr>
        <p:txBody>
          <a:bodyPr wrap="square">
            <a:spAutoFit/>
          </a:bodyPr>
          <a:lstStyle/>
          <a:p>
            <a:pPr algn="l"/>
            <a:r>
              <a:rPr sz="1800" b="1" i="0">
                <a:solidFill>
                  <a:srgbClr val="FF4545"/>
                </a:solidFill>
                <a:latin typeface="Calibri"/>
              </a:rPr>
              <a:t>4</a:t>
            </a:r>
          </a:p>
        </p:txBody>
      </p:sp>
      <p:sp>
        <p:nvSpPr>
          <p:cNvPr id="100" name="TextBox 99"/>
          <p:cNvSpPr txBox="1"/>
          <p:nvPr/>
        </p:nvSpPr>
        <p:spPr>
          <a:xfrm>
            <a:off x="8517635" y="6483096"/>
            <a:ext cx="1663293" cy="182880"/>
          </a:xfrm>
          <a:prstGeom prst="rect">
            <a:avLst/>
          </a:prstGeom>
          <a:noFill/>
        </p:spPr>
        <p:txBody>
          <a:bodyPr wrap="square">
            <a:spAutoFit/>
          </a:bodyPr>
          <a:lstStyle/>
          <a:p>
            <a:pPr algn="l"/>
            <a:r>
              <a:rPr sz="750" b="0" i="0">
                <a:solidFill>
                  <a:srgbClr val="A0AAB8"/>
                </a:solidFill>
                <a:latin typeface="Calibri"/>
              </a:rPr>
              <a:t>validated chains</a:t>
            </a:r>
          </a:p>
        </p:txBody>
      </p:sp>
      <p:sp>
        <p:nvSpPr>
          <p:cNvPr id="101" name="TextBox 100"/>
          <p:cNvSpPr txBox="1"/>
          <p:nvPr/>
        </p:nvSpPr>
        <p:spPr>
          <a:xfrm>
            <a:off x="10180929" y="6263640"/>
            <a:ext cx="1663293" cy="256032"/>
          </a:xfrm>
          <a:prstGeom prst="rect">
            <a:avLst/>
          </a:prstGeom>
          <a:noFill/>
        </p:spPr>
        <p:txBody>
          <a:bodyPr wrap="square">
            <a:spAutoFit/>
          </a:bodyPr>
          <a:lstStyle/>
          <a:p>
            <a:pPr algn="l"/>
            <a:r>
              <a:rPr sz="1800" b="1" i="0">
                <a:solidFill>
                  <a:srgbClr val="BD93F9"/>
                </a:solidFill>
                <a:latin typeface="Calibri"/>
              </a:rPr>
              <a:t>0</a:t>
            </a:r>
          </a:p>
        </p:txBody>
      </p:sp>
      <p:sp>
        <p:nvSpPr>
          <p:cNvPr id="102" name="TextBox 101"/>
          <p:cNvSpPr txBox="1"/>
          <p:nvPr/>
        </p:nvSpPr>
        <p:spPr>
          <a:xfrm>
            <a:off x="10180929" y="6483096"/>
            <a:ext cx="1663293" cy="182880"/>
          </a:xfrm>
          <a:prstGeom prst="rect">
            <a:avLst/>
          </a:prstGeom>
          <a:noFill/>
        </p:spPr>
        <p:txBody>
          <a:bodyPr wrap="square">
            <a:spAutoFit/>
          </a:bodyPr>
          <a:lstStyle/>
          <a:p>
            <a:pPr algn="l"/>
            <a:r>
              <a:rPr sz="750" b="0" i="0">
                <a:solidFill>
                  <a:srgbClr val="A0AAB8"/>
                </a:solidFill>
                <a:latin typeface="Calibri"/>
              </a:rPr>
              <a:t>manual commands</a:t>
            </a:r>
          </a:p>
        </p:txBody>
      </p:sp>
      <p:sp>
        <p:nvSpPr>
          <p:cNvPr id="103" name="TextBox 102"/>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19456"/>
          </a:xfrm>
          <a:prstGeom prst="rect">
            <a:avLst/>
          </a:prstGeom>
          <a:noFill/>
        </p:spPr>
        <p:txBody>
          <a:bodyPr wrap="square">
            <a:spAutoFit/>
          </a:bodyPr>
          <a:lstStyle/>
          <a:p>
            <a:pPr algn="l"/>
            <a:r>
              <a:rPr sz="1000" b="1" i="0">
                <a:solidFill>
                  <a:srgbClr val="FFD700"/>
                </a:solidFill>
                <a:latin typeface="Calibri"/>
              </a:rPr>
              <a:t>ATTACK CHAIN LIFECYCLE</a:t>
            </a:r>
          </a:p>
        </p:txBody>
      </p:sp>
      <p:sp>
        <p:nvSpPr>
          <p:cNvPr id="6" name="TextBox 5"/>
          <p:cNvSpPr txBox="1"/>
          <p:nvPr/>
        </p:nvSpPr>
        <p:spPr>
          <a:xfrm>
            <a:off x="274320" y="283464"/>
            <a:ext cx="10972800" cy="420624"/>
          </a:xfrm>
          <a:prstGeom prst="rect">
            <a:avLst/>
          </a:prstGeom>
          <a:noFill/>
        </p:spPr>
        <p:txBody>
          <a:bodyPr wrap="square">
            <a:spAutoFit/>
          </a:bodyPr>
          <a:lstStyle/>
          <a:p>
            <a:pPr algn="l"/>
            <a:r>
              <a:rPr sz="2400" b="1" i="0">
                <a:solidFill>
                  <a:srgbClr val="FFFFFF"/>
                </a:solidFill>
                <a:latin typeface="Calibri"/>
              </a:rPr>
              <a:t>APG Chain State Machine + Validation Agent Self-Debugging Loop</a:t>
            </a:r>
          </a:p>
        </p:txBody>
      </p:sp>
      <p:sp>
        <p:nvSpPr>
          <p:cNvPr id="7" name="Rectangle 6"/>
          <p:cNvSpPr/>
          <p:nvPr/>
        </p:nvSpPr>
        <p:spPr>
          <a:xfrm>
            <a:off x="228600" y="804672"/>
            <a:ext cx="2331720" cy="17830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804672"/>
            <a:ext cx="23317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841248"/>
            <a:ext cx="2331720" cy="228600"/>
          </a:xfrm>
          <a:prstGeom prst="rect">
            <a:avLst/>
          </a:prstGeom>
          <a:noFill/>
        </p:spPr>
        <p:txBody>
          <a:bodyPr wrap="square">
            <a:spAutoFit/>
          </a:bodyPr>
          <a:lstStyle/>
          <a:p>
            <a:pPr algn="ctr"/>
            <a:r>
              <a:rPr sz="950" b="1" i="0">
                <a:solidFill>
                  <a:srgbClr val="0A0D1A"/>
                </a:solidFill>
                <a:latin typeface="Calibri"/>
              </a:rPr>
              <a:t>HYPOTHESIZED</a:t>
            </a:r>
          </a:p>
        </p:txBody>
      </p:sp>
      <p:sp>
        <p:nvSpPr>
          <p:cNvPr id="10" name="TextBox 9"/>
          <p:cNvSpPr txBox="1"/>
          <p:nvPr/>
        </p:nvSpPr>
        <p:spPr>
          <a:xfrm>
            <a:off x="320040" y="1152144"/>
            <a:ext cx="2167128" cy="1362456"/>
          </a:xfrm>
          <a:prstGeom prst="rect">
            <a:avLst/>
          </a:prstGeom>
          <a:noFill/>
        </p:spPr>
        <p:txBody>
          <a:bodyPr wrap="square">
            <a:spAutoFit/>
          </a:bodyPr>
          <a:lstStyle/>
          <a:p>
            <a:pPr algn="ctr"/>
            <a:r>
              <a:rPr sz="900" b="0" i="0">
                <a:solidFill>
                  <a:srgbClr val="A0AAB8"/>
                </a:solidFill>
                <a:latin typeface="Calibri"/>
              </a:rPr>
              <a:t>Commander inferred a possible
chain from ASG Vulnerability nodes.
Not yet tested.</a:t>
            </a:r>
          </a:p>
        </p:txBody>
      </p:sp>
      <p:cxnSp>
        <p:nvCxnSpPr>
          <p:cNvPr id="11" name="Connector 10"/>
          <p:cNvCxnSpPr/>
          <p:nvPr/>
        </p:nvCxnSpPr>
        <p:spPr>
          <a:xfrm>
            <a:off x="2560320" y="1696212.0"/>
            <a:ext cx="237744"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98064" y="804672"/>
            <a:ext cx="2331720" cy="1783080"/>
          </a:xfrm>
          <a:prstGeom prst="rect">
            <a:avLst/>
          </a:prstGeom>
          <a:solidFill>
            <a:srgbClr val="284008"/>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8064"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841248"/>
            <a:ext cx="2331720" cy="228600"/>
          </a:xfrm>
          <a:prstGeom prst="rect">
            <a:avLst/>
          </a:prstGeom>
          <a:noFill/>
        </p:spPr>
        <p:txBody>
          <a:bodyPr wrap="square">
            <a:spAutoFit/>
          </a:bodyPr>
          <a:lstStyle/>
          <a:p>
            <a:pPr algn="ctr"/>
            <a:r>
              <a:rPr sz="950" b="1" i="0">
                <a:solidFill>
                  <a:srgbClr val="0A0D1A"/>
                </a:solidFill>
                <a:latin typeface="Calibri"/>
              </a:rPr>
              <a:t>PARTIALLY
VALIDATED</a:t>
            </a:r>
          </a:p>
        </p:txBody>
      </p:sp>
      <p:sp>
        <p:nvSpPr>
          <p:cNvPr id="15" name="TextBox 14"/>
          <p:cNvSpPr txBox="1"/>
          <p:nvPr/>
        </p:nvSpPr>
        <p:spPr>
          <a:xfrm>
            <a:off x="2889504" y="1152144"/>
            <a:ext cx="2167128" cy="1362456"/>
          </a:xfrm>
          <a:prstGeom prst="rect">
            <a:avLst/>
          </a:prstGeom>
          <a:noFill/>
        </p:spPr>
        <p:txBody>
          <a:bodyPr wrap="square">
            <a:spAutoFit/>
          </a:bodyPr>
          <a:lstStyle/>
          <a:p>
            <a:pPr algn="ctr"/>
            <a:r>
              <a:rPr sz="900" b="0" i="0">
                <a:solidFill>
                  <a:srgbClr val="A0AAB8"/>
                </a:solidFill>
                <a:latin typeface="Calibri"/>
              </a:rPr>
              <a:t>One or more ChainSteps confirmed.
Chain not complete end-to-end.
Validation in progress.</a:t>
            </a:r>
          </a:p>
        </p:txBody>
      </p:sp>
      <p:sp>
        <p:nvSpPr>
          <p:cNvPr id="16" name="Rectangle 15"/>
          <p:cNvSpPr/>
          <p:nvPr/>
        </p:nvSpPr>
        <p:spPr>
          <a:xfrm>
            <a:off x="5038344" y="1531620"/>
            <a:ext cx="329184" cy="329184"/>
          </a:xfrm>
          <a:prstGeom prst="rect">
            <a:avLst/>
          </a:prstGeom>
          <a:solidFill>
            <a:srgbClr val="FFD700"/>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a:off x="5038344" y="1696212.0"/>
            <a:ext cx="91440"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80" y="804672"/>
            <a:ext cx="2331720" cy="1783080"/>
          </a:xfrm>
          <a:prstGeom prst="rect">
            <a:avLst/>
          </a:prstGeom>
          <a:solidFill>
            <a:srgbClr val="062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841248"/>
            <a:ext cx="2331720" cy="228600"/>
          </a:xfrm>
          <a:prstGeom prst="rect">
            <a:avLst/>
          </a:prstGeom>
          <a:noFill/>
        </p:spPr>
        <p:txBody>
          <a:bodyPr wrap="square">
            <a:spAutoFit/>
          </a:bodyPr>
          <a:lstStyle/>
          <a:p>
            <a:pPr algn="ctr"/>
            <a:r>
              <a:rPr sz="950" b="1" i="0">
                <a:solidFill>
                  <a:srgbClr val="0A0D1A"/>
                </a:solidFill>
                <a:latin typeface="Calibri"/>
              </a:rPr>
              <a:t>VALIDATED</a:t>
            </a:r>
          </a:p>
        </p:txBody>
      </p:sp>
      <p:sp>
        <p:nvSpPr>
          <p:cNvPr id="21" name="TextBox 20"/>
          <p:cNvSpPr txBox="1"/>
          <p:nvPr/>
        </p:nvSpPr>
        <p:spPr>
          <a:xfrm>
            <a:off x="5532120" y="1152144"/>
            <a:ext cx="2167128" cy="1362456"/>
          </a:xfrm>
          <a:prstGeom prst="rect">
            <a:avLst/>
          </a:prstGeom>
          <a:noFill/>
        </p:spPr>
        <p:txBody>
          <a:bodyPr wrap="square">
            <a:spAutoFit/>
          </a:bodyPr>
          <a:lstStyle/>
          <a:p>
            <a:pPr algn="ctr"/>
            <a:r>
              <a:rPr sz="900" b="0" i="0">
                <a:solidFill>
                  <a:srgbClr val="A0AAB8"/>
                </a:solidFill>
                <a:latin typeface="Calibri"/>
              </a:rPr>
              <a:t>All ChainSteps confirmed with
linked Evidence. Impact demonstrated.
Mission success for this chain.</a:t>
            </a:r>
          </a:p>
        </p:txBody>
      </p:sp>
      <p:cxnSp>
        <p:nvCxnSpPr>
          <p:cNvPr id="22" name="Connector 21"/>
          <p:cNvCxnSpPr/>
          <p:nvPr/>
        </p:nvCxnSpPr>
        <p:spPr>
          <a:xfrm>
            <a:off x="5367528" y="1604772.0"/>
            <a:ext cx="73152" cy="0.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04104" y="1367028"/>
            <a:ext cx="1097280" cy="201168"/>
          </a:xfrm>
          <a:prstGeom prst="rect">
            <a:avLst/>
          </a:prstGeom>
          <a:noFill/>
        </p:spPr>
        <p:txBody>
          <a:bodyPr wrap="square">
            <a:spAutoFit/>
          </a:bodyPr>
          <a:lstStyle/>
          <a:p>
            <a:pPr algn="l"/>
            <a:r>
              <a:rPr sz="800" b="0" i="1">
                <a:solidFill>
                  <a:srgbClr val="39FF14"/>
                </a:solidFill>
                <a:latin typeface="Calibri"/>
              </a:rPr>
              <a:t>chain succeeds</a:t>
            </a:r>
          </a:p>
        </p:txBody>
      </p:sp>
      <p:sp>
        <p:nvSpPr>
          <p:cNvPr id="24" name="Rectangle 23"/>
          <p:cNvSpPr/>
          <p:nvPr/>
        </p:nvSpPr>
        <p:spPr>
          <a:xfrm>
            <a:off x="5440680" y="2843784"/>
            <a:ext cx="2331720" cy="1783080"/>
          </a:xfrm>
          <a:prstGeom prst="rect">
            <a:avLst/>
          </a:prstGeom>
          <a:solidFill>
            <a:srgbClr val="28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2843784"/>
            <a:ext cx="233172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2880360"/>
            <a:ext cx="2331720" cy="228600"/>
          </a:xfrm>
          <a:prstGeom prst="rect">
            <a:avLst/>
          </a:prstGeom>
          <a:noFill/>
        </p:spPr>
        <p:txBody>
          <a:bodyPr wrap="square">
            <a:spAutoFit/>
          </a:bodyPr>
          <a:lstStyle/>
          <a:p>
            <a:pPr algn="ctr"/>
            <a:r>
              <a:rPr sz="950" b="1" i="0">
                <a:solidFill>
                  <a:srgbClr val="0A0D1A"/>
                </a:solidFill>
                <a:latin typeface="Calibri"/>
              </a:rPr>
              <a:t>RULED_OUT</a:t>
            </a:r>
          </a:p>
        </p:txBody>
      </p:sp>
      <p:sp>
        <p:nvSpPr>
          <p:cNvPr id="27" name="TextBox 26"/>
          <p:cNvSpPr txBox="1"/>
          <p:nvPr/>
        </p:nvSpPr>
        <p:spPr>
          <a:xfrm>
            <a:off x="5532120" y="3191256"/>
            <a:ext cx="2167128" cy="1362456"/>
          </a:xfrm>
          <a:prstGeom prst="rect">
            <a:avLst/>
          </a:prstGeom>
          <a:noFill/>
        </p:spPr>
        <p:txBody>
          <a:bodyPr wrap="square">
            <a:spAutoFit/>
          </a:bodyPr>
          <a:lstStyle/>
          <a:p>
            <a:pPr algn="ctr"/>
            <a:r>
              <a:rPr sz="900" b="0" i="0">
                <a:solidFill>
                  <a:srgbClr val="A0AAB8"/>
                </a:solidFill>
                <a:latin typeface="Calibri"/>
              </a:rPr>
              <a:t>A required ChainStep failed after
max retries. Chain not exploitable
as hypothesized. Commander re-plans.</a:t>
            </a:r>
          </a:p>
        </p:txBody>
      </p:sp>
      <p:cxnSp>
        <p:nvCxnSpPr>
          <p:cNvPr id="28" name="Connector 27"/>
          <p:cNvCxnSpPr/>
          <p:nvPr/>
        </p:nvCxnSpPr>
        <p:spPr>
          <a:xfrm>
            <a:off x="5367528" y="1787652.0"/>
            <a:ext cx="73152" cy="1856232.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04104" y="1897380"/>
            <a:ext cx="1234440" cy="201168"/>
          </a:xfrm>
          <a:prstGeom prst="rect">
            <a:avLst/>
          </a:prstGeom>
          <a:noFill/>
        </p:spPr>
        <p:txBody>
          <a:bodyPr wrap="square">
            <a:spAutoFit/>
          </a:bodyPr>
          <a:lstStyle/>
          <a:p>
            <a:pPr algn="l"/>
            <a:r>
              <a:rPr sz="800" b="0" i="1">
                <a:solidFill>
                  <a:srgbClr val="FF4545"/>
                </a:solidFill>
                <a:latin typeface="Calibri"/>
              </a:rPr>
              <a:t>step fails after cap</a:t>
            </a:r>
          </a:p>
        </p:txBody>
      </p:sp>
      <p:sp>
        <p:nvSpPr>
          <p:cNvPr id="30" name="Rectangle 29"/>
          <p:cNvSpPr/>
          <p:nvPr/>
        </p:nvSpPr>
        <p:spPr>
          <a:xfrm>
            <a:off x="164592" y="4846320"/>
            <a:ext cx="7132320" cy="1755648"/>
          </a:xfrm>
          <a:prstGeom prst="rect">
            <a:avLst/>
          </a:prstGeom>
          <a:solidFill>
            <a:srgbClr val="080C1E"/>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4846320"/>
            <a:ext cx="7132320"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4592" y="4882896"/>
            <a:ext cx="7132320" cy="201168"/>
          </a:xfrm>
          <a:prstGeom prst="rect">
            <a:avLst/>
          </a:prstGeom>
          <a:noFill/>
        </p:spPr>
        <p:txBody>
          <a:bodyPr wrap="square">
            <a:spAutoFit/>
          </a:bodyPr>
          <a:lstStyle/>
          <a:p>
            <a:pPr algn="ctr"/>
            <a:r>
              <a:rPr sz="900" b="1" i="0">
                <a:solidFill>
                  <a:srgbClr val="0A0D1A"/>
                </a:solidFill>
                <a:latin typeface="Calibri"/>
              </a:rPr>
              <a:t>🎯  Validation Agent — Self-Debugging Loop  (on ChainStep failure)</a:t>
            </a:r>
          </a:p>
        </p:txBody>
      </p:sp>
      <p:sp>
        <p:nvSpPr>
          <p:cNvPr id="33" name="Rectangle 32"/>
          <p:cNvSpPr/>
          <p:nvPr/>
        </p:nvSpPr>
        <p:spPr>
          <a:xfrm>
            <a:off x="301752"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01752"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1752" y="5193792"/>
            <a:ext cx="1428750" cy="182880"/>
          </a:xfrm>
          <a:prstGeom prst="rect">
            <a:avLst/>
          </a:prstGeom>
          <a:noFill/>
        </p:spPr>
        <p:txBody>
          <a:bodyPr wrap="square">
            <a:spAutoFit/>
          </a:bodyPr>
          <a:lstStyle/>
          <a:p>
            <a:pPr algn="ctr"/>
            <a:r>
              <a:rPr sz="800" b="1" i="0">
                <a:solidFill>
                  <a:srgbClr val="0A0D1A"/>
                </a:solidFill>
                <a:latin typeface="Calibri"/>
              </a:rPr>
              <a:t>ATTEMPT</a:t>
            </a:r>
          </a:p>
        </p:txBody>
      </p:sp>
      <p:sp>
        <p:nvSpPr>
          <p:cNvPr id="36" name="TextBox 35"/>
          <p:cNvSpPr txBox="1"/>
          <p:nvPr/>
        </p:nvSpPr>
        <p:spPr>
          <a:xfrm>
            <a:off x="356616" y="5422392"/>
            <a:ext cx="1337310" cy="1078992"/>
          </a:xfrm>
          <a:prstGeom prst="rect">
            <a:avLst/>
          </a:prstGeom>
          <a:noFill/>
        </p:spPr>
        <p:txBody>
          <a:bodyPr wrap="square">
            <a:spAutoFit/>
          </a:bodyPr>
          <a:lstStyle/>
          <a:p>
            <a:pPr algn="ctr"/>
            <a:r>
              <a:rPr sz="800" b="0" i="0">
                <a:solidFill>
                  <a:srgbClr val="A0AAB8"/>
                </a:solidFill>
                <a:latin typeface="Calibri"/>
              </a:rPr>
              <a:t>Execute tool
against target</a:t>
            </a:r>
          </a:p>
        </p:txBody>
      </p:sp>
      <p:sp>
        <p:nvSpPr>
          <p:cNvPr id="37" name="Rectangle 36"/>
          <p:cNvSpPr/>
          <p:nvPr/>
        </p:nvSpPr>
        <p:spPr>
          <a:xfrm>
            <a:off x="1803654"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03654"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03654" y="5193792"/>
            <a:ext cx="1428750" cy="182880"/>
          </a:xfrm>
          <a:prstGeom prst="rect">
            <a:avLst/>
          </a:prstGeom>
          <a:noFill/>
        </p:spPr>
        <p:txBody>
          <a:bodyPr wrap="square">
            <a:spAutoFit/>
          </a:bodyPr>
          <a:lstStyle/>
          <a:p>
            <a:pPr algn="ctr"/>
            <a:r>
              <a:rPr sz="800" b="1" i="0">
                <a:solidFill>
                  <a:srgbClr val="0A0D1A"/>
                </a:solidFill>
                <a:latin typeface="Calibri"/>
              </a:rPr>
              <a:t>DIAGNOSE</a:t>
            </a:r>
          </a:p>
        </p:txBody>
      </p:sp>
      <p:sp>
        <p:nvSpPr>
          <p:cNvPr id="40" name="TextBox 39"/>
          <p:cNvSpPr txBox="1"/>
          <p:nvPr/>
        </p:nvSpPr>
        <p:spPr>
          <a:xfrm>
            <a:off x="1858518" y="5422392"/>
            <a:ext cx="1337310" cy="1078992"/>
          </a:xfrm>
          <a:prstGeom prst="rect">
            <a:avLst/>
          </a:prstGeom>
          <a:noFill/>
        </p:spPr>
        <p:txBody>
          <a:bodyPr wrap="square">
            <a:spAutoFit/>
          </a:bodyPr>
          <a:lstStyle/>
          <a:p>
            <a:pPr algn="ctr"/>
            <a:r>
              <a:rPr sz="800" b="0" i="0">
                <a:solidFill>
                  <a:srgbClr val="A0AAB8"/>
                </a:solidFill>
                <a:latin typeface="Calibri"/>
              </a:rPr>
              <a:t>Analyze failure:
wrong param · auth
version mismatch</a:t>
            </a:r>
          </a:p>
        </p:txBody>
      </p:sp>
      <p:cxnSp>
        <p:nvCxnSpPr>
          <p:cNvPr id="41" name="Connector 40"/>
          <p:cNvCxnSpPr/>
          <p:nvPr/>
        </p:nvCxnSpPr>
        <p:spPr>
          <a:xfrm>
            <a:off x="1730502.0" y="5852160.0"/>
            <a:ext cx="73152.0" cy="0.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305556" y="5166360"/>
            <a:ext cx="1428750" cy="1371600"/>
          </a:xfrm>
          <a:prstGeom prst="rect">
            <a:avLst/>
          </a:prstGeom>
          <a:solidFill>
            <a:srgbClr val="10142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05556" y="5166360"/>
            <a:ext cx="142875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5556" y="5193792"/>
            <a:ext cx="1428750" cy="182880"/>
          </a:xfrm>
          <a:prstGeom prst="rect">
            <a:avLst/>
          </a:prstGeom>
          <a:noFill/>
        </p:spPr>
        <p:txBody>
          <a:bodyPr wrap="square">
            <a:spAutoFit/>
          </a:bodyPr>
          <a:lstStyle/>
          <a:p>
            <a:pPr algn="ctr"/>
            <a:r>
              <a:rPr sz="800" b="1" i="0">
                <a:solidFill>
                  <a:srgbClr val="0A0D1A"/>
                </a:solidFill>
                <a:latin typeface="Calibri"/>
              </a:rPr>
              <a:t>CONTEXTUALIZE</a:t>
            </a:r>
          </a:p>
        </p:txBody>
      </p:sp>
      <p:sp>
        <p:nvSpPr>
          <p:cNvPr id="45" name="TextBox 44"/>
          <p:cNvSpPr txBox="1"/>
          <p:nvPr/>
        </p:nvSpPr>
        <p:spPr>
          <a:xfrm>
            <a:off x="3360420" y="5422392"/>
            <a:ext cx="1337310" cy="1078992"/>
          </a:xfrm>
          <a:prstGeom prst="rect">
            <a:avLst/>
          </a:prstGeom>
          <a:noFill/>
        </p:spPr>
        <p:txBody>
          <a:bodyPr wrap="square">
            <a:spAutoFit/>
          </a:bodyPr>
          <a:lstStyle/>
          <a:p>
            <a:pPr algn="ctr"/>
            <a:r>
              <a:rPr sz="800" b="0" i="0">
                <a:solidFill>
                  <a:srgbClr val="A0AAB8"/>
                </a:solidFill>
                <a:latin typeface="Calibri"/>
              </a:rPr>
              <a:t>Query ASG for
additional node
attributes</a:t>
            </a:r>
          </a:p>
        </p:txBody>
      </p:sp>
      <p:cxnSp>
        <p:nvCxnSpPr>
          <p:cNvPr id="46" name="Connector 45"/>
          <p:cNvCxnSpPr/>
          <p:nvPr/>
        </p:nvCxnSpPr>
        <p:spPr>
          <a:xfrm>
            <a:off x="3232404.0" y="5852160.0"/>
            <a:ext cx="73152.0" cy="0.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807458" y="5166360"/>
            <a:ext cx="1428750" cy="1371600"/>
          </a:xfrm>
          <a:prstGeom prst="rect">
            <a:avLst/>
          </a:prstGeom>
          <a:solidFill>
            <a:srgbClr val="10142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07458" y="5166360"/>
            <a:ext cx="142875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07458" y="5193792"/>
            <a:ext cx="1428750" cy="182880"/>
          </a:xfrm>
          <a:prstGeom prst="rect">
            <a:avLst/>
          </a:prstGeom>
          <a:noFill/>
        </p:spPr>
        <p:txBody>
          <a:bodyPr wrap="square">
            <a:spAutoFit/>
          </a:bodyPr>
          <a:lstStyle/>
          <a:p>
            <a:pPr algn="ctr"/>
            <a:r>
              <a:rPr sz="800" b="1" i="0">
                <a:solidFill>
                  <a:srgbClr val="0A0D1A"/>
                </a:solidFill>
                <a:latin typeface="Calibri"/>
              </a:rPr>
              <a:t>ADAPT</a:t>
            </a:r>
          </a:p>
        </p:txBody>
      </p:sp>
      <p:sp>
        <p:nvSpPr>
          <p:cNvPr id="50" name="TextBox 49"/>
          <p:cNvSpPr txBox="1"/>
          <p:nvPr/>
        </p:nvSpPr>
        <p:spPr>
          <a:xfrm>
            <a:off x="4862322" y="5422392"/>
            <a:ext cx="1337310" cy="1078992"/>
          </a:xfrm>
          <a:prstGeom prst="rect">
            <a:avLst/>
          </a:prstGeom>
          <a:noFill/>
        </p:spPr>
        <p:txBody>
          <a:bodyPr wrap="square">
            <a:spAutoFit/>
          </a:bodyPr>
          <a:lstStyle/>
          <a:p>
            <a:pPr algn="ctr"/>
            <a:r>
              <a:rPr sz="800" b="0" i="0">
                <a:solidFill>
                  <a:srgbClr val="A0AAB8"/>
                </a:solidFill>
                <a:latin typeface="Calibri"/>
              </a:rPr>
              <a:t>Modify tool call
based on diagnosis
+ context</a:t>
            </a:r>
          </a:p>
        </p:txBody>
      </p:sp>
      <p:cxnSp>
        <p:nvCxnSpPr>
          <p:cNvPr id="51" name="Connector 50"/>
          <p:cNvCxnSpPr/>
          <p:nvPr/>
        </p:nvCxnSpPr>
        <p:spPr>
          <a:xfrm>
            <a:off x="4734306.0" y="5852160.0"/>
            <a:ext cx="73152.0" cy="0.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6309360" y="5166360"/>
            <a:ext cx="850392" cy="1371600"/>
          </a:xfrm>
          <a:prstGeom prst="rect">
            <a:avLst/>
          </a:prstGeom>
          <a:solidFill>
            <a:srgbClr val="22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5166360"/>
            <a:ext cx="850392"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5193792"/>
            <a:ext cx="850392" cy="182880"/>
          </a:xfrm>
          <a:prstGeom prst="rect">
            <a:avLst/>
          </a:prstGeom>
          <a:noFill/>
        </p:spPr>
        <p:txBody>
          <a:bodyPr wrap="square">
            <a:spAutoFit/>
          </a:bodyPr>
          <a:lstStyle/>
          <a:p>
            <a:pPr algn="ctr"/>
            <a:r>
              <a:rPr sz="800" b="1" i="0">
                <a:solidFill>
                  <a:srgbClr val="0A0D1A"/>
                </a:solidFill>
                <a:latin typeface="Calibri"/>
              </a:rPr>
              <a:t>CAP  (×3 max)</a:t>
            </a:r>
          </a:p>
        </p:txBody>
      </p:sp>
      <p:cxnSp>
        <p:nvCxnSpPr>
          <p:cNvPr id="55" name="Connector 54"/>
          <p:cNvCxnSpPr/>
          <p:nvPr/>
        </p:nvCxnSpPr>
        <p:spPr>
          <a:xfrm>
            <a:off x="6236208.0" y="5852160.0"/>
            <a:ext cx="73152.0" cy="0.0"/>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364224" y="5422392"/>
            <a:ext cx="758952" cy="1097280"/>
          </a:xfrm>
          <a:prstGeom prst="rect">
            <a:avLst/>
          </a:prstGeom>
          <a:noFill/>
        </p:spPr>
        <p:txBody>
          <a:bodyPr wrap="square">
            <a:spAutoFit/>
          </a:bodyPr>
          <a:lstStyle/>
          <a:p>
            <a:pPr algn="l"/>
            <a:r>
              <a:rPr sz="800" b="0" i="0">
                <a:solidFill>
                  <a:srgbClr val="A0AAB8"/>
                </a:solidFill>
                <a:latin typeface="Calibri"/>
              </a:rPr>
              <a:t>→ Mark ChainStep
   RULED_OUT
→ Write failure
   to ASG node</a:t>
            </a:r>
          </a:p>
        </p:txBody>
      </p:sp>
      <p:cxnSp>
        <p:nvCxnSpPr>
          <p:cNvPr id="57" name="Connector 56"/>
          <p:cNvCxnSpPr/>
          <p:nvPr/>
        </p:nvCxnSpPr>
        <p:spPr>
          <a:xfrm flipH="1">
            <a:off x="1016127.0" y="6537960"/>
            <a:ext cx="4505706.0" cy="0"/>
          </a:xfrm>
          <a:prstGeom prst="line">
            <a:avLst/>
          </a:prstGeom>
          <a:ln w="127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730502" y="6537960"/>
            <a:ext cx="2286000" cy="182880"/>
          </a:xfrm>
          <a:prstGeom prst="rect">
            <a:avLst/>
          </a:prstGeom>
          <a:noFill/>
        </p:spPr>
        <p:txBody>
          <a:bodyPr wrap="square">
            <a:spAutoFit/>
          </a:bodyPr>
          <a:lstStyle/>
          <a:p>
            <a:pPr algn="ctr"/>
            <a:r>
              <a:rPr sz="750" b="0" i="1">
                <a:solidFill>
                  <a:srgbClr val="39FF14"/>
                </a:solidFill>
                <a:latin typeface="Calibri"/>
              </a:rPr>
              <a:t>retry (up to cap)</a:t>
            </a:r>
          </a:p>
        </p:txBody>
      </p:sp>
      <p:sp>
        <p:nvSpPr>
          <p:cNvPr id="59" name="Rectangle 58"/>
          <p:cNvSpPr/>
          <p:nvPr/>
        </p:nvSpPr>
        <p:spPr>
          <a:xfrm>
            <a:off x="7388352" y="4846320"/>
            <a:ext cx="4620463" cy="1755648"/>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388352" y="4846320"/>
            <a:ext cx="4620463"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8352" y="4882896"/>
            <a:ext cx="4620463" cy="201168"/>
          </a:xfrm>
          <a:prstGeom prst="rect">
            <a:avLst/>
          </a:prstGeom>
          <a:noFill/>
        </p:spPr>
        <p:txBody>
          <a:bodyPr wrap="square">
            <a:spAutoFit/>
          </a:bodyPr>
          <a:lstStyle/>
          <a:p>
            <a:pPr algn="ctr"/>
            <a:r>
              <a:rPr sz="900" b="1" i="0">
                <a:solidFill>
                  <a:srgbClr val="0A0D1A"/>
                </a:solidFill>
                <a:latin typeface="Calibri"/>
              </a:rPr>
              <a:t>Risk Score + Chain Priority</a:t>
            </a:r>
          </a:p>
        </p:txBody>
      </p:sp>
      <p:sp>
        <p:nvSpPr>
          <p:cNvPr id="62" name="TextBox 61"/>
          <p:cNvSpPr txBox="1"/>
          <p:nvPr/>
        </p:nvSpPr>
        <p:spPr>
          <a:xfrm>
            <a:off x="7479792" y="5157216"/>
            <a:ext cx="4455871" cy="256032"/>
          </a:xfrm>
          <a:prstGeom prst="rect">
            <a:avLst/>
          </a:prstGeom>
          <a:noFill/>
        </p:spPr>
        <p:txBody>
          <a:bodyPr wrap="square">
            <a:spAutoFit/>
          </a:bodyPr>
          <a:lstStyle/>
          <a:p>
            <a:pPr algn="l"/>
            <a:r>
              <a:rPr sz="1000" b="1" i="0">
                <a:solidFill>
                  <a:srgbClr val="FFD700"/>
                </a:solidFill>
                <a:latin typeface="Calibri"/>
              </a:rPr>
              <a:t>risk_score = CVSS × Exploitability × Impact</a:t>
            </a:r>
          </a:p>
        </p:txBody>
      </p:sp>
      <p:sp>
        <p:nvSpPr>
          <p:cNvPr id="63" name="TextBox 62"/>
          <p:cNvSpPr txBox="1"/>
          <p:nvPr/>
        </p:nvSpPr>
        <p:spPr>
          <a:xfrm>
            <a:off x="7479792" y="5431536"/>
            <a:ext cx="4455871" cy="502920"/>
          </a:xfrm>
          <a:prstGeom prst="rect">
            <a:avLst/>
          </a:prstGeom>
          <a:noFill/>
        </p:spPr>
        <p:txBody>
          <a:bodyPr wrap="square">
            <a:spAutoFit/>
          </a:bodyPr>
          <a:lstStyle/>
          <a:p>
            <a:pPr algn="l"/>
            <a:r>
              <a:rPr sz="850" b="0" i="0">
                <a:solidFill>
                  <a:srgbClr val="A0AAB8"/>
                </a:solidFill>
                <a:latin typeface="Calibri"/>
              </a:rPr>
              <a:t>Priority = rank across all HYPOTHESIZED + PARTIALLY_VALIDATED chains.
Commander pursues highest-priority chain first — re-ranks on every status change.</a:t>
            </a:r>
          </a:p>
        </p:txBody>
      </p:sp>
      <p:sp>
        <p:nvSpPr>
          <p:cNvPr id="64" name="Rectangle 63"/>
          <p:cNvSpPr/>
          <p:nvPr/>
        </p:nvSpPr>
        <p:spPr>
          <a:xfrm>
            <a:off x="7479792" y="5961888"/>
            <a:ext cx="4455871" cy="237744"/>
          </a:xfrm>
          <a:prstGeom prst="rect">
            <a:avLst/>
          </a:prstGeom>
          <a:solidFill>
            <a:srgbClr val="2218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16368" y="5989320"/>
            <a:ext cx="4391863" cy="201168"/>
          </a:xfrm>
          <a:prstGeom prst="rect">
            <a:avLst/>
          </a:prstGeom>
          <a:noFill/>
        </p:spPr>
        <p:txBody>
          <a:bodyPr wrap="square">
            <a:spAutoFit/>
          </a:bodyPr>
          <a:lstStyle/>
          <a:p>
            <a:pPr algn="l"/>
            <a:r>
              <a:rPr sz="850" b="1" i="0">
                <a:solidFill>
                  <a:srgbClr val="FFD700"/>
                </a:solidFill>
                <a:latin typeface="Calibri"/>
              </a:rPr>
              <a:t>shopvault.io  —  APG Chain Priority Order</a:t>
            </a:r>
          </a:p>
        </p:txBody>
      </p:sp>
      <p:sp>
        <p:nvSpPr>
          <p:cNvPr id="66" name="Rectangle 65"/>
          <p:cNvSpPr/>
          <p:nvPr/>
        </p:nvSpPr>
        <p:spPr>
          <a:xfrm>
            <a:off x="7479792" y="6236208"/>
            <a:ext cx="4455871" cy="347472"/>
          </a:xfrm>
          <a:prstGeom prst="rect">
            <a:avLst/>
          </a:prstGeom>
          <a:solidFill>
            <a:srgbClr val="18120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16368" y="6291072"/>
            <a:ext cx="201168" cy="237744"/>
          </a:xfrm>
          <a:prstGeom prst="rect">
            <a:avLst/>
          </a:prstGeom>
          <a:noFill/>
        </p:spPr>
        <p:txBody>
          <a:bodyPr wrap="square">
            <a:spAutoFit/>
          </a:bodyPr>
          <a:lstStyle/>
          <a:p>
            <a:pPr algn="ctr"/>
            <a:r>
              <a:rPr sz="900" b="1" i="0">
                <a:solidFill>
                  <a:srgbClr val="FF4545"/>
                </a:solidFill>
                <a:latin typeface="Calibri"/>
              </a:rPr>
              <a:t>1</a:t>
            </a:r>
          </a:p>
        </p:txBody>
      </p:sp>
      <p:sp>
        <p:nvSpPr>
          <p:cNvPr id="68" name="TextBox 67"/>
          <p:cNvSpPr txBox="1"/>
          <p:nvPr/>
        </p:nvSpPr>
        <p:spPr>
          <a:xfrm>
            <a:off x="7735824" y="6291072"/>
            <a:ext cx="3934663" cy="237744"/>
          </a:xfrm>
          <a:prstGeom prst="rect">
            <a:avLst/>
          </a:prstGeom>
          <a:noFill/>
        </p:spPr>
        <p:txBody>
          <a:bodyPr wrap="square">
            <a:spAutoFit/>
          </a:bodyPr>
          <a:lstStyle/>
          <a:p>
            <a:pPr algn="l"/>
            <a:r>
              <a:rPr sz="850" b="0" i="0">
                <a:solidFill>
                  <a:srgbClr val="A0AAB8"/>
                </a:solidFill>
                <a:latin typeface="Calibri"/>
              </a:rPr>
              <a:t>Chain-01  —  CVE-2022-21661 SQLi → RCE</a:t>
            </a:r>
          </a:p>
        </p:txBody>
      </p:sp>
      <p:sp>
        <p:nvSpPr>
          <p:cNvPr id="69" name="TextBox 68"/>
          <p:cNvSpPr txBox="1"/>
          <p:nvPr/>
        </p:nvSpPr>
        <p:spPr>
          <a:xfrm>
            <a:off x="11505895" y="6291072"/>
            <a:ext cx="384048" cy="237744"/>
          </a:xfrm>
          <a:prstGeom prst="rect">
            <a:avLst/>
          </a:prstGeom>
          <a:noFill/>
        </p:spPr>
        <p:txBody>
          <a:bodyPr wrap="square">
            <a:spAutoFit/>
          </a:bodyPr>
          <a:lstStyle/>
          <a:p>
            <a:pPr algn="r"/>
            <a:r>
              <a:rPr sz="950" b="1" i="0">
                <a:solidFill>
                  <a:srgbClr val="FF4545"/>
                </a:solidFill>
                <a:latin typeface="Calibri"/>
              </a:rPr>
              <a:t>9.1</a:t>
            </a:r>
          </a:p>
        </p:txBody>
      </p:sp>
      <p:sp>
        <p:nvSpPr>
          <p:cNvPr id="70" name="Rectangle 69"/>
          <p:cNvSpPr/>
          <p:nvPr/>
        </p:nvSpPr>
        <p:spPr>
          <a:xfrm>
            <a:off x="7479792" y="6601968"/>
            <a:ext cx="4455871" cy="347472"/>
          </a:xfrm>
          <a:prstGeom prst="rect">
            <a:avLst/>
          </a:prstGeom>
          <a:solidFill>
            <a:srgbClr val="120C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16368" y="6656832"/>
            <a:ext cx="201168" cy="237744"/>
          </a:xfrm>
          <a:prstGeom prst="rect">
            <a:avLst/>
          </a:prstGeom>
          <a:noFill/>
        </p:spPr>
        <p:txBody>
          <a:bodyPr wrap="square">
            <a:spAutoFit/>
          </a:bodyPr>
          <a:lstStyle/>
          <a:p>
            <a:pPr algn="ctr"/>
            <a:r>
              <a:rPr sz="900" b="1" i="0">
                <a:solidFill>
                  <a:srgbClr val="FFD700"/>
                </a:solidFill>
                <a:latin typeface="Calibri"/>
              </a:rPr>
              <a:t>2</a:t>
            </a:r>
          </a:p>
        </p:txBody>
      </p:sp>
      <p:sp>
        <p:nvSpPr>
          <p:cNvPr id="72" name="TextBox 71"/>
          <p:cNvSpPr txBox="1"/>
          <p:nvPr/>
        </p:nvSpPr>
        <p:spPr>
          <a:xfrm>
            <a:off x="7735824" y="6656832"/>
            <a:ext cx="3934663" cy="237744"/>
          </a:xfrm>
          <a:prstGeom prst="rect">
            <a:avLst/>
          </a:prstGeom>
          <a:noFill/>
        </p:spPr>
        <p:txBody>
          <a:bodyPr wrap="square">
            <a:spAutoFit/>
          </a:bodyPr>
          <a:lstStyle/>
          <a:p>
            <a:pPr algn="l"/>
            <a:r>
              <a:rPr sz="850" b="0" i="0">
                <a:solidFill>
                  <a:srgbClr val="A0AAB8"/>
                </a:solidFill>
                <a:latin typeface="Calibri"/>
              </a:rPr>
              <a:t>Chain-03  —  Blind SQLi on staging → DB creds</a:t>
            </a:r>
          </a:p>
        </p:txBody>
      </p:sp>
      <p:sp>
        <p:nvSpPr>
          <p:cNvPr id="73" name="TextBox 72"/>
          <p:cNvSpPr txBox="1"/>
          <p:nvPr/>
        </p:nvSpPr>
        <p:spPr>
          <a:xfrm>
            <a:off x="11505895" y="6656832"/>
            <a:ext cx="384048" cy="237744"/>
          </a:xfrm>
          <a:prstGeom prst="rect">
            <a:avLst/>
          </a:prstGeom>
          <a:noFill/>
        </p:spPr>
        <p:txBody>
          <a:bodyPr wrap="square">
            <a:spAutoFit/>
          </a:bodyPr>
          <a:lstStyle/>
          <a:p>
            <a:pPr algn="r"/>
            <a:r>
              <a:rPr sz="950" b="1" i="0">
                <a:solidFill>
                  <a:srgbClr val="FFD700"/>
                </a:solidFill>
                <a:latin typeface="Calibri"/>
              </a:rPr>
              <a:t>8.1</a:t>
            </a:r>
          </a:p>
        </p:txBody>
      </p:sp>
      <p:sp>
        <p:nvSpPr>
          <p:cNvPr id="74" name="Rectangle 73"/>
          <p:cNvSpPr/>
          <p:nvPr/>
        </p:nvSpPr>
        <p:spPr>
          <a:xfrm>
            <a:off x="7479792" y="6967728"/>
            <a:ext cx="4455871" cy="347472"/>
          </a:xfrm>
          <a:prstGeom prst="rect">
            <a:avLst/>
          </a:prstGeom>
          <a:solidFill>
            <a:srgbClr val="1812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16368" y="7022592"/>
            <a:ext cx="201168" cy="237744"/>
          </a:xfrm>
          <a:prstGeom prst="rect">
            <a:avLst/>
          </a:prstGeom>
          <a:noFill/>
        </p:spPr>
        <p:txBody>
          <a:bodyPr wrap="square">
            <a:spAutoFit/>
          </a:bodyPr>
          <a:lstStyle/>
          <a:p>
            <a:pPr algn="ctr"/>
            <a:r>
              <a:rPr sz="900" b="1" i="0">
                <a:solidFill>
                  <a:srgbClr val="FFD700"/>
                </a:solidFill>
                <a:latin typeface="Calibri"/>
              </a:rPr>
              <a:t>3</a:t>
            </a:r>
          </a:p>
        </p:txBody>
      </p:sp>
      <p:sp>
        <p:nvSpPr>
          <p:cNvPr id="76" name="TextBox 75"/>
          <p:cNvSpPr txBox="1"/>
          <p:nvPr/>
        </p:nvSpPr>
        <p:spPr>
          <a:xfrm>
            <a:off x="7735824" y="7022592"/>
            <a:ext cx="3934663" cy="237744"/>
          </a:xfrm>
          <a:prstGeom prst="rect">
            <a:avLst/>
          </a:prstGeom>
          <a:noFill/>
        </p:spPr>
        <p:txBody>
          <a:bodyPr wrap="square">
            <a:spAutoFit/>
          </a:bodyPr>
          <a:lstStyle/>
          <a:p>
            <a:pPr algn="l"/>
            <a:r>
              <a:rPr sz="850" b="0" i="0">
                <a:solidFill>
                  <a:srgbClr val="A0AAB8"/>
                </a:solidFill>
                <a:latin typeface="Calibri"/>
              </a:rPr>
              <a:t>Chain-02  —  IDOR on /api/v1/orders → PII</a:t>
            </a:r>
          </a:p>
        </p:txBody>
      </p:sp>
      <p:sp>
        <p:nvSpPr>
          <p:cNvPr id="77" name="TextBox 76"/>
          <p:cNvSpPr txBox="1"/>
          <p:nvPr/>
        </p:nvSpPr>
        <p:spPr>
          <a:xfrm>
            <a:off x="11505895" y="7022592"/>
            <a:ext cx="384048" cy="237744"/>
          </a:xfrm>
          <a:prstGeom prst="rect">
            <a:avLst/>
          </a:prstGeom>
          <a:noFill/>
        </p:spPr>
        <p:txBody>
          <a:bodyPr wrap="square">
            <a:spAutoFit/>
          </a:bodyPr>
          <a:lstStyle/>
          <a:p>
            <a:pPr algn="r"/>
            <a:r>
              <a:rPr sz="950" b="1" i="0">
                <a:solidFill>
                  <a:srgbClr val="FFD700"/>
                </a:solidFill>
                <a:latin typeface="Calibri"/>
              </a:rPr>
              <a:t>7.5</a:t>
            </a:r>
          </a:p>
        </p:txBody>
      </p:sp>
      <p:sp>
        <p:nvSpPr>
          <p:cNvPr id="78" name="Rectangle 77"/>
          <p:cNvSpPr/>
          <p:nvPr/>
        </p:nvSpPr>
        <p:spPr>
          <a:xfrm>
            <a:off x="7479792" y="7333488"/>
            <a:ext cx="4455871" cy="347472"/>
          </a:xfrm>
          <a:prstGeom prst="rect">
            <a:avLst/>
          </a:prstGeom>
          <a:solidFill>
            <a:srgbClr val="120C0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516368" y="7388352"/>
            <a:ext cx="201168" cy="237744"/>
          </a:xfrm>
          <a:prstGeom prst="rect">
            <a:avLst/>
          </a:prstGeom>
          <a:noFill/>
        </p:spPr>
        <p:txBody>
          <a:bodyPr wrap="square">
            <a:spAutoFit/>
          </a:bodyPr>
          <a:lstStyle/>
          <a:p>
            <a:pPr algn="ctr"/>
            <a:r>
              <a:rPr sz="900" b="1" i="0">
                <a:solidFill>
                  <a:srgbClr val="BD93F9"/>
                </a:solidFill>
                <a:latin typeface="Calibri"/>
              </a:rPr>
              <a:t>4</a:t>
            </a:r>
          </a:p>
        </p:txBody>
      </p:sp>
      <p:sp>
        <p:nvSpPr>
          <p:cNvPr id="80" name="TextBox 79"/>
          <p:cNvSpPr txBox="1"/>
          <p:nvPr/>
        </p:nvSpPr>
        <p:spPr>
          <a:xfrm>
            <a:off x="7735824" y="7388352"/>
            <a:ext cx="3934663" cy="237744"/>
          </a:xfrm>
          <a:prstGeom prst="rect">
            <a:avLst/>
          </a:prstGeom>
          <a:noFill/>
        </p:spPr>
        <p:txBody>
          <a:bodyPr wrap="square">
            <a:spAutoFit/>
          </a:bodyPr>
          <a:lstStyle/>
          <a:p>
            <a:pPr algn="l"/>
            <a:r>
              <a:rPr sz="850" b="0" i="0">
                <a:solidFill>
                  <a:srgbClr val="A0AAB8"/>
                </a:solidFill>
                <a:latin typeface="Calibri"/>
              </a:rPr>
              <a:t>Chain-04  —  Direct DB backup download → PII</a:t>
            </a:r>
          </a:p>
        </p:txBody>
      </p:sp>
      <p:sp>
        <p:nvSpPr>
          <p:cNvPr id="81" name="TextBox 80"/>
          <p:cNvSpPr txBox="1"/>
          <p:nvPr/>
        </p:nvSpPr>
        <p:spPr>
          <a:xfrm>
            <a:off x="11505895" y="7388352"/>
            <a:ext cx="384048" cy="237744"/>
          </a:xfrm>
          <a:prstGeom prst="rect">
            <a:avLst/>
          </a:prstGeom>
          <a:noFill/>
        </p:spPr>
        <p:txBody>
          <a:bodyPr wrap="square">
            <a:spAutoFit/>
          </a:bodyPr>
          <a:lstStyle/>
          <a:p>
            <a:pPr algn="r"/>
            <a:r>
              <a:rPr sz="950" b="1" i="0">
                <a:solidFill>
                  <a:srgbClr val="BD93F9"/>
                </a:solidFill>
                <a:latin typeface="Calibri"/>
              </a:rPr>
              <a:t>triv</a:t>
            </a:r>
          </a:p>
        </p:txBody>
      </p:sp>
      <p:sp>
        <p:nvSpPr>
          <p:cNvPr id="82" name="TextBox 81"/>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l"/>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l"/>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1463040.0"/>
            <a:ext cx="1097280"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1463040.0"/>
            <a:ext cx="1097280" cy="0.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1463040.0"/>
            <a:ext cx="1097280" cy="0.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1828800.0"/>
            <a:ext cx="5943600" cy="0.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2724912"/>
            <a:ext cx="5321808" cy="237744"/>
          </a:xfrm>
          <a:prstGeom prst="rect">
            <a:avLst/>
          </a:prstGeom>
          <a:noFill/>
        </p:spPr>
        <p:txBody>
          <a:bodyPr wrap="square">
            <a:spAutoFit/>
          </a:bodyPr>
          <a:lstStyle/>
          <a:p>
            <a:pPr algn="l"/>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l"/>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621024"/>
            <a:ext cx="5321808" cy="237744"/>
          </a:xfrm>
          <a:prstGeom prst="rect">
            <a:avLst/>
          </a:prstGeom>
          <a:noFill/>
        </p:spPr>
        <p:txBody>
          <a:bodyPr wrap="square">
            <a:spAutoFit/>
          </a:bodyPr>
          <a:lstStyle/>
          <a:p>
            <a:pPr algn="l"/>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l"/>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4517136"/>
            <a:ext cx="5321808" cy="237744"/>
          </a:xfrm>
          <a:prstGeom prst="rect">
            <a:avLst/>
          </a:prstGeom>
          <a:noFill/>
        </p:spPr>
        <p:txBody>
          <a:bodyPr wrap="square">
            <a:spAutoFit/>
          </a:bodyPr>
          <a:lstStyle/>
          <a:p>
            <a:pPr algn="l"/>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l"/>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413248"/>
            <a:ext cx="5321808" cy="237744"/>
          </a:xfrm>
          <a:prstGeom prst="rect">
            <a:avLst/>
          </a:prstGeom>
          <a:noFill/>
        </p:spPr>
        <p:txBody>
          <a:bodyPr wrap="square">
            <a:spAutoFit/>
          </a:bodyPr>
          <a:lstStyle/>
          <a:p>
            <a:pPr algn="l"/>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l"/>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2267712"/>
            <a:ext cx="5650992" cy="256032"/>
          </a:xfrm>
          <a:prstGeom prst="rect">
            <a:avLst/>
          </a:prstGeom>
          <a:noFill/>
        </p:spPr>
        <p:txBody>
          <a:bodyPr wrap="square">
            <a:spAutoFit/>
          </a:bodyPr>
          <a:lstStyle/>
          <a:p>
            <a:pPr algn="l"/>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2724912"/>
            <a:ext cx="5486400" cy="237744"/>
          </a:xfrm>
          <a:prstGeom prst="rect">
            <a:avLst/>
          </a:prstGeom>
          <a:noFill/>
        </p:spPr>
        <p:txBody>
          <a:bodyPr wrap="square">
            <a:spAutoFit/>
          </a:bodyPr>
          <a:lstStyle/>
          <a:p>
            <a:pPr algn="l"/>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l"/>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621024"/>
            <a:ext cx="5486400" cy="237744"/>
          </a:xfrm>
          <a:prstGeom prst="rect">
            <a:avLst/>
          </a:prstGeom>
          <a:noFill/>
        </p:spPr>
        <p:txBody>
          <a:bodyPr wrap="square">
            <a:spAutoFit/>
          </a:bodyPr>
          <a:lstStyle/>
          <a:p>
            <a:pPr algn="l"/>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l"/>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4517136"/>
            <a:ext cx="5486400" cy="237744"/>
          </a:xfrm>
          <a:prstGeom prst="rect">
            <a:avLst/>
          </a:prstGeom>
          <a:noFill/>
        </p:spPr>
        <p:txBody>
          <a:bodyPr wrap="square">
            <a:spAutoFit/>
          </a:bodyPr>
          <a:lstStyle/>
          <a:p>
            <a:pPr algn="l"/>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l"/>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5413248"/>
            <a:ext cx="5486400" cy="237744"/>
          </a:xfrm>
          <a:prstGeom prst="rect">
            <a:avLst/>
          </a:prstGeom>
          <a:noFill/>
        </p:spPr>
        <p:txBody>
          <a:bodyPr wrap="square">
            <a:spAutoFit/>
          </a:bodyPr>
          <a:lstStyle/>
          <a:p>
            <a:pPr algn="l"/>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l"/>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TextBox 55"/>
          <p:cNvSpPr txBox="1"/>
          <p:nvPr/>
        </p:nvSpPr>
        <p:spPr>
          <a:xfrm>
            <a:off x="11825935" y="6355080"/>
            <a:ext cx="320040" cy="411480"/>
          </a:xfrm>
          <a:prstGeom prst="rect">
            <a:avLst/>
          </a:prstGeom>
          <a:noFill/>
        </p:spPr>
        <p:txBody>
          <a:bodyPr wrap="square">
            <a:spAutoFit/>
          </a:bodyPr>
          <a:lstStyle/>
          <a:p>
            <a:pPr algn="r"/>
            <a:r>
              <a:rPr sz="1300" b="1" i="0">
                <a:solidFill>
                  <a:srgbClr val="00BFD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l"/>
            <a:r>
              <a:rPr sz="1100" b="1" i="0">
                <a:solidFill>
                  <a:srgbClr val="00E5FF"/>
                </a:solidFill>
                <a:latin typeface="Calibri"/>
              </a:rPr>
              <a:t>RESEARCH CONTRIBUTIONS</a:t>
            </a:r>
          </a:p>
        </p:txBody>
      </p:sp>
      <p:sp>
        <p:nvSpPr>
          <p:cNvPr id="6" name="TextBox 5"/>
          <p:cNvSpPr txBox="1"/>
          <p:nvPr/>
        </p:nvSpPr>
        <p:spPr>
          <a:xfrm>
            <a:off x="274320" y="329184"/>
            <a:ext cx="11430000" cy="548640"/>
          </a:xfrm>
          <a:prstGeom prst="rect">
            <a:avLst/>
          </a:prstGeom>
          <a:noFill/>
        </p:spPr>
        <p:txBody>
          <a:bodyPr wrap="square">
            <a:spAutoFit/>
          </a:bodyPr>
          <a:lstStyle/>
          <a:p>
            <a:pPr algn="l"/>
            <a:r>
              <a:rPr sz="2800" b="1" i="0">
                <a:solidFill>
                  <a:srgbClr val="FFFFFF"/>
                </a:solidFill>
                <a:latin typeface="Calibri"/>
              </a:rPr>
              <a:t>12 Novel Contributions — What CMatrix Adds to the Literature</a:t>
            </a:r>
          </a:p>
        </p:txBody>
      </p:sp>
      <p:sp>
        <p:nvSpPr>
          <p:cNvPr id="7" name="Rectangle 6"/>
          <p:cNvSpPr/>
          <p:nvPr/>
        </p:nvSpPr>
        <p:spPr>
          <a:xfrm>
            <a:off x="274320" y="896112"/>
            <a:ext cx="64008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448056"/>
          </a:xfrm>
          <a:prstGeom prst="rect">
            <a:avLst/>
          </a:prstGeom>
          <a:solidFill>
            <a:srgbClr val="0C1426"/>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074420"/>
            <a:ext cx="402336" cy="274320"/>
          </a:xfrm>
          <a:prstGeom prst="rect">
            <a:avLst/>
          </a:prstGeom>
          <a:noFill/>
        </p:spPr>
        <p:txBody>
          <a:bodyPr wrap="square">
            <a:spAutoFit/>
          </a:bodyPr>
          <a:lstStyle/>
          <a:p>
            <a:pPr algn="ctr"/>
            <a:r>
              <a:rPr sz="1000" b="1" i="0">
                <a:solidFill>
                  <a:srgbClr val="0A0D1A"/>
                </a:solidFill>
                <a:latin typeface="Calibri"/>
              </a:rPr>
              <a:t>C1</a:t>
            </a:r>
          </a:p>
        </p:txBody>
      </p:sp>
      <p:sp>
        <p:nvSpPr>
          <p:cNvPr id="11" name="TextBox 10"/>
          <p:cNvSpPr txBox="1"/>
          <p:nvPr/>
        </p:nvSpPr>
        <p:spPr>
          <a:xfrm>
            <a:off x="804672" y="1024128"/>
            <a:ext cx="5321808" cy="201168"/>
          </a:xfrm>
          <a:prstGeom prst="rect">
            <a:avLst/>
          </a:prstGeom>
          <a:noFill/>
        </p:spPr>
        <p:txBody>
          <a:bodyPr wrap="square">
            <a:spAutoFit/>
          </a:bodyPr>
          <a:lstStyle/>
          <a:p>
            <a:pPr algn="l"/>
            <a:r>
              <a:rPr sz="1050" b="1" i="0">
                <a:solidFill>
                  <a:srgbClr val="FFFFFF"/>
                </a:solidFill>
                <a:latin typeface="Calibri"/>
              </a:rPr>
              <a:t>Dual-Graph World Model</a:t>
            </a:r>
          </a:p>
        </p:txBody>
      </p:sp>
      <p:sp>
        <p:nvSpPr>
          <p:cNvPr id="12" name="TextBox 11"/>
          <p:cNvSpPr txBox="1"/>
          <p:nvPr/>
        </p:nvSpPr>
        <p:spPr>
          <a:xfrm>
            <a:off x="804672" y="1234440"/>
            <a:ext cx="5321808" cy="182880"/>
          </a:xfrm>
          <a:prstGeom prst="rect">
            <a:avLst/>
          </a:prstGeom>
          <a:noFill/>
        </p:spPr>
        <p:txBody>
          <a:bodyPr wrap="square">
            <a:spAutoFit/>
          </a:bodyPr>
          <a:lstStyle/>
          <a:p>
            <a:pPr algn="l"/>
            <a:r>
              <a:rPr sz="880" b="0" i="0">
                <a:solidFill>
                  <a:srgbClr val="A0AAB8"/>
                </a:solidFill>
                <a:latin typeface="Calibri"/>
              </a:rPr>
              <a:t>ASG (discovered reality) + APG (inferred opportunity) — strict write ownership. No prior system separates these.</a:t>
            </a:r>
          </a:p>
        </p:txBody>
      </p:sp>
      <p:sp>
        <p:nvSpPr>
          <p:cNvPr id="13" name="Rectangle 12"/>
          <p:cNvSpPr/>
          <p:nvPr/>
        </p:nvSpPr>
        <p:spPr>
          <a:xfrm>
            <a:off x="274320" y="1485900"/>
            <a:ext cx="5897880" cy="448056"/>
          </a:xfrm>
          <a:prstGeom prst="rect">
            <a:avLst/>
          </a:prstGeom>
          <a:solidFill>
            <a:srgbClr val="10162B"/>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1485900"/>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72768"/>
            <a:ext cx="402336" cy="274320"/>
          </a:xfrm>
          <a:prstGeom prst="rect">
            <a:avLst/>
          </a:prstGeom>
          <a:noFill/>
        </p:spPr>
        <p:txBody>
          <a:bodyPr wrap="square">
            <a:spAutoFit/>
          </a:bodyPr>
          <a:lstStyle/>
          <a:p>
            <a:pPr algn="ctr"/>
            <a:r>
              <a:rPr sz="1000" b="1" i="0">
                <a:solidFill>
                  <a:srgbClr val="0A0D1A"/>
                </a:solidFill>
                <a:latin typeface="Calibri"/>
              </a:rPr>
              <a:t>C2</a:t>
            </a:r>
          </a:p>
        </p:txBody>
      </p:sp>
      <p:sp>
        <p:nvSpPr>
          <p:cNvPr id="16" name="TextBox 15"/>
          <p:cNvSpPr txBox="1"/>
          <p:nvPr/>
        </p:nvSpPr>
        <p:spPr>
          <a:xfrm>
            <a:off x="804672" y="1522476"/>
            <a:ext cx="5321808" cy="201168"/>
          </a:xfrm>
          <a:prstGeom prst="rect">
            <a:avLst/>
          </a:prstGeom>
          <a:noFill/>
        </p:spPr>
        <p:txBody>
          <a:bodyPr wrap="square">
            <a:spAutoFit/>
          </a:bodyPr>
          <a:lstStyle/>
          <a:p>
            <a:pPr algn="l"/>
            <a:r>
              <a:rPr sz="1050" b="1" i="0">
                <a:solidFill>
                  <a:srgbClr val="FFFFFF"/>
                </a:solidFill>
                <a:latin typeface="Calibri"/>
              </a:rPr>
              <a:t>Graph-State-Driven Re-Planning</a:t>
            </a:r>
          </a:p>
        </p:txBody>
      </p:sp>
      <p:sp>
        <p:nvSpPr>
          <p:cNvPr id="17" name="TextBox 16"/>
          <p:cNvSpPr txBox="1"/>
          <p:nvPr/>
        </p:nvSpPr>
        <p:spPr>
          <a:xfrm>
            <a:off x="804672" y="1732788"/>
            <a:ext cx="5321808" cy="182880"/>
          </a:xfrm>
          <a:prstGeom prst="rect">
            <a:avLst/>
          </a:prstGeom>
          <a:noFill/>
        </p:spPr>
        <p:txBody>
          <a:bodyPr wrap="square">
            <a:spAutoFit/>
          </a:bodyPr>
          <a:lstStyle/>
          <a:p>
            <a:pPr algn="l"/>
            <a:r>
              <a:rPr sz="880" b="0" i="0">
                <a:solidFill>
                  <a:srgbClr val="A0AAB8"/>
                </a:solidFill>
                <a:latin typeface="Calibri"/>
              </a:rPr>
              <a:t>Re-planning triggered by explicit ASG/APG state changes, not fixed task-queue depletion.</a:t>
            </a:r>
          </a:p>
        </p:txBody>
      </p:sp>
      <p:sp>
        <p:nvSpPr>
          <p:cNvPr id="18" name="Rectangle 17"/>
          <p:cNvSpPr/>
          <p:nvPr/>
        </p:nvSpPr>
        <p:spPr>
          <a:xfrm>
            <a:off x="274320" y="1984248"/>
            <a:ext cx="58978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071116"/>
            <a:ext cx="402336" cy="274320"/>
          </a:xfrm>
          <a:prstGeom prst="rect">
            <a:avLst/>
          </a:prstGeom>
          <a:noFill/>
        </p:spPr>
        <p:txBody>
          <a:bodyPr wrap="square">
            <a:spAutoFit/>
          </a:bodyPr>
          <a:lstStyle/>
          <a:p>
            <a:pPr algn="ctr"/>
            <a:r>
              <a:rPr sz="1000" b="1" i="0">
                <a:solidFill>
                  <a:srgbClr val="0A0D1A"/>
                </a:solidFill>
                <a:latin typeface="Calibri"/>
              </a:rPr>
              <a:t>C3</a:t>
            </a:r>
          </a:p>
        </p:txBody>
      </p:sp>
      <p:sp>
        <p:nvSpPr>
          <p:cNvPr id="21" name="TextBox 20"/>
          <p:cNvSpPr txBox="1"/>
          <p:nvPr/>
        </p:nvSpPr>
        <p:spPr>
          <a:xfrm>
            <a:off x="804672" y="2020824"/>
            <a:ext cx="5321808" cy="201168"/>
          </a:xfrm>
          <a:prstGeom prst="rect">
            <a:avLst/>
          </a:prstGeom>
          <a:noFill/>
        </p:spPr>
        <p:txBody>
          <a:bodyPr wrap="square">
            <a:spAutoFit/>
          </a:bodyPr>
          <a:lstStyle/>
          <a:p>
            <a:pPr algn="l"/>
            <a:r>
              <a:rPr sz="1050" b="1" i="0">
                <a:solidFill>
                  <a:srgbClr val="FFFFFF"/>
                </a:solidFill>
                <a:latin typeface="Calibri"/>
              </a:rPr>
              <a:t>APG Attack Chain Lifecycle + Evidence Traceability</a:t>
            </a:r>
          </a:p>
        </p:txBody>
      </p:sp>
      <p:sp>
        <p:nvSpPr>
          <p:cNvPr id="22" name="TextBox 21"/>
          <p:cNvSpPr txBox="1"/>
          <p:nvPr/>
        </p:nvSpPr>
        <p:spPr>
          <a:xfrm>
            <a:off x="804672" y="2231136"/>
            <a:ext cx="5321808" cy="182880"/>
          </a:xfrm>
          <a:prstGeom prst="rect">
            <a:avLst/>
          </a:prstGeom>
          <a:noFill/>
        </p:spPr>
        <p:txBody>
          <a:bodyPr wrap="square">
            <a:spAutoFit/>
          </a:bodyPr>
          <a:lstStyle/>
          <a:p>
            <a:pPr algn="l"/>
            <a:r>
              <a:rPr sz="880" b="0" i="0">
                <a:solidFill>
                  <a:srgbClr val="A0AAB8"/>
                </a:solidFill>
                <a:latin typeface="Calibri"/>
              </a:rPr>
              <a:t>Chains as first-class entities: risk-scored, lifecycle-tracked, every ChainStep linked to ASG Evidence.</a:t>
            </a:r>
          </a:p>
        </p:txBody>
      </p:sp>
      <p:sp>
        <p:nvSpPr>
          <p:cNvPr id="23" name="Rectangle 22"/>
          <p:cNvSpPr/>
          <p:nvPr/>
        </p:nvSpPr>
        <p:spPr>
          <a:xfrm>
            <a:off x="274320" y="2482596"/>
            <a:ext cx="58978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569464"/>
            <a:ext cx="402336" cy="274320"/>
          </a:xfrm>
          <a:prstGeom prst="rect">
            <a:avLst/>
          </a:prstGeom>
          <a:noFill/>
        </p:spPr>
        <p:txBody>
          <a:bodyPr wrap="square">
            <a:spAutoFit/>
          </a:bodyPr>
          <a:lstStyle/>
          <a:p>
            <a:pPr algn="ctr"/>
            <a:r>
              <a:rPr sz="1000" b="1" i="0">
                <a:solidFill>
                  <a:srgbClr val="0A0D1A"/>
                </a:solidFill>
                <a:latin typeface="Calibri"/>
              </a:rPr>
              <a:t>C4</a:t>
            </a:r>
          </a:p>
        </p:txBody>
      </p:sp>
      <p:sp>
        <p:nvSpPr>
          <p:cNvPr id="26" name="TextBox 25"/>
          <p:cNvSpPr txBox="1"/>
          <p:nvPr/>
        </p:nvSpPr>
        <p:spPr>
          <a:xfrm>
            <a:off x="804672" y="2519172"/>
            <a:ext cx="5321808" cy="201168"/>
          </a:xfrm>
          <a:prstGeom prst="rect">
            <a:avLst/>
          </a:prstGeom>
          <a:noFill/>
        </p:spPr>
        <p:txBody>
          <a:bodyPr wrap="square">
            <a:spAutoFit/>
          </a:bodyPr>
          <a:lstStyle/>
          <a:p>
            <a:pPr algn="l"/>
            <a:r>
              <a:rPr sz="1050" b="1" i="0">
                <a:solidFill>
                  <a:srgbClr val="FFFFFF"/>
                </a:solidFill>
                <a:latin typeface="Calibri"/>
              </a:rPr>
              <a:t>ASG-Aware Parallel Tool Dispatch</a:t>
            </a:r>
          </a:p>
        </p:txBody>
      </p:sp>
      <p:sp>
        <p:nvSpPr>
          <p:cNvPr id="27" name="TextBox 26"/>
          <p:cNvSpPr txBox="1"/>
          <p:nvPr/>
        </p:nvSpPr>
        <p:spPr>
          <a:xfrm>
            <a:off x="804672" y="2729484"/>
            <a:ext cx="5321808" cy="182880"/>
          </a:xfrm>
          <a:prstGeom prst="rect">
            <a:avLst/>
          </a:prstGeom>
          <a:noFill/>
        </p:spPr>
        <p:txBody>
          <a:bodyPr wrap="square">
            <a:spAutoFit/>
          </a:bodyPr>
          <a:lstStyle/>
          <a:p>
            <a:pPr algn="l"/>
            <a:r>
              <a:rPr sz="880" b="0" i="0">
                <a:solidFill>
                  <a:srgbClr val="A0AAB8"/>
                </a:solidFill>
                <a:latin typeface="Calibri"/>
              </a:rPr>
              <a:t>Dependency-safe concurrent tool execution using the ASG as the dependency graph.</a:t>
            </a:r>
          </a:p>
        </p:txBody>
      </p:sp>
      <p:sp>
        <p:nvSpPr>
          <p:cNvPr id="28" name="Rectangle 27"/>
          <p:cNvSpPr/>
          <p:nvPr/>
        </p:nvSpPr>
        <p:spPr>
          <a:xfrm>
            <a:off x="274320" y="2980944"/>
            <a:ext cx="5897880" cy="448056"/>
          </a:xfrm>
          <a:prstGeom prst="rect">
            <a:avLst/>
          </a:prstGeom>
          <a:solidFill>
            <a:srgbClr val="0C142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2980944"/>
            <a:ext cx="438912" cy="4480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3067812"/>
            <a:ext cx="402336" cy="274320"/>
          </a:xfrm>
          <a:prstGeom prst="rect">
            <a:avLst/>
          </a:prstGeom>
          <a:noFill/>
        </p:spPr>
        <p:txBody>
          <a:bodyPr wrap="square">
            <a:spAutoFit/>
          </a:bodyPr>
          <a:lstStyle/>
          <a:p>
            <a:pPr algn="ctr"/>
            <a:r>
              <a:rPr sz="1000" b="1" i="0">
                <a:solidFill>
                  <a:srgbClr val="0A0D1A"/>
                </a:solidFill>
                <a:latin typeface="Calibri"/>
              </a:rPr>
              <a:t>C5</a:t>
            </a:r>
          </a:p>
        </p:txBody>
      </p:sp>
      <p:sp>
        <p:nvSpPr>
          <p:cNvPr id="31" name="TextBox 30"/>
          <p:cNvSpPr txBox="1"/>
          <p:nvPr/>
        </p:nvSpPr>
        <p:spPr>
          <a:xfrm>
            <a:off x="804672" y="3017520"/>
            <a:ext cx="5321808" cy="201168"/>
          </a:xfrm>
          <a:prstGeom prst="rect">
            <a:avLst/>
          </a:prstGeom>
          <a:noFill/>
        </p:spPr>
        <p:txBody>
          <a:bodyPr wrap="square">
            <a:spAutoFit/>
          </a:bodyPr>
          <a:lstStyle/>
          <a:p>
            <a:pPr algn="l"/>
            <a:r>
              <a:rPr sz="1050" b="1" i="0">
                <a:solidFill>
                  <a:srgbClr val="FFFFFF"/>
                </a:solidFill>
                <a:latin typeface="Calibri"/>
              </a:rPr>
              <a:t>Tool Risk Gate + Commander Mailbox</a:t>
            </a:r>
          </a:p>
        </p:txBody>
      </p:sp>
      <p:sp>
        <p:nvSpPr>
          <p:cNvPr id="32" name="TextBox 31"/>
          <p:cNvSpPr txBox="1"/>
          <p:nvPr/>
        </p:nvSpPr>
        <p:spPr>
          <a:xfrm>
            <a:off x="804672" y="3227832"/>
            <a:ext cx="5321808" cy="182880"/>
          </a:xfrm>
          <a:prstGeom prst="rect">
            <a:avLst/>
          </a:prstGeom>
          <a:noFill/>
        </p:spPr>
        <p:txBody>
          <a:bodyPr wrap="square">
            <a:spAutoFit/>
          </a:bodyPr>
          <a:lstStyle/>
          <a:p>
            <a:pPr algn="l"/>
            <a:r>
              <a:rPr sz="880" b="0" i="0">
                <a:solidFill>
                  <a:srgbClr val="A0AAB8"/>
                </a:solidFill>
                <a:latin typeface="Calibri"/>
              </a:rPr>
              <a:t>Every tool call risk-classified before execution. High-risk ops require Commander approval.</a:t>
            </a:r>
          </a:p>
        </p:txBody>
      </p:sp>
      <p:sp>
        <p:nvSpPr>
          <p:cNvPr id="33" name="Rectangle 32"/>
          <p:cNvSpPr/>
          <p:nvPr/>
        </p:nvSpPr>
        <p:spPr>
          <a:xfrm>
            <a:off x="274320" y="3479292"/>
            <a:ext cx="58978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3566160"/>
            <a:ext cx="402336" cy="274320"/>
          </a:xfrm>
          <a:prstGeom prst="rect">
            <a:avLst/>
          </a:prstGeom>
          <a:noFill/>
        </p:spPr>
        <p:txBody>
          <a:bodyPr wrap="square">
            <a:spAutoFit/>
          </a:bodyPr>
          <a:lstStyle/>
          <a:p>
            <a:pPr algn="ctr"/>
            <a:r>
              <a:rPr sz="1000" b="1" i="0">
                <a:solidFill>
                  <a:srgbClr val="0A0D1A"/>
                </a:solidFill>
                <a:latin typeface="Calibri"/>
              </a:rPr>
              <a:t>C6</a:t>
            </a:r>
          </a:p>
        </p:txBody>
      </p:sp>
      <p:sp>
        <p:nvSpPr>
          <p:cNvPr id="36" name="TextBox 35"/>
          <p:cNvSpPr txBox="1"/>
          <p:nvPr/>
        </p:nvSpPr>
        <p:spPr>
          <a:xfrm>
            <a:off x="804672" y="3515868"/>
            <a:ext cx="5321808" cy="201168"/>
          </a:xfrm>
          <a:prstGeom prst="rect">
            <a:avLst/>
          </a:prstGeom>
          <a:noFill/>
        </p:spPr>
        <p:txBody>
          <a:bodyPr wrap="square">
            <a:spAutoFit/>
          </a:bodyPr>
          <a:lstStyle/>
          <a:p>
            <a:pPr algn="l"/>
            <a:r>
              <a:rPr sz="1050" b="1" i="0">
                <a:solidFill>
                  <a:srgbClr val="FFFFFF"/>
                </a:solidFill>
                <a:latin typeface="Calibri"/>
              </a:rPr>
              <a:t>ASG-Backed Lossless Context Compaction</a:t>
            </a:r>
          </a:p>
        </p:txBody>
      </p:sp>
      <p:sp>
        <p:nvSpPr>
          <p:cNvPr id="37" name="TextBox 36"/>
          <p:cNvSpPr txBox="1"/>
          <p:nvPr/>
        </p:nvSpPr>
        <p:spPr>
          <a:xfrm>
            <a:off x="804672" y="3726180"/>
            <a:ext cx="5321808" cy="182880"/>
          </a:xfrm>
          <a:prstGeom prst="rect">
            <a:avLst/>
          </a:prstGeom>
          <a:noFill/>
        </p:spPr>
        <p:txBody>
          <a:bodyPr wrap="square">
            <a:spAutoFit/>
          </a:bodyPr>
          <a:lstStyle/>
          <a:p>
            <a:pPr algn="l"/>
            <a:r>
              <a:rPr sz="880" b="0" i="0">
                <a:solidFill>
                  <a:srgbClr val="A0AAB8"/>
                </a:solidFill>
                <a:latin typeface="Calibri"/>
              </a:rPr>
              <a:t>FullCompact compresses conversation history to near-zero without losing any findings — all live in the graph.</a:t>
            </a:r>
          </a:p>
        </p:txBody>
      </p:sp>
      <p:sp>
        <p:nvSpPr>
          <p:cNvPr id="38" name="Rectangle 37"/>
          <p:cNvSpPr/>
          <p:nvPr/>
        </p:nvSpPr>
        <p:spPr>
          <a:xfrm>
            <a:off x="6355080" y="987552"/>
            <a:ext cx="5669280" cy="448056"/>
          </a:xfrm>
          <a:prstGeom prst="rect">
            <a:avLst/>
          </a:prstGeom>
          <a:solidFill>
            <a:srgbClr val="0C1426"/>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55080" y="987552"/>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1074420"/>
            <a:ext cx="402336" cy="274320"/>
          </a:xfrm>
          <a:prstGeom prst="rect">
            <a:avLst/>
          </a:prstGeom>
          <a:noFill/>
        </p:spPr>
        <p:txBody>
          <a:bodyPr wrap="square">
            <a:spAutoFit/>
          </a:bodyPr>
          <a:lstStyle/>
          <a:p>
            <a:pPr algn="ctr"/>
            <a:r>
              <a:rPr sz="1000" b="1" i="0">
                <a:solidFill>
                  <a:srgbClr val="0A0D1A"/>
                </a:solidFill>
                <a:latin typeface="Calibri"/>
              </a:rPr>
              <a:t>C7</a:t>
            </a:r>
          </a:p>
        </p:txBody>
      </p:sp>
      <p:sp>
        <p:nvSpPr>
          <p:cNvPr id="41" name="TextBox 40"/>
          <p:cNvSpPr txBox="1"/>
          <p:nvPr/>
        </p:nvSpPr>
        <p:spPr>
          <a:xfrm>
            <a:off x="6885432" y="1024128"/>
            <a:ext cx="5093208" cy="201168"/>
          </a:xfrm>
          <a:prstGeom prst="rect">
            <a:avLst/>
          </a:prstGeom>
          <a:noFill/>
        </p:spPr>
        <p:txBody>
          <a:bodyPr wrap="square">
            <a:spAutoFit/>
          </a:bodyPr>
          <a:lstStyle/>
          <a:p>
            <a:pPr algn="l"/>
            <a:r>
              <a:rPr sz="1050" b="1" i="0">
                <a:solidFill>
                  <a:srgbClr val="FFFFFF"/>
                </a:solidFill>
                <a:latin typeface="Calibri"/>
              </a:rPr>
              <a:t>Methodology-as-Configuration</a:t>
            </a:r>
          </a:p>
        </p:txBody>
      </p:sp>
      <p:sp>
        <p:nvSpPr>
          <p:cNvPr id="42" name="TextBox 41"/>
          <p:cNvSpPr txBox="1"/>
          <p:nvPr/>
        </p:nvSpPr>
        <p:spPr>
          <a:xfrm>
            <a:off x="6885432" y="1234440"/>
            <a:ext cx="5093208" cy="182880"/>
          </a:xfrm>
          <a:prstGeom prst="rect">
            <a:avLst/>
          </a:prstGeom>
          <a:noFill/>
        </p:spPr>
        <p:txBody>
          <a:bodyPr wrap="square">
            <a:spAutoFit/>
          </a:bodyPr>
          <a:lstStyle/>
          <a:p>
            <a:pPr algn="l"/>
            <a:r>
              <a:rPr sz="880" b="0" i="0">
                <a:solidFill>
                  <a:srgbClr val="A0AAB8"/>
                </a:solidFill>
                <a:latin typeface="Calibri"/>
              </a:rPr>
              <a:t>Commander's planning policy encoded as a versioned VAPT Protocol Prompt — swap methodologies without code changes.</a:t>
            </a:r>
          </a:p>
        </p:txBody>
      </p:sp>
      <p:sp>
        <p:nvSpPr>
          <p:cNvPr id="43" name="Rectangle 42"/>
          <p:cNvSpPr/>
          <p:nvPr/>
        </p:nvSpPr>
        <p:spPr>
          <a:xfrm>
            <a:off x="6355080" y="1485900"/>
            <a:ext cx="5669280" cy="448056"/>
          </a:xfrm>
          <a:prstGeom prst="rect">
            <a:avLst/>
          </a:prstGeom>
          <a:solidFill>
            <a:srgbClr val="10162B"/>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55080" y="1485900"/>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1572768"/>
            <a:ext cx="402336" cy="274320"/>
          </a:xfrm>
          <a:prstGeom prst="rect">
            <a:avLst/>
          </a:prstGeom>
          <a:noFill/>
        </p:spPr>
        <p:txBody>
          <a:bodyPr wrap="square">
            <a:spAutoFit/>
          </a:bodyPr>
          <a:lstStyle/>
          <a:p>
            <a:pPr algn="ctr"/>
            <a:r>
              <a:rPr sz="1000" b="1" i="0">
                <a:solidFill>
                  <a:srgbClr val="0A0D1A"/>
                </a:solidFill>
                <a:latin typeface="Calibri"/>
              </a:rPr>
              <a:t>C8</a:t>
            </a:r>
          </a:p>
        </p:txBody>
      </p:sp>
      <p:sp>
        <p:nvSpPr>
          <p:cNvPr id="46" name="TextBox 45"/>
          <p:cNvSpPr txBox="1"/>
          <p:nvPr/>
        </p:nvSpPr>
        <p:spPr>
          <a:xfrm>
            <a:off x="6885432" y="1522476"/>
            <a:ext cx="5093208" cy="201168"/>
          </a:xfrm>
          <a:prstGeom prst="rect">
            <a:avLst/>
          </a:prstGeom>
          <a:noFill/>
        </p:spPr>
        <p:txBody>
          <a:bodyPr wrap="square">
            <a:spAutoFit/>
          </a:bodyPr>
          <a:lstStyle/>
          <a:p>
            <a:pPr algn="l"/>
            <a:r>
              <a:rPr sz="1050" b="1" i="0">
                <a:solidFill>
                  <a:srgbClr val="FFFFFF"/>
                </a:solidFill>
                <a:latin typeface="Calibri"/>
              </a:rPr>
              <a:t>Dual-Graph Termination Semantics</a:t>
            </a:r>
          </a:p>
        </p:txBody>
      </p:sp>
      <p:sp>
        <p:nvSpPr>
          <p:cNvPr id="47" name="TextBox 46"/>
          <p:cNvSpPr txBox="1"/>
          <p:nvPr/>
        </p:nvSpPr>
        <p:spPr>
          <a:xfrm>
            <a:off x="6885432" y="1732788"/>
            <a:ext cx="5093208" cy="182880"/>
          </a:xfrm>
          <a:prstGeom prst="rect">
            <a:avLst/>
          </a:prstGeom>
          <a:noFill/>
        </p:spPr>
        <p:txBody>
          <a:bodyPr wrap="square">
            <a:spAutoFit/>
          </a:bodyPr>
          <a:lstStyle/>
          <a:p>
            <a:pPr algn="l"/>
            <a:r>
              <a:rPr sz="880" b="0" i="0">
                <a:solidFill>
                  <a:srgbClr val="A0AAB8"/>
                </a:solidFill>
                <a:latin typeface="Calibri"/>
              </a:rPr>
              <a:t>Mission terminates when ASG is exhausted AND all APG chains reach terminal status — simultaneously.</a:t>
            </a:r>
          </a:p>
        </p:txBody>
      </p:sp>
      <p:sp>
        <p:nvSpPr>
          <p:cNvPr id="48" name="Rectangle 47"/>
          <p:cNvSpPr/>
          <p:nvPr/>
        </p:nvSpPr>
        <p:spPr>
          <a:xfrm>
            <a:off x="6355080" y="1984248"/>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5508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2071116"/>
            <a:ext cx="402336" cy="274320"/>
          </a:xfrm>
          <a:prstGeom prst="rect">
            <a:avLst/>
          </a:prstGeom>
          <a:noFill/>
        </p:spPr>
        <p:txBody>
          <a:bodyPr wrap="square">
            <a:spAutoFit/>
          </a:bodyPr>
          <a:lstStyle/>
          <a:p>
            <a:pPr algn="ctr"/>
            <a:r>
              <a:rPr sz="1000" b="1" i="0">
                <a:solidFill>
                  <a:srgbClr val="0A0D1A"/>
                </a:solidFill>
                <a:latin typeface="Calibri"/>
              </a:rPr>
              <a:t>C9</a:t>
            </a:r>
          </a:p>
        </p:txBody>
      </p:sp>
      <p:sp>
        <p:nvSpPr>
          <p:cNvPr id="51" name="TextBox 50"/>
          <p:cNvSpPr txBox="1"/>
          <p:nvPr/>
        </p:nvSpPr>
        <p:spPr>
          <a:xfrm>
            <a:off x="6885432" y="2020824"/>
            <a:ext cx="5093208" cy="201168"/>
          </a:xfrm>
          <a:prstGeom prst="rect">
            <a:avLst/>
          </a:prstGeom>
          <a:noFill/>
        </p:spPr>
        <p:txBody>
          <a:bodyPr wrap="square">
            <a:spAutoFit/>
          </a:bodyPr>
          <a:lstStyle/>
          <a:p>
            <a:pPr algn="l"/>
            <a:r>
              <a:rPr sz="1050" b="1" i="0">
                <a:solidFill>
                  <a:srgbClr val="FFFFFF"/>
                </a:solidFill>
                <a:latin typeface="Calibri"/>
              </a:rPr>
              <a:t>Live Vulnerability Intelligence Grounding</a:t>
            </a:r>
          </a:p>
        </p:txBody>
      </p:sp>
      <p:sp>
        <p:nvSpPr>
          <p:cNvPr id="52" name="TextBox 51"/>
          <p:cNvSpPr txBox="1"/>
          <p:nvPr/>
        </p:nvSpPr>
        <p:spPr>
          <a:xfrm>
            <a:off x="6885432" y="2231136"/>
            <a:ext cx="5093208" cy="182880"/>
          </a:xfrm>
          <a:prstGeom prst="rect">
            <a:avLst/>
          </a:prstGeom>
          <a:noFill/>
        </p:spPr>
        <p:txBody>
          <a:bodyPr wrap="square">
            <a:spAutoFit/>
          </a:bodyPr>
          <a:lstStyle/>
          <a:p>
            <a:pPr algn="l"/>
            <a:r>
              <a:rPr sz="880" b="0" i="0">
                <a:solidFill>
                  <a:srgbClr val="A0AAB8"/>
                </a:solidFill>
                <a:latin typeface="Calibri"/>
              </a:rPr>
              <a:t>Research Agent provides real-time CVE enrichment, PoC availability, exploit feasibility during active assessment.</a:t>
            </a:r>
          </a:p>
        </p:txBody>
      </p:sp>
      <p:sp>
        <p:nvSpPr>
          <p:cNvPr id="53" name="Rectangle 52"/>
          <p:cNvSpPr/>
          <p:nvPr/>
        </p:nvSpPr>
        <p:spPr>
          <a:xfrm>
            <a:off x="6355080" y="2482596"/>
            <a:ext cx="56692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73368" y="2569464"/>
            <a:ext cx="402336" cy="274320"/>
          </a:xfrm>
          <a:prstGeom prst="rect">
            <a:avLst/>
          </a:prstGeom>
          <a:noFill/>
        </p:spPr>
        <p:txBody>
          <a:bodyPr wrap="square">
            <a:spAutoFit/>
          </a:bodyPr>
          <a:lstStyle/>
          <a:p>
            <a:pPr algn="ctr"/>
            <a:r>
              <a:rPr sz="1000" b="1" i="0">
                <a:solidFill>
                  <a:srgbClr val="0A0D1A"/>
                </a:solidFill>
                <a:latin typeface="Calibri"/>
              </a:rPr>
              <a:t>C10</a:t>
            </a:r>
          </a:p>
        </p:txBody>
      </p:sp>
      <p:sp>
        <p:nvSpPr>
          <p:cNvPr id="56" name="TextBox 55"/>
          <p:cNvSpPr txBox="1"/>
          <p:nvPr/>
        </p:nvSpPr>
        <p:spPr>
          <a:xfrm>
            <a:off x="6885432" y="2519172"/>
            <a:ext cx="5093208" cy="201168"/>
          </a:xfrm>
          <a:prstGeom prst="rect">
            <a:avLst/>
          </a:prstGeom>
          <a:noFill/>
        </p:spPr>
        <p:txBody>
          <a:bodyPr wrap="square">
            <a:spAutoFit/>
          </a:bodyPr>
          <a:lstStyle/>
          <a:p>
            <a:pPr algn="l"/>
            <a:r>
              <a:rPr sz="1050" b="1" i="0">
                <a:solidFill>
                  <a:srgbClr val="FFFFFF"/>
                </a:solidFill>
                <a:latin typeface="Calibri"/>
              </a:rPr>
              <a:t>Cross-Mission Experience Store</a:t>
            </a:r>
          </a:p>
        </p:txBody>
      </p:sp>
      <p:sp>
        <p:nvSpPr>
          <p:cNvPr id="57" name="TextBox 56"/>
          <p:cNvSpPr txBox="1"/>
          <p:nvPr/>
        </p:nvSpPr>
        <p:spPr>
          <a:xfrm>
            <a:off x="6885432" y="2729484"/>
            <a:ext cx="5093208" cy="182880"/>
          </a:xfrm>
          <a:prstGeom prst="rect">
            <a:avLst/>
          </a:prstGeom>
          <a:noFill/>
        </p:spPr>
        <p:txBody>
          <a:bodyPr wrap="square">
            <a:spAutoFit/>
          </a:bodyPr>
          <a:lstStyle/>
          <a:p>
            <a:pPr algn="l"/>
            <a:r>
              <a:rPr sz="880" b="0" i="0">
                <a:solidFill>
                  <a:srgbClr val="A0AAB8"/>
                </a:solidFill>
                <a:latin typeface="Calibri"/>
              </a:rPr>
              <a:t>Persistent RAG-backed store of validated exploitation outcomes queried at mission start to seed chain hypotheses.</a:t>
            </a:r>
          </a:p>
        </p:txBody>
      </p:sp>
      <p:sp>
        <p:nvSpPr>
          <p:cNvPr id="58" name="Rectangle 57"/>
          <p:cNvSpPr/>
          <p:nvPr/>
        </p:nvSpPr>
        <p:spPr>
          <a:xfrm>
            <a:off x="6355080" y="2980944"/>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2980944"/>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067812"/>
            <a:ext cx="402336" cy="274320"/>
          </a:xfrm>
          <a:prstGeom prst="rect">
            <a:avLst/>
          </a:prstGeom>
          <a:noFill/>
        </p:spPr>
        <p:txBody>
          <a:bodyPr wrap="square">
            <a:spAutoFit/>
          </a:bodyPr>
          <a:lstStyle/>
          <a:p>
            <a:pPr algn="ctr"/>
            <a:r>
              <a:rPr sz="1000" b="1" i="0">
                <a:solidFill>
                  <a:srgbClr val="0A0D1A"/>
                </a:solidFill>
                <a:latin typeface="Calibri"/>
              </a:rPr>
              <a:t>C11</a:t>
            </a:r>
          </a:p>
        </p:txBody>
      </p:sp>
      <p:sp>
        <p:nvSpPr>
          <p:cNvPr id="61" name="TextBox 60"/>
          <p:cNvSpPr txBox="1"/>
          <p:nvPr/>
        </p:nvSpPr>
        <p:spPr>
          <a:xfrm>
            <a:off x="6885432" y="3017520"/>
            <a:ext cx="5093208" cy="201168"/>
          </a:xfrm>
          <a:prstGeom prst="rect">
            <a:avLst/>
          </a:prstGeom>
          <a:noFill/>
        </p:spPr>
        <p:txBody>
          <a:bodyPr wrap="square">
            <a:spAutoFit/>
          </a:bodyPr>
          <a:lstStyle/>
          <a:p>
            <a:pPr algn="l"/>
            <a:r>
              <a:rPr sz="1050" b="1" i="0">
                <a:solidFill>
                  <a:srgbClr val="FFFFFF"/>
                </a:solidFill>
                <a:latin typeface="Calibri"/>
              </a:rPr>
              <a:t>Attack Strategy Library with Crystallization</a:t>
            </a:r>
          </a:p>
        </p:txBody>
      </p:sp>
      <p:sp>
        <p:nvSpPr>
          <p:cNvPr id="62" name="TextBox 61"/>
          <p:cNvSpPr txBox="1"/>
          <p:nvPr/>
        </p:nvSpPr>
        <p:spPr>
          <a:xfrm>
            <a:off x="6885432" y="3227832"/>
            <a:ext cx="5093208" cy="182880"/>
          </a:xfrm>
          <a:prstGeom prst="rect">
            <a:avLst/>
          </a:prstGeom>
          <a:noFill/>
        </p:spPr>
        <p:txBody>
          <a:bodyPr wrap="square">
            <a:spAutoFit/>
          </a:bodyPr>
          <a:lstStyle/>
          <a:p>
            <a:pPr algn="l"/>
            <a:r>
              <a:rPr sz="880" b="0" i="0">
                <a:solidFill>
                  <a:srgbClr val="A0AAB8"/>
                </a:solidFill>
                <a:latin typeface="Calibri"/>
              </a:rPr>
              <a:t>Generalizes validated chains into named, parameterized strategies indexed by technology fingerprint + confidence score.</a:t>
            </a:r>
          </a:p>
        </p:txBody>
      </p:sp>
      <p:sp>
        <p:nvSpPr>
          <p:cNvPr id="63" name="Rectangle 62"/>
          <p:cNvSpPr/>
          <p:nvPr/>
        </p:nvSpPr>
        <p:spPr>
          <a:xfrm>
            <a:off x="6355080" y="3479292"/>
            <a:ext cx="56692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5508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566160"/>
            <a:ext cx="402336" cy="274320"/>
          </a:xfrm>
          <a:prstGeom prst="rect">
            <a:avLst/>
          </a:prstGeom>
          <a:noFill/>
        </p:spPr>
        <p:txBody>
          <a:bodyPr wrap="square">
            <a:spAutoFit/>
          </a:bodyPr>
          <a:lstStyle/>
          <a:p>
            <a:pPr algn="ctr"/>
            <a:r>
              <a:rPr sz="1000" b="1" i="0">
                <a:solidFill>
                  <a:srgbClr val="0A0D1A"/>
                </a:solidFill>
                <a:latin typeface="Calibri"/>
              </a:rPr>
              <a:t>C12</a:t>
            </a:r>
          </a:p>
        </p:txBody>
      </p:sp>
      <p:sp>
        <p:nvSpPr>
          <p:cNvPr id="66" name="TextBox 65"/>
          <p:cNvSpPr txBox="1"/>
          <p:nvPr/>
        </p:nvSpPr>
        <p:spPr>
          <a:xfrm>
            <a:off x="6885432" y="3515868"/>
            <a:ext cx="5093208" cy="201168"/>
          </a:xfrm>
          <a:prstGeom prst="rect">
            <a:avLst/>
          </a:prstGeom>
          <a:noFill/>
        </p:spPr>
        <p:txBody>
          <a:bodyPr wrap="square">
            <a:spAutoFit/>
          </a:bodyPr>
          <a:lstStyle/>
          <a:p>
            <a:pPr algn="l"/>
            <a:r>
              <a:rPr sz="1050" b="1" i="0">
                <a:solidFill>
                  <a:srgbClr val="FFFFFF"/>
                </a:solidFill>
                <a:latin typeface="Calibri"/>
              </a:rPr>
              <a:t>Structured Engagement Trajectory Export</a:t>
            </a:r>
          </a:p>
        </p:txBody>
      </p:sp>
      <p:sp>
        <p:nvSpPr>
          <p:cNvPr id="67" name="TextBox 66"/>
          <p:cNvSpPr txBox="1"/>
          <p:nvPr/>
        </p:nvSpPr>
        <p:spPr>
          <a:xfrm>
            <a:off x="6885432" y="3726180"/>
            <a:ext cx="5093208" cy="182880"/>
          </a:xfrm>
          <a:prstGeom prst="rect">
            <a:avLst/>
          </a:prstGeom>
          <a:noFill/>
        </p:spPr>
        <p:txBody>
          <a:bodyPr wrap="square">
            <a:spAutoFit/>
          </a:bodyPr>
          <a:lstStyle/>
          <a:p>
            <a:pPr algn="l"/>
            <a:r>
              <a:rPr sz="880" b="0" i="0">
                <a:solidFill>
                  <a:srgbClr val="A0AAB8"/>
                </a:solidFill>
                <a:latin typeface="Calibri"/>
              </a:rPr>
              <a:t>Complete machine-readable decision log per mission — enables reproducibility, ablation studies, and dataset generation.</a:t>
            </a:r>
          </a:p>
        </p:txBody>
      </p:sp>
      <p:sp>
        <p:nvSpPr>
          <p:cNvPr id="68" name="Rectangle 67"/>
          <p:cNvSpPr/>
          <p:nvPr/>
        </p:nvSpPr>
        <p:spPr>
          <a:xfrm>
            <a:off x="6236208" y="987552"/>
            <a:ext cx="27432" cy="293979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069080"/>
            <a:ext cx="11643055" cy="530352"/>
          </a:xfrm>
          <a:prstGeom prst="rect">
            <a:avLst/>
          </a:prstGeom>
          <a:solidFill>
            <a:srgbClr val="061224"/>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 y="4160520"/>
            <a:ext cx="11277295" cy="347472"/>
          </a:xfrm>
          <a:prstGeom prst="rect">
            <a:avLst/>
          </a:prstGeom>
          <a:noFill/>
        </p:spPr>
        <p:txBody>
          <a:bodyPr wrap="square">
            <a:spAutoFit/>
          </a:bodyPr>
          <a:lstStyle/>
          <a:p>
            <a:pPr algn="l"/>
            <a:r>
              <a:rPr sz="1300" b="0" i="1">
                <a:solidFill>
                  <a:srgbClr val="00E5FF"/>
                </a:solidFill>
                <a:latin typeface="Calibri"/>
              </a:rPr>
              <a:t>Each contribution is independently evaluable and independently publishable.  Together they form a unified architecture that no existing VAPT system implements.</a:t>
            </a:r>
          </a:p>
        </p:txBody>
      </p:sp>
      <p:sp>
        <p:nvSpPr>
          <p:cNvPr id="71" name="TextBox 70"/>
          <p:cNvSpPr txBox="1"/>
          <p:nvPr/>
        </p:nvSpPr>
        <p:spPr>
          <a:xfrm>
            <a:off x="11825935" y="6355080"/>
            <a:ext cx="320040"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l"/>
            <a:r>
              <a:rPr sz="1100" b="1" i="0">
                <a:solidFill>
                  <a:srgbClr val="BD93F9"/>
                </a:solidFill>
                <a:latin typeface="Calibri"/>
              </a:rPr>
              <a:t>INSPIRATIONS &amp; REFERENCES</a:t>
            </a:r>
          </a:p>
        </p:txBody>
      </p:sp>
      <p:sp>
        <p:nvSpPr>
          <p:cNvPr id="6" name="TextBox 5"/>
          <p:cNvSpPr txBox="1"/>
          <p:nvPr/>
        </p:nvSpPr>
        <p:spPr>
          <a:xfrm>
            <a:off x="274320" y="329184"/>
            <a:ext cx="11430000" cy="548640"/>
          </a:xfrm>
          <a:prstGeom prst="rect">
            <a:avLst/>
          </a:prstGeom>
          <a:noFill/>
        </p:spPr>
        <p:txBody>
          <a:bodyPr wrap="square">
            <a:spAutoFit/>
          </a:bodyPr>
          <a:lstStyle/>
          <a:p>
            <a:pPr algn="l"/>
            <a:r>
              <a:rPr sz="2600" b="1" i="0">
                <a:solidFill>
                  <a:srgbClr val="FFFFFF"/>
                </a:solidFill>
                <a:latin typeface="Calibri"/>
              </a:rPr>
              <a:t>Academic Papers + Open-Source Repositories That Shaped CMatrix</a:t>
            </a:r>
          </a:p>
        </p:txBody>
      </p:sp>
      <p:sp>
        <p:nvSpPr>
          <p:cNvPr id="7" name="Rectangle 6"/>
          <p:cNvSpPr/>
          <p:nvPr/>
        </p:nvSpPr>
        <p:spPr>
          <a:xfrm>
            <a:off x="274320" y="896112"/>
            <a:ext cx="64008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102412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347472" cy="10241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362456"/>
            <a:ext cx="310896" cy="274320"/>
          </a:xfrm>
          <a:prstGeom prst="rect">
            <a:avLst/>
          </a:prstGeom>
          <a:noFill/>
        </p:spPr>
        <p:txBody>
          <a:bodyPr wrap="square">
            <a:spAutoFit/>
          </a:bodyPr>
          <a:lstStyle/>
          <a:p>
            <a:pPr algn="ctr"/>
            <a:r>
              <a:rPr sz="1100" b="1" i="0">
                <a:solidFill>
                  <a:srgbClr val="0A0D1A"/>
                </a:solidFill>
                <a:latin typeface="Calibri"/>
              </a:rPr>
              <a:t>1</a:t>
            </a:r>
          </a:p>
        </p:txBody>
      </p:sp>
      <p:sp>
        <p:nvSpPr>
          <p:cNvPr id="11" name="TextBox 10"/>
          <p:cNvSpPr txBox="1"/>
          <p:nvPr/>
        </p:nvSpPr>
        <p:spPr>
          <a:xfrm>
            <a:off x="713232" y="1042416"/>
            <a:ext cx="5413248" cy="228600"/>
          </a:xfrm>
          <a:prstGeom prst="rect">
            <a:avLst/>
          </a:prstGeom>
          <a:noFill/>
        </p:spPr>
        <p:txBody>
          <a:bodyPr wrap="square">
            <a:spAutoFit/>
          </a:bodyPr>
          <a:lstStyle/>
          <a:p>
            <a:pPr algn="l"/>
            <a:r>
              <a:rPr sz="1150" b="1" i="0">
                <a:solidFill>
                  <a:srgbClr val="00E5FF"/>
                </a:solidFill>
                <a:latin typeface="Calibri"/>
              </a:rPr>
              <a:t>PentestGPT</a:t>
            </a:r>
          </a:p>
        </p:txBody>
      </p:sp>
      <p:sp>
        <p:nvSpPr>
          <p:cNvPr id="12" name="TextBox 11"/>
          <p:cNvSpPr txBox="1"/>
          <p:nvPr/>
        </p:nvSpPr>
        <p:spPr>
          <a:xfrm>
            <a:off x="713232" y="1261872"/>
            <a:ext cx="5413248" cy="182880"/>
          </a:xfrm>
          <a:prstGeom prst="rect">
            <a:avLst/>
          </a:prstGeom>
          <a:noFill/>
        </p:spPr>
        <p:txBody>
          <a:bodyPr wrap="square">
            <a:spAutoFit/>
          </a:bodyPr>
          <a:lstStyle/>
          <a:p>
            <a:pPr algn="l"/>
            <a:r>
              <a:rPr sz="850" b="0" i="1">
                <a:solidFill>
                  <a:srgbClr val="A0AAB8"/>
                </a:solidFill>
                <a:latin typeface="Calibri"/>
              </a:rPr>
              <a:t>USENIX Security '24</a:t>
            </a:r>
          </a:p>
        </p:txBody>
      </p:sp>
      <p:sp>
        <p:nvSpPr>
          <p:cNvPr id="13" name="TextBox 12"/>
          <p:cNvSpPr txBox="1"/>
          <p:nvPr/>
        </p:nvSpPr>
        <p:spPr>
          <a:xfrm>
            <a:off x="713232" y="1444752"/>
            <a:ext cx="5413248" cy="292608"/>
          </a:xfrm>
          <a:prstGeom prst="rect">
            <a:avLst/>
          </a:prstGeom>
          <a:noFill/>
        </p:spPr>
        <p:txBody>
          <a:bodyPr wrap="square">
            <a:spAutoFit/>
          </a:bodyPr>
          <a:lstStyle/>
          <a:p>
            <a:pPr algn="l"/>
            <a:r>
              <a:rPr sz="850" b="0" i="0">
                <a:solidFill>
                  <a:srgbClr val="A0AAB8"/>
                </a:solidFill>
                <a:latin typeface="Calibri"/>
              </a:rPr>
              <a:t>Tripartite Reasoning / Generation / Parsing architecture.
Pentesting Task Tree memory for long-session context.</a:t>
            </a:r>
          </a:p>
        </p:txBody>
      </p:sp>
      <p:sp>
        <p:nvSpPr>
          <p:cNvPr id="14" name="Rectangle 13"/>
          <p:cNvSpPr/>
          <p:nvPr/>
        </p:nvSpPr>
        <p:spPr>
          <a:xfrm>
            <a:off x="694944" y="1810512"/>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819656"/>
            <a:ext cx="5367528" cy="164592"/>
          </a:xfrm>
          <a:prstGeom prst="rect">
            <a:avLst/>
          </a:prstGeom>
          <a:noFill/>
        </p:spPr>
        <p:txBody>
          <a:bodyPr wrap="none">
            <a:spAutoFit/>
          </a:bodyPr>
          <a:lstStyle/>
          <a:p>
            <a:pPr algn="l"/>
            <a:r>
              <a:rPr sz="800" b="1" i="0">
                <a:solidFill>
                  <a:srgbClr val="39FF14"/>
                </a:solidFill>
                <a:latin typeface="Calibri"/>
              </a:rPr>
              <a:t>CMatrix:  Tool Adapter Layer (parse before you reason) + MicroCompact permanent graph state.</a:t>
            </a:r>
          </a:p>
        </p:txBody>
      </p:sp>
      <p:sp>
        <p:nvSpPr>
          <p:cNvPr id="16" name="Rectangle 15"/>
          <p:cNvSpPr/>
          <p:nvPr/>
        </p:nvSpPr>
        <p:spPr>
          <a:xfrm>
            <a:off x="274320" y="2066544"/>
            <a:ext cx="5897880" cy="10241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066544"/>
            <a:ext cx="347472" cy="10241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441448"/>
            <a:ext cx="310896" cy="274320"/>
          </a:xfrm>
          <a:prstGeom prst="rect">
            <a:avLst/>
          </a:prstGeom>
          <a:noFill/>
        </p:spPr>
        <p:txBody>
          <a:bodyPr wrap="square">
            <a:spAutoFit/>
          </a:bodyPr>
          <a:lstStyle/>
          <a:p>
            <a:pPr algn="ctr"/>
            <a:r>
              <a:rPr sz="1100" b="1" i="0">
                <a:solidFill>
                  <a:srgbClr val="0A0D1A"/>
                </a:solidFill>
                <a:latin typeface="Calibri"/>
              </a:rPr>
              <a:t>2</a:t>
            </a:r>
          </a:p>
        </p:txBody>
      </p:sp>
      <p:sp>
        <p:nvSpPr>
          <p:cNvPr id="19" name="TextBox 18"/>
          <p:cNvSpPr txBox="1"/>
          <p:nvPr/>
        </p:nvSpPr>
        <p:spPr>
          <a:xfrm>
            <a:off x="713232" y="2121408"/>
            <a:ext cx="5413248" cy="228600"/>
          </a:xfrm>
          <a:prstGeom prst="rect">
            <a:avLst/>
          </a:prstGeom>
          <a:noFill/>
        </p:spPr>
        <p:txBody>
          <a:bodyPr wrap="square">
            <a:spAutoFit/>
          </a:bodyPr>
          <a:lstStyle/>
          <a:p>
            <a:pPr algn="l"/>
            <a:r>
              <a:rPr sz="1150" b="1" i="0">
                <a:solidFill>
                  <a:srgbClr val="39FF14"/>
                </a:solidFill>
                <a:latin typeface="Calibri"/>
              </a:rPr>
              <a:t>AutoAttacker</a:t>
            </a:r>
          </a:p>
        </p:txBody>
      </p:sp>
      <p:sp>
        <p:nvSpPr>
          <p:cNvPr id="20" name="TextBox 19"/>
          <p:cNvSpPr txBox="1"/>
          <p:nvPr/>
        </p:nvSpPr>
        <p:spPr>
          <a:xfrm>
            <a:off x="713232" y="2340864"/>
            <a:ext cx="5413248" cy="182880"/>
          </a:xfrm>
          <a:prstGeom prst="rect">
            <a:avLst/>
          </a:prstGeom>
          <a:noFill/>
        </p:spPr>
        <p:txBody>
          <a:bodyPr wrap="square">
            <a:spAutoFit/>
          </a:bodyPr>
          <a:lstStyle/>
          <a:p>
            <a:pPr algn="l"/>
            <a:r>
              <a:rPr sz="850" b="0" i="1">
                <a:solidFill>
                  <a:srgbClr val="A0AAB8"/>
                </a:solidFill>
                <a:latin typeface="Calibri"/>
              </a:rPr>
              <a:t>arXiv '24  — Xu et al.</a:t>
            </a:r>
          </a:p>
        </p:txBody>
      </p:sp>
      <p:sp>
        <p:nvSpPr>
          <p:cNvPr id="21" name="TextBox 20"/>
          <p:cNvSpPr txBox="1"/>
          <p:nvPr/>
        </p:nvSpPr>
        <p:spPr>
          <a:xfrm>
            <a:off x="713232" y="2523744"/>
            <a:ext cx="5413248" cy="292608"/>
          </a:xfrm>
          <a:prstGeom prst="rect">
            <a:avLst/>
          </a:prstGeom>
          <a:noFill/>
        </p:spPr>
        <p:txBody>
          <a:bodyPr wrap="square">
            <a:spAutoFit/>
          </a:bodyPr>
          <a:lstStyle/>
          <a:p>
            <a:pPr algn="l"/>
            <a:r>
              <a:rPr sz="850" b="0" i="0">
                <a:solidFill>
                  <a:srgbClr val="A0AAB8"/>
                </a:solidFill>
                <a:latin typeface="Calibri"/>
              </a:rPr>
              <a:t>Modular planner / summarizer / code-generator for post-breach automation.
Experience manager stores + reuses attack subtasks within one mission.</a:t>
            </a:r>
          </a:p>
        </p:txBody>
      </p:sp>
      <p:sp>
        <p:nvSpPr>
          <p:cNvPr id="22" name="Rectangle 21"/>
          <p:cNvSpPr/>
          <p:nvPr/>
        </p:nvSpPr>
        <p:spPr>
          <a:xfrm>
            <a:off x="694944" y="2889504"/>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898648"/>
            <a:ext cx="5367528" cy="164592"/>
          </a:xfrm>
          <a:prstGeom prst="rect">
            <a:avLst/>
          </a:prstGeom>
          <a:noFill/>
        </p:spPr>
        <p:txBody>
          <a:bodyPr wrap="none">
            <a:spAutoFit/>
          </a:bodyPr>
          <a:lstStyle/>
          <a:p>
            <a:pPr algn="l"/>
            <a:r>
              <a:rPr sz="800" b="1" i="0">
                <a:solidFill>
                  <a:srgbClr val="39FF14"/>
                </a:solidFill>
                <a:latin typeface="Calibri"/>
              </a:rPr>
              <a:t>CMatrix:  Cross-Mission Experience Store (C10) — generalizes reuse to cross-mission scope.</a:t>
            </a:r>
          </a:p>
        </p:txBody>
      </p:sp>
      <p:sp>
        <p:nvSpPr>
          <p:cNvPr id="24" name="Rectangle 23"/>
          <p:cNvSpPr/>
          <p:nvPr/>
        </p:nvSpPr>
        <p:spPr>
          <a:xfrm>
            <a:off x="274320" y="3145536"/>
            <a:ext cx="5897880" cy="1024128"/>
          </a:xfrm>
          <a:prstGeom prst="rect">
            <a:avLst/>
          </a:prstGeom>
          <a:solidFill>
            <a:srgbClr val="10162B"/>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145536"/>
            <a:ext cx="347472" cy="10241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520440"/>
            <a:ext cx="310896" cy="274320"/>
          </a:xfrm>
          <a:prstGeom prst="rect">
            <a:avLst/>
          </a:prstGeom>
          <a:noFill/>
        </p:spPr>
        <p:txBody>
          <a:bodyPr wrap="square">
            <a:spAutoFit/>
          </a:bodyPr>
          <a:lstStyle/>
          <a:p>
            <a:pPr algn="ctr"/>
            <a:r>
              <a:rPr sz="1100" b="1" i="0">
                <a:solidFill>
                  <a:srgbClr val="0A0D1A"/>
                </a:solidFill>
                <a:latin typeface="Calibri"/>
              </a:rPr>
              <a:t>3</a:t>
            </a:r>
          </a:p>
        </p:txBody>
      </p:sp>
      <p:sp>
        <p:nvSpPr>
          <p:cNvPr id="27" name="TextBox 26"/>
          <p:cNvSpPr txBox="1"/>
          <p:nvPr/>
        </p:nvSpPr>
        <p:spPr>
          <a:xfrm>
            <a:off x="713232" y="3200400"/>
            <a:ext cx="5413248" cy="228600"/>
          </a:xfrm>
          <a:prstGeom prst="rect">
            <a:avLst/>
          </a:prstGeom>
          <a:noFill/>
        </p:spPr>
        <p:txBody>
          <a:bodyPr wrap="square">
            <a:spAutoFit/>
          </a:bodyPr>
          <a:lstStyle/>
          <a:p>
            <a:pPr algn="l"/>
            <a:r>
              <a:rPr sz="1150" b="1" i="0">
                <a:solidFill>
                  <a:srgbClr val="FFD700"/>
                </a:solidFill>
                <a:latin typeface="Calibri"/>
              </a:rPr>
              <a:t>Teams of LLM Agents (HPTSA)</a:t>
            </a:r>
          </a:p>
        </p:txBody>
      </p:sp>
      <p:sp>
        <p:nvSpPr>
          <p:cNvPr id="28" name="TextBox 27"/>
          <p:cNvSpPr txBox="1"/>
          <p:nvPr/>
        </p:nvSpPr>
        <p:spPr>
          <a:xfrm>
            <a:off x="713232" y="3419856"/>
            <a:ext cx="5413248" cy="182880"/>
          </a:xfrm>
          <a:prstGeom prst="rect">
            <a:avLst/>
          </a:prstGeom>
          <a:noFill/>
        </p:spPr>
        <p:txBody>
          <a:bodyPr wrap="square">
            <a:spAutoFit/>
          </a:bodyPr>
          <a:lstStyle/>
          <a:p>
            <a:pPr algn="l"/>
            <a:r>
              <a:rPr sz="850" b="0" i="1">
                <a:solidFill>
                  <a:srgbClr val="A0AAB8"/>
                </a:solidFill>
                <a:latin typeface="Calibri"/>
              </a:rPr>
              <a:t>arXiv '24  — Zhu et al.</a:t>
            </a:r>
          </a:p>
        </p:txBody>
      </p:sp>
      <p:sp>
        <p:nvSpPr>
          <p:cNvPr id="29" name="TextBox 28"/>
          <p:cNvSpPr txBox="1"/>
          <p:nvPr/>
        </p:nvSpPr>
        <p:spPr>
          <a:xfrm>
            <a:off x="713232" y="3602736"/>
            <a:ext cx="5413248" cy="292608"/>
          </a:xfrm>
          <a:prstGeom prst="rect">
            <a:avLst/>
          </a:prstGeom>
          <a:noFill/>
        </p:spPr>
        <p:txBody>
          <a:bodyPr wrap="square">
            <a:spAutoFit/>
          </a:bodyPr>
          <a:lstStyle/>
          <a:p>
            <a:pPr algn="l"/>
            <a:r>
              <a:rPr sz="850" b="0" i="0">
                <a:solidFill>
                  <a:srgbClr val="A0AAB8"/>
                </a:solidFill>
                <a:latin typeface="Calibri"/>
              </a:rPr>
              <a:t>Hierarchical planner delegates to task-specific sub-agents.
Task-specific document injection improves zero-day exploitation by 2.1x.</a:t>
            </a:r>
          </a:p>
        </p:txBody>
      </p:sp>
      <p:sp>
        <p:nvSpPr>
          <p:cNvPr id="30" name="Rectangle 29"/>
          <p:cNvSpPr/>
          <p:nvPr/>
        </p:nvSpPr>
        <p:spPr>
          <a:xfrm>
            <a:off x="694944" y="3968496"/>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977640"/>
            <a:ext cx="5367528" cy="164592"/>
          </a:xfrm>
          <a:prstGeom prst="rect">
            <a:avLst/>
          </a:prstGeom>
          <a:noFill/>
        </p:spPr>
        <p:txBody>
          <a:bodyPr wrap="none">
            <a:spAutoFit/>
          </a:bodyPr>
          <a:lstStyle/>
          <a:p>
            <a:pPr algn="l"/>
            <a:r>
              <a:rPr sz="800" b="1" i="0">
                <a:solidFill>
                  <a:srgbClr val="39FF14"/>
                </a:solidFill>
                <a:latin typeface="Calibri"/>
              </a:rPr>
              <a:t>CMatrix:  Vulnerability-Class Knowledge Injection at agent spawn time (C3 / §7).</a:t>
            </a:r>
          </a:p>
        </p:txBody>
      </p:sp>
      <p:sp>
        <p:nvSpPr>
          <p:cNvPr id="32" name="Rectangle 31"/>
          <p:cNvSpPr/>
          <p:nvPr/>
        </p:nvSpPr>
        <p:spPr>
          <a:xfrm>
            <a:off x="274320" y="4224528"/>
            <a:ext cx="5897880" cy="1024128"/>
          </a:xfrm>
          <a:prstGeom prst="rect">
            <a:avLst/>
          </a:prstGeom>
          <a:solidFill>
            <a:srgbClr val="10162B"/>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4224528"/>
            <a:ext cx="347472" cy="102412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599432"/>
            <a:ext cx="310896" cy="274320"/>
          </a:xfrm>
          <a:prstGeom prst="rect">
            <a:avLst/>
          </a:prstGeom>
          <a:noFill/>
        </p:spPr>
        <p:txBody>
          <a:bodyPr wrap="square">
            <a:spAutoFit/>
          </a:bodyPr>
          <a:lstStyle/>
          <a:p>
            <a:pPr algn="ctr"/>
            <a:r>
              <a:rPr sz="1100" b="1" i="0">
                <a:solidFill>
                  <a:srgbClr val="0A0D1A"/>
                </a:solidFill>
                <a:latin typeface="Calibri"/>
              </a:rPr>
              <a:t>4</a:t>
            </a:r>
          </a:p>
        </p:txBody>
      </p:sp>
      <p:sp>
        <p:nvSpPr>
          <p:cNvPr id="35" name="TextBox 34"/>
          <p:cNvSpPr txBox="1"/>
          <p:nvPr/>
        </p:nvSpPr>
        <p:spPr>
          <a:xfrm>
            <a:off x="713232" y="4279392"/>
            <a:ext cx="5413248" cy="228600"/>
          </a:xfrm>
          <a:prstGeom prst="rect">
            <a:avLst/>
          </a:prstGeom>
          <a:noFill/>
        </p:spPr>
        <p:txBody>
          <a:bodyPr wrap="square">
            <a:spAutoFit/>
          </a:bodyPr>
          <a:lstStyle/>
          <a:p>
            <a:pPr algn="l"/>
            <a:r>
              <a:rPr sz="1150" b="1" i="0">
                <a:solidFill>
                  <a:srgbClr val="00BFD8"/>
                </a:solidFill>
                <a:latin typeface="Calibri"/>
              </a:rPr>
              <a:t>PentestAgent</a:t>
            </a:r>
          </a:p>
        </p:txBody>
      </p:sp>
      <p:sp>
        <p:nvSpPr>
          <p:cNvPr id="36" name="TextBox 35"/>
          <p:cNvSpPr txBox="1"/>
          <p:nvPr/>
        </p:nvSpPr>
        <p:spPr>
          <a:xfrm>
            <a:off x="713232" y="4498848"/>
            <a:ext cx="5413248" cy="182880"/>
          </a:xfrm>
          <a:prstGeom prst="rect">
            <a:avLst/>
          </a:prstGeom>
          <a:noFill/>
        </p:spPr>
        <p:txBody>
          <a:bodyPr wrap="square">
            <a:spAutoFit/>
          </a:bodyPr>
          <a:lstStyle/>
          <a:p>
            <a:pPr algn="l"/>
            <a:r>
              <a:rPr sz="850" b="0" i="1">
                <a:solidFill>
                  <a:srgbClr val="A0AAB8"/>
                </a:solidFill>
                <a:latin typeface="Calibri"/>
              </a:rPr>
              <a:t>AsiaCCS '25  — Shen et al.</a:t>
            </a:r>
          </a:p>
        </p:txBody>
      </p:sp>
      <p:sp>
        <p:nvSpPr>
          <p:cNvPr id="37" name="TextBox 36"/>
          <p:cNvSpPr txBox="1"/>
          <p:nvPr/>
        </p:nvSpPr>
        <p:spPr>
          <a:xfrm>
            <a:off x="713232" y="4681728"/>
            <a:ext cx="5413248" cy="292608"/>
          </a:xfrm>
          <a:prstGeom prst="rect">
            <a:avLst/>
          </a:prstGeom>
          <a:noFill/>
        </p:spPr>
        <p:txBody>
          <a:bodyPr wrap="square">
            <a:spAutoFit/>
          </a:bodyPr>
          <a:lstStyle/>
          <a:p>
            <a:pPr algn="l"/>
            <a:r>
              <a:rPr sz="850" b="0" i="0">
                <a:solidFill>
                  <a:srgbClr val="A0AAB8"/>
                </a:solidFill>
                <a:latin typeface="Calibri"/>
              </a:rPr>
              <a:t>Planning agent + RAG-backed shared memory.
Execution agent self-diagnoses failed exploit attempts before abandoning.</a:t>
            </a:r>
          </a:p>
        </p:txBody>
      </p:sp>
      <p:sp>
        <p:nvSpPr>
          <p:cNvPr id="38" name="Rectangle 37"/>
          <p:cNvSpPr/>
          <p:nvPr/>
        </p:nvSpPr>
        <p:spPr>
          <a:xfrm>
            <a:off x="694944" y="5047488"/>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056632"/>
            <a:ext cx="5367528" cy="164592"/>
          </a:xfrm>
          <a:prstGeom prst="rect">
            <a:avLst/>
          </a:prstGeom>
          <a:noFill/>
        </p:spPr>
        <p:txBody>
          <a:bodyPr wrap="none">
            <a:spAutoFit/>
          </a:bodyPr>
          <a:lstStyle/>
          <a:p>
            <a:pPr algn="l"/>
            <a:r>
              <a:rPr sz="800" b="1" i="0">
                <a:solidFill>
                  <a:srgbClr val="39FF14"/>
                </a:solidFill>
                <a:latin typeface="Calibri"/>
              </a:rPr>
              <a:t>CMatrix:  Validation Agent self-debugging loop: Diagnose → Contextualize → Adapt → Cap.</a:t>
            </a:r>
          </a:p>
        </p:txBody>
      </p:sp>
      <p:sp>
        <p:nvSpPr>
          <p:cNvPr id="40" name="Rectangle 39"/>
          <p:cNvSpPr/>
          <p:nvPr/>
        </p:nvSpPr>
        <p:spPr>
          <a:xfrm>
            <a:off x="274320" y="5303520"/>
            <a:ext cx="5897880" cy="10241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5303520"/>
            <a:ext cx="347472" cy="10241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8" y="5678424"/>
            <a:ext cx="310896" cy="274320"/>
          </a:xfrm>
          <a:prstGeom prst="rect">
            <a:avLst/>
          </a:prstGeom>
          <a:noFill/>
        </p:spPr>
        <p:txBody>
          <a:bodyPr wrap="square">
            <a:spAutoFit/>
          </a:bodyPr>
          <a:lstStyle/>
          <a:p>
            <a:pPr algn="ctr"/>
            <a:r>
              <a:rPr sz="1100" b="1" i="0">
                <a:solidFill>
                  <a:srgbClr val="0A0D1A"/>
                </a:solidFill>
                <a:latin typeface="Calibri"/>
              </a:rPr>
              <a:t>5</a:t>
            </a:r>
          </a:p>
        </p:txBody>
      </p:sp>
      <p:sp>
        <p:nvSpPr>
          <p:cNvPr id="43" name="TextBox 42"/>
          <p:cNvSpPr txBox="1"/>
          <p:nvPr/>
        </p:nvSpPr>
        <p:spPr>
          <a:xfrm>
            <a:off x="713232" y="5358384"/>
            <a:ext cx="5413248" cy="228600"/>
          </a:xfrm>
          <a:prstGeom prst="rect">
            <a:avLst/>
          </a:prstGeom>
          <a:noFill/>
        </p:spPr>
        <p:txBody>
          <a:bodyPr wrap="square">
            <a:spAutoFit/>
          </a:bodyPr>
          <a:lstStyle/>
          <a:p>
            <a:pPr algn="l"/>
            <a:r>
              <a:rPr sz="1150" b="1" i="0">
                <a:solidFill>
                  <a:srgbClr val="FF4545"/>
                </a:solidFill>
                <a:latin typeface="Calibri"/>
              </a:rPr>
              <a:t>VulnBot</a:t>
            </a:r>
          </a:p>
        </p:txBody>
      </p:sp>
      <p:sp>
        <p:nvSpPr>
          <p:cNvPr id="44" name="TextBox 43"/>
          <p:cNvSpPr txBox="1"/>
          <p:nvPr/>
        </p:nvSpPr>
        <p:spPr>
          <a:xfrm>
            <a:off x="713232" y="5577840"/>
            <a:ext cx="5413248" cy="182880"/>
          </a:xfrm>
          <a:prstGeom prst="rect">
            <a:avLst/>
          </a:prstGeom>
          <a:noFill/>
        </p:spPr>
        <p:txBody>
          <a:bodyPr wrap="square">
            <a:spAutoFit/>
          </a:bodyPr>
          <a:lstStyle/>
          <a:p>
            <a:pPr algn="l"/>
            <a:r>
              <a:rPr sz="850" b="0" i="1">
                <a:solidFill>
                  <a:srgbClr val="A0AAB8"/>
                </a:solidFill>
                <a:latin typeface="Calibri"/>
              </a:rPr>
              <a:t>arXiv '25  — Kong et al.</a:t>
            </a:r>
          </a:p>
        </p:txBody>
      </p:sp>
      <p:sp>
        <p:nvSpPr>
          <p:cNvPr id="45" name="TextBox 44"/>
          <p:cNvSpPr txBox="1"/>
          <p:nvPr/>
        </p:nvSpPr>
        <p:spPr>
          <a:xfrm>
            <a:off x="713232" y="5760720"/>
            <a:ext cx="5413248" cy="292608"/>
          </a:xfrm>
          <a:prstGeom prst="rect">
            <a:avLst/>
          </a:prstGeom>
          <a:noFill/>
        </p:spPr>
        <p:txBody>
          <a:bodyPr wrap="square">
            <a:spAutoFit/>
          </a:bodyPr>
          <a:lstStyle/>
          <a:p>
            <a:pPr algn="l"/>
            <a:r>
              <a:rPr sz="850" b="0" i="0">
                <a:solidFill>
                  <a:srgbClr val="A0AAB8"/>
                </a:solidFill>
                <a:latin typeface="Calibri"/>
              </a:rPr>
              <a:t>Five-module pipeline around a Penetration Task Graph.
Summarizer condenses phase output — prevents raw history leaking between agents.</a:t>
            </a:r>
          </a:p>
        </p:txBody>
      </p:sp>
      <p:sp>
        <p:nvSpPr>
          <p:cNvPr id="46" name="Rectangle 45"/>
          <p:cNvSpPr/>
          <p:nvPr/>
        </p:nvSpPr>
        <p:spPr>
          <a:xfrm>
            <a:off x="694944" y="6126480"/>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6135624"/>
            <a:ext cx="5367528" cy="164592"/>
          </a:xfrm>
          <a:prstGeom prst="rect">
            <a:avLst/>
          </a:prstGeom>
          <a:noFill/>
        </p:spPr>
        <p:txBody>
          <a:bodyPr wrap="none">
            <a:spAutoFit/>
          </a:bodyPr>
          <a:lstStyle/>
          <a:p>
            <a:pPr algn="l"/>
            <a:r>
              <a:rPr sz="800" b="1" i="0">
                <a:solidFill>
                  <a:srgbClr val="39FF14"/>
                </a:solidFill>
                <a:latin typeface="Calibri"/>
              </a:rPr>
              <a:t>CMatrix:  Context-Isolated Agent Spawning — agents return structured ASG delta, not raw history.</a:t>
            </a:r>
          </a:p>
        </p:txBody>
      </p:sp>
      <p:sp>
        <p:nvSpPr>
          <p:cNvPr id="48" name="Rectangle 47"/>
          <p:cNvSpPr/>
          <p:nvPr/>
        </p:nvSpPr>
        <p:spPr>
          <a:xfrm>
            <a:off x="6355080" y="987552"/>
            <a:ext cx="5669280" cy="274320"/>
          </a:xfrm>
          <a:prstGeom prst="rect">
            <a:avLst/>
          </a:prstGeom>
          <a:solidFill>
            <a:srgbClr val="120820"/>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64808" y="1005840"/>
            <a:ext cx="5486400" cy="237744"/>
          </a:xfrm>
          <a:prstGeom prst="rect">
            <a:avLst/>
          </a:prstGeom>
          <a:noFill/>
        </p:spPr>
        <p:txBody>
          <a:bodyPr wrap="square">
            <a:spAutoFit/>
          </a:bodyPr>
          <a:lstStyle/>
          <a:p>
            <a:pPr algn="l"/>
            <a:r>
              <a:rPr sz="1000" b="1" i="0">
                <a:solidFill>
                  <a:srgbClr val="BD93F9"/>
                </a:solidFill>
                <a:latin typeface="Calibri"/>
              </a:rPr>
              <a:t>💻  OPEN-SOURCE REPOSITORIES</a:t>
            </a:r>
          </a:p>
        </p:txBody>
      </p:sp>
      <p:sp>
        <p:nvSpPr>
          <p:cNvPr id="50" name="Rectangle 49"/>
          <p:cNvSpPr/>
          <p:nvPr/>
        </p:nvSpPr>
        <p:spPr>
          <a:xfrm>
            <a:off x="6355080" y="1307592"/>
            <a:ext cx="5669280" cy="1627632"/>
          </a:xfrm>
          <a:prstGeom prst="rect">
            <a:avLst/>
          </a:prstGeom>
          <a:solidFill>
            <a:srgbClr val="10162B"/>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5080" y="1307592"/>
            <a:ext cx="347472" cy="16276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73368" y="1984248"/>
            <a:ext cx="310896" cy="274320"/>
          </a:xfrm>
          <a:prstGeom prst="rect">
            <a:avLst/>
          </a:prstGeom>
          <a:noFill/>
        </p:spPr>
        <p:txBody>
          <a:bodyPr wrap="square">
            <a:spAutoFit/>
          </a:bodyPr>
          <a:lstStyle/>
          <a:p>
            <a:pPr algn="ctr"/>
            <a:r>
              <a:rPr sz="1100" b="1" i="0">
                <a:solidFill>
                  <a:srgbClr val="0A0D1A"/>
                </a:solidFill>
                <a:latin typeface="Calibri"/>
              </a:rPr>
              <a:t>6</a:t>
            </a:r>
          </a:p>
        </p:txBody>
      </p:sp>
      <p:sp>
        <p:nvSpPr>
          <p:cNvPr id="53" name="TextBox 52"/>
          <p:cNvSpPr txBox="1"/>
          <p:nvPr/>
        </p:nvSpPr>
        <p:spPr>
          <a:xfrm>
            <a:off x="6793992" y="1380744"/>
            <a:ext cx="5184648" cy="256032"/>
          </a:xfrm>
          <a:prstGeom prst="rect">
            <a:avLst/>
          </a:prstGeom>
          <a:noFill/>
        </p:spPr>
        <p:txBody>
          <a:bodyPr wrap="square">
            <a:spAutoFit/>
          </a:bodyPr>
          <a:lstStyle/>
          <a:p>
            <a:pPr algn="l"/>
            <a:r>
              <a:rPr sz="1300" b="1" i="0">
                <a:solidFill>
                  <a:srgbClr val="39FF14"/>
                </a:solidFill>
                <a:latin typeface="Calibri"/>
              </a:rPr>
              <a:t>PentAGI</a:t>
            </a:r>
          </a:p>
        </p:txBody>
      </p:sp>
      <p:sp>
        <p:nvSpPr>
          <p:cNvPr id="54" name="TextBox 53"/>
          <p:cNvSpPr txBox="1"/>
          <p:nvPr/>
        </p:nvSpPr>
        <p:spPr>
          <a:xfrm>
            <a:off x="6793992" y="1645920"/>
            <a:ext cx="5184648" cy="182880"/>
          </a:xfrm>
          <a:prstGeom prst="rect">
            <a:avLst/>
          </a:prstGeom>
          <a:noFill/>
        </p:spPr>
        <p:txBody>
          <a:bodyPr wrap="square">
            <a:spAutoFit/>
          </a:bodyPr>
          <a:lstStyle/>
          <a:p>
            <a:pPr algn="l"/>
            <a:r>
              <a:rPr sz="850" b="0" i="1">
                <a:solidFill>
                  <a:srgbClr val="A0AAB8"/>
                </a:solidFill>
                <a:latin typeface="Calibri"/>
              </a:rPr>
              <a:t>vxcontrol/pentagi</a:t>
            </a:r>
          </a:p>
        </p:txBody>
      </p:sp>
      <p:sp>
        <p:nvSpPr>
          <p:cNvPr id="55" name="TextBox 54"/>
          <p:cNvSpPr txBox="1"/>
          <p:nvPr/>
        </p:nvSpPr>
        <p:spPr>
          <a:xfrm>
            <a:off x="6793992" y="1837944"/>
            <a:ext cx="5184648" cy="457200"/>
          </a:xfrm>
          <a:prstGeom prst="rect">
            <a:avLst/>
          </a:prstGeom>
          <a:noFill/>
        </p:spPr>
        <p:txBody>
          <a:bodyPr wrap="square">
            <a:spAutoFit/>
          </a:bodyPr>
          <a:lstStyle/>
          <a:p>
            <a:pPr algn="l"/>
            <a:r>
              <a:rPr sz="900" b="0" i="0">
                <a:solidFill>
                  <a:srgbClr val="A0AAB8"/>
                </a:solidFill>
                <a:latin typeface="Calibri"/>
              </a:rPr>
              <a:t>Production multi-agent pentesting platform.
Adviser detects fixation; Reflector nudges stuck agents.</a:t>
            </a:r>
          </a:p>
        </p:txBody>
      </p:sp>
      <p:sp>
        <p:nvSpPr>
          <p:cNvPr id="56" name="Rectangle 55"/>
          <p:cNvSpPr/>
          <p:nvPr/>
        </p:nvSpPr>
        <p:spPr>
          <a:xfrm>
            <a:off x="6775704" y="2642616"/>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12280" y="2651760"/>
            <a:ext cx="5138928" cy="237744"/>
          </a:xfrm>
          <a:prstGeom prst="rect">
            <a:avLst/>
          </a:prstGeom>
          <a:noFill/>
        </p:spPr>
        <p:txBody>
          <a:bodyPr wrap="square">
            <a:spAutoFit/>
          </a:bodyPr>
          <a:lstStyle/>
          <a:p>
            <a:pPr algn="l"/>
            <a:r>
              <a:rPr sz="850" b="1" i="0">
                <a:solidFill>
                  <a:srgbClr val="39FF14"/>
                </a:solidFill>
                <a:latin typeface="Calibri"/>
              </a:rPr>
              <a:t>CMatrix:  Cycle Guard (detects repeated identical tool calls) + Reflector (corrective guidance on repeated failures).</a:t>
            </a:r>
          </a:p>
        </p:txBody>
      </p:sp>
      <p:sp>
        <p:nvSpPr>
          <p:cNvPr id="58" name="Rectangle 57"/>
          <p:cNvSpPr/>
          <p:nvPr/>
        </p:nvSpPr>
        <p:spPr>
          <a:xfrm>
            <a:off x="6355080" y="3026664"/>
            <a:ext cx="5669280" cy="1627632"/>
          </a:xfrm>
          <a:prstGeom prst="rect">
            <a:avLst/>
          </a:prstGeom>
          <a:solidFill>
            <a:srgbClr val="10162B"/>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3026664"/>
            <a:ext cx="347472" cy="16276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703320"/>
            <a:ext cx="310896" cy="274320"/>
          </a:xfrm>
          <a:prstGeom prst="rect">
            <a:avLst/>
          </a:prstGeom>
          <a:noFill/>
        </p:spPr>
        <p:txBody>
          <a:bodyPr wrap="square">
            <a:spAutoFit/>
          </a:bodyPr>
          <a:lstStyle/>
          <a:p>
            <a:pPr algn="ctr"/>
            <a:r>
              <a:rPr sz="1100" b="1" i="0">
                <a:solidFill>
                  <a:srgbClr val="0A0D1A"/>
                </a:solidFill>
                <a:latin typeface="Calibri"/>
              </a:rPr>
              <a:t>7</a:t>
            </a:r>
          </a:p>
        </p:txBody>
      </p:sp>
      <p:sp>
        <p:nvSpPr>
          <p:cNvPr id="61" name="TextBox 60"/>
          <p:cNvSpPr txBox="1"/>
          <p:nvPr/>
        </p:nvSpPr>
        <p:spPr>
          <a:xfrm>
            <a:off x="6793992" y="3099816"/>
            <a:ext cx="5184648" cy="256032"/>
          </a:xfrm>
          <a:prstGeom prst="rect">
            <a:avLst/>
          </a:prstGeom>
          <a:noFill/>
        </p:spPr>
        <p:txBody>
          <a:bodyPr wrap="square">
            <a:spAutoFit/>
          </a:bodyPr>
          <a:lstStyle/>
          <a:p>
            <a:pPr algn="l"/>
            <a:r>
              <a:rPr sz="1300" b="1" i="0">
                <a:solidFill>
                  <a:srgbClr val="00E5FF"/>
                </a:solidFill>
                <a:latin typeface="Calibri"/>
              </a:rPr>
              <a:t>Claude Code</a:t>
            </a:r>
          </a:p>
        </p:txBody>
      </p:sp>
      <p:sp>
        <p:nvSpPr>
          <p:cNvPr id="62" name="TextBox 61"/>
          <p:cNvSpPr txBox="1"/>
          <p:nvPr/>
        </p:nvSpPr>
        <p:spPr>
          <a:xfrm>
            <a:off x="6793992" y="3364992"/>
            <a:ext cx="5184648" cy="182880"/>
          </a:xfrm>
          <a:prstGeom prst="rect">
            <a:avLst/>
          </a:prstGeom>
          <a:noFill/>
        </p:spPr>
        <p:txBody>
          <a:bodyPr wrap="square">
            <a:spAutoFit/>
          </a:bodyPr>
          <a:lstStyle/>
          <a:p>
            <a:pPr algn="l"/>
            <a:r>
              <a:rPr sz="850" b="0" i="1">
                <a:solidFill>
                  <a:srgbClr val="A0AAB8"/>
                </a:solidFill>
                <a:latin typeface="Calibri"/>
              </a:rPr>
              <a:t>Anthropic pattern — yasasbanukaofficial/claude-code</a:t>
            </a:r>
          </a:p>
        </p:txBody>
      </p:sp>
      <p:sp>
        <p:nvSpPr>
          <p:cNvPr id="63" name="TextBox 62"/>
          <p:cNvSpPr txBox="1"/>
          <p:nvPr/>
        </p:nvSpPr>
        <p:spPr>
          <a:xfrm>
            <a:off x="6793992" y="3557016"/>
            <a:ext cx="5184648" cy="457200"/>
          </a:xfrm>
          <a:prstGeom prst="rect">
            <a:avLst/>
          </a:prstGeom>
          <a:noFill/>
        </p:spPr>
        <p:txBody>
          <a:bodyPr wrap="square">
            <a:spAutoFit/>
          </a:bodyPr>
          <a:lstStyle/>
          <a:p>
            <a:pPr algn="l"/>
            <a:r>
              <a:rPr sz="900" b="0" i="0">
                <a:solidFill>
                  <a:srgbClr val="A0AAB8"/>
                </a:solidFill>
                <a:latin typeface="Calibri"/>
              </a:rPr>
              <a:t>yoloClassifier.ts: two-stage fast-filter + chain-of-thought tool-call auto-approval.
27-event named hook architecture for operator intervention.</a:t>
            </a:r>
          </a:p>
        </p:txBody>
      </p:sp>
      <p:sp>
        <p:nvSpPr>
          <p:cNvPr id="64" name="Rectangle 63"/>
          <p:cNvSpPr/>
          <p:nvPr/>
        </p:nvSpPr>
        <p:spPr>
          <a:xfrm>
            <a:off x="6775704" y="4361688"/>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12280" y="4370832"/>
            <a:ext cx="5138928" cy="237744"/>
          </a:xfrm>
          <a:prstGeom prst="rect">
            <a:avLst/>
          </a:prstGeom>
          <a:noFill/>
        </p:spPr>
        <p:txBody>
          <a:bodyPr wrap="square">
            <a:spAutoFit/>
          </a:bodyPr>
          <a:lstStyle/>
          <a:p>
            <a:pPr algn="l"/>
            <a:r>
              <a:rPr sz="850" b="1" i="0">
                <a:solidFill>
                  <a:srgbClr val="39FF14"/>
                </a:solidFill>
                <a:latin typeface="Calibri"/>
              </a:rPr>
              <a:t>CMatrix:  LLM Permission Classifier (Medium-tier Risk Gate) + 6-event Agent Lifecycle Hook System.</a:t>
            </a:r>
          </a:p>
        </p:txBody>
      </p:sp>
      <p:sp>
        <p:nvSpPr>
          <p:cNvPr id="66" name="Rectangle 65"/>
          <p:cNvSpPr/>
          <p:nvPr/>
        </p:nvSpPr>
        <p:spPr>
          <a:xfrm>
            <a:off x="6355080" y="4745736"/>
            <a:ext cx="5669280" cy="1627632"/>
          </a:xfrm>
          <a:prstGeom prst="rect">
            <a:avLst/>
          </a:prstGeom>
          <a:solidFill>
            <a:srgbClr val="10162B"/>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55080" y="4745736"/>
            <a:ext cx="347472" cy="16276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5422392"/>
            <a:ext cx="310896" cy="274320"/>
          </a:xfrm>
          <a:prstGeom prst="rect">
            <a:avLst/>
          </a:prstGeom>
          <a:noFill/>
        </p:spPr>
        <p:txBody>
          <a:bodyPr wrap="square">
            <a:spAutoFit/>
          </a:bodyPr>
          <a:lstStyle/>
          <a:p>
            <a:pPr algn="ctr"/>
            <a:r>
              <a:rPr sz="1100" b="1" i="0">
                <a:solidFill>
                  <a:srgbClr val="0A0D1A"/>
                </a:solidFill>
                <a:latin typeface="Calibri"/>
              </a:rPr>
              <a:t>8</a:t>
            </a:r>
          </a:p>
        </p:txBody>
      </p:sp>
      <p:sp>
        <p:nvSpPr>
          <p:cNvPr id="69" name="TextBox 68"/>
          <p:cNvSpPr txBox="1"/>
          <p:nvPr/>
        </p:nvSpPr>
        <p:spPr>
          <a:xfrm>
            <a:off x="6793992" y="4818888"/>
            <a:ext cx="5184648" cy="256032"/>
          </a:xfrm>
          <a:prstGeom prst="rect">
            <a:avLst/>
          </a:prstGeom>
          <a:noFill/>
        </p:spPr>
        <p:txBody>
          <a:bodyPr wrap="square">
            <a:spAutoFit/>
          </a:bodyPr>
          <a:lstStyle/>
          <a:p>
            <a:pPr algn="l"/>
            <a:r>
              <a:rPr sz="1300" b="1" i="0">
                <a:solidFill>
                  <a:srgbClr val="FFD700"/>
                </a:solidFill>
                <a:latin typeface="Calibri"/>
              </a:rPr>
              <a:t>Hermes Agent</a:t>
            </a:r>
          </a:p>
        </p:txBody>
      </p:sp>
      <p:sp>
        <p:nvSpPr>
          <p:cNvPr id="70" name="TextBox 69"/>
          <p:cNvSpPr txBox="1"/>
          <p:nvPr/>
        </p:nvSpPr>
        <p:spPr>
          <a:xfrm>
            <a:off x="6793992" y="5084064"/>
            <a:ext cx="5184648" cy="182880"/>
          </a:xfrm>
          <a:prstGeom prst="rect">
            <a:avLst/>
          </a:prstGeom>
          <a:noFill/>
        </p:spPr>
        <p:txBody>
          <a:bodyPr wrap="square">
            <a:spAutoFit/>
          </a:bodyPr>
          <a:lstStyle/>
          <a:p>
            <a:pPr algn="l"/>
            <a:r>
              <a:rPr sz="850" b="0" i="1">
                <a:solidFill>
                  <a:srgbClr val="A0AAB8"/>
                </a:solidFill>
                <a:latin typeface="Calibri"/>
              </a:rPr>
              <a:t>NousResearch/hermes-agent</a:t>
            </a:r>
          </a:p>
        </p:txBody>
      </p:sp>
      <p:sp>
        <p:nvSpPr>
          <p:cNvPr id="71" name="TextBox 70"/>
          <p:cNvSpPr txBox="1"/>
          <p:nvPr/>
        </p:nvSpPr>
        <p:spPr>
          <a:xfrm>
            <a:off x="6793992" y="5276088"/>
            <a:ext cx="5184648" cy="457200"/>
          </a:xfrm>
          <a:prstGeom prst="rect">
            <a:avLst/>
          </a:prstGeom>
          <a:noFill/>
        </p:spPr>
        <p:txBody>
          <a:bodyPr wrap="square">
            <a:spAutoFit/>
          </a:bodyPr>
          <a:lstStyle/>
          <a:p>
            <a:pPr algn="l"/>
            <a:r>
              <a:rPr sz="900" b="0" i="0">
                <a:solidFill>
                  <a:srgbClr val="A0AAB8"/>
                </a:solidFill>
                <a:latin typeface="Calibri"/>
              </a:rPr>
              <a:t>Closed learning loop: skill crystallization from completed tasks.
Structured trajectory export for SFT/RL training via DSPy + Atropos.</a:t>
            </a:r>
          </a:p>
        </p:txBody>
      </p:sp>
      <p:sp>
        <p:nvSpPr>
          <p:cNvPr id="72" name="Rectangle 71"/>
          <p:cNvSpPr/>
          <p:nvPr/>
        </p:nvSpPr>
        <p:spPr>
          <a:xfrm>
            <a:off x="6775704" y="6080760"/>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12280" y="6089904"/>
            <a:ext cx="5138928" cy="237744"/>
          </a:xfrm>
          <a:prstGeom prst="rect">
            <a:avLst/>
          </a:prstGeom>
          <a:noFill/>
        </p:spPr>
        <p:txBody>
          <a:bodyPr wrap="square">
            <a:spAutoFit/>
          </a:bodyPr>
          <a:lstStyle/>
          <a:p>
            <a:pPr algn="l"/>
            <a:r>
              <a:rPr sz="850" b="1" i="0">
                <a:solidFill>
                  <a:srgbClr val="39FF14"/>
                </a:solidFill>
                <a:latin typeface="Calibri"/>
              </a:rPr>
              <a:t>CMatrix:  Attack Strategy Library crystallization (C11) + Engagement Trajectory Export dataset (C12).</a:t>
            </a:r>
          </a:p>
        </p:txBody>
      </p:sp>
      <p:sp>
        <p:nvSpPr>
          <p:cNvPr id="74" name="Rectangle 73"/>
          <p:cNvSpPr/>
          <p:nvPr/>
        </p:nvSpPr>
        <p:spPr>
          <a:xfrm>
            <a:off x="274320" y="987552"/>
            <a:ext cx="589788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74320" y="987552"/>
            <a:ext cx="5897880" cy="274320"/>
          </a:xfrm>
          <a:prstGeom prst="rect">
            <a:avLst/>
          </a:prstGeom>
          <a:solidFill>
            <a:srgbClr val="08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4048" y="1005840"/>
            <a:ext cx="5715000" cy="237744"/>
          </a:xfrm>
          <a:prstGeom prst="rect">
            <a:avLst/>
          </a:prstGeom>
          <a:noFill/>
        </p:spPr>
        <p:txBody>
          <a:bodyPr wrap="square">
            <a:spAutoFit/>
          </a:bodyPr>
          <a:lstStyle/>
          <a:p>
            <a:pPr algn="l"/>
            <a:r>
              <a:rPr sz="1000" b="1" i="0">
                <a:solidFill>
                  <a:srgbClr val="00E5FF"/>
                </a:solidFill>
                <a:latin typeface="Calibri"/>
              </a:rPr>
              <a:t>📄  ACADEMIC PAPERS</a:t>
            </a:r>
          </a:p>
        </p:txBody>
      </p:sp>
      <p:sp>
        <p:nvSpPr>
          <p:cNvPr id="77" name="Rectangle 76"/>
          <p:cNvSpPr/>
          <p:nvPr/>
        </p:nvSpPr>
        <p:spPr>
          <a:xfrm>
            <a:off x="6236208" y="960120"/>
            <a:ext cx="27432" cy="5349240"/>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825935" y="6355080"/>
            <a:ext cx="320040" cy="411480"/>
          </a:xfrm>
          <a:prstGeom prst="rect">
            <a:avLst/>
          </a:prstGeom>
          <a:noFill/>
        </p:spPr>
        <p:txBody>
          <a:bodyPr wrap="square">
            <a:spAutoFit/>
          </a:bodyPr>
          <a:lstStyle/>
          <a:p>
            <a:pPr algn="r"/>
            <a:r>
              <a:rPr sz="1300" b="1" i="0">
                <a:solidFill>
                  <a:srgbClr val="BD93F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