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0D1A"/>
        </a:solidFill>
        <a:effectLst/>
      </p:bgPr>
    </p:bg>
    <p:spTree>
      <p:nvGrpSpPr>
        <p:cNvPr id="1" name=""/>
        <p:cNvGrpSpPr/>
        <p:nvPr/>
      </p:nvGrpSpPr>
      <p:grpSpPr/>
      <p:sp>
        <p:nvSpPr>
          <p:cNvPr id="2" name="Rectangle 1"/>
          <p:cNvSpPr/>
          <p:nvPr/>
        </p:nvSpPr>
        <p:spPr>
          <a:xfrm>
            <a:off x="0" y="0"/>
            <a:ext cx="54864" cy="6858000"/>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 y="0"/>
            <a:ext cx="12136831" cy="36576"/>
          </a:xfrm>
          <a:prstGeom prst="rect">
            <a:avLst/>
          </a:prstGeom>
          <a:solidFill>
            <a:srgbClr val="39FF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 y="6821424"/>
            <a:ext cx="12136831" cy="36576"/>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0" y="1188720"/>
            <a:ext cx="5943600" cy="5029200"/>
          </a:xfrm>
          <a:prstGeom prst="rect">
            <a:avLst/>
          </a:prstGeom>
          <a:noFill/>
        </p:spPr>
        <p:txBody>
          <a:bodyPr wrap="square">
            <a:spAutoFit/>
          </a:bodyPr>
          <a:lstStyle/>
          <a:p>
            <a:pPr algn="r"/>
            <a:r>
              <a:rPr sz="13000" b="1" i="0">
                <a:solidFill>
                  <a:srgbClr val="0D2535"/>
                </a:solidFill>
                <a:latin typeface="Calibri"/>
              </a:rPr>
              <a:t>CMATRIX</a:t>
            </a:r>
          </a:p>
        </p:txBody>
      </p:sp>
      <p:sp>
        <p:nvSpPr>
          <p:cNvPr id="6" name="TextBox 5"/>
          <p:cNvSpPr txBox="1"/>
          <p:nvPr/>
        </p:nvSpPr>
        <p:spPr>
          <a:xfrm>
            <a:off x="457200" y="731520"/>
            <a:ext cx="7315200" cy="502920"/>
          </a:xfrm>
          <a:prstGeom prst="rect">
            <a:avLst/>
          </a:prstGeom>
          <a:noFill/>
        </p:spPr>
        <p:txBody>
          <a:bodyPr wrap="square">
            <a:spAutoFit/>
          </a:bodyPr>
          <a:lstStyle/>
          <a:p>
            <a:pPr algn="l"/>
            <a:r>
              <a:rPr sz="1300" b="0" i="0">
                <a:solidFill>
                  <a:srgbClr val="00E5FF"/>
                </a:solidFill>
                <a:latin typeface="Calibri"/>
              </a:rPr>
              <a:t>RESEARCH PRESENTATION</a:t>
            </a:r>
          </a:p>
        </p:txBody>
      </p:sp>
      <p:sp>
        <p:nvSpPr>
          <p:cNvPr id="7" name="TextBox 6"/>
          <p:cNvSpPr txBox="1"/>
          <p:nvPr/>
        </p:nvSpPr>
        <p:spPr>
          <a:xfrm>
            <a:off x="457200" y="1188720"/>
            <a:ext cx="8046720" cy="1828800"/>
          </a:xfrm>
          <a:prstGeom prst="rect">
            <a:avLst/>
          </a:prstGeom>
          <a:noFill/>
        </p:spPr>
        <p:txBody>
          <a:bodyPr wrap="square">
            <a:spAutoFit/>
          </a:bodyPr>
          <a:lstStyle/>
          <a:p>
            <a:pPr algn="l"/>
            <a:r>
              <a:rPr sz="7200" b="1">
                <a:solidFill>
                  <a:srgbClr val="FFFFFF"/>
                </a:solidFill>
                <a:latin typeface="Calibri"/>
              </a:rPr>
              <a:t>CMatrix</a:t>
            </a:r>
          </a:p>
        </p:txBody>
      </p:sp>
      <p:sp>
        <p:nvSpPr>
          <p:cNvPr id="8" name="TextBox 7"/>
          <p:cNvSpPr txBox="1"/>
          <p:nvPr/>
        </p:nvSpPr>
        <p:spPr>
          <a:xfrm>
            <a:off x="457200" y="2743200"/>
            <a:ext cx="8686800" cy="1097280"/>
          </a:xfrm>
          <a:prstGeom prst="rect">
            <a:avLst/>
          </a:prstGeom>
          <a:noFill/>
        </p:spPr>
        <p:txBody>
          <a:bodyPr wrap="square">
            <a:spAutoFit/>
          </a:bodyPr>
          <a:lstStyle/>
          <a:p>
            <a:pPr algn="l"/>
            <a:r>
              <a:rPr sz="2200" b="0" i="1">
                <a:solidFill>
                  <a:srgbClr val="00E5FF"/>
                </a:solidFill>
                <a:latin typeface="Calibri"/>
              </a:rPr>
              <a:t>Dual-Graph-Guided LLM-Orchestrated
Multi-Agent Framework for Autonomous VAPT</a:t>
            </a:r>
          </a:p>
        </p:txBody>
      </p:sp>
      <p:sp>
        <p:nvSpPr>
          <p:cNvPr id="9" name="Rectangle 8"/>
          <p:cNvSpPr/>
          <p:nvPr/>
        </p:nvSpPr>
        <p:spPr>
          <a:xfrm>
            <a:off x="457200" y="3886200"/>
            <a:ext cx="5943600" cy="27432"/>
          </a:xfrm>
          <a:prstGeom prst="rect">
            <a:avLst/>
          </a:prstGeom>
          <a:solidFill>
            <a:srgbClr val="A0AA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4023360"/>
            <a:ext cx="2468880" cy="384048"/>
          </a:xfrm>
          <a:prstGeom prst="rect">
            <a:avLst/>
          </a:prstGeom>
          <a:solidFill>
            <a:srgbClr val="10162B"/>
          </a:solidFill>
          <a:ln w="1270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30352" y="4050791"/>
            <a:ext cx="2331720" cy="347472"/>
          </a:xfrm>
          <a:prstGeom prst="rect">
            <a:avLst/>
          </a:prstGeom>
          <a:noFill/>
        </p:spPr>
        <p:txBody>
          <a:bodyPr wrap="square">
            <a:spAutoFit/>
          </a:bodyPr>
          <a:lstStyle/>
          <a:p>
            <a:pPr algn="ctr"/>
            <a:r>
              <a:rPr sz="1200" b="1" i="0">
                <a:solidFill>
                  <a:srgbClr val="39FF14"/>
                </a:solidFill>
                <a:latin typeface="Calibri"/>
              </a:rPr>
              <a:t>Autonomous Pentesting</a:t>
            </a:r>
          </a:p>
        </p:txBody>
      </p:sp>
      <p:sp>
        <p:nvSpPr>
          <p:cNvPr id="12" name="Rectangle 11"/>
          <p:cNvSpPr/>
          <p:nvPr/>
        </p:nvSpPr>
        <p:spPr>
          <a:xfrm>
            <a:off x="3200400" y="4023360"/>
            <a:ext cx="2468880" cy="384048"/>
          </a:xfrm>
          <a:prstGeom prst="rect">
            <a:avLst/>
          </a:prstGeom>
          <a:solidFill>
            <a:srgbClr val="10162B"/>
          </a:solidFill>
          <a:ln w="1270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273552" y="4050791"/>
            <a:ext cx="2331720" cy="347472"/>
          </a:xfrm>
          <a:prstGeom prst="rect">
            <a:avLst/>
          </a:prstGeom>
          <a:noFill/>
        </p:spPr>
        <p:txBody>
          <a:bodyPr wrap="square">
            <a:spAutoFit/>
          </a:bodyPr>
          <a:lstStyle/>
          <a:p>
            <a:pPr algn="ctr"/>
            <a:r>
              <a:rPr sz="1200" b="1" i="0">
                <a:solidFill>
                  <a:srgbClr val="39FF14"/>
                </a:solidFill>
                <a:latin typeface="Calibri"/>
              </a:rPr>
              <a:t>AI Agent Orchestration</a:t>
            </a:r>
          </a:p>
        </p:txBody>
      </p:sp>
      <p:sp>
        <p:nvSpPr>
          <p:cNvPr id="14" name="Rectangle 13"/>
          <p:cNvSpPr/>
          <p:nvPr/>
        </p:nvSpPr>
        <p:spPr>
          <a:xfrm>
            <a:off x="5943600" y="4023360"/>
            <a:ext cx="2468880" cy="384048"/>
          </a:xfrm>
          <a:prstGeom prst="rect">
            <a:avLst/>
          </a:prstGeom>
          <a:solidFill>
            <a:srgbClr val="10162B"/>
          </a:solidFill>
          <a:ln w="1270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016752" y="4050791"/>
            <a:ext cx="2331720" cy="347472"/>
          </a:xfrm>
          <a:prstGeom prst="rect">
            <a:avLst/>
          </a:prstGeom>
          <a:noFill/>
        </p:spPr>
        <p:txBody>
          <a:bodyPr wrap="square">
            <a:spAutoFit/>
          </a:bodyPr>
          <a:lstStyle/>
          <a:p>
            <a:pPr algn="ctr"/>
            <a:r>
              <a:rPr sz="1200" b="1" i="0">
                <a:solidFill>
                  <a:srgbClr val="39FF14"/>
                </a:solidFill>
                <a:latin typeface="Calibri"/>
              </a:rPr>
              <a:t>Attack Graph Reasoning</a:t>
            </a:r>
          </a:p>
        </p:txBody>
      </p:sp>
      <p:sp>
        <p:nvSpPr>
          <p:cNvPr id="16" name="TextBox 15"/>
          <p:cNvSpPr txBox="1"/>
          <p:nvPr/>
        </p:nvSpPr>
        <p:spPr>
          <a:xfrm>
            <a:off x="457200" y="4709160"/>
            <a:ext cx="7315200" cy="365760"/>
          </a:xfrm>
          <a:prstGeom prst="rect">
            <a:avLst/>
          </a:prstGeom>
          <a:noFill/>
        </p:spPr>
        <p:txBody>
          <a:bodyPr wrap="square">
            <a:spAutoFit/>
          </a:bodyPr>
          <a:lstStyle/>
          <a:p>
            <a:pPr algn="l"/>
            <a:r>
              <a:rPr sz="1400" b="0" i="0">
                <a:solidFill>
                  <a:srgbClr val="A0AAB8"/>
                </a:solidFill>
                <a:latin typeface="Calibri"/>
              </a:rPr>
              <a:t>Supervisor Meeting  ·  June 2026</a:t>
            </a:r>
          </a:p>
        </p:txBody>
      </p:sp>
      <p:sp>
        <p:nvSpPr>
          <p:cNvPr id="17" name="TextBox 16"/>
          <p:cNvSpPr txBox="1"/>
          <p:nvPr/>
        </p:nvSpPr>
        <p:spPr>
          <a:xfrm>
            <a:off x="457200" y="5120640"/>
            <a:ext cx="9144000" cy="365760"/>
          </a:xfrm>
          <a:prstGeom prst="rect">
            <a:avLst/>
          </a:prstGeom>
          <a:noFill/>
        </p:spPr>
        <p:txBody>
          <a:bodyPr wrap="square">
            <a:spAutoFit/>
          </a:bodyPr>
          <a:lstStyle/>
          <a:p>
            <a:pPr algn="l"/>
            <a:r>
              <a:rPr sz="1300" b="0" i="0">
                <a:solidFill>
                  <a:srgbClr val="A0AAB8"/>
                </a:solidFill>
                <a:latin typeface="Calibri"/>
              </a:rPr>
              <a:t>Black-Box &amp; Grey-Box Assessment  ·  Network · Web · REST API</a:t>
            </a:r>
          </a:p>
        </p:txBody>
      </p:sp>
      <p:sp>
        <p:nvSpPr>
          <p:cNvPr id="18" name="TextBox 17"/>
          <p:cNvSpPr txBox="1"/>
          <p:nvPr/>
        </p:nvSpPr>
        <p:spPr>
          <a:xfrm>
            <a:off x="11368735" y="6355080"/>
            <a:ext cx="640080" cy="411480"/>
          </a:xfrm>
          <a:prstGeom prst="rect">
            <a:avLst/>
          </a:prstGeom>
          <a:noFill/>
        </p:spPr>
        <p:txBody>
          <a:bodyPr wrap="square">
            <a:spAutoFit/>
          </a:bodyPr>
          <a:lstStyle/>
          <a:p>
            <a:pPr algn="r"/>
            <a:r>
              <a:rPr sz="1300" b="1" i="0">
                <a:solidFill>
                  <a:srgbClr val="00E5FF"/>
                </a:solidFill>
                <a:latin typeface="Calibri"/>
              </a:rPr>
              <a:t>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0D1A"/>
        </a:solidFill>
        <a:effectLst/>
      </p:bgPr>
    </p:bg>
    <p:spTree>
      <p:nvGrpSpPr>
        <p:cNvPr id="1" name=""/>
        <p:cNvGrpSpPr/>
        <p:nvPr/>
      </p:nvGrpSpPr>
      <p:grpSpPr/>
      <p:sp>
        <p:nvSpPr>
          <p:cNvPr id="2" name="Rectangle 1"/>
          <p:cNvSpPr/>
          <p:nvPr/>
        </p:nvSpPr>
        <p:spPr>
          <a:xfrm>
            <a:off x="0" y="0"/>
            <a:ext cx="54864" cy="6858000"/>
          </a:xfrm>
          <a:prstGeom prst="rect">
            <a:avLst/>
          </a:prstGeom>
          <a:solidFill>
            <a:srgbClr val="FF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 y="0"/>
            <a:ext cx="12136831" cy="36576"/>
          </a:xfrm>
          <a:prstGeom prst="rect">
            <a:avLst/>
          </a:prstGeom>
          <a:solidFill>
            <a:srgbClr val="FF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 y="6821424"/>
            <a:ext cx="12136831" cy="36576"/>
          </a:xfrm>
          <a:prstGeom prst="rect">
            <a:avLst/>
          </a:prstGeom>
          <a:solidFill>
            <a:srgbClr val="FF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91440"/>
            <a:ext cx="5486400" cy="320040"/>
          </a:xfrm>
          <a:prstGeom prst="rect">
            <a:avLst/>
          </a:prstGeom>
          <a:noFill/>
        </p:spPr>
        <p:txBody>
          <a:bodyPr wrap="square">
            <a:spAutoFit/>
          </a:bodyPr>
          <a:lstStyle/>
          <a:p>
            <a:pPr algn="l"/>
            <a:r>
              <a:rPr sz="1100" b="1" i="0">
                <a:solidFill>
                  <a:srgbClr val="FF4545"/>
                </a:solidFill>
                <a:latin typeface="Calibri"/>
              </a:rPr>
              <a:t>THE PROBLEM</a:t>
            </a:r>
          </a:p>
        </p:txBody>
      </p:sp>
      <p:sp>
        <p:nvSpPr>
          <p:cNvPr id="6" name="TextBox 5"/>
          <p:cNvSpPr txBox="1"/>
          <p:nvPr/>
        </p:nvSpPr>
        <p:spPr>
          <a:xfrm>
            <a:off x="274320" y="411480"/>
            <a:ext cx="10972800" cy="685800"/>
          </a:xfrm>
          <a:prstGeom prst="rect">
            <a:avLst/>
          </a:prstGeom>
          <a:noFill/>
        </p:spPr>
        <p:txBody>
          <a:bodyPr wrap="square">
            <a:spAutoFit/>
          </a:bodyPr>
          <a:lstStyle/>
          <a:p>
            <a:pPr algn="l"/>
            <a:r>
              <a:rPr sz="3600" b="1" i="0">
                <a:solidFill>
                  <a:srgbClr val="FFFFFF"/>
                </a:solidFill>
                <a:latin typeface="Calibri"/>
              </a:rPr>
              <a:t>What Existing VAPT Systems Get Wrong</a:t>
            </a:r>
          </a:p>
        </p:txBody>
      </p:sp>
      <p:sp>
        <p:nvSpPr>
          <p:cNvPr id="7" name="Rectangle 6"/>
          <p:cNvSpPr/>
          <p:nvPr/>
        </p:nvSpPr>
        <p:spPr>
          <a:xfrm>
            <a:off x="274320" y="1115568"/>
            <a:ext cx="5486400" cy="32004"/>
          </a:xfrm>
          <a:prstGeom prst="rect">
            <a:avLst/>
          </a:prstGeom>
          <a:solidFill>
            <a:srgbClr val="FF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74320" y="1325880"/>
            <a:ext cx="5303520" cy="1143000"/>
          </a:xfrm>
          <a:prstGeom prst="rect">
            <a:avLst/>
          </a:prstGeom>
          <a:solidFill>
            <a:srgbClr val="2A1010"/>
          </a:solidFill>
          <a:ln w="12700">
            <a:solidFill>
              <a:srgbClr val="FF45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84048" y="1417320"/>
            <a:ext cx="365760" cy="457200"/>
          </a:xfrm>
          <a:prstGeom prst="rect">
            <a:avLst/>
          </a:prstGeom>
          <a:noFill/>
        </p:spPr>
        <p:txBody>
          <a:bodyPr wrap="square">
            <a:spAutoFit/>
          </a:bodyPr>
          <a:lstStyle/>
          <a:p>
            <a:pPr algn="l"/>
            <a:r>
              <a:rPr sz="2000" b="1" i="0">
                <a:solidFill>
                  <a:srgbClr val="FF4545"/>
                </a:solidFill>
                <a:latin typeface="Calibri"/>
              </a:rPr>
              <a:t>✕</a:t>
            </a:r>
          </a:p>
        </p:txBody>
      </p:sp>
      <p:sp>
        <p:nvSpPr>
          <p:cNvPr id="10" name="TextBox 9"/>
          <p:cNvSpPr txBox="1"/>
          <p:nvPr/>
        </p:nvSpPr>
        <p:spPr>
          <a:xfrm>
            <a:off x="713232" y="1399032"/>
            <a:ext cx="4754880" cy="347472"/>
          </a:xfrm>
          <a:prstGeom prst="rect">
            <a:avLst/>
          </a:prstGeom>
          <a:noFill/>
        </p:spPr>
        <p:txBody>
          <a:bodyPr wrap="square">
            <a:spAutoFit/>
          </a:bodyPr>
          <a:lstStyle/>
          <a:p>
            <a:pPr algn="l"/>
            <a:r>
              <a:rPr sz="1400" b="1" i="0">
                <a:solidFill>
                  <a:srgbClr val="FFFFFF"/>
                </a:solidFill>
                <a:latin typeface="Calibri"/>
              </a:rPr>
              <a:t>No Structured World Model</a:t>
            </a:r>
          </a:p>
        </p:txBody>
      </p:sp>
      <p:sp>
        <p:nvSpPr>
          <p:cNvPr id="11" name="TextBox 10"/>
          <p:cNvSpPr txBox="1"/>
          <p:nvPr/>
        </p:nvSpPr>
        <p:spPr>
          <a:xfrm>
            <a:off x="713232" y="1728216"/>
            <a:ext cx="4754880" cy="658368"/>
          </a:xfrm>
          <a:prstGeom prst="rect">
            <a:avLst/>
          </a:prstGeom>
          <a:noFill/>
        </p:spPr>
        <p:txBody>
          <a:bodyPr wrap="square">
            <a:spAutoFit/>
          </a:bodyPr>
          <a:lstStyle/>
          <a:p>
            <a:pPr algn="l"/>
            <a:r>
              <a:rPr sz="1150" b="0" i="0">
                <a:solidFill>
                  <a:srgbClr val="A0AAB8"/>
                </a:solidFill>
                <a:latin typeface="Calibri"/>
              </a:rPr>
              <a:t>Systems reason from flat conversation history or task queues — no graph of what the target actually is.</a:t>
            </a:r>
          </a:p>
        </p:txBody>
      </p:sp>
      <p:sp>
        <p:nvSpPr>
          <p:cNvPr id="12" name="Rectangle 11"/>
          <p:cNvSpPr/>
          <p:nvPr/>
        </p:nvSpPr>
        <p:spPr>
          <a:xfrm>
            <a:off x="274320" y="2560320"/>
            <a:ext cx="5303520" cy="1143000"/>
          </a:xfrm>
          <a:prstGeom prst="rect">
            <a:avLst/>
          </a:prstGeom>
          <a:solidFill>
            <a:srgbClr val="2A1010"/>
          </a:solidFill>
          <a:ln w="12700">
            <a:solidFill>
              <a:srgbClr val="FF45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84048" y="2651760"/>
            <a:ext cx="365760" cy="457200"/>
          </a:xfrm>
          <a:prstGeom prst="rect">
            <a:avLst/>
          </a:prstGeom>
          <a:noFill/>
        </p:spPr>
        <p:txBody>
          <a:bodyPr wrap="square">
            <a:spAutoFit/>
          </a:bodyPr>
          <a:lstStyle/>
          <a:p>
            <a:pPr algn="l"/>
            <a:r>
              <a:rPr sz="2000" b="1" i="0">
                <a:solidFill>
                  <a:srgbClr val="FF4545"/>
                </a:solidFill>
                <a:latin typeface="Calibri"/>
              </a:rPr>
              <a:t>✕</a:t>
            </a:r>
          </a:p>
        </p:txBody>
      </p:sp>
      <p:sp>
        <p:nvSpPr>
          <p:cNvPr id="14" name="TextBox 13"/>
          <p:cNvSpPr txBox="1"/>
          <p:nvPr/>
        </p:nvSpPr>
        <p:spPr>
          <a:xfrm>
            <a:off x="713232" y="2633472"/>
            <a:ext cx="4754880" cy="347472"/>
          </a:xfrm>
          <a:prstGeom prst="rect">
            <a:avLst/>
          </a:prstGeom>
          <a:noFill/>
        </p:spPr>
        <p:txBody>
          <a:bodyPr wrap="square">
            <a:spAutoFit/>
          </a:bodyPr>
          <a:lstStyle/>
          <a:p>
            <a:pPr algn="l"/>
            <a:r>
              <a:rPr sz="1400" b="1" i="0">
                <a:solidFill>
                  <a:srgbClr val="FFFFFF"/>
                </a:solidFill>
                <a:latin typeface="Calibri"/>
              </a:rPr>
              <a:t>No Attack Path Reasoning</a:t>
            </a:r>
          </a:p>
        </p:txBody>
      </p:sp>
      <p:sp>
        <p:nvSpPr>
          <p:cNvPr id="15" name="TextBox 14"/>
          <p:cNvSpPr txBox="1"/>
          <p:nvPr/>
        </p:nvSpPr>
        <p:spPr>
          <a:xfrm>
            <a:off x="713232" y="2962656"/>
            <a:ext cx="4754880" cy="658368"/>
          </a:xfrm>
          <a:prstGeom prst="rect">
            <a:avLst/>
          </a:prstGeom>
          <a:noFill/>
        </p:spPr>
        <p:txBody>
          <a:bodyPr wrap="square">
            <a:spAutoFit/>
          </a:bodyPr>
          <a:lstStyle/>
          <a:p>
            <a:pPr algn="l"/>
            <a:r>
              <a:rPr sz="1150" b="0" i="0">
                <a:solidFill>
                  <a:srgbClr val="A0AAB8"/>
                </a:solidFill>
                <a:latin typeface="Calibri"/>
              </a:rPr>
              <a:t>Finished tasks are logged, not understood. Systems cannot represent which vulnerabilities chain together or why.</a:t>
            </a:r>
          </a:p>
        </p:txBody>
      </p:sp>
      <p:sp>
        <p:nvSpPr>
          <p:cNvPr id="16" name="Rectangle 15"/>
          <p:cNvSpPr/>
          <p:nvPr/>
        </p:nvSpPr>
        <p:spPr>
          <a:xfrm>
            <a:off x="274320" y="3794760"/>
            <a:ext cx="5303520" cy="1143000"/>
          </a:xfrm>
          <a:prstGeom prst="rect">
            <a:avLst/>
          </a:prstGeom>
          <a:solidFill>
            <a:srgbClr val="2A1010"/>
          </a:solidFill>
          <a:ln w="12700">
            <a:solidFill>
              <a:srgbClr val="FF45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84048" y="3886200"/>
            <a:ext cx="365760" cy="457200"/>
          </a:xfrm>
          <a:prstGeom prst="rect">
            <a:avLst/>
          </a:prstGeom>
          <a:noFill/>
        </p:spPr>
        <p:txBody>
          <a:bodyPr wrap="square">
            <a:spAutoFit/>
          </a:bodyPr>
          <a:lstStyle/>
          <a:p>
            <a:pPr algn="l"/>
            <a:r>
              <a:rPr sz="2000" b="1" i="0">
                <a:solidFill>
                  <a:srgbClr val="FF4545"/>
                </a:solidFill>
                <a:latin typeface="Calibri"/>
              </a:rPr>
              <a:t>✕</a:t>
            </a:r>
          </a:p>
        </p:txBody>
      </p:sp>
      <p:sp>
        <p:nvSpPr>
          <p:cNvPr id="18" name="TextBox 17"/>
          <p:cNvSpPr txBox="1"/>
          <p:nvPr/>
        </p:nvSpPr>
        <p:spPr>
          <a:xfrm>
            <a:off x="713232" y="3867912"/>
            <a:ext cx="4754880" cy="347472"/>
          </a:xfrm>
          <a:prstGeom prst="rect">
            <a:avLst/>
          </a:prstGeom>
          <a:noFill/>
        </p:spPr>
        <p:txBody>
          <a:bodyPr wrap="square">
            <a:spAutoFit/>
          </a:bodyPr>
          <a:lstStyle/>
          <a:p>
            <a:pPr algn="l"/>
            <a:r>
              <a:rPr sz="1400" b="1" i="0">
                <a:solidFill>
                  <a:srgbClr val="FFFFFF"/>
                </a:solidFill>
                <a:latin typeface="Calibri"/>
              </a:rPr>
              <a:t>Fragile Re-Planning</a:t>
            </a:r>
          </a:p>
        </p:txBody>
      </p:sp>
      <p:sp>
        <p:nvSpPr>
          <p:cNvPr id="19" name="TextBox 18"/>
          <p:cNvSpPr txBox="1"/>
          <p:nvPr/>
        </p:nvSpPr>
        <p:spPr>
          <a:xfrm>
            <a:off x="713232" y="4197096"/>
            <a:ext cx="4754880" cy="658368"/>
          </a:xfrm>
          <a:prstGeom prst="rect">
            <a:avLst/>
          </a:prstGeom>
          <a:noFill/>
        </p:spPr>
        <p:txBody>
          <a:bodyPr wrap="square">
            <a:spAutoFit/>
          </a:bodyPr>
          <a:lstStyle/>
          <a:p>
            <a:pPr algn="l"/>
            <a:r>
              <a:rPr sz="1150" b="0" i="0">
                <a:solidFill>
                  <a:srgbClr val="A0AAB8"/>
                </a:solidFill>
                <a:latin typeface="Calibri"/>
              </a:rPr>
              <a:t>Dynamic re-planning is ad-hoc. There is no formal trigger grounded in discovered evidence.</a:t>
            </a:r>
          </a:p>
        </p:txBody>
      </p:sp>
      <p:sp>
        <p:nvSpPr>
          <p:cNvPr id="20" name="Rectangle 19"/>
          <p:cNvSpPr/>
          <p:nvPr/>
        </p:nvSpPr>
        <p:spPr>
          <a:xfrm>
            <a:off x="274320" y="5029200"/>
            <a:ext cx="5303520" cy="1143000"/>
          </a:xfrm>
          <a:prstGeom prst="rect">
            <a:avLst/>
          </a:prstGeom>
          <a:solidFill>
            <a:srgbClr val="2A1010"/>
          </a:solidFill>
          <a:ln w="12700">
            <a:solidFill>
              <a:srgbClr val="FF45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84048" y="5120640"/>
            <a:ext cx="365760" cy="457200"/>
          </a:xfrm>
          <a:prstGeom prst="rect">
            <a:avLst/>
          </a:prstGeom>
          <a:noFill/>
        </p:spPr>
        <p:txBody>
          <a:bodyPr wrap="square">
            <a:spAutoFit/>
          </a:bodyPr>
          <a:lstStyle/>
          <a:p>
            <a:pPr algn="l"/>
            <a:r>
              <a:rPr sz="2000" b="1" i="0">
                <a:solidFill>
                  <a:srgbClr val="FF4545"/>
                </a:solidFill>
                <a:latin typeface="Calibri"/>
              </a:rPr>
              <a:t>✕</a:t>
            </a:r>
          </a:p>
        </p:txBody>
      </p:sp>
      <p:sp>
        <p:nvSpPr>
          <p:cNvPr id="22" name="TextBox 21"/>
          <p:cNvSpPr txBox="1"/>
          <p:nvPr/>
        </p:nvSpPr>
        <p:spPr>
          <a:xfrm>
            <a:off x="713232" y="5102352"/>
            <a:ext cx="4754880" cy="347472"/>
          </a:xfrm>
          <a:prstGeom prst="rect">
            <a:avLst/>
          </a:prstGeom>
          <a:noFill/>
        </p:spPr>
        <p:txBody>
          <a:bodyPr wrap="square">
            <a:spAutoFit/>
          </a:bodyPr>
          <a:lstStyle/>
          <a:p>
            <a:pPr algn="l"/>
            <a:r>
              <a:rPr sz="1400" b="1" i="0">
                <a:solidFill>
                  <a:srgbClr val="FFFFFF"/>
                </a:solidFill>
                <a:latin typeface="Calibri"/>
              </a:rPr>
              <a:t>Arbitrary Termination</a:t>
            </a:r>
          </a:p>
        </p:txBody>
      </p:sp>
      <p:sp>
        <p:nvSpPr>
          <p:cNvPr id="23" name="TextBox 22"/>
          <p:cNvSpPr txBox="1"/>
          <p:nvPr/>
        </p:nvSpPr>
        <p:spPr>
          <a:xfrm>
            <a:off x="713232" y="5431536"/>
            <a:ext cx="4754880" cy="658368"/>
          </a:xfrm>
          <a:prstGeom prst="rect">
            <a:avLst/>
          </a:prstGeom>
          <a:noFill/>
        </p:spPr>
        <p:txBody>
          <a:bodyPr wrap="square">
            <a:spAutoFit/>
          </a:bodyPr>
          <a:lstStyle/>
          <a:p>
            <a:pPr algn="l"/>
            <a:r>
              <a:rPr sz="1150" b="0" i="0">
                <a:solidFill>
                  <a:srgbClr val="A0AAB8"/>
                </a:solidFill>
                <a:latin typeface="Calibri"/>
              </a:rPr>
              <a:t>Missions end on time-limits or empty queues — not because the attack surface and all chains are truly exhausted.</a:t>
            </a:r>
          </a:p>
        </p:txBody>
      </p:sp>
      <p:sp>
        <p:nvSpPr>
          <p:cNvPr id="24" name="Rectangle 23"/>
          <p:cNvSpPr/>
          <p:nvPr/>
        </p:nvSpPr>
        <p:spPr>
          <a:xfrm>
            <a:off x="5943600" y="1325880"/>
            <a:ext cx="5943600" cy="2331720"/>
          </a:xfrm>
          <a:prstGeom prst="rect">
            <a:avLst/>
          </a:prstGeom>
          <a:solidFill>
            <a:srgbClr val="10162B"/>
          </a:solidFill>
          <a:ln w="1905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080760" y="1371600"/>
            <a:ext cx="548640" cy="640080"/>
          </a:xfrm>
          <a:prstGeom prst="rect">
            <a:avLst/>
          </a:prstGeom>
          <a:noFill/>
        </p:spPr>
        <p:txBody>
          <a:bodyPr wrap="square">
            <a:spAutoFit/>
          </a:bodyPr>
          <a:lstStyle/>
          <a:p>
            <a:pPr algn="l"/>
            <a:r>
              <a:rPr sz="6000" b="1" i="0">
                <a:solidFill>
                  <a:srgbClr val="00E5FF"/>
                </a:solidFill>
                <a:latin typeface="Calibri"/>
              </a:rPr>
              <a:t>“</a:t>
            </a:r>
          </a:p>
        </p:txBody>
      </p:sp>
      <p:sp>
        <p:nvSpPr>
          <p:cNvPr id="26" name="TextBox 25"/>
          <p:cNvSpPr txBox="1"/>
          <p:nvPr/>
        </p:nvSpPr>
        <p:spPr>
          <a:xfrm>
            <a:off x="6126480" y="1828800"/>
            <a:ext cx="5577840" cy="1463040"/>
          </a:xfrm>
          <a:prstGeom prst="rect">
            <a:avLst/>
          </a:prstGeom>
          <a:noFill/>
        </p:spPr>
        <p:txBody>
          <a:bodyPr wrap="square">
            <a:spAutoFit/>
          </a:bodyPr>
          <a:lstStyle/>
          <a:p>
            <a:pPr algn="l"/>
            <a:r>
              <a:rPr sz="2000" b="0" i="1">
                <a:solidFill>
                  <a:srgbClr val="FFFFFF"/>
                </a:solidFill>
                <a:latin typeface="Calibri"/>
              </a:rPr>
              <a:t>They automate tool execution.
CMatrix automates the reasoning
of a professional penetration tester.</a:t>
            </a:r>
          </a:p>
        </p:txBody>
      </p:sp>
      <p:sp>
        <p:nvSpPr>
          <p:cNvPr id="27" name="TextBox 26"/>
          <p:cNvSpPr txBox="1"/>
          <p:nvPr/>
        </p:nvSpPr>
        <p:spPr>
          <a:xfrm>
            <a:off x="6126480" y="3337560"/>
            <a:ext cx="5577840" cy="320040"/>
          </a:xfrm>
          <a:prstGeom prst="rect">
            <a:avLst/>
          </a:prstGeom>
          <a:noFill/>
        </p:spPr>
        <p:txBody>
          <a:bodyPr wrap="square">
            <a:spAutoFit/>
          </a:bodyPr>
          <a:lstStyle/>
          <a:p>
            <a:pPr algn="l"/>
            <a:r>
              <a:rPr sz="1200" b="0" i="0">
                <a:solidFill>
                  <a:srgbClr val="A0AAB8"/>
                </a:solidFill>
                <a:latin typeface="Calibri"/>
              </a:rPr>
              <a:t>— CMatrix Design Philosophy</a:t>
            </a:r>
          </a:p>
        </p:txBody>
      </p:sp>
      <p:sp>
        <p:nvSpPr>
          <p:cNvPr id="28" name="Rectangle 27"/>
          <p:cNvSpPr/>
          <p:nvPr/>
        </p:nvSpPr>
        <p:spPr>
          <a:xfrm>
            <a:off x="5943600" y="3794760"/>
            <a:ext cx="5943600" cy="365760"/>
          </a:xfrm>
          <a:prstGeom prst="rect">
            <a:avLst/>
          </a:prstGeom>
          <a:solidFill>
            <a:srgbClr val="FF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126480" y="3822191"/>
            <a:ext cx="5669280" cy="320040"/>
          </a:xfrm>
          <a:prstGeom prst="rect">
            <a:avLst/>
          </a:prstGeom>
          <a:noFill/>
        </p:spPr>
        <p:txBody>
          <a:bodyPr wrap="square">
            <a:spAutoFit/>
          </a:bodyPr>
          <a:lstStyle/>
          <a:p>
            <a:pPr algn="l"/>
            <a:r>
              <a:rPr sz="1300" b="1" i="0">
                <a:solidFill>
                  <a:srgbClr val="FFFFFF"/>
                </a:solidFill>
                <a:latin typeface="Calibri"/>
              </a:rPr>
              <a:t>⚠  ROOT CAUSE</a:t>
            </a:r>
          </a:p>
        </p:txBody>
      </p:sp>
      <p:sp>
        <p:nvSpPr>
          <p:cNvPr id="30" name="Rectangle 29"/>
          <p:cNvSpPr/>
          <p:nvPr/>
        </p:nvSpPr>
        <p:spPr>
          <a:xfrm>
            <a:off x="5943600" y="4160520"/>
            <a:ext cx="5943600" cy="1325880"/>
          </a:xfrm>
          <a:prstGeom prst="rect">
            <a:avLst/>
          </a:prstGeom>
          <a:solidFill>
            <a:srgbClr val="10162B"/>
          </a:solidFill>
          <a:ln w="12700">
            <a:solidFill>
              <a:srgbClr val="FF45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126480" y="4224528"/>
            <a:ext cx="5623560" cy="1188720"/>
          </a:xfrm>
          <a:prstGeom prst="rect">
            <a:avLst/>
          </a:prstGeom>
          <a:noFill/>
        </p:spPr>
        <p:txBody>
          <a:bodyPr wrap="square">
            <a:spAutoFit/>
          </a:bodyPr>
          <a:lstStyle/>
          <a:p>
            <a:r>
              <a:rPr sz="1300">
                <a:solidFill>
                  <a:srgbClr val="A0AAB8"/>
                </a:solidFill>
                <a:latin typeface="Calibri"/>
              </a:rPr>
              <a:t>Existing systems have no structured model of the target environment</a:t>
            </a:r>
          </a:p>
          <a:p>
            <a:r>
              <a:rPr sz="1300">
                <a:solidFill>
                  <a:srgbClr val="A0AAB8"/>
                </a:solidFill>
                <a:latin typeface="Calibri"/>
              </a:rPr>
              <a:t>and no structured model of what attack paths are possible.</a:t>
            </a:r>
          </a:p>
          <a:p>
            <a:r>
              <a:rPr sz="1300">
                <a:solidFill>
                  <a:srgbClr val="FFFFFF"/>
                </a:solidFill>
                <a:latin typeface="Calibri"/>
              </a:rPr>
              <a:t/>
            </a:r>
          </a:p>
          <a:p>
            <a:r>
              <a:rPr sz="1300">
                <a:solidFill>
                  <a:srgbClr val="A0AAB8"/>
                </a:solidFill>
                <a:latin typeface="Calibri"/>
              </a:rPr>
              <a:t>They know what they did — not what the target is, or what can be done to it.</a:t>
            </a:r>
          </a:p>
        </p:txBody>
      </p:sp>
      <p:sp>
        <p:nvSpPr>
          <p:cNvPr id="32" name="Rectangle 31"/>
          <p:cNvSpPr/>
          <p:nvPr/>
        </p:nvSpPr>
        <p:spPr>
          <a:xfrm>
            <a:off x="274320" y="5687568"/>
            <a:ext cx="11643055" cy="777240"/>
          </a:xfrm>
          <a:prstGeom prst="rect">
            <a:avLst/>
          </a:prstGeom>
          <a:solidFill>
            <a:srgbClr val="051420"/>
          </a:solidFill>
          <a:ln w="1270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57200" y="5760720"/>
            <a:ext cx="11277295" cy="594360"/>
          </a:xfrm>
          <a:prstGeom prst="rect">
            <a:avLst/>
          </a:prstGeom>
          <a:noFill/>
        </p:spPr>
        <p:txBody>
          <a:bodyPr wrap="square">
            <a:spAutoFit/>
          </a:bodyPr>
          <a:lstStyle/>
          <a:p>
            <a:pPr algn="l"/>
            <a:r>
              <a:rPr sz="1400" b="1" i="0">
                <a:solidFill>
                  <a:srgbClr val="00E5FF"/>
                </a:solidFill>
                <a:latin typeface="Calibri"/>
              </a:rPr>
              <a:t>CMatrix Solution →  A dual-graph world model: ASG captures discovered reality · APG captures inferred attack opportunity</a:t>
            </a:r>
          </a:p>
        </p:txBody>
      </p:sp>
      <p:sp>
        <p:nvSpPr>
          <p:cNvPr id="34" name="TextBox 33"/>
          <p:cNvSpPr txBox="1"/>
          <p:nvPr/>
        </p:nvSpPr>
        <p:spPr>
          <a:xfrm>
            <a:off x="11368735" y="6355080"/>
            <a:ext cx="640080" cy="411480"/>
          </a:xfrm>
          <a:prstGeom prst="rect">
            <a:avLst/>
          </a:prstGeom>
          <a:noFill/>
        </p:spPr>
        <p:txBody>
          <a:bodyPr wrap="square">
            <a:spAutoFit/>
          </a:bodyPr>
          <a:lstStyle/>
          <a:p>
            <a:pPr algn="r"/>
            <a:r>
              <a:rPr sz="1300" b="1" i="0">
                <a:solidFill>
                  <a:srgbClr val="FF4545"/>
                </a:solidFill>
                <a:latin typeface="Calibri"/>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0D1A"/>
        </a:solidFill>
        <a:effectLst/>
      </p:bgPr>
    </p:bg>
    <p:spTree>
      <p:nvGrpSpPr>
        <p:cNvPr id="1" name=""/>
        <p:cNvGrpSpPr/>
        <p:nvPr/>
      </p:nvGrpSpPr>
      <p:grpSpPr/>
      <p:sp>
        <p:nvSpPr>
          <p:cNvPr id="2" name="Rectangle 1"/>
          <p:cNvSpPr/>
          <p:nvPr/>
        </p:nvSpPr>
        <p:spPr>
          <a:xfrm>
            <a:off x="0" y="0"/>
            <a:ext cx="54864" cy="6858000"/>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 y="0"/>
            <a:ext cx="12136831" cy="36576"/>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 y="6821424"/>
            <a:ext cx="12136831" cy="36576"/>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73152"/>
            <a:ext cx="7315200" cy="320040"/>
          </a:xfrm>
          <a:prstGeom prst="rect">
            <a:avLst/>
          </a:prstGeom>
          <a:noFill/>
        </p:spPr>
        <p:txBody>
          <a:bodyPr wrap="square">
            <a:spAutoFit/>
          </a:bodyPr>
          <a:lstStyle/>
          <a:p>
            <a:pPr algn="l"/>
            <a:r>
              <a:rPr sz="1100" b="1" i="0">
                <a:solidFill>
                  <a:srgbClr val="FFD700"/>
                </a:solidFill>
                <a:latin typeface="Calibri"/>
              </a:rPr>
              <a:t>NOVEL CONTRIBUTION</a:t>
            </a:r>
          </a:p>
        </p:txBody>
      </p:sp>
      <p:sp>
        <p:nvSpPr>
          <p:cNvPr id="6" name="TextBox 5"/>
          <p:cNvSpPr txBox="1"/>
          <p:nvPr/>
        </p:nvSpPr>
        <p:spPr>
          <a:xfrm>
            <a:off x="274320" y="393192"/>
            <a:ext cx="11430000" cy="685800"/>
          </a:xfrm>
          <a:prstGeom prst="rect">
            <a:avLst/>
          </a:prstGeom>
          <a:noFill/>
        </p:spPr>
        <p:txBody>
          <a:bodyPr wrap="square">
            <a:spAutoFit/>
          </a:bodyPr>
          <a:lstStyle/>
          <a:p>
            <a:pPr algn="l"/>
            <a:r>
              <a:rPr sz="3400" b="1" i="0">
                <a:solidFill>
                  <a:srgbClr val="FFFFFF"/>
                </a:solidFill>
                <a:latin typeface="Calibri"/>
              </a:rPr>
              <a:t>What Makes CMatrix a Research Contribution</a:t>
            </a:r>
          </a:p>
        </p:txBody>
      </p:sp>
      <p:sp>
        <p:nvSpPr>
          <p:cNvPr id="7" name="Rectangle 6"/>
          <p:cNvSpPr/>
          <p:nvPr/>
        </p:nvSpPr>
        <p:spPr>
          <a:xfrm>
            <a:off x="274320" y="1097280"/>
            <a:ext cx="6400800" cy="32004"/>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74320" y="1234440"/>
            <a:ext cx="11643055" cy="530352"/>
          </a:xfrm>
          <a:prstGeom prst="rect">
            <a:avLst/>
          </a:prstGeom>
          <a:solidFill>
            <a:srgbClr val="121002"/>
          </a:solidFill>
          <a:ln w="1905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1298448"/>
            <a:ext cx="11277295" cy="411480"/>
          </a:xfrm>
          <a:prstGeom prst="rect">
            <a:avLst/>
          </a:prstGeom>
          <a:noFill/>
        </p:spPr>
        <p:txBody>
          <a:bodyPr wrap="square">
            <a:spAutoFit/>
          </a:bodyPr>
          <a:lstStyle/>
          <a:p>
            <a:pPr algn="l"/>
            <a:r>
              <a:rPr sz="1300" b="0" i="1">
                <a:solidFill>
                  <a:srgbClr val="FFD700"/>
                </a:solidFill>
                <a:latin typeface="Calibri"/>
              </a:rPr>
              <a:t>CMatrix is the first autonomous VAPT system to maintain two strictly separated, continuously evolving graph structures — one for discovered reality, one for inferred attack opportunity.</a:t>
            </a:r>
          </a:p>
        </p:txBody>
      </p:sp>
      <p:sp>
        <p:nvSpPr>
          <p:cNvPr id="10" name="Rectangle 9"/>
          <p:cNvSpPr/>
          <p:nvPr/>
        </p:nvSpPr>
        <p:spPr>
          <a:xfrm>
            <a:off x="274320" y="1920240"/>
            <a:ext cx="3794760" cy="1600200"/>
          </a:xfrm>
          <a:prstGeom prst="rect">
            <a:avLst/>
          </a:prstGeom>
          <a:solidFill>
            <a:srgbClr val="10162B"/>
          </a:solidFill>
          <a:ln w="1016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74320" y="1920240"/>
            <a:ext cx="502920" cy="384048"/>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92608" y="1947672"/>
            <a:ext cx="475488" cy="329184"/>
          </a:xfrm>
          <a:prstGeom prst="rect">
            <a:avLst/>
          </a:prstGeom>
          <a:noFill/>
        </p:spPr>
        <p:txBody>
          <a:bodyPr wrap="square">
            <a:spAutoFit/>
          </a:bodyPr>
          <a:lstStyle/>
          <a:p>
            <a:pPr algn="ctr"/>
            <a:r>
              <a:rPr sz="1100" b="1" i="0">
                <a:solidFill>
                  <a:srgbClr val="0A0D1A"/>
                </a:solidFill>
                <a:latin typeface="Calibri"/>
              </a:rPr>
              <a:t>C1</a:t>
            </a:r>
          </a:p>
        </p:txBody>
      </p:sp>
      <p:sp>
        <p:nvSpPr>
          <p:cNvPr id="13" name="TextBox 12"/>
          <p:cNvSpPr txBox="1"/>
          <p:nvPr/>
        </p:nvSpPr>
        <p:spPr>
          <a:xfrm>
            <a:off x="841248" y="1984248"/>
            <a:ext cx="3154680" cy="347472"/>
          </a:xfrm>
          <a:prstGeom prst="rect">
            <a:avLst/>
          </a:prstGeom>
          <a:noFill/>
        </p:spPr>
        <p:txBody>
          <a:bodyPr wrap="square">
            <a:spAutoFit/>
          </a:bodyPr>
          <a:lstStyle/>
          <a:p>
            <a:pPr algn="l"/>
            <a:r>
              <a:rPr sz="1300" b="1" i="0">
                <a:solidFill>
                  <a:srgbClr val="FFFFFF"/>
                </a:solidFill>
                <a:latin typeface="Calibri"/>
              </a:rPr>
              <a:t>Dual-Graph World Model</a:t>
            </a:r>
          </a:p>
        </p:txBody>
      </p:sp>
      <p:sp>
        <p:nvSpPr>
          <p:cNvPr id="14" name="TextBox 13"/>
          <p:cNvSpPr txBox="1"/>
          <p:nvPr/>
        </p:nvSpPr>
        <p:spPr>
          <a:xfrm>
            <a:off x="384048" y="2395728"/>
            <a:ext cx="3611880" cy="1051560"/>
          </a:xfrm>
          <a:prstGeom prst="rect">
            <a:avLst/>
          </a:prstGeom>
          <a:noFill/>
        </p:spPr>
        <p:txBody>
          <a:bodyPr wrap="square">
            <a:spAutoFit/>
          </a:bodyPr>
          <a:lstStyle/>
          <a:p>
            <a:pPr algn="l"/>
            <a:r>
              <a:rPr sz="1100" b="0" i="0">
                <a:solidFill>
                  <a:srgbClr val="A0AAB8"/>
                </a:solidFill>
                <a:latin typeface="Calibri"/>
              </a:rPr>
              <a:t>ASG (discovered reality) + APG (inferred opportunity) — strictly separated with enforced write ownership. No prior system maintains these as distinct structures.</a:t>
            </a:r>
          </a:p>
        </p:txBody>
      </p:sp>
      <p:sp>
        <p:nvSpPr>
          <p:cNvPr id="15" name="Rectangle 14"/>
          <p:cNvSpPr/>
          <p:nvPr/>
        </p:nvSpPr>
        <p:spPr>
          <a:xfrm>
            <a:off x="4187952" y="1920240"/>
            <a:ext cx="3794760" cy="1600200"/>
          </a:xfrm>
          <a:prstGeom prst="rect">
            <a:avLst/>
          </a:prstGeom>
          <a:solidFill>
            <a:srgbClr val="10162B"/>
          </a:solidFill>
          <a:ln w="1016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187952" y="1920240"/>
            <a:ext cx="502920" cy="384048"/>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206240" y="1947672"/>
            <a:ext cx="475488" cy="329184"/>
          </a:xfrm>
          <a:prstGeom prst="rect">
            <a:avLst/>
          </a:prstGeom>
          <a:noFill/>
        </p:spPr>
        <p:txBody>
          <a:bodyPr wrap="square">
            <a:spAutoFit/>
          </a:bodyPr>
          <a:lstStyle/>
          <a:p>
            <a:pPr algn="ctr"/>
            <a:r>
              <a:rPr sz="1100" b="1" i="0">
                <a:solidFill>
                  <a:srgbClr val="0A0D1A"/>
                </a:solidFill>
                <a:latin typeface="Calibri"/>
              </a:rPr>
              <a:t>C2</a:t>
            </a:r>
          </a:p>
        </p:txBody>
      </p:sp>
      <p:sp>
        <p:nvSpPr>
          <p:cNvPr id="18" name="TextBox 17"/>
          <p:cNvSpPr txBox="1"/>
          <p:nvPr/>
        </p:nvSpPr>
        <p:spPr>
          <a:xfrm>
            <a:off x="4754880" y="1984248"/>
            <a:ext cx="3154680" cy="347472"/>
          </a:xfrm>
          <a:prstGeom prst="rect">
            <a:avLst/>
          </a:prstGeom>
          <a:noFill/>
        </p:spPr>
        <p:txBody>
          <a:bodyPr wrap="square">
            <a:spAutoFit/>
          </a:bodyPr>
          <a:lstStyle/>
          <a:p>
            <a:pPr algn="l"/>
            <a:r>
              <a:rPr sz="1300" b="1" i="0">
                <a:solidFill>
                  <a:srgbClr val="FFFFFF"/>
                </a:solidFill>
                <a:latin typeface="Calibri"/>
              </a:rPr>
              <a:t>Graph-State-Driven Re-Planning</a:t>
            </a:r>
          </a:p>
        </p:txBody>
      </p:sp>
      <p:sp>
        <p:nvSpPr>
          <p:cNvPr id="19" name="TextBox 18"/>
          <p:cNvSpPr txBox="1"/>
          <p:nvPr/>
        </p:nvSpPr>
        <p:spPr>
          <a:xfrm>
            <a:off x="4297680" y="2395728"/>
            <a:ext cx="3611880" cy="1051560"/>
          </a:xfrm>
          <a:prstGeom prst="rect">
            <a:avLst/>
          </a:prstGeom>
          <a:noFill/>
        </p:spPr>
        <p:txBody>
          <a:bodyPr wrap="square">
            <a:spAutoFit/>
          </a:bodyPr>
          <a:lstStyle/>
          <a:p>
            <a:pPr algn="l"/>
            <a:r>
              <a:rPr sz="1100" b="0" i="0">
                <a:solidFill>
                  <a:srgbClr val="A0AAB8"/>
                </a:solidFill>
                <a:latin typeface="Calibri"/>
              </a:rPr>
              <a:t>Re-planning fires on explicit graph triggers (new vuln node seeds a chain, chain status changes) — not fixed task completion or arbitrary schedules.</a:t>
            </a:r>
          </a:p>
        </p:txBody>
      </p:sp>
      <p:sp>
        <p:nvSpPr>
          <p:cNvPr id="20" name="Rectangle 19"/>
          <p:cNvSpPr/>
          <p:nvPr/>
        </p:nvSpPr>
        <p:spPr>
          <a:xfrm>
            <a:off x="8101584" y="1920240"/>
            <a:ext cx="3794760" cy="1600200"/>
          </a:xfrm>
          <a:prstGeom prst="rect">
            <a:avLst/>
          </a:prstGeom>
          <a:solidFill>
            <a:srgbClr val="10162B"/>
          </a:solidFill>
          <a:ln w="1016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101584" y="1920240"/>
            <a:ext cx="502920" cy="384048"/>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19872" y="1947672"/>
            <a:ext cx="475488" cy="329184"/>
          </a:xfrm>
          <a:prstGeom prst="rect">
            <a:avLst/>
          </a:prstGeom>
          <a:noFill/>
        </p:spPr>
        <p:txBody>
          <a:bodyPr wrap="square">
            <a:spAutoFit/>
          </a:bodyPr>
          <a:lstStyle/>
          <a:p>
            <a:pPr algn="ctr"/>
            <a:r>
              <a:rPr sz="1100" b="1" i="0">
                <a:solidFill>
                  <a:srgbClr val="0A0D1A"/>
                </a:solidFill>
                <a:latin typeface="Calibri"/>
              </a:rPr>
              <a:t>C3</a:t>
            </a:r>
          </a:p>
        </p:txBody>
      </p:sp>
      <p:sp>
        <p:nvSpPr>
          <p:cNvPr id="23" name="TextBox 22"/>
          <p:cNvSpPr txBox="1"/>
          <p:nvPr/>
        </p:nvSpPr>
        <p:spPr>
          <a:xfrm>
            <a:off x="8668512" y="1984248"/>
            <a:ext cx="3154680" cy="347472"/>
          </a:xfrm>
          <a:prstGeom prst="rect">
            <a:avLst/>
          </a:prstGeom>
          <a:noFill/>
        </p:spPr>
        <p:txBody>
          <a:bodyPr wrap="square">
            <a:spAutoFit/>
          </a:bodyPr>
          <a:lstStyle/>
          <a:p>
            <a:pPr algn="l"/>
            <a:r>
              <a:rPr sz="1300" b="1" i="0">
                <a:solidFill>
                  <a:srgbClr val="FFFFFF"/>
                </a:solidFill>
                <a:latin typeface="Calibri"/>
              </a:rPr>
              <a:t>APG Attack Chain Lifecycle</a:t>
            </a:r>
          </a:p>
        </p:txBody>
      </p:sp>
      <p:sp>
        <p:nvSpPr>
          <p:cNvPr id="24" name="TextBox 23"/>
          <p:cNvSpPr txBox="1"/>
          <p:nvPr/>
        </p:nvSpPr>
        <p:spPr>
          <a:xfrm>
            <a:off x="8211312" y="2395728"/>
            <a:ext cx="3611880" cy="1051560"/>
          </a:xfrm>
          <a:prstGeom prst="rect">
            <a:avLst/>
          </a:prstGeom>
          <a:noFill/>
        </p:spPr>
        <p:txBody>
          <a:bodyPr wrap="square">
            <a:spAutoFit/>
          </a:bodyPr>
          <a:lstStyle/>
          <a:p>
            <a:pPr algn="l"/>
            <a:r>
              <a:rPr sz="1100" b="0" i="0">
                <a:solidFill>
                  <a:srgbClr val="A0AAB8"/>
                </a:solidFill>
                <a:latin typeface="Calibri"/>
              </a:rPr>
              <a:t>Attack chains are first-class entities: risk-scored, prioritized, lifecycle-tracked (HYPOTHESIZED → VALIDATED / RULED_OUT) with evidence-linked ChainSteps.</a:t>
            </a:r>
          </a:p>
        </p:txBody>
      </p:sp>
      <p:sp>
        <p:nvSpPr>
          <p:cNvPr id="25" name="Rectangle 24"/>
          <p:cNvSpPr/>
          <p:nvPr/>
        </p:nvSpPr>
        <p:spPr>
          <a:xfrm>
            <a:off x="274320" y="3630168"/>
            <a:ext cx="3794760" cy="1600200"/>
          </a:xfrm>
          <a:prstGeom prst="rect">
            <a:avLst/>
          </a:prstGeom>
          <a:solidFill>
            <a:srgbClr val="10162B"/>
          </a:solidFill>
          <a:ln w="1016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74320" y="3630168"/>
            <a:ext cx="502920" cy="384048"/>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92608" y="3657600"/>
            <a:ext cx="475488" cy="329184"/>
          </a:xfrm>
          <a:prstGeom prst="rect">
            <a:avLst/>
          </a:prstGeom>
          <a:noFill/>
        </p:spPr>
        <p:txBody>
          <a:bodyPr wrap="square">
            <a:spAutoFit/>
          </a:bodyPr>
          <a:lstStyle/>
          <a:p>
            <a:pPr algn="ctr"/>
            <a:r>
              <a:rPr sz="1100" b="1" i="0">
                <a:solidFill>
                  <a:srgbClr val="0A0D1A"/>
                </a:solidFill>
                <a:latin typeface="Calibri"/>
              </a:rPr>
              <a:t>C5</a:t>
            </a:r>
          </a:p>
        </p:txBody>
      </p:sp>
      <p:sp>
        <p:nvSpPr>
          <p:cNvPr id="28" name="TextBox 27"/>
          <p:cNvSpPr txBox="1"/>
          <p:nvPr/>
        </p:nvSpPr>
        <p:spPr>
          <a:xfrm>
            <a:off x="841248" y="3694176"/>
            <a:ext cx="3154680" cy="347472"/>
          </a:xfrm>
          <a:prstGeom prst="rect">
            <a:avLst/>
          </a:prstGeom>
          <a:noFill/>
        </p:spPr>
        <p:txBody>
          <a:bodyPr wrap="square">
            <a:spAutoFit/>
          </a:bodyPr>
          <a:lstStyle/>
          <a:p>
            <a:pPr algn="l"/>
            <a:r>
              <a:rPr sz="1300" b="1" i="0">
                <a:solidFill>
                  <a:srgbClr val="FFFFFF"/>
                </a:solidFill>
                <a:latin typeface="Calibri"/>
              </a:rPr>
              <a:t>Tool Risk Gate + Commander Mailbox</a:t>
            </a:r>
          </a:p>
        </p:txBody>
      </p:sp>
      <p:sp>
        <p:nvSpPr>
          <p:cNvPr id="29" name="TextBox 28"/>
          <p:cNvSpPr txBox="1"/>
          <p:nvPr/>
        </p:nvSpPr>
        <p:spPr>
          <a:xfrm>
            <a:off x="384048" y="4105656"/>
            <a:ext cx="3611880" cy="1051560"/>
          </a:xfrm>
          <a:prstGeom prst="rect">
            <a:avLst/>
          </a:prstGeom>
          <a:noFill/>
        </p:spPr>
        <p:txBody>
          <a:bodyPr wrap="square">
            <a:spAutoFit/>
          </a:bodyPr>
          <a:lstStyle/>
          <a:p>
            <a:pPr algn="l"/>
            <a:r>
              <a:rPr sz="1100" b="0" i="0">
                <a:solidFill>
                  <a:srgbClr val="A0AAB8"/>
                </a:solidFill>
                <a:latin typeface="Calibri"/>
              </a:rPr>
              <a:t>Every tool call is risk-classified before execution. High-risk ops route to Commander for approval — a zero-code insertion point for human-in-the-loop.</a:t>
            </a:r>
          </a:p>
        </p:txBody>
      </p:sp>
      <p:sp>
        <p:nvSpPr>
          <p:cNvPr id="30" name="Rectangle 29"/>
          <p:cNvSpPr/>
          <p:nvPr/>
        </p:nvSpPr>
        <p:spPr>
          <a:xfrm>
            <a:off x="4187952" y="3630168"/>
            <a:ext cx="3794760" cy="1600200"/>
          </a:xfrm>
          <a:prstGeom prst="rect">
            <a:avLst/>
          </a:prstGeom>
          <a:solidFill>
            <a:srgbClr val="10162B"/>
          </a:solidFill>
          <a:ln w="1016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4187952" y="3630168"/>
            <a:ext cx="502920" cy="384048"/>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206240" y="3657600"/>
            <a:ext cx="475488" cy="329184"/>
          </a:xfrm>
          <a:prstGeom prst="rect">
            <a:avLst/>
          </a:prstGeom>
          <a:noFill/>
        </p:spPr>
        <p:txBody>
          <a:bodyPr wrap="square">
            <a:spAutoFit/>
          </a:bodyPr>
          <a:lstStyle/>
          <a:p>
            <a:pPr algn="ctr"/>
            <a:r>
              <a:rPr sz="1100" b="1" i="0">
                <a:solidFill>
                  <a:srgbClr val="0A0D1A"/>
                </a:solidFill>
                <a:latin typeface="Calibri"/>
              </a:rPr>
              <a:t>C10</a:t>
            </a:r>
          </a:p>
        </p:txBody>
      </p:sp>
      <p:sp>
        <p:nvSpPr>
          <p:cNvPr id="33" name="TextBox 32"/>
          <p:cNvSpPr txBox="1"/>
          <p:nvPr/>
        </p:nvSpPr>
        <p:spPr>
          <a:xfrm>
            <a:off x="4754880" y="3694176"/>
            <a:ext cx="3154680" cy="347472"/>
          </a:xfrm>
          <a:prstGeom prst="rect">
            <a:avLst/>
          </a:prstGeom>
          <a:noFill/>
        </p:spPr>
        <p:txBody>
          <a:bodyPr wrap="square">
            <a:spAutoFit/>
          </a:bodyPr>
          <a:lstStyle/>
          <a:p>
            <a:pPr algn="l"/>
            <a:r>
              <a:rPr sz="1300" b="1" i="0">
                <a:solidFill>
                  <a:srgbClr val="FFFFFF"/>
                </a:solidFill>
                <a:latin typeface="Calibri"/>
              </a:rPr>
              <a:t>Cross-Mission Experience Store</a:t>
            </a:r>
          </a:p>
        </p:txBody>
      </p:sp>
      <p:sp>
        <p:nvSpPr>
          <p:cNvPr id="34" name="TextBox 33"/>
          <p:cNvSpPr txBox="1"/>
          <p:nvPr/>
        </p:nvSpPr>
        <p:spPr>
          <a:xfrm>
            <a:off x="4297680" y="4105656"/>
            <a:ext cx="3611880" cy="1051560"/>
          </a:xfrm>
          <a:prstGeom prst="rect">
            <a:avLst/>
          </a:prstGeom>
          <a:noFill/>
        </p:spPr>
        <p:txBody>
          <a:bodyPr wrap="square">
            <a:spAutoFit/>
          </a:bodyPr>
          <a:lstStyle/>
          <a:p>
            <a:pPr algn="l"/>
            <a:r>
              <a:rPr sz="1100" b="0" i="0">
                <a:solidFill>
                  <a:srgbClr val="A0AAB8"/>
                </a:solidFill>
                <a:latin typeface="Calibri"/>
              </a:rPr>
              <a:t>Persistent RAG-backed store of validated exploitation outcomes across missions. Commander seeds APG hypotheses from prior analogous engagements at mission start.</a:t>
            </a:r>
          </a:p>
        </p:txBody>
      </p:sp>
      <p:sp>
        <p:nvSpPr>
          <p:cNvPr id="35" name="Rectangle 34"/>
          <p:cNvSpPr/>
          <p:nvPr/>
        </p:nvSpPr>
        <p:spPr>
          <a:xfrm>
            <a:off x="8101584" y="3630168"/>
            <a:ext cx="3794760" cy="1600200"/>
          </a:xfrm>
          <a:prstGeom prst="rect">
            <a:avLst/>
          </a:prstGeom>
          <a:solidFill>
            <a:srgbClr val="10162B"/>
          </a:solidFill>
          <a:ln w="1016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101584" y="3630168"/>
            <a:ext cx="502920" cy="384048"/>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119872" y="3657600"/>
            <a:ext cx="475488" cy="329184"/>
          </a:xfrm>
          <a:prstGeom prst="rect">
            <a:avLst/>
          </a:prstGeom>
          <a:noFill/>
        </p:spPr>
        <p:txBody>
          <a:bodyPr wrap="square">
            <a:spAutoFit/>
          </a:bodyPr>
          <a:lstStyle/>
          <a:p>
            <a:pPr algn="ctr"/>
            <a:r>
              <a:rPr sz="1100" b="1" i="0">
                <a:solidFill>
                  <a:srgbClr val="0A0D1A"/>
                </a:solidFill>
                <a:latin typeface="Calibri"/>
              </a:rPr>
              <a:t>C11</a:t>
            </a:r>
          </a:p>
        </p:txBody>
      </p:sp>
      <p:sp>
        <p:nvSpPr>
          <p:cNvPr id="38" name="TextBox 37"/>
          <p:cNvSpPr txBox="1"/>
          <p:nvPr/>
        </p:nvSpPr>
        <p:spPr>
          <a:xfrm>
            <a:off x="8668512" y="3694176"/>
            <a:ext cx="3154680" cy="347472"/>
          </a:xfrm>
          <a:prstGeom prst="rect">
            <a:avLst/>
          </a:prstGeom>
          <a:noFill/>
        </p:spPr>
        <p:txBody>
          <a:bodyPr wrap="square">
            <a:spAutoFit/>
          </a:bodyPr>
          <a:lstStyle/>
          <a:p>
            <a:pPr algn="l"/>
            <a:r>
              <a:rPr sz="1300" b="1" i="0">
                <a:solidFill>
                  <a:srgbClr val="FFFFFF"/>
                </a:solidFill>
                <a:latin typeface="Calibri"/>
              </a:rPr>
              <a:t>Attack Strategy Library</a:t>
            </a:r>
          </a:p>
        </p:txBody>
      </p:sp>
      <p:sp>
        <p:nvSpPr>
          <p:cNvPr id="39" name="TextBox 38"/>
          <p:cNvSpPr txBox="1"/>
          <p:nvPr/>
        </p:nvSpPr>
        <p:spPr>
          <a:xfrm>
            <a:off x="8211312" y="4105656"/>
            <a:ext cx="3611880" cy="1051560"/>
          </a:xfrm>
          <a:prstGeom prst="rect">
            <a:avLst/>
          </a:prstGeom>
          <a:noFill/>
        </p:spPr>
        <p:txBody>
          <a:bodyPr wrap="square">
            <a:spAutoFit/>
          </a:bodyPr>
          <a:lstStyle/>
          <a:p>
            <a:pPr algn="l"/>
            <a:r>
              <a:rPr sz="1100" b="0" i="0">
                <a:solidFill>
                  <a:srgbClr val="A0AAB8"/>
                </a:solidFill>
                <a:latin typeface="Calibri"/>
              </a:rPr>
              <a:t>Crystallizes validated chains into named, parameterized strategies when the same target fingerprint succeeds across 2+ missions. No prior system accumulates strategies across sessions.</a:t>
            </a:r>
          </a:p>
        </p:txBody>
      </p:sp>
      <p:sp>
        <p:nvSpPr>
          <p:cNvPr id="40" name="Rectangle 39"/>
          <p:cNvSpPr/>
          <p:nvPr/>
        </p:nvSpPr>
        <p:spPr>
          <a:xfrm>
            <a:off x="274320" y="5285232"/>
            <a:ext cx="11643055" cy="457200"/>
          </a:xfrm>
          <a:prstGeom prst="rect">
            <a:avLst/>
          </a:prstGeom>
          <a:solidFill>
            <a:srgbClr val="0D1220"/>
          </a:solidFill>
          <a:ln w="1016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02920" y="5340096"/>
            <a:ext cx="11368735" cy="365760"/>
          </a:xfrm>
          <a:prstGeom prst="rect">
            <a:avLst/>
          </a:prstGeom>
          <a:noFill/>
        </p:spPr>
        <p:txBody>
          <a:bodyPr wrap="none">
            <a:spAutoFit/>
          </a:bodyPr>
          <a:lstStyle/>
          <a:p>
            <a:pPr algn="l"/>
            <a:r>
              <a:rPr sz="1050" b="0" i="0">
                <a:solidFill>
                  <a:srgbClr val="A0AAB8"/>
                </a:solidFill>
                <a:latin typeface="Calibri"/>
              </a:rPr>
              <a:t>12 novel research contributions in total  ·  C4: ASG-aware parallel dispatch  ·  C6: Lossless context compaction  ·  C7: Methodology-as-config  ·  C8: Dual-graph termination  ·  C9: Live CVE grounding  ·  C12: Trajectory export dataset</a:t>
            </a:r>
          </a:p>
        </p:txBody>
      </p:sp>
      <p:sp>
        <p:nvSpPr>
          <p:cNvPr id="42" name="TextBox 41"/>
          <p:cNvSpPr txBox="1"/>
          <p:nvPr/>
        </p:nvSpPr>
        <p:spPr>
          <a:xfrm>
            <a:off x="11368735" y="6355080"/>
            <a:ext cx="640080" cy="411480"/>
          </a:xfrm>
          <a:prstGeom prst="rect">
            <a:avLst/>
          </a:prstGeom>
          <a:noFill/>
        </p:spPr>
        <p:txBody>
          <a:bodyPr wrap="square">
            <a:spAutoFit/>
          </a:bodyPr>
          <a:lstStyle/>
          <a:p>
            <a:pPr algn="r"/>
            <a:r>
              <a:rPr sz="1300" b="1" i="0">
                <a:solidFill>
                  <a:srgbClr val="FFD700"/>
                </a:solidFill>
                <a:latin typeface="Calibri"/>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0D1A"/>
        </a:solidFill>
        <a:effectLst/>
      </p:bgPr>
    </p:bg>
    <p:spTree>
      <p:nvGrpSpPr>
        <p:cNvPr id="1" name=""/>
        <p:cNvGrpSpPr/>
        <p:nvPr/>
      </p:nvGrpSpPr>
      <p:grpSpPr/>
      <p:sp>
        <p:nvSpPr>
          <p:cNvPr id="2" name="Rectangle 1"/>
          <p:cNvSpPr/>
          <p:nvPr/>
        </p:nvSpPr>
        <p:spPr>
          <a:xfrm>
            <a:off x="0" y="0"/>
            <a:ext cx="54864" cy="6858000"/>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 y="0"/>
            <a:ext cx="12136831" cy="36576"/>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 y="6821424"/>
            <a:ext cx="12136831" cy="36576"/>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73152"/>
            <a:ext cx="7315200" cy="274320"/>
          </a:xfrm>
          <a:prstGeom prst="rect">
            <a:avLst/>
          </a:prstGeom>
          <a:noFill/>
        </p:spPr>
        <p:txBody>
          <a:bodyPr wrap="square">
            <a:spAutoFit/>
          </a:bodyPr>
          <a:lstStyle/>
          <a:p>
            <a:pPr algn="l"/>
            <a:r>
              <a:rPr sz="1100" b="1" i="0">
                <a:solidFill>
                  <a:srgbClr val="00E5FF"/>
                </a:solidFill>
                <a:latin typeface="Calibri"/>
              </a:rPr>
              <a:t>SYSTEM ARCHITECTURE</a:t>
            </a:r>
          </a:p>
        </p:txBody>
      </p:sp>
      <p:sp>
        <p:nvSpPr>
          <p:cNvPr id="6" name="TextBox 5"/>
          <p:cNvSpPr txBox="1"/>
          <p:nvPr/>
        </p:nvSpPr>
        <p:spPr>
          <a:xfrm>
            <a:off x="274320" y="347472"/>
            <a:ext cx="9144000" cy="566928"/>
          </a:xfrm>
          <a:prstGeom prst="rect">
            <a:avLst/>
          </a:prstGeom>
          <a:noFill/>
        </p:spPr>
        <p:txBody>
          <a:bodyPr wrap="square">
            <a:spAutoFit/>
          </a:bodyPr>
          <a:lstStyle/>
          <a:p>
            <a:pPr algn="l"/>
            <a:r>
              <a:rPr sz="3000" b="1" i="0">
                <a:solidFill>
                  <a:srgbClr val="FFFFFF"/>
                </a:solidFill>
                <a:latin typeface="Calibri"/>
              </a:rPr>
              <a:t>How CMatrix Works — Full Architecture</a:t>
            </a:r>
          </a:p>
        </p:txBody>
      </p:sp>
      <p:sp>
        <p:nvSpPr>
          <p:cNvPr id="7" name="Rectangle 6"/>
          <p:cNvSpPr/>
          <p:nvPr/>
        </p:nvSpPr>
        <p:spPr>
          <a:xfrm>
            <a:off x="274320" y="914400"/>
            <a:ext cx="4572000" cy="32004"/>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64592" y="1024128"/>
            <a:ext cx="2194560" cy="658368"/>
          </a:xfrm>
          <a:prstGeom prst="rect">
            <a:avLst/>
          </a:prstGeom>
          <a:solidFill>
            <a:srgbClr val="0E1A2E"/>
          </a:solidFill>
          <a:ln w="10160">
            <a:solidFill>
              <a:srgbClr val="A0AA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64592" y="1060704"/>
            <a:ext cx="2194560" cy="292608"/>
          </a:xfrm>
          <a:prstGeom prst="rect">
            <a:avLst/>
          </a:prstGeom>
          <a:noFill/>
        </p:spPr>
        <p:txBody>
          <a:bodyPr wrap="square">
            <a:spAutoFit/>
          </a:bodyPr>
          <a:lstStyle/>
          <a:p>
            <a:pPr algn="ctr"/>
            <a:r>
              <a:rPr sz="1200" b="1" i="0">
                <a:solidFill>
                  <a:srgbClr val="A0AAB8"/>
                </a:solidFill>
                <a:latin typeface="Calibri"/>
              </a:rPr>
              <a:t>👤  OPERATOR</a:t>
            </a:r>
          </a:p>
        </p:txBody>
      </p:sp>
      <p:sp>
        <p:nvSpPr>
          <p:cNvPr id="10" name="TextBox 9"/>
          <p:cNvSpPr txBox="1"/>
          <p:nvPr/>
        </p:nvSpPr>
        <p:spPr>
          <a:xfrm>
            <a:off x="164592" y="1353312"/>
            <a:ext cx="2194560" cy="274320"/>
          </a:xfrm>
          <a:prstGeom prst="rect">
            <a:avLst/>
          </a:prstGeom>
          <a:noFill/>
        </p:spPr>
        <p:txBody>
          <a:bodyPr wrap="square">
            <a:spAutoFit/>
          </a:bodyPr>
          <a:lstStyle/>
          <a:p>
            <a:pPr algn="ctr"/>
            <a:r>
              <a:rPr sz="900" b="0" i="0">
                <a:solidFill>
                  <a:srgbClr val="A0AAB8"/>
                </a:solidFill>
                <a:latin typeface="Calibri"/>
              </a:rPr>
              <a:t>Defines target · scope · mode</a:t>
            </a:r>
          </a:p>
        </p:txBody>
      </p:sp>
      <p:sp>
        <p:nvSpPr>
          <p:cNvPr id="11" name="Rectangle 10"/>
          <p:cNvSpPr/>
          <p:nvPr/>
        </p:nvSpPr>
        <p:spPr>
          <a:xfrm>
            <a:off x="164592" y="1920240"/>
            <a:ext cx="2194560" cy="1417320"/>
          </a:xfrm>
          <a:prstGeom prst="rect">
            <a:avLst/>
          </a:prstGeom>
          <a:solidFill>
            <a:srgbClr val="08182C"/>
          </a:solidFill>
          <a:ln w="2540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64592" y="1984248"/>
            <a:ext cx="2194560" cy="274320"/>
          </a:xfrm>
          <a:prstGeom prst="rect">
            <a:avLst/>
          </a:prstGeom>
          <a:noFill/>
        </p:spPr>
        <p:txBody>
          <a:bodyPr wrap="square">
            <a:spAutoFit/>
          </a:bodyPr>
          <a:lstStyle/>
          <a:p>
            <a:pPr algn="ctr"/>
            <a:r>
              <a:rPr sz="1200" b="1" i="0">
                <a:solidFill>
                  <a:srgbClr val="00E5FF"/>
                </a:solidFill>
                <a:latin typeface="Calibri"/>
              </a:rPr>
              <a:t>👑  COMMANDER AGENT</a:t>
            </a:r>
          </a:p>
        </p:txBody>
      </p:sp>
      <p:sp>
        <p:nvSpPr>
          <p:cNvPr id="13" name="Rectangle 12"/>
          <p:cNvSpPr/>
          <p:nvPr/>
        </p:nvSpPr>
        <p:spPr>
          <a:xfrm>
            <a:off x="274320" y="2286000"/>
            <a:ext cx="1975104" cy="27432"/>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01752" y="2377440"/>
            <a:ext cx="1965960" cy="219456"/>
          </a:xfrm>
          <a:prstGeom prst="rect">
            <a:avLst/>
          </a:prstGeom>
          <a:noFill/>
        </p:spPr>
        <p:txBody>
          <a:bodyPr wrap="square">
            <a:spAutoFit/>
          </a:bodyPr>
          <a:lstStyle/>
          <a:p>
            <a:pPr algn="l"/>
            <a:r>
              <a:rPr sz="950" b="0" i="0">
                <a:solidFill>
                  <a:srgbClr val="A0AAB8"/>
                </a:solidFill>
                <a:latin typeface="Calibri"/>
              </a:rPr>
              <a:t>• Reads dual graph</a:t>
            </a:r>
          </a:p>
        </p:txBody>
      </p:sp>
      <p:sp>
        <p:nvSpPr>
          <p:cNvPr id="15" name="TextBox 14"/>
          <p:cNvSpPr txBox="1"/>
          <p:nvPr/>
        </p:nvSpPr>
        <p:spPr>
          <a:xfrm>
            <a:off x="301752" y="2596896"/>
            <a:ext cx="1965960" cy="219456"/>
          </a:xfrm>
          <a:prstGeom prst="rect">
            <a:avLst/>
          </a:prstGeom>
          <a:noFill/>
        </p:spPr>
        <p:txBody>
          <a:bodyPr wrap="square">
            <a:spAutoFit/>
          </a:bodyPr>
          <a:lstStyle/>
          <a:p>
            <a:pPr algn="l"/>
            <a:r>
              <a:rPr sz="950" b="0" i="0">
                <a:solidFill>
                  <a:srgbClr val="A0AAB8"/>
                </a:solidFill>
                <a:latin typeface="Calibri"/>
              </a:rPr>
              <a:t>• Plans &amp; delegates</a:t>
            </a:r>
          </a:p>
        </p:txBody>
      </p:sp>
      <p:sp>
        <p:nvSpPr>
          <p:cNvPr id="16" name="TextBox 15"/>
          <p:cNvSpPr txBox="1"/>
          <p:nvPr/>
        </p:nvSpPr>
        <p:spPr>
          <a:xfrm>
            <a:off x="301752" y="2816352"/>
            <a:ext cx="1965960" cy="219456"/>
          </a:xfrm>
          <a:prstGeom prst="rect">
            <a:avLst/>
          </a:prstGeom>
          <a:noFill/>
        </p:spPr>
        <p:txBody>
          <a:bodyPr wrap="square">
            <a:spAutoFit/>
          </a:bodyPr>
          <a:lstStyle/>
          <a:p>
            <a:pPr algn="l"/>
            <a:r>
              <a:rPr sz="950" b="0" i="0">
                <a:solidFill>
                  <a:srgbClr val="A0AAB8"/>
                </a:solidFill>
                <a:latin typeface="Calibri"/>
              </a:rPr>
              <a:t>• Approves high-risk ops</a:t>
            </a:r>
          </a:p>
        </p:txBody>
      </p:sp>
      <p:sp>
        <p:nvSpPr>
          <p:cNvPr id="17" name="TextBox 16"/>
          <p:cNvSpPr txBox="1"/>
          <p:nvPr/>
        </p:nvSpPr>
        <p:spPr>
          <a:xfrm>
            <a:off x="301752" y="3035808"/>
            <a:ext cx="1965960" cy="219456"/>
          </a:xfrm>
          <a:prstGeom prst="rect">
            <a:avLst/>
          </a:prstGeom>
          <a:noFill/>
        </p:spPr>
        <p:txBody>
          <a:bodyPr wrap="square">
            <a:spAutoFit/>
          </a:bodyPr>
          <a:lstStyle/>
          <a:p>
            <a:pPr algn="l"/>
            <a:r>
              <a:rPr sz="950" b="0" i="0">
                <a:solidFill>
                  <a:srgbClr val="A0AAB8"/>
                </a:solidFill>
                <a:latin typeface="Calibri"/>
              </a:rPr>
              <a:t>• Writes to APG only</a:t>
            </a:r>
          </a:p>
        </p:txBody>
      </p:sp>
      <p:sp>
        <p:nvSpPr>
          <p:cNvPr id="18" name="Rectangle 17"/>
          <p:cNvSpPr/>
          <p:nvPr/>
        </p:nvSpPr>
        <p:spPr>
          <a:xfrm>
            <a:off x="164592" y="3520440"/>
            <a:ext cx="2194560" cy="960120"/>
          </a:xfrm>
          <a:prstGeom prst="rect">
            <a:avLst/>
          </a:prstGeom>
          <a:solidFill>
            <a:srgbClr val="10101C"/>
          </a:solidFill>
          <a:ln w="12700">
            <a:solidFill>
              <a:srgbClr val="BD93F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64592" y="3575304"/>
            <a:ext cx="2194560" cy="256032"/>
          </a:xfrm>
          <a:prstGeom prst="rect">
            <a:avLst/>
          </a:prstGeom>
          <a:noFill/>
        </p:spPr>
        <p:txBody>
          <a:bodyPr wrap="square">
            <a:spAutoFit/>
          </a:bodyPr>
          <a:lstStyle/>
          <a:p>
            <a:pPr algn="ctr"/>
            <a:r>
              <a:rPr sz="1100" b="1" i="0">
                <a:solidFill>
                  <a:srgbClr val="BD93F9"/>
                </a:solidFill>
                <a:latin typeface="Calibri"/>
              </a:rPr>
              <a:t>📜  VAPT PROTOCOL</a:t>
            </a:r>
          </a:p>
        </p:txBody>
      </p:sp>
      <p:sp>
        <p:nvSpPr>
          <p:cNvPr id="20" name="TextBox 19"/>
          <p:cNvSpPr txBox="1"/>
          <p:nvPr/>
        </p:nvSpPr>
        <p:spPr>
          <a:xfrm>
            <a:off x="256032" y="3849624"/>
            <a:ext cx="2057400" cy="594360"/>
          </a:xfrm>
          <a:prstGeom prst="rect">
            <a:avLst/>
          </a:prstGeom>
          <a:noFill/>
        </p:spPr>
        <p:txBody>
          <a:bodyPr wrap="square">
            <a:spAutoFit/>
          </a:bodyPr>
          <a:lstStyle/>
          <a:p>
            <a:pPr algn="l"/>
            <a:r>
              <a:rPr sz="900" b="0" i="0">
                <a:solidFill>
                  <a:srgbClr val="A0AAB8"/>
                </a:solidFill>
                <a:latin typeface="Calibri"/>
              </a:rPr>
              <a:t>Phase rules · Re-plan triggers
Termination conditions
Methodology-as-config</a:t>
            </a:r>
          </a:p>
        </p:txBody>
      </p:sp>
      <p:cxnSp>
        <p:nvCxnSpPr>
          <p:cNvPr id="21" name="Connector 20"/>
          <p:cNvCxnSpPr/>
          <p:nvPr/>
        </p:nvCxnSpPr>
        <p:spPr>
          <a:xfrm>
            <a:off x="1261872.0" y="1682496"/>
            <a:ext cx="0.0" cy="237744"/>
          </a:xfrm>
          <a:prstGeom prst="line">
            <a:avLst/>
          </a:prstGeom>
          <a:ln w="19050">
            <a:solidFill>
              <a:srgbClr val="00E5FF"/>
            </a:solidFill>
            <a:tailEnd type="none"/>
            <a:headEnd type="arrow" w="med" len="med"/>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1261872.0" y="3337560"/>
            <a:ext cx="0.0" cy="182880"/>
          </a:xfrm>
          <a:prstGeom prst="line">
            <a:avLst/>
          </a:prstGeom>
          <a:ln w="15240">
            <a:solidFill>
              <a:srgbClr val="BD93F9"/>
            </a:solidFill>
            <a:tailEnd type="none"/>
            <a:headEnd type="arrow" w="med" len="med"/>
          </a:ln>
        </p:spPr>
        <p:style>
          <a:lnRef idx="2">
            <a:schemeClr val="accent1"/>
          </a:lnRef>
          <a:fillRef idx="0">
            <a:schemeClr val="accent1"/>
          </a:fillRef>
          <a:effectRef idx="1">
            <a:schemeClr val="accent1"/>
          </a:effectRef>
          <a:fontRef idx="minor">
            <a:schemeClr val="tx1"/>
          </a:fontRef>
        </p:style>
      </p:cxnSp>
      <p:sp>
        <p:nvSpPr>
          <p:cNvPr id="23" name="Rectangle 22"/>
          <p:cNvSpPr/>
          <p:nvPr/>
        </p:nvSpPr>
        <p:spPr>
          <a:xfrm>
            <a:off x="2633472" y="1024128"/>
            <a:ext cx="3246120" cy="2194560"/>
          </a:xfrm>
          <a:prstGeom prst="rect">
            <a:avLst/>
          </a:prstGeom>
          <a:solidFill>
            <a:srgbClr val="04180E"/>
          </a:solidFill>
          <a:ln w="2540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633472" y="1078992"/>
            <a:ext cx="3246120" cy="274320"/>
          </a:xfrm>
          <a:prstGeom prst="rect">
            <a:avLst/>
          </a:prstGeom>
          <a:noFill/>
        </p:spPr>
        <p:txBody>
          <a:bodyPr wrap="square">
            <a:spAutoFit/>
          </a:bodyPr>
          <a:lstStyle/>
          <a:p>
            <a:pPr algn="ctr"/>
            <a:r>
              <a:rPr sz="1100" b="1" i="0">
                <a:solidFill>
                  <a:srgbClr val="39FF14"/>
                </a:solidFill>
                <a:latin typeface="Calibri"/>
              </a:rPr>
              <a:t>🕸️  ATTACK SURFACE GRAPH  (ASG)</a:t>
            </a:r>
          </a:p>
        </p:txBody>
      </p:sp>
      <p:sp>
        <p:nvSpPr>
          <p:cNvPr id="25" name="Rectangle 24"/>
          <p:cNvSpPr/>
          <p:nvPr/>
        </p:nvSpPr>
        <p:spPr>
          <a:xfrm>
            <a:off x="2770632" y="1389888"/>
            <a:ext cx="2971800" cy="22860"/>
          </a:xfrm>
          <a:prstGeom prst="rect">
            <a:avLst/>
          </a:prstGeom>
          <a:solidFill>
            <a:srgbClr val="39FF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770632" y="1481328"/>
            <a:ext cx="3017520" cy="219456"/>
          </a:xfrm>
          <a:prstGeom prst="rect">
            <a:avLst/>
          </a:prstGeom>
          <a:noFill/>
        </p:spPr>
        <p:txBody>
          <a:bodyPr wrap="square">
            <a:spAutoFit/>
          </a:bodyPr>
          <a:lstStyle/>
          <a:p>
            <a:pPr algn="ctr"/>
            <a:r>
              <a:rPr sz="950" b="0" i="0">
                <a:solidFill>
                  <a:srgbClr val="FFFFFF"/>
                </a:solidFill>
                <a:latin typeface="Calibri"/>
              </a:rPr>
              <a:t>Domain · Host · Port · Service</a:t>
            </a:r>
          </a:p>
        </p:txBody>
      </p:sp>
      <p:sp>
        <p:nvSpPr>
          <p:cNvPr id="27" name="TextBox 26"/>
          <p:cNvSpPr txBox="1"/>
          <p:nvPr/>
        </p:nvSpPr>
        <p:spPr>
          <a:xfrm>
            <a:off x="2770632" y="1700784"/>
            <a:ext cx="3017520" cy="219456"/>
          </a:xfrm>
          <a:prstGeom prst="rect">
            <a:avLst/>
          </a:prstGeom>
          <a:noFill/>
        </p:spPr>
        <p:txBody>
          <a:bodyPr wrap="square">
            <a:spAutoFit/>
          </a:bodyPr>
          <a:lstStyle/>
          <a:p>
            <a:pPr algn="ctr"/>
            <a:r>
              <a:rPr sz="950" b="0" i="0">
                <a:solidFill>
                  <a:srgbClr val="FFFFFF"/>
                </a:solidFill>
                <a:latin typeface="Calibri"/>
              </a:rPr>
              <a:t>Technology · Endpoint · Parameter</a:t>
            </a:r>
          </a:p>
        </p:txBody>
      </p:sp>
      <p:sp>
        <p:nvSpPr>
          <p:cNvPr id="28" name="TextBox 27"/>
          <p:cNvSpPr txBox="1"/>
          <p:nvPr/>
        </p:nvSpPr>
        <p:spPr>
          <a:xfrm>
            <a:off x="2770632" y="1920240"/>
            <a:ext cx="3017520" cy="219456"/>
          </a:xfrm>
          <a:prstGeom prst="rect">
            <a:avLst/>
          </a:prstGeom>
          <a:noFill/>
        </p:spPr>
        <p:txBody>
          <a:bodyPr wrap="square">
            <a:spAutoFit/>
          </a:bodyPr>
          <a:lstStyle/>
          <a:p>
            <a:pPr algn="ctr"/>
            <a:r>
              <a:rPr sz="950" b="0" i="0">
                <a:solidFill>
                  <a:srgbClr val="FFFFFF"/>
                </a:solidFill>
                <a:latin typeface="Calibri"/>
              </a:rPr>
              <a:t>Vulnerability · Evidence</a:t>
            </a:r>
          </a:p>
        </p:txBody>
      </p:sp>
      <p:sp>
        <p:nvSpPr>
          <p:cNvPr id="29" name="Rectangle 28"/>
          <p:cNvSpPr/>
          <p:nvPr/>
        </p:nvSpPr>
        <p:spPr>
          <a:xfrm>
            <a:off x="2770632" y="2167128"/>
            <a:ext cx="2971800" cy="22860"/>
          </a:xfrm>
          <a:prstGeom prst="rect">
            <a:avLst/>
          </a:prstGeom>
          <a:solidFill>
            <a:srgbClr val="3060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770632" y="2240280"/>
            <a:ext cx="3017520" cy="256032"/>
          </a:xfrm>
          <a:prstGeom prst="rect">
            <a:avLst/>
          </a:prstGeom>
          <a:noFill/>
        </p:spPr>
        <p:txBody>
          <a:bodyPr wrap="square">
            <a:spAutoFit/>
          </a:bodyPr>
          <a:lstStyle/>
          <a:p>
            <a:pPr algn="ctr"/>
            <a:r>
              <a:rPr sz="900" b="0" i="1">
                <a:solidFill>
                  <a:srgbClr val="39FF14"/>
                </a:solidFill>
                <a:latin typeface="Calibri"/>
              </a:rPr>
              <a:t>Discovered Reality — confirmed facts only</a:t>
            </a:r>
          </a:p>
        </p:txBody>
      </p:sp>
      <p:sp>
        <p:nvSpPr>
          <p:cNvPr id="31" name="TextBox 30"/>
          <p:cNvSpPr txBox="1"/>
          <p:nvPr/>
        </p:nvSpPr>
        <p:spPr>
          <a:xfrm>
            <a:off x="2770632" y="2532888"/>
            <a:ext cx="3017520" cy="621792"/>
          </a:xfrm>
          <a:prstGeom prst="rect">
            <a:avLst/>
          </a:prstGeom>
          <a:noFill/>
        </p:spPr>
        <p:txBody>
          <a:bodyPr wrap="square">
            <a:spAutoFit/>
          </a:bodyPr>
          <a:lstStyle/>
          <a:p>
            <a:pPr algn="ctr"/>
            <a:r>
              <a:rPr sz="850" b="0" i="0">
                <a:solidFill>
                  <a:srgbClr val="A0AAB8"/>
                </a:solidFill>
                <a:latin typeface="Calibri"/>
              </a:rPr>
              <a:t>has_host · has_port · runs · uses
has_endpoint · has_parameter
affected_by · validated_by</a:t>
            </a:r>
          </a:p>
        </p:txBody>
      </p:sp>
      <p:sp>
        <p:nvSpPr>
          <p:cNvPr id="32" name="Rectangle 31"/>
          <p:cNvSpPr/>
          <p:nvPr/>
        </p:nvSpPr>
        <p:spPr>
          <a:xfrm>
            <a:off x="2633472" y="3383280"/>
            <a:ext cx="3246120" cy="1920240"/>
          </a:xfrm>
          <a:prstGeom prst="rect">
            <a:avLst/>
          </a:prstGeom>
          <a:solidFill>
            <a:srgbClr val="180C04"/>
          </a:solidFill>
          <a:ln w="2540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633472" y="3438144"/>
            <a:ext cx="3246120" cy="274320"/>
          </a:xfrm>
          <a:prstGeom prst="rect">
            <a:avLst/>
          </a:prstGeom>
          <a:noFill/>
        </p:spPr>
        <p:txBody>
          <a:bodyPr wrap="square">
            <a:spAutoFit/>
          </a:bodyPr>
          <a:lstStyle/>
          <a:p>
            <a:pPr algn="ctr"/>
            <a:r>
              <a:rPr sz="1100" b="1" i="0">
                <a:solidFill>
                  <a:srgbClr val="FFD700"/>
                </a:solidFill>
                <a:latin typeface="Calibri"/>
              </a:rPr>
              <a:t>🛣️  ATTACK PATH GRAPH  (APG)</a:t>
            </a:r>
          </a:p>
        </p:txBody>
      </p:sp>
      <p:sp>
        <p:nvSpPr>
          <p:cNvPr id="34" name="Rectangle 33"/>
          <p:cNvSpPr/>
          <p:nvPr/>
        </p:nvSpPr>
        <p:spPr>
          <a:xfrm>
            <a:off x="2770632" y="3749040"/>
            <a:ext cx="2971800" cy="22860"/>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2770632" y="3840480"/>
            <a:ext cx="3017520" cy="256032"/>
          </a:xfrm>
          <a:prstGeom prst="rect">
            <a:avLst/>
          </a:prstGeom>
          <a:noFill/>
        </p:spPr>
        <p:txBody>
          <a:bodyPr wrap="square">
            <a:spAutoFit/>
          </a:bodyPr>
          <a:lstStyle/>
          <a:p>
            <a:pPr algn="ctr"/>
            <a:r>
              <a:rPr sz="950" b="0" i="0">
                <a:solidFill>
                  <a:srgbClr val="FFFFFF"/>
                </a:solidFill>
                <a:latin typeface="Calibri"/>
              </a:rPr>
              <a:t>AttackChain · ChainStep · Impact</a:t>
            </a:r>
          </a:p>
        </p:txBody>
      </p:sp>
      <p:sp>
        <p:nvSpPr>
          <p:cNvPr id="36" name="TextBox 35"/>
          <p:cNvSpPr txBox="1"/>
          <p:nvPr/>
        </p:nvSpPr>
        <p:spPr>
          <a:xfrm>
            <a:off x="2770632" y="4096512"/>
            <a:ext cx="3017520" cy="228600"/>
          </a:xfrm>
          <a:prstGeom prst="rect">
            <a:avLst/>
          </a:prstGeom>
          <a:noFill/>
        </p:spPr>
        <p:txBody>
          <a:bodyPr wrap="square">
            <a:spAutoFit/>
          </a:bodyPr>
          <a:lstStyle/>
          <a:p>
            <a:pPr algn="ctr"/>
            <a:r>
              <a:rPr sz="900" b="0" i="0">
                <a:solidFill>
                  <a:srgbClr val="A0AAB8"/>
                </a:solidFill>
                <a:latin typeface="Calibri"/>
              </a:rPr>
              <a:t>risk_score · priority · validation_status</a:t>
            </a:r>
          </a:p>
        </p:txBody>
      </p:sp>
      <p:sp>
        <p:nvSpPr>
          <p:cNvPr id="37" name="Rectangle 36"/>
          <p:cNvSpPr/>
          <p:nvPr/>
        </p:nvSpPr>
        <p:spPr>
          <a:xfrm>
            <a:off x="2770632" y="4343400"/>
            <a:ext cx="2971800" cy="22860"/>
          </a:xfrm>
          <a:prstGeom prst="rect">
            <a:avLst/>
          </a:prstGeom>
          <a:solidFill>
            <a:srgbClr val="6040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770632" y="4407408"/>
            <a:ext cx="3017520" cy="256032"/>
          </a:xfrm>
          <a:prstGeom prst="rect">
            <a:avLst/>
          </a:prstGeom>
          <a:noFill/>
        </p:spPr>
        <p:txBody>
          <a:bodyPr wrap="square">
            <a:spAutoFit/>
          </a:bodyPr>
          <a:lstStyle/>
          <a:p>
            <a:pPr algn="ctr"/>
            <a:r>
              <a:rPr sz="900" b="0" i="1">
                <a:solidFill>
                  <a:srgbClr val="FFD700"/>
                </a:solidFill>
                <a:latin typeface="Calibri"/>
              </a:rPr>
              <a:t>Inferred Opportunity — attack reasoning only</a:t>
            </a:r>
          </a:p>
        </p:txBody>
      </p:sp>
      <p:sp>
        <p:nvSpPr>
          <p:cNvPr id="39" name="TextBox 38"/>
          <p:cNvSpPr txBox="1"/>
          <p:nvPr/>
        </p:nvSpPr>
        <p:spPr>
          <a:xfrm>
            <a:off x="2770632" y="4709160"/>
            <a:ext cx="3017520" cy="502920"/>
          </a:xfrm>
          <a:prstGeom prst="rect">
            <a:avLst/>
          </a:prstGeom>
          <a:noFill/>
        </p:spPr>
        <p:txBody>
          <a:bodyPr wrap="square">
            <a:spAutoFit/>
          </a:bodyPr>
          <a:lstStyle/>
          <a:p>
            <a:pPr algn="ctr"/>
            <a:r>
              <a:rPr sz="900" b="0" i="0">
                <a:solidFill>
                  <a:srgbClr val="A0AAB8"/>
                </a:solidFill>
                <a:latin typeface="Calibri"/>
              </a:rPr>
              <a:t>HYPOTHESIZED → PARTIALLY_VALIDATED
→ VALIDATED / RULED_OUT</a:t>
            </a:r>
          </a:p>
        </p:txBody>
      </p:sp>
      <p:cxnSp>
        <p:nvCxnSpPr>
          <p:cNvPr id="40" name="Connector 39"/>
          <p:cNvCxnSpPr/>
          <p:nvPr/>
        </p:nvCxnSpPr>
        <p:spPr>
          <a:xfrm>
            <a:off x="4256532.0" y="3218688"/>
            <a:ext cx="0.0" cy="164592"/>
          </a:xfrm>
          <a:prstGeom prst="line">
            <a:avLst/>
          </a:prstGeom>
          <a:ln w="22860">
            <a:solidFill>
              <a:srgbClr val="FFD700"/>
            </a:solidFill>
            <a:tailEnd type="none"/>
            <a:headEnd type="arrow" w="med" len="med"/>
          </a:ln>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4329684" y="3236976"/>
            <a:ext cx="1371600" cy="219456"/>
          </a:xfrm>
          <a:prstGeom prst="rect">
            <a:avLst/>
          </a:prstGeom>
          <a:noFill/>
        </p:spPr>
        <p:txBody>
          <a:bodyPr wrap="square">
            <a:spAutoFit/>
          </a:bodyPr>
          <a:lstStyle/>
          <a:p>
            <a:pPr algn="l"/>
            <a:r>
              <a:rPr sz="800" b="0" i="1">
                <a:solidFill>
                  <a:srgbClr val="FFD700"/>
                </a:solidFill>
                <a:latin typeface="Calibri"/>
              </a:rPr>
              <a:t>Commander derives chains</a:t>
            </a:r>
          </a:p>
        </p:txBody>
      </p:sp>
      <p:cxnSp>
        <p:nvCxnSpPr>
          <p:cNvPr id="42" name="Connector 41"/>
          <p:cNvCxnSpPr/>
          <p:nvPr/>
        </p:nvCxnSpPr>
        <p:spPr>
          <a:xfrm flipV="1">
            <a:off x="2359152" y="1481328"/>
            <a:ext cx="274320" cy="896112"/>
          </a:xfrm>
          <a:prstGeom prst="line">
            <a:avLst/>
          </a:prstGeom>
          <a:ln w="19050">
            <a:solidFill>
              <a:srgbClr val="00E5FF"/>
            </a:solidFill>
            <a:tailEnd type="none"/>
            <a:headEnd type="arrow" w="med" len="med"/>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H="1" flipV="1">
            <a:off x="2359152" y="2926080"/>
            <a:ext cx="274320" cy="1005840"/>
          </a:xfrm>
          <a:prstGeom prst="line">
            <a:avLst/>
          </a:prstGeom>
          <a:ln w="15240">
            <a:solidFill>
              <a:srgbClr val="FFD700"/>
            </a:solidFill>
            <a:tailEnd type="none"/>
            <a:headEnd type="arrow" w="med" len="med"/>
          </a:ln>
        </p:spPr>
        <p:style>
          <a:lnRef idx="2">
            <a:schemeClr val="accent1"/>
          </a:lnRef>
          <a:fillRef idx="0">
            <a:schemeClr val="accent1"/>
          </a:fillRef>
          <a:effectRef idx="1">
            <a:schemeClr val="accent1"/>
          </a:effectRef>
          <a:fontRef idx="minor">
            <a:schemeClr val="tx1"/>
          </a:fontRef>
        </p:style>
      </p:cxnSp>
      <p:sp>
        <p:nvSpPr>
          <p:cNvPr id="44" name="Rectangle 43"/>
          <p:cNvSpPr/>
          <p:nvPr/>
        </p:nvSpPr>
        <p:spPr>
          <a:xfrm>
            <a:off x="6126480" y="1024128"/>
            <a:ext cx="2148840" cy="804672"/>
          </a:xfrm>
          <a:prstGeom prst="rect">
            <a:avLst/>
          </a:prstGeom>
          <a:solidFill>
            <a:srgbClr val="0D1E2E"/>
          </a:solidFill>
          <a:ln w="1270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217920" y="1078992"/>
            <a:ext cx="2011680" cy="274320"/>
          </a:xfrm>
          <a:prstGeom prst="rect">
            <a:avLst/>
          </a:prstGeom>
          <a:noFill/>
        </p:spPr>
        <p:txBody>
          <a:bodyPr wrap="square">
            <a:spAutoFit/>
          </a:bodyPr>
          <a:lstStyle/>
          <a:p>
            <a:pPr algn="l"/>
            <a:r>
              <a:rPr sz="1050" b="1" i="0">
                <a:solidFill>
                  <a:srgbClr val="39FF14"/>
                </a:solidFill>
                <a:latin typeface="Calibri"/>
              </a:rPr>
              <a:t>🕵️  Recon Agent</a:t>
            </a:r>
          </a:p>
        </p:txBody>
      </p:sp>
      <p:sp>
        <p:nvSpPr>
          <p:cNvPr id="46" name="TextBox 45"/>
          <p:cNvSpPr txBox="1"/>
          <p:nvPr/>
        </p:nvSpPr>
        <p:spPr>
          <a:xfrm>
            <a:off x="6217920" y="1389888"/>
            <a:ext cx="2011680" cy="393192"/>
          </a:xfrm>
          <a:prstGeom prst="rect">
            <a:avLst/>
          </a:prstGeom>
          <a:noFill/>
        </p:spPr>
        <p:txBody>
          <a:bodyPr wrap="square">
            <a:spAutoFit/>
          </a:bodyPr>
          <a:lstStyle/>
          <a:p>
            <a:pPr algn="l"/>
            <a:r>
              <a:rPr sz="850" b="0" i="0">
                <a:solidFill>
                  <a:srgbClr val="A0AAB8"/>
                </a:solidFill>
                <a:latin typeface="Calibri"/>
              </a:rPr>
              <a:t>Amass · httpx · Nmap</a:t>
            </a:r>
          </a:p>
        </p:txBody>
      </p:sp>
      <p:cxnSp>
        <p:nvCxnSpPr>
          <p:cNvPr id="47" name="Connector 46"/>
          <p:cNvCxnSpPr/>
          <p:nvPr/>
        </p:nvCxnSpPr>
        <p:spPr>
          <a:xfrm flipV="1">
            <a:off x="2359152" y="1426464.0"/>
            <a:ext cx="3767328" cy="950976.0"/>
          </a:xfrm>
          <a:prstGeom prst="line">
            <a:avLst/>
          </a:prstGeom>
          <a:ln w="10160">
            <a:solidFill>
              <a:srgbClr val="39FF14"/>
            </a:solidFill>
            <a:tailEnd type="none"/>
            <a:headEnd type="arrow" w="med" len="med"/>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H="1">
            <a:off x="5879592" y="1426464.0"/>
            <a:ext cx="246888" cy="694944.0"/>
          </a:xfrm>
          <a:prstGeom prst="line">
            <a:avLst/>
          </a:prstGeom>
          <a:ln w="7620">
            <a:solidFill>
              <a:srgbClr val="305030"/>
            </a:solidFill>
            <a:tailEnd type="none"/>
            <a:headEnd type="arrow" w="med" len="med"/>
          </a:ln>
        </p:spPr>
        <p:style>
          <a:lnRef idx="2">
            <a:schemeClr val="accent1"/>
          </a:lnRef>
          <a:fillRef idx="0">
            <a:schemeClr val="accent1"/>
          </a:fillRef>
          <a:effectRef idx="1">
            <a:schemeClr val="accent1"/>
          </a:effectRef>
          <a:fontRef idx="minor">
            <a:schemeClr val="tx1"/>
          </a:fontRef>
        </p:style>
      </p:cxnSp>
      <p:sp>
        <p:nvSpPr>
          <p:cNvPr id="49" name="Rectangle 48"/>
          <p:cNvSpPr/>
          <p:nvPr/>
        </p:nvSpPr>
        <p:spPr>
          <a:xfrm>
            <a:off x="6126480" y="1901952"/>
            <a:ext cx="2148840" cy="804672"/>
          </a:xfrm>
          <a:prstGeom prst="rect">
            <a:avLst/>
          </a:prstGeom>
          <a:solidFill>
            <a:srgbClr val="0D1E2E"/>
          </a:solidFill>
          <a:ln w="1270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217920" y="1956816"/>
            <a:ext cx="2011680" cy="274320"/>
          </a:xfrm>
          <a:prstGeom prst="rect">
            <a:avLst/>
          </a:prstGeom>
          <a:noFill/>
        </p:spPr>
        <p:txBody>
          <a:bodyPr wrap="square">
            <a:spAutoFit/>
          </a:bodyPr>
          <a:lstStyle/>
          <a:p>
            <a:pPr algn="l"/>
            <a:r>
              <a:rPr sz="1050" b="1" i="0">
                <a:solidFill>
                  <a:srgbClr val="00E5FF"/>
                </a:solidFill>
                <a:latin typeface="Calibri"/>
              </a:rPr>
              <a:t>🔬  Analysis Agent</a:t>
            </a:r>
          </a:p>
        </p:txBody>
      </p:sp>
      <p:sp>
        <p:nvSpPr>
          <p:cNvPr id="51" name="TextBox 50"/>
          <p:cNvSpPr txBox="1"/>
          <p:nvPr/>
        </p:nvSpPr>
        <p:spPr>
          <a:xfrm>
            <a:off x="6217920" y="2267712"/>
            <a:ext cx="2011680" cy="393192"/>
          </a:xfrm>
          <a:prstGeom prst="rect">
            <a:avLst/>
          </a:prstGeom>
          <a:noFill/>
        </p:spPr>
        <p:txBody>
          <a:bodyPr wrap="square">
            <a:spAutoFit/>
          </a:bodyPr>
          <a:lstStyle/>
          <a:p>
            <a:pPr algn="l"/>
            <a:r>
              <a:rPr sz="850" b="0" i="0">
                <a:solidFill>
                  <a:srgbClr val="A0AAB8"/>
                </a:solidFill>
                <a:latin typeface="Calibri"/>
              </a:rPr>
              <a:t>WhatWeb · Gobuster · ffuf
Nuclei · OWASP ZAP</a:t>
            </a:r>
          </a:p>
        </p:txBody>
      </p:sp>
      <p:cxnSp>
        <p:nvCxnSpPr>
          <p:cNvPr id="52" name="Connector 51"/>
          <p:cNvCxnSpPr/>
          <p:nvPr/>
        </p:nvCxnSpPr>
        <p:spPr>
          <a:xfrm flipV="1">
            <a:off x="2359152" y="2304288.0"/>
            <a:ext cx="3767328" cy="73152.0"/>
          </a:xfrm>
          <a:prstGeom prst="line">
            <a:avLst/>
          </a:prstGeom>
          <a:ln w="10160">
            <a:solidFill>
              <a:srgbClr val="00E5FF"/>
            </a:solidFill>
            <a:tailEnd type="none"/>
            <a:headEnd type="arrow" w="med" len="med"/>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H="1" flipV="1">
            <a:off x="5879592" y="2121408.0"/>
            <a:ext cx="246888" cy="182880.0"/>
          </a:xfrm>
          <a:prstGeom prst="line">
            <a:avLst/>
          </a:prstGeom>
          <a:ln w="7620">
            <a:solidFill>
              <a:srgbClr val="305030"/>
            </a:solidFill>
            <a:tailEnd type="none"/>
            <a:headEnd type="arrow" w="med" len="med"/>
          </a:ln>
        </p:spPr>
        <p:style>
          <a:lnRef idx="2">
            <a:schemeClr val="accent1"/>
          </a:lnRef>
          <a:fillRef idx="0">
            <a:schemeClr val="accent1"/>
          </a:fillRef>
          <a:effectRef idx="1">
            <a:schemeClr val="accent1"/>
          </a:effectRef>
          <a:fontRef idx="minor">
            <a:schemeClr val="tx1"/>
          </a:fontRef>
        </p:style>
      </p:cxnSp>
      <p:sp>
        <p:nvSpPr>
          <p:cNvPr id="54" name="Rectangle 53"/>
          <p:cNvSpPr/>
          <p:nvPr/>
        </p:nvSpPr>
        <p:spPr>
          <a:xfrm>
            <a:off x="6126480" y="2779776"/>
            <a:ext cx="2148840" cy="804672"/>
          </a:xfrm>
          <a:prstGeom prst="rect">
            <a:avLst/>
          </a:prstGeom>
          <a:solidFill>
            <a:srgbClr val="0D1E2E"/>
          </a:solidFill>
          <a:ln w="1270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6217920" y="2834640"/>
            <a:ext cx="2011680" cy="274320"/>
          </a:xfrm>
          <a:prstGeom prst="rect">
            <a:avLst/>
          </a:prstGeom>
          <a:noFill/>
        </p:spPr>
        <p:txBody>
          <a:bodyPr wrap="square">
            <a:spAutoFit/>
          </a:bodyPr>
          <a:lstStyle/>
          <a:p>
            <a:pPr algn="l"/>
            <a:r>
              <a:rPr sz="1050" b="1" i="0">
                <a:solidFill>
                  <a:srgbClr val="FFD700"/>
                </a:solidFill>
                <a:latin typeface="Calibri"/>
              </a:rPr>
              <a:t>🔍  Research Agent</a:t>
            </a:r>
          </a:p>
        </p:txBody>
      </p:sp>
      <p:sp>
        <p:nvSpPr>
          <p:cNvPr id="56" name="TextBox 55"/>
          <p:cNvSpPr txBox="1"/>
          <p:nvPr/>
        </p:nvSpPr>
        <p:spPr>
          <a:xfrm>
            <a:off x="6217920" y="3145536"/>
            <a:ext cx="2011680" cy="393192"/>
          </a:xfrm>
          <a:prstGeom prst="rect">
            <a:avLst/>
          </a:prstGeom>
          <a:noFill/>
        </p:spPr>
        <p:txBody>
          <a:bodyPr wrap="square">
            <a:spAutoFit/>
          </a:bodyPr>
          <a:lstStyle/>
          <a:p>
            <a:pPr algn="l"/>
            <a:r>
              <a:rPr sz="850" b="0" i="0">
                <a:solidFill>
                  <a:srgbClr val="A0AAB8"/>
                </a:solidFill>
                <a:latin typeface="Calibri"/>
              </a:rPr>
              <a:t>NVD · Exploit-DB · GitHub</a:t>
            </a:r>
          </a:p>
        </p:txBody>
      </p:sp>
      <p:cxnSp>
        <p:nvCxnSpPr>
          <p:cNvPr id="57" name="Connector 56"/>
          <p:cNvCxnSpPr/>
          <p:nvPr/>
        </p:nvCxnSpPr>
        <p:spPr>
          <a:xfrm>
            <a:off x="2359152" y="2377440"/>
            <a:ext cx="3767328" cy="804672.0"/>
          </a:xfrm>
          <a:prstGeom prst="line">
            <a:avLst/>
          </a:prstGeom>
          <a:ln w="10160">
            <a:solidFill>
              <a:srgbClr val="FFD700"/>
            </a:solidFill>
            <a:tailEnd type="none"/>
            <a:headEnd type="arrow" w="med" len="med"/>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H="1" flipV="1">
            <a:off x="5879592" y="2121408.0"/>
            <a:ext cx="246888" cy="1060704.0"/>
          </a:xfrm>
          <a:prstGeom prst="line">
            <a:avLst/>
          </a:prstGeom>
          <a:ln w="7620">
            <a:solidFill>
              <a:srgbClr val="305030"/>
            </a:solidFill>
            <a:tailEnd type="none"/>
            <a:headEnd type="arrow" w="med" len="med"/>
          </a:ln>
        </p:spPr>
        <p:style>
          <a:lnRef idx="2">
            <a:schemeClr val="accent1"/>
          </a:lnRef>
          <a:fillRef idx="0">
            <a:schemeClr val="accent1"/>
          </a:fillRef>
          <a:effectRef idx="1">
            <a:schemeClr val="accent1"/>
          </a:effectRef>
          <a:fontRef idx="minor">
            <a:schemeClr val="tx1"/>
          </a:fontRef>
        </p:style>
      </p:cxnSp>
      <p:sp>
        <p:nvSpPr>
          <p:cNvPr id="59" name="Rectangle 58"/>
          <p:cNvSpPr/>
          <p:nvPr/>
        </p:nvSpPr>
        <p:spPr>
          <a:xfrm>
            <a:off x="6126480" y="3657600"/>
            <a:ext cx="2148840" cy="804672"/>
          </a:xfrm>
          <a:prstGeom prst="rect">
            <a:avLst/>
          </a:prstGeom>
          <a:solidFill>
            <a:srgbClr val="0D1E2E"/>
          </a:solidFill>
          <a:ln w="12700">
            <a:solidFill>
              <a:srgbClr val="FF45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6217920" y="3712464"/>
            <a:ext cx="2011680" cy="274320"/>
          </a:xfrm>
          <a:prstGeom prst="rect">
            <a:avLst/>
          </a:prstGeom>
          <a:noFill/>
        </p:spPr>
        <p:txBody>
          <a:bodyPr wrap="square">
            <a:spAutoFit/>
          </a:bodyPr>
          <a:lstStyle/>
          <a:p>
            <a:pPr algn="l"/>
            <a:r>
              <a:rPr sz="1050" b="1" i="0">
                <a:solidFill>
                  <a:srgbClr val="FF4545"/>
                </a:solidFill>
                <a:latin typeface="Calibri"/>
              </a:rPr>
              <a:t>🎯  Validation Agt</a:t>
            </a:r>
          </a:p>
        </p:txBody>
      </p:sp>
      <p:sp>
        <p:nvSpPr>
          <p:cNvPr id="61" name="TextBox 60"/>
          <p:cNvSpPr txBox="1"/>
          <p:nvPr/>
        </p:nvSpPr>
        <p:spPr>
          <a:xfrm>
            <a:off x="6217920" y="4023360"/>
            <a:ext cx="2011680" cy="393192"/>
          </a:xfrm>
          <a:prstGeom prst="rect">
            <a:avLst/>
          </a:prstGeom>
          <a:noFill/>
        </p:spPr>
        <p:txBody>
          <a:bodyPr wrap="square">
            <a:spAutoFit/>
          </a:bodyPr>
          <a:lstStyle/>
          <a:p>
            <a:pPr algn="l"/>
            <a:r>
              <a:rPr sz="850" b="0" i="0">
                <a:solidFill>
                  <a:srgbClr val="A0AAB8"/>
                </a:solidFill>
                <a:latin typeface="Calibri"/>
              </a:rPr>
              <a:t>SQLMap · Metasploit</a:t>
            </a:r>
          </a:p>
        </p:txBody>
      </p:sp>
      <p:cxnSp>
        <p:nvCxnSpPr>
          <p:cNvPr id="62" name="Connector 61"/>
          <p:cNvCxnSpPr/>
          <p:nvPr/>
        </p:nvCxnSpPr>
        <p:spPr>
          <a:xfrm>
            <a:off x="2359152" y="2377440"/>
            <a:ext cx="3767328" cy="1682496.0"/>
          </a:xfrm>
          <a:prstGeom prst="line">
            <a:avLst/>
          </a:prstGeom>
          <a:ln w="10160">
            <a:solidFill>
              <a:srgbClr val="FF4545"/>
            </a:solidFill>
            <a:tailEnd type="none"/>
            <a:headEnd type="arrow" w="med" len="med"/>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H="1" flipV="1">
            <a:off x="5879592" y="2121408.0"/>
            <a:ext cx="246888" cy="1938528.0"/>
          </a:xfrm>
          <a:prstGeom prst="line">
            <a:avLst/>
          </a:prstGeom>
          <a:ln w="7620">
            <a:solidFill>
              <a:srgbClr val="305030"/>
            </a:solidFill>
            <a:tailEnd type="none"/>
            <a:headEnd type="arrow" w="med" len="med"/>
          </a:ln>
        </p:spPr>
        <p:style>
          <a:lnRef idx="2">
            <a:schemeClr val="accent1"/>
          </a:lnRef>
          <a:fillRef idx="0">
            <a:schemeClr val="accent1"/>
          </a:fillRef>
          <a:effectRef idx="1">
            <a:schemeClr val="accent1"/>
          </a:effectRef>
          <a:fontRef idx="minor">
            <a:schemeClr val="tx1"/>
          </a:fontRef>
        </p:style>
      </p:cxnSp>
      <p:sp>
        <p:nvSpPr>
          <p:cNvPr id="64" name="Rectangle 63"/>
          <p:cNvSpPr/>
          <p:nvPr/>
        </p:nvSpPr>
        <p:spPr>
          <a:xfrm>
            <a:off x="6126480" y="4535424"/>
            <a:ext cx="2148840" cy="804672"/>
          </a:xfrm>
          <a:prstGeom prst="rect">
            <a:avLst/>
          </a:prstGeom>
          <a:solidFill>
            <a:srgbClr val="0D1E2E"/>
          </a:solidFill>
          <a:ln w="12700">
            <a:solidFill>
              <a:srgbClr val="BD93F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6217920" y="4590288"/>
            <a:ext cx="2011680" cy="274320"/>
          </a:xfrm>
          <a:prstGeom prst="rect">
            <a:avLst/>
          </a:prstGeom>
          <a:noFill/>
        </p:spPr>
        <p:txBody>
          <a:bodyPr wrap="square">
            <a:spAutoFit/>
          </a:bodyPr>
          <a:lstStyle/>
          <a:p>
            <a:pPr algn="l"/>
            <a:r>
              <a:rPr sz="1050" b="1" i="0">
                <a:solidFill>
                  <a:srgbClr val="BD93F9"/>
                </a:solidFill>
                <a:latin typeface="Calibri"/>
              </a:rPr>
              <a:t>📸  Evidence Agent</a:t>
            </a:r>
          </a:p>
        </p:txBody>
      </p:sp>
      <p:sp>
        <p:nvSpPr>
          <p:cNvPr id="66" name="TextBox 65"/>
          <p:cNvSpPr txBox="1"/>
          <p:nvPr/>
        </p:nvSpPr>
        <p:spPr>
          <a:xfrm>
            <a:off x="6217920" y="4901184"/>
            <a:ext cx="2011680" cy="393192"/>
          </a:xfrm>
          <a:prstGeom prst="rect">
            <a:avLst/>
          </a:prstGeom>
          <a:noFill/>
        </p:spPr>
        <p:txBody>
          <a:bodyPr wrap="square">
            <a:spAutoFit/>
          </a:bodyPr>
          <a:lstStyle/>
          <a:p>
            <a:pPr algn="l"/>
            <a:r>
              <a:rPr sz="850" b="0" i="0">
                <a:solidFill>
                  <a:srgbClr val="A0AAB8"/>
                </a:solidFill>
                <a:latin typeface="Calibri"/>
              </a:rPr>
              <a:t>EyeWitness</a:t>
            </a:r>
          </a:p>
        </p:txBody>
      </p:sp>
      <p:cxnSp>
        <p:nvCxnSpPr>
          <p:cNvPr id="67" name="Connector 66"/>
          <p:cNvCxnSpPr/>
          <p:nvPr/>
        </p:nvCxnSpPr>
        <p:spPr>
          <a:xfrm>
            <a:off x="2359152" y="2377440"/>
            <a:ext cx="3767328" cy="2560320.0"/>
          </a:xfrm>
          <a:prstGeom prst="line">
            <a:avLst/>
          </a:prstGeom>
          <a:ln w="10160">
            <a:solidFill>
              <a:srgbClr val="BD93F9"/>
            </a:solidFill>
            <a:tailEnd type="none"/>
            <a:headEnd type="arrow" w="med" len="med"/>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H="1" flipV="1">
            <a:off x="5879592" y="2121408.0"/>
            <a:ext cx="246888" cy="2816352.0"/>
          </a:xfrm>
          <a:prstGeom prst="line">
            <a:avLst/>
          </a:prstGeom>
          <a:ln w="7620">
            <a:solidFill>
              <a:srgbClr val="305030"/>
            </a:solidFill>
            <a:tailEnd type="none"/>
            <a:headEnd type="arrow" w="med" len="med"/>
          </a:ln>
        </p:spPr>
        <p:style>
          <a:lnRef idx="2">
            <a:schemeClr val="accent1"/>
          </a:lnRef>
          <a:fillRef idx="0">
            <a:schemeClr val="accent1"/>
          </a:fillRef>
          <a:effectRef idx="1">
            <a:schemeClr val="accent1"/>
          </a:effectRef>
          <a:fontRef idx="minor">
            <a:schemeClr val="tx1"/>
          </a:fontRef>
        </p:style>
      </p:cxnSp>
      <p:sp>
        <p:nvSpPr>
          <p:cNvPr id="69" name="Rectangle 68"/>
          <p:cNvSpPr/>
          <p:nvPr/>
        </p:nvSpPr>
        <p:spPr>
          <a:xfrm>
            <a:off x="6126480" y="5413248"/>
            <a:ext cx="2148840" cy="804672"/>
          </a:xfrm>
          <a:prstGeom prst="rect">
            <a:avLst/>
          </a:prstGeom>
          <a:solidFill>
            <a:srgbClr val="0D1E2E"/>
          </a:solidFill>
          <a:ln w="12700">
            <a:solidFill>
              <a:srgbClr val="A0AA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6217920" y="5468112"/>
            <a:ext cx="2011680" cy="274320"/>
          </a:xfrm>
          <a:prstGeom prst="rect">
            <a:avLst/>
          </a:prstGeom>
          <a:noFill/>
        </p:spPr>
        <p:txBody>
          <a:bodyPr wrap="square">
            <a:spAutoFit/>
          </a:bodyPr>
          <a:lstStyle/>
          <a:p>
            <a:pPr algn="l"/>
            <a:r>
              <a:rPr sz="1050" b="1" i="0">
                <a:solidFill>
                  <a:srgbClr val="A0AAB8"/>
                </a:solidFill>
                <a:latin typeface="Calibri"/>
              </a:rPr>
              <a:t>📝  Report Agent</a:t>
            </a:r>
          </a:p>
        </p:txBody>
      </p:sp>
      <p:sp>
        <p:nvSpPr>
          <p:cNvPr id="71" name="TextBox 70"/>
          <p:cNvSpPr txBox="1"/>
          <p:nvPr/>
        </p:nvSpPr>
        <p:spPr>
          <a:xfrm>
            <a:off x="6217920" y="5779008"/>
            <a:ext cx="2011680" cy="393192"/>
          </a:xfrm>
          <a:prstGeom prst="rect">
            <a:avLst/>
          </a:prstGeom>
          <a:noFill/>
        </p:spPr>
        <p:txBody>
          <a:bodyPr wrap="square">
            <a:spAutoFit/>
          </a:bodyPr>
          <a:lstStyle/>
          <a:p>
            <a:pPr algn="l"/>
            <a:r>
              <a:rPr sz="850" b="0" i="0">
                <a:solidFill>
                  <a:srgbClr val="A0AAB8"/>
                </a:solidFill>
                <a:latin typeface="Calibri"/>
              </a:rPr>
              <a:t>Reads full ASG + APG</a:t>
            </a:r>
          </a:p>
        </p:txBody>
      </p:sp>
      <p:cxnSp>
        <p:nvCxnSpPr>
          <p:cNvPr id="72" name="Connector 71"/>
          <p:cNvCxnSpPr/>
          <p:nvPr/>
        </p:nvCxnSpPr>
        <p:spPr>
          <a:xfrm>
            <a:off x="2359152" y="2377440"/>
            <a:ext cx="3767328" cy="3438144.0"/>
          </a:xfrm>
          <a:prstGeom prst="line">
            <a:avLst/>
          </a:prstGeom>
          <a:ln w="10160">
            <a:solidFill>
              <a:srgbClr val="A0AAB8"/>
            </a:solidFill>
            <a:tailEnd type="none"/>
            <a:headEnd type="arrow" w="med" len="med"/>
          </a:ln>
        </p:spPr>
        <p:style>
          <a:lnRef idx="2">
            <a:schemeClr val="accent1"/>
          </a:lnRef>
          <a:fillRef idx="0">
            <a:schemeClr val="accent1"/>
          </a:fillRef>
          <a:effectRef idx="1">
            <a:schemeClr val="accent1"/>
          </a:effectRef>
          <a:fontRef idx="minor">
            <a:schemeClr val="tx1"/>
          </a:fontRef>
        </p:style>
      </p:cxnSp>
      <p:sp>
        <p:nvSpPr>
          <p:cNvPr id="73" name="Rectangle 72"/>
          <p:cNvSpPr/>
          <p:nvPr/>
        </p:nvSpPr>
        <p:spPr>
          <a:xfrm>
            <a:off x="164592" y="5650992"/>
            <a:ext cx="11862511" cy="502920"/>
          </a:xfrm>
          <a:prstGeom prst="rect">
            <a:avLst/>
          </a:prstGeom>
          <a:solidFill>
            <a:srgbClr val="080C1E"/>
          </a:solidFill>
          <a:ln w="15240">
            <a:solidFill>
              <a:srgbClr val="BD93F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320040" y="5687568"/>
            <a:ext cx="11643055" cy="411480"/>
          </a:xfrm>
          <a:prstGeom prst="rect">
            <a:avLst/>
          </a:prstGeom>
          <a:noFill/>
        </p:spPr>
        <p:txBody>
          <a:bodyPr wrap="square">
            <a:spAutoFit/>
          </a:bodyPr>
          <a:lstStyle/>
          <a:p>
            <a:pPr algn="l"/>
            <a:r>
              <a:rPr sz="950" b="0" i="0">
                <a:solidFill>
                  <a:srgbClr val="BD93F9"/>
                </a:solidFill>
                <a:latin typeface="Calibri"/>
              </a:rPr>
              <a:t>🔌  TOOL ADAPTER LAYER  ·  Risk Gate: Low → execute · Medium → LLM Classifier · High → Commander Mailbox</a:t>
            </a:r>
          </a:p>
        </p:txBody>
      </p:sp>
      <p:sp>
        <p:nvSpPr>
          <p:cNvPr id="75" name="Rectangle 74"/>
          <p:cNvSpPr/>
          <p:nvPr/>
        </p:nvSpPr>
        <p:spPr>
          <a:xfrm>
            <a:off x="164592" y="6254496"/>
            <a:ext cx="1024128" cy="320040"/>
          </a:xfrm>
          <a:prstGeom prst="rect">
            <a:avLst/>
          </a:prstGeom>
          <a:solidFill>
            <a:srgbClr val="1A1228"/>
          </a:solidFill>
          <a:ln w="889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201168" y="6291072"/>
            <a:ext cx="969264" cy="256032"/>
          </a:xfrm>
          <a:prstGeom prst="rect">
            <a:avLst/>
          </a:prstGeom>
          <a:noFill/>
        </p:spPr>
        <p:txBody>
          <a:bodyPr wrap="square">
            <a:spAutoFit/>
          </a:bodyPr>
          <a:lstStyle/>
          <a:p>
            <a:pPr algn="ctr"/>
            <a:r>
              <a:rPr sz="850" b="1" i="0">
                <a:solidFill>
                  <a:srgbClr val="39FF14"/>
                </a:solidFill>
                <a:latin typeface="Calibri"/>
              </a:rPr>
              <a:t>Amass</a:t>
            </a:r>
          </a:p>
        </p:txBody>
      </p:sp>
      <p:sp>
        <p:nvSpPr>
          <p:cNvPr id="77" name="Rectangle 76"/>
          <p:cNvSpPr/>
          <p:nvPr/>
        </p:nvSpPr>
        <p:spPr>
          <a:xfrm>
            <a:off x="1248156" y="6254496"/>
            <a:ext cx="1024128" cy="320040"/>
          </a:xfrm>
          <a:prstGeom prst="rect">
            <a:avLst/>
          </a:prstGeom>
          <a:solidFill>
            <a:srgbClr val="1A1228"/>
          </a:solidFill>
          <a:ln w="889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1284732" y="6291072"/>
            <a:ext cx="969264" cy="256032"/>
          </a:xfrm>
          <a:prstGeom prst="rect">
            <a:avLst/>
          </a:prstGeom>
          <a:noFill/>
        </p:spPr>
        <p:txBody>
          <a:bodyPr wrap="square">
            <a:spAutoFit/>
          </a:bodyPr>
          <a:lstStyle/>
          <a:p>
            <a:pPr algn="ctr"/>
            <a:r>
              <a:rPr sz="850" b="1" i="0">
                <a:solidFill>
                  <a:srgbClr val="39FF14"/>
                </a:solidFill>
                <a:latin typeface="Calibri"/>
              </a:rPr>
              <a:t>httpx</a:t>
            </a:r>
          </a:p>
        </p:txBody>
      </p:sp>
      <p:sp>
        <p:nvSpPr>
          <p:cNvPr id="79" name="Rectangle 78"/>
          <p:cNvSpPr/>
          <p:nvPr/>
        </p:nvSpPr>
        <p:spPr>
          <a:xfrm>
            <a:off x="2331720" y="6254496"/>
            <a:ext cx="1024128" cy="320040"/>
          </a:xfrm>
          <a:prstGeom prst="rect">
            <a:avLst/>
          </a:prstGeom>
          <a:solidFill>
            <a:srgbClr val="1A1228"/>
          </a:solidFill>
          <a:ln w="889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2368296" y="6291072"/>
            <a:ext cx="969264" cy="256032"/>
          </a:xfrm>
          <a:prstGeom prst="rect">
            <a:avLst/>
          </a:prstGeom>
          <a:noFill/>
        </p:spPr>
        <p:txBody>
          <a:bodyPr wrap="square">
            <a:spAutoFit/>
          </a:bodyPr>
          <a:lstStyle/>
          <a:p>
            <a:pPr algn="ctr"/>
            <a:r>
              <a:rPr sz="850" b="1" i="0">
                <a:solidFill>
                  <a:srgbClr val="39FF14"/>
                </a:solidFill>
                <a:latin typeface="Calibri"/>
              </a:rPr>
              <a:t>Nmap</a:t>
            </a:r>
          </a:p>
        </p:txBody>
      </p:sp>
      <p:sp>
        <p:nvSpPr>
          <p:cNvPr id="81" name="Rectangle 80"/>
          <p:cNvSpPr/>
          <p:nvPr/>
        </p:nvSpPr>
        <p:spPr>
          <a:xfrm>
            <a:off x="3415284" y="6254496"/>
            <a:ext cx="1024128" cy="320040"/>
          </a:xfrm>
          <a:prstGeom prst="rect">
            <a:avLst/>
          </a:prstGeom>
          <a:solidFill>
            <a:srgbClr val="1A1228"/>
          </a:solidFill>
          <a:ln w="889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3451860" y="6291072"/>
            <a:ext cx="969264" cy="256032"/>
          </a:xfrm>
          <a:prstGeom prst="rect">
            <a:avLst/>
          </a:prstGeom>
          <a:noFill/>
        </p:spPr>
        <p:txBody>
          <a:bodyPr wrap="square">
            <a:spAutoFit/>
          </a:bodyPr>
          <a:lstStyle/>
          <a:p>
            <a:pPr algn="ctr"/>
            <a:r>
              <a:rPr sz="850" b="1" i="0">
                <a:solidFill>
                  <a:srgbClr val="00E5FF"/>
                </a:solidFill>
                <a:latin typeface="Calibri"/>
              </a:rPr>
              <a:t>WhatWeb</a:t>
            </a:r>
          </a:p>
        </p:txBody>
      </p:sp>
      <p:sp>
        <p:nvSpPr>
          <p:cNvPr id="83" name="Rectangle 82"/>
          <p:cNvSpPr/>
          <p:nvPr/>
        </p:nvSpPr>
        <p:spPr>
          <a:xfrm>
            <a:off x="4498848" y="6254496"/>
            <a:ext cx="1024128" cy="320040"/>
          </a:xfrm>
          <a:prstGeom prst="rect">
            <a:avLst/>
          </a:prstGeom>
          <a:solidFill>
            <a:srgbClr val="1A1228"/>
          </a:solidFill>
          <a:ln w="889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4535424" y="6291072"/>
            <a:ext cx="969264" cy="256032"/>
          </a:xfrm>
          <a:prstGeom prst="rect">
            <a:avLst/>
          </a:prstGeom>
          <a:noFill/>
        </p:spPr>
        <p:txBody>
          <a:bodyPr wrap="square">
            <a:spAutoFit/>
          </a:bodyPr>
          <a:lstStyle/>
          <a:p>
            <a:pPr algn="ctr"/>
            <a:r>
              <a:rPr sz="850" b="1" i="0">
                <a:solidFill>
                  <a:srgbClr val="00E5FF"/>
                </a:solidFill>
                <a:latin typeface="Calibri"/>
              </a:rPr>
              <a:t>Gobuster</a:t>
            </a:r>
          </a:p>
        </p:txBody>
      </p:sp>
      <p:sp>
        <p:nvSpPr>
          <p:cNvPr id="85" name="Rectangle 84"/>
          <p:cNvSpPr/>
          <p:nvPr/>
        </p:nvSpPr>
        <p:spPr>
          <a:xfrm>
            <a:off x="5582412" y="6254496"/>
            <a:ext cx="1024128" cy="320040"/>
          </a:xfrm>
          <a:prstGeom prst="rect">
            <a:avLst/>
          </a:prstGeom>
          <a:solidFill>
            <a:srgbClr val="1A1228"/>
          </a:solidFill>
          <a:ln w="889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5618988" y="6291072"/>
            <a:ext cx="969264" cy="256032"/>
          </a:xfrm>
          <a:prstGeom prst="rect">
            <a:avLst/>
          </a:prstGeom>
          <a:noFill/>
        </p:spPr>
        <p:txBody>
          <a:bodyPr wrap="square">
            <a:spAutoFit/>
          </a:bodyPr>
          <a:lstStyle/>
          <a:p>
            <a:pPr algn="ctr"/>
            <a:r>
              <a:rPr sz="850" b="1" i="0">
                <a:solidFill>
                  <a:srgbClr val="00E5FF"/>
                </a:solidFill>
                <a:latin typeface="Calibri"/>
              </a:rPr>
              <a:t>ffuf</a:t>
            </a:r>
          </a:p>
        </p:txBody>
      </p:sp>
      <p:sp>
        <p:nvSpPr>
          <p:cNvPr id="87" name="Rectangle 86"/>
          <p:cNvSpPr/>
          <p:nvPr/>
        </p:nvSpPr>
        <p:spPr>
          <a:xfrm>
            <a:off x="6665976" y="6254496"/>
            <a:ext cx="1024128" cy="320040"/>
          </a:xfrm>
          <a:prstGeom prst="rect">
            <a:avLst/>
          </a:prstGeom>
          <a:solidFill>
            <a:srgbClr val="1A1228"/>
          </a:solidFill>
          <a:ln w="889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6702552" y="6291072"/>
            <a:ext cx="969264" cy="256032"/>
          </a:xfrm>
          <a:prstGeom prst="rect">
            <a:avLst/>
          </a:prstGeom>
          <a:noFill/>
        </p:spPr>
        <p:txBody>
          <a:bodyPr wrap="square">
            <a:spAutoFit/>
          </a:bodyPr>
          <a:lstStyle/>
          <a:p>
            <a:pPr algn="ctr"/>
            <a:r>
              <a:rPr sz="850" b="1" i="0">
                <a:solidFill>
                  <a:srgbClr val="00E5FF"/>
                </a:solidFill>
                <a:latin typeface="Calibri"/>
              </a:rPr>
              <a:t>Nuclei</a:t>
            </a:r>
          </a:p>
        </p:txBody>
      </p:sp>
      <p:sp>
        <p:nvSpPr>
          <p:cNvPr id="89" name="Rectangle 88"/>
          <p:cNvSpPr/>
          <p:nvPr/>
        </p:nvSpPr>
        <p:spPr>
          <a:xfrm>
            <a:off x="7749540" y="6254496"/>
            <a:ext cx="1024128" cy="320040"/>
          </a:xfrm>
          <a:prstGeom prst="rect">
            <a:avLst/>
          </a:prstGeom>
          <a:solidFill>
            <a:srgbClr val="1A1228"/>
          </a:solidFill>
          <a:ln w="889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7786116" y="6291072"/>
            <a:ext cx="969264" cy="256032"/>
          </a:xfrm>
          <a:prstGeom prst="rect">
            <a:avLst/>
          </a:prstGeom>
          <a:noFill/>
        </p:spPr>
        <p:txBody>
          <a:bodyPr wrap="square">
            <a:spAutoFit/>
          </a:bodyPr>
          <a:lstStyle/>
          <a:p>
            <a:pPr algn="ctr"/>
            <a:r>
              <a:rPr sz="850" b="1" i="0">
                <a:solidFill>
                  <a:srgbClr val="00E5FF"/>
                </a:solidFill>
                <a:latin typeface="Calibri"/>
              </a:rPr>
              <a:t>OWASP ZAP</a:t>
            </a:r>
          </a:p>
        </p:txBody>
      </p:sp>
      <p:sp>
        <p:nvSpPr>
          <p:cNvPr id="91" name="Rectangle 90"/>
          <p:cNvSpPr/>
          <p:nvPr/>
        </p:nvSpPr>
        <p:spPr>
          <a:xfrm>
            <a:off x="8833104" y="6254496"/>
            <a:ext cx="1024128" cy="320040"/>
          </a:xfrm>
          <a:prstGeom prst="rect">
            <a:avLst/>
          </a:prstGeom>
          <a:solidFill>
            <a:srgbClr val="1A1228"/>
          </a:solidFill>
          <a:ln w="8890">
            <a:solidFill>
              <a:srgbClr val="FF45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8869680" y="6291072"/>
            <a:ext cx="969264" cy="256032"/>
          </a:xfrm>
          <a:prstGeom prst="rect">
            <a:avLst/>
          </a:prstGeom>
          <a:noFill/>
        </p:spPr>
        <p:txBody>
          <a:bodyPr wrap="square">
            <a:spAutoFit/>
          </a:bodyPr>
          <a:lstStyle/>
          <a:p>
            <a:pPr algn="ctr"/>
            <a:r>
              <a:rPr sz="850" b="1" i="0">
                <a:solidFill>
                  <a:srgbClr val="FF4545"/>
                </a:solidFill>
                <a:latin typeface="Calibri"/>
              </a:rPr>
              <a:t>SQLMap</a:t>
            </a:r>
          </a:p>
        </p:txBody>
      </p:sp>
      <p:sp>
        <p:nvSpPr>
          <p:cNvPr id="93" name="Rectangle 92"/>
          <p:cNvSpPr/>
          <p:nvPr/>
        </p:nvSpPr>
        <p:spPr>
          <a:xfrm>
            <a:off x="9916668" y="6254496"/>
            <a:ext cx="1024128" cy="320040"/>
          </a:xfrm>
          <a:prstGeom prst="rect">
            <a:avLst/>
          </a:prstGeom>
          <a:solidFill>
            <a:srgbClr val="1A1228"/>
          </a:solidFill>
          <a:ln w="8890">
            <a:solidFill>
              <a:srgbClr val="FF45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9953244" y="6291072"/>
            <a:ext cx="969264" cy="256032"/>
          </a:xfrm>
          <a:prstGeom prst="rect">
            <a:avLst/>
          </a:prstGeom>
          <a:noFill/>
        </p:spPr>
        <p:txBody>
          <a:bodyPr wrap="square">
            <a:spAutoFit/>
          </a:bodyPr>
          <a:lstStyle/>
          <a:p>
            <a:pPr algn="ctr"/>
            <a:r>
              <a:rPr sz="850" b="1" i="0">
                <a:solidFill>
                  <a:srgbClr val="FF4545"/>
                </a:solidFill>
                <a:latin typeface="Calibri"/>
              </a:rPr>
              <a:t>Metasploit</a:t>
            </a:r>
          </a:p>
        </p:txBody>
      </p:sp>
      <p:sp>
        <p:nvSpPr>
          <p:cNvPr id="95" name="Rectangle 94"/>
          <p:cNvSpPr/>
          <p:nvPr/>
        </p:nvSpPr>
        <p:spPr>
          <a:xfrm>
            <a:off x="11000232" y="6254496"/>
            <a:ext cx="1024128" cy="320040"/>
          </a:xfrm>
          <a:prstGeom prst="rect">
            <a:avLst/>
          </a:prstGeom>
          <a:solidFill>
            <a:srgbClr val="1A1228"/>
          </a:solidFill>
          <a:ln w="8890">
            <a:solidFill>
              <a:srgbClr val="BD93F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11036808" y="6291072"/>
            <a:ext cx="969264" cy="256032"/>
          </a:xfrm>
          <a:prstGeom prst="rect">
            <a:avLst/>
          </a:prstGeom>
          <a:noFill/>
        </p:spPr>
        <p:txBody>
          <a:bodyPr wrap="square">
            <a:spAutoFit/>
          </a:bodyPr>
          <a:lstStyle/>
          <a:p>
            <a:pPr algn="ctr"/>
            <a:r>
              <a:rPr sz="850" b="1" i="0">
                <a:solidFill>
                  <a:srgbClr val="BD93F9"/>
                </a:solidFill>
                <a:latin typeface="Calibri"/>
              </a:rPr>
              <a:t>EyeWitness</a:t>
            </a:r>
          </a:p>
        </p:txBody>
      </p:sp>
      <p:sp>
        <p:nvSpPr>
          <p:cNvPr id="97" name="TextBox 96"/>
          <p:cNvSpPr txBox="1"/>
          <p:nvPr/>
        </p:nvSpPr>
        <p:spPr>
          <a:xfrm>
            <a:off x="11825935" y="6355080"/>
            <a:ext cx="320040" cy="411480"/>
          </a:xfrm>
          <a:prstGeom prst="rect">
            <a:avLst/>
          </a:prstGeom>
          <a:noFill/>
        </p:spPr>
        <p:txBody>
          <a:bodyPr wrap="square">
            <a:spAutoFit/>
          </a:bodyPr>
          <a:lstStyle/>
          <a:p>
            <a:pPr algn="r"/>
            <a:r>
              <a:rPr sz="1300" b="1" i="0">
                <a:solidFill>
                  <a:srgbClr val="00E5FF"/>
                </a:solidFill>
                <a:latin typeface="Calibri"/>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0D1A"/>
        </a:solidFill>
        <a:effectLst/>
      </p:bgPr>
    </p:bg>
    <p:spTree>
      <p:nvGrpSpPr>
        <p:cNvPr id="1" name=""/>
        <p:cNvGrpSpPr/>
        <p:nvPr/>
      </p:nvGrpSpPr>
      <p:grpSpPr/>
      <p:sp>
        <p:nvSpPr>
          <p:cNvPr id="2" name="Rectangle 1"/>
          <p:cNvSpPr/>
          <p:nvPr/>
        </p:nvSpPr>
        <p:spPr>
          <a:xfrm>
            <a:off x="0" y="0"/>
            <a:ext cx="54864" cy="6858000"/>
          </a:xfrm>
          <a:prstGeom prst="rect">
            <a:avLst/>
          </a:prstGeom>
          <a:solidFill>
            <a:srgbClr val="39FF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 y="0"/>
            <a:ext cx="12136831" cy="36576"/>
          </a:xfrm>
          <a:prstGeom prst="rect">
            <a:avLst/>
          </a:prstGeom>
          <a:solidFill>
            <a:srgbClr val="39FF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 y="6821424"/>
            <a:ext cx="12136831" cy="36576"/>
          </a:xfrm>
          <a:prstGeom prst="rect">
            <a:avLst/>
          </a:prstGeom>
          <a:solidFill>
            <a:srgbClr val="39FF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73152"/>
            <a:ext cx="7315200" cy="274320"/>
          </a:xfrm>
          <a:prstGeom prst="rect">
            <a:avLst/>
          </a:prstGeom>
          <a:noFill/>
        </p:spPr>
        <p:txBody>
          <a:bodyPr wrap="square">
            <a:spAutoFit/>
          </a:bodyPr>
          <a:lstStyle/>
          <a:p>
            <a:pPr algn="l"/>
            <a:r>
              <a:rPr sz="1100" b="1" i="0">
                <a:solidFill>
                  <a:srgbClr val="39FF14"/>
                </a:solidFill>
                <a:latin typeface="Calibri"/>
              </a:rPr>
              <a:t>DUAL-GRAPH WORLD MODEL</a:t>
            </a:r>
          </a:p>
        </p:txBody>
      </p:sp>
      <p:sp>
        <p:nvSpPr>
          <p:cNvPr id="6" name="TextBox 5"/>
          <p:cNvSpPr txBox="1"/>
          <p:nvPr/>
        </p:nvSpPr>
        <p:spPr>
          <a:xfrm>
            <a:off x="274320" y="347472"/>
            <a:ext cx="10972800" cy="566928"/>
          </a:xfrm>
          <a:prstGeom prst="rect">
            <a:avLst/>
          </a:prstGeom>
          <a:noFill/>
        </p:spPr>
        <p:txBody>
          <a:bodyPr wrap="square">
            <a:spAutoFit/>
          </a:bodyPr>
          <a:lstStyle/>
          <a:p>
            <a:pPr algn="l"/>
            <a:r>
              <a:rPr sz="3000" b="1" i="0">
                <a:solidFill>
                  <a:srgbClr val="FFFFFF"/>
                </a:solidFill>
                <a:latin typeface="Calibri"/>
              </a:rPr>
              <a:t>The Architectural Core — Two Knowledge Layers, One World</a:t>
            </a:r>
          </a:p>
        </p:txBody>
      </p:sp>
      <p:sp>
        <p:nvSpPr>
          <p:cNvPr id="7" name="Rectangle 6"/>
          <p:cNvSpPr/>
          <p:nvPr/>
        </p:nvSpPr>
        <p:spPr>
          <a:xfrm>
            <a:off x="274320" y="914400"/>
            <a:ext cx="4572000" cy="27432"/>
          </a:xfrm>
          <a:prstGeom prst="rect">
            <a:avLst/>
          </a:prstGeom>
          <a:solidFill>
            <a:srgbClr val="39FF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779008" y="1005840"/>
            <a:ext cx="640080" cy="5120640"/>
          </a:xfrm>
          <a:prstGeom prst="rect">
            <a:avLst/>
          </a:prstGeom>
          <a:solidFill>
            <a:srgbClr val="0D1222"/>
          </a:solidFill>
          <a:ln w="6350">
            <a:solidFill>
              <a:srgbClr val="A0AA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815584" y="2011680"/>
            <a:ext cx="594360" cy="914400"/>
          </a:xfrm>
          <a:prstGeom prst="rect">
            <a:avLst/>
          </a:prstGeom>
          <a:noFill/>
        </p:spPr>
        <p:txBody>
          <a:bodyPr wrap="square">
            <a:spAutoFit/>
          </a:bodyPr>
          <a:lstStyle/>
          <a:p>
            <a:pPr algn="ctr"/>
            <a:r>
              <a:rPr sz="900" b="1" i="0">
                <a:solidFill>
                  <a:srgbClr val="A0AAB8"/>
                </a:solidFill>
                <a:latin typeface="Calibri"/>
              </a:rPr>
              <a:t>STRICT
SEPARATION</a:t>
            </a:r>
          </a:p>
        </p:txBody>
      </p:sp>
      <p:sp>
        <p:nvSpPr>
          <p:cNvPr id="10" name="TextBox 9"/>
          <p:cNvSpPr txBox="1"/>
          <p:nvPr/>
        </p:nvSpPr>
        <p:spPr>
          <a:xfrm>
            <a:off x="5815584" y="3017520"/>
            <a:ext cx="594360" cy="777240"/>
          </a:xfrm>
          <a:prstGeom prst="rect">
            <a:avLst/>
          </a:prstGeom>
          <a:noFill/>
        </p:spPr>
        <p:txBody>
          <a:bodyPr wrap="square">
            <a:spAutoFit/>
          </a:bodyPr>
          <a:lstStyle/>
          <a:p>
            <a:pPr algn="ctr"/>
            <a:r>
              <a:rPr sz="800" b="0" i="1">
                <a:solidFill>
                  <a:srgbClr val="A0AAB8"/>
                </a:solidFill>
                <a:latin typeface="Calibri"/>
              </a:rPr>
              <a:t>No agent
crosses
this boundary</a:t>
            </a:r>
          </a:p>
        </p:txBody>
      </p:sp>
      <p:sp>
        <p:nvSpPr>
          <p:cNvPr id="11" name="Rectangle 10"/>
          <p:cNvSpPr/>
          <p:nvPr/>
        </p:nvSpPr>
        <p:spPr>
          <a:xfrm>
            <a:off x="274320" y="1005840"/>
            <a:ext cx="5349240" cy="475488"/>
          </a:xfrm>
          <a:prstGeom prst="rect">
            <a:avLst/>
          </a:prstGeom>
          <a:solidFill>
            <a:srgbClr val="041C0E"/>
          </a:solidFill>
          <a:ln w="2540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11480" y="1042415"/>
            <a:ext cx="5120640" cy="411480"/>
          </a:xfrm>
          <a:prstGeom prst="rect">
            <a:avLst/>
          </a:prstGeom>
          <a:noFill/>
        </p:spPr>
        <p:txBody>
          <a:bodyPr wrap="square">
            <a:spAutoFit/>
          </a:bodyPr>
          <a:lstStyle/>
          <a:p>
            <a:pPr algn="l"/>
            <a:r>
              <a:rPr sz="1500" b="1" i="0">
                <a:solidFill>
                  <a:srgbClr val="39FF14"/>
                </a:solidFill>
                <a:latin typeface="Calibri"/>
              </a:rPr>
              <a:t>🕸️  ATTACK SURFACE GRAPH  (ASG)</a:t>
            </a:r>
          </a:p>
        </p:txBody>
      </p:sp>
      <p:sp>
        <p:nvSpPr>
          <p:cNvPr id="13" name="Rectangle 12"/>
          <p:cNvSpPr/>
          <p:nvPr/>
        </p:nvSpPr>
        <p:spPr>
          <a:xfrm>
            <a:off x="274320" y="1508760"/>
            <a:ext cx="5349240" cy="347472"/>
          </a:xfrm>
          <a:prstGeom prst="rect">
            <a:avLst/>
          </a:prstGeom>
          <a:solidFill>
            <a:srgbClr val="082814"/>
          </a:solidFill>
          <a:ln w="1016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1480" y="1536192"/>
            <a:ext cx="5120640" cy="292608"/>
          </a:xfrm>
          <a:prstGeom prst="rect">
            <a:avLst/>
          </a:prstGeom>
          <a:noFill/>
        </p:spPr>
        <p:txBody>
          <a:bodyPr wrap="square">
            <a:spAutoFit/>
          </a:bodyPr>
          <a:lstStyle/>
          <a:p>
            <a:pPr algn="l"/>
            <a:r>
              <a:rPr sz="1200" b="0" i="1">
                <a:solidFill>
                  <a:srgbClr val="39FF14"/>
                </a:solidFill>
                <a:latin typeface="Calibri"/>
              </a:rPr>
              <a:t>What does the target look like?  (Discovered Reality)</a:t>
            </a:r>
          </a:p>
        </p:txBody>
      </p:sp>
      <p:sp>
        <p:nvSpPr>
          <p:cNvPr id="15" name="Rectangle 14"/>
          <p:cNvSpPr/>
          <p:nvPr/>
        </p:nvSpPr>
        <p:spPr>
          <a:xfrm>
            <a:off x="274320" y="1920240"/>
            <a:ext cx="5349240" cy="256032"/>
          </a:xfrm>
          <a:prstGeom prst="rect">
            <a:avLst/>
          </a:prstGeom>
          <a:solidFill>
            <a:srgbClr val="1030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11480" y="1938528"/>
            <a:ext cx="5349240" cy="219456"/>
          </a:xfrm>
          <a:prstGeom prst="rect">
            <a:avLst/>
          </a:prstGeom>
          <a:noFill/>
        </p:spPr>
        <p:txBody>
          <a:bodyPr wrap="square">
            <a:spAutoFit/>
          </a:bodyPr>
          <a:lstStyle/>
          <a:p>
            <a:pPr algn="l"/>
            <a:r>
              <a:rPr sz="1000" b="1" i="0">
                <a:solidFill>
                  <a:srgbClr val="39FF14"/>
                </a:solidFill>
                <a:latin typeface="Calibri"/>
              </a:rPr>
              <a:t>NODE TYPES</a:t>
            </a:r>
          </a:p>
        </p:txBody>
      </p:sp>
      <p:sp>
        <p:nvSpPr>
          <p:cNvPr id="17" name="Rectangle 16"/>
          <p:cNvSpPr/>
          <p:nvPr/>
        </p:nvSpPr>
        <p:spPr>
          <a:xfrm>
            <a:off x="274320" y="2212848"/>
            <a:ext cx="5349240" cy="274320"/>
          </a:xfrm>
          <a:prstGeom prst="rect">
            <a:avLst/>
          </a:prstGeom>
          <a:solidFill>
            <a:srgbClr val="0620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84048" y="2249424"/>
            <a:ext cx="1234440" cy="219456"/>
          </a:xfrm>
          <a:prstGeom prst="rect">
            <a:avLst/>
          </a:prstGeom>
          <a:noFill/>
        </p:spPr>
        <p:txBody>
          <a:bodyPr wrap="square">
            <a:spAutoFit/>
          </a:bodyPr>
          <a:lstStyle/>
          <a:p>
            <a:pPr algn="l"/>
            <a:r>
              <a:rPr sz="1000" b="1" i="0">
                <a:solidFill>
                  <a:srgbClr val="39FF14"/>
                </a:solidFill>
                <a:latin typeface="Calibri"/>
              </a:rPr>
              <a:t>Domain</a:t>
            </a:r>
          </a:p>
        </p:txBody>
      </p:sp>
      <p:sp>
        <p:nvSpPr>
          <p:cNvPr id="19" name="TextBox 18"/>
          <p:cNvSpPr txBox="1"/>
          <p:nvPr/>
        </p:nvSpPr>
        <p:spPr>
          <a:xfrm>
            <a:off x="1645920" y="2249424"/>
            <a:ext cx="3886200" cy="219456"/>
          </a:xfrm>
          <a:prstGeom prst="rect">
            <a:avLst/>
          </a:prstGeom>
          <a:noFill/>
        </p:spPr>
        <p:txBody>
          <a:bodyPr wrap="square">
            <a:spAutoFit/>
          </a:bodyPr>
          <a:lstStyle/>
          <a:p>
            <a:pPr algn="l"/>
            <a:r>
              <a:rPr sz="950" b="0" i="0">
                <a:solidFill>
                  <a:srgbClr val="A0AAB8"/>
                </a:solidFill>
                <a:latin typeface="Calibri"/>
              </a:rPr>
              <a:t>Root domain + discovered subdomains</a:t>
            </a:r>
          </a:p>
        </p:txBody>
      </p:sp>
      <p:sp>
        <p:nvSpPr>
          <p:cNvPr id="20" name="Rectangle 19"/>
          <p:cNvSpPr/>
          <p:nvPr/>
        </p:nvSpPr>
        <p:spPr>
          <a:xfrm>
            <a:off x="274320" y="2514600"/>
            <a:ext cx="5349240" cy="274320"/>
          </a:xfrm>
          <a:prstGeom prst="rect">
            <a:avLst/>
          </a:prstGeom>
          <a:solidFill>
            <a:srgbClr val="1016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84048" y="2551176"/>
            <a:ext cx="1234440" cy="219456"/>
          </a:xfrm>
          <a:prstGeom prst="rect">
            <a:avLst/>
          </a:prstGeom>
          <a:noFill/>
        </p:spPr>
        <p:txBody>
          <a:bodyPr wrap="square">
            <a:spAutoFit/>
          </a:bodyPr>
          <a:lstStyle/>
          <a:p>
            <a:pPr algn="l"/>
            <a:r>
              <a:rPr sz="1000" b="1" i="0">
                <a:solidFill>
                  <a:srgbClr val="39FF14"/>
                </a:solidFill>
                <a:latin typeface="Calibri"/>
              </a:rPr>
              <a:t>Host</a:t>
            </a:r>
          </a:p>
        </p:txBody>
      </p:sp>
      <p:sp>
        <p:nvSpPr>
          <p:cNvPr id="22" name="TextBox 21"/>
          <p:cNvSpPr txBox="1"/>
          <p:nvPr/>
        </p:nvSpPr>
        <p:spPr>
          <a:xfrm>
            <a:off x="1645920" y="2551176"/>
            <a:ext cx="3886200" cy="219456"/>
          </a:xfrm>
          <a:prstGeom prst="rect">
            <a:avLst/>
          </a:prstGeom>
          <a:noFill/>
        </p:spPr>
        <p:txBody>
          <a:bodyPr wrap="square">
            <a:spAutoFit/>
          </a:bodyPr>
          <a:lstStyle/>
          <a:p>
            <a:pPr algn="l"/>
            <a:r>
              <a:rPr sz="950" b="0" i="0">
                <a:solidFill>
                  <a:srgbClr val="A0AAB8"/>
                </a:solidFill>
                <a:latin typeface="Calibri"/>
              </a:rPr>
              <a:t>IP address, OS fingerprint, liveness</a:t>
            </a:r>
          </a:p>
        </p:txBody>
      </p:sp>
      <p:sp>
        <p:nvSpPr>
          <p:cNvPr id="23" name="Rectangle 22"/>
          <p:cNvSpPr/>
          <p:nvPr/>
        </p:nvSpPr>
        <p:spPr>
          <a:xfrm>
            <a:off x="274320" y="2816352"/>
            <a:ext cx="5349240" cy="274320"/>
          </a:xfrm>
          <a:prstGeom prst="rect">
            <a:avLst/>
          </a:prstGeom>
          <a:solidFill>
            <a:srgbClr val="0620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84048" y="2852928"/>
            <a:ext cx="1234440" cy="219456"/>
          </a:xfrm>
          <a:prstGeom prst="rect">
            <a:avLst/>
          </a:prstGeom>
          <a:noFill/>
        </p:spPr>
        <p:txBody>
          <a:bodyPr wrap="square">
            <a:spAutoFit/>
          </a:bodyPr>
          <a:lstStyle/>
          <a:p>
            <a:pPr algn="l"/>
            <a:r>
              <a:rPr sz="1000" b="1" i="0">
                <a:solidFill>
                  <a:srgbClr val="39FF14"/>
                </a:solidFill>
                <a:latin typeface="Calibri"/>
              </a:rPr>
              <a:t>Port</a:t>
            </a:r>
          </a:p>
        </p:txBody>
      </p:sp>
      <p:sp>
        <p:nvSpPr>
          <p:cNvPr id="25" name="TextBox 24"/>
          <p:cNvSpPr txBox="1"/>
          <p:nvPr/>
        </p:nvSpPr>
        <p:spPr>
          <a:xfrm>
            <a:off x="1645920" y="2852928"/>
            <a:ext cx="3886200" cy="219456"/>
          </a:xfrm>
          <a:prstGeom prst="rect">
            <a:avLst/>
          </a:prstGeom>
          <a:noFill/>
        </p:spPr>
        <p:txBody>
          <a:bodyPr wrap="square">
            <a:spAutoFit/>
          </a:bodyPr>
          <a:lstStyle/>
          <a:p>
            <a:pPr algn="l"/>
            <a:r>
              <a:rPr sz="950" b="0" i="0">
                <a:solidFill>
                  <a:srgbClr val="A0AAB8"/>
                </a:solidFill>
                <a:latin typeface="Calibri"/>
              </a:rPr>
              <a:t>Open port with protocol</a:t>
            </a:r>
          </a:p>
        </p:txBody>
      </p:sp>
      <p:sp>
        <p:nvSpPr>
          <p:cNvPr id="26" name="Rectangle 25"/>
          <p:cNvSpPr/>
          <p:nvPr/>
        </p:nvSpPr>
        <p:spPr>
          <a:xfrm>
            <a:off x="274320" y="3118104"/>
            <a:ext cx="5349240" cy="274320"/>
          </a:xfrm>
          <a:prstGeom prst="rect">
            <a:avLst/>
          </a:prstGeom>
          <a:solidFill>
            <a:srgbClr val="1016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84048" y="3154680"/>
            <a:ext cx="1234440" cy="219456"/>
          </a:xfrm>
          <a:prstGeom prst="rect">
            <a:avLst/>
          </a:prstGeom>
          <a:noFill/>
        </p:spPr>
        <p:txBody>
          <a:bodyPr wrap="square">
            <a:spAutoFit/>
          </a:bodyPr>
          <a:lstStyle/>
          <a:p>
            <a:pPr algn="l"/>
            <a:r>
              <a:rPr sz="1000" b="1" i="0">
                <a:solidFill>
                  <a:srgbClr val="39FF14"/>
                </a:solidFill>
                <a:latin typeface="Calibri"/>
              </a:rPr>
              <a:t>Service</a:t>
            </a:r>
          </a:p>
        </p:txBody>
      </p:sp>
      <p:sp>
        <p:nvSpPr>
          <p:cNvPr id="28" name="TextBox 27"/>
          <p:cNvSpPr txBox="1"/>
          <p:nvPr/>
        </p:nvSpPr>
        <p:spPr>
          <a:xfrm>
            <a:off x="1645920" y="3154680"/>
            <a:ext cx="3886200" cy="219456"/>
          </a:xfrm>
          <a:prstGeom prst="rect">
            <a:avLst/>
          </a:prstGeom>
          <a:noFill/>
        </p:spPr>
        <p:txBody>
          <a:bodyPr wrap="square">
            <a:spAutoFit/>
          </a:bodyPr>
          <a:lstStyle/>
          <a:p>
            <a:pPr algn="l"/>
            <a:r>
              <a:rPr sz="950" b="0" i="0">
                <a:solidFill>
                  <a:srgbClr val="A0AAB8"/>
                </a:solidFill>
                <a:latin typeface="Calibri"/>
              </a:rPr>
              <a:t>Service name, version, banner</a:t>
            </a:r>
          </a:p>
        </p:txBody>
      </p:sp>
      <p:sp>
        <p:nvSpPr>
          <p:cNvPr id="29" name="Rectangle 28"/>
          <p:cNvSpPr/>
          <p:nvPr/>
        </p:nvSpPr>
        <p:spPr>
          <a:xfrm>
            <a:off x="274320" y="3419856"/>
            <a:ext cx="5349240" cy="274320"/>
          </a:xfrm>
          <a:prstGeom prst="rect">
            <a:avLst/>
          </a:prstGeom>
          <a:solidFill>
            <a:srgbClr val="0620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84048" y="3456432"/>
            <a:ext cx="1234440" cy="219456"/>
          </a:xfrm>
          <a:prstGeom prst="rect">
            <a:avLst/>
          </a:prstGeom>
          <a:noFill/>
        </p:spPr>
        <p:txBody>
          <a:bodyPr wrap="square">
            <a:spAutoFit/>
          </a:bodyPr>
          <a:lstStyle/>
          <a:p>
            <a:pPr algn="l"/>
            <a:r>
              <a:rPr sz="1000" b="1" i="0">
                <a:solidFill>
                  <a:srgbClr val="39FF14"/>
                </a:solidFill>
                <a:latin typeface="Calibri"/>
              </a:rPr>
              <a:t>Technology</a:t>
            </a:r>
          </a:p>
        </p:txBody>
      </p:sp>
      <p:sp>
        <p:nvSpPr>
          <p:cNvPr id="31" name="TextBox 30"/>
          <p:cNvSpPr txBox="1"/>
          <p:nvPr/>
        </p:nvSpPr>
        <p:spPr>
          <a:xfrm>
            <a:off x="1645920" y="3456432"/>
            <a:ext cx="3886200" cy="219456"/>
          </a:xfrm>
          <a:prstGeom prst="rect">
            <a:avLst/>
          </a:prstGeom>
          <a:noFill/>
        </p:spPr>
        <p:txBody>
          <a:bodyPr wrap="square">
            <a:spAutoFit/>
          </a:bodyPr>
          <a:lstStyle/>
          <a:p>
            <a:pPr algn="l"/>
            <a:r>
              <a:rPr sz="950" b="0" i="0">
                <a:solidFill>
                  <a:srgbClr val="A0AAB8"/>
                </a:solidFill>
                <a:latin typeface="Calibri"/>
              </a:rPr>
              <a:t>Framework, CMS, server software, version</a:t>
            </a:r>
          </a:p>
        </p:txBody>
      </p:sp>
      <p:sp>
        <p:nvSpPr>
          <p:cNvPr id="32" name="Rectangle 31"/>
          <p:cNvSpPr/>
          <p:nvPr/>
        </p:nvSpPr>
        <p:spPr>
          <a:xfrm>
            <a:off x="274320" y="3721608"/>
            <a:ext cx="5349240" cy="274320"/>
          </a:xfrm>
          <a:prstGeom prst="rect">
            <a:avLst/>
          </a:prstGeom>
          <a:solidFill>
            <a:srgbClr val="1016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84048" y="3758184"/>
            <a:ext cx="1234440" cy="219456"/>
          </a:xfrm>
          <a:prstGeom prst="rect">
            <a:avLst/>
          </a:prstGeom>
          <a:noFill/>
        </p:spPr>
        <p:txBody>
          <a:bodyPr wrap="square">
            <a:spAutoFit/>
          </a:bodyPr>
          <a:lstStyle/>
          <a:p>
            <a:pPr algn="l"/>
            <a:r>
              <a:rPr sz="1000" b="1" i="0">
                <a:solidFill>
                  <a:srgbClr val="39FF14"/>
                </a:solidFill>
                <a:latin typeface="Calibri"/>
              </a:rPr>
              <a:t>Endpoint</a:t>
            </a:r>
          </a:p>
        </p:txBody>
      </p:sp>
      <p:sp>
        <p:nvSpPr>
          <p:cNvPr id="34" name="TextBox 33"/>
          <p:cNvSpPr txBox="1"/>
          <p:nvPr/>
        </p:nvSpPr>
        <p:spPr>
          <a:xfrm>
            <a:off x="1645920" y="3758184"/>
            <a:ext cx="3886200" cy="219456"/>
          </a:xfrm>
          <a:prstGeom prst="rect">
            <a:avLst/>
          </a:prstGeom>
          <a:noFill/>
        </p:spPr>
        <p:txBody>
          <a:bodyPr wrap="square">
            <a:spAutoFit/>
          </a:bodyPr>
          <a:lstStyle/>
          <a:p>
            <a:pPr algn="l"/>
            <a:r>
              <a:rPr sz="950" b="0" i="0">
                <a:solidFill>
                  <a:srgbClr val="A0AAB8"/>
                </a:solidFill>
                <a:latin typeface="Calibri"/>
              </a:rPr>
              <a:t>Web or API route</a:t>
            </a:r>
          </a:p>
        </p:txBody>
      </p:sp>
      <p:sp>
        <p:nvSpPr>
          <p:cNvPr id="35" name="Rectangle 34"/>
          <p:cNvSpPr/>
          <p:nvPr/>
        </p:nvSpPr>
        <p:spPr>
          <a:xfrm>
            <a:off x="274320" y="4023360"/>
            <a:ext cx="5349240" cy="274320"/>
          </a:xfrm>
          <a:prstGeom prst="rect">
            <a:avLst/>
          </a:prstGeom>
          <a:solidFill>
            <a:srgbClr val="0620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84048" y="4059936"/>
            <a:ext cx="1234440" cy="219456"/>
          </a:xfrm>
          <a:prstGeom prst="rect">
            <a:avLst/>
          </a:prstGeom>
          <a:noFill/>
        </p:spPr>
        <p:txBody>
          <a:bodyPr wrap="square">
            <a:spAutoFit/>
          </a:bodyPr>
          <a:lstStyle/>
          <a:p>
            <a:pPr algn="l"/>
            <a:r>
              <a:rPr sz="1000" b="1" i="0">
                <a:solidFill>
                  <a:srgbClr val="39FF14"/>
                </a:solidFill>
                <a:latin typeface="Calibri"/>
              </a:rPr>
              <a:t>Parameter</a:t>
            </a:r>
          </a:p>
        </p:txBody>
      </p:sp>
      <p:sp>
        <p:nvSpPr>
          <p:cNvPr id="37" name="TextBox 36"/>
          <p:cNvSpPr txBox="1"/>
          <p:nvPr/>
        </p:nvSpPr>
        <p:spPr>
          <a:xfrm>
            <a:off x="1645920" y="4059936"/>
            <a:ext cx="3886200" cy="219456"/>
          </a:xfrm>
          <a:prstGeom prst="rect">
            <a:avLst/>
          </a:prstGeom>
          <a:noFill/>
        </p:spPr>
        <p:txBody>
          <a:bodyPr wrap="square">
            <a:spAutoFit/>
          </a:bodyPr>
          <a:lstStyle/>
          <a:p>
            <a:pPr algn="l"/>
            <a:r>
              <a:rPr sz="950" b="0" i="0">
                <a:solidFill>
                  <a:srgbClr val="A0AAB8"/>
                </a:solidFill>
                <a:latin typeface="Calibri"/>
              </a:rPr>
              <a:t>Request param, header, or input field</a:t>
            </a:r>
          </a:p>
        </p:txBody>
      </p:sp>
      <p:sp>
        <p:nvSpPr>
          <p:cNvPr id="38" name="Rectangle 37"/>
          <p:cNvSpPr/>
          <p:nvPr/>
        </p:nvSpPr>
        <p:spPr>
          <a:xfrm>
            <a:off x="274320" y="4325112"/>
            <a:ext cx="5349240" cy="274320"/>
          </a:xfrm>
          <a:prstGeom prst="rect">
            <a:avLst/>
          </a:prstGeom>
          <a:solidFill>
            <a:srgbClr val="1016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84048" y="4361688"/>
            <a:ext cx="1234440" cy="219456"/>
          </a:xfrm>
          <a:prstGeom prst="rect">
            <a:avLst/>
          </a:prstGeom>
          <a:noFill/>
        </p:spPr>
        <p:txBody>
          <a:bodyPr wrap="square">
            <a:spAutoFit/>
          </a:bodyPr>
          <a:lstStyle/>
          <a:p>
            <a:pPr algn="l"/>
            <a:r>
              <a:rPr sz="1000" b="1" i="0">
                <a:solidFill>
                  <a:srgbClr val="39FF14"/>
                </a:solidFill>
                <a:latin typeface="Calibri"/>
              </a:rPr>
              <a:t>Vulnerability</a:t>
            </a:r>
          </a:p>
        </p:txBody>
      </p:sp>
      <p:sp>
        <p:nvSpPr>
          <p:cNvPr id="40" name="TextBox 39"/>
          <p:cNvSpPr txBox="1"/>
          <p:nvPr/>
        </p:nvSpPr>
        <p:spPr>
          <a:xfrm>
            <a:off x="1645920" y="4361688"/>
            <a:ext cx="3886200" cy="219456"/>
          </a:xfrm>
          <a:prstGeom prst="rect">
            <a:avLst/>
          </a:prstGeom>
          <a:noFill/>
        </p:spPr>
        <p:txBody>
          <a:bodyPr wrap="square">
            <a:spAutoFit/>
          </a:bodyPr>
          <a:lstStyle/>
          <a:p>
            <a:pPr algn="l"/>
            <a:r>
              <a:rPr sz="950" b="0" i="0">
                <a:solidFill>
                  <a:srgbClr val="A0AAB8"/>
                </a:solidFill>
                <a:latin typeface="Calibri"/>
              </a:rPr>
              <a:t>CVE / misconfiguration — enriched with live intel</a:t>
            </a:r>
          </a:p>
        </p:txBody>
      </p:sp>
      <p:sp>
        <p:nvSpPr>
          <p:cNvPr id="41" name="Rectangle 40"/>
          <p:cNvSpPr/>
          <p:nvPr/>
        </p:nvSpPr>
        <p:spPr>
          <a:xfrm>
            <a:off x="274320" y="4626864"/>
            <a:ext cx="5349240" cy="274320"/>
          </a:xfrm>
          <a:prstGeom prst="rect">
            <a:avLst/>
          </a:prstGeom>
          <a:solidFill>
            <a:srgbClr val="0620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84048" y="4663440"/>
            <a:ext cx="1234440" cy="219456"/>
          </a:xfrm>
          <a:prstGeom prst="rect">
            <a:avLst/>
          </a:prstGeom>
          <a:noFill/>
        </p:spPr>
        <p:txBody>
          <a:bodyPr wrap="square">
            <a:spAutoFit/>
          </a:bodyPr>
          <a:lstStyle/>
          <a:p>
            <a:pPr algn="l"/>
            <a:r>
              <a:rPr sz="1000" b="1" i="0">
                <a:solidFill>
                  <a:srgbClr val="39FF14"/>
                </a:solidFill>
                <a:latin typeface="Calibri"/>
              </a:rPr>
              <a:t>Evidence</a:t>
            </a:r>
          </a:p>
        </p:txBody>
      </p:sp>
      <p:sp>
        <p:nvSpPr>
          <p:cNvPr id="43" name="TextBox 42"/>
          <p:cNvSpPr txBox="1"/>
          <p:nvPr/>
        </p:nvSpPr>
        <p:spPr>
          <a:xfrm>
            <a:off x="1645920" y="4663440"/>
            <a:ext cx="3886200" cy="219456"/>
          </a:xfrm>
          <a:prstGeom prst="rect">
            <a:avLst/>
          </a:prstGeom>
          <a:noFill/>
        </p:spPr>
        <p:txBody>
          <a:bodyPr wrap="square">
            <a:spAutoFit/>
          </a:bodyPr>
          <a:lstStyle/>
          <a:p>
            <a:pPr algn="l"/>
            <a:r>
              <a:rPr sz="950" b="0" i="0">
                <a:solidFill>
                  <a:srgbClr val="A0AAB8"/>
                </a:solidFill>
                <a:latin typeface="Calibri"/>
              </a:rPr>
              <a:t>Screenshot, capture, exploitation artifact</a:t>
            </a:r>
          </a:p>
        </p:txBody>
      </p:sp>
      <p:sp>
        <p:nvSpPr>
          <p:cNvPr id="44" name="Rectangle 43"/>
          <p:cNvSpPr/>
          <p:nvPr/>
        </p:nvSpPr>
        <p:spPr>
          <a:xfrm>
            <a:off x="274320" y="5001768"/>
            <a:ext cx="5349240" cy="237744"/>
          </a:xfrm>
          <a:prstGeom prst="rect">
            <a:avLst/>
          </a:prstGeom>
          <a:solidFill>
            <a:srgbClr val="1030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11480" y="5029200"/>
            <a:ext cx="5349240" cy="201168"/>
          </a:xfrm>
          <a:prstGeom prst="rect">
            <a:avLst/>
          </a:prstGeom>
          <a:noFill/>
        </p:spPr>
        <p:txBody>
          <a:bodyPr wrap="square">
            <a:spAutoFit/>
          </a:bodyPr>
          <a:lstStyle/>
          <a:p>
            <a:pPr algn="l"/>
            <a:r>
              <a:rPr sz="1000" b="1" i="0">
                <a:solidFill>
                  <a:srgbClr val="39FF14"/>
                </a:solidFill>
                <a:latin typeface="Calibri"/>
              </a:rPr>
              <a:t>EDGE TYPES</a:t>
            </a:r>
          </a:p>
        </p:txBody>
      </p:sp>
      <p:sp>
        <p:nvSpPr>
          <p:cNvPr id="46" name="TextBox 45"/>
          <p:cNvSpPr txBox="1"/>
          <p:nvPr/>
        </p:nvSpPr>
        <p:spPr>
          <a:xfrm>
            <a:off x="384048" y="5276088"/>
            <a:ext cx="5166360" cy="320040"/>
          </a:xfrm>
          <a:prstGeom prst="rect">
            <a:avLst/>
          </a:prstGeom>
          <a:noFill/>
        </p:spPr>
        <p:txBody>
          <a:bodyPr wrap="square">
            <a:spAutoFit/>
          </a:bodyPr>
          <a:lstStyle/>
          <a:p>
            <a:pPr algn="l"/>
            <a:r>
              <a:rPr sz="900" b="0" i="1">
                <a:solidFill>
                  <a:srgbClr val="A0AAB8"/>
                </a:solidFill>
                <a:latin typeface="Calibri"/>
              </a:rPr>
              <a:t>has_host  ·  has_port  ·  runs  ·  uses  ·  has_endpoint  ·  has_parameter  ·  affected_by  ·  validated_by</a:t>
            </a:r>
          </a:p>
        </p:txBody>
      </p:sp>
      <p:sp>
        <p:nvSpPr>
          <p:cNvPr id="47" name="Rectangle 46"/>
          <p:cNvSpPr/>
          <p:nvPr/>
        </p:nvSpPr>
        <p:spPr>
          <a:xfrm>
            <a:off x="6565392" y="1005840"/>
            <a:ext cx="5376672" cy="475488"/>
          </a:xfrm>
          <a:prstGeom prst="rect">
            <a:avLst/>
          </a:prstGeom>
          <a:solidFill>
            <a:srgbClr val="201204"/>
          </a:solidFill>
          <a:ln w="2540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702552" y="1042415"/>
            <a:ext cx="5148072" cy="411480"/>
          </a:xfrm>
          <a:prstGeom prst="rect">
            <a:avLst/>
          </a:prstGeom>
          <a:noFill/>
        </p:spPr>
        <p:txBody>
          <a:bodyPr wrap="square">
            <a:spAutoFit/>
          </a:bodyPr>
          <a:lstStyle/>
          <a:p>
            <a:pPr algn="l"/>
            <a:r>
              <a:rPr sz="1500" b="1" i="0">
                <a:solidFill>
                  <a:srgbClr val="FFD700"/>
                </a:solidFill>
                <a:latin typeface="Calibri"/>
              </a:rPr>
              <a:t>🛣️  ATTACK PATH GRAPH  (APG)</a:t>
            </a:r>
          </a:p>
        </p:txBody>
      </p:sp>
      <p:sp>
        <p:nvSpPr>
          <p:cNvPr id="49" name="Rectangle 48"/>
          <p:cNvSpPr/>
          <p:nvPr/>
        </p:nvSpPr>
        <p:spPr>
          <a:xfrm>
            <a:off x="6565392" y="1508760"/>
            <a:ext cx="5376672" cy="347472"/>
          </a:xfrm>
          <a:prstGeom prst="rect">
            <a:avLst/>
          </a:prstGeom>
          <a:solidFill>
            <a:srgbClr val="281804"/>
          </a:solidFill>
          <a:ln w="1016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702552" y="1536192"/>
            <a:ext cx="5148072" cy="292608"/>
          </a:xfrm>
          <a:prstGeom prst="rect">
            <a:avLst/>
          </a:prstGeom>
          <a:noFill/>
        </p:spPr>
        <p:txBody>
          <a:bodyPr wrap="square">
            <a:spAutoFit/>
          </a:bodyPr>
          <a:lstStyle/>
          <a:p>
            <a:pPr algn="l"/>
            <a:r>
              <a:rPr sz="1200" b="0" i="1">
                <a:solidFill>
                  <a:srgbClr val="FFD700"/>
                </a:solidFill>
                <a:latin typeface="Calibri"/>
              </a:rPr>
              <a:t>What can be done to it?  (Inferred Attack Opportunity)</a:t>
            </a:r>
          </a:p>
        </p:txBody>
      </p:sp>
      <p:sp>
        <p:nvSpPr>
          <p:cNvPr id="51" name="Rectangle 50"/>
          <p:cNvSpPr/>
          <p:nvPr/>
        </p:nvSpPr>
        <p:spPr>
          <a:xfrm>
            <a:off x="6565392" y="1920240"/>
            <a:ext cx="5376672" cy="256032"/>
          </a:xfrm>
          <a:prstGeom prst="rect">
            <a:avLst/>
          </a:prstGeom>
          <a:solidFill>
            <a:srgbClr val="3018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702552" y="1938528"/>
            <a:ext cx="5376672" cy="219456"/>
          </a:xfrm>
          <a:prstGeom prst="rect">
            <a:avLst/>
          </a:prstGeom>
          <a:noFill/>
        </p:spPr>
        <p:txBody>
          <a:bodyPr wrap="square">
            <a:spAutoFit/>
          </a:bodyPr>
          <a:lstStyle/>
          <a:p>
            <a:pPr algn="l"/>
            <a:r>
              <a:rPr sz="1000" b="1" i="0">
                <a:solidFill>
                  <a:srgbClr val="FFD700"/>
                </a:solidFill>
                <a:latin typeface="Calibri"/>
              </a:rPr>
              <a:t>NODE TYPES</a:t>
            </a:r>
          </a:p>
        </p:txBody>
      </p:sp>
      <p:sp>
        <p:nvSpPr>
          <p:cNvPr id="53" name="Rectangle 52"/>
          <p:cNvSpPr/>
          <p:nvPr/>
        </p:nvSpPr>
        <p:spPr>
          <a:xfrm>
            <a:off x="6565392" y="2212848"/>
            <a:ext cx="5376672" cy="292608"/>
          </a:xfrm>
          <a:prstGeom prst="rect">
            <a:avLst/>
          </a:prstGeom>
          <a:solidFill>
            <a:srgbClr val="2818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6675120" y="2249424"/>
            <a:ext cx="1371600" cy="237744"/>
          </a:xfrm>
          <a:prstGeom prst="rect">
            <a:avLst/>
          </a:prstGeom>
          <a:noFill/>
        </p:spPr>
        <p:txBody>
          <a:bodyPr wrap="square">
            <a:spAutoFit/>
          </a:bodyPr>
          <a:lstStyle/>
          <a:p>
            <a:pPr algn="l"/>
            <a:r>
              <a:rPr sz="1000" b="1" i="0">
                <a:solidFill>
                  <a:srgbClr val="FFD700"/>
                </a:solidFill>
                <a:latin typeface="Calibri"/>
              </a:rPr>
              <a:t>AttackChain</a:t>
            </a:r>
          </a:p>
        </p:txBody>
      </p:sp>
      <p:sp>
        <p:nvSpPr>
          <p:cNvPr id="55" name="TextBox 54"/>
          <p:cNvSpPr txBox="1"/>
          <p:nvPr/>
        </p:nvSpPr>
        <p:spPr>
          <a:xfrm>
            <a:off x="8074152" y="2249424"/>
            <a:ext cx="3776472" cy="237744"/>
          </a:xfrm>
          <a:prstGeom prst="rect">
            <a:avLst/>
          </a:prstGeom>
          <a:noFill/>
        </p:spPr>
        <p:txBody>
          <a:bodyPr wrap="square">
            <a:spAutoFit/>
          </a:bodyPr>
          <a:lstStyle/>
          <a:p>
            <a:pPr algn="l"/>
            <a:r>
              <a:rPr sz="950" b="0" i="0">
                <a:solidFill>
                  <a:srgbClr val="A0AAB8"/>
                </a:solidFill>
                <a:latin typeface="Calibri"/>
              </a:rPr>
              <a:t>Ordered exploitation sequence from entry → impact</a:t>
            </a:r>
          </a:p>
        </p:txBody>
      </p:sp>
      <p:sp>
        <p:nvSpPr>
          <p:cNvPr id="56" name="Rectangle 55"/>
          <p:cNvSpPr/>
          <p:nvPr/>
        </p:nvSpPr>
        <p:spPr>
          <a:xfrm>
            <a:off x="6565392" y="2523744"/>
            <a:ext cx="5376672" cy="292608"/>
          </a:xfrm>
          <a:prstGeom prst="rect">
            <a:avLst/>
          </a:prstGeom>
          <a:solidFill>
            <a:srgbClr val="1016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6675120" y="2560320"/>
            <a:ext cx="1371600" cy="237744"/>
          </a:xfrm>
          <a:prstGeom prst="rect">
            <a:avLst/>
          </a:prstGeom>
          <a:noFill/>
        </p:spPr>
        <p:txBody>
          <a:bodyPr wrap="square">
            <a:spAutoFit/>
          </a:bodyPr>
          <a:lstStyle/>
          <a:p>
            <a:pPr algn="l"/>
            <a:r>
              <a:rPr sz="1000" b="1" i="0">
                <a:solidFill>
                  <a:srgbClr val="FFD700"/>
                </a:solidFill>
                <a:latin typeface="Calibri"/>
              </a:rPr>
              <a:t>ChainStep</a:t>
            </a:r>
          </a:p>
        </p:txBody>
      </p:sp>
      <p:sp>
        <p:nvSpPr>
          <p:cNvPr id="58" name="TextBox 57"/>
          <p:cNvSpPr txBox="1"/>
          <p:nvPr/>
        </p:nvSpPr>
        <p:spPr>
          <a:xfrm>
            <a:off x="8074152" y="2560320"/>
            <a:ext cx="3776472" cy="237744"/>
          </a:xfrm>
          <a:prstGeom prst="rect">
            <a:avLst/>
          </a:prstGeom>
          <a:noFill/>
        </p:spPr>
        <p:txBody>
          <a:bodyPr wrap="square">
            <a:spAutoFit/>
          </a:bodyPr>
          <a:lstStyle/>
          <a:p>
            <a:pPr algn="l"/>
            <a:r>
              <a:rPr sz="950" b="0" i="0">
                <a:solidFill>
                  <a:srgbClr val="A0AAB8"/>
                </a:solidFill>
                <a:latin typeface="Calibri"/>
              </a:rPr>
              <a:t>Single action on a specific ASG node</a:t>
            </a:r>
          </a:p>
        </p:txBody>
      </p:sp>
      <p:sp>
        <p:nvSpPr>
          <p:cNvPr id="59" name="Rectangle 58"/>
          <p:cNvSpPr/>
          <p:nvPr/>
        </p:nvSpPr>
        <p:spPr>
          <a:xfrm>
            <a:off x="6565392" y="2834640"/>
            <a:ext cx="5376672" cy="292608"/>
          </a:xfrm>
          <a:prstGeom prst="rect">
            <a:avLst/>
          </a:prstGeom>
          <a:solidFill>
            <a:srgbClr val="2818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6675120" y="2871216"/>
            <a:ext cx="1371600" cy="237744"/>
          </a:xfrm>
          <a:prstGeom prst="rect">
            <a:avLst/>
          </a:prstGeom>
          <a:noFill/>
        </p:spPr>
        <p:txBody>
          <a:bodyPr wrap="square">
            <a:spAutoFit/>
          </a:bodyPr>
          <a:lstStyle/>
          <a:p>
            <a:pPr algn="l"/>
            <a:r>
              <a:rPr sz="1000" b="1" i="0">
                <a:solidFill>
                  <a:srgbClr val="FFD700"/>
                </a:solidFill>
                <a:latin typeface="Calibri"/>
              </a:rPr>
              <a:t>Impact</a:t>
            </a:r>
          </a:p>
        </p:txBody>
      </p:sp>
      <p:sp>
        <p:nvSpPr>
          <p:cNvPr id="61" name="TextBox 60"/>
          <p:cNvSpPr txBox="1"/>
          <p:nvPr/>
        </p:nvSpPr>
        <p:spPr>
          <a:xfrm>
            <a:off x="8074152" y="2871216"/>
            <a:ext cx="3776472" cy="237744"/>
          </a:xfrm>
          <a:prstGeom prst="rect">
            <a:avLst/>
          </a:prstGeom>
          <a:noFill/>
        </p:spPr>
        <p:txBody>
          <a:bodyPr wrap="square">
            <a:spAutoFit/>
          </a:bodyPr>
          <a:lstStyle/>
          <a:p>
            <a:pPr algn="l"/>
            <a:r>
              <a:rPr sz="950" b="0" i="0">
                <a:solidFill>
                  <a:srgbClr val="A0AAB8"/>
                </a:solidFill>
                <a:latin typeface="Calibri"/>
              </a:rPr>
              <a:t>Business / technical consequence at chain end</a:t>
            </a:r>
          </a:p>
        </p:txBody>
      </p:sp>
      <p:sp>
        <p:nvSpPr>
          <p:cNvPr id="62" name="Rectangle 61"/>
          <p:cNvSpPr/>
          <p:nvPr/>
        </p:nvSpPr>
        <p:spPr>
          <a:xfrm>
            <a:off x="6565392" y="3182112"/>
            <a:ext cx="5376672" cy="960120"/>
          </a:xfrm>
          <a:prstGeom prst="rect">
            <a:avLst/>
          </a:prstGeom>
          <a:solidFill>
            <a:srgbClr val="181002"/>
          </a:solidFill>
          <a:ln w="1016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6702552" y="3227832"/>
            <a:ext cx="5148072" cy="228600"/>
          </a:xfrm>
          <a:prstGeom prst="rect">
            <a:avLst/>
          </a:prstGeom>
          <a:noFill/>
        </p:spPr>
        <p:txBody>
          <a:bodyPr wrap="square">
            <a:spAutoFit/>
          </a:bodyPr>
          <a:lstStyle/>
          <a:p>
            <a:pPr algn="l"/>
            <a:r>
              <a:rPr sz="1000" b="1" i="0">
                <a:solidFill>
                  <a:srgbClr val="FFD700"/>
                </a:solidFill>
                <a:latin typeface="Calibri"/>
              </a:rPr>
              <a:t>Each AttackChain carries:</a:t>
            </a:r>
          </a:p>
        </p:txBody>
      </p:sp>
      <p:sp>
        <p:nvSpPr>
          <p:cNvPr id="64" name="TextBox 63"/>
          <p:cNvSpPr txBox="1"/>
          <p:nvPr/>
        </p:nvSpPr>
        <p:spPr>
          <a:xfrm>
            <a:off x="6748272" y="3456432"/>
            <a:ext cx="5102352" cy="210312"/>
          </a:xfrm>
          <a:prstGeom prst="rect">
            <a:avLst/>
          </a:prstGeom>
          <a:noFill/>
        </p:spPr>
        <p:txBody>
          <a:bodyPr wrap="square">
            <a:spAutoFit/>
          </a:bodyPr>
          <a:lstStyle/>
          <a:p>
            <a:pPr algn="l"/>
            <a:r>
              <a:rPr sz="950" b="0" i="0">
                <a:solidFill>
                  <a:srgbClr val="A0AAB8"/>
                </a:solidFill>
                <a:latin typeface="Calibri"/>
              </a:rPr>
              <a:t>• risk_score  — CVSS severity + exploitability + impact class</a:t>
            </a:r>
          </a:p>
        </p:txBody>
      </p:sp>
      <p:sp>
        <p:nvSpPr>
          <p:cNvPr id="65" name="TextBox 64"/>
          <p:cNvSpPr txBox="1"/>
          <p:nvPr/>
        </p:nvSpPr>
        <p:spPr>
          <a:xfrm>
            <a:off x="6748272" y="3666744"/>
            <a:ext cx="5102352" cy="210312"/>
          </a:xfrm>
          <a:prstGeom prst="rect">
            <a:avLst/>
          </a:prstGeom>
          <a:noFill/>
        </p:spPr>
        <p:txBody>
          <a:bodyPr wrap="square">
            <a:spAutoFit/>
          </a:bodyPr>
          <a:lstStyle/>
          <a:p>
            <a:pPr algn="l"/>
            <a:r>
              <a:rPr sz="950" b="0" i="0">
                <a:solidFill>
                  <a:srgbClr val="A0AAB8"/>
                </a:solidFill>
                <a:latin typeface="Calibri"/>
              </a:rPr>
              <a:t>• validation_status  — HYPOTHESIZED → PARTIALLY_VALIDATED → VALIDATED / RULED_OUT</a:t>
            </a:r>
          </a:p>
        </p:txBody>
      </p:sp>
      <p:sp>
        <p:nvSpPr>
          <p:cNvPr id="66" name="TextBox 65"/>
          <p:cNvSpPr txBox="1"/>
          <p:nvPr/>
        </p:nvSpPr>
        <p:spPr>
          <a:xfrm>
            <a:off x="6748272" y="3877056"/>
            <a:ext cx="5102352" cy="210312"/>
          </a:xfrm>
          <a:prstGeom prst="rect">
            <a:avLst/>
          </a:prstGeom>
          <a:noFill/>
        </p:spPr>
        <p:txBody>
          <a:bodyPr wrap="square">
            <a:spAutoFit/>
          </a:bodyPr>
          <a:lstStyle/>
          <a:p>
            <a:pPr algn="l"/>
            <a:r>
              <a:rPr sz="950" b="0" i="0">
                <a:solidFill>
                  <a:srgbClr val="A0AAB8"/>
                </a:solidFill>
                <a:latin typeface="Calibri"/>
              </a:rPr>
              <a:t>• priority  — Commander-assigned chain pursuit order</a:t>
            </a:r>
          </a:p>
        </p:txBody>
      </p:sp>
      <p:sp>
        <p:nvSpPr>
          <p:cNvPr id="67" name="Rectangle 66"/>
          <p:cNvSpPr/>
          <p:nvPr/>
        </p:nvSpPr>
        <p:spPr>
          <a:xfrm>
            <a:off x="6565392" y="4206240"/>
            <a:ext cx="5376672" cy="256032"/>
          </a:xfrm>
          <a:prstGeom prst="rect">
            <a:avLst/>
          </a:prstGeom>
          <a:solidFill>
            <a:srgbClr val="3018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6702552" y="4233672"/>
            <a:ext cx="5376672" cy="219456"/>
          </a:xfrm>
          <a:prstGeom prst="rect">
            <a:avLst/>
          </a:prstGeom>
          <a:noFill/>
        </p:spPr>
        <p:txBody>
          <a:bodyPr wrap="square">
            <a:spAutoFit/>
          </a:bodyPr>
          <a:lstStyle/>
          <a:p>
            <a:pPr algn="l"/>
            <a:r>
              <a:rPr sz="1000" b="1" i="0">
                <a:solidFill>
                  <a:srgbClr val="FFD700"/>
                </a:solidFill>
                <a:latin typeface="Calibri"/>
              </a:rPr>
              <a:t>EDGE TYPES</a:t>
            </a:r>
          </a:p>
        </p:txBody>
      </p:sp>
      <p:sp>
        <p:nvSpPr>
          <p:cNvPr id="69" name="TextBox 68"/>
          <p:cNvSpPr txBox="1"/>
          <p:nvPr/>
        </p:nvSpPr>
        <p:spPr>
          <a:xfrm>
            <a:off x="6675120" y="4498848"/>
            <a:ext cx="5193792" cy="274320"/>
          </a:xfrm>
          <a:prstGeom prst="rect">
            <a:avLst/>
          </a:prstGeom>
          <a:noFill/>
        </p:spPr>
        <p:txBody>
          <a:bodyPr wrap="square">
            <a:spAutoFit/>
          </a:bodyPr>
          <a:lstStyle/>
          <a:p>
            <a:pPr algn="l"/>
            <a:r>
              <a:rPr sz="950" b="0" i="1">
                <a:solidFill>
                  <a:srgbClr val="A0AAB8"/>
                </a:solidFill>
                <a:latin typeface="Calibri"/>
              </a:rPr>
              <a:t>starts_at  ·  next_step  ·  achieves  ·  supported_by</a:t>
            </a:r>
          </a:p>
        </p:txBody>
      </p:sp>
      <p:sp>
        <p:nvSpPr>
          <p:cNvPr id="70" name="Rectangle 69"/>
          <p:cNvSpPr/>
          <p:nvPr/>
        </p:nvSpPr>
        <p:spPr>
          <a:xfrm>
            <a:off x="6565392" y="4617720"/>
            <a:ext cx="5376672" cy="256032"/>
          </a:xfrm>
          <a:prstGeom prst="rect">
            <a:avLst/>
          </a:prstGeom>
          <a:solidFill>
            <a:srgbClr val="3018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6702552" y="4645152"/>
            <a:ext cx="5376672" cy="219456"/>
          </a:xfrm>
          <a:prstGeom prst="rect">
            <a:avLst/>
          </a:prstGeom>
          <a:noFill/>
        </p:spPr>
        <p:txBody>
          <a:bodyPr wrap="square">
            <a:spAutoFit/>
          </a:bodyPr>
          <a:lstStyle/>
          <a:p>
            <a:pPr algn="l"/>
            <a:r>
              <a:rPr sz="1000" b="1" i="0">
                <a:solidFill>
                  <a:srgbClr val="FFD700"/>
                </a:solidFill>
                <a:latin typeface="Calibri"/>
              </a:rPr>
              <a:t>WRITE OWNERSHIP (Separation Principle)</a:t>
            </a:r>
          </a:p>
        </p:txBody>
      </p:sp>
      <p:sp>
        <p:nvSpPr>
          <p:cNvPr id="72" name="Rectangle 71"/>
          <p:cNvSpPr/>
          <p:nvPr/>
        </p:nvSpPr>
        <p:spPr>
          <a:xfrm>
            <a:off x="6565392" y="4910328"/>
            <a:ext cx="5376672" cy="329184"/>
          </a:xfrm>
          <a:prstGeom prst="rect">
            <a:avLst/>
          </a:prstGeom>
          <a:solidFill>
            <a:srgbClr val="18100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6675120" y="4956048"/>
            <a:ext cx="1463040" cy="256032"/>
          </a:xfrm>
          <a:prstGeom prst="rect">
            <a:avLst/>
          </a:prstGeom>
          <a:noFill/>
        </p:spPr>
        <p:txBody>
          <a:bodyPr wrap="square">
            <a:spAutoFit/>
          </a:bodyPr>
          <a:lstStyle/>
          <a:p>
            <a:pPr algn="l"/>
            <a:r>
              <a:rPr sz="950" b="1" i="0">
                <a:solidFill>
                  <a:srgbClr val="FFFFFF"/>
                </a:solidFill>
                <a:latin typeface="Calibri"/>
              </a:rPr>
              <a:t>Discovery Agents</a:t>
            </a:r>
          </a:p>
        </p:txBody>
      </p:sp>
      <p:sp>
        <p:nvSpPr>
          <p:cNvPr id="74" name="TextBox 73"/>
          <p:cNvSpPr txBox="1"/>
          <p:nvPr/>
        </p:nvSpPr>
        <p:spPr>
          <a:xfrm>
            <a:off x="8165592" y="4956048"/>
            <a:ext cx="1645920" cy="256032"/>
          </a:xfrm>
          <a:prstGeom prst="rect">
            <a:avLst/>
          </a:prstGeom>
          <a:noFill/>
        </p:spPr>
        <p:txBody>
          <a:bodyPr wrap="square">
            <a:spAutoFit/>
          </a:bodyPr>
          <a:lstStyle/>
          <a:p>
            <a:pPr algn="l"/>
            <a:r>
              <a:rPr sz="950" b="1" i="0">
                <a:solidFill>
                  <a:srgbClr val="FFD700"/>
                </a:solidFill>
                <a:latin typeface="Calibri"/>
              </a:rPr>
              <a:t>Write → ASG only</a:t>
            </a:r>
          </a:p>
        </p:txBody>
      </p:sp>
      <p:sp>
        <p:nvSpPr>
          <p:cNvPr id="75" name="TextBox 74"/>
          <p:cNvSpPr txBox="1"/>
          <p:nvPr/>
        </p:nvSpPr>
        <p:spPr>
          <a:xfrm>
            <a:off x="9857232" y="4956048"/>
            <a:ext cx="1920240" cy="256032"/>
          </a:xfrm>
          <a:prstGeom prst="rect">
            <a:avLst/>
          </a:prstGeom>
          <a:noFill/>
        </p:spPr>
        <p:txBody>
          <a:bodyPr wrap="square">
            <a:spAutoFit/>
          </a:bodyPr>
          <a:lstStyle/>
          <a:p>
            <a:pPr algn="l"/>
            <a:r>
              <a:rPr sz="850" b="0" i="1">
                <a:solidFill>
                  <a:srgbClr val="A0AAB8"/>
                </a:solidFill>
                <a:latin typeface="Calibri"/>
              </a:rPr>
              <a:t>Never reason about chains</a:t>
            </a:r>
          </a:p>
        </p:txBody>
      </p:sp>
      <p:sp>
        <p:nvSpPr>
          <p:cNvPr id="76" name="Rectangle 75"/>
          <p:cNvSpPr/>
          <p:nvPr/>
        </p:nvSpPr>
        <p:spPr>
          <a:xfrm>
            <a:off x="6565392" y="5257800"/>
            <a:ext cx="5376672" cy="329184"/>
          </a:xfrm>
          <a:prstGeom prst="rect">
            <a:avLst/>
          </a:prstGeom>
          <a:solidFill>
            <a:srgbClr val="1016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6675120" y="5303520"/>
            <a:ext cx="1463040" cy="256032"/>
          </a:xfrm>
          <a:prstGeom prst="rect">
            <a:avLst/>
          </a:prstGeom>
          <a:noFill/>
        </p:spPr>
        <p:txBody>
          <a:bodyPr wrap="square">
            <a:spAutoFit/>
          </a:bodyPr>
          <a:lstStyle/>
          <a:p>
            <a:pPr algn="l"/>
            <a:r>
              <a:rPr sz="950" b="1" i="0">
                <a:solidFill>
                  <a:srgbClr val="FFFFFF"/>
                </a:solidFill>
                <a:latin typeface="Calibri"/>
              </a:rPr>
              <a:t>Commander Agent</a:t>
            </a:r>
          </a:p>
        </p:txBody>
      </p:sp>
      <p:sp>
        <p:nvSpPr>
          <p:cNvPr id="78" name="TextBox 77"/>
          <p:cNvSpPr txBox="1"/>
          <p:nvPr/>
        </p:nvSpPr>
        <p:spPr>
          <a:xfrm>
            <a:off x="8165592" y="5303520"/>
            <a:ext cx="1645920" cy="256032"/>
          </a:xfrm>
          <a:prstGeom prst="rect">
            <a:avLst/>
          </a:prstGeom>
          <a:noFill/>
        </p:spPr>
        <p:txBody>
          <a:bodyPr wrap="square">
            <a:spAutoFit/>
          </a:bodyPr>
          <a:lstStyle/>
          <a:p>
            <a:pPr algn="l"/>
            <a:r>
              <a:rPr sz="950" b="1" i="0">
                <a:solidFill>
                  <a:srgbClr val="FFD700"/>
                </a:solidFill>
                <a:latin typeface="Calibri"/>
              </a:rPr>
              <a:t>Write → APG only</a:t>
            </a:r>
          </a:p>
        </p:txBody>
      </p:sp>
      <p:sp>
        <p:nvSpPr>
          <p:cNvPr id="79" name="TextBox 78"/>
          <p:cNvSpPr txBox="1"/>
          <p:nvPr/>
        </p:nvSpPr>
        <p:spPr>
          <a:xfrm>
            <a:off x="9857232" y="5303520"/>
            <a:ext cx="1920240" cy="256032"/>
          </a:xfrm>
          <a:prstGeom prst="rect">
            <a:avLst/>
          </a:prstGeom>
          <a:noFill/>
        </p:spPr>
        <p:txBody>
          <a:bodyPr wrap="square">
            <a:spAutoFit/>
          </a:bodyPr>
          <a:lstStyle/>
          <a:p>
            <a:pPr algn="l"/>
            <a:r>
              <a:rPr sz="850" b="0" i="1">
                <a:solidFill>
                  <a:srgbClr val="A0AAB8"/>
                </a:solidFill>
                <a:latin typeface="Calibri"/>
              </a:rPr>
              <a:t>Never runs tools</a:t>
            </a:r>
          </a:p>
        </p:txBody>
      </p:sp>
      <p:sp>
        <p:nvSpPr>
          <p:cNvPr id="80" name="Rectangle 79"/>
          <p:cNvSpPr/>
          <p:nvPr/>
        </p:nvSpPr>
        <p:spPr>
          <a:xfrm>
            <a:off x="274320" y="5596128"/>
            <a:ext cx="11643055" cy="658368"/>
          </a:xfrm>
          <a:prstGeom prst="rect">
            <a:avLst/>
          </a:prstGeom>
          <a:solidFill>
            <a:srgbClr val="061420"/>
          </a:solidFill>
          <a:ln w="1905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502920" y="5669280"/>
            <a:ext cx="11277295" cy="530352"/>
          </a:xfrm>
          <a:prstGeom prst="rect">
            <a:avLst/>
          </a:prstGeom>
          <a:noFill/>
        </p:spPr>
        <p:txBody>
          <a:bodyPr wrap="square">
            <a:spAutoFit/>
          </a:bodyPr>
          <a:lstStyle/>
          <a:p>
            <a:pPr algn="l"/>
            <a:r>
              <a:rPr sz="1200" b="0" i="1">
                <a:solidFill>
                  <a:srgbClr val="00E5FF"/>
                </a:solidFill>
                <a:latin typeface="Calibri"/>
              </a:rPr>
              <a:t>No agent conflates facts with hypotheses  ·  The ASG never contains hypotheses  ·  The APG never contains raw scan data  ·  This dual-layer separation is the property no prior VAPT system implements.</a:t>
            </a:r>
          </a:p>
        </p:txBody>
      </p:sp>
      <p:sp>
        <p:nvSpPr>
          <p:cNvPr id="82" name="TextBox 81"/>
          <p:cNvSpPr txBox="1"/>
          <p:nvPr/>
        </p:nvSpPr>
        <p:spPr>
          <a:xfrm>
            <a:off x="11825935" y="6355080"/>
            <a:ext cx="320040" cy="411480"/>
          </a:xfrm>
          <a:prstGeom prst="rect">
            <a:avLst/>
          </a:prstGeom>
          <a:noFill/>
        </p:spPr>
        <p:txBody>
          <a:bodyPr wrap="square">
            <a:spAutoFit/>
          </a:bodyPr>
          <a:lstStyle/>
          <a:p>
            <a:pPr algn="r"/>
            <a:r>
              <a:rPr sz="1300" b="1" i="0">
                <a:solidFill>
                  <a:srgbClr val="39FF14"/>
                </a:solidFill>
                <a:latin typeface="Calibri"/>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0D1A"/>
        </a:solidFill>
        <a:effectLst/>
      </p:bgPr>
    </p:bg>
    <p:spTree>
      <p:nvGrpSpPr>
        <p:cNvPr id="1" name=""/>
        <p:cNvGrpSpPr/>
        <p:nvPr/>
      </p:nvGrpSpPr>
      <p:grpSpPr/>
      <p:sp>
        <p:nvSpPr>
          <p:cNvPr id="2" name="Rectangle 1"/>
          <p:cNvSpPr/>
          <p:nvPr/>
        </p:nvSpPr>
        <p:spPr>
          <a:xfrm>
            <a:off x="0" y="0"/>
            <a:ext cx="54864" cy="6858000"/>
          </a:xfrm>
          <a:prstGeom prst="rect">
            <a:avLst/>
          </a:prstGeom>
          <a:solidFill>
            <a:srgbClr val="BD9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 y="0"/>
            <a:ext cx="12136831" cy="36576"/>
          </a:xfrm>
          <a:prstGeom prst="rect">
            <a:avLst/>
          </a:prstGeom>
          <a:solidFill>
            <a:srgbClr val="BD9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 y="6821424"/>
            <a:ext cx="12136831" cy="36576"/>
          </a:xfrm>
          <a:prstGeom prst="rect">
            <a:avLst/>
          </a:prstGeom>
          <a:solidFill>
            <a:srgbClr val="BD9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73152"/>
            <a:ext cx="7315200" cy="274320"/>
          </a:xfrm>
          <a:prstGeom prst="rect">
            <a:avLst/>
          </a:prstGeom>
          <a:noFill/>
        </p:spPr>
        <p:txBody>
          <a:bodyPr wrap="square">
            <a:spAutoFit/>
          </a:bodyPr>
          <a:lstStyle/>
          <a:p>
            <a:pPr algn="l"/>
            <a:r>
              <a:rPr sz="1100" b="1" i="0">
                <a:solidFill>
                  <a:srgbClr val="BD93F9"/>
                </a:solidFill>
                <a:latin typeface="Calibri"/>
              </a:rPr>
              <a:t>AGENT ARCHITECTURE</a:t>
            </a:r>
          </a:p>
        </p:txBody>
      </p:sp>
      <p:sp>
        <p:nvSpPr>
          <p:cNvPr id="6" name="TextBox 5"/>
          <p:cNvSpPr txBox="1"/>
          <p:nvPr/>
        </p:nvSpPr>
        <p:spPr>
          <a:xfrm>
            <a:off x="274320" y="347472"/>
            <a:ext cx="10972800" cy="566928"/>
          </a:xfrm>
          <a:prstGeom prst="rect">
            <a:avLst/>
          </a:prstGeom>
          <a:noFill/>
        </p:spPr>
        <p:txBody>
          <a:bodyPr wrap="square">
            <a:spAutoFit/>
          </a:bodyPr>
          <a:lstStyle/>
          <a:p>
            <a:pPr algn="l"/>
            <a:r>
              <a:rPr sz="3000" b="1" i="0">
                <a:solidFill>
                  <a:srgbClr val="FFFFFF"/>
                </a:solidFill>
                <a:latin typeface="Calibri"/>
              </a:rPr>
              <a:t>The 6 Specialized AI Agents — Roles, Tools, Behaviors</a:t>
            </a:r>
          </a:p>
        </p:txBody>
      </p:sp>
      <p:sp>
        <p:nvSpPr>
          <p:cNvPr id="7" name="Rectangle 6"/>
          <p:cNvSpPr/>
          <p:nvPr/>
        </p:nvSpPr>
        <p:spPr>
          <a:xfrm>
            <a:off x="274320" y="914400"/>
            <a:ext cx="4572000" cy="27432"/>
          </a:xfrm>
          <a:prstGeom prst="rect">
            <a:avLst/>
          </a:prstGeom>
          <a:solidFill>
            <a:srgbClr val="BD9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74320" y="1005840"/>
            <a:ext cx="3749039" cy="2331720"/>
          </a:xfrm>
          <a:prstGeom prst="rect">
            <a:avLst/>
          </a:prstGeom>
          <a:solidFill>
            <a:srgbClr val="10162B"/>
          </a:solidFill>
          <a:ln w="1905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017519" y="1005840"/>
            <a:ext cx="1005840" cy="274320"/>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054095" y="1033272"/>
            <a:ext cx="950976" cy="219456"/>
          </a:xfrm>
          <a:prstGeom prst="rect">
            <a:avLst/>
          </a:prstGeom>
          <a:noFill/>
        </p:spPr>
        <p:txBody>
          <a:bodyPr wrap="square">
            <a:spAutoFit/>
          </a:bodyPr>
          <a:lstStyle/>
          <a:p>
            <a:pPr algn="ctr"/>
            <a:r>
              <a:rPr sz="800" b="1" i="0">
                <a:solidFill>
                  <a:srgbClr val="0A0D1A"/>
                </a:solidFill>
                <a:latin typeface="Calibri"/>
              </a:rPr>
              <a:t>ORCHESTRATION</a:t>
            </a:r>
          </a:p>
        </p:txBody>
      </p:sp>
      <p:sp>
        <p:nvSpPr>
          <p:cNvPr id="11" name="TextBox 10"/>
          <p:cNvSpPr txBox="1"/>
          <p:nvPr/>
        </p:nvSpPr>
        <p:spPr>
          <a:xfrm>
            <a:off x="384048" y="1078992"/>
            <a:ext cx="2578607" cy="310896"/>
          </a:xfrm>
          <a:prstGeom prst="rect">
            <a:avLst/>
          </a:prstGeom>
          <a:noFill/>
        </p:spPr>
        <p:txBody>
          <a:bodyPr wrap="square">
            <a:spAutoFit/>
          </a:bodyPr>
          <a:lstStyle/>
          <a:p>
            <a:pPr algn="l"/>
            <a:r>
              <a:rPr sz="1300" b="1" i="0">
                <a:solidFill>
                  <a:srgbClr val="00E5FF"/>
                </a:solidFill>
                <a:latin typeface="Calibri"/>
              </a:rPr>
              <a:t>👑  Commander Agent</a:t>
            </a:r>
          </a:p>
        </p:txBody>
      </p:sp>
      <p:sp>
        <p:nvSpPr>
          <p:cNvPr id="12" name="Rectangle 11"/>
          <p:cNvSpPr/>
          <p:nvPr/>
        </p:nvSpPr>
        <p:spPr>
          <a:xfrm>
            <a:off x="384048" y="1426464"/>
            <a:ext cx="3529583" cy="22860"/>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84048" y="1463040"/>
            <a:ext cx="3566159" cy="292608"/>
          </a:xfrm>
          <a:prstGeom prst="rect">
            <a:avLst/>
          </a:prstGeom>
          <a:noFill/>
        </p:spPr>
        <p:txBody>
          <a:bodyPr wrap="square">
            <a:spAutoFit/>
          </a:bodyPr>
          <a:lstStyle/>
          <a:p>
            <a:pPr algn="l"/>
            <a:r>
              <a:rPr sz="1000" b="0" i="1">
                <a:solidFill>
                  <a:srgbClr val="FFFFFF"/>
                </a:solidFill>
                <a:latin typeface="Calibri"/>
              </a:rPr>
              <a:t>Reads the dual graph. Plans. Delegates. Never runs tools.</a:t>
            </a:r>
          </a:p>
        </p:txBody>
      </p:sp>
      <p:sp>
        <p:nvSpPr>
          <p:cNvPr id="14" name="Rectangle 13"/>
          <p:cNvSpPr/>
          <p:nvPr/>
        </p:nvSpPr>
        <p:spPr>
          <a:xfrm>
            <a:off x="384048" y="1792224"/>
            <a:ext cx="3529583" cy="292608"/>
          </a:xfrm>
          <a:prstGeom prst="rect">
            <a:avLst/>
          </a:prstGeom>
          <a:solidFill>
            <a:srgbClr val="081020"/>
          </a:solidFill>
          <a:ln w="762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1819656"/>
            <a:ext cx="3419855" cy="237744"/>
          </a:xfrm>
          <a:prstGeom prst="rect">
            <a:avLst/>
          </a:prstGeom>
          <a:noFill/>
        </p:spPr>
        <p:txBody>
          <a:bodyPr wrap="square">
            <a:spAutoFit/>
          </a:bodyPr>
          <a:lstStyle/>
          <a:p>
            <a:pPr algn="l"/>
            <a:r>
              <a:rPr sz="900" b="1" i="0">
                <a:solidFill>
                  <a:srgbClr val="00E5FF"/>
                </a:solidFill>
                <a:latin typeface="Calibri"/>
              </a:rPr>
              <a:t>No tools — reasons over ASG + APG</a:t>
            </a:r>
          </a:p>
        </p:txBody>
      </p:sp>
      <p:sp>
        <p:nvSpPr>
          <p:cNvPr id="16" name="TextBox 15"/>
          <p:cNvSpPr txBox="1"/>
          <p:nvPr/>
        </p:nvSpPr>
        <p:spPr>
          <a:xfrm>
            <a:off x="384048" y="2148840"/>
            <a:ext cx="3566159" cy="1115568"/>
          </a:xfrm>
          <a:prstGeom prst="rect">
            <a:avLst/>
          </a:prstGeom>
          <a:noFill/>
        </p:spPr>
        <p:txBody>
          <a:bodyPr wrap="square">
            <a:spAutoFit/>
          </a:bodyPr>
          <a:lstStyle/>
          <a:p>
            <a:pPr algn="l"/>
            <a:r>
              <a:rPr sz="950" b="0" i="0">
                <a:solidFill>
                  <a:srgbClr val="A0AAB8"/>
                </a:solidFill>
                <a:latin typeface="Calibri"/>
              </a:rPr>
              <a:t>The only agent that writes to the APG. Approves High-risk ops via mailbox. Governs the Observe → Reason → Plan → Execute loop.</a:t>
            </a:r>
          </a:p>
        </p:txBody>
      </p:sp>
      <p:sp>
        <p:nvSpPr>
          <p:cNvPr id="17" name="Rectangle 16"/>
          <p:cNvSpPr/>
          <p:nvPr/>
        </p:nvSpPr>
        <p:spPr>
          <a:xfrm>
            <a:off x="4133087" y="1005840"/>
            <a:ext cx="3749039" cy="2331720"/>
          </a:xfrm>
          <a:prstGeom prst="rect">
            <a:avLst/>
          </a:prstGeom>
          <a:solidFill>
            <a:srgbClr val="10162B"/>
          </a:solidFill>
          <a:ln w="1905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876286" y="1005840"/>
            <a:ext cx="1005840" cy="274320"/>
          </a:xfrm>
          <a:prstGeom prst="rect">
            <a:avLst/>
          </a:prstGeom>
          <a:solidFill>
            <a:srgbClr val="39FF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912862" y="1033272"/>
            <a:ext cx="950976" cy="219456"/>
          </a:xfrm>
          <a:prstGeom prst="rect">
            <a:avLst/>
          </a:prstGeom>
          <a:noFill/>
        </p:spPr>
        <p:txBody>
          <a:bodyPr wrap="square">
            <a:spAutoFit/>
          </a:bodyPr>
          <a:lstStyle/>
          <a:p>
            <a:pPr algn="ctr"/>
            <a:r>
              <a:rPr sz="800" b="1" i="0">
                <a:solidFill>
                  <a:srgbClr val="0A0D1A"/>
                </a:solidFill>
                <a:latin typeface="Calibri"/>
              </a:rPr>
              <a:t>PHASE 1</a:t>
            </a:r>
          </a:p>
        </p:txBody>
      </p:sp>
      <p:sp>
        <p:nvSpPr>
          <p:cNvPr id="20" name="TextBox 19"/>
          <p:cNvSpPr txBox="1"/>
          <p:nvPr/>
        </p:nvSpPr>
        <p:spPr>
          <a:xfrm>
            <a:off x="4242815" y="1078992"/>
            <a:ext cx="2578607" cy="310896"/>
          </a:xfrm>
          <a:prstGeom prst="rect">
            <a:avLst/>
          </a:prstGeom>
          <a:noFill/>
        </p:spPr>
        <p:txBody>
          <a:bodyPr wrap="square">
            <a:spAutoFit/>
          </a:bodyPr>
          <a:lstStyle/>
          <a:p>
            <a:pPr algn="l"/>
            <a:r>
              <a:rPr sz="1300" b="1" i="0">
                <a:solidFill>
                  <a:srgbClr val="39FF14"/>
                </a:solidFill>
                <a:latin typeface="Calibri"/>
              </a:rPr>
              <a:t>🕵️  Recon Agent</a:t>
            </a:r>
          </a:p>
        </p:txBody>
      </p:sp>
      <p:sp>
        <p:nvSpPr>
          <p:cNvPr id="21" name="Rectangle 20"/>
          <p:cNvSpPr/>
          <p:nvPr/>
        </p:nvSpPr>
        <p:spPr>
          <a:xfrm>
            <a:off x="4242815" y="1426464"/>
            <a:ext cx="3529583" cy="22860"/>
          </a:xfrm>
          <a:prstGeom prst="rect">
            <a:avLst/>
          </a:prstGeom>
          <a:solidFill>
            <a:srgbClr val="39FF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242815" y="1463040"/>
            <a:ext cx="3566159" cy="292608"/>
          </a:xfrm>
          <a:prstGeom prst="rect">
            <a:avLst/>
          </a:prstGeom>
          <a:noFill/>
        </p:spPr>
        <p:txBody>
          <a:bodyPr wrap="square">
            <a:spAutoFit/>
          </a:bodyPr>
          <a:lstStyle/>
          <a:p>
            <a:pPr algn="l"/>
            <a:r>
              <a:rPr sz="1000" b="0" i="1">
                <a:solidFill>
                  <a:srgbClr val="FFFFFF"/>
                </a:solidFill>
                <a:latin typeface="Calibri"/>
              </a:rPr>
              <a:t>External reconnaissance and host discovery.</a:t>
            </a:r>
          </a:p>
        </p:txBody>
      </p:sp>
      <p:sp>
        <p:nvSpPr>
          <p:cNvPr id="23" name="Rectangle 22"/>
          <p:cNvSpPr/>
          <p:nvPr/>
        </p:nvSpPr>
        <p:spPr>
          <a:xfrm>
            <a:off x="4242815" y="1792224"/>
            <a:ext cx="3529583" cy="292608"/>
          </a:xfrm>
          <a:prstGeom prst="rect">
            <a:avLst/>
          </a:prstGeom>
          <a:solidFill>
            <a:srgbClr val="081020"/>
          </a:solidFill>
          <a:ln w="762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315967" y="1819656"/>
            <a:ext cx="3419855" cy="237744"/>
          </a:xfrm>
          <a:prstGeom prst="rect">
            <a:avLst/>
          </a:prstGeom>
          <a:noFill/>
        </p:spPr>
        <p:txBody>
          <a:bodyPr wrap="square">
            <a:spAutoFit/>
          </a:bodyPr>
          <a:lstStyle/>
          <a:p>
            <a:pPr algn="l"/>
            <a:r>
              <a:rPr sz="900" b="1" i="0">
                <a:solidFill>
                  <a:srgbClr val="39FF14"/>
                </a:solidFill>
                <a:latin typeface="Calibri"/>
              </a:rPr>
              <a:t>Amass  ·  httpx  ·  Nmap</a:t>
            </a:r>
          </a:p>
        </p:txBody>
      </p:sp>
      <p:sp>
        <p:nvSpPr>
          <p:cNvPr id="25" name="TextBox 24"/>
          <p:cNvSpPr txBox="1"/>
          <p:nvPr/>
        </p:nvSpPr>
        <p:spPr>
          <a:xfrm>
            <a:off x="4242815" y="2148840"/>
            <a:ext cx="3566159" cy="1115568"/>
          </a:xfrm>
          <a:prstGeom prst="rect">
            <a:avLst/>
          </a:prstGeom>
          <a:noFill/>
        </p:spPr>
        <p:txBody>
          <a:bodyPr wrap="square">
            <a:spAutoFit/>
          </a:bodyPr>
          <a:lstStyle/>
          <a:p>
            <a:pPr algn="l"/>
            <a:r>
              <a:rPr sz="950" b="0" i="0">
                <a:solidFill>
                  <a:srgbClr val="A0AAB8"/>
                </a:solidFill>
                <a:latin typeface="Calibri"/>
              </a:rPr>
              <a:t>Discovers subdomains, validates live hosts, identifies open ports and services. Writes Domain, Host, Port, Service nodes to ASG.</a:t>
            </a:r>
          </a:p>
        </p:txBody>
      </p:sp>
      <p:sp>
        <p:nvSpPr>
          <p:cNvPr id="26" name="Rectangle 25"/>
          <p:cNvSpPr/>
          <p:nvPr/>
        </p:nvSpPr>
        <p:spPr>
          <a:xfrm>
            <a:off x="7991854" y="1005840"/>
            <a:ext cx="3749039" cy="2331720"/>
          </a:xfrm>
          <a:prstGeom prst="rect">
            <a:avLst/>
          </a:prstGeom>
          <a:solidFill>
            <a:srgbClr val="10162B"/>
          </a:solidFill>
          <a:ln w="19050">
            <a:solidFill>
              <a:srgbClr val="00BF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0735053" y="1005840"/>
            <a:ext cx="1005840" cy="274320"/>
          </a:xfrm>
          <a:prstGeom prst="rect">
            <a:avLst/>
          </a:prstGeom>
          <a:solidFill>
            <a:srgbClr val="00BF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771629" y="1033272"/>
            <a:ext cx="950976" cy="219456"/>
          </a:xfrm>
          <a:prstGeom prst="rect">
            <a:avLst/>
          </a:prstGeom>
          <a:noFill/>
        </p:spPr>
        <p:txBody>
          <a:bodyPr wrap="square">
            <a:spAutoFit/>
          </a:bodyPr>
          <a:lstStyle/>
          <a:p>
            <a:pPr algn="ctr"/>
            <a:r>
              <a:rPr sz="800" b="1" i="0">
                <a:solidFill>
                  <a:srgbClr val="0A0D1A"/>
                </a:solidFill>
                <a:latin typeface="Calibri"/>
              </a:rPr>
              <a:t>PHASE 2</a:t>
            </a:r>
          </a:p>
        </p:txBody>
      </p:sp>
      <p:sp>
        <p:nvSpPr>
          <p:cNvPr id="29" name="TextBox 28"/>
          <p:cNvSpPr txBox="1"/>
          <p:nvPr/>
        </p:nvSpPr>
        <p:spPr>
          <a:xfrm>
            <a:off x="8101582" y="1078992"/>
            <a:ext cx="2578607" cy="310896"/>
          </a:xfrm>
          <a:prstGeom prst="rect">
            <a:avLst/>
          </a:prstGeom>
          <a:noFill/>
        </p:spPr>
        <p:txBody>
          <a:bodyPr wrap="square">
            <a:spAutoFit/>
          </a:bodyPr>
          <a:lstStyle/>
          <a:p>
            <a:pPr algn="l"/>
            <a:r>
              <a:rPr sz="1300" b="1" i="0">
                <a:solidFill>
                  <a:srgbClr val="00BFD8"/>
                </a:solidFill>
                <a:latin typeface="Calibri"/>
              </a:rPr>
              <a:t>🔬  Analysis Agent</a:t>
            </a:r>
          </a:p>
        </p:txBody>
      </p:sp>
      <p:sp>
        <p:nvSpPr>
          <p:cNvPr id="30" name="Rectangle 29"/>
          <p:cNvSpPr/>
          <p:nvPr/>
        </p:nvSpPr>
        <p:spPr>
          <a:xfrm>
            <a:off x="8101582" y="1426464"/>
            <a:ext cx="3529583" cy="22860"/>
          </a:xfrm>
          <a:prstGeom prst="rect">
            <a:avLst/>
          </a:prstGeom>
          <a:solidFill>
            <a:srgbClr val="00BF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101582" y="1463040"/>
            <a:ext cx="3566159" cy="292608"/>
          </a:xfrm>
          <a:prstGeom prst="rect">
            <a:avLst/>
          </a:prstGeom>
          <a:noFill/>
        </p:spPr>
        <p:txBody>
          <a:bodyPr wrap="square">
            <a:spAutoFit/>
          </a:bodyPr>
          <a:lstStyle/>
          <a:p>
            <a:pPr algn="l"/>
            <a:r>
              <a:rPr sz="1000" b="0" i="1">
                <a:solidFill>
                  <a:srgbClr val="FFFFFF"/>
                </a:solidFill>
                <a:latin typeface="Calibri"/>
              </a:rPr>
              <a:t>Deep enumeration and vulnerability discovery.</a:t>
            </a:r>
          </a:p>
        </p:txBody>
      </p:sp>
      <p:sp>
        <p:nvSpPr>
          <p:cNvPr id="32" name="Rectangle 31"/>
          <p:cNvSpPr/>
          <p:nvPr/>
        </p:nvSpPr>
        <p:spPr>
          <a:xfrm>
            <a:off x="8101582" y="1792224"/>
            <a:ext cx="3529583" cy="292608"/>
          </a:xfrm>
          <a:prstGeom prst="rect">
            <a:avLst/>
          </a:prstGeom>
          <a:solidFill>
            <a:srgbClr val="081020"/>
          </a:solidFill>
          <a:ln w="7620">
            <a:solidFill>
              <a:srgbClr val="00BF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174734" y="1819656"/>
            <a:ext cx="3419855" cy="237744"/>
          </a:xfrm>
          <a:prstGeom prst="rect">
            <a:avLst/>
          </a:prstGeom>
          <a:noFill/>
        </p:spPr>
        <p:txBody>
          <a:bodyPr wrap="square">
            <a:spAutoFit/>
          </a:bodyPr>
          <a:lstStyle/>
          <a:p>
            <a:pPr algn="l"/>
            <a:r>
              <a:rPr sz="900" b="1" i="0">
                <a:solidFill>
                  <a:srgbClr val="00BFD8"/>
                </a:solidFill>
                <a:latin typeface="Calibri"/>
              </a:rPr>
              <a:t>WhatWeb  ·  Gobuster  ·  ffuf  ·  Nuclei  ·  OWASP ZAP</a:t>
            </a:r>
          </a:p>
        </p:txBody>
      </p:sp>
      <p:sp>
        <p:nvSpPr>
          <p:cNvPr id="34" name="TextBox 33"/>
          <p:cNvSpPr txBox="1"/>
          <p:nvPr/>
        </p:nvSpPr>
        <p:spPr>
          <a:xfrm>
            <a:off x="8101582" y="2148840"/>
            <a:ext cx="3566159" cy="1115568"/>
          </a:xfrm>
          <a:prstGeom prst="rect">
            <a:avLst/>
          </a:prstGeom>
          <a:noFill/>
        </p:spPr>
        <p:txBody>
          <a:bodyPr wrap="square">
            <a:spAutoFit/>
          </a:bodyPr>
          <a:lstStyle/>
          <a:p>
            <a:pPr algn="l"/>
            <a:r>
              <a:rPr sz="950" b="0" i="0">
                <a:solidFill>
                  <a:srgbClr val="A0AAB8"/>
                </a:solidFill>
                <a:latin typeface="Calibri"/>
              </a:rPr>
              <a:t>Fingerprints technologies, discovers hidden resources, finds API routes/params, runs automated vuln checks. Writes Technology, Endpoint, Parameter, Vulnerability nodes.</a:t>
            </a:r>
          </a:p>
        </p:txBody>
      </p:sp>
      <p:sp>
        <p:nvSpPr>
          <p:cNvPr id="35" name="Rectangle 34"/>
          <p:cNvSpPr/>
          <p:nvPr/>
        </p:nvSpPr>
        <p:spPr>
          <a:xfrm>
            <a:off x="274320" y="3447288"/>
            <a:ext cx="3749039" cy="2331720"/>
          </a:xfrm>
          <a:prstGeom prst="rect">
            <a:avLst/>
          </a:prstGeom>
          <a:solidFill>
            <a:srgbClr val="10162B"/>
          </a:solidFill>
          <a:ln w="1905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017519" y="3447288"/>
            <a:ext cx="1005840" cy="274320"/>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054095" y="3474720"/>
            <a:ext cx="950976" cy="219456"/>
          </a:xfrm>
          <a:prstGeom prst="rect">
            <a:avLst/>
          </a:prstGeom>
          <a:noFill/>
        </p:spPr>
        <p:txBody>
          <a:bodyPr wrap="square">
            <a:spAutoFit/>
          </a:bodyPr>
          <a:lstStyle/>
          <a:p>
            <a:pPr algn="ctr"/>
            <a:r>
              <a:rPr sz="800" b="1" i="0">
                <a:solidFill>
                  <a:srgbClr val="0A0D1A"/>
                </a:solidFill>
                <a:latin typeface="Calibri"/>
              </a:rPr>
              <a:t>INTELLIGENCE</a:t>
            </a:r>
          </a:p>
        </p:txBody>
      </p:sp>
      <p:sp>
        <p:nvSpPr>
          <p:cNvPr id="38" name="TextBox 37"/>
          <p:cNvSpPr txBox="1"/>
          <p:nvPr/>
        </p:nvSpPr>
        <p:spPr>
          <a:xfrm>
            <a:off x="384048" y="3520440"/>
            <a:ext cx="2578607" cy="310896"/>
          </a:xfrm>
          <a:prstGeom prst="rect">
            <a:avLst/>
          </a:prstGeom>
          <a:noFill/>
        </p:spPr>
        <p:txBody>
          <a:bodyPr wrap="square">
            <a:spAutoFit/>
          </a:bodyPr>
          <a:lstStyle/>
          <a:p>
            <a:pPr algn="l"/>
            <a:r>
              <a:rPr sz="1300" b="1" i="0">
                <a:solidFill>
                  <a:srgbClr val="FFD700"/>
                </a:solidFill>
                <a:latin typeface="Calibri"/>
              </a:rPr>
              <a:t>🔍  Research Agent</a:t>
            </a:r>
          </a:p>
        </p:txBody>
      </p:sp>
      <p:sp>
        <p:nvSpPr>
          <p:cNvPr id="39" name="Rectangle 38"/>
          <p:cNvSpPr/>
          <p:nvPr/>
        </p:nvSpPr>
        <p:spPr>
          <a:xfrm>
            <a:off x="384048" y="3867912"/>
            <a:ext cx="3529583" cy="22860"/>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84048" y="3904488"/>
            <a:ext cx="3566159" cy="292608"/>
          </a:xfrm>
          <a:prstGeom prst="rect">
            <a:avLst/>
          </a:prstGeom>
          <a:noFill/>
        </p:spPr>
        <p:txBody>
          <a:bodyPr wrap="square">
            <a:spAutoFit/>
          </a:bodyPr>
          <a:lstStyle/>
          <a:p>
            <a:pPr algn="l"/>
            <a:r>
              <a:rPr sz="1000" b="0" i="1">
                <a:solidFill>
                  <a:srgbClr val="FFFFFF"/>
                </a:solidFill>
                <a:latin typeface="Calibri"/>
              </a:rPr>
              <a:t>Live vulnerability intelligence grounding.</a:t>
            </a:r>
          </a:p>
        </p:txBody>
      </p:sp>
      <p:sp>
        <p:nvSpPr>
          <p:cNvPr id="41" name="Rectangle 40"/>
          <p:cNvSpPr/>
          <p:nvPr/>
        </p:nvSpPr>
        <p:spPr>
          <a:xfrm>
            <a:off x="384048" y="4233672"/>
            <a:ext cx="3529583" cy="292608"/>
          </a:xfrm>
          <a:prstGeom prst="rect">
            <a:avLst/>
          </a:prstGeom>
          <a:solidFill>
            <a:srgbClr val="081020"/>
          </a:solidFill>
          <a:ln w="762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57200" y="4261104"/>
            <a:ext cx="3419855" cy="237744"/>
          </a:xfrm>
          <a:prstGeom prst="rect">
            <a:avLst/>
          </a:prstGeom>
          <a:noFill/>
        </p:spPr>
        <p:txBody>
          <a:bodyPr wrap="square">
            <a:spAutoFit/>
          </a:bodyPr>
          <a:lstStyle/>
          <a:p>
            <a:pPr algn="l"/>
            <a:r>
              <a:rPr sz="900" b="1" i="0">
                <a:solidFill>
                  <a:srgbClr val="FFD700"/>
                </a:solidFill>
                <a:latin typeface="Calibri"/>
              </a:rPr>
              <a:t>NVD API  ·  Exploit-DB  ·  GitHub  ·  Vendor Advisories</a:t>
            </a:r>
          </a:p>
        </p:txBody>
      </p:sp>
      <p:sp>
        <p:nvSpPr>
          <p:cNvPr id="43" name="TextBox 42"/>
          <p:cNvSpPr txBox="1"/>
          <p:nvPr/>
        </p:nvSpPr>
        <p:spPr>
          <a:xfrm>
            <a:off x="384048" y="4590288"/>
            <a:ext cx="3566159" cy="1115568"/>
          </a:xfrm>
          <a:prstGeom prst="rect">
            <a:avLst/>
          </a:prstGeom>
          <a:noFill/>
        </p:spPr>
        <p:txBody>
          <a:bodyPr wrap="square">
            <a:spAutoFit/>
          </a:bodyPr>
          <a:lstStyle/>
          <a:p>
            <a:pPr algn="l"/>
            <a:r>
              <a:rPr sz="950" b="0" i="0">
                <a:solidFill>
                  <a:srgbClr val="A0AAB8"/>
                </a:solidFill>
                <a:latin typeface="Calibri"/>
              </a:rPr>
              <a:t>The ONLY agent authorized for outbound internet requests. Closes the stale-knowledge gap by enriching ASG Vulnerability nodes with real-time CVE data, CVSS scores, and PoC status.</a:t>
            </a:r>
          </a:p>
        </p:txBody>
      </p:sp>
      <p:sp>
        <p:nvSpPr>
          <p:cNvPr id="44" name="Rectangle 43"/>
          <p:cNvSpPr/>
          <p:nvPr/>
        </p:nvSpPr>
        <p:spPr>
          <a:xfrm>
            <a:off x="4133087" y="3447288"/>
            <a:ext cx="3749039" cy="2331720"/>
          </a:xfrm>
          <a:prstGeom prst="rect">
            <a:avLst/>
          </a:prstGeom>
          <a:solidFill>
            <a:srgbClr val="10162B"/>
          </a:solidFill>
          <a:ln w="19050">
            <a:solidFill>
              <a:srgbClr val="FF45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6876286" y="3447288"/>
            <a:ext cx="1005840" cy="274320"/>
          </a:xfrm>
          <a:prstGeom prst="rect">
            <a:avLst/>
          </a:prstGeom>
          <a:solidFill>
            <a:srgbClr val="FF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912862" y="3474720"/>
            <a:ext cx="950976" cy="219456"/>
          </a:xfrm>
          <a:prstGeom prst="rect">
            <a:avLst/>
          </a:prstGeom>
          <a:noFill/>
        </p:spPr>
        <p:txBody>
          <a:bodyPr wrap="square">
            <a:spAutoFit/>
          </a:bodyPr>
          <a:lstStyle/>
          <a:p>
            <a:pPr algn="ctr"/>
            <a:r>
              <a:rPr sz="800" b="1" i="0">
                <a:solidFill>
                  <a:srgbClr val="0A0D1A"/>
                </a:solidFill>
                <a:latin typeface="Calibri"/>
              </a:rPr>
              <a:t>PHASE 3</a:t>
            </a:r>
          </a:p>
        </p:txBody>
      </p:sp>
      <p:sp>
        <p:nvSpPr>
          <p:cNvPr id="47" name="TextBox 46"/>
          <p:cNvSpPr txBox="1"/>
          <p:nvPr/>
        </p:nvSpPr>
        <p:spPr>
          <a:xfrm>
            <a:off x="4242815" y="3520440"/>
            <a:ext cx="2578607" cy="310896"/>
          </a:xfrm>
          <a:prstGeom prst="rect">
            <a:avLst/>
          </a:prstGeom>
          <a:noFill/>
        </p:spPr>
        <p:txBody>
          <a:bodyPr wrap="square">
            <a:spAutoFit/>
          </a:bodyPr>
          <a:lstStyle/>
          <a:p>
            <a:pPr algn="l"/>
            <a:r>
              <a:rPr sz="1300" b="1" i="0">
                <a:solidFill>
                  <a:srgbClr val="FF4545"/>
                </a:solidFill>
                <a:latin typeface="Calibri"/>
              </a:rPr>
              <a:t>🎯  Validation Agent</a:t>
            </a:r>
          </a:p>
        </p:txBody>
      </p:sp>
      <p:sp>
        <p:nvSpPr>
          <p:cNvPr id="48" name="Rectangle 47"/>
          <p:cNvSpPr/>
          <p:nvPr/>
        </p:nvSpPr>
        <p:spPr>
          <a:xfrm>
            <a:off x="4242815" y="3867912"/>
            <a:ext cx="3529583" cy="22860"/>
          </a:xfrm>
          <a:prstGeom prst="rect">
            <a:avLst/>
          </a:prstGeom>
          <a:solidFill>
            <a:srgbClr val="FF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4242815" y="3904488"/>
            <a:ext cx="3566159" cy="292608"/>
          </a:xfrm>
          <a:prstGeom prst="rect">
            <a:avLst/>
          </a:prstGeom>
          <a:noFill/>
        </p:spPr>
        <p:txBody>
          <a:bodyPr wrap="square">
            <a:spAutoFit/>
          </a:bodyPr>
          <a:lstStyle/>
          <a:p>
            <a:pPr algn="l"/>
            <a:r>
              <a:rPr sz="1000" b="0" i="1">
                <a:solidFill>
                  <a:srgbClr val="FFFFFF"/>
                </a:solidFill>
                <a:latin typeface="Calibri"/>
              </a:rPr>
              <a:t>Proves that discovered vulnerabilities are real and exploitable.</a:t>
            </a:r>
          </a:p>
        </p:txBody>
      </p:sp>
      <p:sp>
        <p:nvSpPr>
          <p:cNvPr id="50" name="Rectangle 49"/>
          <p:cNvSpPr/>
          <p:nvPr/>
        </p:nvSpPr>
        <p:spPr>
          <a:xfrm>
            <a:off x="4242815" y="4233672"/>
            <a:ext cx="3529583" cy="292608"/>
          </a:xfrm>
          <a:prstGeom prst="rect">
            <a:avLst/>
          </a:prstGeom>
          <a:solidFill>
            <a:srgbClr val="081020"/>
          </a:solidFill>
          <a:ln w="7620">
            <a:solidFill>
              <a:srgbClr val="FF45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4315967" y="4261104"/>
            <a:ext cx="3419855" cy="237744"/>
          </a:xfrm>
          <a:prstGeom prst="rect">
            <a:avLst/>
          </a:prstGeom>
          <a:noFill/>
        </p:spPr>
        <p:txBody>
          <a:bodyPr wrap="square">
            <a:spAutoFit/>
          </a:bodyPr>
          <a:lstStyle/>
          <a:p>
            <a:pPr algn="l"/>
            <a:r>
              <a:rPr sz="900" b="1" i="0">
                <a:solidFill>
                  <a:srgbClr val="FF4545"/>
                </a:solidFill>
                <a:latin typeface="Calibri"/>
              </a:rPr>
              <a:t>SQLMap  ·  Metasploit</a:t>
            </a:r>
          </a:p>
        </p:txBody>
      </p:sp>
      <p:sp>
        <p:nvSpPr>
          <p:cNvPr id="52" name="TextBox 51"/>
          <p:cNvSpPr txBox="1"/>
          <p:nvPr/>
        </p:nvSpPr>
        <p:spPr>
          <a:xfrm>
            <a:off x="4242815" y="4590288"/>
            <a:ext cx="3566159" cy="1115568"/>
          </a:xfrm>
          <a:prstGeom prst="rect">
            <a:avLst/>
          </a:prstGeom>
          <a:noFill/>
        </p:spPr>
        <p:txBody>
          <a:bodyPr wrap="square">
            <a:spAutoFit/>
          </a:bodyPr>
          <a:lstStyle/>
          <a:p>
            <a:pPr algn="l"/>
            <a:r>
              <a:rPr sz="950" b="0" i="0">
                <a:solidFill>
                  <a:srgbClr val="A0AAB8"/>
                </a:solidFill>
                <a:latin typeface="Calibri"/>
              </a:rPr>
              <a:t>Executes controlled exploitation to validate each APG ChainStep. Self-debugging loop: Diagnose → Contextualize → Adapt → Retry (cap: 3). Advances ChainStep status to VALIDATED or RULED_OUT.</a:t>
            </a:r>
          </a:p>
        </p:txBody>
      </p:sp>
      <p:sp>
        <p:nvSpPr>
          <p:cNvPr id="53" name="Rectangle 52"/>
          <p:cNvSpPr/>
          <p:nvPr/>
        </p:nvSpPr>
        <p:spPr>
          <a:xfrm>
            <a:off x="7991854" y="3447288"/>
            <a:ext cx="3749039" cy="2331720"/>
          </a:xfrm>
          <a:prstGeom prst="rect">
            <a:avLst/>
          </a:prstGeom>
          <a:solidFill>
            <a:srgbClr val="10162B"/>
          </a:solidFill>
          <a:ln w="19050">
            <a:solidFill>
              <a:srgbClr val="BD93F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10735053" y="3447288"/>
            <a:ext cx="1005840" cy="274320"/>
          </a:xfrm>
          <a:prstGeom prst="rect">
            <a:avLst/>
          </a:prstGeom>
          <a:solidFill>
            <a:srgbClr val="BD9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10771629" y="3474720"/>
            <a:ext cx="950976" cy="219456"/>
          </a:xfrm>
          <a:prstGeom prst="rect">
            <a:avLst/>
          </a:prstGeom>
          <a:noFill/>
        </p:spPr>
        <p:txBody>
          <a:bodyPr wrap="square">
            <a:spAutoFit/>
          </a:bodyPr>
          <a:lstStyle/>
          <a:p>
            <a:pPr algn="ctr"/>
            <a:r>
              <a:rPr sz="800" b="1" i="0">
                <a:solidFill>
                  <a:srgbClr val="0A0D1A"/>
                </a:solidFill>
                <a:latin typeface="Calibri"/>
              </a:rPr>
              <a:t>PHASE 3</a:t>
            </a:r>
          </a:p>
        </p:txBody>
      </p:sp>
      <p:sp>
        <p:nvSpPr>
          <p:cNvPr id="56" name="TextBox 55"/>
          <p:cNvSpPr txBox="1"/>
          <p:nvPr/>
        </p:nvSpPr>
        <p:spPr>
          <a:xfrm>
            <a:off x="8101582" y="3520440"/>
            <a:ext cx="2578607" cy="310896"/>
          </a:xfrm>
          <a:prstGeom prst="rect">
            <a:avLst/>
          </a:prstGeom>
          <a:noFill/>
        </p:spPr>
        <p:txBody>
          <a:bodyPr wrap="square">
            <a:spAutoFit/>
          </a:bodyPr>
          <a:lstStyle/>
          <a:p>
            <a:pPr algn="l"/>
            <a:r>
              <a:rPr sz="1300" b="1" i="0">
                <a:solidFill>
                  <a:srgbClr val="BD93F9"/>
                </a:solidFill>
                <a:latin typeface="Calibri"/>
              </a:rPr>
              <a:t>📸  Evidence Agent</a:t>
            </a:r>
          </a:p>
        </p:txBody>
      </p:sp>
      <p:sp>
        <p:nvSpPr>
          <p:cNvPr id="57" name="Rectangle 56"/>
          <p:cNvSpPr/>
          <p:nvPr/>
        </p:nvSpPr>
        <p:spPr>
          <a:xfrm>
            <a:off x="8101582" y="3867912"/>
            <a:ext cx="3529583" cy="22860"/>
          </a:xfrm>
          <a:prstGeom prst="rect">
            <a:avLst/>
          </a:prstGeom>
          <a:solidFill>
            <a:srgbClr val="BD9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8101582" y="3904488"/>
            <a:ext cx="3566159" cy="292608"/>
          </a:xfrm>
          <a:prstGeom prst="rect">
            <a:avLst/>
          </a:prstGeom>
          <a:noFill/>
        </p:spPr>
        <p:txBody>
          <a:bodyPr wrap="square">
            <a:spAutoFit/>
          </a:bodyPr>
          <a:lstStyle/>
          <a:p>
            <a:pPr algn="l"/>
            <a:r>
              <a:rPr sz="1000" b="0" i="1">
                <a:solidFill>
                  <a:srgbClr val="FFFFFF"/>
                </a:solidFill>
                <a:latin typeface="Calibri"/>
              </a:rPr>
              <a:t>Captures proof artifacts for every validated finding.</a:t>
            </a:r>
          </a:p>
        </p:txBody>
      </p:sp>
      <p:sp>
        <p:nvSpPr>
          <p:cNvPr id="59" name="Rectangle 58"/>
          <p:cNvSpPr/>
          <p:nvPr/>
        </p:nvSpPr>
        <p:spPr>
          <a:xfrm>
            <a:off x="8101582" y="4233672"/>
            <a:ext cx="3529583" cy="292608"/>
          </a:xfrm>
          <a:prstGeom prst="rect">
            <a:avLst/>
          </a:prstGeom>
          <a:solidFill>
            <a:srgbClr val="081020"/>
          </a:solidFill>
          <a:ln w="7620">
            <a:solidFill>
              <a:srgbClr val="BD93F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8174734" y="4261104"/>
            <a:ext cx="3419855" cy="237744"/>
          </a:xfrm>
          <a:prstGeom prst="rect">
            <a:avLst/>
          </a:prstGeom>
          <a:noFill/>
        </p:spPr>
        <p:txBody>
          <a:bodyPr wrap="square">
            <a:spAutoFit/>
          </a:bodyPr>
          <a:lstStyle/>
          <a:p>
            <a:pPr algn="l"/>
            <a:r>
              <a:rPr sz="900" b="1" i="0">
                <a:solidFill>
                  <a:srgbClr val="BD93F9"/>
                </a:solidFill>
                <a:latin typeface="Calibri"/>
              </a:rPr>
              <a:t>EyeWitness</a:t>
            </a:r>
          </a:p>
        </p:txBody>
      </p:sp>
      <p:sp>
        <p:nvSpPr>
          <p:cNvPr id="61" name="TextBox 60"/>
          <p:cNvSpPr txBox="1"/>
          <p:nvPr/>
        </p:nvSpPr>
        <p:spPr>
          <a:xfrm>
            <a:off x="8101582" y="4590288"/>
            <a:ext cx="3566159" cy="1115568"/>
          </a:xfrm>
          <a:prstGeom prst="rect">
            <a:avLst/>
          </a:prstGeom>
          <a:noFill/>
        </p:spPr>
        <p:txBody>
          <a:bodyPr wrap="square">
            <a:spAutoFit/>
          </a:bodyPr>
          <a:lstStyle/>
          <a:p>
            <a:pPr algn="l"/>
            <a:r>
              <a:rPr sz="950" b="0" i="0">
                <a:solidFill>
                  <a:srgbClr val="A0AAB8"/>
                </a:solidFill>
                <a:latin typeface="Calibri"/>
              </a:rPr>
              <a:t>Screenshots exposed panels, API responses, exploitation results. Links all Evidence nodes to corresponding ASG nodes via validated_by edges — every finding is traceable to its proof.</a:t>
            </a:r>
          </a:p>
        </p:txBody>
      </p:sp>
      <p:sp>
        <p:nvSpPr>
          <p:cNvPr id="62" name="Rectangle 61"/>
          <p:cNvSpPr/>
          <p:nvPr/>
        </p:nvSpPr>
        <p:spPr>
          <a:xfrm>
            <a:off x="274320" y="6400800"/>
            <a:ext cx="11643055" cy="347472"/>
          </a:xfrm>
          <a:prstGeom prst="rect">
            <a:avLst/>
          </a:prstGeom>
          <a:solidFill>
            <a:srgbClr val="0E1428"/>
          </a:solidFill>
          <a:ln w="12700">
            <a:solidFill>
              <a:srgbClr val="BD93F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502920" y="6437376"/>
            <a:ext cx="11368735" cy="292608"/>
          </a:xfrm>
          <a:prstGeom prst="rect">
            <a:avLst/>
          </a:prstGeom>
          <a:noFill/>
        </p:spPr>
        <p:txBody>
          <a:bodyPr wrap="none">
            <a:spAutoFit/>
          </a:bodyPr>
          <a:lstStyle/>
          <a:p>
            <a:pPr algn="l"/>
            <a:r>
              <a:rPr sz="1000" b="0" i="0">
                <a:solidFill>
                  <a:srgbClr val="BD93F9"/>
                </a:solidFill>
                <a:latin typeface="Calibri"/>
              </a:rPr>
              <a:t>Context-Isolated Spawning:  Each agent receives only the ASG/APG slice it needs + its authorized toolset. Working context discarded on return.  Agents cannot contaminate each other's reasoning.</a:t>
            </a:r>
          </a:p>
        </p:txBody>
      </p:sp>
      <p:sp>
        <p:nvSpPr>
          <p:cNvPr id="64" name="TextBox 63"/>
          <p:cNvSpPr txBox="1"/>
          <p:nvPr/>
        </p:nvSpPr>
        <p:spPr>
          <a:xfrm>
            <a:off x="11825935" y="6355080"/>
            <a:ext cx="320040" cy="411480"/>
          </a:xfrm>
          <a:prstGeom prst="rect">
            <a:avLst/>
          </a:prstGeom>
          <a:noFill/>
        </p:spPr>
        <p:txBody>
          <a:bodyPr wrap="square">
            <a:spAutoFit/>
          </a:bodyPr>
          <a:lstStyle/>
          <a:p>
            <a:pPr algn="r"/>
            <a:r>
              <a:rPr sz="1300" b="1" i="0">
                <a:solidFill>
                  <a:srgbClr val="BD93F9"/>
                </a:solidFill>
                <a:latin typeface="Calibri"/>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0D1A"/>
        </a:solidFill>
        <a:effectLst/>
      </p:bgPr>
    </p:bg>
    <p:spTree>
      <p:nvGrpSpPr>
        <p:cNvPr id="1" name=""/>
        <p:cNvGrpSpPr/>
        <p:nvPr/>
      </p:nvGrpSpPr>
      <p:grpSpPr/>
      <p:sp>
        <p:nvSpPr>
          <p:cNvPr id="2" name="Rectangle 1"/>
          <p:cNvSpPr/>
          <p:nvPr/>
        </p:nvSpPr>
        <p:spPr>
          <a:xfrm>
            <a:off x="0" y="0"/>
            <a:ext cx="54864" cy="6858000"/>
          </a:xfrm>
          <a:prstGeom prst="rect">
            <a:avLst/>
          </a:prstGeom>
          <a:solidFill>
            <a:srgbClr val="FF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 y="0"/>
            <a:ext cx="12136831" cy="36576"/>
          </a:xfrm>
          <a:prstGeom prst="rect">
            <a:avLst/>
          </a:prstGeom>
          <a:solidFill>
            <a:srgbClr val="FF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 y="6821424"/>
            <a:ext cx="12136831" cy="36576"/>
          </a:xfrm>
          <a:prstGeom prst="rect">
            <a:avLst/>
          </a:prstGeom>
          <a:solidFill>
            <a:srgbClr val="FF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73152"/>
            <a:ext cx="7315200" cy="274320"/>
          </a:xfrm>
          <a:prstGeom prst="rect">
            <a:avLst/>
          </a:prstGeom>
          <a:noFill/>
        </p:spPr>
        <p:txBody>
          <a:bodyPr wrap="square">
            <a:spAutoFit/>
          </a:bodyPr>
          <a:lstStyle/>
          <a:p>
            <a:pPr algn="l"/>
            <a:r>
              <a:rPr sz="1100" b="1" i="0">
                <a:solidFill>
                  <a:srgbClr val="FF4545"/>
                </a:solidFill>
                <a:latin typeface="Calibri"/>
              </a:rPr>
              <a:t>OFFENSIVE TOOL CATALOGUE</a:t>
            </a:r>
          </a:p>
        </p:txBody>
      </p:sp>
      <p:sp>
        <p:nvSpPr>
          <p:cNvPr id="6" name="TextBox 5"/>
          <p:cNvSpPr txBox="1"/>
          <p:nvPr/>
        </p:nvSpPr>
        <p:spPr>
          <a:xfrm>
            <a:off x="274320" y="347472"/>
            <a:ext cx="10972800" cy="566928"/>
          </a:xfrm>
          <a:prstGeom prst="rect">
            <a:avLst/>
          </a:prstGeom>
          <a:noFill/>
        </p:spPr>
        <p:txBody>
          <a:bodyPr wrap="square">
            <a:spAutoFit/>
          </a:bodyPr>
          <a:lstStyle/>
          <a:p>
            <a:pPr algn="l"/>
            <a:r>
              <a:rPr sz="3000" b="1" i="0">
                <a:solidFill>
                  <a:srgbClr val="FFFFFF"/>
                </a:solidFill>
                <a:latin typeface="Calibri"/>
              </a:rPr>
              <a:t>11 Industry-Standard Security Tools — AI Agent Operated</a:t>
            </a:r>
          </a:p>
        </p:txBody>
      </p:sp>
      <p:sp>
        <p:nvSpPr>
          <p:cNvPr id="7" name="Rectangle 6"/>
          <p:cNvSpPr/>
          <p:nvPr/>
        </p:nvSpPr>
        <p:spPr>
          <a:xfrm>
            <a:off x="274320" y="914400"/>
            <a:ext cx="5486400" cy="27432"/>
          </a:xfrm>
          <a:prstGeom prst="rect">
            <a:avLst/>
          </a:prstGeom>
          <a:solidFill>
            <a:srgbClr val="FF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74320" y="987552"/>
            <a:ext cx="3657600" cy="347472"/>
          </a:xfrm>
          <a:prstGeom prst="rect">
            <a:avLst/>
          </a:prstGeom>
          <a:solidFill>
            <a:srgbClr val="08101C"/>
          </a:solidFill>
          <a:ln w="1524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1042416"/>
            <a:ext cx="3520440" cy="256032"/>
          </a:xfrm>
          <a:prstGeom prst="rect">
            <a:avLst/>
          </a:prstGeom>
          <a:noFill/>
        </p:spPr>
        <p:txBody>
          <a:bodyPr wrap="square">
            <a:spAutoFit/>
          </a:bodyPr>
          <a:lstStyle/>
          <a:p>
            <a:pPr algn="ctr"/>
            <a:r>
              <a:rPr sz="950" b="1" i="0">
                <a:solidFill>
                  <a:srgbClr val="39FF14"/>
                </a:solidFill>
                <a:latin typeface="Calibri"/>
              </a:rPr>
              <a:t>PHASE 1  ·  RECONNAISSANCE</a:t>
            </a:r>
          </a:p>
        </p:txBody>
      </p:sp>
      <p:sp>
        <p:nvSpPr>
          <p:cNvPr id="10" name="Rectangle 9"/>
          <p:cNvSpPr/>
          <p:nvPr/>
        </p:nvSpPr>
        <p:spPr>
          <a:xfrm>
            <a:off x="4160520" y="987552"/>
            <a:ext cx="3657600" cy="347472"/>
          </a:xfrm>
          <a:prstGeom prst="rect">
            <a:avLst/>
          </a:prstGeom>
          <a:solidFill>
            <a:srgbClr val="08101C"/>
          </a:solidFill>
          <a:ln w="1524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251960" y="1042416"/>
            <a:ext cx="3520440" cy="256032"/>
          </a:xfrm>
          <a:prstGeom prst="rect">
            <a:avLst/>
          </a:prstGeom>
          <a:noFill/>
        </p:spPr>
        <p:txBody>
          <a:bodyPr wrap="square">
            <a:spAutoFit/>
          </a:bodyPr>
          <a:lstStyle/>
          <a:p>
            <a:pPr algn="ctr"/>
            <a:r>
              <a:rPr sz="950" b="1" i="0">
                <a:solidFill>
                  <a:srgbClr val="00E5FF"/>
                </a:solidFill>
                <a:latin typeface="Calibri"/>
              </a:rPr>
              <a:t>PHASE 2  ·  ANALYSIS</a:t>
            </a:r>
          </a:p>
        </p:txBody>
      </p:sp>
      <p:sp>
        <p:nvSpPr>
          <p:cNvPr id="12" name="Rectangle 11"/>
          <p:cNvSpPr/>
          <p:nvPr/>
        </p:nvSpPr>
        <p:spPr>
          <a:xfrm>
            <a:off x="8412480" y="987552"/>
            <a:ext cx="1828800" cy="347472"/>
          </a:xfrm>
          <a:prstGeom prst="rect">
            <a:avLst/>
          </a:prstGeom>
          <a:solidFill>
            <a:srgbClr val="08101C"/>
          </a:solidFill>
          <a:ln w="15240">
            <a:solidFill>
              <a:srgbClr val="FF45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03920" y="1042416"/>
            <a:ext cx="1691640" cy="256032"/>
          </a:xfrm>
          <a:prstGeom prst="rect">
            <a:avLst/>
          </a:prstGeom>
          <a:noFill/>
        </p:spPr>
        <p:txBody>
          <a:bodyPr wrap="square">
            <a:spAutoFit/>
          </a:bodyPr>
          <a:lstStyle/>
          <a:p>
            <a:pPr algn="ctr"/>
            <a:r>
              <a:rPr sz="950" b="1" i="0">
                <a:solidFill>
                  <a:srgbClr val="FF4545"/>
                </a:solidFill>
                <a:latin typeface="Calibri"/>
              </a:rPr>
              <a:t>PHASE 3  ·  VALIDATION</a:t>
            </a:r>
          </a:p>
        </p:txBody>
      </p:sp>
      <p:sp>
        <p:nvSpPr>
          <p:cNvPr id="14" name="Rectangle 13"/>
          <p:cNvSpPr/>
          <p:nvPr/>
        </p:nvSpPr>
        <p:spPr>
          <a:xfrm>
            <a:off x="10469880" y="987552"/>
            <a:ext cx="1554480" cy="347472"/>
          </a:xfrm>
          <a:prstGeom prst="rect">
            <a:avLst/>
          </a:prstGeom>
          <a:solidFill>
            <a:srgbClr val="08101C"/>
          </a:solidFill>
          <a:ln w="15240">
            <a:solidFill>
              <a:srgbClr val="BD93F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561320" y="1042416"/>
            <a:ext cx="1417320" cy="256032"/>
          </a:xfrm>
          <a:prstGeom prst="rect">
            <a:avLst/>
          </a:prstGeom>
          <a:noFill/>
        </p:spPr>
        <p:txBody>
          <a:bodyPr wrap="square">
            <a:spAutoFit/>
          </a:bodyPr>
          <a:lstStyle/>
          <a:p>
            <a:pPr algn="ctr"/>
            <a:r>
              <a:rPr sz="950" b="1" i="0">
                <a:solidFill>
                  <a:srgbClr val="BD93F9"/>
                </a:solidFill>
                <a:latin typeface="Calibri"/>
              </a:rPr>
              <a:t>PHASE 3  ·  EVIDENCE</a:t>
            </a:r>
          </a:p>
        </p:txBody>
      </p:sp>
      <p:sp>
        <p:nvSpPr>
          <p:cNvPr id="16" name="Rectangle 15"/>
          <p:cNvSpPr/>
          <p:nvPr/>
        </p:nvSpPr>
        <p:spPr>
          <a:xfrm>
            <a:off x="274320" y="1417320"/>
            <a:ext cx="3657600" cy="1557528"/>
          </a:xfrm>
          <a:prstGeom prst="rect">
            <a:avLst/>
          </a:prstGeom>
          <a:solidFill>
            <a:srgbClr val="10162B"/>
          </a:solidFill>
          <a:ln w="1270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74320" y="1417320"/>
            <a:ext cx="365760" cy="1557528"/>
          </a:xfrm>
          <a:prstGeom prst="rect">
            <a:avLst/>
          </a:prstGeom>
          <a:solidFill>
            <a:srgbClr val="39FF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92608" y="2031492"/>
            <a:ext cx="329184" cy="329184"/>
          </a:xfrm>
          <a:prstGeom prst="rect">
            <a:avLst/>
          </a:prstGeom>
          <a:noFill/>
        </p:spPr>
        <p:txBody>
          <a:bodyPr wrap="square">
            <a:spAutoFit/>
          </a:bodyPr>
          <a:lstStyle/>
          <a:p>
            <a:pPr algn="ctr"/>
            <a:r>
              <a:rPr sz="1400" b="1" i="0">
                <a:solidFill>
                  <a:srgbClr val="0A0D1A"/>
                </a:solidFill>
                <a:latin typeface="Calibri"/>
              </a:rPr>
              <a:t>1</a:t>
            </a:r>
          </a:p>
        </p:txBody>
      </p:sp>
      <p:sp>
        <p:nvSpPr>
          <p:cNvPr id="19" name="TextBox 18"/>
          <p:cNvSpPr txBox="1"/>
          <p:nvPr/>
        </p:nvSpPr>
        <p:spPr>
          <a:xfrm>
            <a:off x="731520" y="1472184"/>
            <a:ext cx="3154680" cy="274320"/>
          </a:xfrm>
          <a:prstGeom prst="rect">
            <a:avLst/>
          </a:prstGeom>
          <a:noFill/>
        </p:spPr>
        <p:txBody>
          <a:bodyPr wrap="square">
            <a:spAutoFit/>
          </a:bodyPr>
          <a:lstStyle/>
          <a:p>
            <a:pPr algn="l"/>
            <a:r>
              <a:rPr sz="1300" b="1" i="0">
                <a:solidFill>
                  <a:srgbClr val="39FF14"/>
                </a:solidFill>
                <a:latin typeface="Calibri"/>
              </a:rPr>
              <a:t>Amass</a:t>
            </a:r>
          </a:p>
        </p:txBody>
      </p:sp>
      <p:sp>
        <p:nvSpPr>
          <p:cNvPr id="20" name="TextBox 19"/>
          <p:cNvSpPr txBox="1"/>
          <p:nvPr/>
        </p:nvSpPr>
        <p:spPr>
          <a:xfrm>
            <a:off x="731520" y="1737360"/>
            <a:ext cx="3154680" cy="201168"/>
          </a:xfrm>
          <a:prstGeom prst="rect">
            <a:avLst/>
          </a:prstGeom>
          <a:noFill/>
        </p:spPr>
        <p:txBody>
          <a:bodyPr wrap="square">
            <a:spAutoFit/>
          </a:bodyPr>
          <a:lstStyle/>
          <a:p>
            <a:pPr algn="l"/>
            <a:r>
              <a:rPr sz="850" b="0" i="1">
                <a:solidFill>
                  <a:srgbClr val="A0AAB8"/>
                </a:solidFill>
                <a:latin typeface="Calibri"/>
              </a:rPr>
              <a:t>Subdomain Enumeration  ·  Recon Agent</a:t>
            </a:r>
          </a:p>
        </p:txBody>
      </p:sp>
      <p:sp>
        <p:nvSpPr>
          <p:cNvPr id="21" name="TextBox 20"/>
          <p:cNvSpPr txBox="1"/>
          <p:nvPr/>
        </p:nvSpPr>
        <p:spPr>
          <a:xfrm>
            <a:off x="731520" y="1947672"/>
            <a:ext cx="3154680" cy="963168"/>
          </a:xfrm>
          <a:prstGeom prst="rect">
            <a:avLst/>
          </a:prstGeom>
          <a:noFill/>
        </p:spPr>
        <p:txBody>
          <a:bodyPr wrap="square">
            <a:spAutoFit/>
          </a:bodyPr>
          <a:lstStyle/>
          <a:p>
            <a:pPr algn="l"/>
            <a:r>
              <a:rPr sz="900" b="0" i="0">
                <a:solidFill>
                  <a:srgbClr val="A0AAB8"/>
                </a:solidFill>
                <a:latin typeface="Calibri"/>
              </a:rPr>
              <a:t>DNS brute-force · certificate transparency logs · passive OSINT. Discovers all external subdomains and maps attack surface entry points.</a:t>
            </a:r>
          </a:p>
        </p:txBody>
      </p:sp>
      <p:sp>
        <p:nvSpPr>
          <p:cNvPr id="22" name="Rectangle 21"/>
          <p:cNvSpPr/>
          <p:nvPr/>
        </p:nvSpPr>
        <p:spPr>
          <a:xfrm>
            <a:off x="274320" y="3048000"/>
            <a:ext cx="3657600" cy="1557528"/>
          </a:xfrm>
          <a:prstGeom prst="rect">
            <a:avLst/>
          </a:prstGeom>
          <a:solidFill>
            <a:srgbClr val="10162B"/>
          </a:solidFill>
          <a:ln w="1270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274320" y="3048000"/>
            <a:ext cx="365760" cy="1557528"/>
          </a:xfrm>
          <a:prstGeom prst="rect">
            <a:avLst/>
          </a:prstGeom>
          <a:solidFill>
            <a:srgbClr val="39FF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92608" y="3662172"/>
            <a:ext cx="329184" cy="329184"/>
          </a:xfrm>
          <a:prstGeom prst="rect">
            <a:avLst/>
          </a:prstGeom>
          <a:noFill/>
        </p:spPr>
        <p:txBody>
          <a:bodyPr wrap="square">
            <a:spAutoFit/>
          </a:bodyPr>
          <a:lstStyle/>
          <a:p>
            <a:pPr algn="ctr"/>
            <a:r>
              <a:rPr sz="1400" b="1" i="0">
                <a:solidFill>
                  <a:srgbClr val="0A0D1A"/>
                </a:solidFill>
                <a:latin typeface="Calibri"/>
              </a:rPr>
              <a:t>2</a:t>
            </a:r>
          </a:p>
        </p:txBody>
      </p:sp>
      <p:sp>
        <p:nvSpPr>
          <p:cNvPr id="25" name="TextBox 24"/>
          <p:cNvSpPr txBox="1"/>
          <p:nvPr/>
        </p:nvSpPr>
        <p:spPr>
          <a:xfrm>
            <a:off x="731520" y="3102864"/>
            <a:ext cx="3154680" cy="274320"/>
          </a:xfrm>
          <a:prstGeom prst="rect">
            <a:avLst/>
          </a:prstGeom>
          <a:noFill/>
        </p:spPr>
        <p:txBody>
          <a:bodyPr wrap="square">
            <a:spAutoFit/>
          </a:bodyPr>
          <a:lstStyle/>
          <a:p>
            <a:pPr algn="l"/>
            <a:r>
              <a:rPr sz="1300" b="1" i="0">
                <a:solidFill>
                  <a:srgbClr val="39FF14"/>
                </a:solidFill>
                <a:latin typeface="Calibri"/>
              </a:rPr>
              <a:t>httpx</a:t>
            </a:r>
          </a:p>
        </p:txBody>
      </p:sp>
      <p:sp>
        <p:nvSpPr>
          <p:cNvPr id="26" name="TextBox 25"/>
          <p:cNvSpPr txBox="1"/>
          <p:nvPr/>
        </p:nvSpPr>
        <p:spPr>
          <a:xfrm>
            <a:off x="731520" y="3368040"/>
            <a:ext cx="3154680" cy="201168"/>
          </a:xfrm>
          <a:prstGeom prst="rect">
            <a:avLst/>
          </a:prstGeom>
          <a:noFill/>
        </p:spPr>
        <p:txBody>
          <a:bodyPr wrap="square">
            <a:spAutoFit/>
          </a:bodyPr>
          <a:lstStyle/>
          <a:p>
            <a:pPr algn="l"/>
            <a:r>
              <a:rPr sz="850" b="0" i="1">
                <a:solidFill>
                  <a:srgbClr val="A0AAB8"/>
                </a:solidFill>
                <a:latin typeface="Calibri"/>
              </a:rPr>
              <a:t>Live Host Probing  ·  Recon Agent</a:t>
            </a:r>
          </a:p>
        </p:txBody>
      </p:sp>
      <p:sp>
        <p:nvSpPr>
          <p:cNvPr id="27" name="TextBox 26"/>
          <p:cNvSpPr txBox="1"/>
          <p:nvPr/>
        </p:nvSpPr>
        <p:spPr>
          <a:xfrm>
            <a:off x="731520" y="3578352"/>
            <a:ext cx="3154680" cy="963168"/>
          </a:xfrm>
          <a:prstGeom prst="rect">
            <a:avLst/>
          </a:prstGeom>
          <a:noFill/>
        </p:spPr>
        <p:txBody>
          <a:bodyPr wrap="square">
            <a:spAutoFit/>
          </a:bodyPr>
          <a:lstStyle/>
          <a:p>
            <a:pPr algn="l"/>
            <a:r>
              <a:rPr sz="900" b="0" i="0">
                <a:solidFill>
                  <a:srgbClr val="A0AAB8"/>
                </a:solidFill>
                <a:latin typeface="Calibri"/>
              </a:rPr>
              <a:t>Validates which discovered hosts respond over HTTP/HTTPS. Identifies web servers, status codes, redirects, TLS details.</a:t>
            </a:r>
          </a:p>
        </p:txBody>
      </p:sp>
      <p:sp>
        <p:nvSpPr>
          <p:cNvPr id="28" name="Rectangle 27"/>
          <p:cNvSpPr/>
          <p:nvPr/>
        </p:nvSpPr>
        <p:spPr>
          <a:xfrm>
            <a:off x="274320" y="4678680"/>
            <a:ext cx="3657600" cy="1557528"/>
          </a:xfrm>
          <a:prstGeom prst="rect">
            <a:avLst/>
          </a:prstGeom>
          <a:solidFill>
            <a:srgbClr val="10162B"/>
          </a:solidFill>
          <a:ln w="1270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74320" y="4678680"/>
            <a:ext cx="365760" cy="1557528"/>
          </a:xfrm>
          <a:prstGeom prst="rect">
            <a:avLst/>
          </a:prstGeom>
          <a:solidFill>
            <a:srgbClr val="39FF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92608" y="5292852"/>
            <a:ext cx="329184" cy="329184"/>
          </a:xfrm>
          <a:prstGeom prst="rect">
            <a:avLst/>
          </a:prstGeom>
          <a:noFill/>
        </p:spPr>
        <p:txBody>
          <a:bodyPr wrap="square">
            <a:spAutoFit/>
          </a:bodyPr>
          <a:lstStyle/>
          <a:p>
            <a:pPr algn="ctr"/>
            <a:r>
              <a:rPr sz="1400" b="1" i="0">
                <a:solidFill>
                  <a:srgbClr val="0A0D1A"/>
                </a:solidFill>
                <a:latin typeface="Calibri"/>
              </a:rPr>
              <a:t>3</a:t>
            </a:r>
          </a:p>
        </p:txBody>
      </p:sp>
      <p:sp>
        <p:nvSpPr>
          <p:cNvPr id="31" name="TextBox 30"/>
          <p:cNvSpPr txBox="1"/>
          <p:nvPr/>
        </p:nvSpPr>
        <p:spPr>
          <a:xfrm>
            <a:off x="731520" y="4733544"/>
            <a:ext cx="3154680" cy="274320"/>
          </a:xfrm>
          <a:prstGeom prst="rect">
            <a:avLst/>
          </a:prstGeom>
          <a:noFill/>
        </p:spPr>
        <p:txBody>
          <a:bodyPr wrap="square">
            <a:spAutoFit/>
          </a:bodyPr>
          <a:lstStyle/>
          <a:p>
            <a:pPr algn="l"/>
            <a:r>
              <a:rPr sz="1300" b="1" i="0">
                <a:solidFill>
                  <a:srgbClr val="39FF14"/>
                </a:solidFill>
                <a:latin typeface="Calibri"/>
              </a:rPr>
              <a:t>Nmap</a:t>
            </a:r>
          </a:p>
        </p:txBody>
      </p:sp>
      <p:sp>
        <p:nvSpPr>
          <p:cNvPr id="32" name="TextBox 31"/>
          <p:cNvSpPr txBox="1"/>
          <p:nvPr/>
        </p:nvSpPr>
        <p:spPr>
          <a:xfrm>
            <a:off x="731520" y="4998720"/>
            <a:ext cx="3154680" cy="201168"/>
          </a:xfrm>
          <a:prstGeom prst="rect">
            <a:avLst/>
          </a:prstGeom>
          <a:noFill/>
        </p:spPr>
        <p:txBody>
          <a:bodyPr wrap="square">
            <a:spAutoFit/>
          </a:bodyPr>
          <a:lstStyle/>
          <a:p>
            <a:pPr algn="l"/>
            <a:r>
              <a:rPr sz="850" b="0" i="1">
                <a:solidFill>
                  <a:srgbClr val="A0AAB8"/>
                </a:solidFill>
                <a:latin typeface="Calibri"/>
              </a:rPr>
              <a:t>Port + Service Scan  ·  Recon Agent</a:t>
            </a:r>
          </a:p>
        </p:txBody>
      </p:sp>
      <p:sp>
        <p:nvSpPr>
          <p:cNvPr id="33" name="TextBox 32"/>
          <p:cNvSpPr txBox="1"/>
          <p:nvPr/>
        </p:nvSpPr>
        <p:spPr>
          <a:xfrm>
            <a:off x="731520" y="5209032"/>
            <a:ext cx="3154680" cy="963168"/>
          </a:xfrm>
          <a:prstGeom prst="rect">
            <a:avLst/>
          </a:prstGeom>
          <a:noFill/>
        </p:spPr>
        <p:txBody>
          <a:bodyPr wrap="square">
            <a:spAutoFit/>
          </a:bodyPr>
          <a:lstStyle/>
          <a:p>
            <a:pPr algn="l"/>
            <a:r>
              <a:rPr sz="900" b="0" i="0">
                <a:solidFill>
                  <a:srgbClr val="A0AAB8"/>
                </a:solidFill>
                <a:latin typeface="Calibri"/>
              </a:rPr>
              <a:t>Port scanning, service fingerprinting, OS detection. Optional NSE script execution for vuln detection on open services.</a:t>
            </a:r>
          </a:p>
        </p:txBody>
      </p:sp>
      <p:sp>
        <p:nvSpPr>
          <p:cNvPr id="34" name="Rectangle 33"/>
          <p:cNvSpPr/>
          <p:nvPr/>
        </p:nvSpPr>
        <p:spPr>
          <a:xfrm>
            <a:off x="4160520" y="1417320"/>
            <a:ext cx="4114800" cy="905256"/>
          </a:xfrm>
          <a:prstGeom prst="rect">
            <a:avLst/>
          </a:prstGeom>
          <a:solidFill>
            <a:srgbClr val="10162B"/>
          </a:solidFill>
          <a:ln w="1270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4160520" y="1417320"/>
            <a:ext cx="365760" cy="905256"/>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178808" y="1705356"/>
            <a:ext cx="329184" cy="329184"/>
          </a:xfrm>
          <a:prstGeom prst="rect">
            <a:avLst/>
          </a:prstGeom>
          <a:noFill/>
        </p:spPr>
        <p:txBody>
          <a:bodyPr wrap="square">
            <a:spAutoFit/>
          </a:bodyPr>
          <a:lstStyle/>
          <a:p>
            <a:pPr algn="ctr"/>
            <a:r>
              <a:rPr sz="1400" b="1" i="0">
                <a:solidFill>
                  <a:srgbClr val="0A0D1A"/>
                </a:solidFill>
                <a:latin typeface="Calibri"/>
              </a:rPr>
              <a:t>4</a:t>
            </a:r>
          </a:p>
        </p:txBody>
      </p:sp>
      <p:sp>
        <p:nvSpPr>
          <p:cNvPr id="37" name="TextBox 36"/>
          <p:cNvSpPr txBox="1"/>
          <p:nvPr/>
        </p:nvSpPr>
        <p:spPr>
          <a:xfrm>
            <a:off x="4617720" y="1472184"/>
            <a:ext cx="3611880" cy="274320"/>
          </a:xfrm>
          <a:prstGeom prst="rect">
            <a:avLst/>
          </a:prstGeom>
          <a:noFill/>
        </p:spPr>
        <p:txBody>
          <a:bodyPr wrap="square">
            <a:spAutoFit/>
          </a:bodyPr>
          <a:lstStyle/>
          <a:p>
            <a:pPr algn="l"/>
            <a:r>
              <a:rPr sz="1300" b="1" i="0">
                <a:solidFill>
                  <a:srgbClr val="00E5FF"/>
                </a:solidFill>
                <a:latin typeface="Calibri"/>
              </a:rPr>
              <a:t>WhatWeb</a:t>
            </a:r>
          </a:p>
        </p:txBody>
      </p:sp>
      <p:sp>
        <p:nvSpPr>
          <p:cNvPr id="38" name="TextBox 37"/>
          <p:cNvSpPr txBox="1"/>
          <p:nvPr/>
        </p:nvSpPr>
        <p:spPr>
          <a:xfrm>
            <a:off x="4617720" y="1737360"/>
            <a:ext cx="3611880" cy="201168"/>
          </a:xfrm>
          <a:prstGeom prst="rect">
            <a:avLst/>
          </a:prstGeom>
          <a:noFill/>
        </p:spPr>
        <p:txBody>
          <a:bodyPr wrap="square">
            <a:spAutoFit/>
          </a:bodyPr>
          <a:lstStyle/>
          <a:p>
            <a:pPr algn="l"/>
            <a:r>
              <a:rPr sz="850" b="0" i="1">
                <a:solidFill>
                  <a:srgbClr val="A0AAB8"/>
                </a:solidFill>
                <a:latin typeface="Calibri"/>
              </a:rPr>
              <a:t>Technology Fingerprinting  ·  Analysis Agent</a:t>
            </a:r>
          </a:p>
        </p:txBody>
      </p:sp>
      <p:sp>
        <p:nvSpPr>
          <p:cNvPr id="39" name="TextBox 38"/>
          <p:cNvSpPr txBox="1"/>
          <p:nvPr/>
        </p:nvSpPr>
        <p:spPr>
          <a:xfrm>
            <a:off x="4617720" y="1947672"/>
            <a:ext cx="3611880" cy="310896"/>
          </a:xfrm>
          <a:prstGeom prst="rect">
            <a:avLst/>
          </a:prstGeom>
          <a:noFill/>
        </p:spPr>
        <p:txBody>
          <a:bodyPr wrap="square">
            <a:spAutoFit/>
          </a:bodyPr>
          <a:lstStyle/>
          <a:p>
            <a:pPr algn="l"/>
            <a:r>
              <a:rPr sz="900" b="0" i="0">
                <a:solidFill>
                  <a:srgbClr val="A0AAB8"/>
                </a:solidFill>
                <a:latin typeface="Calibri"/>
              </a:rPr>
              <a:t>Identifies CMS, frameworks, server software, JS libraries, and versions from HTTP responses. Seeds Technology nodes for the ASG.</a:t>
            </a:r>
          </a:p>
        </p:txBody>
      </p:sp>
      <p:sp>
        <p:nvSpPr>
          <p:cNvPr id="40" name="Rectangle 39"/>
          <p:cNvSpPr/>
          <p:nvPr/>
        </p:nvSpPr>
        <p:spPr>
          <a:xfrm>
            <a:off x="4160520" y="2395728"/>
            <a:ext cx="4114800" cy="905256"/>
          </a:xfrm>
          <a:prstGeom prst="rect">
            <a:avLst/>
          </a:prstGeom>
          <a:solidFill>
            <a:srgbClr val="10162B"/>
          </a:solidFill>
          <a:ln w="1270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4160520" y="2395728"/>
            <a:ext cx="365760" cy="905256"/>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178808" y="2683764"/>
            <a:ext cx="329184" cy="329184"/>
          </a:xfrm>
          <a:prstGeom prst="rect">
            <a:avLst/>
          </a:prstGeom>
          <a:noFill/>
        </p:spPr>
        <p:txBody>
          <a:bodyPr wrap="square">
            <a:spAutoFit/>
          </a:bodyPr>
          <a:lstStyle/>
          <a:p>
            <a:pPr algn="ctr"/>
            <a:r>
              <a:rPr sz="1400" b="1" i="0">
                <a:solidFill>
                  <a:srgbClr val="0A0D1A"/>
                </a:solidFill>
                <a:latin typeface="Calibri"/>
              </a:rPr>
              <a:t>5</a:t>
            </a:r>
          </a:p>
        </p:txBody>
      </p:sp>
      <p:sp>
        <p:nvSpPr>
          <p:cNvPr id="43" name="TextBox 42"/>
          <p:cNvSpPr txBox="1"/>
          <p:nvPr/>
        </p:nvSpPr>
        <p:spPr>
          <a:xfrm>
            <a:off x="4617720" y="2450592"/>
            <a:ext cx="3611880" cy="274320"/>
          </a:xfrm>
          <a:prstGeom prst="rect">
            <a:avLst/>
          </a:prstGeom>
          <a:noFill/>
        </p:spPr>
        <p:txBody>
          <a:bodyPr wrap="square">
            <a:spAutoFit/>
          </a:bodyPr>
          <a:lstStyle/>
          <a:p>
            <a:pPr algn="l"/>
            <a:r>
              <a:rPr sz="1300" b="1" i="0">
                <a:solidFill>
                  <a:srgbClr val="00E5FF"/>
                </a:solidFill>
                <a:latin typeface="Calibri"/>
              </a:rPr>
              <a:t>Gobuster</a:t>
            </a:r>
          </a:p>
        </p:txBody>
      </p:sp>
      <p:sp>
        <p:nvSpPr>
          <p:cNvPr id="44" name="TextBox 43"/>
          <p:cNvSpPr txBox="1"/>
          <p:nvPr/>
        </p:nvSpPr>
        <p:spPr>
          <a:xfrm>
            <a:off x="4617720" y="2715768"/>
            <a:ext cx="3611880" cy="201168"/>
          </a:xfrm>
          <a:prstGeom prst="rect">
            <a:avLst/>
          </a:prstGeom>
          <a:noFill/>
        </p:spPr>
        <p:txBody>
          <a:bodyPr wrap="square">
            <a:spAutoFit/>
          </a:bodyPr>
          <a:lstStyle/>
          <a:p>
            <a:pPr algn="l"/>
            <a:r>
              <a:rPr sz="850" b="0" i="1">
                <a:solidFill>
                  <a:srgbClr val="A0AAB8"/>
                </a:solidFill>
                <a:latin typeface="Calibri"/>
              </a:rPr>
              <a:t>Directory Brute-Force  ·  Analysis Agent</a:t>
            </a:r>
          </a:p>
        </p:txBody>
      </p:sp>
      <p:sp>
        <p:nvSpPr>
          <p:cNvPr id="45" name="TextBox 44"/>
          <p:cNvSpPr txBox="1"/>
          <p:nvPr/>
        </p:nvSpPr>
        <p:spPr>
          <a:xfrm>
            <a:off x="4617720" y="2926080"/>
            <a:ext cx="3611880" cy="310896"/>
          </a:xfrm>
          <a:prstGeom prst="rect">
            <a:avLst/>
          </a:prstGeom>
          <a:noFill/>
        </p:spPr>
        <p:txBody>
          <a:bodyPr wrap="square">
            <a:spAutoFit/>
          </a:bodyPr>
          <a:lstStyle/>
          <a:p>
            <a:pPr algn="l"/>
            <a:r>
              <a:rPr sz="900" b="0" i="0">
                <a:solidFill>
                  <a:srgbClr val="A0AAB8"/>
                </a:solidFill>
                <a:latin typeface="Calibri"/>
              </a:rPr>
              <a:t>Discovers hidden paths, admin panels, backup files, and exposed resources via wordlist-based HTTP path enumeration.</a:t>
            </a:r>
          </a:p>
        </p:txBody>
      </p:sp>
      <p:sp>
        <p:nvSpPr>
          <p:cNvPr id="46" name="Rectangle 45"/>
          <p:cNvSpPr/>
          <p:nvPr/>
        </p:nvSpPr>
        <p:spPr>
          <a:xfrm>
            <a:off x="4160520" y="3374136"/>
            <a:ext cx="4114800" cy="905256"/>
          </a:xfrm>
          <a:prstGeom prst="rect">
            <a:avLst/>
          </a:prstGeom>
          <a:solidFill>
            <a:srgbClr val="10162B"/>
          </a:solidFill>
          <a:ln w="1270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4160520" y="3374136"/>
            <a:ext cx="365760" cy="905256"/>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4178808" y="3662172"/>
            <a:ext cx="329184" cy="329184"/>
          </a:xfrm>
          <a:prstGeom prst="rect">
            <a:avLst/>
          </a:prstGeom>
          <a:noFill/>
        </p:spPr>
        <p:txBody>
          <a:bodyPr wrap="square">
            <a:spAutoFit/>
          </a:bodyPr>
          <a:lstStyle/>
          <a:p>
            <a:pPr algn="ctr"/>
            <a:r>
              <a:rPr sz="1400" b="1" i="0">
                <a:solidFill>
                  <a:srgbClr val="0A0D1A"/>
                </a:solidFill>
                <a:latin typeface="Calibri"/>
              </a:rPr>
              <a:t>6</a:t>
            </a:r>
          </a:p>
        </p:txBody>
      </p:sp>
      <p:sp>
        <p:nvSpPr>
          <p:cNvPr id="49" name="TextBox 48"/>
          <p:cNvSpPr txBox="1"/>
          <p:nvPr/>
        </p:nvSpPr>
        <p:spPr>
          <a:xfrm>
            <a:off x="4617720" y="3429000"/>
            <a:ext cx="3611880" cy="274320"/>
          </a:xfrm>
          <a:prstGeom prst="rect">
            <a:avLst/>
          </a:prstGeom>
          <a:noFill/>
        </p:spPr>
        <p:txBody>
          <a:bodyPr wrap="square">
            <a:spAutoFit/>
          </a:bodyPr>
          <a:lstStyle/>
          <a:p>
            <a:pPr algn="l"/>
            <a:r>
              <a:rPr sz="1300" b="1" i="0">
                <a:solidFill>
                  <a:srgbClr val="00E5FF"/>
                </a:solidFill>
                <a:latin typeface="Calibri"/>
              </a:rPr>
              <a:t>ffuf</a:t>
            </a:r>
          </a:p>
        </p:txBody>
      </p:sp>
      <p:sp>
        <p:nvSpPr>
          <p:cNvPr id="50" name="TextBox 49"/>
          <p:cNvSpPr txBox="1"/>
          <p:nvPr/>
        </p:nvSpPr>
        <p:spPr>
          <a:xfrm>
            <a:off x="4617720" y="3694176"/>
            <a:ext cx="3611880" cy="201168"/>
          </a:xfrm>
          <a:prstGeom prst="rect">
            <a:avLst/>
          </a:prstGeom>
          <a:noFill/>
        </p:spPr>
        <p:txBody>
          <a:bodyPr wrap="square">
            <a:spAutoFit/>
          </a:bodyPr>
          <a:lstStyle/>
          <a:p>
            <a:pPr algn="l"/>
            <a:r>
              <a:rPr sz="850" b="0" i="1">
                <a:solidFill>
                  <a:srgbClr val="A0AAB8"/>
                </a:solidFill>
                <a:latin typeface="Calibri"/>
              </a:rPr>
              <a:t>API + Parameter Fuzzing  ·  Analysis Agent</a:t>
            </a:r>
          </a:p>
        </p:txBody>
      </p:sp>
      <p:sp>
        <p:nvSpPr>
          <p:cNvPr id="51" name="TextBox 50"/>
          <p:cNvSpPr txBox="1"/>
          <p:nvPr/>
        </p:nvSpPr>
        <p:spPr>
          <a:xfrm>
            <a:off x="4617720" y="3904488"/>
            <a:ext cx="3611880" cy="310896"/>
          </a:xfrm>
          <a:prstGeom prst="rect">
            <a:avLst/>
          </a:prstGeom>
          <a:noFill/>
        </p:spPr>
        <p:txBody>
          <a:bodyPr wrap="square">
            <a:spAutoFit/>
          </a:bodyPr>
          <a:lstStyle/>
          <a:p>
            <a:pPr algn="l"/>
            <a:r>
              <a:rPr sz="900" b="0" i="0">
                <a:solidFill>
                  <a:srgbClr val="A0AAB8"/>
                </a:solidFill>
                <a:latin typeface="Calibri"/>
              </a:rPr>
              <a:t>Fast web fuzzer for API route discovery, parameter fuzzing, virtual host enumeration, and undocumented endpoint identification.</a:t>
            </a:r>
          </a:p>
        </p:txBody>
      </p:sp>
      <p:sp>
        <p:nvSpPr>
          <p:cNvPr id="52" name="Rectangle 51"/>
          <p:cNvSpPr/>
          <p:nvPr/>
        </p:nvSpPr>
        <p:spPr>
          <a:xfrm>
            <a:off x="4160520" y="4352544"/>
            <a:ext cx="4114800" cy="905256"/>
          </a:xfrm>
          <a:prstGeom prst="rect">
            <a:avLst/>
          </a:prstGeom>
          <a:solidFill>
            <a:srgbClr val="10162B"/>
          </a:solidFill>
          <a:ln w="1270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4160520" y="4352544"/>
            <a:ext cx="365760" cy="905256"/>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4178808" y="4640580"/>
            <a:ext cx="329184" cy="329184"/>
          </a:xfrm>
          <a:prstGeom prst="rect">
            <a:avLst/>
          </a:prstGeom>
          <a:noFill/>
        </p:spPr>
        <p:txBody>
          <a:bodyPr wrap="square">
            <a:spAutoFit/>
          </a:bodyPr>
          <a:lstStyle/>
          <a:p>
            <a:pPr algn="ctr"/>
            <a:r>
              <a:rPr sz="1400" b="1" i="0">
                <a:solidFill>
                  <a:srgbClr val="0A0D1A"/>
                </a:solidFill>
                <a:latin typeface="Calibri"/>
              </a:rPr>
              <a:t>7</a:t>
            </a:r>
          </a:p>
        </p:txBody>
      </p:sp>
      <p:sp>
        <p:nvSpPr>
          <p:cNvPr id="55" name="TextBox 54"/>
          <p:cNvSpPr txBox="1"/>
          <p:nvPr/>
        </p:nvSpPr>
        <p:spPr>
          <a:xfrm>
            <a:off x="4617720" y="4407408"/>
            <a:ext cx="3611880" cy="274320"/>
          </a:xfrm>
          <a:prstGeom prst="rect">
            <a:avLst/>
          </a:prstGeom>
          <a:noFill/>
        </p:spPr>
        <p:txBody>
          <a:bodyPr wrap="square">
            <a:spAutoFit/>
          </a:bodyPr>
          <a:lstStyle/>
          <a:p>
            <a:pPr algn="l"/>
            <a:r>
              <a:rPr sz="1300" b="1" i="0">
                <a:solidFill>
                  <a:srgbClr val="00E5FF"/>
                </a:solidFill>
                <a:latin typeface="Calibri"/>
              </a:rPr>
              <a:t>Nuclei</a:t>
            </a:r>
          </a:p>
        </p:txBody>
      </p:sp>
      <p:sp>
        <p:nvSpPr>
          <p:cNvPr id="56" name="TextBox 55"/>
          <p:cNvSpPr txBox="1"/>
          <p:nvPr/>
        </p:nvSpPr>
        <p:spPr>
          <a:xfrm>
            <a:off x="4617720" y="4672584"/>
            <a:ext cx="3611880" cy="201168"/>
          </a:xfrm>
          <a:prstGeom prst="rect">
            <a:avLst/>
          </a:prstGeom>
          <a:noFill/>
        </p:spPr>
        <p:txBody>
          <a:bodyPr wrap="square">
            <a:spAutoFit/>
          </a:bodyPr>
          <a:lstStyle/>
          <a:p>
            <a:pPr algn="l"/>
            <a:r>
              <a:rPr sz="850" b="0" i="1">
                <a:solidFill>
                  <a:srgbClr val="A0AAB8"/>
                </a:solidFill>
                <a:latin typeface="Calibri"/>
              </a:rPr>
              <a:t>Template-Based Vuln Scan  ·  Analysis Agent</a:t>
            </a:r>
          </a:p>
        </p:txBody>
      </p:sp>
      <p:sp>
        <p:nvSpPr>
          <p:cNvPr id="57" name="TextBox 56"/>
          <p:cNvSpPr txBox="1"/>
          <p:nvPr/>
        </p:nvSpPr>
        <p:spPr>
          <a:xfrm>
            <a:off x="4617720" y="4882896"/>
            <a:ext cx="3611880" cy="310896"/>
          </a:xfrm>
          <a:prstGeom prst="rect">
            <a:avLst/>
          </a:prstGeom>
          <a:noFill/>
        </p:spPr>
        <p:txBody>
          <a:bodyPr wrap="square">
            <a:spAutoFit/>
          </a:bodyPr>
          <a:lstStyle/>
          <a:p>
            <a:pPr algn="l"/>
            <a:r>
              <a:rPr sz="900" b="0" i="0">
                <a:solidFill>
                  <a:srgbClr val="A0AAB8"/>
                </a:solidFill>
                <a:latin typeface="Calibri"/>
              </a:rPr>
              <a:t>Matches discovered services and technologies against a library of CVE and misconfiguration templates for automated vulnerability detection.</a:t>
            </a:r>
          </a:p>
        </p:txBody>
      </p:sp>
      <p:sp>
        <p:nvSpPr>
          <p:cNvPr id="58" name="Rectangle 57"/>
          <p:cNvSpPr/>
          <p:nvPr/>
        </p:nvSpPr>
        <p:spPr>
          <a:xfrm>
            <a:off x="4160520" y="5330952"/>
            <a:ext cx="4114800" cy="905256"/>
          </a:xfrm>
          <a:prstGeom prst="rect">
            <a:avLst/>
          </a:prstGeom>
          <a:solidFill>
            <a:srgbClr val="10162B"/>
          </a:solidFill>
          <a:ln w="1270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4160520" y="5330952"/>
            <a:ext cx="365760" cy="905256"/>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4178808" y="5618988"/>
            <a:ext cx="329184" cy="329184"/>
          </a:xfrm>
          <a:prstGeom prst="rect">
            <a:avLst/>
          </a:prstGeom>
          <a:noFill/>
        </p:spPr>
        <p:txBody>
          <a:bodyPr wrap="square">
            <a:spAutoFit/>
          </a:bodyPr>
          <a:lstStyle/>
          <a:p>
            <a:pPr algn="ctr"/>
            <a:r>
              <a:rPr sz="1400" b="1" i="0">
                <a:solidFill>
                  <a:srgbClr val="0A0D1A"/>
                </a:solidFill>
                <a:latin typeface="Calibri"/>
              </a:rPr>
              <a:t>8</a:t>
            </a:r>
          </a:p>
        </p:txBody>
      </p:sp>
      <p:sp>
        <p:nvSpPr>
          <p:cNvPr id="61" name="TextBox 60"/>
          <p:cNvSpPr txBox="1"/>
          <p:nvPr/>
        </p:nvSpPr>
        <p:spPr>
          <a:xfrm>
            <a:off x="4617720" y="5385816"/>
            <a:ext cx="3611880" cy="274320"/>
          </a:xfrm>
          <a:prstGeom prst="rect">
            <a:avLst/>
          </a:prstGeom>
          <a:noFill/>
        </p:spPr>
        <p:txBody>
          <a:bodyPr wrap="square">
            <a:spAutoFit/>
          </a:bodyPr>
          <a:lstStyle/>
          <a:p>
            <a:pPr algn="l"/>
            <a:r>
              <a:rPr sz="1300" b="1" i="0">
                <a:solidFill>
                  <a:srgbClr val="00E5FF"/>
                </a:solidFill>
                <a:latin typeface="Calibri"/>
              </a:rPr>
              <a:t>OWASP ZAP</a:t>
            </a:r>
          </a:p>
        </p:txBody>
      </p:sp>
      <p:sp>
        <p:nvSpPr>
          <p:cNvPr id="62" name="TextBox 61"/>
          <p:cNvSpPr txBox="1"/>
          <p:nvPr/>
        </p:nvSpPr>
        <p:spPr>
          <a:xfrm>
            <a:off x="4617720" y="5650992"/>
            <a:ext cx="3611880" cy="201168"/>
          </a:xfrm>
          <a:prstGeom prst="rect">
            <a:avLst/>
          </a:prstGeom>
          <a:noFill/>
        </p:spPr>
        <p:txBody>
          <a:bodyPr wrap="square">
            <a:spAutoFit/>
          </a:bodyPr>
          <a:lstStyle/>
          <a:p>
            <a:pPr algn="l"/>
            <a:r>
              <a:rPr sz="850" b="0" i="1">
                <a:solidFill>
                  <a:srgbClr val="A0AAB8"/>
                </a:solidFill>
                <a:latin typeface="Calibri"/>
              </a:rPr>
              <a:t>Active Web App Scan  ·  Analysis Agent</a:t>
            </a:r>
          </a:p>
        </p:txBody>
      </p:sp>
      <p:sp>
        <p:nvSpPr>
          <p:cNvPr id="63" name="TextBox 62"/>
          <p:cNvSpPr txBox="1"/>
          <p:nvPr/>
        </p:nvSpPr>
        <p:spPr>
          <a:xfrm>
            <a:off x="4617720" y="5861304"/>
            <a:ext cx="3611880" cy="310896"/>
          </a:xfrm>
          <a:prstGeom prst="rect">
            <a:avLst/>
          </a:prstGeom>
          <a:noFill/>
        </p:spPr>
        <p:txBody>
          <a:bodyPr wrap="square">
            <a:spAutoFit/>
          </a:bodyPr>
          <a:lstStyle/>
          <a:p>
            <a:pPr algn="l"/>
            <a:r>
              <a:rPr sz="900" b="0" i="0">
                <a:solidFill>
                  <a:srgbClr val="A0AAB8"/>
                </a:solidFill>
                <a:latin typeface="Calibri"/>
              </a:rPr>
              <a:t>Crawls and actively tests for OWASP Top 10: XSS, CSRF, injection flaws, authentication weaknesses, and insecure direct object references.</a:t>
            </a:r>
          </a:p>
        </p:txBody>
      </p:sp>
      <p:sp>
        <p:nvSpPr>
          <p:cNvPr id="64" name="Rectangle 63"/>
          <p:cNvSpPr/>
          <p:nvPr/>
        </p:nvSpPr>
        <p:spPr>
          <a:xfrm>
            <a:off x="8412480" y="1417320"/>
            <a:ext cx="3566160" cy="1557528"/>
          </a:xfrm>
          <a:prstGeom prst="rect">
            <a:avLst/>
          </a:prstGeom>
          <a:solidFill>
            <a:srgbClr val="10162B"/>
          </a:solidFill>
          <a:ln w="12700">
            <a:solidFill>
              <a:srgbClr val="FF45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8412480" y="1417320"/>
            <a:ext cx="365760" cy="1557528"/>
          </a:xfrm>
          <a:prstGeom prst="rect">
            <a:avLst/>
          </a:prstGeom>
          <a:solidFill>
            <a:srgbClr val="FF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8430768" y="2031492"/>
            <a:ext cx="329184" cy="329184"/>
          </a:xfrm>
          <a:prstGeom prst="rect">
            <a:avLst/>
          </a:prstGeom>
          <a:noFill/>
        </p:spPr>
        <p:txBody>
          <a:bodyPr wrap="square">
            <a:spAutoFit/>
          </a:bodyPr>
          <a:lstStyle/>
          <a:p>
            <a:pPr algn="ctr"/>
            <a:r>
              <a:rPr sz="1400" b="1" i="0">
                <a:solidFill>
                  <a:srgbClr val="0A0D1A"/>
                </a:solidFill>
                <a:latin typeface="Calibri"/>
              </a:rPr>
              <a:t>9</a:t>
            </a:r>
          </a:p>
        </p:txBody>
      </p:sp>
      <p:sp>
        <p:nvSpPr>
          <p:cNvPr id="67" name="TextBox 66"/>
          <p:cNvSpPr txBox="1"/>
          <p:nvPr/>
        </p:nvSpPr>
        <p:spPr>
          <a:xfrm>
            <a:off x="8869680" y="1472184"/>
            <a:ext cx="3063240" cy="274320"/>
          </a:xfrm>
          <a:prstGeom prst="rect">
            <a:avLst/>
          </a:prstGeom>
          <a:noFill/>
        </p:spPr>
        <p:txBody>
          <a:bodyPr wrap="square">
            <a:spAutoFit/>
          </a:bodyPr>
          <a:lstStyle/>
          <a:p>
            <a:pPr algn="l"/>
            <a:r>
              <a:rPr sz="1300" b="1" i="0">
                <a:solidFill>
                  <a:srgbClr val="FF4545"/>
                </a:solidFill>
                <a:latin typeface="Calibri"/>
              </a:rPr>
              <a:t>SQLMap</a:t>
            </a:r>
          </a:p>
        </p:txBody>
      </p:sp>
      <p:sp>
        <p:nvSpPr>
          <p:cNvPr id="68" name="TextBox 67"/>
          <p:cNvSpPr txBox="1"/>
          <p:nvPr/>
        </p:nvSpPr>
        <p:spPr>
          <a:xfrm>
            <a:off x="8869680" y="1737360"/>
            <a:ext cx="3063240" cy="201168"/>
          </a:xfrm>
          <a:prstGeom prst="rect">
            <a:avLst/>
          </a:prstGeom>
          <a:noFill/>
        </p:spPr>
        <p:txBody>
          <a:bodyPr wrap="square">
            <a:spAutoFit/>
          </a:bodyPr>
          <a:lstStyle/>
          <a:p>
            <a:pPr algn="l"/>
            <a:r>
              <a:rPr sz="850" b="0" i="1">
                <a:solidFill>
                  <a:srgbClr val="A0AAB8"/>
                </a:solidFill>
                <a:latin typeface="Calibri"/>
              </a:rPr>
              <a:t>SQL Injection Validation  ·  Validation Agent</a:t>
            </a:r>
          </a:p>
        </p:txBody>
      </p:sp>
      <p:sp>
        <p:nvSpPr>
          <p:cNvPr id="69" name="TextBox 68"/>
          <p:cNvSpPr txBox="1"/>
          <p:nvPr/>
        </p:nvSpPr>
        <p:spPr>
          <a:xfrm>
            <a:off x="8869680" y="1947672"/>
            <a:ext cx="3063240" cy="963168"/>
          </a:xfrm>
          <a:prstGeom prst="rect">
            <a:avLst/>
          </a:prstGeom>
          <a:noFill/>
        </p:spPr>
        <p:txBody>
          <a:bodyPr wrap="square">
            <a:spAutoFit/>
          </a:bodyPr>
          <a:lstStyle/>
          <a:p>
            <a:pPr algn="l"/>
            <a:r>
              <a:rPr sz="900" b="0" i="0">
                <a:solidFill>
                  <a:srgbClr val="A0AAB8"/>
                </a:solidFill>
                <a:latin typeface="Calibri"/>
              </a:rPr>
              <a:t>Automated SQLi detection and exploitation. Confirms injection points, extracts database data, tests for OS-level access escalation.</a:t>
            </a:r>
          </a:p>
        </p:txBody>
      </p:sp>
      <p:sp>
        <p:nvSpPr>
          <p:cNvPr id="70" name="Rectangle 69"/>
          <p:cNvSpPr/>
          <p:nvPr/>
        </p:nvSpPr>
        <p:spPr>
          <a:xfrm>
            <a:off x="8412480" y="3048000"/>
            <a:ext cx="3566160" cy="1557528"/>
          </a:xfrm>
          <a:prstGeom prst="rect">
            <a:avLst/>
          </a:prstGeom>
          <a:solidFill>
            <a:srgbClr val="10162B"/>
          </a:solidFill>
          <a:ln w="12700">
            <a:solidFill>
              <a:srgbClr val="FF45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ectangle 70"/>
          <p:cNvSpPr/>
          <p:nvPr/>
        </p:nvSpPr>
        <p:spPr>
          <a:xfrm>
            <a:off x="8412480" y="3048000"/>
            <a:ext cx="365760" cy="1557528"/>
          </a:xfrm>
          <a:prstGeom prst="rect">
            <a:avLst/>
          </a:prstGeom>
          <a:solidFill>
            <a:srgbClr val="FF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8430768" y="3662172"/>
            <a:ext cx="329184" cy="329184"/>
          </a:xfrm>
          <a:prstGeom prst="rect">
            <a:avLst/>
          </a:prstGeom>
          <a:noFill/>
        </p:spPr>
        <p:txBody>
          <a:bodyPr wrap="square">
            <a:spAutoFit/>
          </a:bodyPr>
          <a:lstStyle/>
          <a:p>
            <a:pPr algn="ctr"/>
            <a:r>
              <a:rPr sz="1400" b="1" i="0">
                <a:solidFill>
                  <a:srgbClr val="0A0D1A"/>
                </a:solidFill>
                <a:latin typeface="Calibri"/>
              </a:rPr>
              <a:t>10</a:t>
            </a:r>
          </a:p>
        </p:txBody>
      </p:sp>
      <p:sp>
        <p:nvSpPr>
          <p:cNvPr id="73" name="TextBox 72"/>
          <p:cNvSpPr txBox="1"/>
          <p:nvPr/>
        </p:nvSpPr>
        <p:spPr>
          <a:xfrm>
            <a:off x="8869680" y="3102864"/>
            <a:ext cx="3063240" cy="274320"/>
          </a:xfrm>
          <a:prstGeom prst="rect">
            <a:avLst/>
          </a:prstGeom>
          <a:noFill/>
        </p:spPr>
        <p:txBody>
          <a:bodyPr wrap="square">
            <a:spAutoFit/>
          </a:bodyPr>
          <a:lstStyle/>
          <a:p>
            <a:pPr algn="l"/>
            <a:r>
              <a:rPr sz="1300" b="1" i="0">
                <a:solidFill>
                  <a:srgbClr val="FF4545"/>
                </a:solidFill>
                <a:latin typeface="Calibri"/>
              </a:rPr>
              <a:t>Metasploit</a:t>
            </a:r>
          </a:p>
        </p:txBody>
      </p:sp>
      <p:sp>
        <p:nvSpPr>
          <p:cNvPr id="74" name="TextBox 73"/>
          <p:cNvSpPr txBox="1"/>
          <p:nvPr/>
        </p:nvSpPr>
        <p:spPr>
          <a:xfrm>
            <a:off x="8869680" y="3368040"/>
            <a:ext cx="3063240" cy="201168"/>
          </a:xfrm>
          <a:prstGeom prst="rect">
            <a:avLst/>
          </a:prstGeom>
          <a:noFill/>
        </p:spPr>
        <p:txBody>
          <a:bodyPr wrap="square">
            <a:spAutoFit/>
          </a:bodyPr>
          <a:lstStyle/>
          <a:p>
            <a:pPr algn="l"/>
            <a:r>
              <a:rPr sz="850" b="0" i="1">
                <a:solidFill>
                  <a:srgbClr val="A0AAB8"/>
                </a:solidFill>
                <a:latin typeface="Calibri"/>
              </a:rPr>
              <a:t>Exploit + RCE Demo  ·  Validation Agent</a:t>
            </a:r>
          </a:p>
        </p:txBody>
      </p:sp>
      <p:sp>
        <p:nvSpPr>
          <p:cNvPr id="75" name="TextBox 74"/>
          <p:cNvSpPr txBox="1"/>
          <p:nvPr/>
        </p:nvSpPr>
        <p:spPr>
          <a:xfrm>
            <a:off x="8869680" y="3578352"/>
            <a:ext cx="3063240" cy="963168"/>
          </a:xfrm>
          <a:prstGeom prst="rect">
            <a:avLst/>
          </a:prstGeom>
          <a:noFill/>
        </p:spPr>
        <p:txBody>
          <a:bodyPr wrap="square">
            <a:spAutoFit/>
          </a:bodyPr>
          <a:lstStyle/>
          <a:p>
            <a:pPr algn="l"/>
            <a:r>
              <a:rPr sz="900" b="0" i="0">
                <a:solidFill>
                  <a:srgbClr val="A0AAB8"/>
                </a:solidFill>
                <a:latin typeface="Calibri"/>
              </a:rPr>
              <a:t>Executes known exploits against identified vulnerabilities. Validates APG ChainSteps, demonstrates impact, achieves proof of exploitation.</a:t>
            </a:r>
          </a:p>
        </p:txBody>
      </p:sp>
      <p:sp>
        <p:nvSpPr>
          <p:cNvPr id="76" name="Rectangle 75"/>
          <p:cNvSpPr/>
          <p:nvPr/>
        </p:nvSpPr>
        <p:spPr>
          <a:xfrm>
            <a:off x="8412480" y="4678680"/>
            <a:ext cx="3566160" cy="1557528"/>
          </a:xfrm>
          <a:prstGeom prst="rect">
            <a:avLst/>
          </a:prstGeom>
          <a:solidFill>
            <a:srgbClr val="10162B"/>
          </a:solidFill>
          <a:ln w="12700">
            <a:solidFill>
              <a:srgbClr val="BD93F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8412480" y="4678680"/>
            <a:ext cx="365760" cy="1557528"/>
          </a:xfrm>
          <a:prstGeom prst="rect">
            <a:avLst/>
          </a:prstGeom>
          <a:solidFill>
            <a:srgbClr val="BD9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8430768" y="5292852"/>
            <a:ext cx="329184" cy="329184"/>
          </a:xfrm>
          <a:prstGeom prst="rect">
            <a:avLst/>
          </a:prstGeom>
          <a:noFill/>
        </p:spPr>
        <p:txBody>
          <a:bodyPr wrap="square">
            <a:spAutoFit/>
          </a:bodyPr>
          <a:lstStyle/>
          <a:p>
            <a:pPr algn="ctr"/>
            <a:r>
              <a:rPr sz="1400" b="1" i="0">
                <a:solidFill>
                  <a:srgbClr val="0A0D1A"/>
                </a:solidFill>
                <a:latin typeface="Calibri"/>
              </a:rPr>
              <a:t>11</a:t>
            </a:r>
          </a:p>
        </p:txBody>
      </p:sp>
      <p:sp>
        <p:nvSpPr>
          <p:cNvPr id="79" name="TextBox 78"/>
          <p:cNvSpPr txBox="1"/>
          <p:nvPr/>
        </p:nvSpPr>
        <p:spPr>
          <a:xfrm>
            <a:off x="8869680" y="4733544"/>
            <a:ext cx="3063240" cy="274320"/>
          </a:xfrm>
          <a:prstGeom prst="rect">
            <a:avLst/>
          </a:prstGeom>
          <a:noFill/>
        </p:spPr>
        <p:txBody>
          <a:bodyPr wrap="square">
            <a:spAutoFit/>
          </a:bodyPr>
          <a:lstStyle/>
          <a:p>
            <a:pPr algn="l"/>
            <a:r>
              <a:rPr sz="1300" b="1" i="0">
                <a:solidFill>
                  <a:srgbClr val="BD93F9"/>
                </a:solidFill>
                <a:latin typeface="Calibri"/>
              </a:rPr>
              <a:t>EyeWitness</a:t>
            </a:r>
          </a:p>
        </p:txBody>
      </p:sp>
      <p:sp>
        <p:nvSpPr>
          <p:cNvPr id="80" name="TextBox 79"/>
          <p:cNvSpPr txBox="1"/>
          <p:nvPr/>
        </p:nvSpPr>
        <p:spPr>
          <a:xfrm>
            <a:off x="8869680" y="4998720"/>
            <a:ext cx="3063240" cy="201168"/>
          </a:xfrm>
          <a:prstGeom prst="rect">
            <a:avLst/>
          </a:prstGeom>
          <a:noFill/>
        </p:spPr>
        <p:txBody>
          <a:bodyPr wrap="square">
            <a:spAutoFit/>
          </a:bodyPr>
          <a:lstStyle/>
          <a:p>
            <a:pPr algn="l"/>
            <a:r>
              <a:rPr sz="850" b="0" i="1">
                <a:solidFill>
                  <a:srgbClr val="A0AAB8"/>
                </a:solidFill>
                <a:latin typeface="Calibri"/>
              </a:rPr>
              <a:t>Screenshot Evidence  ·  Evidence Agent</a:t>
            </a:r>
          </a:p>
        </p:txBody>
      </p:sp>
      <p:sp>
        <p:nvSpPr>
          <p:cNvPr id="81" name="TextBox 80"/>
          <p:cNvSpPr txBox="1"/>
          <p:nvPr/>
        </p:nvSpPr>
        <p:spPr>
          <a:xfrm>
            <a:off x="8869680" y="5209032"/>
            <a:ext cx="3063240" cy="963168"/>
          </a:xfrm>
          <a:prstGeom prst="rect">
            <a:avLst/>
          </a:prstGeom>
          <a:noFill/>
        </p:spPr>
        <p:txBody>
          <a:bodyPr wrap="square">
            <a:spAutoFit/>
          </a:bodyPr>
          <a:lstStyle/>
          <a:p>
            <a:pPr algn="l"/>
            <a:r>
              <a:rPr sz="900" b="0" i="0">
                <a:solidFill>
                  <a:srgbClr val="A0AAB8"/>
                </a:solidFill>
                <a:latin typeface="Calibri"/>
              </a:rPr>
              <a:t>Headless screenshot capture of web pages, exposed panels, and API responses. Produces visual proof artifacts linked to ASG Evidence nodes.</a:t>
            </a:r>
          </a:p>
        </p:txBody>
      </p:sp>
      <p:sp>
        <p:nvSpPr>
          <p:cNvPr id="82" name="Rectangle 81"/>
          <p:cNvSpPr/>
          <p:nvPr/>
        </p:nvSpPr>
        <p:spPr>
          <a:xfrm>
            <a:off x="274320" y="6291072"/>
            <a:ext cx="11643055" cy="438912"/>
          </a:xfrm>
          <a:prstGeom prst="rect">
            <a:avLst/>
          </a:prstGeom>
          <a:solidFill>
            <a:srgbClr val="0E0818"/>
          </a:solidFill>
          <a:ln w="12700">
            <a:solidFill>
              <a:srgbClr val="BD93F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457200" y="6327648"/>
            <a:ext cx="11368735" cy="365760"/>
          </a:xfrm>
          <a:prstGeom prst="rect">
            <a:avLst/>
          </a:prstGeom>
          <a:noFill/>
        </p:spPr>
        <p:txBody>
          <a:bodyPr wrap="none">
            <a:spAutoFit/>
          </a:bodyPr>
          <a:lstStyle/>
          <a:p>
            <a:pPr algn="l"/>
            <a:r>
              <a:rPr sz="1050" b="0" i="0">
                <a:solidFill>
                  <a:srgbClr val="BD93F9"/>
                </a:solidFill>
                <a:latin typeface="Calibri"/>
              </a:rPr>
              <a:t>🔒  Every tool is wrapped in a Tool Adapter — agents reason about targets, not command syntax.  No irreversible offensive operation executes without Commander-level scope validation.</a:t>
            </a:r>
          </a:p>
        </p:txBody>
      </p:sp>
      <p:sp>
        <p:nvSpPr>
          <p:cNvPr id="84" name="TextBox 83"/>
          <p:cNvSpPr txBox="1"/>
          <p:nvPr/>
        </p:nvSpPr>
        <p:spPr>
          <a:xfrm>
            <a:off x="11825935" y="6355080"/>
            <a:ext cx="320040" cy="411480"/>
          </a:xfrm>
          <a:prstGeom prst="rect">
            <a:avLst/>
          </a:prstGeom>
          <a:noFill/>
        </p:spPr>
        <p:txBody>
          <a:bodyPr wrap="square">
            <a:spAutoFit/>
          </a:bodyPr>
          <a:lstStyle/>
          <a:p>
            <a:pPr algn="r"/>
            <a:r>
              <a:rPr sz="1300" b="1" i="0">
                <a:solidFill>
                  <a:srgbClr val="FF4545"/>
                </a:solidFill>
                <a:latin typeface="Calibri"/>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0D1A"/>
        </a:solidFill>
        <a:effectLst/>
      </p:bgPr>
    </p:bg>
    <p:spTree>
      <p:nvGrpSpPr>
        <p:cNvPr id="1" name=""/>
        <p:cNvGrpSpPr/>
        <p:nvPr/>
      </p:nvGrpSpPr>
      <p:grpSpPr/>
      <p:sp>
        <p:nvSpPr>
          <p:cNvPr id="2" name="Rectangle 1"/>
          <p:cNvSpPr/>
          <p:nvPr/>
        </p:nvSpPr>
        <p:spPr>
          <a:xfrm>
            <a:off x="0" y="0"/>
            <a:ext cx="54864" cy="6858000"/>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 y="0"/>
            <a:ext cx="12136831" cy="36576"/>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 y="6821424"/>
            <a:ext cx="12136831" cy="36576"/>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73152"/>
            <a:ext cx="7315200" cy="274320"/>
          </a:xfrm>
          <a:prstGeom prst="rect">
            <a:avLst/>
          </a:prstGeom>
          <a:noFill/>
        </p:spPr>
        <p:txBody>
          <a:bodyPr wrap="square">
            <a:spAutoFit/>
          </a:bodyPr>
          <a:lstStyle/>
          <a:p>
            <a:pPr algn="l"/>
            <a:r>
              <a:rPr sz="1100" b="1" i="0">
                <a:solidFill>
                  <a:srgbClr val="FFD700"/>
                </a:solidFill>
                <a:latin typeface="Calibri"/>
              </a:rPr>
              <a:t>REAL-WORLD SCENARIO</a:t>
            </a:r>
          </a:p>
        </p:txBody>
      </p:sp>
      <p:sp>
        <p:nvSpPr>
          <p:cNvPr id="6" name="TextBox 5"/>
          <p:cNvSpPr txBox="1"/>
          <p:nvPr/>
        </p:nvSpPr>
        <p:spPr>
          <a:xfrm>
            <a:off x="274320" y="347472"/>
            <a:ext cx="10972800" cy="566928"/>
          </a:xfrm>
          <a:prstGeom prst="rect">
            <a:avLst/>
          </a:prstGeom>
          <a:noFill/>
        </p:spPr>
        <p:txBody>
          <a:bodyPr wrap="square">
            <a:spAutoFit/>
          </a:bodyPr>
          <a:lstStyle/>
          <a:p>
            <a:pPr algn="l"/>
            <a:r>
              <a:rPr sz="2800" b="1" i="0">
                <a:solidFill>
                  <a:srgbClr val="FFFFFF"/>
                </a:solidFill>
                <a:latin typeface="Calibri"/>
              </a:rPr>
              <a:t>End-to-End Mission: shopvault.io Black-Box Assessment</a:t>
            </a:r>
          </a:p>
        </p:txBody>
      </p:sp>
      <p:sp>
        <p:nvSpPr>
          <p:cNvPr id="7" name="Rectangle 6"/>
          <p:cNvSpPr/>
          <p:nvPr/>
        </p:nvSpPr>
        <p:spPr>
          <a:xfrm>
            <a:off x="274320" y="914400"/>
            <a:ext cx="11643055" cy="502920"/>
          </a:xfrm>
          <a:prstGeom prst="rect">
            <a:avLst/>
          </a:prstGeom>
          <a:solidFill>
            <a:srgbClr val="101204"/>
          </a:solidFill>
          <a:ln w="1524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969264"/>
            <a:ext cx="11368735" cy="402336"/>
          </a:xfrm>
          <a:prstGeom prst="rect">
            <a:avLst/>
          </a:prstGeom>
          <a:noFill/>
        </p:spPr>
        <p:txBody>
          <a:bodyPr wrap="square">
            <a:spAutoFit/>
          </a:bodyPr>
          <a:lstStyle/>
          <a:p>
            <a:pPr algn="l"/>
            <a:r>
              <a:rPr sz="1100" b="0" i="1">
                <a:solidFill>
                  <a:srgbClr val="FFD700"/>
                </a:solidFill>
                <a:latin typeface="Calibri"/>
              </a:rPr>
              <a:t>Scenario:  A security firm is hired to assess shopvault.io (mid-sized e-commerce).  Scope: all subdomains, web applications, REST APIs.  Mode: Black-Box (zero prior knowledge).  Operator configures CMatrix with root domain + scope — then presses start.</a:t>
            </a:r>
          </a:p>
        </p:txBody>
      </p:sp>
      <p:sp>
        <p:nvSpPr>
          <p:cNvPr id="9" name="Rectangle 8"/>
          <p:cNvSpPr/>
          <p:nvPr/>
        </p:nvSpPr>
        <p:spPr>
          <a:xfrm>
            <a:off x="274320" y="1920240"/>
            <a:ext cx="11643055" cy="54864"/>
          </a:xfrm>
          <a:prstGeom prst="rect">
            <a:avLst/>
          </a:prstGeom>
          <a:solidFill>
            <a:srgbClr val="A0AA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74320" y="1554480"/>
            <a:ext cx="2606040" cy="420624"/>
          </a:xfrm>
          <a:prstGeom prst="rect">
            <a:avLst/>
          </a:prstGeom>
          <a:solidFill>
            <a:srgbClr val="08101C"/>
          </a:solidFill>
          <a:ln w="1905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47472" y="1591056"/>
            <a:ext cx="2496312" cy="347472"/>
          </a:xfrm>
          <a:prstGeom prst="rect">
            <a:avLst/>
          </a:prstGeom>
          <a:noFill/>
        </p:spPr>
        <p:txBody>
          <a:bodyPr wrap="square">
            <a:spAutoFit/>
          </a:bodyPr>
          <a:lstStyle/>
          <a:p>
            <a:pPr algn="ctr"/>
            <a:r>
              <a:rPr sz="1000" b="1" i="0">
                <a:solidFill>
                  <a:srgbClr val="39FF14"/>
                </a:solidFill>
                <a:latin typeface="Calibri"/>
              </a:rPr>
              <a:t>Phase 1
Recon</a:t>
            </a:r>
          </a:p>
        </p:txBody>
      </p:sp>
      <p:sp>
        <p:nvSpPr>
          <p:cNvPr id="12" name="Rectangle 11"/>
          <p:cNvSpPr/>
          <p:nvPr/>
        </p:nvSpPr>
        <p:spPr>
          <a:xfrm>
            <a:off x="1467612" y="1810512"/>
            <a:ext cx="219456" cy="219456"/>
          </a:xfrm>
          <a:prstGeom prst="rect">
            <a:avLst/>
          </a:prstGeom>
          <a:solidFill>
            <a:srgbClr val="39FF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999232" y="1554480"/>
            <a:ext cx="3657600" cy="420624"/>
          </a:xfrm>
          <a:prstGeom prst="rect">
            <a:avLst/>
          </a:prstGeom>
          <a:solidFill>
            <a:srgbClr val="08101C"/>
          </a:solidFill>
          <a:ln w="1905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072384" y="1591056"/>
            <a:ext cx="3547872" cy="347472"/>
          </a:xfrm>
          <a:prstGeom prst="rect">
            <a:avLst/>
          </a:prstGeom>
          <a:noFill/>
        </p:spPr>
        <p:txBody>
          <a:bodyPr wrap="square">
            <a:spAutoFit/>
          </a:bodyPr>
          <a:lstStyle/>
          <a:p>
            <a:pPr algn="ctr"/>
            <a:r>
              <a:rPr sz="1000" b="1" i="0">
                <a:solidFill>
                  <a:srgbClr val="00E5FF"/>
                </a:solidFill>
                <a:latin typeface="Calibri"/>
              </a:rPr>
              <a:t>Phase 2
Analysis</a:t>
            </a:r>
          </a:p>
        </p:txBody>
      </p:sp>
      <p:sp>
        <p:nvSpPr>
          <p:cNvPr id="15" name="Rectangle 14"/>
          <p:cNvSpPr/>
          <p:nvPr/>
        </p:nvSpPr>
        <p:spPr>
          <a:xfrm>
            <a:off x="4718304" y="1810512"/>
            <a:ext cx="219456" cy="219456"/>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775704" y="1554480"/>
            <a:ext cx="3474720" cy="420624"/>
          </a:xfrm>
          <a:prstGeom prst="rect">
            <a:avLst/>
          </a:prstGeom>
          <a:solidFill>
            <a:srgbClr val="08101C"/>
          </a:solidFill>
          <a:ln w="19050">
            <a:solidFill>
              <a:srgbClr val="FF45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48856" y="1591056"/>
            <a:ext cx="3364992" cy="347472"/>
          </a:xfrm>
          <a:prstGeom prst="rect">
            <a:avLst/>
          </a:prstGeom>
          <a:noFill/>
        </p:spPr>
        <p:txBody>
          <a:bodyPr wrap="square">
            <a:spAutoFit/>
          </a:bodyPr>
          <a:lstStyle/>
          <a:p>
            <a:pPr algn="ctr"/>
            <a:r>
              <a:rPr sz="1000" b="1" i="0">
                <a:solidFill>
                  <a:srgbClr val="FF4545"/>
                </a:solidFill>
                <a:latin typeface="Calibri"/>
              </a:rPr>
              <a:t>Phase 3
Validation</a:t>
            </a:r>
          </a:p>
        </p:txBody>
      </p:sp>
      <p:sp>
        <p:nvSpPr>
          <p:cNvPr id="18" name="Rectangle 17"/>
          <p:cNvSpPr/>
          <p:nvPr/>
        </p:nvSpPr>
        <p:spPr>
          <a:xfrm>
            <a:off x="8403336" y="1810512"/>
            <a:ext cx="219456" cy="219456"/>
          </a:xfrm>
          <a:prstGeom prst="rect">
            <a:avLst/>
          </a:prstGeom>
          <a:solidFill>
            <a:srgbClr val="FF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0369296" y="1554480"/>
            <a:ext cx="1664208" cy="420624"/>
          </a:xfrm>
          <a:prstGeom prst="rect">
            <a:avLst/>
          </a:prstGeom>
          <a:solidFill>
            <a:srgbClr val="08101C"/>
          </a:solidFill>
          <a:ln w="19050">
            <a:solidFill>
              <a:srgbClr val="BD93F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442448" y="1591056"/>
            <a:ext cx="1554480" cy="347472"/>
          </a:xfrm>
          <a:prstGeom prst="rect">
            <a:avLst/>
          </a:prstGeom>
          <a:noFill/>
        </p:spPr>
        <p:txBody>
          <a:bodyPr wrap="square">
            <a:spAutoFit/>
          </a:bodyPr>
          <a:lstStyle/>
          <a:p>
            <a:pPr algn="ctr"/>
            <a:r>
              <a:rPr sz="1000" b="1" i="0">
                <a:solidFill>
                  <a:srgbClr val="BD93F9"/>
                </a:solidFill>
                <a:latin typeface="Calibri"/>
              </a:rPr>
              <a:t>Phase 4
Report</a:t>
            </a:r>
          </a:p>
        </p:txBody>
      </p:sp>
      <p:sp>
        <p:nvSpPr>
          <p:cNvPr id="21" name="Rectangle 20"/>
          <p:cNvSpPr/>
          <p:nvPr/>
        </p:nvSpPr>
        <p:spPr>
          <a:xfrm>
            <a:off x="11091672" y="1810512"/>
            <a:ext cx="219456" cy="219456"/>
          </a:xfrm>
          <a:prstGeom prst="rect">
            <a:avLst/>
          </a:prstGeom>
          <a:solidFill>
            <a:srgbClr val="BD9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274320" y="2148840"/>
            <a:ext cx="2606040" cy="4160520"/>
          </a:xfrm>
          <a:prstGeom prst="rect">
            <a:avLst/>
          </a:prstGeom>
          <a:solidFill>
            <a:srgbClr val="041408"/>
          </a:solidFill>
          <a:ln w="1270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65760" y="2221992"/>
            <a:ext cx="2468880" cy="256032"/>
          </a:xfrm>
          <a:prstGeom prst="rect">
            <a:avLst/>
          </a:prstGeom>
          <a:noFill/>
        </p:spPr>
        <p:txBody>
          <a:bodyPr wrap="square">
            <a:spAutoFit/>
          </a:bodyPr>
          <a:lstStyle/>
          <a:p>
            <a:pPr algn="l"/>
            <a:r>
              <a:rPr sz="1100" b="1" i="0">
                <a:solidFill>
                  <a:srgbClr val="39FF14"/>
                </a:solidFill>
                <a:latin typeface="Calibri"/>
              </a:rPr>
              <a:t>🕵️  Recon Agent</a:t>
            </a:r>
          </a:p>
        </p:txBody>
      </p:sp>
      <p:sp>
        <p:nvSpPr>
          <p:cNvPr id="24" name="Rectangle 23"/>
          <p:cNvSpPr/>
          <p:nvPr/>
        </p:nvSpPr>
        <p:spPr>
          <a:xfrm>
            <a:off x="365760" y="2532888"/>
            <a:ext cx="2423160" cy="749808"/>
          </a:xfrm>
          <a:prstGeom prst="rect">
            <a:avLst/>
          </a:prstGeom>
          <a:solidFill>
            <a:srgbClr val="08200C"/>
          </a:solidFill>
          <a:ln w="635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38912" y="2578608"/>
            <a:ext cx="2331720" cy="219456"/>
          </a:xfrm>
          <a:prstGeom prst="rect">
            <a:avLst/>
          </a:prstGeom>
          <a:noFill/>
        </p:spPr>
        <p:txBody>
          <a:bodyPr wrap="square">
            <a:spAutoFit/>
          </a:bodyPr>
          <a:lstStyle/>
          <a:p>
            <a:pPr algn="l"/>
            <a:r>
              <a:rPr sz="1000" b="1" i="0">
                <a:solidFill>
                  <a:srgbClr val="39FF14"/>
                </a:solidFill>
                <a:latin typeface="Calibri"/>
              </a:rPr>
              <a:t>Amass</a:t>
            </a:r>
          </a:p>
        </p:txBody>
      </p:sp>
      <p:sp>
        <p:nvSpPr>
          <p:cNvPr id="26" name="TextBox 25"/>
          <p:cNvSpPr txBox="1"/>
          <p:nvPr/>
        </p:nvSpPr>
        <p:spPr>
          <a:xfrm>
            <a:off x="438912" y="2807208"/>
            <a:ext cx="2331720" cy="438912"/>
          </a:xfrm>
          <a:prstGeom prst="rect">
            <a:avLst/>
          </a:prstGeom>
          <a:noFill/>
        </p:spPr>
        <p:txBody>
          <a:bodyPr wrap="square">
            <a:spAutoFit/>
          </a:bodyPr>
          <a:lstStyle/>
          <a:p>
            <a:pPr algn="l"/>
            <a:r>
              <a:rPr sz="900" b="0" i="0">
                <a:solidFill>
                  <a:srgbClr val="A0AAB8"/>
                </a:solidFill>
                <a:latin typeface="Calibri"/>
              </a:rPr>
              <a:t>14 subdomains found
incl. api · admin · staging · pay</a:t>
            </a:r>
          </a:p>
        </p:txBody>
      </p:sp>
      <p:sp>
        <p:nvSpPr>
          <p:cNvPr id="27" name="Rectangle 26"/>
          <p:cNvSpPr/>
          <p:nvPr/>
        </p:nvSpPr>
        <p:spPr>
          <a:xfrm>
            <a:off x="365760" y="3319272"/>
            <a:ext cx="2423160" cy="749808"/>
          </a:xfrm>
          <a:prstGeom prst="rect">
            <a:avLst/>
          </a:prstGeom>
          <a:solidFill>
            <a:srgbClr val="08200C"/>
          </a:solidFill>
          <a:ln w="635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38912" y="3364992"/>
            <a:ext cx="2331720" cy="219456"/>
          </a:xfrm>
          <a:prstGeom prst="rect">
            <a:avLst/>
          </a:prstGeom>
          <a:noFill/>
        </p:spPr>
        <p:txBody>
          <a:bodyPr wrap="square">
            <a:spAutoFit/>
          </a:bodyPr>
          <a:lstStyle/>
          <a:p>
            <a:pPr algn="l"/>
            <a:r>
              <a:rPr sz="1000" b="1" i="0">
                <a:solidFill>
                  <a:srgbClr val="39FF14"/>
                </a:solidFill>
                <a:latin typeface="Calibri"/>
              </a:rPr>
              <a:t>httpx</a:t>
            </a:r>
          </a:p>
        </p:txBody>
      </p:sp>
      <p:sp>
        <p:nvSpPr>
          <p:cNvPr id="29" name="TextBox 28"/>
          <p:cNvSpPr txBox="1"/>
          <p:nvPr/>
        </p:nvSpPr>
        <p:spPr>
          <a:xfrm>
            <a:off x="438912" y="3593592"/>
            <a:ext cx="2331720" cy="438912"/>
          </a:xfrm>
          <a:prstGeom prst="rect">
            <a:avLst/>
          </a:prstGeom>
          <a:noFill/>
        </p:spPr>
        <p:txBody>
          <a:bodyPr wrap="square">
            <a:spAutoFit/>
          </a:bodyPr>
          <a:lstStyle/>
          <a:p>
            <a:pPr algn="l"/>
            <a:r>
              <a:rPr sz="900" b="0" i="0">
                <a:solidFill>
                  <a:srgbClr val="A0AAB8"/>
                </a:solidFill>
                <a:latin typeface="Calibri"/>
              </a:rPr>
              <a:t>11 live hosts validated
staging returns unexpected 200</a:t>
            </a:r>
          </a:p>
        </p:txBody>
      </p:sp>
      <p:sp>
        <p:nvSpPr>
          <p:cNvPr id="30" name="Rectangle 29"/>
          <p:cNvSpPr/>
          <p:nvPr/>
        </p:nvSpPr>
        <p:spPr>
          <a:xfrm>
            <a:off x="365760" y="4105656"/>
            <a:ext cx="2423160" cy="749808"/>
          </a:xfrm>
          <a:prstGeom prst="rect">
            <a:avLst/>
          </a:prstGeom>
          <a:solidFill>
            <a:srgbClr val="08200C"/>
          </a:solidFill>
          <a:ln w="635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38912" y="4151376"/>
            <a:ext cx="2331720" cy="219456"/>
          </a:xfrm>
          <a:prstGeom prst="rect">
            <a:avLst/>
          </a:prstGeom>
          <a:noFill/>
        </p:spPr>
        <p:txBody>
          <a:bodyPr wrap="square">
            <a:spAutoFit/>
          </a:bodyPr>
          <a:lstStyle/>
          <a:p>
            <a:pPr algn="l"/>
            <a:r>
              <a:rPr sz="1000" b="1" i="0">
                <a:solidFill>
                  <a:srgbClr val="39FF14"/>
                </a:solidFill>
                <a:latin typeface="Calibri"/>
              </a:rPr>
              <a:t>Nmap</a:t>
            </a:r>
          </a:p>
        </p:txBody>
      </p:sp>
      <p:sp>
        <p:nvSpPr>
          <p:cNvPr id="32" name="TextBox 31"/>
          <p:cNvSpPr txBox="1"/>
          <p:nvPr/>
        </p:nvSpPr>
        <p:spPr>
          <a:xfrm>
            <a:off x="438912" y="4379976"/>
            <a:ext cx="2331720" cy="438912"/>
          </a:xfrm>
          <a:prstGeom prst="rect">
            <a:avLst/>
          </a:prstGeom>
          <a:noFill/>
        </p:spPr>
        <p:txBody>
          <a:bodyPr wrap="square">
            <a:spAutoFit/>
          </a:bodyPr>
          <a:lstStyle/>
          <a:p>
            <a:pPr algn="l"/>
            <a:r>
              <a:rPr sz="900" b="0" i="0">
                <a:solidFill>
                  <a:srgbClr val="A0AAB8"/>
                </a:solidFill>
                <a:latin typeface="Calibri"/>
              </a:rPr>
              <a:t>Ports 80, 443, 8080, 8443 open
pay.shopvault.io: expired TLS cert</a:t>
            </a:r>
          </a:p>
        </p:txBody>
      </p:sp>
      <p:sp>
        <p:nvSpPr>
          <p:cNvPr id="33" name="Rectangle 32"/>
          <p:cNvSpPr/>
          <p:nvPr/>
        </p:nvSpPr>
        <p:spPr>
          <a:xfrm>
            <a:off x="365760" y="4892040"/>
            <a:ext cx="2423160" cy="749808"/>
          </a:xfrm>
          <a:prstGeom prst="rect">
            <a:avLst/>
          </a:prstGeom>
          <a:solidFill>
            <a:srgbClr val="08200C"/>
          </a:solidFill>
          <a:ln w="635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38912" y="4937760"/>
            <a:ext cx="2331720" cy="219456"/>
          </a:xfrm>
          <a:prstGeom prst="rect">
            <a:avLst/>
          </a:prstGeom>
          <a:noFill/>
        </p:spPr>
        <p:txBody>
          <a:bodyPr wrap="square">
            <a:spAutoFit/>
          </a:bodyPr>
          <a:lstStyle/>
          <a:p>
            <a:pPr algn="l"/>
            <a:r>
              <a:rPr sz="1000" b="1" i="0">
                <a:solidFill>
                  <a:srgbClr val="39FF14"/>
                </a:solidFill>
                <a:latin typeface="Calibri"/>
              </a:rPr>
              <a:t>ASG →</a:t>
            </a:r>
          </a:p>
        </p:txBody>
      </p:sp>
      <p:sp>
        <p:nvSpPr>
          <p:cNvPr id="35" name="TextBox 34"/>
          <p:cNvSpPr txBox="1"/>
          <p:nvPr/>
        </p:nvSpPr>
        <p:spPr>
          <a:xfrm>
            <a:off x="438912" y="5166360"/>
            <a:ext cx="2331720" cy="438912"/>
          </a:xfrm>
          <a:prstGeom prst="rect">
            <a:avLst/>
          </a:prstGeom>
          <a:noFill/>
        </p:spPr>
        <p:txBody>
          <a:bodyPr wrap="square">
            <a:spAutoFit/>
          </a:bodyPr>
          <a:lstStyle/>
          <a:p>
            <a:pPr algn="l"/>
            <a:r>
              <a:rPr sz="900" b="0" i="0">
                <a:solidFill>
                  <a:srgbClr val="A0AAB8"/>
                </a:solidFill>
                <a:latin typeface="Calibri"/>
              </a:rPr>
              <a:t>37 new nodes written</a:t>
            </a:r>
          </a:p>
        </p:txBody>
      </p:sp>
      <p:sp>
        <p:nvSpPr>
          <p:cNvPr id="36" name="Rectangle 35"/>
          <p:cNvSpPr/>
          <p:nvPr/>
        </p:nvSpPr>
        <p:spPr>
          <a:xfrm>
            <a:off x="2999232" y="2148840"/>
            <a:ext cx="3657600" cy="4160520"/>
          </a:xfrm>
          <a:prstGeom prst="rect">
            <a:avLst/>
          </a:prstGeom>
          <a:solidFill>
            <a:srgbClr val="041018"/>
          </a:solidFill>
          <a:ln w="1270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090672" y="2221992"/>
            <a:ext cx="3520440" cy="256032"/>
          </a:xfrm>
          <a:prstGeom prst="rect">
            <a:avLst/>
          </a:prstGeom>
          <a:noFill/>
        </p:spPr>
        <p:txBody>
          <a:bodyPr wrap="square">
            <a:spAutoFit/>
          </a:bodyPr>
          <a:lstStyle/>
          <a:p>
            <a:pPr algn="l"/>
            <a:r>
              <a:rPr sz="1000" b="1" i="0">
                <a:solidFill>
                  <a:srgbClr val="00E5FF"/>
                </a:solidFill>
                <a:latin typeface="Calibri"/>
              </a:rPr>
              <a:t>🔬  Analysis Agent  +  🔍  Research Agent</a:t>
            </a:r>
          </a:p>
        </p:txBody>
      </p:sp>
      <p:sp>
        <p:nvSpPr>
          <p:cNvPr id="38" name="Rectangle 37"/>
          <p:cNvSpPr/>
          <p:nvPr/>
        </p:nvSpPr>
        <p:spPr>
          <a:xfrm>
            <a:off x="3090672" y="2532888"/>
            <a:ext cx="3474720" cy="621792"/>
          </a:xfrm>
          <a:prstGeom prst="rect">
            <a:avLst/>
          </a:prstGeom>
          <a:solidFill>
            <a:srgbClr val="061622"/>
          </a:solidFill>
          <a:ln w="635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163824" y="2569464"/>
            <a:ext cx="3383280" cy="201168"/>
          </a:xfrm>
          <a:prstGeom prst="rect">
            <a:avLst/>
          </a:prstGeom>
          <a:noFill/>
        </p:spPr>
        <p:txBody>
          <a:bodyPr wrap="square">
            <a:spAutoFit/>
          </a:bodyPr>
          <a:lstStyle/>
          <a:p>
            <a:pPr algn="l"/>
            <a:r>
              <a:rPr sz="1000" b="1" i="0">
                <a:solidFill>
                  <a:srgbClr val="00E5FF"/>
                </a:solidFill>
                <a:latin typeface="Calibri"/>
              </a:rPr>
              <a:t>WhatWeb</a:t>
            </a:r>
          </a:p>
        </p:txBody>
      </p:sp>
      <p:sp>
        <p:nvSpPr>
          <p:cNvPr id="40" name="TextBox 39"/>
          <p:cNvSpPr txBox="1"/>
          <p:nvPr/>
        </p:nvSpPr>
        <p:spPr>
          <a:xfrm>
            <a:off x="3163824" y="2788920"/>
            <a:ext cx="3383280" cy="347472"/>
          </a:xfrm>
          <a:prstGeom prst="rect">
            <a:avLst/>
          </a:prstGeom>
          <a:noFill/>
        </p:spPr>
        <p:txBody>
          <a:bodyPr wrap="square">
            <a:spAutoFit/>
          </a:bodyPr>
          <a:lstStyle/>
          <a:p>
            <a:pPr algn="l"/>
            <a:r>
              <a:rPr sz="850" b="0" i="0">
                <a:solidFill>
                  <a:srgbClr val="A0AAB8"/>
                </a:solidFill>
                <a:latin typeface="Calibri"/>
              </a:rPr>
              <a:t>WordPress 5.9.3 · Django on api
Nginx 1.18.0 reverse proxy → CVE-2022-21661 seeded</a:t>
            </a:r>
          </a:p>
        </p:txBody>
      </p:sp>
      <p:sp>
        <p:nvSpPr>
          <p:cNvPr id="41" name="Rectangle 40"/>
          <p:cNvSpPr/>
          <p:nvPr/>
        </p:nvSpPr>
        <p:spPr>
          <a:xfrm>
            <a:off x="3090672" y="3191256"/>
            <a:ext cx="3474720" cy="621792"/>
          </a:xfrm>
          <a:prstGeom prst="rect">
            <a:avLst/>
          </a:prstGeom>
          <a:solidFill>
            <a:srgbClr val="061622"/>
          </a:solidFill>
          <a:ln w="635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163824" y="3227832"/>
            <a:ext cx="3383280" cy="201168"/>
          </a:xfrm>
          <a:prstGeom prst="rect">
            <a:avLst/>
          </a:prstGeom>
          <a:noFill/>
        </p:spPr>
        <p:txBody>
          <a:bodyPr wrap="square">
            <a:spAutoFit/>
          </a:bodyPr>
          <a:lstStyle/>
          <a:p>
            <a:pPr algn="l"/>
            <a:r>
              <a:rPr sz="1000" b="1" i="0">
                <a:solidFill>
                  <a:srgbClr val="00E5FF"/>
                </a:solidFill>
                <a:latin typeface="Calibri"/>
              </a:rPr>
              <a:t>Gobuster</a:t>
            </a:r>
          </a:p>
        </p:txBody>
      </p:sp>
      <p:sp>
        <p:nvSpPr>
          <p:cNvPr id="43" name="TextBox 42"/>
          <p:cNvSpPr txBox="1"/>
          <p:nvPr/>
        </p:nvSpPr>
        <p:spPr>
          <a:xfrm>
            <a:off x="3163824" y="3447288"/>
            <a:ext cx="3383280" cy="347472"/>
          </a:xfrm>
          <a:prstGeom prst="rect">
            <a:avLst/>
          </a:prstGeom>
          <a:noFill/>
        </p:spPr>
        <p:txBody>
          <a:bodyPr wrap="square">
            <a:spAutoFit/>
          </a:bodyPr>
          <a:lstStyle/>
          <a:p>
            <a:pPr algn="l"/>
            <a:r>
              <a:rPr sz="850" b="0" i="0">
                <a:solidFill>
                  <a:srgbClr val="A0AAB8"/>
                </a:solidFill>
                <a:latin typeface="Calibri"/>
              </a:rPr>
              <a:t>/admin/login · /admin/users
/backup/db_export_2023.sql EXPOSED!</a:t>
            </a:r>
          </a:p>
        </p:txBody>
      </p:sp>
      <p:sp>
        <p:nvSpPr>
          <p:cNvPr id="44" name="Rectangle 43"/>
          <p:cNvSpPr/>
          <p:nvPr/>
        </p:nvSpPr>
        <p:spPr>
          <a:xfrm>
            <a:off x="3090672" y="3849624"/>
            <a:ext cx="3474720" cy="621792"/>
          </a:xfrm>
          <a:prstGeom prst="rect">
            <a:avLst/>
          </a:prstGeom>
          <a:solidFill>
            <a:srgbClr val="061622"/>
          </a:solidFill>
          <a:ln w="635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3163824" y="3886200"/>
            <a:ext cx="3383280" cy="201168"/>
          </a:xfrm>
          <a:prstGeom prst="rect">
            <a:avLst/>
          </a:prstGeom>
          <a:noFill/>
        </p:spPr>
        <p:txBody>
          <a:bodyPr wrap="square">
            <a:spAutoFit/>
          </a:bodyPr>
          <a:lstStyle/>
          <a:p>
            <a:pPr algn="l"/>
            <a:r>
              <a:rPr sz="1000" b="1" i="0">
                <a:solidFill>
                  <a:srgbClr val="00E5FF"/>
                </a:solidFill>
                <a:latin typeface="Calibri"/>
              </a:rPr>
              <a:t>ffuf</a:t>
            </a:r>
          </a:p>
        </p:txBody>
      </p:sp>
      <p:sp>
        <p:nvSpPr>
          <p:cNvPr id="46" name="TextBox 45"/>
          <p:cNvSpPr txBox="1"/>
          <p:nvPr/>
        </p:nvSpPr>
        <p:spPr>
          <a:xfrm>
            <a:off x="3163824" y="4105656"/>
            <a:ext cx="3383280" cy="347472"/>
          </a:xfrm>
          <a:prstGeom prst="rect">
            <a:avLst/>
          </a:prstGeom>
          <a:noFill/>
        </p:spPr>
        <p:txBody>
          <a:bodyPr wrap="square">
            <a:spAutoFit/>
          </a:bodyPr>
          <a:lstStyle/>
          <a:p>
            <a:pPr algn="l"/>
            <a:r>
              <a:rPr sz="850" b="0" i="0">
                <a:solidFill>
                  <a:srgbClr val="A0AAB8"/>
                </a:solidFill>
                <a:latin typeface="Calibri"/>
              </a:rPr>
              <a:t>Undocumented: /api/v1/internal/users
user_id param accepts unsanitized input → IDOR</a:t>
            </a:r>
          </a:p>
        </p:txBody>
      </p:sp>
      <p:sp>
        <p:nvSpPr>
          <p:cNvPr id="47" name="Rectangle 46"/>
          <p:cNvSpPr/>
          <p:nvPr/>
        </p:nvSpPr>
        <p:spPr>
          <a:xfrm>
            <a:off x="3090672" y="4507992"/>
            <a:ext cx="3474720" cy="621792"/>
          </a:xfrm>
          <a:prstGeom prst="rect">
            <a:avLst/>
          </a:prstGeom>
          <a:solidFill>
            <a:srgbClr val="061622"/>
          </a:solidFill>
          <a:ln w="635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3163824" y="4544568"/>
            <a:ext cx="3383280" cy="201168"/>
          </a:xfrm>
          <a:prstGeom prst="rect">
            <a:avLst/>
          </a:prstGeom>
          <a:noFill/>
        </p:spPr>
        <p:txBody>
          <a:bodyPr wrap="square">
            <a:spAutoFit/>
          </a:bodyPr>
          <a:lstStyle/>
          <a:p>
            <a:pPr algn="l"/>
            <a:r>
              <a:rPr sz="1000" b="1" i="0">
                <a:solidFill>
                  <a:srgbClr val="00E5FF"/>
                </a:solidFill>
                <a:latin typeface="Calibri"/>
              </a:rPr>
              <a:t>Nuclei</a:t>
            </a:r>
          </a:p>
        </p:txBody>
      </p:sp>
      <p:sp>
        <p:nvSpPr>
          <p:cNvPr id="49" name="TextBox 48"/>
          <p:cNvSpPr txBox="1"/>
          <p:nvPr/>
        </p:nvSpPr>
        <p:spPr>
          <a:xfrm>
            <a:off x="3163824" y="4764024"/>
            <a:ext cx="3383280" cy="347472"/>
          </a:xfrm>
          <a:prstGeom prst="rect">
            <a:avLst/>
          </a:prstGeom>
          <a:noFill/>
        </p:spPr>
        <p:txBody>
          <a:bodyPr wrap="square">
            <a:spAutoFit/>
          </a:bodyPr>
          <a:lstStyle/>
          <a:p>
            <a:pPr algn="l"/>
            <a:r>
              <a:rPr sz="850" b="0" i="0">
                <a:solidFill>
                  <a:srgbClr val="A0AAB8"/>
                </a:solidFill>
                <a:latin typeface="Calibri"/>
              </a:rPr>
              <a:t>pay.shopvault.io: expired TLS
staging: default creds · WooCommerce 6.1 CVE</a:t>
            </a:r>
          </a:p>
        </p:txBody>
      </p:sp>
      <p:sp>
        <p:nvSpPr>
          <p:cNvPr id="50" name="Rectangle 49"/>
          <p:cNvSpPr/>
          <p:nvPr/>
        </p:nvSpPr>
        <p:spPr>
          <a:xfrm>
            <a:off x="3090672" y="5166360"/>
            <a:ext cx="3474720" cy="621792"/>
          </a:xfrm>
          <a:prstGeom prst="rect">
            <a:avLst/>
          </a:prstGeom>
          <a:solidFill>
            <a:srgbClr val="061622"/>
          </a:solidFill>
          <a:ln w="635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3163824" y="5202936"/>
            <a:ext cx="3383280" cy="201168"/>
          </a:xfrm>
          <a:prstGeom prst="rect">
            <a:avLst/>
          </a:prstGeom>
          <a:noFill/>
        </p:spPr>
        <p:txBody>
          <a:bodyPr wrap="square">
            <a:spAutoFit/>
          </a:bodyPr>
          <a:lstStyle/>
          <a:p>
            <a:pPr algn="l"/>
            <a:r>
              <a:rPr sz="1000" b="1" i="0">
                <a:solidFill>
                  <a:srgbClr val="00E5FF"/>
                </a:solidFill>
                <a:latin typeface="Calibri"/>
              </a:rPr>
              <a:t>OWASP ZAP</a:t>
            </a:r>
          </a:p>
        </p:txBody>
      </p:sp>
      <p:sp>
        <p:nvSpPr>
          <p:cNvPr id="52" name="TextBox 51"/>
          <p:cNvSpPr txBox="1"/>
          <p:nvPr/>
        </p:nvSpPr>
        <p:spPr>
          <a:xfrm>
            <a:off x="3163824" y="5422392"/>
            <a:ext cx="3383280" cy="347472"/>
          </a:xfrm>
          <a:prstGeom prst="rect">
            <a:avLst/>
          </a:prstGeom>
          <a:noFill/>
        </p:spPr>
        <p:txBody>
          <a:bodyPr wrap="square">
            <a:spAutoFit/>
          </a:bodyPr>
          <a:lstStyle/>
          <a:p>
            <a:pPr algn="l"/>
            <a:r>
              <a:rPr sz="850" b="0" i="0">
                <a:solidFill>
                  <a:srgbClr val="A0AAB8"/>
                </a:solidFill>
                <a:latin typeface="Calibri"/>
              </a:rPr>
              <a:t>XSS on /search?q= · SQL errors on staging
Missing CSRF on checkout</a:t>
            </a:r>
          </a:p>
        </p:txBody>
      </p:sp>
      <p:sp>
        <p:nvSpPr>
          <p:cNvPr id="53" name="Rectangle 52"/>
          <p:cNvSpPr/>
          <p:nvPr/>
        </p:nvSpPr>
        <p:spPr>
          <a:xfrm>
            <a:off x="3090672" y="5824728"/>
            <a:ext cx="3474720" cy="621792"/>
          </a:xfrm>
          <a:prstGeom prst="rect">
            <a:avLst/>
          </a:prstGeom>
          <a:solidFill>
            <a:srgbClr val="061622"/>
          </a:solidFill>
          <a:ln w="635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3163824" y="5861304"/>
            <a:ext cx="3383280" cy="201168"/>
          </a:xfrm>
          <a:prstGeom prst="rect">
            <a:avLst/>
          </a:prstGeom>
          <a:noFill/>
        </p:spPr>
        <p:txBody>
          <a:bodyPr wrap="square">
            <a:spAutoFit/>
          </a:bodyPr>
          <a:lstStyle/>
          <a:p>
            <a:pPr algn="l"/>
            <a:r>
              <a:rPr sz="1000" b="1" i="0">
                <a:solidFill>
                  <a:srgbClr val="00E5FF"/>
                </a:solidFill>
                <a:latin typeface="Calibri"/>
              </a:rPr>
              <a:t>APG →</a:t>
            </a:r>
          </a:p>
        </p:txBody>
      </p:sp>
      <p:sp>
        <p:nvSpPr>
          <p:cNvPr id="55" name="TextBox 54"/>
          <p:cNvSpPr txBox="1"/>
          <p:nvPr/>
        </p:nvSpPr>
        <p:spPr>
          <a:xfrm>
            <a:off x="3163824" y="6080760"/>
            <a:ext cx="3383280" cy="347472"/>
          </a:xfrm>
          <a:prstGeom prst="rect">
            <a:avLst/>
          </a:prstGeom>
          <a:noFill/>
        </p:spPr>
        <p:txBody>
          <a:bodyPr wrap="square">
            <a:spAutoFit/>
          </a:bodyPr>
          <a:lstStyle/>
          <a:p>
            <a:pPr algn="l"/>
            <a:r>
              <a:rPr sz="850" b="0" i="0">
                <a:solidFill>
                  <a:srgbClr val="A0AAB8"/>
                </a:solidFill>
                <a:latin typeface="Calibri"/>
              </a:rPr>
              <a:t>3 AttackChains seeded: risk 8.8, 8.1, 7.5
61 new ASG nodes written</a:t>
            </a:r>
          </a:p>
        </p:txBody>
      </p:sp>
      <p:sp>
        <p:nvSpPr>
          <p:cNvPr id="56" name="Rectangle 55"/>
          <p:cNvSpPr/>
          <p:nvPr/>
        </p:nvSpPr>
        <p:spPr>
          <a:xfrm>
            <a:off x="6775704" y="2148840"/>
            <a:ext cx="3474720" cy="4160520"/>
          </a:xfrm>
          <a:prstGeom prst="rect">
            <a:avLst/>
          </a:prstGeom>
          <a:solidFill>
            <a:srgbClr val="180606"/>
          </a:solidFill>
          <a:ln w="12700">
            <a:solidFill>
              <a:srgbClr val="FF45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6867144" y="2221992"/>
            <a:ext cx="3337560" cy="256032"/>
          </a:xfrm>
          <a:prstGeom prst="rect">
            <a:avLst/>
          </a:prstGeom>
          <a:noFill/>
        </p:spPr>
        <p:txBody>
          <a:bodyPr wrap="square">
            <a:spAutoFit/>
          </a:bodyPr>
          <a:lstStyle/>
          <a:p>
            <a:pPr algn="l"/>
            <a:r>
              <a:rPr sz="1000" b="1" i="0">
                <a:solidFill>
                  <a:srgbClr val="FF4545"/>
                </a:solidFill>
                <a:latin typeface="Calibri"/>
              </a:rPr>
              <a:t>🎯  Validation Agent  +  📸  Evidence Agent</a:t>
            </a:r>
          </a:p>
        </p:txBody>
      </p:sp>
      <p:sp>
        <p:nvSpPr>
          <p:cNvPr id="58" name="Rectangle 57"/>
          <p:cNvSpPr/>
          <p:nvPr/>
        </p:nvSpPr>
        <p:spPr>
          <a:xfrm>
            <a:off x="6867144" y="2532888"/>
            <a:ext cx="3291840" cy="914400"/>
          </a:xfrm>
          <a:prstGeom prst="rect">
            <a:avLst/>
          </a:prstGeom>
          <a:solidFill>
            <a:srgbClr val="200808"/>
          </a:solidFill>
          <a:ln w="10160">
            <a:solidFill>
              <a:srgbClr val="FF45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6940296" y="2578608"/>
            <a:ext cx="3200400" cy="219456"/>
          </a:xfrm>
          <a:prstGeom prst="rect">
            <a:avLst/>
          </a:prstGeom>
          <a:noFill/>
        </p:spPr>
        <p:txBody>
          <a:bodyPr wrap="square">
            <a:spAutoFit/>
          </a:bodyPr>
          <a:lstStyle/>
          <a:p>
            <a:pPr algn="l"/>
            <a:r>
              <a:rPr sz="1000" b="1" i="0">
                <a:solidFill>
                  <a:srgbClr val="FF4545"/>
                </a:solidFill>
                <a:latin typeface="Calibri"/>
              </a:rPr>
              <a:t>Chain-01  risk 8.8</a:t>
            </a:r>
          </a:p>
        </p:txBody>
      </p:sp>
      <p:sp>
        <p:nvSpPr>
          <p:cNvPr id="60" name="TextBox 59"/>
          <p:cNvSpPr txBox="1"/>
          <p:nvPr/>
        </p:nvSpPr>
        <p:spPr>
          <a:xfrm>
            <a:off x="6940296" y="2807208"/>
            <a:ext cx="3200400" cy="603504"/>
          </a:xfrm>
          <a:prstGeom prst="rect">
            <a:avLst/>
          </a:prstGeom>
          <a:noFill/>
        </p:spPr>
        <p:txBody>
          <a:bodyPr wrap="square">
            <a:spAutoFit/>
          </a:bodyPr>
          <a:lstStyle/>
          <a:p>
            <a:pPr algn="l"/>
            <a:r>
              <a:rPr sz="850" b="0" i="0">
                <a:solidFill>
                  <a:srgbClr val="A0AAB8"/>
                </a:solidFill>
                <a:latin typeface="Calibri"/>
              </a:rPr>
              <a:t>SQLMap → CVE-2022-21661 confirmed
Admin hash extracted + cracked
Metasploit → Web shell → RCE
Status: VALIDATED  (escalated to 9.1)</a:t>
            </a:r>
          </a:p>
        </p:txBody>
      </p:sp>
      <p:sp>
        <p:nvSpPr>
          <p:cNvPr id="61" name="Rectangle 60"/>
          <p:cNvSpPr/>
          <p:nvPr/>
        </p:nvSpPr>
        <p:spPr>
          <a:xfrm>
            <a:off x="6867144" y="3520440"/>
            <a:ext cx="3291840" cy="914400"/>
          </a:xfrm>
          <a:prstGeom prst="rect">
            <a:avLst/>
          </a:prstGeom>
          <a:solidFill>
            <a:srgbClr val="200808"/>
          </a:solidFill>
          <a:ln w="1016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6940296" y="3566160"/>
            <a:ext cx="3200400" cy="219456"/>
          </a:xfrm>
          <a:prstGeom prst="rect">
            <a:avLst/>
          </a:prstGeom>
          <a:noFill/>
        </p:spPr>
        <p:txBody>
          <a:bodyPr wrap="square">
            <a:spAutoFit/>
          </a:bodyPr>
          <a:lstStyle/>
          <a:p>
            <a:pPr algn="l"/>
            <a:r>
              <a:rPr sz="1000" b="1" i="0">
                <a:solidFill>
                  <a:srgbClr val="FFD700"/>
                </a:solidFill>
                <a:latin typeface="Calibri"/>
              </a:rPr>
              <a:t>Chain-02  risk 7.5</a:t>
            </a:r>
          </a:p>
        </p:txBody>
      </p:sp>
      <p:sp>
        <p:nvSpPr>
          <p:cNvPr id="63" name="TextBox 62"/>
          <p:cNvSpPr txBox="1"/>
          <p:nvPr/>
        </p:nvSpPr>
        <p:spPr>
          <a:xfrm>
            <a:off x="6940296" y="3794760"/>
            <a:ext cx="3200400" cy="603504"/>
          </a:xfrm>
          <a:prstGeom prst="rect">
            <a:avLst/>
          </a:prstGeom>
          <a:noFill/>
        </p:spPr>
        <p:txBody>
          <a:bodyPr wrap="square">
            <a:spAutoFit/>
          </a:bodyPr>
          <a:lstStyle/>
          <a:p>
            <a:pPr algn="l"/>
            <a:r>
              <a:rPr sz="850" b="0" i="0">
                <a:solidFill>
                  <a:srgbClr val="A0AAB8"/>
                </a:solidFill>
                <a:latin typeface="Calibri"/>
              </a:rPr>
              <a:t>SQLMap on user_id param
IDOR confirmed — any customer orders
Status: VALIDATED</a:t>
            </a:r>
          </a:p>
        </p:txBody>
      </p:sp>
      <p:sp>
        <p:nvSpPr>
          <p:cNvPr id="64" name="Rectangle 63"/>
          <p:cNvSpPr/>
          <p:nvPr/>
        </p:nvSpPr>
        <p:spPr>
          <a:xfrm>
            <a:off x="6867144" y="4507992"/>
            <a:ext cx="3291840" cy="914400"/>
          </a:xfrm>
          <a:prstGeom prst="rect">
            <a:avLst/>
          </a:prstGeom>
          <a:solidFill>
            <a:srgbClr val="200808"/>
          </a:solidFill>
          <a:ln w="1016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6940296" y="4553712"/>
            <a:ext cx="3200400" cy="219456"/>
          </a:xfrm>
          <a:prstGeom prst="rect">
            <a:avLst/>
          </a:prstGeom>
          <a:noFill/>
        </p:spPr>
        <p:txBody>
          <a:bodyPr wrap="square">
            <a:spAutoFit/>
          </a:bodyPr>
          <a:lstStyle/>
          <a:p>
            <a:pPr algn="l"/>
            <a:r>
              <a:rPr sz="1000" b="1" i="0">
                <a:solidFill>
                  <a:srgbClr val="FFD700"/>
                </a:solidFill>
                <a:latin typeface="Calibri"/>
              </a:rPr>
              <a:t>Chain-03  risk 8.1</a:t>
            </a:r>
          </a:p>
        </p:txBody>
      </p:sp>
      <p:sp>
        <p:nvSpPr>
          <p:cNvPr id="66" name="TextBox 65"/>
          <p:cNvSpPr txBox="1"/>
          <p:nvPr/>
        </p:nvSpPr>
        <p:spPr>
          <a:xfrm>
            <a:off x="6940296" y="4782312"/>
            <a:ext cx="3200400" cy="603504"/>
          </a:xfrm>
          <a:prstGeom prst="rect">
            <a:avLst/>
          </a:prstGeom>
          <a:noFill/>
        </p:spPr>
        <p:txBody>
          <a:bodyPr wrap="square">
            <a:spAutoFit/>
          </a:bodyPr>
          <a:lstStyle/>
          <a:p>
            <a:pPr algn="l"/>
            <a:r>
              <a:rPr sz="850" b="0" i="0">
                <a:solidFill>
                  <a:srgbClr val="A0AAB8"/>
                </a:solidFill>
                <a:latin typeface="Calibri"/>
              </a:rPr>
              <a:t>SQLMap on staging login
Blind SQLi → staging DB creds
Credential reuse risk flagged
Status: VALIDATED</a:t>
            </a:r>
          </a:p>
        </p:txBody>
      </p:sp>
      <p:sp>
        <p:nvSpPr>
          <p:cNvPr id="67" name="Rectangle 66"/>
          <p:cNvSpPr/>
          <p:nvPr/>
        </p:nvSpPr>
        <p:spPr>
          <a:xfrm>
            <a:off x="6867144" y="5495544"/>
            <a:ext cx="3291840" cy="914400"/>
          </a:xfrm>
          <a:prstGeom prst="rect">
            <a:avLst/>
          </a:prstGeom>
          <a:solidFill>
            <a:srgbClr val="200808"/>
          </a:solidFill>
          <a:ln w="10160">
            <a:solidFill>
              <a:srgbClr val="BD93F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6940296" y="5541264"/>
            <a:ext cx="3200400" cy="219456"/>
          </a:xfrm>
          <a:prstGeom prst="rect">
            <a:avLst/>
          </a:prstGeom>
          <a:noFill/>
        </p:spPr>
        <p:txBody>
          <a:bodyPr wrap="square">
            <a:spAutoFit/>
          </a:bodyPr>
          <a:lstStyle/>
          <a:p>
            <a:pPr algn="l"/>
            <a:r>
              <a:rPr sz="1000" b="1" i="0">
                <a:solidFill>
                  <a:srgbClr val="BD93F9"/>
                </a:solidFill>
                <a:latin typeface="Calibri"/>
              </a:rPr>
              <a:t>Chain-04  (bonus)</a:t>
            </a:r>
          </a:p>
        </p:txBody>
      </p:sp>
      <p:sp>
        <p:nvSpPr>
          <p:cNvPr id="69" name="TextBox 68"/>
          <p:cNvSpPr txBox="1"/>
          <p:nvPr/>
        </p:nvSpPr>
        <p:spPr>
          <a:xfrm>
            <a:off x="6940296" y="5769864"/>
            <a:ext cx="3200400" cy="603504"/>
          </a:xfrm>
          <a:prstGeom prst="rect">
            <a:avLst/>
          </a:prstGeom>
          <a:noFill/>
        </p:spPr>
        <p:txBody>
          <a:bodyPr wrap="square">
            <a:spAutoFit/>
          </a:bodyPr>
          <a:lstStyle/>
          <a:p>
            <a:pPr algn="l"/>
            <a:r>
              <a:rPr sz="850" b="0" i="0">
                <a:solidFill>
                  <a:srgbClr val="A0AAB8"/>
                </a:solidFill>
                <a:latin typeface="Calibri"/>
              </a:rPr>
              <a:t>Direct HTTP GET on db_export_2023.sql
Full customer PII accessible publicly
Status: VALIDATED immediately</a:t>
            </a:r>
          </a:p>
        </p:txBody>
      </p:sp>
      <p:sp>
        <p:nvSpPr>
          <p:cNvPr id="70" name="Rectangle 69"/>
          <p:cNvSpPr/>
          <p:nvPr/>
        </p:nvSpPr>
        <p:spPr>
          <a:xfrm>
            <a:off x="10369296" y="2148840"/>
            <a:ext cx="1664208" cy="4160520"/>
          </a:xfrm>
          <a:prstGeom prst="rect">
            <a:avLst/>
          </a:prstGeom>
          <a:solidFill>
            <a:srgbClr val="10081C"/>
          </a:solidFill>
          <a:ln w="12700">
            <a:solidFill>
              <a:srgbClr val="BD93F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10442448" y="2221992"/>
            <a:ext cx="1554480" cy="365760"/>
          </a:xfrm>
          <a:prstGeom prst="rect">
            <a:avLst/>
          </a:prstGeom>
          <a:noFill/>
        </p:spPr>
        <p:txBody>
          <a:bodyPr wrap="square">
            <a:spAutoFit/>
          </a:bodyPr>
          <a:lstStyle/>
          <a:p>
            <a:pPr algn="ctr"/>
            <a:r>
              <a:rPr sz="1000" b="1" i="0">
                <a:solidFill>
                  <a:srgbClr val="BD93F9"/>
                </a:solidFill>
                <a:latin typeface="Calibri"/>
              </a:rPr>
              <a:t>📝 Report
Agent</a:t>
            </a:r>
          </a:p>
        </p:txBody>
      </p:sp>
      <p:sp>
        <p:nvSpPr>
          <p:cNvPr id="72" name="TextBox 71"/>
          <p:cNvSpPr txBox="1"/>
          <p:nvPr/>
        </p:nvSpPr>
        <p:spPr>
          <a:xfrm>
            <a:off x="10460736" y="2624328"/>
            <a:ext cx="1527048" cy="457200"/>
          </a:xfrm>
          <a:prstGeom prst="rect">
            <a:avLst/>
          </a:prstGeom>
          <a:noFill/>
        </p:spPr>
        <p:txBody>
          <a:bodyPr wrap="square">
            <a:spAutoFit/>
          </a:bodyPr>
          <a:lstStyle/>
          <a:p>
            <a:pPr algn="l"/>
            <a:r>
              <a:rPr sz="900" b="0" i="0">
                <a:solidFill>
                  <a:srgbClr val="A0AAB8"/>
                </a:solidFill>
                <a:latin typeface="Calibri"/>
              </a:rPr>
              <a:t>• Executive Summary</a:t>
            </a:r>
          </a:p>
        </p:txBody>
      </p:sp>
      <p:sp>
        <p:nvSpPr>
          <p:cNvPr id="73" name="TextBox 72"/>
          <p:cNvSpPr txBox="1"/>
          <p:nvPr/>
        </p:nvSpPr>
        <p:spPr>
          <a:xfrm>
            <a:off x="10460736" y="3127248"/>
            <a:ext cx="1527048" cy="457200"/>
          </a:xfrm>
          <a:prstGeom prst="rect">
            <a:avLst/>
          </a:prstGeom>
          <a:noFill/>
        </p:spPr>
        <p:txBody>
          <a:bodyPr wrap="square">
            <a:spAutoFit/>
          </a:bodyPr>
          <a:lstStyle/>
          <a:p>
            <a:pPr algn="l"/>
            <a:r>
              <a:rPr sz="900" b="0" i="0">
                <a:solidFill>
                  <a:srgbClr val="A0AAB8"/>
                </a:solidFill>
                <a:latin typeface="Calibri"/>
              </a:rPr>
              <a:t>• 4 validated chains</a:t>
            </a:r>
          </a:p>
        </p:txBody>
      </p:sp>
      <p:sp>
        <p:nvSpPr>
          <p:cNvPr id="74" name="TextBox 73"/>
          <p:cNvSpPr txBox="1"/>
          <p:nvPr/>
        </p:nvSpPr>
        <p:spPr>
          <a:xfrm>
            <a:off x="10460736" y="3630168"/>
            <a:ext cx="1527048" cy="457200"/>
          </a:xfrm>
          <a:prstGeom prst="rect">
            <a:avLst/>
          </a:prstGeom>
          <a:noFill/>
        </p:spPr>
        <p:txBody>
          <a:bodyPr wrap="square">
            <a:spAutoFit/>
          </a:bodyPr>
          <a:lstStyle/>
          <a:p>
            <a:pPr algn="l"/>
            <a:r>
              <a:rPr sz="900" b="0" i="0">
                <a:solidFill>
                  <a:srgbClr val="A0AAB8"/>
                </a:solidFill>
                <a:latin typeface="Calibri"/>
              </a:rPr>
              <a:t>• RCE + PII exposure</a:t>
            </a:r>
          </a:p>
        </p:txBody>
      </p:sp>
      <p:sp>
        <p:nvSpPr>
          <p:cNvPr id="75" name="TextBox 74"/>
          <p:cNvSpPr txBox="1"/>
          <p:nvPr/>
        </p:nvSpPr>
        <p:spPr>
          <a:xfrm>
            <a:off x="10460736" y="4133088"/>
            <a:ext cx="1527048" cy="457200"/>
          </a:xfrm>
          <a:prstGeom prst="rect">
            <a:avLst/>
          </a:prstGeom>
          <a:noFill/>
        </p:spPr>
        <p:txBody>
          <a:bodyPr wrap="square">
            <a:spAutoFit/>
          </a:bodyPr>
          <a:lstStyle/>
          <a:p>
            <a:pPr algn="l"/>
            <a:r>
              <a:rPr sz="900" b="0" i="0">
                <a:solidFill>
                  <a:srgbClr val="A0AAB8"/>
                </a:solidFill>
                <a:latin typeface="Calibri"/>
              </a:rPr>
              <a:t>• 11 vuln entries</a:t>
            </a:r>
          </a:p>
        </p:txBody>
      </p:sp>
      <p:sp>
        <p:nvSpPr>
          <p:cNvPr id="76" name="TextBox 75"/>
          <p:cNvSpPr txBox="1"/>
          <p:nvPr/>
        </p:nvSpPr>
        <p:spPr>
          <a:xfrm>
            <a:off x="10460736" y="4636008"/>
            <a:ext cx="1527048" cy="457200"/>
          </a:xfrm>
          <a:prstGeom prst="rect">
            <a:avLst/>
          </a:prstGeom>
          <a:noFill/>
        </p:spPr>
        <p:txBody>
          <a:bodyPr wrap="square">
            <a:spAutoFit/>
          </a:bodyPr>
          <a:lstStyle/>
          <a:p>
            <a:pPr algn="l"/>
            <a:r>
              <a:rPr sz="900" b="0" i="0">
                <a:solidFill>
                  <a:srgbClr val="A0AAB8"/>
                </a:solidFill>
                <a:latin typeface="Calibri"/>
              </a:rPr>
              <a:t>• Full ASG surface map</a:t>
            </a:r>
          </a:p>
        </p:txBody>
      </p:sp>
      <p:sp>
        <p:nvSpPr>
          <p:cNvPr id="77" name="TextBox 76"/>
          <p:cNvSpPr txBox="1"/>
          <p:nvPr/>
        </p:nvSpPr>
        <p:spPr>
          <a:xfrm>
            <a:off x="10460736" y="5138928"/>
            <a:ext cx="1527048" cy="457200"/>
          </a:xfrm>
          <a:prstGeom prst="rect">
            <a:avLst/>
          </a:prstGeom>
          <a:noFill/>
        </p:spPr>
        <p:txBody>
          <a:bodyPr wrap="square">
            <a:spAutoFit/>
          </a:bodyPr>
          <a:lstStyle/>
          <a:p>
            <a:pPr algn="l"/>
            <a:r>
              <a:rPr sz="900" b="0" i="0">
                <a:solidFill>
                  <a:srgbClr val="A0AAB8"/>
                </a:solidFill>
                <a:latin typeface="Calibri"/>
              </a:rPr>
              <a:t>• Evidence at every step</a:t>
            </a:r>
          </a:p>
        </p:txBody>
      </p:sp>
      <p:sp>
        <p:nvSpPr>
          <p:cNvPr id="78" name="TextBox 77"/>
          <p:cNvSpPr txBox="1"/>
          <p:nvPr/>
        </p:nvSpPr>
        <p:spPr>
          <a:xfrm>
            <a:off x="10460736" y="5641848"/>
            <a:ext cx="1527048" cy="457200"/>
          </a:xfrm>
          <a:prstGeom prst="rect">
            <a:avLst/>
          </a:prstGeom>
          <a:noFill/>
        </p:spPr>
        <p:txBody>
          <a:bodyPr wrap="square">
            <a:spAutoFit/>
          </a:bodyPr>
          <a:lstStyle/>
          <a:p>
            <a:pPr algn="l"/>
            <a:r>
              <a:rPr sz="900" b="0" i="0">
                <a:solidFill>
                  <a:srgbClr val="A0AAB8"/>
                </a:solidFill>
                <a:latin typeface="Calibri"/>
              </a:rPr>
              <a:t>• Remediation guidance</a:t>
            </a:r>
          </a:p>
        </p:txBody>
      </p:sp>
      <p:sp>
        <p:nvSpPr>
          <p:cNvPr id="79" name="TextBox 78"/>
          <p:cNvSpPr txBox="1"/>
          <p:nvPr/>
        </p:nvSpPr>
        <p:spPr>
          <a:xfrm>
            <a:off x="10460736" y="6144768"/>
            <a:ext cx="1527048" cy="457200"/>
          </a:xfrm>
          <a:prstGeom prst="rect">
            <a:avLst/>
          </a:prstGeom>
          <a:noFill/>
        </p:spPr>
        <p:txBody>
          <a:bodyPr wrap="square">
            <a:spAutoFit/>
          </a:bodyPr>
          <a:lstStyle/>
          <a:p>
            <a:pPr algn="l"/>
            <a:r>
              <a:rPr sz="900" b="0" i="0">
                <a:solidFill>
                  <a:srgbClr val="A0AAB8"/>
                </a:solidFill>
                <a:latin typeface="Calibri"/>
              </a:rPr>
              <a:t>• ZERO manual commands</a:t>
            </a:r>
          </a:p>
        </p:txBody>
      </p:sp>
      <p:sp>
        <p:nvSpPr>
          <p:cNvPr id="80" name="Rectangle 79"/>
          <p:cNvSpPr/>
          <p:nvPr/>
        </p:nvSpPr>
        <p:spPr>
          <a:xfrm>
            <a:off x="274320" y="6327648"/>
            <a:ext cx="11643055" cy="402336"/>
          </a:xfrm>
          <a:prstGeom prst="rect">
            <a:avLst/>
          </a:prstGeom>
          <a:solidFill>
            <a:srgbClr val="0A1020"/>
          </a:solidFill>
          <a:ln w="1270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457200" y="6364224"/>
            <a:ext cx="11368735" cy="347472"/>
          </a:xfrm>
          <a:prstGeom prst="rect">
            <a:avLst/>
          </a:prstGeom>
          <a:noFill/>
        </p:spPr>
        <p:txBody>
          <a:bodyPr wrap="none">
            <a:spAutoFit/>
          </a:bodyPr>
          <a:lstStyle/>
          <a:p>
            <a:pPr algn="l"/>
            <a:r>
              <a:rPr sz="1100" b="1" i="0">
                <a:solidFill>
                  <a:srgbClr val="00E5FF"/>
                </a:solidFill>
                <a:latin typeface="Calibri"/>
              </a:rPr>
              <a:t>Final ASG:  14 subdomains · 11 live hosts · 28 open ports · 19 endpoints · 7 parameters · 11 vulnerabilities · 4 validated chains  |  Operator issued ZERO manual commands</a:t>
            </a:r>
          </a:p>
        </p:txBody>
      </p:sp>
      <p:sp>
        <p:nvSpPr>
          <p:cNvPr id="82" name="TextBox 81"/>
          <p:cNvSpPr txBox="1"/>
          <p:nvPr/>
        </p:nvSpPr>
        <p:spPr>
          <a:xfrm>
            <a:off x="11825935" y="6355080"/>
            <a:ext cx="320040" cy="411480"/>
          </a:xfrm>
          <a:prstGeom prst="rect">
            <a:avLst/>
          </a:prstGeom>
          <a:noFill/>
        </p:spPr>
        <p:txBody>
          <a:bodyPr wrap="square">
            <a:spAutoFit/>
          </a:bodyPr>
          <a:lstStyle/>
          <a:p>
            <a:pPr algn="r"/>
            <a:r>
              <a:rPr sz="1300" b="1" i="0">
                <a:solidFill>
                  <a:srgbClr val="FFD700"/>
                </a:solidFill>
                <a:latin typeface="Calibri"/>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0D1A"/>
        </a:solidFill>
        <a:effectLst/>
      </p:bgPr>
    </p:bg>
    <p:spTree>
      <p:nvGrpSpPr>
        <p:cNvPr id="1" name=""/>
        <p:cNvGrpSpPr/>
        <p:nvPr/>
      </p:nvGrpSpPr>
      <p:grpSpPr/>
      <p:sp>
        <p:nvSpPr>
          <p:cNvPr id="2" name="Rectangle 1"/>
          <p:cNvSpPr/>
          <p:nvPr/>
        </p:nvSpPr>
        <p:spPr>
          <a:xfrm>
            <a:off x="0" y="0"/>
            <a:ext cx="54864" cy="6858000"/>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 y="0"/>
            <a:ext cx="12136831" cy="36576"/>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 y="6821424"/>
            <a:ext cx="12136831" cy="36576"/>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73152"/>
            <a:ext cx="7315200" cy="274320"/>
          </a:xfrm>
          <a:prstGeom prst="rect">
            <a:avLst/>
          </a:prstGeom>
          <a:noFill/>
        </p:spPr>
        <p:txBody>
          <a:bodyPr wrap="square">
            <a:spAutoFit/>
          </a:bodyPr>
          <a:lstStyle/>
          <a:p>
            <a:pPr algn="l"/>
            <a:r>
              <a:rPr sz="1100" b="1" i="0">
                <a:solidFill>
                  <a:srgbClr val="FFD700"/>
                </a:solidFill>
                <a:latin typeface="Calibri"/>
              </a:rPr>
              <a:t>ATTACK CHAIN LIFECYCLE</a:t>
            </a:r>
          </a:p>
        </p:txBody>
      </p:sp>
      <p:sp>
        <p:nvSpPr>
          <p:cNvPr id="6" name="TextBox 5"/>
          <p:cNvSpPr txBox="1"/>
          <p:nvPr/>
        </p:nvSpPr>
        <p:spPr>
          <a:xfrm>
            <a:off x="274320" y="347472"/>
            <a:ext cx="10972800" cy="566928"/>
          </a:xfrm>
          <a:prstGeom prst="rect">
            <a:avLst/>
          </a:prstGeom>
          <a:noFill/>
        </p:spPr>
        <p:txBody>
          <a:bodyPr wrap="square">
            <a:spAutoFit/>
          </a:bodyPr>
          <a:lstStyle/>
          <a:p>
            <a:pPr algn="l"/>
            <a:r>
              <a:rPr sz="2800" b="1" i="0">
                <a:solidFill>
                  <a:srgbClr val="FFFFFF"/>
                </a:solidFill>
                <a:latin typeface="Calibri"/>
              </a:rPr>
              <a:t>From Hypothesis to Validated Exploit — APG Chain State Machine</a:t>
            </a:r>
          </a:p>
        </p:txBody>
      </p:sp>
      <p:sp>
        <p:nvSpPr>
          <p:cNvPr id="7" name="Rectangle 6"/>
          <p:cNvSpPr/>
          <p:nvPr/>
        </p:nvSpPr>
        <p:spPr>
          <a:xfrm>
            <a:off x="274320" y="914400"/>
            <a:ext cx="5486400" cy="27432"/>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74320" y="1024128"/>
            <a:ext cx="2331720" cy="2011680"/>
          </a:xfrm>
          <a:prstGeom prst="rect">
            <a:avLst/>
          </a:prstGeom>
          <a:solidFill>
            <a:srgbClr val="504000"/>
          </a:solidFill>
          <a:ln w="2540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84048" y="1115568"/>
            <a:ext cx="2148840" cy="457200"/>
          </a:xfrm>
          <a:prstGeom prst="rect">
            <a:avLst/>
          </a:prstGeom>
          <a:noFill/>
        </p:spPr>
        <p:txBody>
          <a:bodyPr wrap="square">
            <a:spAutoFit/>
          </a:bodyPr>
          <a:lstStyle/>
          <a:p>
            <a:pPr algn="ctr"/>
            <a:r>
              <a:rPr sz="1300" b="1" i="0">
                <a:solidFill>
                  <a:srgbClr val="FFD700"/>
                </a:solidFill>
                <a:latin typeface="Calibri"/>
              </a:rPr>
              <a:t>HYPOTHESIZED</a:t>
            </a:r>
          </a:p>
        </p:txBody>
      </p:sp>
      <p:sp>
        <p:nvSpPr>
          <p:cNvPr id="10" name="Rectangle 9"/>
          <p:cNvSpPr/>
          <p:nvPr/>
        </p:nvSpPr>
        <p:spPr>
          <a:xfrm>
            <a:off x="411480" y="1591056"/>
            <a:ext cx="2057400" cy="27432"/>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84048" y="1682496"/>
            <a:ext cx="2148840" cy="1280160"/>
          </a:xfrm>
          <a:prstGeom prst="rect">
            <a:avLst/>
          </a:prstGeom>
          <a:noFill/>
        </p:spPr>
        <p:txBody>
          <a:bodyPr wrap="square">
            <a:spAutoFit/>
          </a:bodyPr>
          <a:lstStyle/>
          <a:p>
            <a:pPr algn="ctr"/>
            <a:r>
              <a:rPr sz="1000" b="0" i="0">
                <a:solidFill>
                  <a:srgbClr val="A0AAB8"/>
                </a:solidFill>
                <a:latin typeface="Calibri"/>
              </a:rPr>
              <a:t>Commander has inferred
a possible chain from
ASG Vulnerability nodes.
Not yet tested.</a:t>
            </a:r>
          </a:p>
        </p:txBody>
      </p:sp>
      <p:cxnSp>
        <p:nvCxnSpPr>
          <p:cNvPr id="12" name="Connector 11"/>
          <p:cNvCxnSpPr/>
          <p:nvPr/>
        </p:nvCxnSpPr>
        <p:spPr>
          <a:xfrm>
            <a:off x="2606040" y="2121408.0"/>
            <a:ext cx="228600" cy="0.0"/>
          </a:xfrm>
          <a:prstGeom prst="line">
            <a:avLst/>
          </a:prstGeom>
          <a:ln w="25400">
            <a:solidFill>
              <a:srgbClr val="FFD700"/>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2834640" y="1024128"/>
            <a:ext cx="2331720" cy="2011680"/>
          </a:xfrm>
          <a:prstGeom prst="rect">
            <a:avLst/>
          </a:prstGeom>
          <a:solidFill>
            <a:srgbClr val="304010"/>
          </a:solidFill>
          <a:ln w="2540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944368" y="1115568"/>
            <a:ext cx="2148840" cy="457200"/>
          </a:xfrm>
          <a:prstGeom prst="rect">
            <a:avLst/>
          </a:prstGeom>
          <a:noFill/>
        </p:spPr>
        <p:txBody>
          <a:bodyPr wrap="square">
            <a:spAutoFit/>
          </a:bodyPr>
          <a:lstStyle/>
          <a:p>
            <a:pPr algn="ctr"/>
            <a:r>
              <a:rPr sz="1300" b="1" i="0">
                <a:solidFill>
                  <a:srgbClr val="39FF14"/>
                </a:solidFill>
                <a:latin typeface="Calibri"/>
              </a:rPr>
              <a:t>PARTIALLY
VALIDATED</a:t>
            </a:r>
          </a:p>
        </p:txBody>
      </p:sp>
      <p:sp>
        <p:nvSpPr>
          <p:cNvPr id="15" name="Rectangle 14"/>
          <p:cNvSpPr/>
          <p:nvPr/>
        </p:nvSpPr>
        <p:spPr>
          <a:xfrm>
            <a:off x="2971800" y="1591056"/>
            <a:ext cx="2057400" cy="27432"/>
          </a:xfrm>
          <a:prstGeom prst="rect">
            <a:avLst/>
          </a:prstGeom>
          <a:solidFill>
            <a:srgbClr val="39FF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44368" y="1682496"/>
            <a:ext cx="2148840" cy="1280160"/>
          </a:xfrm>
          <a:prstGeom prst="rect">
            <a:avLst/>
          </a:prstGeom>
          <a:noFill/>
        </p:spPr>
        <p:txBody>
          <a:bodyPr wrap="square">
            <a:spAutoFit/>
          </a:bodyPr>
          <a:lstStyle/>
          <a:p>
            <a:pPr algn="ctr"/>
            <a:r>
              <a:rPr sz="1000" b="0" i="0">
                <a:solidFill>
                  <a:srgbClr val="A0AAB8"/>
                </a:solidFill>
                <a:latin typeface="Calibri"/>
              </a:rPr>
              <a:t>One or more ChainSteps
confirmed. Chain not
complete end-to-end.</a:t>
            </a:r>
          </a:p>
        </p:txBody>
      </p:sp>
      <p:cxnSp>
        <p:nvCxnSpPr>
          <p:cNvPr id="17" name="Connector 16"/>
          <p:cNvCxnSpPr/>
          <p:nvPr/>
        </p:nvCxnSpPr>
        <p:spPr>
          <a:xfrm>
            <a:off x="5166360" y="2121408.0"/>
            <a:ext cx="228600" cy="0.0"/>
          </a:xfrm>
          <a:prstGeom prst="line">
            <a:avLst/>
          </a:prstGeom>
          <a:ln w="25400">
            <a:solidFill>
              <a:srgbClr val="39FF14"/>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5394960" y="1024128"/>
            <a:ext cx="2331720" cy="2011680"/>
          </a:xfrm>
          <a:prstGeom prst="rect">
            <a:avLst/>
          </a:prstGeom>
          <a:solidFill>
            <a:srgbClr val="083010"/>
          </a:solidFill>
          <a:ln w="2540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504688" y="1115568"/>
            <a:ext cx="2148840" cy="457200"/>
          </a:xfrm>
          <a:prstGeom prst="rect">
            <a:avLst/>
          </a:prstGeom>
          <a:noFill/>
        </p:spPr>
        <p:txBody>
          <a:bodyPr wrap="square">
            <a:spAutoFit/>
          </a:bodyPr>
          <a:lstStyle/>
          <a:p>
            <a:pPr algn="ctr"/>
            <a:r>
              <a:rPr sz="1300" b="1" i="0">
                <a:solidFill>
                  <a:srgbClr val="39FF14"/>
                </a:solidFill>
                <a:latin typeface="Calibri"/>
              </a:rPr>
              <a:t>VALIDATED</a:t>
            </a:r>
          </a:p>
        </p:txBody>
      </p:sp>
      <p:sp>
        <p:nvSpPr>
          <p:cNvPr id="20" name="Rectangle 19"/>
          <p:cNvSpPr/>
          <p:nvPr/>
        </p:nvSpPr>
        <p:spPr>
          <a:xfrm>
            <a:off x="5532120" y="1591056"/>
            <a:ext cx="2057400" cy="27432"/>
          </a:xfrm>
          <a:prstGeom prst="rect">
            <a:avLst/>
          </a:prstGeom>
          <a:solidFill>
            <a:srgbClr val="39FF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504688" y="1682496"/>
            <a:ext cx="2148840" cy="1280160"/>
          </a:xfrm>
          <a:prstGeom prst="rect">
            <a:avLst/>
          </a:prstGeom>
          <a:noFill/>
        </p:spPr>
        <p:txBody>
          <a:bodyPr wrap="square">
            <a:spAutoFit/>
          </a:bodyPr>
          <a:lstStyle/>
          <a:p>
            <a:pPr algn="ctr"/>
            <a:r>
              <a:rPr sz="1000" b="0" i="0">
                <a:solidFill>
                  <a:srgbClr val="A0AAB8"/>
                </a:solidFill>
                <a:latin typeface="Calibri"/>
              </a:rPr>
              <a:t>All ChainSteps confirmed
with Evidence. Impact
demonstrated. Mission
success.</a:t>
            </a:r>
          </a:p>
        </p:txBody>
      </p:sp>
      <p:cxnSp>
        <p:nvCxnSpPr>
          <p:cNvPr id="22" name="Connector 21"/>
          <p:cNvCxnSpPr/>
          <p:nvPr/>
        </p:nvCxnSpPr>
        <p:spPr>
          <a:xfrm>
            <a:off x="7726680" y="2121408.0"/>
            <a:ext cx="228600" cy="0.0"/>
          </a:xfrm>
          <a:prstGeom prst="line">
            <a:avLst/>
          </a:prstGeom>
          <a:ln w="25400">
            <a:solidFill>
              <a:srgbClr val="FF4545"/>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23" name="Rectangle 22"/>
          <p:cNvSpPr/>
          <p:nvPr/>
        </p:nvSpPr>
        <p:spPr>
          <a:xfrm>
            <a:off x="7955280" y="1024128"/>
            <a:ext cx="2331720" cy="2011680"/>
          </a:xfrm>
          <a:prstGeom prst="rect">
            <a:avLst/>
          </a:prstGeom>
          <a:solidFill>
            <a:srgbClr val="300808"/>
          </a:solidFill>
          <a:ln w="25400">
            <a:solidFill>
              <a:srgbClr val="FF45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065008" y="1115568"/>
            <a:ext cx="2148840" cy="457200"/>
          </a:xfrm>
          <a:prstGeom prst="rect">
            <a:avLst/>
          </a:prstGeom>
          <a:noFill/>
        </p:spPr>
        <p:txBody>
          <a:bodyPr wrap="square">
            <a:spAutoFit/>
          </a:bodyPr>
          <a:lstStyle/>
          <a:p>
            <a:pPr algn="ctr"/>
            <a:r>
              <a:rPr sz="1300" b="1" i="0">
                <a:solidFill>
                  <a:srgbClr val="FF4545"/>
                </a:solidFill>
                <a:latin typeface="Calibri"/>
              </a:rPr>
              <a:t>RULED_OUT</a:t>
            </a:r>
          </a:p>
        </p:txBody>
      </p:sp>
      <p:sp>
        <p:nvSpPr>
          <p:cNvPr id="25" name="Rectangle 24"/>
          <p:cNvSpPr/>
          <p:nvPr/>
        </p:nvSpPr>
        <p:spPr>
          <a:xfrm>
            <a:off x="8092440" y="1591056"/>
            <a:ext cx="2057400" cy="27432"/>
          </a:xfrm>
          <a:prstGeom prst="rect">
            <a:avLst/>
          </a:prstGeom>
          <a:solidFill>
            <a:srgbClr val="FF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065008" y="1682496"/>
            <a:ext cx="2148840" cy="1280160"/>
          </a:xfrm>
          <a:prstGeom prst="rect">
            <a:avLst/>
          </a:prstGeom>
          <a:noFill/>
        </p:spPr>
        <p:txBody>
          <a:bodyPr wrap="square">
            <a:spAutoFit/>
          </a:bodyPr>
          <a:lstStyle/>
          <a:p>
            <a:pPr algn="ctr"/>
            <a:r>
              <a:rPr sz="1000" b="0" i="0">
                <a:solidFill>
                  <a:srgbClr val="A0AAB8"/>
                </a:solidFill>
                <a:latin typeface="Calibri"/>
              </a:rPr>
              <a:t>A required ChainStep
failed after retry cap.
Chain is not exploitable
as hypothesized.</a:t>
            </a:r>
          </a:p>
        </p:txBody>
      </p:sp>
      <p:sp>
        <p:nvSpPr>
          <p:cNvPr id="27" name="TextBox 26"/>
          <p:cNvSpPr txBox="1"/>
          <p:nvPr/>
        </p:nvSpPr>
        <p:spPr>
          <a:xfrm>
            <a:off x="6012180" y="1389888"/>
            <a:ext cx="1097280" cy="256032"/>
          </a:xfrm>
          <a:prstGeom prst="rect">
            <a:avLst/>
          </a:prstGeom>
          <a:noFill/>
        </p:spPr>
        <p:txBody>
          <a:bodyPr wrap="square">
            <a:spAutoFit/>
          </a:bodyPr>
          <a:lstStyle/>
          <a:p>
            <a:pPr algn="ctr"/>
            <a:r>
              <a:rPr sz="850" b="0" i="1">
                <a:solidFill>
                  <a:srgbClr val="39FF14"/>
                </a:solidFill>
                <a:latin typeface="Calibri"/>
              </a:rPr>
              <a:t>Chain succeeds</a:t>
            </a:r>
          </a:p>
        </p:txBody>
      </p:sp>
      <p:sp>
        <p:nvSpPr>
          <p:cNvPr id="28" name="TextBox 27"/>
          <p:cNvSpPr txBox="1"/>
          <p:nvPr/>
        </p:nvSpPr>
        <p:spPr>
          <a:xfrm>
            <a:off x="7909560" y="2212848"/>
            <a:ext cx="914400" cy="365760"/>
          </a:xfrm>
          <a:prstGeom prst="rect">
            <a:avLst/>
          </a:prstGeom>
          <a:noFill/>
        </p:spPr>
        <p:txBody>
          <a:bodyPr wrap="square">
            <a:spAutoFit/>
          </a:bodyPr>
          <a:lstStyle/>
          <a:p>
            <a:pPr algn="ctr"/>
            <a:r>
              <a:rPr sz="850" b="0" i="1">
                <a:solidFill>
                  <a:srgbClr val="FF4545"/>
                </a:solidFill>
                <a:latin typeface="Calibri"/>
              </a:rPr>
              <a:t>Step fails
after cap</a:t>
            </a:r>
          </a:p>
        </p:txBody>
      </p:sp>
      <p:sp>
        <p:nvSpPr>
          <p:cNvPr id="29" name="Rectangle 28"/>
          <p:cNvSpPr/>
          <p:nvPr/>
        </p:nvSpPr>
        <p:spPr>
          <a:xfrm>
            <a:off x="274320" y="3246120"/>
            <a:ext cx="5303520" cy="3182112"/>
          </a:xfrm>
          <a:prstGeom prst="rect">
            <a:avLst/>
          </a:prstGeom>
          <a:solidFill>
            <a:srgbClr val="080E20"/>
          </a:solidFill>
          <a:ln w="19050">
            <a:solidFill>
              <a:srgbClr val="FF45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11480" y="3319272"/>
            <a:ext cx="5074920" cy="274320"/>
          </a:xfrm>
          <a:prstGeom prst="rect">
            <a:avLst/>
          </a:prstGeom>
          <a:noFill/>
        </p:spPr>
        <p:txBody>
          <a:bodyPr wrap="square">
            <a:spAutoFit/>
          </a:bodyPr>
          <a:lstStyle/>
          <a:p>
            <a:pPr algn="l"/>
            <a:r>
              <a:rPr sz="1300" b="1" i="0">
                <a:solidFill>
                  <a:srgbClr val="FF4545"/>
                </a:solidFill>
                <a:latin typeface="Calibri"/>
              </a:rPr>
              <a:t>🎯  Validation Agent — Self-Debugging Loop</a:t>
            </a:r>
          </a:p>
        </p:txBody>
      </p:sp>
      <p:sp>
        <p:nvSpPr>
          <p:cNvPr id="31" name="Rectangle 30"/>
          <p:cNvSpPr/>
          <p:nvPr/>
        </p:nvSpPr>
        <p:spPr>
          <a:xfrm>
            <a:off x="411480" y="3630168"/>
            <a:ext cx="5029200" cy="22860"/>
          </a:xfrm>
          <a:prstGeom prst="rect">
            <a:avLst/>
          </a:prstGeom>
          <a:solidFill>
            <a:srgbClr val="FF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411480" y="3749040"/>
            <a:ext cx="5029200" cy="594360"/>
          </a:xfrm>
          <a:prstGeom prst="rect">
            <a:avLst/>
          </a:prstGeom>
          <a:solidFill>
            <a:srgbClr val="101428"/>
          </a:solidFill>
          <a:ln w="1016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02920" y="3803904"/>
            <a:ext cx="1371600" cy="228600"/>
          </a:xfrm>
          <a:prstGeom prst="rect">
            <a:avLst/>
          </a:prstGeom>
          <a:noFill/>
        </p:spPr>
        <p:txBody>
          <a:bodyPr wrap="square">
            <a:spAutoFit/>
          </a:bodyPr>
          <a:lstStyle/>
          <a:p>
            <a:pPr algn="l"/>
            <a:r>
              <a:rPr sz="1100" b="1" i="0">
                <a:solidFill>
                  <a:srgbClr val="FFD700"/>
                </a:solidFill>
                <a:latin typeface="Calibri"/>
              </a:rPr>
              <a:t>1. Diagnose</a:t>
            </a:r>
          </a:p>
        </p:txBody>
      </p:sp>
      <p:sp>
        <p:nvSpPr>
          <p:cNvPr id="34" name="TextBox 33"/>
          <p:cNvSpPr txBox="1"/>
          <p:nvPr/>
        </p:nvSpPr>
        <p:spPr>
          <a:xfrm>
            <a:off x="1920240" y="3803904"/>
            <a:ext cx="3474720" cy="457200"/>
          </a:xfrm>
          <a:prstGeom prst="rect">
            <a:avLst/>
          </a:prstGeom>
          <a:noFill/>
        </p:spPr>
        <p:txBody>
          <a:bodyPr wrap="square">
            <a:spAutoFit/>
          </a:bodyPr>
          <a:lstStyle/>
          <a:p>
            <a:pPr algn="l"/>
            <a:r>
              <a:rPr sz="950" b="0" i="0">
                <a:solidFill>
                  <a:srgbClr val="A0AAB8"/>
                </a:solidFill>
                <a:latin typeface="Calibri"/>
              </a:rPr>
              <a:t>Analyze why the attempt failed:
wrong param · auth required · version mismatch · encoding issue</a:t>
            </a:r>
          </a:p>
        </p:txBody>
      </p:sp>
      <p:cxnSp>
        <p:nvCxnSpPr>
          <p:cNvPr id="35" name="Connector 34"/>
          <p:cNvCxnSpPr/>
          <p:nvPr/>
        </p:nvCxnSpPr>
        <p:spPr>
          <a:xfrm>
            <a:off x="2926080.0" y="4343400"/>
            <a:ext cx="0.0" cy="45720"/>
          </a:xfrm>
          <a:prstGeom prst="line">
            <a:avLst/>
          </a:prstGeom>
          <a:ln w="15240">
            <a:solidFill>
              <a:srgbClr val="FFD700"/>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36" name="Rectangle 35"/>
          <p:cNvSpPr/>
          <p:nvPr/>
        </p:nvSpPr>
        <p:spPr>
          <a:xfrm>
            <a:off x="411480" y="4389120"/>
            <a:ext cx="5029200" cy="594360"/>
          </a:xfrm>
          <a:prstGeom prst="rect">
            <a:avLst/>
          </a:prstGeom>
          <a:solidFill>
            <a:srgbClr val="101428"/>
          </a:solidFill>
          <a:ln w="1016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02920" y="4443984"/>
            <a:ext cx="1371600" cy="228600"/>
          </a:xfrm>
          <a:prstGeom prst="rect">
            <a:avLst/>
          </a:prstGeom>
          <a:noFill/>
        </p:spPr>
        <p:txBody>
          <a:bodyPr wrap="square">
            <a:spAutoFit/>
          </a:bodyPr>
          <a:lstStyle/>
          <a:p>
            <a:pPr algn="l"/>
            <a:r>
              <a:rPr sz="1100" b="1" i="0">
                <a:solidFill>
                  <a:srgbClr val="00E5FF"/>
                </a:solidFill>
                <a:latin typeface="Calibri"/>
              </a:rPr>
              <a:t>2. Contextualize</a:t>
            </a:r>
          </a:p>
        </p:txBody>
      </p:sp>
      <p:sp>
        <p:nvSpPr>
          <p:cNvPr id="38" name="TextBox 37"/>
          <p:cNvSpPr txBox="1"/>
          <p:nvPr/>
        </p:nvSpPr>
        <p:spPr>
          <a:xfrm>
            <a:off x="1920240" y="4443984"/>
            <a:ext cx="3474720" cy="457200"/>
          </a:xfrm>
          <a:prstGeom prst="rect">
            <a:avLst/>
          </a:prstGeom>
          <a:noFill/>
        </p:spPr>
        <p:txBody>
          <a:bodyPr wrap="square">
            <a:spAutoFit/>
          </a:bodyPr>
          <a:lstStyle/>
          <a:p>
            <a:pPr algn="l"/>
            <a:r>
              <a:rPr sz="950" b="0" i="0">
                <a:solidFill>
                  <a:srgbClr val="A0AAB8"/>
                </a:solidFill>
                <a:latin typeface="Calibri"/>
              </a:rPr>
              <a:t>Query the ASG for additional node attributes
that may resolve the diagnosis</a:t>
            </a:r>
          </a:p>
        </p:txBody>
      </p:sp>
      <p:cxnSp>
        <p:nvCxnSpPr>
          <p:cNvPr id="39" name="Connector 38"/>
          <p:cNvCxnSpPr/>
          <p:nvPr/>
        </p:nvCxnSpPr>
        <p:spPr>
          <a:xfrm>
            <a:off x="2926080.0" y="4983480"/>
            <a:ext cx="0.0" cy="45720"/>
          </a:xfrm>
          <a:prstGeom prst="line">
            <a:avLst/>
          </a:prstGeom>
          <a:ln w="15240">
            <a:solidFill>
              <a:srgbClr val="00E5FF"/>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40" name="Rectangle 39"/>
          <p:cNvSpPr/>
          <p:nvPr/>
        </p:nvSpPr>
        <p:spPr>
          <a:xfrm>
            <a:off x="411480" y="5029200"/>
            <a:ext cx="5029200" cy="594360"/>
          </a:xfrm>
          <a:prstGeom prst="rect">
            <a:avLst/>
          </a:prstGeom>
          <a:solidFill>
            <a:srgbClr val="101428"/>
          </a:solidFill>
          <a:ln w="1016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02920" y="5084064"/>
            <a:ext cx="1371600" cy="228600"/>
          </a:xfrm>
          <a:prstGeom prst="rect">
            <a:avLst/>
          </a:prstGeom>
          <a:noFill/>
        </p:spPr>
        <p:txBody>
          <a:bodyPr wrap="square">
            <a:spAutoFit/>
          </a:bodyPr>
          <a:lstStyle/>
          <a:p>
            <a:pPr algn="l"/>
            <a:r>
              <a:rPr sz="1100" b="1" i="0">
                <a:solidFill>
                  <a:srgbClr val="39FF14"/>
                </a:solidFill>
                <a:latin typeface="Calibri"/>
              </a:rPr>
              <a:t>3. Adapt</a:t>
            </a:r>
          </a:p>
        </p:txBody>
      </p:sp>
      <p:sp>
        <p:nvSpPr>
          <p:cNvPr id="42" name="TextBox 41"/>
          <p:cNvSpPr txBox="1"/>
          <p:nvPr/>
        </p:nvSpPr>
        <p:spPr>
          <a:xfrm>
            <a:off x="1920240" y="5084064"/>
            <a:ext cx="3474720" cy="457200"/>
          </a:xfrm>
          <a:prstGeom prst="rect">
            <a:avLst/>
          </a:prstGeom>
          <a:noFill/>
        </p:spPr>
        <p:txBody>
          <a:bodyPr wrap="square">
            <a:spAutoFit/>
          </a:bodyPr>
          <a:lstStyle/>
          <a:p>
            <a:pPr algn="l"/>
            <a:r>
              <a:rPr sz="950" b="0" i="0">
                <a:solidFill>
                  <a:srgbClr val="A0AAB8"/>
                </a:solidFill>
                <a:latin typeface="Calibri"/>
              </a:rPr>
              <a:t>Modify tool invocation based on diagnosis + context.
Retry with corrected approach.</a:t>
            </a:r>
          </a:p>
        </p:txBody>
      </p:sp>
      <p:cxnSp>
        <p:nvCxnSpPr>
          <p:cNvPr id="43" name="Connector 42"/>
          <p:cNvCxnSpPr/>
          <p:nvPr/>
        </p:nvCxnSpPr>
        <p:spPr>
          <a:xfrm>
            <a:off x="2926080.0" y="5623560"/>
            <a:ext cx="0.0" cy="45720"/>
          </a:xfrm>
          <a:prstGeom prst="line">
            <a:avLst/>
          </a:prstGeom>
          <a:ln w="15240">
            <a:solidFill>
              <a:srgbClr val="39FF14"/>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44" name="Rectangle 43"/>
          <p:cNvSpPr/>
          <p:nvPr/>
        </p:nvSpPr>
        <p:spPr>
          <a:xfrm>
            <a:off x="411480" y="5669280"/>
            <a:ext cx="5029200" cy="594360"/>
          </a:xfrm>
          <a:prstGeom prst="rect">
            <a:avLst/>
          </a:prstGeom>
          <a:solidFill>
            <a:srgbClr val="101428"/>
          </a:solidFill>
          <a:ln w="10160">
            <a:solidFill>
              <a:srgbClr val="FF45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02920" y="5724144"/>
            <a:ext cx="1371600" cy="228600"/>
          </a:xfrm>
          <a:prstGeom prst="rect">
            <a:avLst/>
          </a:prstGeom>
          <a:noFill/>
        </p:spPr>
        <p:txBody>
          <a:bodyPr wrap="square">
            <a:spAutoFit/>
          </a:bodyPr>
          <a:lstStyle/>
          <a:p>
            <a:pPr algn="l"/>
            <a:r>
              <a:rPr sz="1100" b="1" i="0">
                <a:solidFill>
                  <a:srgbClr val="FF4545"/>
                </a:solidFill>
                <a:latin typeface="Calibri"/>
              </a:rPr>
              <a:t>4. Cap</a:t>
            </a:r>
          </a:p>
        </p:txBody>
      </p:sp>
      <p:sp>
        <p:nvSpPr>
          <p:cNvPr id="46" name="TextBox 45"/>
          <p:cNvSpPr txBox="1"/>
          <p:nvPr/>
        </p:nvSpPr>
        <p:spPr>
          <a:xfrm>
            <a:off x="1920240" y="5724144"/>
            <a:ext cx="3474720" cy="457200"/>
          </a:xfrm>
          <a:prstGeom prst="rect">
            <a:avLst/>
          </a:prstGeom>
          <a:noFill/>
        </p:spPr>
        <p:txBody>
          <a:bodyPr wrap="square">
            <a:spAutoFit/>
          </a:bodyPr>
          <a:lstStyle/>
          <a:p>
            <a:pPr algn="l"/>
            <a:r>
              <a:rPr sz="950" b="0" i="0">
                <a:solidFill>
                  <a:srgbClr val="A0AAB8"/>
                </a:solidFill>
                <a:latin typeface="Calibri"/>
              </a:rPr>
              <a:t>After configurable max retries (default: 3),
mark ChainStep RULED_OUT · write failure to ASG</a:t>
            </a:r>
          </a:p>
        </p:txBody>
      </p:sp>
      <p:sp>
        <p:nvSpPr>
          <p:cNvPr id="47" name="Rectangle 46"/>
          <p:cNvSpPr/>
          <p:nvPr/>
        </p:nvSpPr>
        <p:spPr>
          <a:xfrm>
            <a:off x="5806440" y="3246120"/>
            <a:ext cx="6172200" cy="1417320"/>
          </a:xfrm>
          <a:prstGeom prst="rect">
            <a:avLst/>
          </a:prstGeom>
          <a:solidFill>
            <a:srgbClr val="120E04"/>
          </a:solidFill>
          <a:ln w="1905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5943600" y="3319272"/>
            <a:ext cx="5943600" cy="274320"/>
          </a:xfrm>
          <a:prstGeom prst="rect">
            <a:avLst/>
          </a:prstGeom>
          <a:noFill/>
        </p:spPr>
        <p:txBody>
          <a:bodyPr wrap="square">
            <a:spAutoFit/>
          </a:bodyPr>
          <a:lstStyle/>
          <a:p>
            <a:pPr algn="l"/>
            <a:r>
              <a:rPr sz="1300" b="1" i="0">
                <a:solidFill>
                  <a:srgbClr val="FFD700"/>
                </a:solidFill>
                <a:latin typeface="Calibri"/>
              </a:rPr>
              <a:t>Risk Scoring Formula</a:t>
            </a:r>
          </a:p>
        </p:txBody>
      </p:sp>
      <p:sp>
        <p:nvSpPr>
          <p:cNvPr id="49" name="TextBox 48"/>
          <p:cNvSpPr txBox="1"/>
          <p:nvPr/>
        </p:nvSpPr>
        <p:spPr>
          <a:xfrm>
            <a:off x="5943600" y="3630168"/>
            <a:ext cx="5943600" cy="960120"/>
          </a:xfrm>
          <a:prstGeom prst="rect">
            <a:avLst/>
          </a:prstGeom>
          <a:noFill/>
        </p:spPr>
        <p:txBody>
          <a:bodyPr wrap="square">
            <a:spAutoFit/>
          </a:bodyPr>
          <a:lstStyle/>
          <a:p>
            <a:pPr algn="l"/>
            <a:r>
              <a:rPr sz="1050" b="0" i="0">
                <a:solidFill>
                  <a:srgbClr val="A0AAB8"/>
                </a:solidFill>
                <a:latin typeface="Calibri"/>
              </a:rPr>
              <a:t>risk_score  =  CVSS Severity  ×  Exploitability  ×  Impact Classification
Priority = risk_score rank across all HYPOTHESIZED + PARTIALLY_VALIDATED chains
Commander pursues highest-priority chain first — re-ranks after every status change.</a:t>
            </a:r>
          </a:p>
        </p:txBody>
      </p:sp>
      <p:sp>
        <p:nvSpPr>
          <p:cNvPr id="50" name="Rectangle 49"/>
          <p:cNvSpPr/>
          <p:nvPr/>
        </p:nvSpPr>
        <p:spPr>
          <a:xfrm>
            <a:off x="5806440" y="4773168"/>
            <a:ext cx="6172200" cy="1645920"/>
          </a:xfrm>
          <a:prstGeom prst="rect">
            <a:avLst/>
          </a:prstGeom>
          <a:solidFill>
            <a:srgbClr val="081420"/>
          </a:solidFill>
          <a:ln w="1524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5943600" y="4846320"/>
            <a:ext cx="5943600" cy="256032"/>
          </a:xfrm>
          <a:prstGeom prst="rect">
            <a:avLst/>
          </a:prstGeom>
          <a:noFill/>
        </p:spPr>
        <p:txBody>
          <a:bodyPr wrap="square">
            <a:spAutoFit/>
          </a:bodyPr>
          <a:lstStyle/>
          <a:p>
            <a:pPr algn="l"/>
            <a:r>
              <a:rPr sz="1200" b="1" i="0">
                <a:solidFill>
                  <a:srgbClr val="00E5FF"/>
                </a:solidFill>
                <a:latin typeface="Calibri"/>
              </a:rPr>
              <a:t>shopvault.io — APG Chain Priorities</a:t>
            </a:r>
          </a:p>
        </p:txBody>
      </p:sp>
      <p:sp>
        <p:nvSpPr>
          <p:cNvPr id="52" name="TextBox 51"/>
          <p:cNvSpPr txBox="1"/>
          <p:nvPr/>
        </p:nvSpPr>
        <p:spPr>
          <a:xfrm>
            <a:off x="5989320" y="5138928"/>
            <a:ext cx="4800600" cy="274320"/>
          </a:xfrm>
          <a:prstGeom prst="rect">
            <a:avLst/>
          </a:prstGeom>
          <a:noFill/>
        </p:spPr>
        <p:txBody>
          <a:bodyPr wrap="square">
            <a:spAutoFit/>
          </a:bodyPr>
          <a:lstStyle/>
          <a:p>
            <a:pPr algn="l"/>
            <a:r>
              <a:rPr sz="950" b="0" i="0">
                <a:solidFill>
                  <a:srgbClr val="A0AAB8"/>
                </a:solidFill>
                <a:latin typeface="Calibri"/>
              </a:rPr>
              <a:t>1.  Chain-01  —  CVE-2022-21661 SQL injection → RCE</a:t>
            </a:r>
          </a:p>
        </p:txBody>
      </p:sp>
      <p:sp>
        <p:nvSpPr>
          <p:cNvPr id="53" name="TextBox 52"/>
          <p:cNvSpPr txBox="1"/>
          <p:nvPr/>
        </p:nvSpPr>
        <p:spPr>
          <a:xfrm>
            <a:off x="10789920" y="5138928"/>
            <a:ext cx="1097280" cy="274320"/>
          </a:xfrm>
          <a:prstGeom prst="rect">
            <a:avLst/>
          </a:prstGeom>
          <a:noFill/>
        </p:spPr>
        <p:txBody>
          <a:bodyPr wrap="square">
            <a:spAutoFit/>
          </a:bodyPr>
          <a:lstStyle/>
          <a:p>
            <a:pPr algn="r"/>
            <a:r>
              <a:rPr sz="950" b="1" i="0">
                <a:solidFill>
                  <a:srgbClr val="FF4545"/>
                </a:solidFill>
                <a:latin typeface="Calibri"/>
              </a:rPr>
              <a:t>risk: 8.8</a:t>
            </a:r>
          </a:p>
        </p:txBody>
      </p:sp>
      <p:sp>
        <p:nvSpPr>
          <p:cNvPr id="54" name="TextBox 53"/>
          <p:cNvSpPr txBox="1"/>
          <p:nvPr/>
        </p:nvSpPr>
        <p:spPr>
          <a:xfrm>
            <a:off x="5989320" y="5449824"/>
            <a:ext cx="4800600" cy="274320"/>
          </a:xfrm>
          <a:prstGeom prst="rect">
            <a:avLst/>
          </a:prstGeom>
          <a:noFill/>
        </p:spPr>
        <p:txBody>
          <a:bodyPr wrap="square">
            <a:spAutoFit/>
          </a:bodyPr>
          <a:lstStyle/>
          <a:p>
            <a:pPr algn="l"/>
            <a:r>
              <a:rPr sz="950" b="0" i="0">
                <a:solidFill>
                  <a:srgbClr val="A0AAB8"/>
                </a:solidFill>
                <a:latin typeface="Calibri"/>
              </a:rPr>
              <a:t>2.  Chain-03  —  Blind SQLi on staging → credential extraction</a:t>
            </a:r>
          </a:p>
        </p:txBody>
      </p:sp>
      <p:sp>
        <p:nvSpPr>
          <p:cNvPr id="55" name="TextBox 54"/>
          <p:cNvSpPr txBox="1"/>
          <p:nvPr/>
        </p:nvSpPr>
        <p:spPr>
          <a:xfrm>
            <a:off x="10789920" y="5449824"/>
            <a:ext cx="1097280" cy="274320"/>
          </a:xfrm>
          <a:prstGeom prst="rect">
            <a:avLst/>
          </a:prstGeom>
          <a:noFill/>
        </p:spPr>
        <p:txBody>
          <a:bodyPr wrap="square">
            <a:spAutoFit/>
          </a:bodyPr>
          <a:lstStyle/>
          <a:p>
            <a:pPr algn="r"/>
            <a:r>
              <a:rPr sz="950" b="1" i="0">
                <a:solidFill>
                  <a:srgbClr val="FFD700"/>
                </a:solidFill>
                <a:latin typeface="Calibri"/>
              </a:rPr>
              <a:t>risk: 8.1</a:t>
            </a:r>
          </a:p>
        </p:txBody>
      </p:sp>
      <p:sp>
        <p:nvSpPr>
          <p:cNvPr id="56" name="TextBox 55"/>
          <p:cNvSpPr txBox="1"/>
          <p:nvPr/>
        </p:nvSpPr>
        <p:spPr>
          <a:xfrm>
            <a:off x="5989320" y="5760720"/>
            <a:ext cx="4800600" cy="274320"/>
          </a:xfrm>
          <a:prstGeom prst="rect">
            <a:avLst/>
          </a:prstGeom>
          <a:noFill/>
        </p:spPr>
        <p:txBody>
          <a:bodyPr wrap="square">
            <a:spAutoFit/>
          </a:bodyPr>
          <a:lstStyle/>
          <a:p>
            <a:pPr algn="l"/>
            <a:r>
              <a:rPr sz="950" b="0" i="0">
                <a:solidFill>
                  <a:srgbClr val="A0AAB8"/>
                </a:solidFill>
                <a:latin typeface="Calibri"/>
              </a:rPr>
              <a:t>3.  Chain-02  —  IDOR on /api/v1/orders → customer data</a:t>
            </a:r>
          </a:p>
        </p:txBody>
      </p:sp>
      <p:sp>
        <p:nvSpPr>
          <p:cNvPr id="57" name="TextBox 56"/>
          <p:cNvSpPr txBox="1"/>
          <p:nvPr/>
        </p:nvSpPr>
        <p:spPr>
          <a:xfrm>
            <a:off x="10789920" y="5760720"/>
            <a:ext cx="1097280" cy="274320"/>
          </a:xfrm>
          <a:prstGeom prst="rect">
            <a:avLst/>
          </a:prstGeom>
          <a:noFill/>
        </p:spPr>
        <p:txBody>
          <a:bodyPr wrap="square">
            <a:spAutoFit/>
          </a:bodyPr>
          <a:lstStyle/>
          <a:p>
            <a:pPr algn="r"/>
            <a:r>
              <a:rPr sz="950" b="1" i="0">
                <a:solidFill>
                  <a:srgbClr val="FFD700"/>
                </a:solidFill>
                <a:latin typeface="Calibri"/>
              </a:rPr>
              <a:t>risk: 7.5</a:t>
            </a:r>
          </a:p>
        </p:txBody>
      </p:sp>
      <p:sp>
        <p:nvSpPr>
          <p:cNvPr id="58" name="TextBox 57"/>
          <p:cNvSpPr txBox="1"/>
          <p:nvPr/>
        </p:nvSpPr>
        <p:spPr>
          <a:xfrm>
            <a:off x="5989320" y="6071616"/>
            <a:ext cx="4800600" cy="274320"/>
          </a:xfrm>
          <a:prstGeom prst="rect">
            <a:avLst/>
          </a:prstGeom>
          <a:noFill/>
        </p:spPr>
        <p:txBody>
          <a:bodyPr wrap="square">
            <a:spAutoFit/>
          </a:bodyPr>
          <a:lstStyle/>
          <a:p>
            <a:pPr algn="l"/>
            <a:r>
              <a:rPr sz="950" b="0" i="0">
                <a:solidFill>
                  <a:srgbClr val="A0AAB8"/>
                </a:solidFill>
                <a:latin typeface="Calibri"/>
              </a:rPr>
              <a:t>4.  Chain-04  —  Direct DB backup download → full PII</a:t>
            </a:r>
          </a:p>
        </p:txBody>
      </p:sp>
      <p:sp>
        <p:nvSpPr>
          <p:cNvPr id="59" name="TextBox 58"/>
          <p:cNvSpPr txBox="1"/>
          <p:nvPr/>
        </p:nvSpPr>
        <p:spPr>
          <a:xfrm>
            <a:off x="10789920" y="6071616"/>
            <a:ext cx="1097280" cy="274320"/>
          </a:xfrm>
          <a:prstGeom prst="rect">
            <a:avLst/>
          </a:prstGeom>
          <a:noFill/>
        </p:spPr>
        <p:txBody>
          <a:bodyPr wrap="square">
            <a:spAutoFit/>
          </a:bodyPr>
          <a:lstStyle/>
          <a:p>
            <a:pPr algn="r"/>
            <a:r>
              <a:rPr sz="950" b="1" i="0">
                <a:solidFill>
                  <a:srgbClr val="BD93F9"/>
                </a:solidFill>
                <a:latin typeface="Calibri"/>
              </a:rPr>
              <a:t>risk: trivial</a:t>
            </a:r>
          </a:p>
        </p:txBody>
      </p:sp>
      <p:sp>
        <p:nvSpPr>
          <p:cNvPr id="60" name="TextBox 59"/>
          <p:cNvSpPr txBox="1"/>
          <p:nvPr/>
        </p:nvSpPr>
        <p:spPr>
          <a:xfrm>
            <a:off x="11825935" y="6355080"/>
            <a:ext cx="320040" cy="411480"/>
          </a:xfrm>
          <a:prstGeom prst="rect">
            <a:avLst/>
          </a:prstGeom>
          <a:noFill/>
        </p:spPr>
        <p:txBody>
          <a:bodyPr wrap="square">
            <a:spAutoFit/>
          </a:bodyPr>
          <a:lstStyle/>
          <a:p>
            <a:pPr algn="r"/>
            <a:r>
              <a:rPr sz="1300" b="1" i="0">
                <a:solidFill>
                  <a:srgbClr val="FFD700"/>
                </a:solidFill>
                <a:latin typeface="Calibri"/>
              </a:rP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0D1A"/>
        </a:solidFill>
        <a:effectLst/>
      </p:bgPr>
    </p:bg>
    <p:spTree>
      <p:nvGrpSpPr>
        <p:cNvPr id="1" name=""/>
        <p:cNvGrpSpPr/>
        <p:nvPr/>
      </p:nvGrpSpPr>
      <p:grpSpPr/>
      <p:sp>
        <p:nvSpPr>
          <p:cNvPr id="2" name="Rectangle 1"/>
          <p:cNvSpPr/>
          <p:nvPr/>
        </p:nvSpPr>
        <p:spPr>
          <a:xfrm>
            <a:off x="0" y="0"/>
            <a:ext cx="54864" cy="6858000"/>
          </a:xfrm>
          <a:prstGeom prst="rect">
            <a:avLst/>
          </a:prstGeom>
          <a:solidFill>
            <a:srgbClr val="00BF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 y="0"/>
            <a:ext cx="12136831" cy="36576"/>
          </a:xfrm>
          <a:prstGeom prst="rect">
            <a:avLst/>
          </a:prstGeom>
          <a:solidFill>
            <a:srgbClr val="00BF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 y="6821424"/>
            <a:ext cx="12136831" cy="36576"/>
          </a:xfrm>
          <a:prstGeom prst="rect">
            <a:avLst/>
          </a:prstGeom>
          <a:solidFill>
            <a:srgbClr val="00BF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73152"/>
            <a:ext cx="7315200" cy="274320"/>
          </a:xfrm>
          <a:prstGeom prst="rect">
            <a:avLst/>
          </a:prstGeom>
          <a:noFill/>
        </p:spPr>
        <p:txBody>
          <a:bodyPr wrap="square">
            <a:spAutoFit/>
          </a:bodyPr>
          <a:lstStyle/>
          <a:p>
            <a:pPr algn="l"/>
            <a:r>
              <a:rPr sz="1100" b="1" i="0">
                <a:solidFill>
                  <a:srgbClr val="00BFD8"/>
                </a:solidFill>
                <a:latin typeface="Calibri"/>
              </a:rPr>
              <a:t>CROSS-MISSION LEARNING</a:t>
            </a:r>
          </a:p>
        </p:txBody>
      </p:sp>
      <p:sp>
        <p:nvSpPr>
          <p:cNvPr id="6" name="TextBox 5"/>
          <p:cNvSpPr txBox="1"/>
          <p:nvPr/>
        </p:nvSpPr>
        <p:spPr>
          <a:xfrm>
            <a:off x="274320" y="347472"/>
            <a:ext cx="11430000" cy="566928"/>
          </a:xfrm>
          <a:prstGeom prst="rect">
            <a:avLst/>
          </a:prstGeom>
          <a:noFill/>
        </p:spPr>
        <p:txBody>
          <a:bodyPr wrap="square">
            <a:spAutoFit/>
          </a:bodyPr>
          <a:lstStyle/>
          <a:p>
            <a:pPr algn="l"/>
            <a:r>
              <a:rPr sz="2600" b="1" i="0">
                <a:solidFill>
                  <a:srgbClr val="FFFFFF"/>
                </a:solidFill>
                <a:latin typeface="Calibri"/>
              </a:rPr>
              <a:t>Experience Store + Attack Strategy Library — CMatrix Gets Smarter Each Mission</a:t>
            </a:r>
          </a:p>
        </p:txBody>
      </p:sp>
      <p:sp>
        <p:nvSpPr>
          <p:cNvPr id="7" name="Rectangle 6"/>
          <p:cNvSpPr/>
          <p:nvPr/>
        </p:nvSpPr>
        <p:spPr>
          <a:xfrm>
            <a:off x="274320" y="914400"/>
            <a:ext cx="6400800" cy="27432"/>
          </a:xfrm>
          <a:prstGeom prst="rect">
            <a:avLst/>
          </a:prstGeom>
          <a:solidFill>
            <a:srgbClr val="00BF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74320" y="1005840"/>
            <a:ext cx="2286000" cy="914400"/>
          </a:xfrm>
          <a:prstGeom prst="rect">
            <a:avLst/>
          </a:prstGeom>
          <a:solidFill>
            <a:srgbClr val="061420"/>
          </a:solidFill>
          <a:ln w="1905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80" y="1143000"/>
            <a:ext cx="2011680" cy="640080"/>
          </a:xfrm>
          <a:prstGeom prst="rect">
            <a:avLst/>
          </a:prstGeom>
          <a:noFill/>
        </p:spPr>
        <p:txBody>
          <a:bodyPr wrap="square">
            <a:spAutoFit/>
          </a:bodyPr>
          <a:lstStyle/>
          <a:p>
            <a:pPr algn="ctr"/>
            <a:r>
              <a:rPr sz="1300" b="1" i="0">
                <a:solidFill>
                  <a:srgbClr val="00E5FF"/>
                </a:solidFill>
                <a:latin typeface="Calibri"/>
              </a:rPr>
              <a:t>Mission N
(completed)</a:t>
            </a:r>
          </a:p>
        </p:txBody>
      </p:sp>
      <p:cxnSp>
        <p:nvCxnSpPr>
          <p:cNvPr id="10" name="Connector 9"/>
          <p:cNvCxnSpPr/>
          <p:nvPr/>
        </p:nvCxnSpPr>
        <p:spPr>
          <a:xfrm>
            <a:off x="2560320" y="1463040.0"/>
            <a:ext cx="1097280" cy="0.0"/>
          </a:xfrm>
          <a:prstGeom prst="line">
            <a:avLst/>
          </a:prstGeom>
          <a:ln w="19050">
            <a:solidFill>
              <a:srgbClr val="00E5FF"/>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2578608" y="1097280"/>
            <a:ext cx="1024128" cy="685800"/>
          </a:xfrm>
          <a:prstGeom prst="rect">
            <a:avLst/>
          </a:prstGeom>
          <a:noFill/>
        </p:spPr>
        <p:txBody>
          <a:bodyPr wrap="square">
            <a:spAutoFit/>
          </a:bodyPr>
          <a:lstStyle/>
          <a:p>
            <a:pPr algn="ctr"/>
            <a:r>
              <a:rPr sz="850" b="0" i="1">
                <a:solidFill>
                  <a:srgbClr val="A0AAB8"/>
                </a:solidFill>
                <a:latin typeface="Calibri"/>
              </a:rPr>
              <a:t>Report Agent writes
validated chains</a:t>
            </a:r>
          </a:p>
        </p:txBody>
      </p:sp>
      <p:sp>
        <p:nvSpPr>
          <p:cNvPr id="12" name="Rectangle 11"/>
          <p:cNvSpPr/>
          <p:nvPr/>
        </p:nvSpPr>
        <p:spPr>
          <a:xfrm>
            <a:off x="3749039" y="731520"/>
            <a:ext cx="2377440" cy="1463040"/>
          </a:xfrm>
          <a:prstGeom prst="rect">
            <a:avLst/>
          </a:prstGeom>
          <a:solidFill>
            <a:srgbClr val="04201E"/>
          </a:solidFill>
          <a:ln w="25400">
            <a:solidFill>
              <a:srgbClr val="00BF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858768" y="841248"/>
            <a:ext cx="2148840" cy="457200"/>
          </a:xfrm>
          <a:prstGeom prst="rect">
            <a:avLst/>
          </a:prstGeom>
          <a:noFill/>
        </p:spPr>
        <p:txBody>
          <a:bodyPr wrap="square">
            <a:spAutoFit/>
          </a:bodyPr>
          <a:lstStyle/>
          <a:p>
            <a:pPr algn="ctr"/>
            <a:r>
              <a:rPr sz="1200" b="1" i="0">
                <a:solidFill>
                  <a:srgbClr val="00BFD8"/>
                </a:solidFill>
                <a:latin typeface="Calibri"/>
              </a:rPr>
              <a:t>Cross-Mission
Experience Store</a:t>
            </a:r>
          </a:p>
        </p:txBody>
      </p:sp>
      <p:sp>
        <p:nvSpPr>
          <p:cNvPr id="14" name="TextBox 13"/>
          <p:cNvSpPr txBox="1"/>
          <p:nvPr/>
        </p:nvSpPr>
        <p:spPr>
          <a:xfrm>
            <a:off x="3858768" y="1325880"/>
            <a:ext cx="2148840" cy="365760"/>
          </a:xfrm>
          <a:prstGeom prst="rect">
            <a:avLst/>
          </a:prstGeom>
          <a:noFill/>
        </p:spPr>
        <p:txBody>
          <a:bodyPr wrap="square">
            <a:spAutoFit/>
          </a:bodyPr>
          <a:lstStyle/>
          <a:p>
            <a:pPr algn="ctr"/>
            <a:r>
              <a:rPr sz="900" b="0" i="1">
                <a:solidFill>
                  <a:srgbClr val="A0AAB8"/>
                </a:solidFill>
                <a:latin typeface="Calibri"/>
              </a:rPr>
              <a:t>RAG-backed · persistent
across all missions</a:t>
            </a:r>
          </a:p>
        </p:txBody>
      </p:sp>
      <p:cxnSp>
        <p:nvCxnSpPr>
          <p:cNvPr id="15" name="Connector 14"/>
          <p:cNvCxnSpPr/>
          <p:nvPr/>
        </p:nvCxnSpPr>
        <p:spPr>
          <a:xfrm>
            <a:off x="6126480" y="1463040.0"/>
            <a:ext cx="1097280" cy="0.0"/>
          </a:xfrm>
          <a:prstGeom prst="line">
            <a:avLst/>
          </a:prstGeom>
          <a:ln w="19050">
            <a:solidFill>
              <a:srgbClr val="FFD700"/>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6144768" y="1051560"/>
            <a:ext cx="1024128" cy="685800"/>
          </a:xfrm>
          <a:prstGeom prst="rect">
            <a:avLst/>
          </a:prstGeom>
          <a:noFill/>
        </p:spPr>
        <p:txBody>
          <a:bodyPr wrap="square">
            <a:spAutoFit/>
          </a:bodyPr>
          <a:lstStyle/>
          <a:p>
            <a:pPr algn="ctr"/>
            <a:r>
              <a:rPr sz="850" b="0" i="1">
                <a:solidFill>
                  <a:srgbClr val="FFD700"/>
                </a:solidFill>
                <a:latin typeface="Calibri"/>
              </a:rPr>
              <a:t>Crystallize
(&gt;=2 missions)</a:t>
            </a:r>
          </a:p>
        </p:txBody>
      </p:sp>
      <p:sp>
        <p:nvSpPr>
          <p:cNvPr id="17" name="Rectangle 16"/>
          <p:cNvSpPr/>
          <p:nvPr/>
        </p:nvSpPr>
        <p:spPr>
          <a:xfrm>
            <a:off x="7315200" y="731520"/>
            <a:ext cx="2377440" cy="1463040"/>
          </a:xfrm>
          <a:prstGeom prst="rect">
            <a:avLst/>
          </a:prstGeom>
          <a:solidFill>
            <a:srgbClr val="201804"/>
          </a:solidFill>
          <a:ln w="2540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24927" y="841248"/>
            <a:ext cx="2148840" cy="457200"/>
          </a:xfrm>
          <a:prstGeom prst="rect">
            <a:avLst/>
          </a:prstGeom>
          <a:noFill/>
        </p:spPr>
        <p:txBody>
          <a:bodyPr wrap="square">
            <a:spAutoFit/>
          </a:bodyPr>
          <a:lstStyle/>
          <a:p>
            <a:pPr algn="ctr"/>
            <a:r>
              <a:rPr sz="1200" b="1" i="0">
                <a:solidFill>
                  <a:srgbClr val="FFD700"/>
                </a:solidFill>
                <a:latin typeface="Calibri"/>
              </a:rPr>
              <a:t>Attack Strategy
Library</a:t>
            </a:r>
          </a:p>
        </p:txBody>
      </p:sp>
      <p:sp>
        <p:nvSpPr>
          <p:cNvPr id="19" name="TextBox 18"/>
          <p:cNvSpPr txBox="1"/>
          <p:nvPr/>
        </p:nvSpPr>
        <p:spPr>
          <a:xfrm>
            <a:off x="7424927" y="1325880"/>
            <a:ext cx="2148840" cy="365760"/>
          </a:xfrm>
          <a:prstGeom prst="rect">
            <a:avLst/>
          </a:prstGeom>
          <a:noFill/>
        </p:spPr>
        <p:txBody>
          <a:bodyPr wrap="square">
            <a:spAutoFit/>
          </a:bodyPr>
          <a:lstStyle/>
          <a:p>
            <a:pPr algn="ctr"/>
            <a:r>
              <a:rPr sz="900" b="0" i="1">
                <a:solidFill>
                  <a:srgbClr val="A0AAB8"/>
                </a:solidFill>
                <a:latin typeface="Calibri"/>
              </a:rPr>
              <a:t>Named strategies · confidence scores
technology-fingerprint indexed</a:t>
            </a:r>
          </a:p>
        </p:txBody>
      </p:sp>
      <p:cxnSp>
        <p:nvCxnSpPr>
          <p:cNvPr id="20" name="Connector 19"/>
          <p:cNvCxnSpPr/>
          <p:nvPr/>
        </p:nvCxnSpPr>
        <p:spPr>
          <a:xfrm>
            <a:off x="9692640" y="1463040.0"/>
            <a:ext cx="1097280" cy="0.0"/>
          </a:xfrm>
          <a:prstGeom prst="line">
            <a:avLst/>
          </a:prstGeom>
          <a:ln w="19050">
            <a:solidFill>
              <a:srgbClr val="39FF14"/>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9710928" y="1097280"/>
            <a:ext cx="1024128" cy="685800"/>
          </a:xfrm>
          <a:prstGeom prst="rect">
            <a:avLst/>
          </a:prstGeom>
          <a:noFill/>
        </p:spPr>
        <p:txBody>
          <a:bodyPr wrap="square">
            <a:spAutoFit/>
          </a:bodyPr>
          <a:lstStyle/>
          <a:p>
            <a:pPr algn="ctr"/>
            <a:r>
              <a:rPr sz="850" b="0" i="1">
                <a:solidFill>
                  <a:srgbClr val="A0AAB8"/>
                </a:solidFill>
                <a:latin typeface="Calibri"/>
              </a:rPr>
              <a:t>Pre-ranked seeds
at mission start</a:t>
            </a:r>
          </a:p>
        </p:txBody>
      </p:sp>
      <p:sp>
        <p:nvSpPr>
          <p:cNvPr id="22" name="Rectangle 21"/>
          <p:cNvSpPr/>
          <p:nvPr/>
        </p:nvSpPr>
        <p:spPr>
          <a:xfrm>
            <a:off x="10881360" y="1005840"/>
            <a:ext cx="1143000" cy="914400"/>
          </a:xfrm>
          <a:prstGeom prst="rect">
            <a:avLst/>
          </a:prstGeom>
          <a:solidFill>
            <a:srgbClr val="062010"/>
          </a:solidFill>
          <a:ln w="1905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927080" y="1115568"/>
            <a:ext cx="1051560" cy="685800"/>
          </a:xfrm>
          <a:prstGeom prst="rect">
            <a:avLst/>
          </a:prstGeom>
          <a:noFill/>
        </p:spPr>
        <p:txBody>
          <a:bodyPr wrap="square">
            <a:spAutoFit/>
          </a:bodyPr>
          <a:lstStyle/>
          <a:p>
            <a:pPr algn="ctr"/>
            <a:r>
              <a:rPr sz="1200" b="1" i="0">
                <a:solidFill>
                  <a:srgbClr val="39FF14"/>
                </a:solidFill>
                <a:latin typeface="Calibri"/>
              </a:rPr>
              <a:t>Mission
N+1</a:t>
            </a:r>
          </a:p>
        </p:txBody>
      </p:sp>
      <p:cxnSp>
        <p:nvCxnSpPr>
          <p:cNvPr id="24" name="Connector 23"/>
          <p:cNvCxnSpPr/>
          <p:nvPr/>
        </p:nvCxnSpPr>
        <p:spPr>
          <a:xfrm>
            <a:off x="4937760" y="1828800.0"/>
            <a:ext cx="5943600" cy="0.0"/>
          </a:xfrm>
          <a:prstGeom prst="line">
            <a:avLst/>
          </a:prstGeom>
          <a:ln w="19050">
            <a:solidFill>
              <a:srgbClr val="00BFD8"/>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6035040" y="1865376"/>
            <a:ext cx="3657600" cy="256032"/>
          </a:xfrm>
          <a:prstGeom prst="rect">
            <a:avLst/>
          </a:prstGeom>
          <a:noFill/>
        </p:spPr>
        <p:txBody>
          <a:bodyPr wrap="square">
            <a:spAutoFit/>
          </a:bodyPr>
          <a:lstStyle/>
          <a:p>
            <a:pPr algn="ctr"/>
            <a:r>
              <a:rPr sz="850" b="0" i="1">
                <a:solidFill>
                  <a:srgbClr val="A0AAB8"/>
                </a:solidFill>
                <a:latin typeface="Calibri"/>
              </a:rPr>
              <a:t>Candidate chain hypotheses injected into Commander context</a:t>
            </a:r>
          </a:p>
        </p:txBody>
      </p:sp>
      <p:sp>
        <p:nvSpPr>
          <p:cNvPr id="26" name="Rectangle 25"/>
          <p:cNvSpPr/>
          <p:nvPr/>
        </p:nvSpPr>
        <p:spPr>
          <a:xfrm>
            <a:off x="274320" y="2212848"/>
            <a:ext cx="5669280" cy="4160520"/>
          </a:xfrm>
          <a:prstGeom prst="rect">
            <a:avLst/>
          </a:prstGeom>
          <a:solidFill>
            <a:srgbClr val="041818"/>
          </a:solidFill>
          <a:ln w="19050">
            <a:solidFill>
              <a:srgbClr val="00BF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74320" y="2212848"/>
            <a:ext cx="5669280" cy="365760"/>
          </a:xfrm>
          <a:prstGeom prst="rect">
            <a:avLst/>
          </a:prstGeom>
          <a:solidFill>
            <a:srgbClr val="00BF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84048" y="2267712"/>
            <a:ext cx="5486400" cy="256032"/>
          </a:xfrm>
          <a:prstGeom prst="rect">
            <a:avLst/>
          </a:prstGeom>
          <a:noFill/>
        </p:spPr>
        <p:txBody>
          <a:bodyPr wrap="square">
            <a:spAutoFit/>
          </a:bodyPr>
          <a:lstStyle/>
          <a:p>
            <a:pPr algn="l"/>
            <a:r>
              <a:rPr sz="1200" b="1" i="0">
                <a:solidFill>
                  <a:srgbClr val="0A0D1A"/>
                </a:solidFill>
                <a:latin typeface="Calibri"/>
              </a:rPr>
              <a:t>C10  ·  Cross-Mission Experience Store</a:t>
            </a:r>
          </a:p>
        </p:txBody>
      </p:sp>
      <p:sp>
        <p:nvSpPr>
          <p:cNvPr id="29" name="Rectangle 28"/>
          <p:cNvSpPr/>
          <p:nvPr/>
        </p:nvSpPr>
        <p:spPr>
          <a:xfrm>
            <a:off x="384048" y="2670048"/>
            <a:ext cx="5449824" cy="859536"/>
          </a:xfrm>
          <a:prstGeom prst="rect">
            <a:avLst/>
          </a:prstGeom>
          <a:solidFill>
            <a:srgbClr val="062222"/>
          </a:solidFill>
          <a:ln w="6350">
            <a:solidFill>
              <a:srgbClr val="00BF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75488" y="2724912"/>
            <a:ext cx="5321808" cy="237744"/>
          </a:xfrm>
          <a:prstGeom prst="rect">
            <a:avLst/>
          </a:prstGeom>
          <a:noFill/>
        </p:spPr>
        <p:txBody>
          <a:bodyPr wrap="square">
            <a:spAutoFit/>
          </a:bodyPr>
          <a:lstStyle/>
          <a:p>
            <a:pPr algn="l"/>
            <a:r>
              <a:rPr sz="1100" b="1" i="0">
                <a:solidFill>
                  <a:srgbClr val="00BFD8"/>
                </a:solidFill>
                <a:latin typeface="Calibri"/>
              </a:rPr>
              <a:t>What it stores</a:t>
            </a:r>
          </a:p>
        </p:txBody>
      </p:sp>
      <p:sp>
        <p:nvSpPr>
          <p:cNvPr id="31" name="TextBox 30"/>
          <p:cNvSpPr txBox="1"/>
          <p:nvPr/>
        </p:nvSpPr>
        <p:spPr>
          <a:xfrm>
            <a:off x="475488" y="2980944"/>
            <a:ext cx="5321808" cy="512064"/>
          </a:xfrm>
          <a:prstGeom prst="rect">
            <a:avLst/>
          </a:prstGeom>
          <a:noFill/>
        </p:spPr>
        <p:txBody>
          <a:bodyPr wrap="square">
            <a:spAutoFit/>
          </a:bodyPr>
          <a:lstStyle/>
          <a:p>
            <a:pPr algn="l"/>
            <a:r>
              <a:rPr sz="950" b="0" i="0">
                <a:solidFill>
                  <a:srgbClr val="A0AAB8"/>
                </a:solidFill>
                <a:latin typeface="Calibri"/>
              </a:rPr>
              <a:t>Per-mission · per-chain raw records of validated exploitation outcomes.
Target technology fingerprint · CVE · successful tool invocation · ChainStep sequence · mission outcome.</a:t>
            </a:r>
          </a:p>
        </p:txBody>
      </p:sp>
      <p:sp>
        <p:nvSpPr>
          <p:cNvPr id="32" name="Rectangle 31"/>
          <p:cNvSpPr/>
          <p:nvPr/>
        </p:nvSpPr>
        <p:spPr>
          <a:xfrm>
            <a:off x="384048" y="3566160"/>
            <a:ext cx="5449824" cy="859536"/>
          </a:xfrm>
          <a:prstGeom prst="rect">
            <a:avLst/>
          </a:prstGeom>
          <a:solidFill>
            <a:srgbClr val="062222"/>
          </a:solidFill>
          <a:ln w="6350">
            <a:solidFill>
              <a:srgbClr val="00BF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75488" y="3621024"/>
            <a:ext cx="5321808" cy="237744"/>
          </a:xfrm>
          <a:prstGeom prst="rect">
            <a:avLst/>
          </a:prstGeom>
          <a:noFill/>
        </p:spPr>
        <p:txBody>
          <a:bodyPr wrap="square">
            <a:spAutoFit/>
          </a:bodyPr>
          <a:lstStyle/>
          <a:p>
            <a:pPr algn="l"/>
            <a:r>
              <a:rPr sz="1100" b="1" i="0">
                <a:solidFill>
                  <a:srgbClr val="00BFD8"/>
                </a:solidFill>
                <a:latin typeface="Calibri"/>
              </a:rPr>
              <a:t>When it's written</a:t>
            </a:r>
          </a:p>
        </p:txBody>
      </p:sp>
      <p:sp>
        <p:nvSpPr>
          <p:cNvPr id="34" name="TextBox 33"/>
          <p:cNvSpPr txBox="1"/>
          <p:nvPr/>
        </p:nvSpPr>
        <p:spPr>
          <a:xfrm>
            <a:off x="475488" y="3877056"/>
            <a:ext cx="5321808" cy="512064"/>
          </a:xfrm>
          <a:prstGeom prst="rect">
            <a:avLst/>
          </a:prstGeom>
          <a:noFill/>
        </p:spPr>
        <p:txBody>
          <a:bodyPr wrap="square">
            <a:spAutoFit/>
          </a:bodyPr>
          <a:lstStyle/>
          <a:p>
            <a:pPr algn="l"/>
            <a:r>
              <a:rPr sz="950" b="0" i="0">
                <a:solidFill>
                  <a:srgbClr val="A0AAB8"/>
                </a:solidFill>
                <a:latin typeface="Calibri"/>
              </a:rPr>
              <a:t>Report Agent writes one entry for every chain with terminal status VALIDATED at mission close.</a:t>
            </a:r>
          </a:p>
        </p:txBody>
      </p:sp>
      <p:sp>
        <p:nvSpPr>
          <p:cNvPr id="35" name="Rectangle 34"/>
          <p:cNvSpPr/>
          <p:nvPr/>
        </p:nvSpPr>
        <p:spPr>
          <a:xfrm>
            <a:off x="384048" y="4462272"/>
            <a:ext cx="5449824" cy="859536"/>
          </a:xfrm>
          <a:prstGeom prst="rect">
            <a:avLst/>
          </a:prstGeom>
          <a:solidFill>
            <a:srgbClr val="062222"/>
          </a:solidFill>
          <a:ln w="6350">
            <a:solidFill>
              <a:srgbClr val="00BF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75488" y="4517136"/>
            <a:ext cx="5321808" cy="237744"/>
          </a:xfrm>
          <a:prstGeom prst="rect">
            <a:avLst/>
          </a:prstGeom>
          <a:noFill/>
        </p:spPr>
        <p:txBody>
          <a:bodyPr wrap="square">
            <a:spAutoFit/>
          </a:bodyPr>
          <a:lstStyle/>
          <a:p>
            <a:pPr algn="l"/>
            <a:r>
              <a:rPr sz="1100" b="1" i="0">
                <a:solidFill>
                  <a:srgbClr val="00BFD8"/>
                </a:solidFill>
                <a:latin typeface="Calibri"/>
              </a:rPr>
              <a:t>When it's read</a:t>
            </a:r>
          </a:p>
        </p:txBody>
      </p:sp>
      <p:sp>
        <p:nvSpPr>
          <p:cNvPr id="37" name="TextBox 36"/>
          <p:cNvSpPr txBox="1"/>
          <p:nvPr/>
        </p:nvSpPr>
        <p:spPr>
          <a:xfrm>
            <a:off x="475488" y="4773168"/>
            <a:ext cx="5321808" cy="512064"/>
          </a:xfrm>
          <a:prstGeom prst="rect">
            <a:avLst/>
          </a:prstGeom>
          <a:noFill/>
        </p:spPr>
        <p:txBody>
          <a:bodyPr wrap="square">
            <a:spAutoFit/>
          </a:bodyPr>
          <a:lstStyle/>
          <a:p>
            <a:pPr algn="l"/>
            <a:r>
              <a:rPr sz="950" b="0" i="0">
                <a:solidFill>
                  <a:srgbClr val="A0AAB8"/>
                </a:solidFill>
                <a:latin typeface="Calibri"/>
              </a:rPr>
              <a:t>Commander queries immediately after Recon Agent writes first Technology nodes to ASG — before Analysis begins. Retrieved records become candidate chain hypotheses.</a:t>
            </a:r>
          </a:p>
        </p:txBody>
      </p:sp>
      <p:sp>
        <p:nvSpPr>
          <p:cNvPr id="38" name="Rectangle 37"/>
          <p:cNvSpPr/>
          <p:nvPr/>
        </p:nvSpPr>
        <p:spPr>
          <a:xfrm>
            <a:off x="384048" y="5358384"/>
            <a:ext cx="5449824" cy="859536"/>
          </a:xfrm>
          <a:prstGeom prst="rect">
            <a:avLst/>
          </a:prstGeom>
          <a:solidFill>
            <a:srgbClr val="062222"/>
          </a:solidFill>
          <a:ln w="6350">
            <a:solidFill>
              <a:srgbClr val="00BF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75488" y="5413248"/>
            <a:ext cx="5321808" cy="237744"/>
          </a:xfrm>
          <a:prstGeom prst="rect">
            <a:avLst/>
          </a:prstGeom>
          <a:noFill/>
        </p:spPr>
        <p:txBody>
          <a:bodyPr wrap="square">
            <a:spAutoFit/>
          </a:bodyPr>
          <a:lstStyle/>
          <a:p>
            <a:pPr algn="l"/>
            <a:r>
              <a:rPr sz="1100" b="1" i="0">
                <a:solidFill>
                  <a:srgbClr val="00BFD8"/>
                </a:solidFill>
                <a:latin typeface="Calibri"/>
              </a:rPr>
              <a:t>Research origin</a:t>
            </a:r>
          </a:p>
        </p:txBody>
      </p:sp>
      <p:sp>
        <p:nvSpPr>
          <p:cNvPr id="40" name="TextBox 39"/>
          <p:cNvSpPr txBox="1"/>
          <p:nvPr/>
        </p:nvSpPr>
        <p:spPr>
          <a:xfrm>
            <a:off x="475488" y="5669280"/>
            <a:ext cx="5321808" cy="512064"/>
          </a:xfrm>
          <a:prstGeom prst="rect">
            <a:avLst/>
          </a:prstGeom>
          <a:noFill/>
        </p:spPr>
        <p:txBody>
          <a:bodyPr wrap="square">
            <a:spAutoFit/>
          </a:bodyPr>
          <a:lstStyle/>
          <a:p>
            <a:pPr algn="l"/>
            <a:r>
              <a:rPr sz="950" b="0" i="0">
                <a:solidFill>
                  <a:srgbClr val="A0AAB8"/>
                </a:solidFill>
                <a:latin typeface="Calibri"/>
              </a:rPr>
              <a:t>Generalizes AutoAttacker's within-mission experience-reuse mechanism to cross-mission scope. AutoAttacker reuses subtasks within one session; CMatrix accumulates across every mission ever run.</a:t>
            </a:r>
          </a:p>
        </p:txBody>
      </p:sp>
      <p:sp>
        <p:nvSpPr>
          <p:cNvPr id="41" name="Rectangle 40"/>
          <p:cNvSpPr/>
          <p:nvPr/>
        </p:nvSpPr>
        <p:spPr>
          <a:xfrm>
            <a:off x="6172200" y="2212848"/>
            <a:ext cx="5833872" cy="4160520"/>
          </a:xfrm>
          <a:prstGeom prst="rect">
            <a:avLst/>
          </a:prstGeom>
          <a:solidFill>
            <a:srgbClr val="1C1404"/>
          </a:solidFill>
          <a:ln w="1905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6172200" y="2212848"/>
            <a:ext cx="5833872" cy="365760"/>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281928" y="2267712"/>
            <a:ext cx="5650992" cy="256032"/>
          </a:xfrm>
          <a:prstGeom prst="rect">
            <a:avLst/>
          </a:prstGeom>
          <a:noFill/>
        </p:spPr>
        <p:txBody>
          <a:bodyPr wrap="square">
            <a:spAutoFit/>
          </a:bodyPr>
          <a:lstStyle/>
          <a:p>
            <a:pPr algn="l"/>
            <a:r>
              <a:rPr sz="1200" b="1" i="0">
                <a:solidFill>
                  <a:srgbClr val="0A0D1A"/>
                </a:solidFill>
                <a:latin typeface="Calibri"/>
              </a:rPr>
              <a:t>C11  ·  Attack Strategy Library</a:t>
            </a:r>
          </a:p>
        </p:txBody>
      </p:sp>
      <p:sp>
        <p:nvSpPr>
          <p:cNvPr id="44" name="Rectangle 43"/>
          <p:cNvSpPr/>
          <p:nvPr/>
        </p:nvSpPr>
        <p:spPr>
          <a:xfrm>
            <a:off x="6281928" y="2670048"/>
            <a:ext cx="5614416" cy="859536"/>
          </a:xfrm>
          <a:prstGeom prst="rect">
            <a:avLst/>
          </a:prstGeom>
          <a:solidFill>
            <a:srgbClr val="221806"/>
          </a:solidFill>
          <a:ln w="635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373368" y="2724912"/>
            <a:ext cx="5486400" cy="237744"/>
          </a:xfrm>
          <a:prstGeom prst="rect">
            <a:avLst/>
          </a:prstGeom>
          <a:noFill/>
        </p:spPr>
        <p:txBody>
          <a:bodyPr wrap="square">
            <a:spAutoFit/>
          </a:bodyPr>
          <a:lstStyle/>
          <a:p>
            <a:pPr algn="l"/>
            <a:r>
              <a:rPr sz="1100" b="1" i="0">
                <a:solidFill>
                  <a:srgbClr val="FFD700"/>
                </a:solidFill>
                <a:latin typeface="Calibri"/>
              </a:rPr>
              <a:t>What it stores</a:t>
            </a:r>
          </a:p>
        </p:txBody>
      </p:sp>
      <p:sp>
        <p:nvSpPr>
          <p:cNvPr id="46" name="TextBox 45"/>
          <p:cNvSpPr txBox="1"/>
          <p:nvPr/>
        </p:nvSpPr>
        <p:spPr>
          <a:xfrm>
            <a:off x="6373368" y="2980944"/>
            <a:ext cx="5486400" cy="512064"/>
          </a:xfrm>
          <a:prstGeom prst="rect">
            <a:avLst/>
          </a:prstGeom>
          <a:noFill/>
        </p:spPr>
        <p:txBody>
          <a:bodyPr wrap="square">
            <a:spAutoFit/>
          </a:bodyPr>
          <a:lstStyle/>
          <a:p>
            <a:pPr algn="l"/>
            <a:r>
              <a:rPr sz="950" b="0" i="0">
                <a:solidFill>
                  <a:srgbClr val="A0AAB8"/>
                </a:solidFill>
                <a:latin typeface="Calibri"/>
              </a:rPr>
              <a:t>Generalized attack procedures distilled from multiple validated outcomes against the same target technology class. Named strategies (e.g. STRAT-WP-SQLI-001) with confidence scores.</a:t>
            </a:r>
          </a:p>
        </p:txBody>
      </p:sp>
      <p:sp>
        <p:nvSpPr>
          <p:cNvPr id="47" name="Rectangle 46"/>
          <p:cNvSpPr/>
          <p:nvPr/>
        </p:nvSpPr>
        <p:spPr>
          <a:xfrm>
            <a:off x="6281928" y="3566160"/>
            <a:ext cx="5614416" cy="859536"/>
          </a:xfrm>
          <a:prstGeom prst="rect">
            <a:avLst/>
          </a:prstGeom>
          <a:solidFill>
            <a:srgbClr val="221806"/>
          </a:solidFill>
          <a:ln w="635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373368" y="3621024"/>
            <a:ext cx="5486400" cy="237744"/>
          </a:xfrm>
          <a:prstGeom prst="rect">
            <a:avLst/>
          </a:prstGeom>
          <a:noFill/>
        </p:spPr>
        <p:txBody>
          <a:bodyPr wrap="square">
            <a:spAutoFit/>
          </a:bodyPr>
          <a:lstStyle/>
          <a:p>
            <a:pPr algn="l"/>
            <a:r>
              <a:rPr sz="1100" b="1" i="0">
                <a:solidFill>
                  <a:srgbClr val="FFD700"/>
                </a:solidFill>
                <a:latin typeface="Calibri"/>
              </a:rPr>
              <a:t>Crystallization threshold</a:t>
            </a:r>
          </a:p>
        </p:txBody>
      </p:sp>
      <p:sp>
        <p:nvSpPr>
          <p:cNvPr id="49" name="TextBox 48"/>
          <p:cNvSpPr txBox="1"/>
          <p:nvPr/>
        </p:nvSpPr>
        <p:spPr>
          <a:xfrm>
            <a:off x="6373368" y="3877056"/>
            <a:ext cx="5486400" cy="512064"/>
          </a:xfrm>
          <a:prstGeom prst="rect">
            <a:avLst/>
          </a:prstGeom>
          <a:noFill/>
        </p:spPr>
        <p:txBody>
          <a:bodyPr wrap="square">
            <a:spAutoFit/>
          </a:bodyPr>
          <a:lstStyle/>
          <a:p>
            <a:pPr algn="l"/>
            <a:r>
              <a:rPr sz="950" b="0" i="0">
                <a:solidFill>
                  <a:srgbClr val="A0AAB8"/>
                </a:solidFill>
                <a:latin typeface="Calibri"/>
              </a:rPr>
              <a:t>Same technology fingerprint (e.g. WordPress 5.x + WooCommerce + Nginx) produces validated AttackChain in 2 or more independent missions → Commander triggers crystallization.</a:t>
            </a:r>
          </a:p>
        </p:txBody>
      </p:sp>
      <p:sp>
        <p:nvSpPr>
          <p:cNvPr id="50" name="Rectangle 49"/>
          <p:cNvSpPr/>
          <p:nvPr/>
        </p:nvSpPr>
        <p:spPr>
          <a:xfrm>
            <a:off x="6281928" y="4462272"/>
            <a:ext cx="5614416" cy="859536"/>
          </a:xfrm>
          <a:prstGeom prst="rect">
            <a:avLst/>
          </a:prstGeom>
          <a:solidFill>
            <a:srgbClr val="221806"/>
          </a:solidFill>
          <a:ln w="635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373368" y="4517136"/>
            <a:ext cx="5486400" cy="237744"/>
          </a:xfrm>
          <a:prstGeom prst="rect">
            <a:avLst/>
          </a:prstGeom>
          <a:noFill/>
        </p:spPr>
        <p:txBody>
          <a:bodyPr wrap="square">
            <a:spAutoFit/>
          </a:bodyPr>
          <a:lstStyle/>
          <a:p>
            <a:pPr algn="l"/>
            <a:r>
              <a:rPr sz="1100" b="1" i="0">
                <a:solidFill>
                  <a:srgbClr val="FFD700"/>
                </a:solidFill>
                <a:latin typeface="Calibri"/>
              </a:rPr>
              <a:t>When it's used</a:t>
            </a:r>
          </a:p>
        </p:txBody>
      </p:sp>
      <p:sp>
        <p:nvSpPr>
          <p:cNvPr id="52" name="TextBox 51"/>
          <p:cNvSpPr txBox="1"/>
          <p:nvPr/>
        </p:nvSpPr>
        <p:spPr>
          <a:xfrm>
            <a:off x="6373368" y="4773168"/>
            <a:ext cx="5486400" cy="512064"/>
          </a:xfrm>
          <a:prstGeom prst="rect">
            <a:avLst/>
          </a:prstGeom>
          <a:noFill/>
        </p:spPr>
        <p:txBody>
          <a:bodyPr wrap="square">
            <a:spAutoFit/>
          </a:bodyPr>
          <a:lstStyle/>
          <a:p>
            <a:pPr algn="l"/>
            <a:r>
              <a:rPr sz="950" b="0" i="0">
                <a:solidFill>
                  <a:srgbClr val="A0AAB8"/>
                </a:solidFill>
                <a:latin typeface="Calibri"/>
              </a:rPr>
              <a:t>Retrieved at mission start. Strategies are injected as pre-ranked APG AttackChain seeds — prioritized above zero-prior chains because they carry validated track record.</a:t>
            </a:r>
          </a:p>
        </p:txBody>
      </p:sp>
      <p:sp>
        <p:nvSpPr>
          <p:cNvPr id="53" name="Rectangle 52"/>
          <p:cNvSpPr/>
          <p:nvPr/>
        </p:nvSpPr>
        <p:spPr>
          <a:xfrm>
            <a:off x="6281928" y="5358384"/>
            <a:ext cx="5614416" cy="859536"/>
          </a:xfrm>
          <a:prstGeom prst="rect">
            <a:avLst/>
          </a:prstGeom>
          <a:solidFill>
            <a:srgbClr val="221806"/>
          </a:solidFill>
          <a:ln w="635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6373368" y="5413248"/>
            <a:ext cx="5486400" cy="237744"/>
          </a:xfrm>
          <a:prstGeom prst="rect">
            <a:avLst/>
          </a:prstGeom>
          <a:noFill/>
        </p:spPr>
        <p:txBody>
          <a:bodyPr wrap="square">
            <a:spAutoFit/>
          </a:bodyPr>
          <a:lstStyle/>
          <a:p>
            <a:pPr algn="l"/>
            <a:r>
              <a:rPr sz="1100" b="1" i="0">
                <a:solidFill>
                  <a:srgbClr val="FFD700"/>
                </a:solidFill>
                <a:latin typeface="Calibri"/>
              </a:rPr>
              <a:t>Why it matters</a:t>
            </a:r>
          </a:p>
        </p:txBody>
      </p:sp>
      <p:sp>
        <p:nvSpPr>
          <p:cNvPr id="55" name="TextBox 54"/>
          <p:cNvSpPr txBox="1"/>
          <p:nvPr/>
        </p:nvSpPr>
        <p:spPr>
          <a:xfrm>
            <a:off x="6373368" y="5669280"/>
            <a:ext cx="5486400" cy="512064"/>
          </a:xfrm>
          <a:prstGeom prst="rect">
            <a:avLst/>
          </a:prstGeom>
          <a:noFill/>
        </p:spPr>
        <p:txBody>
          <a:bodyPr wrap="square">
            <a:spAutoFit/>
          </a:bodyPr>
          <a:lstStyle/>
          <a:p>
            <a:pPr algn="l"/>
            <a:r>
              <a:rPr sz="950" b="0" i="0">
                <a:solidFill>
                  <a:srgbClr val="A0AAB8"/>
                </a:solidFill>
                <a:latin typeface="Calibri"/>
              </a:rPr>
              <a:t>No existing autonomous VAPT system accumulates and generalizes validated exploitation procedures across sessions. Every prior system resets to zero knowledge on each mission. CMatrix's library makes it measurably more efficient on repeat target-type engagements.</a:t>
            </a:r>
          </a:p>
        </p:txBody>
      </p:sp>
      <p:sp>
        <p:nvSpPr>
          <p:cNvPr id="56" name="TextBox 55"/>
          <p:cNvSpPr txBox="1"/>
          <p:nvPr/>
        </p:nvSpPr>
        <p:spPr>
          <a:xfrm>
            <a:off x="11825935" y="6355080"/>
            <a:ext cx="320040" cy="411480"/>
          </a:xfrm>
          <a:prstGeom prst="rect">
            <a:avLst/>
          </a:prstGeom>
          <a:noFill/>
        </p:spPr>
        <p:txBody>
          <a:bodyPr wrap="square">
            <a:spAutoFit/>
          </a:bodyPr>
          <a:lstStyle/>
          <a:p>
            <a:pPr algn="r"/>
            <a:r>
              <a:rPr sz="1300" b="1" i="0">
                <a:solidFill>
                  <a:srgbClr val="00BFD8"/>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A0D1A"/>
        </a:solidFill>
        <a:effectLst/>
      </p:bgPr>
    </p:bg>
    <p:spTree>
      <p:nvGrpSpPr>
        <p:cNvPr id="1" name=""/>
        <p:cNvGrpSpPr/>
        <p:nvPr/>
      </p:nvGrpSpPr>
      <p:grpSpPr/>
      <p:sp>
        <p:nvSpPr>
          <p:cNvPr id="2" name="Rectangle 1"/>
          <p:cNvSpPr/>
          <p:nvPr/>
        </p:nvSpPr>
        <p:spPr>
          <a:xfrm>
            <a:off x="0" y="0"/>
            <a:ext cx="54864" cy="6858000"/>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 y="0"/>
            <a:ext cx="12136831" cy="36576"/>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 y="6821424"/>
            <a:ext cx="12136831" cy="36576"/>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54864"/>
            <a:ext cx="7315200" cy="274320"/>
          </a:xfrm>
          <a:prstGeom prst="rect">
            <a:avLst/>
          </a:prstGeom>
          <a:noFill/>
        </p:spPr>
        <p:txBody>
          <a:bodyPr wrap="square">
            <a:spAutoFit/>
          </a:bodyPr>
          <a:lstStyle/>
          <a:p>
            <a:pPr algn="l"/>
            <a:r>
              <a:rPr sz="1100" b="1" i="0">
                <a:solidFill>
                  <a:srgbClr val="00E5FF"/>
                </a:solidFill>
                <a:latin typeface="Calibri"/>
              </a:rPr>
              <a:t>RESEARCH CONTRIBUTIONS</a:t>
            </a:r>
          </a:p>
        </p:txBody>
      </p:sp>
      <p:sp>
        <p:nvSpPr>
          <p:cNvPr id="6" name="TextBox 5"/>
          <p:cNvSpPr txBox="1"/>
          <p:nvPr/>
        </p:nvSpPr>
        <p:spPr>
          <a:xfrm>
            <a:off x="274320" y="329184"/>
            <a:ext cx="11430000" cy="548640"/>
          </a:xfrm>
          <a:prstGeom prst="rect">
            <a:avLst/>
          </a:prstGeom>
          <a:noFill/>
        </p:spPr>
        <p:txBody>
          <a:bodyPr wrap="square">
            <a:spAutoFit/>
          </a:bodyPr>
          <a:lstStyle/>
          <a:p>
            <a:pPr algn="l"/>
            <a:r>
              <a:rPr sz="2800" b="1" i="0">
                <a:solidFill>
                  <a:srgbClr val="FFFFFF"/>
                </a:solidFill>
                <a:latin typeface="Calibri"/>
              </a:rPr>
              <a:t>12 Novel Contributions — What CMatrix Adds to the Literature</a:t>
            </a:r>
          </a:p>
        </p:txBody>
      </p:sp>
      <p:sp>
        <p:nvSpPr>
          <p:cNvPr id="7" name="Rectangle 6"/>
          <p:cNvSpPr/>
          <p:nvPr/>
        </p:nvSpPr>
        <p:spPr>
          <a:xfrm>
            <a:off x="274320" y="896112"/>
            <a:ext cx="6400800" cy="27432"/>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74320" y="987552"/>
            <a:ext cx="5897880" cy="448056"/>
          </a:xfrm>
          <a:prstGeom prst="rect">
            <a:avLst/>
          </a:prstGeom>
          <a:solidFill>
            <a:srgbClr val="0C1426"/>
          </a:solidFill>
          <a:ln w="889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74320" y="987552"/>
            <a:ext cx="438912" cy="448056"/>
          </a:xfrm>
          <a:prstGeom prst="rect">
            <a:avLst/>
          </a:prstGeom>
          <a:solidFill>
            <a:srgbClr val="39FF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2608" y="1074420"/>
            <a:ext cx="402336" cy="274320"/>
          </a:xfrm>
          <a:prstGeom prst="rect">
            <a:avLst/>
          </a:prstGeom>
          <a:noFill/>
        </p:spPr>
        <p:txBody>
          <a:bodyPr wrap="square">
            <a:spAutoFit/>
          </a:bodyPr>
          <a:lstStyle/>
          <a:p>
            <a:pPr algn="ctr"/>
            <a:r>
              <a:rPr sz="1000" b="1" i="0">
                <a:solidFill>
                  <a:srgbClr val="0A0D1A"/>
                </a:solidFill>
                <a:latin typeface="Calibri"/>
              </a:rPr>
              <a:t>C1</a:t>
            </a:r>
          </a:p>
        </p:txBody>
      </p:sp>
      <p:sp>
        <p:nvSpPr>
          <p:cNvPr id="11" name="TextBox 10"/>
          <p:cNvSpPr txBox="1"/>
          <p:nvPr/>
        </p:nvSpPr>
        <p:spPr>
          <a:xfrm>
            <a:off x="804672" y="1024128"/>
            <a:ext cx="5321808" cy="201168"/>
          </a:xfrm>
          <a:prstGeom prst="rect">
            <a:avLst/>
          </a:prstGeom>
          <a:noFill/>
        </p:spPr>
        <p:txBody>
          <a:bodyPr wrap="square">
            <a:spAutoFit/>
          </a:bodyPr>
          <a:lstStyle/>
          <a:p>
            <a:pPr algn="l"/>
            <a:r>
              <a:rPr sz="1050" b="1" i="0">
                <a:solidFill>
                  <a:srgbClr val="FFFFFF"/>
                </a:solidFill>
                <a:latin typeface="Calibri"/>
              </a:rPr>
              <a:t>Dual-Graph World Model</a:t>
            </a:r>
          </a:p>
        </p:txBody>
      </p:sp>
      <p:sp>
        <p:nvSpPr>
          <p:cNvPr id="12" name="TextBox 11"/>
          <p:cNvSpPr txBox="1"/>
          <p:nvPr/>
        </p:nvSpPr>
        <p:spPr>
          <a:xfrm>
            <a:off x="804672" y="1234440"/>
            <a:ext cx="5321808" cy="182880"/>
          </a:xfrm>
          <a:prstGeom prst="rect">
            <a:avLst/>
          </a:prstGeom>
          <a:noFill/>
        </p:spPr>
        <p:txBody>
          <a:bodyPr wrap="square">
            <a:spAutoFit/>
          </a:bodyPr>
          <a:lstStyle/>
          <a:p>
            <a:pPr algn="l"/>
            <a:r>
              <a:rPr sz="880" b="0" i="0">
                <a:solidFill>
                  <a:srgbClr val="A0AAB8"/>
                </a:solidFill>
                <a:latin typeface="Calibri"/>
              </a:rPr>
              <a:t>ASG (discovered reality) + APG (inferred opportunity) — strict write ownership. No prior system separates these.</a:t>
            </a:r>
          </a:p>
        </p:txBody>
      </p:sp>
      <p:sp>
        <p:nvSpPr>
          <p:cNvPr id="13" name="Rectangle 12"/>
          <p:cNvSpPr/>
          <p:nvPr/>
        </p:nvSpPr>
        <p:spPr>
          <a:xfrm>
            <a:off x="274320" y="1485900"/>
            <a:ext cx="5897880" cy="448056"/>
          </a:xfrm>
          <a:prstGeom prst="rect">
            <a:avLst/>
          </a:prstGeom>
          <a:solidFill>
            <a:srgbClr val="10162B"/>
          </a:solidFill>
          <a:ln w="889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74320" y="1485900"/>
            <a:ext cx="438912" cy="448056"/>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92608" y="1572768"/>
            <a:ext cx="402336" cy="274320"/>
          </a:xfrm>
          <a:prstGeom prst="rect">
            <a:avLst/>
          </a:prstGeom>
          <a:noFill/>
        </p:spPr>
        <p:txBody>
          <a:bodyPr wrap="square">
            <a:spAutoFit/>
          </a:bodyPr>
          <a:lstStyle/>
          <a:p>
            <a:pPr algn="ctr"/>
            <a:r>
              <a:rPr sz="1000" b="1" i="0">
                <a:solidFill>
                  <a:srgbClr val="0A0D1A"/>
                </a:solidFill>
                <a:latin typeface="Calibri"/>
              </a:rPr>
              <a:t>C2</a:t>
            </a:r>
          </a:p>
        </p:txBody>
      </p:sp>
      <p:sp>
        <p:nvSpPr>
          <p:cNvPr id="16" name="TextBox 15"/>
          <p:cNvSpPr txBox="1"/>
          <p:nvPr/>
        </p:nvSpPr>
        <p:spPr>
          <a:xfrm>
            <a:off x="804672" y="1522476"/>
            <a:ext cx="5321808" cy="201168"/>
          </a:xfrm>
          <a:prstGeom prst="rect">
            <a:avLst/>
          </a:prstGeom>
          <a:noFill/>
        </p:spPr>
        <p:txBody>
          <a:bodyPr wrap="square">
            <a:spAutoFit/>
          </a:bodyPr>
          <a:lstStyle/>
          <a:p>
            <a:pPr algn="l"/>
            <a:r>
              <a:rPr sz="1050" b="1" i="0">
                <a:solidFill>
                  <a:srgbClr val="FFFFFF"/>
                </a:solidFill>
                <a:latin typeface="Calibri"/>
              </a:rPr>
              <a:t>Graph-State-Driven Re-Planning</a:t>
            </a:r>
          </a:p>
        </p:txBody>
      </p:sp>
      <p:sp>
        <p:nvSpPr>
          <p:cNvPr id="17" name="TextBox 16"/>
          <p:cNvSpPr txBox="1"/>
          <p:nvPr/>
        </p:nvSpPr>
        <p:spPr>
          <a:xfrm>
            <a:off x="804672" y="1732788"/>
            <a:ext cx="5321808" cy="182880"/>
          </a:xfrm>
          <a:prstGeom prst="rect">
            <a:avLst/>
          </a:prstGeom>
          <a:noFill/>
        </p:spPr>
        <p:txBody>
          <a:bodyPr wrap="square">
            <a:spAutoFit/>
          </a:bodyPr>
          <a:lstStyle/>
          <a:p>
            <a:pPr algn="l"/>
            <a:r>
              <a:rPr sz="880" b="0" i="0">
                <a:solidFill>
                  <a:srgbClr val="A0AAB8"/>
                </a:solidFill>
                <a:latin typeface="Calibri"/>
              </a:rPr>
              <a:t>Re-planning triggered by explicit ASG/APG state changes, not fixed task-queue depletion.</a:t>
            </a:r>
          </a:p>
        </p:txBody>
      </p:sp>
      <p:sp>
        <p:nvSpPr>
          <p:cNvPr id="18" name="Rectangle 17"/>
          <p:cNvSpPr/>
          <p:nvPr/>
        </p:nvSpPr>
        <p:spPr>
          <a:xfrm>
            <a:off x="274320" y="1984248"/>
            <a:ext cx="5897880" cy="448056"/>
          </a:xfrm>
          <a:prstGeom prst="rect">
            <a:avLst/>
          </a:prstGeom>
          <a:solidFill>
            <a:srgbClr val="0C1426"/>
          </a:solidFill>
          <a:ln w="889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74320" y="1984248"/>
            <a:ext cx="438912" cy="448056"/>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92608" y="2071116"/>
            <a:ext cx="402336" cy="274320"/>
          </a:xfrm>
          <a:prstGeom prst="rect">
            <a:avLst/>
          </a:prstGeom>
          <a:noFill/>
        </p:spPr>
        <p:txBody>
          <a:bodyPr wrap="square">
            <a:spAutoFit/>
          </a:bodyPr>
          <a:lstStyle/>
          <a:p>
            <a:pPr algn="ctr"/>
            <a:r>
              <a:rPr sz="1000" b="1" i="0">
                <a:solidFill>
                  <a:srgbClr val="0A0D1A"/>
                </a:solidFill>
                <a:latin typeface="Calibri"/>
              </a:rPr>
              <a:t>C3</a:t>
            </a:r>
          </a:p>
        </p:txBody>
      </p:sp>
      <p:sp>
        <p:nvSpPr>
          <p:cNvPr id="21" name="TextBox 20"/>
          <p:cNvSpPr txBox="1"/>
          <p:nvPr/>
        </p:nvSpPr>
        <p:spPr>
          <a:xfrm>
            <a:off x="804672" y="2020824"/>
            <a:ext cx="5321808" cy="201168"/>
          </a:xfrm>
          <a:prstGeom prst="rect">
            <a:avLst/>
          </a:prstGeom>
          <a:noFill/>
        </p:spPr>
        <p:txBody>
          <a:bodyPr wrap="square">
            <a:spAutoFit/>
          </a:bodyPr>
          <a:lstStyle/>
          <a:p>
            <a:pPr algn="l"/>
            <a:r>
              <a:rPr sz="1050" b="1" i="0">
                <a:solidFill>
                  <a:srgbClr val="FFFFFF"/>
                </a:solidFill>
                <a:latin typeface="Calibri"/>
              </a:rPr>
              <a:t>APG Attack Chain Lifecycle + Evidence Traceability</a:t>
            </a:r>
          </a:p>
        </p:txBody>
      </p:sp>
      <p:sp>
        <p:nvSpPr>
          <p:cNvPr id="22" name="TextBox 21"/>
          <p:cNvSpPr txBox="1"/>
          <p:nvPr/>
        </p:nvSpPr>
        <p:spPr>
          <a:xfrm>
            <a:off x="804672" y="2231136"/>
            <a:ext cx="5321808" cy="182880"/>
          </a:xfrm>
          <a:prstGeom prst="rect">
            <a:avLst/>
          </a:prstGeom>
          <a:noFill/>
        </p:spPr>
        <p:txBody>
          <a:bodyPr wrap="square">
            <a:spAutoFit/>
          </a:bodyPr>
          <a:lstStyle/>
          <a:p>
            <a:pPr algn="l"/>
            <a:r>
              <a:rPr sz="880" b="0" i="0">
                <a:solidFill>
                  <a:srgbClr val="A0AAB8"/>
                </a:solidFill>
                <a:latin typeface="Calibri"/>
              </a:rPr>
              <a:t>Chains as first-class entities: risk-scored, lifecycle-tracked, every ChainStep linked to ASG Evidence.</a:t>
            </a:r>
          </a:p>
        </p:txBody>
      </p:sp>
      <p:sp>
        <p:nvSpPr>
          <p:cNvPr id="23" name="Rectangle 22"/>
          <p:cNvSpPr/>
          <p:nvPr/>
        </p:nvSpPr>
        <p:spPr>
          <a:xfrm>
            <a:off x="274320" y="2482596"/>
            <a:ext cx="5897880" cy="448056"/>
          </a:xfrm>
          <a:prstGeom prst="rect">
            <a:avLst/>
          </a:prstGeom>
          <a:solidFill>
            <a:srgbClr val="10162B"/>
          </a:solidFill>
          <a:ln w="8890">
            <a:solidFill>
              <a:srgbClr val="00BF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274320" y="2482596"/>
            <a:ext cx="438912" cy="448056"/>
          </a:xfrm>
          <a:prstGeom prst="rect">
            <a:avLst/>
          </a:prstGeom>
          <a:solidFill>
            <a:srgbClr val="00BF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92608" y="2569464"/>
            <a:ext cx="402336" cy="274320"/>
          </a:xfrm>
          <a:prstGeom prst="rect">
            <a:avLst/>
          </a:prstGeom>
          <a:noFill/>
        </p:spPr>
        <p:txBody>
          <a:bodyPr wrap="square">
            <a:spAutoFit/>
          </a:bodyPr>
          <a:lstStyle/>
          <a:p>
            <a:pPr algn="ctr"/>
            <a:r>
              <a:rPr sz="1000" b="1" i="0">
                <a:solidFill>
                  <a:srgbClr val="0A0D1A"/>
                </a:solidFill>
                <a:latin typeface="Calibri"/>
              </a:rPr>
              <a:t>C4</a:t>
            </a:r>
          </a:p>
        </p:txBody>
      </p:sp>
      <p:sp>
        <p:nvSpPr>
          <p:cNvPr id="26" name="TextBox 25"/>
          <p:cNvSpPr txBox="1"/>
          <p:nvPr/>
        </p:nvSpPr>
        <p:spPr>
          <a:xfrm>
            <a:off x="804672" y="2519172"/>
            <a:ext cx="5321808" cy="201168"/>
          </a:xfrm>
          <a:prstGeom prst="rect">
            <a:avLst/>
          </a:prstGeom>
          <a:noFill/>
        </p:spPr>
        <p:txBody>
          <a:bodyPr wrap="square">
            <a:spAutoFit/>
          </a:bodyPr>
          <a:lstStyle/>
          <a:p>
            <a:pPr algn="l"/>
            <a:r>
              <a:rPr sz="1050" b="1" i="0">
                <a:solidFill>
                  <a:srgbClr val="FFFFFF"/>
                </a:solidFill>
                <a:latin typeface="Calibri"/>
              </a:rPr>
              <a:t>ASG-Aware Parallel Tool Dispatch</a:t>
            </a:r>
          </a:p>
        </p:txBody>
      </p:sp>
      <p:sp>
        <p:nvSpPr>
          <p:cNvPr id="27" name="TextBox 26"/>
          <p:cNvSpPr txBox="1"/>
          <p:nvPr/>
        </p:nvSpPr>
        <p:spPr>
          <a:xfrm>
            <a:off x="804672" y="2729484"/>
            <a:ext cx="5321808" cy="182880"/>
          </a:xfrm>
          <a:prstGeom prst="rect">
            <a:avLst/>
          </a:prstGeom>
          <a:noFill/>
        </p:spPr>
        <p:txBody>
          <a:bodyPr wrap="square">
            <a:spAutoFit/>
          </a:bodyPr>
          <a:lstStyle/>
          <a:p>
            <a:pPr algn="l"/>
            <a:r>
              <a:rPr sz="880" b="0" i="0">
                <a:solidFill>
                  <a:srgbClr val="A0AAB8"/>
                </a:solidFill>
                <a:latin typeface="Calibri"/>
              </a:rPr>
              <a:t>Dependency-safe concurrent tool execution using the ASG as the dependency graph.</a:t>
            </a:r>
          </a:p>
        </p:txBody>
      </p:sp>
      <p:sp>
        <p:nvSpPr>
          <p:cNvPr id="28" name="Rectangle 27"/>
          <p:cNvSpPr/>
          <p:nvPr/>
        </p:nvSpPr>
        <p:spPr>
          <a:xfrm>
            <a:off x="274320" y="2980944"/>
            <a:ext cx="5897880" cy="448056"/>
          </a:xfrm>
          <a:prstGeom prst="rect">
            <a:avLst/>
          </a:prstGeom>
          <a:solidFill>
            <a:srgbClr val="0C1426"/>
          </a:solidFill>
          <a:ln w="8890">
            <a:solidFill>
              <a:srgbClr val="FF45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74320" y="2980944"/>
            <a:ext cx="438912" cy="448056"/>
          </a:xfrm>
          <a:prstGeom prst="rect">
            <a:avLst/>
          </a:prstGeom>
          <a:solidFill>
            <a:srgbClr val="FF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92608" y="3067812"/>
            <a:ext cx="402336" cy="274320"/>
          </a:xfrm>
          <a:prstGeom prst="rect">
            <a:avLst/>
          </a:prstGeom>
          <a:noFill/>
        </p:spPr>
        <p:txBody>
          <a:bodyPr wrap="square">
            <a:spAutoFit/>
          </a:bodyPr>
          <a:lstStyle/>
          <a:p>
            <a:pPr algn="ctr"/>
            <a:r>
              <a:rPr sz="1000" b="1" i="0">
                <a:solidFill>
                  <a:srgbClr val="0A0D1A"/>
                </a:solidFill>
                <a:latin typeface="Calibri"/>
              </a:rPr>
              <a:t>C5</a:t>
            </a:r>
          </a:p>
        </p:txBody>
      </p:sp>
      <p:sp>
        <p:nvSpPr>
          <p:cNvPr id="31" name="TextBox 30"/>
          <p:cNvSpPr txBox="1"/>
          <p:nvPr/>
        </p:nvSpPr>
        <p:spPr>
          <a:xfrm>
            <a:off x="804672" y="3017520"/>
            <a:ext cx="5321808" cy="201168"/>
          </a:xfrm>
          <a:prstGeom prst="rect">
            <a:avLst/>
          </a:prstGeom>
          <a:noFill/>
        </p:spPr>
        <p:txBody>
          <a:bodyPr wrap="square">
            <a:spAutoFit/>
          </a:bodyPr>
          <a:lstStyle/>
          <a:p>
            <a:pPr algn="l"/>
            <a:r>
              <a:rPr sz="1050" b="1" i="0">
                <a:solidFill>
                  <a:srgbClr val="FFFFFF"/>
                </a:solidFill>
                <a:latin typeface="Calibri"/>
              </a:rPr>
              <a:t>Tool Risk Gate + Commander Mailbox</a:t>
            </a:r>
          </a:p>
        </p:txBody>
      </p:sp>
      <p:sp>
        <p:nvSpPr>
          <p:cNvPr id="32" name="TextBox 31"/>
          <p:cNvSpPr txBox="1"/>
          <p:nvPr/>
        </p:nvSpPr>
        <p:spPr>
          <a:xfrm>
            <a:off x="804672" y="3227832"/>
            <a:ext cx="5321808" cy="182880"/>
          </a:xfrm>
          <a:prstGeom prst="rect">
            <a:avLst/>
          </a:prstGeom>
          <a:noFill/>
        </p:spPr>
        <p:txBody>
          <a:bodyPr wrap="square">
            <a:spAutoFit/>
          </a:bodyPr>
          <a:lstStyle/>
          <a:p>
            <a:pPr algn="l"/>
            <a:r>
              <a:rPr sz="880" b="0" i="0">
                <a:solidFill>
                  <a:srgbClr val="A0AAB8"/>
                </a:solidFill>
                <a:latin typeface="Calibri"/>
              </a:rPr>
              <a:t>Every tool call risk-classified before execution. High-risk ops require Commander approval.</a:t>
            </a:r>
          </a:p>
        </p:txBody>
      </p:sp>
      <p:sp>
        <p:nvSpPr>
          <p:cNvPr id="33" name="Rectangle 32"/>
          <p:cNvSpPr/>
          <p:nvPr/>
        </p:nvSpPr>
        <p:spPr>
          <a:xfrm>
            <a:off x="274320" y="3479292"/>
            <a:ext cx="5897880" cy="448056"/>
          </a:xfrm>
          <a:prstGeom prst="rect">
            <a:avLst/>
          </a:prstGeom>
          <a:solidFill>
            <a:srgbClr val="10162B"/>
          </a:solidFill>
          <a:ln w="8890">
            <a:solidFill>
              <a:srgbClr val="BD93F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274320" y="3479292"/>
            <a:ext cx="438912" cy="448056"/>
          </a:xfrm>
          <a:prstGeom prst="rect">
            <a:avLst/>
          </a:prstGeom>
          <a:solidFill>
            <a:srgbClr val="BD9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292608" y="3566160"/>
            <a:ext cx="402336" cy="274320"/>
          </a:xfrm>
          <a:prstGeom prst="rect">
            <a:avLst/>
          </a:prstGeom>
          <a:noFill/>
        </p:spPr>
        <p:txBody>
          <a:bodyPr wrap="square">
            <a:spAutoFit/>
          </a:bodyPr>
          <a:lstStyle/>
          <a:p>
            <a:pPr algn="ctr"/>
            <a:r>
              <a:rPr sz="1000" b="1" i="0">
                <a:solidFill>
                  <a:srgbClr val="0A0D1A"/>
                </a:solidFill>
                <a:latin typeface="Calibri"/>
              </a:rPr>
              <a:t>C6</a:t>
            </a:r>
          </a:p>
        </p:txBody>
      </p:sp>
      <p:sp>
        <p:nvSpPr>
          <p:cNvPr id="36" name="TextBox 35"/>
          <p:cNvSpPr txBox="1"/>
          <p:nvPr/>
        </p:nvSpPr>
        <p:spPr>
          <a:xfrm>
            <a:off x="804672" y="3515868"/>
            <a:ext cx="5321808" cy="201168"/>
          </a:xfrm>
          <a:prstGeom prst="rect">
            <a:avLst/>
          </a:prstGeom>
          <a:noFill/>
        </p:spPr>
        <p:txBody>
          <a:bodyPr wrap="square">
            <a:spAutoFit/>
          </a:bodyPr>
          <a:lstStyle/>
          <a:p>
            <a:pPr algn="l"/>
            <a:r>
              <a:rPr sz="1050" b="1" i="0">
                <a:solidFill>
                  <a:srgbClr val="FFFFFF"/>
                </a:solidFill>
                <a:latin typeface="Calibri"/>
              </a:rPr>
              <a:t>ASG-Backed Lossless Context Compaction</a:t>
            </a:r>
          </a:p>
        </p:txBody>
      </p:sp>
      <p:sp>
        <p:nvSpPr>
          <p:cNvPr id="37" name="TextBox 36"/>
          <p:cNvSpPr txBox="1"/>
          <p:nvPr/>
        </p:nvSpPr>
        <p:spPr>
          <a:xfrm>
            <a:off x="804672" y="3726180"/>
            <a:ext cx="5321808" cy="182880"/>
          </a:xfrm>
          <a:prstGeom prst="rect">
            <a:avLst/>
          </a:prstGeom>
          <a:noFill/>
        </p:spPr>
        <p:txBody>
          <a:bodyPr wrap="square">
            <a:spAutoFit/>
          </a:bodyPr>
          <a:lstStyle/>
          <a:p>
            <a:pPr algn="l"/>
            <a:r>
              <a:rPr sz="880" b="0" i="0">
                <a:solidFill>
                  <a:srgbClr val="A0AAB8"/>
                </a:solidFill>
                <a:latin typeface="Calibri"/>
              </a:rPr>
              <a:t>FullCompact compresses conversation history to near-zero without losing any findings — all live in the graph.</a:t>
            </a:r>
          </a:p>
        </p:txBody>
      </p:sp>
      <p:sp>
        <p:nvSpPr>
          <p:cNvPr id="38" name="Rectangle 37"/>
          <p:cNvSpPr/>
          <p:nvPr/>
        </p:nvSpPr>
        <p:spPr>
          <a:xfrm>
            <a:off x="6355080" y="987552"/>
            <a:ext cx="5669280" cy="448056"/>
          </a:xfrm>
          <a:prstGeom prst="rect">
            <a:avLst/>
          </a:prstGeom>
          <a:solidFill>
            <a:srgbClr val="0C1426"/>
          </a:solidFill>
          <a:ln w="889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6355080" y="987552"/>
            <a:ext cx="438912" cy="448056"/>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373368" y="1074420"/>
            <a:ext cx="402336" cy="274320"/>
          </a:xfrm>
          <a:prstGeom prst="rect">
            <a:avLst/>
          </a:prstGeom>
          <a:noFill/>
        </p:spPr>
        <p:txBody>
          <a:bodyPr wrap="square">
            <a:spAutoFit/>
          </a:bodyPr>
          <a:lstStyle/>
          <a:p>
            <a:pPr algn="ctr"/>
            <a:r>
              <a:rPr sz="1000" b="1" i="0">
                <a:solidFill>
                  <a:srgbClr val="0A0D1A"/>
                </a:solidFill>
                <a:latin typeface="Calibri"/>
              </a:rPr>
              <a:t>C7</a:t>
            </a:r>
          </a:p>
        </p:txBody>
      </p:sp>
      <p:sp>
        <p:nvSpPr>
          <p:cNvPr id="41" name="TextBox 40"/>
          <p:cNvSpPr txBox="1"/>
          <p:nvPr/>
        </p:nvSpPr>
        <p:spPr>
          <a:xfrm>
            <a:off x="6885432" y="1024128"/>
            <a:ext cx="5093208" cy="201168"/>
          </a:xfrm>
          <a:prstGeom prst="rect">
            <a:avLst/>
          </a:prstGeom>
          <a:noFill/>
        </p:spPr>
        <p:txBody>
          <a:bodyPr wrap="square">
            <a:spAutoFit/>
          </a:bodyPr>
          <a:lstStyle/>
          <a:p>
            <a:pPr algn="l"/>
            <a:r>
              <a:rPr sz="1050" b="1" i="0">
                <a:solidFill>
                  <a:srgbClr val="FFFFFF"/>
                </a:solidFill>
                <a:latin typeface="Calibri"/>
              </a:rPr>
              <a:t>Methodology-as-Configuration</a:t>
            </a:r>
          </a:p>
        </p:txBody>
      </p:sp>
      <p:sp>
        <p:nvSpPr>
          <p:cNvPr id="42" name="TextBox 41"/>
          <p:cNvSpPr txBox="1"/>
          <p:nvPr/>
        </p:nvSpPr>
        <p:spPr>
          <a:xfrm>
            <a:off x="6885432" y="1234440"/>
            <a:ext cx="5093208" cy="182880"/>
          </a:xfrm>
          <a:prstGeom prst="rect">
            <a:avLst/>
          </a:prstGeom>
          <a:noFill/>
        </p:spPr>
        <p:txBody>
          <a:bodyPr wrap="square">
            <a:spAutoFit/>
          </a:bodyPr>
          <a:lstStyle/>
          <a:p>
            <a:pPr algn="l"/>
            <a:r>
              <a:rPr sz="880" b="0" i="0">
                <a:solidFill>
                  <a:srgbClr val="A0AAB8"/>
                </a:solidFill>
                <a:latin typeface="Calibri"/>
              </a:rPr>
              <a:t>Commander's planning policy encoded as a versioned VAPT Protocol Prompt — swap methodologies without code changes.</a:t>
            </a:r>
          </a:p>
        </p:txBody>
      </p:sp>
      <p:sp>
        <p:nvSpPr>
          <p:cNvPr id="43" name="Rectangle 42"/>
          <p:cNvSpPr/>
          <p:nvPr/>
        </p:nvSpPr>
        <p:spPr>
          <a:xfrm>
            <a:off x="6355080" y="1485900"/>
            <a:ext cx="5669280" cy="448056"/>
          </a:xfrm>
          <a:prstGeom prst="rect">
            <a:avLst/>
          </a:prstGeom>
          <a:solidFill>
            <a:srgbClr val="10162B"/>
          </a:solidFill>
          <a:ln w="889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6355080" y="1485900"/>
            <a:ext cx="438912" cy="448056"/>
          </a:xfrm>
          <a:prstGeom prst="rect">
            <a:avLst/>
          </a:prstGeom>
          <a:solidFill>
            <a:srgbClr val="39FF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373368" y="1572768"/>
            <a:ext cx="402336" cy="274320"/>
          </a:xfrm>
          <a:prstGeom prst="rect">
            <a:avLst/>
          </a:prstGeom>
          <a:noFill/>
        </p:spPr>
        <p:txBody>
          <a:bodyPr wrap="square">
            <a:spAutoFit/>
          </a:bodyPr>
          <a:lstStyle/>
          <a:p>
            <a:pPr algn="ctr"/>
            <a:r>
              <a:rPr sz="1000" b="1" i="0">
                <a:solidFill>
                  <a:srgbClr val="0A0D1A"/>
                </a:solidFill>
                <a:latin typeface="Calibri"/>
              </a:rPr>
              <a:t>C8</a:t>
            </a:r>
          </a:p>
        </p:txBody>
      </p:sp>
      <p:sp>
        <p:nvSpPr>
          <p:cNvPr id="46" name="TextBox 45"/>
          <p:cNvSpPr txBox="1"/>
          <p:nvPr/>
        </p:nvSpPr>
        <p:spPr>
          <a:xfrm>
            <a:off x="6885432" y="1522476"/>
            <a:ext cx="5093208" cy="201168"/>
          </a:xfrm>
          <a:prstGeom prst="rect">
            <a:avLst/>
          </a:prstGeom>
          <a:noFill/>
        </p:spPr>
        <p:txBody>
          <a:bodyPr wrap="square">
            <a:spAutoFit/>
          </a:bodyPr>
          <a:lstStyle/>
          <a:p>
            <a:pPr algn="l"/>
            <a:r>
              <a:rPr sz="1050" b="1" i="0">
                <a:solidFill>
                  <a:srgbClr val="FFFFFF"/>
                </a:solidFill>
                <a:latin typeface="Calibri"/>
              </a:rPr>
              <a:t>Dual-Graph Termination Semantics</a:t>
            </a:r>
          </a:p>
        </p:txBody>
      </p:sp>
      <p:sp>
        <p:nvSpPr>
          <p:cNvPr id="47" name="TextBox 46"/>
          <p:cNvSpPr txBox="1"/>
          <p:nvPr/>
        </p:nvSpPr>
        <p:spPr>
          <a:xfrm>
            <a:off x="6885432" y="1732788"/>
            <a:ext cx="5093208" cy="182880"/>
          </a:xfrm>
          <a:prstGeom prst="rect">
            <a:avLst/>
          </a:prstGeom>
          <a:noFill/>
        </p:spPr>
        <p:txBody>
          <a:bodyPr wrap="square">
            <a:spAutoFit/>
          </a:bodyPr>
          <a:lstStyle/>
          <a:p>
            <a:pPr algn="l"/>
            <a:r>
              <a:rPr sz="880" b="0" i="0">
                <a:solidFill>
                  <a:srgbClr val="A0AAB8"/>
                </a:solidFill>
                <a:latin typeface="Calibri"/>
              </a:rPr>
              <a:t>Mission terminates when ASG is exhausted AND all APG chains reach terminal status — simultaneously.</a:t>
            </a:r>
          </a:p>
        </p:txBody>
      </p:sp>
      <p:sp>
        <p:nvSpPr>
          <p:cNvPr id="48" name="Rectangle 47"/>
          <p:cNvSpPr/>
          <p:nvPr/>
        </p:nvSpPr>
        <p:spPr>
          <a:xfrm>
            <a:off x="6355080" y="1984248"/>
            <a:ext cx="5669280" cy="448056"/>
          </a:xfrm>
          <a:prstGeom prst="rect">
            <a:avLst/>
          </a:prstGeom>
          <a:solidFill>
            <a:srgbClr val="0C1426"/>
          </a:solidFill>
          <a:ln w="889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6355080" y="1984248"/>
            <a:ext cx="438912" cy="448056"/>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373368" y="2071116"/>
            <a:ext cx="402336" cy="274320"/>
          </a:xfrm>
          <a:prstGeom prst="rect">
            <a:avLst/>
          </a:prstGeom>
          <a:noFill/>
        </p:spPr>
        <p:txBody>
          <a:bodyPr wrap="square">
            <a:spAutoFit/>
          </a:bodyPr>
          <a:lstStyle/>
          <a:p>
            <a:pPr algn="ctr"/>
            <a:r>
              <a:rPr sz="1000" b="1" i="0">
                <a:solidFill>
                  <a:srgbClr val="0A0D1A"/>
                </a:solidFill>
                <a:latin typeface="Calibri"/>
              </a:rPr>
              <a:t>C9</a:t>
            </a:r>
          </a:p>
        </p:txBody>
      </p:sp>
      <p:sp>
        <p:nvSpPr>
          <p:cNvPr id="51" name="TextBox 50"/>
          <p:cNvSpPr txBox="1"/>
          <p:nvPr/>
        </p:nvSpPr>
        <p:spPr>
          <a:xfrm>
            <a:off x="6885432" y="2020824"/>
            <a:ext cx="5093208" cy="201168"/>
          </a:xfrm>
          <a:prstGeom prst="rect">
            <a:avLst/>
          </a:prstGeom>
          <a:noFill/>
        </p:spPr>
        <p:txBody>
          <a:bodyPr wrap="square">
            <a:spAutoFit/>
          </a:bodyPr>
          <a:lstStyle/>
          <a:p>
            <a:pPr algn="l"/>
            <a:r>
              <a:rPr sz="1050" b="1" i="0">
                <a:solidFill>
                  <a:srgbClr val="FFFFFF"/>
                </a:solidFill>
                <a:latin typeface="Calibri"/>
              </a:rPr>
              <a:t>Live Vulnerability Intelligence Grounding</a:t>
            </a:r>
          </a:p>
        </p:txBody>
      </p:sp>
      <p:sp>
        <p:nvSpPr>
          <p:cNvPr id="52" name="TextBox 51"/>
          <p:cNvSpPr txBox="1"/>
          <p:nvPr/>
        </p:nvSpPr>
        <p:spPr>
          <a:xfrm>
            <a:off x="6885432" y="2231136"/>
            <a:ext cx="5093208" cy="182880"/>
          </a:xfrm>
          <a:prstGeom prst="rect">
            <a:avLst/>
          </a:prstGeom>
          <a:noFill/>
        </p:spPr>
        <p:txBody>
          <a:bodyPr wrap="square">
            <a:spAutoFit/>
          </a:bodyPr>
          <a:lstStyle/>
          <a:p>
            <a:pPr algn="l"/>
            <a:r>
              <a:rPr sz="880" b="0" i="0">
                <a:solidFill>
                  <a:srgbClr val="A0AAB8"/>
                </a:solidFill>
                <a:latin typeface="Calibri"/>
              </a:rPr>
              <a:t>Research Agent provides real-time CVE enrichment, PoC availability, exploit feasibility during active assessment.</a:t>
            </a:r>
          </a:p>
        </p:txBody>
      </p:sp>
      <p:sp>
        <p:nvSpPr>
          <p:cNvPr id="53" name="Rectangle 52"/>
          <p:cNvSpPr/>
          <p:nvPr/>
        </p:nvSpPr>
        <p:spPr>
          <a:xfrm>
            <a:off x="6355080" y="2482596"/>
            <a:ext cx="5669280" cy="448056"/>
          </a:xfrm>
          <a:prstGeom prst="rect">
            <a:avLst/>
          </a:prstGeom>
          <a:solidFill>
            <a:srgbClr val="10162B"/>
          </a:solidFill>
          <a:ln w="8890">
            <a:solidFill>
              <a:srgbClr val="00BF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6355080" y="2482596"/>
            <a:ext cx="438912" cy="448056"/>
          </a:xfrm>
          <a:prstGeom prst="rect">
            <a:avLst/>
          </a:prstGeom>
          <a:solidFill>
            <a:srgbClr val="00BF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6373368" y="2569464"/>
            <a:ext cx="402336" cy="274320"/>
          </a:xfrm>
          <a:prstGeom prst="rect">
            <a:avLst/>
          </a:prstGeom>
          <a:noFill/>
        </p:spPr>
        <p:txBody>
          <a:bodyPr wrap="square">
            <a:spAutoFit/>
          </a:bodyPr>
          <a:lstStyle/>
          <a:p>
            <a:pPr algn="ctr"/>
            <a:r>
              <a:rPr sz="1000" b="1" i="0">
                <a:solidFill>
                  <a:srgbClr val="0A0D1A"/>
                </a:solidFill>
                <a:latin typeface="Calibri"/>
              </a:rPr>
              <a:t>C10</a:t>
            </a:r>
          </a:p>
        </p:txBody>
      </p:sp>
      <p:sp>
        <p:nvSpPr>
          <p:cNvPr id="56" name="TextBox 55"/>
          <p:cNvSpPr txBox="1"/>
          <p:nvPr/>
        </p:nvSpPr>
        <p:spPr>
          <a:xfrm>
            <a:off x="6885432" y="2519172"/>
            <a:ext cx="5093208" cy="201168"/>
          </a:xfrm>
          <a:prstGeom prst="rect">
            <a:avLst/>
          </a:prstGeom>
          <a:noFill/>
        </p:spPr>
        <p:txBody>
          <a:bodyPr wrap="square">
            <a:spAutoFit/>
          </a:bodyPr>
          <a:lstStyle/>
          <a:p>
            <a:pPr algn="l"/>
            <a:r>
              <a:rPr sz="1050" b="1" i="0">
                <a:solidFill>
                  <a:srgbClr val="FFFFFF"/>
                </a:solidFill>
                <a:latin typeface="Calibri"/>
              </a:rPr>
              <a:t>Cross-Mission Experience Store</a:t>
            </a:r>
          </a:p>
        </p:txBody>
      </p:sp>
      <p:sp>
        <p:nvSpPr>
          <p:cNvPr id="57" name="TextBox 56"/>
          <p:cNvSpPr txBox="1"/>
          <p:nvPr/>
        </p:nvSpPr>
        <p:spPr>
          <a:xfrm>
            <a:off x="6885432" y="2729484"/>
            <a:ext cx="5093208" cy="182880"/>
          </a:xfrm>
          <a:prstGeom prst="rect">
            <a:avLst/>
          </a:prstGeom>
          <a:noFill/>
        </p:spPr>
        <p:txBody>
          <a:bodyPr wrap="square">
            <a:spAutoFit/>
          </a:bodyPr>
          <a:lstStyle/>
          <a:p>
            <a:pPr algn="l"/>
            <a:r>
              <a:rPr sz="880" b="0" i="0">
                <a:solidFill>
                  <a:srgbClr val="A0AAB8"/>
                </a:solidFill>
                <a:latin typeface="Calibri"/>
              </a:rPr>
              <a:t>Persistent RAG-backed store of validated exploitation outcomes queried at mission start to seed chain hypotheses.</a:t>
            </a:r>
          </a:p>
        </p:txBody>
      </p:sp>
      <p:sp>
        <p:nvSpPr>
          <p:cNvPr id="58" name="Rectangle 57"/>
          <p:cNvSpPr/>
          <p:nvPr/>
        </p:nvSpPr>
        <p:spPr>
          <a:xfrm>
            <a:off x="6355080" y="2980944"/>
            <a:ext cx="5669280" cy="448056"/>
          </a:xfrm>
          <a:prstGeom prst="rect">
            <a:avLst/>
          </a:prstGeom>
          <a:solidFill>
            <a:srgbClr val="0C1426"/>
          </a:solidFill>
          <a:ln w="889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6355080" y="2980944"/>
            <a:ext cx="438912" cy="448056"/>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6373368" y="3067812"/>
            <a:ext cx="402336" cy="274320"/>
          </a:xfrm>
          <a:prstGeom prst="rect">
            <a:avLst/>
          </a:prstGeom>
          <a:noFill/>
        </p:spPr>
        <p:txBody>
          <a:bodyPr wrap="square">
            <a:spAutoFit/>
          </a:bodyPr>
          <a:lstStyle/>
          <a:p>
            <a:pPr algn="ctr"/>
            <a:r>
              <a:rPr sz="1000" b="1" i="0">
                <a:solidFill>
                  <a:srgbClr val="0A0D1A"/>
                </a:solidFill>
                <a:latin typeface="Calibri"/>
              </a:rPr>
              <a:t>C11</a:t>
            </a:r>
          </a:p>
        </p:txBody>
      </p:sp>
      <p:sp>
        <p:nvSpPr>
          <p:cNvPr id="61" name="TextBox 60"/>
          <p:cNvSpPr txBox="1"/>
          <p:nvPr/>
        </p:nvSpPr>
        <p:spPr>
          <a:xfrm>
            <a:off x="6885432" y="3017520"/>
            <a:ext cx="5093208" cy="201168"/>
          </a:xfrm>
          <a:prstGeom prst="rect">
            <a:avLst/>
          </a:prstGeom>
          <a:noFill/>
        </p:spPr>
        <p:txBody>
          <a:bodyPr wrap="square">
            <a:spAutoFit/>
          </a:bodyPr>
          <a:lstStyle/>
          <a:p>
            <a:pPr algn="l"/>
            <a:r>
              <a:rPr sz="1050" b="1" i="0">
                <a:solidFill>
                  <a:srgbClr val="FFFFFF"/>
                </a:solidFill>
                <a:latin typeface="Calibri"/>
              </a:rPr>
              <a:t>Attack Strategy Library with Crystallization</a:t>
            </a:r>
          </a:p>
        </p:txBody>
      </p:sp>
      <p:sp>
        <p:nvSpPr>
          <p:cNvPr id="62" name="TextBox 61"/>
          <p:cNvSpPr txBox="1"/>
          <p:nvPr/>
        </p:nvSpPr>
        <p:spPr>
          <a:xfrm>
            <a:off x="6885432" y="3227832"/>
            <a:ext cx="5093208" cy="182880"/>
          </a:xfrm>
          <a:prstGeom prst="rect">
            <a:avLst/>
          </a:prstGeom>
          <a:noFill/>
        </p:spPr>
        <p:txBody>
          <a:bodyPr wrap="square">
            <a:spAutoFit/>
          </a:bodyPr>
          <a:lstStyle/>
          <a:p>
            <a:pPr algn="l"/>
            <a:r>
              <a:rPr sz="880" b="0" i="0">
                <a:solidFill>
                  <a:srgbClr val="A0AAB8"/>
                </a:solidFill>
                <a:latin typeface="Calibri"/>
              </a:rPr>
              <a:t>Generalizes validated chains into named, parameterized strategies indexed by technology fingerprint + confidence score.</a:t>
            </a:r>
          </a:p>
        </p:txBody>
      </p:sp>
      <p:sp>
        <p:nvSpPr>
          <p:cNvPr id="63" name="Rectangle 62"/>
          <p:cNvSpPr/>
          <p:nvPr/>
        </p:nvSpPr>
        <p:spPr>
          <a:xfrm>
            <a:off x="6355080" y="3479292"/>
            <a:ext cx="5669280" cy="448056"/>
          </a:xfrm>
          <a:prstGeom prst="rect">
            <a:avLst/>
          </a:prstGeom>
          <a:solidFill>
            <a:srgbClr val="10162B"/>
          </a:solidFill>
          <a:ln w="8890">
            <a:solidFill>
              <a:srgbClr val="BD93F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6355080" y="3479292"/>
            <a:ext cx="438912" cy="448056"/>
          </a:xfrm>
          <a:prstGeom prst="rect">
            <a:avLst/>
          </a:prstGeom>
          <a:solidFill>
            <a:srgbClr val="BD9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6373368" y="3566160"/>
            <a:ext cx="402336" cy="274320"/>
          </a:xfrm>
          <a:prstGeom prst="rect">
            <a:avLst/>
          </a:prstGeom>
          <a:noFill/>
        </p:spPr>
        <p:txBody>
          <a:bodyPr wrap="square">
            <a:spAutoFit/>
          </a:bodyPr>
          <a:lstStyle/>
          <a:p>
            <a:pPr algn="ctr"/>
            <a:r>
              <a:rPr sz="1000" b="1" i="0">
                <a:solidFill>
                  <a:srgbClr val="0A0D1A"/>
                </a:solidFill>
                <a:latin typeface="Calibri"/>
              </a:rPr>
              <a:t>C12</a:t>
            </a:r>
          </a:p>
        </p:txBody>
      </p:sp>
      <p:sp>
        <p:nvSpPr>
          <p:cNvPr id="66" name="TextBox 65"/>
          <p:cNvSpPr txBox="1"/>
          <p:nvPr/>
        </p:nvSpPr>
        <p:spPr>
          <a:xfrm>
            <a:off x="6885432" y="3515868"/>
            <a:ext cx="5093208" cy="201168"/>
          </a:xfrm>
          <a:prstGeom prst="rect">
            <a:avLst/>
          </a:prstGeom>
          <a:noFill/>
        </p:spPr>
        <p:txBody>
          <a:bodyPr wrap="square">
            <a:spAutoFit/>
          </a:bodyPr>
          <a:lstStyle/>
          <a:p>
            <a:pPr algn="l"/>
            <a:r>
              <a:rPr sz="1050" b="1" i="0">
                <a:solidFill>
                  <a:srgbClr val="FFFFFF"/>
                </a:solidFill>
                <a:latin typeface="Calibri"/>
              </a:rPr>
              <a:t>Structured Engagement Trajectory Export</a:t>
            </a:r>
          </a:p>
        </p:txBody>
      </p:sp>
      <p:sp>
        <p:nvSpPr>
          <p:cNvPr id="67" name="TextBox 66"/>
          <p:cNvSpPr txBox="1"/>
          <p:nvPr/>
        </p:nvSpPr>
        <p:spPr>
          <a:xfrm>
            <a:off x="6885432" y="3726180"/>
            <a:ext cx="5093208" cy="182880"/>
          </a:xfrm>
          <a:prstGeom prst="rect">
            <a:avLst/>
          </a:prstGeom>
          <a:noFill/>
        </p:spPr>
        <p:txBody>
          <a:bodyPr wrap="square">
            <a:spAutoFit/>
          </a:bodyPr>
          <a:lstStyle/>
          <a:p>
            <a:pPr algn="l"/>
            <a:r>
              <a:rPr sz="880" b="0" i="0">
                <a:solidFill>
                  <a:srgbClr val="A0AAB8"/>
                </a:solidFill>
                <a:latin typeface="Calibri"/>
              </a:rPr>
              <a:t>Complete machine-readable decision log per mission — enables reproducibility, ablation studies, and dataset generation.</a:t>
            </a:r>
          </a:p>
        </p:txBody>
      </p:sp>
      <p:sp>
        <p:nvSpPr>
          <p:cNvPr id="68" name="Rectangle 67"/>
          <p:cNvSpPr/>
          <p:nvPr/>
        </p:nvSpPr>
        <p:spPr>
          <a:xfrm>
            <a:off x="6236208" y="987552"/>
            <a:ext cx="27432" cy="2939796"/>
          </a:xfrm>
          <a:prstGeom prst="rect">
            <a:avLst/>
          </a:prstGeom>
          <a:solidFill>
            <a:srgbClr val="A0AA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274320" y="4069080"/>
            <a:ext cx="11643055" cy="530352"/>
          </a:xfrm>
          <a:prstGeom prst="rect">
            <a:avLst/>
          </a:prstGeom>
          <a:solidFill>
            <a:srgbClr val="061224"/>
          </a:solidFill>
          <a:ln w="1524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502920" y="4160520"/>
            <a:ext cx="11277295" cy="347472"/>
          </a:xfrm>
          <a:prstGeom prst="rect">
            <a:avLst/>
          </a:prstGeom>
          <a:noFill/>
        </p:spPr>
        <p:txBody>
          <a:bodyPr wrap="square">
            <a:spAutoFit/>
          </a:bodyPr>
          <a:lstStyle/>
          <a:p>
            <a:pPr algn="l"/>
            <a:r>
              <a:rPr sz="1300" b="0" i="1">
                <a:solidFill>
                  <a:srgbClr val="00E5FF"/>
                </a:solidFill>
                <a:latin typeface="Calibri"/>
              </a:rPr>
              <a:t>Each contribution is independently evaluable and independently publishable.  Together they form a unified architecture that no existing VAPT system implements.</a:t>
            </a:r>
          </a:p>
        </p:txBody>
      </p:sp>
      <p:sp>
        <p:nvSpPr>
          <p:cNvPr id="71" name="TextBox 70"/>
          <p:cNvSpPr txBox="1"/>
          <p:nvPr/>
        </p:nvSpPr>
        <p:spPr>
          <a:xfrm>
            <a:off x="11825935" y="6355080"/>
            <a:ext cx="320040" cy="411480"/>
          </a:xfrm>
          <a:prstGeom prst="rect">
            <a:avLst/>
          </a:prstGeom>
          <a:noFill/>
        </p:spPr>
        <p:txBody>
          <a:bodyPr wrap="square">
            <a:spAutoFit/>
          </a:bodyPr>
          <a:lstStyle/>
          <a:p>
            <a:pPr algn="r"/>
            <a:r>
              <a:rPr sz="1300" b="1" i="0">
                <a:solidFill>
                  <a:srgbClr val="00E5FF"/>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A0D1A"/>
        </a:solidFill>
        <a:effectLst/>
      </p:bgPr>
    </p:bg>
    <p:spTree>
      <p:nvGrpSpPr>
        <p:cNvPr id="1" name=""/>
        <p:cNvGrpSpPr/>
        <p:nvPr/>
      </p:nvGrpSpPr>
      <p:grpSpPr/>
      <p:sp>
        <p:nvSpPr>
          <p:cNvPr id="2" name="Rectangle 1"/>
          <p:cNvSpPr/>
          <p:nvPr/>
        </p:nvSpPr>
        <p:spPr>
          <a:xfrm>
            <a:off x="0" y="0"/>
            <a:ext cx="54864" cy="6858000"/>
          </a:xfrm>
          <a:prstGeom prst="rect">
            <a:avLst/>
          </a:prstGeom>
          <a:solidFill>
            <a:srgbClr val="BD9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 y="0"/>
            <a:ext cx="12136831" cy="36576"/>
          </a:xfrm>
          <a:prstGeom prst="rect">
            <a:avLst/>
          </a:prstGeom>
          <a:solidFill>
            <a:srgbClr val="BD9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 y="6821424"/>
            <a:ext cx="12136831" cy="36576"/>
          </a:xfrm>
          <a:prstGeom prst="rect">
            <a:avLst/>
          </a:prstGeom>
          <a:solidFill>
            <a:srgbClr val="BD9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54864"/>
            <a:ext cx="7315200" cy="274320"/>
          </a:xfrm>
          <a:prstGeom prst="rect">
            <a:avLst/>
          </a:prstGeom>
          <a:noFill/>
        </p:spPr>
        <p:txBody>
          <a:bodyPr wrap="square">
            <a:spAutoFit/>
          </a:bodyPr>
          <a:lstStyle/>
          <a:p>
            <a:pPr algn="l"/>
            <a:r>
              <a:rPr sz="1100" b="1" i="0">
                <a:solidFill>
                  <a:srgbClr val="BD93F9"/>
                </a:solidFill>
                <a:latin typeface="Calibri"/>
              </a:rPr>
              <a:t>INSPIRATIONS &amp; REFERENCES</a:t>
            </a:r>
          </a:p>
        </p:txBody>
      </p:sp>
      <p:sp>
        <p:nvSpPr>
          <p:cNvPr id="6" name="TextBox 5"/>
          <p:cNvSpPr txBox="1"/>
          <p:nvPr/>
        </p:nvSpPr>
        <p:spPr>
          <a:xfrm>
            <a:off x="274320" y="329184"/>
            <a:ext cx="11430000" cy="548640"/>
          </a:xfrm>
          <a:prstGeom prst="rect">
            <a:avLst/>
          </a:prstGeom>
          <a:noFill/>
        </p:spPr>
        <p:txBody>
          <a:bodyPr wrap="square">
            <a:spAutoFit/>
          </a:bodyPr>
          <a:lstStyle/>
          <a:p>
            <a:pPr algn="l"/>
            <a:r>
              <a:rPr sz="2600" b="1" i="0">
                <a:solidFill>
                  <a:srgbClr val="FFFFFF"/>
                </a:solidFill>
                <a:latin typeface="Calibri"/>
              </a:rPr>
              <a:t>Academic Papers + Open-Source Repositories That Shaped CMatrix</a:t>
            </a:r>
          </a:p>
        </p:txBody>
      </p:sp>
      <p:sp>
        <p:nvSpPr>
          <p:cNvPr id="7" name="Rectangle 6"/>
          <p:cNvSpPr/>
          <p:nvPr/>
        </p:nvSpPr>
        <p:spPr>
          <a:xfrm>
            <a:off x="274320" y="896112"/>
            <a:ext cx="6400800" cy="27432"/>
          </a:xfrm>
          <a:prstGeom prst="rect">
            <a:avLst/>
          </a:prstGeom>
          <a:solidFill>
            <a:srgbClr val="BD9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74320" y="987552"/>
            <a:ext cx="5897880" cy="1024128"/>
          </a:xfrm>
          <a:prstGeom prst="rect">
            <a:avLst/>
          </a:prstGeom>
          <a:solidFill>
            <a:srgbClr val="10162B"/>
          </a:solidFill>
          <a:ln w="1270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74320" y="987552"/>
            <a:ext cx="347472" cy="1024128"/>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2608" y="1362456"/>
            <a:ext cx="310896" cy="274320"/>
          </a:xfrm>
          <a:prstGeom prst="rect">
            <a:avLst/>
          </a:prstGeom>
          <a:noFill/>
        </p:spPr>
        <p:txBody>
          <a:bodyPr wrap="square">
            <a:spAutoFit/>
          </a:bodyPr>
          <a:lstStyle/>
          <a:p>
            <a:pPr algn="ctr"/>
            <a:r>
              <a:rPr sz="1100" b="1" i="0">
                <a:solidFill>
                  <a:srgbClr val="0A0D1A"/>
                </a:solidFill>
                <a:latin typeface="Calibri"/>
              </a:rPr>
              <a:t>1</a:t>
            </a:r>
          </a:p>
        </p:txBody>
      </p:sp>
      <p:sp>
        <p:nvSpPr>
          <p:cNvPr id="11" name="TextBox 10"/>
          <p:cNvSpPr txBox="1"/>
          <p:nvPr/>
        </p:nvSpPr>
        <p:spPr>
          <a:xfrm>
            <a:off x="713232" y="1042416"/>
            <a:ext cx="5413248" cy="228600"/>
          </a:xfrm>
          <a:prstGeom prst="rect">
            <a:avLst/>
          </a:prstGeom>
          <a:noFill/>
        </p:spPr>
        <p:txBody>
          <a:bodyPr wrap="square">
            <a:spAutoFit/>
          </a:bodyPr>
          <a:lstStyle/>
          <a:p>
            <a:pPr algn="l"/>
            <a:r>
              <a:rPr sz="1150" b="1" i="0">
                <a:solidFill>
                  <a:srgbClr val="00E5FF"/>
                </a:solidFill>
                <a:latin typeface="Calibri"/>
              </a:rPr>
              <a:t>PentestGPT</a:t>
            </a:r>
          </a:p>
        </p:txBody>
      </p:sp>
      <p:sp>
        <p:nvSpPr>
          <p:cNvPr id="12" name="TextBox 11"/>
          <p:cNvSpPr txBox="1"/>
          <p:nvPr/>
        </p:nvSpPr>
        <p:spPr>
          <a:xfrm>
            <a:off x="713232" y="1261872"/>
            <a:ext cx="5413248" cy="182880"/>
          </a:xfrm>
          <a:prstGeom prst="rect">
            <a:avLst/>
          </a:prstGeom>
          <a:noFill/>
        </p:spPr>
        <p:txBody>
          <a:bodyPr wrap="square">
            <a:spAutoFit/>
          </a:bodyPr>
          <a:lstStyle/>
          <a:p>
            <a:pPr algn="l"/>
            <a:r>
              <a:rPr sz="850" b="0" i="1">
                <a:solidFill>
                  <a:srgbClr val="A0AAB8"/>
                </a:solidFill>
                <a:latin typeface="Calibri"/>
              </a:rPr>
              <a:t>USENIX Security '24</a:t>
            </a:r>
          </a:p>
        </p:txBody>
      </p:sp>
      <p:sp>
        <p:nvSpPr>
          <p:cNvPr id="13" name="TextBox 12"/>
          <p:cNvSpPr txBox="1"/>
          <p:nvPr/>
        </p:nvSpPr>
        <p:spPr>
          <a:xfrm>
            <a:off x="713232" y="1444752"/>
            <a:ext cx="5413248" cy="292608"/>
          </a:xfrm>
          <a:prstGeom prst="rect">
            <a:avLst/>
          </a:prstGeom>
          <a:noFill/>
        </p:spPr>
        <p:txBody>
          <a:bodyPr wrap="square">
            <a:spAutoFit/>
          </a:bodyPr>
          <a:lstStyle/>
          <a:p>
            <a:pPr algn="l"/>
            <a:r>
              <a:rPr sz="850" b="0" i="0">
                <a:solidFill>
                  <a:srgbClr val="A0AAB8"/>
                </a:solidFill>
                <a:latin typeface="Calibri"/>
              </a:rPr>
              <a:t>Tripartite Reasoning / Generation / Parsing architecture.
Pentesting Task Tree memory for long-session context.</a:t>
            </a:r>
          </a:p>
        </p:txBody>
      </p:sp>
      <p:sp>
        <p:nvSpPr>
          <p:cNvPr id="14" name="Rectangle 13"/>
          <p:cNvSpPr/>
          <p:nvPr/>
        </p:nvSpPr>
        <p:spPr>
          <a:xfrm>
            <a:off x="694944" y="1810512"/>
            <a:ext cx="5404104" cy="164592"/>
          </a:xfrm>
          <a:prstGeom prst="rect">
            <a:avLst/>
          </a:prstGeom>
          <a:solidFill>
            <a:srgbClr val="0618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1819656"/>
            <a:ext cx="5367528" cy="164592"/>
          </a:xfrm>
          <a:prstGeom prst="rect">
            <a:avLst/>
          </a:prstGeom>
          <a:noFill/>
        </p:spPr>
        <p:txBody>
          <a:bodyPr wrap="none">
            <a:spAutoFit/>
          </a:bodyPr>
          <a:lstStyle/>
          <a:p>
            <a:pPr algn="l"/>
            <a:r>
              <a:rPr sz="800" b="1" i="0">
                <a:solidFill>
                  <a:srgbClr val="39FF14"/>
                </a:solidFill>
                <a:latin typeface="Calibri"/>
              </a:rPr>
              <a:t>CMatrix:  Tool Adapter Layer (parse before you reason) + MicroCompact permanent graph state.</a:t>
            </a:r>
          </a:p>
        </p:txBody>
      </p:sp>
      <p:sp>
        <p:nvSpPr>
          <p:cNvPr id="16" name="Rectangle 15"/>
          <p:cNvSpPr/>
          <p:nvPr/>
        </p:nvSpPr>
        <p:spPr>
          <a:xfrm>
            <a:off x="274320" y="2066544"/>
            <a:ext cx="5897880" cy="1024128"/>
          </a:xfrm>
          <a:prstGeom prst="rect">
            <a:avLst/>
          </a:prstGeom>
          <a:solidFill>
            <a:srgbClr val="10162B"/>
          </a:solidFill>
          <a:ln w="1270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74320" y="2066544"/>
            <a:ext cx="347472" cy="1024128"/>
          </a:xfrm>
          <a:prstGeom prst="rect">
            <a:avLst/>
          </a:prstGeom>
          <a:solidFill>
            <a:srgbClr val="39FF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92608" y="2441448"/>
            <a:ext cx="310896" cy="274320"/>
          </a:xfrm>
          <a:prstGeom prst="rect">
            <a:avLst/>
          </a:prstGeom>
          <a:noFill/>
        </p:spPr>
        <p:txBody>
          <a:bodyPr wrap="square">
            <a:spAutoFit/>
          </a:bodyPr>
          <a:lstStyle/>
          <a:p>
            <a:pPr algn="ctr"/>
            <a:r>
              <a:rPr sz="1100" b="1" i="0">
                <a:solidFill>
                  <a:srgbClr val="0A0D1A"/>
                </a:solidFill>
                <a:latin typeface="Calibri"/>
              </a:rPr>
              <a:t>2</a:t>
            </a:r>
          </a:p>
        </p:txBody>
      </p:sp>
      <p:sp>
        <p:nvSpPr>
          <p:cNvPr id="19" name="TextBox 18"/>
          <p:cNvSpPr txBox="1"/>
          <p:nvPr/>
        </p:nvSpPr>
        <p:spPr>
          <a:xfrm>
            <a:off x="713232" y="2121408"/>
            <a:ext cx="5413248" cy="228600"/>
          </a:xfrm>
          <a:prstGeom prst="rect">
            <a:avLst/>
          </a:prstGeom>
          <a:noFill/>
        </p:spPr>
        <p:txBody>
          <a:bodyPr wrap="square">
            <a:spAutoFit/>
          </a:bodyPr>
          <a:lstStyle/>
          <a:p>
            <a:pPr algn="l"/>
            <a:r>
              <a:rPr sz="1150" b="1" i="0">
                <a:solidFill>
                  <a:srgbClr val="39FF14"/>
                </a:solidFill>
                <a:latin typeface="Calibri"/>
              </a:rPr>
              <a:t>AutoAttacker</a:t>
            </a:r>
          </a:p>
        </p:txBody>
      </p:sp>
      <p:sp>
        <p:nvSpPr>
          <p:cNvPr id="20" name="TextBox 19"/>
          <p:cNvSpPr txBox="1"/>
          <p:nvPr/>
        </p:nvSpPr>
        <p:spPr>
          <a:xfrm>
            <a:off x="713232" y="2340864"/>
            <a:ext cx="5413248" cy="182880"/>
          </a:xfrm>
          <a:prstGeom prst="rect">
            <a:avLst/>
          </a:prstGeom>
          <a:noFill/>
        </p:spPr>
        <p:txBody>
          <a:bodyPr wrap="square">
            <a:spAutoFit/>
          </a:bodyPr>
          <a:lstStyle/>
          <a:p>
            <a:pPr algn="l"/>
            <a:r>
              <a:rPr sz="850" b="0" i="1">
                <a:solidFill>
                  <a:srgbClr val="A0AAB8"/>
                </a:solidFill>
                <a:latin typeface="Calibri"/>
              </a:rPr>
              <a:t>arXiv '24  — Xu et al.</a:t>
            </a:r>
          </a:p>
        </p:txBody>
      </p:sp>
      <p:sp>
        <p:nvSpPr>
          <p:cNvPr id="21" name="TextBox 20"/>
          <p:cNvSpPr txBox="1"/>
          <p:nvPr/>
        </p:nvSpPr>
        <p:spPr>
          <a:xfrm>
            <a:off x="713232" y="2523744"/>
            <a:ext cx="5413248" cy="292608"/>
          </a:xfrm>
          <a:prstGeom prst="rect">
            <a:avLst/>
          </a:prstGeom>
          <a:noFill/>
        </p:spPr>
        <p:txBody>
          <a:bodyPr wrap="square">
            <a:spAutoFit/>
          </a:bodyPr>
          <a:lstStyle/>
          <a:p>
            <a:pPr algn="l"/>
            <a:r>
              <a:rPr sz="850" b="0" i="0">
                <a:solidFill>
                  <a:srgbClr val="A0AAB8"/>
                </a:solidFill>
                <a:latin typeface="Calibri"/>
              </a:rPr>
              <a:t>Modular planner / summarizer / code-generator for post-breach automation.
Experience manager stores + reuses attack subtasks within one mission.</a:t>
            </a:r>
          </a:p>
        </p:txBody>
      </p:sp>
      <p:sp>
        <p:nvSpPr>
          <p:cNvPr id="22" name="Rectangle 21"/>
          <p:cNvSpPr/>
          <p:nvPr/>
        </p:nvSpPr>
        <p:spPr>
          <a:xfrm>
            <a:off x="694944" y="2889504"/>
            <a:ext cx="5404104" cy="164592"/>
          </a:xfrm>
          <a:prstGeom prst="rect">
            <a:avLst/>
          </a:prstGeom>
          <a:solidFill>
            <a:srgbClr val="0618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2898648"/>
            <a:ext cx="5367528" cy="164592"/>
          </a:xfrm>
          <a:prstGeom prst="rect">
            <a:avLst/>
          </a:prstGeom>
          <a:noFill/>
        </p:spPr>
        <p:txBody>
          <a:bodyPr wrap="none">
            <a:spAutoFit/>
          </a:bodyPr>
          <a:lstStyle/>
          <a:p>
            <a:pPr algn="l"/>
            <a:r>
              <a:rPr sz="800" b="1" i="0">
                <a:solidFill>
                  <a:srgbClr val="39FF14"/>
                </a:solidFill>
                <a:latin typeface="Calibri"/>
              </a:rPr>
              <a:t>CMatrix:  Cross-Mission Experience Store (C10) — generalizes reuse to cross-mission scope.</a:t>
            </a:r>
          </a:p>
        </p:txBody>
      </p:sp>
      <p:sp>
        <p:nvSpPr>
          <p:cNvPr id="24" name="Rectangle 23"/>
          <p:cNvSpPr/>
          <p:nvPr/>
        </p:nvSpPr>
        <p:spPr>
          <a:xfrm>
            <a:off x="274320" y="3145536"/>
            <a:ext cx="5897880" cy="1024128"/>
          </a:xfrm>
          <a:prstGeom prst="rect">
            <a:avLst/>
          </a:prstGeom>
          <a:solidFill>
            <a:srgbClr val="10162B"/>
          </a:solidFill>
          <a:ln w="1270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274320" y="3145536"/>
            <a:ext cx="347472" cy="1024128"/>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92608" y="3520440"/>
            <a:ext cx="310896" cy="274320"/>
          </a:xfrm>
          <a:prstGeom prst="rect">
            <a:avLst/>
          </a:prstGeom>
          <a:noFill/>
        </p:spPr>
        <p:txBody>
          <a:bodyPr wrap="square">
            <a:spAutoFit/>
          </a:bodyPr>
          <a:lstStyle/>
          <a:p>
            <a:pPr algn="ctr"/>
            <a:r>
              <a:rPr sz="1100" b="1" i="0">
                <a:solidFill>
                  <a:srgbClr val="0A0D1A"/>
                </a:solidFill>
                <a:latin typeface="Calibri"/>
              </a:rPr>
              <a:t>3</a:t>
            </a:r>
          </a:p>
        </p:txBody>
      </p:sp>
      <p:sp>
        <p:nvSpPr>
          <p:cNvPr id="27" name="TextBox 26"/>
          <p:cNvSpPr txBox="1"/>
          <p:nvPr/>
        </p:nvSpPr>
        <p:spPr>
          <a:xfrm>
            <a:off x="713232" y="3200400"/>
            <a:ext cx="5413248" cy="228600"/>
          </a:xfrm>
          <a:prstGeom prst="rect">
            <a:avLst/>
          </a:prstGeom>
          <a:noFill/>
        </p:spPr>
        <p:txBody>
          <a:bodyPr wrap="square">
            <a:spAutoFit/>
          </a:bodyPr>
          <a:lstStyle/>
          <a:p>
            <a:pPr algn="l"/>
            <a:r>
              <a:rPr sz="1150" b="1" i="0">
                <a:solidFill>
                  <a:srgbClr val="FFD700"/>
                </a:solidFill>
                <a:latin typeface="Calibri"/>
              </a:rPr>
              <a:t>Teams of LLM Agents (HPTSA)</a:t>
            </a:r>
          </a:p>
        </p:txBody>
      </p:sp>
      <p:sp>
        <p:nvSpPr>
          <p:cNvPr id="28" name="TextBox 27"/>
          <p:cNvSpPr txBox="1"/>
          <p:nvPr/>
        </p:nvSpPr>
        <p:spPr>
          <a:xfrm>
            <a:off x="713232" y="3419856"/>
            <a:ext cx="5413248" cy="182880"/>
          </a:xfrm>
          <a:prstGeom prst="rect">
            <a:avLst/>
          </a:prstGeom>
          <a:noFill/>
        </p:spPr>
        <p:txBody>
          <a:bodyPr wrap="square">
            <a:spAutoFit/>
          </a:bodyPr>
          <a:lstStyle/>
          <a:p>
            <a:pPr algn="l"/>
            <a:r>
              <a:rPr sz="850" b="0" i="1">
                <a:solidFill>
                  <a:srgbClr val="A0AAB8"/>
                </a:solidFill>
                <a:latin typeface="Calibri"/>
              </a:rPr>
              <a:t>arXiv '24  — Zhu et al.</a:t>
            </a:r>
          </a:p>
        </p:txBody>
      </p:sp>
      <p:sp>
        <p:nvSpPr>
          <p:cNvPr id="29" name="TextBox 28"/>
          <p:cNvSpPr txBox="1"/>
          <p:nvPr/>
        </p:nvSpPr>
        <p:spPr>
          <a:xfrm>
            <a:off x="713232" y="3602736"/>
            <a:ext cx="5413248" cy="292608"/>
          </a:xfrm>
          <a:prstGeom prst="rect">
            <a:avLst/>
          </a:prstGeom>
          <a:noFill/>
        </p:spPr>
        <p:txBody>
          <a:bodyPr wrap="square">
            <a:spAutoFit/>
          </a:bodyPr>
          <a:lstStyle/>
          <a:p>
            <a:pPr algn="l"/>
            <a:r>
              <a:rPr sz="850" b="0" i="0">
                <a:solidFill>
                  <a:srgbClr val="A0AAB8"/>
                </a:solidFill>
                <a:latin typeface="Calibri"/>
              </a:rPr>
              <a:t>Hierarchical planner delegates to task-specific sub-agents.
Task-specific document injection improves zero-day exploitation by 2.1x.</a:t>
            </a:r>
          </a:p>
        </p:txBody>
      </p:sp>
      <p:sp>
        <p:nvSpPr>
          <p:cNvPr id="30" name="Rectangle 29"/>
          <p:cNvSpPr/>
          <p:nvPr/>
        </p:nvSpPr>
        <p:spPr>
          <a:xfrm>
            <a:off x="694944" y="3968496"/>
            <a:ext cx="5404104" cy="164592"/>
          </a:xfrm>
          <a:prstGeom prst="rect">
            <a:avLst/>
          </a:prstGeom>
          <a:solidFill>
            <a:srgbClr val="0618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3977640"/>
            <a:ext cx="5367528" cy="164592"/>
          </a:xfrm>
          <a:prstGeom prst="rect">
            <a:avLst/>
          </a:prstGeom>
          <a:noFill/>
        </p:spPr>
        <p:txBody>
          <a:bodyPr wrap="none">
            <a:spAutoFit/>
          </a:bodyPr>
          <a:lstStyle/>
          <a:p>
            <a:pPr algn="l"/>
            <a:r>
              <a:rPr sz="800" b="1" i="0">
                <a:solidFill>
                  <a:srgbClr val="39FF14"/>
                </a:solidFill>
                <a:latin typeface="Calibri"/>
              </a:rPr>
              <a:t>CMatrix:  Vulnerability-Class Knowledge Injection at agent spawn time (C3 / §7).</a:t>
            </a:r>
          </a:p>
        </p:txBody>
      </p:sp>
      <p:sp>
        <p:nvSpPr>
          <p:cNvPr id="32" name="Rectangle 31"/>
          <p:cNvSpPr/>
          <p:nvPr/>
        </p:nvSpPr>
        <p:spPr>
          <a:xfrm>
            <a:off x="274320" y="4224528"/>
            <a:ext cx="5897880" cy="1024128"/>
          </a:xfrm>
          <a:prstGeom prst="rect">
            <a:avLst/>
          </a:prstGeom>
          <a:solidFill>
            <a:srgbClr val="10162B"/>
          </a:solidFill>
          <a:ln w="12700">
            <a:solidFill>
              <a:srgbClr val="00BF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274320" y="4224528"/>
            <a:ext cx="347472" cy="1024128"/>
          </a:xfrm>
          <a:prstGeom prst="rect">
            <a:avLst/>
          </a:prstGeom>
          <a:solidFill>
            <a:srgbClr val="00BF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92608" y="4599432"/>
            <a:ext cx="310896" cy="274320"/>
          </a:xfrm>
          <a:prstGeom prst="rect">
            <a:avLst/>
          </a:prstGeom>
          <a:noFill/>
        </p:spPr>
        <p:txBody>
          <a:bodyPr wrap="square">
            <a:spAutoFit/>
          </a:bodyPr>
          <a:lstStyle/>
          <a:p>
            <a:pPr algn="ctr"/>
            <a:r>
              <a:rPr sz="1100" b="1" i="0">
                <a:solidFill>
                  <a:srgbClr val="0A0D1A"/>
                </a:solidFill>
                <a:latin typeface="Calibri"/>
              </a:rPr>
              <a:t>4</a:t>
            </a:r>
          </a:p>
        </p:txBody>
      </p:sp>
      <p:sp>
        <p:nvSpPr>
          <p:cNvPr id="35" name="TextBox 34"/>
          <p:cNvSpPr txBox="1"/>
          <p:nvPr/>
        </p:nvSpPr>
        <p:spPr>
          <a:xfrm>
            <a:off x="713232" y="4279392"/>
            <a:ext cx="5413248" cy="228600"/>
          </a:xfrm>
          <a:prstGeom prst="rect">
            <a:avLst/>
          </a:prstGeom>
          <a:noFill/>
        </p:spPr>
        <p:txBody>
          <a:bodyPr wrap="square">
            <a:spAutoFit/>
          </a:bodyPr>
          <a:lstStyle/>
          <a:p>
            <a:pPr algn="l"/>
            <a:r>
              <a:rPr sz="1150" b="1" i="0">
                <a:solidFill>
                  <a:srgbClr val="00BFD8"/>
                </a:solidFill>
                <a:latin typeface="Calibri"/>
              </a:rPr>
              <a:t>PentestAgent</a:t>
            </a:r>
          </a:p>
        </p:txBody>
      </p:sp>
      <p:sp>
        <p:nvSpPr>
          <p:cNvPr id="36" name="TextBox 35"/>
          <p:cNvSpPr txBox="1"/>
          <p:nvPr/>
        </p:nvSpPr>
        <p:spPr>
          <a:xfrm>
            <a:off x="713232" y="4498848"/>
            <a:ext cx="5413248" cy="182880"/>
          </a:xfrm>
          <a:prstGeom prst="rect">
            <a:avLst/>
          </a:prstGeom>
          <a:noFill/>
        </p:spPr>
        <p:txBody>
          <a:bodyPr wrap="square">
            <a:spAutoFit/>
          </a:bodyPr>
          <a:lstStyle/>
          <a:p>
            <a:pPr algn="l"/>
            <a:r>
              <a:rPr sz="850" b="0" i="1">
                <a:solidFill>
                  <a:srgbClr val="A0AAB8"/>
                </a:solidFill>
                <a:latin typeface="Calibri"/>
              </a:rPr>
              <a:t>AsiaCCS '25  — Shen et al.</a:t>
            </a:r>
          </a:p>
        </p:txBody>
      </p:sp>
      <p:sp>
        <p:nvSpPr>
          <p:cNvPr id="37" name="TextBox 36"/>
          <p:cNvSpPr txBox="1"/>
          <p:nvPr/>
        </p:nvSpPr>
        <p:spPr>
          <a:xfrm>
            <a:off x="713232" y="4681728"/>
            <a:ext cx="5413248" cy="292608"/>
          </a:xfrm>
          <a:prstGeom prst="rect">
            <a:avLst/>
          </a:prstGeom>
          <a:noFill/>
        </p:spPr>
        <p:txBody>
          <a:bodyPr wrap="square">
            <a:spAutoFit/>
          </a:bodyPr>
          <a:lstStyle/>
          <a:p>
            <a:pPr algn="l"/>
            <a:r>
              <a:rPr sz="850" b="0" i="0">
                <a:solidFill>
                  <a:srgbClr val="A0AAB8"/>
                </a:solidFill>
                <a:latin typeface="Calibri"/>
              </a:rPr>
              <a:t>Planning agent + RAG-backed shared memory.
Execution agent self-diagnoses failed exploit attempts before abandoning.</a:t>
            </a:r>
          </a:p>
        </p:txBody>
      </p:sp>
      <p:sp>
        <p:nvSpPr>
          <p:cNvPr id="38" name="Rectangle 37"/>
          <p:cNvSpPr/>
          <p:nvPr/>
        </p:nvSpPr>
        <p:spPr>
          <a:xfrm>
            <a:off x="694944" y="5047488"/>
            <a:ext cx="5404104" cy="164592"/>
          </a:xfrm>
          <a:prstGeom prst="rect">
            <a:avLst/>
          </a:prstGeom>
          <a:solidFill>
            <a:srgbClr val="0618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31520" y="5056632"/>
            <a:ext cx="5367528" cy="164592"/>
          </a:xfrm>
          <a:prstGeom prst="rect">
            <a:avLst/>
          </a:prstGeom>
          <a:noFill/>
        </p:spPr>
        <p:txBody>
          <a:bodyPr wrap="none">
            <a:spAutoFit/>
          </a:bodyPr>
          <a:lstStyle/>
          <a:p>
            <a:pPr algn="l"/>
            <a:r>
              <a:rPr sz="800" b="1" i="0">
                <a:solidFill>
                  <a:srgbClr val="39FF14"/>
                </a:solidFill>
                <a:latin typeface="Calibri"/>
              </a:rPr>
              <a:t>CMatrix:  Validation Agent self-debugging loop: Diagnose → Contextualize → Adapt → Cap.</a:t>
            </a:r>
          </a:p>
        </p:txBody>
      </p:sp>
      <p:sp>
        <p:nvSpPr>
          <p:cNvPr id="40" name="Rectangle 39"/>
          <p:cNvSpPr/>
          <p:nvPr/>
        </p:nvSpPr>
        <p:spPr>
          <a:xfrm>
            <a:off x="274320" y="5303520"/>
            <a:ext cx="5897880" cy="1024128"/>
          </a:xfrm>
          <a:prstGeom prst="rect">
            <a:avLst/>
          </a:prstGeom>
          <a:solidFill>
            <a:srgbClr val="10162B"/>
          </a:solidFill>
          <a:ln w="12700">
            <a:solidFill>
              <a:srgbClr val="FF45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274320" y="5303520"/>
            <a:ext cx="347472" cy="1024128"/>
          </a:xfrm>
          <a:prstGeom prst="rect">
            <a:avLst/>
          </a:prstGeom>
          <a:solidFill>
            <a:srgbClr val="FF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292608" y="5678424"/>
            <a:ext cx="310896" cy="274320"/>
          </a:xfrm>
          <a:prstGeom prst="rect">
            <a:avLst/>
          </a:prstGeom>
          <a:noFill/>
        </p:spPr>
        <p:txBody>
          <a:bodyPr wrap="square">
            <a:spAutoFit/>
          </a:bodyPr>
          <a:lstStyle/>
          <a:p>
            <a:pPr algn="ctr"/>
            <a:r>
              <a:rPr sz="1100" b="1" i="0">
                <a:solidFill>
                  <a:srgbClr val="0A0D1A"/>
                </a:solidFill>
                <a:latin typeface="Calibri"/>
              </a:rPr>
              <a:t>5</a:t>
            </a:r>
          </a:p>
        </p:txBody>
      </p:sp>
      <p:sp>
        <p:nvSpPr>
          <p:cNvPr id="43" name="TextBox 42"/>
          <p:cNvSpPr txBox="1"/>
          <p:nvPr/>
        </p:nvSpPr>
        <p:spPr>
          <a:xfrm>
            <a:off x="713232" y="5358384"/>
            <a:ext cx="5413248" cy="228600"/>
          </a:xfrm>
          <a:prstGeom prst="rect">
            <a:avLst/>
          </a:prstGeom>
          <a:noFill/>
        </p:spPr>
        <p:txBody>
          <a:bodyPr wrap="square">
            <a:spAutoFit/>
          </a:bodyPr>
          <a:lstStyle/>
          <a:p>
            <a:pPr algn="l"/>
            <a:r>
              <a:rPr sz="1150" b="1" i="0">
                <a:solidFill>
                  <a:srgbClr val="FF4545"/>
                </a:solidFill>
                <a:latin typeface="Calibri"/>
              </a:rPr>
              <a:t>VulnBot</a:t>
            </a:r>
          </a:p>
        </p:txBody>
      </p:sp>
      <p:sp>
        <p:nvSpPr>
          <p:cNvPr id="44" name="TextBox 43"/>
          <p:cNvSpPr txBox="1"/>
          <p:nvPr/>
        </p:nvSpPr>
        <p:spPr>
          <a:xfrm>
            <a:off x="713232" y="5577840"/>
            <a:ext cx="5413248" cy="182880"/>
          </a:xfrm>
          <a:prstGeom prst="rect">
            <a:avLst/>
          </a:prstGeom>
          <a:noFill/>
        </p:spPr>
        <p:txBody>
          <a:bodyPr wrap="square">
            <a:spAutoFit/>
          </a:bodyPr>
          <a:lstStyle/>
          <a:p>
            <a:pPr algn="l"/>
            <a:r>
              <a:rPr sz="850" b="0" i="1">
                <a:solidFill>
                  <a:srgbClr val="A0AAB8"/>
                </a:solidFill>
                <a:latin typeface="Calibri"/>
              </a:rPr>
              <a:t>arXiv '25  — Kong et al.</a:t>
            </a:r>
          </a:p>
        </p:txBody>
      </p:sp>
      <p:sp>
        <p:nvSpPr>
          <p:cNvPr id="45" name="TextBox 44"/>
          <p:cNvSpPr txBox="1"/>
          <p:nvPr/>
        </p:nvSpPr>
        <p:spPr>
          <a:xfrm>
            <a:off x="713232" y="5760720"/>
            <a:ext cx="5413248" cy="292608"/>
          </a:xfrm>
          <a:prstGeom prst="rect">
            <a:avLst/>
          </a:prstGeom>
          <a:noFill/>
        </p:spPr>
        <p:txBody>
          <a:bodyPr wrap="square">
            <a:spAutoFit/>
          </a:bodyPr>
          <a:lstStyle/>
          <a:p>
            <a:pPr algn="l"/>
            <a:r>
              <a:rPr sz="850" b="0" i="0">
                <a:solidFill>
                  <a:srgbClr val="A0AAB8"/>
                </a:solidFill>
                <a:latin typeface="Calibri"/>
              </a:rPr>
              <a:t>Five-module pipeline around a Penetration Task Graph.
Summarizer condenses phase output — prevents raw history leaking between agents.</a:t>
            </a:r>
          </a:p>
        </p:txBody>
      </p:sp>
      <p:sp>
        <p:nvSpPr>
          <p:cNvPr id="46" name="Rectangle 45"/>
          <p:cNvSpPr/>
          <p:nvPr/>
        </p:nvSpPr>
        <p:spPr>
          <a:xfrm>
            <a:off x="694944" y="6126480"/>
            <a:ext cx="5404104" cy="164592"/>
          </a:xfrm>
          <a:prstGeom prst="rect">
            <a:avLst/>
          </a:prstGeom>
          <a:solidFill>
            <a:srgbClr val="0618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731520" y="6135624"/>
            <a:ext cx="5367528" cy="164592"/>
          </a:xfrm>
          <a:prstGeom prst="rect">
            <a:avLst/>
          </a:prstGeom>
          <a:noFill/>
        </p:spPr>
        <p:txBody>
          <a:bodyPr wrap="none">
            <a:spAutoFit/>
          </a:bodyPr>
          <a:lstStyle/>
          <a:p>
            <a:pPr algn="l"/>
            <a:r>
              <a:rPr sz="800" b="1" i="0">
                <a:solidFill>
                  <a:srgbClr val="39FF14"/>
                </a:solidFill>
                <a:latin typeface="Calibri"/>
              </a:rPr>
              <a:t>CMatrix:  Context-Isolated Agent Spawning — agents return structured ASG delta, not raw history.</a:t>
            </a:r>
          </a:p>
        </p:txBody>
      </p:sp>
      <p:sp>
        <p:nvSpPr>
          <p:cNvPr id="48" name="Rectangle 47"/>
          <p:cNvSpPr/>
          <p:nvPr/>
        </p:nvSpPr>
        <p:spPr>
          <a:xfrm>
            <a:off x="6355080" y="987552"/>
            <a:ext cx="5669280" cy="274320"/>
          </a:xfrm>
          <a:prstGeom prst="rect">
            <a:avLst/>
          </a:prstGeom>
          <a:solidFill>
            <a:srgbClr val="120820"/>
          </a:solidFill>
          <a:ln w="10160">
            <a:solidFill>
              <a:srgbClr val="BD93F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464808" y="1005840"/>
            <a:ext cx="5486400" cy="237744"/>
          </a:xfrm>
          <a:prstGeom prst="rect">
            <a:avLst/>
          </a:prstGeom>
          <a:noFill/>
        </p:spPr>
        <p:txBody>
          <a:bodyPr wrap="square">
            <a:spAutoFit/>
          </a:bodyPr>
          <a:lstStyle/>
          <a:p>
            <a:pPr algn="l"/>
            <a:r>
              <a:rPr sz="1000" b="1" i="0">
                <a:solidFill>
                  <a:srgbClr val="BD93F9"/>
                </a:solidFill>
                <a:latin typeface="Calibri"/>
              </a:rPr>
              <a:t>💻  OPEN-SOURCE REPOSITORIES</a:t>
            </a:r>
          </a:p>
        </p:txBody>
      </p:sp>
      <p:sp>
        <p:nvSpPr>
          <p:cNvPr id="50" name="Rectangle 49"/>
          <p:cNvSpPr/>
          <p:nvPr/>
        </p:nvSpPr>
        <p:spPr>
          <a:xfrm>
            <a:off x="6355080" y="1307592"/>
            <a:ext cx="5669280" cy="1627632"/>
          </a:xfrm>
          <a:prstGeom prst="rect">
            <a:avLst/>
          </a:prstGeom>
          <a:solidFill>
            <a:srgbClr val="10162B"/>
          </a:solidFill>
          <a:ln w="1524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6355080" y="1307592"/>
            <a:ext cx="347472" cy="1627632"/>
          </a:xfrm>
          <a:prstGeom prst="rect">
            <a:avLst/>
          </a:prstGeom>
          <a:solidFill>
            <a:srgbClr val="39FF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373368" y="1984248"/>
            <a:ext cx="310896" cy="274320"/>
          </a:xfrm>
          <a:prstGeom prst="rect">
            <a:avLst/>
          </a:prstGeom>
          <a:noFill/>
        </p:spPr>
        <p:txBody>
          <a:bodyPr wrap="square">
            <a:spAutoFit/>
          </a:bodyPr>
          <a:lstStyle/>
          <a:p>
            <a:pPr algn="ctr"/>
            <a:r>
              <a:rPr sz="1100" b="1" i="0">
                <a:solidFill>
                  <a:srgbClr val="0A0D1A"/>
                </a:solidFill>
                <a:latin typeface="Calibri"/>
              </a:rPr>
              <a:t>6</a:t>
            </a:r>
          </a:p>
        </p:txBody>
      </p:sp>
      <p:sp>
        <p:nvSpPr>
          <p:cNvPr id="53" name="TextBox 52"/>
          <p:cNvSpPr txBox="1"/>
          <p:nvPr/>
        </p:nvSpPr>
        <p:spPr>
          <a:xfrm>
            <a:off x="6793992" y="1380744"/>
            <a:ext cx="5184648" cy="256032"/>
          </a:xfrm>
          <a:prstGeom prst="rect">
            <a:avLst/>
          </a:prstGeom>
          <a:noFill/>
        </p:spPr>
        <p:txBody>
          <a:bodyPr wrap="square">
            <a:spAutoFit/>
          </a:bodyPr>
          <a:lstStyle/>
          <a:p>
            <a:pPr algn="l"/>
            <a:r>
              <a:rPr sz="1300" b="1" i="0">
                <a:solidFill>
                  <a:srgbClr val="39FF14"/>
                </a:solidFill>
                <a:latin typeface="Calibri"/>
              </a:rPr>
              <a:t>PentAGI</a:t>
            </a:r>
          </a:p>
        </p:txBody>
      </p:sp>
      <p:sp>
        <p:nvSpPr>
          <p:cNvPr id="54" name="TextBox 53"/>
          <p:cNvSpPr txBox="1"/>
          <p:nvPr/>
        </p:nvSpPr>
        <p:spPr>
          <a:xfrm>
            <a:off x="6793992" y="1645920"/>
            <a:ext cx="5184648" cy="182880"/>
          </a:xfrm>
          <a:prstGeom prst="rect">
            <a:avLst/>
          </a:prstGeom>
          <a:noFill/>
        </p:spPr>
        <p:txBody>
          <a:bodyPr wrap="square">
            <a:spAutoFit/>
          </a:bodyPr>
          <a:lstStyle/>
          <a:p>
            <a:pPr algn="l"/>
            <a:r>
              <a:rPr sz="850" b="0" i="1">
                <a:solidFill>
                  <a:srgbClr val="A0AAB8"/>
                </a:solidFill>
                <a:latin typeface="Calibri"/>
              </a:rPr>
              <a:t>vxcontrol/pentagi</a:t>
            </a:r>
          </a:p>
        </p:txBody>
      </p:sp>
      <p:sp>
        <p:nvSpPr>
          <p:cNvPr id="55" name="TextBox 54"/>
          <p:cNvSpPr txBox="1"/>
          <p:nvPr/>
        </p:nvSpPr>
        <p:spPr>
          <a:xfrm>
            <a:off x="6793992" y="1837944"/>
            <a:ext cx="5184648" cy="457200"/>
          </a:xfrm>
          <a:prstGeom prst="rect">
            <a:avLst/>
          </a:prstGeom>
          <a:noFill/>
        </p:spPr>
        <p:txBody>
          <a:bodyPr wrap="square">
            <a:spAutoFit/>
          </a:bodyPr>
          <a:lstStyle/>
          <a:p>
            <a:pPr algn="l"/>
            <a:r>
              <a:rPr sz="900" b="0" i="0">
                <a:solidFill>
                  <a:srgbClr val="A0AAB8"/>
                </a:solidFill>
                <a:latin typeface="Calibri"/>
              </a:rPr>
              <a:t>Production multi-agent pentesting platform.
Adviser detects fixation; Reflector nudges stuck agents.</a:t>
            </a:r>
          </a:p>
        </p:txBody>
      </p:sp>
      <p:sp>
        <p:nvSpPr>
          <p:cNvPr id="56" name="Rectangle 55"/>
          <p:cNvSpPr/>
          <p:nvPr/>
        </p:nvSpPr>
        <p:spPr>
          <a:xfrm>
            <a:off x="6775704" y="2642616"/>
            <a:ext cx="5175504" cy="237744"/>
          </a:xfrm>
          <a:prstGeom prst="rect">
            <a:avLst/>
          </a:prstGeom>
          <a:solidFill>
            <a:srgbClr val="0618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6812280" y="2651760"/>
            <a:ext cx="5138928" cy="237744"/>
          </a:xfrm>
          <a:prstGeom prst="rect">
            <a:avLst/>
          </a:prstGeom>
          <a:noFill/>
        </p:spPr>
        <p:txBody>
          <a:bodyPr wrap="square">
            <a:spAutoFit/>
          </a:bodyPr>
          <a:lstStyle/>
          <a:p>
            <a:pPr algn="l"/>
            <a:r>
              <a:rPr sz="850" b="1" i="0">
                <a:solidFill>
                  <a:srgbClr val="39FF14"/>
                </a:solidFill>
                <a:latin typeface="Calibri"/>
              </a:rPr>
              <a:t>CMatrix:  Cycle Guard (detects repeated identical tool calls) + Reflector (corrective guidance on repeated failures).</a:t>
            </a:r>
          </a:p>
        </p:txBody>
      </p:sp>
      <p:sp>
        <p:nvSpPr>
          <p:cNvPr id="58" name="Rectangle 57"/>
          <p:cNvSpPr/>
          <p:nvPr/>
        </p:nvSpPr>
        <p:spPr>
          <a:xfrm>
            <a:off x="6355080" y="3026664"/>
            <a:ext cx="5669280" cy="1627632"/>
          </a:xfrm>
          <a:prstGeom prst="rect">
            <a:avLst/>
          </a:prstGeom>
          <a:solidFill>
            <a:srgbClr val="10162B"/>
          </a:solidFill>
          <a:ln w="1524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6355080" y="3026664"/>
            <a:ext cx="347472" cy="1627632"/>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6373368" y="3703320"/>
            <a:ext cx="310896" cy="274320"/>
          </a:xfrm>
          <a:prstGeom prst="rect">
            <a:avLst/>
          </a:prstGeom>
          <a:noFill/>
        </p:spPr>
        <p:txBody>
          <a:bodyPr wrap="square">
            <a:spAutoFit/>
          </a:bodyPr>
          <a:lstStyle/>
          <a:p>
            <a:pPr algn="ctr"/>
            <a:r>
              <a:rPr sz="1100" b="1" i="0">
                <a:solidFill>
                  <a:srgbClr val="0A0D1A"/>
                </a:solidFill>
                <a:latin typeface="Calibri"/>
              </a:rPr>
              <a:t>7</a:t>
            </a:r>
          </a:p>
        </p:txBody>
      </p:sp>
      <p:sp>
        <p:nvSpPr>
          <p:cNvPr id="61" name="TextBox 60"/>
          <p:cNvSpPr txBox="1"/>
          <p:nvPr/>
        </p:nvSpPr>
        <p:spPr>
          <a:xfrm>
            <a:off x="6793992" y="3099816"/>
            <a:ext cx="5184648" cy="256032"/>
          </a:xfrm>
          <a:prstGeom prst="rect">
            <a:avLst/>
          </a:prstGeom>
          <a:noFill/>
        </p:spPr>
        <p:txBody>
          <a:bodyPr wrap="square">
            <a:spAutoFit/>
          </a:bodyPr>
          <a:lstStyle/>
          <a:p>
            <a:pPr algn="l"/>
            <a:r>
              <a:rPr sz="1300" b="1" i="0">
                <a:solidFill>
                  <a:srgbClr val="00E5FF"/>
                </a:solidFill>
                <a:latin typeface="Calibri"/>
              </a:rPr>
              <a:t>Claude Code</a:t>
            </a:r>
          </a:p>
        </p:txBody>
      </p:sp>
      <p:sp>
        <p:nvSpPr>
          <p:cNvPr id="62" name="TextBox 61"/>
          <p:cNvSpPr txBox="1"/>
          <p:nvPr/>
        </p:nvSpPr>
        <p:spPr>
          <a:xfrm>
            <a:off x="6793992" y="3364992"/>
            <a:ext cx="5184648" cy="182880"/>
          </a:xfrm>
          <a:prstGeom prst="rect">
            <a:avLst/>
          </a:prstGeom>
          <a:noFill/>
        </p:spPr>
        <p:txBody>
          <a:bodyPr wrap="square">
            <a:spAutoFit/>
          </a:bodyPr>
          <a:lstStyle/>
          <a:p>
            <a:pPr algn="l"/>
            <a:r>
              <a:rPr sz="850" b="0" i="1">
                <a:solidFill>
                  <a:srgbClr val="A0AAB8"/>
                </a:solidFill>
                <a:latin typeface="Calibri"/>
              </a:rPr>
              <a:t>Anthropic pattern — yasasbanukaofficial/claude-code</a:t>
            </a:r>
          </a:p>
        </p:txBody>
      </p:sp>
      <p:sp>
        <p:nvSpPr>
          <p:cNvPr id="63" name="TextBox 62"/>
          <p:cNvSpPr txBox="1"/>
          <p:nvPr/>
        </p:nvSpPr>
        <p:spPr>
          <a:xfrm>
            <a:off x="6793992" y="3557016"/>
            <a:ext cx="5184648" cy="457200"/>
          </a:xfrm>
          <a:prstGeom prst="rect">
            <a:avLst/>
          </a:prstGeom>
          <a:noFill/>
        </p:spPr>
        <p:txBody>
          <a:bodyPr wrap="square">
            <a:spAutoFit/>
          </a:bodyPr>
          <a:lstStyle/>
          <a:p>
            <a:pPr algn="l"/>
            <a:r>
              <a:rPr sz="900" b="0" i="0">
                <a:solidFill>
                  <a:srgbClr val="A0AAB8"/>
                </a:solidFill>
                <a:latin typeface="Calibri"/>
              </a:rPr>
              <a:t>yoloClassifier.ts: two-stage fast-filter + chain-of-thought tool-call auto-approval.
27-event named hook architecture for operator intervention.</a:t>
            </a:r>
          </a:p>
        </p:txBody>
      </p:sp>
      <p:sp>
        <p:nvSpPr>
          <p:cNvPr id="64" name="Rectangle 63"/>
          <p:cNvSpPr/>
          <p:nvPr/>
        </p:nvSpPr>
        <p:spPr>
          <a:xfrm>
            <a:off x="6775704" y="4361688"/>
            <a:ext cx="5175504" cy="237744"/>
          </a:xfrm>
          <a:prstGeom prst="rect">
            <a:avLst/>
          </a:prstGeom>
          <a:solidFill>
            <a:srgbClr val="0618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6812280" y="4370832"/>
            <a:ext cx="5138928" cy="237744"/>
          </a:xfrm>
          <a:prstGeom prst="rect">
            <a:avLst/>
          </a:prstGeom>
          <a:noFill/>
        </p:spPr>
        <p:txBody>
          <a:bodyPr wrap="square">
            <a:spAutoFit/>
          </a:bodyPr>
          <a:lstStyle/>
          <a:p>
            <a:pPr algn="l"/>
            <a:r>
              <a:rPr sz="850" b="1" i="0">
                <a:solidFill>
                  <a:srgbClr val="39FF14"/>
                </a:solidFill>
                <a:latin typeface="Calibri"/>
              </a:rPr>
              <a:t>CMatrix:  LLM Permission Classifier (Medium-tier Risk Gate) + 6-event Agent Lifecycle Hook System.</a:t>
            </a:r>
          </a:p>
        </p:txBody>
      </p:sp>
      <p:sp>
        <p:nvSpPr>
          <p:cNvPr id="66" name="Rectangle 65"/>
          <p:cNvSpPr/>
          <p:nvPr/>
        </p:nvSpPr>
        <p:spPr>
          <a:xfrm>
            <a:off x="6355080" y="4745736"/>
            <a:ext cx="5669280" cy="1627632"/>
          </a:xfrm>
          <a:prstGeom prst="rect">
            <a:avLst/>
          </a:prstGeom>
          <a:solidFill>
            <a:srgbClr val="10162B"/>
          </a:solidFill>
          <a:ln w="1524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6355080" y="4745736"/>
            <a:ext cx="347472" cy="1627632"/>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6373368" y="5422392"/>
            <a:ext cx="310896" cy="274320"/>
          </a:xfrm>
          <a:prstGeom prst="rect">
            <a:avLst/>
          </a:prstGeom>
          <a:noFill/>
        </p:spPr>
        <p:txBody>
          <a:bodyPr wrap="square">
            <a:spAutoFit/>
          </a:bodyPr>
          <a:lstStyle/>
          <a:p>
            <a:pPr algn="ctr"/>
            <a:r>
              <a:rPr sz="1100" b="1" i="0">
                <a:solidFill>
                  <a:srgbClr val="0A0D1A"/>
                </a:solidFill>
                <a:latin typeface="Calibri"/>
              </a:rPr>
              <a:t>8</a:t>
            </a:r>
          </a:p>
        </p:txBody>
      </p:sp>
      <p:sp>
        <p:nvSpPr>
          <p:cNvPr id="69" name="TextBox 68"/>
          <p:cNvSpPr txBox="1"/>
          <p:nvPr/>
        </p:nvSpPr>
        <p:spPr>
          <a:xfrm>
            <a:off x="6793992" y="4818888"/>
            <a:ext cx="5184648" cy="256032"/>
          </a:xfrm>
          <a:prstGeom prst="rect">
            <a:avLst/>
          </a:prstGeom>
          <a:noFill/>
        </p:spPr>
        <p:txBody>
          <a:bodyPr wrap="square">
            <a:spAutoFit/>
          </a:bodyPr>
          <a:lstStyle/>
          <a:p>
            <a:pPr algn="l"/>
            <a:r>
              <a:rPr sz="1300" b="1" i="0">
                <a:solidFill>
                  <a:srgbClr val="FFD700"/>
                </a:solidFill>
                <a:latin typeface="Calibri"/>
              </a:rPr>
              <a:t>Hermes Agent</a:t>
            </a:r>
          </a:p>
        </p:txBody>
      </p:sp>
      <p:sp>
        <p:nvSpPr>
          <p:cNvPr id="70" name="TextBox 69"/>
          <p:cNvSpPr txBox="1"/>
          <p:nvPr/>
        </p:nvSpPr>
        <p:spPr>
          <a:xfrm>
            <a:off x="6793992" y="5084064"/>
            <a:ext cx="5184648" cy="182880"/>
          </a:xfrm>
          <a:prstGeom prst="rect">
            <a:avLst/>
          </a:prstGeom>
          <a:noFill/>
        </p:spPr>
        <p:txBody>
          <a:bodyPr wrap="square">
            <a:spAutoFit/>
          </a:bodyPr>
          <a:lstStyle/>
          <a:p>
            <a:pPr algn="l"/>
            <a:r>
              <a:rPr sz="850" b="0" i="1">
                <a:solidFill>
                  <a:srgbClr val="A0AAB8"/>
                </a:solidFill>
                <a:latin typeface="Calibri"/>
              </a:rPr>
              <a:t>NousResearch/hermes-agent</a:t>
            </a:r>
          </a:p>
        </p:txBody>
      </p:sp>
      <p:sp>
        <p:nvSpPr>
          <p:cNvPr id="71" name="TextBox 70"/>
          <p:cNvSpPr txBox="1"/>
          <p:nvPr/>
        </p:nvSpPr>
        <p:spPr>
          <a:xfrm>
            <a:off x="6793992" y="5276088"/>
            <a:ext cx="5184648" cy="457200"/>
          </a:xfrm>
          <a:prstGeom prst="rect">
            <a:avLst/>
          </a:prstGeom>
          <a:noFill/>
        </p:spPr>
        <p:txBody>
          <a:bodyPr wrap="square">
            <a:spAutoFit/>
          </a:bodyPr>
          <a:lstStyle/>
          <a:p>
            <a:pPr algn="l"/>
            <a:r>
              <a:rPr sz="900" b="0" i="0">
                <a:solidFill>
                  <a:srgbClr val="A0AAB8"/>
                </a:solidFill>
                <a:latin typeface="Calibri"/>
              </a:rPr>
              <a:t>Closed learning loop: skill crystallization from completed tasks.
Structured trajectory export for SFT/RL training via DSPy + Atropos.</a:t>
            </a:r>
          </a:p>
        </p:txBody>
      </p:sp>
      <p:sp>
        <p:nvSpPr>
          <p:cNvPr id="72" name="Rectangle 71"/>
          <p:cNvSpPr/>
          <p:nvPr/>
        </p:nvSpPr>
        <p:spPr>
          <a:xfrm>
            <a:off x="6775704" y="6080760"/>
            <a:ext cx="5175504" cy="237744"/>
          </a:xfrm>
          <a:prstGeom prst="rect">
            <a:avLst/>
          </a:prstGeom>
          <a:solidFill>
            <a:srgbClr val="0618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6812280" y="6089904"/>
            <a:ext cx="5138928" cy="237744"/>
          </a:xfrm>
          <a:prstGeom prst="rect">
            <a:avLst/>
          </a:prstGeom>
          <a:noFill/>
        </p:spPr>
        <p:txBody>
          <a:bodyPr wrap="square">
            <a:spAutoFit/>
          </a:bodyPr>
          <a:lstStyle/>
          <a:p>
            <a:pPr algn="l"/>
            <a:r>
              <a:rPr sz="850" b="1" i="0">
                <a:solidFill>
                  <a:srgbClr val="39FF14"/>
                </a:solidFill>
                <a:latin typeface="Calibri"/>
              </a:rPr>
              <a:t>CMatrix:  Attack Strategy Library crystallization (C11) + Engagement Trajectory Export dataset (C12).</a:t>
            </a:r>
          </a:p>
        </p:txBody>
      </p:sp>
      <p:sp>
        <p:nvSpPr>
          <p:cNvPr id="74" name="Rectangle 73"/>
          <p:cNvSpPr/>
          <p:nvPr/>
        </p:nvSpPr>
        <p:spPr>
          <a:xfrm>
            <a:off x="274320" y="987552"/>
            <a:ext cx="5897880" cy="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274320" y="987552"/>
            <a:ext cx="5897880" cy="274320"/>
          </a:xfrm>
          <a:prstGeom prst="rect">
            <a:avLst/>
          </a:prstGeom>
          <a:solidFill>
            <a:srgbClr val="081420"/>
          </a:solidFill>
          <a:ln w="1016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384048" y="1005840"/>
            <a:ext cx="5715000" cy="237744"/>
          </a:xfrm>
          <a:prstGeom prst="rect">
            <a:avLst/>
          </a:prstGeom>
          <a:noFill/>
        </p:spPr>
        <p:txBody>
          <a:bodyPr wrap="square">
            <a:spAutoFit/>
          </a:bodyPr>
          <a:lstStyle/>
          <a:p>
            <a:pPr algn="l"/>
            <a:r>
              <a:rPr sz="1000" b="1" i="0">
                <a:solidFill>
                  <a:srgbClr val="00E5FF"/>
                </a:solidFill>
                <a:latin typeface="Calibri"/>
              </a:rPr>
              <a:t>📄  ACADEMIC PAPERS</a:t>
            </a:r>
          </a:p>
        </p:txBody>
      </p:sp>
      <p:sp>
        <p:nvSpPr>
          <p:cNvPr id="77" name="Rectangle 76"/>
          <p:cNvSpPr/>
          <p:nvPr/>
        </p:nvSpPr>
        <p:spPr>
          <a:xfrm>
            <a:off x="6236208" y="960120"/>
            <a:ext cx="27432" cy="5349240"/>
          </a:xfrm>
          <a:prstGeom prst="rect">
            <a:avLst/>
          </a:prstGeom>
          <a:solidFill>
            <a:srgbClr val="A0AA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11825935" y="6355080"/>
            <a:ext cx="320040" cy="411480"/>
          </a:xfrm>
          <a:prstGeom prst="rect">
            <a:avLst/>
          </a:prstGeom>
          <a:noFill/>
        </p:spPr>
        <p:txBody>
          <a:bodyPr wrap="square">
            <a:spAutoFit/>
          </a:bodyPr>
          <a:lstStyle/>
          <a:p>
            <a:pPr algn="r"/>
            <a:r>
              <a:rPr sz="1300" b="1" i="0">
                <a:solidFill>
                  <a:srgbClr val="BD93F9"/>
                </a:solidFill>
                <a:latin typeface="Calibri"/>
              </a:rPr>
              <a:t>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